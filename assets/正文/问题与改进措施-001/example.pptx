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7f3107f4854d42" /><Relationship Type="http://schemas.openxmlformats.org/officeDocument/2006/relationships/extended-properties" Target="/docProps/app.xml" Id="R73c8cb1d41584d08" /><Relationship Type="http://schemas.openxmlformats.org/officeDocument/2006/relationships/officeDocument" Target="/ppt/presentation.xml" Id="R3e3ed8214bf044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331d2fbc7e4837"/>
  </p:sldMasterIdLst>
  <p:notesMasterIdLst>
    <p:notesMasterId xmlns:r="http://schemas.openxmlformats.org/officeDocument/2006/relationships" r:id="Rac7ddf6dbbcc4460"/>
  </p:notesMasterIdLst>
  <p:sldIdLst>
    <p:sldId xmlns:r="http://schemas.openxmlformats.org/officeDocument/2006/relationships" id="256" r:id="Rfef472bfa199406e"/>
    <p:sldId xmlns:r="http://schemas.openxmlformats.org/officeDocument/2006/relationships" id="257" r:id="Racee2d099c404eab"/>
    <p:sldId xmlns:r="http://schemas.openxmlformats.org/officeDocument/2006/relationships" id="258" r:id="R5a7e0b03c2294986"/>
    <p:sldId xmlns:r="http://schemas.openxmlformats.org/officeDocument/2006/relationships" id="259" r:id="R519e05f0cb1c49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bb107dfdd44ad4" /><Relationship Type="http://schemas.openxmlformats.org/officeDocument/2006/relationships/slideMaster" Target="/ppt/slideMasters/slideMaster1.xml" Id="R76331d2fbc7e4837" /><Relationship Type="http://schemas.openxmlformats.org/officeDocument/2006/relationships/notesMaster" Target="/ppt/notesMasters/notesMaster1.xml" Id="Rac7ddf6dbbcc4460" /><Relationship Type="http://schemas.openxmlformats.org/officeDocument/2006/relationships/presProps" Target="/ppt/presProps.xml" Id="R4aa80d9e4d434dc1" /><Relationship Type="http://schemas.openxmlformats.org/officeDocument/2006/relationships/tableStyles" Target="/ppt/tableStyles.xml" Id="R05c0f23310e545d0" /><Relationship Type="http://schemas.openxmlformats.org/officeDocument/2006/relationships/slide" Target="/ppt/slides/slide1.xml" Id="Rfef472bfa199406e" /><Relationship Type="http://schemas.openxmlformats.org/officeDocument/2006/relationships/slide" Target="/ppt/slides/slide2.xml" Id="Racee2d099c404eab" /><Relationship Type="http://schemas.openxmlformats.org/officeDocument/2006/relationships/slide" Target="/ppt/slides/slide3.xml" Id="R5a7e0b03c2294986" /><Relationship Type="http://schemas.openxmlformats.org/officeDocument/2006/relationships/slide" Target="/ppt/slides/slide4.xml" Id="R519e05f0cb1c49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fa3f3501ee44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b4d5c15f6748df" /><Relationship Type="http://schemas.openxmlformats.org/officeDocument/2006/relationships/notesMaster" Target="/ppt/notesMasters/notesMaster1.xml" Id="R113556e78ddf47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89840b7ffc4da8" /><Relationship Type="http://schemas.openxmlformats.org/officeDocument/2006/relationships/notesMaster" Target="/ppt/notesMasters/notesMaster1.xml" Id="R588f7e1910864a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bce2a6e12943a3" /><Relationship Type="http://schemas.openxmlformats.org/officeDocument/2006/relationships/notesMaster" Target="/ppt/notesMasters/notesMaster1.xml" Id="R988661e9ce2d43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b720da65c14b6b" /><Relationship Type="http://schemas.openxmlformats.org/officeDocument/2006/relationships/notesMaster" Target="/ppt/notesMasters/notesMaster1.xml" Id="R5eed7b835c8243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ae0e010b9348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a9fae33bc8419a" /><Relationship Type="http://schemas.openxmlformats.org/officeDocument/2006/relationships/slideLayout" Target="/ppt/slideLayouts/slideLayout1.xml" Id="Racbbc550646c4a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bbc550646c4a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7b685dfc524b95" /><Relationship Type="http://schemas.openxmlformats.org/officeDocument/2006/relationships/notesSlide" Target="/ppt/notesSlides/notesSlide1.xml" Id="R8dbbe20fa65640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9124e30f44326" /><Relationship Type="http://schemas.openxmlformats.org/officeDocument/2006/relationships/notesSlide" Target="/ppt/notesSlides/notesSlide2.xml" Id="Re7ee414625a242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a5685a77574b35" /><Relationship Type="http://schemas.openxmlformats.org/officeDocument/2006/relationships/notesSlide" Target="/ppt/notesSlides/notesSlide3.xml" Id="R007cdff7ae6540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943245df94d5d" /><Relationship Type="http://schemas.openxmlformats.org/officeDocument/2006/relationships/notesSlide" Target="/ppt/notesSlides/notesSlide4.xml" Id="R69834e81d72e46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pi-problem-column">
            <a:extLst xmlns:a="http://schemas.openxmlformats.org/drawingml/2006/main">
              <a:ext uri="{FF2B5EF4-FFF2-40B4-BE49-F238E27FC236}">
                <a16:creationId xmlns:a16="http://schemas.microsoft.com/office/drawing/2014/main" id="{6054A614-F023-4140-B29F-92F5579E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771650"/>
            <a:ext cx="4429125" cy="4305300"/>
          </a:xfrm>
          <a:prstGeom xmlns:a="http://schemas.openxmlformats.org/drawingml/2006/main" prst="roundRect">
            <a:avLst>
              <a:gd name="adj" fmla="val 2655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4DCE6"/>
            </a:solidFill>
            <a:prstDash val="solid"/>
          </a:ln>
        </p:spPr>
      </p:sp>
      <p:sp>
        <p:nvSpPr>
          <p:cNvPr id="2" name="pi-problem-heading">
            <a:extLst xmlns:a="http://schemas.openxmlformats.org/drawingml/2006/main">
              <a:ext uri="{FF2B5EF4-FFF2-40B4-BE49-F238E27FC236}">
                <a16:creationId xmlns:a16="http://schemas.microsoft.com/office/drawing/2014/main" id="{504C1C2A-26DD-4757-918E-59DFA93A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1962150"/>
            <a:ext cx="4048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70798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现状与缺口</a:t>
            </a:r>
          </a:p>
        </p:txBody>
      </p:sp>
      <p:sp>
        <p:nvSpPr>
          <p:cNvPr id="3" name="pi-problem-item-0">
            <a:extLst xmlns:a="http://schemas.openxmlformats.org/drawingml/2006/main">
              <a:ext uri="{FF2B5EF4-FFF2-40B4-BE49-F238E27FC236}">
                <a16:creationId xmlns:a16="http://schemas.microsoft.com/office/drawing/2014/main" id="{E0378D48-A9C0-4787-B67D-9D94F3C8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2686050"/>
            <a:ext cx="40481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i-problem-title-0">
            <a:extLst xmlns:a="http://schemas.openxmlformats.org/drawingml/2006/main">
              <a:ext uri="{FF2B5EF4-FFF2-40B4-BE49-F238E27FC236}">
                <a16:creationId xmlns:a16="http://schemas.microsoft.com/office/drawing/2014/main" id="{717973CA-6665-4E5E-81BC-A57EF7B6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8003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01 · 结果不稳定</a:t>
            </a:r>
          </a:p>
        </p:txBody>
      </p:sp>
      <p:sp>
        <p:nvSpPr>
          <p:cNvPr id="5" name="pi-problem-body-0">
            <a:extLst xmlns:a="http://schemas.openxmlformats.org/drawingml/2006/main">
              <a:ext uri="{FF2B5EF4-FFF2-40B4-BE49-F238E27FC236}">
                <a16:creationId xmlns:a16="http://schemas.microsoft.com/office/drawing/2014/main" id="{2F3201E9-0739-41C7-B696-E6B59B5B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067050"/>
            <a:ext cx="37623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相同输入仍可能得到差异较大的页面</a:t>
            </a:r>
          </a:p>
        </p:txBody>
      </p:sp>
      <p:sp>
        <p:nvSpPr>
          <p:cNvPr id="6" name="pi-problem-item-1">
            <a:extLst xmlns:a="http://schemas.openxmlformats.org/drawingml/2006/main">
              <a:ext uri="{FF2B5EF4-FFF2-40B4-BE49-F238E27FC236}">
                <a16:creationId xmlns:a16="http://schemas.microsoft.com/office/drawing/2014/main" id="{60A9C95F-60E9-4F56-AAB3-5B7DF2F4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4343400"/>
            <a:ext cx="40481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i-problem-title-1">
            <a:extLst xmlns:a="http://schemas.openxmlformats.org/drawingml/2006/main">
              <a:ext uri="{FF2B5EF4-FFF2-40B4-BE49-F238E27FC236}">
                <a16:creationId xmlns:a16="http://schemas.microsoft.com/office/drawing/2014/main" id="{B926E152-66B2-483A-AAB2-D839EBFF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44577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02 · 经验难沉淀</a:t>
            </a:r>
          </a:p>
        </p:txBody>
      </p:sp>
      <p:sp>
        <p:nvSpPr>
          <p:cNvPr id="8" name="pi-problem-body-1">
            <a:extLst xmlns:a="http://schemas.openxmlformats.org/drawingml/2006/main">
              <a:ext uri="{FF2B5EF4-FFF2-40B4-BE49-F238E27FC236}">
                <a16:creationId xmlns:a16="http://schemas.microsoft.com/office/drawing/2014/main" id="{C36BF14A-A039-488A-9353-D34235F0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4724400"/>
            <a:ext cx="37623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每次任务都需要重新判断和修正</a:t>
            </a:r>
          </a:p>
        </p:txBody>
      </p:sp>
      <p:sp>
        <p:nvSpPr>
          <p:cNvPr id="9" name="pi-orbit">
            <a:extLst xmlns:a="http://schemas.openxmlformats.org/drawingml/2006/main">
              <a:ext uri="{FF2B5EF4-FFF2-40B4-BE49-F238E27FC236}">
                <a16:creationId xmlns:a16="http://schemas.microsoft.com/office/drawing/2014/main" id="{3F392C8F-49EC-4EEB-81C0-A59871D9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3390900"/>
            <a:ext cx="1143000" cy="1143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AD2E3"/>
            </a:solidFill>
            <a:prstDash val="dash"/>
          </a:ln>
        </p:spPr>
      </p:sp>
      <p:sp>
        <p:nvSpPr>
          <p:cNvPr id="10" name="pi-arrow">
            <a:extLst xmlns:a="http://schemas.openxmlformats.org/drawingml/2006/main">
              <a:ext uri="{FF2B5EF4-FFF2-40B4-BE49-F238E27FC236}">
                <a16:creationId xmlns:a16="http://schemas.microsoft.com/office/drawing/2014/main" id="{916C855B-E15B-4A94-9471-238B0B3B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6425" y="3552825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D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i-improvement-column">
            <a:extLst xmlns:a="http://schemas.openxmlformats.org/drawingml/2006/main">
              <a:ext uri="{FF2B5EF4-FFF2-40B4-BE49-F238E27FC236}">
                <a16:creationId xmlns:a16="http://schemas.microsoft.com/office/drawing/2014/main" id="{E8FA5775-81F9-44BA-A230-BBFB59CA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0" y="1771650"/>
            <a:ext cx="4429125" cy="4305300"/>
          </a:xfrm>
          <a:prstGeom xmlns:a="http://schemas.openxmlformats.org/drawingml/2006/main" prst="roundRect">
            <a:avLst>
              <a:gd name="adj" fmla="val 2655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9525">
            <a:solidFill>
              <a:srgbClr val="B7DAF7"/>
            </a:solidFill>
            <a:prstDash val="solid"/>
          </a:ln>
        </p:spPr>
      </p:sp>
      <p:sp>
        <p:nvSpPr>
          <p:cNvPr id="12" name="pi-improvement-heading">
            <a:extLst xmlns:a="http://schemas.openxmlformats.org/drawingml/2006/main">
              <a:ext uri="{FF2B5EF4-FFF2-40B4-BE49-F238E27FC236}">
                <a16:creationId xmlns:a16="http://schemas.microsoft.com/office/drawing/2014/main" id="{BA43CAC8-14BE-4879-9B92-168B4164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1962150"/>
            <a:ext cx="4048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77CC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系统介入与结果</a:t>
            </a:r>
          </a:p>
        </p:txBody>
      </p:sp>
      <p:sp>
        <p:nvSpPr>
          <p:cNvPr id="13" name="pi-improvement-item-0">
            <a:extLst xmlns:a="http://schemas.openxmlformats.org/drawingml/2006/main">
              <a:ext uri="{FF2B5EF4-FFF2-40B4-BE49-F238E27FC236}">
                <a16:creationId xmlns:a16="http://schemas.microsoft.com/office/drawing/2014/main" id="{6CFE88BD-2807-4749-B753-FFEF6F92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2686050"/>
            <a:ext cx="40481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i-improvement-title-0">
            <a:extLst xmlns:a="http://schemas.openxmlformats.org/drawingml/2006/main">
              <a:ext uri="{FF2B5EF4-FFF2-40B4-BE49-F238E27FC236}">
                <a16:creationId xmlns:a16="http://schemas.microsoft.com/office/drawing/2014/main" id="{CB022582-B416-4180-9BBA-965BBD42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28003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01 · 固定能力边界</a:t>
            </a:r>
          </a:p>
        </p:txBody>
      </p:sp>
      <p:sp>
        <p:nvSpPr>
          <p:cNvPr id="15" name="pi-improvement-body-0">
            <a:extLst xmlns:a="http://schemas.openxmlformats.org/drawingml/2006/main">
              <a:ext uri="{FF2B5EF4-FFF2-40B4-BE49-F238E27FC236}">
                <a16:creationId xmlns:a16="http://schemas.microsoft.com/office/drawing/2014/main" id="{8AEE31B1-F9B2-491D-8847-D87BC563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3067050"/>
            <a:ext cx="37623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用已登记 Style Group 承担结构表达</a:t>
            </a:r>
          </a:p>
        </p:txBody>
      </p:sp>
      <p:sp>
        <p:nvSpPr>
          <p:cNvPr id="16" name="pi-improvement-item-1">
            <a:extLst xmlns:a="http://schemas.openxmlformats.org/drawingml/2006/main">
              <a:ext uri="{FF2B5EF4-FFF2-40B4-BE49-F238E27FC236}">
                <a16:creationId xmlns:a16="http://schemas.microsoft.com/office/drawing/2014/main" id="{85293260-17F2-4E3E-B703-A7593345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4343400"/>
            <a:ext cx="40481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i-improvement-title-1">
            <a:extLst xmlns:a="http://schemas.openxmlformats.org/drawingml/2006/main">
              <a:ext uri="{FF2B5EF4-FFF2-40B4-BE49-F238E27FC236}">
                <a16:creationId xmlns:a16="http://schemas.microsoft.com/office/drawing/2014/main" id="{EDFDA130-DF99-40AC-BFDF-C0B7DC03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44577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02 · 统一参数接口</a:t>
            </a:r>
          </a:p>
        </p:txBody>
      </p:sp>
      <p:sp>
        <p:nvSpPr>
          <p:cNvPr id="18" name="pi-improvement-body-1">
            <a:extLst xmlns:a="http://schemas.openxmlformats.org/drawingml/2006/main">
              <a:ext uri="{FF2B5EF4-FFF2-40B4-BE49-F238E27FC236}">
                <a16:creationId xmlns:a16="http://schemas.microsoft.com/office/drawing/2014/main" id="{20420DAC-3B08-4E27-A433-54F2D474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4724400"/>
            <a:ext cx="37623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让 HTML 与 Builder 使用同一输入</a:t>
            </a:r>
          </a:p>
        </p:txBody>
      </p:sp>
    </p:spTree>
    <p:extLst>
      <p:ext uri="{BB962C8B-B14F-4D97-AF65-F5344CB8AC3E}">
        <p14:creationId xmlns:p14="http://schemas.microsoft.com/office/powerpoint/2010/main" val="10652584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pi-problem-column">
            <a:extLst xmlns:a="http://schemas.openxmlformats.org/drawingml/2006/main">
              <a:ext uri="{FF2B5EF4-FFF2-40B4-BE49-F238E27FC236}">
                <a16:creationId xmlns:a16="http://schemas.microsoft.com/office/drawing/2014/main" id="{75A339F4-B5F0-4569-836E-C5975D2B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771650"/>
            <a:ext cx="4429125" cy="4305300"/>
          </a:xfrm>
          <a:prstGeom xmlns:a="http://schemas.openxmlformats.org/drawingml/2006/main" prst="roundRect">
            <a:avLst>
              <a:gd name="adj" fmla="val 2655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4DCE6"/>
            </a:solidFill>
            <a:prstDash val="solid"/>
          </a:ln>
        </p:spPr>
      </p:sp>
      <p:sp>
        <p:nvSpPr>
          <p:cNvPr id="2" name="pi-problem-heading">
            <a:extLst xmlns:a="http://schemas.openxmlformats.org/drawingml/2006/main">
              <a:ext uri="{FF2B5EF4-FFF2-40B4-BE49-F238E27FC236}">
                <a16:creationId xmlns:a16="http://schemas.microsoft.com/office/drawing/2014/main" id="{341FC017-4BB7-4A44-AF53-11172C10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1962150"/>
            <a:ext cx="4048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70798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现状与缺口</a:t>
            </a:r>
          </a:p>
        </p:txBody>
      </p:sp>
      <p:sp>
        <p:nvSpPr>
          <p:cNvPr id="3" name="pi-problem-item-0">
            <a:extLst xmlns:a="http://schemas.openxmlformats.org/drawingml/2006/main">
              <a:ext uri="{FF2B5EF4-FFF2-40B4-BE49-F238E27FC236}">
                <a16:creationId xmlns:a16="http://schemas.microsoft.com/office/drawing/2014/main" id="{ED7254FB-0A16-47FE-86FE-EAE5AB78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2686050"/>
            <a:ext cx="40481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i-problem-title-0">
            <a:extLst xmlns:a="http://schemas.openxmlformats.org/drawingml/2006/main">
              <a:ext uri="{FF2B5EF4-FFF2-40B4-BE49-F238E27FC236}">
                <a16:creationId xmlns:a16="http://schemas.microsoft.com/office/drawing/2014/main" id="{DC8C809E-2898-454D-B6AA-5CF2CFD5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8003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01 · 结果不稳定</a:t>
            </a:r>
          </a:p>
        </p:txBody>
      </p:sp>
      <p:sp>
        <p:nvSpPr>
          <p:cNvPr id="5" name="pi-problem-body-0">
            <a:extLst xmlns:a="http://schemas.openxmlformats.org/drawingml/2006/main">
              <a:ext uri="{FF2B5EF4-FFF2-40B4-BE49-F238E27FC236}">
                <a16:creationId xmlns:a16="http://schemas.microsoft.com/office/drawing/2014/main" id="{63294DCC-F31F-4529-9E24-C4BCDA10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067050"/>
            <a:ext cx="37623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相同输入仍可能得到差异较大的页面</a:t>
            </a:r>
          </a:p>
        </p:txBody>
      </p:sp>
      <p:sp>
        <p:nvSpPr>
          <p:cNvPr id="6" name="pi-problem-item-1">
            <a:extLst xmlns:a="http://schemas.openxmlformats.org/drawingml/2006/main">
              <a:ext uri="{FF2B5EF4-FFF2-40B4-BE49-F238E27FC236}">
                <a16:creationId xmlns:a16="http://schemas.microsoft.com/office/drawing/2014/main" id="{117D3391-F4B6-4FDD-90C5-D5ED5152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4343400"/>
            <a:ext cx="40481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i-problem-title-1">
            <a:extLst xmlns:a="http://schemas.openxmlformats.org/drawingml/2006/main">
              <a:ext uri="{FF2B5EF4-FFF2-40B4-BE49-F238E27FC236}">
                <a16:creationId xmlns:a16="http://schemas.microsoft.com/office/drawing/2014/main" id="{C7682476-5C4E-4CA1-9714-BAB38F24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44577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02 · 经验难沉淀</a:t>
            </a:r>
          </a:p>
        </p:txBody>
      </p:sp>
      <p:sp>
        <p:nvSpPr>
          <p:cNvPr id="8" name="pi-problem-body-1">
            <a:extLst xmlns:a="http://schemas.openxmlformats.org/drawingml/2006/main">
              <a:ext uri="{FF2B5EF4-FFF2-40B4-BE49-F238E27FC236}">
                <a16:creationId xmlns:a16="http://schemas.microsoft.com/office/drawing/2014/main" id="{EDF158C5-973C-4ECA-94A3-0BB98A6C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4724400"/>
            <a:ext cx="37623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每次任务都需要重新判断和修正</a:t>
            </a:r>
          </a:p>
        </p:txBody>
      </p:sp>
      <p:sp>
        <p:nvSpPr>
          <p:cNvPr id="9" name="pi-orbit">
            <a:extLst xmlns:a="http://schemas.openxmlformats.org/drawingml/2006/main">
              <a:ext uri="{FF2B5EF4-FFF2-40B4-BE49-F238E27FC236}">
                <a16:creationId xmlns:a16="http://schemas.microsoft.com/office/drawing/2014/main" id="{7B7B6E9F-25FC-4071-8302-CC435788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3390900"/>
            <a:ext cx="1143000" cy="1143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AD2E3"/>
            </a:solidFill>
            <a:prstDash val="dash"/>
          </a:ln>
        </p:spPr>
      </p:sp>
      <p:sp>
        <p:nvSpPr>
          <p:cNvPr id="10" name="pi-arrow">
            <a:extLst xmlns:a="http://schemas.openxmlformats.org/drawingml/2006/main">
              <a:ext uri="{FF2B5EF4-FFF2-40B4-BE49-F238E27FC236}">
                <a16:creationId xmlns:a16="http://schemas.microsoft.com/office/drawing/2014/main" id="{C8CE5EC6-B781-4D0E-9230-92AC67F3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6425" y="3552825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D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i-improvement-column">
            <a:extLst xmlns:a="http://schemas.openxmlformats.org/drawingml/2006/main">
              <a:ext uri="{FF2B5EF4-FFF2-40B4-BE49-F238E27FC236}">
                <a16:creationId xmlns:a16="http://schemas.microsoft.com/office/drawing/2014/main" id="{7AD87466-CCE2-44D8-8B5B-6B5CB205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0" y="1771650"/>
            <a:ext cx="4429125" cy="4305300"/>
          </a:xfrm>
          <a:prstGeom xmlns:a="http://schemas.openxmlformats.org/drawingml/2006/main" prst="roundRect">
            <a:avLst>
              <a:gd name="adj" fmla="val 2655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9525">
            <a:solidFill>
              <a:srgbClr val="B7DAF7"/>
            </a:solidFill>
            <a:prstDash val="solid"/>
          </a:ln>
        </p:spPr>
      </p:sp>
      <p:sp>
        <p:nvSpPr>
          <p:cNvPr id="12" name="pi-improvement-heading">
            <a:extLst xmlns:a="http://schemas.openxmlformats.org/drawingml/2006/main">
              <a:ext uri="{FF2B5EF4-FFF2-40B4-BE49-F238E27FC236}">
                <a16:creationId xmlns:a16="http://schemas.microsoft.com/office/drawing/2014/main" id="{40F90140-B862-4F67-A165-5F2DBEF9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1962150"/>
            <a:ext cx="4048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77CC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系统介入与结果</a:t>
            </a:r>
          </a:p>
        </p:txBody>
      </p:sp>
      <p:sp>
        <p:nvSpPr>
          <p:cNvPr id="13" name="pi-improvement-item-0">
            <a:extLst xmlns:a="http://schemas.openxmlformats.org/drawingml/2006/main">
              <a:ext uri="{FF2B5EF4-FFF2-40B4-BE49-F238E27FC236}">
                <a16:creationId xmlns:a16="http://schemas.microsoft.com/office/drawing/2014/main" id="{A04AAD4C-D841-4A9D-9DA0-1C9654DF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26860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i-improvement-title-0">
            <a:extLst xmlns:a="http://schemas.openxmlformats.org/drawingml/2006/main">
              <a:ext uri="{FF2B5EF4-FFF2-40B4-BE49-F238E27FC236}">
                <a16:creationId xmlns:a16="http://schemas.microsoft.com/office/drawing/2014/main" id="{788215D0-40A2-4095-8CB2-3DA709D9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28003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01 · 固定能力边界</a:t>
            </a:r>
          </a:p>
        </p:txBody>
      </p:sp>
      <p:sp>
        <p:nvSpPr>
          <p:cNvPr id="15" name="pi-improvement-body-0">
            <a:extLst xmlns:a="http://schemas.openxmlformats.org/drawingml/2006/main">
              <a:ext uri="{FF2B5EF4-FFF2-40B4-BE49-F238E27FC236}">
                <a16:creationId xmlns:a16="http://schemas.microsoft.com/office/drawing/2014/main" id="{00094E16-5DB0-449D-8CE7-9966788A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30670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用已登记 Style Group 承担结构表达</a:t>
            </a:r>
          </a:p>
        </p:txBody>
      </p:sp>
      <p:sp>
        <p:nvSpPr>
          <p:cNvPr id="16" name="pi-improvement-item-1">
            <a:extLst xmlns:a="http://schemas.openxmlformats.org/drawingml/2006/main">
              <a:ext uri="{FF2B5EF4-FFF2-40B4-BE49-F238E27FC236}">
                <a16:creationId xmlns:a16="http://schemas.microsoft.com/office/drawing/2014/main" id="{5985DA3A-C430-47B3-83A8-D8FA4429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37909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i-improvement-title-1">
            <a:extLst xmlns:a="http://schemas.openxmlformats.org/drawingml/2006/main">
              <a:ext uri="{FF2B5EF4-FFF2-40B4-BE49-F238E27FC236}">
                <a16:creationId xmlns:a16="http://schemas.microsoft.com/office/drawing/2014/main" id="{2FAC4EBE-7623-4A6E-8C7E-5837381D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39052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02 · 统一参数接口</a:t>
            </a:r>
          </a:p>
        </p:txBody>
      </p:sp>
      <p:sp>
        <p:nvSpPr>
          <p:cNvPr id="18" name="pi-improvement-body-1">
            <a:extLst xmlns:a="http://schemas.openxmlformats.org/drawingml/2006/main">
              <a:ext uri="{FF2B5EF4-FFF2-40B4-BE49-F238E27FC236}">
                <a16:creationId xmlns:a16="http://schemas.microsoft.com/office/drawing/2014/main" id="{5D357995-8691-4EDC-9C38-89931955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41719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让 HTML 与 Builder 使用同一输入</a:t>
            </a:r>
          </a:p>
        </p:txBody>
      </p:sp>
      <p:sp>
        <p:nvSpPr>
          <p:cNvPr id="19" name="pi-improvement-item-2">
            <a:extLst xmlns:a="http://schemas.openxmlformats.org/drawingml/2006/main">
              <a:ext uri="{FF2B5EF4-FFF2-40B4-BE49-F238E27FC236}">
                <a16:creationId xmlns:a16="http://schemas.microsoft.com/office/drawing/2014/main" id="{1EB86043-C88E-4269-A8F0-484F1ACB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48958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i-improvement-title-2">
            <a:extLst xmlns:a="http://schemas.openxmlformats.org/drawingml/2006/main">
              <a:ext uri="{FF2B5EF4-FFF2-40B4-BE49-F238E27FC236}">
                <a16:creationId xmlns:a16="http://schemas.microsoft.com/office/drawing/2014/main" id="{4E34DEC9-DBDA-4833-9D37-49B06BDD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50101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03 · 建立审查闭环</a:t>
            </a:r>
          </a:p>
        </p:txBody>
      </p:sp>
      <p:sp>
        <p:nvSpPr>
          <p:cNvPr id="21" name="pi-improvement-body-2">
            <a:extLst xmlns:a="http://schemas.openxmlformats.org/drawingml/2006/main">
              <a:ext uri="{FF2B5EF4-FFF2-40B4-BE49-F238E27FC236}">
                <a16:creationId xmlns:a16="http://schemas.microsoft.com/office/drawing/2014/main" id="{6054BAB7-EB0E-46E4-AF70-CA115E44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52768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在入库前完成状态与视觉确认</a:t>
            </a:r>
          </a:p>
        </p:txBody>
      </p:sp>
    </p:spTree>
    <p:extLst>
      <p:ext uri="{BB962C8B-B14F-4D97-AF65-F5344CB8AC3E}">
        <p14:creationId xmlns:p14="http://schemas.microsoft.com/office/powerpoint/2010/main" val="3134722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pi-problem-column">
            <a:extLst xmlns:a="http://schemas.openxmlformats.org/drawingml/2006/main">
              <a:ext uri="{FF2B5EF4-FFF2-40B4-BE49-F238E27FC236}">
                <a16:creationId xmlns:a16="http://schemas.microsoft.com/office/drawing/2014/main" id="{32C5F180-35B3-45CD-93E2-F1798496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771650"/>
            <a:ext cx="4429125" cy="4305300"/>
          </a:xfrm>
          <a:prstGeom xmlns:a="http://schemas.openxmlformats.org/drawingml/2006/main" prst="roundRect">
            <a:avLst>
              <a:gd name="adj" fmla="val 2655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4DCE6"/>
            </a:solidFill>
            <a:prstDash val="solid"/>
          </a:ln>
        </p:spPr>
      </p:sp>
      <p:sp>
        <p:nvSpPr>
          <p:cNvPr id="2" name="pi-problem-heading">
            <a:extLst xmlns:a="http://schemas.openxmlformats.org/drawingml/2006/main">
              <a:ext uri="{FF2B5EF4-FFF2-40B4-BE49-F238E27FC236}">
                <a16:creationId xmlns:a16="http://schemas.microsoft.com/office/drawing/2014/main" id="{E74AC412-2BD6-42BC-9EC0-3F10BBD3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1962150"/>
            <a:ext cx="4048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70798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现状与缺口</a:t>
            </a:r>
          </a:p>
        </p:txBody>
      </p:sp>
      <p:sp>
        <p:nvSpPr>
          <p:cNvPr id="3" name="pi-problem-item-0">
            <a:extLst xmlns:a="http://schemas.openxmlformats.org/drawingml/2006/main">
              <a:ext uri="{FF2B5EF4-FFF2-40B4-BE49-F238E27FC236}">
                <a16:creationId xmlns:a16="http://schemas.microsoft.com/office/drawing/2014/main" id="{233F6A23-30BB-4B6B-AF10-659FE82E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26860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i-problem-title-0">
            <a:extLst xmlns:a="http://schemas.openxmlformats.org/drawingml/2006/main">
              <a:ext uri="{FF2B5EF4-FFF2-40B4-BE49-F238E27FC236}">
                <a16:creationId xmlns:a16="http://schemas.microsoft.com/office/drawing/2014/main" id="{6BC6C3D6-1571-4383-A659-2F7DC92C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8003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01 · 结果不稳定</a:t>
            </a:r>
          </a:p>
        </p:txBody>
      </p:sp>
      <p:sp>
        <p:nvSpPr>
          <p:cNvPr id="5" name="pi-problem-body-0">
            <a:extLst xmlns:a="http://schemas.openxmlformats.org/drawingml/2006/main">
              <a:ext uri="{FF2B5EF4-FFF2-40B4-BE49-F238E27FC236}">
                <a16:creationId xmlns:a16="http://schemas.microsoft.com/office/drawing/2014/main" id="{3B3BBA2E-DBD5-44A9-B89E-B0DE5065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0670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相同输入仍可能得到差异较大的页面</a:t>
            </a:r>
          </a:p>
        </p:txBody>
      </p:sp>
      <p:sp>
        <p:nvSpPr>
          <p:cNvPr id="6" name="pi-problem-item-1">
            <a:extLst xmlns:a="http://schemas.openxmlformats.org/drawingml/2006/main">
              <a:ext uri="{FF2B5EF4-FFF2-40B4-BE49-F238E27FC236}">
                <a16:creationId xmlns:a16="http://schemas.microsoft.com/office/drawing/2014/main" id="{246EFCB2-D92C-419C-A275-04194D18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37909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i-problem-title-1">
            <a:extLst xmlns:a="http://schemas.openxmlformats.org/drawingml/2006/main">
              <a:ext uri="{FF2B5EF4-FFF2-40B4-BE49-F238E27FC236}">
                <a16:creationId xmlns:a16="http://schemas.microsoft.com/office/drawing/2014/main" id="{66776061-2FFC-4BE3-8169-5795D37A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9052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02 · 经验难沉淀</a:t>
            </a:r>
          </a:p>
        </p:txBody>
      </p:sp>
      <p:sp>
        <p:nvSpPr>
          <p:cNvPr id="8" name="pi-problem-body-1">
            <a:extLst xmlns:a="http://schemas.openxmlformats.org/drawingml/2006/main">
              <a:ext uri="{FF2B5EF4-FFF2-40B4-BE49-F238E27FC236}">
                <a16:creationId xmlns:a16="http://schemas.microsoft.com/office/drawing/2014/main" id="{BAEB4435-0585-403E-A2A6-AAC8A528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41719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每次任务都需要重新判断和修正</a:t>
            </a:r>
          </a:p>
        </p:txBody>
      </p:sp>
      <p:sp>
        <p:nvSpPr>
          <p:cNvPr id="9" name="pi-problem-item-2">
            <a:extLst xmlns:a="http://schemas.openxmlformats.org/drawingml/2006/main">
              <a:ext uri="{FF2B5EF4-FFF2-40B4-BE49-F238E27FC236}">
                <a16:creationId xmlns:a16="http://schemas.microsoft.com/office/drawing/2014/main" id="{63390EFE-55B2-4513-AF13-49ECAE55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48958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i-problem-title-2">
            <a:extLst xmlns:a="http://schemas.openxmlformats.org/drawingml/2006/main">
              <a:ext uri="{FF2B5EF4-FFF2-40B4-BE49-F238E27FC236}">
                <a16:creationId xmlns:a16="http://schemas.microsoft.com/office/drawing/2014/main" id="{DA6AB099-230F-4411-B5C3-93A5A5F0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50101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03 · 维护成本高</a:t>
            </a:r>
          </a:p>
        </p:txBody>
      </p:sp>
      <p:sp>
        <p:nvSpPr>
          <p:cNvPr id="11" name="pi-problem-body-2">
            <a:extLst xmlns:a="http://schemas.openxmlformats.org/drawingml/2006/main">
              <a:ext uri="{FF2B5EF4-FFF2-40B4-BE49-F238E27FC236}">
                <a16:creationId xmlns:a16="http://schemas.microsoft.com/office/drawing/2014/main" id="{BCD29E48-EF70-4C09-B4EC-9C8DDE30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52768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多套实现造成重复修改与偏差</a:t>
            </a:r>
          </a:p>
        </p:txBody>
      </p:sp>
      <p:sp>
        <p:nvSpPr>
          <p:cNvPr id="12" name="pi-orbit">
            <a:extLst xmlns:a="http://schemas.openxmlformats.org/drawingml/2006/main">
              <a:ext uri="{FF2B5EF4-FFF2-40B4-BE49-F238E27FC236}">
                <a16:creationId xmlns:a16="http://schemas.microsoft.com/office/drawing/2014/main" id="{274E77A5-BE9F-4CF9-9214-FE829856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3390900"/>
            <a:ext cx="1143000" cy="1143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AD2E3"/>
            </a:solidFill>
            <a:prstDash val="dash"/>
          </a:ln>
        </p:spPr>
      </p:sp>
      <p:sp>
        <p:nvSpPr>
          <p:cNvPr id="13" name="pi-arrow">
            <a:extLst xmlns:a="http://schemas.openxmlformats.org/drawingml/2006/main">
              <a:ext uri="{FF2B5EF4-FFF2-40B4-BE49-F238E27FC236}">
                <a16:creationId xmlns:a16="http://schemas.microsoft.com/office/drawing/2014/main" id="{F5C25128-DE49-499B-872B-140D03BB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6425" y="3552825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D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pi-improvement-column">
            <a:extLst xmlns:a="http://schemas.openxmlformats.org/drawingml/2006/main">
              <a:ext uri="{FF2B5EF4-FFF2-40B4-BE49-F238E27FC236}">
                <a16:creationId xmlns:a16="http://schemas.microsoft.com/office/drawing/2014/main" id="{C1AABEF0-7561-40D1-B729-2F95AB81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0" y="1771650"/>
            <a:ext cx="4429125" cy="4305300"/>
          </a:xfrm>
          <a:prstGeom xmlns:a="http://schemas.openxmlformats.org/drawingml/2006/main" prst="roundRect">
            <a:avLst>
              <a:gd name="adj" fmla="val 2655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9525">
            <a:solidFill>
              <a:srgbClr val="B7DAF7"/>
            </a:solidFill>
            <a:prstDash val="solid"/>
          </a:ln>
        </p:spPr>
      </p:sp>
      <p:sp>
        <p:nvSpPr>
          <p:cNvPr id="15" name="pi-improvement-heading">
            <a:extLst xmlns:a="http://schemas.openxmlformats.org/drawingml/2006/main">
              <a:ext uri="{FF2B5EF4-FFF2-40B4-BE49-F238E27FC236}">
                <a16:creationId xmlns:a16="http://schemas.microsoft.com/office/drawing/2014/main" id="{769E2C04-0F91-47E6-AB2F-A50283B2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1962150"/>
            <a:ext cx="4048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77CC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系统介入与结果</a:t>
            </a:r>
          </a:p>
        </p:txBody>
      </p:sp>
      <p:sp>
        <p:nvSpPr>
          <p:cNvPr id="16" name="pi-improvement-item-0">
            <a:extLst xmlns:a="http://schemas.openxmlformats.org/drawingml/2006/main">
              <a:ext uri="{FF2B5EF4-FFF2-40B4-BE49-F238E27FC236}">
                <a16:creationId xmlns:a16="http://schemas.microsoft.com/office/drawing/2014/main" id="{D514CE62-F76A-4FBB-BB97-AEADB575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2686050"/>
            <a:ext cx="40481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i-improvement-title-0">
            <a:extLst xmlns:a="http://schemas.openxmlformats.org/drawingml/2006/main">
              <a:ext uri="{FF2B5EF4-FFF2-40B4-BE49-F238E27FC236}">
                <a16:creationId xmlns:a16="http://schemas.microsoft.com/office/drawing/2014/main" id="{E6C9A9F6-3517-43C6-AA5D-E0F8BDDE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28003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01 · 固定能力边界</a:t>
            </a:r>
          </a:p>
        </p:txBody>
      </p:sp>
      <p:sp>
        <p:nvSpPr>
          <p:cNvPr id="18" name="pi-improvement-body-0">
            <a:extLst xmlns:a="http://schemas.openxmlformats.org/drawingml/2006/main">
              <a:ext uri="{FF2B5EF4-FFF2-40B4-BE49-F238E27FC236}">
                <a16:creationId xmlns:a16="http://schemas.microsoft.com/office/drawing/2014/main" id="{ED7A21AB-8578-4AFB-9049-ABB972D2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3067050"/>
            <a:ext cx="37623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用已登记 Style Group 承担结构表达</a:t>
            </a:r>
          </a:p>
        </p:txBody>
      </p:sp>
      <p:sp>
        <p:nvSpPr>
          <p:cNvPr id="19" name="pi-improvement-item-1">
            <a:extLst xmlns:a="http://schemas.openxmlformats.org/drawingml/2006/main">
              <a:ext uri="{FF2B5EF4-FFF2-40B4-BE49-F238E27FC236}">
                <a16:creationId xmlns:a16="http://schemas.microsoft.com/office/drawing/2014/main" id="{CF2BCEC7-5782-4B77-A4B3-2BF903F8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4343400"/>
            <a:ext cx="40481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i-improvement-title-1">
            <a:extLst xmlns:a="http://schemas.openxmlformats.org/drawingml/2006/main">
              <a:ext uri="{FF2B5EF4-FFF2-40B4-BE49-F238E27FC236}">
                <a16:creationId xmlns:a16="http://schemas.microsoft.com/office/drawing/2014/main" id="{6B3DE926-EF2E-4841-81D1-FEBEEB1F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44577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02 · 统一参数接口</a:t>
            </a:r>
          </a:p>
        </p:txBody>
      </p:sp>
      <p:sp>
        <p:nvSpPr>
          <p:cNvPr id="21" name="pi-improvement-body-1">
            <a:extLst xmlns:a="http://schemas.openxmlformats.org/drawingml/2006/main">
              <a:ext uri="{FF2B5EF4-FFF2-40B4-BE49-F238E27FC236}">
                <a16:creationId xmlns:a16="http://schemas.microsoft.com/office/drawing/2014/main" id="{F0B336F0-E4EA-48A4-B468-44EB5F7D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4724400"/>
            <a:ext cx="37623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让 HTML 与 Builder 使用同一输入</a:t>
            </a:r>
          </a:p>
        </p:txBody>
      </p:sp>
    </p:spTree>
    <p:extLst>
      <p:ext uri="{BB962C8B-B14F-4D97-AF65-F5344CB8AC3E}">
        <p14:creationId xmlns:p14="http://schemas.microsoft.com/office/powerpoint/2010/main" val="3483324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i-problem-column">
            <a:extLst xmlns:a="http://schemas.openxmlformats.org/drawingml/2006/main">
              <a:ext uri="{FF2B5EF4-FFF2-40B4-BE49-F238E27FC236}">
                <a16:creationId xmlns:a16="http://schemas.microsoft.com/office/drawing/2014/main" id="{E54794A6-B738-44B9-9500-C45FA5F4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771650"/>
            <a:ext cx="4429125" cy="4305300"/>
          </a:xfrm>
          <a:prstGeom xmlns:a="http://schemas.openxmlformats.org/drawingml/2006/main" prst="roundRect">
            <a:avLst>
              <a:gd name="adj" fmla="val 2655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4DCE6"/>
            </a:solidFill>
            <a:prstDash val="solid"/>
          </a:ln>
        </p:spPr>
      </p:sp>
      <p:sp>
        <p:nvSpPr>
          <p:cNvPr id="2" name="pi-problem-heading">
            <a:extLst xmlns:a="http://schemas.openxmlformats.org/drawingml/2006/main">
              <a:ext uri="{FF2B5EF4-FFF2-40B4-BE49-F238E27FC236}">
                <a16:creationId xmlns:a16="http://schemas.microsoft.com/office/drawing/2014/main" id="{5DE5A3A4-890F-46FD-B564-0B59835B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1962150"/>
            <a:ext cx="4048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70798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现状与缺口</a:t>
            </a:r>
          </a:p>
        </p:txBody>
      </p:sp>
      <p:sp>
        <p:nvSpPr>
          <p:cNvPr id="3" name="pi-problem-item-0">
            <a:extLst xmlns:a="http://schemas.openxmlformats.org/drawingml/2006/main">
              <a:ext uri="{FF2B5EF4-FFF2-40B4-BE49-F238E27FC236}">
                <a16:creationId xmlns:a16="http://schemas.microsoft.com/office/drawing/2014/main" id="{10ED97C9-470F-488F-A429-59D78056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26860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i-problem-title-0">
            <a:extLst xmlns:a="http://schemas.openxmlformats.org/drawingml/2006/main">
              <a:ext uri="{FF2B5EF4-FFF2-40B4-BE49-F238E27FC236}">
                <a16:creationId xmlns:a16="http://schemas.microsoft.com/office/drawing/2014/main" id="{1EC16671-E00D-4926-85CB-FEB5FF41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8003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01 · 结果不稳定</a:t>
            </a:r>
          </a:p>
        </p:txBody>
      </p:sp>
      <p:sp>
        <p:nvSpPr>
          <p:cNvPr id="5" name="pi-problem-body-0">
            <a:extLst xmlns:a="http://schemas.openxmlformats.org/drawingml/2006/main">
              <a:ext uri="{FF2B5EF4-FFF2-40B4-BE49-F238E27FC236}">
                <a16:creationId xmlns:a16="http://schemas.microsoft.com/office/drawing/2014/main" id="{E9973E7D-443C-44B7-8C37-4C378236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0670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相同输入仍可能得到差异较大的页面</a:t>
            </a:r>
          </a:p>
        </p:txBody>
      </p:sp>
      <p:sp>
        <p:nvSpPr>
          <p:cNvPr id="6" name="pi-problem-item-1">
            <a:extLst xmlns:a="http://schemas.openxmlformats.org/drawingml/2006/main">
              <a:ext uri="{FF2B5EF4-FFF2-40B4-BE49-F238E27FC236}">
                <a16:creationId xmlns:a16="http://schemas.microsoft.com/office/drawing/2014/main" id="{40A455B4-0D0A-44AF-BA6A-302685B5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37909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i-problem-title-1">
            <a:extLst xmlns:a="http://schemas.openxmlformats.org/drawingml/2006/main">
              <a:ext uri="{FF2B5EF4-FFF2-40B4-BE49-F238E27FC236}">
                <a16:creationId xmlns:a16="http://schemas.microsoft.com/office/drawing/2014/main" id="{C69B40D4-7580-43FC-9503-08C8BE11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9052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02 · 经验难沉淀</a:t>
            </a:r>
          </a:p>
        </p:txBody>
      </p:sp>
      <p:sp>
        <p:nvSpPr>
          <p:cNvPr id="8" name="pi-problem-body-1">
            <a:extLst xmlns:a="http://schemas.openxmlformats.org/drawingml/2006/main">
              <a:ext uri="{FF2B5EF4-FFF2-40B4-BE49-F238E27FC236}">
                <a16:creationId xmlns:a16="http://schemas.microsoft.com/office/drawing/2014/main" id="{D6662AEA-F21C-4188-A6F4-9E44EE91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41719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每次任务都需要重新判断和修正</a:t>
            </a:r>
          </a:p>
        </p:txBody>
      </p:sp>
      <p:sp>
        <p:nvSpPr>
          <p:cNvPr id="9" name="pi-problem-item-2">
            <a:extLst xmlns:a="http://schemas.openxmlformats.org/drawingml/2006/main">
              <a:ext uri="{FF2B5EF4-FFF2-40B4-BE49-F238E27FC236}">
                <a16:creationId xmlns:a16="http://schemas.microsoft.com/office/drawing/2014/main" id="{CB570518-FA6A-425E-9B47-737A7159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48958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i-problem-title-2">
            <a:extLst xmlns:a="http://schemas.openxmlformats.org/drawingml/2006/main">
              <a:ext uri="{FF2B5EF4-FFF2-40B4-BE49-F238E27FC236}">
                <a16:creationId xmlns:a16="http://schemas.microsoft.com/office/drawing/2014/main" id="{2E633277-91D7-40DB-ACF3-E7E67A31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50101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35485F"/>
                </a:solidFill>
                <a:latin typeface="Microsoft YaHei"/>
                <a:ea typeface="Microsoft YaHei"/>
                <a:cs typeface="Microsoft YaHei"/>
              </a:rPr>
              <a:t>03 · 维护成本高</a:t>
            </a:r>
          </a:p>
        </p:txBody>
      </p:sp>
      <p:sp>
        <p:nvSpPr>
          <p:cNvPr id="11" name="pi-problem-body-2">
            <a:extLst xmlns:a="http://schemas.openxmlformats.org/drawingml/2006/main">
              <a:ext uri="{FF2B5EF4-FFF2-40B4-BE49-F238E27FC236}">
                <a16:creationId xmlns:a16="http://schemas.microsoft.com/office/drawing/2014/main" id="{515245C0-5317-4A4B-8C40-6B355991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52768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多套实现造成重复修改与偏差</a:t>
            </a:r>
          </a:p>
        </p:txBody>
      </p:sp>
      <p:sp>
        <p:nvSpPr>
          <p:cNvPr id="12" name="pi-orbit">
            <a:extLst xmlns:a="http://schemas.openxmlformats.org/drawingml/2006/main">
              <a:ext uri="{FF2B5EF4-FFF2-40B4-BE49-F238E27FC236}">
                <a16:creationId xmlns:a16="http://schemas.microsoft.com/office/drawing/2014/main" id="{0C8171BE-2F13-4875-A2B8-095DEF44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3390900"/>
            <a:ext cx="1143000" cy="1143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AD2E3"/>
            </a:solidFill>
            <a:prstDash val="dash"/>
          </a:ln>
        </p:spPr>
      </p:sp>
      <p:sp>
        <p:nvSpPr>
          <p:cNvPr id="13" name="pi-arrow">
            <a:extLst xmlns:a="http://schemas.openxmlformats.org/drawingml/2006/main">
              <a:ext uri="{FF2B5EF4-FFF2-40B4-BE49-F238E27FC236}">
                <a16:creationId xmlns:a16="http://schemas.microsoft.com/office/drawing/2014/main" id="{4E8F3635-6829-403B-B47F-2D5F6AE6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6425" y="3552825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D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pi-improvement-column">
            <a:extLst xmlns:a="http://schemas.openxmlformats.org/drawingml/2006/main">
              <a:ext uri="{FF2B5EF4-FFF2-40B4-BE49-F238E27FC236}">
                <a16:creationId xmlns:a16="http://schemas.microsoft.com/office/drawing/2014/main" id="{8B785035-EBC9-4084-9040-256F5F0C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0" y="1771650"/>
            <a:ext cx="4429125" cy="4305300"/>
          </a:xfrm>
          <a:prstGeom xmlns:a="http://schemas.openxmlformats.org/drawingml/2006/main" prst="roundRect">
            <a:avLst>
              <a:gd name="adj" fmla="val 2655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9525">
            <a:solidFill>
              <a:srgbClr val="B7DAF7"/>
            </a:solidFill>
            <a:prstDash val="solid"/>
          </a:ln>
        </p:spPr>
      </p:sp>
      <p:sp>
        <p:nvSpPr>
          <p:cNvPr id="15" name="pi-improvement-heading">
            <a:extLst xmlns:a="http://schemas.openxmlformats.org/drawingml/2006/main">
              <a:ext uri="{FF2B5EF4-FFF2-40B4-BE49-F238E27FC236}">
                <a16:creationId xmlns:a16="http://schemas.microsoft.com/office/drawing/2014/main" id="{A39843F9-7DF0-407A-9000-BC0CE91D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1962150"/>
            <a:ext cx="4048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77CC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系统介入与结果</a:t>
            </a:r>
          </a:p>
        </p:txBody>
      </p:sp>
      <p:sp>
        <p:nvSpPr>
          <p:cNvPr id="16" name="pi-improvement-item-0">
            <a:extLst xmlns:a="http://schemas.openxmlformats.org/drawingml/2006/main">
              <a:ext uri="{FF2B5EF4-FFF2-40B4-BE49-F238E27FC236}">
                <a16:creationId xmlns:a16="http://schemas.microsoft.com/office/drawing/2014/main" id="{547D75F1-00A3-4672-B075-7379771B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26860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i-improvement-title-0">
            <a:extLst xmlns:a="http://schemas.openxmlformats.org/drawingml/2006/main">
              <a:ext uri="{FF2B5EF4-FFF2-40B4-BE49-F238E27FC236}">
                <a16:creationId xmlns:a16="http://schemas.microsoft.com/office/drawing/2014/main" id="{7933E163-87E1-4801-A574-55B00B41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28003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01 · 固定能力边界</a:t>
            </a:r>
          </a:p>
        </p:txBody>
      </p:sp>
      <p:sp>
        <p:nvSpPr>
          <p:cNvPr id="18" name="pi-improvement-body-0">
            <a:extLst xmlns:a="http://schemas.openxmlformats.org/drawingml/2006/main">
              <a:ext uri="{FF2B5EF4-FFF2-40B4-BE49-F238E27FC236}">
                <a16:creationId xmlns:a16="http://schemas.microsoft.com/office/drawing/2014/main" id="{D05A451B-25EA-4F74-B429-DDECBE6E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30670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用已登记 Style Group 承担结构表达</a:t>
            </a:r>
          </a:p>
        </p:txBody>
      </p:sp>
      <p:sp>
        <p:nvSpPr>
          <p:cNvPr id="19" name="pi-improvement-item-1">
            <a:extLst xmlns:a="http://schemas.openxmlformats.org/drawingml/2006/main">
              <a:ext uri="{FF2B5EF4-FFF2-40B4-BE49-F238E27FC236}">
                <a16:creationId xmlns:a16="http://schemas.microsoft.com/office/drawing/2014/main" id="{E386A53A-D941-4AA4-8479-8709FC30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37909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i-improvement-title-1">
            <a:extLst xmlns:a="http://schemas.openxmlformats.org/drawingml/2006/main">
              <a:ext uri="{FF2B5EF4-FFF2-40B4-BE49-F238E27FC236}">
                <a16:creationId xmlns:a16="http://schemas.microsoft.com/office/drawing/2014/main" id="{A4D4035C-3F69-4783-8A83-A200DB8B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39052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02 · 统一参数接口</a:t>
            </a:r>
          </a:p>
        </p:txBody>
      </p:sp>
      <p:sp>
        <p:nvSpPr>
          <p:cNvPr id="21" name="pi-improvement-body-1">
            <a:extLst xmlns:a="http://schemas.openxmlformats.org/drawingml/2006/main">
              <a:ext uri="{FF2B5EF4-FFF2-40B4-BE49-F238E27FC236}">
                <a16:creationId xmlns:a16="http://schemas.microsoft.com/office/drawing/2014/main" id="{DC1505C6-03E5-4947-AAE6-299E7645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41719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让 HTML 与 Builder 使用同一输入</a:t>
            </a:r>
          </a:p>
        </p:txBody>
      </p:sp>
      <p:sp>
        <p:nvSpPr>
          <p:cNvPr id="22" name="pi-improvement-item-2">
            <a:extLst xmlns:a="http://schemas.openxmlformats.org/drawingml/2006/main">
              <a:ext uri="{FF2B5EF4-FFF2-40B4-BE49-F238E27FC236}">
                <a16:creationId xmlns:a16="http://schemas.microsoft.com/office/drawing/2014/main" id="{FD7C5054-9A70-48D0-8AEE-70B8F8D8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4895850"/>
            <a:ext cx="4048125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-improvement-title-2">
            <a:extLst xmlns:a="http://schemas.openxmlformats.org/drawingml/2006/main">
              <a:ext uri="{FF2B5EF4-FFF2-40B4-BE49-F238E27FC236}">
                <a16:creationId xmlns:a16="http://schemas.microsoft.com/office/drawing/2014/main" id="{86BFF002-03E3-46FF-A0AB-34BAF9B5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50101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DB4"/>
                </a:solidFill>
                <a:latin typeface="Microsoft YaHei"/>
                <a:ea typeface="Microsoft YaHei"/>
                <a:cs typeface="Microsoft YaHei"/>
              </a:rPr>
              <a:t>03 · 建立审查闭环</a:t>
            </a:r>
          </a:p>
        </p:txBody>
      </p:sp>
      <p:sp>
        <p:nvSpPr>
          <p:cNvPr id="24" name="pi-improvement-body-2">
            <a:extLst xmlns:a="http://schemas.openxmlformats.org/drawingml/2006/main">
              <a:ext uri="{FF2B5EF4-FFF2-40B4-BE49-F238E27FC236}">
                <a16:creationId xmlns:a16="http://schemas.microsoft.com/office/drawing/2014/main" id="{7A733741-B673-4964-BE1A-DE5AE5D8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5276850"/>
            <a:ext cx="3762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D7E90"/>
                </a:solidFill>
                <a:latin typeface="Microsoft YaHei"/>
                <a:ea typeface="Microsoft YaHei"/>
                <a:cs typeface="Microsoft YaHei"/>
              </a:rPr>
              <a:t>在入库前完成状态与视觉确认</a:t>
            </a:r>
          </a:p>
        </p:txBody>
      </p:sp>
    </p:spTree>
    <p:extLst>
      <p:ext uri="{BB962C8B-B14F-4D97-AF65-F5344CB8AC3E}">
        <p14:creationId xmlns:p14="http://schemas.microsoft.com/office/powerpoint/2010/main" val="16317803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2026-08-16T02:07:02.3980000Z</dcterms:created>
  <dcterms:modified xsi:type="dcterms:W3CDTF">2026-08-16T02:07:02.3990000Z</dcterms:modified>
</coreProperties>
</file>