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cb59027844b55" /><Relationship Type="http://schemas.openxmlformats.org/officeDocument/2006/relationships/extended-properties" Target="/docProps/app.xml" Id="R6f209be6ea3446c0" /><Relationship Type="http://schemas.openxmlformats.org/officeDocument/2006/relationships/officeDocument" Target="/ppt/presentation.xml" Id="Re1b04bfa272d4e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26354392234f8b"/>
  </p:sldMasterIdLst>
  <p:notesMasterIdLst>
    <p:notesMasterId xmlns:r="http://schemas.openxmlformats.org/officeDocument/2006/relationships" r:id="Raa7ddba7a6e043e1"/>
  </p:notesMasterIdLst>
  <p:sldIdLst>
    <p:sldId xmlns:r="http://schemas.openxmlformats.org/officeDocument/2006/relationships" id="256" r:id="Rb463431591144c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ce1b4daa9348d1" /><Relationship Type="http://schemas.openxmlformats.org/officeDocument/2006/relationships/slideMaster" Target="/ppt/slideMasters/slideMaster1.xml" Id="Rea26354392234f8b" /><Relationship Type="http://schemas.openxmlformats.org/officeDocument/2006/relationships/notesMaster" Target="/ppt/notesMasters/notesMaster1.xml" Id="Raa7ddba7a6e043e1" /><Relationship Type="http://schemas.openxmlformats.org/officeDocument/2006/relationships/presProps" Target="/ppt/presProps.xml" Id="R2a2fecb5d5394aaf" /><Relationship Type="http://schemas.openxmlformats.org/officeDocument/2006/relationships/tableStyles" Target="/ppt/tableStyles.xml" Id="R5fa7202102634c4d" /><Relationship Type="http://schemas.openxmlformats.org/officeDocument/2006/relationships/slide" Target="/ppt/slides/slide1.xml" Id="Rb463431591144c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bb953639ee45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893b2c31dd482d" /><Relationship Type="http://schemas.openxmlformats.org/officeDocument/2006/relationships/notesMaster" Target="/ppt/notesMasters/notesMaster1.xml" Id="Rbbcaabb77fe641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664992ee043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160bbaae0f4d43" /><Relationship Type="http://schemas.openxmlformats.org/officeDocument/2006/relationships/slideLayout" Target="/ppt/slideLayouts/slideLayout1.xml" Id="Rc0ea790c8ad647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a790c8ad647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e03edfaf64783" /><Relationship Type="http://schemas.openxmlformats.org/officeDocument/2006/relationships/notesSlide" Target="/ppt/notesSlides/notesSlide1.xml" Id="R0c42f314defc45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roblem-solution-link-0">
            <a:extLst xmlns:a="http://schemas.openxmlformats.org/drawingml/2006/main">
              <a:ext uri="{FF2B5EF4-FFF2-40B4-BE49-F238E27FC236}">
                <a16:creationId xmlns:a16="http://schemas.microsoft.com/office/drawing/2014/main" id="{EE083C42-B108-44BF-B497-975A6CA2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2762250"/>
            <a:ext cx="7048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7145">
            <a:solidFill>
              <a:srgbClr val="B2C3DA"/>
            </a:solidFill>
            <a:prstDash val="solid"/>
          </a:ln>
        </p:spPr>
      </p:sp>
      <p:sp>
        <p:nvSpPr>
          <p:cNvPr id="2" name="problem-solution-arrow-0">
            <a:extLst xmlns:a="http://schemas.openxmlformats.org/drawingml/2006/main">
              <a:ext uri="{FF2B5EF4-FFF2-40B4-BE49-F238E27FC236}">
                <a16:creationId xmlns:a16="http://schemas.microsoft.com/office/drawing/2014/main" id="{F338B093-21BA-460E-BE18-130A638C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2708158"/>
            <a:ext cx="95250" cy="108194"/>
          </a:xfrm>
          <a:custGeom xmlns:a="http://schemas.openxmlformats.org/drawingml/2006/main">
            <a:pathLst>
              <a:path w="95250" h="108194">
                <a:moveTo>
                  <a:pt x="95250" y="54092"/>
                </a:moveTo>
                <a:lnTo>
                  <a:pt x="86230" y="48682"/>
                </a:lnTo>
                <a:lnTo>
                  <a:pt x="77219" y="43272"/>
                </a:lnTo>
                <a:lnTo>
                  <a:pt x="68199" y="37871"/>
                </a:lnTo>
                <a:lnTo>
                  <a:pt x="59188" y="32461"/>
                </a:lnTo>
                <a:lnTo>
                  <a:pt x="50168" y="27051"/>
                </a:lnTo>
                <a:lnTo>
                  <a:pt x="41158" y="21641"/>
                </a:lnTo>
                <a:lnTo>
                  <a:pt x="32137" y="16231"/>
                </a:lnTo>
                <a:lnTo>
                  <a:pt x="23127" y="10820"/>
                </a:lnTo>
                <a:lnTo>
                  <a:pt x="14107" y="5410"/>
                </a:lnTo>
                <a:lnTo>
                  <a:pt x="5086" y="0"/>
                </a:lnTo>
                <a:lnTo>
                  <a:pt x="0" y="1524"/>
                </a:lnTo>
                <a:lnTo>
                  <a:pt x="0" y="12040"/>
                </a:lnTo>
                <a:lnTo>
                  <a:pt x="0" y="22555"/>
                </a:lnTo>
                <a:lnTo>
                  <a:pt x="0" y="33071"/>
                </a:lnTo>
                <a:lnTo>
                  <a:pt x="0" y="43577"/>
                </a:lnTo>
                <a:lnTo>
                  <a:pt x="0" y="54092"/>
                </a:lnTo>
                <a:lnTo>
                  <a:pt x="0" y="64608"/>
                </a:lnTo>
                <a:lnTo>
                  <a:pt x="0" y="75124"/>
                </a:lnTo>
                <a:lnTo>
                  <a:pt x="0" y="85639"/>
                </a:lnTo>
                <a:lnTo>
                  <a:pt x="0" y="96155"/>
                </a:lnTo>
                <a:lnTo>
                  <a:pt x="0" y="106670"/>
                </a:lnTo>
                <a:lnTo>
                  <a:pt x="5086" y="108194"/>
                </a:lnTo>
                <a:lnTo>
                  <a:pt x="14107" y="102784"/>
                </a:lnTo>
                <a:lnTo>
                  <a:pt x="23127" y="97374"/>
                </a:lnTo>
                <a:lnTo>
                  <a:pt x="32137" y="91964"/>
                </a:lnTo>
                <a:lnTo>
                  <a:pt x="41158" y="86554"/>
                </a:lnTo>
                <a:lnTo>
                  <a:pt x="50168" y="81143"/>
                </a:lnTo>
                <a:lnTo>
                  <a:pt x="59188" y="75733"/>
                </a:lnTo>
                <a:lnTo>
                  <a:pt x="68199" y="70323"/>
                </a:lnTo>
                <a:lnTo>
                  <a:pt x="77219" y="64913"/>
                </a:lnTo>
                <a:lnTo>
                  <a:pt x="86230" y="59503"/>
                </a:lnTo>
                <a:lnTo>
                  <a:pt x="95250" y="54092"/>
                </a:lnTo>
                <a:close/>
              </a:path>
            </a:pathLst>
          </a:custGeom>
          <a:solidFill xmlns:a="http://schemas.openxmlformats.org/drawingml/2006/main">
            <a:srgbClr val="8CA5C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solution-outcome-link-0">
            <a:extLst xmlns:a="http://schemas.openxmlformats.org/drawingml/2006/main">
              <a:ext uri="{FF2B5EF4-FFF2-40B4-BE49-F238E27FC236}">
                <a16:creationId xmlns:a16="http://schemas.microsoft.com/office/drawing/2014/main" id="{18C3B17B-D8CC-472C-AEB9-F6D986FF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27622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8AEEF"/>
            </a:solidFill>
            <a:prstDash val="dash"/>
          </a:ln>
        </p:spPr>
      </p:sp>
      <p:sp>
        <p:nvSpPr>
          <p:cNvPr id="4" name="solution-outcome-dot-0">
            <a:extLst xmlns:a="http://schemas.openxmlformats.org/drawingml/2006/main">
              <a:ext uri="{FF2B5EF4-FFF2-40B4-BE49-F238E27FC236}">
                <a16:creationId xmlns:a16="http://schemas.microsoft.com/office/drawing/2014/main" id="{0E62296E-D599-4F31-A090-7D77E7E7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25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8AEEF"/>
            </a:solidFill>
            <a:prstDash val="solid"/>
          </a:ln>
        </p:spPr>
      </p:sp>
      <p:sp>
        <p:nvSpPr>
          <p:cNvPr id="5" name="problem-solution-link-1">
            <a:extLst xmlns:a="http://schemas.openxmlformats.org/drawingml/2006/main">
              <a:ext uri="{FF2B5EF4-FFF2-40B4-BE49-F238E27FC236}">
                <a16:creationId xmlns:a16="http://schemas.microsoft.com/office/drawing/2014/main" id="{9F399533-8C5B-472C-996A-ED49F130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3924300"/>
            <a:ext cx="7048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7145">
            <a:solidFill>
              <a:srgbClr val="B2C3DA"/>
            </a:solidFill>
            <a:prstDash val="solid"/>
          </a:ln>
        </p:spPr>
      </p:sp>
      <p:sp>
        <p:nvSpPr>
          <p:cNvPr id="6" name="problem-solution-arrow-1">
            <a:extLst xmlns:a="http://schemas.openxmlformats.org/drawingml/2006/main">
              <a:ext uri="{FF2B5EF4-FFF2-40B4-BE49-F238E27FC236}">
                <a16:creationId xmlns:a16="http://schemas.microsoft.com/office/drawing/2014/main" id="{9AEC8E91-AD79-4919-83AD-F2837670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870208"/>
            <a:ext cx="95250" cy="108194"/>
          </a:xfrm>
          <a:custGeom xmlns:a="http://schemas.openxmlformats.org/drawingml/2006/main">
            <a:pathLst>
              <a:path w="95250" h="108194">
                <a:moveTo>
                  <a:pt x="95250" y="54092"/>
                </a:moveTo>
                <a:lnTo>
                  <a:pt x="86230" y="48682"/>
                </a:lnTo>
                <a:lnTo>
                  <a:pt x="77219" y="43272"/>
                </a:lnTo>
                <a:lnTo>
                  <a:pt x="68199" y="37871"/>
                </a:lnTo>
                <a:lnTo>
                  <a:pt x="59188" y="32461"/>
                </a:lnTo>
                <a:lnTo>
                  <a:pt x="50168" y="27051"/>
                </a:lnTo>
                <a:lnTo>
                  <a:pt x="41158" y="21641"/>
                </a:lnTo>
                <a:lnTo>
                  <a:pt x="32137" y="16231"/>
                </a:lnTo>
                <a:lnTo>
                  <a:pt x="23127" y="10820"/>
                </a:lnTo>
                <a:lnTo>
                  <a:pt x="14107" y="5410"/>
                </a:lnTo>
                <a:lnTo>
                  <a:pt x="5086" y="0"/>
                </a:lnTo>
                <a:lnTo>
                  <a:pt x="0" y="1524"/>
                </a:lnTo>
                <a:lnTo>
                  <a:pt x="0" y="12040"/>
                </a:lnTo>
                <a:lnTo>
                  <a:pt x="0" y="22555"/>
                </a:lnTo>
                <a:lnTo>
                  <a:pt x="0" y="33071"/>
                </a:lnTo>
                <a:lnTo>
                  <a:pt x="0" y="43577"/>
                </a:lnTo>
                <a:lnTo>
                  <a:pt x="0" y="54092"/>
                </a:lnTo>
                <a:lnTo>
                  <a:pt x="0" y="64608"/>
                </a:lnTo>
                <a:lnTo>
                  <a:pt x="0" y="75124"/>
                </a:lnTo>
                <a:lnTo>
                  <a:pt x="0" y="85639"/>
                </a:lnTo>
                <a:lnTo>
                  <a:pt x="0" y="96155"/>
                </a:lnTo>
                <a:lnTo>
                  <a:pt x="0" y="106670"/>
                </a:lnTo>
                <a:lnTo>
                  <a:pt x="5086" y="108194"/>
                </a:lnTo>
                <a:lnTo>
                  <a:pt x="14107" y="102784"/>
                </a:lnTo>
                <a:lnTo>
                  <a:pt x="23127" y="97374"/>
                </a:lnTo>
                <a:lnTo>
                  <a:pt x="32137" y="91964"/>
                </a:lnTo>
                <a:lnTo>
                  <a:pt x="41158" y="86554"/>
                </a:lnTo>
                <a:lnTo>
                  <a:pt x="50168" y="81143"/>
                </a:lnTo>
                <a:lnTo>
                  <a:pt x="59188" y="75733"/>
                </a:lnTo>
                <a:lnTo>
                  <a:pt x="68199" y="70323"/>
                </a:lnTo>
                <a:lnTo>
                  <a:pt x="77219" y="64913"/>
                </a:lnTo>
                <a:lnTo>
                  <a:pt x="86230" y="59503"/>
                </a:lnTo>
                <a:lnTo>
                  <a:pt x="95250" y="54092"/>
                </a:lnTo>
                <a:close/>
              </a:path>
            </a:pathLst>
          </a:custGeom>
          <a:solidFill xmlns:a="http://schemas.openxmlformats.org/drawingml/2006/main">
            <a:srgbClr val="8CA5C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solution-outcome-link-1">
            <a:extLst xmlns:a="http://schemas.openxmlformats.org/drawingml/2006/main">
              <a:ext uri="{FF2B5EF4-FFF2-40B4-BE49-F238E27FC236}">
                <a16:creationId xmlns:a16="http://schemas.microsoft.com/office/drawing/2014/main" id="{93AECDAF-6A91-4753-838F-9A974950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92430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8AEEF"/>
            </a:solidFill>
            <a:prstDash val="dash"/>
          </a:ln>
        </p:spPr>
      </p:sp>
      <p:sp>
        <p:nvSpPr>
          <p:cNvPr id="8" name="solution-outcome-dot-1">
            <a:extLst xmlns:a="http://schemas.openxmlformats.org/drawingml/2006/main">
              <a:ext uri="{FF2B5EF4-FFF2-40B4-BE49-F238E27FC236}">
                <a16:creationId xmlns:a16="http://schemas.microsoft.com/office/drawing/2014/main" id="{D91C3F5A-4793-4006-A358-BE116009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25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8AEEF"/>
            </a:solidFill>
            <a:prstDash val="solid"/>
          </a:ln>
        </p:spPr>
      </p:sp>
      <p:sp>
        <p:nvSpPr>
          <p:cNvPr id="9" name="problem-solution-link-2">
            <a:extLst xmlns:a="http://schemas.openxmlformats.org/drawingml/2006/main">
              <a:ext uri="{FF2B5EF4-FFF2-40B4-BE49-F238E27FC236}">
                <a16:creationId xmlns:a16="http://schemas.microsoft.com/office/drawing/2014/main" id="{48A808E0-553A-4FAE-A7BD-E0687139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5086350"/>
            <a:ext cx="7048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7145">
            <a:solidFill>
              <a:srgbClr val="B2C3DA"/>
            </a:solidFill>
            <a:prstDash val="solid"/>
          </a:ln>
        </p:spPr>
      </p:sp>
      <p:sp>
        <p:nvSpPr>
          <p:cNvPr id="10" name="problem-solution-arrow-2">
            <a:extLst xmlns:a="http://schemas.openxmlformats.org/drawingml/2006/main">
              <a:ext uri="{FF2B5EF4-FFF2-40B4-BE49-F238E27FC236}">
                <a16:creationId xmlns:a16="http://schemas.microsoft.com/office/drawing/2014/main" id="{E81EC7A9-0DF2-45E9-93D9-3D8E9984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032258"/>
            <a:ext cx="95250" cy="108194"/>
          </a:xfrm>
          <a:custGeom xmlns:a="http://schemas.openxmlformats.org/drawingml/2006/main">
            <a:pathLst>
              <a:path w="95250" h="108194">
                <a:moveTo>
                  <a:pt x="95250" y="54092"/>
                </a:moveTo>
                <a:lnTo>
                  <a:pt x="86230" y="48682"/>
                </a:lnTo>
                <a:lnTo>
                  <a:pt x="77219" y="43272"/>
                </a:lnTo>
                <a:lnTo>
                  <a:pt x="68199" y="37871"/>
                </a:lnTo>
                <a:lnTo>
                  <a:pt x="59188" y="32461"/>
                </a:lnTo>
                <a:lnTo>
                  <a:pt x="50168" y="27051"/>
                </a:lnTo>
                <a:lnTo>
                  <a:pt x="41158" y="21641"/>
                </a:lnTo>
                <a:lnTo>
                  <a:pt x="32137" y="16231"/>
                </a:lnTo>
                <a:lnTo>
                  <a:pt x="23127" y="10820"/>
                </a:lnTo>
                <a:lnTo>
                  <a:pt x="14107" y="5410"/>
                </a:lnTo>
                <a:lnTo>
                  <a:pt x="5086" y="0"/>
                </a:lnTo>
                <a:lnTo>
                  <a:pt x="0" y="1524"/>
                </a:lnTo>
                <a:lnTo>
                  <a:pt x="0" y="12040"/>
                </a:lnTo>
                <a:lnTo>
                  <a:pt x="0" y="22555"/>
                </a:lnTo>
                <a:lnTo>
                  <a:pt x="0" y="33071"/>
                </a:lnTo>
                <a:lnTo>
                  <a:pt x="0" y="43577"/>
                </a:lnTo>
                <a:lnTo>
                  <a:pt x="0" y="54092"/>
                </a:lnTo>
                <a:lnTo>
                  <a:pt x="0" y="64608"/>
                </a:lnTo>
                <a:lnTo>
                  <a:pt x="0" y="75124"/>
                </a:lnTo>
                <a:lnTo>
                  <a:pt x="0" y="85639"/>
                </a:lnTo>
                <a:lnTo>
                  <a:pt x="0" y="96155"/>
                </a:lnTo>
                <a:lnTo>
                  <a:pt x="0" y="106670"/>
                </a:lnTo>
                <a:lnTo>
                  <a:pt x="5086" y="108194"/>
                </a:lnTo>
                <a:lnTo>
                  <a:pt x="14107" y="102784"/>
                </a:lnTo>
                <a:lnTo>
                  <a:pt x="23127" y="97374"/>
                </a:lnTo>
                <a:lnTo>
                  <a:pt x="32137" y="91964"/>
                </a:lnTo>
                <a:lnTo>
                  <a:pt x="41158" y="86554"/>
                </a:lnTo>
                <a:lnTo>
                  <a:pt x="50168" y="81143"/>
                </a:lnTo>
                <a:lnTo>
                  <a:pt x="59188" y="75733"/>
                </a:lnTo>
                <a:lnTo>
                  <a:pt x="68199" y="70323"/>
                </a:lnTo>
                <a:lnTo>
                  <a:pt x="77219" y="64913"/>
                </a:lnTo>
                <a:lnTo>
                  <a:pt x="86230" y="59503"/>
                </a:lnTo>
                <a:lnTo>
                  <a:pt x="95250" y="54092"/>
                </a:lnTo>
                <a:close/>
              </a:path>
            </a:pathLst>
          </a:custGeom>
          <a:solidFill xmlns:a="http://schemas.openxmlformats.org/drawingml/2006/main">
            <a:srgbClr val="8CA5C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solution-outcome-link-2">
            <a:extLst xmlns:a="http://schemas.openxmlformats.org/drawingml/2006/main">
              <a:ext uri="{FF2B5EF4-FFF2-40B4-BE49-F238E27FC236}">
                <a16:creationId xmlns:a16="http://schemas.microsoft.com/office/drawing/2014/main" id="{65A31529-7694-4480-BBE8-A96226EB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50863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8AEEF"/>
            </a:solidFill>
            <a:prstDash val="dash"/>
          </a:ln>
        </p:spPr>
      </p:sp>
      <p:sp>
        <p:nvSpPr>
          <p:cNvPr id="12" name="solution-outcome-dot-2">
            <a:extLst xmlns:a="http://schemas.openxmlformats.org/drawingml/2006/main">
              <a:ext uri="{FF2B5EF4-FFF2-40B4-BE49-F238E27FC236}">
                <a16:creationId xmlns:a16="http://schemas.microsoft.com/office/drawing/2014/main" id="{1B0D3889-62BA-4887-BC96-8650E968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25" y="5038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8AEEF"/>
            </a:solidFill>
            <a:prstDash val="solid"/>
          </a:ln>
        </p:spPr>
      </p:sp>
      <p:sp>
        <p:nvSpPr>
          <p:cNvPr id="13" name="outcome-bus">
            <a:extLst xmlns:a="http://schemas.openxmlformats.org/drawingml/2006/main">
              <a:ext uri="{FF2B5EF4-FFF2-40B4-BE49-F238E27FC236}">
                <a16:creationId xmlns:a16="http://schemas.microsoft.com/office/drawing/2014/main" id="{48E727AF-191F-4726-918D-DD03761E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2762250"/>
            <a:ext cx="0" cy="2324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8AEEF"/>
            </a:solidFill>
            <a:prstDash val="solid"/>
          </a:ln>
        </p:spPr>
      </p:sp>
      <p:sp>
        <p:nvSpPr>
          <p:cNvPr id="14" name="outcome-link">
            <a:extLst xmlns:a="http://schemas.openxmlformats.org/drawingml/2006/main">
              <a:ext uri="{FF2B5EF4-FFF2-40B4-BE49-F238E27FC236}">
                <a16:creationId xmlns:a16="http://schemas.microsoft.com/office/drawing/2014/main" id="{D4CA4189-F6A3-4144-9242-22F2D86F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39243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8AEEF"/>
            </a:solidFill>
            <a:prstDash val="solid"/>
          </a:ln>
        </p:spPr>
      </p:sp>
      <p:sp>
        <p:nvSpPr>
          <p:cNvPr id="15" name="outcome-arrow">
            <a:extLst xmlns:a="http://schemas.openxmlformats.org/drawingml/2006/main">
              <a:ext uri="{FF2B5EF4-FFF2-40B4-BE49-F238E27FC236}">
                <a16:creationId xmlns:a16="http://schemas.microsoft.com/office/drawing/2014/main" id="{CB2E71CD-90C5-47BF-B3A7-0E5B2460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3850262"/>
            <a:ext cx="114300" cy="148085"/>
          </a:xfrm>
          <a:custGeom xmlns:a="http://schemas.openxmlformats.org/drawingml/2006/main">
            <a:pathLst>
              <a:path w="114300" h="148085">
                <a:moveTo>
                  <a:pt x="114300" y="74038"/>
                </a:moveTo>
                <a:lnTo>
                  <a:pt x="103194" y="66637"/>
                </a:lnTo>
                <a:lnTo>
                  <a:pt x="92088" y="59236"/>
                </a:lnTo>
                <a:lnTo>
                  <a:pt x="80982" y="51826"/>
                </a:lnTo>
                <a:lnTo>
                  <a:pt x="69875" y="44425"/>
                </a:lnTo>
                <a:lnTo>
                  <a:pt x="58769" y="37024"/>
                </a:lnTo>
                <a:lnTo>
                  <a:pt x="47663" y="29613"/>
                </a:lnTo>
                <a:lnTo>
                  <a:pt x="36557" y="22212"/>
                </a:lnTo>
                <a:lnTo>
                  <a:pt x="25451" y="14811"/>
                </a:lnTo>
                <a:lnTo>
                  <a:pt x="14345" y="7401"/>
                </a:lnTo>
                <a:lnTo>
                  <a:pt x="3239" y="0"/>
                </a:lnTo>
                <a:lnTo>
                  <a:pt x="0" y="7306"/>
                </a:lnTo>
                <a:lnTo>
                  <a:pt x="0" y="20650"/>
                </a:lnTo>
                <a:lnTo>
                  <a:pt x="0" y="33995"/>
                </a:lnTo>
                <a:lnTo>
                  <a:pt x="0" y="47349"/>
                </a:lnTo>
                <a:lnTo>
                  <a:pt x="0" y="60693"/>
                </a:lnTo>
                <a:lnTo>
                  <a:pt x="0" y="74038"/>
                </a:lnTo>
                <a:lnTo>
                  <a:pt x="0" y="87392"/>
                </a:lnTo>
                <a:lnTo>
                  <a:pt x="0" y="100736"/>
                </a:lnTo>
                <a:lnTo>
                  <a:pt x="0" y="114090"/>
                </a:lnTo>
                <a:lnTo>
                  <a:pt x="0" y="127435"/>
                </a:lnTo>
                <a:lnTo>
                  <a:pt x="0" y="140780"/>
                </a:lnTo>
                <a:lnTo>
                  <a:pt x="3239" y="148085"/>
                </a:lnTo>
                <a:lnTo>
                  <a:pt x="14345" y="140684"/>
                </a:lnTo>
                <a:lnTo>
                  <a:pt x="25451" y="133274"/>
                </a:lnTo>
                <a:lnTo>
                  <a:pt x="36557" y="125873"/>
                </a:lnTo>
                <a:lnTo>
                  <a:pt x="47663" y="118472"/>
                </a:lnTo>
                <a:lnTo>
                  <a:pt x="58769" y="111062"/>
                </a:lnTo>
                <a:lnTo>
                  <a:pt x="69875" y="103661"/>
                </a:lnTo>
                <a:lnTo>
                  <a:pt x="80982" y="96260"/>
                </a:lnTo>
                <a:lnTo>
                  <a:pt x="92088" y="88849"/>
                </a:lnTo>
                <a:lnTo>
                  <a:pt x="103194" y="81448"/>
                </a:lnTo>
                <a:lnTo>
                  <a:pt x="114300" y="74038"/>
                </a:lnTo>
                <a:close/>
              </a:path>
            </a:pathLst>
          </a:custGeom>
          <a:solidFill xmlns:a="http://schemas.openxmlformats.org/drawingml/2006/main">
            <a:srgbClr val="78AE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problem-card-0">
            <a:extLst xmlns:a="http://schemas.openxmlformats.org/drawingml/2006/main">
              <a:ext uri="{FF2B5EF4-FFF2-40B4-BE49-F238E27FC236}">
                <a16:creationId xmlns:a16="http://schemas.microsoft.com/office/drawing/2014/main" id="{EE871865-3B6B-438B-BCEE-6567A34E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266950"/>
            <a:ext cx="257175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roblem-label-0">
            <a:extLst xmlns:a="http://schemas.openxmlformats.org/drawingml/2006/main">
              <a:ext uri="{FF2B5EF4-FFF2-40B4-BE49-F238E27FC236}">
                <a16:creationId xmlns:a16="http://schemas.microsoft.com/office/drawing/2014/main" id="{DA8DF092-4D34-4CA6-8992-04D0840B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381250"/>
            <a:ext cx="53816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1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18197"/>
                </a:solidFill>
                <a:latin typeface="Microsoft YaHei"/>
                <a:ea typeface="Microsoft YaHei"/>
                <a:cs typeface="Microsoft YaHei"/>
              </a:rPr>
              <a:t>问题 01</a:t>
            </a:r>
          </a:p>
        </p:txBody>
      </p:sp>
      <p:sp>
        <p:nvSpPr>
          <p:cNvPr id="18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08BFA30C-D809-49BE-9966-5E4CA2DB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263" y="2380802"/>
            <a:ext cx="1200150" cy="21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39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03956"/>
                </a:solidFill>
                <a:latin typeface="Microsoft YaHei"/>
                <a:ea typeface="Microsoft YaHei"/>
                <a:cs typeface="Microsoft YaHei"/>
              </a:rPr>
              <a:t>交接依赖人工</a:t>
            </a:r>
          </a:p>
        </p:txBody>
      </p:sp>
      <p:sp>
        <p:nvSpPr>
          <p:cNvPr id="19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A825E14D-EE5D-46CF-BEDF-E83136D7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667000"/>
            <a:ext cx="2228850" cy="22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rPr>
              <a:t>信息同步慢，责任边界模糊</a:t>
            </a:r>
          </a:p>
        </p:txBody>
      </p:sp>
      <p:sp>
        <p:nvSpPr>
          <p:cNvPr id="20" name="solution-card-0">
            <a:extLst xmlns:a="http://schemas.openxmlformats.org/drawingml/2006/main">
              <a:ext uri="{FF2B5EF4-FFF2-40B4-BE49-F238E27FC236}">
                <a16:creationId xmlns:a16="http://schemas.microsoft.com/office/drawing/2014/main" id="{98209903-554A-4C58-A346-E9CDB33E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2266950"/>
            <a:ext cx="371475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olution-label-0">
            <a:extLst xmlns:a="http://schemas.openxmlformats.org/drawingml/2006/main">
              <a:ext uri="{FF2B5EF4-FFF2-40B4-BE49-F238E27FC236}">
                <a16:creationId xmlns:a16="http://schemas.microsoft.com/office/drawing/2014/main" id="{636E63B1-FE27-4D42-996F-2B04F3AF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381250"/>
            <a:ext cx="53816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F7F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F7FC5"/>
                </a:solidFill>
                <a:latin typeface="Microsoft YaHei"/>
                <a:ea typeface="Microsoft YaHei"/>
                <a:cs typeface="Microsoft YaHei"/>
              </a:rPr>
              <a:t>方案 01</a:t>
            </a:r>
          </a:p>
        </p:txBody>
      </p:sp>
      <p:sp>
        <p:nvSpPr>
          <p:cNvPr id="22" name="solution-title-0">
            <a:extLst xmlns:a="http://schemas.openxmlformats.org/drawingml/2006/main">
              <a:ext uri="{FF2B5EF4-FFF2-40B4-BE49-F238E27FC236}">
                <a16:creationId xmlns:a16="http://schemas.microsoft.com/office/drawing/2014/main" id="{ED58F730-18A3-40E1-9CE0-4DECDC44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7263" y="2380802"/>
            <a:ext cx="1200150" cy="21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统一协同入口</a:t>
            </a:r>
          </a:p>
        </p:txBody>
      </p:sp>
      <p:sp>
        <p:nvSpPr>
          <p:cNvPr id="23" name="solution-body-0">
            <a:extLst xmlns:a="http://schemas.openxmlformats.org/drawingml/2006/main">
              <a:ext uri="{FF2B5EF4-FFF2-40B4-BE49-F238E27FC236}">
                <a16:creationId xmlns:a16="http://schemas.microsoft.com/office/drawing/2014/main" id="{F15DDF4F-739A-47A9-9C2C-C48989B4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667000"/>
            <a:ext cx="3352800" cy="22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rPr>
              <a:t>任务、责任人与节点同步可见</a:t>
            </a:r>
          </a:p>
        </p:txBody>
      </p:sp>
      <p:sp>
        <p:nvSpPr>
          <p:cNvPr id="24" name="problem-card-1">
            <a:extLst xmlns:a="http://schemas.openxmlformats.org/drawingml/2006/main">
              <a:ext uri="{FF2B5EF4-FFF2-40B4-BE49-F238E27FC236}">
                <a16:creationId xmlns:a16="http://schemas.microsoft.com/office/drawing/2014/main" id="{FDB79E9E-F506-42A4-9407-2A0C5BDE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29000"/>
            <a:ext cx="257175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529E14BB-3818-4406-AFB7-F0D80786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543300"/>
            <a:ext cx="53816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1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18197"/>
                </a:solidFill>
                <a:latin typeface="Microsoft YaHei"/>
                <a:ea typeface="Microsoft YaHei"/>
                <a:cs typeface="Microsoft YaHei"/>
              </a:rPr>
              <a:t>问题 02</a:t>
            </a:r>
          </a:p>
        </p:txBody>
      </p:sp>
      <p:sp>
        <p:nvSpPr>
          <p:cNvPr id="26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A3FF0E43-BF35-486D-B49D-6DBACC7A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263" y="3542852"/>
            <a:ext cx="1200150" cy="21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39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03956"/>
                </a:solidFill>
                <a:latin typeface="Microsoft YaHei"/>
                <a:ea typeface="Microsoft YaHei"/>
                <a:cs typeface="Microsoft YaHei"/>
              </a:rPr>
              <a:t>异常发现滞后</a:t>
            </a:r>
          </a:p>
        </p:txBody>
      </p:sp>
      <p:sp>
        <p:nvSpPr>
          <p:cNvPr id="27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F86E723E-D697-444D-A710-EC26D7FD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829050"/>
            <a:ext cx="2228850" cy="22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rPr>
              <a:t>依靠事后反馈，定位耗时</a:t>
            </a:r>
          </a:p>
        </p:txBody>
      </p:sp>
      <p:sp>
        <p:nvSpPr>
          <p:cNvPr id="28" name="solution-card-1">
            <a:extLst xmlns:a="http://schemas.openxmlformats.org/drawingml/2006/main">
              <a:ext uri="{FF2B5EF4-FFF2-40B4-BE49-F238E27FC236}">
                <a16:creationId xmlns:a16="http://schemas.microsoft.com/office/drawing/2014/main" id="{75513878-6161-4CAF-9EB5-F611527D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3429000"/>
            <a:ext cx="371475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solution-label-1">
            <a:extLst xmlns:a="http://schemas.openxmlformats.org/drawingml/2006/main">
              <a:ext uri="{FF2B5EF4-FFF2-40B4-BE49-F238E27FC236}">
                <a16:creationId xmlns:a16="http://schemas.microsoft.com/office/drawing/2014/main" id="{7CBCB831-716E-46E1-882B-53476CE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3543300"/>
            <a:ext cx="53816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F7F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F7FC5"/>
                </a:solidFill>
                <a:latin typeface="Microsoft YaHei"/>
                <a:ea typeface="Microsoft YaHei"/>
                <a:cs typeface="Microsoft YaHei"/>
              </a:rPr>
              <a:t>方案 02</a:t>
            </a:r>
          </a:p>
        </p:txBody>
      </p:sp>
      <p:sp>
        <p:nvSpPr>
          <p:cNvPr id="30" name="solution-title-1">
            <a:extLst xmlns:a="http://schemas.openxmlformats.org/drawingml/2006/main">
              <a:ext uri="{FF2B5EF4-FFF2-40B4-BE49-F238E27FC236}">
                <a16:creationId xmlns:a16="http://schemas.microsoft.com/office/drawing/2014/main" id="{0683116D-C281-4DAA-83F5-78A20C1E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7263" y="3542852"/>
            <a:ext cx="1200150" cy="21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实时监测预警</a:t>
            </a:r>
          </a:p>
        </p:txBody>
      </p:sp>
      <p:sp>
        <p:nvSpPr>
          <p:cNvPr id="31" name="solution-body-1">
            <a:extLst xmlns:a="http://schemas.openxmlformats.org/drawingml/2006/main">
              <a:ext uri="{FF2B5EF4-FFF2-40B4-BE49-F238E27FC236}">
                <a16:creationId xmlns:a16="http://schemas.microsoft.com/office/drawing/2014/main" id="{6785C528-0280-4F0D-BE16-6FC9903C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3829050"/>
            <a:ext cx="3352800" cy="22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rPr>
              <a:t>关键异常自动触发分级提醒</a:t>
            </a:r>
          </a:p>
        </p:txBody>
      </p:sp>
      <p:sp>
        <p:nvSpPr>
          <p:cNvPr id="32" name="problem-card-2">
            <a:extLst xmlns:a="http://schemas.openxmlformats.org/drawingml/2006/main">
              <a:ext uri="{FF2B5EF4-FFF2-40B4-BE49-F238E27FC236}">
                <a16:creationId xmlns:a16="http://schemas.microsoft.com/office/drawing/2014/main" id="{1DE19743-9993-4FDE-A171-992BD9D0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591050"/>
            <a:ext cx="257175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12D58FBC-FEF9-4A8A-8C4E-A91F0945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705350"/>
            <a:ext cx="53816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1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18197"/>
                </a:solidFill>
                <a:latin typeface="Microsoft YaHei"/>
                <a:ea typeface="Microsoft YaHei"/>
                <a:cs typeface="Microsoft YaHei"/>
              </a:rPr>
              <a:t>问题 03</a:t>
            </a:r>
          </a:p>
        </p:txBody>
      </p:sp>
      <p:sp>
        <p:nvSpPr>
          <p:cNvPr id="34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062810D4-A8F3-4B89-AEAF-DAE38E42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263" y="4704902"/>
            <a:ext cx="1200150" cy="21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39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03956"/>
                </a:solidFill>
                <a:latin typeface="Microsoft YaHei"/>
                <a:ea typeface="Microsoft YaHei"/>
                <a:cs typeface="Microsoft YaHei"/>
              </a:rPr>
              <a:t>执行口径不一</a:t>
            </a:r>
          </a:p>
        </p:txBody>
      </p:sp>
      <p:sp>
        <p:nvSpPr>
          <p:cNvPr id="35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64A5803C-A87F-4F6E-A90A-BE18D15F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991100"/>
            <a:ext cx="2228850" cy="22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rPr>
              <a:t>不同团队采用不同标准</a:t>
            </a:r>
          </a:p>
        </p:txBody>
      </p:sp>
      <p:sp>
        <p:nvSpPr>
          <p:cNvPr id="36" name="solution-card-2">
            <a:extLst xmlns:a="http://schemas.openxmlformats.org/drawingml/2006/main">
              <a:ext uri="{FF2B5EF4-FFF2-40B4-BE49-F238E27FC236}">
                <a16:creationId xmlns:a16="http://schemas.microsoft.com/office/drawing/2014/main" id="{C9B14D67-7308-40E5-AB57-1405F95F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4591050"/>
            <a:ext cx="371475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solution-label-2">
            <a:extLst xmlns:a="http://schemas.openxmlformats.org/drawingml/2006/main">
              <a:ext uri="{FF2B5EF4-FFF2-40B4-BE49-F238E27FC236}">
                <a16:creationId xmlns:a16="http://schemas.microsoft.com/office/drawing/2014/main" id="{49FFCB07-5DF5-4BAA-907A-27B647E9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4705350"/>
            <a:ext cx="53816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F7F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F7FC5"/>
                </a:solidFill>
                <a:latin typeface="Microsoft YaHei"/>
                <a:ea typeface="Microsoft YaHei"/>
                <a:cs typeface="Microsoft YaHei"/>
              </a:rPr>
              <a:t>方案 03</a:t>
            </a:r>
          </a:p>
        </p:txBody>
      </p:sp>
      <p:sp>
        <p:nvSpPr>
          <p:cNvPr id="38" name="solution-title-2">
            <a:extLst xmlns:a="http://schemas.openxmlformats.org/drawingml/2006/main">
              <a:ext uri="{FF2B5EF4-FFF2-40B4-BE49-F238E27FC236}">
                <a16:creationId xmlns:a16="http://schemas.microsoft.com/office/drawing/2014/main" id="{347556A7-D4DC-401A-AE7F-CDF13336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7263" y="4704902"/>
            <a:ext cx="1200150" cy="21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固化标准流程</a:t>
            </a:r>
          </a:p>
        </p:txBody>
      </p:sp>
      <p:sp>
        <p:nvSpPr>
          <p:cNvPr id="39" name="solution-body-2">
            <a:extLst xmlns:a="http://schemas.openxmlformats.org/drawingml/2006/main">
              <a:ext uri="{FF2B5EF4-FFF2-40B4-BE49-F238E27FC236}">
                <a16:creationId xmlns:a16="http://schemas.microsoft.com/office/drawing/2014/main" id="{694C3779-7290-4627-A089-4B1763AF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4991100"/>
            <a:ext cx="3352800" cy="22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B687A"/>
                </a:solidFill>
                <a:latin typeface="Microsoft YaHei"/>
                <a:ea typeface="Microsoft YaHei"/>
                <a:cs typeface="Microsoft YaHei"/>
              </a:rPr>
              <a:t>规则模板与验收口径统一</a:t>
            </a:r>
          </a:p>
        </p:txBody>
      </p:sp>
      <p:sp>
        <p:nvSpPr>
          <p:cNvPr id="40" name="outcome-halo">
            <a:extLst xmlns:a="http://schemas.openxmlformats.org/drawingml/2006/main">
              <a:ext uri="{FF2B5EF4-FFF2-40B4-BE49-F238E27FC236}">
                <a16:creationId xmlns:a16="http://schemas.microsoft.com/office/drawing/2014/main" id="{F9036428-BE94-4347-B324-06BF8DF1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2686050"/>
            <a:ext cx="2419350" cy="2419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1" name="outcome-ring">
            <a:extLst xmlns:a="http://schemas.openxmlformats.org/drawingml/2006/main">
              <a:ext uri="{FF2B5EF4-FFF2-40B4-BE49-F238E27FC236}">
                <a16:creationId xmlns:a16="http://schemas.microsoft.com/office/drawing/2014/main" id="{D9654401-C0BF-4321-9D6B-A796DBA5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475" y="2809875"/>
            <a:ext cx="2171700" cy="2171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42" name="outcome-card">
            <a:extLst xmlns:a="http://schemas.openxmlformats.org/drawingml/2006/main">
              <a:ext uri="{FF2B5EF4-FFF2-40B4-BE49-F238E27FC236}">
                <a16:creationId xmlns:a16="http://schemas.microsoft.com/office/drawing/2014/main" id="{E2340FA1-FAF3-4619-AA37-09CD7C26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2924175"/>
            <a:ext cx="1943100" cy="194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8F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AECCFD24-B813-401D-ADA8-8A2A63AD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4767" y="3244606"/>
            <a:ext cx="39097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D83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D83BB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44" name="outcome-title">
            <a:extLst xmlns:a="http://schemas.openxmlformats.org/drawingml/2006/main">
              <a:ext uri="{FF2B5EF4-FFF2-40B4-BE49-F238E27FC236}">
                <a16:creationId xmlns:a16="http://schemas.microsoft.com/office/drawing/2014/main" id="{7EB01C89-88A5-40EC-8D0A-8F408DFD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75" y="3520831"/>
            <a:ext cx="1485900" cy="516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协同过程更清晰</a:t>
            </a:r>
          </a:p>
        </p:txBody>
      </p:sp>
      <p:sp>
        <p:nvSpPr>
          <p:cNvPr id="45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ACEF6C55-8A63-43FD-91C1-E235EB6F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6913" y="4122982"/>
            <a:ext cx="1266825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2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2647A"/>
                </a:solidFill>
                <a:latin typeface="Microsoft YaHei"/>
                <a:ea typeface="Microsoft YaHei"/>
                <a:cs typeface="Microsoft YaHei"/>
              </a:rPr>
              <a:t>异常提前暴露</a:t>
            </a:r>
          </a:p>
          <a:p xmlns:a="http://schemas.openxmlformats.org/drawingml/2006/main">
            <a:pPr algn="ctr">
              <a:defRPr sz="1425" b="0" i="0">
                <a:solidFill>
                  <a:srgbClr val="52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2647A"/>
                </a:solidFill>
                <a:latin typeface="Microsoft YaHei"/>
                <a:ea typeface="Microsoft YaHei"/>
                <a:cs typeface="Microsoft YaHei"/>
              </a:rPr>
              <a:t>交付节奏更稳定</a:t>
            </a:r>
          </a:p>
        </p:txBody>
      </p:sp>
    </p:spTree>
    <p:extLst>
      <p:ext uri="{BB962C8B-B14F-4D97-AF65-F5344CB8AC3E}">
        <p14:creationId xmlns:p14="http://schemas.microsoft.com/office/powerpoint/2010/main" val="930475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2026-08-18T23:26:59.7690000Z</dcterms:created>
  <dcterms:modified xsi:type="dcterms:W3CDTF">2026-08-18T23:26:59.7690000Z</dcterms:modified>
</coreProperties>
</file>