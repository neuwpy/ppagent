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6c4494bef643e8" /><Relationship Type="http://schemas.openxmlformats.org/officeDocument/2006/relationships/extended-properties" Target="/docProps/app.xml" Id="R17a7c60c5ce743a4" /><Relationship Type="http://schemas.openxmlformats.org/officeDocument/2006/relationships/officeDocument" Target="/ppt/presentation.xml" Id="R0b86fecfc8e944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ef4a100c5b4e55"/>
  </p:sldMasterIdLst>
  <p:notesMasterIdLst>
    <p:notesMasterId xmlns:r="http://schemas.openxmlformats.org/officeDocument/2006/relationships" r:id="R1c15e78f248c41f4"/>
  </p:notesMasterIdLst>
  <p:sldIdLst>
    <p:sldId xmlns:r="http://schemas.openxmlformats.org/officeDocument/2006/relationships" id="256" r:id="Rf1d0117511cc41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ab434831474ac7" /><Relationship Type="http://schemas.openxmlformats.org/officeDocument/2006/relationships/slideMaster" Target="/ppt/slideMasters/slideMaster1.xml" Id="R11ef4a100c5b4e55" /><Relationship Type="http://schemas.openxmlformats.org/officeDocument/2006/relationships/notesMaster" Target="/ppt/notesMasters/notesMaster1.xml" Id="R1c15e78f248c41f4" /><Relationship Type="http://schemas.openxmlformats.org/officeDocument/2006/relationships/presProps" Target="/ppt/presProps.xml" Id="R5cf401de1dde4bab" /><Relationship Type="http://schemas.openxmlformats.org/officeDocument/2006/relationships/tableStyles" Target="/ppt/tableStyles.xml" Id="R92f41b10e3464386" /><Relationship Type="http://schemas.openxmlformats.org/officeDocument/2006/relationships/slide" Target="/ppt/slides/slide1.xml" Id="Rf1d0117511cc41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447a92054349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209550" dist="9525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18000"/>
              </a:srgbClr>
            </a:outerShdw>
          </a:effectLst>
        </a:effectStyle>
        <a:effectStyle>
          <a:effectLst>
            <a:outerShdw blurRad="200025" dist="85725" dir="5400000">
              <a:srgbClr val="2F5EA8">
                <a:alpha val="14000"/>
              </a:srgbClr>
            </a:outerShdw>
          </a:effectLst>
        </a:effectStyle>
        <a:effectStyle>
          <a:effectLst>
            <a:outerShdw blurRad="171450" dist="76200" dir="5400000">
              <a:srgbClr val="264E80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F497E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b4853dab474c6c" /><Relationship Type="http://schemas.openxmlformats.org/officeDocument/2006/relationships/notesMaster" Target="/ppt/notesMasters/notesMaster1.xml" Id="R1e30528c770249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018493eb8a40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431d0d4bea4977" /><Relationship Type="http://schemas.openxmlformats.org/officeDocument/2006/relationships/slideLayout" Target="/ppt/slideLayouts/slideLayout1.xml" Id="R69802212995c4c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802212995c4c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209550" dist="9525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18000"/>
              </a:srgbClr>
            </a:outerShdw>
          </a:effectLst>
        </a:effectStyle>
        <a:effectStyle>
          <a:effectLst>
            <a:outerShdw blurRad="200025" dist="85725" dir="5400000">
              <a:srgbClr val="2F5EA8">
                <a:alpha val="14000"/>
              </a:srgbClr>
            </a:outerShdw>
          </a:effectLst>
        </a:effectStyle>
        <a:effectStyle>
          <a:effectLst>
            <a:outerShdw blurRad="171450" dist="76200" dir="5400000">
              <a:srgbClr val="264E80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F497E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6db2022b848d8" /><Relationship Type="http://schemas.openxmlformats.org/officeDocument/2006/relationships/image" Target="/ppt/media/image.png" Id="Ra25167b1530f4550" /><Relationship Type="http://schemas.openxmlformats.org/officeDocument/2006/relationships/image" Target="/ppt/media/image.svg" Id="R84c852d65c954d59" /><Relationship Type="http://schemas.openxmlformats.org/officeDocument/2006/relationships/image" Target="/ppt/media/image2.png" Id="R68eaff5d5acc4fe0" /><Relationship Type="http://schemas.openxmlformats.org/officeDocument/2006/relationships/image" Target="/ppt/media/image2.svg" Id="R524c8db7aaae4a38" /><Relationship Type="http://schemas.openxmlformats.org/officeDocument/2006/relationships/notesSlide" Target="/ppt/notesSlides/notesSlide1.xml" Id="R6ae4f753cb9343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quadrant-field-0">
            <a:extLst xmlns:a="http://schemas.openxmlformats.org/drawingml/2006/main">
              <a:ext uri="{FF2B5EF4-FFF2-40B4-BE49-F238E27FC236}">
                <a16:creationId xmlns:a16="http://schemas.microsoft.com/office/drawing/2014/main" id="{92E22406-68FB-48E9-A8C5-850BDB81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" y="1752600"/>
            <a:ext cx="52673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E1FC">
              <a:alpha val="2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quadrant-field-1">
            <a:extLst xmlns:a="http://schemas.openxmlformats.org/drawingml/2006/main">
              <a:ext uri="{FF2B5EF4-FFF2-40B4-BE49-F238E27FC236}">
                <a16:creationId xmlns:a16="http://schemas.microsoft.com/office/drawing/2014/main" id="{C2198C65-EE03-4F61-A7A7-E85E464C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7450" y="1752600"/>
            <a:ext cx="490537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B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quadrant-field-2">
            <a:extLst xmlns:a="http://schemas.openxmlformats.org/drawingml/2006/main">
              <a:ext uri="{FF2B5EF4-FFF2-40B4-BE49-F238E27FC236}">
                <a16:creationId xmlns:a16="http://schemas.microsoft.com/office/drawing/2014/main" id="{02F9D897-1D0A-40E1-89AA-6FC95BF6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" y="4057650"/>
            <a:ext cx="526732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B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adrant-field-3">
            <a:extLst xmlns:a="http://schemas.openxmlformats.org/drawingml/2006/main">
              <a:ext uri="{FF2B5EF4-FFF2-40B4-BE49-F238E27FC236}">
                <a16:creationId xmlns:a16="http://schemas.microsoft.com/office/drawing/2014/main" id="{E384E825-5FF6-46B4-8787-5808E225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7450" y="4057650"/>
            <a:ext cx="4905375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EFC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matrix-item-0-0">
            <a:extLst xmlns:a="http://schemas.openxmlformats.org/drawingml/2006/main">
              <a:ext uri="{FF2B5EF4-FFF2-40B4-BE49-F238E27FC236}">
                <a16:creationId xmlns:a16="http://schemas.microsoft.com/office/drawing/2014/main" id="{8F8296BC-8369-4084-A274-2ACC57DE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237172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>
              <a:alpha val="79000"/>
            </a:srgbClr>
          </a:solidFill>
          <a:ln xmlns:a="http://schemas.openxmlformats.org/drawingml/2006/main" w="9525">
            <a:solidFill>
              <a:srgbClr val="FFFFFF">
                <a:alpha val="8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8"/>
          <a:fontRef xmlns:a="http://schemas.openxmlformats.org/drawingml/2006/main" idx="major"/>
        </p:style>
      </p:sp>
      <p:sp>
        <p:nvSpPr>
          <p:cNvPr id="6" name="matrix-item-title-0-0">
            <a:extLst xmlns:a="http://schemas.openxmlformats.org/drawingml/2006/main">
              <a:ext uri="{FF2B5EF4-FFF2-40B4-BE49-F238E27FC236}">
                <a16:creationId xmlns:a16="http://schemas.microsoft.com/office/drawing/2014/main" id="{BB260187-28A3-4EAE-BEC6-31AC607F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25908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异常预警</a:t>
            </a:r>
          </a:p>
        </p:txBody>
      </p:sp>
      <p:sp>
        <p:nvSpPr>
          <p:cNvPr id="7" name="matrix-item-0-1">
            <a:extLst xmlns:a="http://schemas.openxmlformats.org/drawingml/2006/main">
              <a:ext uri="{FF2B5EF4-FFF2-40B4-BE49-F238E27FC236}">
                <a16:creationId xmlns:a16="http://schemas.microsoft.com/office/drawing/2014/main" id="{29B32667-94FA-41E5-AB3F-D02A5EAF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200977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>
              <a:alpha val="79000"/>
            </a:srgbClr>
          </a:solidFill>
          <a:ln xmlns:a="http://schemas.openxmlformats.org/drawingml/2006/main" w="9525">
            <a:solidFill>
              <a:srgbClr val="FFFFFF">
                <a:alpha val="8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8"/>
          <a:fontRef xmlns:a="http://schemas.openxmlformats.org/drawingml/2006/main" idx="major"/>
        </p:style>
      </p:sp>
      <p:sp>
        <p:nvSpPr>
          <p:cNvPr id="8" name="matrix-item-title-0-1">
            <a:extLst xmlns:a="http://schemas.openxmlformats.org/drawingml/2006/main">
              <a:ext uri="{FF2B5EF4-FFF2-40B4-BE49-F238E27FC236}">
                <a16:creationId xmlns:a16="http://schemas.microsoft.com/office/drawing/2014/main" id="{1D20AF7A-8336-4CDF-A094-7A62FE4B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2461174"/>
            <a:ext cx="914400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统一入口</a:t>
            </a:r>
          </a:p>
        </p:txBody>
      </p:sp>
      <p:sp>
        <p:nvSpPr>
          <p:cNvPr id="9" name="matrix-item-1-0">
            <a:extLst xmlns:a="http://schemas.openxmlformats.org/drawingml/2006/main">
              <a:ext uri="{FF2B5EF4-FFF2-40B4-BE49-F238E27FC236}">
                <a16:creationId xmlns:a16="http://schemas.microsoft.com/office/drawing/2014/main" id="{A5323FB6-2059-4EB9-A188-A1E03C9E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244792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84C4">
              <a:alpha val="68000"/>
            </a:srgbClr>
          </a:solidFill>
          <a:ln xmlns:a="http://schemas.openxmlformats.org/drawingml/2006/main" w="9525">
            <a:solidFill>
              <a:srgbClr val="FFFFFF">
                <a:alpha val="6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9"/>
          <a:fontRef xmlns:a="http://schemas.openxmlformats.org/drawingml/2006/main" idx="major"/>
        </p:style>
      </p:sp>
      <p:sp>
        <p:nvSpPr>
          <p:cNvPr id="10" name="matrix-item-title-1-0">
            <a:extLst xmlns:a="http://schemas.openxmlformats.org/drawingml/2006/main">
              <a:ext uri="{FF2B5EF4-FFF2-40B4-BE49-F238E27FC236}">
                <a16:creationId xmlns:a16="http://schemas.microsoft.com/office/drawing/2014/main" id="{6083E9FB-5D38-4C25-8FE5-57F9FF60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7600" y="26670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数据平台</a:t>
            </a:r>
          </a:p>
        </p:txBody>
      </p:sp>
      <p:sp>
        <p:nvSpPr>
          <p:cNvPr id="11" name="matrix-item-1-1">
            <a:extLst xmlns:a="http://schemas.openxmlformats.org/drawingml/2006/main">
              <a:ext uri="{FF2B5EF4-FFF2-40B4-BE49-F238E27FC236}">
                <a16:creationId xmlns:a16="http://schemas.microsoft.com/office/drawing/2014/main" id="{55A77122-DB80-43B6-A007-FEEE5809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3175" y="196215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A4D3">
              <a:alpha val="64000"/>
            </a:srgbClr>
          </a:solidFill>
          <a:ln xmlns:a="http://schemas.openxmlformats.org/drawingml/2006/main" w="9525">
            <a:solidFill>
              <a:srgbClr val="FFFFFF">
                <a:alpha val="6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9"/>
          <a:fontRef xmlns:a="http://schemas.openxmlformats.org/drawingml/2006/main" idx="major"/>
        </p:style>
      </p:sp>
      <p:sp>
        <p:nvSpPr>
          <p:cNvPr id="12" name="matrix-item-title-1-1">
            <a:extLst xmlns:a="http://schemas.openxmlformats.org/drawingml/2006/main">
              <a:ext uri="{FF2B5EF4-FFF2-40B4-BE49-F238E27FC236}">
                <a16:creationId xmlns:a16="http://schemas.microsoft.com/office/drawing/2014/main" id="{E9E6E02B-B1B2-459D-9B3A-65F0D78B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2314575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流程自动化</a:t>
            </a:r>
          </a:p>
        </p:txBody>
      </p:sp>
      <p:sp>
        <p:nvSpPr>
          <p:cNvPr id="13" name="matrix-item-2-0">
            <a:extLst xmlns:a="http://schemas.openxmlformats.org/drawingml/2006/main">
              <a:ext uri="{FF2B5EF4-FFF2-40B4-BE49-F238E27FC236}">
                <a16:creationId xmlns:a16="http://schemas.microsoft.com/office/drawing/2014/main" id="{3145C51A-E553-4B15-9A10-E5E37CA5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458152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84C4">
              <a:alpha val="68000"/>
            </a:srgbClr>
          </a:solidFill>
          <a:ln xmlns:a="http://schemas.openxmlformats.org/drawingml/2006/main" w="9525">
            <a:solidFill>
              <a:srgbClr val="FFFFFF">
                <a:alpha val="6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9"/>
          <a:fontRef xmlns:a="http://schemas.openxmlformats.org/drawingml/2006/main" idx="major"/>
        </p:style>
      </p:sp>
      <p:sp>
        <p:nvSpPr>
          <p:cNvPr id="14" name="matrix-item-title-2-0">
            <a:extLst xmlns:a="http://schemas.openxmlformats.org/drawingml/2006/main">
              <a:ext uri="{FF2B5EF4-FFF2-40B4-BE49-F238E27FC236}">
                <a16:creationId xmlns:a16="http://schemas.microsoft.com/office/drawing/2014/main" id="{6B79D0D6-6D9C-4AAB-BE6F-88BE5D90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76700" y="48006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报表美化</a:t>
            </a:r>
          </a:p>
        </p:txBody>
      </p:sp>
      <p:sp>
        <p:nvSpPr>
          <p:cNvPr id="15" name="matrix-item-2-1">
            <a:extLst xmlns:a="http://schemas.openxmlformats.org/drawingml/2006/main">
              <a:ext uri="{FF2B5EF4-FFF2-40B4-BE49-F238E27FC236}">
                <a16:creationId xmlns:a16="http://schemas.microsoft.com/office/drawing/2014/main" id="{4EB3E3A3-CB77-4E65-87A8-325B88FE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467677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FA4D3">
              <a:alpha val="64000"/>
            </a:srgbClr>
          </a:solidFill>
          <a:ln xmlns:a="http://schemas.openxmlformats.org/drawingml/2006/main" w="9525">
            <a:solidFill>
              <a:srgbClr val="FFFFFF">
                <a:alpha val="6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9"/>
          <a:fontRef xmlns:a="http://schemas.openxmlformats.org/drawingml/2006/main" idx="major"/>
        </p:style>
      </p:sp>
      <p:sp>
        <p:nvSpPr>
          <p:cNvPr id="16" name="matrix-item-title-2-1">
            <a:extLst xmlns:a="http://schemas.openxmlformats.org/drawingml/2006/main">
              <a:ext uri="{FF2B5EF4-FFF2-40B4-BE49-F238E27FC236}">
                <a16:creationId xmlns:a16="http://schemas.microsoft.com/office/drawing/2014/main" id="{2620C942-522E-4170-A5DB-879183F8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5128174"/>
            <a:ext cx="914400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资料归档</a:t>
            </a:r>
          </a:p>
        </p:txBody>
      </p:sp>
      <p:sp>
        <p:nvSpPr>
          <p:cNvPr id="17" name="matrix-item-3-0">
            <a:extLst xmlns:a="http://schemas.openxmlformats.org/drawingml/2006/main">
              <a:ext uri="{FF2B5EF4-FFF2-40B4-BE49-F238E27FC236}">
                <a16:creationId xmlns:a16="http://schemas.microsoft.com/office/drawing/2014/main" id="{0E42F9E3-BE64-4B8F-BA18-E6F086E8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43775" y="4524375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7AB8">
              <a:alpha val="74000"/>
            </a:srgbClr>
          </a:solidFill>
          <a:ln xmlns:a="http://schemas.openxmlformats.org/drawingml/2006/main" w="9525">
            <a:solidFill>
              <a:srgbClr val="FFFFFF">
                <a:alpha val="6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9"/>
          <a:fontRef xmlns:a="http://schemas.openxmlformats.org/drawingml/2006/main" idx="major"/>
        </p:style>
      </p:sp>
      <p:sp>
        <p:nvSpPr>
          <p:cNvPr id="18" name="matrix-item-title-3-0">
            <a:extLst xmlns:a="http://schemas.openxmlformats.org/drawingml/2006/main">
              <a:ext uri="{FF2B5EF4-FFF2-40B4-BE49-F238E27FC236}">
                <a16:creationId xmlns:a16="http://schemas.microsoft.com/office/drawing/2014/main" id="{B254B2CC-C3F8-42EA-8ED1-66C7E2AE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7600" y="47434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系统重构</a:t>
            </a:r>
          </a:p>
        </p:txBody>
      </p:sp>
      <p:sp>
        <p:nvSpPr>
          <p:cNvPr id="19" name="matrix-item-3-1">
            <a:extLst xmlns:a="http://schemas.openxmlformats.org/drawingml/2006/main">
              <a:ext uri="{FF2B5EF4-FFF2-40B4-BE49-F238E27FC236}">
                <a16:creationId xmlns:a16="http://schemas.microsoft.com/office/drawing/2014/main" id="{72C549B5-C091-4764-878B-BD735E97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3175" y="4733925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49BCE">
              <a:alpha val="68000"/>
            </a:srgbClr>
          </a:solidFill>
          <a:ln xmlns:a="http://schemas.openxmlformats.org/drawingml/2006/main" w="9525">
            <a:solidFill>
              <a:srgbClr val="FFFFFF">
                <a:alpha val="6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9"/>
          <a:fontRef xmlns:a="http://schemas.openxmlformats.org/drawingml/2006/main" idx="major"/>
        </p:style>
      </p:sp>
      <p:sp>
        <p:nvSpPr>
          <p:cNvPr id="20" name="matrix-item-title-3-1">
            <a:extLst xmlns:a="http://schemas.openxmlformats.org/drawingml/2006/main">
              <a:ext uri="{FF2B5EF4-FFF2-40B4-BE49-F238E27FC236}">
                <a16:creationId xmlns:a16="http://schemas.microsoft.com/office/drawing/2014/main" id="{19C0E8E6-504E-458F-A16F-A76FCED2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5185324"/>
            <a:ext cx="914400" cy="2591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全量迁移</a:t>
            </a:r>
          </a:p>
        </p:txBody>
      </p:sp>
      <p:sp>
        <p:nvSpPr>
          <p:cNvPr id="21" name="quadrant-title-0">
            <a:extLst xmlns:a="http://schemas.openxmlformats.org/drawingml/2006/main">
              <a:ext uri="{FF2B5EF4-FFF2-40B4-BE49-F238E27FC236}">
                <a16:creationId xmlns:a16="http://schemas.microsoft.com/office/drawing/2014/main" id="{B80E6637-24DF-4626-8235-E8E8ED54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7719" y="3351314"/>
            <a:ext cx="1088231" cy="325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21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优先推进</a:t>
            </a:r>
          </a:p>
        </p:txBody>
      </p:sp>
      <p:sp>
        <p:nvSpPr>
          <p:cNvPr id="22" name="quadrant-title-1">
            <a:extLst xmlns:a="http://schemas.openxmlformats.org/drawingml/2006/main">
              <a:ext uri="{FF2B5EF4-FFF2-40B4-BE49-F238E27FC236}">
                <a16:creationId xmlns:a16="http://schemas.microsoft.com/office/drawing/2014/main" id="{10D477FB-95F4-437B-89DB-3A2E5688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050" y="3351314"/>
            <a:ext cx="1088231" cy="325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 i="0">
                <a:solidFill>
                  <a:srgbClr val="4668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46688F"/>
                </a:solidFill>
                <a:latin typeface="Microsoft YaHei"/>
                <a:ea typeface="Microsoft YaHei"/>
                <a:cs typeface="Microsoft YaHei"/>
              </a:rPr>
              <a:t>战略投入</a:t>
            </a:r>
          </a:p>
        </p:txBody>
      </p:sp>
      <p:sp>
        <p:nvSpPr>
          <p:cNvPr id="23" name="quadrant-title-2">
            <a:extLst xmlns:a="http://schemas.openxmlformats.org/drawingml/2006/main">
              <a:ext uri="{FF2B5EF4-FFF2-40B4-BE49-F238E27FC236}">
                <a16:creationId xmlns:a16="http://schemas.microsoft.com/office/drawing/2014/main" id="{BB0583A1-33CF-42D3-84F0-0BAB0BB6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7719" y="4171950"/>
            <a:ext cx="1088231" cy="325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2000"/>
              </a:lnSpc>
              <a:buNone/>
              <a:defRPr sz="2100" b="1" i="0">
                <a:solidFill>
                  <a:srgbClr val="4668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46688F"/>
                </a:solidFill>
                <a:latin typeface="Microsoft YaHei"/>
                <a:ea typeface="Microsoft YaHei"/>
                <a:cs typeface="Microsoft YaHei"/>
              </a:rPr>
              <a:t>择机优化</a:t>
            </a:r>
          </a:p>
        </p:txBody>
      </p:sp>
      <p:sp>
        <p:nvSpPr>
          <p:cNvPr id="24" name="quadrant-title-3">
            <a:extLst xmlns:a="http://schemas.openxmlformats.org/drawingml/2006/main">
              <a:ext uri="{FF2B5EF4-FFF2-40B4-BE49-F238E27FC236}">
                <a16:creationId xmlns:a16="http://schemas.microsoft.com/office/drawing/2014/main" id="{1DC3E395-D86A-4A4B-8F04-7668E512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050" y="4171950"/>
            <a:ext cx="1088231" cy="325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 i="0">
                <a:solidFill>
                  <a:srgbClr val="4668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46688F"/>
                </a:solidFill>
                <a:latin typeface="Microsoft YaHei"/>
                <a:ea typeface="Microsoft YaHei"/>
                <a:cs typeface="Microsoft YaHei"/>
              </a:rPr>
              <a:t>谨慎评估</a:t>
            </a:r>
          </a:p>
        </p:txBody>
      </p:sp>
      <p:sp>
        <p:nvSpPr>
          <p:cNvPr id="25" name="matrix-detail-title-0">
            <a:extLst xmlns:a="http://schemas.openxmlformats.org/drawingml/2006/main">
              <a:ext uri="{FF2B5EF4-FFF2-40B4-BE49-F238E27FC236}">
                <a16:creationId xmlns:a16="http://schemas.microsoft.com/office/drawing/2014/main" id="{E68FF284-CC5C-409A-A730-7ABCC3BE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1752600"/>
            <a:ext cx="1809750" cy="2933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 i="0">
                <a:solidFill>
                  <a:srgbClr val="3E71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3E71B5"/>
                </a:solidFill>
                <a:latin typeface="Microsoft YaHei"/>
                <a:ea typeface="Microsoft YaHei"/>
                <a:cs typeface="Microsoft YaHei"/>
              </a:rPr>
              <a:t>快速落地方案</a:t>
            </a:r>
          </a:p>
        </p:txBody>
      </p:sp>
      <p:sp>
        <p:nvSpPr>
          <p:cNvPr id="26" name="matrix-detail-body-0">
            <a:extLst xmlns:a="http://schemas.openxmlformats.org/drawingml/2006/main">
              <a:ext uri="{FF2B5EF4-FFF2-40B4-BE49-F238E27FC236}">
                <a16:creationId xmlns:a16="http://schemas.microsoft.com/office/drawing/2014/main" id="{03026D4F-E878-4411-97B4-6B455885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2093566"/>
            <a:ext cx="1809750" cy="570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700" b="0" i="0">
                <a:solidFill>
                  <a:srgbClr val="7484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748495"/>
                </a:solidFill>
                <a:latin typeface="Microsoft YaHei"/>
                <a:ea typeface="Microsoft YaHei"/>
                <a:cs typeface="Microsoft YaHei"/>
              </a:rPr>
              <a:t>优先配置低难度、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700" b="0" i="0">
                <a:solidFill>
                  <a:srgbClr val="7484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748495"/>
                </a:solidFill>
                <a:latin typeface="Microsoft YaHei"/>
                <a:ea typeface="Microsoft YaHei"/>
                <a:cs typeface="Microsoft YaHei"/>
              </a:rPr>
              <a:t>高价值项目</a:t>
            </a:r>
          </a:p>
        </p:txBody>
      </p:sp>
      <p:sp>
        <p:nvSpPr>
          <p:cNvPr id="27" name="matrix-detail-divider-0">
            <a:extLst xmlns:a="http://schemas.openxmlformats.org/drawingml/2006/main">
              <a:ext uri="{FF2B5EF4-FFF2-40B4-BE49-F238E27FC236}">
                <a16:creationId xmlns:a16="http://schemas.microsoft.com/office/drawing/2014/main" id="{C3DEE654-8564-4461-9C50-3554D738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2724150"/>
            <a:ext cx="1809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7089">
                <a:alpha val="55000"/>
              </a:srgbClr>
            </a:solidFill>
            <a:prstDash val="dash"/>
          </a:ln>
        </p:spPr>
      </p:sp>
      <p:sp>
        <p:nvSpPr>
          <p:cNvPr id="28" name="matrix-detail-caption-0">
            <a:extLst xmlns:a="http://schemas.openxmlformats.org/drawingml/2006/main">
              <a:ext uri="{FF2B5EF4-FFF2-40B4-BE49-F238E27FC236}">
                <a16:creationId xmlns:a16="http://schemas.microsoft.com/office/drawing/2014/main" id="{2B29B7E5-0F4F-45A7-ACA7-67B958A7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27908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4E62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E6278"/>
                </a:solidFill>
                <a:latin typeface="Microsoft YaHei"/>
                <a:ea typeface="Microsoft YaHei"/>
                <a:cs typeface="Microsoft YaHei"/>
              </a:rPr>
              <a:t>关键指标</a:t>
            </a:r>
          </a:p>
        </p:txBody>
      </p:sp>
      <p:sp>
        <p:nvSpPr>
          <p:cNvPr id="29" name="matrix-detail-metric-label-0-0">
            <a:extLst xmlns:a="http://schemas.openxmlformats.org/drawingml/2006/main">
              <a:ext uri="{FF2B5EF4-FFF2-40B4-BE49-F238E27FC236}">
                <a16:creationId xmlns:a16="http://schemas.microsoft.com/office/drawing/2014/main" id="{3961EF0E-1B84-423E-8D74-D0611DC0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3028950"/>
            <a:ext cx="866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58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86B80"/>
                </a:solidFill>
                <a:latin typeface="Microsoft YaHei"/>
                <a:ea typeface="Microsoft YaHei"/>
                <a:cs typeface="Microsoft YaHei"/>
              </a:rPr>
              <a:t>落地周期</a:t>
            </a:r>
          </a:p>
        </p:txBody>
      </p:sp>
      <p:sp>
        <p:nvSpPr>
          <p:cNvPr id="30" name="matrix-detail-metric-value-0-0">
            <a:extLst xmlns:a="http://schemas.openxmlformats.org/drawingml/2006/main">
              <a:ext uri="{FF2B5EF4-FFF2-40B4-BE49-F238E27FC236}">
                <a16:creationId xmlns:a16="http://schemas.microsoft.com/office/drawing/2014/main" id="{567965A4-24DC-4C49-B330-A9CD039B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3286125"/>
            <a:ext cx="866775" cy="265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00" b="1" i="0">
                <a:solidFill>
                  <a:srgbClr val="3B68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3B68AB"/>
                </a:solidFill>
                <a:latin typeface="Microsoft YaHei"/>
                <a:ea typeface="Microsoft YaHei"/>
                <a:cs typeface="Microsoft YaHei"/>
              </a:rPr>
              <a:t>2周</a:t>
            </a:r>
          </a:p>
        </p:txBody>
      </p:sp>
      <p:sp>
        <p:nvSpPr>
          <p:cNvPr id="31" name="matrix-detail-metric-label-0-1">
            <a:extLst xmlns:a="http://schemas.openxmlformats.org/drawingml/2006/main">
              <a:ext uri="{FF2B5EF4-FFF2-40B4-BE49-F238E27FC236}">
                <a16:creationId xmlns:a16="http://schemas.microsoft.com/office/drawing/2014/main" id="{7EC5CCCF-D206-4335-899E-4A34CA9B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3028950"/>
            <a:ext cx="866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58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86B80"/>
                </a:solidFill>
                <a:latin typeface="Microsoft YaHei"/>
                <a:ea typeface="Microsoft YaHei"/>
                <a:cs typeface="Microsoft YaHei"/>
              </a:rPr>
              <a:t>协同团队</a:t>
            </a:r>
          </a:p>
        </p:txBody>
      </p:sp>
      <p:sp>
        <p:nvSpPr>
          <p:cNvPr id="32" name="matrix-detail-metric-value-0-1">
            <a:extLst xmlns:a="http://schemas.openxmlformats.org/drawingml/2006/main">
              <a:ext uri="{FF2B5EF4-FFF2-40B4-BE49-F238E27FC236}">
                <a16:creationId xmlns:a16="http://schemas.microsoft.com/office/drawing/2014/main" id="{24980545-B264-4A34-889D-7EBB27B5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3286125"/>
            <a:ext cx="866775" cy="265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00" b="1" i="0">
                <a:solidFill>
                  <a:srgbClr val="3B68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3B68AB"/>
                </a:solidFill>
                <a:latin typeface="Microsoft YaHei"/>
                <a:ea typeface="Microsoft YaHei"/>
                <a:cs typeface="Microsoft YaHei"/>
              </a:rPr>
              <a:t>2组</a:t>
            </a:r>
          </a:p>
        </p:txBody>
      </p:sp>
      <p:sp>
        <p:nvSpPr>
          <p:cNvPr id="33" name="matrix-detail-title-1">
            <a:extLst xmlns:a="http://schemas.openxmlformats.org/drawingml/2006/main">
              <a:ext uri="{FF2B5EF4-FFF2-40B4-BE49-F238E27FC236}">
                <a16:creationId xmlns:a16="http://schemas.microsoft.com/office/drawing/2014/main" id="{2CF6F5C1-9E14-46E9-A524-35D38DF0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4925" y="1752600"/>
            <a:ext cx="2571750" cy="2933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 i="0">
                <a:solidFill>
                  <a:srgbClr val="3E71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3E71B5"/>
                </a:solidFill>
                <a:latin typeface="Microsoft YaHei"/>
                <a:ea typeface="Microsoft YaHei"/>
                <a:cs typeface="Microsoft YaHei"/>
              </a:rPr>
              <a:t>重点投入方案</a:t>
            </a:r>
          </a:p>
        </p:txBody>
      </p:sp>
      <p:sp>
        <p:nvSpPr>
          <p:cNvPr id="34" name="matrix-detail-body-1">
            <a:extLst xmlns:a="http://schemas.openxmlformats.org/drawingml/2006/main">
              <a:ext uri="{FF2B5EF4-FFF2-40B4-BE49-F238E27FC236}">
                <a16:creationId xmlns:a16="http://schemas.microsoft.com/office/drawing/2014/main" id="{6CE851EC-4C5A-459C-AD74-4649938F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4925" y="2093566"/>
            <a:ext cx="2571750" cy="570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700" b="0" i="0">
                <a:solidFill>
                  <a:srgbClr val="7484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748495"/>
                </a:solidFill>
                <a:latin typeface="Microsoft YaHei"/>
                <a:ea typeface="Microsoft YaHei"/>
                <a:cs typeface="Microsoft YaHei"/>
              </a:rPr>
              <a:t>围绕高价值项目集中资源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700" b="0" i="0">
                <a:solidFill>
                  <a:srgbClr val="7484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748495"/>
                </a:solidFill>
                <a:latin typeface="Microsoft YaHei"/>
                <a:ea typeface="Microsoft YaHei"/>
                <a:cs typeface="Microsoft YaHei"/>
              </a:rPr>
              <a:t>建设</a:t>
            </a:r>
          </a:p>
        </p:txBody>
      </p:sp>
      <p:sp>
        <p:nvSpPr>
          <p:cNvPr id="35" name="matrix-detail-divider-1">
            <a:extLst xmlns:a="http://schemas.openxmlformats.org/drawingml/2006/main">
              <a:ext uri="{FF2B5EF4-FFF2-40B4-BE49-F238E27FC236}">
                <a16:creationId xmlns:a16="http://schemas.microsoft.com/office/drawing/2014/main" id="{F2B048C5-9DA8-4A21-B047-7EC96986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4925" y="272415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7089">
                <a:alpha val="55000"/>
              </a:srgbClr>
            </a:solidFill>
            <a:prstDash val="dash"/>
          </a:ln>
        </p:spPr>
      </p:sp>
      <p:sp>
        <p:nvSpPr>
          <p:cNvPr id="36" name="matrix-detail-caption-1">
            <a:extLst xmlns:a="http://schemas.openxmlformats.org/drawingml/2006/main">
              <a:ext uri="{FF2B5EF4-FFF2-40B4-BE49-F238E27FC236}">
                <a16:creationId xmlns:a16="http://schemas.microsoft.com/office/drawing/2014/main" id="{36EDD244-7EE6-4E29-97C8-DBBA0D0C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4925" y="27908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4E62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E6278"/>
                </a:solidFill>
                <a:latin typeface="Microsoft YaHei"/>
                <a:ea typeface="Microsoft YaHei"/>
                <a:cs typeface="Microsoft YaHei"/>
              </a:rPr>
              <a:t>关键指标</a:t>
            </a:r>
          </a:p>
        </p:txBody>
      </p:sp>
      <p:sp>
        <p:nvSpPr>
          <p:cNvPr id="37" name="matrix-detail-metric-label-1-0">
            <a:extLst xmlns:a="http://schemas.openxmlformats.org/drawingml/2006/main">
              <a:ext uri="{FF2B5EF4-FFF2-40B4-BE49-F238E27FC236}">
                <a16:creationId xmlns:a16="http://schemas.microsoft.com/office/drawing/2014/main" id="{586084F8-919F-4121-B4FB-8318180F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4925" y="3028950"/>
            <a:ext cx="1247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58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86B80"/>
                </a:solidFill>
                <a:latin typeface="Microsoft YaHei"/>
                <a:ea typeface="Microsoft YaHei"/>
                <a:cs typeface="Microsoft YaHei"/>
              </a:rPr>
              <a:t>建设周期</a:t>
            </a:r>
          </a:p>
        </p:txBody>
      </p:sp>
      <p:sp>
        <p:nvSpPr>
          <p:cNvPr id="38" name="matrix-detail-metric-value-1-0">
            <a:extLst xmlns:a="http://schemas.openxmlformats.org/drawingml/2006/main">
              <a:ext uri="{FF2B5EF4-FFF2-40B4-BE49-F238E27FC236}">
                <a16:creationId xmlns:a16="http://schemas.microsoft.com/office/drawing/2014/main" id="{7FC5DE0C-F9C5-488D-AA46-CFC1BF98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4925" y="3286125"/>
            <a:ext cx="1247775" cy="265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00" b="1" i="0">
                <a:solidFill>
                  <a:srgbClr val="3B68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3B68AB"/>
                </a:solidFill>
                <a:latin typeface="Microsoft YaHei"/>
                <a:ea typeface="Microsoft YaHei"/>
                <a:cs typeface="Microsoft YaHei"/>
              </a:rPr>
              <a:t>3月</a:t>
            </a:r>
          </a:p>
        </p:txBody>
      </p:sp>
      <p:sp>
        <p:nvSpPr>
          <p:cNvPr id="39" name="matrix-detail-metric-label-1-1">
            <a:extLst xmlns:a="http://schemas.openxmlformats.org/drawingml/2006/main">
              <a:ext uri="{FF2B5EF4-FFF2-40B4-BE49-F238E27FC236}">
                <a16:creationId xmlns:a16="http://schemas.microsoft.com/office/drawing/2014/main" id="{53ADE1B5-9E00-4545-A588-98267FB3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900" y="3028950"/>
            <a:ext cx="1247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58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86B80"/>
                </a:solidFill>
                <a:latin typeface="Microsoft YaHei"/>
                <a:ea typeface="Microsoft YaHei"/>
                <a:cs typeface="Microsoft YaHei"/>
              </a:rPr>
              <a:t>资源投入</a:t>
            </a:r>
          </a:p>
        </p:txBody>
      </p:sp>
      <p:sp>
        <p:nvSpPr>
          <p:cNvPr id="40" name="matrix-detail-metric-value-1-1">
            <a:extLst xmlns:a="http://schemas.openxmlformats.org/drawingml/2006/main">
              <a:ext uri="{FF2B5EF4-FFF2-40B4-BE49-F238E27FC236}">
                <a16:creationId xmlns:a16="http://schemas.microsoft.com/office/drawing/2014/main" id="{20E1FED7-F985-4D72-9035-911071B5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900" y="3286125"/>
            <a:ext cx="1247775" cy="265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00" b="1" i="0">
                <a:solidFill>
                  <a:srgbClr val="3B68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3B68AB"/>
                </a:solidFill>
                <a:latin typeface="Microsoft YaHei"/>
                <a:ea typeface="Microsoft YaHei"/>
                <a:cs typeface="Microsoft YaHei"/>
              </a:rPr>
              <a:t>重点</a:t>
            </a:r>
          </a:p>
        </p:txBody>
      </p:sp>
      <p:sp>
        <p:nvSpPr>
          <p:cNvPr id="41" name="matrix-detail-title-2">
            <a:extLst xmlns:a="http://schemas.openxmlformats.org/drawingml/2006/main">
              <a:ext uri="{FF2B5EF4-FFF2-40B4-BE49-F238E27FC236}">
                <a16:creationId xmlns:a16="http://schemas.microsoft.com/office/drawing/2014/main" id="{DA75AA5E-E8EE-416C-9DB7-3ADFC3E6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4286250"/>
            <a:ext cx="1809750" cy="2933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 i="0">
                <a:solidFill>
                  <a:srgbClr val="3E71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3E71B5"/>
                </a:solidFill>
                <a:latin typeface="Microsoft YaHei"/>
                <a:ea typeface="Microsoft YaHei"/>
                <a:cs typeface="Microsoft YaHei"/>
              </a:rPr>
              <a:t>常规优化方案</a:t>
            </a:r>
          </a:p>
        </p:txBody>
      </p:sp>
      <p:sp>
        <p:nvSpPr>
          <p:cNvPr id="42" name="matrix-detail-body-2">
            <a:extLst xmlns:a="http://schemas.openxmlformats.org/drawingml/2006/main">
              <a:ext uri="{FF2B5EF4-FFF2-40B4-BE49-F238E27FC236}">
                <a16:creationId xmlns:a16="http://schemas.microsoft.com/office/drawing/2014/main" id="{EC88DA1C-6D25-4F86-8AA7-D955B6C5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4627216"/>
            <a:ext cx="1809750" cy="570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700" b="0" i="0">
                <a:solidFill>
                  <a:srgbClr val="7484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748495"/>
                </a:solidFill>
                <a:latin typeface="Microsoft YaHei"/>
                <a:ea typeface="Microsoft YaHei"/>
                <a:cs typeface="Microsoft YaHei"/>
              </a:rPr>
              <a:t>以低成本方式择机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700" b="0" i="0">
                <a:solidFill>
                  <a:srgbClr val="7484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748495"/>
                </a:solidFill>
                <a:latin typeface="Microsoft YaHei"/>
                <a:ea typeface="Microsoft YaHei"/>
                <a:cs typeface="Microsoft YaHei"/>
              </a:rPr>
              <a:t>改善体验</a:t>
            </a:r>
          </a:p>
        </p:txBody>
      </p:sp>
      <p:sp>
        <p:nvSpPr>
          <p:cNvPr id="43" name="matrix-detail-divider-2">
            <a:extLst xmlns:a="http://schemas.openxmlformats.org/drawingml/2006/main">
              <a:ext uri="{FF2B5EF4-FFF2-40B4-BE49-F238E27FC236}">
                <a16:creationId xmlns:a16="http://schemas.microsoft.com/office/drawing/2014/main" id="{4EAC7757-59D4-4EB5-BE27-B62480F8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5257800"/>
            <a:ext cx="1809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7089">
                <a:alpha val="55000"/>
              </a:srgbClr>
            </a:solidFill>
            <a:prstDash val="dash"/>
          </a:ln>
        </p:spPr>
      </p:sp>
      <p:sp>
        <p:nvSpPr>
          <p:cNvPr id="44" name="matrix-detail-caption-2">
            <a:extLst xmlns:a="http://schemas.openxmlformats.org/drawingml/2006/main">
              <a:ext uri="{FF2B5EF4-FFF2-40B4-BE49-F238E27FC236}">
                <a16:creationId xmlns:a16="http://schemas.microsoft.com/office/drawing/2014/main" id="{CAA8CC76-DD32-4677-BD6A-A7164203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53244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4E62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E6278"/>
                </a:solidFill>
                <a:latin typeface="Microsoft YaHei"/>
                <a:ea typeface="Microsoft YaHei"/>
                <a:cs typeface="Microsoft YaHei"/>
              </a:rPr>
              <a:t>关键指标</a:t>
            </a:r>
          </a:p>
        </p:txBody>
      </p:sp>
      <p:sp>
        <p:nvSpPr>
          <p:cNvPr id="45" name="matrix-detail-metric-label-2-0">
            <a:extLst xmlns:a="http://schemas.openxmlformats.org/drawingml/2006/main">
              <a:ext uri="{FF2B5EF4-FFF2-40B4-BE49-F238E27FC236}">
                <a16:creationId xmlns:a16="http://schemas.microsoft.com/office/drawing/2014/main" id="{0E7DE704-7EBE-49A3-ADDA-477A7BB5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5562600"/>
            <a:ext cx="866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58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86B80"/>
                </a:solidFill>
                <a:latin typeface="Microsoft YaHei"/>
                <a:ea typeface="Microsoft YaHei"/>
                <a:cs typeface="Microsoft YaHei"/>
              </a:rPr>
              <a:t>优化频率</a:t>
            </a:r>
          </a:p>
        </p:txBody>
      </p:sp>
      <p:sp>
        <p:nvSpPr>
          <p:cNvPr id="46" name="matrix-detail-metric-value-2-0">
            <a:extLst xmlns:a="http://schemas.openxmlformats.org/drawingml/2006/main">
              <a:ext uri="{FF2B5EF4-FFF2-40B4-BE49-F238E27FC236}">
                <a16:creationId xmlns:a16="http://schemas.microsoft.com/office/drawing/2014/main" id="{928B0925-4DF5-44E2-A496-71D9DDA2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5819775"/>
            <a:ext cx="866775" cy="265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00" b="1" i="0">
                <a:solidFill>
                  <a:srgbClr val="3B68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3B68AB"/>
                </a:solidFill>
                <a:latin typeface="Microsoft YaHei"/>
                <a:ea typeface="Microsoft YaHei"/>
                <a:cs typeface="Microsoft YaHei"/>
              </a:rPr>
              <a:t>季度</a:t>
            </a:r>
          </a:p>
        </p:txBody>
      </p:sp>
      <p:sp>
        <p:nvSpPr>
          <p:cNvPr id="47" name="matrix-detail-metric-label-2-1">
            <a:extLst xmlns:a="http://schemas.openxmlformats.org/drawingml/2006/main">
              <a:ext uri="{FF2B5EF4-FFF2-40B4-BE49-F238E27FC236}">
                <a16:creationId xmlns:a16="http://schemas.microsoft.com/office/drawing/2014/main" id="{7BF512CE-E7C2-4A5B-A9B6-828DB9D5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5562600"/>
            <a:ext cx="866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58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86B80"/>
                </a:solidFill>
                <a:latin typeface="Microsoft YaHei"/>
                <a:ea typeface="Microsoft YaHei"/>
                <a:cs typeface="Microsoft YaHei"/>
              </a:rPr>
              <a:t>投入等级</a:t>
            </a:r>
          </a:p>
        </p:txBody>
      </p:sp>
      <p:sp>
        <p:nvSpPr>
          <p:cNvPr id="48" name="matrix-detail-metric-value-2-1">
            <a:extLst xmlns:a="http://schemas.openxmlformats.org/drawingml/2006/main">
              <a:ext uri="{FF2B5EF4-FFF2-40B4-BE49-F238E27FC236}">
                <a16:creationId xmlns:a16="http://schemas.microsoft.com/office/drawing/2014/main" id="{84CB6CAA-AFF4-4EF3-9C46-D12C0CF3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1800" y="5819775"/>
            <a:ext cx="866775" cy="265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00" b="1" i="0">
                <a:solidFill>
                  <a:srgbClr val="3B68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3B68AB"/>
                </a:solidFill>
                <a:latin typeface="Microsoft YaHei"/>
                <a:ea typeface="Microsoft YaHei"/>
                <a:cs typeface="Microsoft YaHei"/>
              </a:rPr>
              <a:t>常规</a:t>
            </a:r>
          </a:p>
        </p:txBody>
      </p:sp>
      <p:sp>
        <p:nvSpPr>
          <p:cNvPr id="49" name="matrix-detail-title-3">
            <a:extLst xmlns:a="http://schemas.openxmlformats.org/drawingml/2006/main">
              <a:ext uri="{FF2B5EF4-FFF2-40B4-BE49-F238E27FC236}">
                <a16:creationId xmlns:a16="http://schemas.microsoft.com/office/drawing/2014/main" id="{F100EF23-F6B7-41ED-A237-AA5AF7ED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4925" y="4286250"/>
            <a:ext cx="2571750" cy="2933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100" b="1" i="0">
                <a:solidFill>
                  <a:srgbClr val="3E71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3E71B5"/>
                </a:solidFill>
                <a:latin typeface="Microsoft YaHei"/>
                <a:ea typeface="Microsoft YaHei"/>
                <a:cs typeface="Microsoft YaHei"/>
              </a:rPr>
              <a:t>审慎评估方案</a:t>
            </a:r>
          </a:p>
        </p:txBody>
      </p:sp>
      <p:sp>
        <p:nvSpPr>
          <p:cNvPr id="50" name="matrix-detail-body-3">
            <a:extLst xmlns:a="http://schemas.openxmlformats.org/drawingml/2006/main">
              <a:ext uri="{FF2B5EF4-FFF2-40B4-BE49-F238E27FC236}">
                <a16:creationId xmlns:a16="http://schemas.microsoft.com/office/drawing/2014/main" id="{F4034539-00A3-4A69-9B56-CB079E6D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4925" y="4627216"/>
            <a:ext cx="2571750" cy="570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buNone/>
              <a:defRPr sz="1700" b="0" i="0">
                <a:solidFill>
                  <a:srgbClr val="7484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748495"/>
                </a:solidFill>
                <a:latin typeface="Microsoft YaHei"/>
                <a:ea typeface="Microsoft YaHei"/>
                <a:cs typeface="Microsoft YaHei"/>
              </a:rPr>
              <a:t>投入前验证收益与复用边</a:t>
            </a:r>
          </a:p>
          <a:p xmlns:a="http://schemas.openxmlformats.org/drawingml/2006/main">
            <a:pPr algn="l">
              <a:lnSpc>
                <a:spcPct val="132000"/>
              </a:lnSpc>
              <a:buNone/>
              <a:defRPr sz="1700" b="0" i="0">
                <a:solidFill>
                  <a:srgbClr val="7484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748495"/>
                </a:solidFill>
                <a:latin typeface="Microsoft YaHei"/>
                <a:ea typeface="Microsoft YaHei"/>
                <a:cs typeface="Microsoft YaHei"/>
              </a:rPr>
              <a:t>界</a:t>
            </a:r>
          </a:p>
        </p:txBody>
      </p:sp>
      <p:sp>
        <p:nvSpPr>
          <p:cNvPr id="51" name="matrix-detail-divider-3">
            <a:extLst xmlns:a="http://schemas.openxmlformats.org/drawingml/2006/main">
              <a:ext uri="{FF2B5EF4-FFF2-40B4-BE49-F238E27FC236}">
                <a16:creationId xmlns:a16="http://schemas.microsoft.com/office/drawing/2014/main" id="{BC7AC5E3-9071-4E26-90B3-8FC320AA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4925" y="5257800"/>
            <a:ext cx="257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B7089">
                <a:alpha val="55000"/>
              </a:srgbClr>
            </a:solidFill>
            <a:prstDash val="dash"/>
          </a:ln>
        </p:spPr>
      </p:sp>
      <p:sp>
        <p:nvSpPr>
          <p:cNvPr id="52" name="matrix-detail-caption-3">
            <a:extLst xmlns:a="http://schemas.openxmlformats.org/drawingml/2006/main">
              <a:ext uri="{FF2B5EF4-FFF2-40B4-BE49-F238E27FC236}">
                <a16:creationId xmlns:a16="http://schemas.microsoft.com/office/drawing/2014/main" id="{A19E0247-D51C-41E8-92BC-1DE88CC3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4925" y="53244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4E62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E6278"/>
                </a:solidFill>
                <a:latin typeface="Microsoft YaHei"/>
                <a:ea typeface="Microsoft YaHei"/>
                <a:cs typeface="Microsoft YaHei"/>
              </a:rPr>
              <a:t>关键指标</a:t>
            </a:r>
          </a:p>
        </p:txBody>
      </p:sp>
      <p:sp>
        <p:nvSpPr>
          <p:cNvPr id="53" name="matrix-detail-metric-label-3-0">
            <a:extLst xmlns:a="http://schemas.openxmlformats.org/drawingml/2006/main">
              <a:ext uri="{FF2B5EF4-FFF2-40B4-BE49-F238E27FC236}">
                <a16:creationId xmlns:a16="http://schemas.microsoft.com/office/drawing/2014/main" id="{4C92071E-AC72-454B-9004-1C57ABF2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4925" y="5562600"/>
            <a:ext cx="1247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58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86B80"/>
                </a:solidFill>
                <a:latin typeface="Microsoft YaHei"/>
                <a:ea typeface="Microsoft YaHei"/>
                <a:cs typeface="Microsoft YaHei"/>
              </a:rPr>
              <a:t>评估周期</a:t>
            </a:r>
          </a:p>
        </p:txBody>
      </p:sp>
      <p:sp>
        <p:nvSpPr>
          <p:cNvPr id="54" name="matrix-detail-metric-value-3-0">
            <a:extLst xmlns:a="http://schemas.openxmlformats.org/drawingml/2006/main">
              <a:ext uri="{FF2B5EF4-FFF2-40B4-BE49-F238E27FC236}">
                <a16:creationId xmlns:a16="http://schemas.microsoft.com/office/drawing/2014/main" id="{D48BB27F-DB18-4724-9CF0-19400761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24925" y="5819775"/>
            <a:ext cx="1247775" cy="265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00" b="1" i="0">
                <a:solidFill>
                  <a:srgbClr val="3B68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3B68AB"/>
                </a:solidFill>
                <a:latin typeface="Microsoft YaHei"/>
                <a:ea typeface="Microsoft YaHei"/>
                <a:cs typeface="Microsoft YaHei"/>
              </a:rPr>
              <a:t>1月</a:t>
            </a:r>
          </a:p>
        </p:txBody>
      </p:sp>
      <p:sp>
        <p:nvSpPr>
          <p:cNvPr id="55" name="matrix-detail-metric-label-3-1">
            <a:extLst xmlns:a="http://schemas.openxmlformats.org/drawingml/2006/main">
              <a:ext uri="{FF2B5EF4-FFF2-40B4-BE49-F238E27FC236}">
                <a16:creationId xmlns:a16="http://schemas.microsoft.com/office/drawing/2014/main" id="{564F029C-9D04-492B-9417-F0AE02EA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900" y="5562600"/>
            <a:ext cx="12477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 i="0">
                <a:solidFill>
                  <a:srgbClr val="58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586B80"/>
                </a:solidFill>
                <a:latin typeface="Microsoft YaHei"/>
                <a:ea typeface="Microsoft YaHei"/>
                <a:cs typeface="Microsoft YaHei"/>
              </a:rPr>
              <a:t>风险等级</a:t>
            </a:r>
          </a:p>
        </p:txBody>
      </p:sp>
      <p:sp>
        <p:nvSpPr>
          <p:cNvPr id="56" name="matrix-detail-metric-value-3-1">
            <a:extLst xmlns:a="http://schemas.openxmlformats.org/drawingml/2006/main">
              <a:ext uri="{FF2B5EF4-FFF2-40B4-BE49-F238E27FC236}">
                <a16:creationId xmlns:a16="http://schemas.microsoft.com/office/drawing/2014/main" id="{597AF368-CD97-4930-9D9E-40739CF1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48900" y="5819775"/>
            <a:ext cx="1247775" cy="2653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900" b="1" i="0">
                <a:solidFill>
                  <a:srgbClr val="3B68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3B68AB"/>
                </a:solidFill>
                <a:latin typeface="Microsoft YaHei"/>
                <a:ea typeface="Microsoft YaHei"/>
                <a:cs typeface="Microsoft YaHei"/>
              </a:rPr>
              <a:t>较高</a:t>
            </a:r>
          </a:p>
        </p:txBody>
      </p:sp>
      <p:sp>
        <p:nvSpPr>
          <p:cNvPr id="57" name="matrix-high-band">
            <a:extLst xmlns:a="http://schemas.openxmlformats.org/drawingml/2006/main">
              <a:ext uri="{FF2B5EF4-FFF2-40B4-BE49-F238E27FC236}">
                <a16:creationId xmlns:a16="http://schemas.microsoft.com/office/drawing/2014/main" id="{04E2BC0F-2372-4EB4-AB6C-321D1710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" y="1752600"/>
            <a:ext cx="1200150" cy="2038350"/>
          </a:xfrm>
          <a:prstGeom xmlns:a="http://schemas.openxmlformats.org/drawingml/2006/main" prst="roundRect">
            <a:avLst>
              <a:gd name="adj" fmla="val 6349"/>
            </a:avLst>
          </a:prstGeom>
          <a:gradFill xmlns:a="http://schemas.openxmlformats.org/drawingml/2006/main">
            <a:gsLst>
              <a:gs pos="0">
                <a:srgbClr val="4F89C3">
                  <a:alpha val="80000"/>
                </a:srgbClr>
              </a:gs>
              <a:gs pos="100000">
                <a:srgbClr val="609ACF">
                  <a:alpha val="61000"/>
                </a:srgbClr>
              </a:gs>
            </a:gsLst>
            <a:lin ang="10800000"/>
          </a:gradFill>
          <a:ln xmlns:a="http://schemas.openxmlformats.org/drawingml/2006/main" w="9525">
            <a:solidFill>
              <a:srgbClr val="FFFFFF">
                <a:alpha val="5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0"/>
          <a:fontRef xmlns:a="http://schemas.openxmlformats.org/drawingml/2006/main" idx="major"/>
        </p:style>
      </p:sp>
      <p:sp>
        <p:nvSpPr>
          <p:cNvPr id="58" name="matrix-high-band-title">
            <a:extLst xmlns:a="http://schemas.openxmlformats.org/drawingml/2006/main">
              <a:ext uri="{FF2B5EF4-FFF2-40B4-BE49-F238E27FC236}">
                <a16:creationId xmlns:a16="http://schemas.microsoft.com/office/drawing/2014/main" id="{6FDA8C49-3FD4-4E37-9E2F-B8956F7A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085975"/>
            <a:ext cx="1066800" cy="224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业务价值高</a:t>
            </a:r>
          </a:p>
        </p:txBody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167b1530f4550">
            <a:extLst>
              <a:ext uri="{96DAC541-7B7A-43D3-8B79-37D633B846F1}">
                <asvg:svgBlip xmlns:asvg="http://schemas.microsoft.com/office/drawing/2016/SVG/main" r:embed="R84c852d65c954d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2975" y="2914650"/>
            <a:ext cx="628650" cy="628650"/>
          </a:xfrm>
          <a:prstGeom xmlns:a="http://schemas.openxmlformats.org/drawingml/2006/main" prst="rect">
            <a:avLst/>
          </a:prstGeom>
        </p:spPr>
      </p:pic>
      <p:sp>
        <p:nvSpPr>
          <p:cNvPr id="60" name="matrix-low-band">
            <a:extLst xmlns:a="http://schemas.openxmlformats.org/drawingml/2006/main">
              <a:ext uri="{FF2B5EF4-FFF2-40B4-BE49-F238E27FC236}">
                <a16:creationId xmlns:a16="http://schemas.microsoft.com/office/drawing/2014/main" id="{9D525591-B2A7-43ED-9636-1CECB241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" y="4057650"/>
            <a:ext cx="1200150" cy="2038350"/>
          </a:xfrm>
          <a:prstGeom xmlns:a="http://schemas.openxmlformats.org/drawingml/2006/main" prst="roundRect">
            <a:avLst>
              <a:gd name="adj" fmla="val 6349"/>
            </a:avLst>
          </a:prstGeom>
          <a:gradFill xmlns:a="http://schemas.openxmlformats.org/drawingml/2006/main">
            <a:gsLst>
              <a:gs pos="0">
                <a:srgbClr val="3A65AE">
                  <a:alpha val="82000"/>
                </a:srgbClr>
              </a:gs>
              <a:gs pos="100000">
                <a:srgbClr val="2F5297">
                  <a:alpha val="69000"/>
                </a:srgbClr>
              </a:gs>
            </a:gsLst>
            <a:lin ang="10800000"/>
          </a:gradFill>
          <a:ln xmlns:a="http://schemas.openxmlformats.org/drawingml/2006/main" w="9525">
            <a:solidFill>
              <a:srgbClr val="FFFFFF">
                <a:alpha val="5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0"/>
          <a:fontRef xmlns:a="http://schemas.openxmlformats.org/drawingml/2006/main" idx="major"/>
        </p:style>
      </p:sp>
      <p:sp>
        <p:nvSpPr>
          <p:cNvPr id="61" name="matrix-low-band-title">
            <a:extLst xmlns:a="http://schemas.openxmlformats.org/drawingml/2006/main">
              <a:ext uri="{FF2B5EF4-FFF2-40B4-BE49-F238E27FC236}">
                <a16:creationId xmlns:a16="http://schemas.microsoft.com/office/drawing/2014/main" id="{97812C09-A623-4634-ABE5-1E0605F5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391025"/>
            <a:ext cx="1066800" cy="2247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业务价值低</a:t>
            </a:r>
          </a:p>
        </p:txBody>
      </p:sp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eaff5d5acc4fe0">
            <a:extLst>
              <a:ext uri="{96DAC541-7B7A-43D3-8B79-37D633B846F1}">
                <asvg:svgBlip xmlns:asvg="http://schemas.microsoft.com/office/drawing/2016/SVG/main" r:embed="R524c8db7aaae4a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2975" y="5219700"/>
            <a:ext cx="628650" cy="628650"/>
          </a:xfrm>
          <a:prstGeom xmlns:a="http://schemas.openxmlformats.org/drawingml/2006/main" prst="rect">
            <a:avLst/>
          </a:prstGeom>
        </p:spPr>
      </p:pic>
      <p:sp>
        <p:nvSpPr>
          <p:cNvPr id="63" name="matrix-x-axis">
            <a:extLst xmlns:a="http://schemas.openxmlformats.org/drawingml/2006/main">
              <a:ext uri="{FF2B5EF4-FFF2-40B4-BE49-F238E27FC236}">
                <a16:creationId xmlns:a16="http://schemas.microsoft.com/office/drawing/2014/main" id="{F4A4F2F2-48B0-415E-A255-4C0F09DE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3924300"/>
            <a:ext cx="813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91BA"/>
            </a:solidFill>
            <a:prstDash val="solid"/>
          </a:ln>
        </p:spPr>
      </p:sp>
      <p:sp>
        <p:nvSpPr>
          <p:cNvPr id="64" name="matrix-x-low-arrow">
            <a:extLst xmlns:a="http://schemas.openxmlformats.org/drawingml/2006/main">
              <a:ext uri="{FF2B5EF4-FFF2-40B4-BE49-F238E27FC236}">
                <a16:creationId xmlns:a16="http://schemas.microsoft.com/office/drawing/2014/main" id="{0388A414-9584-40FB-9664-C1996BB3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28825" y="3859511"/>
            <a:ext cx="123825" cy="129569"/>
          </a:xfrm>
          <a:custGeom xmlns:a="http://schemas.openxmlformats.org/drawingml/2006/main">
            <a:pathLst>
              <a:path w="123825" h="129569">
                <a:moveTo>
                  <a:pt x="0" y="64789"/>
                </a:moveTo>
                <a:lnTo>
                  <a:pt x="11411" y="58645"/>
                </a:lnTo>
                <a:lnTo>
                  <a:pt x="22812" y="52502"/>
                </a:lnTo>
                <a:lnTo>
                  <a:pt x="34223" y="46358"/>
                </a:lnTo>
                <a:lnTo>
                  <a:pt x="45634" y="40215"/>
                </a:lnTo>
                <a:lnTo>
                  <a:pt x="57045" y="34071"/>
                </a:lnTo>
                <a:lnTo>
                  <a:pt x="68447" y="27927"/>
                </a:lnTo>
                <a:lnTo>
                  <a:pt x="79858" y="21784"/>
                </a:lnTo>
                <a:lnTo>
                  <a:pt x="91269" y="15640"/>
                </a:lnTo>
                <a:lnTo>
                  <a:pt x="102670" y="9496"/>
                </a:lnTo>
                <a:lnTo>
                  <a:pt x="114081" y="3353"/>
                </a:lnTo>
                <a:lnTo>
                  <a:pt x="123825" y="0"/>
                </a:lnTo>
                <a:lnTo>
                  <a:pt x="123825" y="12954"/>
                </a:lnTo>
                <a:lnTo>
                  <a:pt x="123825" y="25918"/>
                </a:lnTo>
                <a:lnTo>
                  <a:pt x="123825" y="38872"/>
                </a:lnTo>
                <a:lnTo>
                  <a:pt x="123825" y="51826"/>
                </a:lnTo>
                <a:lnTo>
                  <a:pt x="123825" y="64789"/>
                </a:lnTo>
                <a:lnTo>
                  <a:pt x="123825" y="77743"/>
                </a:lnTo>
                <a:lnTo>
                  <a:pt x="123825" y="90697"/>
                </a:lnTo>
                <a:lnTo>
                  <a:pt x="123825" y="103651"/>
                </a:lnTo>
                <a:lnTo>
                  <a:pt x="123825" y="116615"/>
                </a:lnTo>
                <a:lnTo>
                  <a:pt x="123825" y="129569"/>
                </a:lnTo>
                <a:lnTo>
                  <a:pt x="114081" y="126216"/>
                </a:lnTo>
                <a:lnTo>
                  <a:pt x="102670" y="120072"/>
                </a:lnTo>
                <a:lnTo>
                  <a:pt x="91269" y="113929"/>
                </a:lnTo>
                <a:lnTo>
                  <a:pt x="79858" y="107785"/>
                </a:lnTo>
                <a:lnTo>
                  <a:pt x="68447" y="101641"/>
                </a:lnTo>
                <a:lnTo>
                  <a:pt x="57045" y="95498"/>
                </a:lnTo>
                <a:lnTo>
                  <a:pt x="45634" y="89354"/>
                </a:lnTo>
                <a:lnTo>
                  <a:pt x="34223" y="83210"/>
                </a:lnTo>
                <a:lnTo>
                  <a:pt x="22812" y="77067"/>
                </a:lnTo>
                <a:lnTo>
                  <a:pt x="11411" y="70923"/>
                </a:lnTo>
                <a:lnTo>
                  <a:pt x="0" y="64789"/>
                </a:lnTo>
                <a:close/>
              </a:path>
            </a:pathLst>
          </a:custGeom>
          <a:solidFill xmlns:a="http://schemas.openxmlformats.org/drawingml/2006/main">
            <a:srgbClr val="6F91B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5" name="matrix-x-high-arrow">
            <a:extLst xmlns:a="http://schemas.openxmlformats.org/drawingml/2006/main">
              <a:ext uri="{FF2B5EF4-FFF2-40B4-BE49-F238E27FC236}">
                <a16:creationId xmlns:a16="http://schemas.microsoft.com/office/drawing/2014/main" id="{84593F9B-904C-4C32-B1D7-021B0962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9350" y="3859511"/>
            <a:ext cx="123825" cy="129569"/>
          </a:xfrm>
          <a:custGeom xmlns:a="http://schemas.openxmlformats.org/drawingml/2006/main">
            <a:pathLst>
              <a:path w="123825" h="129569">
                <a:moveTo>
                  <a:pt x="123825" y="64789"/>
                </a:moveTo>
                <a:lnTo>
                  <a:pt x="112414" y="58645"/>
                </a:lnTo>
                <a:lnTo>
                  <a:pt x="101013" y="52502"/>
                </a:lnTo>
                <a:lnTo>
                  <a:pt x="89602" y="46358"/>
                </a:lnTo>
                <a:lnTo>
                  <a:pt x="78191" y="40215"/>
                </a:lnTo>
                <a:lnTo>
                  <a:pt x="66780" y="34071"/>
                </a:lnTo>
                <a:lnTo>
                  <a:pt x="55378" y="27927"/>
                </a:lnTo>
                <a:lnTo>
                  <a:pt x="43967" y="21784"/>
                </a:lnTo>
                <a:lnTo>
                  <a:pt x="32556" y="15640"/>
                </a:lnTo>
                <a:lnTo>
                  <a:pt x="21155" y="9496"/>
                </a:lnTo>
                <a:lnTo>
                  <a:pt x="9744" y="3353"/>
                </a:lnTo>
                <a:lnTo>
                  <a:pt x="0" y="0"/>
                </a:lnTo>
                <a:lnTo>
                  <a:pt x="0" y="12954"/>
                </a:lnTo>
                <a:lnTo>
                  <a:pt x="0" y="25918"/>
                </a:lnTo>
                <a:lnTo>
                  <a:pt x="0" y="38872"/>
                </a:lnTo>
                <a:lnTo>
                  <a:pt x="0" y="51826"/>
                </a:lnTo>
                <a:lnTo>
                  <a:pt x="0" y="64789"/>
                </a:lnTo>
                <a:lnTo>
                  <a:pt x="0" y="77743"/>
                </a:lnTo>
                <a:lnTo>
                  <a:pt x="0" y="90697"/>
                </a:lnTo>
                <a:lnTo>
                  <a:pt x="0" y="103651"/>
                </a:lnTo>
                <a:lnTo>
                  <a:pt x="0" y="116615"/>
                </a:lnTo>
                <a:lnTo>
                  <a:pt x="0" y="129569"/>
                </a:lnTo>
                <a:lnTo>
                  <a:pt x="9744" y="126216"/>
                </a:lnTo>
                <a:lnTo>
                  <a:pt x="21155" y="120072"/>
                </a:lnTo>
                <a:lnTo>
                  <a:pt x="32556" y="113929"/>
                </a:lnTo>
                <a:lnTo>
                  <a:pt x="43967" y="107785"/>
                </a:lnTo>
                <a:lnTo>
                  <a:pt x="55378" y="101641"/>
                </a:lnTo>
                <a:lnTo>
                  <a:pt x="66780" y="95498"/>
                </a:lnTo>
                <a:lnTo>
                  <a:pt x="78191" y="89354"/>
                </a:lnTo>
                <a:lnTo>
                  <a:pt x="89602" y="83210"/>
                </a:lnTo>
                <a:lnTo>
                  <a:pt x="101013" y="77067"/>
                </a:lnTo>
                <a:lnTo>
                  <a:pt x="112414" y="70923"/>
                </a:lnTo>
                <a:lnTo>
                  <a:pt x="123825" y="64789"/>
                </a:lnTo>
                <a:close/>
              </a:path>
            </a:pathLst>
          </a:custGeom>
          <a:solidFill xmlns:a="http://schemas.openxmlformats.org/drawingml/2006/main">
            <a:srgbClr val="6F91B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6" name="matrix-y-axis">
            <a:extLst xmlns:a="http://schemas.openxmlformats.org/drawingml/2006/main">
              <a:ext uri="{FF2B5EF4-FFF2-40B4-BE49-F238E27FC236}">
                <a16:creationId xmlns:a16="http://schemas.microsoft.com/office/drawing/2014/main" id="{F4FF7084-576E-469C-A31C-CECD9B84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1962150"/>
            <a:ext cx="0" cy="392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91BA"/>
            </a:solidFill>
            <a:prstDash val="solid"/>
          </a:ln>
        </p:spPr>
      </p:sp>
      <p:sp>
        <p:nvSpPr>
          <p:cNvPr id="67" name="matrix-y-high-arrow">
            <a:extLst xmlns:a="http://schemas.openxmlformats.org/drawingml/2006/main">
              <a:ext uri="{FF2B5EF4-FFF2-40B4-BE49-F238E27FC236}">
                <a16:creationId xmlns:a16="http://schemas.microsoft.com/office/drawing/2014/main" id="{CEE8F16D-A7BF-4DFE-B5AF-7743B65F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1211" y="1962150"/>
            <a:ext cx="129569" cy="123825"/>
          </a:xfrm>
          <a:custGeom xmlns:a="http://schemas.openxmlformats.org/drawingml/2006/main">
            <a:pathLst>
              <a:path w="129569" h="123825">
                <a:moveTo>
                  <a:pt x="64789" y="0"/>
                </a:moveTo>
                <a:lnTo>
                  <a:pt x="58645" y="11411"/>
                </a:lnTo>
                <a:lnTo>
                  <a:pt x="52502" y="22812"/>
                </a:lnTo>
                <a:lnTo>
                  <a:pt x="46358" y="34223"/>
                </a:lnTo>
                <a:lnTo>
                  <a:pt x="40215" y="45634"/>
                </a:lnTo>
                <a:lnTo>
                  <a:pt x="34071" y="57045"/>
                </a:lnTo>
                <a:lnTo>
                  <a:pt x="27927" y="68447"/>
                </a:lnTo>
                <a:lnTo>
                  <a:pt x="21784" y="79858"/>
                </a:lnTo>
                <a:lnTo>
                  <a:pt x="15640" y="91269"/>
                </a:lnTo>
                <a:lnTo>
                  <a:pt x="9496" y="102670"/>
                </a:lnTo>
                <a:lnTo>
                  <a:pt x="3353" y="114081"/>
                </a:lnTo>
                <a:lnTo>
                  <a:pt x="0" y="123825"/>
                </a:lnTo>
                <a:lnTo>
                  <a:pt x="12954" y="123825"/>
                </a:lnTo>
                <a:lnTo>
                  <a:pt x="25918" y="123825"/>
                </a:lnTo>
                <a:lnTo>
                  <a:pt x="38872" y="123825"/>
                </a:lnTo>
                <a:lnTo>
                  <a:pt x="51826" y="123825"/>
                </a:lnTo>
                <a:lnTo>
                  <a:pt x="64789" y="123825"/>
                </a:lnTo>
                <a:lnTo>
                  <a:pt x="77743" y="123825"/>
                </a:lnTo>
                <a:lnTo>
                  <a:pt x="90697" y="123825"/>
                </a:lnTo>
                <a:lnTo>
                  <a:pt x="103651" y="123825"/>
                </a:lnTo>
                <a:lnTo>
                  <a:pt x="116615" y="123825"/>
                </a:lnTo>
                <a:lnTo>
                  <a:pt x="129569" y="123825"/>
                </a:lnTo>
                <a:lnTo>
                  <a:pt x="126216" y="114081"/>
                </a:lnTo>
                <a:lnTo>
                  <a:pt x="120072" y="102670"/>
                </a:lnTo>
                <a:lnTo>
                  <a:pt x="113929" y="91269"/>
                </a:lnTo>
                <a:lnTo>
                  <a:pt x="107785" y="79858"/>
                </a:lnTo>
                <a:lnTo>
                  <a:pt x="101641" y="68447"/>
                </a:lnTo>
                <a:lnTo>
                  <a:pt x="95498" y="57045"/>
                </a:lnTo>
                <a:lnTo>
                  <a:pt x="89354" y="45634"/>
                </a:lnTo>
                <a:lnTo>
                  <a:pt x="83210" y="34223"/>
                </a:lnTo>
                <a:lnTo>
                  <a:pt x="77067" y="22812"/>
                </a:lnTo>
                <a:lnTo>
                  <a:pt x="70923" y="11411"/>
                </a:lnTo>
                <a:lnTo>
                  <a:pt x="64789" y="0"/>
                </a:lnTo>
                <a:close/>
              </a:path>
            </a:pathLst>
          </a:custGeom>
          <a:solidFill xmlns:a="http://schemas.openxmlformats.org/drawingml/2006/main">
            <a:srgbClr val="6F91B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8" name="matrix-y-low-arrow">
            <a:extLst xmlns:a="http://schemas.openxmlformats.org/drawingml/2006/main">
              <a:ext uri="{FF2B5EF4-FFF2-40B4-BE49-F238E27FC236}">
                <a16:creationId xmlns:a16="http://schemas.microsoft.com/office/drawing/2014/main" id="{7EEF1DAA-E9D8-4B05-84BB-17BA668F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1211" y="5762625"/>
            <a:ext cx="129569" cy="123825"/>
          </a:xfrm>
          <a:custGeom xmlns:a="http://schemas.openxmlformats.org/drawingml/2006/main">
            <a:pathLst>
              <a:path w="129569" h="123825">
                <a:moveTo>
                  <a:pt x="64789" y="123825"/>
                </a:moveTo>
                <a:lnTo>
                  <a:pt x="58645" y="112414"/>
                </a:lnTo>
                <a:lnTo>
                  <a:pt x="52502" y="101013"/>
                </a:lnTo>
                <a:lnTo>
                  <a:pt x="46358" y="89602"/>
                </a:lnTo>
                <a:lnTo>
                  <a:pt x="40215" y="78191"/>
                </a:lnTo>
                <a:lnTo>
                  <a:pt x="34071" y="66780"/>
                </a:lnTo>
                <a:lnTo>
                  <a:pt x="27927" y="55378"/>
                </a:lnTo>
                <a:lnTo>
                  <a:pt x="21784" y="43967"/>
                </a:lnTo>
                <a:lnTo>
                  <a:pt x="15640" y="32556"/>
                </a:lnTo>
                <a:lnTo>
                  <a:pt x="9496" y="21155"/>
                </a:lnTo>
                <a:lnTo>
                  <a:pt x="3353" y="9744"/>
                </a:lnTo>
                <a:lnTo>
                  <a:pt x="0" y="0"/>
                </a:lnTo>
                <a:lnTo>
                  <a:pt x="12954" y="0"/>
                </a:lnTo>
                <a:lnTo>
                  <a:pt x="25918" y="0"/>
                </a:lnTo>
                <a:lnTo>
                  <a:pt x="38872" y="0"/>
                </a:lnTo>
                <a:lnTo>
                  <a:pt x="51826" y="0"/>
                </a:lnTo>
                <a:lnTo>
                  <a:pt x="64789" y="0"/>
                </a:lnTo>
                <a:lnTo>
                  <a:pt x="77743" y="0"/>
                </a:lnTo>
                <a:lnTo>
                  <a:pt x="90697" y="0"/>
                </a:lnTo>
                <a:lnTo>
                  <a:pt x="103651" y="0"/>
                </a:lnTo>
                <a:lnTo>
                  <a:pt x="116615" y="0"/>
                </a:lnTo>
                <a:lnTo>
                  <a:pt x="129569" y="0"/>
                </a:lnTo>
                <a:lnTo>
                  <a:pt x="126216" y="9744"/>
                </a:lnTo>
                <a:lnTo>
                  <a:pt x="120072" y="21155"/>
                </a:lnTo>
                <a:lnTo>
                  <a:pt x="113929" y="32556"/>
                </a:lnTo>
                <a:lnTo>
                  <a:pt x="107785" y="43967"/>
                </a:lnTo>
                <a:lnTo>
                  <a:pt x="101641" y="55378"/>
                </a:lnTo>
                <a:lnTo>
                  <a:pt x="95498" y="66780"/>
                </a:lnTo>
                <a:lnTo>
                  <a:pt x="89354" y="78191"/>
                </a:lnTo>
                <a:lnTo>
                  <a:pt x="83210" y="89602"/>
                </a:lnTo>
                <a:lnTo>
                  <a:pt x="77067" y="101013"/>
                </a:lnTo>
                <a:lnTo>
                  <a:pt x="70923" y="112414"/>
                </a:lnTo>
                <a:lnTo>
                  <a:pt x="64789" y="123825"/>
                </a:lnTo>
                <a:close/>
              </a:path>
            </a:pathLst>
          </a:custGeom>
          <a:solidFill xmlns:a="http://schemas.openxmlformats.org/drawingml/2006/main">
            <a:srgbClr val="6F91B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69" name="matrix-origin">
            <a:extLst xmlns:a="http://schemas.openxmlformats.org/drawingml/2006/main">
              <a:ext uri="{FF2B5EF4-FFF2-40B4-BE49-F238E27FC236}">
                <a16:creationId xmlns:a16="http://schemas.microsoft.com/office/drawing/2014/main" id="{47D25C1F-D37C-45D7-81DC-CC49ACD6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9325" y="38576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F91BA"/>
            </a:solidFill>
            <a:prstDash val="solid"/>
          </a:ln>
        </p:spPr>
      </p:sp>
      <p:sp>
        <p:nvSpPr>
          <p:cNvPr id="70" name="axis-x-low">
            <a:extLst xmlns:a="http://schemas.openxmlformats.org/drawingml/2006/main">
              <a:ext uri="{FF2B5EF4-FFF2-40B4-BE49-F238E27FC236}">
                <a16:creationId xmlns:a16="http://schemas.microsoft.com/office/drawing/2014/main" id="{FD3D1C76-865B-42D6-A44D-D5C5223C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40005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637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637B96"/>
                </a:solidFill>
                <a:latin typeface="Microsoft YaHei"/>
                <a:ea typeface="Microsoft YaHei"/>
                <a:cs typeface="Microsoft YaHei"/>
              </a:rPr>
              <a:t>实施难度低</a:t>
            </a:r>
          </a:p>
        </p:txBody>
      </p:sp>
      <p:sp>
        <p:nvSpPr>
          <p:cNvPr id="71" name="axis-x-high">
            <a:extLst xmlns:a="http://schemas.openxmlformats.org/drawingml/2006/main">
              <a:ext uri="{FF2B5EF4-FFF2-40B4-BE49-F238E27FC236}">
                <a16:creationId xmlns:a16="http://schemas.microsoft.com/office/drawing/2014/main" id="{A356C37F-F765-429A-921F-8EAFFC775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4475" y="40005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637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637B96"/>
                </a:solidFill>
                <a:latin typeface="Microsoft YaHei"/>
                <a:ea typeface="Microsoft YaHei"/>
                <a:cs typeface="Microsoft YaHei"/>
              </a:rPr>
              <a:t>实施难度高</a:t>
            </a:r>
          </a:p>
        </p:txBody>
      </p:sp>
      <p:sp>
        <p:nvSpPr>
          <p:cNvPr id="72" name="axis-y-high">
            <a:extLst xmlns:a="http://schemas.openxmlformats.org/drawingml/2006/main">
              <a:ext uri="{FF2B5EF4-FFF2-40B4-BE49-F238E27FC236}">
                <a16:creationId xmlns:a16="http://schemas.microsoft.com/office/drawing/2014/main" id="{DB74BB10-475E-43FF-A11E-435AD731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167640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637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637B96"/>
                </a:solidFill>
                <a:latin typeface="Microsoft YaHei"/>
                <a:ea typeface="Microsoft YaHei"/>
                <a:cs typeface="Microsoft YaHei"/>
              </a:rPr>
              <a:t>业务价值高</a:t>
            </a:r>
          </a:p>
        </p:txBody>
      </p:sp>
      <p:sp>
        <p:nvSpPr>
          <p:cNvPr id="73" name="axis-y-low">
            <a:extLst xmlns:a="http://schemas.openxmlformats.org/drawingml/2006/main">
              <a:ext uri="{FF2B5EF4-FFF2-40B4-BE49-F238E27FC236}">
                <a16:creationId xmlns:a16="http://schemas.microsoft.com/office/drawing/2014/main" id="{2B3BE7AC-E1DC-4384-B2C9-405D3CE8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6000750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 i="0">
                <a:solidFill>
                  <a:srgbClr val="637B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637B96"/>
                </a:solidFill>
                <a:latin typeface="Microsoft YaHei"/>
                <a:ea typeface="Microsoft YaHei"/>
                <a:cs typeface="Microsoft YaHei"/>
              </a:rPr>
              <a:t>业务价值低</a:t>
            </a:r>
          </a:p>
        </p:txBody>
      </p:sp>
    </p:spTree>
    <p:extLst>
      <p:ext uri="{BB962C8B-B14F-4D97-AF65-F5344CB8AC3E}">
        <p14:creationId xmlns:p14="http://schemas.microsoft.com/office/powerpoint/2010/main" val="142761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209550" dist="9525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18000"/>
              </a:srgbClr>
            </a:outerShdw>
          </a:effectLst>
        </a:effectStyle>
        <a:effectStyle>
          <a:effectLst>
            <a:outerShdw blurRad="200025" dist="85725" dir="5400000">
              <a:srgbClr val="2F5EA8">
                <a:alpha val="14000"/>
              </a:srgbClr>
            </a:outerShdw>
          </a:effectLst>
        </a:effectStyle>
        <a:effectStyle>
          <a:effectLst>
            <a:outerShdw blurRad="171450" dist="76200" dir="5400000">
              <a:srgbClr val="264E80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F497E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2026-08-24T02:18:15.6860000Z</dcterms:created>
  <dcterms:modified xsi:type="dcterms:W3CDTF">2026-08-24T02:18:15.6860000Z</dcterms:modified>
</coreProperties>
</file>