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5e4561b89d4fc0" /><Relationship Type="http://schemas.openxmlformats.org/officeDocument/2006/relationships/extended-properties" Target="/docProps/app.xml" Id="Rc0acd2f5111241cb" /><Relationship Type="http://schemas.openxmlformats.org/officeDocument/2006/relationships/officeDocument" Target="/ppt/presentation.xml" Id="R55fd5d079a564b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0b512de56c4bbb"/>
  </p:sldMasterIdLst>
  <p:notesMasterIdLst>
    <p:notesMasterId xmlns:r="http://schemas.openxmlformats.org/officeDocument/2006/relationships" r:id="Rf5216b4ef4b5429f"/>
  </p:notesMasterIdLst>
  <p:sldIdLst>
    <p:sldId xmlns:r="http://schemas.openxmlformats.org/officeDocument/2006/relationships" id="256" r:id="R2c700442abd5494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f9d2a30844486b" /><Relationship Type="http://schemas.openxmlformats.org/officeDocument/2006/relationships/slideMaster" Target="/ppt/slideMasters/slideMaster1.xml" Id="Re00b512de56c4bbb" /><Relationship Type="http://schemas.openxmlformats.org/officeDocument/2006/relationships/notesMaster" Target="/ppt/notesMasters/notesMaster1.xml" Id="Rf5216b4ef4b5429f" /><Relationship Type="http://schemas.openxmlformats.org/officeDocument/2006/relationships/presProps" Target="/ppt/presProps.xml" Id="R1857ed693e324fcb" /><Relationship Type="http://schemas.openxmlformats.org/officeDocument/2006/relationships/tableStyles" Target="/ppt/tableStyles.xml" Id="R8994fb6d2ce04378" /><Relationship Type="http://schemas.openxmlformats.org/officeDocument/2006/relationships/slide" Target="/ppt/slides/slide1.xml" Id="R2c700442abd549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c56dc5e9e8841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b62509997542ba" /><Relationship Type="http://schemas.openxmlformats.org/officeDocument/2006/relationships/notesMaster" Target="/ppt/notesMasters/notesMaster1.xml" Id="Ra8cb2434774b42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22329ee09a42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064f0f616a47d2" /><Relationship Type="http://schemas.openxmlformats.org/officeDocument/2006/relationships/slideLayout" Target="/ppt/slideLayouts/slideLayout1.xml" Id="R5b65361c1fd947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65361c1fd947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465978bbe6478f" /><Relationship Type="http://schemas.openxmlformats.org/officeDocument/2006/relationships/image" Target="/ppt/media/image.png" Id="R95b6ee59f6cd49ab" /><Relationship Type="http://schemas.openxmlformats.org/officeDocument/2006/relationships/image" Target="/ppt/media/image.svg" Id="Ra898c26cb6904946" /><Relationship Type="http://schemas.openxmlformats.org/officeDocument/2006/relationships/image" Target="/ppt/media/image2.png" Id="Ra6e5f5af7d1c48e8" /><Relationship Type="http://schemas.openxmlformats.org/officeDocument/2006/relationships/image" Target="/ppt/media/image2.svg" Id="Re06aaf5a3ddb4088" /><Relationship Type="http://schemas.openxmlformats.org/officeDocument/2006/relationships/notesSlide" Target="/ppt/notesSlides/notesSlide1.xml" Id="R2ef180fe6b34422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quadrant-field-0">
            <a:extLst xmlns:a="http://schemas.openxmlformats.org/drawingml/2006/main">
              <a:ext uri="{FF2B5EF4-FFF2-40B4-BE49-F238E27FC236}">
                <a16:creationId xmlns:a16="http://schemas.microsoft.com/office/drawing/2014/main" id="{5C4CE930-158E-41C5-9DD3-4CCA985F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" y="1752600"/>
            <a:ext cx="526732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E1FC">
              <a:alpha val="2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quadrant-title-0">
            <a:extLst xmlns:a="http://schemas.openxmlformats.org/drawingml/2006/main">
              <a:ext uri="{FF2B5EF4-FFF2-40B4-BE49-F238E27FC236}">
                <a16:creationId xmlns:a16="http://schemas.microsoft.com/office/drawing/2014/main" id="{9E6C8D53-2336-4113-A3A8-5E7D46F9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781" y="3432724"/>
            <a:ext cx="816178" cy="2439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2000"/>
              </a:lnSpc>
              <a:buNone/>
              <a:defRPr sz="1575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优先推进</a:t>
            </a:r>
          </a:p>
        </p:txBody>
      </p:sp>
      <p:sp>
        <p:nvSpPr>
          <p:cNvPr id="3" name="matrix-item-0-0">
            <a:extLst xmlns:a="http://schemas.openxmlformats.org/drawingml/2006/main">
              <a:ext uri="{FF2B5EF4-FFF2-40B4-BE49-F238E27FC236}">
                <a16:creationId xmlns:a16="http://schemas.microsoft.com/office/drawing/2014/main" id="{6711CBEA-933E-452A-B137-4DD99ABE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2371725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>
              <a:alpha val="79000"/>
            </a:srgbClr>
          </a:solidFill>
          <a:ln xmlns:a="http://schemas.openxmlformats.org/drawingml/2006/main" w="9525">
            <a:solidFill>
              <a:srgbClr val="FFFFFF">
                <a:alpha val="8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" name="matrix-item-title-0-0">
            <a:extLst xmlns:a="http://schemas.openxmlformats.org/drawingml/2006/main">
              <a:ext uri="{FF2B5EF4-FFF2-40B4-BE49-F238E27FC236}">
                <a16:creationId xmlns:a16="http://schemas.microsoft.com/office/drawing/2014/main" id="{3ECCD80E-9EFD-45A1-B1F9-7C325F39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76700" y="2593181"/>
            <a:ext cx="6477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异常预警</a:t>
            </a:r>
          </a:p>
        </p:txBody>
      </p:sp>
      <p:sp>
        <p:nvSpPr>
          <p:cNvPr id="5" name="matrix-item-0-1">
            <a:extLst xmlns:a="http://schemas.openxmlformats.org/drawingml/2006/main">
              <a:ext uri="{FF2B5EF4-FFF2-40B4-BE49-F238E27FC236}">
                <a16:creationId xmlns:a16="http://schemas.microsoft.com/office/drawing/2014/main" id="{C3743E66-EC73-4901-AE2E-757F3F43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6775" y="2009775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>
              <a:alpha val="79000"/>
            </a:srgbClr>
          </a:solidFill>
          <a:ln xmlns:a="http://schemas.openxmlformats.org/drawingml/2006/main" w="9525">
            <a:solidFill>
              <a:srgbClr val="FFFFFF">
                <a:alpha val="8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6" name="matrix-item-title-0-1">
            <a:extLst xmlns:a="http://schemas.openxmlformats.org/drawingml/2006/main">
              <a:ext uri="{FF2B5EF4-FFF2-40B4-BE49-F238E27FC236}">
                <a16:creationId xmlns:a16="http://schemas.microsoft.com/office/drawing/2014/main" id="{6954A0AC-E3F9-49DB-9291-2EA4F95AA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0600" y="2477691"/>
            <a:ext cx="914400" cy="226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统一入口</a:t>
            </a:r>
          </a:p>
        </p:txBody>
      </p:sp>
      <p:sp>
        <p:nvSpPr>
          <p:cNvPr id="7" name="quadrant-field-1">
            <a:extLst xmlns:a="http://schemas.openxmlformats.org/drawingml/2006/main">
              <a:ext uri="{FF2B5EF4-FFF2-40B4-BE49-F238E27FC236}">
                <a16:creationId xmlns:a16="http://schemas.microsoft.com/office/drawing/2014/main" id="{9882D535-7450-48FC-A542-AEDB5BDD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1752600"/>
            <a:ext cx="49053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B">
              <a:alpha val="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quadrant-title-1">
            <a:extLst xmlns:a="http://schemas.openxmlformats.org/drawingml/2006/main">
              <a:ext uri="{FF2B5EF4-FFF2-40B4-BE49-F238E27FC236}">
                <a16:creationId xmlns:a16="http://schemas.microsoft.com/office/drawing/2014/main" id="{5C99D9C1-4DD9-4CC3-A8E2-AAF9C06B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432724"/>
            <a:ext cx="816178" cy="2439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1" i="0">
                <a:solidFill>
                  <a:srgbClr val="46688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46688F"/>
                </a:solidFill>
                <a:latin typeface="Microsoft YaHei"/>
                <a:ea typeface="Microsoft YaHei"/>
                <a:cs typeface="Microsoft YaHei"/>
              </a:rPr>
              <a:t>战略投入</a:t>
            </a:r>
          </a:p>
        </p:txBody>
      </p:sp>
      <p:sp>
        <p:nvSpPr>
          <p:cNvPr id="9" name="matrix-item-1-0">
            <a:extLst xmlns:a="http://schemas.openxmlformats.org/drawingml/2006/main">
              <a:ext uri="{FF2B5EF4-FFF2-40B4-BE49-F238E27FC236}">
                <a16:creationId xmlns:a16="http://schemas.microsoft.com/office/drawing/2014/main" id="{A85C2A29-CEC4-49CC-AB23-1D6D3BEB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43775" y="2447925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84C4">
              <a:alpha val="68000"/>
            </a:srgbClr>
          </a:solidFill>
          <a:ln xmlns:a="http://schemas.openxmlformats.org/drawingml/2006/main" w="9525">
            <a:solidFill>
              <a:srgbClr val="FFFFFF">
                <a:alpha val="6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0" name="matrix-item-title-1-0">
            <a:extLst xmlns:a="http://schemas.openxmlformats.org/drawingml/2006/main">
              <a:ext uri="{FF2B5EF4-FFF2-40B4-BE49-F238E27FC236}">
                <a16:creationId xmlns:a16="http://schemas.microsoft.com/office/drawing/2014/main" id="{E3A05557-4B95-40FD-B821-4D36237DC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7600" y="2669381"/>
            <a:ext cx="6477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数据平台</a:t>
            </a:r>
          </a:p>
        </p:txBody>
      </p:sp>
      <p:sp>
        <p:nvSpPr>
          <p:cNvPr id="11" name="matrix-item-1-1">
            <a:extLst xmlns:a="http://schemas.openxmlformats.org/drawingml/2006/main">
              <a:ext uri="{FF2B5EF4-FFF2-40B4-BE49-F238E27FC236}">
                <a16:creationId xmlns:a16="http://schemas.microsoft.com/office/drawing/2014/main" id="{DA693692-4457-45CC-B95A-F684EDAD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1962150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A4D3">
              <a:alpha val="64000"/>
            </a:srgbClr>
          </a:solidFill>
          <a:ln xmlns:a="http://schemas.openxmlformats.org/drawingml/2006/main" w="9525">
            <a:solidFill>
              <a:srgbClr val="FFFFFF">
                <a:alpha val="6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" name="matrix-item-title-1-1">
            <a:extLst xmlns:a="http://schemas.openxmlformats.org/drawingml/2006/main">
              <a:ext uri="{FF2B5EF4-FFF2-40B4-BE49-F238E27FC236}">
                <a16:creationId xmlns:a16="http://schemas.microsoft.com/office/drawing/2014/main" id="{CC1038D9-F88D-4208-A870-C052DA35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2430066"/>
            <a:ext cx="914400" cy="226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流程自动化</a:t>
            </a:r>
          </a:p>
        </p:txBody>
      </p:sp>
      <p:sp>
        <p:nvSpPr>
          <p:cNvPr id="13" name="quadrant-field-2">
            <a:extLst xmlns:a="http://schemas.openxmlformats.org/drawingml/2006/main">
              <a:ext uri="{FF2B5EF4-FFF2-40B4-BE49-F238E27FC236}">
                <a16:creationId xmlns:a16="http://schemas.microsoft.com/office/drawing/2014/main" id="{61E0DEE2-9794-496D-8960-CBA874ED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" y="4057650"/>
            <a:ext cx="526732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B">
              <a:alpha val="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quadrant-title-2">
            <a:extLst xmlns:a="http://schemas.openxmlformats.org/drawingml/2006/main">
              <a:ext uri="{FF2B5EF4-FFF2-40B4-BE49-F238E27FC236}">
                <a16:creationId xmlns:a16="http://schemas.microsoft.com/office/drawing/2014/main" id="{2DDD6177-C359-4D57-983E-BFFA8551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781" y="4171950"/>
            <a:ext cx="816178" cy="2439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2000"/>
              </a:lnSpc>
              <a:buNone/>
              <a:defRPr sz="1575" b="1" i="0">
                <a:solidFill>
                  <a:srgbClr val="46688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46688F"/>
                </a:solidFill>
                <a:latin typeface="Microsoft YaHei"/>
                <a:ea typeface="Microsoft YaHei"/>
                <a:cs typeface="Microsoft YaHei"/>
              </a:rPr>
              <a:t>择机优化</a:t>
            </a:r>
          </a:p>
        </p:txBody>
      </p:sp>
      <p:sp>
        <p:nvSpPr>
          <p:cNvPr id="15" name="matrix-item-2-0">
            <a:extLst xmlns:a="http://schemas.openxmlformats.org/drawingml/2006/main">
              <a:ext uri="{FF2B5EF4-FFF2-40B4-BE49-F238E27FC236}">
                <a16:creationId xmlns:a16="http://schemas.microsoft.com/office/drawing/2014/main" id="{4F22749D-1BC8-48BB-A472-A06BE764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4581525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84C4">
              <a:alpha val="68000"/>
            </a:srgbClr>
          </a:solidFill>
          <a:ln xmlns:a="http://schemas.openxmlformats.org/drawingml/2006/main" w="9525">
            <a:solidFill>
              <a:srgbClr val="FFFFFF">
                <a:alpha val="6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6" name="matrix-item-title-2-0">
            <a:extLst xmlns:a="http://schemas.openxmlformats.org/drawingml/2006/main">
              <a:ext uri="{FF2B5EF4-FFF2-40B4-BE49-F238E27FC236}">
                <a16:creationId xmlns:a16="http://schemas.microsoft.com/office/drawing/2014/main" id="{C2AD9084-37FB-4132-BF23-999C3115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76700" y="4802981"/>
            <a:ext cx="6477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报表美化</a:t>
            </a:r>
          </a:p>
        </p:txBody>
      </p:sp>
      <p:sp>
        <p:nvSpPr>
          <p:cNvPr id="17" name="matrix-item-2-1">
            <a:extLst xmlns:a="http://schemas.openxmlformats.org/drawingml/2006/main">
              <a:ext uri="{FF2B5EF4-FFF2-40B4-BE49-F238E27FC236}">
                <a16:creationId xmlns:a16="http://schemas.microsoft.com/office/drawing/2014/main" id="{56B0BC99-BDB7-4936-B4D3-F333E57D0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6775" y="4676775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A4D3">
              <a:alpha val="64000"/>
            </a:srgbClr>
          </a:solidFill>
          <a:ln xmlns:a="http://schemas.openxmlformats.org/drawingml/2006/main" w="9525">
            <a:solidFill>
              <a:srgbClr val="FFFFFF">
                <a:alpha val="6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8" name="matrix-item-title-2-1">
            <a:extLst xmlns:a="http://schemas.openxmlformats.org/drawingml/2006/main">
              <a:ext uri="{FF2B5EF4-FFF2-40B4-BE49-F238E27FC236}">
                <a16:creationId xmlns:a16="http://schemas.microsoft.com/office/drawing/2014/main" id="{CB293C21-69ED-4E73-B0E1-A859B2B4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0600" y="5144691"/>
            <a:ext cx="914400" cy="226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资料归档</a:t>
            </a:r>
          </a:p>
        </p:txBody>
      </p:sp>
      <p:sp>
        <p:nvSpPr>
          <p:cNvPr id="19" name="quadrant-field-3">
            <a:extLst xmlns:a="http://schemas.openxmlformats.org/drawingml/2006/main">
              <a:ext uri="{FF2B5EF4-FFF2-40B4-BE49-F238E27FC236}">
                <a16:creationId xmlns:a16="http://schemas.microsoft.com/office/drawing/2014/main" id="{B13542E4-6F37-4DB3-8EDB-5EBF2452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057650"/>
            <a:ext cx="49053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EFC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quadrant-title-3">
            <a:extLst xmlns:a="http://schemas.openxmlformats.org/drawingml/2006/main">
              <a:ext uri="{FF2B5EF4-FFF2-40B4-BE49-F238E27FC236}">
                <a16:creationId xmlns:a16="http://schemas.microsoft.com/office/drawing/2014/main" id="{DAF6832E-DB9D-4DA5-8A1F-8B6E4437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171950"/>
            <a:ext cx="816178" cy="2439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1" i="0">
                <a:solidFill>
                  <a:srgbClr val="46688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46688F"/>
                </a:solidFill>
                <a:latin typeface="Microsoft YaHei"/>
                <a:ea typeface="Microsoft YaHei"/>
                <a:cs typeface="Microsoft YaHei"/>
              </a:rPr>
              <a:t>谨慎评估</a:t>
            </a:r>
          </a:p>
        </p:txBody>
      </p:sp>
      <p:sp>
        <p:nvSpPr>
          <p:cNvPr id="21" name="matrix-item-3-0">
            <a:extLst xmlns:a="http://schemas.openxmlformats.org/drawingml/2006/main">
              <a:ext uri="{FF2B5EF4-FFF2-40B4-BE49-F238E27FC236}">
                <a16:creationId xmlns:a16="http://schemas.microsoft.com/office/drawing/2014/main" id="{086A710B-D1AD-4A0F-8078-8655FE51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43775" y="4524375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AB8">
              <a:alpha val="74000"/>
            </a:srgbClr>
          </a:solidFill>
          <a:ln xmlns:a="http://schemas.openxmlformats.org/drawingml/2006/main" w="9525">
            <a:solidFill>
              <a:srgbClr val="FFFFFF">
                <a:alpha val="6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2" name="matrix-item-title-3-0">
            <a:extLst xmlns:a="http://schemas.openxmlformats.org/drawingml/2006/main">
              <a:ext uri="{FF2B5EF4-FFF2-40B4-BE49-F238E27FC236}">
                <a16:creationId xmlns:a16="http://schemas.microsoft.com/office/drawing/2014/main" id="{4859A386-7889-4A02-A691-147E9D9A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7600" y="4745831"/>
            <a:ext cx="647700" cy="452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系统重构</a:t>
            </a:r>
          </a:p>
        </p:txBody>
      </p:sp>
      <p:sp>
        <p:nvSpPr>
          <p:cNvPr id="23" name="matrix-item-3-1">
            <a:extLst xmlns:a="http://schemas.openxmlformats.org/drawingml/2006/main">
              <a:ext uri="{FF2B5EF4-FFF2-40B4-BE49-F238E27FC236}">
                <a16:creationId xmlns:a16="http://schemas.microsoft.com/office/drawing/2014/main" id="{543197FD-8369-4163-8BDC-DAF1CDCF1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4733925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9BCE">
              <a:alpha val="68000"/>
            </a:srgbClr>
          </a:solidFill>
          <a:ln xmlns:a="http://schemas.openxmlformats.org/drawingml/2006/main" w="9525">
            <a:solidFill>
              <a:srgbClr val="FFFFFF">
                <a:alpha val="6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4" name="matrix-item-title-3-1">
            <a:extLst xmlns:a="http://schemas.openxmlformats.org/drawingml/2006/main">
              <a:ext uri="{FF2B5EF4-FFF2-40B4-BE49-F238E27FC236}">
                <a16:creationId xmlns:a16="http://schemas.microsoft.com/office/drawing/2014/main" id="{EED471EC-B1A5-4404-A74B-52E638BF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5201841"/>
            <a:ext cx="914400" cy="226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全量迁移</a:t>
            </a:r>
          </a:p>
        </p:txBody>
      </p:sp>
      <p:sp>
        <p:nvSpPr>
          <p:cNvPr id="25" name="matrix-detail-title-0">
            <a:extLst xmlns:a="http://schemas.openxmlformats.org/drawingml/2006/main">
              <a:ext uri="{FF2B5EF4-FFF2-40B4-BE49-F238E27FC236}">
                <a16:creationId xmlns:a16="http://schemas.microsoft.com/office/drawing/2014/main" id="{714B075E-A0BD-4B5D-B8DF-FF2EE889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1847850"/>
            <a:ext cx="1809750" cy="178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rPr>
              <a:t>快速落地方案</a:t>
            </a:r>
          </a:p>
        </p:txBody>
      </p:sp>
      <p:sp>
        <p:nvSpPr>
          <p:cNvPr id="26" name="matrix-detail-body-0">
            <a:extLst xmlns:a="http://schemas.openxmlformats.org/drawingml/2006/main">
              <a:ext uri="{FF2B5EF4-FFF2-40B4-BE49-F238E27FC236}">
                <a16:creationId xmlns:a16="http://schemas.microsoft.com/office/drawing/2014/main" id="{664353EF-C2F9-4E51-877F-68B77328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2121103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125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rPr>
              <a:t>优先配置低难度、高价值项目</a:t>
            </a:r>
          </a:p>
        </p:txBody>
      </p:sp>
      <p:sp>
        <p:nvSpPr>
          <p:cNvPr id="27" name="matrix-detail-divider-0">
            <a:extLst xmlns:a="http://schemas.openxmlformats.org/drawingml/2006/main">
              <a:ext uri="{FF2B5EF4-FFF2-40B4-BE49-F238E27FC236}">
                <a16:creationId xmlns:a16="http://schemas.microsoft.com/office/drawing/2014/main" id="{3970712B-1A05-44CE-AA58-477DF665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2616403"/>
            <a:ext cx="1809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B7089">
                <a:alpha val="55000"/>
              </a:srgbClr>
            </a:solidFill>
            <a:prstDash val="dash"/>
          </a:ln>
        </p:spPr>
      </p:sp>
      <p:sp>
        <p:nvSpPr>
          <p:cNvPr id="28" name="matrix-detail-caption-0">
            <a:extLst xmlns:a="http://schemas.openxmlformats.org/drawingml/2006/main">
              <a:ext uri="{FF2B5EF4-FFF2-40B4-BE49-F238E27FC236}">
                <a16:creationId xmlns:a16="http://schemas.microsoft.com/office/drawing/2014/main" id="{244DA26D-76CB-4380-AE87-2845DCF4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2711653"/>
            <a:ext cx="1809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E62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4E6278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29" name="matrix-detail-metric-label-0-0">
            <a:extLst xmlns:a="http://schemas.openxmlformats.org/drawingml/2006/main">
              <a:ext uri="{FF2B5EF4-FFF2-40B4-BE49-F238E27FC236}">
                <a16:creationId xmlns:a16="http://schemas.microsoft.com/office/drawing/2014/main" id="{B489E345-2663-4198-BE3B-886E8DBE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2921203"/>
            <a:ext cx="847725" cy="1547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落地周期</a:t>
            </a:r>
          </a:p>
        </p:txBody>
      </p:sp>
      <p:sp>
        <p:nvSpPr>
          <p:cNvPr id="30" name="matrix-detail-metric-value-0-0">
            <a:extLst xmlns:a="http://schemas.openxmlformats.org/drawingml/2006/main">
              <a:ext uri="{FF2B5EF4-FFF2-40B4-BE49-F238E27FC236}">
                <a16:creationId xmlns:a16="http://schemas.microsoft.com/office/drawing/2014/main" id="{F8B3BAFA-50C1-44ED-85E8-AB8F3F86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3104559"/>
            <a:ext cx="847725" cy="2803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2周</a:t>
            </a:r>
          </a:p>
        </p:txBody>
      </p:sp>
      <p:sp>
        <p:nvSpPr>
          <p:cNvPr id="31" name="matrix-detail-metric-label-0-1">
            <a:extLst xmlns:a="http://schemas.openxmlformats.org/drawingml/2006/main">
              <a:ext uri="{FF2B5EF4-FFF2-40B4-BE49-F238E27FC236}">
                <a16:creationId xmlns:a16="http://schemas.microsoft.com/office/drawing/2014/main" id="{A4DA7536-247C-4E7A-B516-9920014F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0850" y="2921203"/>
            <a:ext cx="847725" cy="1547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协同团队</a:t>
            </a:r>
          </a:p>
        </p:txBody>
      </p:sp>
      <p:sp>
        <p:nvSpPr>
          <p:cNvPr id="32" name="matrix-detail-metric-value-0-1">
            <a:extLst xmlns:a="http://schemas.openxmlformats.org/drawingml/2006/main">
              <a:ext uri="{FF2B5EF4-FFF2-40B4-BE49-F238E27FC236}">
                <a16:creationId xmlns:a16="http://schemas.microsoft.com/office/drawing/2014/main" id="{3867B33A-5D91-4A25-8E15-86C48B64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0850" y="3104559"/>
            <a:ext cx="847725" cy="2803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2组</a:t>
            </a:r>
          </a:p>
        </p:txBody>
      </p:sp>
      <p:sp>
        <p:nvSpPr>
          <p:cNvPr id="33" name="matrix-detail-title-1">
            <a:extLst xmlns:a="http://schemas.openxmlformats.org/drawingml/2006/main">
              <a:ext uri="{FF2B5EF4-FFF2-40B4-BE49-F238E27FC236}">
                <a16:creationId xmlns:a16="http://schemas.microsoft.com/office/drawing/2014/main" id="{68162CB9-52EE-493B-AD93-941D4697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1847850"/>
            <a:ext cx="2571750" cy="178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rPr>
              <a:t>重点投入方案</a:t>
            </a:r>
          </a:p>
        </p:txBody>
      </p:sp>
      <p:sp>
        <p:nvSpPr>
          <p:cNvPr id="34" name="matrix-detail-body-1">
            <a:extLst xmlns:a="http://schemas.openxmlformats.org/drawingml/2006/main">
              <a:ext uri="{FF2B5EF4-FFF2-40B4-BE49-F238E27FC236}">
                <a16:creationId xmlns:a16="http://schemas.microsoft.com/office/drawing/2014/main" id="{E6E8F3DF-2DDF-416D-AA6F-C6E3EBA4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2121103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125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rPr>
              <a:t>围绕高价值项目集中资源建设</a:t>
            </a:r>
          </a:p>
        </p:txBody>
      </p:sp>
      <p:sp>
        <p:nvSpPr>
          <p:cNvPr id="35" name="matrix-detail-divider-1">
            <a:extLst xmlns:a="http://schemas.openxmlformats.org/drawingml/2006/main">
              <a:ext uri="{FF2B5EF4-FFF2-40B4-BE49-F238E27FC236}">
                <a16:creationId xmlns:a16="http://schemas.microsoft.com/office/drawing/2014/main" id="{C251B853-8827-418C-84DA-3701A904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2616403"/>
            <a:ext cx="2571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B7089">
                <a:alpha val="55000"/>
              </a:srgbClr>
            </a:solidFill>
            <a:prstDash val="dash"/>
          </a:ln>
        </p:spPr>
      </p:sp>
      <p:sp>
        <p:nvSpPr>
          <p:cNvPr id="36" name="matrix-detail-caption-1">
            <a:extLst xmlns:a="http://schemas.openxmlformats.org/drawingml/2006/main">
              <a:ext uri="{FF2B5EF4-FFF2-40B4-BE49-F238E27FC236}">
                <a16:creationId xmlns:a16="http://schemas.microsoft.com/office/drawing/2014/main" id="{6477A1A7-B967-43BB-B7EC-535C1E6C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2711653"/>
            <a:ext cx="2571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E62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4E6278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37" name="matrix-detail-metric-label-1-0">
            <a:extLst xmlns:a="http://schemas.openxmlformats.org/drawingml/2006/main">
              <a:ext uri="{FF2B5EF4-FFF2-40B4-BE49-F238E27FC236}">
                <a16:creationId xmlns:a16="http://schemas.microsoft.com/office/drawing/2014/main" id="{FF303E10-D49A-463C-B818-E5C69074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2921203"/>
            <a:ext cx="1228725" cy="1547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建设周期</a:t>
            </a:r>
          </a:p>
        </p:txBody>
      </p:sp>
      <p:sp>
        <p:nvSpPr>
          <p:cNvPr id="38" name="matrix-detail-metric-value-1-0">
            <a:extLst xmlns:a="http://schemas.openxmlformats.org/drawingml/2006/main">
              <a:ext uri="{FF2B5EF4-FFF2-40B4-BE49-F238E27FC236}">
                <a16:creationId xmlns:a16="http://schemas.microsoft.com/office/drawing/2014/main" id="{726B35AB-6DD8-413F-B9C5-F01D2500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3104559"/>
            <a:ext cx="1228725" cy="2803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3月</a:t>
            </a:r>
          </a:p>
        </p:txBody>
      </p:sp>
      <p:sp>
        <p:nvSpPr>
          <p:cNvPr id="39" name="matrix-detail-metric-label-1-1">
            <a:extLst xmlns:a="http://schemas.openxmlformats.org/drawingml/2006/main">
              <a:ext uri="{FF2B5EF4-FFF2-40B4-BE49-F238E27FC236}">
                <a16:creationId xmlns:a16="http://schemas.microsoft.com/office/drawing/2014/main" id="{FDC378D0-D298-44D8-91E8-EAAD5E1A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2921203"/>
            <a:ext cx="1228725" cy="1547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资源投入</a:t>
            </a:r>
          </a:p>
        </p:txBody>
      </p:sp>
      <p:sp>
        <p:nvSpPr>
          <p:cNvPr id="40" name="matrix-detail-metric-value-1-1">
            <a:extLst xmlns:a="http://schemas.openxmlformats.org/drawingml/2006/main">
              <a:ext uri="{FF2B5EF4-FFF2-40B4-BE49-F238E27FC236}">
                <a16:creationId xmlns:a16="http://schemas.microsoft.com/office/drawing/2014/main" id="{8674F2D3-3220-4450-9159-3D4FE8FF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3104559"/>
            <a:ext cx="1228725" cy="2803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重点</a:t>
            </a:r>
          </a:p>
        </p:txBody>
      </p:sp>
      <p:sp>
        <p:nvSpPr>
          <p:cNvPr id="41" name="matrix-detail-title-2">
            <a:extLst xmlns:a="http://schemas.openxmlformats.org/drawingml/2006/main">
              <a:ext uri="{FF2B5EF4-FFF2-40B4-BE49-F238E27FC236}">
                <a16:creationId xmlns:a16="http://schemas.microsoft.com/office/drawing/2014/main" id="{BA9CF1BD-0C5A-455A-A990-860B6135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4381500"/>
            <a:ext cx="1809750" cy="178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rPr>
              <a:t>常规优化方案</a:t>
            </a:r>
          </a:p>
        </p:txBody>
      </p:sp>
      <p:sp>
        <p:nvSpPr>
          <p:cNvPr id="42" name="matrix-detail-body-2">
            <a:extLst xmlns:a="http://schemas.openxmlformats.org/drawingml/2006/main">
              <a:ext uri="{FF2B5EF4-FFF2-40B4-BE49-F238E27FC236}">
                <a16:creationId xmlns:a16="http://schemas.microsoft.com/office/drawing/2014/main" id="{59E2EF19-44B7-4CB6-9617-C9EA7102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4654753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125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rPr>
              <a:t>以低成本方式择机改善体验</a:t>
            </a:r>
          </a:p>
        </p:txBody>
      </p:sp>
      <p:sp>
        <p:nvSpPr>
          <p:cNvPr id="43" name="matrix-detail-divider-2">
            <a:extLst xmlns:a="http://schemas.openxmlformats.org/drawingml/2006/main">
              <a:ext uri="{FF2B5EF4-FFF2-40B4-BE49-F238E27FC236}">
                <a16:creationId xmlns:a16="http://schemas.microsoft.com/office/drawing/2014/main" id="{97FBE500-9363-4E2D-8D80-ECD3536C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5150053"/>
            <a:ext cx="1809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B7089">
                <a:alpha val="55000"/>
              </a:srgbClr>
            </a:solidFill>
            <a:prstDash val="dash"/>
          </a:ln>
        </p:spPr>
      </p:sp>
      <p:sp>
        <p:nvSpPr>
          <p:cNvPr id="44" name="matrix-detail-caption-2">
            <a:extLst xmlns:a="http://schemas.openxmlformats.org/drawingml/2006/main">
              <a:ext uri="{FF2B5EF4-FFF2-40B4-BE49-F238E27FC236}">
                <a16:creationId xmlns:a16="http://schemas.microsoft.com/office/drawing/2014/main" id="{A7B413FA-5948-427C-889E-26DC1A770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5245303"/>
            <a:ext cx="1809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E62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4E6278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45" name="matrix-detail-metric-label-2-0">
            <a:extLst xmlns:a="http://schemas.openxmlformats.org/drawingml/2006/main">
              <a:ext uri="{FF2B5EF4-FFF2-40B4-BE49-F238E27FC236}">
                <a16:creationId xmlns:a16="http://schemas.microsoft.com/office/drawing/2014/main" id="{719B6592-E9D8-4196-B2C0-A639D47F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5454853"/>
            <a:ext cx="847725" cy="1547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优化频率</a:t>
            </a:r>
          </a:p>
        </p:txBody>
      </p:sp>
      <p:sp>
        <p:nvSpPr>
          <p:cNvPr id="46" name="matrix-detail-metric-value-2-0">
            <a:extLst xmlns:a="http://schemas.openxmlformats.org/drawingml/2006/main">
              <a:ext uri="{FF2B5EF4-FFF2-40B4-BE49-F238E27FC236}">
                <a16:creationId xmlns:a16="http://schemas.microsoft.com/office/drawing/2014/main" id="{C3BDA873-C682-4AAE-AE30-697C05AB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5638209"/>
            <a:ext cx="847725" cy="2803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季度</a:t>
            </a:r>
          </a:p>
        </p:txBody>
      </p:sp>
      <p:sp>
        <p:nvSpPr>
          <p:cNvPr id="47" name="matrix-detail-metric-label-2-1">
            <a:extLst xmlns:a="http://schemas.openxmlformats.org/drawingml/2006/main">
              <a:ext uri="{FF2B5EF4-FFF2-40B4-BE49-F238E27FC236}">
                <a16:creationId xmlns:a16="http://schemas.microsoft.com/office/drawing/2014/main" id="{292E4495-C159-4840-9C65-43F803FA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0850" y="5454853"/>
            <a:ext cx="847725" cy="1547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投入等级</a:t>
            </a:r>
          </a:p>
        </p:txBody>
      </p:sp>
      <p:sp>
        <p:nvSpPr>
          <p:cNvPr id="48" name="matrix-detail-metric-value-2-1">
            <a:extLst xmlns:a="http://schemas.openxmlformats.org/drawingml/2006/main">
              <a:ext uri="{FF2B5EF4-FFF2-40B4-BE49-F238E27FC236}">
                <a16:creationId xmlns:a16="http://schemas.microsoft.com/office/drawing/2014/main" id="{7050D764-0BD5-4972-9285-7C352812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0850" y="5638209"/>
            <a:ext cx="847725" cy="2803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常规</a:t>
            </a:r>
          </a:p>
        </p:txBody>
      </p:sp>
      <p:sp>
        <p:nvSpPr>
          <p:cNvPr id="49" name="matrix-detail-title-3">
            <a:extLst xmlns:a="http://schemas.openxmlformats.org/drawingml/2006/main">
              <a:ext uri="{FF2B5EF4-FFF2-40B4-BE49-F238E27FC236}">
                <a16:creationId xmlns:a16="http://schemas.microsoft.com/office/drawing/2014/main" id="{487D1A0E-C210-461D-A97C-4E764922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4381500"/>
            <a:ext cx="2571750" cy="178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rPr>
              <a:t>审慎评估方案</a:t>
            </a:r>
          </a:p>
        </p:txBody>
      </p:sp>
      <p:sp>
        <p:nvSpPr>
          <p:cNvPr id="50" name="matrix-detail-body-3">
            <a:extLst xmlns:a="http://schemas.openxmlformats.org/drawingml/2006/main">
              <a:ext uri="{FF2B5EF4-FFF2-40B4-BE49-F238E27FC236}">
                <a16:creationId xmlns:a16="http://schemas.microsoft.com/office/drawing/2014/main" id="{B6202BD3-DE40-4F77-9C8F-AE2DAEDF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4654753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125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rPr>
              <a:t>投入前验证收益与复用边界</a:t>
            </a:r>
          </a:p>
        </p:txBody>
      </p:sp>
      <p:sp>
        <p:nvSpPr>
          <p:cNvPr id="51" name="matrix-detail-divider-3">
            <a:extLst xmlns:a="http://schemas.openxmlformats.org/drawingml/2006/main">
              <a:ext uri="{FF2B5EF4-FFF2-40B4-BE49-F238E27FC236}">
                <a16:creationId xmlns:a16="http://schemas.microsoft.com/office/drawing/2014/main" id="{9C9F1312-F727-454C-9918-9A83947D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5150053"/>
            <a:ext cx="2571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B7089">
                <a:alpha val="55000"/>
              </a:srgbClr>
            </a:solidFill>
            <a:prstDash val="dash"/>
          </a:ln>
        </p:spPr>
      </p:sp>
      <p:sp>
        <p:nvSpPr>
          <p:cNvPr id="52" name="matrix-detail-caption-3">
            <a:extLst xmlns:a="http://schemas.openxmlformats.org/drawingml/2006/main">
              <a:ext uri="{FF2B5EF4-FFF2-40B4-BE49-F238E27FC236}">
                <a16:creationId xmlns:a16="http://schemas.microsoft.com/office/drawing/2014/main" id="{52A76C21-6DBE-4A94-98F4-D5768F30C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5245303"/>
            <a:ext cx="2571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E62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4E6278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53" name="matrix-detail-metric-label-3-0">
            <a:extLst xmlns:a="http://schemas.openxmlformats.org/drawingml/2006/main">
              <a:ext uri="{FF2B5EF4-FFF2-40B4-BE49-F238E27FC236}">
                <a16:creationId xmlns:a16="http://schemas.microsoft.com/office/drawing/2014/main" id="{623CB64D-6975-4B2F-8CE0-7869CD50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5454853"/>
            <a:ext cx="1228725" cy="1547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评估周期</a:t>
            </a:r>
          </a:p>
        </p:txBody>
      </p:sp>
      <p:sp>
        <p:nvSpPr>
          <p:cNvPr id="54" name="matrix-detail-metric-value-3-0">
            <a:extLst xmlns:a="http://schemas.openxmlformats.org/drawingml/2006/main">
              <a:ext uri="{FF2B5EF4-FFF2-40B4-BE49-F238E27FC236}">
                <a16:creationId xmlns:a16="http://schemas.microsoft.com/office/drawing/2014/main" id="{33656B7E-860C-48B1-B91D-801C41AA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5638209"/>
            <a:ext cx="1228725" cy="2803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1月</a:t>
            </a:r>
          </a:p>
        </p:txBody>
      </p:sp>
      <p:sp>
        <p:nvSpPr>
          <p:cNvPr id="55" name="matrix-detail-metric-label-3-1">
            <a:extLst xmlns:a="http://schemas.openxmlformats.org/drawingml/2006/main">
              <a:ext uri="{FF2B5EF4-FFF2-40B4-BE49-F238E27FC236}">
                <a16:creationId xmlns:a16="http://schemas.microsoft.com/office/drawing/2014/main" id="{95E29A04-6EF7-402F-8CD4-41908EE6F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5454853"/>
            <a:ext cx="1228725" cy="1547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风险等级</a:t>
            </a:r>
          </a:p>
        </p:txBody>
      </p:sp>
      <p:sp>
        <p:nvSpPr>
          <p:cNvPr id="56" name="matrix-detail-metric-value-3-1">
            <a:extLst xmlns:a="http://schemas.openxmlformats.org/drawingml/2006/main">
              <a:ext uri="{FF2B5EF4-FFF2-40B4-BE49-F238E27FC236}">
                <a16:creationId xmlns:a16="http://schemas.microsoft.com/office/drawing/2014/main" id="{7A7EDBA3-FA9C-430D-A97A-FA9A29BC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5638209"/>
            <a:ext cx="1228725" cy="2803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较高</a:t>
            </a:r>
          </a:p>
        </p:txBody>
      </p:sp>
      <p:sp>
        <p:nvSpPr>
          <p:cNvPr id="57" name="matrix-high-band">
            <a:extLst xmlns:a="http://schemas.openxmlformats.org/drawingml/2006/main">
              <a:ext uri="{FF2B5EF4-FFF2-40B4-BE49-F238E27FC236}">
                <a16:creationId xmlns:a16="http://schemas.microsoft.com/office/drawing/2014/main" id="{CD6FB916-6406-467E-A9E6-A256C5B5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" y="1752600"/>
            <a:ext cx="1200150" cy="2038350"/>
          </a:xfrm>
          <a:prstGeom xmlns:a="http://schemas.openxmlformats.org/drawingml/2006/main" prst="roundRect">
            <a:avLst>
              <a:gd name="adj" fmla="val 6349"/>
            </a:avLst>
          </a:prstGeom>
          <a:gradFill xmlns:a="http://schemas.openxmlformats.org/drawingml/2006/main">
            <a:gsLst>
              <a:gs pos="0">
                <a:srgbClr val="4F89C3">
                  <a:alpha val="80000"/>
                </a:srgbClr>
              </a:gs>
              <a:gs pos="100000">
                <a:srgbClr val="609ACF">
                  <a:alpha val="61000"/>
                </a:srgbClr>
              </a:gs>
            </a:gsLst>
            <a:lin ang="10800000"/>
          </a:gradFill>
          <a:ln xmlns:a="http://schemas.openxmlformats.org/drawingml/2006/main" w="9525">
            <a:solidFill>
              <a:srgbClr val="FFFFFF">
                <a:alpha val="5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58" name="matrix-high-band-title">
            <a:extLst xmlns:a="http://schemas.openxmlformats.org/drawingml/2006/main">
              <a:ext uri="{FF2B5EF4-FFF2-40B4-BE49-F238E27FC236}">
                <a16:creationId xmlns:a16="http://schemas.microsoft.com/office/drawing/2014/main" id="{58D9DD5C-E63C-4746-83FD-4620360A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085975"/>
            <a:ext cx="1066800" cy="2134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业务价值高</a:t>
            </a:r>
          </a:p>
        </p:txBody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b6ee59f6cd49ab">
            <a:extLst>
              <a:ext uri="{96DAC541-7B7A-43D3-8B79-37D633B846F1}">
                <asvg:svgBlip xmlns:asvg="http://schemas.microsoft.com/office/drawing/2016/SVG/main" r:embed="Ra898c26cb690494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42975" y="2914650"/>
            <a:ext cx="628650" cy="628650"/>
          </a:xfrm>
          <a:prstGeom xmlns:a="http://schemas.openxmlformats.org/drawingml/2006/main" prst="rect">
            <a:avLst/>
          </a:prstGeom>
        </p:spPr>
      </p:pic>
      <p:sp>
        <p:nvSpPr>
          <p:cNvPr id="60" name="matrix-low-band">
            <a:extLst xmlns:a="http://schemas.openxmlformats.org/drawingml/2006/main">
              <a:ext uri="{FF2B5EF4-FFF2-40B4-BE49-F238E27FC236}">
                <a16:creationId xmlns:a16="http://schemas.microsoft.com/office/drawing/2014/main" id="{F0447FD3-22FA-46BE-93A0-DBEC696B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" y="4057650"/>
            <a:ext cx="1200150" cy="2038350"/>
          </a:xfrm>
          <a:prstGeom xmlns:a="http://schemas.openxmlformats.org/drawingml/2006/main" prst="roundRect">
            <a:avLst>
              <a:gd name="adj" fmla="val 6349"/>
            </a:avLst>
          </a:prstGeom>
          <a:gradFill xmlns:a="http://schemas.openxmlformats.org/drawingml/2006/main">
            <a:gsLst>
              <a:gs pos="0">
                <a:srgbClr val="3A65AE">
                  <a:alpha val="82000"/>
                </a:srgbClr>
              </a:gs>
              <a:gs pos="100000">
                <a:srgbClr val="2F5297">
                  <a:alpha val="69000"/>
                </a:srgbClr>
              </a:gs>
            </a:gsLst>
            <a:lin ang="10800000"/>
          </a:gradFill>
          <a:ln xmlns:a="http://schemas.openxmlformats.org/drawingml/2006/main" w="9525">
            <a:solidFill>
              <a:srgbClr val="FFFFFF">
                <a:alpha val="5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61" name="matrix-low-band-title">
            <a:extLst xmlns:a="http://schemas.openxmlformats.org/drawingml/2006/main">
              <a:ext uri="{FF2B5EF4-FFF2-40B4-BE49-F238E27FC236}">
                <a16:creationId xmlns:a16="http://schemas.microsoft.com/office/drawing/2014/main" id="{898DD5F7-D1E4-47B3-915A-638F5D50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4391025"/>
            <a:ext cx="1066800" cy="2134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业务价值低</a:t>
            </a:r>
          </a:p>
        </p:txBody>
      </p:sp>
      <p:pic>
        <p:nvPicPr>
          <p:cNvPr id="1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e5f5af7d1c48e8">
            <a:extLst>
              <a:ext uri="{96DAC541-7B7A-43D3-8B79-37D633B846F1}">
                <asvg:svgBlip xmlns:asvg="http://schemas.microsoft.com/office/drawing/2016/SVG/main" r:embed="Re06aaf5a3ddb408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42975" y="5219700"/>
            <a:ext cx="628650" cy="628650"/>
          </a:xfrm>
          <a:prstGeom xmlns:a="http://schemas.openxmlformats.org/drawingml/2006/main" prst="rect">
            <a:avLst/>
          </a:prstGeom>
        </p:spPr>
      </p:pic>
      <p:sp>
        <p:nvSpPr>
          <p:cNvPr id="63" name="matrix-x-axis">
            <a:extLst xmlns:a="http://schemas.openxmlformats.org/drawingml/2006/main">
              <a:ext uri="{FF2B5EF4-FFF2-40B4-BE49-F238E27FC236}">
                <a16:creationId xmlns:a16="http://schemas.microsoft.com/office/drawing/2014/main" id="{7897DE10-93A9-4643-900D-968A1043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3924300"/>
            <a:ext cx="813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91BA"/>
            </a:solidFill>
            <a:prstDash val="solid"/>
          </a:ln>
        </p:spPr>
      </p:sp>
      <p:sp>
        <p:nvSpPr>
          <p:cNvPr id="64" name="matrix-x-low-arrow">
            <a:extLst xmlns:a="http://schemas.openxmlformats.org/drawingml/2006/main">
              <a:ext uri="{FF2B5EF4-FFF2-40B4-BE49-F238E27FC236}">
                <a16:creationId xmlns:a16="http://schemas.microsoft.com/office/drawing/2014/main" id="{7AB3BF9B-E92D-4E60-B710-95469DBA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3859511"/>
            <a:ext cx="123825" cy="129569"/>
          </a:xfrm>
          <a:custGeom xmlns:a="http://schemas.openxmlformats.org/drawingml/2006/main">
            <a:pathLst>
              <a:path w="123825" h="129569">
                <a:moveTo>
                  <a:pt x="0" y="64789"/>
                </a:moveTo>
                <a:lnTo>
                  <a:pt x="11411" y="58645"/>
                </a:lnTo>
                <a:lnTo>
                  <a:pt x="22812" y="52502"/>
                </a:lnTo>
                <a:lnTo>
                  <a:pt x="34223" y="46358"/>
                </a:lnTo>
                <a:lnTo>
                  <a:pt x="45634" y="40215"/>
                </a:lnTo>
                <a:lnTo>
                  <a:pt x="57045" y="34071"/>
                </a:lnTo>
                <a:lnTo>
                  <a:pt x="68447" y="27927"/>
                </a:lnTo>
                <a:lnTo>
                  <a:pt x="79858" y="21784"/>
                </a:lnTo>
                <a:lnTo>
                  <a:pt x="91269" y="15640"/>
                </a:lnTo>
                <a:lnTo>
                  <a:pt x="102670" y="9496"/>
                </a:lnTo>
                <a:lnTo>
                  <a:pt x="114081" y="3353"/>
                </a:lnTo>
                <a:lnTo>
                  <a:pt x="123825" y="0"/>
                </a:lnTo>
                <a:lnTo>
                  <a:pt x="123825" y="12954"/>
                </a:lnTo>
                <a:lnTo>
                  <a:pt x="123825" y="25918"/>
                </a:lnTo>
                <a:lnTo>
                  <a:pt x="123825" y="38872"/>
                </a:lnTo>
                <a:lnTo>
                  <a:pt x="123825" y="51826"/>
                </a:lnTo>
                <a:lnTo>
                  <a:pt x="123825" y="64789"/>
                </a:lnTo>
                <a:lnTo>
                  <a:pt x="123825" y="77743"/>
                </a:lnTo>
                <a:lnTo>
                  <a:pt x="123825" y="90697"/>
                </a:lnTo>
                <a:lnTo>
                  <a:pt x="123825" y="103651"/>
                </a:lnTo>
                <a:lnTo>
                  <a:pt x="123825" y="116615"/>
                </a:lnTo>
                <a:lnTo>
                  <a:pt x="123825" y="129569"/>
                </a:lnTo>
                <a:lnTo>
                  <a:pt x="114081" y="126216"/>
                </a:lnTo>
                <a:lnTo>
                  <a:pt x="102670" y="120072"/>
                </a:lnTo>
                <a:lnTo>
                  <a:pt x="91269" y="113929"/>
                </a:lnTo>
                <a:lnTo>
                  <a:pt x="79858" y="107785"/>
                </a:lnTo>
                <a:lnTo>
                  <a:pt x="68447" y="101641"/>
                </a:lnTo>
                <a:lnTo>
                  <a:pt x="57045" y="95498"/>
                </a:lnTo>
                <a:lnTo>
                  <a:pt x="45634" y="89354"/>
                </a:lnTo>
                <a:lnTo>
                  <a:pt x="34223" y="83210"/>
                </a:lnTo>
                <a:lnTo>
                  <a:pt x="22812" y="77067"/>
                </a:lnTo>
                <a:lnTo>
                  <a:pt x="11411" y="70923"/>
                </a:lnTo>
                <a:lnTo>
                  <a:pt x="0" y="64789"/>
                </a:lnTo>
                <a:close/>
              </a:path>
            </a:pathLst>
          </a:custGeom>
          <a:solidFill xmlns:a="http://schemas.openxmlformats.org/drawingml/2006/main">
            <a:srgbClr val="6F91B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5" name="matrix-x-high-arrow">
            <a:extLst xmlns:a="http://schemas.openxmlformats.org/drawingml/2006/main">
              <a:ext uri="{FF2B5EF4-FFF2-40B4-BE49-F238E27FC236}">
                <a16:creationId xmlns:a16="http://schemas.microsoft.com/office/drawing/2014/main" id="{ED2AFAC2-2611-4E2A-B866-5FB78B13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39350" y="3859511"/>
            <a:ext cx="123825" cy="129569"/>
          </a:xfrm>
          <a:custGeom xmlns:a="http://schemas.openxmlformats.org/drawingml/2006/main">
            <a:pathLst>
              <a:path w="123825" h="129569">
                <a:moveTo>
                  <a:pt x="123825" y="64789"/>
                </a:moveTo>
                <a:lnTo>
                  <a:pt x="112414" y="58645"/>
                </a:lnTo>
                <a:lnTo>
                  <a:pt x="101013" y="52502"/>
                </a:lnTo>
                <a:lnTo>
                  <a:pt x="89602" y="46358"/>
                </a:lnTo>
                <a:lnTo>
                  <a:pt x="78191" y="40215"/>
                </a:lnTo>
                <a:lnTo>
                  <a:pt x="66780" y="34071"/>
                </a:lnTo>
                <a:lnTo>
                  <a:pt x="55378" y="27927"/>
                </a:lnTo>
                <a:lnTo>
                  <a:pt x="43967" y="21784"/>
                </a:lnTo>
                <a:lnTo>
                  <a:pt x="32556" y="15640"/>
                </a:lnTo>
                <a:lnTo>
                  <a:pt x="21155" y="9496"/>
                </a:lnTo>
                <a:lnTo>
                  <a:pt x="9744" y="3353"/>
                </a:lnTo>
                <a:lnTo>
                  <a:pt x="0" y="0"/>
                </a:lnTo>
                <a:lnTo>
                  <a:pt x="0" y="12954"/>
                </a:lnTo>
                <a:lnTo>
                  <a:pt x="0" y="25918"/>
                </a:lnTo>
                <a:lnTo>
                  <a:pt x="0" y="38872"/>
                </a:lnTo>
                <a:lnTo>
                  <a:pt x="0" y="51826"/>
                </a:lnTo>
                <a:lnTo>
                  <a:pt x="0" y="64789"/>
                </a:lnTo>
                <a:lnTo>
                  <a:pt x="0" y="77743"/>
                </a:lnTo>
                <a:lnTo>
                  <a:pt x="0" y="90697"/>
                </a:lnTo>
                <a:lnTo>
                  <a:pt x="0" y="103651"/>
                </a:lnTo>
                <a:lnTo>
                  <a:pt x="0" y="116615"/>
                </a:lnTo>
                <a:lnTo>
                  <a:pt x="0" y="129569"/>
                </a:lnTo>
                <a:lnTo>
                  <a:pt x="9744" y="126216"/>
                </a:lnTo>
                <a:lnTo>
                  <a:pt x="21155" y="120072"/>
                </a:lnTo>
                <a:lnTo>
                  <a:pt x="32556" y="113929"/>
                </a:lnTo>
                <a:lnTo>
                  <a:pt x="43967" y="107785"/>
                </a:lnTo>
                <a:lnTo>
                  <a:pt x="55378" y="101641"/>
                </a:lnTo>
                <a:lnTo>
                  <a:pt x="66780" y="95498"/>
                </a:lnTo>
                <a:lnTo>
                  <a:pt x="78191" y="89354"/>
                </a:lnTo>
                <a:lnTo>
                  <a:pt x="89602" y="83210"/>
                </a:lnTo>
                <a:lnTo>
                  <a:pt x="101013" y="77067"/>
                </a:lnTo>
                <a:lnTo>
                  <a:pt x="112414" y="70923"/>
                </a:lnTo>
                <a:lnTo>
                  <a:pt x="123825" y="64789"/>
                </a:lnTo>
                <a:close/>
              </a:path>
            </a:pathLst>
          </a:custGeom>
          <a:solidFill xmlns:a="http://schemas.openxmlformats.org/drawingml/2006/main">
            <a:srgbClr val="6F91B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6" name="matrix-y-axis">
            <a:extLst xmlns:a="http://schemas.openxmlformats.org/drawingml/2006/main">
              <a:ext uri="{FF2B5EF4-FFF2-40B4-BE49-F238E27FC236}">
                <a16:creationId xmlns:a16="http://schemas.microsoft.com/office/drawing/2014/main" id="{A67ADD44-E4A3-4740-A3C7-AD3463CC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1962150"/>
            <a:ext cx="0" cy="392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91BA"/>
            </a:solidFill>
            <a:prstDash val="solid"/>
          </a:ln>
        </p:spPr>
      </p:sp>
      <p:sp>
        <p:nvSpPr>
          <p:cNvPr id="67" name="matrix-y-high-arrow">
            <a:extLst xmlns:a="http://schemas.openxmlformats.org/drawingml/2006/main">
              <a:ext uri="{FF2B5EF4-FFF2-40B4-BE49-F238E27FC236}">
                <a16:creationId xmlns:a16="http://schemas.microsoft.com/office/drawing/2014/main" id="{EA090F27-4568-4006-83F9-5F59A7E8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1211" y="1962150"/>
            <a:ext cx="129569" cy="123825"/>
          </a:xfrm>
          <a:custGeom xmlns:a="http://schemas.openxmlformats.org/drawingml/2006/main">
            <a:pathLst>
              <a:path w="129569" h="123825">
                <a:moveTo>
                  <a:pt x="64789" y="0"/>
                </a:moveTo>
                <a:lnTo>
                  <a:pt x="58645" y="11411"/>
                </a:lnTo>
                <a:lnTo>
                  <a:pt x="52502" y="22812"/>
                </a:lnTo>
                <a:lnTo>
                  <a:pt x="46358" y="34223"/>
                </a:lnTo>
                <a:lnTo>
                  <a:pt x="40215" y="45634"/>
                </a:lnTo>
                <a:lnTo>
                  <a:pt x="34071" y="57045"/>
                </a:lnTo>
                <a:lnTo>
                  <a:pt x="27927" y="68447"/>
                </a:lnTo>
                <a:lnTo>
                  <a:pt x="21784" y="79858"/>
                </a:lnTo>
                <a:lnTo>
                  <a:pt x="15640" y="91269"/>
                </a:lnTo>
                <a:lnTo>
                  <a:pt x="9496" y="102670"/>
                </a:lnTo>
                <a:lnTo>
                  <a:pt x="3353" y="114081"/>
                </a:lnTo>
                <a:lnTo>
                  <a:pt x="0" y="123825"/>
                </a:lnTo>
                <a:lnTo>
                  <a:pt x="12954" y="123825"/>
                </a:lnTo>
                <a:lnTo>
                  <a:pt x="25918" y="123825"/>
                </a:lnTo>
                <a:lnTo>
                  <a:pt x="38872" y="123825"/>
                </a:lnTo>
                <a:lnTo>
                  <a:pt x="51826" y="123825"/>
                </a:lnTo>
                <a:lnTo>
                  <a:pt x="64789" y="123825"/>
                </a:lnTo>
                <a:lnTo>
                  <a:pt x="77743" y="123825"/>
                </a:lnTo>
                <a:lnTo>
                  <a:pt x="90697" y="123825"/>
                </a:lnTo>
                <a:lnTo>
                  <a:pt x="103651" y="123825"/>
                </a:lnTo>
                <a:lnTo>
                  <a:pt x="116615" y="123825"/>
                </a:lnTo>
                <a:lnTo>
                  <a:pt x="129569" y="123825"/>
                </a:lnTo>
                <a:lnTo>
                  <a:pt x="126216" y="114081"/>
                </a:lnTo>
                <a:lnTo>
                  <a:pt x="120072" y="102670"/>
                </a:lnTo>
                <a:lnTo>
                  <a:pt x="113929" y="91269"/>
                </a:lnTo>
                <a:lnTo>
                  <a:pt x="107785" y="79858"/>
                </a:lnTo>
                <a:lnTo>
                  <a:pt x="101641" y="68447"/>
                </a:lnTo>
                <a:lnTo>
                  <a:pt x="95498" y="57045"/>
                </a:lnTo>
                <a:lnTo>
                  <a:pt x="89354" y="45634"/>
                </a:lnTo>
                <a:lnTo>
                  <a:pt x="83210" y="34223"/>
                </a:lnTo>
                <a:lnTo>
                  <a:pt x="77067" y="22812"/>
                </a:lnTo>
                <a:lnTo>
                  <a:pt x="70923" y="11411"/>
                </a:lnTo>
                <a:lnTo>
                  <a:pt x="64789" y="0"/>
                </a:lnTo>
                <a:close/>
              </a:path>
            </a:pathLst>
          </a:custGeom>
          <a:solidFill xmlns:a="http://schemas.openxmlformats.org/drawingml/2006/main">
            <a:srgbClr val="6F91B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8" name="matrix-y-low-arrow">
            <a:extLst xmlns:a="http://schemas.openxmlformats.org/drawingml/2006/main">
              <a:ext uri="{FF2B5EF4-FFF2-40B4-BE49-F238E27FC236}">
                <a16:creationId xmlns:a16="http://schemas.microsoft.com/office/drawing/2014/main" id="{76A2650A-199F-45B3-A2A4-FDD505FB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1211" y="5762625"/>
            <a:ext cx="129569" cy="123825"/>
          </a:xfrm>
          <a:custGeom xmlns:a="http://schemas.openxmlformats.org/drawingml/2006/main">
            <a:pathLst>
              <a:path w="129569" h="123825">
                <a:moveTo>
                  <a:pt x="64789" y="123825"/>
                </a:moveTo>
                <a:lnTo>
                  <a:pt x="58645" y="112414"/>
                </a:lnTo>
                <a:lnTo>
                  <a:pt x="52502" y="101013"/>
                </a:lnTo>
                <a:lnTo>
                  <a:pt x="46358" y="89602"/>
                </a:lnTo>
                <a:lnTo>
                  <a:pt x="40215" y="78191"/>
                </a:lnTo>
                <a:lnTo>
                  <a:pt x="34071" y="66780"/>
                </a:lnTo>
                <a:lnTo>
                  <a:pt x="27927" y="55378"/>
                </a:lnTo>
                <a:lnTo>
                  <a:pt x="21784" y="43967"/>
                </a:lnTo>
                <a:lnTo>
                  <a:pt x="15640" y="32556"/>
                </a:lnTo>
                <a:lnTo>
                  <a:pt x="9496" y="21155"/>
                </a:lnTo>
                <a:lnTo>
                  <a:pt x="3353" y="9744"/>
                </a:lnTo>
                <a:lnTo>
                  <a:pt x="0" y="0"/>
                </a:lnTo>
                <a:lnTo>
                  <a:pt x="12954" y="0"/>
                </a:lnTo>
                <a:lnTo>
                  <a:pt x="25918" y="0"/>
                </a:lnTo>
                <a:lnTo>
                  <a:pt x="38872" y="0"/>
                </a:lnTo>
                <a:lnTo>
                  <a:pt x="51826" y="0"/>
                </a:lnTo>
                <a:lnTo>
                  <a:pt x="64789" y="0"/>
                </a:lnTo>
                <a:lnTo>
                  <a:pt x="77743" y="0"/>
                </a:lnTo>
                <a:lnTo>
                  <a:pt x="90697" y="0"/>
                </a:lnTo>
                <a:lnTo>
                  <a:pt x="103651" y="0"/>
                </a:lnTo>
                <a:lnTo>
                  <a:pt x="116615" y="0"/>
                </a:lnTo>
                <a:lnTo>
                  <a:pt x="129569" y="0"/>
                </a:lnTo>
                <a:lnTo>
                  <a:pt x="126216" y="9744"/>
                </a:lnTo>
                <a:lnTo>
                  <a:pt x="120072" y="21155"/>
                </a:lnTo>
                <a:lnTo>
                  <a:pt x="113929" y="32556"/>
                </a:lnTo>
                <a:lnTo>
                  <a:pt x="107785" y="43967"/>
                </a:lnTo>
                <a:lnTo>
                  <a:pt x="101641" y="55378"/>
                </a:lnTo>
                <a:lnTo>
                  <a:pt x="95498" y="66780"/>
                </a:lnTo>
                <a:lnTo>
                  <a:pt x="89354" y="78191"/>
                </a:lnTo>
                <a:lnTo>
                  <a:pt x="83210" y="89602"/>
                </a:lnTo>
                <a:lnTo>
                  <a:pt x="77067" y="101013"/>
                </a:lnTo>
                <a:lnTo>
                  <a:pt x="70923" y="112414"/>
                </a:lnTo>
                <a:lnTo>
                  <a:pt x="64789" y="123825"/>
                </a:lnTo>
                <a:close/>
              </a:path>
            </a:pathLst>
          </a:custGeom>
          <a:solidFill xmlns:a="http://schemas.openxmlformats.org/drawingml/2006/main">
            <a:srgbClr val="6F91B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9" name="axis-x-low">
            <a:extLst xmlns:a="http://schemas.openxmlformats.org/drawingml/2006/main">
              <a:ext uri="{FF2B5EF4-FFF2-40B4-BE49-F238E27FC236}">
                <a16:creationId xmlns:a16="http://schemas.microsoft.com/office/drawing/2014/main" id="{B0A2FF53-4A3E-4BE8-8F5F-0F0D611C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05025" y="400050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rPr>
              <a:t>实施难度低</a:t>
            </a:r>
          </a:p>
        </p:txBody>
      </p:sp>
      <p:sp>
        <p:nvSpPr>
          <p:cNvPr id="70" name="axis-x-high">
            <a:extLst xmlns:a="http://schemas.openxmlformats.org/drawingml/2006/main">
              <a:ext uri="{FF2B5EF4-FFF2-40B4-BE49-F238E27FC236}">
                <a16:creationId xmlns:a16="http://schemas.microsoft.com/office/drawing/2014/main" id="{71515014-1C55-4906-9430-0CD6C4FD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29725" y="400050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rPr>
              <a:t>实施难度高</a:t>
            </a:r>
          </a:p>
        </p:txBody>
      </p:sp>
      <p:sp>
        <p:nvSpPr>
          <p:cNvPr id="71" name="axis-y-high">
            <a:extLst xmlns:a="http://schemas.openxmlformats.org/drawingml/2006/main">
              <a:ext uri="{FF2B5EF4-FFF2-40B4-BE49-F238E27FC236}">
                <a16:creationId xmlns:a16="http://schemas.microsoft.com/office/drawing/2014/main" id="{B783CEB6-4A1A-4440-BBA9-D3E6F7E3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67375" y="167640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rPr>
              <a:t>业务价值高</a:t>
            </a:r>
          </a:p>
        </p:txBody>
      </p:sp>
      <p:sp>
        <p:nvSpPr>
          <p:cNvPr id="72" name="axis-y-low">
            <a:extLst xmlns:a="http://schemas.openxmlformats.org/drawingml/2006/main">
              <a:ext uri="{FF2B5EF4-FFF2-40B4-BE49-F238E27FC236}">
                <a16:creationId xmlns:a16="http://schemas.microsoft.com/office/drawing/2014/main" id="{A03DF35E-F6EA-49C5-A70B-C55E6E52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67375" y="601980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rPr>
              <a:t>业务价值低</a:t>
            </a:r>
          </a:p>
        </p:txBody>
      </p:sp>
      <p:sp>
        <p:nvSpPr>
          <p:cNvPr id="73" name="matrix-origin">
            <a:extLst xmlns:a="http://schemas.openxmlformats.org/drawingml/2006/main">
              <a:ext uri="{FF2B5EF4-FFF2-40B4-BE49-F238E27FC236}">
                <a16:creationId xmlns:a16="http://schemas.microsoft.com/office/drawing/2014/main" id="{BD529C11-BF30-4A6B-94E1-5943B81A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29325" y="38576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6F91B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087326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2026-08-20T03:04:08.8860000Z</dcterms:created>
  <dcterms:modified xsi:type="dcterms:W3CDTF">2026-08-20T03:04:08.8860000Z</dcterms:modified>
</coreProperties>
</file>