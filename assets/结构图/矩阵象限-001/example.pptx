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ec366e797664b2d" /><Relationship Type="http://schemas.openxmlformats.org/officeDocument/2006/relationships/extended-properties" Target="/docProps/app.xml" Id="Rfa76af1010da4467" /><Relationship Type="http://schemas.openxmlformats.org/officeDocument/2006/relationships/officeDocument" Target="/ppt/presentation.xml" Id="R668a127ab403413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8cfde1c6d334ae8"/>
  </p:sldMasterIdLst>
  <p:notesMasterIdLst>
    <p:notesMasterId xmlns:r="http://schemas.openxmlformats.org/officeDocument/2006/relationships" r:id="R0a0aada241714567"/>
  </p:notesMasterIdLst>
  <p:sldIdLst>
    <p:sldId xmlns:r="http://schemas.openxmlformats.org/officeDocument/2006/relationships" id="256" r:id="Rf503855e77c84d8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6d0908c7e564c4b" /><Relationship Type="http://schemas.openxmlformats.org/officeDocument/2006/relationships/slideMaster" Target="/ppt/slideMasters/slideMaster1.xml" Id="Rc8cfde1c6d334ae8" /><Relationship Type="http://schemas.openxmlformats.org/officeDocument/2006/relationships/notesMaster" Target="/ppt/notesMasters/notesMaster1.xml" Id="R0a0aada241714567" /><Relationship Type="http://schemas.openxmlformats.org/officeDocument/2006/relationships/presProps" Target="/ppt/presProps.xml" Id="Rd7c5d9fe29a34b06" /><Relationship Type="http://schemas.openxmlformats.org/officeDocument/2006/relationships/tableStyles" Target="/ppt/tableStyles.xml" Id="R55da65c2a03448d5" /><Relationship Type="http://schemas.openxmlformats.org/officeDocument/2006/relationships/slide" Target="/ppt/slides/slide1.xml" Id="Rf503855e77c84d8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bb2a1f4abca403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200025" dist="85725" dir="5400000">
              <a:srgbClr val="2F5EA8">
                <a:alpha val="14000"/>
              </a:srgbClr>
            </a:outerShdw>
          </a:effectLst>
        </a:effectStyle>
        <a:effectStyle>
          <a:effectLst>
            <a:outerShdw blurRad="171450" dist="76200" dir="5400000">
              <a:srgbClr val="264E80">
                <a:alpha val="10000"/>
              </a:srgbClr>
            </a:outerShdw>
          </a:effectLst>
        </a:effectStyle>
        <a:effectStyle>
          <a:effectLst>
            <a:outerShdw blurRad="171450" dist="76200" dir="5400000">
              <a:srgbClr val="1F497E">
                <a:alpha val="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4262252ff134dcd" /><Relationship Type="http://schemas.openxmlformats.org/officeDocument/2006/relationships/notesMaster" Target="/ppt/notesMasters/notesMaster1.xml" Id="R0db43c1508bb407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629c797e8734d2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b6cafc01cf34730" /><Relationship Type="http://schemas.openxmlformats.org/officeDocument/2006/relationships/slideLayout" Target="/ppt/slideLayouts/slideLayout1.xml" Id="R04465d3fc4bb4f1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4465d3fc4bb4f1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200025" dist="85725" dir="5400000">
              <a:srgbClr val="2F5EA8">
                <a:alpha val="14000"/>
              </a:srgbClr>
            </a:outerShdw>
          </a:effectLst>
        </a:effectStyle>
        <a:effectStyle>
          <a:effectLst>
            <a:outerShdw blurRad="171450" dist="76200" dir="5400000">
              <a:srgbClr val="264E80">
                <a:alpha val="10000"/>
              </a:srgbClr>
            </a:outerShdw>
          </a:effectLst>
        </a:effectStyle>
        <a:effectStyle>
          <a:effectLst>
            <a:outerShdw blurRad="171450" dist="76200" dir="5400000">
              <a:srgbClr val="1F497E">
                <a:alpha val="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7c968d19b14748" /><Relationship Type="http://schemas.openxmlformats.org/officeDocument/2006/relationships/image" Target="/ppt/media/image.png" Id="R243a334ae5f1419f" /><Relationship Type="http://schemas.openxmlformats.org/officeDocument/2006/relationships/image" Target="/ppt/media/image.svg" Id="R57d8465e2a7f4646" /><Relationship Type="http://schemas.openxmlformats.org/officeDocument/2006/relationships/image" Target="/ppt/media/image2.png" Id="R1323e96acf014f39" /><Relationship Type="http://schemas.openxmlformats.org/officeDocument/2006/relationships/image" Target="/ppt/media/image2.svg" Id="R8e648fe3d2df40e7" /><Relationship Type="http://schemas.openxmlformats.org/officeDocument/2006/relationships/notesSlide" Target="/ppt/notesSlides/notesSlide1.xml" Id="Rccbd173c2f8b4c5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6" name="quadrant-field-0">
            <a:extLst xmlns:a="http://schemas.openxmlformats.org/drawingml/2006/main">
              <a:ext uri="{FF2B5EF4-FFF2-40B4-BE49-F238E27FC236}">
                <a16:creationId xmlns:a16="http://schemas.microsoft.com/office/drawing/2014/main" id="{92E76AE7-83DD-471D-9824-BE5A2164B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7225" y="1752600"/>
            <a:ext cx="5267325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E1FC">
              <a:alpha val="2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quadrant-field-1">
            <a:extLst xmlns:a="http://schemas.openxmlformats.org/drawingml/2006/main">
              <a:ext uri="{FF2B5EF4-FFF2-40B4-BE49-F238E27FC236}">
                <a16:creationId xmlns:a16="http://schemas.microsoft.com/office/drawing/2014/main" id="{8E80111A-3DCC-4CA5-81D2-7413F849C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67450" y="1752600"/>
            <a:ext cx="4905375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B">
              <a:alpha val="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quadrant-field-2">
            <a:extLst xmlns:a="http://schemas.openxmlformats.org/drawingml/2006/main">
              <a:ext uri="{FF2B5EF4-FFF2-40B4-BE49-F238E27FC236}">
                <a16:creationId xmlns:a16="http://schemas.microsoft.com/office/drawing/2014/main" id="{2D73B8F6-0605-4550-8AA3-1F2EC68B7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7225" y="4057650"/>
            <a:ext cx="5267325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B">
              <a:alpha val="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quadrant-field-3">
            <a:extLst xmlns:a="http://schemas.openxmlformats.org/drawingml/2006/main">
              <a:ext uri="{FF2B5EF4-FFF2-40B4-BE49-F238E27FC236}">
                <a16:creationId xmlns:a16="http://schemas.microsoft.com/office/drawing/2014/main" id="{80333A84-A974-4D89-BD14-91A857570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67450" y="4057650"/>
            <a:ext cx="4905375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EFC">
              <a:alpha val="14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matrix-item-0-0">
            <a:extLst xmlns:a="http://schemas.openxmlformats.org/drawingml/2006/main">
              <a:ext uri="{FF2B5EF4-FFF2-40B4-BE49-F238E27FC236}">
                <a16:creationId xmlns:a16="http://schemas.microsoft.com/office/drawing/2014/main" id="{8AB8CAEA-B9B0-4296-AB2E-DE7B72856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52875" y="2371725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>
              <a:alpha val="79000"/>
            </a:srgbClr>
          </a:solidFill>
          <a:ln xmlns:a="http://schemas.openxmlformats.org/drawingml/2006/main" w="9525">
            <a:solidFill>
              <a:srgbClr val="FFFFFF">
                <a:alpha val="88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6" name="matrix-item-title-0-0">
            <a:extLst xmlns:a="http://schemas.openxmlformats.org/drawingml/2006/main">
              <a:ext uri="{FF2B5EF4-FFF2-40B4-BE49-F238E27FC236}">
                <a16:creationId xmlns:a16="http://schemas.microsoft.com/office/drawing/2014/main" id="{1D8DB540-EDAA-46D6-80D4-B1B62138C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76700" y="2590800"/>
            <a:ext cx="647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异常预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警</a:t>
            </a:r>
          </a:p>
        </p:txBody>
      </p:sp>
      <p:sp>
        <p:nvSpPr>
          <p:cNvPr id="7" name="matrix-item-0-1">
            <a:extLst xmlns:a="http://schemas.openxmlformats.org/drawingml/2006/main">
              <a:ext uri="{FF2B5EF4-FFF2-40B4-BE49-F238E27FC236}">
                <a16:creationId xmlns:a16="http://schemas.microsoft.com/office/drawing/2014/main" id="{DA4E33B5-BC48-48E9-A4ED-AC113068F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76775" y="2009775"/>
            <a:ext cx="1162050" cy="1162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EA8">
              <a:alpha val="79000"/>
            </a:srgbClr>
          </a:solidFill>
          <a:ln xmlns:a="http://schemas.openxmlformats.org/drawingml/2006/main" w="9525">
            <a:solidFill>
              <a:srgbClr val="FFFFFF">
                <a:alpha val="88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8" name="matrix-item-title-0-1">
            <a:extLst xmlns:a="http://schemas.openxmlformats.org/drawingml/2006/main">
              <a:ext uri="{FF2B5EF4-FFF2-40B4-BE49-F238E27FC236}">
                <a16:creationId xmlns:a16="http://schemas.microsoft.com/office/drawing/2014/main" id="{D7075FB8-4B68-41DE-BDBA-950AE8BAE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00600" y="2461174"/>
            <a:ext cx="914400" cy="2591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统一入口</a:t>
            </a:r>
          </a:p>
        </p:txBody>
      </p:sp>
      <p:sp>
        <p:nvSpPr>
          <p:cNvPr id="9" name="matrix-item-1-0">
            <a:extLst xmlns:a="http://schemas.openxmlformats.org/drawingml/2006/main">
              <a:ext uri="{FF2B5EF4-FFF2-40B4-BE49-F238E27FC236}">
                <a16:creationId xmlns:a16="http://schemas.microsoft.com/office/drawing/2014/main" id="{CEC5D6BD-98B2-4D04-8E6A-2768B5713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43775" y="2447925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284C4">
              <a:alpha val="68000"/>
            </a:srgbClr>
          </a:solidFill>
          <a:ln xmlns:a="http://schemas.openxmlformats.org/drawingml/2006/main" w="9525">
            <a:solidFill>
              <a:srgbClr val="FFFFFF">
                <a:alpha val="68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0" name="matrix-item-title-1-0">
            <a:extLst xmlns:a="http://schemas.openxmlformats.org/drawingml/2006/main">
              <a:ext uri="{FF2B5EF4-FFF2-40B4-BE49-F238E27FC236}">
                <a16:creationId xmlns:a16="http://schemas.microsoft.com/office/drawing/2014/main" id="{A972C5F8-7DA9-4A07-926D-F8B839A11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67600" y="2667000"/>
            <a:ext cx="647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数据平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台</a:t>
            </a:r>
          </a:p>
        </p:txBody>
      </p:sp>
      <p:sp>
        <p:nvSpPr>
          <p:cNvPr id="11" name="matrix-item-1-1">
            <a:extLst xmlns:a="http://schemas.openxmlformats.org/drawingml/2006/main">
              <a:ext uri="{FF2B5EF4-FFF2-40B4-BE49-F238E27FC236}">
                <a16:creationId xmlns:a16="http://schemas.microsoft.com/office/drawing/2014/main" id="{CCCE99BB-D34D-4C9F-B732-7CF1AA083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53175" y="1962150"/>
            <a:ext cx="1162050" cy="1162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FA4D3">
              <a:alpha val="64000"/>
            </a:srgbClr>
          </a:solidFill>
          <a:ln xmlns:a="http://schemas.openxmlformats.org/drawingml/2006/main" w="9525">
            <a:solidFill>
              <a:srgbClr val="FFFFFF">
                <a:alpha val="68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2" name="matrix-item-title-1-1">
            <a:extLst xmlns:a="http://schemas.openxmlformats.org/drawingml/2006/main">
              <a:ext uri="{FF2B5EF4-FFF2-40B4-BE49-F238E27FC236}">
                <a16:creationId xmlns:a16="http://schemas.microsoft.com/office/drawing/2014/main" id="{3831A143-9AB4-4430-AEFB-0E8938675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77000" y="2314575"/>
            <a:ext cx="914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流程自动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化</a:t>
            </a:r>
          </a:p>
        </p:txBody>
      </p:sp>
      <p:sp>
        <p:nvSpPr>
          <p:cNvPr id="13" name="matrix-item-2-0">
            <a:extLst xmlns:a="http://schemas.openxmlformats.org/drawingml/2006/main">
              <a:ext uri="{FF2B5EF4-FFF2-40B4-BE49-F238E27FC236}">
                <a16:creationId xmlns:a16="http://schemas.microsoft.com/office/drawing/2014/main" id="{7DCD9B13-C663-4699-A234-F30C24FD9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52875" y="4581525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284C4">
              <a:alpha val="68000"/>
            </a:srgbClr>
          </a:solidFill>
          <a:ln xmlns:a="http://schemas.openxmlformats.org/drawingml/2006/main" w="9525">
            <a:solidFill>
              <a:srgbClr val="FFFFFF">
                <a:alpha val="68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4" name="matrix-item-title-2-0">
            <a:extLst xmlns:a="http://schemas.openxmlformats.org/drawingml/2006/main">
              <a:ext uri="{FF2B5EF4-FFF2-40B4-BE49-F238E27FC236}">
                <a16:creationId xmlns:a16="http://schemas.microsoft.com/office/drawing/2014/main" id="{A36486F2-BC85-4ABD-9683-0EB2FAD4F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76700" y="4800600"/>
            <a:ext cx="647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报表美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化</a:t>
            </a:r>
          </a:p>
        </p:txBody>
      </p:sp>
      <p:sp>
        <p:nvSpPr>
          <p:cNvPr id="15" name="matrix-item-2-1">
            <a:extLst xmlns:a="http://schemas.openxmlformats.org/drawingml/2006/main">
              <a:ext uri="{FF2B5EF4-FFF2-40B4-BE49-F238E27FC236}">
                <a16:creationId xmlns:a16="http://schemas.microsoft.com/office/drawing/2014/main" id="{B28DF5EA-E636-4AC0-B385-34A04EB45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76775" y="4676775"/>
            <a:ext cx="1162050" cy="1162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FA4D3">
              <a:alpha val="64000"/>
            </a:srgbClr>
          </a:solidFill>
          <a:ln xmlns:a="http://schemas.openxmlformats.org/drawingml/2006/main" w="9525">
            <a:solidFill>
              <a:srgbClr val="FFFFFF">
                <a:alpha val="68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6" name="matrix-item-title-2-1">
            <a:extLst xmlns:a="http://schemas.openxmlformats.org/drawingml/2006/main">
              <a:ext uri="{FF2B5EF4-FFF2-40B4-BE49-F238E27FC236}">
                <a16:creationId xmlns:a16="http://schemas.microsoft.com/office/drawing/2014/main" id="{81411385-4E37-4BCC-94CA-C81B89190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00600" y="5128174"/>
            <a:ext cx="914400" cy="2591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资料归档</a:t>
            </a:r>
          </a:p>
        </p:txBody>
      </p:sp>
      <p:sp>
        <p:nvSpPr>
          <p:cNvPr id="17" name="matrix-item-3-0">
            <a:extLst xmlns:a="http://schemas.openxmlformats.org/drawingml/2006/main">
              <a:ext uri="{FF2B5EF4-FFF2-40B4-BE49-F238E27FC236}">
                <a16:creationId xmlns:a16="http://schemas.microsoft.com/office/drawing/2014/main" id="{BC6A5481-6944-4382-B7C0-147CE71D1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43775" y="4524375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C7AB8">
              <a:alpha val="74000"/>
            </a:srgbClr>
          </a:solidFill>
          <a:ln xmlns:a="http://schemas.openxmlformats.org/drawingml/2006/main" w="9525">
            <a:solidFill>
              <a:srgbClr val="FFFFFF">
                <a:alpha val="68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18" name="matrix-item-title-3-0">
            <a:extLst xmlns:a="http://schemas.openxmlformats.org/drawingml/2006/main">
              <a:ext uri="{FF2B5EF4-FFF2-40B4-BE49-F238E27FC236}">
                <a16:creationId xmlns:a16="http://schemas.microsoft.com/office/drawing/2014/main" id="{B2CAEE6D-A621-416B-8DE4-AF840B909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67600" y="4743450"/>
            <a:ext cx="647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系统重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构</a:t>
            </a:r>
          </a:p>
        </p:txBody>
      </p:sp>
      <p:sp>
        <p:nvSpPr>
          <p:cNvPr id="19" name="matrix-item-3-1">
            <a:extLst xmlns:a="http://schemas.openxmlformats.org/drawingml/2006/main">
              <a:ext uri="{FF2B5EF4-FFF2-40B4-BE49-F238E27FC236}">
                <a16:creationId xmlns:a16="http://schemas.microsoft.com/office/drawing/2014/main" id="{04430A8E-8B16-44CD-B066-D74275BB8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53175" y="4733925"/>
            <a:ext cx="1162050" cy="1162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49BCE">
              <a:alpha val="68000"/>
            </a:srgbClr>
          </a:solidFill>
          <a:ln xmlns:a="http://schemas.openxmlformats.org/drawingml/2006/main" w="9525">
            <a:solidFill>
              <a:srgbClr val="FFFFFF">
                <a:alpha val="68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20" name="matrix-item-title-3-1">
            <a:extLst xmlns:a="http://schemas.openxmlformats.org/drawingml/2006/main">
              <a:ext uri="{FF2B5EF4-FFF2-40B4-BE49-F238E27FC236}">
                <a16:creationId xmlns:a16="http://schemas.microsoft.com/office/drawing/2014/main" id="{5A73EC1E-DC74-4749-B857-080877139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77000" y="5185324"/>
            <a:ext cx="914400" cy="2591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全量迁移</a:t>
            </a:r>
          </a:p>
        </p:txBody>
      </p:sp>
      <p:sp>
        <p:nvSpPr>
          <p:cNvPr id="21" name="quadrant-title-0">
            <a:extLst xmlns:a="http://schemas.openxmlformats.org/drawingml/2006/main">
              <a:ext uri="{FF2B5EF4-FFF2-40B4-BE49-F238E27FC236}">
                <a16:creationId xmlns:a16="http://schemas.microsoft.com/office/drawing/2014/main" id="{1C9C4448-6D9A-4E4B-AD74-54604AD57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07719" y="3351314"/>
            <a:ext cx="1088231" cy="3253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22000"/>
              </a:lnSpc>
              <a:buNone/>
              <a:def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优先推进</a:t>
            </a:r>
          </a:p>
        </p:txBody>
      </p:sp>
      <p:sp>
        <p:nvSpPr>
          <p:cNvPr id="22" name="quadrant-title-1">
            <a:extLst xmlns:a="http://schemas.openxmlformats.org/drawingml/2006/main">
              <a:ext uri="{FF2B5EF4-FFF2-40B4-BE49-F238E27FC236}">
                <a16:creationId xmlns:a16="http://schemas.microsoft.com/office/drawing/2014/main" id="{87693EDD-8C45-4816-9350-01E207AA3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3351314"/>
            <a:ext cx="1088231" cy="3253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2100" b="1" i="0">
                <a:solidFill>
                  <a:srgbClr val="46688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46688F"/>
                </a:solidFill>
                <a:latin typeface="Microsoft YaHei"/>
                <a:ea typeface="Microsoft YaHei"/>
                <a:cs typeface="Microsoft YaHei"/>
              </a:rPr>
              <a:t>战略投入</a:t>
            </a:r>
          </a:p>
        </p:txBody>
      </p:sp>
      <p:sp>
        <p:nvSpPr>
          <p:cNvPr id="23" name="quadrant-title-2">
            <a:extLst xmlns:a="http://schemas.openxmlformats.org/drawingml/2006/main">
              <a:ext uri="{FF2B5EF4-FFF2-40B4-BE49-F238E27FC236}">
                <a16:creationId xmlns:a16="http://schemas.microsoft.com/office/drawing/2014/main" id="{D58B7E9E-8D30-4A52-A46C-BE8A4AF76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07719" y="4171950"/>
            <a:ext cx="1088231" cy="3253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22000"/>
              </a:lnSpc>
              <a:buNone/>
              <a:defRPr sz="2100" b="1" i="0">
                <a:solidFill>
                  <a:srgbClr val="46688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46688F"/>
                </a:solidFill>
                <a:latin typeface="Microsoft YaHei"/>
                <a:ea typeface="Microsoft YaHei"/>
                <a:cs typeface="Microsoft YaHei"/>
              </a:rPr>
              <a:t>择机优化</a:t>
            </a:r>
          </a:p>
        </p:txBody>
      </p:sp>
      <p:sp>
        <p:nvSpPr>
          <p:cNvPr id="24" name="quadrant-title-3">
            <a:extLst xmlns:a="http://schemas.openxmlformats.org/drawingml/2006/main">
              <a:ext uri="{FF2B5EF4-FFF2-40B4-BE49-F238E27FC236}">
                <a16:creationId xmlns:a16="http://schemas.microsoft.com/office/drawing/2014/main" id="{79B4EBB2-56FA-4857-943E-16AC808AA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6050" y="4171950"/>
            <a:ext cx="1088231" cy="3253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2100" b="1" i="0">
                <a:solidFill>
                  <a:srgbClr val="46688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46688F"/>
                </a:solidFill>
                <a:latin typeface="Microsoft YaHei"/>
                <a:ea typeface="Microsoft YaHei"/>
                <a:cs typeface="Microsoft YaHei"/>
              </a:rPr>
              <a:t>谨慎评估</a:t>
            </a:r>
          </a:p>
        </p:txBody>
      </p:sp>
      <p:sp>
        <p:nvSpPr>
          <p:cNvPr id="25" name="matrix-detail-title-0">
            <a:extLst xmlns:a="http://schemas.openxmlformats.org/drawingml/2006/main">
              <a:ext uri="{FF2B5EF4-FFF2-40B4-BE49-F238E27FC236}">
                <a16:creationId xmlns:a16="http://schemas.microsoft.com/office/drawing/2014/main" id="{991AB858-CD57-4DC7-AD53-FFBDCFB02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28825" y="175260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 i="0">
                <a:solidFill>
                  <a:srgbClr val="3E71B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3E71B5"/>
                </a:solidFill>
                <a:latin typeface="Microsoft YaHei"/>
                <a:ea typeface="Microsoft YaHei"/>
                <a:cs typeface="Microsoft YaHei"/>
              </a:rPr>
              <a:t>快速落地方案</a:t>
            </a:r>
          </a:p>
        </p:txBody>
      </p:sp>
      <p:sp>
        <p:nvSpPr>
          <p:cNvPr id="26" name="matrix-detail-body-0">
            <a:extLst xmlns:a="http://schemas.openxmlformats.org/drawingml/2006/main">
              <a:ext uri="{FF2B5EF4-FFF2-40B4-BE49-F238E27FC236}">
                <a16:creationId xmlns:a16="http://schemas.microsoft.com/office/drawing/2014/main" id="{75E4A0DC-C991-4400-9EBE-09F82E26C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28825" y="2019300"/>
            <a:ext cx="1809750" cy="48756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500" b="0" i="0">
                <a:solidFill>
                  <a:srgbClr val="74849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748495"/>
                </a:solidFill>
                <a:latin typeface="Microsoft YaHei"/>
                <a:ea typeface="Microsoft YaHei"/>
                <a:cs typeface="Microsoft YaHei"/>
              </a:rPr>
              <a:t>优先配置低难度、高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1500" b="0" i="0">
                <a:solidFill>
                  <a:srgbClr val="74849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748495"/>
                </a:solidFill>
                <a:latin typeface="Microsoft YaHei"/>
                <a:ea typeface="Microsoft YaHei"/>
                <a:cs typeface="Microsoft YaHei"/>
              </a:rPr>
              <a:t>价值项目</a:t>
            </a:r>
          </a:p>
        </p:txBody>
      </p:sp>
      <p:sp>
        <p:nvSpPr>
          <p:cNvPr id="27" name="quadrant-0-detail-region-metric-0">
            <a:extLst xmlns:a="http://schemas.openxmlformats.org/drawingml/2006/main">
              <a:ext uri="{FF2B5EF4-FFF2-40B4-BE49-F238E27FC236}">
                <a16:creationId xmlns:a16="http://schemas.microsoft.com/office/drawing/2014/main" id="{44955185-35F0-409F-9ACF-811A37A5F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28825" y="2602116"/>
            <a:ext cx="866775" cy="2604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00" b="1" i="0">
                <a:solidFill>
                  <a:srgbClr val="3B68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1" i="0">
                <a:solidFill>
                  <a:srgbClr val="3B68AB"/>
                </a:solidFill>
                <a:latin typeface="Microsoft YaHei"/>
                <a:ea typeface="Microsoft YaHei"/>
                <a:cs typeface="Microsoft YaHei"/>
              </a:rPr>
              <a:t>2周</a:t>
            </a:r>
          </a:p>
        </p:txBody>
      </p:sp>
      <p:sp>
        <p:nvSpPr>
          <p:cNvPr id="28" name="quadrant-0-detail-region-metric-0-label">
            <a:extLst xmlns:a="http://schemas.openxmlformats.org/drawingml/2006/main">
              <a:ext uri="{FF2B5EF4-FFF2-40B4-BE49-F238E27FC236}">
                <a16:creationId xmlns:a16="http://schemas.microsoft.com/office/drawing/2014/main" id="{A9C5FF89-74BA-4DDC-8700-E22821085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28825" y="2900658"/>
            <a:ext cx="866775" cy="2247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 i="0">
                <a:solidFill>
                  <a:srgbClr val="586B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586B80"/>
                </a:solidFill>
                <a:latin typeface="Microsoft YaHei"/>
                <a:ea typeface="Microsoft YaHei"/>
                <a:cs typeface="Microsoft YaHei"/>
              </a:rPr>
              <a:t>落地周期</a:t>
            </a:r>
          </a:p>
        </p:txBody>
      </p:sp>
      <p:sp>
        <p:nvSpPr>
          <p:cNvPr id="29" name="quadrant-0-detail-region-metric-1">
            <a:extLst xmlns:a="http://schemas.openxmlformats.org/drawingml/2006/main">
              <a:ext uri="{FF2B5EF4-FFF2-40B4-BE49-F238E27FC236}">
                <a16:creationId xmlns:a16="http://schemas.microsoft.com/office/drawing/2014/main" id="{A3AC0346-6391-4CB5-A2A0-576C8C91B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71800" y="2602116"/>
            <a:ext cx="866775" cy="2604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00" b="1" i="0">
                <a:solidFill>
                  <a:srgbClr val="3B68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1" i="0">
                <a:solidFill>
                  <a:srgbClr val="3B68AB"/>
                </a:solidFill>
                <a:latin typeface="Microsoft YaHei"/>
                <a:ea typeface="Microsoft YaHei"/>
                <a:cs typeface="Microsoft YaHei"/>
              </a:rPr>
              <a:t>2组</a:t>
            </a:r>
          </a:p>
        </p:txBody>
      </p:sp>
      <p:sp>
        <p:nvSpPr>
          <p:cNvPr id="30" name="quadrant-0-detail-region-metric-1-label">
            <a:extLst xmlns:a="http://schemas.openxmlformats.org/drawingml/2006/main">
              <a:ext uri="{FF2B5EF4-FFF2-40B4-BE49-F238E27FC236}">
                <a16:creationId xmlns:a16="http://schemas.microsoft.com/office/drawing/2014/main" id="{615A47C3-4B72-42F5-99A3-765826BD6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71800" y="2900658"/>
            <a:ext cx="866775" cy="2247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 i="0">
                <a:solidFill>
                  <a:srgbClr val="586B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586B80"/>
                </a:solidFill>
                <a:latin typeface="Microsoft YaHei"/>
                <a:ea typeface="Microsoft YaHei"/>
                <a:cs typeface="Microsoft YaHei"/>
              </a:rPr>
              <a:t>协同团队</a:t>
            </a:r>
          </a:p>
        </p:txBody>
      </p:sp>
      <p:sp>
        <p:nvSpPr>
          <p:cNvPr id="31" name="matrix-detail-title-1">
            <a:extLst xmlns:a="http://schemas.openxmlformats.org/drawingml/2006/main">
              <a:ext uri="{FF2B5EF4-FFF2-40B4-BE49-F238E27FC236}">
                <a16:creationId xmlns:a16="http://schemas.microsoft.com/office/drawing/2014/main" id="{47CD40DF-04F0-410A-B0E4-0CE57622D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24925" y="1752600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 i="0">
                <a:solidFill>
                  <a:srgbClr val="3E71B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3E71B5"/>
                </a:solidFill>
                <a:latin typeface="Microsoft YaHei"/>
                <a:ea typeface="Microsoft YaHei"/>
                <a:cs typeface="Microsoft YaHei"/>
              </a:rPr>
              <a:t>重点投入方案</a:t>
            </a:r>
          </a:p>
        </p:txBody>
      </p:sp>
      <p:sp>
        <p:nvSpPr>
          <p:cNvPr id="32" name="matrix-detail-body-1">
            <a:extLst xmlns:a="http://schemas.openxmlformats.org/drawingml/2006/main">
              <a:ext uri="{FF2B5EF4-FFF2-40B4-BE49-F238E27FC236}">
                <a16:creationId xmlns:a16="http://schemas.microsoft.com/office/drawing/2014/main" id="{A2D50724-B264-4C82-AAB2-B00583614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24925" y="2019300"/>
            <a:ext cx="2571750" cy="2437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500" b="0" i="0">
                <a:solidFill>
                  <a:srgbClr val="74849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748495"/>
                </a:solidFill>
                <a:latin typeface="Microsoft YaHei"/>
                <a:ea typeface="Microsoft YaHei"/>
                <a:cs typeface="Microsoft YaHei"/>
              </a:rPr>
              <a:t>围绕高价值项目集中资源建设</a:t>
            </a:r>
          </a:p>
        </p:txBody>
      </p:sp>
      <p:sp>
        <p:nvSpPr>
          <p:cNvPr id="33" name="quadrant-1-detail-region-metric-0">
            <a:extLst xmlns:a="http://schemas.openxmlformats.org/drawingml/2006/main">
              <a:ext uri="{FF2B5EF4-FFF2-40B4-BE49-F238E27FC236}">
                <a16:creationId xmlns:a16="http://schemas.microsoft.com/office/drawing/2014/main" id="{C5256B69-319E-428C-8A7E-29A39224A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24925" y="2358333"/>
            <a:ext cx="1247775" cy="2604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00" b="1" i="0">
                <a:solidFill>
                  <a:srgbClr val="3B68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1" i="0">
                <a:solidFill>
                  <a:srgbClr val="3B68AB"/>
                </a:solidFill>
                <a:latin typeface="Microsoft YaHei"/>
                <a:ea typeface="Microsoft YaHei"/>
                <a:cs typeface="Microsoft YaHei"/>
              </a:rPr>
              <a:t>3月</a:t>
            </a:r>
          </a:p>
        </p:txBody>
      </p:sp>
      <p:sp>
        <p:nvSpPr>
          <p:cNvPr id="34" name="quadrant-1-detail-region-metric-0-label">
            <a:extLst xmlns:a="http://schemas.openxmlformats.org/drawingml/2006/main">
              <a:ext uri="{FF2B5EF4-FFF2-40B4-BE49-F238E27FC236}">
                <a16:creationId xmlns:a16="http://schemas.microsoft.com/office/drawing/2014/main" id="{2709F292-A1DC-4A7B-9EDD-B2E583223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24925" y="2656884"/>
            <a:ext cx="1247775" cy="2247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 i="0">
                <a:solidFill>
                  <a:srgbClr val="586B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586B80"/>
                </a:solidFill>
                <a:latin typeface="Microsoft YaHei"/>
                <a:ea typeface="Microsoft YaHei"/>
                <a:cs typeface="Microsoft YaHei"/>
              </a:rPr>
              <a:t>建设周期</a:t>
            </a:r>
          </a:p>
        </p:txBody>
      </p:sp>
      <p:sp>
        <p:nvSpPr>
          <p:cNvPr id="35" name="quadrant-1-detail-region-metric-1">
            <a:extLst xmlns:a="http://schemas.openxmlformats.org/drawingml/2006/main">
              <a:ext uri="{FF2B5EF4-FFF2-40B4-BE49-F238E27FC236}">
                <a16:creationId xmlns:a16="http://schemas.microsoft.com/office/drawing/2014/main" id="{89BF0FDD-7DCE-4112-937C-AF499B04B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48900" y="2358333"/>
            <a:ext cx="1247775" cy="2604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00" b="1" i="0">
                <a:solidFill>
                  <a:srgbClr val="3B68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1" i="0">
                <a:solidFill>
                  <a:srgbClr val="3B68AB"/>
                </a:solidFill>
                <a:latin typeface="Microsoft YaHei"/>
                <a:ea typeface="Microsoft YaHei"/>
                <a:cs typeface="Microsoft YaHei"/>
              </a:rPr>
              <a:t>重点</a:t>
            </a:r>
          </a:p>
        </p:txBody>
      </p:sp>
      <p:sp>
        <p:nvSpPr>
          <p:cNvPr id="36" name="quadrant-1-detail-region-metric-1-label">
            <a:extLst xmlns:a="http://schemas.openxmlformats.org/drawingml/2006/main">
              <a:ext uri="{FF2B5EF4-FFF2-40B4-BE49-F238E27FC236}">
                <a16:creationId xmlns:a16="http://schemas.microsoft.com/office/drawing/2014/main" id="{0A3291CE-6922-4B02-B7E4-03137EC8A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48900" y="2656884"/>
            <a:ext cx="1247775" cy="2247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 i="0">
                <a:solidFill>
                  <a:srgbClr val="586B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586B80"/>
                </a:solidFill>
                <a:latin typeface="Microsoft YaHei"/>
                <a:ea typeface="Microsoft YaHei"/>
                <a:cs typeface="Microsoft YaHei"/>
              </a:rPr>
              <a:t>资源投入</a:t>
            </a:r>
          </a:p>
        </p:txBody>
      </p:sp>
      <p:sp>
        <p:nvSpPr>
          <p:cNvPr id="37" name="matrix-detail-title-2">
            <a:extLst xmlns:a="http://schemas.openxmlformats.org/drawingml/2006/main">
              <a:ext uri="{FF2B5EF4-FFF2-40B4-BE49-F238E27FC236}">
                <a16:creationId xmlns:a16="http://schemas.microsoft.com/office/drawing/2014/main" id="{D76E72FE-448E-44C9-BDE0-EEFC43B8D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28825" y="428625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 i="0">
                <a:solidFill>
                  <a:srgbClr val="3E71B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3E71B5"/>
                </a:solidFill>
                <a:latin typeface="Microsoft YaHei"/>
                <a:ea typeface="Microsoft YaHei"/>
                <a:cs typeface="Microsoft YaHei"/>
              </a:rPr>
              <a:t>常规优化方案</a:t>
            </a:r>
          </a:p>
        </p:txBody>
      </p:sp>
      <p:sp>
        <p:nvSpPr>
          <p:cNvPr id="38" name="matrix-detail-body-2">
            <a:extLst xmlns:a="http://schemas.openxmlformats.org/drawingml/2006/main">
              <a:ext uri="{FF2B5EF4-FFF2-40B4-BE49-F238E27FC236}">
                <a16:creationId xmlns:a16="http://schemas.microsoft.com/office/drawing/2014/main" id="{EE39F3C9-56BA-4760-8867-BE0631EC6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28825" y="4552950"/>
            <a:ext cx="1809750" cy="48756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500" b="0" i="0">
                <a:solidFill>
                  <a:srgbClr val="74849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748495"/>
                </a:solidFill>
                <a:latin typeface="Microsoft YaHei"/>
                <a:ea typeface="Microsoft YaHei"/>
                <a:cs typeface="Microsoft YaHei"/>
              </a:rPr>
              <a:t>以低成本方式择机改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1500" b="0" i="0">
                <a:solidFill>
                  <a:srgbClr val="74849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748495"/>
                </a:solidFill>
                <a:latin typeface="Microsoft YaHei"/>
                <a:ea typeface="Microsoft YaHei"/>
                <a:cs typeface="Microsoft YaHei"/>
              </a:rPr>
              <a:t>善体验</a:t>
            </a:r>
          </a:p>
        </p:txBody>
      </p:sp>
      <p:sp>
        <p:nvSpPr>
          <p:cNvPr id="39" name="quadrant-2-detail-region-metric-0">
            <a:extLst xmlns:a="http://schemas.openxmlformats.org/drawingml/2006/main">
              <a:ext uri="{FF2B5EF4-FFF2-40B4-BE49-F238E27FC236}">
                <a16:creationId xmlns:a16="http://schemas.microsoft.com/office/drawing/2014/main" id="{6252B06F-ACED-44EA-9050-4B3DCAE8B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28825" y="5135766"/>
            <a:ext cx="866775" cy="2604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00" b="1" i="0">
                <a:solidFill>
                  <a:srgbClr val="3B68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1" i="0">
                <a:solidFill>
                  <a:srgbClr val="3B68AB"/>
                </a:solidFill>
                <a:latin typeface="Microsoft YaHei"/>
                <a:ea typeface="Microsoft YaHei"/>
                <a:cs typeface="Microsoft YaHei"/>
              </a:rPr>
              <a:t>季度</a:t>
            </a:r>
          </a:p>
        </p:txBody>
      </p:sp>
      <p:sp>
        <p:nvSpPr>
          <p:cNvPr id="40" name="quadrant-2-detail-region-metric-0-label">
            <a:extLst xmlns:a="http://schemas.openxmlformats.org/drawingml/2006/main">
              <a:ext uri="{FF2B5EF4-FFF2-40B4-BE49-F238E27FC236}">
                <a16:creationId xmlns:a16="http://schemas.microsoft.com/office/drawing/2014/main" id="{46773D2B-D7D4-4960-9259-E26AF40AE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28825" y="5434308"/>
            <a:ext cx="866775" cy="2247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 i="0">
                <a:solidFill>
                  <a:srgbClr val="586B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586B80"/>
                </a:solidFill>
                <a:latin typeface="Microsoft YaHei"/>
                <a:ea typeface="Microsoft YaHei"/>
                <a:cs typeface="Microsoft YaHei"/>
              </a:rPr>
              <a:t>优化频率</a:t>
            </a:r>
          </a:p>
        </p:txBody>
      </p:sp>
      <p:sp>
        <p:nvSpPr>
          <p:cNvPr id="41" name="quadrant-2-detail-region-metric-1">
            <a:extLst xmlns:a="http://schemas.openxmlformats.org/drawingml/2006/main">
              <a:ext uri="{FF2B5EF4-FFF2-40B4-BE49-F238E27FC236}">
                <a16:creationId xmlns:a16="http://schemas.microsoft.com/office/drawing/2014/main" id="{577DA264-50F2-4887-87B1-4BF12606F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71800" y="5135766"/>
            <a:ext cx="866775" cy="2604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00" b="1" i="0">
                <a:solidFill>
                  <a:srgbClr val="3B68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1" i="0">
                <a:solidFill>
                  <a:srgbClr val="3B68AB"/>
                </a:solidFill>
                <a:latin typeface="Microsoft YaHei"/>
                <a:ea typeface="Microsoft YaHei"/>
                <a:cs typeface="Microsoft YaHei"/>
              </a:rPr>
              <a:t>常规</a:t>
            </a:r>
          </a:p>
        </p:txBody>
      </p:sp>
      <p:sp>
        <p:nvSpPr>
          <p:cNvPr id="42" name="quadrant-2-detail-region-metric-1-label">
            <a:extLst xmlns:a="http://schemas.openxmlformats.org/drawingml/2006/main">
              <a:ext uri="{FF2B5EF4-FFF2-40B4-BE49-F238E27FC236}">
                <a16:creationId xmlns:a16="http://schemas.microsoft.com/office/drawing/2014/main" id="{6BAA4357-D388-4735-9DD2-DBE9BD4E0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71800" y="5434308"/>
            <a:ext cx="866775" cy="2247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 i="0">
                <a:solidFill>
                  <a:srgbClr val="586B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586B80"/>
                </a:solidFill>
                <a:latin typeface="Microsoft YaHei"/>
                <a:ea typeface="Microsoft YaHei"/>
                <a:cs typeface="Microsoft YaHei"/>
              </a:rPr>
              <a:t>投入等级</a:t>
            </a:r>
          </a:p>
        </p:txBody>
      </p:sp>
      <p:sp>
        <p:nvSpPr>
          <p:cNvPr id="43" name="matrix-detail-title-3">
            <a:extLst xmlns:a="http://schemas.openxmlformats.org/drawingml/2006/main">
              <a:ext uri="{FF2B5EF4-FFF2-40B4-BE49-F238E27FC236}">
                <a16:creationId xmlns:a16="http://schemas.microsoft.com/office/drawing/2014/main" id="{BCFCA43D-C07D-447A-90C2-E32508787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24925" y="4286250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 i="0">
                <a:solidFill>
                  <a:srgbClr val="3E71B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3E71B5"/>
                </a:solidFill>
                <a:latin typeface="Microsoft YaHei"/>
                <a:ea typeface="Microsoft YaHei"/>
                <a:cs typeface="Microsoft YaHei"/>
              </a:rPr>
              <a:t>审慎评估方案</a:t>
            </a:r>
          </a:p>
        </p:txBody>
      </p:sp>
      <p:sp>
        <p:nvSpPr>
          <p:cNvPr id="44" name="matrix-detail-body-3">
            <a:extLst xmlns:a="http://schemas.openxmlformats.org/drawingml/2006/main">
              <a:ext uri="{FF2B5EF4-FFF2-40B4-BE49-F238E27FC236}">
                <a16:creationId xmlns:a16="http://schemas.microsoft.com/office/drawing/2014/main" id="{2006BDCA-E27D-4BFF-B95C-2460C65E7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24925" y="4552950"/>
            <a:ext cx="2571750" cy="2437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500" b="0" i="0">
                <a:solidFill>
                  <a:srgbClr val="74849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748495"/>
                </a:solidFill>
                <a:latin typeface="Microsoft YaHei"/>
                <a:ea typeface="Microsoft YaHei"/>
                <a:cs typeface="Microsoft YaHei"/>
              </a:rPr>
              <a:t>投入前验证收益与复用边界</a:t>
            </a:r>
          </a:p>
        </p:txBody>
      </p:sp>
      <p:sp>
        <p:nvSpPr>
          <p:cNvPr id="45" name="quadrant-3-detail-region-metric-0">
            <a:extLst xmlns:a="http://schemas.openxmlformats.org/drawingml/2006/main">
              <a:ext uri="{FF2B5EF4-FFF2-40B4-BE49-F238E27FC236}">
                <a16:creationId xmlns:a16="http://schemas.microsoft.com/office/drawing/2014/main" id="{B3232E1A-7150-4C74-BB01-81C49BB9B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24925" y="4891983"/>
            <a:ext cx="1247775" cy="2604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00" b="1" i="0">
                <a:solidFill>
                  <a:srgbClr val="3B68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1" i="0">
                <a:solidFill>
                  <a:srgbClr val="3B68AB"/>
                </a:solidFill>
                <a:latin typeface="Microsoft YaHei"/>
                <a:ea typeface="Microsoft YaHei"/>
                <a:cs typeface="Microsoft YaHei"/>
              </a:rPr>
              <a:t>1月</a:t>
            </a:r>
          </a:p>
        </p:txBody>
      </p:sp>
      <p:sp>
        <p:nvSpPr>
          <p:cNvPr id="46" name="quadrant-3-detail-region-metric-0-label">
            <a:extLst xmlns:a="http://schemas.openxmlformats.org/drawingml/2006/main">
              <a:ext uri="{FF2B5EF4-FFF2-40B4-BE49-F238E27FC236}">
                <a16:creationId xmlns:a16="http://schemas.microsoft.com/office/drawing/2014/main" id="{F235AAC5-715D-4E23-B203-9EC449915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24925" y="5190534"/>
            <a:ext cx="1247775" cy="2247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 i="0">
                <a:solidFill>
                  <a:srgbClr val="586B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586B80"/>
                </a:solidFill>
                <a:latin typeface="Microsoft YaHei"/>
                <a:ea typeface="Microsoft YaHei"/>
                <a:cs typeface="Microsoft YaHei"/>
              </a:rPr>
              <a:t>评估周期</a:t>
            </a:r>
          </a:p>
        </p:txBody>
      </p:sp>
      <p:sp>
        <p:nvSpPr>
          <p:cNvPr id="47" name="quadrant-3-detail-region-metric-1">
            <a:extLst xmlns:a="http://schemas.openxmlformats.org/drawingml/2006/main">
              <a:ext uri="{FF2B5EF4-FFF2-40B4-BE49-F238E27FC236}">
                <a16:creationId xmlns:a16="http://schemas.microsoft.com/office/drawing/2014/main" id="{286A588E-A2E7-4440-9B6E-A38E047C6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48900" y="4891983"/>
            <a:ext cx="1247775" cy="2604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00" b="1" i="0">
                <a:solidFill>
                  <a:srgbClr val="3B68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1" i="0">
                <a:solidFill>
                  <a:srgbClr val="3B68AB"/>
                </a:solidFill>
                <a:latin typeface="Microsoft YaHei"/>
                <a:ea typeface="Microsoft YaHei"/>
                <a:cs typeface="Microsoft YaHei"/>
              </a:rPr>
              <a:t>较高</a:t>
            </a:r>
          </a:p>
        </p:txBody>
      </p:sp>
      <p:sp>
        <p:nvSpPr>
          <p:cNvPr id="48" name="quadrant-3-detail-region-metric-1-label">
            <a:extLst xmlns:a="http://schemas.openxmlformats.org/drawingml/2006/main">
              <a:ext uri="{FF2B5EF4-FFF2-40B4-BE49-F238E27FC236}">
                <a16:creationId xmlns:a16="http://schemas.microsoft.com/office/drawing/2014/main" id="{5B2FA315-A0BD-4814-AD46-98CDCCE44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48900" y="5190534"/>
            <a:ext cx="1247775" cy="2247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 i="0">
                <a:solidFill>
                  <a:srgbClr val="586B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586B80"/>
                </a:solidFill>
                <a:latin typeface="Microsoft YaHei"/>
                <a:ea typeface="Microsoft YaHei"/>
                <a:cs typeface="Microsoft YaHei"/>
              </a:rPr>
              <a:t>风险等级</a:t>
            </a:r>
          </a:p>
        </p:txBody>
      </p:sp>
      <p:sp>
        <p:nvSpPr>
          <p:cNvPr id="49" name="matrix-high-band">
            <a:extLst xmlns:a="http://schemas.openxmlformats.org/drawingml/2006/main">
              <a:ext uri="{FF2B5EF4-FFF2-40B4-BE49-F238E27FC236}">
                <a16:creationId xmlns:a16="http://schemas.microsoft.com/office/drawing/2014/main" id="{699254C1-CDBE-41A0-876E-BF651D816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7225" y="1752600"/>
            <a:ext cx="1200150" cy="2038350"/>
          </a:xfrm>
          <a:prstGeom xmlns:a="http://schemas.openxmlformats.org/drawingml/2006/main" prst="roundRect">
            <a:avLst>
              <a:gd name="adj" fmla="val 6349"/>
            </a:avLst>
          </a:prstGeom>
          <a:gradFill xmlns:a="http://schemas.openxmlformats.org/drawingml/2006/main">
            <a:gsLst>
              <a:gs pos="0">
                <a:srgbClr val="4F89C3">
                  <a:alpha val="80000"/>
                </a:srgbClr>
              </a:gs>
              <a:gs pos="100000">
                <a:srgbClr val="609ACF">
                  <a:alpha val="61000"/>
                </a:srgbClr>
              </a:gs>
            </a:gsLst>
            <a:lin ang="10800000"/>
          </a:gradFill>
          <a:ln xmlns:a="http://schemas.openxmlformats.org/drawingml/2006/main" w="9525">
            <a:solidFill>
              <a:srgbClr val="FFFFFF">
                <a:alpha val="52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50" name="matrix-high-band-title">
            <a:extLst xmlns:a="http://schemas.openxmlformats.org/drawingml/2006/main">
              <a:ext uri="{FF2B5EF4-FFF2-40B4-BE49-F238E27FC236}">
                <a16:creationId xmlns:a16="http://schemas.microsoft.com/office/drawing/2014/main" id="{8762CD4D-0B3E-46A1-AD1A-02839D402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3900" y="2085975"/>
            <a:ext cx="1066800" cy="2247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业务价值高</a:t>
            </a:r>
          </a:p>
        </p:txBody>
      </p:sp>
      <p:pic>
        <p:nvPicPr>
          <p:cNvPr id="1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3a334ae5f1419f">
            <a:extLst>
              <a:ext uri="{96DAC541-7B7A-43D3-8B79-37D633B846F1}">
                <asvg:svgBlip xmlns:asvg="http://schemas.microsoft.com/office/drawing/2016/SVG/main" r:embed="R57d8465e2a7f464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42975" y="2914650"/>
            <a:ext cx="628650" cy="628650"/>
          </a:xfrm>
          <a:prstGeom xmlns:a="http://schemas.openxmlformats.org/drawingml/2006/main" prst="rect">
            <a:avLst/>
          </a:prstGeom>
        </p:spPr>
      </p:pic>
      <p:sp>
        <p:nvSpPr>
          <p:cNvPr id="52" name="matrix-low-band">
            <a:extLst xmlns:a="http://schemas.openxmlformats.org/drawingml/2006/main">
              <a:ext uri="{FF2B5EF4-FFF2-40B4-BE49-F238E27FC236}">
                <a16:creationId xmlns:a16="http://schemas.microsoft.com/office/drawing/2014/main" id="{ABB20691-ECDE-4C18-AF4B-5D6DD181C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7225" y="4057650"/>
            <a:ext cx="1200150" cy="2038350"/>
          </a:xfrm>
          <a:prstGeom xmlns:a="http://schemas.openxmlformats.org/drawingml/2006/main" prst="roundRect">
            <a:avLst>
              <a:gd name="adj" fmla="val 6349"/>
            </a:avLst>
          </a:prstGeom>
          <a:gradFill xmlns:a="http://schemas.openxmlformats.org/drawingml/2006/main">
            <a:gsLst>
              <a:gs pos="0">
                <a:srgbClr val="3A65AE">
                  <a:alpha val="82000"/>
                </a:srgbClr>
              </a:gs>
              <a:gs pos="100000">
                <a:srgbClr val="2F5297">
                  <a:alpha val="69000"/>
                </a:srgbClr>
              </a:gs>
            </a:gsLst>
            <a:lin ang="10800000"/>
          </a:gradFill>
          <a:ln xmlns:a="http://schemas.openxmlformats.org/drawingml/2006/main" w="9525">
            <a:solidFill>
              <a:srgbClr val="FFFFFF">
                <a:alpha val="52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53" name="matrix-low-band-title">
            <a:extLst xmlns:a="http://schemas.openxmlformats.org/drawingml/2006/main">
              <a:ext uri="{FF2B5EF4-FFF2-40B4-BE49-F238E27FC236}">
                <a16:creationId xmlns:a16="http://schemas.microsoft.com/office/drawing/2014/main" id="{C3DBE5A0-2E68-4512-B9C0-871D54B52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3900" y="4391025"/>
            <a:ext cx="1066800" cy="2247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业务价值低</a:t>
            </a:r>
          </a:p>
        </p:txBody>
      </p:sp>
      <p:pic>
        <p:nvPicPr>
          <p:cNvPr id="1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23e96acf014f39">
            <a:extLst>
              <a:ext uri="{96DAC541-7B7A-43D3-8B79-37D633B846F1}">
                <asvg:svgBlip xmlns:asvg="http://schemas.microsoft.com/office/drawing/2016/SVG/main" r:embed="R8e648fe3d2df40e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942975" y="5219700"/>
            <a:ext cx="628650" cy="628650"/>
          </a:xfrm>
          <a:prstGeom xmlns:a="http://schemas.openxmlformats.org/drawingml/2006/main" prst="rect">
            <a:avLst/>
          </a:prstGeom>
        </p:spPr>
      </p:pic>
      <p:sp>
        <p:nvSpPr>
          <p:cNvPr id="55" name="matrix-x-axis">
            <a:extLst xmlns:a="http://schemas.openxmlformats.org/drawingml/2006/main">
              <a:ext uri="{FF2B5EF4-FFF2-40B4-BE49-F238E27FC236}">
                <a16:creationId xmlns:a16="http://schemas.microsoft.com/office/drawing/2014/main" id="{8F54BDE6-2E2E-44B0-87E6-1845D7249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28825" y="3924300"/>
            <a:ext cx="8134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F91BA"/>
            </a:solidFill>
            <a:prstDash val="solid"/>
          </a:ln>
        </p:spPr>
      </p:sp>
      <p:sp>
        <p:nvSpPr>
          <p:cNvPr id="56" name="matrix-x-low-arrow">
            <a:extLst xmlns:a="http://schemas.openxmlformats.org/drawingml/2006/main">
              <a:ext uri="{FF2B5EF4-FFF2-40B4-BE49-F238E27FC236}">
                <a16:creationId xmlns:a16="http://schemas.microsoft.com/office/drawing/2014/main" id="{B0B30C28-67FC-42CC-94BE-A1D51BBCD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28825" y="3859511"/>
            <a:ext cx="123825" cy="129569"/>
          </a:xfrm>
          <a:custGeom xmlns:a="http://schemas.openxmlformats.org/drawingml/2006/main">
            <a:pathLst>
              <a:path w="123825" h="129569">
                <a:moveTo>
                  <a:pt x="0" y="64789"/>
                </a:moveTo>
                <a:lnTo>
                  <a:pt x="11411" y="58645"/>
                </a:lnTo>
                <a:lnTo>
                  <a:pt x="22812" y="52502"/>
                </a:lnTo>
                <a:lnTo>
                  <a:pt x="34223" y="46358"/>
                </a:lnTo>
                <a:lnTo>
                  <a:pt x="45634" y="40215"/>
                </a:lnTo>
                <a:lnTo>
                  <a:pt x="57045" y="34071"/>
                </a:lnTo>
                <a:lnTo>
                  <a:pt x="68447" y="27927"/>
                </a:lnTo>
                <a:lnTo>
                  <a:pt x="79858" y="21784"/>
                </a:lnTo>
                <a:lnTo>
                  <a:pt x="91269" y="15640"/>
                </a:lnTo>
                <a:lnTo>
                  <a:pt x="102670" y="9496"/>
                </a:lnTo>
                <a:lnTo>
                  <a:pt x="114081" y="3353"/>
                </a:lnTo>
                <a:lnTo>
                  <a:pt x="123825" y="0"/>
                </a:lnTo>
                <a:lnTo>
                  <a:pt x="123825" y="12954"/>
                </a:lnTo>
                <a:lnTo>
                  <a:pt x="123825" y="25918"/>
                </a:lnTo>
                <a:lnTo>
                  <a:pt x="123825" y="38872"/>
                </a:lnTo>
                <a:lnTo>
                  <a:pt x="123825" y="51826"/>
                </a:lnTo>
                <a:lnTo>
                  <a:pt x="123825" y="64789"/>
                </a:lnTo>
                <a:lnTo>
                  <a:pt x="123825" y="77743"/>
                </a:lnTo>
                <a:lnTo>
                  <a:pt x="123825" y="90697"/>
                </a:lnTo>
                <a:lnTo>
                  <a:pt x="123825" y="103651"/>
                </a:lnTo>
                <a:lnTo>
                  <a:pt x="123825" y="116615"/>
                </a:lnTo>
                <a:lnTo>
                  <a:pt x="123825" y="129569"/>
                </a:lnTo>
                <a:lnTo>
                  <a:pt x="114081" y="126216"/>
                </a:lnTo>
                <a:lnTo>
                  <a:pt x="102670" y="120072"/>
                </a:lnTo>
                <a:lnTo>
                  <a:pt x="91269" y="113929"/>
                </a:lnTo>
                <a:lnTo>
                  <a:pt x="79858" y="107785"/>
                </a:lnTo>
                <a:lnTo>
                  <a:pt x="68447" y="101641"/>
                </a:lnTo>
                <a:lnTo>
                  <a:pt x="57045" y="95498"/>
                </a:lnTo>
                <a:lnTo>
                  <a:pt x="45634" y="89354"/>
                </a:lnTo>
                <a:lnTo>
                  <a:pt x="34223" y="83210"/>
                </a:lnTo>
                <a:lnTo>
                  <a:pt x="22812" y="77067"/>
                </a:lnTo>
                <a:lnTo>
                  <a:pt x="11411" y="70923"/>
                </a:lnTo>
                <a:lnTo>
                  <a:pt x="0" y="64789"/>
                </a:lnTo>
                <a:close/>
              </a:path>
            </a:pathLst>
          </a:custGeom>
          <a:solidFill xmlns:a="http://schemas.openxmlformats.org/drawingml/2006/main">
            <a:srgbClr val="6F91BA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7" name="matrix-x-high-arrow">
            <a:extLst xmlns:a="http://schemas.openxmlformats.org/drawingml/2006/main">
              <a:ext uri="{FF2B5EF4-FFF2-40B4-BE49-F238E27FC236}">
                <a16:creationId xmlns:a16="http://schemas.microsoft.com/office/drawing/2014/main" id="{6C285CA4-8946-4F5B-8E79-6409146F3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39350" y="3859511"/>
            <a:ext cx="123825" cy="129569"/>
          </a:xfrm>
          <a:custGeom xmlns:a="http://schemas.openxmlformats.org/drawingml/2006/main">
            <a:pathLst>
              <a:path w="123825" h="129569">
                <a:moveTo>
                  <a:pt x="123825" y="64789"/>
                </a:moveTo>
                <a:lnTo>
                  <a:pt x="112414" y="58645"/>
                </a:lnTo>
                <a:lnTo>
                  <a:pt x="101013" y="52502"/>
                </a:lnTo>
                <a:lnTo>
                  <a:pt x="89602" y="46358"/>
                </a:lnTo>
                <a:lnTo>
                  <a:pt x="78191" y="40215"/>
                </a:lnTo>
                <a:lnTo>
                  <a:pt x="66780" y="34071"/>
                </a:lnTo>
                <a:lnTo>
                  <a:pt x="55378" y="27927"/>
                </a:lnTo>
                <a:lnTo>
                  <a:pt x="43967" y="21784"/>
                </a:lnTo>
                <a:lnTo>
                  <a:pt x="32556" y="15640"/>
                </a:lnTo>
                <a:lnTo>
                  <a:pt x="21155" y="9496"/>
                </a:lnTo>
                <a:lnTo>
                  <a:pt x="9744" y="3353"/>
                </a:lnTo>
                <a:lnTo>
                  <a:pt x="0" y="0"/>
                </a:lnTo>
                <a:lnTo>
                  <a:pt x="0" y="12954"/>
                </a:lnTo>
                <a:lnTo>
                  <a:pt x="0" y="25918"/>
                </a:lnTo>
                <a:lnTo>
                  <a:pt x="0" y="38872"/>
                </a:lnTo>
                <a:lnTo>
                  <a:pt x="0" y="51826"/>
                </a:lnTo>
                <a:lnTo>
                  <a:pt x="0" y="64789"/>
                </a:lnTo>
                <a:lnTo>
                  <a:pt x="0" y="77743"/>
                </a:lnTo>
                <a:lnTo>
                  <a:pt x="0" y="90697"/>
                </a:lnTo>
                <a:lnTo>
                  <a:pt x="0" y="103651"/>
                </a:lnTo>
                <a:lnTo>
                  <a:pt x="0" y="116615"/>
                </a:lnTo>
                <a:lnTo>
                  <a:pt x="0" y="129569"/>
                </a:lnTo>
                <a:lnTo>
                  <a:pt x="9744" y="126216"/>
                </a:lnTo>
                <a:lnTo>
                  <a:pt x="21155" y="120072"/>
                </a:lnTo>
                <a:lnTo>
                  <a:pt x="32556" y="113929"/>
                </a:lnTo>
                <a:lnTo>
                  <a:pt x="43967" y="107785"/>
                </a:lnTo>
                <a:lnTo>
                  <a:pt x="55378" y="101641"/>
                </a:lnTo>
                <a:lnTo>
                  <a:pt x="66780" y="95498"/>
                </a:lnTo>
                <a:lnTo>
                  <a:pt x="78191" y="89354"/>
                </a:lnTo>
                <a:lnTo>
                  <a:pt x="89602" y="83210"/>
                </a:lnTo>
                <a:lnTo>
                  <a:pt x="101013" y="77067"/>
                </a:lnTo>
                <a:lnTo>
                  <a:pt x="112414" y="70923"/>
                </a:lnTo>
                <a:lnTo>
                  <a:pt x="123825" y="64789"/>
                </a:lnTo>
                <a:close/>
              </a:path>
            </a:pathLst>
          </a:custGeom>
          <a:solidFill xmlns:a="http://schemas.openxmlformats.org/drawingml/2006/main">
            <a:srgbClr val="6F91BA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8" name="matrix-y-axis">
            <a:extLst xmlns:a="http://schemas.openxmlformats.org/drawingml/2006/main">
              <a:ext uri="{FF2B5EF4-FFF2-40B4-BE49-F238E27FC236}">
                <a16:creationId xmlns:a16="http://schemas.microsoft.com/office/drawing/2014/main" id="{4BC00001-60BD-49D4-9E9F-6D295553B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0" y="1962150"/>
            <a:ext cx="0" cy="3924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F91BA"/>
            </a:solidFill>
            <a:prstDash val="solid"/>
          </a:ln>
        </p:spPr>
      </p:sp>
      <p:sp>
        <p:nvSpPr>
          <p:cNvPr id="59" name="matrix-y-high-arrow">
            <a:extLst xmlns:a="http://schemas.openxmlformats.org/drawingml/2006/main">
              <a:ext uri="{FF2B5EF4-FFF2-40B4-BE49-F238E27FC236}">
                <a16:creationId xmlns:a16="http://schemas.microsoft.com/office/drawing/2014/main" id="{21E226E7-476F-4964-BB94-F31DDD431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31211" y="1962150"/>
            <a:ext cx="129569" cy="123825"/>
          </a:xfrm>
          <a:custGeom xmlns:a="http://schemas.openxmlformats.org/drawingml/2006/main">
            <a:pathLst>
              <a:path w="129569" h="123825">
                <a:moveTo>
                  <a:pt x="64789" y="0"/>
                </a:moveTo>
                <a:lnTo>
                  <a:pt x="58645" y="11411"/>
                </a:lnTo>
                <a:lnTo>
                  <a:pt x="52502" y="22812"/>
                </a:lnTo>
                <a:lnTo>
                  <a:pt x="46358" y="34223"/>
                </a:lnTo>
                <a:lnTo>
                  <a:pt x="40215" y="45634"/>
                </a:lnTo>
                <a:lnTo>
                  <a:pt x="34071" y="57045"/>
                </a:lnTo>
                <a:lnTo>
                  <a:pt x="27927" y="68447"/>
                </a:lnTo>
                <a:lnTo>
                  <a:pt x="21784" y="79858"/>
                </a:lnTo>
                <a:lnTo>
                  <a:pt x="15640" y="91269"/>
                </a:lnTo>
                <a:lnTo>
                  <a:pt x="9496" y="102670"/>
                </a:lnTo>
                <a:lnTo>
                  <a:pt x="3353" y="114081"/>
                </a:lnTo>
                <a:lnTo>
                  <a:pt x="0" y="123825"/>
                </a:lnTo>
                <a:lnTo>
                  <a:pt x="12954" y="123825"/>
                </a:lnTo>
                <a:lnTo>
                  <a:pt x="25918" y="123825"/>
                </a:lnTo>
                <a:lnTo>
                  <a:pt x="38872" y="123825"/>
                </a:lnTo>
                <a:lnTo>
                  <a:pt x="51826" y="123825"/>
                </a:lnTo>
                <a:lnTo>
                  <a:pt x="64789" y="123825"/>
                </a:lnTo>
                <a:lnTo>
                  <a:pt x="77743" y="123825"/>
                </a:lnTo>
                <a:lnTo>
                  <a:pt x="90697" y="123825"/>
                </a:lnTo>
                <a:lnTo>
                  <a:pt x="103651" y="123825"/>
                </a:lnTo>
                <a:lnTo>
                  <a:pt x="116615" y="123825"/>
                </a:lnTo>
                <a:lnTo>
                  <a:pt x="129569" y="123825"/>
                </a:lnTo>
                <a:lnTo>
                  <a:pt x="126216" y="114081"/>
                </a:lnTo>
                <a:lnTo>
                  <a:pt x="120072" y="102670"/>
                </a:lnTo>
                <a:lnTo>
                  <a:pt x="113929" y="91269"/>
                </a:lnTo>
                <a:lnTo>
                  <a:pt x="107785" y="79858"/>
                </a:lnTo>
                <a:lnTo>
                  <a:pt x="101641" y="68447"/>
                </a:lnTo>
                <a:lnTo>
                  <a:pt x="95498" y="57045"/>
                </a:lnTo>
                <a:lnTo>
                  <a:pt x="89354" y="45634"/>
                </a:lnTo>
                <a:lnTo>
                  <a:pt x="83210" y="34223"/>
                </a:lnTo>
                <a:lnTo>
                  <a:pt x="77067" y="22812"/>
                </a:lnTo>
                <a:lnTo>
                  <a:pt x="70923" y="11411"/>
                </a:lnTo>
                <a:lnTo>
                  <a:pt x="64789" y="0"/>
                </a:lnTo>
                <a:close/>
              </a:path>
            </a:pathLst>
          </a:custGeom>
          <a:solidFill xmlns:a="http://schemas.openxmlformats.org/drawingml/2006/main">
            <a:srgbClr val="6F91BA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60" name="matrix-y-low-arrow">
            <a:extLst xmlns:a="http://schemas.openxmlformats.org/drawingml/2006/main">
              <a:ext uri="{FF2B5EF4-FFF2-40B4-BE49-F238E27FC236}">
                <a16:creationId xmlns:a16="http://schemas.microsoft.com/office/drawing/2014/main" id="{028C177C-B124-473A-B56D-DD51D53CF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31211" y="5762625"/>
            <a:ext cx="129569" cy="123825"/>
          </a:xfrm>
          <a:custGeom xmlns:a="http://schemas.openxmlformats.org/drawingml/2006/main">
            <a:pathLst>
              <a:path w="129569" h="123825">
                <a:moveTo>
                  <a:pt x="64789" y="123825"/>
                </a:moveTo>
                <a:lnTo>
                  <a:pt x="58645" y="112414"/>
                </a:lnTo>
                <a:lnTo>
                  <a:pt x="52502" y="101013"/>
                </a:lnTo>
                <a:lnTo>
                  <a:pt x="46358" y="89602"/>
                </a:lnTo>
                <a:lnTo>
                  <a:pt x="40215" y="78191"/>
                </a:lnTo>
                <a:lnTo>
                  <a:pt x="34071" y="66780"/>
                </a:lnTo>
                <a:lnTo>
                  <a:pt x="27927" y="55378"/>
                </a:lnTo>
                <a:lnTo>
                  <a:pt x="21784" y="43967"/>
                </a:lnTo>
                <a:lnTo>
                  <a:pt x="15640" y="32556"/>
                </a:lnTo>
                <a:lnTo>
                  <a:pt x="9496" y="21155"/>
                </a:lnTo>
                <a:lnTo>
                  <a:pt x="3353" y="9744"/>
                </a:lnTo>
                <a:lnTo>
                  <a:pt x="0" y="0"/>
                </a:lnTo>
                <a:lnTo>
                  <a:pt x="12954" y="0"/>
                </a:lnTo>
                <a:lnTo>
                  <a:pt x="25918" y="0"/>
                </a:lnTo>
                <a:lnTo>
                  <a:pt x="38872" y="0"/>
                </a:lnTo>
                <a:lnTo>
                  <a:pt x="51826" y="0"/>
                </a:lnTo>
                <a:lnTo>
                  <a:pt x="64789" y="0"/>
                </a:lnTo>
                <a:lnTo>
                  <a:pt x="77743" y="0"/>
                </a:lnTo>
                <a:lnTo>
                  <a:pt x="90697" y="0"/>
                </a:lnTo>
                <a:lnTo>
                  <a:pt x="103651" y="0"/>
                </a:lnTo>
                <a:lnTo>
                  <a:pt x="116615" y="0"/>
                </a:lnTo>
                <a:lnTo>
                  <a:pt x="129569" y="0"/>
                </a:lnTo>
                <a:lnTo>
                  <a:pt x="126216" y="9744"/>
                </a:lnTo>
                <a:lnTo>
                  <a:pt x="120072" y="21155"/>
                </a:lnTo>
                <a:lnTo>
                  <a:pt x="113929" y="32556"/>
                </a:lnTo>
                <a:lnTo>
                  <a:pt x="107785" y="43967"/>
                </a:lnTo>
                <a:lnTo>
                  <a:pt x="101641" y="55378"/>
                </a:lnTo>
                <a:lnTo>
                  <a:pt x="95498" y="66780"/>
                </a:lnTo>
                <a:lnTo>
                  <a:pt x="89354" y="78191"/>
                </a:lnTo>
                <a:lnTo>
                  <a:pt x="83210" y="89602"/>
                </a:lnTo>
                <a:lnTo>
                  <a:pt x="77067" y="101013"/>
                </a:lnTo>
                <a:lnTo>
                  <a:pt x="70923" y="112414"/>
                </a:lnTo>
                <a:lnTo>
                  <a:pt x="64789" y="123825"/>
                </a:lnTo>
                <a:close/>
              </a:path>
            </a:pathLst>
          </a:custGeom>
          <a:solidFill xmlns:a="http://schemas.openxmlformats.org/drawingml/2006/main">
            <a:srgbClr val="6F91BA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61" name="matrix-origin">
            <a:extLst xmlns:a="http://schemas.openxmlformats.org/drawingml/2006/main">
              <a:ext uri="{FF2B5EF4-FFF2-40B4-BE49-F238E27FC236}">
                <a16:creationId xmlns:a16="http://schemas.microsoft.com/office/drawing/2014/main" id="{05E9C1A9-E29F-40A4-B126-388B6692C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29325" y="38576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6F91BA"/>
            </a:solidFill>
            <a:prstDash val="solid"/>
          </a:ln>
        </p:spPr>
      </p:sp>
      <p:sp>
        <p:nvSpPr>
          <p:cNvPr id="62" name="axis-x-low">
            <a:extLst xmlns:a="http://schemas.openxmlformats.org/drawingml/2006/main">
              <a:ext uri="{FF2B5EF4-FFF2-40B4-BE49-F238E27FC236}">
                <a16:creationId xmlns:a16="http://schemas.microsoft.com/office/drawing/2014/main" id="{18F3C26F-29D8-4657-A357-CD178D850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105025" y="4000500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637B9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637B96"/>
                </a:solidFill>
                <a:latin typeface="Microsoft YaHei"/>
                <a:ea typeface="Microsoft YaHei"/>
                <a:cs typeface="Microsoft YaHei"/>
              </a:rPr>
              <a:t>实施难度低</a:t>
            </a:r>
          </a:p>
        </p:txBody>
      </p:sp>
      <p:sp>
        <p:nvSpPr>
          <p:cNvPr id="63" name="axis-x-high">
            <a:extLst xmlns:a="http://schemas.openxmlformats.org/drawingml/2006/main">
              <a:ext uri="{FF2B5EF4-FFF2-40B4-BE49-F238E27FC236}">
                <a16:creationId xmlns:a16="http://schemas.microsoft.com/office/drawing/2014/main" id="{B7BD9290-E80C-4E0E-A567-09BB22FBD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134475" y="4000500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637B9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637B96"/>
                </a:solidFill>
                <a:latin typeface="Microsoft YaHei"/>
                <a:ea typeface="Microsoft YaHei"/>
                <a:cs typeface="Microsoft YaHei"/>
              </a:rPr>
              <a:t>实施难度高</a:t>
            </a:r>
          </a:p>
        </p:txBody>
      </p:sp>
      <p:sp>
        <p:nvSpPr>
          <p:cNvPr id="64" name="axis-y-high">
            <a:extLst xmlns:a="http://schemas.openxmlformats.org/drawingml/2006/main">
              <a:ext uri="{FF2B5EF4-FFF2-40B4-BE49-F238E27FC236}">
                <a16:creationId xmlns:a16="http://schemas.microsoft.com/office/drawing/2014/main" id="{E16FBA5A-7EA3-4EEE-BAB4-65F810D91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19750" y="1676400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637B9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637B96"/>
                </a:solidFill>
                <a:latin typeface="Microsoft YaHei"/>
                <a:ea typeface="Microsoft YaHei"/>
                <a:cs typeface="Microsoft YaHei"/>
              </a:rPr>
              <a:t>业务价值高</a:t>
            </a:r>
          </a:p>
        </p:txBody>
      </p:sp>
      <p:sp>
        <p:nvSpPr>
          <p:cNvPr id="65" name="axis-y-low">
            <a:extLst xmlns:a="http://schemas.openxmlformats.org/drawingml/2006/main">
              <a:ext uri="{FF2B5EF4-FFF2-40B4-BE49-F238E27FC236}">
                <a16:creationId xmlns:a16="http://schemas.microsoft.com/office/drawing/2014/main" id="{3C75314D-6AFF-4CA3-B37F-60B91DAEA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19750" y="6000750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637B9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637B96"/>
                </a:solidFill>
                <a:latin typeface="Microsoft YaHei"/>
                <a:ea typeface="Microsoft YaHei"/>
                <a:cs typeface="Microsoft YaHei"/>
              </a:rPr>
              <a:t>业务价值低</a:t>
            </a:r>
          </a:p>
        </p:txBody>
      </p:sp>
    </p:spTree>
    <p:extLst>
      <p:ext uri="{BB962C8B-B14F-4D97-AF65-F5344CB8AC3E}">
        <p14:creationId xmlns:p14="http://schemas.microsoft.com/office/powerpoint/2010/main" val="43915522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200025" dist="85725" dir="5400000">
              <a:srgbClr val="2F5EA8">
                <a:alpha val="14000"/>
              </a:srgbClr>
            </a:outerShdw>
          </a:effectLst>
        </a:effectStyle>
        <a:effectStyle>
          <a:effectLst>
            <a:outerShdw blurRad="171450" dist="76200" dir="5400000">
              <a:srgbClr val="264E80">
                <a:alpha val="10000"/>
              </a:srgbClr>
            </a:outerShdw>
          </a:effectLst>
        </a:effectStyle>
        <a:effectStyle>
          <a:effectLst>
            <a:outerShdw blurRad="171450" dist="76200" dir="5400000">
              <a:srgbClr val="1F497E">
                <a:alpha val="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2026-08-24T14:06:16.3940000Z</dcterms:created>
  <dcterms:modified xsi:type="dcterms:W3CDTF">2026-08-24T14:06:16.3950000Z</dcterms:modified>
</coreProperties>
</file>