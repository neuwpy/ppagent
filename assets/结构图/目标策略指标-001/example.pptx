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b1ddddaf1c94974" /><Relationship Type="http://schemas.openxmlformats.org/officeDocument/2006/relationships/extended-properties" Target="/docProps/app.xml" Id="R115fb2d402ce49e8" /><Relationship Type="http://schemas.openxmlformats.org/officeDocument/2006/relationships/officeDocument" Target="/ppt/presentation.xml" Id="Rae71df230c70403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35e933d5ad14b00"/>
  </p:sldMasterIdLst>
  <p:notesMasterIdLst>
    <p:notesMasterId xmlns:r="http://schemas.openxmlformats.org/officeDocument/2006/relationships" r:id="R2e82ba6c8b9f4822"/>
  </p:notesMasterIdLst>
  <p:sldIdLst>
    <p:sldId xmlns:r="http://schemas.openxmlformats.org/officeDocument/2006/relationships" id="256" r:id="R09111db948ed43e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4df047ad91b4e0c" /><Relationship Type="http://schemas.openxmlformats.org/officeDocument/2006/relationships/slideMaster" Target="/ppt/slideMasters/slideMaster1.xml" Id="Ra35e933d5ad14b00" /><Relationship Type="http://schemas.openxmlformats.org/officeDocument/2006/relationships/notesMaster" Target="/ppt/notesMasters/notesMaster1.xml" Id="R2e82ba6c8b9f4822" /><Relationship Type="http://schemas.openxmlformats.org/officeDocument/2006/relationships/presProps" Target="/ppt/presProps.xml" Id="Rd66aa33cdccf481f" /><Relationship Type="http://schemas.openxmlformats.org/officeDocument/2006/relationships/tableStyles" Target="/ppt/tableStyles.xml" Id="R1298a1d1d0af44ce" /><Relationship Type="http://schemas.openxmlformats.org/officeDocument/2006/relationships/slide" Target="/ppt/slides/slide1.xml" Id="R09111db948ed43e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0d15e376e47476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209550" dist="95250" dir="5400000">
              <a:srgbClr val="2F5EA8">
                <a:alpha val="8000"/>
              </a:srgbClr>
            </a:outerShdw>
          </a:effectLst>
        </a:effectStyle>
        <a:effectStyle>
          <a:effectLst>
            <a:outerShdw blurRad="133350" dist="57150" dir="5400000">
              <a:srgbClr val="2F5EA8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930b4eafe384f64" /><Relationship Type="http://schemas.openxmlformats.org/officeDocument/2006/relationships/notesMaster" Target="/ppt/notesMasters/notesMaster1.xml" Id="R24333b0db47d4b2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5d05a2aa494a6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b5bb822c14b4340" /><Relationship Type="http://schemas.openxmlformats.org/officeDocument/2006/relationships/slideLayout" Target="/ppt/slideLayouts/slideLayout1.xml" Id="R7a4ac13ce382438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a4ac13ce382438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209550" dist="95250" dir="5400000">
              <a:srgbClr val="2F5EA8">
                <a:alpha val="8000"/>
              </a:srgbClr>
            </a:outerShdw>
          </a:effectLst>
        </a:effectStyle>
        <a:effectStyle>
          <a:effectLst>
            <a:outerShdw blurRad="133350" dist="57150" dir="5400000">
              <a:srgbClr val="2F5EA8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003c7f39e540ae" /><Relationship Type="http://schemas.openxmlformats.org/officeDocument/2006/relationships/notesSlide" Target="/ppt/notesSlides/notesSlide1.xml" Id="R284636228087407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alignment-field-underlay">
            <a:extLst xmlns:a="http://schemas.openxmlformats.org/drawingml/2006/main">
              <a:ext uri="{FF2B5EF4-FFF2-40B4-BE49-F238E27FC236}">
                <a16:creationId xmlns:a16="http://schemas.microsoft.com/office/drawing/2014/main" id="{DB50511A-F596-4634-9B0E-A112384E7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28750" y="2609850"/>
            <a:ext cx="9334500" cy="35052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alignment-field">
            <a:extLst xmlns:a="http://schemas.openxmlformats.org/drawingml/2006/main">
              <a:ext uri="{FF2B5EF4-FFF2-40B4-BE49-F238E27FC236}">
                <a16:creationId xmlns:a16="http://schemas.microsoft.com/office/drawing/2014/main" id="{AFDB30BD-0597-410B-891C-06D61C3A2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28750" y="2543175"/>
            <a:ext cx="9334500" cy="35052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7FAFE"/>
          </a:solidFill>
          <a:ln xmlns:a="http://schemas.openxmlformats.org/drawingml/2006/main" w="9525">
            <a:solidFill>
              <a:srgbClr val="D3E2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3" name="goal-title">
            <a:extLst xmlns:a="http://schemas.openxmlformats.org/drawingml/2006/main">
              <a:ext uri="{FF2B5EF4-FFF2-40B4-BE49-F238E27FC236}">
                <a16:creationId xmlns:a16="http://schemas.microsoft.com/office/drawing/2014/main" id="{D224BC90-B85A-4AB8-AB29-B40961E3B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86000" y="1706166"/>
            <a:ext cx="7620000" cy="2986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建设稳定、可复用的智能汇报生产体系</a:t>
            </a:r>
          </a:p>
        </p:txBody>
      </p:sp>
      <p:sp>
        <p:nvSpPr>
          <p:cNvPr id="4" name="goal-body">
            <a:extLst xmlns:a="http://schemas.openxmlformats.org/drawingml/2006/main">
              <a:ext uri="{FF2B5EF4-FFF2-40B4-BE49-F238E27FC236}">
                <a16:creationId xmlns:a16="http://schemas.microsoft.com/office/drawing/2014/main" id="{A800589E-4E70-4B21-A076-3565643B6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86000" y="2100110"/>
            <a:ext cx="7620000" cy="213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0" i="0">
                <a:solidFill>
                  <a:srgbClr val="6075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0758D"/>
                </a:solidFill>
                <a:latin typeface="Microsoft YaHei"/>
                <a:ea typeface="Microsoft YaHei"/>
                <a:cs typeface="Microsoft YaHei"/>
              </a:rPr>
              <a:t>让固定场景中的演示文稿更可靠、更高效、更易维护</a:t>
            </a:r>
          </a:p>
        </p:txBody>
      </p:sp>
      <p:sp>
        <p:nvSpPr>
          <p:cNvPr id="5" name="alignment-accent">
            <a:extLst xmlns:a="http://schemas.openxmlformats.org/drawingml/2006/main">
              <a:ext uri="{FF2B5EF4-FFF2-40B4-BE49-F238E27FC236}">
                <a16:creationId xmlns:a16="http://schemas.microsoft.com/office/drawing/2014/main" id="{EDBD1F35-F5F9-44A6-841B-74D55FE50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28750" y="2543175"/>
            <a:ext cx="9334500" cy="66675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2F5EA8"/>
              </a:gs>
              <a:gs pos="72000">
                <a:srgbClr val="4C88E8"/>
              </a:gs>
              <a:gs pos="100000">
                <a:srgbClr val="78AEEF"/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6" name="metric-band-underlay">
            <a:extLst xmlns:a="http://schemas.openxmlformats.org/drawingml/2006/main">
              <a:ext uri="{FF2B5EF4-FFF2-40B4-BE49-F238E27FC236}">
                <a16:creationId xmlns:a16="http://schemas.microsoft.com/office/drawing/2014/main" id="{BEA475E7-E9E9-49BB-857C-7C685AC17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00200" y="4972050"/>
            <a:ext cx="8991600" cy="952500"/>
          </a:xfrm>
          <a:prstGeom xmlns:a="http://schemas.openxmlformats.org/drawingml/2006/main" prst="roundRect">
            <a:avLst>
              <a:gd name="adj" fmla="val 18000"/>
            </a:avLst>
          </a:prstGeom>
          <a:solidFill xmlns:a="http://schemas.openxmlformats.org/drawingml/2006/main">
            <a:srgbClr val="D6E5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trategy-1-order-disc">
            <a:extLst xmlns:a="http://schemas.openxmlformats.org/drawingml/2006/main">
              <a:ext uri="{FF2B5EF4-FFF2-40B4-BE49-F238E27FC236}">
                <a16:creationId xmlns:a16="http://schemas.microsoft.com/office/drawing/2014/main" id="{90025E72-FC69-4804-894C-F631A8FA1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7274" y="27527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F5FF"/>
          </a:solidFill>
          <a:ln xmlns:a="http://schemas.openxmlformats.org/drawingml/2006/main" w="9525">
            <a:solidFill>
              <a:srgbClr val="D5E5F8"/>
            </a:solidFill>
            <a:prstDash val="solid"/>
          </a:ln>
        </p:spPr>
      </p:sp>
      <p:sp>
        <p:nvSpPr>
          <p:cNvPr id="8" name="strategy-1-order-core">
            <a:extLst xmlns:a="http://schemas.openxmlformats.org/drawingml/2006/main">
              <a:ext uri="{FF2B5EF4-FFF2-40B4-BE49-F238E27FC236}">
                <a16:creationId xmlns:a16="http://schemas.microsoft.com/office/drawing/2014/main" id="{8B673163-CD1D-4A2B-B3C1-E9529828B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93949" y="28194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9" name="strategy-1-order">
            <a:extLst xmlns:a="http://schemas.openxmlformats.org/drawingml/2006/main">
              <a:ext uri="{FF2B5EF4-FFF2-40B4-BE49-F238E27FC236}">
                <a16:creationId xmlns:a16="http://schemas.microsoft.com/office/drawing/2014/main" id="{7F7C01D2-8FF6-428E-833D-112A83BEF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93949" y="28194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strategy-1-title">
            <a:extLst xmlns:a="http://schemas.openxmlformats.org/drawingml/2006/main">
              <a:ext uri="{FF2B5EF4-FFF2-40B4-BE49-F238E27FC236}">
                <a16:creationId xmlns:a16="http://schemas.microsoft.com/office/drawing/2014/main" id="{1556B8C9-FA2D-462C-88ED-ABBE3D936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71650" y="3452222"/>
            <a:ext cx="2425598" cy="2774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9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内容标准化</a:t>
            </a:r>
          </a:p>
        </p:txBody>
      </p:sp>
      <p:sp>
        <p:nvSpPr>
          <p:cNvPr id="11" name="strategy-1-body">
            <a:extLst xmlns:a="http://schemas.openxmlformats.org/drawingml/2006/main">
              <a:ext uri="{FF2B5EF4-FFF2-40B4-BE49-F238E27FC236}">
                <a16:creationId xmlns:a16="http://schemas.microsoft.com/office/drawing/2014/main" id="{2533B557-B106-4E0B-93A2-B844B622A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71650" y="3824888"/>
            <a:ext cx="2425598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40000"/>
              </a:lnSpc>
              <a:buNone/>
              <a:defRPr sz="1500" b="0" i="0">
                <a:solidFill>
                  <a:srgbClr val="4C5F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C5F75"/>
                </a:solidFill>
                <a:latin typeface="Microsoft YaHei"/>
                <a:ea typeface="Microsoft YaHei"/>
                <a:cs typeface="Microsoft YaHei"/>
              </a:rPr>
              <a:t>把原稿拆成稳定字段，保留</a:t>
            </a:r>
          </a:p>
          <a:p xmlns:a="http://schemas.openxmlformats.org/drawingml/2006/main">
            <a:pPr algn="ctr">
              <a:lnSpc>
                <a:spcPct val="140000"/>
              </a:lnSpc>
              <a:buNone/>
              <a:defRPr sz="1500" b="0" i="0">
                <a:solidFill>
                  <a:srgbClr val="4C5F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C5F75"/>
                </a:solidFill>
                <a:latin typeface="Microsoft YaHei"/>
                <a:ea typeface="Microsoft YaHei"/>
                <a:cs typeface="Microsoft YaHei"/>
              </a:rPr>
              <a:t>真实逻辑并控制每页信息密</a:t>
            </a:r>
          </a:p>
          <a:p xmlns:a="http://schemas.openxmlformats.org/drawingml/2006/main">
            <a:pPr algn="ctr">
              <a:lnSpc>
                <a:spcPct val="140000"/>
              </a:lnSpc>
              <a:buNone/>
              <a:defRPr sz="1500" b="0" i="0">
                <a:solidFill>
                  <a:srgbClr val="4C5F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C5F75"/>
                </a:solidFill>
                <a:latin typeface="Microsoft YaHei"/>
                <a:ea typeface="Microsoft YaHei"/>
                <a:cs typeface="Microsoft YaHei"/>
              </a:rPr>
              <a:t>度。</a:t>
            </a:r>
          </a:p>
        </p:txBody>
      </p:sp>
      <p:sp>
        <p:nvSpPr>
          <p:cNvPr id="12" name="strategy-2-divider">
            <a:extLst xmlns:a="http://schemas.openxmlformats.org/drawingml/2006/main">
              <a:ext uri="{FF2B5EF4-FFF2-40B4-BE49-F238E27FC236}">
                <a16:creationId xmlns:a16="http://schemas.microsoft.com/office/drawing/2014/main" id="{8CEABC0C-2F4F-4957-9FA4-A9FBFC3EE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40148" y="2838450"/>
            <a:ext cx="952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D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trategy-2-order-disc">
            <a:extLst xmlns:a="http://schemas.openxmlformats.org/drawingml/2006/main">
              <a:ext uri="{FF2B5EF4-FFF2-40B4-BE49-F238E27FC236}">
                <a16:creationId xmlns:a16="http://schemas.microsoft.com/office/drawing/2014/main" id="{802A9EB3-22AA-4ABF-8777-8F18F3DCB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38673" y="27527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F5FF"/>
          </a:solidFill>
          <a:ln xmlns:a="http://schemas.openxmlformats.org/drawingml/2006/main" w="9525">
            <a:solidFill>
              <a:srgbClr val="D5E5F8"/>
            </a:solidFill>
            <a:prstDash val="solid"/>
          </a:ln>
        </p:spPr>
      </p:sp>
      <p:sp>
        <p:nvSpPr>
          <p:cNvPr id="14" name="strategy-2-order-core">
            <a:extLst xmlns:a="http://schemas.openxmlformats.org/drawingml/2006/main">
              <a:ext uri="{FF2B5EF4-FFF2-40B4-BE49-F238E27FC236}">
                <a16:creationId xmlns:a16="http://schemas.microsoft.com/office/drawing/2014/main" id="{0D0E5963-3ABC-4982-96F5-8F3989905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348" y="28194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5" name="strategy-2-order">
            <a:extLst xmlns:a="http://schemas.openxmlformats.org/drawingml/2006/main">
              <a:ext uri="{FF2B5EF4-FFF2-40B4-BE49-F238E27FC236}">
                <a16:creationId xmlns:a16="http://schemas.microsoft.com/office/drawing/2014/main" id="{FD195566-C1C2-405F-952E-A0E7EEEA4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348" y="28194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6" name="strategy-2-title">
            <a:extLst xmlns:a="http://schemas.openxmlformats.org/drawingml/2006/main">
              <a:ext uri="{FF2B5EF4-FFF2-40B4-BE49-F238E27FC236}">
                <a16:creationId xmlns:a16="http://schemas.microsoft.com/office/drawing/2014/main" id="{092F8E4C-435D-4ACC-8117-EB0FA43E7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83048" y="3585572"/>
            <a:ext cx="2425751" cy="2774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9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视觉资产化</a:t>
            </a:r>
          </a:p>
        </p:txBody>
      </p:sp>
      <p:sp>
        <p:nvSpPr>
          <p:cNvPr id="17" name="strategy-2-body">
            <a:extLst xmlns:a="http://schemas.openxmlformats.org/drawingml/2006/main">
              <a:ext uri="{FF2B5EF4-FFF2-40B4-BE49-F238E27FC236}">
                <a16:creationId xmlns:a16="http://schemas.microsoft.com/office/drawing/2014/main" id="{C19393E8-12D1-4B32-8480-FD1143469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83048" y="3958238"/>
            <a:ext cx="2425751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40000"/>
              </a:lnSpc>
              <a:buNone/>
              <a:defRPr sz="1500" b="0" i="0">
                <a:solidFill>
                  <a:srgbClr val="4C5F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C5F75"/>
                </a:solidFill>
                <a:latin typeface="Microsoft YaHei"/>
                <a:ea typeface="Microsoft YaHei"/>
                <a:cs typeface="Microsoft YaHei"/>
              </a:rPr>
              <a:t>把常用逻辑固化为组件，统</a:t>
            </a:r>
          </a:p>
          <a:p xmlns:a="http://schemas.openxmlformats.org/drawingml/2006/main">
            <a:pPr algn="ctr">
              <a:lnSpc>
                <a:spcPct val="140000"/>
              </a:lnSpc>
              <a:buNone/>
              <a:defRPr sz="1500" b="0" i="0">
                <a:solidFill>
                  <a:srgbClr val="4C5F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C5F75"/>
                </a:solidFill>
                <a:latin typeface="Microsoft YaHei"/>
                <a:ea typeface="Microsoft YaHei"/>
                <a:cs typeface="Microsoft YaHei"/>
              </a:rPr>
              <a:t>一字号、版心与连接语法。</a:t>
            </a:r>
          </a:p>
        </p:txBody>
      </p:sp>
      <p:sp>
        <p:nvSpPr>
          <p:cNvPr id="18" name="strategy-3-divider">
            <a:extLst xmlns:a="http://schemas.openxmlformats.org/drawingml/2006/main">
              <a:ext uri="{FF2B5EF4-FFF2-40B4-BE49-F238E27FC236}">
                <a16:creationId xmlns:a16="http://schemas.microsoft.com/office/drawing/2014/main" id="{583970B9-552B-4E12-AE07-62FC9C6DF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51699" y="2838450"/>
            <a:ext cx="952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D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strategy-3-order-disc">
            <a:extLst xmlns:a="http://schemas.openxmlformats.org/drawingml/2006/main">
              <a:ext uri="{FF2B5EF4-FFF2-40B4-BE49-F238E27FC236}">
                <a16:creationId xmlns:a16="http://schemas.microsoft.com/office/drawing/2014/main" id="{0A42D6B4-4A60-4455-BAF0-CA6F02156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50223" y="27527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F5FF"/>
          </a:solidFill>
          <a:ln xmlns:a="http://schemas.openxmlformats.org/drawingml/2006/main" w="9525">
            <a:solidFill>
              <a:srgbClr val="D5E5F8"/>
            </a:solidFill>
            <a:prstDash val="solid"/>
          </a:ln>
        </p:spPr>
      </p:sp>
      <p:sp>
        <p:nvSpPr>
          <p:cNvPr id="20" name="strategy-3-order-core">
            <a:extLst xmlns:a="http://schemas.openxmlformats.org/drawingml/2006/main">
              <a:ext uri="{FF2B5EF4-FFF2-40B4-BE49-F238E27FC236}">
                <a16:creationId xmlns:a16="http://schemas.microsoft.com/office/drawing/2014/main" id="{F52E81A6-95D7-4E13-948F-D9CB6C18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16898" y="28194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21" name="strategy-3-order">
            <a:extLst xmlns:a="http://schemas.openxmlformats.org/drawingml/2006/main">
              <a:ext uri="{FF2B5EF4-FFF2-40B4-BE49-F238E27FC236}">
                <a16:creationId xmlns:a16="http://schemas.microsoft.com/office/drawing/2014/main" id="{DFD7404E-F764-41D4-AD7C-EA5A5DC1C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16898" y="28194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2" name="strategy-3-title">
            <a:extLst xmlns:a="http://schemas.openxmlformats.org/drawingml/2006/main">
              <a:ext uri="{FF2B5EF4-FFF2-40B4-BE49-F238E27FC236}">
                <a16:creationId xmlns:a16="http://schemas.microsoft.com/office/drawing/2014/main" id="{7ADD3FA3-5495-4841-938A-6749DE325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94599" y="3585572"/>
            <a:ext cx="2425598" cy="2774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9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生成工程化</a:t>
            </a:r>
          </a:p>
        </p:txBody>
      </p:sp>
      <p:sp>
        <p:nvSpPr>
          <p:cNvPr id="23" name="strategy-3-body">
            <a:extLst xmlns:a="http://schemas.openxmlformats.org/drawingml/2006/main">
              <a:ext uri="{FF2B5EF4-FFF2-40B4-BE49-F238E27FC236}">
                <a16:creationId xmlns:a16="http://schemas.microsoft.com/office/drawing/2014/main" id="{05087109-ED07-488F-BC68-7EA0E421B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94599" y="3958238"/>
            <a:ext cx="2425598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40000"/>
              </a:lnSpc>
              <a:buNone/>
              <a:defRPr sz="1500" b="0" i="0">
                <a:solidFill>
                  <a:srgbClr val="4C5F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C5F75"/>
                </a:solidFill>
                <a:latin typeface="Microsoft YaHei"/>
                <a:ea typeface="Microsoft YaHei"/>
                <a:cs typeface="Microsoft YaHei"/>
              </a:rPr>
              <a:t>确定性排版交付，保证结果</a:t>
            </a:r>
          </a:p>
          <a:p xmlns:a="http://schemas.openxmlformats.org/drawingml/2006/main">
            <a:pPr algn="ctr">
              <a:lnSpc>
                <a:spcPct val="140000"/>
              </a:lnSpc>
              <a:buNone/>
              <a:defRPr sz="1500" b="0" i="0">
                <a:solidFill>
                  <a:srgbClr val="4C5F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C5F75"/>
                </a:solidFill>
                <a:latin typeface="Microsoft YaHei"/>
                <a:ea typeface="Microsoft YaHei"/>
                <a:cs typeface="Microsoft YaHei"/>
              </a:rPr>
              <a:t>稳定、可编辑、可重复。</a:t>
            </a:r>
          </a:p>
        </p:txBody>
      </p:sp>
      <p:sp>
        <p:nvSpPr>
          <p:cNvPr id="24" name="metric-band">
            <a:extLst xmlns:a="http://schemas.openxmlformats.org/drawingml/2006/main">
              <a:ext uri="{FF2B5EF4-FFF2-40B4-BE49-F238E27FC236}">
                <a16:creationId xmlns:a16="http://schemas.microsoft.com/office/drawing/2014/main" id="{73633432-1228-4484-AE69-DC1B94924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00200" y="4905375"/>
            <a:ext cx="8991600" cy="952500"/>
          </a:xfrm>
          <a:prstGeom xmlns:a="http://schemas.openxmlformats.org/drawingml/2006/main" prst="roundRect">
            <a:avLst>
              <a:gd name="adj" fmla="val 18000"/>
            </a:avLst>
          </a:prstGeom>
          <a:solidFill xmlns:a="http://schemas.openxmlformats.org/drawingml/2006/main">
            <a:srgbClr val="E9F2FC"/>
          </a:solidFill>
          <a:ln xmlns:a="http://schemas.openxmlformats.org/drawingml/2006/main" w="9525">
            <a:solidFill>
              <a:srgbClr val="C9DCEF"/>
            </a:solidFill>
            <a:prstDash val="solid"/>
          </a:ln>
        </p:spPr>
      </p:sp>
      <p:sp>
        <p:nvSpPr>
          <p:cNvPr id="25" name="metric-band-accent">
            <a:extLst xmlns:a="http://schemas.openxmlformats.org/drawingml/2006/main">
              <a:ext uri="{FF2B5EF4-FFF2-40B4-BE49-F238E27FC236}">
                <a16:creationId xmlns:a16="http://schemas.microsoft.com/office/drawing/2014/main" id="{00C6CE76-163A-48EE-98A5-0EB98D8F8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00200" y="4905375"/>
            <a:ext cx="8991600" cy="57150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3971B7"/>
              </a:gs>
              <a:gs pos="100000">
                <a:srgbClr val="78AEEF"/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6" name="strategy-1-metric-1-value">
            <a:extLst xmlns:a="http://schemas.openxmlformats.org/drawingml/2006/main">
              <a:ext uri="{FF2B5EF4-FFF2-40B4-BE49-F238E27FC236}">
                <a16:creationId xmlns:a16="http://schemas.microsoft.com/office/drawing/2014/main" id="{129AB956-6501-49F9-8332-61042D8BB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62125" y="5109572"/>
            <a:ext cx="1250899" cy="2774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9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≥95%</a:t>
            </a:r>
          </a:p>
        </p:txBody>
      </p:sp>
      <p:sp>
        <p:nvSpPr>
          <p:cNvPr id="27" name="strategy-1-metric-1-label">
            <a:extLst xmlns:a="http://schemas.openxmlformats.org/drawingml/2006/main">
              <a:ext uri="{FF2B5EF4-FFF2-40B4-BE49-F238E27FC236}">
                <a16:creationId xmlns:a16="http://schemas.microsoft.com/office/drawing/2014/main" id="{C0949445-AD4E-4369-B582-72A057808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62125" y="5425088"/>
            <a:ext cx="125089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6075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0758D"/>
                </a:solidFill>
                <a:latin typeface="Microsoft YaHei"/>
                <a:ea typeface="Microsoft YaHei"/>
                <a:cs typeface="Microsoft YaHei"/>
              </a:rPr>
              <a:t>结构化通过率</a:t>
            </a:r>
          </a:p>
        </p:txBody>
      </p:sp>
      <p:sp>
        <p:nvSpPr>
          <p:cNvPr id="28" name="strategy-1-metric-divider">
            <a:extLst xmlns:a="http://schemas.openxmlformats.org/drawingml/2006/main">
              <a:ext uri="{FF2B5EF4-FFF2-40B4-BE49-F238E27FC236}">
                <a16:creationId xmlns:a16="http://schemas.microsoft.com/office/drawing/2014/main" id="{DA3757EF-2464-4FFF-8C0C-FC27AC184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36849" y="5124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8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strategy-1-metric-2-value">
            <a:extLst xmlns:a="http://schemas.openxmlformats.org/drawingml/2006/main">
              <a:ext uri="{FF2B5EF4-FFF2-40B4-BE49-F238E27FC236}">
                <a16:creationId xmlns:a16="http://schemas.microsoft.com/office/drawing/2014/main" id="{B65F36A3-084A-433A-83C7-559F4606A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84474" y="5109572"/>
            <a:ext cx="1250899" cy="2774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9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0 项</a:t>
            </a:r>
          </a:p>
        </p:txBody>
      </p:sp>
      <p:sp>
        <p:nvSpPr>
          <p:cNvPr id="30" name="strategy-1-metric-2-label">
            <a:extLst xmlns:a="http://schemas.openxmlformats.org/drawingml/2006/main">
              <a:ext uri="{FF2B5EF4-FFF2-40B4-BE49-F238E27FC236}">
                <a16:creationId xmlns:a16="http://schemas.microsoft.com/office/drawing/2014/main" id="{E21A640D-978C-4539-AE14-45340A8FC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84474" y="5425088"/>
            <a:ext cx="125089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6075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0758D"/>
                </a:solidFill>
                <a:latin typeface="Microsoft YaHei"/>
                <a:ea typeface="Microsoft YaHei"/>
                <a:cs typeface="Microsoft YaHei"/>
              </a:rPr>
              <a:t>信息遗漏</a:t>
            </a:r>
          </a:p>
        </p:txBody>
      </p:sp>
      <p:sp>
        <p:nvSpPr>
          <p:cNvPr id="31" name="strategy-2-foundation-divider">
            <a:extLst xmlns:a="http://schemas.openxmlformats.org/drawingml/2006/main">
              <a:ext uri="{FF2B5EF4-FFF2-40B4-BE49-F238E27FC236}">
                <a16:creationId xmlns:a16="http://schemas.microsoft.com/office/drawing/2014/main" id="{A1224AB2-E8C6-4442-8A1B-B94CEA234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97298" y="5076825"/>
            <a:ext cx="95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D3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strategy-2-metric-1-value">
            <a:extLst xmlns:a="http://schemas.openxmlformats.org/drawingml/2006/main">
              <a:ext uri="{FF2B5EF4-FFF2-40B4-BE49-F238E27FC236}">
                <a16:creationId xmlns:a16="http://schemas.microsoft.com/office/drawing/2014/main" id="{883E0D72-7C2E-4FD4-AD37-119C81534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59223" y="5109572"/>
            <a:ext cx="1250899" cy="2774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9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≥80%</a:t>
            </a:r>
          </a:p>
        </p:txBody>
      </p:sp>
      <p:sp>
        <p:nvSpPr>
          <p:cNvPr id="33" name="strategy-2-metric-1-label">
            <a:extLst xmlns:a="http://schemas.openxmlformats.org/drawingml/2006/main">
              <a:ext uri="{FF2B5EF4-FFF2-40B4-BE49-F238E27FC236}">
                <a16:creationId xmlns:a16="http://schemas.microsoft.com/office/drawing/2014/main" id="{9AB656EC-8109-48F3-AA4A-A09007B5C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59223" y="5425088"/>
            <a:ext cx="125089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6075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0758D"/>
                </a:solidFill>
                <a:latin typeface="Microsoft YaHei"/>
                <a:ea typeface="Microsoft YaHei"/>
                <a:cs typeface="Microsoft YaHei"/>
              </a:rPr>
              <a:t>核心逻辑覆盖</a:t>
            </a:r>
          </a:p>
        </p:txBody>
      </p:sp>
      <p:sp>
        <p:nvSpPr>
          <p:cNvPr id="34" name="strategy-2-metric-divider">
            <a:extLst xmlns:a="http://schemas.openxmlformats.org/drawingml/2006/main">
              <a:ext uri="{FF2B5EF4-FFF2-40B4-BE49-F238E27FC236}">
                <a16:creationId xmlns:a16="http://schemas.microsoft.com/office/drawing/2014/main" id="{D9051486-0656-47CE-9DDF-F10DD944E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33948" y="5124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8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strategy-2-metric-2-value">
            <a:extLst xmlns:a="http://schemas.openxmlformats.org/drawingml/2006/main">
              <a:ext uri="{FF2B5EF4-FFF2-40B4-BE49-F238E27FC236}">
                <a16:creationId xmlns:a16="http://schemas.microsoft.com/office/drawing/2014/main" id="{C474B67A-0A26-4B1C-93CA-A74AA97B5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81573" y="5109572"/>
            <a:ext cx="1251052" cy="2774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9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≤1 轮</a:t>
            </a:r>
          </a:p>
        </p:txBody>
      </p:sp>
      <p:sp>
        <p:nvSpPr>
          <p:cNvPr id="36" name="strategy-2-metric-2-label">
            <a:extLst xmlns:a="http://schemas.openxmlformats.org/drawingml/2006/main">
              <a:ext uri="{FF2B5EF4-FFF2-40B4-BE49-F238E27FC236}">
                <a16:creationId xmlns:a16="http://schemas.microsoft.com/office/drawing/2014/main" id="{2E9E6E86-D6FB-4209-AD45-708D8E008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81573" y="5425088"/>
            <a:ext cx="1251052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6075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0758D"/>
                </a:solidFill>
                <a:latin typeface="Microsoft YaHei"/>
                <a:ea typeface="Microsoft YaHei"/>
                <a:cs typeface="Microsoft YaHei"/>
              </a:rPr>
              <a:t>人工返修</a:t>
            </a:r>
          </a:p>
        </p:txBody>
      </p:sp>
      <p:sp>
        <p:nvSpPr>
          <p:cNvPr id="37" name="strategy-3-foundation-divider">
            <a:extLst xmlns:a="http://schemas.openxmlformats.org/drawingml/2006/main">
              <a:ext uri="{FF2B5EF4-FFF2-40B4-BE49-F238E27FC236}">
                <a16:creationId xmlns:a16="http://schemas.microsoft.com/office/drawing/2014/main" id="{821D8F58-1703-4B03-AC42-F7193DEDC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94549" y="5076825"/>
            <a:ext cx="95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D3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strategy-3-metric-1-value">
            <a:extLst xmlns:a="http://schemas.openxmlformats.org/drawingml/2006/main">
              <a:ext uri="{FF2B5EF4-FFF2-40B4-BE49-F238E27FC236}">
                <a16:creationId xmlns:a16="http://schemas.microsoft.com/office/drawing/2014/main" id="{6F6D1A18-A691-4C8B-896E-A8A48EECC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6474" y="5109572"/>
            <a:ext cx="1250899" cy="2774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9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10分钟</a:t>
            </a:r>
          </a:p>
        </p:txBody>
      </p:sp>
      <p:sp>
        <p:nvSpPr>
          <p:cNvPr id="39" name="strategy-3-metric-1-label">
            <a:extLst xmlns:a="http://schemas.openxmlformats.org/drawingml/2006/main">
              <a:ext uri="{FF2B5EF4-FFF2-40B4-BE49-F238E27FC236}">
                <a16:creationId xmlns:a16="http://schemas.microsoft.com/office/drawing/2014/main" id="{9F60794C-D2B5-43ED-9FBD-4F23197FE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6474" y="5425088"/>
            <a:ext cx="125089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6075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0758D"/>
                </a:solidFill>
                <a:latin typeface="Microsoft YaHei"/>
                <a:ea typeface="Microsoft YaHei"/>
                <a:cs typeface="Microsoft YaHei"/>
              </a:rPr>
              <a:t>单稿生成</a:t>
            </a:r>
          </a:p>
        </p:txBody>
      </p:sp>
      <p:sp>
        <p:nvSpPr>
          <p:cNvPr id="40" name="strategy-3-metric-divider">
            <a:extLst xmlns:a="http://schemas.openxmlformats.org/drawingml/2006/main">
              <a:ext uri="{FF2B5EF4-FFF2-40B4-BE49-F238E27FC236}">
                <a16:creationId xmlns:a16="http://schemas.microsoft.com/office/drawing/2014/main" id="{D94C2D58-92D6-4356-8182-94AE20295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31198" y="5124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8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strategy-3-metric-2-value">
            <a:extLst xmlns:a="http://schemas.openxmlformats.org/drawingml/2006/main">
              <a:ext uri="{FF2B5EF4-FFF2-40B4-BE49-F238E27FC236}">
                <a16:creationId xmlns:a16="http://schemas.microsoft.com/office/drawing/2014/main" id="{800137A7-79E7-47CF-9A02-ACACC70F0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78823" y="5109572"/>
            <a:ext cx="1250899" cy="2774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9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100%</a:t>
            </a:r>
          </a:p>
        </p:txBody>
      </p:sp>
      <p:sp>
        <p:nvSpPr>
          <p:cNvPr id="42" name="strategy-3-metric-2-label">
            <a:extLst xmlns:a="http://schemas.openxmlformats.org/drawingml/2006/main">
              <a:ext uri="{FF2B5EF4-FFF2-40B4-BE49-F238E27FC236}">
                <a16:creationId xmlns:a16="http://schemas.microsoft.com/office/drawing/2014/main" id="{DFB4CA84-98CC-4927-9B84-F167242A6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78823" y="5425088"/>
            <a:ext cx="125089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6075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0758D"/>
                </a:solidFill>
                <a:latin typeface="Microsoft YaHei"/>
                <a:ea typeface="Microsoft YaHei"/>
                <a:cs typeface="Microsoft YaHei"/>
              </a:rPr>
              <a:t>对象可编辑率</a:t>
            </a:r>
          </a:p>
        </p:txBody>
      </p:sp>
    </p:spTree>
    <p:extLst>
      <p:ext uri="{BB962C8B-B14F-4D97-AF65-F5344CB8AC3E}">
        <p14:creationId xmlns:p14="http://schemas.microsoft.com/office/powerpoint/2010/main" val="12082154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209550" dist="95250" dir="5400000">
              <a:srgbClr val="2F5EA8">
                <a:alpha val="8000"/>
              </a:srgbClr>
            </a:outerShdw>
          </a:effectLst>
        </a:effectStyle>
        <a:effectStyle>
          <a:effectLst>
            <a:outerShdw blurRad="133350" dist="57150" dir="5400000">
              <a:srgbClr val="2F5EA8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2026-08-25T02:22:13.3990000Z</dcterms:created>
  <dcterms:modified xsi:type="dcterms:W3CDTF">2026-08-25T02:22:13.3990000Z</dcterms:modified>
</coreProperties>
</file>