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aee09fd7144404b" /><Relationship Type="http://schemas.openxmlformats.org/officeDocument/2006/relationships/extended-properties" Target="/docProps/app.xml" Id="Rd1e3829a715e4a35" /><Relationship Type="http://schemas.openxmlformats.org/officeDocument/2006/relationships/officeDocument" Target="/ppt/presentation.xml" Id="Re89662caa9694e8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7e1724f976e49d1"/>
  </p:sldMasterIdLst>
  <p:notesMasterIdLst>
    <p:notesMasterId xmlns:r="http://schemas.openxmlformats.org/officeDocument/2006/relationships" r:id="R63c57a83eb5e4d35"/>
  </p:notesMasterIdLst>
  <p:sldIdLst>
    <p:sldId xmlns:r="http://schemas.openxmlformats.org/officeDocument/2006/relationships" id="256" r:id="R361361839fa54f05"/>
    <p:sldId xmlns:r="http://schemas.openxmlformats.org/officeDocument/2006/relationships" id="257" r:id="Rcb0b691691304a92"/>
    <p:sldId xmlns:r="http://schemas.openxmlformats.org/officeDocument/2006/relationships" id="258" r:id="R44877e78827a49eb"/>
    <p:sldId xmlns:r="http://schemas.openxmlformats.org/officeDocument/2006/relationships" id="259" r:id="R18917526cd1140f7"/>
    <p:sldId xmlns:r="http://schemas.openxmlformats.org/officeDocument/2006/relationships" id="260" r:id="R70cf036d6a6c4ee6"/>
    <p:sldId xmlns:r="http://schemas.openxmlformats.org/officeDocument/2006/relationships" id="261" r:id="R47f04781a3f54585"/>
    <p:sldId xmlns:r="http://schemas.openxmlformats.org/officeDocument/2006/relationships" id="262" r:id="R16070f998be24e36"/>
    <p:sldId xmlns:r="http://schemas.openxmlformats.org/officeDocument/2006/relationships" id="263" r:id="Ra85c443ad8c7422d"/>
    <p:sldId xmlns:r="http://schemas.openxmlformats.org/officeDocument/2006/relationships" id="264" r:id="Reee1357bf91e4060"/>
    <p:sldId xmlns:r="http://schemas.openxmlformats.org/officeDocument/2006/relationships" id="265" r:id="Rfede9a70c538431c"/>
    <p:sldId xmlns:r="http://schemas.openxmlformats.org/officeDocument/2006/relationships" id="266" r:id="Raad793eac60b46af"/>
    <p:sldId xmlns:r="http://schemas.openxmlformats.org/officeDocument/2006/relationships" id="267" r:id="R0f20836eb4a644a5"/>
    <p:sldId xmlns:r="http://schemas.openxmlformats.org/officeDocument/2006/relationships" id="268" r:id="Rcc81a66f6cf8473b"/>
    <p:sldId xmlns:r="http://schemas.openxmlformats.org/officeDocument/2006/relationships" id="269" r:id="Rd66b2d81d98e4b74"/>
    <p:sldId xmlns:r="http://schemas.openxmlformats.org/officeDocument/2006/relationships" id="270" r:id="R4c16a9a9faf34c9f"/>
    <p:sldId xmlns:r="http://schemas.openxmlformats.org/officeDocument/2006/relationships" id="271" r:id="R7d0983dee39c4c9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a702c35a3f84f7d" /><Relationship Type="http://schemas.openxmlformats.org/officeDocument/2006/relationships/slideMaster" Target="/ppt/slideMasters/slideMaster1.xml" Id="R67e1724f976e49d1" /><Relationship Type="http://schemas.openxmlformats.org/officeDocument/2006/relationships/notesMaster" Target="/ppt/notesMasters/notesMaster1.xml" Id="R63c57a83eb5e4d35" /><Relationship Type="http://schemas.openxmlformats.org/officeDocument/2006/relationships/presProps" Target="/ppt/presProps.xml" Id="R076ef4a14fca4152" /><Relationship Type="http://schemas.openxmlformats.org/officeDocument/2006/relationships/tableStyles" Target="/ppt/tableStyles.xml" Id="R06fd51e8fe5947e9" /><Relationship Type="http://schemas.openxmlformats.org/officeDocument/2006/relationships/slide" Target="/ppt/slides/slide1.xml" Id="R361361839fa54f05" /><Relationship Type="http://schemas.openxmlformats.org/officeDocument/2006/relationships/slide" Target="/ppt/slides/slide2.xml" Id="Rcb0b691691304a92" /><Relationship Type="http://schemas.openxmlformats.org/officeDocument/2006/relationships/slide" Target="/ppt/slides/slide3.xml" Id="R44877e78827a49eb" /><Relationship Type="http://schemas.openxmlformats.org/officeDocument/2006/relationships/slide" Target="/ppt/slides/slide4.xml" Id="R18917526cd1140f7" /><Relationship Type="http://schemas.openxmlformats.org/officeDocument/2006/relationships/slide" Target="/ppt/slides/slide5.xml" Id="R70cf036d6a6c4ee6" /><Relationship Type="http://schemas.openxmlformats.org/officeDocument/2006/relationships/slide" Target="/ppt/slides/slide6.xml" Id="R47f04781a3f54585" /><Relationship Type="http://schemas.openxmlformats.org/officeDocument/2006/relationships/slide" Target="/ppt/slides/slide7.xml" Id="R16070f998be24e36" /><Relationship Type="http://schemas.openxmlformats.org/officeDocument/2006/relationships/slide" Target="/ppt/slides/slide8.xml" Id="Ra85c443ad8c7422d" /><Relationship Type="http://schemas.openxmlformats.org/officeDocument/2006/relationships/slide" Target="/ppt/slides/slide9.xml" Id="Reee1357bf91e4060" /><Relationship Type="http://schemas.openxmlformats.org/officeDocument/2006/relationships/slide" Target="/ppt/slides/slide10.xml" Id="Rfede9a70c538431c" /><Relationship Type="http://schemas.openxmlformats.org/officeDocument/2006/relationships/slide" Target="/ppt/slides/slide11.xml" Id="Raad793eac60b46af" /><Relationship Type="http://schemas.openxmlformats.org/officeDocument/2006/relationships/slide" Target="/ppt/slides/slide12.xml" Id="R0f20836eb4a644a5" /><Relationship Type="http://schemas.openxmlformats.org/officeDocument/2006/relationships/slide" Target="/ppt/slides/slide13.xml" Id="Rcc81a66f6cf8473b" /><Relationship Type="http://schemas.openxmlformats.org/officeDocument/2006/relationships/slide" Target="/ppt/slides/slide14.xml" Id="Rd66b2d81d98e4b74" /><Relationship Type="http://schemas.openxmlformats.org/officeDocument/2006/relationships/slide" Target="/ppt/slides/slide15.xml" Id="R4c16a9a9faf34c9f" /><Relationship Type="http://schemas.openxmlformats.org/officeDocument/2006/relationships/slide" Target="/ppt/slides/slide16.xml" Id="R7d0983dee39c4c9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e4a8138c76c44c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a73086ce4074e0f" /><Relationship Type="http://schemas.openxmlformats.org/officeDocument/2006/relationships/notesMaster" Target="/ppt/notesMasters/notesMaster1.xml" Id="Rf74d65a208434b4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6495591afc04071" /><Relationship Type="http://schemas.openxmlformats.org/officeDocument/2006/relationships/notesMaster" Target="/ppt/notesMasters/notesMaster1.xml" Id="R171bbc97642742e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00e262d945443df" /><Relationship Type="http://schemas.openxmlformats.org/officeDocument/2006/relationships/notesMaster" Target="/ppt/notesMasters/notesMaster1.xml" Id="Rf42bc9dce6564df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c9a50122b4f49cd" /><Relationship Type="http://schemas.openxmlformats.org/officeDocument/2006/relationships/notesMaster" Target="/ppt/notesMasters/notesMaster1.xml" Id="R25640d469c9347a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e839198d0674e32" /><Relationship Type="http://schemas.openxmlformats.org/officeDocument/2006/relationships/notesMaster" Target="/ppt/notesMasters/notesMaster1.xml" Id="R180e2167dacb440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91e66328eb7431f" /><Relationship Type="http://schemas.openxmlformats.org/officeDocument/2006/relationships/notesMaster" Target="/ppt/notesMasters/notesMaster1.xml" Id="R658801910b3845b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e8a6e2bef3d47a9" /><Relationship Type="http://schemas.openxmlformats.org/officeDocument/2006/relationships/notesMaster" Target="/ppt/notesMasters/notesMaster1.xml" Id="R8dfc05724ee34ae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6daa19214704fcf" /><Relationship Type="http://schemas.openxmlformats.org/officeDocument/2006/relationships/notesMaster" Target="/ppt/notesMasters/notesMaster1.xml" Id="R91fbd734ce114ff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fe19559e6794f1c" /><Relationship Type="http://schemas.openxmlformats.org/officeDocument/2006/relationships/notesMaster" Target="/ppt/notesMasters/notesMaster1.xml" Id="Rb12cf5fe3d86443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742df35227c434f" /><Relationship Type="http://schemas.openxmlformats.org/officeDocument/2006/relationships/notesMaster" Target="/ppt/notesMasters/notesMaster1.xml" Id="R7efd58cd50354cb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e760b0e1e3e4612" /><Relationship Type="http://schemas.openxmlformats.org/officeDocument/2006/relationships/notesMaster" Target="/ppt/notesMasters/notesMaster1.xml" Id="R9d1b467ef1054e1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4115eb84fb44ed9" /><Relationship Type="http://schemas.openxmlformats.org/officeDocument/2006/relationships/notesMaster" Target="/ppt/notesMasters/notesMaster1.xml" Id="R783e0723035d4e4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b4a35cbfb35495c" /><Relationship Type="http://schemas.openxmlformats.org/officeDocument/2006/relationships/notesMaster" Target="/ppt/notesMasters/notesMaster1.xml" Id="R64d5c82f8521441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7607115d30e4e5a" /><Relationship Type="http://schemas.openxmlformats.org/officeDocument/2006/relationships/notesMaster" Target="/ppt/notesMasters/notesMaster1.xml" Id="R37314820ca9547b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cff5119dc77497a" /><Relationship Type="http://schemas.openxmlformats.org/officeDocument/2006/relationships/notesMaster" Target="/ppt/notesMasters/notesMaster1.xml" Id="Re49c6b27cab74fb4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05498bf4f2e4d7b" /><Relationship Type="http://schemas.openxmlformats.org/officeDocument/2006/relationships/notesMaster" Target="/ppt/notesMasters/notesMaster1.xml" Id="R341c1054c2194f6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d6fc92fefd4f0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263b58969b149b6" /><Relationship Type="http://schemas.openxmlformats.org/officeDocument/2006/relationships/slideLayout" Target="/ppt/slideLayouts/slideLayout1.xml" Id="Rd936b377a4ee422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936b377a4ee422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6a80e0efc24258" /><Relationship Type="http://schemas.openxmlformats.org/officeDocument/2006/relationships/notesSlide" Target="/ppt/notesSlides/notesSlide1.xml" Id="R78bdb673280548f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df6787ad894d5f" /><Relationship Type="http://schemas.openxmlformats.org/officeDocument/2006/relationships/notesSlide" Target="/ppt/notesSlides/notesSlide2.xml" Id="Rc3c18e4496d4402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2b7787d5a147f6" /><Relationship Type="http://schemas.openxmlformats.org/officeDocument/2006/relationships/notesSlide" Target="/ppt/notesSlides/notesSlide3.xml" Id="R8551db547daa413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6ab6348e724a77" /><Relationship Type="http://schemas.openxmlformats.org/officeDocument/2006/relationships/notesSlide" Target="/ppt/notesSlides/notesSlide4.xml" Id="Re7bba3f17fe9464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4fa71977854b2b" /><Relationship Type="http://schemas.openxmlformats.org/officeDocument/2006/relationships/notesSlide" Target="/ppt/notesSlides/notesSlide5.xml" Id="R58d590b123594b2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cbcd00606e4de6" /><Relationship Type="http://schemas.openxmlformats.org/officeDocument/2006/relationships/notesSlide" Target="/ppt/notesSlides/notesSlide6.xml" Id="Rb8afe88016f9404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b986c33f784d92" /><Relationship Type="http://schemas.openxmlformats.org/officeDocument/2006/relationships/notesSlide" Target="/ppt/notesSlides/notesSlide7.xml" Id="Rddc8e30d27d2401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fbde310ca746f1" /><Relationship Type="http://schemas.openxmlformats.org/officeDocument/2006/relationships/notesSlide" Target="/ppt/notesSlides/notesSlide8.xml" Id="Rf4f1cff67c354a7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d2470d5ada42bd" /><Relationship Type="http://schemas.openxmlformats.org/officeDocument/2006/relationships/notesSlide" Target="/ppt/notesSlides/notesSlide9.xml" Id="R86ff5d70878a434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ef63a9ebec4207" /><Relationship Type="http://schemas.openxmlformats.org/officeDocument/2006/relationships/notesSlide" Target="/ppt/notesSlides/notesSlide10.xml" Id="Re9559a11cd4c4b3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cd101c60f241de" /><Relationship Type="http://schemas.openxmlformats.org/officeDocument/2006/relationships/notesSlide" Target="/ppt/notesSlides/notesSlide11.xml" Id="Rbd828bf270f8485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4fc2225d7146c3" /><Relationship Type="http://schemas.openxmlformats.org/officeDocument/2006/relationships/notesSlide" Target="/ppt/notesSlides/notesSlide12.xml" Id="Rc7b1c039e3ef448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3e2e9dfb05437c" /><Relationship Type="http://schemas.openxmlformats.org/officeDocument/2006/relationships/notesSlide" Target="/ppt/notesSlides/notesSlide13.xml" Id="R6124657d5cb6427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b7418e415d4985" /><Relationship Type="http://schemas.openxmlformats.org/officeDocument/2006/relationships/notesSlide" Target="/ppt/notesSlides/notesSlide14.xml" Id="R85dc70ad158b406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7a2f5306ed4e95" /><Relationship Type="http://schemas.openxmlformats.org/officeDocument/2006/relationships/notesSlide" Target="/ppt/notesSlides/notesSlide15.xml" Id="R9b0d06f88b8a4b7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d6f002fe2c4696" /><Relationship Type="http://schemas.openxmlformats.org/officeDocument/2006/relationships/notesSlide" Target="/ppt/notesSlides/notesSlide16.xml" Id="R16367721a3a14d2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ource-line-0">
            <a:extLst xmlns:a="http://schemas.openxmlformats.org/drawingml/2006/main">
              <a:ext uri="{FF2B5EF4-FFF2-40B4-BE49-F238E27FC236}">
                <a16:creationId xmlns:a16="http://schemas.microsoft.com/office/drawing/2014/main" id="{53D41B8D-E571-4C2A-9F40-368B235C1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48225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ource-line-1">
            <a:extLst xmlns:a="http://schemas.openxmlformats.org/drawingml/2006/main">
              <a:ext uri="{FF2B5EF4-FFF2-40B4-BE49-F238E27FC236}">
                <a16:creationId xmlns:a16="http://schemas.microsoft.com/office/drawing/2014/main" id="{9392AB8D-3E99-443E-A480-B601F55A9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86475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ource-line-2">
            <a:extLst xmlns:a="http://schemas.openxmlformats.org/drawingml/2006/main">
              <a:ext uri="{FF2B5EF4-FFF2-40B4-BE49-F238E27FC236}">
                <a16:creationId xmlns:a16="http://schemas.microsoft.com/office/drawing/2014/main" id="{C49EE1B8-0C9C-4E5D-AE4C-8E65E3159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24725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app-line-0">
            <a:extLst xmlns:a="http://schemas.openxmlformats.org/drawingml/2006/main">
              <a:ext uri="{FF2B5EF4-FFF2-40B4-BE49-F238E27FC236}">
                <a16:creationId xmlns:a16="http://schemas.microsoft.com/office/drawing/2014/main" id="{7F2AB7D1-D970-4D17-A29A-E51392196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5297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app-line-1">
            <a:extLst xmlns:a="http://schemas.openxmlformats.org/drawingml/2006/main">
              <a:ext uri="{FF2B5EF4-FFF2-40B4-BE49-F238E27FC236}">
                <a16:creationId xmlns:a16="http://schemas.microsoft.com/office/drawing/2014/main" id="{4F75D3C6-F94F-438F-A6F1-7AFB1553B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8647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app-line-2">
            <a:extLst xmlns:a="http://schemas.openxmlformats.org/drawingml/2006/main">
              <a:ext uri="{FF2B5EF4-FFF2-40B4-BE49-F238E27FC236}">
                <a16:creationId xmlns:a16="http://schemas.microsoft.com/office/drawing/2014/main" id="{47DDB99B-4EE3-493B-88E9-3751E9C5F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1997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label-app">
            <a:extLst xmlns:a="http://schemas.openxmlformats.org/drawingml/2006/main">
              <a:ext uri="{FF2B5EF4-FFF2-40B4-BE49-F238E27FC236}">
                <a16:creationId xmlns:a16="http://schemas.microsoft.com/office/drawing/2014/main" id="{9296C14E-6C70-40EB-9F2C-7D72D6C27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914525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应用层</a:t>
            </a:r>
          </a:p>
        </p:txBody>
      </p:sp>
      <p:sp>
        <p:nvSpPr>
          <p:cNvPr id="8" name="label-platform">
            <a:extLst xmlns:a="http://schemas.openxmlformats.org/drawingml/2006/main">
              <a:ext uri="{FF2B5EF4-FFF2-40B4-BE49-F238E27FC236}">
                <a16:creationId xmlns:a16="http://schemas.microsoft.com/office/drawing/2014/main" id="{79FB5CED-1CE3-4D31-A817-C2D978ED5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75285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18A9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8A9CB"/>
                </a:solidFill>
                <a:latin typeface="Microsoft YaHei"/>
                <a:ea typeface="Microsoft YaHei"/>
                <a:cs typeface="Microsoft YaHei"/>
              </a:rPr>
              <a:t>中台层</a:t>
            </a:r>
          </a:p>
        </p:txBody>
      </p:sp>
      <p:sp>
        <p:nvSpPr>
          <p:cNvPr id="9" name="label-source">
            <a:extLst xmlns:a="http://schemas.openxmlformats.org/drawingml/2006/main">
              <a:ext uri="{FF2B5EF4-FFF2-40B4-BE49-F238E27FC236}">
                <a16:creationId xmlns:a16="http://schemas.microsoft.com/office/drawing/2014/main" id="{A53A7481-34A1-4DE9-9A06-27591C3C7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563880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来源层</a:t>
            </a:r>
          </a:p>
        </p:txBody>
      </p:sp>
      <p:sp>
        <p:nvSpPr>
          <p:cNvPr id="10" name="app-node-0">
            <a:extLst xmlns:a="http://schemas.openxmlformats.org/drawingml/2006/main">
              <a:ext uri="{FF2B5EF4-FFF2-40B4-BE49-F238E27FC236}">
                <a16:creationId xmlns:a16="http://schemas.microsoft.com/office/drawing/2014/main" id="{85DF3D5B-C10C-4BB4-B64A-D42954F84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2910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智能分析</a:t>
            </a:r>
          </a:p>
        </p:txBody>
      </p:sp>
      <p:sp>
        <p:nvSpPr>
          <p:cNvPr id="11" name="app-node-1">
            <a:extLst xmlns:a="http://schemas.openxmlformats.org/drawingml/2006/main">
              <a:ext uri="{FF2B5EF4-FFF2-40B4-BE49-F238E27FC236}">
                <a16:creationId xmlns:a16="http://schemas.microsoft.com/office/drawing/2014/main" id="{B3E20E49-160F-4569-8EBD-80A7F4FDC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6260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方案设计</a:t>
            </a:r>
          </a:p>
        </p:txBody>
      </p:sp>
      <p:sp>
        <p:nvSpPr>
          <p:cNvPr id="12" name="app-node-2">
            <a:extLst xmlns:a="http://schemas.openxmlformats.org/drawingml/2006/main">
              <a:ext uri="{FF2B5EF4-FFF2-40B4-BE49-F238E27FC236}">
                <a16:creationId xmlns:a16="http://schemas.microsoft.com/office/drawing/2014/main" id="{A7EE542D-E768-45C7-9D89-9AB24D7B3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9610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辅助决策</a:t>
            </a:r>
          </a:p>
        </p:txBody>
      </p:sp>
      <p:sp>
        <p:nvSpPr>
          <p:cNvPr id="13" name="layer-platform">
            <a:extLst xmlns:a="http://schemas.openxmlformats.org/drawingml/2006/main">
              <a:ext uri="{FF2B5EF4-FFF2-40B4-BE49-F238E27FC236}">
                <a16:creationId xmlns:a16="http://schemas.microsoft.com/office/drawing/2014/main" id="{2E27C220-1CAF-49CD-A76E-76567A0D3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86000" y="3505200"/>
            <a:ext cx="76200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238A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统一研究与能力平台</a:t>
            </a:r>
          </a:p>
        </p:txBody>
      </p:sp>
      <p:sp>
        <p:nvSpPr>
          <p:cNvPr id="14" name="source-node-0">
            <a:extLst xmlns:a="http://schemas.openxmlformats.org/drawingml/2006/main">
              <a:ext uri="{FF2B5EF4-FFF2-40B4-BE49-F238E27FC236}">
                <a16:creationId xmlns:a16="http://schemas.microsoft.com/office/drawing/2014/main" id="{BBB06C98-8FA3-4BF7-9D6D-48FF8264E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24350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业务数据</a:t>
            </a:r>
          </a:p>
        </p:txBody>
      </p:sp>
      <p:sp>
        <p:nvSpPr>
          <p:cNvPr id="15" name="source-node-1">
            <a:extLst xmlns:a="http://schemas.openxmlformats.org/drawingml/2006/main">
              <a:ext uri="{FF2B5EF4-FFF2-40B4-BE49-F238E27FC236}">
                <a16:creationId xmlns:a16="http://schemas.microsoft.com/office/drawing/2014/main" id="{727A95D9-3728-47D9-A704-37B2BF9ED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62600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实验数据</a:t>
            </a:r>
          </a:p>
        </p:txBody>
      </p:sp>
      <p:sp>
        <p:nvSpPr>
          <p:cNvPr id="16" name="source-node-2">
            <a:extLst xmlns:a="http://schemas.openxmlformats.org/drawingml/2006/main">
              <a:ext uri="{FF2B5EF4-FFF2-40B4-BE49-F238E27FC236}">
                <a16:creationId xmlns:a16="http://schemas.microsoft.com/office/drawing/2014/main" id="{732B7344-FD3C-4C05-8B89-141A6F80E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00850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文献资料</a:t>
            </a:r>
          </a:p>
        </p:txBody>
      </p:sp>
    </p:spTree>
    <p:extLst>
      <p:ext uri="{BB962C8B-B14F-4D97-AF65-F5344CB8AC3E}">
        <p14:creationId xmlns:p14="http://schemas.microsoft.com/office/powerpoint/2010/main" val="57935045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source-line-0">
            <a:extLst xmlns:a="http://schemas.openxmlformats.org/drawingml/2006/main">
              <a:ext uri="{FF2B5EF4-FFF2-40B4-BE49-F238E27FC236}">
                <a16:creationId xmlns:a16="http://schemas.microsoft.com/office/drawing/2014/main" id="{50B7792D-4076-461D-829E-E3A88192D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48225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ource-line-1">
            <a:extLst xmlns:a="http://schemas.openxmlformats.org/drawingml/2006/main">
              <a:ext uri="{FF2B5EF4-FFF2-40B4-BE49-F238E27FC236}">
                <a16:creationId xmlns:a16="http://schemas.microsoft.com/office/drawing/2014/main" id="{698E61A3-B7C5-4AE8-B4C8-DD15C017E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86475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ource-line-2">
            <a:extLst xmlns:a="http://schemas.openxmlformats.org/drawingml/2006/main">
              <a:ext uri="{FF2B5EF4-FFF2-40B4-BE49-F238E27FC236}">
                <a16:creationId xmlns:a16="http://schemas.microsoft.com/office/drawing/2014/main" id="{A6B855CD-D523-4DE6-9531-559F57939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24725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app-line-0">
            <a:extLst xmlns:a="http://schemas.openxmlformats.org/drawingml/2006/main">
              <a:ext uri="{FF2B5EF4-FFF2-40B4-BE49-F238E27FC236}">
                <a16:creationId xmlns:a16="http://schemas.microsoft.com/office/drawing/2014/main" id="{9D9777F5-DF74-44C5-B150-DC9EFD342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8622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app-line-1">
            <a:extLst xmlns:a="http://schemas.openxmlformats.org/drawingml/2006/main">
              <a:ext uri="{FF2B5EF4-FFF2-40B4-BE49-F238E27FC236}">
                <a16:creationId xmlns:a16="http://schemas.microsoft.com/office/drawing/2014/main" id="{F04D6642-90EF-47AA-B68D-5FFFC6F51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1972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app-line-2">
            <a:extLst xmlns:a="http://schemas.openxmlformats.org/drawingml/2006/main">
              <a:ext uri="{FF2B5EF4-FFF2-40B4-BE49-F238E27FC236}">
                <a16:creationId xmlns:a16="http://schemas.microsoft.com/office/drawing/2014/main" id="{BC3DA7EE-B582-430E-B8E8-53AE6735F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5322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app-line-3">
            <a:extLst xmlns:a="http://schemas.openxmlformats.org/drawingml/2006/main">
              <a:ext uri="{FF2B5EF4-FFF2-40B4-BE49-F238E27FC236}">
                <a16:creationId xmlns:a16="http://schemas.microsoft.com/office/drawing/2014/main" id="{ABBD94D3-849E-4367-BBCE-73D3B0CE9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label-app">
            <a:extLst xmlns:a="http://schemas.openxmlformats.org/drawingml/2006/main">
              <a:ext uri="{FF2B5EF4-FFF2-40B4-BE49-F238E27FC236}">
                <a16:creationId xmlns:a16="http://schemas.microsoft.com/office/drawing/2014/main" id="{8B2D80E0-846C-4AE4-8396-0BC6E25DC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914525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应用层</a:t>
            </a:r>
          </a:p>
        </p:txBody>
      </p:sp>
      <p:sp>
        <p:nvSpPr>
          <p:cNvPr id="9" name="label-platform">
            <a:extLst xmlns:a="http://schemas.openxmlformats.org/drawingml/2006/main">
              <a:ext uri="{FF2B5EF4-FFF2-40B4-BE49-F238E27FC236}">
                <a16:creationId xmlns:a16="http://schemas.microsoft.com/office/drawing/2014/main" id="{B71D5B99-DC25-4212-BA2D-322AF605B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75285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18A9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8A9CB"/>
                </a:solidFill>
                <a:latin typeface="Microsoft YaHei"/>
                <a:ea typeface="Microsoft YaHei"/>
                <a:cs typeface="Microsoft YaHei"/>
              </a:rPr>
              <a:t>中台层</a:t>
            </a:r>
          </a:p>
        </p:txBody>
      </p:sp>
      <p:sp>
        <p:nvSpPr>
          <p:cNvPr id="10" name="label-source">
            <a:extLst xmlns:a="http://schemas.openxmlformats.org/drawingml/2006/main">
              <a:ext uri="{FF2B5EF4-FFF2-40B4-BE49-F238E27FC236}">
                <a16:creationId xmlns:a16="http://schemas.microsoft.com/office/drawing/2014/main" id="{FFBF806A-F352-4E85-93C5-5E70D0BC2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563880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来源层</a:t>
            </a:r>
          </a:p>
        </p:txBody>
      </p:sp>
      <p:sp>
        <p:nvSpPr>
          <p:cNvPr id="11" name="app-node-0">
            <a:extLst xmlns:a="http://schemas.openxmlformats.org/drawingml/2006/main">
              <a:ext uri="{FF2B5EF4-FFF2-40B4-BE49-F238E27FC236}">
                <a16:creationId xmlns:a16="http://schemas.microsoft.com/office/drawing/2014/main" id="{055DEA51-FF68-4C24-87C8-0CDE8E5DC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6235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智能分析</a:t>
            </a:r>
          </a:p>
        </p:txBody>
      </p:sp>
      <p:sp>
        <p:nvSpPr>
          <p:cNvPr id="12" name="app-node-1">
            <a:extLst xmlns:a="http://schemas.openxmlformats.org/drawingml/2006/main">
              <a:ext uri="{FF2B5EF4-FFF2-40B4-BE49-F238E27FC236}">
                <a16:creationId xmlns:a16="http://schemas.microsoft.com/office/drawing/2014/main" id="{9A7EEE4D-3E25-4B1D-BC0B-28FCFF812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9585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方案设计</a:t>
            </a:r>
          </a:p>
        </p:txBody>
      </p:sp>
      <p:sp>
        <p:nvSpPr>
          <p:cNvPr id="13" name="app-node-2">
            <a:extLst xmlns:a="http://schemas.openxmlformats.org/drawingml/2006/main">
              <a:ext uri="{FF2B5EF4-FFF2-40B4-BE49-F238E27FC236}">
                <a16:creationId xmlns:a16="http://schemas.microsoft.com/office/drawing/2014/main" id="{9E36338E-94D3-4070-9931-5E0F5C49E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2935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辅助决策</a:t>
            </a:r>
          </a:p>
        </p:txBody>
      </p:sp>
      <p:sp>
        <p:nvSpPr>
          <p:cNvPr id="14" name="app-node-3">
            <a:extLst xmlns:a="http://schemas.openxmlformats.org/drawingml/2006/main">
              <a:ext uri="{FF2B5EF4-FFF2-40B4-BE49-F238E27FC236}">
                <a16:creationId xmlns:a16="http://schemas.microsoft.com/office/drawing/2014/main" id="{C2E6FC9B-E15D-4150-8E5A-E154B3281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6285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成果服务</a:t>
            </a:r>
          </a:p>
        </p:txBody>
      </p:sp>
      <p:sp>
        <p:nvSpPr>
          <p:cNvPr id="15" name="layer-platform">
            <a:extLst xmlns:a="http://schemas.openxmlformats.org/drawingml/2006/main">
              <a:ext uri="{FF2B5EF4-FFF2-40B4-BE49-F238E27FC236}">
                <a16:creationId xmlns:a16="http://schemas.microsoft.com/office/drawing/2014/main" id="{2B60C3C3-BB8C-46B3-8EBD-DBBE9A2C8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86000" y="3505200"/>
            <a:ext cx="76200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238A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统一研究与能力平台</a:t>
            </a:r>
          </a:p>
        </p:txBody>
      </p:sp>
      <p:sp>
        <p:nvSpPr>
          <p:cNvPr id="16" name="source-node-0">
            <a:extLst xmlns:a="http://schemas.openxmlformats.org/drawingml/2006/main">
              <a:ext uri="{FF2B5EF4-FFF2-40B4-BE49-F238E27FC236}">
                <a16:creationId xmlns:a16="http://schemas.microsoft.com/office/drawing/2014/main" id="{464C9FB0-998C-4334-9DC2-E2FAF87F9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24350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业务数据</a:t>
            </a:r>
          </a:p>
        </p:txBody>
      </p:sp>
      <p:sp>
        <p:nvSpPr>
          <p:cNvPr id="17" name="source-node-1">
            <a:extLst xmlns:a="http://schemas.openxmlformats.org/drawingml/2006/main">
              <a:ext uri="{FF2B5EF4-FFF2-40B4-BE49-F238E27FC236}">
                <a16:creationId xmlns:a16="http://schemas.microsoft.com/office/drawing/2014/main" id="{BB51029F-7CB2-41BA-9E8E-2B7AB61E4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62600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实验数据</a:t>
            </a:r>
          </a:p>
        </p:txBody>
      </p:sp>
      <p:sp>
        <p:nvSpPr>
          <p:cNvPr id="18" name="source-node-2">
            <a:extLst xmlns:a="http://schemas.openxmlformats.org/drawingml/2006/main">
              <a:ext uri="{FF2B5EF4-FFF2-40B4-BE49-F238E27FC236}">
                <a16:creationId xmlns:a16="http://schemas.microsoft.com/office/drawing/2014/main" id="{198615E8-6FA4-433A-950A-AAA569BDC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00850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文献资料</a:t>
            </a:r>
          </a:p>
        </p:txBody>
      </p:sp>
    </p:spTree>
    <p:extLst>
      <p:ext uri="{BB962C8B-B14F-4D97-AF65-F5344CB8AC3E}">
        <p14:creationId xmlns:p14="http://schemas.microsoft.com/office/powerpoint/2010/main" val="57970229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source-line-0">
            <a:extLst xmlns:a="http://schemas.openxmlformats.org/drawingml/2006/main">
              <a:ext uri="{FF2B5EF4-FFF2-40B4-BE49-F238E27FC236}">
                <a16:creationId xmlns:a16="http://schemas.microsoft.com/office/drawing/2014/main" id="{9FD505D3-6236-486A-B788-534280020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48225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ource-line-1">
            <a:extLst xmlns:a="http://schemas.openxmlformats.org/drawingml/2006/main">
              <a:ext uri="{FF2B5EF4-FFF2-40B4-BE49-F238E27FC236}">
                <a16:creationId xmlns:a16="http://schemas.microsoft.com/office/drawing/2014/main" id="{1E472335-059E-49EF-8191-E4BD0A204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86475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ource-line-2">
            <a:extLst xmlns:a="http://schemas.openxmlformats.org/drawingml/2006/main">
              <a:ext uri="{FF2B5EF4-FFF2-40B4-BE49-F238E27FC236}">
                <a16:creationId xmlns:a16="http://schemas.microsoft.com/office/drawing/2014/main" id="{FD506E98-EACF-4994-9F61-646B9ED6E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24725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app-line-0">
            <a:extLst xmlns:a="http://schemas.openxmlformats.org/drawingml/2006/main">
              <a:ext uri="{FF2B5EF4-FFF2-40B4-BE49-F238E27FC236}">
                <a16:creationId xmlns:a16="http://schemas.microsoft.com/office/drawing/2014/main" id="{437E0F5A-8688-4125-AD5C-8D2B05CB6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1947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app-line-1">
            <a:extLst xmlns:a="http://schemas.openxmlformats.org/drawingml/2006/main">
              <a:ext uri="{FF2B5EF4-FFF2-40B4-BE49-F238E27FC236}">
                <a16:creationId xmlns:a16="http://schemas.microsoft.com/office/drawing/2014/main" id="{DB3C7094-0083-4833-A234-C4C3C12FA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5297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app-line-2">
            <a:extLst xmlns:a="http://schemas.openxmlformats.org/drawingml/2006/main">
              <a:ext uri="{FF2B5EF4-FFF2-40B4-BE49-F238E27FC236}">
                <a16:creationId xmlns:a16="http://schemas.microsoft.com/office/drawing/2014/main" id="{39EC9E5D-10C3-4AB1-B360-AC83CEF88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8647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app-line-3">
            <a:extLst xmlns:a="http://schemas.openxmlformats.org/drawingml/2006/main">
              <a:ext uri="{FF2B5EF4-FFF2-40B4-BE49-F238E27FC236}">
                <a16:creationId xmlns:a16="http://schemas.microsoft.com/office/drawing/2014/main" id="{AB6B3C11-E9E0-4D06-98D2-6C0571CCB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1997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app-line-4">
            <a:extLst xmlns:a="http://schemas.openxmlformats.org/drawingml/2006/main">
              <a:ext uri="{FF2B5EF4-FFF2-40B4-BE49-F238E27FC236}">
                <a16:creationId xmlns:a16="http://schemas.microsoft.com/office/drawing/2014/main" id="{FA5B37EC-6042-426B-AAB4-9F9800A04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5347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label-app">
            <a:extLst xmlns:a="http://schemas.openxmlformats.org/drawingml/2006/main">
              <a:ext uri="{FF2B5EF4-FFF2-40B4-BE49-F238E27FC236}">
                <a16:creationId xmlns:a16="http://schemas.microsoft.com/office/drawing/2014/main" id="{96718252-5494-4A03-B756-D13509C6A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914525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应用层</a:t>
            </a:r>
          </a:p>
        </p:txBody>
      </p:sp>
      <p:sp>
        <p:nvSpPr>
          <p:cNvPr id="10" name="label-platform">
            <a:extLst xmlns:a="http://schemas.openxmlformats.org/drawingml/2006/main">
              <a:ext uri="{FF2B5EF4-FFF2-40B4-BE49-F238E27FC236}">
                <a16:creationId xmlns:a16="http://schemas.microsoft.com/office/drawing/2014/main" id="{0ABFD3B1-63D7-4407-A0D6-89FEB99AC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75285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18A9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8A9CB"/>
                </a:solidFill>
                <a:latin typeface="Microsoft YaHei"/>
                <a:ea typeface="Microsoft YaHei"/>
                <a:cs typeface="Microsoft YaHei"/>
              </a:rPr>
              <a:t>中台层</a:t>
            </a:r>
          </a:p>
        </p:txBody>
      </p:sp>
      <p:sp>
        <p:nvSpPr>
          <p:cNvPr id="11" name="label-source">
            <a:extLst xmlns:a="http://schemas.openxmlformats.org/drawingml/2006/main">
              <a:ext uri="{FF2B5EF4-FFF2-40B4-BE49-F238E27FC236}">
                <a16:creationId xmlns:a16="http://schemas.microsoft.com/office/drawing/2014/main" id="{24E3F76C-7745-4AD4-B736-872B091A4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563880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来源层</a:t>
            </a:r>
          </a:p>
        </p:txBody>
      </p:sp>
      <p:sp>
        <p:nvSpPr>
          <p:cNvPr id="12" name="app-node-0">
            <a:extLst xmlns:a="http://schemas.openxmlformats.org/drawingml/2006/main">
              <a:ext uri="{FF2B5EF4-FFF2-40B4-BE49-F238E27FC236}">
                <a16:creationId xmlns:a16="http://schemas.microsoft.com/office/drawing/2014/main" id="{4EE83E68-B021-4615-98B8-1A0C29617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9560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智能分析</a:t>
            </a:r>
          </a:p>
        </p:txBody>
      </p:sp>
      <p:sp>
        <p:nvSpPr>
          <p:cNvPr id="13" name="app-node-1">
            <a:extLst xmlns:a="http://schemas.openxmlformats.org/drawingml/2006/main">
              <a:ext uri="{FF2B5EF4-FFF2-40B4-BE49-F238E27FC236}">
                <a16:creationId xmlns:a16="http://schemas.microsoft.com/office/drawing/2014/main" id="{681F21AC-F8FB-498F-8048-86181A082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2910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方案设计</a:t>
            </a:r>
          </a:p>
        </p:txBody>
      </p:sp>
      <p:sp>
        <p:nvSpPr>
          <p:cNvPr id="14" name="app-node-2">
            <a:extLst xmlns:a="http://schemas.openxmlformats.org/drawingml/2006/main">
              <a:ext uri="{FF2B5EF4-FFF2-40B4-BE49-F238E27FC236}">
                <a16:creationId xmlns:a16="http://schemas.microsoft.com/office/drawing/2014/main" id="{6D5E6C2B-7E03-4825-8348-82E1064C4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6260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辅助决策</a:t>
            </a:r>
          </a:p>
        </p:txBody>
      </p:sp>
      <p:sp>
        <p:nvSpPr>
          <p:cNvPr id="15" name="app-node-3">
            <a:extLst xmlns:a="http://schemas.openxmlformats.org/drawingml/2006/main">
              <a:ext uri="{FF2B5EF4-FFF2-40B4-BE49-F238E27FC236}">
                <a16:creationId xmlns:a16="http://schemas.microsoft.com/office/drawing/2014/main" id="{B0EFA908-F36F-4F3B-BE94-FF2AE5088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9610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成果服务</a:t>
            </a:r>
          </a:p>
        </p:txBody>
      </p:sp>
      <p:sp>
        <p:nvSpPr>
          <p:cNvPr id="16" name="app-node-4">
            <a:extLst xmlns:a="http://schemas.openxmlformats.org/drawingml/2006/main">
              <a:ext uri="{FF2B5EF4-FFF2-40B4-BE49-F238E27FC236}">
                <a16:creationId xmlns:a16="http://schemas.microsoft.com/office/drawing/2014/main" id="{47F11CDF-B561-43A6-9500-87BB9D54F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22960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风险预警</a:t>
            </a:r>
          </a:p>
        </p:txBody>
      </p:sp>
      <p:sp>
        <p:nvSpPr>
          <p:cNvPr id="17" name="layer-platform">
            <a:extLst xmlns:a="http://schemas.openxmlformats.org/drawingml/2006/main">
              <a:ext uri="{FF2B5EF4-FFF2-40B4-BE49-F238E27FC236}">
                <a16:creationId xmlns:a16="http://schemas.microsoft.com/office/drawing/2014/main" id="{396AD799-B5B3-42BE-A47A-B367A5FD3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86000" y="3505200"/>
            <a:ext cx="76200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238A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统一研究与能力平台</a:t>
            </a:r>
          </a:p>
        </p:txBody>
      </p:sp>
      <p:sp>
        <p:nvSpPr>
          <p:cNvPr id="18" name="source-node-0">
            <a:extLst xmlns:a="http://schemas.openxmlformats.org/drawingml/2006/main">
              <a:ext uri="{FF2B5EF4-FFF2-40B4-BE49-F238E27FC236}">
                <a16:creationId xmlns:a16="http://schemas.microsoft.com/office/drawing/2014/main" id="{BF8051A5-1FB3-4B29-B71C-D2351A642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24350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业务数据</a:t>
            </a:r>
          </a:p>
        </p:txBody>
      </p:sp>
      <p:sp>
        <p:nvSpPr>
          <p:cNvPr id="19" name="source-node-1">
            <a:extLst xmlns:a="http://schemas.openxmlformats.org/drawingml/2006/main">
              <a:ext uri="{FF2B5EF4-FFF2-40B4-BE49-F238E27FC236}">
                <a16:creationId xmlns:a16="http://schemas.microsoft.com/office/drawing/2014/main" id="{86074E15-A512-40E3-A3E1-DD93B0C60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62600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实验数据</a:t>
            </a:r>
          </a:p>
        </p:txBody>
      </p:sp>
      <p:sp>
        <p:nvSpPr>
          <p:cNvPr id="20" name="source-node-2">
            <a:extLst xmlns:a="http://schemas.openxmlformats.org/drawingml/2006/main">
              <a:ext uri="{FF2B5EF4-FFF2-40B4-BE49-F238E27FC236}">
                <a16:creationId xmlns:a16="http://schemas.microsoft.com/office/drawing/2014/main" id="{07E7E572-334E-402B-A1BB-0C8DD6D29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00850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文献资料</a:t>
            </a:r>
          </a:p>
        </p:txBody>
      </p:sp>
    </p:spTree>
    <p:extLst>
      <p:ext uri="{BB962C8B-B14F-4D97-AF65-F5344CB8AC3E}">
        <p14:creationId xmlns:p14="http://schemas.microsoft.com/office/powerpoint/2010/main" val="160507667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source-line-0">
            <a:extLst xmlns:a="http://schemas.openxmlformats.org/drawingml/2006/main">
              <a:ext uri="{FF2B5EF4-FFF2-40B4-BE49-F238E27FC236}">
                <a16:creationId xmlns:a16="http://schemas.microsoft.com/office/drawing/2014/main" id="{F6F35DD4-3321-4040-91C3-865E0AB80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48225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ource-line-1">
            <a:extLst xmlns:a="http://schemas.openxmlformats.org/drawingml/2006/main">
              <a:ext uri="{FF2B5EF4-FFF2-40B4-BE49-F238E27FC236}">
                <a16:creationId xmlns:a16="http://schemas.microsoft.com/office/drawing/2014/main" id="{8AD0E62D-D437-4C86-8157-779ADFB3A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86475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ource-line-2">
            <a:extLst xmlns:a="http://schemas.openxmlformats.org/drawingml/2006/main">
              <a:ext uri="{FF2B5EF4-FFF2-40B4-BE49-F238E27FC236}">
                <a16:creationId xmlns:a16="http://schemas.microsoft.com/office/drawing/2014/main" id="{42D9BC34-7F3A-46B5-911E-2D2AA91E8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24725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app-line-0">
            <a:extLst xmlns:a="http://schemas.openxmlformats.org/drawingml/2006/main">
              <a:ext uri="{FF2B5EF4-FFF2-40B4-BE49-F238E27FC236}">
                <a16:creationId xmlns:a16="http://schemas.microsoft.com/office/drawing/2014/main" id="{A267DCD9-C898-427D-8849-2CE6FFAA7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5272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app-line-1">
            <a:extLst xmlns:a="http://schemas.openxmlformats.org/drawingml/2006/main">
              <a:ext uri="{FF2B5EF4-FFF2-40B4-BE49-F238E27FC236}">
                <a16:creationId xmlns:a16="http://schemas.microsoft.com/office/drawing/2014/main" id="{C1131D44-5083-4DF3-8E43-24F8C8AE9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8622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app-line-2">
            <a:extLst xmlns:a="http://schemas.openxmlformats.org/drawingml/2006/main">
              <a:ext uri="{FF2B5EF4-FFF2-40B4-BE49-F238E27FC236}">
                <a16:creationId xmlns:a16="http://schemas.microsoft.com/office/drawing/2014/main" id="{40345D76-A1E5-4ADA-9597-FAF446103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1972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app-line-3">
            <a:extLst xmlns:a="http://schemas.openxmlformats.org/drawingml/2006/main">
              <a:ext uri="{FF2B5EF4-FFF2-40B4-BE49-F238E27FC236}">
                <a16:creationId xmlns:a16="http://schemas.microsoft.com/office/drawing/2014/main" id="{8F6E5342-E3A0-4777-948C-4678638C8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5322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app-line-4">
            <a:extLst xmlns:a="http://schemas.openxmlformats.org/drawingml/2006/main">
              <a:ext uri="{FF2B5EF4-FFF2-40B4-BE49-F238E27FC236}">
                <a16:creationId xmlns:a16="http://schemas.microsoft.com/office/drawing/2014/main" id="{C7036220-4CDD-4D45-AE92-A90DAC2EE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app-line-5">
            <a:extLst xmlns:a="http://schemas.openxmlformats.org/drawingml/2006/main">
              <a:ext uri="{FF2B5EF4-FFF2-40B4-BE49-F238E27FC236}">
                <a16:creationId xmlns:a16="http://schemas.microsoft.com/office/drawing/2014/main" id="{0241674E-05B8-4D43-A1DE-6F7AB99FA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42022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label-app">
            <a:extLst xmlns:a="http://schemas.openxmlformats.org/drawingml/2006/main">
              <a:ext uri="{FF2B5EF4-FFF2-40B4-BE49-F238E27FC236}">
                <a16:creationId xmlns:a16="http://schemas.microsoft.com/office/drawing/2014/main" id="{1701088D-BB73-46A9-8916-F42B2614F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914525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应用层</a:t>
            </a:r>
          </a:p>
        </p:txBody>
      </p:sp>
      <p:sp>
        <p:nvSpPr>
          <p:cNvPr id="11" name="label-platform">
            <a:extLst xmlns:a="http://schemas.openxmlformats.org/drawingml/2006/main">
              <a:ext uri="{FF2B5EF4-FFF2-40B4-BE49-F238E27FC236}">
                <a16:creationId xmlns:a16="http://schemas.microsoft.com/office/drawing/2014/main" id="{4E2DD159-52FE-4952-98FE-DB6DA884C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75285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18A9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8A9CB"/>
                </a:solidFill>
                <a:latin typeface="Microsoft YaHei"/>
                <a:ea typeface="Microsoft YaHei"/>
                <a:cs typeface="Microsoft YaHei"/>
              </a:rPr>
              <a:t>中台层</a:t>
            </a:r>
          </a:p>
        </p:txBody>
      </p:sp>
      <p:sp>
        <p:nvSpPr>
          <p:cNvPr id="12" name="label-source">
            <a:extLst xmlns:a="http://schemas.openxmlformats.org/drawingml/2006/main">
              <a:ext uri="{FF2B5EF4-FFF2-40B4-BE49-F238E27FC236}">
                <a16:creationId xmlns:a16="http://schemas.microsoft.com/office/drawing/2014/main" id="{49B349C4-05A0-447C-8E5F-2DAF00C63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563880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来源层</a:t>
            </a:r>
          </a:p>
        </p:txBody>
      </p:sp>
      <p:sp>
        <p:nvSpPr>
          <p:cNvPr id="13" name="app-node-0">
            <a:extLst xmlns:a="http://schemas.openxmlformats.org/drawingml/2006/main">
              <a:ext uri="{FF2B5EF4-FFF2-40B4-BE49-F238E27FC236}">
                <a16:creationId xmlns:a16="http://schemas.microsoft.com/office/drawing/2014/main" id="{1B5D309E-D1DB-4BE2-AFE2-75CD20CED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2885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智能分析</a:t>
            </a:r>
          </a:p>
        </p:txBody>
      </p:sp>
      <p:sp>
        <p:nvSpPr>
          <p:cNvPr id="14" name="app-node-1">
            <a:extLst xmlns:a="http://schemas.openxmlformats.org/drawingml/2006/main">
              <a:ext uri="{FF2B5EF4-FFF2-40B4-BE49-F238E27FC236}">
                <a16:creationId xmlns:a16="http://schemas.microsoft.com/office/drawing/2014/main" id="{F444BA50-CD32-4695-B8A2-F96FFC257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6235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方案设计</a:t>
            </a:r>
          </a:p>
        </p:txBody>
      </p:sp>
      <p:sp>
        <p:nvSpPr>
          <p:cNvPr id="15" name="app-node-2">
            <a:extLst xmlns:a="http://schemas.openxmlformats.org/drawingml/2006/main">
              <a:ext uri="{FF2B5EF4-FFF2-40B4-BE49-F238E27FC236}">
                <a16:creationId xmlns:a16="http://schemas.microsoft.com/office/drawing/2014/main" id="{FFA87DE0-27EC-4916-AF35-78B7BFA11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9585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辅助决策</a:t>
            </a:r>
          </a:p>
        </p:txBody>
      </p:sp>
      <p:sp>
        <p:nvSpPr>
          <p:cNvPr id="16" name="app-node-3">
            <a:extLst xmlns:a="http://schemas.openxmlformats.org/drawingml/2006/main">
              <a:ext uri="{FF2B5EF4-FFF2-40B4-BE49-F238E27FC236}">
                <a16:creationId xmlns:a16="http://schemas.microsoft.com/office/drawing/2014/main" id="{723199FD-164A-482A-B65C-B3033DD41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2935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成果服务</a:t>
            </a:r>
          </a:p>
        </p:txBody>
      </p:sp>
      <p:sp>
        <p:nvSpPr>
          <p:cNvPr id="17" name="app-node-4">
            <a:extLst xmlns:a="http://schemas.openxmlformats.org/drawingml/2006/main">
              <a:ext uri="{FF2B5EF4-FFF2-40B4-BE49-F238E27FC236}">
                <a16:creationId xmlns:a16="http://schemas.microsoft.com/office/drawing/2014/main" id="{B138E07A-3E98-4C8C-B608-1C4391940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6285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风险预警</a:t>
            </a:r>
          </a:p>
        </p:txBody>
      </p:sp>
      <p:sp>
        <p:nvSpPr>
          <p:cNvPr id="18" name="app-node-5">
            <a:extLst xmlns:a="http://schemas.openxmlformats.org/drawingml/2006/main">
              <a:ext uri="{FF2B5EF4-FFF2-40B4-BE49-F238E27FC236}">
                <a16:creationId xmlns:a16="http://schemas.microsoft.com/office/drawing/2014/main" id="{044E5DD4-3689-4136-93CD-329B1DA82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9635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持续评估</a:t>
            </a:r>
          </a:p>
        </p:txBody>
      </p:sp>
      <p:sp>
        <p:nvSpPr>
          <p:cNvPr id="19" name="layer-platform">
            <a:extLst xmlns:a="http://schemas.openxmlformats.org/drawingml/2006/main">
              <a:ext uri="{FF2B5EF4-FFF2-40B4-BE49-F238E27FC236}">
                <a16:creationId xmlns:a16="http://schemas.microsoft.com/office/drawing/2014/main" id="{D7875E79-5610-44FA-8DFD-130F42E81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86000" y="3505200"/>
            <a:ext cx="76200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238A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统一研究与能力平台</a:t>
            </a:r>
          </a:p>
        </p:txBody>
      </p:sp>
      <p:sp>
        <p:nvSpPr>
          <p:cNvPr id="20" name="source-node-0">
            <a:extLst xmlns:a="http://schemas.openxmlformats.org/drawingml/2006/main">
              <a:ext uri="{FF2B5EF4-FFF2-40B4-BE49-F238E27FC236}">
                <a16:creationId xmlns:a16="http://schemas.microsoft.com/office/drawing/2014/main" id="{E8C2D366-BC37-40C5-B0EE-B5DD8C8C2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24350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业务数据</a:t>
            </a:r>
          </a:p>
        </p:txBody>
      </p:sp>
      <p:sp>
        <p:nvSpPr>
          <p:cNvPr id="21" name="source-node-1">
            <a:extLst xmlns:a="http://schemas.openxmlformats.org/drawingml/2006/main">
              <a:ext uri="{FF2B5EF4-FFF2-40B4-BE49-F238E27FC236}">
                <a16:creationId xmlns:a16="http://schemas.microsoft.com/office/drawing/2014/main" id="{2FE798CF-55A6-4ADE-AABE-29ABD529A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62600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实验数据</a:t>
            </a:r>
          </a:p>
        </p:txBody>
      </p:sp>
      <p:sp>
        <p:nvSpPr>
          <p:cNvPr id="22" name="source-node-2">
            <a:extLst xmlns:a="http://schemas.openxmlformats.org/drawingml/2006/main">
              <a:ext uri="{FF2B5EF4-FFF2-40B4-BE49-F238E27FC236}">
                <a16:creationId xmlns:a16="http://schemas.microsoft.com/office/drawing/2014/main" id="{5F998C6F-A74A-4320-B3E3-1496F3ADE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00850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文献资料</a:t>
            </a:r>
          </a:p>
        </p:txBody>
      </p:sp>
    </p:spTree>
    <p:extLst>
      <p:ext uri="{BB962C8B-B14F-4D97-AF65-F5344CB8AC3E}">
        <p14:creationId xmlns:p14="http://schemas.microsoft.com/office/powerpoint/2010/main" val="21990652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source-line-0">
            <a:extLst xmlns:a="http://schemas.openxmlformats.org/drawingml/2006/main">
              <a:ext uri="{FF2B5EF4-FFF2-40B4-BE49-F238E27FC236}">
                <a16:creationId xmlns:a16="http://schemas.microsoft.com/office/drawing/2014/main" id="{B5B696EC-03F0-4C4B-8F66-9EF31AE34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29100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ource-line-1">
            <a:extLst xmlns:a="http://schemas.openxmlformats.org/drawingml/2006/main">
              <a:ext uri="{FF2B5EF4-FFF2-40B4-BE49-F238E27FC236}">
                <a16:creationId xmlns:a16="http://schemas.microsoft.com/office/drawing/2014/main" id="{EF81236F-A01E-410B-9439-B6242D0C4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67350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ource-line-2">
            <a:extLst xmlns:a="http://schemas.openxmlformats.org/drawingml/2006/main">
              <a:ext uri="{FF2B5EF4-FFF2-40B4-BE49-F238E27FC236}">
                <a16:creationId xmlns:a16="http://schemas.microsoft.com/office/drawing/2014/main" id="{F0494D91-67D6-45ED-BA2E-E66562B10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05600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ource-line-3">
            <a:extLst xmlns:a="http://schemas.openxmlformats.org/drawingml/2006/main">
              <a:ext uri="{FF2B5EF4-FFF2-40B4-BE49-F238E27FC236}">
                <a16:creationId xmlns:a16="http://schemas.microsoft.com/office/drawing/2014/main" id="{06C036F9-D4BD-4457-99DF-81865EBB3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43850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app-line-0">
            <a:extLst xmlns:a="http://schemas.openxmlformats.org/drawingml/2006/main">
              <a:ext uri="{FF2B5EF4-FFF2-40B4-BE49-F238E27FC236}">
                <a16:creationId xmlns:a16="http://schemas.microsoft.com/office/drawing/2014/main" id="{ECDED461-3D5C-4DBB-B9BE-A5C67CFBD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5297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app-line-1">
            <a:extLst xmlns:a="http://schemas.openxmlformats.org/drawingml/2006/main">
              <a:ext uri="{FF2B5EF4-FFF2-40B4-BE49-F238E27FC236}">
                <a16:creationId xmlns:a16="http://schemas.microsoft.com/office/drawing/2014/main" id="{7B491CD0-501F-4057-930A-3041C0BE9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8647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app-line-2">
            <a:extLst xmlns:a="http://schemas.openxmlformats.org/drawingml/2006/main">
              <a:ext uri="{FF2B5EF4-FFF2-40B4-BE49-F238E27FC236}">
                <a16:creationId xmlns:a16="http://schemas.microsoft.com/office/drawing/2014/main" id="{9AAAFA47-AAAA-43CE-8D53-60038146A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1997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label-app">
            <a:extLst xmlns:a="http://schemas.openxmlformats.org/drawingml/2006/main">
              <a:ext uri="{FF2B5EF4-FFF2-40B4-BE49-F238E27FC236}">
                <a16:creationId xmlns:a16="http://schemas.microsoft.com/office/drawing/2014/main" id="{2212FA69-AB61-410F-A839-677249729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914525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应用层</a:t>
            </a:r>
          </a:p>
        </p:txBody>
      </p:sp>
      <p:sp>
        <p:nvSpPr>
          <p:cNvPr id="9" name="label-platform">
            <a:extLst xmlns:a="http://schemas.openxmlformats.org/drawingml/2006/main">
              <a:ext uri="{FF2B5EF4-FFF2-40B4-BE49-F238E27FC236}">
                <a16:creationId xmlns:a16="http://schemas.microsoft.com/office/drawing/2014/main" id="{CA858C66-5A39-4040-8E21-4A43CBCC7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75285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18A9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8A9CB"/>
                </a:solidFill>
                <a:latin typeface="Microsoft YaHei"/>
                <a:ea typeface="Microsoft YaHei"/>
                <a:cs typeface="Microsoft YaHei"/>
              </a:rPr>
              <a:t>中台层</a:t>
            </a:r>
          </a:p>
        </p:txBody>
      </p:sp>
      <p:sp>
        <p:nvSpPr>
          <p:cNvPr id="10" name="label-source">
            <a:extLst xmlns:a="http://schemas.openxmlformats.org/drawingml/2006/main">
              <a:ext uri="{FF2B5EF4-FFF2-40B4-BE49-F238E27FC236}">
                <a16:creationId xmlns:a16="http://schemas.microsoft.com/office/drawing/2014/main" id="{BC0878D1-B908-48E0-B884-E4791867B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563880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来源层</a:t>
            </a:r>
          </a:p>
        </p:txBody>
      </p:sp>
      <p:sp>
        <p:nvSpPr>
          <p:cNvPr id="11" name="app-node-0">
            <a:extLst xmlns:a="http://schemas.openxmlformats.org/drawingml/2006/main">
              <a:ext uri="{FF2B5EF4-FFF2-40B4-BE49-F238E27FC236}">
                <a16:creationId xmlns:a16="http://schemas.microsoft.com/office/drawing/2014/main" id="{5FD23945-9502-4417-AD68-C4EC2A03E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2910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智能分析</a:t>
            </a:r>
          </a:p>
        </p:txBody>
      </p:sp>
      <p:sp>
        <p:nvSpPr>
          <p:cNvPr id="12" name="app-node-1">
            <a:extLst xmlns:a="http://schemas.openxmlformats.org/drawingml/2006/main">
              <a:ext uri="{FF2B5EF4-FFF2-40B4-BE49-F238E27FC236}">
                <a16:creationId xmlns:a16="http://schemas.microsoft.com/office/drawing/2014/main" id="{99288FF7-247C-4EEB-8393-8FE265897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6260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方案设计</a:t>
            </a:r>
          </a:p>
        </p:txBody>
      </p:sp>
      <p:sp>
        <p:nvSpPr>
          <p:cNvPr id="13" name="app-node-2">
            <a:extLst xmlns:a="http://schemas.openxmlformats.org/drawingml/2006/main">
              <a:ext uri="{FF2B5EF4-FFF2-40B4-BE49-F238E27FC236}">
                <a16:creationId xmlns:a16="http://schemas.microsoft.com/office/drawing/2014/main" id="{7CBD92F0-F039-46CF-97D0-BB7C8CDDE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9610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辅助决策</a:t>
            </a:r>
          </a:p>
        </p:txBody>
      </p:sp>
      <p:sp>
        <p:nvSpPr>
          <p:cNvPr id="14" name="layer-platform">
            <a:extLst xmlns:a="http://schemas.openxmlformats.org/drawingml/2006/main">
              <a:ext uri="{FF2B5EF4-FFF2-40B4-BE49-F238E27FC236}">
                <a16:creationId xmlns:a16="http://schemas.microsoft.com/office/drawing/2014/main" id="{A015CBC6-CF50-487E-B7DD-859A5BB87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86000" y="3505200"/>
            <a:ext cx="76200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238A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统一研究与能力平台</a:t>
            </a:r>
          </a:p>
        </p:txBody>
      </p:sp>
      <p:sp>
        <p:nvSpPr>
          <p:cNvPr id="15" name="source-node-0">
            <a:extLst xmlns:a="http://schemas.openxmlformats.org/drawingml/2006/main">
              <a:ext uri="{FF2B5EF4-FFF2-40B4-BE49-F238E27FC236}">
                <a16:creationId xmlns:a16="http://schemas.microsoft.com/office/drawing/2014/main" id="{A8161ECF-105A-4E85-BD57-E600DCF67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05225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业务数据</a:t>
            </a:r>
          </a:p>
        </p:txBody>
      </p:sp>
      <p:sp>
        <p:nvSpPr>
          <p:cNvPr id="16" name="source-node-1">
            <a:extLst xmlns:a="http://schemas.openxmlformats.org/drawingml/2006/main">
              <a:ext uri="{FF2B5EF4-FFF2-40B4-BE49-F238E27FC236}">
                <a16:creationId xmlns:a16="http://schemas.microsoft.com/office/drawing/2014/main" id="{E6C5C8B7-11AC-46F2-8338-C29DBF273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43475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实验数据</a:t>
            </a:r>
          </a:p>
        </p:txBody>
      </p:sp>
      <p:sp>
        <p:nvSpPr>
          <p:cNvPr id="17" name="source-node-2">
            <a:extLst xmlns:a="http://schemas.openxmlformats.org/drawingml/2006/main">
              <a:ext uri="{FF2B5EF4-FFF2-40B4-BE49-F238E27FC236}">
                <a16:creationId xmlns:a16="http://schemas.microsoft.com/office/drawing/2014/main" id="{6F00F7F6-58CE-4642-9A00-12222740F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81725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文献资料</a:t>
            </a:r>
          </a:p>
        </p:txBody>
      </p:sp>
      <p:sp>
        <p:nvSpPr>
          <p:cNvPr id="18" name="source-node-3">
            <a:extLst xmlns:a="http://schemas.openxmlformats.org/drawingml/2006/main">
              <a:ext uri="{FF2B5EF4-FFF2-40B4-BE49-F238E27FC236}">
                <a16:creationId xmlns:a16="http://schemas.microsoft.com/office/drawing/2014/main" id="{0A558328-92D1-4AD5-A4A1-2756D60ED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19975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外部接口</a:t>
            </a:r>
          </a:p>
        </p:txBody>
      </p:sp>
    </p:spTree>
    <p:extLst>
      <p:ext uri="{BB962C8B-B14F-4D97-AF65-F5344CB8AC3E}">
        <p14:creationId xmlns:p14="http://schemas.microsoft.com/office/powerpoint/2010/main" val="72592177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source-line-0">
            <a:extLst xmlns:a="http://schemas.openxmlformats.org/drawingml/2006/main">
              <a:ext uri="{FF2B5EF4-FFF2-40B4-BE49-F238E27FC236}">
                <a16:creationId xmlns:a16="http://schemas.microsoft.com/office/drawing/2014/main" id="{EDE17D36-E792-4999-9BC3-7E435170A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29100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ource-line-1">
            <a:extLst xmlns:a="http://schemas.openxmlformats.org/drawingml/2006/main">
              <a:ext uri="{FF2B5EF4-FFF2-40B4-BE49-F238E27FC236}">
                <a16:creationId xmlns:a16="http://schemas.microsoft.com/office/drawing/2014/main" id="{18DC7855-4D44-41DC-A89F-D5D437496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67350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ource-line-2">
            <a:extLst xmlns:a="http://schemas.openxmlformats.org/drawingml/2006/main">
              <a:ext uri="{FF2B5EF4-FFF2-40B4-BE49-F238E27FC236}">
                <a16:creationId xmlns:a16="http://schemas.microsoft.com/office/drawing/2014/main" id="{FAA8C9C7-72BB-4F84-B3CF-394E08AC8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05600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ource-line-3">
            <a:extLst xmlns:a="http://schemas.openxmlformats.org/drawingml/2006/main">
              <a:ext uri="{FF2B5EF4-FFF2-40B4-BE49-F238E27FC236}">
                <a16:creationId xmlns:a16="http://schemas.microsoft.com/office/drawing/2014/main" id="{04F53D58-3526-442C-82BD-87C68E4F2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43850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app-line-0">
            <a:extLst xmlns:a="http://schemas.openxmlformats.org/drawingml/2006/main">
              <a:ext uri="{FF2B5EF4-FFF2-40B4-BE49-F238E27FC236}">
                <a16:creationId xmlns:a16="http://schemas.microsoft.com/office/drawing/2014/main" id="{FA743A3B-844C-403D-8EAF-FA58A8025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8622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app-line-1">
            <a:extLst xmlns:a="http://schemas.openxmlformats.org/drawingml/2006/main">
              <a:ext uri="{FF2B5EF4-FFF2-40B4-BE49-F238E27FC236}">
                <a16:creationId xmlns:a16="http://schemas.microsoft.com/office/drawing/2014/main" id="{CFB2CB3F-3761-493A-8BF3-77509DB1A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1972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app-line-2">
            <a:extLst xmlns:a="http://schemas.openxmlformats.org/drawingml/2006/main">
              <a:ext uri="{FF2B5EF4-FFF2-40B4-BE49-F238E27FC236}">
                <a16:creationId xmlns:a16="http://schemas.microsoft.com/office/drawing/2014/main" id="{71E71BE1-6A64-47D5-9EFA-F5AD2E47A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5322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app-line-3">
            <a:extLst xmlns:a="http://schemas.openxmlformats.org/drawingml/2006/main">
              <a:ext uri="{FF2B5EF4-FFF2-40B4-BE49-F238E27FC236}">
                <a16:creationId xmlns:a16="http://schemas.microsoft.com/office/drawing/2014/main" id="{D4FAAA70-BA54-42DF-8195-64E3E3179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label-app">
            <a:extLst xmlns:a="http://schemas.openxmlformats.org/drawingml/2006/main">
              <a:ext uri="{FF2B5EF4-FFF2-40B4-BE49-F238E27FC236}">
                <a16:creationId xmlns:a16="http://schemas.microsoft.com/office/drawing/2014/main" id="{406D2455-EA7F-4CA8-B2DC-D0359BC91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914525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应用层</a:t>
            </a:r>
          </a:p>
        </p:txBody>
      </p:sp>
      <p:sp>
        <p:nvSpPr>
          <p:cNvPr id="10" name="label-platform">
            <a:extLst xmlns:a="http://schemas.openxmlformats.org/drawingml/2006/main">
              <a:ext uri="{FF2B5EF4-FFF2-40B4-BE49-F238E27FC236}">
                <a16:creationId xmlns:a16="http://schemas.microsoft.com/office/drawing/2014/main" id="{89EAA9AE-EFAF-4EF5-BCDC-D9B223322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75285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18A9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8A9CB"/>
                </a:solidFill>
                <a:latin typeface="Microsoft YaHei"/>
                <a:ea typeface="Microsoft YaHei"/>
                <a:cs typeface="Microsoft YaHei"/>
              </a:rPr>
              <a:t>中台层</a:t>
            </a:r>
          </a:p>
        </p:txBody>
      </p:sp>
      <p:sp>
        <p:nvSpPr>
          <p:cNvPr id="11" name="label-source">
            <a:extLst xmlns:a="http://schemas.openxmlformats.org/drawingml/2006/main">
              <a:ext uri="{FF2B5EF4-FFF2-40B4-BE49-F238E27FC236}">
                <a16:creationId xmlns:a16="http://schemas.microsoft.com/office/drawing/2014/main" id="{552F6C28-B613-4D40-B453-F23C36958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563880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来源层</a:t>
            </a:r>
          </a:p>
        </p:txBody>
      </p:sp>
      <p:sp>
        <p:nvSpPr>
          <p:cNvPr id="12" name="app-node-0">
            <a:extLst xmlns:a="http://schemas.openxmlformats.org/drawingml/2006/main">
              <a:ext uri="{FF2B5EF4-FFF2-40B4-BE49-F238E27FC236}">
                <a16:creationId xmlns:a16="http://schemas.microsoft.com/office/drawing/2014/main" id="{3B93CF8B-8036-4DF0-9DC3-C06BEF6D2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6235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智能分析</a:t>
            </a:r>
          </a:p>
        </p:txBody>
      </p:sp>
      <p:sp>
        <p:nvSpPr>
          <p:cNvPr id="13" name="app-node-1">
            <a:extLst xmlns:a="http://schemas.openxmlformats.org/drawingml/2006/main">
              <a:ext uri="{FF2B5EF4-FFF2-40B4-BE49-F238E27FC236}">
                <a16:creationId xmlns:a16="http://schemas.microsoft.com/office/drawing/2014/main" id="{1ECEC15F-6555-47F3-8DEE-023E0D601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9585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方案设计</a:t>
            </a:r>
          </a:p>
        </p:txBody>
      </p:sp>
      <p:sp>
        <p:nvSpPr>
          <p:cNvPr id="14" name="app-node-2">
            <a:extLst xmlns:a="http://schemas.openxmlformats.org/drawingml/2006/main">
              <a:ext uri="{FF2B5EF4-FFF2-40B4-BE49-F238E27FC236}">
                <a16:creationId xmlns:a16="http://schemas.microsoft.com/office/drawing/2014/main" id="{B938690D-21A6-4414-9313-B5FE12F4E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2935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辅助决策</a:t>
            </a:r>
          </a:p>
        </p:txBody>
      </p:sp>
      <p:sp>
        <p:nvSpPr>
          <p:cNvPr id="15" name="app-node-3">
            <a:extLst xmlns:a="http://schemas.openxmlformats.org/drawingml/2006/main">
              <a:ext uri="{FF2B5EF4-FFF2-40B4-BE49-F238E27FC236}">
                <a16:creationId xmlns:a16="http://schemas.microsoft.com/office/drawing/2014/main" id="{35BAEADB-C7D8-4BA7-ADCE-7B069564A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6285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成果服务</a:t>
            </a:r>
          </a:p>
        </p:txBody>
      </p:sp>
      <p:sp>
        <p:nvSpPr>
          <p:cNvPr id="16" name="layer-platform">
            <a:extLst xmlns:a="http://schemas.openxmlformats.org/drawingml/2006/main">
              <a:ext uri="{FF2B5EF4-FFF2-40B4-BE49-F238E27FC236}">
                <a16:creationId xmlns:a16="http://schemas.microsoft.com/office/drawing/2014/main" id="{D656E8B4-94F8-4C3D-8491-40AABF143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86000" y="3505200"/>
            <a:ext cx="76200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238A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统一研究与能力平台</a:t>
            </a:r>
          </a:p>
        </p:txBody>
      </p:sp>
      <p:sp>
        <p:nvSpPr>
          <p:cNvPr id="17" name="source-node-0">
            <a:extLst xmlns:a="http://schemas.openxmlformats.org/drawingml/2006/main">
              <a:ext uri="{FF2B5EF4-FFF2-40B4-BE49-F238E27FC236}">
                <a16:creationId xmlns:a16="http://schemas.microsoft.com/office/drawing/2014/main" id="{8FC05CD9-C6A3-46F0-9AAC-9F13DEB6D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05225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业务数据</a:t>
            </a:r>
          </a:p>
        </p:txBody>
      </p:sp>
      <p:sp>
        <p:nvSpPr>
          <p:cNvPr id="18" name="source-node-1">
            <a:extLst xmlns:a="http://schemas.openxmlformats.org/drawingml/2006/main">
              <a:ext uri="{FF2B5EF4-FFF2-40B4-BE49-F238E27FC236}">
                <a16:creationId xmlns:a16="http://schemas.microsoft.com/office/drawing/2014/main" id="{11D8DF7E-D9C2-4272-B12C-DD1A3C198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43475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实验数据</a:t>
            </a:r>
          </a:p>
        </p:txBody>
      </p:sp>
      <p:sp>
        <p:nvSpPr>
          <p:cNvPr id="19" name="source-node-2">
            <a:extLst xmlns:a="http://schemas.openxmlformats.org/drawingml/2006/main">
              <a:ext uri="{FF2B5EF4-FFF2-40B4-BE49-F238E27FC236}">
                <a16:creationId xmlns:a16="http://schemas.microsoft.com/office/drawing/2014/main" id="{B49ACBA4-EECD-4737-A371-AC75873E0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81725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文献资料</a:t>
            </a:r>
          </a:p>
        </p:txBody>
      </p:sp>
      <p:sp>
        <p:nvSpPr>
          <p:cNvPr id="20" name="source-node-3">
            <a:extLst xmlns:a="http://schemas.openxmlformats.org/drawingml/2006/main">
              <a:ext uri="{FF2B5EF4-FFF2-40B4-BE49-F238E27FC236}">
                <a16:creationId xmlns:a16="http://schemas.microsoft.com/office/drawing/2014/main" id="{DC7782AD-8670-4F5E-95F0-3764A54A7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19975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外部接口</a:t>
            </a:r>
          </a:p>
        </p:txBody>
      </p:sp>
    </p:spTree>
    <p:extLst>
      <p:ext uri="{BB962C8B-B14F-4D97-AF65-F5344CB8AC3E}">
        <p14:creationId xmlns:p14="http://schemas.microsoft.com/office/powerpoint/2010/main" val="10665657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source-line-0">
            <a:extLst xmlns:a="http://schemas.openxmlformats.org/drawingml/2006/main">
              <a:ext uri="{FF2B5EF4-FFF2-40B4-BE49-F238E27FC236}">
                <a16:creationId xmlns:a16="http://schemas.microsoft.com/office/drawing/2014/main" id="{161CB110-DF74-49EE-8C57-2842757D7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29100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ource-line-1">
            <a:extLst xmlns:a="http://schemas.openxmlformats.org/drawingml/2006/main">
              <a:ext uri="{FF2B5EF4-FFF2-40B4-BE49-F238E27FC236}">
                <a16:creationId xmlns:a16="http://schemas.microsoft.com/office/drawing/2014/main" id="{F21DF5A6-EA26-481E-B837-13220B9EE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67350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ource-line-2">
            <a:extLst xmlns:a="http://schemas.openxmlformats.org/drawingml/2006/main">
              <a:ext uri="{FF2B5EF4-FFF2-40B4-BE49-F238E27FC236}">
                <a16:creationId xmlns:a16="http://schemas.microsoft.com/office/drawing/2014/main" id="{0A86BC2B-8632-4223-A653-E597EC846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05600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ource-line-3">
            <a:extLst xmlns:a="http://schemas.openxmlformats.org/drawingml/2006/main">
              <a:ext uri="{FF2B5EF4-FFF2-40B4-BE49-F238E27FC236}">
                <a16:creationId xmlns:a16="http://schemas.microsoft.com/office/drawing/2014/main" id="{7E43CC5E-CA4D-410F-B2EA-15BD2C5C3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43850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app-line-0">
            <a:extLst xmlns:a="http://schemas.openxmlformats.org/drawingml/2006/main">
              <a:ext uri="{FF2B5EF4-FFF2-40B4-BE49-F238E27FC236}">
                <a16:creationId xmlns:a16="http://schemas.microsoft.com/office/drawing/2014/main" id="{61211A6E-E184-44E9-B199-30C1B7B9E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1947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app-line-1">
            <a:extLst xmlns:a="http://schemas.openxmlformats.org/drawingml/2006/main">
              <a:ext uri="{FF2B5EF4-FFF2-40B4-BE49-F238E27FC236}">
                <a16:creationId xmlns:a16="http://schemas.microsoft.com/office/drawing/2014/main" id="{30402E51-C75C-42A6-967F-1057B34B0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5297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app-line-2">
            <a:extLst xmlns:a="http://schemas.openxmlformats.org/drawingml/2006/main">
              <a:ext uri="{FF2B5EF4-FFF2-40B4-BE49-F238E27FC236}">
                <a16:creationId xmlns:a16="http://schemas.microsoft.com/office/drawing/2014/main" id="{43BB55B9-5219-4E61-BF41-45BBCD418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8647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app-line-3">
            <a:extLst xmlns:a="http://schemas.openxmlformats.org/drawingml/2006/main">
              <a:ext uri="{FF2B5EF4-FFF2-40B4-BE49-F238E27FC236}">
                <a16:creationId xmlns:a16="http://schemas.microsoft.com/office/drawing/2014/main" id="{62BB549D-B2E0-402F-B178-B76B4AA69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1997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app-line-4">
            <a:extLst xmlns:a="http://schemas.openxmlformats.org/drawingml/2006/main">
              <a:ext uri="{FF2B5EF4-FFF2-40B4-BE49-F238E27FC236}">
                <a16:creationId xmlns:a16="http://schemas.microsoft.com/office/drawing/2014/main" id="{C5E03C70-F2D0-4E45-AECC-B6A03E1AF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5347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label-app">
            <a:extLst xmlns:a="http://schemas.openxmlformats.org/drawingml/2006/main">
              <a:ext uri="{FF2B5EF4-FFF2-40B4-BE49-F238E27FC236}">
                <a16:creationId xmlns:a16="http://schemas.microsoft.com/office/drawing/2014/main" id="{4322FE68-B95E-46D6-9A6B-64CA9B506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914525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应用层</a:t>
            </a:r>
          </a:p>
        </p:txBody>
      </p:sp>
      <p:sp>
        <p:nvSpPr>
          <p:cNvPr id="11" name="label-platform">
            <a:extLst xmlns:a="http://schemas.openxmlformats.org/drawingml/2006/main">
              <a:ext uri="{FF2B5EF4-FFF2-40B4-BE49-F238E27FC236}">
                <a16:creationId xmlns:a16="http://schemas.microsoft.com/office/drawing/2014/main" id="{50C7F265-7216-47FE-BEC3-73833EB66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75285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18A9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8A9CB"/>
                </a:solidFill>
                <a:latin typeface="Microsoft YaHei"/>
                <a:ea typeface="Microsoft YaHei"/>
                <a:cs typeface="Microsoft YaHei"/>
              </a:rPr>
              <a:t>中台层</a:t>
            </a:r>
          </a:p>
        </p:txBody>
      </p:sp>
      <p:sp>
        <p:nvSpPr>
          <p:cNvPr id="12" name="label-source">
            <a:extLst xmlns:a="http://schemas.openxmlformats.org/drawingml/2006/main">
              <a:ext uri="{FF2B5EF4-FFF2-40B4-BE49-F238E27FC236}">
                <a16:creationId xmlns:a16="http://schemas.microsoft.com/office/drawing/2014/main" id="{68D1DB6A-9427-48BB-B982-B54DB8E68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563880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来源层</a:t>
            </a:r>
          </a:p>
        </p:txBody>
      </p:sp>
      <p:sp>
        <p:nvSpPr>
          <p:cNvPr id="13" name="app-node-0">
            <a:extLst xmlns:a="http://schemas.openxmlformats.org/drawingml/2006/main">
              <a:ext uri="{FF2B5EF4-FFF2-40B4-BE49-F238E27FC236}">
                <a16:creationId xmlns:a16="http://schemas.microsoft.com/office/drawing/2014/main" id="{80DD55B7-BBB4-4EC0-8491-E8F70699C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9560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智能分析</a:t>
            </a:r>
          </a:p>
        </p:txBody>
      </p:sp>
      <p:sp>
        <p:nvSpPr>
          <p:cNvPr id="14" name="app-node-1">
            <a:extLst xmlns:a="http://schemas.openxmlformats.org/drawingml/2006/main">
              <a:ext uri="{FF2B5EF4-FFF2-40B4-BE49-F238E27FC236}">
                <a16:creationId xmlns:a16="http://schemas.microsoft.com/office/drawing/2014/main" id="{2099E5B1-5504-41A3-8D6F-6CC00EDAB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2910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方案设计</a:t>
            </a:r>
          </a:p>
        </p:txBody>
      </p:sp>
      <p:sp>
        <p:nvSpPr>
          <p:cNvPr id="15" name="app-node-2">
            <a:extLst xmlns:a="http://schemas.openxmlformats.org/drawingml/2006/main">
              <a:ext uri="{FF2B5EF4-FFF2-40B4-BE49-F238E27FC236}">
                <a16:creationId xmlns:a16="http://schemas.microsoft.com/office/drawing/2014/main" id="{38A5526D-6D20-4D8C-8860-DC9F951CB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6260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辅助决策</a:t>
            </a:r>
          </a:p>
        </p:txBody>
      </p:sp>
      <p:sp>
        <p:nvSpPr>
          <p:cNvPr id="16" name="app-node-3">
            <a:extLst xmlns:a="http://schemas.openxmlformats.org/drawingml/2006/main">
              <a:ext uri="{FF2B5EF4-FFF2-40B4-BE49-F238E27FC236}">
                <a16:creationId xmlns:a16="http://schemas.microsoft.com/office/drawing/2014/main" id="{4D7F482C-3502-41F7-B332-063A053BF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9610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成果服务</a:t>
            </a:r>
          </a:p>
        </p:txBody>
      </p:sp>
      <p:sp>
        <p:nvSpPr>
          <p:cNvPr id="17" name="app-node-4">
            <a:extLst xmlns:a="http://schemas.openxmlformats.org/drawingml/2006/main">
              <a:ext uri="{FF2B5EF4-FFF2-40B4-BE49-F238E27FC236}">
                <a16:creationId xmlns:a16="http://schemas.microsoft.com/office/drawing/2014/main" id="{362DFE22-0FB9-46F6-9DEB-18526D9FC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22960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风险预警</a:t>
            </a:r>
          </a:p>
        </p:txBody>
      </p:sp>
      <p:sp>
        <p:nvSpPr>
          <p:cNvPr id="18" name="layer-platform">
            <a:extLst xmlns:a="http://schemas.openxmlformats.org/drawingml/2006/main">
              <a:ext uri="{FF2B5EF4-FFF2-40B4-BE49-F238E27FC236}">
                <a16:creationId xmlns:a16="http://schemas.microsoft.com/office/drawing/2014/main" id="{B72F0376-A20D-4F76-B092-638B6504A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86000" y="3505200"/>
            <a:ext cx="76200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238A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统一研究与能力平台</a:t>
            </a:r>
          </a:p>
        </p:txBody>
      </p:sp>
      <p:sp>
        <p:nvSpPr>
          <p:cNvPr id="19" name="source-node-0">
            <a:extLst xmlns:a="http://schemas.openxmlformats.org/drawingml/2006/main">
              <a:ext uri="{FF2B5EF4-FFF2-40B4-BE49-F238E27FC236}">
                <a16:creationId xmlns:a16="http://schemas.microsoft.com/office/drawing/2014/main" id="{ABE5CA47-DEC2-4403-90D0-C1A706BAA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05225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业务数据</a:t>
            </a:r>
          </a:p>
        </p:txBody>
      </p:sp>
      <p:sp>
        <p:nvSpPr>
          <p:cNvPr id="20" name="source-node-1">
            <a:extLst xmlns:a="http://schemas.openxmlformats.org/drawingml/2006/main">
              <a:ext uri="{FF2B5EF4-FFF2-40B4-BE49-F238E27FC236}">
                <a16:creationId xmlns:a16="http://schemas.microsoft.com/office/drawing/2014/main" id="{8DB23781-96EE-431C-A374-C70C34E77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43475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实验数据</a:t>
            </a:r>
          </a:p>
        </p:txBody>
      </p:sp>
      <p:sp>
        <p:nvSpPr>
          <p:cNvPr id="21" name="source-node-2">
            <a:extLst xmlns:a="http://schemas.openxmlformats.org/drawingml/2006/main">
              <a:ext uri="{FF2B5EF4-FFF2-40B4-BE49-F238E27FC236}">
                <a16:creationId xmlns:a16="http://schemas.microsoft.com/office/drawing/2014/main" id="{6DEAB511-04E9-4045-92FE-FA6B5F999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81725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文献资料</a:t>
            </a:r>
          </a:p>
        </p:txBody>
      </p:sp>
      <p:sp>
        <p:nvSpPr>
          <p:cNvPr id="22" name="source-node-3">
            <a:extLst xmlns:a="http://schemas.openxmlformats.org/drawingml/2006/main">
              <a:ext uri="{FF2B5EF4-FFF2-40B4-BE49-F238E27FC236}">
                <a16:creationId xmlns:a16="http://schemas.microsoft.com/office/drawing/2014/main" id="{EF9A4174-81B7-4BF3-81FF-F508B9240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19975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外部接口</a:t>
            </a:r>
          </a:p>
        </p:txBody>
      </p:sp>
    </p:spTree>
    <p:extLst>
      <p:ext uri="{BB962C8B-B14F-4D97-AF65-F5344CB8AC3E}">
        <p14:creationId xmlns:p14="http://schemas.microsoft.com/office/powerpoint/2010/main" val="196663825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ource-line-0">
            <a:extLst xmlns:a="http://schemas.openxmlformats.org/drawingml/2006/main">
              <a:ext uri="{FF2B5EF4-FFF2-40B4-BE49-F238E27FC236}">
                <a16:creationId xmlns:a16="http://schemas.microsoft.com/office/drawing/2014/main" id="{36726154-7B74-4912-BDF1-474CE93ED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29100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ource-line-1">
            <a:extLst xmlns:a="http://schemas.openxmlformats.org/drawingml/2006/main">
              <a:ext uri="{FF2B5EF4-FFF2-40B4-BE49-F238E27FC236}">
                <a16:creationId xmlns:a16="http://schemas.microsoft.com/office/drawing/2014/main" id="{C8BA1C4F-FAAC-4EA1-BDD4-3195CFBAD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67350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ource-line-2">
            <a:extLst xmlns:a="http://schemas.openxmlformats.org/drawingml/2006/main">
              <a:ext uri="{FF2B5EF4-FFF2-40B4-BE49-F238E27FC236}">
                <a16:creationId xmlns:a16="http://schemas.microsoft.com/office/drawing/2014/main" id="{0C81B2C5-4F04-4FC7-9C4E-2C410842D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05600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ource-line-3">
            <a:extLst xmlns:a="http://schemas.openxmlformats.org/drawingml/2006/main">
              <a:ext uri="{FF2B5EF4-FFF2-40B4-BE49-F238E27FC236}">
                <a16:creationId xmlns:a16="http://schemas.microsoft.com/office/drawing/2014/main" id="{9C9C7F1A-E745-4CEE-A14E-E798E622A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43850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app-line-0">
            <a:extLst xmlns:a="http://schemas.openxmlformats.org/drawingml/2006/main">
              <a:ext uri="{FF2B5EF4-FFF2-40B4-BE49-F238E27FC236}">
                <a16:creationId xmlns:a16="http://schemas.microsoft.com/office/drawing/2014/main" id="{6C1349A7-B10C-4C3A-8B70-65480757D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5272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app-line-1">
            <a:extLst xmlns:a="http://schemas.openxmlformats.org/drawingml/2006/main">
              <a:ext uri="{FF2B5EF4-FFF2-40B4-BE49-F238E27FC236}">
                <a16:creationId xmlns:a16="http://schemas.microsoft.com/office/drawing/2014/main" id="{298666A9-B9A7-468B-87E5-29DADFBA8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8622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app-line-2">
            <a:extLst xmlns:a="http://schemas.openxmlformats.org/drawingml/2006/main">
              <a:ext uri="{FF2B5EF4-FFF2-40B4-BE49-F238E27FC236}">
                <a16:creationId xmlns:a16="http://schemas.microsoft.com/office/drawing/2014/main" id="{13701B95-F8D5-4662-BEBD-9D1A96EA0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1972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app-line-3">
            <a:extLst xmlns:a="http://schemas.openxmlformats.org/drawingml/2006/main">
              <a:ext uri="{FF2B5EF4-FFF2-40B4-BE49-F238E27FC236}">
                <a16:creationId xmlns:a16="http://schemas.microsoft.com/office/drawing/2014/main" id="{1BEBC655-D525-43C0-BCD9-A3CFDD5F6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5322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app-line-4">
            <a:extLst xmlns:a="http://schemas.openxmlformats.org/drawingml/2006/main">
              <a:ext uri="{FF2B5EF4-FFF2-40B4-BE49-F238E27FC236}">
                <a16:creationId xmlns:a16="http://schemas.microsoft.com/office/drawing/2014/main" id="{7CFD7DF3-6C8F-49C6-BE2C-58B5A4D56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app-line-5">
            <a:extLst xmlns:a="http://schemas.openxmlformats.org/drawingml/2006/main">
              <a:ext uri="{FF2B5EF4-FFF2-40B4-BE49-F238E27FC236}">
                <a16:creationId xmlns:a16="http://schemas.microsoft.com/office/drawing/2014/main" id="{619418FC-3401-4232-B221-5BE7446C9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42022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label-app">
            <a:extLst xmlns:a="http://schemas.openxmlformats.org/drawingml/2006/main">
              <a:ext uri="{FF2B5EF4-FFF2-40B4-BE49-F238E27FC236}">
                <a16:creationId xmlns:a16="http://schemas.microsoft.com/office/drawing/2014/main" id="{EC32A7CD-ACE3-4548-8706-A1DC1668C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914525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应用层</a:t>
            </a:r>
          </a:p>
        </p:txBody>
      </p:sp>
      <p:sp>
        <p:nvSpPr>
          <p:cNvPr id="12" name="label-platform">
            <a:extLst xmlns:a="http://schemas.openxmlformats.org/drawingml/2006/main">
              <a:ext uri="{FF2B5EF4-FFF2-40B4-BE49-F238E27FC236}">
                <a16:creationId xmlns:a16="http://schemas.microsoft.com/office/drawing/2014/main" id="{30B8813C-E9C8-4246-ABA7-9A105F9DE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75285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18A9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8A9CB"/>
                </a:solidFill>
                <a:latin typeface="Microsoft YaHei"/>
                <a:ea typeface="Microsoft YaHei"/>
                <a:cs typeface="Microsoft YaHei"/>
              </a:rPr>
              <a:t>中台层</a:t>
            </a:r>
          </a:p>
        </p:txBody>
      </p:sp>
      <p:sp>
        <p:nvSpPr>
          <p:cNvPr id="13" name="label-source">
            <a:extLst xmlns:a="http://schemas.openxmlformats.org/drawingml/2006/main">
              <a:ext uri="{FF2B5EF4-FFF2-40B4-BE49-F238E27FC236}">
                <a16:creationId xmlns:a16="http://schemas.microsoft.com/office/drawing/2014/main" id="{2DAF0902-CE09-4F70-9E36-B7E0BE094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563880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来源层</a:t>
            </a:r>
          </a:p>
        </p:txBody>
      </p:sp>
      <p:sp>
        <p:nvSpPr>
          <p:cNvPr id="14" name="app-node-0">
            <a:extLst xmlns:a="http://schemas.openxmlformats.org/drawingml/2006/main">
              <a:ext uri="{FF2B5EF4-FFF2-40B4-BE49-F238E27FC236}">
                <a16:creationId xmlns:a16="http://schemas.microsoft.com/office/drawing/2014/main" id="{27F132BA-538E-4C5C-982D-E31A7B2EF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2885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智能分析</a:t>
            </a:r>
          </a:p>
        </p:txBody>
      </p:sp>
      <p:sp>
        <p:nvSpPr>
          <p:cNvPr id="15" name="app-node-1">
            <a:extLst xmlns:a="http://schemas.openxmlformats.org/drawingml/2006/main">
              <a:ext uri="{FF2B5EF4-FFF2-40B4-BE49-F238E27FC236}">
                <a16:creationId xmlns:a16="http://schemas.microsoft.com/office/drawing/2014/main" id="{42BCE3AE-6768-48D3-B343-E1F59FFB8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6235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方案设计</a:t>
            </a:r>
          </a:p>
        </p:txBody>
      </p:sp>
      <p:sp>
        <p:nvSpPr>
          <p:cNvPr id="16" name="app-node-2">
            <a:extLst xmlns:a="http://schemas.openxmlformats.org/drawingml/2006/main">
              <a:ext uri="{FF2B5EF4-FFF2-40B4-BE49-F238E27FC236}">
                <a16:creationId xmlns:a16="http://schemas.microsoft.com/office/drawing/2014/main" id="{681E90C8-8D70-48AE-B71F-30297686D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9585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辅助决策</a:t>
            </a:r>
          </a:p>
        </p:txBody>
      </p:sp>
      <p:sp>
        <p:nvSpPr>
          <p:cNvPr id="17" name="app-node-3">
            <a:extLst xmlns:a="http://schemas.openxmlformats.org/drawingml/2006/main">
              <a:ext uri="{FF2B5EF4-FFF2-40B4-BE49-F238E27FC236}">
                <a16:creationId xmlns:a16="http://schemas.microsoft.com/office/drawing/2014/main" id="{5A46A469-5652-4CF2-95DC-398C71AB3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2935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成果服务</a:t>
            </a:r>
          </a:p>
        </p:txBody>
      </p:sp>
      <p:sp>
        <p:nvSpPr>
          <p:cNvPr id="18" name="app-node-4">
            <a:extLst xmlns:a="http://schemas.openxmlformats.org/drawingml/2006/main">
              <a:ext uri="{FF2B5EF4-FFF2-40B4-BE49-F238E27FC236}">
                <a16:creationId xmlns:a16="http://schemas.microsoft.com/office/drawing/2014/main" id="{CEABDB1A-14C2-45AC-B1C4-8E78E77E7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6285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风险预警</a:t>
            </a:r>
          </a:p>
        </p:txBody>
      </p:sp>
      <p:sp>
        <p:nvSpPr>
          <p:cNvPr id="19" name="app-node-5">
            <a:extLst xmlns:a="http://schemas.openxmlformats.org/drawingml/2006/main">
              <a:ext uri="{FF2B5EF4-FFF2-40B4-BE49-F238E27FC236}">
                <a16:creationId xmlns:a16="http://schemas.microsoft.com/office/drawing/2014/main" id="{78F82193-0C60-4501-8222-587C5CD54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9635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持续评估</a:t>
            </a:r>
          </a:p>
        </p:txBody>
      </p:sp>
      <p:sp>
        <p:nvSpPr>
          <p:cNvPr id="20" name="layer-platform">
            <a:extLst xmlns:a="http://schemas.openxmlformats.org/drawingml/2006/main">
              <a:ext uri="{FF2B5EF4-FFF2-40B4-BE49-F238E27FC236}">
                <a16:creationId xmlns:a16="http://schemas.microsoft.com/office/drawing/2014/main" id="{D785588B-13C9-4E40-A1D0-9561A791E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86000" y="3505200"/>
            <a:ext cx="76200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238A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统一研究与能力平台</a:t>
            </a:r>
          </a:p>
        </p:txBody>
      </p:sp>
      <p:sp>
        <p:nvSpPr>
          <p:cNvPr id="21" name="source-node-0">
            <a:extLst xmlns:a="http://schemas.openxmlformats.org/drawingml/2006/main">
              <a:ext uri="{FF2B5EF4-FFF2-40B4-BE49-F238E27FC236}">
                <a16:creationId xmlns:a16="http://schemas.microsoft.com/office/drawing/2014/main" id="{5B4738AA-B41A-47D9-8BA8-1221EB3D5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05225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业务数据</a:t>
            </a:r>
          </a:p>
        </p:txBody>
      </p:sp>
      <p:sp>
        <p:nvSpPr>
          <p:cNvPr id="22" name="source-node-1">
            <a:extLst xmlns:a="http://schemas.openxmlformats.org/drawingml/2006/main">
              <a:ext uri="{FF2B5EF4-FFF2-40B4-BE49-F238E27FC236}">
                <a16:creationId xmlns:a16="http://schemas.microsoft.com/office/drawing/2014/main" id="{2BD5289E-C263-4C3B-BBDA-FA89AEED7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43475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实验数据</a:t>
            </a:r>
          </a:p>
        </p:txBody>
      </p:sp>
      <p:sp>
        <p:nvSpPr>
          <p:cNvPr id="23" name="source-node-2">
            <a:extLst xmlns:a="http://schemas.openxmlformats.org/drawingml/2006/main">
              <a:ext uri="{FF2B5EF4-FFF2-40B4-BE49-F238E27FC236}">
                <a16:creationId xmlns:a16="http://schemas.microsoft.com/office/drawing/2014/main" id="{03CE4EDA-1C41-4048-BA92-1F2C3DFF1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81725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文献资料</a:t>
            </a:r>
          </a:p>
        </p:txBody>
      </p:sp>
      <p:sp>
        <p:nvSpPr>
          <p:cNvPr id="24" name="source-node-3">
            <a:extLst xmlns:a="http://schemas.openxmlformats.org/drawingml/2006/main">
              <a:ext uri="{FF2B5EF4-FFF2-40B4-BE49-F238E27FC236}">
                <a16:creationId xmlns:a16="http://schemas.microsoft.com/office/drawing/2014/main" id="{F20C5839-85A3-4C49-9626-ABF5C2F55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19975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外部接口</a:t>
            </a:r>
          </a:p>
        </p:txBody>
      </p:sp>
    </p:spTree>
    <p:extLst>
      <p:ext uri="{BB962C8B-B14F-4D97-AF65-F5344CB8AC3E}">
        <p14:creationId xmlns:p14="http://schemas.microsoft.com/office/powerpoint/2010/main" val="198742247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source-line-0">
            <a:extLst xmlns:a="http://schemas.openxmlformats.org/drawingml/2006/main">
              <a:ext uri="{FF2B5EF4-FFF2-40B4-BE49-F238E27FC236}">
                <a16:creationId xmlns:a16="http://schemas.microsoft.com/office/drawing/2014/main" id="{4D5D4023-0CCD-48C0-8DC4-CEA71CF15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09975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ource-line-1">
            <a:extLst xmlns:a="http://schemas.openxmlformats.org/drawingml/2006/main">
              <a:ext uri="{FF2B5EF4-FFF2-40B4-BE49-F238E27FC236}">
                <a16:creationId xmlns:a16="http://schemas.microsoft.com/office/drawing/2014/main" id="{361BFCBA-2465-4FEE-ACD9-EB8298572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48225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ource-line-2">
            <a:extLst xmlns:a="http://schemas.openxmlformats.org/drawingml/2006/main">
              <a:ext uri="{FF2B5EF4-FFF2-40B4-BE49-F238E27FC236}">
                <a16:creationId xmlns:a16="http://schemas.microsoft.com/office/drawing/2014/main" id="{5C5ACB8C-7920-4391-AB20-1AA4B6444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86475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ource-line-3">
            <a:extLst xmlns:a="http://schemas.openxmlformats.org/drawingml/2006/main">
              <a:ext uri="{FF2B5EF4-FFF2-40B4-BE49-F238E27FC236}">
                <a16:creationId xmlns:a16="http://schemas.microsoft.com/office/drawing/2014/main" id="{B56FBC1C-54B8-451D-B15C-BA99789C9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24725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ource-line-4">
            <a:extLst xmlns:a="http://schemas.openxmlformats.org/drawingml/2006/main">
              <a:ext uri="{FF2B5EF4-FFF2-40B4-BE49-F238E27FC236}">
                <a16:creationId xmlns:a16="http://schemas.microsoft.com/office/drawing/2014/main" id="{3F4A94D8-DD34-4F03-B68C-768570CD0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62975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app-line-0">
            <a:extLst xmlns:a="http://schemas.openxmlformats.org/drawingml/2006/main">
              <a:ext uri="{FF2B5EF4-FFF2-40B4-BE49-F238E27FC236}">
                <a16:creationId xmlns:a16="http://schemas.microsoft.com/office/drawing/2014/main" id="{9F1F1D0E-2D42-4932-8840-E34CDAC70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5297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app-line-1">
            <a:extLst xmlns:a="http://schemas.openxmlformats.org/drawingml/2006/main">
              <a:ext uri="{FF2B5EF4-FFF2-40B4-BE49-F238E27FC236}">
                <a16:creationId xmlns:a16="http://schemas.microsoft.com/office/drawing/2014/main" id="{BC7D884A-F7C4-4121-B0CC-FFF702C72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8647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app-line-2">
            <a:extLst xmlns:a="http://schemas.openxmlformats.org/drawingml/2006/main">
              <a:ext uri="{FF2B5EF4-FFF2-40B4-BE49-F238E27FC236}">
                <a16:creationId xmlns:a16="http://schemas.microsoft.com/office/drawing/2014/main" id="{B2AB33EA-0C2F-4EF0-92A4-8F8569506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1997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label-app">
            <a:extLst xmlns:a="http://schemas.openxmlformats.org/drawingml/2006/main">
              <a:ext uri="{FF2B5EF4-FFF2-40B4-BE49-F238E27FC236}">
                <a16:creationId xmlns:a16="http://schemas.microsoft.com/office/drawing/2014/main" id="{DC8DE2A5-2DC0-458D-995B-A43063FBC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914525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应用层</a:t>
            </a:r>
          </a:p>
        </p:txBody>
      </p:sp>
      <p:sp>
        <p:nvSpPr>
          <p:cNvPr id="10" name="label-platform">
            <a:extLst xmlns:a="http://schemas.openxmlformats.org/drawingml/2006/main">
              <a:ext uri="{FF2B5EF4-FFF2-40B4-BE49-F238E27FC236}">
                <a16:creationId xmlns:a16="http://schemas.microsoft.com/office/drawing/2014/main" id="{C939F6E1-F5B9-48BB-957A-69C5F11EE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75285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18A9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8A9CB"/>
                </a:solidFill>
                <a:latin typeface="Microsoft YaHei"/>
                <a:ea typeface="Microsoft YaHei"/>
                <a:cs typeface="Microsoft YaHei"/>
              </a:rPr>
              <a:t>中台层</a:t>
            </a:r>
          </a:p>
        </p:txBody>
      </p:sp>
      <p:sp>
        <p:nvSpPr>
          <p:cNvPr id="11" name="label-source">
            <a:extLst xmlns:a="http://schemas.openxmlformats.org/drawingml/2006/main">
              <a:ext uri="{FF2B5EF4-FFF2-40B4-BE49-F238E27FC236}">
                <a16:creationId xmlns:a16="http://schemas.microsoft.com/office/drawing/2014/main" id="{049E4FD1-4684-4592-BF05-C5D1A7DDA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563880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来源层</a:t>
            </a:r>
          </a:p>
        </p:txBody>
      </p:sp>
      <p:sp>
        <p:nvSpPr>
          <p:cNvPr id="12" name="app-node-0">
            <a:extLst xmlns:a="http://schemas.openxmlformats.org/drawingml/2006/main">
              <a:ext uri="{FF2B5EF4-FFF2-40B4-BE49-F238E27FC236}">
                <a16:creationId xmlns:a16="http://schemas.microsoft.com/office/drawing/2014/main" id="{7976F6BB-5337-49D9-A438-365C4BDE4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2910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智能分析</a:t>
            </a:r>
          </a:p>
        </p:txBody>
      </p:sp>
      <p:sp>
        <p:nvSpPr>
          <p:cNvPr id="13" name="app-node-1">
            <a:extLst xmlns:a="http://schemas.openxmlformats.org/drawingml/2006/main">
              <a:ext uri="{FF2B5EF4-FFF2-40B4-BE49-F238E27FC236}">
                <a16:creationId xmlns:a16="http://schemas.microsoft.com/office/drawing/2014/main" id="{39C58971-E719-4552-941A-AF3CBDC16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6260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方案设计</a:t>
            </a:r>
          </a:p>
        </p:txBody>
      </p:sp>
      <p:sp>
        <p:nvSpPr>
          <p:cNvPr id="14" name="app-node-2">
            <a:extLst xmlns:a="http://schemas.openxmlformats.org/drawingml/2006/main">
              <a:ext uri="{FF2B5EF4-FFF2-40B4-BE49-F238E27FC236}">
                <a16:creationId xmlns:a16="http://schemas.microsoft.com/office/drawing/2014/main" id="{F4275F08-7AE9-4ABB-AE6E-FB516B0E9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9610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辅助决策</a:t>
            </a:r>
          </a:p>
        </p:txBody>
      </p:sp>
      <p:sp>
        <p:nvSpPr>
          <p:cNvPr id="15" name="layer-platform">
            <a:extLst xmlns:a="http://schemas.openxmlformats.org/drawingml/2006/main">
              <a:ext uri="{FF2B5EF4-FFF2-40B4-BE49-F238E27FC236}">
                <a16:creationId xmlns:a16="http://schemas.microsoft.com/office/drawing/2014/main" id="{A6B17FB4-F23A-47F7-AE5E-23EB1053D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86000" y="3505200"/>
            <a:ext cx="76200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238A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统一研究与能力平台</a:t>
            </a:r>
          </a:p>
        </p:txBody>
      </p:sp>
      <p:sp>
        <p:nvSpPr>
          <p:cNvPr id="16" name="source-node-0">
            <a:extLst xmlns:a="http://schemas.openxmlformats.org/drawingml/2006/main">
              <a:ext uri="{FF2B5EF4-FFF2-40B4-BE49-F238E27FC236}">
                <a16:creationId xmlns:a16="http://schemas.microsoft.com/office/drawing/2014/main" id="{D6F3B4BA-BA98-485F-B4F8-B55AC4967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86100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业务数据</a:t>
            </a:r>
          </a:p>
        </p:txBody>
      </p:sp>
      <p:sp>
        <p:nvSpPr>
          <p:cNvPr id="17" name="source-node-1">
            <a:extLst xmlns:a="http://schemas.openxmlformats.org/drawingml/2006/main">
              <a:ext uri="{FF2B5EF4-FFF2-40B4-BE49-F238E27FC236}">
                <a16:creationId xmlns:a16="http://schemas.microsoft.com/office/drawing/2014/main" id="{95D0B0D5-D7D3-428F-9D29-869E98841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24350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实验数据</a:t>
            </a:r>
          </a:p>
        </p:txBody>
      </p:sp>
      <p:sp>
        <p:nvSpPr>
          <p:cNvPr id="18" name="source-node-2">
            <a:extLst xmlns:a="http://schemas.openxmlformats.org/drawingml/2006/main">
              <a:ext uri="{FF2B5EF4-FFF2-40B4-BE49-F238E27FC236}">
                <a16:creationId xmlns:a16="http://schemas.microsoft.com/office/drawing/2014/main" id="{6FCAA5DC-6F33-44C9-A426-D59300C27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62600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文献资料</a:t>
            </a:r>
          </a:p>
        </p:txBody>
      </p:sp>
      <p:sp>
        <p:nvSpPr>
          <p:cNvPr id="19" name="source-node-3">
            <a:extLst xmlns:a="http://schemas.openxmlformats.org/drawingml/2006/main">
              <a:ext uri="{FF2B5EF4-FFF2-40B4-BE49-F238E27FC236}">
                <a16:creationId xmlns:a16="http://schemas.microsoft.com/office/drawing/2014/main" id="{6DC262C4-9F58-4F42-BD48-A6955FD71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00850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外部接口</a:t>
            </a:r>
          </a:p>
        </p:txBody>
      </p:sp>
      <p:sp>
        <p:nvSpPr>
          <p:cNvPr id="20" name="source-node-4">
            <a:extLst xmlns:a="http://schemas.openxmlformats.org/drawingml/2006/main">
              <a:ext uri="{FF2B5EF4-FFF2-40B4-BE49-F238E27FC236}">
                <a16:creationId xmlns:a16="http://schemas.microsoft.com/office/drawing/2014/main" id="{97FBD4F5-33B7-4B0E-ACEA-D0D7DAAC6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39100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设备数据</a:t>
            </a:r>
          </a:p>
        </p:txBody>
      </p:sp>
    </p:spTree>
    <p:extLst>
      <p:ext uri="{BB962C8B-B14F-4D97-AF65-F5344CB8AC3E}">
        <p14:creationId xmlns:p14="http://schemas.microsoft.com/office/powerpoint/2010/main" val="140848758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source-line-0">
            <a:extLst xmlns:a="http://schemas.openxmlformats.org/drawingml/2006/main">
              <a:ext uri="{FF2B5EF4-FFF2-40B4-BE49-F238E27FC236}">
                <a16:creationId xmlns:a16="http://schemas.microsoft.com/office/drawing/2014/main" id="{13AE4B19-70CF-48A7-BE96-6F1DE595E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09975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ource-line-1">
            <a:extLst xmlns:a="http://schemas.openxmlformats.org/drawingml/2006/main">
              <a:ext uri="{FF2B5EF4-FFF2-40B4-BE49-F238E27FC236}">
                <a16:creationId xmlns:a16="http://schemas.microsoft.com/office/drawing/2014/main" id="{834A0F5B-8157-41E4-9FEA-1AA4801DE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48225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ource-line-2">
            <a:extLst xmlns:a="http://schemas.openxmlformats.org/drawingml/2006/main">
              <a:ext uri="{FF2B5EF4-FFF2-40B4-BE49-F238E27FC236}">
                <a16:creationId xmlns:a16="http://schemas.microsoft.com/office/drawing/2014/main" id="{738C744E-F208-493A-B135-F95C34F68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86475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ource-line-3">
            <a:extLst xmlns:a="http://schemas.openxmlformats.org/drawingml/2006/main">
              <a:ext uri="{FF2B5EF4-FFF2-40B4-BE49-F238E27FC236}">
                <a16:creationId xmlns:a16="http://schemas.microsoft.com/office/drawing/2014/main" id="{E1C64738-D8CE-4F56-BB57-5E7D7A411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24725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ource-line-4">
            <a:extLst xmlns:a="http://schemas.openxmlformats.org/drawingml/2006/main">
              <a:ext uri="{FF2B5EF4-FFF2-40B4-BE49-F238E27FC236}">
                <a16:creationId xmlns:a16="http://schemas.microsoft.com/office/drawing/2014/main" id="{2E4DAB7D-B361-4E11-950A-4EDCEBC30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62975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app-line-0">
            <a:extLst xmlns:a="http://schemas.openxmlformats.org/drawingml/2006/main">
              <a:ext uri="{FF2B5EF4-FFF2-40B4-BE49-F238E27FC236}">
                <a16:creationId xmlns:a16="http://schemas.microsoft.com/office/drawing/2014/main" id="{1D5C819C-FC43-4E67-B9AD-3BA5AAB24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8622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app-line-1">
            <a:extLst xmlns:a="http://schemas.openxmlformats.org/drawingml/2006/main">
              <a:ext uri="{FF2B5EF4-FFF2-40B4-BE49-F238E27FC236}">
                <a16:creationId xmlns:a16="http://schemas.microsoft.com/office/drawing/2014/main" id="{7A3D7E46-ADD7-411B-A98C-7D211070E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1972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app-line-2">
            <a:extLst xmlns:a="http://schemas.openxmlformats.org/drawingml/2006/main">
              <a:ext uri="{FF2B5EF4-FFF2-40B4-BE49-F238E27FC236}">
                <a16:creationId xmlns:a16="http://schemas.microsoft.com/office/drawing/2014/main" id="{B1CFB5AC-7A46-4394-B492-445329BB8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5322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app-line-3">
            <a:extLst xmlns:a="http://schemas.openxmlformats.org/drawingml/2006/main">
              <a:ext uri="{FF2B5EF4-FFF2-40B4-BE49-F238E27FC236}">
                <a16:creationId xmlns:a16="http://schemas.microsoft.com/office/drawing/2014/main" id="{6B6B28DB-8E07-4F02-B72F-1E18EDF49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label-app">
            <a:extLst xmlns:a="http://schemas.openxmlformats.org/drawingml/2006/main">
              <a:ext uri="{FF2B5EF4-FFF2-40B4-BE49-F238E27FC236}">
                <a16:creationId xmlns:a16="http://schemas.microsoft.com/office/drawing/2014/main" id="{0D621A3C-B18C-4CFB-BB7B-07A6FF545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914525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应用层</a:t>
            </a:r>
          </a:p>
        </p:txBody>
      </p:sp>
      <p:sp>
        <p:nvSpPr>
          <p:cNvPr id="11" name="label-platform">
            <a:extLst xmlns:a="http://schemas.openxmlformats.org/drawingml/2006/main">
              <a:ext uri="{FF2B5EF4-FFF2-40B4-BE49-F238E27FC236}">
                <a16:creationId xmlns:a16="http://schemas.microsoft.com/office/drawing/2014/main" id="{9870BD49-1117-45E9-8EFE-30BC3EAA6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75285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18A9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8A9CB"/>
                </a:solidFill>
                <a:latin typeface="Microsoft YaHei"/>
                <a:ea typeface="Microsoft YaHei"/>
                <a:cs typeface="Microsoft YaHei"/>
              </a:rPr>
              <a:t>中台层</a:t>
            </a:r>
          </a:p>
        </p:txBody>
      </p:sp>
      <p:sp>
        <p:nvSpPr>
          <p:cNvPr id="12" name="label-source">
            <a:extLst xmlns:a="http://schemas.openxmlformats.org/drawingml/2006/main">
              <a:ext uri="{FF2B5EF4-FFF2-40B4-BE49-F238E27FC236}">
                <a16:creationId xmlns:a16="http://schemas.microsoft.com/office/drawing/2014/main" id="{EDFD6BC0-62FD-4B7E-BA71-902AE13A2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563880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来源层</a:t>
            </a:r>
          </a:p>
        </p:txBody>
      </p:sp>
      <p:sp>
        <p:nvSpPr>
          <p:cNvPr id="13" name="app-node-0">
            <a:extLst xmlns:a="http://schemas.openxmlformats.org/drawingml/2006/main">
              <a:ext uri="{FF2B5EF4-FFF2-40B4-BE49-F238E27FC236}">
                <a16:creationId xmlns:a16="http://schemas.microsoft.com/office/drawing/2014/main" id="{442BB001-2600-4787-8527-A010B9E2E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6235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智能分析</a:t>
            </a:r>
          </a:p>
        </p:txBody>
      </p:sp>
      <p:sp>
        <p:nvSpPr>
          <p:cNvPr id="14" name="app-node-1">
            <a:extLst xmlns:a="http://schemas.openxmlformats.org/drawingml/2006/main">
              <a:ext uri="{FF2B5EF4-FFF2-40B4-BE49-F238E27FC236}">
                <a16:creationId xmlns:a16="http://schemas.microsoft.com/office/drawing/2014/main" id="{231FBD97-2191-436B-8E32-471E6406F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9585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方案设计</a:t>
            </a:r>
          </a:p>
        </p:txBody>
      </p:sp>
      <p:sp>
        <p:nvSpPr>
          <p:cNvPr id="15" name="app-node-2">
            <a:extLst xmlns:a="http://schemas.openxmlformats.org/drawingml/2006/main">
              <a:ext uri="{FF2B5EF4-FFF2-40B4-BE49-F238E27FC236}">
                <a16:creationId xmlns:a16="http://schemas.microsoft.com/office/drawing/2014/main" id="{61EFF35F-5673-475C-AF01-07B4B861D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2935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辅助决策</a:t>
            </a:r>
          </a:p>
        </p:txBody>
      </p:sp>
      <p:sp>
        <p:nvSpPr>
          <p:cNvPr id="16" name="app-node-3">
            <a:extLst xmlns:a="http://schemas.openxmlformats.org/drawingml/2006/main">
              <a:ext uri="{FF2B5EF4-FFF2-40B4-BE49-F238E27FC236}">
                <a16:creationId xmlns:a16="http://schemas.microsoft.com/office/drawing/2014/main" id="{668F769F-84EB-4AD0-9BE0-6B63E4610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6285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成果服务</a:t>
            </a:r>
          </a:p>
        </p:txBody>
      </p:sp>
      <p:sp>
        <p:nvSpPr>
          <p:cNvPr id="17" name="layer-platform">
            <a:extLst xmlns:a="http://schemas.openxmlformats.org/drawingml/2006/main">
              <a:ext uri="{FF2B5EF4-FFF2-40B4-BE49-F238E27FC236}">
                <a16:creationId xmlns:a16="http://schemas.microsoft.com/office/drawing/2014/main" id="{510AD97E-9ED7-46EF-BC11-867F36ABF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86000" y="3505200"/>
            <a:ext cx="76200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238A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统一研究与能力平台</a:t>
            </a:r>
          </a:p>
        </p:txBody>
      </p:sp>
      <p:sp>
        <p:nvSpPr>
          <p:cNvPr id="18" name="source-node-0">
            <a:extLst xmlns:a="http://schemas.openxmlformats.org/drawingml/2006/main">
              <a:ext uri="{FF2B5EF4-FFF2-40B4-BE49-F238E27FC236}">
                <a16:creationId xmlns:a16="http://schemas.microsoft.com/office/drawing/2014/main" id="{20D472DC-A67C-40DE-A9D5-8DCEFE5F9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86100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业务数据</a:t>
            </a:r>
          </a:p>
        </p:txBody>
      </p:sp>
      <p:sp>
        <p:nvSpPr>
          <p:cNvPr id="19" name="source-node-1">
            <a:extLst xmlns:a="http://schemas.openxmlformats.org/drawingml/2006/main">
              <a:ext uri="{FF2B5EF4-FFF2-40B4-BE49-F238E27FC236}">
                <a16:creationId xmlns:a16="http://schemas.microsoft.com/office/drawing/2014/main" id="{C0EFC9C6-BEB5-4AAC-9F10-13158748E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24350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实验数据</a:t>
            </a:r>
          </a:p>
        </p:txBody>
      </p:sp>
      <p:sp>
        <p:nvSpPr>
          <p:cNvPr id="20" name="source-node-2">
            <a:extLst xmlns:a="http://schemas.openxmlformats.org/drawingml/2006/main">
              <a:ext uri="{FF2B5EF4-FFF2-40B4-BE49-F238E27FC236}">
                <a16:creationId xmlns:a16="http://schemas.microsoft.com/office/drawing/2014/main" id="{A35B4C05-0336-4D37-93C8-8AA144C87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62600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文献资料</a:t>
            </a:r>
          </a:p>
        </p:txBody>
      </p:sp>
      <p:sp>
        <p:nvSpPr>
          <p:cNvPr id="21" name="source-node-3">
            <a:extLst xmlns:a="http://schemas.openxmlformats.org/drawingml/2006/main">
              <a:ext uri="{FF2B5EF4-FFF2-40B4-BE49-F238E27FC236}">
                <a16:creationId xmlns:a16="http://schemas.microsoft.com/office/drawing/2014/main" id="{A138930E-2B85-49EE-8402-BAED2EE4F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00850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外部接口</a:t>
            </a:r>
          </a:p>
        </p:txBody>
      </p:sp>
      <p:sp>
        <p:nvSpPr>
          <p:cNvPr id="22" name="source-node-4">
            <a:extLst xmlns:a="http://schemas.openxmlformats.org/drawingml/2006/main">
              <a:ext uri="{FF2B5EF4-FFF2-40B4-BE49-F238E27FC236}">
                <a16:creationId xmlns:a16="http://schemas.microsoft.com/office/drawing/2014/main" id="{AB21A74F-DF76-41AF-9C53-A87E25686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39100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设备数据</a:t>
            </a:r>
          </a:p>
        </p:txBody>
      </p:sp>
    </p:spTree>
    <p:extLst>
      <p:ext uri="{BB962C8B-B14F-4D97-AF65-F5344CB8AC3E}">
        <p14:creationId xmlns:p14="http://schemas.microsoft.com/office/powerpoint/2010/main" val="204221381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ource-line-0">
            <a:extLst xmlns:a="http://schemas.openxmlformats.org/drawingml/2006/main">
              <a:ext uri="{FF2B5EF4-FFF2-40B4-BE49-F238E27FC236}">
                <a16:creationId xmlns:a16="http://schemas.microsoft.com/office/drawing/2014/main" id="{4B35A650-2DEC-4A9B-B748-B87E9007D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09975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ource-line-1">
            <a:extLst xmlns:a="http://schemas.openxmlformats.org/drawingml/2006/main">
              <a:ext uri="{FF2B5EF4-FFF2-40B4-BE49-F238E27FC236}">
                <a16:creationId xmlns:a16="http://schemas.microsoft.com/office/drawing/2014/main" id="{1D07D652-6094-4607-8EFB-0D533E285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48225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ource-line-2">
            <a:extLst xmlns:a="http://schemas.openxmlformats.org/drawingml/2006/main">
              <a:ext uri="{FF2B5EF4-FFF2-40B4-BE49-F238E27FC236}">
                <a16:creationId xmlns:a16="http://schemas.microsoft.com/office/drawing/2014/main" id="{F5240F46-6FC1-43B6-BD2A-2BD1E0B8B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86475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ource-line-3">
            <a:extLst xmlns:a="http://schemas.openxmlformats.org/drawingml/2006/main">
              <a:ext uri="{FF2B5EF4-FFF2-40B4-BE49-F238E27FC236}">
                <a16:creationId xmlns:a16="http://schemas.microsoft.com/office/drawing/2014/main" id="{5F57E51E-E602-4C21-98DE-56BA50033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24725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ource-line-4">
            <a:extLst xmlns:a="http://schemas.openxmlformats.org/drawingml/2006/main">
              <a:ext uri="{FF2B5EF4-FFF2-40B4-BE49-F238E27FC236}">
                <a16:creationId xmlns:a16="http://schemas.microsoft.com/office/drawing/2014/main" id="{4AEFD856-DCC0-4021-9B1A-7076FE3FD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62975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app-line-0">
            <a:extLst xmlns:a="http://schemas.openxmlformats.org/drawingml/2006/main">
              <a:ext uri="{FF2B5EF4-FFF2-40B4-BE49-F238E27FC236}">
                <a16:creationId xmlns:a16="http://schemas.microsoft.com/office/drawing/2014/main" id="{F8463219-E9CC-4496-81B0-3B3731DD9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1947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app-line-1">
            <a:extLst xmlns:a="http://schemas.openxmlformats.org/drawingml/2006/main">
              <a:ext uri="{FF2B5EF4-FFF2-40B4-BE49-F238E27FC236}">
                <a16:creationId xmlns:a16="http://schemas.microsoft.com/office/drawing/2014/main" id="{9315C766-1C0E-4051-8AB1-648F0260D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5297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app-line-2">
            <a:extLst xmlns:a="http://schemas.openxmlformats.org/drawingml/2006/main">
              <a:ext uri="{FF2B5EF4-FFF2-40B4-BE49-F238E27FC236}">
                <a16:creationId xmlns:a16="http://schemas.microsoft.com/office/drawing/2014/main" id="{86532B91-4AB8-4809-BFB0-FD90CBDC0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8647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app-line-3">
            <a:extLst xmlns:a="http://schemas.openxmlformats.org/drawingml/2006/main">
              <a:ext uri="{FF2B5EF4-FFF2-40B4-BE49-F238E27FC236}">
                <a16:creationId xmlns:a16="http://schemas.microsoft.com/office/drawing/2014/main" id="{0E452F9D-91B1-4E7A-96A9-80D889165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1997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app-line-4">
            <a:extLst xmlns:a="http://schemas.openxmlformats.org/drawingml/2006/main">
              <a:ext uri="{FF2B5EF4-FFF2-40B4-BE49-F238E27FC236}">
                <a16:creationId xmlns:a16="http://schemas.microsoft.com/office/drawing/2014/main" id="{F832FAB9-D1B3-4A18-A2BC-AE6BD5BE6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5347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label-app">
            <a:extLst xmlns:a="http://schemas.openxmlformats.org/drawingml/2006/main">
              <a:ext uri="{FF2B5EF4-FFF2-40B4-BE49-F238E27FC236}">
                <a16:creationId xmlns:a16="http://schemas.microsoft.com/office/drawing/2014/main" id="{40E15BC0-6587-4B0E-BF9E-5B32FB3BC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914525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应用层</a:t>
            </a:r>
          </a:p>
        </p:txBody>
      </p:sp>
      <p:sp>
        <p:nvSpPr>
          <p:cNvPr id="12" name="label-platform">
            <a:extLst xmlns:a="http://schemas.openxmlformats.org/drawingml/2006/main">
              <a:ext uri="{FF2B5EF4-FFF2-40B4-BE49-F238E27FC236}">
                <a16:creationId xmlns:a16="http://schemas.microsoft.com/office/drawing/2014/main" id="{3C34A7BB-527F-4BAC-A79C-3288277C1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75285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18A9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8A9CB"/>
                </a:solidFill>
                <a:latin typeface="Microsoft YaHei"/>
                <a:ea typeface="Microsoft YaHei"/>
                <a:cs typeface="Microsoft YaHei"/>
              </a:rPr>
              <a:t>中台层</a:t>
            </a:r>
          </a:p>
        </p:txBody>
      </p:sp>
      <p:sp>
        <p:nvSpPr>
          <p:cNvPr id="13" name="label-source">
            <a:extLst xmlns:a="http://schemas.openxmlformats.org/drawingml/2006/main">
              <a:ext uri="{FF2B5EF4-FFF2-40B4-BE49-F238E27FC236}">
                <a16:creationId xmlns:a16="http://schemas.microsoft.com/office/drawing/2014/main" id="{A8160650-D94A-4718-B97C-923550745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563880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来源层</a:t>
            </a:r>
          </a:p>
        </p:txBody>
      </p:sp>
      <p:sp>
        <p:nvSpPr>
          <p:cNvPr id="14" name="app-node-0">
            <a:extLst xmlns:a="http://schemas.openxmlformats.org/drawingml/2006/main">
              <a:ext uri="{FF2B5EF4-FFF2-40B4-BE49-F238E27FC236}">
                <a16:creationId xmlns:a16="http://schemas.microsoft.com/office/drawing/2014/main" id="{C4D5EDA7-8776-4BB4-A719-03455D9FB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9560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智能分析</a:t>
            </a:r>
          </a:p>
        </p:txBody>
      </p:sp>
      <p:sp>
        <p:nvSpPr>
          <p:cNvPr id="15" name="app-node-1">
            <a:extLst xmlns:a="http://schemas.openxmlformats.org/drawingml/2006/main">
              <a:ext uri="{FF2B5EF4-FFF2-40B4-BE49-F238E27FC236}">
                <a16:creationId xmlns:a16="http://schemas.microsoft.com/office/drawing/2014/main" id="{6020A9B8-762A-4C51-A1EA-559EF59A3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2910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方案设计</a:t>
            </a:r>
          </a:p>
        </p:txBody>
      </p:sp>
      <p:sp>
        <p:nvSpPr>
          <p:cNvPr id="16" name="app-node-2">
            <a:extLst xmlns:a="http://schemas.openxmlformats.org/drawingml/2006/main">
              <a:ext uri="{FF2B5EF4-FFF2-40B4-BE49-F238E27FC236}">
                <a16:creationId xmlns:a16="http://schemas.microsoft.com/office/drawing/2014/main" id="{654C3BE0-2BBB-45E8-B105-268B7E67E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6260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辅助决策</a:t>
            </a:r>
          </a:p>
        </p:txBody>
      </p:sp>
      <p:sp>
        <p:nvSpPr>
          <p:cNvPr id="17" name="app-node-3">
            <a:extLst xmlns:a="http://schemas.openxmlformats.org/drawingml/2006/main">
              <a:ext uri="{FF2B5EF4-FFF2-40B4-BE49-F238E27FC236}">
                <a16:creationId xmlns:a16="http://schemas.microsoft.com/office/drawing/2014/main" id="{A9FA6608-2A13-4E0E-B531-82226E5B7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9610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成果服务</a:t>
            </a:r>
          </a:p>
        </p:txBody>
      </p:sp>
      <p:sp>
        <p:nvSpPr>
          <p:cNvPr id="18" name="app-node-4">
            <a:extLst xmlns:a="http://schemas.openxmlformats.org/drawingml/2006/main">
              <a:ext uri="{FF2B5EF4-FFF2-40B4-BE49-F238E27FC236}">
                <a16:creationId xmlns:a16="http://schemas.microsoft.com/office/drawing/2014/main" id="{ECAED0E8-9E26-45B4-BA07-372D90F32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22960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风险预警</a:t>
            </a:r>
          </a:p>
        </p:txBody>
      </p:sp>
      <p:sp>
        <p:nvSpPr>
          <p:cNvPr id="19" name="layer-platform">
            <a:extLst xmlns:a="http://schemas.openxmlformats.org/drawingml/2006/main">
              <a:ext uri="{FF2B5EF4-FFF2-40B4-BE49-F238E27FC236}">
                <a16:creationId xmlns:a16="http://schemas.microsoft.com/office/drawing/2014/main" id="{9ED82A6C-3C52-4F7A-B636-2D848F7CE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86000" y="3505200"/>
            <a:ext cx="76200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238A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统一研究与能力平台</a:t>
            </a:r>
          </a:p>
        </p:txBody>
      </p:sp>
      <p:sp>
        <p:nvSpPr>
          <p:cNvPr id="20" name="source-node-0">
            <a:extLst xmlns:a="http://schemas.openxmlformats.org/drawingml/2006/main">
              <a:ext uri="{FF2B5EF4-FFF2-40B4-BE49-F238E27FC236}">
                <a16:creationId xmlns:a16="http://schemas.microsoft.com/office/drawing/2014/main" id="{F40B096E-FB56-4FEE-A67B-777368674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86100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业务数据</a:t>
            </a:r>
          </a:p>
        </p:txBody>
      </p:sp>
      <p:sp>
        <p:nvSpPr>
          <p:cNvPr id="21" name="source-node-1">
            <a:extLst xmlns:a="http://schemas.openxmlformats.org/drawingml/2006/main">
              <a:ext uri="{FF2B5EF4-FFF2-40B4-BE49-F238E27FC236}">
                <a16:creationId xmlns:a16="http://schemas.microsoft.com/office/drawing/2014/main" id="{47B31627-8BC8-4429-A9BA-A9F31B861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24350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实验数据</a:t>
            </a:r>
          </a:p>
        </p:txBody>
      </p:sp>
      <p:sp>
        <p:nvSpPr>
          <p:cNvPr id="22" name="source-node-2">
            <a:extLst xmlns:a="http://schemas.openxmlformats.org/drawingml/2006/main">
              <a:ext uri="{FF2B5EF4-FFF2-40B4-BE49-F238E27FC236}">
                <a16:creationId xmlns:a16="http://schemas.microsoft.com/office/drawing/2014/main" id="{39757DAB-A476-460C-A0FB-578BA676B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62600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文献资料</a:t>
            </a:r>
          </a:p>
        </p:txBody>
      </p:sp>
      <p:sp>
        <p:nvSpPr>
          <p:cNvPr id="23" name="source-node-3">
            <a:extLst xmlns:a="http://schemas.openxmlformats.org/drawingml/2006/main">
              <a:ext uri="{FF2B5EF4-FFF2-40B4-BE49-F238E27FC236}">
                <a16:creationId xmlns:a16="http://schemas.microsoft.com/office/drawing/2014/main" id="{020441AA-BBAD-4A26-B339-24862BF8A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00850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外部接口</a:t>
            </a:r>
          </a:p>
        </p:txBody>
      </p:sp>
      <p:sp>
        <p:nvSpPr>
          <p:cNvPr id="24" name="source-node-4">
            <a:extLst xmlns:a="http://schemas.openxmlformats.org/drawingml/2006/main">
              <a:ext uri="{FF2B5EF4-FFF2-40B4-BE49-F238E27FC236}">
                <a16:creationId xmlns:a16="http://schemas.microsoft.com/office/drawing/2014/main" id="{78796A99-66D9-4D6D-B34C-5A37D7CA1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39100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设备数据</a:t>
            </a:r>
          </a:p>
        </p:txBody>
      </p:sp>
    </p:spTree>
    <p:extLst>
      <p:ext uri="{BB962C8B-B14F-4D97-AF65-F5344CB8AC3E}">
        <p14:creationId xmlns:p14="http://schemas.microsoft.com/office/powerpoint/2010/main" val="40429475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source-line-0">
            <a:extLst xmlns:a="http://schemas.openxmlformats.org/drawingml/2006/main">
              <a:ext uri="{FF2B5EF4-FFF2-40B4-BE49-F238E27FC236}">
                <a16:creationId xmlns:a16="http://schemas.microsoft.com/office/drawing/2014/main" id="{33ACA8B6-C913-4C21-9DC2-015E0B3F2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609975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ource-line-1">
            <a:extLst xmlns:a="http://schemas.openxmlformats.org/drawingml/2006/main">
              <a:ext uri="{FF2B5EF4-FFF2-40B4-BE49-F238E27FC236}">
                <a16:creationId xmlns:a16="http://schemas.microsoft.com/office/drawing/2014/main" id="{2256CCB1-4F44-4FCF-A483-CC2CE129C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48225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ource-line-2">
            <a:extLst xmlns:a="http://schemas.openxmlformats.org/drawingml/2006/main">
              <a:ext uri="{FF2B5EF4-FFF2-40B4-BE49-F238E27FC236}">
                <a16:creationId xmlns:a16="http://schemas.microsoft.com/office/drawing/2014/main" id="{A4DDF6C2-C165-487A-BCCD-FCD3FBF55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86475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ource-line-3">
            <a:extLst xmlns:a="http://schemas.openxmlformats.org/drawingml/2006/main">
              <a:ext uri="{FF2B5EF4-FFF2-40B4-BE49-F238E27FC236}">
                <a16:creationId xmlns:a16="http://schemas.microsoft.com/office/drawing/2014/main" id="{0ECC2C55-A3D9-4C80-83FA-DAE85C19E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324725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ource-line-4">
            <a:extLst xmlns:a="http://schemas.openxmlformats.org/drawingml/2006/main">
              <a:ext uri="{FF2B5EF4-FFF2-40B4-BE49-F238E27FC236}">
                <a16:creationId xmlns:a16="http://schemas.microsoft.com/office/drawing/2014/main" id="{28FE276C-39C3-4ECF-BBE8-2A94FC686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562975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app-line-0">
            <a:extLst xmlns:a="http://schemas.openxmlformats.org/drawingml/2006/main">
              <a:ext uri="{FF2B5EF4-FFF2-40B4-BE49-F238E27FC236}">
                <a16:creationId xmlns:a16="http://schemas.microsoft.com/office/drawing/2014/main" id="{ACD42941-84A5-43D8-B3EC-325591918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5272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app-line-1">
            <a:extLst xmlns:a="http://schemas.openxmlformats.org/drawingml/2006/main">
              <a:ext uri="{FF2B5EF4-FFF2-40B4-BE49-F238E27FC236}">
                <a16:creationId xmlns:a16="http://schemas.microsoft.com/office/drawing/2014/main" id="{972A4EBF-18CC-4F43-8439-D6A793AA9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8622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app-line-2">
            <a:extLst xmlns:a="http://schemas.openxmlformats.org/drawingml/2006/main">
              <a:ext uri="{FF2B5EF4-FFF2-40B4-BE49-F238E27FC236}">
                <a16:creationId xmlns:a16="http://schemas.microsoft.com/office/drawing/2014/main" id="{CF603C80-A903-4B5A-A2AC-65D9984DB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1972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app-line-3">
            <a:extLst xmlns:a="http://schemas.openxmlformats.org/drawingml/2006/main">
              <a:ext uri="{FF2B5EF4-FFF2-40B4-BE49-F238E27FC236}">
                <a16:creationId xmlns:a16="http://schemas.microsoft.com/office/drawing/2014/main" id="{887E4F3F-B6B1-4C35-9E2A-E14126F69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5322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app-line-4">
            <a:extLst xmlns:a="http://schemas.openxmlformats.org/drawingml/2006/main">
              <a:ext uri="{FF2B5EF4-FFF2-40B4-BE49-F238E27FC236}">
                <a16:creationId xmlns:a16="http://schemas.microsoft.com/office/drawing/2014/main" id="{FAB03A32-5B60-45AE-B9EC-547228332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app-line-5">
            <a:extLst xmlns:a="http://schemas.openxmlformats.org/drawingml/2006/main">
              <a:ext uri="{FF2B5EF4-FFF2-40B4-BE49-F238E27FC236}">
                <a16:creationId xmlns:a16="http://schemas.microsoft.com/office/drawing/2014/main" id="{AB7FE467-627E-4706-8659-F2F10B62B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42022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label-app">
            <a:extLst xmlns:a="http://schemas.openxmlformats.org/drawingml/2006/main">
              <a:ext uri="{FF2B5EF4-FFF2-40B4-BE49-F238E27FC236}">
                <a16:creationId xmlns:a16="http://schemas.microsoft.com/office/drawing/2014/main" id="{224E4667-0377-4FA4-AFEE-951EC08B6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914525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应用层</a:t>
            </a:r>
          </a:p>
        </p:txBody>
      </p:sp>
      <p:sp>
        <p:nvSpPr>
          <p:cNvPr id="13" name="label-platform">
            <a:extLst xmlns:a="http://schemas.openxmlformats.org/drawingml/2006/main">
              <a:ext uri="{FF2B5EF4-FFF2-40B4-BE49-F238E27FC236}">
                <a16:creationId xmlns:a16="http://schemas.microsoft.com/office/drawing/2014/main" id="{2053EBA6-04C4-486E-9000-16D48714A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75285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18A9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8A9CB"/>
                </a:solidFill>
                <a:latin typeface="Microsoft YaHei"/>
                <a:ea typeface="Microsoft YaHei"/>
                <a:cs typeface="Microsoft YaHei"/>
              </a:rPr>
              <a:t>中台层</a:t>
            </a:r>
          </a:p>
        </p:txBody>
      </p:sp>
      <p:sp>
        <p:nvSpPr>
          <p:cNvPr id="14" name="label-source">
            <a:extLst xmlns:a="http://schemas.openxmlformats.org/drawingml/2006/main">
              <a:ext uri="{FF2B5EF4-FFF2-40B4-BE49-F238E27FC236}">
                <a16:creationId xmlns:a16="http://schemas.microsoft.com/office/drawing/2014/main" id="{3019C74E-A27F-4CCD-B107-8A93F3073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563880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来源层</a:t>
            </a:r>
          </a:p>
        </p:txBody>
      </p:sp>
      <p:sp>
        <p:nvSpPr>
          <p:cNvPr id="15" name="app-node-0">
            <a:extLst xmlns:a="http://schemas.openxmlformats.org/drawingml/2006/main">
              <a:ext uri="{FF2B5EF4-FFF2-40B4-BE49-F238E27FC236}">
                <a16:creationId xmlns:a16="http://schemas.microsoft.com/office/drawing/2014/main" id="{F7D20C60-E7B6-4534-839C-E81CD97FC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2885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智能分析</a:t>
            </a:r>
          </a:p>
        </p:txBody>
      </p:sp>
      <p:sp>
        <p:nvSpPr>
          <p:cNvPr id="16" name="app-node-1">
            <a:extLst xmlns:a="http://schemas.openxmlformats.org/drawingml/2006/main">
              <a:ext uri="{FF2B5EF4-FFF2-40B4-BE49-F238E27FC236}">
                <a16:creationId xmlns:a16="http://schemas.microsoft.com/office/drawing/2014/main" id="{30CC30B6-86D5-43BE-B029-E30499F59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6235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方案设计</a:t>
            </a:r>
          </a:p>
        </p:txBody>
      </p:sp>
      <p:sp>
        <p:nvSpPr>
          <p:cNvPr id="17" name="app-node-2">
            <a:extLst xmlns:a="http://schemas.openxmlformats.org/drawingml/2006/main">
              <a:ext uri="{FF2B5EF4-FFF2-40B4-BE49-F238E27FC236}">
                <a16:creationId xmlns:a16="http://schemas.microsoft.com/office/drawing/2014/main" id="{B2400283-8DF6-4DEB-9644-25FB59210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9585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辅助决策</a:t>
            </a:r>
          </a:p>
        </p:txBody>
      </p:sp>
      <p:sp>
        <p:nvSpPr>
          <p:cNvPr id="18" name="app-node-3">
            <a:extLst xmlns:a="http://schemas.openxmlformats.org/drawingml/2006/main">
              <a:ext uri="{FF2B5EF4-FFF2-40B4-BE49-F238E27FC236}">
                <a16:creationId xmlns:a16="http://schemas.microsoft.com/office/drawing/2014/main" id="{895B9C85-040E-404F-BDF3-25854BC44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2935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成果服务</a:t>
            </a:r>
          </a:p>
        </p:txBody>
      </p:sp>
      <p:sp>
        <p:nvSpPr>
          <p:cNvPr id="19" name="app-node-4">
            <a:extLst xmlns:a="http://schemas.openxmlformats.org/drawingml/2006/main">
              <a:ext uri="{FF2B5EF4-FFF2-40B4-BE49-F238E27FC236}">
                <a16:creationId xmlns:a16="http://schemas.microsoft.com/office/drawing/2014/main" id="{BC697C37-B280-464E-BF1B-59AFFF70B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6285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风险预警</a:t>
            </a:r>
          </a:p>
        </p:txBody>
      </p:sp>
      <p:sp>
        <p:nvSpPr>
          <p:cNvPr id="20" name="app-node-5">
            <a:extLst xmlns:a="http://schemas.openxmlformats.org/drawingml/2006/main">
              <a:ext uri="{FF2B5EF4-FFF2-40B4-BE49-F238E27FC236}">
                <a16:creationId xmlns:a16="http://schemas.microsoft.com/office/drawing/2014/main" id="{EA0536D3-C9F3-4391-8A54-5C4AC2928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9635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持续评估</a:t>
            </a:r>
          </a:p>
        </p:txBody>
      </p:sp>
      <p:sp>
        <p:nvSpPr>
          <p:cNvPr id="21" name="layer-platform">
            <a:extLst xmlns:a="http://schemas.openxmlformats.org/drawingml/2006/main">
              <a:ext uri="{FF2B5EF4-FFF2-40B4-BE49-F238E27FC236}">
                <a16:creationId xmlns:a16="http://schemas.microsoft.com/office/drawing/2014/main" id="{3E33FC78-9BD7-4A4F-B765-064263D7B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86000" y="3505200"/>
            <a:ext cx="76200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238A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统一研究与能力平台</a:t>
            </a:r>
          </a:p>
        </p:txBody>
      </p:sp>
      <p:sp>
        <p:nvSpPr>
          <p:cNvPr id="22" name="source-node-0">
            <a:extLst xmlns:a="http://schemas.openxmlformats.org/drawingml/2006/main">
              <a:ext uri="{FF2B5EF4-FFF2-40B4-BE49-F238E27FC236}">
                <a16:creationId xmlns:a16="http://schemas.microsoft.com/office/drawing/2014/main" id="{9E06807A-26D7-42EA-9272-7729A2049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086100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业务数据</a:t>
            </a:r>
          </a:p>
        </p:txBody>
      </p:sp>
      <p:sp>
        <p:nvSpPr>
          <p:cNvPr id="23" name="source-node-1">
            <a:extLst xmlns:a="http://schemas.openxmlformats.org/drawingml/2006/main">
              <a:ext uri="{FF2B5EF4-FFF2-40B4-BE49-F238E27FC236}">
                <a16:creationId xmlns:a16="http://schemas.microsoft.com/office/drawing/2014/main" id="{3660B76D-DA5D-45F2-806C-88E447114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324350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实验数据</a:t>
            </a:r>
          </a:p>
        </p:txBody>
      </p:sp>
      <p:sp>
        <p:nvSpPr>
          <p:cNvPr id="24" name="source-node-2">
            <a:extLst xmlns:a="http://schemas.openxmlformats.org/drawingml/2006/main">
              <a:ext uri="{FF2B5EF4-FFF2-40B4-BE49-F238E27FC236}">
                <a16:creationId xmlns:a16="http://schemas.microsoft.com/office/drawing/2014/main" id="{8C450EE4-D2DE-4616-9F3F-253E995AD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62600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文献资料</a:t>
            </a:r>
          </a:p>
        </p:txBody>
      </p:sp>
      <p:sp>
        <p:nvSpPr>
          <p:cNvPr id="25" name="source-node-3">
            <a:extLst xmlns:a="http://schemas.openxmlformats.org/drawingml/2006/main">
              <a:ext uri="{FF2B5EF4-FFF2-40B4-BE49-F238E27FC236}">
                <a16:creationId xmlns:a16="http://schemas.microsoft.com/office/drawing/2014/main" id="{AA549C1F-EF0E-40E3-AC79-C27C9B5D5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00850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外部接口</a:t>
            </a:r>
          </a:p>
        </p:txBody>
      </p:sp>
      <p:sp>
        <p:nvSpPr>
          <p:cNvPr id="26" name="source-node-4">
            <a:extLst xmlns:a="http://schemas.openxmlformats.org/drawingml/2006/main">
              <a:ext uri="{FF2B5EF4-FFF2-40B4-BE49-F238E27FC236}">
                <a16:creationId xmlns:a16="http://schemas.microsoft.com/office/drawing/2014/main" id="{1236994F-9333-48E1-A8BA-8E4BD5B56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39100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设备数据</a:t>
            </a:r>
          </a:p>
        </p:txBody>
      </p:sp>
    </p:spTree>
    <p:extLst>
      <p:ext uri="{BB962C8B-B14F-4D97-AF65-F5344CB8AC3E}">
        <p14:creationId xmlns:p14="http://schemas.microsoft.com/office/powerpoint/2010/main" val="81984118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source-line-0">
            <a:extLst xmlns:a="http://schemas.openxmlformats.org/drawingml/2006/main">
              <a:ext uri="{FF2B5EF4-FFF2-40B4-BE49-F238E27FC236}">
                <a16:creationId xmlns:a16="http://schemas.microsoft.com/office/drawing/2014/main" id="{3843219E-6E7B-4339-925F-0852D576E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90850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ource-line-1">
            <a:extLst xmlns:a="http://schemas.openxmlformats.org/drawingml/2006/main">
              <a:ext uri="{FF2B5EF4-FFF2-40B4-BE49-F238E27FC236}">
                <a16:creationId xmlns:a16="http://schemas.microsoft.com/office/drawing/2014/main" id="{81B301C3-996A-41DC-87EC-BFB0642C6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29100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ource-line-2">
            <a:extLst xmlns:a="http://schemas.openxmlformats.org/drawingml/2006/main">
              <a:ext uri="{FF2B5EF4-FFF2-40B4-BE49-F238E27FC236}">
                <a16:creationId xmlns:a16="http://schemas.microsoft.com/office/drawing/2014/main" id="{012496CF-211E-42CE-B8CD-3B45B8D4D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67350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ource-line-3">
            <a:extLst xmlns:a="http://schemas.openxmlformats.org/drawingml/2006/main">
              <a:ext uri="{FF2B5EF4-FFF2-40B4-BE49-F238E27FC236}">
                <a16:creationId xmlns:a16="http://schemas.microsoft.com/office/drawing/2014/main" id="{6F4AB804-32A1-49EB-A837-A6BAD48E7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05600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ource-line-4">
            <a:extLst xmlns:a="http://schemas.openxmlformats.org/drawingml/2006/main">
              <a:ext uri="{FF2B5EF4-FFF2-40B4-BE49-F238E27FC236}">
                <a16:creationId xmlns:a16="http://schemas.microsoft.com/office/drawing/2014/main" id="{DCDE4A7F-4303-4EFD-8729-FB2BA1C8F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43850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ource-line-5">
            <a:extLst xmlns:a="http://schemas.openxmlformats.org/drawingml/2006/main">
              <a:ext uri="{FF2B5EF4-FFF2-40B4-BE49-F238E27FC236}">
                <a16:creationId xmlns:a16="http://schemas.microsoft.com/office/drawing/2014/main" id="{D2BF805B-487A-476B-8659-B02BBD586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182100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app-line-0">
            <a:extLst xmlns:a="http://schemas.openxmlformats.org/drawingml/2006/main">
              <a:ext uri="{FF2B5EF4-FFF2-40B4-BE49-F238E27FC236}">
                <a16:creationId xmlns:a16="http://schemas.microsoft.com/office/drawing/2014/main" id="{63A88B55-2AC9-4421-B591-31162EEFF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5297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app-line-1">
            <a:extLst xmlns:a="http://schemas.openxmlformats.org/drawingml/2006/main">
              <a:ext uri="{FF2B5EF4-FFF2-40B4-BE49-F238E27FC236}">
                <a16:creationId xmlns:a16="http://schemas.microsoft.com/office/drawing/2014/main" id="{96B28691-2B25-4A51-A292-013CFFAC5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8647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app-line-2">
            <a:extLst xmlns:a="http://schemas.openxmlformats.org/drawingml/2006/main">
              <a:ext uri="{FF2B5EF4-FFF2-40B4-BE49-F238E27FC236}">
                <a16:creationId xmlns:a16="http://schemas.microsoft.com/office/drawing/2014/main" id="{2821619C-F150-411B-9EC0-536CC0C88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1997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label-app">
            <a:extLst xmlns:a="http://schemas.openxmlformats.org/drawingml/2006/main">
              <a:ext uri="{FF2B5EF4-FFF2-40B4-BE49-F238E27FC236}">
                <a16:creationId xmlns:a16="http://schemas.microsoft.com/office/drawing/2014/main" id="{BCF2AE73-8A9D-40BC-8B3E-3EBBB798F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914525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应用层</a:t>
            </a:r>
          </a:p>
        </p:txBody>
      </p:sp>
      <p:sp>
        <p:nvSpPr>
          <p:cNvPr id="11" name="label-platform">
            <a:extLst xmlns:a="http://schemas.openxmlformats.org/drawingml/2006/main">
              <a:ext uri="{FF2B5EF4-FFF2-40B4-BE49-F238E27FC236}">
                <a16:creationId xmlns:a16="http://schemas.microsoft.com/office/drawing/2014/main" id="{BB1BFA79-68D1-4680-A7C5-09691904C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75285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18A9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8A9CB"/>
                </a:solidFill>
                <a:latin typeface="Microsoft YaHei"/>
                <a:ea typeface="Microsoft YaHei"/>
                <a:cs typeface="Microsoft YaHei"/>
              </a:rPr>
              <a:t>中台层</a:t>
            </a:r>
          </a:p>
        </p:txBody>
      </p:sp>
      <p:sp>
        <p:nvSpPr>
          <p:cNvPr id="12" name="label-source">
            <a:extLst xmlns:a="http://schemas.openxmlformats.org/drawingml/2006/main">
              <a:ext uri="{FF2B5EF4-FFF2-40B4-BE49-F238E27FC236}">
                <a16:creationId xmlns:a16="http://schemas.microsoft.com/office/drawing/2014/main" id="{7B964002-B3C0-4DFA-977C-A151F161D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563880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来源层</a:t>
            </a:r>
          </a:p>
        </p:txBody>
      </p:sp>
      <p:sp>
        <p:nvSpPr>
          <p:cNvPr id="13" name="app-node-0">
            <a:extLst xmlns:a="http://schemas.openxmlformats.org/drawingml/2006/main">
              <a:ext uri="{FF2B5EF4-FFF2-40B4-BE49-F238E27FC236}">
                <a16:creationId xmlns:a16="http://schemas.microsoft.com/office/drawing/2014/main" id="{6ADE49A7-8826-49D8-BB28-E326F6C6E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2910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智能分析</a:t>
            </a:r>
          </a:p>
        </p:txBody>
      </p:sp>
      <p:sp>
        <p:nvSpPr>
          <p:cNvPr id="14" name="app-node-1">
            <a:extLst xmlns:a="http://schemas.openxmlformats.org/drawingml/2006/main">
              <a:ext uri="{FF2B5EF4-FFF2-40B4-BE49-F238E27FC236}">
                <a16:creationId xmlns:a16="http://schemas.microsoft.com/office/drawing/2014/main" id="{70A0B211-3988-4818-BFCD-1FFF99BD0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6260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方案设计</a:t>
            </a:r>
          </a:p>
        </p:txBody>
      </p:sp>
      <p:sp>
        <p:nvSpPr>
          <p:cNvPr id="15" name="app-node-2">
            <a:extLst xmlns:a="http://schemas.openxmlformats.org/drawingml/2006/main">
              <a:ext uri="{FF2B5EF4-FFF2-40B4-BE49-F238E27FC236}">
                <a16:creationId xmlns:a16="http://schemas.microsoft.com/office/drawing/2014/main" id="{832AADE6-9896-4375-9E73-F5D5FBC7A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9610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辅助决策</a:t>
            </a:r>
          </a:p>
        </p:txBody>
      </p:sp>
      <p:sp>
        <p:nvSpPr>
          <p:cNvPr id="16" name="layer-platform">
            <a:extLst xmlns:a="http://schemas.openxmlformats.org/drawingml/2006/main">
              <a:ext uri="{FF2B5EF4-FFF2-40B4-BE49-F238E27FC236}">
                <a16:creationId xmlns:a16="http://schemas.microsoft.com/office/drawing/2014/main" id="{FD529672-5B2C-4C0E-BDE0-6525312DD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86000" y="3505200"/>
            <a:ext cx="76200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238A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统一研究与能力平台</a:t>
            </a:r>
          </a:p>
        </p:txBody>
      </p:sp>
      <p:sp>
        <p:nvSpPr>
          <p:cNvPr id="17" name="source-node-0">
            <a:extLst xmlns:a="http://schemas.openxmlformats.org/drawingml/2006/main">
              <a:ext uri="{FF2B5EF4-FFF2-40B4-BE49-F238E27FC236}">
                <a16:creationId xmlns:a16="http://schemas.microsoft.com/office/drawing/2014/main" id="{0E4C406A-BAA1-41FE-9B1F-7720AD81E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66975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业务数据</a:t>
            </a:r>
          </a:p>
        </p:txBody>
      </p:sp>
      <p:sp>
        <p:nvSpPr>
          <p:cNvPr id="18" name="source-node-1">
            <a:extLst xmlns:a="http://schemas.openxmlformats.org/drawingml/2006/main">
              <a:ext uri="{FF2B5EF4-FFF2-40B4-BE49-F238E27FC236}">
                <a16:creationId xmlns:a16="http://schemas.microsoft.com/office/drawing/2014/main" id="{6CF6505C-3F25-48E0-8104-8F0C1CF57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05225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实验数据</a:t>
            </a:r>
          </a:p>
        </p:txBody>
      </p:sp>
      <p:sp>
        <p:nvSpPr>
          <p:cNvPr id="19" name="source-node-2">
            <a:extLst xmlns:a="http://schemas.openxmlformats.org/drawingml/2006/main">
              <a:ext uri="{FF2B5EF4-FFF2-40B4-BE49-F238E27FC236}">
                <a16:creationId xmlns:a16="http://schemas.microsoft.com/office/drawing/2014/main" id="{D084ACC9-38FF-4750-8018-F762DE77E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43475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文献资料</a:t>
            </a:r>
          </a:p>
        </p:txBody>
      </p:sp>
      <p:sp>
        <p:nvSpPr>
          <p:cNvPr id="20" name="source-node-3">
            <a:extLst xmlns:a="http://schemas.openxmlformats.org/drawingml/2006/main">
              <a:ext uri="{FF2B5EF4-FFF2-40B4-BE49-F238E27FC236}">
                <a16:creationId xmlns:a16="http://schemas.microsoft.com/office/drawing/2014/main" id="{15DC26D8-B302-4687-AF00-DFB5A8A7C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81725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外部接口</a:t>
            </a:r>
          </a:p>
        </p:txBody>
      </p:sp>
      <p:sp>
        <p:nvSpPr>
          <p:cNvPr id="21" name="source-node-4">
            <a:extLst xmlns:a="http://schemas.openxmlformats.org/drawingml/2006/main">
              <a:ext uri="{FF2B5EF4-FFF2-40B4-BE49-F238E27FC236}">
                <a16:creationId xmlns:a16="http://schemas.microsoft.com/office/drawing/2014/main" id="{A0730778-057B-4B6D-8514-107CBA042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19975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设备数据</a:t>
            </a:r>
          </a:p>
        </p:txBody>
      </p:sp>
      <p:sp>
        <p:nvSpPr>
          <p:cNvPr id="22" name="source-node-5">
            <a:extLst xmlns:a="http://schemas.openxmlformats.org/drawingml/2006/main">
              <a:ext uri="{FF2B5EF4-FFF2-40B4-BE49-F238E27FC236}">
                <a16:creationId xmlns:a16="http://schemas.microsoft.com/office/drawing/2014/main" id="{1724A594-A6CC-4C54-A27F-FA61065A5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58225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用户反馈</a:t>
            </a:r>
          </a:p>
        </p:txBody>
      </p:sp>
    </p:spTree>
    <p:extLst>
      <p:ext uri="{BB962C8B-B14F-4D97-AF65-F5344CB8AC3E}">
        <p14:creationId xmlns:p14="http://schemas.microsoft.com/office/powerpoint/2010/main" val="2992494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ource-line-0">
            <a:extLst xmlns:a="http://schemas.openxmlformats.org/drawingml/2006/main">
              <a:ext uri="{FF2B5EF4-FFF2-40B4-BE49-F238E27FC236}">
                <a16:creationId xmlns:a16="http://schemas.microsoft.com/office/drawing/2014/main" id="{C0AFB533-3527-41B4-9657-361330845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90850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ource-line-1">
            <a:extLst xmlns:a="http://schemas.openxmlformats.org/drawingml/2006/main">
              <a:ext uri="{FF2B5EF4-FFF2-40B4-BE49-F238E27FC236}">
                <a16:creationId xmlns:a16="http://schemas.microsoft.com/office/drawing/2014/main" id="{2ADCE946-F54F-4A09-B83C-BC8A9657F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29100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ource-line-2">
            <a:extLst xmlns:a="http://schemas.openxmlformats.org/drawingml/2006/main">
              <a:ext uri="{FF2B5EF4-FFF2-40B4-BE49-F238E27FC236}">
                <a16:creationId xmlns:a16="http://schemas.microsoft.com/office/drawing/2014/main" id="{E01EE07E-25F8-4D45-A2BB-7CCDFE19B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67350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ource-line-3">
            <a:extLst xmlns:a="http://schemas.openxmlformats.org/drawingml/2006/main">
              <a:ext uri="{FF2B5EF4-FFF2-40B4-BE49-F238E27FC236}">
                <a16:creationId xmlns:a16="http://schemas.microsoft.com/office/drawing/2014/main" id="{27950044-F56D-4961-BB68-B4E77C71B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05600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ource-line-4">
            <a:extLst xmlns:a="http://schemas.openxmlformats.org/drawingml/2006/main">
              <a:ext uri="{FF2B5EF4-FFF2-40B4-BE49-F238E27FC236}">
                <a16:creationId xmlns:a16="http://schemas.microsoft.com/office/drawing/2014/main" id="{5E6AF387-8DC0-494C-BF88-B0A36DB87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43850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ource-line-5">
            <a:extLst xmlns:a="http://schemas.openxmlformats.org/drawingml/2006/main">
              <a:ext uri="{FF2B5EF4-FFF2-40B4-BE49-F238E27FC236}">
                <a16:creationId xmlns:a16="http://schemas.microsoft.com/office/drawing/2014/main" id="{91A0AD54-643C-4DC1-857C-C31B7E6FC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182100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app-line-0">
            <a:extLst xmlns:a="http://schemas.openxmlformats.org/drawingml/2006/main">
              <a:ext uri="{FF2B5EF4-FFF2-40B4-BE49-F238E27FC236}">
                <a16:creationId xmlns:a16="http://schemas.microsoft.com/office/drawing/2014/main" id="{6C52AA4F-3343-4E56-94A7-3DB2A94C8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8622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app-line-1">
            <a:extLst xmlns:a="http://schemas.openxmlformats.org/drawingml/2006/main">
              <a:ext uri="{FF2B5EF4-FFF2-40B4-BE49-F238E27FC236}">
                <a16:creationId xmlns:a16="http://schemas.microsoft.com/office/drawing/2014/main" id="{DC7DD8F3-3216-47C2-BF31-76D8C4C0E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1972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app-line-2">
            <a:extLst xmlns:a="http://schemas.openxmlformats.org/drawingml/2006/main">
              <a:ext uri="{FF2B5EF4-FFF2-40B4-BE49-F238E27FC236}">
                <a16:creationId xmlns:a16="http://schemas.microsoft.com/office/drawing/2014/main" id="{68DE8394-7765-403C-8BD0-541B66363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5322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app-line-3">
            <a:extLst xmlns:a="http://schemas.openxmlformats.org/drawingml/2006/main">
              <a:ext uri="{FF2B5EF4-FFF2-40B4-BE49-F238E27FC236}">
                <a16:creationId xmlns:a16="http://schemas.microsoft.com/office/drawing/2014/main" id="{C11BD22D-0F60-40BC-80C5-83E0B5499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label-app">
            <a:extLst xmlns:a="http://schemas.openxmlformats.org/drawingml/2006/main">
              <a:ext uri="{FF2B5EF4-FFF2-40B4-BE49-F238E27FC236}">
                <a16:creationId xmlns:a16="http://schemas.microsoft.com/office/drawing/2014/main" id="{4B99ED2F-D5E2-4E0D-8578-1431E0E8D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914525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应用层</a:t>
            </a:r>
          </a:p>
        </p:txBody>
      </p:sp>
      <p:sp>
        <p:nvSpPr>
          <p:cNvPr id="12" name="label-platform">
            <a:extLst xmlns:a="http://schemas.openxmlformats.org/drawingml/2006/main">
              <a:ext uri="{FF2B5EF4-FFF2-40B4-BE49-F238E27FC236}">
                <a16:creationId xmlns:a16="http://schemas.microsoft.com/office/drawing/2014/main" id="{8A8C0BD5-3E4F-4D69-B6DF-FFCAE3A45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75285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18A9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8A9CB"/>
                </a:solidFill>
                <a:latin typeface="Microsoft YaHei"/>
                <a:ea typeface="Microsoft YaHei"/>
                <a:cs typeface="Microsoft YaHei"/>
              </a:rPr>
              <a:t>中台层</a:t>
            </a:r>
          </a:p>
        </p:txBody>
      </p:sp>
      <p:sp>
        <p:nvSpPr>
          <p:cNvPr id="13" name="label-source">
            <a:extLst xmlns:a="http://schemas.openxmlformats.org/drawingml/2006/main">
              <a:ext uri="{FF2B5EF4-FFF2-40B4-BE49-F238E27FC236}">
                <a16:creationId xmlns:a16="http://schemas.microsoft.com/office/drawing/2014/main" id="{2DF9066D-0C30-4C0A-80A8-E22951EA6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563880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来源层</a:t>
            </a:r>
          </a:p>
        </p:txBody>
      </p:sp>
      <p:sp>
        <p:nvSpPr>
          <p:cNvPr id="14" name="app-node-0">
            <a:extLst xmlns:a="http://schemas.openxmlformats.org/drawingml/2006/main">
              <a:ext uri="{FF2B5EF4-FFF2-40B4-BE49-F238E27FC236}">
                <a16:creationId xmlns:a16="http://schemas.microsoft.com/office/drawing/2014/main" id="{205FC37E-9FEA-41B4-A6A0-0A76927AC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6235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智能分析</a:t>
            </a:r>
          </a:p>
        </p:txBody>
      </p:sp>
      <p:sp>
        <p:nvSpPr>
          <p:cNvPr id="15" name="app-node-1">
            <a:extLst xmlns:a="http://schemas.openxmlformats.org/drawingml/2006/main">
              <a:ext uri="{FF2B5EF4-FFF2-40B4-BE49-F238E27FC236}">
                <a16:creationId xmlns:a16="http://schemas.microsoft.com/office/drawing/2014/main" id="{7ED50A4C-DD78-4BD4-9C34-4E92910C2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9585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方案设计</a:t>
            </a:r>
          </a:p>
        </p:txBody>
      </p:sp>
      <p:sp>
        <p:nvSpPr>
          <p:cNvPr id="16" name="app-node-2">
            <a:extLst xmlns:a="http://schemas.openxmlformats.org/drawingml/2006/main">
              <a:ext uri="{FF2B5EF4-FFF2-40B4-BE49-F238E27FC236}">
                <a16:creationId xmlns:a16="http://schemas.microsoft.com/office/drawing/2014/main" id="{DA7B688B-6651-4907-8980-C3C7889D8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2935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辅助决策</a:t>
            </a:r>
          </a:p>
        </p:txBody>
      </p:sp>
      <p:sp>
        <p:nvSpPr>
          <p:cNvPr id="17" name="app-node-3">
            <a:extLst xmlns:a="http://schemas.openxmlformats.org/drawingml/2006/main">
              <a:ext uri="{FF2B5EF4-FFF2-40B4-BE49-F238E27FC236}">
                <a16:creationId xmlns:a16="http://schemas.microsoft.com/office/drawing/2014/main" id="{DB0E5C71-7F33-4DC0-80A1-1B47BF81F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6285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成果服务</a:t>
            </a:r>
          </a:p>
        </p:txBody>
      </p:sp>
      <p:sp>
        <p:nvSpPr>
          <p:cNvPr id="18" name="layer-platform">
            <a:extLst xmlns:a="http://schemas.openxmlformats.org/drawingml/2006/main">
              <a:ext uri="{FF2B5EF4-FFF2-40B4-BE49-F238E27FC236}">
                <a16:creationId xmlns:a16="http://schemas.microsoft.com/office/drawing/2014/main" id="{BA88175A-F876-4A08-BC1A-4BC6ED5E8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86000" y="3505200"/>
            <a:ext cx="76200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238A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统一研究与能力平台</a:t>
            </a:r>
          </a:p>
        </p:txBody>
      </p:sp>
      <p:sp>
        <p:nvSpPr>
          <p:cNvPr id="19" name="source-node-0">
            <a:extLst xmlns:a="http://schemas.openxmlformats.org/drawingml/2006/main">
              <a:ext uri="{FF2B5EF4-FFF2-40B4-BE49-F238E27FC236}">
                <a16:creationId xmlns:a16="http://schemas.microsoft.com/office/drawing/2014/main" id="{05D8F465-E66A-4A53-A21B-E30D7F8AC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66975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业务数据</a:t>
            </a:r>
          </a:p>
        </p:txBody>
      </p:sp>
      <p:sp>
        <p:nvSpPr>
          <p:cNvPr id="20" name="source-node-1">
            <a:extLst xmlns:a="http://schemas.openxmlformats.org/drawingml/2006/main">
              <a:ext uri="{FF2B5EF4-FFF2-40B4-BE49-F238E27FC236}">
                <a16:creationId xmlns:a16="http://schemas.microsoft.com/office/drawing/2014/main" id="{C68B8667-48E2-413A-AFDE-19C44829B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05225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实验数据</a:t>
            </a:r>
          </a:p>
        </p:txBody>
      </p:sp>
      <p:sp>
        <p:nvSpPr>
          <p:cNvPr id="21" name="source-node-2">
            <a:extLst xmlns:a="http://schemas.openxmlformats.org/drawingml/2006/main">
              <a:ext uri="{FF2B5EF4-FFF2-40B4-BE49-F238E27FC236}">
                <a16:creationId xmlns:a16="http://schemas.microsoft.com/office/drawing/2014/main" id="{A086539A-CC0E-4AD5-A348-3078298E5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43475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文献资料</a:t>
            </a:r>
          </a:p>
        </p:txBody>
      </p:sp>
      <p:sp>
        <p:nvSpPr>
          <p:cNvPr id="22" name="source-node-3">
            <a:extLst xmlns:a="http://schemas.openxmlformats.org/drawingml/2006/main">
              <a:ext uri="{FF2B5EF4-FFF2-40B4-BE49-F238E27FC236}">
                <a16:creationId xmlns:a16="http://schemas.microsoft.com/office/drawing/2014/main" id="{92C5336E-EB19-482C-A29C-F911AC776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81725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外部接口</a:t>
            </a:r>
          </a:p>
        </p:txBody>
      </p:sp>
      <p:sp>
        <p:nvSpPr>
          <p:cNvPr id="23" name="source-node-4">
            <a:extLst xmlns:a="http://schemas.openxmlformats.org/drawingml/2006/main">
              <a:ext uri="{FF2B5EF4-FFF2-40B4-BE49-F238E27FC236}">
                <a16:creationId xmlns:a16="http://schemas.microsoft.com/office/drawing/2014/main" id="{72CB6C26-FF7E-4347-BD00-E270FFA97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19975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设备数据</a:t>
            </a:r>
          </a:p>
        </p:txBody>
      </p:sp>
      <p:sp>
        <p:nvSpPr>
          <p:cNvPr id="24" name="source-node-5">
            <a:extLst xmlns:a="http://schemas.openxmlformats.org/drawingml/2006/main">
              <a:ext uri="{FF2B5EF4-FFF2-40B4-BE49-F238E27FC236}">
                <a16:creationId xmlns:a16="http://schemas.microsoft.com/office/drawing/2014/main" id="{08FA296E-8124-40F3-A3E5-9A1087E39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58225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用户反馈</a:t>
            </a:r>
          </a:p>
        </p:txBody>
      </p:sp>
    </p:spTree>
    <p:extLst>
      <p:ext uri="{BB962C8B-B14F-4D97-AF65-F5344CB8AC3E}">
        <p14:creationId xmlns:p14="http://schemas.microsoft.com/office/powerpoint/2010/main" val="11656715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source-line-0">
            <a:extLst xmlns:a="http://schemas.openxmlformats.org/drawingml/2006/main">
              <a:ext uri="{FF2B5EF4-FFF2-40B4-BE49-F238E27FC236}">
                <a16:creationId xmlns:a16="http://schemas.microsoft.com/office/drawing/2014/main" id="{0B42A0A5-5802-437F-89F9-CA70F1E7B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90850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ource-line-1">
            <a:extLst xmlns:a="http://schemas.openxmlformats.org/drawingml/2006/main">
              <a:ext uri="{FF2B5EF4-FFF2-40B4-BE49-F238E27FC236}">
                <a16:creationId xmlns:a16="http://schemas.microsoft.com/office/drawing/2014/main" id="{219AAC5C-CB47-46F3-98C8-C8971D23B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29100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ource-line-2">
            <a:extLst xmlns:a="http://schemas.openxmlformats.org/drawingml/2006/main">
              <a:ext uri="{FF2B5EF4-FFF2-40B4-BE49-F238E27FC236}">
                <a16:creationId xmlns:a16="http://schemas.microsoft.com/office/drawing/2014/main" id="{1CCDE3DD-2FF4-412D-93CE-0129DB00D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67350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ource-line-3">
            <a:extLst xmlns:a="http://schemas.openxmlformats.org/drawingml/2006/main">
              <a:ext uri="{FF2B5EF4-FFF2-40B4-BE49-F238E27FC236}">
                <a16:creationId xmlns:a16="http://schemas.microsoft.com/office/drawing/2014/main" id="{B5FF22B9-01B9-4EAA-B674-675FEE0F2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05600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ource-line-4">
            <a:extLst xmlns:a="http://schemas.openxmlformats.org/drawingml/2006/main">
              <a:ext uri="{FF2B5EF4-FFF2-40B4-BE49-F238E27FC236}">
                <a16:creationId xmlns:a16="http://schemas.microsoft.com/office/drawing/2014/main" id="{48182B54-189F-4FD5-A732-EBAC774EC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43850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ource-line-5">
            <a:extLst xmlns:a="http://schemas.openxmlformats.org/drawingml/2006/main">
              <a:ext uri="{FF2B5EF4-FFF2-40B4-BE49-F238E27FC236}">
                <a16:creationId xmlns:a16="http://schemas.microsoft.com/office/drawing/2014/main" id="{ED52A4D9-2328-4671-A80A-1BBB2FDDB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182100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app-line-0">
            <a:extLst xmlns:a="http://schemas.openxmlformats.org/drawingml/2006/main">
              <a:ext uri="{FF2B5EF4-FFF2-40B4-BE49-F238E27FC236}">
                <a16:creationId xmlns:a16="http://schemas.microsoft.com/office/drawing/2014/main" id="{936C6687-39FE-4BEF-9DF3-A48E6B803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41947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app-line-1">
            <a:extLst xmlns:a="http://schemas.openxmlformats.org/drawingml/2006/main">
              <a:ext uri="{FF2B5EF4-FFF2-40B4-BE49-F238E27FC236}">
                <a16:creationId xmlns:a16="http://schemas.microsoft.com/office/drawing/2014/main" id="{6283902A-92AA-4FD5-A9A9-7A550B4BC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5297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app-line-2">
            <a:extLst xmlns:a="http://schemas.openxmlformats.org/drawingml/2006/main">
              <a:ext uri="{FF2B5EF4-FFF2-40B4-BE49-F238E27FC236}">
                <a16:creationId xmlns:a16="http://schemas.microsoft.com/office/drawing/2014/main" id="{9F4FB38E-771B-4984-B5AD-80CDBA2B4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8647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app-line-3">
            <a:extLst xmlns:a="http://schemas.openxmlformats.org/drawingml/2006/main">
              <a:ext uri="{FF2B5EF4-FFF2-40B4-BE49-F238E27FC236}">
                <a16:creationId xmlns:a16="http://schemas.microsoft.com/office/drawing/2014/main" id="{0304FCAF-9883-49E3-8003-4F942D890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1997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app-line-4">
            <a:extLst xmlns:a="http://schemas.openxmlformats.org/drawingml/2006/main">
              <a:ext uri="{FF2B5EF4-FFF2-40B4-BE49-F238E27FC236}">
                <a16:creationId xmlns:a16="http://schemas.microsoft.com/office/drawing/2014/main" id="{32DCCF1F-74CB-4639-805C-F202F78E0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75347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label-app">
            <a:extLst xmlns:a="http://schemas.openxmlformats.org/drawingml/2006/main">
              <a:ext uri="{FF2B5EF4-FFF2-40B4-BE49-F238E27FC236}">
                <a16:creationId xmlns:a16="http://schemas.microsoft.com/office/drawing/2014/main" id="{0ECC047B-D45A-4594-8ADE-52AC423DF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914525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应用层</a:t>
            </a:r>
          </a:p>
        </p:txBody>
      </p:sp>
      <p:sp>
        <p:nvSpPr>
          <p:cNvPr id="13" name="label-platform">
            <a:extLst xmlns:a="http://schemas.openxmlformats.org/drawingml/2006/main">
              <a:ext uri="{FF2B5EF4-FFF2-40B4-BE49-F238E27FC236}">
                <a16:creationId xmlns:a16="http://schemas.microsoft.com/office/drawing/2014/main" id="{51C29EB9-78F8-412F-87AE-EBBC2D901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75285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18A9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8A9CB"/>
                </a:solidFill>
                <a:latin typeface="Microsoft YaHei"/>
                <a:ea typeface="Microsoft YaHei"/>
                <a:cs typeface="Microsoft YaHei"/>
              </a:rPr>
              <a:t>中台层</a:t>
            </a:r>
          </a:p>
        </p:txBody>
      </p:sp>
      <p:sp>
        <p:nvSpPr>
          <p:cNvPr id="14" name="label-source">
            <a:extLst xmlns:a="http://schemas.openxmlformats.org/drawingml/2006/main">
              <a:ext uri="{FF2B5EF4-FFF2-40B4-BE49-F238E27FC236}">
                <a16:creationId xmlns:a16="http://schemas.microsoft.com/office/drawing/2014/main" id="{02B3D9C8-1FCE-45F1-A741-896A93A58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563880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来源层</a:t>
            </a:r>
          </a:p>
        </p:txBody>
      </p:sp>
      <p:sp>
        <p:nvSpPr>
          <p:cNvPr id="15" name="app-node-0">
            <a:extLst xmlns:a="http://schemas.openxmlformats.org/drawingml/2006/main">
              <a:ext uri="{FF2B5EF4-FFF2-40B4-BE49-F238E27FC236}">
                <a16:creationId xmlns:a16="http://schemas.microsoft.com/office/drawing/2014/main" id="{769E318E-9C73-4420-854A-C763BCEBE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89560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智能分析</a:t>
            </a:r>
          </a:p>
        </p:txBody>
      </p:sp>
      <p:sp>
        <p:nvSpPr>
          <p:cNvPr id="16" name="app-node-1">
            <a:extLst xmlns:a="http://schemas.openxmlformats.org/drawingml/2006/main">
              <a:ext uri="{FF2B5EF4-FFF2-40B4-BE49-F238E27FC236}">
                <a16:creationId xmlns:a16="http://schemas.microsoft.com/office/drawing/2014/main" id="{0C18D126-F04C-45A4-82EE-1498BBA89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2910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方案设计</a:t>
            </a:r>
          </a:p>
        </p:txBody>
      </p:sp>
      <p:sp>
        <p:nvSpPr>
          <p:cNvPr id="17" name="app-node-2">
            <a:extLst xmlns:a="http://schemas.openxmlformats.org/drawingml/2006/main">
              <a:ext uri="{FF2B5EF4-FFF2-40B4-BE49-F238E27FC236}">
                <a16:creationId xmlns:a16="http://schemas.microsoft.com/office/drawing/2014/main" id="{8ABFF784-203D-47BB-BEF5-DF9583275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6260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辅助决策</a:t>
            </a:r>
          </a:p>
        </p:txBody>
      </p:sp>
      <p:sp>
        <p:nvSpPr>
          <p:cNvPr id="18" name="app-node-3">
            <a:extLst xmlns:a="http://schemas.openxmlformats.org/drawingml/2006/main">
              <a:ext uri="{FF2B5EF4-FFF2-40B4-BE49-F238E27FC236}">
                <a16:creationId xmlns:a16="http://schemas.microsoft.com/office/drawing/2014/main" id="{1E16593B-ABCD-4DE9-95A3-78401D49A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89610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成果服务</a:t>
            </a:r>
          </a:p>
        </p:txBody>
      </p:sp>
      <p:sp>
        <p:nvSpPr>
          <p:cNvPr id="19" name="app-node-4">
            <a:extLst xmlns:a="http://schemas.openxmlformats.org/drawingml/2006/main">
              <a:ext uri="{FF2B5EF4-FFF2-40B4-BE49-F238E27FC236}">
                <a16:creationId xmlns:a16="http://schemas.microsoft.com/office/drawing/2014/main" id="{8270B5A0-9E9A-4DE9-9E4B-7D040A822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22960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风险预警</a:t>
            </a:r>
          </a:p>
        </p:txBody>
      </p:sp>
      <p:sp>
        <p:nvSpPr>
          <p:cNvPr id="20" name="layer-platform">
            <a:extLst xmlns:a="http://schemas.openxmlformats.org/drawingml/2006/main">
              <a:ext uri="{FF2B5EF4-FFF2-40B4-BE49-F238E27FC236}">
                <a16:creationId xmlns:a16="http://schemas.microsoft.com/office/drawing/2014/main" id="{E2EFC132-7BE9-486E-895A-17CDDA8BA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86000" y="3505200"/>
            <a:ext cx="76200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238A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统一研究与能力平台</a:t>
            </a:r>
          </a:p>
        </p:txBody>
      </p:sp>
      <p:sp>
        <p:nvSpPr>
          <p:cNvPr id="21" name="source-node-0">
            <a:extLst xmlns:a="http://schemas.openxmlformats.org/drawingml/2006/main">
              <a:ext uri="{FF2B5EF4-FFF2-40B4-BE49-F238E27FC236}">
                <a16:creationId xmlns:a16="http://schemas.microsoft.com/office/drawing/2014/main" id="{04E56040-6E98-46E9-97D3-31FF317FD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66975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业务数据</a:t>
            </a:r>
          </a:p>
        </p:txBody>
      </p:sp>
      <p:sp>
        <p:nvSpPr>
          <p:cNvPr id="22" name="source-node-1">
            <a:extLst xmlns:a="http://schemas.openxmlformats.org/drawingml/2006/main">
              <a:ext uri="{FF2B5EF4-FFF2-40B4-BE49-F238E27FC236}">
                <a16:creationId xmlns:a16="http://schemas.microsoft.com/office/drawing/2014/main" id="{FA2384D8-4B96-4B75-B373-53681524F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05225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实验数据</a:t>
            </a:r>
          </a:p>
        </p:txBody>
      </p:sp>
      <p:sp>
        <p:nvSpPr>
          <p:cNvPr id="23" name="source-node-2">
            <a:extLst xmlns:a="http://schemas.openxmlformats.org/drawingml/2006/main">
              <a:ext uri="{FF2B5EF4-FFF2-40B4-BE49-F238E27FC236}">
                <a16:creationId xmlns:a16="http://schemas.microsoft.com/office/drawing/2014/main" id="{FDE30306-29EA-4D1F-8E2C-187A197A7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43475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文献资料</a:t>
            </a:r>
          </a:p>
        </p:txBody>
      </p:sp>
      <p:sp>
        <p:nvSpPr>
          <p:cNvPr id="24" name="source-node-3">
            <a:extLst xmlns:a="http://schemas.openxmlformats.org/drawingml/2006/main">
              <a:ext uri="{FF2B5EF4-FFF2-40B4-BE49-F238E27FC236}">
                <a16:creationId xmlns:a16="http://schemas.microsoft.com/office/drawing/2014/main" id="{A52872A6-86A8-45ED-840E-4E52F7253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81725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外部接口</a:t>
            </a:r>
          </a:p>
        </p:txBody>
      </p:sp>
      <p:sp>
        <p:nvSpPr>
          <p:cNvPr id="25" name="source-node-4">
            <a:extLst xmlns:a="http://schemas.openxmlformats.org/drawingml/2006/main">
              <a:ext uri="{FF2B5EF4-FFF2-40B4-BE49-F238E27FC236}">
                <a16:creationId xmlns:a16="http://schemas.microsoft.com/office/drawing/2014/main" id="{13D14851-3FE1-4D31-BFDE-60E571252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19975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设备数据</a:t>
            </a:r>
          </a:p>
        </p:txBody>
      </p:sp>
      <p:sp>
        <p:nvSpPr>
          <p:cNvPr id="26" name="source-node-5">
            <a:extLst xmlns:a="http://schemas.openxmlformats.org/drawingml/2006/main">
              <a:ext uri="{FF2B5EF4-FFF2-40B4-BE49-F238E27FC236}">
                <a16:creationId xmlns:a16="http://schemas.microsoft.com/office/drawing/2014/main" id="{2F56B116-189A-40A2-98FE-1E171222B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58225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用户反馈</a:t>
            </a:r>
          </a:p>
        </p:txBody>
      </p:sp>
    </p:spTree>
    <p:extLst>
      <p:ext uri="{BB962C8B-B14F-4D97-AF65-F5344CB8AC3E}">
        <p14:creationId xmlns:p14="http://schemas.microsoft.com/office/powerpoint/2010/main" val="122332790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source-line-0">
            <a:extLst xmlns:a="http://schemas.openxmlformats.org/drawingml/2006/main">
              <a:ext uri="{FF2B5EF4-FFF2-40B4-BE49-F238E27FC236}">
                <a16:creationId xmlns:a16="http://schemas.microsoft.com/office/drawing/2014/main" id="{BE38BF28-B229-459E-8C22-9059A6AD0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990850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source-line-1">
            <a:extLst xmlns:a="http://schemas.openxmlformats.org/drawingml/2006/main">
              <a:ext uri="{FF2B5EF4-FFF2-40B4-BE49-F238E27FC236}">
                <a16:creationId xmlns:a16="http://schemas.microsoft.com/office/drawing/2014/main" id="{BF5BF45A-75F0-4C30-B46B-C2FE65C1F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229100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source-line-2">
            <a:extLst xmlns:a="http://schemas.openxmlformats.org/drawingml/2006/main">
              <a:ext uri="{FF2B5EF4-FFF2-40B4-BE49-F238E27FC236}">
                <a16:creationId xmlns:a16="http://schemas.microsoft.com/office/drawing/2014/main" id="{A79C3A73-261F-4630-9861-0CFDC37BF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67350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source-line-3">
            <a:extLst xmlns:a="http://schemas.openxmlformats.org/drawingml/2006/main">
              <a:ext uri="{FF2B5EF4-FFF2-40B4-BE49-F238E27FC236}">
                <a16:creationId xmlns:a16="http://schemas.microsoft.com/office/drawing/2014/main" id="{CC1E42A6-72B5-41B4-92D9-CCE429663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05600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ource-line-4">
            <a:extLst xmlns:a="http://schemas.openxmlformats.org/drawingml/2006/main">
              <a:ext uri="{FF2B5EF4-FFF2-40B4-BE49-F238E27FC236}">
                <a16:creationId xmlns:a16="http://schemas.microsoft.com/office/drawing/2014/main" id="{705AEF85-52C9-4044-808E-BB72B9B8C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943850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ource-line-5">
            <a:extLst xmlns:a="http://schemas.openxmlformats.org/drawingml/2006/main">
              <a:ext uri="{FF2B5EF4-FFF2-40B4-BE49-F238E27FC236}">
                <a16:creationId xmlns:a16="http://schemas.microsoft.com/office/drawing/2014/main" id="{A34A3F71-CFCE-461C-92D2-E8E514705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182100" y="4343400"/>
            <a:ext cx="19050" cy="971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app-line-0">
            <a:extLst xmlns:a="http://schemas.openxmlformats.org/drawingml/2006/main">
              <a:ext uri="{FF2B5EF4-FFF2-40B4-BE49-F238E27FC236}">
                <a16:creationId xmlns:a16="http://schemas.microsoft.com/office/drawing/2014/main" id="{F64F806A-59F7-42CE-9A8A-BC8F0698F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75272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app-line-1">
            <a:extLst xmlns:a="http://schemas.openxmlformats.org/drawingml/2006/main">
              <a:ext uri="{FF2B5EF4-FFF2-40B4-BE49-F238E27FC236}">
                <a16:creationId xmlns:a16="http://schemas.microsoft.com/office/drawing/2014/main" id="{7D66523F-7FD3-436D-8D8A-496C62306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08622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app-line-2">
            <a:extLst xmlns:a="http://schemas.openxmlformats.org/drawingml/2006/main">
              <a:ext uri="{FF2B5EF4-FFF2-40B4-BE49-F238E27FC236}">
                <a16:creationId xmlns:a16="http://schemas.microsoft.com/office/drawing/2014/main" id="{929C7A82-DC7F-4637-A0A3-68890562F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1972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app-line-3">
            <a:extLst xmlns:a="http://schemas.openxmlformats.org/drawingml/2006/main">
              <a:ext uri="{FF2B5EF4-FFF2-40B4-BE49-F238E27FC236}">
                <a16:creationId xmlns:a16="http://schemas.microsoft.com/office/drawing/2014/main" id="{301ADA63-830E-41D7-9490-8D42B0944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75322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app-line-4">
            <a:extLst xmlns:a="http://schemas.openxmlformats.org/drawingml/2006/main">
              <a:ext uri="{FF2B5EF4-FFF2-40B4-BE49-F238E27FC236}">
                <a16:creationId xmlns:a16="http://schemas.microsoft.com/office/drawing/2014/main" id="{5ED9ADB4-6A48-46E3-8B0C-3395E7635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08672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app-line-5">
            <a:extLst xmlns:a="http://schemas.openxmlformats.org/drawingml/2006/main">
              <a:ext uri="{FF2B5EF4-FFF2-40B4-BE49-F238E27FC236}">
                <a16:creationId xmlns:a16="http://schemas.microsoft.com/office/drawing/2014/main" id="{346DFA38-C328-4C91-807E-BB4279CEA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9420225" y="2514600"/>
            <a:ext cx="190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1E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label-app">
            <a:extLst xmlns:a="http://schemas.openxmlformats.org/drawingml/2006/main">
              <a:ext uri="{FF2B5EF4-FFF2-40B4-BE49-F238E27FC236}">
                <a16:creationId xmlns:a16="http://schemas.microsoft.com/office/drawing/2014/main" id="{9DBBBF34-E1B3-4862-88E7-CC13A709F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1914525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应用层</a:t>
            </a:r>
          </a:p>
        </p:txBody>
      </p:sp>
      <p:sp>
        <p:nvSpPr>
          <p:cNvPr id="14" name="label-platform">
            <a:extLst xmlns:a="http://schemas.openxmlformats.org/drawingml/2006/main">
              <a:ext uri="{FF2B5EF4-FFF2-40B4-BE49-F238E27FC236}">
                <a16:creationId xmlns:a16="http://schemas.microsoft.com/office/drawing/2014/main" id="{E53CECCC-1A08-4B13-8665-BA1E3B618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375285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18A9C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8A9CB"/>
                </a:solidFill>
                <a:latin typeface="Microsoft YaHei"/>
                <a:ea typeface="Microsoft YaHei"/>
                <a:cs typeface="Microsoft YaHei"/>
              </a:rPr>
              <a:t>中台层</a:t>
            </a:r>
          </a:p>
        </p:txBody>
      </p:sp>
      <p:sp>
        <p:nvSpPr>
          <p:cNvPr id="15" name="label-source">
            <a:extLst xmlns:a="http://schemas.openxmlformats.org/drawingml/2006/main">
              <a:ext uri="{FF2B5EF4-FFF2-40B4-BE49-F238E27FC236}">
                <a16:creationId xmlns:a16="http://schemas.microsoft.com/office/drawing/2014/main" id="{99F6D8BE-3021-4F10-87D4-1B41B5B6A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23875" y="563880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 i="0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来源层</a:t>
            </a:r>
          </a:p>
        </p:txBody>
      </p:sp>
      <p:sp>
        <p:nvSpPr>
          <p:cNvPr id="16" name="app-node-0">
            <a:extLst xmlns:a="http://schemas.openxmlformats.org/drawingml/2006/main">
              <a:ext uri="{FF2B5EF4-FFF2-40B4-BE49-F238E27FC236}">
                <a16:creationId xmlns:a16="http://schemas.microsoft.com/office/drawing/2014/main" id="{7B2FDF20-CFDB-49F0-836B-C8FFD6C41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2885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智能分析</a:t>
            </a:r>
          </a:p>
        </p:txBody>
      </p:sp>
      <p:sp>
        <p:nvSpPr>
          <p:cNvPr id="17" name="app-node-1">
            <a:extLst xmlns:a="http://schemas.openxmlformats.org/drawingml/2006/main">
              <a:ext uri="{FF2B5EF4-FFF2-40B4-BE49-F238E27FC236}">
                <a16:creationId xmlns:a16="http://schemas.microsoft.com/office/drawing/2014/main" id="{B6FFE3F8-D05C-4716-8345-8BC4240BC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56235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方案设计</a:t>
            </a:r>
          </a:p>
        </p:txBody>
      </p:sp>
      <p:sp>
        <p:nvSpPr>
          <p:cNvPr id="18" name="app-node-2">
            <a:extLst xmlns:a="http://schemas.openxmlformats.org/drawingml/2006/main">
              <a:ext uri="{FF2B5EF4-FFF2-40B4-BE49-F238E27FC236}">
                <a16:creationId xmlns:a16="http://schemas.microsoft.com/office/drawing/2014/main" id="{1650A4E6-8413-4F01-9E46-179F9DA3F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89585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辅助决策</a:t>
            </a:r>
          </a:p>
        </p:txBody>
      </p:sp>
      <p:sp>
        <p:nvSpPr>
          <p:cNvPr id="19" name="app-node-3">
            <a:extLst xmlns:a="http://schemas.openxmlformats.org/drawingml/2006/main">
              <a:ext uri="{FF2B5EF4-FFF2-40B4-BE49-F238E27FC236}">
                <a16:creationId xmlns:a16="http://schemas.microsoft.com/office/drawing/2014/main" id="{38C57BEE-AD15-416E-89C7-68107F40D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22935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成果服务</a:t>
            </a:r>
          </a:p>
        </p:txBody>
      </p:sp>
      <p:sp>
        <p:nvSpPr>
          <p:cNvPr id="20" name="app-node-4">
            <a:extLst xmlns:a="http://schemas.openxmlformats.org/drawingml/2006/main">
              <a:ext uri="{FF2B5EF4-FFF2-40B4-BE49-F238E27FC236}">
                <a16:creationId xmlns:a16="http://schemas.microsoft.com/office/drawing/2014/main" id="{BCDFC655-28DD-4BC7-B034-BAE6D9540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56285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风险预警</a:t>
            </a:r>
          </a:p>
        </p:txBody>
      </p:sp>
      <p:sp>
        <p:nvSpPr>
          <p:cNvPr id="21" name="app-node-5">
            <a:extLst xmlns:a="http://schemas.openxmlformats.org/drawingml/2006/main">
              <a:ext uri="{FF2B5EF4-FFF2-40B4-BE49-F238E27FC236}">
                <a16:creationId xmlns:a16="http://schemas.microsoft.com/office/drawing/2014/main" id="{FC525F04-ACB6-4BEF-B1B7-4501B3714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896350" y="167640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A9CB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持续评估</a:t>
            </a:r>
          </a:p>
        </p:txBody>
      </p:sp>
      <p:sp>
        <p:nvSpPr>
          <p:cNvPr id="22" name="layer-platform">
            <a:extLst xmlns:a="http://schemas.openxmlformats.org/drawingml/2006/main">
              <a:ext uri="{FF2B5EF4-FFF2-40B4-BE49-F238E27FC236}">
                <a16:creationId xmlns:a16="http://schemas.microsoft.com/office/drawing/2014/main" id="{32DC7502-066D-4188-A912-5F7B4FCA0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286000" y="3505200"/>
            <a:ext cx="76200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238AC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统一研究与能力平台</a:t>
            </a:r>
          </a:p>
        </p:txBody>
      </p:sp>
      <p:sp>
        <p:nvSpPr>
          <p:cNvPr id="23" name="source-node-0">
            <a:extLst xmlns:a="http://schemas.openxmlformats.org/drawingml/2006/main">
              <a:ext uri="{FF2B5EF4-FFF2-40B4-BE49-F238E27FC236}">
                <a16:creationId xmlns:a16="http://schemas.microsoft.com/office/drawing/2014/main" id="{DE0E48EE-8AA3-45B3-9839-CF9A77E7E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466975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业务数据</a:t>
            </a:r>
          </a:p>
        </p:txBody>
      </p:sp>
      <p:sp>
        <p:nvSpPr>
          <p:cNvPr id="24" name="source-node-1">
            <a:extLst xmlns:a="http://schemas.openxmlformats.org/drawingml/2006/main">
              <a:ext uri="{FF2B5EF4-FFF2-40B4-BE49-F238E27FC236}">
                <a16:creationId xmlns:a16="http://schemas.microsoft.com/office/drawing/2014/main" id="{772E61E4-82DA-422A-BF88-260A086E6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705225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实验数据</a:t>
            </a:r>
          </a:p>
        </p:txBody>
      </p:sp>
      <p:sp>
        <p:nvSpPr>
          <p:cNvPr id="25" name="source-node-2">
            <a:extLst xmlns:a="http://schemas.openxmlformats.org/drawingml/2006/main">
              <a:ext uri="{FF2B5EF4-FFF2-40B4-BE49-F238E27FC236}">
                <a16:creationId xmlns:a16="http://schemas.microsoft.com/office/drawing/2014/main" id="{B14475E5-D862-450B-A292-CDB1F31D2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943475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文献资料</a:t>
            </a:r>
          </a:p>
        </p:txBody>
      </p:sp>
      <p:sp>
        <p:nvSpPr>
          <p:cNvPr id="26" name="source-node-3">
            <a:extLst xmlns:a="http://schemas.openxmlformats.org/drawingml/2006/main">
              <a:ext uri="{FF2B5EF4-FFF2-40B4-BE49-F238E27FC236}">
                <a16:creationId xmlns:a16="http://schemas.microsoft.com/office/drawing/2014/main" id="{7906E89A-4D62-4358-8EC0-FDEEB8A05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181725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外部接口</a:t>
            </a:r>
          </a:p>
        </p:txBody>
      </p:sp>
      <p:sp>
        <p:nvSpPr>
          <p:cNvPr id="27" name="source-node-4">
            <a:extLst xmlns:a="http://schemas.openxmlformats.org/drawingml/2006/main">
              <a:ext uri="{FF2B5EF4-FFF2-40B4-BE49-F238E27FC236}">
                <a16:creationId xmlns:a16="http://schemas.microsoft.com/office/drawing/2014/main" id="{ECAC12ED-753E-4050-8FC3-79B15E235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7419975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设备数据</a:t>
            </a:r>
          </a:p>
        </p:txBody>
      </p:sp>
      <p:sp>
        <p:nvSpPr>
          <p:cNvPr id="28" name="source-node-5">
            <a:extLst xmlns:a="http://schemas.openxmlformats.org/drawingml/2006/main">
              <a:ext uri="{FF2B5EF4-FFF2-40B4-BE49-F238E27FC236}">
                <a16:creationId xmlns:a16="http://schemas.microsoft.com/office/drawing/2014/main" id="{D9A4CE8D-B32D-46B3-8C13-E47EE4F85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658225" y="5314950"/>
            <a:ext cx="1066800" cy="800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用户反馈</a:t>
            </a:r>
          </a:p>
        </p:txBody>
      </p:sp>
    </p:spTree>
    <p:extLst>
      <p:ext uri="{BB962C8B-B14F-4D97-AF65-F5344CB8AC3E}">
        <p14:creationId xmlns:p14="http://schemas.microsoft.com/office/powerpoint/2010/main" val="186866566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2026-08-16T02:07:09.6850000Z</dcterms:created>
  <dcterms:modified xsi:type="dcterms:W3CDTF">2026-08-16T02:07:09.6850000Z</dcterms:modified>
</coreProperties>
</file>