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8732ec2af0fa4afa" /><Relationship Type="http://schemas.openxmlformats.org/officeDocument/2006/relationships/extended-properties" Target="/docProps/app.xml" Id="Rcccf99bb5e334195" /><Relationship Type="http://schemas.openxmlformats.org/officeDocument/2006/relationships/officeDocument" Target="/ppt/presentation.xml" Id="R2dd95fa18fe14792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1be721a76f5641d5"/>
  </p:sldMasterIdLst>
  <p:notesMasterIdLst>
    <p:notesMasterId xmlns:r="http://schemas.openxmlformats.org/officeDocument/2006/relationships" r:id="R496953f6805b4d3e"/>
  </p:notesMasterIdLst>
  <p:sldIdLst>
    <p:sldId xmlns:r="http://schemas.openxmlformats.org/officeDocument/2006/relationships" id="256" r:id="Rcf7b4fa4a02d4506"/>
    <p:sldId xmlns:r="http://schemas.openxmlformats.org/officeDocument/2006/relationships" id="257" r:id="R05db362535e6402d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afdd37ce70cf41d2" /><Relationship Type="http://schemas.openxmlformats.org/officeDocument/2006/relationships/slideMaster" Target="/ppt/slideMasters/slideMaster1.xml" Id="R1be721a76f5641d5" /><Relationship Type="http://schemas.openxmlformats.org/officeDocument/2006/relationships/notesMaster" Target="/ppt/notesMasters/notesMaster1.xml" Id="R496953f6805b4d3e" /><Relationship Type="http://schemas.openxmlformats.org/officeDocument/2006/relationships/presProps" Target="/ppt/presProps.xml" Id="Re6cba0b743514281" /><Relationship Type="http://schemas.openxmlformats.org/officeDocument/2006/relationships/tableStyles" Target="/ppt/tableStyles.xml" Id="Rfaefecb954ef4842" /><Relationship Type="http://schemas.openxmlformats.org/officeDocument/2006/relationships/slide" Target="/ppt/slides/slide1.xml" Id="Rcf7b4fa4a02d4506" /><Relationship Type="http://schemas.openxmlformats.org/officeDocument/2006/relationships/slide" Target="/ppt/slides/slide2.xml" Id="R05db362535e6402d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14e97512aa9b471a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8e301f151a2a4a97" /><Relationship Type="http://schemas.openxmlformats.org/officeDocument/2006/relationships/notesMaster" Target="/ppt/notesMasters/notesMaster1.xml" Id="R7f229a0237234788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09ea8c42c58d4e95" /><Relationship Type="http://schemas.openxmlformats.org/officeDocument/2006/relationships/notesMaster" Target="/ppt/notesMasters/notesMaster1.xml" Id="R4867d7c616bb430b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b3ced1019e284622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85b34c6dfc5c4523" /><Relationship Type="http://schemas.openxmlformats.org/officeDocument/2006/relationships/slideLayout" Target="/ppt/slideLayouts/slideLayout1.xml" Id="Re05525c594574396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e05525c594574396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ec20b1913e04b28" /><Relationship Type="http://schemas.openxmlformats.org/officeDocument/2006/relationships/notesSlide" Target="/ppt/notesSlides/notesSlide1.xml" Id="R1a684744576f4622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f7d71c3a15a4691" /><Relationship Type="http://schemas.openxmlformats.org/officeDocument/2006/relationships/notesSlide" Target="/ppt/notesSlides/notesSlide2.xml" Id="Rdca1a7569bb24384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7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622A2DB2-941C-4F25-B1A3-8DFE1C5D69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0050"/>
            <a:ext cx="8382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700" b="1">
                <a:solidFill>
                  <a:srgbClr val="1677C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700" b="1">
                <a:solidFill>
                  <a:srgbClr val="1677C8"/>
                </a:solidFill>
                <a:latin typeface="Microsoft YaHei"/>
                <a:ea typeface="Microsoft YaHei"/>
                <a:cs typeface="Microsoft YaHei"/>
              </a:rPr>
              <a:t>外部环境分析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0DBD147-639C-4AD0-B06C-F5A11C9684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876300"/>
            <a:ext cx="4953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7C8A9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7C8A9A"/>
                </a:solidFill>
                <a:latin typeface="Microsoft YaHei"/>
                <a:ea typeface="Microsoft YaHei"/>
                <a:cs typeface="Microsoft YaHei"/>
              </a:rPr>
              <a:t>四象限分析框架</a:t>
            </a:r>
          </a:p>
        </p:txBody>
      </p:sp>
      <p:sp>
        <p:nvSpPr>
          <p:cNvPr id="3" name="PPAGENT_QA|parent=matrix-petal-0|domains=matrix-petal,matrix-content">
            <a:extLst xmlns:a="http://schemas.openxmlformats.org/drawingml/2006/main">
              <a:ext uri="{FF2B5EF4-FFF2-40B4-BE49-F238E27FC236}">
                <a16:creationId xmlns:a16="http://schemas.microsoft.com/office/drawing/2014/main" id="{02632C30-D096-4E8E-A311-6E76C1A1C0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5400000">
            <a:off x="4381500" y="1666875"/>
            <a:ext cx="1714500" cy="1714500"/>
          </a:xfrm>
          <a:prstGeom xmlns:a="http://schemas.openxmlformats.org/drawingml/2006/main" prst="teardrop">
            <a:avLst/>
          </a:prstGeom>
          <a:solidFill xmlns:a="http://schemas.openxmlformats.org/drawingml/2006/main">
            <a:srgbClr val="1677C8"/>
          </a:solidFill>
          <a:ln xmlns:a="http://schemas.openxmlformats.org/drawingml/2006/main" w="19050">
            <a:solidFill>
              <a:srgbClr val="FFFFF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6"/>
          <a:fontRef xmlns:a="http://schemas.openxmlformats.org/drawingml/2006/main" idx="major"/>
        </p:style>
      </p:sp>
      <p:sp>
        <p:nvSpPr>
          <p:cNvPr id="4" name="PPAGENT_QA|within=matrix-petal-0|role=initial">
            <a:extLst xmlns:a="http://schemas.openxmlformats.org/drawingml/2006/main">
              <a:ext uri="{FF2B5EF4-FFF2-40B4-BE49-F238E27FC236}">
                <a16:creationId xmlns:a16="http://schemas.microsoft.com/office/drawing/2014/main" id="{F1EBD7F0-5ED4-4DE1-AE72-93450F605E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43450" y="2047875"/>
            <a:ext cx="9906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40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40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政</a:t>
            </a:r>
          </a:p>
        </p:txBody>
      </p:sp>
      <p:sp>
        <p:nvSpPr>
          <p:cNvPr id="5" name="PPAGENT_QA|within=matrix-petal-0|role=title">
            <a:extLst xmlns:a="http://schemas.openxmlformats.org/drawingml/2006/main">
              <a:ext uri="{FF2B5EF4-FFF2-40B4-BE49-F238E27FC236}">
                <a16:creationId xmlns:a16="http://schemas.microsoft.com/office/drawing/2014/main" id="{F748097C-CA66-4F9D-BA44-4B330FB434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52950" y="2724150"/>
            <a:ext cx="13716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42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政策环境</a:t>
            </a:r>
          </a:p>
        </p:txBody>
      </p:sp>
      <p:sp>
        <p:nvSpPr>
          <p:cNvPr id="6" name="PPAGENT_QA|parent=matrix-quadrant-0|domains=matrix-callout,matrix-content">
            <a:extLst xmlns:a="http://schemas.openxmlformats.org/drawingml/2006/main">
              <a:ext uri="{FF2B5EF4-FFF2-40B4-BE49-F238E27FC236}">
                <a16:creationId xmlns:a16="http://schemas.microsoft.com/office/drawing/2014/main" id="{3105FDF5-8AC9-4DCD-B27B-5FA5F78584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619250"/>
            <a:ext cx="3143250" cy="1562100"/>
          </a:xfrm>
          <a:prstGeom xmlns:a="http://schemas.openxmlformats.org/drawingml/2006/main" prst="roundRect">
            <a:avLst>
              <a:gd name="adj" fmla="val 731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383">
            <a:solidFill>
              <a:srgbClr val="B9C7D4"/>
            </a:solidFill>
            <a:prstDash val="dash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7" name="PPAGENT_QA|within=matrix-quadrant-0|role=title">
            <a:extLst xmlns:a="http://schemas.openxmlformats.org/drawingml/2006/main">
              <a:ext uri="{FF2B5EF4-FFF2-40B4-BE49-F238E27FC236}">
                <a16:creationId xmlns:a16="http://schemas.microsoft.com/office/drawing/2014/main" id="{CEB1EA46-D444-4AE4-AB21-9EEC76DD28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752600"/>
            <a:ext cx="26860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677C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1">
                <a:solidFill>
                  <a:srgbClr val="1677C8"/>
                </a:solidFill>
                <a:latin typeface="Microsoft YaHei"/>
                <a:ea typeface="Microsoft YaHei"/>
                <a:cs typeface="Microsoft YaHei"/>
              </a:rPr>
              <a:t>政策环境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594EBC2-76AF-48D5-AE98-CDAA12E484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095500"/>
            <a:ext cx="2686050" cy="285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677C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PPAGENT_QA|within=matrix-quadrant-0|role=body">
            <a:extLst xmlns:a="http://schemas.openxmlformats.org/drawingml/2006/main">
              <a:ext uri="{FF2B5EF4-FFF2-40B4-BE49-F238E27FC236}">
                <a16:creationId xmlns:a16="http://schemas.microsoft.com/office/drawing/2014/main" id="{80FB5C35-1BB7-4C94-ACF3-0B28AE71E8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238375"/>
            <a:ext cx="268605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47556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>
                <a:solidFill>
                  <a:srgbClr val="475569"/>
                </a:solidFill>
                <a:latin typeface="Microsoft YaHei"/>
                <a:ea typeface="Microsoft YaHei"/>
                <a:cs typeface="Microsoft YaHei"/>
              </a:rPr>
              <a:t>政策窗口与行业规则</a:t>
            </a:r>
          </a:p>
        </p:txBody>
      </p:sp>
      <p:sp>
        <p:nvSpPr>
          <p:cNvPr id="10" name="PPAGENT_CONNECTOR|from=matrix-quadrant-0|fromSide=right|to=matrix-petal-0|toSide=left">
            <a:extLst xmlns:a="http://schemas.openxmlformats.org/drawingml/2006/main">
              <a:ext uri="{FF2B5EF4-FFF2-40B4-BE49-F238E27FC236}">
                <a16:creationId xmlns:a16="http://schemas.microsoft.com/office/drawing/2014/main" id="{69B4E748-404A-4010-9173-3EACE4E131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3695700" y="2400300"/>
            <a:ext cx="685800" cy="1238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3335">
            <a:solidFill>
              <a:srgbClr val="1677C8"/>
            </a:solidFill>
            <a:prstDash val="solid"/>
          </a:ln>
        </p:spPr>
      </p:sp>
      <p:sp>
        <p:nvSpPr>
          <p:cNvPr id="11" name="PPAGENT_QA|parent=matrix-petal-1|domains=matrix-petal,matrix-content">
            <a:extLst xmlns:a="http://schemas.openxmlformats.org/drawingml/2006/main">
              <a:ext uri="{FF2B5EF4-FFF2-40B4-BE49-F238E27FC236}">
                <a16:creationId xmlns:a16="http://schemas.microsoft.com/office/drawing/2014/main" id="{AC869099-0AA8-4351-BEE7-CF857AE6FB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10800000">
            <a:off x="6096000" y="1666875"/>
            <a:ext cx="1714500" cy="1714500"/>
          </a:xfrm>
          <a:prstGeom xmlns:a="http://schemas.openxmlformats.org/drawingml/2006/main" prst="teardrop">
            <a:avLst/>
          </a:prstGeom>
          <a:solidFill xmlns:a="http://schemas.openxmlformats.org/drawingml/2006/main">
            <a:srgbClr val="14CBD1"/>
          </a:solidFill>
          <a:ln xmlns:a="http://schemas.openxmlformats.org/drawingml/2006/main" w="19050">
            <a:solidFill>
              <a:srgbClr val="FFFFF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6"/>
          <a:fontRef xmlns:a="http://schemas.openxmlformats.org/drawingml/2006/main" idx="major"/>
        </p:style>
      </p:sp>
      <p:sp>
        <p:nvSpPr>
          <p:cNvPr id="12" name="PPAGENT_QA|within=matrix-petal-1|role=initial">
            <a:extLst xmlns:a="http://schemas.openxmlformats.org/drawingml/2006/main">
              <a:ext uri="{FF2B5EF4-FFF2-40B4-BE49-F238E27FC236}">
                <a16:creationId xmlns:a16="http://schemas.microsoft.com/office/drawing/2014/main" id="{EAC446AF-C7A4-4C88-A42C-AA1BBD87D4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57950" y="2047875"/>
            <a:ext cx="9906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40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40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经</a:t>
            </a:r>
          </a:p>
        </p:txBody>
      </p:sp>
      <p:sp>
        <p:nvSpPr>
          <p:cNvPr id="13" name="PPAGENT_QA|within=matrix-petal-1|role=title">
            <a:extLst xmlns:a="http://schemas.openxmlformats.org/drawingml/2006/main">
              <a:ext uri="{FF2B5EF4-FFF2-40B4-BE49-F238E27FC236}">
                <a16:creationId xmlns:a16="http://schemas.microsoft.com/office/drawing/2014/main" id="{D7F01DF0-3372-420B-801B-6F7C964728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2724150"/>
            <a:ext cx="13716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42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经济环境</a:t>
            </a:r>
          </a:p>
        </p:txBody>
      </p:sp>
      <p:sp>
        <p:nvSpPr>
          <p:cNvPr id="14" name="PPAGENT_QA|parent=matrix-quadrant-1|domains=matrix-callout,matrix-content">
            <a:extLst xmlns:a="http://schemas.openxmlformats.org/drawingml/2006/main">
              <a:ext uri="{FF2B5EF4-FFF2-40B4-BE49-F238E27FC236}">
                <a16:creationId xmlns:a16="http://schemas.microsoft.com/office/drawing/2014/main" id="{F73A668C-988B-4D35-A0C7-0FB9295853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96300" y="1619250"/>
            <a:ext cx="3143250" cy="1562100"/>
          </a:xfrm>
          <a:prstGeom xmlns:a="http://schemas.openxmlformats.org/drawingml/2006/main" prst="roundRect">
            <a:avLst>
              <a:gd name="adj" fmla="val 731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383">
            <a:solidFill>
              <a:srgbClr val="B9C7D4"/>
            </a:solidFill>
            <a:prstDash val="dash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5" name="PPAGENT_QA|within=matrix-quadrant-1|role=title">
            <a:extLst xmlns:a="http://schemas.openxmlformats.org/drawingml/2006/main">
              <a:ext uri="{FF2B5EF4-FFF2-40B4-BE49-F238E27FC236}">
                <a16:creationId xmlns:a16="http://schemas.microsoft.com/office/drawing/2014/main" id="{9BA9A8B5-060C-4738-BE44-27F1DAADE9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24900" y="1752600"/>
            <a:ext cx="26860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4CBD1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1">
                <a:solidFill>
                  <a:srgbClr val="14CBD1"/>
                </a:solidFill>
                <a:latin typeface="Microsoft YaHei"/>
                <a:ea typeface="Microsoft YaHei"/>
                <a:cs typeface="Microsoft YaHei"/>
              </a:rPr>
              <a:t>经济环境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7520D0A-C931-4DD2-BA28-542059EB15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24900" y="2095500"/>
            <a:ext cx="2686050" cy="285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4CBD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PPAGENT_QA|within=matrix-quadrant-1|role=body">
            <a:extLst xmlns:a="http://schemas.openxmlformats.org/drawingml/2006/main">
              <a:ext uri="{FF2B5EF4-FFF2-40B4-BE49-F238E27FC236}">
                <a16:creationId xmlns:a16="http://schemas.microsoft.com/office/drawing/2014/main" id="{5BE168F9-48C3-46DD-8E83-E926E6D134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24900" y="2238375"/>
            <a:ext cx="268605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47556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>
                <a:solidFill>
                  <a:srgbClr val="475569"/>
                </a:solidFill>
                <a:latin typeface="Microsoft YaHei"/>
                <a:ea typeface="Microsoft YaHei"/>
                <a:cs typeface="Microsoft YaHei"/>
              </a:rPr>
              <a:t>成本与市场规模</a:t>
            </a:r>
          </a:p>
        </p:txBody>
      </p:sp>
      <p:sp>
        <p:nvSpPr>
          <p:cNvPr id="18" name="PPAGENT_CONNECTOR|from=matrix-quadrant-1|fromSide=left|to=matrix-petal-1|toSide=right">
            <a:extLst xmlns:a="http://schemas.openxmlformats.org/drawingml/2006/main">
              <a:ext uri="{FF2B5EF4-FFF2-40B4-BE49-F238E27FC236}">
                <a16:creationId xmlns:a16="http://schemas.microsoft.com/office/drawing/2014/main" id="{92704245-AD9B-48A7-BBB6-C7B7276B45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1" flipV="0">
            <a:off x="7810500" y="2400300"/>
            <a:ext cx="685800" cy="1238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3335">
            <a:solidFill>
              <a:srgbClr val="14CBD1"/>
            </a:solidFill>
            <a:prstDash val="solid"/>
          </a:ln>
        </p:spPr>
      </p:sp>
      <p:sp>
        <p:nvSpPr>
          <p:cNvPr id="19" name="PPAGENT_QA|parent=matrix-petal-2|domains=matrix-petal,matrix-content">
            <a:extLst xmlns:a="http://schemas.openxmlformats.org/drawingml/2006/main">
              <a:ext uri="{FF2B5EF4-FFF2-40B4-BE49-F238E27FC236}">
                <a16:creationId xmlns:a16="http://schemas.microsoft.com/office/drawing/2014/main" id="{4AE64FBA-8805-48B3-8582-AC1D29EBBF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381500" y="3381375"/>
            <a:ext cx="1714500" cy="1714500"/>
          </a:xfrm>
          <a:prstGeom xmlns:a="http://schemas.openxmlformats.org/drawingml/2006/main" prst="teardrop">
            <a:avLst/>
          </a:prstGeom>
          <a:solidFill xmlns:a="http://schemas.openxmlformats.org/drawingml/2006/main">
            <a:srgbClr val="14CBD1"/>
          </a:solidFill>
          <a:ln xmlns:a="http://schemas.openxmlformats.org/drawingml/2006/main" w="19050">
            <a:solidFill>
              <a:srgbClr val="FFFFF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6"/>
          <a:fontRef xmlns:a="http://schemas.openxmlformats.org/drawingml/2006/main" idx="major"/>
        </p:style>
      </p:sp>
      <p:sp>
        <p:nvSpPr>
          <p:cNvPr id="20" name="PPAGENT_QA|within=matrix-petal-2|role=initial">
            <a:extLst xmlns:a="http://schemas.openxmlformats.org/drawingml/2006/main">
              <a:ext uri="{FF2B5EF4-FFF2-40B4-BE49-F238E27FC236}">
                <a16:creationId xmlns:a16="http://schemas.microsoft.com/office/drawing/2014/main" id="{9D113894-A19D-4561-A461-AFF0861252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43450" y="3762375"/>
            <a:ext cx="9906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40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40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社</a:t>
            </a:r>
          </a:p>
        </p:txBody>
      </p:sp>
      <p:sp>
        <p:nvSpPr>
          <p:cNvPr id="21" name="PPAGENT_QA|within=matrix-petal-2|role=title">
            <a:extLst xmlns:a="http://schemas.openxmlformats.org/drawingml/2006/main">
              <a:ext uri="{FF2B5EF4-FFF2-40B4-BE49-F238E27FC236}">
                <a16:creationId xmlns:a16="http://schemas.microsoft.com/office/drawing/2014/main" id="{3334B18A-5819-417A-AC86-62F125962F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52950" y="4438650"/>
            <a:ext cx="13716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42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社会环境</a:t>
            </a:r>
          </a:p>
        </p:txBody>
      </p:sp>
      <p:sp>
        <p:nvSpPr>
          <p:cNvPr id="22" name="PPAGENT_QA|parent=matrix-quadrant-2|domains=matrix-callout,matrix-content">
            <a:extLst xmlns:a="http://schemas.openxmlformats.org/drawingml/2006/main">
              <a:ext uri="{FF2B5EF4-FFF2-40B4-BE49-F238E27FC236}">
                <a16:creationId xmlns:a16="http://schemas.microsoft.com/office/drawing/2014/main" id="{DC8FBFF9-FFE6-4C80-BFF4-F6621233CD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905250"/>
            <a:ext cx="3143250" cy="1562100"/>
          </a:xfrm>
          <a:prstGeom xmlns:a="http://schemas.openxmlformats.org/drawingml/2006/main" prst="roundRect">
            <a:avLst>
              <a:gd name="adj" fmla="val 731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383">
            <a:solidFill>
              <a:srgbClr val="B9C7D4"/>
            </a:solidFill>
            <a:prstDash val="dash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23" name="PPAGENT_QA|within=matrix-quadrant-2|role=title">
            <a:extLst xmlns:a="http://schemas.openxmlformats.org/drawingml/2006/main">
              <a:ext uri="{FF2B5EF4-FFF2-40B4-BE49-F238E27FC236}">
                <a16:creationId xmlns:a16="http://schemas.microsoft.com/office/drawing/2014/main" id="{14570FB8-C9A2-4393-91D3-D635FD9573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038600"/>
            <a:ext cx="26860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4CBD1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1">
                <a:solidFill>
                  <a:srgbClr val="14CBD1"/>
                </a:solidFill>
                <a:latin typeface="Microsoft YaHei"/>
                <a:ea typeface="Microsoft YaHei"/>
                <a:cs typeface="Microsoft YaHei"/>
              </a:rPr>
              <a:t>社会环境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A341E697-0523-4487-82C7-11A012B64B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381500"/>
            <a:ext cx="2686050" cy="285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4CBD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" name="PPAGENT_QA|within=matrix-quadrant-2|role=body">
            <a:extLst xmlns:a="http://schemas.openxmlformats.org/drawingml/2006/main">
              <a:ext uri="{FF2B5EF4-FFF2-40B4-BE49-F238E27FC236}">
                <a16:creationId xmlns:a16="http://schemas.microsoft.com/office/drawing/2014/main" id="{5F87E9CB-7730-4D3B-8888-A538E579B5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524375"/>
            <a:ext cx="268605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47556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>
                <a:solidFill>
                  <a:srgbClr val="475569"/>
                </a:solidFill>
                <a:latin typeface="Microsoft YaHei"/>
                <a:ea typeface="Microsoft YaHei"/>
                <a:cs typeface="Microsoft YaHei"/>
              </a:rPr>
              <a:t>用户需求与接受度</a:t>
            </a:r>
          </a:p>
        </p:txBody>
      </p:sp>
      <p:sp>
        <p:nvSpPr>
          <p:cNvPr id="26" name="PPAGENT_CONNECTOR|from=matrix-quadrant-2|fromSide=right|to=matrix-petal-2|toSide=left">
            <a:extLst xmlns:a="http://schemas.openxmlformats.org/drawingml/2006/main">
              <a:ext uri="{FF2B5EF4-FFF2-40B4-BE49-F238E27FC236}">
                <a16:creationId xmlns:a16="http://schemas.microsoft.com/office/drawing/2014/main" id="{94B59D2A-580D-491B-919E-59C62EC371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1">
            <a:off x="3695700" y="4238625"/>
            <a:ext cx="685800" cy="44767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3335">
            <a:solidFill>
              <a:srgbClr val="14CBD1"/>
            </a:solidFill>
            <a:prstDash val="solid"/>
          </a:ln>
        </p:spPr>
      </p:sp>
      <p:sp>
        <p:nvSpPr>
          <p:cNvPr id="27" name="PPAGENT_QA|parent=matrix-petal-3|domains=matrix-petal,matrix-content">
            <a:extLst xmlns:a="http://schemas.openxmlformats.org/drawingml/2006/main">
              <a:ext uri="{FF2B5EF4-FFF2-40B4-BE49-F238E27FC236}">
                <a16:creationId xmlns:a16="http://schemas.microsoft.com/office/drawing/2014/main" id="{B04582E0-ADF1-4894-918D-51DA82CDBC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16200000">
            <a:off x="6096000" y="3381375"/>
            <a:ext cx="1714500" cy="1714500"/>
          </a:xfrm>
          <a:prstGeom xmlns:a="http://schemas.openxmlformats.org/drawingml/2006/main" prst="teardrop">
            <a:avLst/>
          </a:prstGeom>
          <a:solidFill xmlns:a="http://schemas.openxmlformats.org/drawingml/2006/main">
            <a:srgbClr val="1677C8"/>
          </a:solidFill>
          <a:ln xmlns:a="http://schemas.openxmlformats.org/drawingml/2006/main" w="19050">
            <a:solidFill>
              <a:srgbClr val="FFFFF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6"/>
          <a:fontRef xmlns:a="http://schemas.openxmlformats.org/drawingml/2006/main" idx="major"/>
        </p:style>
      </p:sp>
      <p:sp>
        <p:nvSpPr>
          <p:cNvPr id="28" name="PPAGENT_QA|within=matrix-petal-3|role=initial">
            <a:extLst xmlns:a="http://schemas.openxmlformats.org/drawingml/2006/main">
              <a:ext uri="{FF2B5EF4-FFF2-40B4-BE49-F238E27FC236}">
                <a16:creationId xmlns:a16="http://schemas.microsoft.com/office/drawing/2014/main" id="{D7930898-A0B2-4F25-BF5D-E202FE515C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57950" y="3762375"/>
            <a:ext cx="9906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40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40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技</a:t>
            </a:r>
          </a:p>
        </p:txBody>
      </p:sp>
      <p:sp>
        <p:nvSpPr>
          <p:cNvPr id="29" name="PPAGENT_QA|within=matrix-petal-3|role=title">
            <a:extLst xmlns:a="http://schemas.openxmlformats.org/drawingml/2006/main">
              <a:ext uri="{FF2B5EF4-FFF2-40B4-BE49-F238E27FC236}">
                <a16:creationId xmlns:a16="http://schemas.microsoft.com/office/drawing/2014/main" id="{CB7922C6-1C97-4A86-8610-29B94FD732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4438650"/>
            <a:ext cx="13716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42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技术环境</a:t>
            </a:r>
          </a:p>
        </p:txBody>
      </p:sp>
      <p:sp>
        <p:nvSpPr>
          <p:cNvPr id="30" name="PPAGENT_QA|parent=matrix-quadrant-3|domains=matrix-callout,matrix-content">
            <a:extLst xmlns:a="http://schemas.openxmlformats.org/drawingml/2006/main">
              <a:ext uri="{FF2B5EF4-FFF2-40B4-BE49-F238E27FC236}">
                <a16:creationId xmlns:a16="http://schemas.microsoft.com/office/drawing/2014/main" id="{162F4CF7-BF46-4FD8-9A1A-D27C1837ED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96300" y="3905250"/>
            <a:ext cx="3143250" cy="1562100"/>
          </a:xfrm>
          <a:prstGeom xmlns:a="http://schemas.openxmlformats.org/drawingml/2006/main" prst="roundRect">
            <a:avLst>
              <a:gd name="adj" fmla="val 731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383">
            <a:solidFill>
              <a:srgbClr val="B9C7D4"/>
            </a:solidFill>
            <a:prstDash val="dash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31" name="PPAGENT_QA|within=matrix-quadrant-3|role=title">
            <a:extLst xmlns:a="http://schemas.openxmlformats.org/drawingml/2006/main">
              <a:ext uri="{FF2B5EF4-FFF2-40B4-BE49-F238E27FC236}">
                <a16:creationId xmlns:a16="http://schemas.microsoft.com/office/drawing/2014/main" id="{44E6D0FD-188F-461E-8F9A-71DDD043AA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24900" y="4038600"/>
            <a:ext cx="26860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677C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1">
                <a:solidFill>
                  <a:srgbClr val="1677C8"/>
                </a:solidFill>
                <a:latin typeface="Microsoft YaHei"/>
                <a:ea typeface="Microsoft YaHei"/>
                <a:cs typeface="Microsoft YaHei"/>
              </a:rPr>
              <a:t>技术环境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8D9E64F7-41FC-4723-9AE0-9EF257E14D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24900" y="4381500"/>
            <a:ext cx="2686050" cy="285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677C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3" name="PPAGENT_QA|within=matrix-quadrant-3|role=body">
            <a:extLst xmlns:a="http://schemas.openxmlformats.org/drawingml/2006/main">
              <a:ext uri="{FF2B5EF4-FFF2-40B4-BE49-F238E27FC236}">
                <a16:creationId xmlns:a16="http://schemas.microsoft.com/office/drawing/2014/main" id="{8C73A57F-25B9-411E-AE88-829D6CFA97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24900" y="4524375"/>
            <a:ext cx="268605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47556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>
                <a:solidFill>
                  <a:srgbClr val="475569"/>
                </a:solidFill>
                <a:latin typeface="Microsoft YaHei"/>
                <a:ea typeface="Microsoft YaHei"/>
                <a:cs typeface="Microsoft YaHei"/>
              </a:rPr>
              <a:t>技术成熟度与工具链</a:t>
            </a:r>
          </a:p>
        </p:txBody>
      </p:sp>
      <p:sp>
        <p:nvSpPr>
          <p:cNvPr id="34" name="PPAGENT_CONNECTOR|from=matrix-quadrant-3|fromSide=left|to=matrix-petal-3|toSide=right">
            <a:extLst xmlns:a="http://schemas.openxmlformats.org/drawingml/2006/main">
              <a:ext uri="{FF2B5EF4-FFF2-40B4-BE49-F238E27FC236}">
                <a16:creationId xmlns:a16="http://schemas.microsoft.com/office/drawing/2014/main" id="{17D4E32E-46DF-4682-B91A-66638A116C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1" flipV="1">
            <a:off x="7810500" y="4238625"/>
            <a:ext cx="685800" cy="44767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3335">
            <a:solidFill>
              <a:srgbClr val="1677C8"/>
            </a:solidFill>
            <a:prstDash val="solid"/>
          </a:ln>
        </p:spPr>
      </p:sp>
    </p:spTree>
    <p:extLst>
      <p:ext uri="{BB962C8B-B14F-4D97-AF65-F5344CB8AC3E}">
        <p14:creationId xmlns:p14="http://schemas.microsoft.com/office/powerpoint/2010/main" val="1490263275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7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43FD332F-5733-447C-A902-89DD6F6F89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0050"/>
            <a:ext cx="8382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700" b="1">
                <a:solidFill>
                  <a:srgbClr val="1677C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700" b="1">
                <a:solidFill>
                  <a:srgbClr val="1677C8"/>
                </a:solidFill>
                <a:latin typeface="Microsoft YaHei"/>
                <a:ea typeface="Microsoft YaHei"/>
                <a:cs typeface="Microsoft YaHei"/>
              </a:rPr>
              <a:t>外部环境分析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AD92AF9-4A39-4881-A444-288850FB2A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876300"/>
            <a:ext cx="4953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7C8A9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7C8A9A"/>
                </a:solidFill>
                <a:latin typeface="Microsoft YaHei"/>
                <a:ea typeface="Microsoft YaHei"/>
                <a:cs typeface="Microsoft YaHei"/>
              </a:rPr>
              <a:t>四象限分析框架</a:t>
            </a:r>
          </a:p>
        </p:txBody>
      </p:sp>
      <p:sp>
        <p:nvSpPr>
          <p:cNvPr id="3" name="PPAGENT_QA|parent=matrix-petal-0|domains=matrix-petal,matrix-content">
            <a:extLst xmlns:a="http://schemas.openxmlformats.org/drawingml/2006/main">
              <a:ext uri="{FF2B5EF4-FFF2-40B4-BE49-F238E27FC236}">
                <a16:creationId xmlns:a16="http://schemas.microsoft.com/office/drawing/2014/main" id="{65589CCD-DE21-47E0-9D53-D94C05E41C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5400000">
            <a:off x="4381500" y="1666875"/>
            <a:ext cx="1714500" cy="1714500"/>
          </a:xfrm>
          <a:prstGeom xmlns:a="http://schemas.openxmlformats.org/drawingml/2006/main" prst="teardrop">
            <a:avLst/>
          </a:prstGeom>
          <a:solidFill xmlns:a="http://schemas.openxmlformats.org/drawingml/2006/main">
            <a:srgbClr val="1677C8"/>
          </a:solidFill>
          <a:ln xmlns:a="http://schemas.openxmlformats.org/drawingml/2006/main" w="19050">
            <a:solidFill>
              <a:srgbClr val="FFFFF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6"/>
          <a:fontRef xmlns:a="http://schemas.openxmlformats.org/drawingml/2006/main" idx="major"/>
        </p:style>
      </p:sp>
      <p:sp>
        <p:nvSpPr>
          <p:cNvPr id="4" name="PPAGENT_QA|within=matrix-petal-0|role=initial">
            <a:extLst xmlns:a="http://schemas.openxmlformats.org/drawingml/2006/main">
              <a:ext uri="{FF2B5EF4-FFF2-40B4-BE49-F238E27FC236}">
                <a16:creationId xmlns:a16="http://schemas.microsoft.com/office/drawing/2014/main" id="{A6BED7A0-D5A2-4FBF-82C7-961AE337A6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43450" y="2047875"/>
            <a:ext cx="9906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40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40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政</a:t>
            </a:r>
          </a:p>
        </p:txBody>
      </p:sp>
      <p:sp>
        <p:nvSpPr>
          <p:cNvPr id="5" name="PPAGENT_QA|within=matrix-petal-0|role=title">
            <a:extLst xmlns:a="http://schemas.openxmlformats.org/drawingml/2006/main">
              <a:ext uri="{FF2B5EF4-FFF2-40B4-BE49-F238E27FC236}">
                <a16:creationId xmlns:a16="http://schemas.microsoft.com/office/drawing/2014/main" id="{1EFDB1B5-3725-4E13-BBD8-D93A9463C4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52950" y="2724150"/>
            <a:ext cx="13716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42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政策环境</a:t>
            </a:r>
          </a:p>
        </p:txBody>
      </p:sp>
      <p:sp>
        <p:nvSpPr>
          <p:cNvPr id="6" name="PPAGENT_QA|parent=matrix-quadrant-0|domains=matrix-callout,matrix-content">
            <a:extLst xmlns:a="http://schemas.openxmlformats.org/drawingml/2006/main">
              <a:ext uri="{FF2B5EF4-FFF2-40B4-BE49-F238E27FC236}">
                <a16:creationId xmlns:a16="http://schemas.microsoft.com/office/drawing/2014/main" id="{8A57889A-BD17-467D-BC89-E0A03F0E89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619250"/>
            <a:ext cx="3143250" cy="1562100"/>
          </a:xfrm>
          <a:prstGeom xmlns:a="http://schemas.openxmlformats.org/drawingml/2006/main" prst="roundRect">
            <a:avLst>
              <a:gd name="adj" fmla="val 731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383">
            <a:solidFill>
              <a:srgbClr val="B9C7D4"/>
            </a:solidFill>
            <a:prstDash val="dash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7" name="PPAGENT_QA|within=matrix-quadrant-0|role=title">
            <a:extLst xmlns:a="http://schemas.openxmlformats.org/drawingml/2006/main">
              <a:ext uri="{FF2B5EF4-FFF2-40B4-BE49-F238E27FC236}">
                <a16:creationId xmlns:a16="http://schemas.microsoft.com/office/drawing/2014/main" id="{51CC81B1-1CC8-47F2-9011-42F8C5DA2A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752600"/>
            <a:ext cx="26860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677C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1">
                <a:solidFill>
                  <a:srgbClr val="1677C8"/>
                </a:solidFill>
                <a:latin typeface="Microsoft YaHei"/>
                <a:ea typeface="Microsoft YaHei"/>
                <a:cs typeface="Microsoft YaHei"/>
              </a:rPr>
              <a:t>政策环境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91DDDD7-537A-44A8-8F59-0D71ADA4E3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095500"/>
            <a:ext cx="2686050" cy="285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677C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PPAGENT_QA|within=matrix-quadrant-0|role=body">
            <a:extLst xmlns:a="http://schemas.openxmlformats.org/drawingml/2006/main">
              <a:ext uri="{FF2B5EF4-FFF2-40B4-BE49-F238E27FC236}">
                <a16:creationId xmlns:a16="http://schemas.microsoft.com/office/drawing/2014/main" id="{ADE54E9C-5942-427E-ACB2-B932353006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238375"/>
            <a:ext cx="268605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47556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>
                <a:solidFill>
                  <a:srgbClr val="475569"/>
                </a:solidFill>
                <a:latin typeface="Microsoft YaHei"/>
                <a:ea typeface="Microsoft YaHei"/>
                <a:cs typeface="Microsoft YaHei"/>
              </a:rPr>
              <a:t>关注政策窗口、行业规则</a:t>
            </a:r>
          </a:p>
          <a:p xmlns:a="http://schemas.openxmlformats.org/drawingml/2006/main">
            <a:pPr algn="l">
              <a:defRPr sz="1350" b="0">
                <a:solidFill>
                  <a:srgbClr val="47556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>
                <a:solidFill>
                  <a:srgbClr val="475569"/>
                </a:solidFill>
                <a:latin typeface="Microsoft YaHei"/>
                <a:ea typeface="Microsoft YaHei"/>
                <a:cs typeface="Microsoft YaHei"/>
              </a:rPr>
              <a:t>以及监管环境的阶段性变化</a:t>
            </a:r>
          </a:p>
        </p:txBody>
      </p:sp>
      <p:sp>
        <p:nvSpPr>
          <p:cNvPr id="10" name="PPAGENT_CONNECTOR|from=matrix-quadrant-0|fromSide=right|to=matrix-petal-0|toSide=left">
            <a:extLst xmlns:a="http://schemas.openxmlformats.org/drawingml/2006/main">
              <a:ext uri="{FF2B5EF4-FFF2-40B4-BE49-F238E27FC236}">
                <a16:creationId xmlns:a16="http://schemas.microsoft.com/office/drawing/2014/main" id="{58E07752-0F18-4C0E-96FB-AFE339B570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3695700" y="2400300"/>
            <a:ext cx="685800" cy="1238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3335">
            <a:solidFill>
              <a:srgbClr val="1677C8"/>
            </a:solidFill>
            <a:prstDash val="solid"/>
          </a:ln>
        </p:spPr>
      </p:sp>
      <p:sp>
        <p:nvSpPr>
          <p:cNvPr id="11" name="PPAGENT_QA|parent=matrix-petal-1|domains=matrix-petal,matrix-content">
            <a:extLst xmlns:a="http://schemas.openxmlformats.org/drawingml/2006/main">
              <a:ext uri="{FF2B5EF4-FFF2-40B4-BE49-F238E27FC236}">
                <a16:creationId xmlns:a16="http://schemas.microsoft.com/office/drawing/2014/main" id="{991860B2-03EC-4434-877E-BF47172531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10800000">
            <a:off x="6096000" y="1666875"/>
            <a:ext cx="1714500" cy="1714500"/>
          </a:xfrm>
          <a:prstGeom xmlns:a="http://schemas.openxmlformats.org/drawingml/2006/main" prst="teardrop">
            <a:avLst/>
          </a:prstGeom>
          <a:solidFill xmlns:a="http://schemas.openxmlformats.org/drawingml/2006/main">
            <a:srgbClr val="14CBD1"/>
          </a:solidFill>
          <a:ln xmlns:a="http://schemas.openxmlformats.org/drawingml/2006/main" w="19050">
            <a:solidFill>
              <a:srgbClr val="FFFFF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6"/>
          <a:fontRef xmlns:a="http://schemas.openxmlformats.org/drawingml/2006/main" idx="major"/>
        </p:style>
      </p:sp>
      <p:sp>
        <p:nvSpPr>
          <p:cNvPr id="12" name="PPAGENT_QA|within=matrix-petal-1|role=initial">
            <a:extLst xmlns:a="http://schemas.openxmlformats.org/drawingml/2006/main">
              <a:ext uri="{FF2B5EF4-FFF2-40B4-BE49-F238E27FC236}">
                <a16:creationId xmlns:a16="http://schemas.microsoft.com/office/drawing/2014/main" id="{DC87A248-BD50-46E2-AF28-617C572937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57950" y="2047875"/>
            <a:ext cx="9906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40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40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经</a:t>
            </a:r>
          </a:p>
        </p:txBody>
      </p:sp>
      <p:sp>
        <p:nvSpPr>
          <p:cNvPr id="13" name="PPAGENT_QA|within=matrix-petal-1|role=title">
            <a:extLst xmlns:a="http://schemas.openxmlformats.org/drawingml/2006/main">
              <a:ext uri="{FF2B5EF4-FFF2-40B4-BE49-F238E27FC236}">
                <a16:creationId xmlns:a16="http://schemas.microsoft.com/office/drawing/2014/main" id="{D0145AD6-FCCC-4801-AAFD-3BC8108EAA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2724150"/>
            <a:ext cx="13716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42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经济环境</a:t>
            </a:r>
          </a:p>
        </p:txBody>
      </p:sp>
      <p:sp>
        <p:nvSpPr>
          <p:cNvPr id="14" name="PPAGENT_QA|parent=matrix-quadrant-1|domains=matrix-callout,matrix-content">
            <a:extLst xmlns:a="http://schemas.openxmlformats.org/drawingml/2006/main">
              <a:ext uri="{FF2B5EF4-FFF2-40B4-BE49-F238E27FC236}">
                <a16:creationId xmlns:a16="http://schemas.microsoft.com/office/drawing/2014/main" id="{1F57DEAD-4871-4D20-95C1-4CAD278CEE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96300" y="1619250"/>
            <a:ext cx="3143250" cy="1562100"/>
          </a:xfrm>
          <a:prstGeom xmlns:a="http://schemas.openxmlformats.org/drawingml/2006/main" prst="roundRect">
            <a:avLst>
              <a:gd name="adj" fmla="val 731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383">
            <a:solidFill>
              <a:srgbClr val="B9C7D4"/>
            </a:solidFill>
            <a:prstDash val="dash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5" name="PPAGENT_QA|within=matrix-quadrant-1|role=title">
            <a:extLst xmlns:a="http://schemas.openxmlformats.org/drawingml/2006/main">
              <a:ext uri="{FF2B5EF4-FFF2-40B4-BE49-F238E27FC236}">
                <a16:creationId xmlns:a16="http://schemas.microsoft.com/office/drawing/2014/main" id="{72026B90-1217-4C58-937F-F0B53B410E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24900" y="1752600"/>
            <a:ext cx="26860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4CBD1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1">
                <a:solidFill>
                  <a:srgbClr val="14CBD1"/>
                </a:solidFill>
                <a:latin typeface="Microsoft YaHei"/>
                <a:ea typeface="Microsoft YaHei"/>
                <a:cs typeface="Microsoft YaHei"/>
              </a:rPr>
              <a:t>经济环境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EF3665C-63FD-4416-94A3-AECE49A0C0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24900" y="2095500"/>
            <a:ext cx="2686050" cy="285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4CBD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PPAGENT_QA|within=matrix-quadrant-1|role=body">
            <a:extLst xmlns:a="http://schemas.openxmlformats.org/drawingml/2006/main">
              <a:ext uri="{FF2B5EF4-FFF2-40B4-BE49-F238E27FC236}">
                <a16:creationId xmlns:a16="http://schemas.microsoft.com/office/drawing/2014/main" id="{A297824B-B552-45E0-A44D-A0E73FCF35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24900" y="2238375"/>
            <a:ext cx="268605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47556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>
                <a:solidFill>
                  <a:srgbClr val="475569"/>
                </a:solidFill>
                <a:latin typeface="Microsoft YaHei"/>
                <a:ea typeface="Microsoft YaHei"/>
                <a:cs typeface="Microsoft YaHei"/>
              </a:rPr>
              <a:t>分析成本水平、资金条件和</a:t>
            </a:r>
          </a:p>
          <a:p xmlns:a="http://schemas.openxmlformats.org/drawingml/2006/main">
            <a:pPr algn="l">
              <a:defRPr sz="1350" b="0">
                <a:solidFill>
                  <a:srgbClr val="47556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>
                <a:solidFill>
                  <a:srgbClr val="475569"/>
                </a:solidFill>
                <a:latin typeface="Microsoft YaHei"/>
                <a:ea typeface="Microsoft YaHei"/>
                <a:cs typeface="Microsoft YaHei"/>
              </a:rPr>
              <a:t>市场规模对项目推进的影响</a:t>
            </a:r>
          </a:p>
        </p:txBody>
      </p:sp>
      <p:sp>
        <p:nvSpPr>
          <p:cNvPr id="18" name="PPAGENT_CONNECTOR|from=matrix-quadrant-1|fromSide=left|to=matrix-petal-1|toSide=right">
            <a:extLst xmlns:a="http://schemas.openxmlformats.org/drawingml/2006/main">
              <a:ext uri="{FF2B5EF4-FFF2-40B4-BE49-F238E27FC236}">
                <a16:creationId xmlns:a16="http://schemas.microsoft.com/office/drawing/2014/main" id="{F66DED77-6CEE-4CA5-AAC4-9539781BD2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1" flipV="0">
            <a:off x="7810500" y="2400300"/>
            <a:ext cx="685800" cy="1238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3335">
            <a:solidFill>
              <a:srgbClr val="14CBD1"/>
            </a:solidFill>
            <a:prstDash val="solid"/>
          </a:ln>
        </p:spPr>
      </p:sp>
      <p:sp>
        <p:nvSpPr>
          <p:cNvPr id="19" name="PPAGENT_QA|parent=matrix-petal-2|domains=matrix-petal,matrix-content">
            <a:extLst xmlns:a="http://schemas.openxmlformats.org/drawingml/2006/main">
              <a:ext uri="{FF2B5EF4-FFF2-40B4-BE49-F238E27FC236}">
                <a16:creationId xmlns:a16="http://schemas.microsoft.com/office/drawing/2014/main" id="{3C8B9097-BB1F-46DD-9D19-9B3E805F5C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381500" y="3381375"/>
            <a:ext cx="1714500" cy="1714500"/>
          </a:xfrm>
          <a:prstGeom xmlns:a="http://schemas.openxmlformats.org/drawingml/2006/main" prst="teardrop">
            <a:avLst/>
          </a:prstGeom>
          <a:solidFill xmlns:a="http://schemas.openxmlformats.org/drawingml/2006/main">
            <a:srgbClr val="14CBD1"/>
          </a:solidFill>
          <a:ln xmlns:a="http://schemas.openxmlformats.org/drawingml/2006/main" w="19050">
            <a:solidFill>
              <a:srgbClr val="FFFFF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6"/>
          <a:fontRef xmlns:a="http://schemas.openxmlformats.org/drawingml/2006/main" idx="major"/>
        </p:style>
      </p:sp>
      <p:sp>
        <p:nvSpPr>
          <p:cNvPr id="20" name="PPAGENT_QA|within=matrix-petal-2|role=initial">
            <a:extLst xmlns:a="http://schemas.openxmlformats.org/drawingml/2006/main">
              <a:ext uri="{FF2B5EF4-FFF2-40B4-BE49-F238E27FC236}">
                <a16:creationId xmlns:a16="http://schemas.microsoft.com/office/drawing/2014/main" id="{648137B8-FA0C-4730-8470-F332AE996F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43450" y="3762375"/>
            <a:ext cx="9906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40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40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社</a:t>
            </a:r>
          </a:p>
        </p:txBody>
      </p:sp>
      <p:sp>
        <p:nvSpPr>
          <p:cNvPr id="21" name="PPAGENT_QA|within=matrix-petal-2|role=title">
            <a:extLst xmlns:a="http://schemas.openxmlformats.org/drawingml/2006/main">
              <a:ext uri="{FF2B5EF4-FFF2-40B4-BE49-F238E27FC236}">
                <a16:creationId xmlns:a16="http://schemas.microsoft.com/office/drawing/2014/main" id="{1A887116-E39C-456E-BC41-3237AB8405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52950" y="4438650"/>
            <a:ext cx="13716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42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社会环境</a:t>
            </a:r>
          </a:p>
        </p:txBody>
      </p:sp>
      <p:sp>
        <p:nvSpPr>
          <p:cNvPr id="22" name="PPAGENT_QA|parent=matrix-quadrant-2|domains=matrix-callout,matrix-content">
            <a:extLst xmlns:a="http://schemas.openxmlformats.org/drawingml/2006/main">
              <a:ext uri="{FF2B5EF4-FFF2-40B4-BE49-F238E27FC236}">
                <a16:creationId xmlns:a16="http://schemas.microsoft.com/office/drawing/2014/main" id="{C84FAC50-EFF9-4AC5-A034-816049382C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905250"/>
            <a:ext cx="3143250" cy="1562100"/>
          </a:xfrm>
          <a:prstGeom xmlns:a="http://schemas.openxmlformats.org/drawingml/2006/main" prst="roundRect">
            <a:avLst>
              <a:gd name="adj" fmla="val 731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383">
            <a:solidFill>
              <a:srgbClr val="B9C7D4"/>
            </a:solidFill>
            <a:prstDash val="dash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23" name="PPAGENT_QA|within=matrix-quadrant-2|role=title">
            <a:extLst xmlns:a="http://schemas.openxmlformats.org/drawingml/2006/main">
              <a:ext uri="{FF2B5EF4-FFF2-40B4-BE49-F238E27FC236}">
                <a16:creationId xmlns:a16="http://schemas.microsoft.com/office/drawing/2014/main" id="{EC39E6CD-DDBC-495B-BC00-3329C15D1D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038600"/>
            <a:ext cx="26860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4CBD1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1">
                <a:solidFill>
                  <a:srgbClr val="14CBD1"/>
                </a:solidFill>
                <a:latin typeface="Microsoft YaHei"/>
                <a:ea typeface="Microsoft YaHei"/>
                <a:cs typeface="Microsoft YaHei"/>
              </a:rPr>
              <a:t>社会环境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B52EF127-EAC1-4BCC-8B1D-8C6D821FD1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381500"/>
            <a:ext cx="2686050" cy="285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4CBD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" name="PPAGENT_QA|within=matrix-quadrant-2|role=body">
            <a:extLst xmlns:a="http://schemas.openxmlformats.org/drawingml/2006/main">
              <a:ext uri="{FF2B5EF4-FFF2-40B4-BE49-F238E27FC236}">
                <a16:creationId xmlns:a16="http://schemas.microsoft.com/office/drawing/2014/main" id="{3ABE9ADC-BBFA-4374-8F78-CC7843AFBB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524375"/>
            <a:ext cx="268605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47556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>
                <a:solidFill>
                  <a:srgbClr val="475569"/>
                </a:solidFill>
                <a:latin typeface="Microsoft YaHei"/>
                <a:ea typeface="Microsoft YaHei"/>
                <a:cs typeface="Microsoft YaHei"/>
              </a:rPr>
              <a:t>判断用户需求、组织协同</a:t>
            </a:r>
          </a:p>
          <a:p xmlns:a="http://schemas.openxmlformats.org/drawingml/2006/main">
            <a:pPr algn="l">
              <a:defRPr sz="1350" b="0">
                <a:solidFill>
                  <a:srgbClr val="47556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>
                <a:solidFill>
                  <a:srgbClr val="475569"/>
                </a:solidFill>
                <a:latin typeface="Microsoft YaHei"/>
                <a:ea typeface="Microsoft YaHei"/>
                <a:cs typeface="Microsoft YaHei"/>
              </a:rPr>
              <a:t>和社会接受度是否形成支撑</a:t>
            </a:r>
          </a:p>
        </p:txBody>
      </p:sp>
      <p:sp>
        <p:nvSpPr>
          <p:cNvPr id="26" name="PPAGENT_CONNECTOR|from=matrix-quadrant-2|fromSide=right|to=matrix-petal-2|toSide=left">
            <a:extLst xmlns:a="http://schemas.openxmlformats.org/drawingml/2006/main">
              <a:ext uri="{FF2B5EF4-FFF2-40B4-BE49-F238E27FC236}">
                <a16:creationId xmlns:a16="http://schemas.microsoft.com/office/drawing/2014/main" id="{7141A858-BAE3-4FAF-8BAE-9A777F8103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1">
            <a:off x="3695700" y="4238625"/>
            <a:ext cx="685800" cy="44767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3335">
            <a:solidFill>
              <a:srgbClr val="14CBD1"/>
            </a:solidFill>
            <a:prstDash val="solid"/>
          </a:ln>
        </p:spPr>
      </p:sp>
      <p:sp>
        <p:nvSpPr>
          <p:cNvPr id="27" name="PPAGENT_QA|parent=matrix-petal-3|domains=matrix-petal,matrix-content">
            <a:extLst xmlns:a="http://schemas.openxmlformats.org/drawingml/2006/main">
              <a:ext uri="{FF2B5EF4-FFF2-40B4-BE49-F238E27FC236}">
                <a16:creationId xmlns:a16="http://schemas.microsoft.com/office/drawing/2014/main" id="{CC52EB43-4ECB-4F49-A66E-83950CB2A1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16200000">
            <a:off x="6096000" y="3381375"/>
            <a:ext cx="1714500" cy="1714500"/>
          </a:xfrm>
          <a:prstGeom xmlns:a="http://schemas.openxmlformats.org/drawingml/2006/main" prst="teardrop">
            <a:avLst/>
          </a:prstGeom>
          <a:solidFill xmlns:a="http://schemas.openxmlformats.org/drawingml/2006/main">
            <a:srgbClr val="1677C8"/>
          </a:solidFill>
          <a:ln xmlns:a="http://schemas.openxmlformats.org/drawingml/2006/main" w="19050">
            <a:solidFill>
              <a:srgbClr val="FFFFF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6"/>
          <a:fontRef xmlns:a="http://schemas.openxmlformats.org/drawingml/2006/main" idx="major"/>
        </p:style>
      </p:sp>
      <p:sp>
        <p:nvSpPr>
          <p:cNvPr id="28" name="PPAGENT_QA|within=matrix-petal-3|role=initial">
            <a:extLst xmlns:a="http://schemas.openxmlformats.org/drawingml/2006/main">
              <a:ext uri="{FF2B5EF4-FFF2-40B4-BE49-F238E27FC236}">
                <a16:creationId xmlns:a16="http://schemas.microsoft.com/office/drawing/2014/main" id="{47846628-688E-4942-8E27-3FC40E8791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57950" y="3762375"/>
            <a:ext cx="9906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40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40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技</a:t>
            </a:r>
          </a:p>
        </p:txBody>
      </p:sp>
      <p:sp>
        <p:nvSpPr>
          <p:cNvPr id="29" name="PPAGENT_QA|within=matrix-petal-3|role=title">
            <a:extLst xmlns:a="http://schemas.openxmlformats.org/drawingml/2006/main">
              <a:ext uri="{FF2B5EF4-FFF2-40B4-BE49-F238E27FC236}">
                <a16:creationId xmlns:a16="http://schemas.microsoft.com/office/drawing/2014/main" id="{45258DB7-A5EB-4DEB-A665-A74F97F7DF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4438650"/>
            <a:ext cx="13716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42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技术环境</a:t>
            </a:r>
          </a:p>
        </p:txBody>
      </p:sp>
      <p:sp>
        <p:nvSpPr>
          <p:cNvPr id="30" name="PPAGENT_QA|parent=matrix-quadrant-3|domains=matrix-callout,matrix-content">
            <a:extLst xmlns:a="http://schemas.openxmlformats.org/drawingml/2006/main">
              <a:ext uri="{FF2B5EF4-FFF2-40B4-BE49-F238E27FC236}">
                <a16:creationId xmlns:a16="http://schemas.microsoft.com/office/drawing/2014/main" id="{A6A4CAD0-0650-4832-8D90-FCF727D745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96300" y="3905250"/>
            <a:ext cx="3143250" cy="1562100"/>
          </a:xfrm>
          <a:prstGeom xmlns:a="http://schemas.openxmlformats.org/drawingml/2006/main" prst="roundRect">
            <a:avLst>
              <a:gd name="adj" fmla="val 731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383">
            <a:solidFill>
              <a:srgbClr val="B9C7D4"/>
            </a:solidFill>
            <a:prstDash val="dash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31" name="PPAGENT_QA|within=matrix-quadrant-3|role=title">
            <a:extLst xmlns:a="http://schemas.openxmlformats.org/drawingml/2006/main">
              <a:ext uri="{FF2B5EF4-FFF2-40B4-BE49-F238E27FC236}">
                <a16:creationId xmlns:a16="http://schemas.microsoft.com/office/drawing/2014/main" id="{DEC0FAF4-A90B-4959-94B2-7296699B57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24900" y="4038600"/>
            <a:ext cx="26860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677C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1">
                <a:solidFill>
                  <a:srgbClr val="1677C8"/>
                </a:solidFill>
                <a:latin typeface="Microsoft YaHei"/>
                <a:ea typeface="Microsoft YaHei"/>
                <a:cs typeface="Microsoft YaHei"/>
              </a:rPr>
              <a:t>技术环境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ACDA6B06-B7B0-4EF9-9D7C-C99C45C01A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24900" y="4381500"/>
            <a:ext cx="2686050" cy="285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677C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3" name="PPAGENT_QA|within=matrix-quadrant-3|role=body">
            <a:extLst xmlns:a="http://schemas.openxmlformats.org/drawingml/2006/main">
              <a:ext uri="{FF2B5EF4-FFF2-40B4-BE49-F238E27FC236}">
                <a16:creationId xmlns:a16="http://schemas.microsoft.com/office/drawing/2014/main" id="{98986518-4338-4FC0-84A3-BC27BB8AE4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24900" y="4524375"/>
            <a:ext cx="268605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47556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>
                <a:solidFill>
                  <a:srgbClr val="475569"/>
                </a:solidFill>
                <a:latin typeface="Microsoft YaHei"/>
                <a:ea typeface="Microsoft YaHei"/>
                <a:cs typeface="Microsoft YaHei"/>
              </a:rPr>
              <a:t>评估技术成熟度、基础</a:t>
            </a:r>
          </a:p>
          <a:p xmlns:a="http://schemas.openxmlformats.org/drawingml/2006/main">
            <a:pPr algn="l">
              <a:defRPr sz="1350" b="0">
                <a:solidFill>
                  <a:srgbClr val="47556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>
                <a:solidFill>
                  <a:srgbClr val="475569"/>
                </a:solidFill>
                <a:latin typeface="Microsoft YaHei"/>
                <a:ea typeface="Microsoft YaHei"/>
                <a:cs typeface="Microsoft YaHei"/>
              </a:rPr>
              <a:t>设施和工具链能否稳定承载</a:t>
            </a:r>
          </a:p>
        </p:txBody>
      </p:sp>
      <p:sp>
        <p:nvSpPr>
          <p:cNvPr id="34" name="PPAGENT_CONNECTOR|from=matrix-quadrant-3|fromSide=left|to=matrix-petal-3|toSide=right">
            <a:extLst xmlns:a="http://schemas.openxmlformats.org/drawingml/2006/main">
              <a:ext uri="{FF2B5EF4-FFF2-40B4-BE49-F238E27FC236}">
                <a16:creationId xmlns:a16="http://schemas.microsoft.com/office/drawing/2014/main" id="{6443A59B-3FF0-4AF1-8FB4-1398A8851B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1" flipV="1">
            <a:off x="7810500" y="4238625"/>
            <a:ext cx="685800" cy="44767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3335">
            <a:solidFill>
              <a:srgbClr val="1677C8"/>
            </a:solidFill>
            <a:prstDash val="solid"/>
          </a:ln>
        </p:spPr>
      </p:sp>
    </p:spTree>
    <p:extLst>
      <p:ext uri="{BB962C8B-B14F-4D97-AF65-F5344CB8AC3E}">
        <p14:creationId xmlns:p14="http://schemas.microsoft.com/office/powerpoint/2010/main" val="336390550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2026-08-15T13:33:21.8990000Z</dcterms:created>
  <dcterms:modified xsi:type="dcterms:W3CDTF">2026-08-15T13:33:21.8990000Z</dcterms:modified>
</coreProperties>
</file>