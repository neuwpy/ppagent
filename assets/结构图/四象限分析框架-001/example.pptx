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eaa423f01c46ea" /><Relationship Type="http://schemas.openxmlformats.org/officeDocument/2006/relationships/extended-properties" Target="/docProps/app.xml" Id="R558cf9051d1642e8" /><Relationship Type="http://schemas.openxmlformats.org/officeDocument/2006/relationships/officeDocument" Target="/ppt/presentation.xml" Id="R177de472c00a42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d59f07b3104a5f"/>
  </p:sldMasterIdLst>
  <p:notesMasterIdLst>
    <p:notesMasterId xmlns:r="http://schemas.openxmlformats.org/officeDocument/2006/relationships" r:id="R740abb6159864075"/>
  </p:notesMasterIdLst>
  <p:sldIdLst>
    <p:sldId xmlns:r="http://schemas.openxmlformats.org/officeDocument/2006/relationships" id="256" r:id="R2ebc4db55bcc4327"/>
    <p:sldId xmlns:r="http://schemas.openxmlformats.org/officeDocument/2006/relationships" id="257" r:id="R65bb0ac1e50544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9909bcf3014ccb" /><Relationship Type="http://schemas.openxmlformats.org/officeDocument/2006/relationships/slideMaster" Target="/ppt/slideMasters/slideMaster1.xml" Id="R00d59f07b3104a5f" /><Relationship Type="http://schemas.openxmlformats.org/officeDocument/2006/relationships/notesMaster" Target="/ppt/notesMasters/notesMaster1.xml" Id="R740abb6159864075" /><Relationship Type="http://schemas.openxmlformats.org/officeDocument/2006/relationships/presProps" Target="/ppt/presProps.xml" Id="R084650dfe9cb4247" /><Relationship Type="http://schemas.openxmlformats.org/officeDocument/2006/relationships/tableStyles" Target="/ppt/tableStyles.xml" Id="R803222aff6544a81" /><Relationship Type="http://schemas.openxmlformats.org/officeDocument/2006/relationships/slide" Target="/ppt/slides/slide1.xml" Id="R2ebc4db55bcc4327" /><Relationship Type="http://schemas.openxmlformats.org/officeDocument/2006/relationships/slide" Target="/ppt/slides/slide2.xml" Id="R65bb0ac1e50544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119250e6e84e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9afa7876834ac9" /><Relationship Type="http://schemas.openxmlformats.org/officeDocument/2006/relationships/notesMaster" Target="/ppt/notesMasters/notesMaster1.xml" Id="R1daa81a04b7e4c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adcd62d148452a" /><Relationship Type="http://schemas.openxmlformats.org/officeDocument/2006/relationships/notesMaster" Target="/ppt/notesMasters/notesMaster1.xml" Id="Rffdb4b2d40e84e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b0f823c5b45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de1e15d19a445e" /><Relationship Type="http://schemas.openxmlformats.org/officeDocument/2006/relationships/slideLayout" Target="/ppt/slideLayouts/slideLayout1.xml" Id="R66f31f46953d49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f31f46953d49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ca78ad7994162" /><Relationship Type="http://schemas.openxmlformats.org/officeDocument/2006/relationships/notesSlide" Target="/ppt/notesSlides/notesSlide1.xml" Id="R46e1cb79f1c44c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867c565a7472b" /><Relationship Type="http://schemas.openxmlformats.org/officeDocument/2006/relationships/notesSlide" Target="/ppt/notesSlides/notesSlide2.xml" Id="R7e70aca466314c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matrix-connector-0">
            <a:extLst xmlns:a="http://schemas.openxmlformats.org/drawingml/2006/main">
              <a:ext uri="{FF2B5EF4-FFF2-40B4-BE49-F238E27FC236}">
                <a16:creationId xmlns:a16="http://schemas.microsoft.com/office/drawing/2014/main" id="{69625CF8-AF1E-4201-B55B-1C93CC4A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6625" y="28956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matrix-connector-1">
            <a:extLst xmlns:a="http://schemas.openxmlformats.org/drawingml/2006/main">
              <a:ext uri="{FF2B5EF4-FFF2-40B4-BE49-F238E27FC236}">
                <a16:creationId xmlns:a16="http://schemas.microsoft.com/office/drawing/2014/main" id="{F0CB6814-332B-4CF2-A97F-161E79EF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28956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matrix-connector-2">
            <a:extLst xmlns:a="http://schemas.openxmlformats.org/drawingml/2006/main">
              <a:ext uri="{FF2B5EF4-FFF2-40B4-BE49-F238E27FC236}">
                <a16:creationId xmlns:a16="http://schemas.microsoft.com/office/drawing/2014/main" id="{A12A8999-C3DF-4F25-97B8-49EBBC54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6625" y="49530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matrix-connector-3">
            <a:extLst xmlns:a="http://schemas.openxmlformats.org/drawingml/2006/main">
              <a:ext uri="{FF2B5EF4-FFF2-40B4-BE49-F238E27FC236}">
                <a16:creationId xmlns:a16="http://schemas.microsoft.com/office/drawing/2014/main" id="{BC064556-E305-4112-A20E-5C9CBD80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49530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trix-card-0">
            <a:extLst xmlns:a="http://schemas.openxmlformats.org/drawingml/2006/main">
              <a:ext uri="{FF2B5EF4-FFF2-40B4-BE49-F238E27FC236}">
                <a16:creationId xmlns:a16="http://schemas.microsoft.com/office/drawing/2014/main" id="{CFEDE3EB-C049-4424-BAAF-B3BBB077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" y="167640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6" name="matrix-title-0">
            <a:extLst xmlns:a="http://schemas.openxmlformats.org/drawingml/2006/main">
              <a:ext uri="{FF2B5EF4-FFF2-40B4-BE49-F238E27FC236}">
                <a16:creationId xmlns:a16="http://schemas.microsoft.com/office/drawing/2014/main" id="{B7BD4EC0-F06B-4A9F-8CF0-9423CA65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7" name="matrix-rule-0">
            <a:extLst xmlns:a="http://schemas.openxmlformats.org/drawingml/2006/main">
              <a:ext uri="{FF2B5EF4-FFF2-40B4-BE49-F238E27FC236}">
                <a16:creationId xmlns:a16="http://schemas.microsoft.com/office/drawing/2014/main" id="{AE18922B-DB45-4AA2-AF82-DF956534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215265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atrix-body-0">
            <a:extLst xmlns:a="http://schemas.openxmlformats.org/drawingml/2006/main">
              <a:ext uri="{FF2B5EF4-FFF2-40B4-BE49-F238E27FC236}">
                <a16:creationId xmlns:a16="http://schemas.microsoft.com/office/drawing/2014/main" id="{EEE6FE61-DA03-4771-8768-F41584B7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228600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政策窗口与行业规则</a:t>
            </a:r>
          </a:p>
        </p:txBody>
      </p:sp>
      <p:sp>
        <p:nvSpPr>
          <p:cNvPr id="9" name="matrix-card-1">
            <a:extLst xmlns:a="http://schemas.openxmlformats.org/drawingml/2006/main">
              <a:ext uri="{FF2B5EF4-FFF2-40B4-BE49-F238E27FC236}">
                <a16:creationId xmlns:a16="http://schemas.microsoft.com/office/drawing/2014/main" id="{5EC2DB0C-1615-435B-A015-A2D310CC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39175" y="167640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10" name="matrix-title-1">
            <a:extLst xmlns:a="http://schemas.openxmlformats.org/drawingml/2006/main">
              <a:ext uri="{FF2B5EF4-FFF2-40B4-BE49-F238E27FC236}">
                <a16:creationId xmlns:a16="http://schemas.microsoft.com/office/drawing/2014/main" id="{DB5F9C90-72A8-49A3-9602-1B5A496A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11" name="matrix-rule-1">
            <a:extLst xmlns:a="http://schemas.openxmlformats.org/drawingml/2006/main">
              <a:ext uri="{FF2B5EF4-FFF2-40B4-BE49-F238E27FC236}">
                <a16:creationId xmlns:a16="http://schemas.microsoft.com/office/drawing/2014/main" id="{648203A7-00D2-401F-BFA4-B03F229C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215265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atrix-body-1">
            <a:extLst xmlns:a="http://schemas.openxmlformats.org/drawingml/2006/main">
              <a:ext uri="{FF2B5EF4-FFF2-40B4-BE49-F238E27FC236}">
                <a16:creationId xmlns:a16="http://schemas.microsoft.com/office/drawing/2014/main" id="{EBF84384-A8B4-42B6-BFEC-B057AF39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228600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成本与市场规模</a:t>
            </a:r>
          </a:p>
        </p:txBody>
      </p:sp>
      <p:sp>
        <p:nvSpPr>
          <p:cNvPr id="13" name="matrix-card-2">
            <a:extLst xmlns:a="http://schemas.openxmlformats.org/drawingml/2006/main">
              <a:ext uri="{FF2B5EF4-FFF2-40B4-BE49-F238E27FC236}">
                <a16:creationId xmlns:a16="http://schemas.microsoft.com/office/drawing/2014/main" id="{B071A215-E5EC-4D1F-A13D-267677CD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" y="470535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14" name="matrix-title-2">
            <a:extLst xmlns:a="http://schemas.openxmlformats.org/drawingml/2006/main">
              <a:ext uri="{FF2B5EF4-FFF2-40B4-BE49-F238E27FC236}">
                <a16:creationId xmlns:a16="http://schemas.microsoft.com/office/drawing/2014/main" id="{58840ED0-5776-49E1-B32E-43A5B5BA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48387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15" name="matrix-rule-2">
            <a:extLst xmlns:a="http://schemas.openxmlformats.org/drawingml/2006/main">
              <a:ext uri="{FF2B5EF4-FFF2-40B4-BE49-F238E27FC236}">
                <a16:creationId xmlns:a16="http://schemas.microsoft.com/office/drawing/2014/main" id="{EE13DA6A-1C2E-47AB-A2BD-0741CFDE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518160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atrix-body-2">
            <a:extLst xmlns:a="http://schemas.openxmlformats.org/drawingml/2006/main">
              <a:ext uri="{FF2B5EF4-FFF2-40B4-BE49-F238E27FC236}">
                <a16:creationId xmlns:a16="http://schemas.microsoft.com/office/drawing/2014/main" id="{D1B6D32C-AF34-4AE7-A2A2-62451BA6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531495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用户需求与接受度</a:t>
            </a:r>
          </a:p>
        </p:txBody>
      </p:sp>
      <p:sp>
        <p:nvSpPr>
          <p:cNvPr id="17" name="matrix-card-3">
            <a:extLst xmlns:a="http://schemas.openxmlformats.org/drawingml/2006/main">
              <a:ext uri="{FF2B5EF4-FFF2-40B4-BE49-F238E27FC236}">
                <a16:creationId xmlns:a16="http://schemas.microsoft.com/office/drawing/2014/main" id="{839D90FA-5B1B-4B60-BB05-9924C3D6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39175" y="470535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18" name="matrix-title-3">
            <a:extLst xmlns:a="http://schemas.openxmlformats.org/drawingml/2006/main">
              <a:ext uri="{FF2B5EF4-FFF2-40B4-BE49-F238E27FC236}">
                <a16:creationId xmlns:a16="http://schemas.microsoft.com/office/drawing/2014/main" id="{7F585825-DDA7-46D3-B344-2B231F98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48387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19" name="matrix-rule-3">
            <a:extLst xmlns:a="http://schemas.openxmlformats.org/drawingml/2006/main">
              <a:ext uri="{FF2B5EF4-FFF2-40B4-BE49-F238E27FC236}">
                <a16:creationId xmlns:a16="http://schemas.microsoft.com/office/drawing/2014/main" id="{7865485D-BEB0-4362-BB0C-FDED1255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518160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atrix-body-3">
            <a:extLst xmlns:a="http://schemas.openxmlformats.org/drawingml/2006/main">
              <a:ext uri="{FF2B5EF4-FFF2-40B4-BE49-F238E27FC236}">
                <a16:creationId xmlns:a16="http://schemas.microsoft.com/office/drawing/2014/main" id="{DD8E5690-CCDC-4C2B-A65E-D9BB9658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531495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技术成熟度与工具链</a:t>
            </a:r>
          </a:p>
        </p:txBody>
      </p:sp>
      <p:sp>
        <p:nvSpPr>
          <p:cNvPr id="21" name="matrix-petal-0">
            <a:extLst xmlns:a="http://schemas.openxmlformats.org/drawingml/2006/main">
              <a:ext uri="{FF2B5EF4-FFF2-40B4-BE49-F238E27FC236}">
                <a16:creationId xmlns:a16="http://schemas.microsoft.com/office/drawing/2014/main" id="{175636B6-8BD9-4F8E-A6BF-4F54D4BE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81500" y="22098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matrix-initial-0">
            <a:extLst xmlns:a="http://schemas.openxmlformats.org/drawingml/2006/main">
              <a:ext uri="{FF2B5EF4-FFF2-40B4-BE49-F238E27FC236}">
                <a16:creationId xmlns:a16="http://schemas.microsoft.com/office/drawing/2014/main" id="{95BC02E3-580E-4519-80F7-1AFA4F0A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25527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</a:t>
            </a:r>
          </a:p>
        </p:txBody>
      </p:sp>
      <p:sp>
        <p:nvSpPr>
          <p:cNvPr id="23" name="matrix-petal-title-0">
            <a:extLst xmlns:a="http://schemas.openxmlformats.org/drawingml/2006/main">
              <a:ext uri="{FF2B5EF4-FFF2-40B4-BE49-F238E27FC236}">
                <a16:creationId xmlns:a16="http://schemas.microsoft.com/office/drawing/2014/main" id="{B753A8CB-D70A-4A43-B1C7-35F0F308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3257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24" name="matrix-petal-1">
            <a:extLst xmlns:a="http://schemas.openxmlformats.org/drawingml/2006/main">
              <a:ext uri="{FF2B5EF4-FFF2-40B4-BE49-F238E27FC236}">
                <a16:creationId xmlns:a16="http://schemas.microsoft.com/office/drawing/2014/main" id="{F2EBA7B9-43FC-4E59-B6CC-0FCDFE7B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96000" y="22098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5" name="matrix-initial-1">
            <a:extLst xmlns:a="http://schemas.openxmlformats.org/drawingml/2006/main">
              <a:ext uri="{FF2B5EF4-FFF2-40B4-BE49-F238E27FC236}">
                <a16:creationId xmlns:a16="http://schemas.microsoft.com/office/drawing/2014/main" id="{50EA92CC-B639-42A3-8686-D7AA271C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25527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</a:t>
            </a:r>
          </a:p>
        </p:txBody>
      </p:sp>
      <p:sp>
        <p:nvSpPr>
          <p:cNvPr id="26" name="matrix-petal-title-1">
            <a:extLst xmlns:a="http://schemas.openxmlformats.org/drawingml/2006/main">
              <a:ext uri="{FF2B5EF4-FFF2-40B4-BE49-F238E27FC236}">
                <a16:creationId xmlns:a16="http://schemas.microsoft.com/office/drawing/2014/main" id="{BE9A0B04-90E5-4737-BCF5-6C20D69F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3257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27" name="matrix-petal-2">
            <a:extLst xmlns:a="http://schemas.openxmlformats.org/drawingml/2006/main">
              <a:ext uri="{FF2B5EF4-FFF2-40B4-BE49-F238E27FC236}">
                <a16:creationId xmlns:a16="http://schemas.microsoft.com/office/drawing/2014/main" id="{9F195205-27B3-43C8-9D8A-2AF44BDC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9243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8" name="matrix-initial-2">
            <a:extLst xmlns:a="http://schemas.openxmlformats.org/drawingml/2006/main">
              <a:ext uri="{FF2B5EF4-FFF2-40B4-BE49-F238E27FC236}">
                <a16:creationId xmlns:a16="http://schemas.microsoft.com/office/drawing/2014/main" id="{1E0D9A90-BD67-437C-B964-BBA91D22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42672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</a:t>
            </a:r>
          </a:p>
        </p:txBody>
      </p:sp>
      <p:sp>
        <p:nvSpPr>
          <p:cNvPr id="29" name="matrix-petal-title-2">
            <a:extLst xmlns:a="http://schemas.openxmlformats.org/drawingml/2006/main">
              <a:ext uri="{FF2B5EF4-FFF2-40B4-BE49-F238E27FC236}">
                <a16:creationId xmlns:a16="http://schemas.microsoft.com/office/drawing/2014/main" id="{4EDED541-A4B7-4AF1-97E8-12977565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49720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30" name="matrix-petal-3">
            <a:extLst xmlns:a="http://schemas.openxmlformats.org/drawingml/2006/main">
              <a:ext uri="{FF2B5EF4-FFF2-40B4-BE49-F238E27FC236}">
                <a16:creationId xmlns:a16="http://schemas.microsoft.com/office/drawing/2014/main" id="{7D8B7510-B034-4C4B-B394-D3F89E6C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96000" y="39243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1" name="matrix-initial-3">
            <a:extLst xmlns:a="http://schemas.openxmlformats.org/drawingml/2006/main">
              <a:ext uri="{FF2B5EF4-FFF2-40B4-BE49-F238E27FC236}">
                <a16:creationId xmlns:a16="http://schemas.microsoft.com/office/drawing/2014/main" id="{46E7BBDE-7B0C-4420-B1F5-04A85AD2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42672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</a:t>
            </a:r>
          </a:p>
        </p:txBody>
      </p:sp>
      <p:sp>
        <p:nvSpPr>
          <p:cNvPr id="32" name="matrix-petal-title-3">
            <a:extLst xmlns:a="http://schemas.openxmlformats.org/drawingml/2006/main">
              <a:ext uri="{FF2B5EF4-FFF2-40B4-BE49-F238E27FC236}">
                <a16:creationId xmlns:a16="http://schemas.microsoft.com/office/drawing/2014/main" id="{73BAF801-E348-42F9-82C1-3BE53F36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49720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</p:spTree>
    <p:extLst>
      <p:ext uri="{BB962C8B-B14F-4D97-AF65-F5344CB8AC3E}">
        <p14:creationId xmlns:p14="http://schemas.microsoft.com/office/powerpoint/2010/main" val="1177798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matrix-connector-0">
            <a:extLst xmlns:a="http://schemas.openxmlformats.org/drawingml/2006/main">
              <a:ext uri="{FF2B5EF4-FFF2-40B4-BE49-F238E27FC236}">
                <a16:creationId xmlns:a16="http://schemas.microsoft.com/office/drawing/2014/main" id="{C3B49FD8-153C-4AB3-AB75-F3FAE6EB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6625" y="28956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matrix-connector-1">
            <a:extLst xmlns:a="http://schemas.openxmlformats.org/drawingml/2006/main">
              <a:ext uri="{FF2B5EF4-FFF2-40B4-BE49-F238E27FC236}">
                <a16:creationId xmlns:a16="http://schemas.microsoft.com/office/drawing/2014/main" id="{7CB96140-733E-4488-B5B3-FB1D1F1C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28956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matrix-connector-2">
            <a:extLst xmlns:a="http://schemas.openxmlformats.org/drawingml/2006/main">
              <a:ext uri="{FF2B5EF4-FFF2-40B4-BE49-F238E27FC236}">
                <a16:creationId xmlns:a16="http://schemas.microsoft.com/office/drawing/2014/main" id="{587C6F9D-B174-41D2-8EA6-3C74620A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6625" y="49530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matrix-connector-3">
            <a:extLst xmlns:a="http://schemas.openxmlformats.org/drawingml/2006/main">
              <a:ext uri="{FF2B5EF4-FFF2-40B4-BE49-F238E27FC236}">
                <a16:creationId xmlns:a16="http://schemas.microsoft.com/office/drawing/2014/main" id="{04718177-7DF1-40FC-BA8A-3DF439EA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4953000"/>
            <a:ext cx="140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trix-card-0">
            <a:extLst xmlns:a="http://schemas.openxmlformats.org/drawingml/2006/main">
              <a:ext uri="{FF2B5EF4-FFF2-40B4-BE49-F238E27FC236}">
                <a16:creationId xmlns:a16="http://schemas.microsoft.com/office/drawing/2014/main" id="{7A6A236E-21A7-4A10-B606-34694A32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" y="167640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6" name="matrix-title-0">
            <a:extLst xmlns:a="http://schemas.openxmlformats.org/drawingml/2006/main">
              <a:ext uri="{FF2B5EF4-FFF2-40B4-BE49-F238E27FC236}">
                <a16:creationId xmlns:a16="http://schemas.microsoft.com/office/drawing/2014/main" id="{7F6EE51B-00CF-49C8-B90D-A0412B5B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7" name="matrix-rule-0">
            <a:extLst xmlns:a="http://schemas.openxmlformats.org/drawingml/2006/main">
              <a:ext uri="{FF2B5EF4-FFF2-40B4-BE49-F238E27FC236}">
                <a16:creationId xmlns:a16="http://schemas.microsoft.com/office/drawing/2014/main" id="{C3A4D4D5-1772-417C-AA6F-4FE63FD4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215265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atrix-body-0">
            <a:extLst xmlns:a="http://schemas.openxmlformats.org/drawingml/2006/main">
              <a:ext uri="{FF2B5EF4-FFF2-40B4-BE49-F238E27FC236}">
                <a16:creationId xmlns:a16="http://schemas.microsoft.com/office/drawing/2014/main" id="{9BEF6E00-D5E3-4693-965C-E65D3331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228600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关注政策窗口、行业规则以及监管环境的阶段性变化</a:t>
            </a:r>
          </a:p>
        </p:txBody>
      </p:sp>
      <p:sp>
        <p:nvSpPr>
          <p:cNvPr id="9" name="matrix-card-1">
            <a:extLst xmlns:a="http://schemas.openxmlformats.org/drawingml/2006/main">
              <a:ext uri="{FF2B5EF4-FFF2-40B4-BE49-F238E27FC236}">
                <a16:creationId xmlns:a16="http://schemas.microsoft.com/office/drawing/2014/main" id="{78C7798B-3E4D-45B5-9EA2-885188D6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39175" y="167640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10" name="matrix-title-1">
            <a:extLst xmlns:a="http://schemas.openxmlformats.org/drawingml/2006/main">
              <a:ext uri="{FF2B5EF4-FFF2-40B4-BE49-F238E27FC236}">
                <a16:creationId xmlns:a16="http://schemas.microsoft.com/office/drawing/2014/main" id="{5672DBF6-4B68-4E4E-9DA5-CA226D39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11" name="matrix-rule-1">
            <a:extLst xmlns:a="http://schemas.openxmlformats.org/drawingml/2006/main">
              <a:ext uri="{FF2B5EF4-FFF2-40B4-BE49-F238E27FC236}">
                <a16:creationId xmlns:a16="http://schemas.microsoft.com/office/drawing/2014/main" id="{1ED9CDED-3F71-4F0D-AE02-90EAA536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215265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atrix-body-1">
            <a:extLst xmlns:a="http://schemas.openxmlformats.org/drawingml/2006/main">
              <a:ext uri="{FF2B5EF4-FFF2-40B4-BE49-F238E27FC236}">
                <a16:creationId xmlns:a16="http://schemas.microsoft.com/office/drawing/2014/main" id="{DA6A0483-2FA0-47BC-A04B-8BE72DA2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228600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分析成本水平、资金条件和市场规模对项目推进的影响</a:t>
            </a:r>
          </a:p>
        </p:txBody>
      </p:sp>
      <p:sp>
        <p:nvSpPr>
          <p:cNvPr id="13" name="matrix-card-2">
            <a:extLst xmlns:a="http://schemas.openxmlformats.org/drawingml/2006/main">
              <a:ext uri="{FF2B5EF4-FFF2-40B4-BE49-F238E27FC236}">
                <a16:creationId xmlns:a16="http://schemas.microsoft.com/office/drawing/2014/main" id="{FBDDB885-B075-4429-B788-ADAA6890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" y="470535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14" name="matrix-title-2">
            <a:extLst xmlns:a="http://schemas.openxmlformats.org/drawingml/2006/main">
              <a:ext uri="{FF2B5EF4-FFF2-40B4-BE49-F238E27FC236}">
                <a16:creationId xmlns:a16="http://schemas.microsoft.com/office/drawing/2014/main" id="{E89D7AF9-C8D5-4BB7-A434-ECED69E2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48387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15" name="matrix-rule-2">
            <a:extLst xmlns:a="http://schemas.openxmlformats.org/drawingml/2006/main">
              <a:ext uri="{FF2B5EF4-FFF2-40B4-BE49-F238E27FC236}">
                <a16:creationId xmlns:a16="http://schemas.microsoft.com/office/drawing/2014/main" id="{990FE067-7193-4B79-9712-C7CDC49A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518160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atrix-body-2">
            <a:extLst xmlns:a="http://schemas.openxmlformats.org/drawingml/2006/main">
              <a:ext uri="{FF2B5EF4-FFF2-40B4-BE49-F238E27FC236}">
                <a16:creationId xmlns:a16="http://schemas.microsoft.com/office/drawing/2014/main" id="{019D90F0-16C5-490E-84B9-BEC0513A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" y="531495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判断用户需求、组织协同和社会接受度是否形成支撑</a:t>
            </a:r>
          </a:p>
        </p:txBody>
      </p:sp>
      <p:sp>
        <p:nvSpPr>
          <p:cNvPr id="17" name="matrix-card-3">
            <a:extLst xmlns:a="http://schemas.openxmlformats.org/drawingml/2006/main">
              <a:ext uri="{FF2B5EF4-FFF2-40B4-BE49-F238E27FC236}">
                <a16:creationId xmlns:a16="http://schemas.microsoft.com/office/drawing/2014/main" id="{E53F2817-EAF4-4ECD-B250-2B4D9FBD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39175" y="4705350"/>
            <a:ext cx="29908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D4"/>
            </a:solidFill>
            <a:prstDash val="dash"/>
          </a:ln>
        </p:spPr>
      </p:sp>
      <p:sp>
        <p:nvSpPr>
          <p:cNvPr id="18" name="matrix-title-3">
            <a:extLst xmlns:a="http://schemas.openxmlformats.org/drawingml/2006/main">
              <a:ext uri="{FF2B5EF4-FFF2-40B4-BE49-F238E27FC236}">
                <a16:creationId xmlns:a16="http://schemas.microsoft.com/office/drawing/2014/main" id="{D6769618-6CE7-4D91-8C99-A9E489FD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48387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19" name="matrix-rule-3">
            <a:extLst xmlns:a="http://schemas.openxmlformats.org/drawingml/2006/main">
              <a:ext uri="{FF2B5EF4-FFF2-40B4-BE49-F238E27FC236}">
                <a16:creationId xmlns:a16="http://schemas.microsoft.com/office/drawing/2014/main" id="{0C599FD3-24AF-47F6-87AA-2CD19EC2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5181600"/>
            <a:ext cx="257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atrix-body-3">
            <a:extLst xmlns:a="http://schemas.openxmlformats.org/drawingml/2006/main">
              <a:ext uri="{FF2B5EF4-FFF2-40B4-BE49-F238E27FC236}">
                <a16:creationId xmlns:a16="http://schemas.microsoft.com/office/drawing/2014/main" id="{F6048874-1B9B-4884-9E98-9328C85E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48725" y="531495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D95"/>
                </a:solidFill>
                <a:latin typeface="Microsoft YaHei"/>
                <a:ea typeface="Microsoft YaHei"/>
                <a:cs typeface="Microsoft YaHei"/>
              </a:rPr>
              <a:t>评估技术成熟度、基础设施和工具链能否稳定承载</a:t>
            </a:r>
          </a:p>
        </p:txBody>
      </p:sp>
      <p:sp>
        <p:nvSpPr>
          <p:cNvPr id="21" name="matrix-petal-0">
            <a:extLst xmlns:a="http://schemas.openxmlformats.org/drawingml/2006/main">
              <a:ext uri="{FF2B5EF4-FFF2-40B4-BE49-F238E27FC236}">
                <a16:creationId xmlns:a16="http://schemas.microsoft.com/office/drawing/2014/main" id="{8C2311C1-F9C9-4764-AE7D-5EA7AC6D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81500" y="22098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matrix-initial-0">
            <a:extLst xmlns:a="http://schemas.openxmlformats.org/drawingml/2006/main">
              <a:ext uri="{FF2B5EF4-FFF2-40B4-BE49-F238E27FC236}">
                <a16:creationId xmlns:a16="http://schemas.microsoft.com/office/drawing/2014/main" id="{3D7A1ACF-2C76-4940-A9D6-83BDF5A2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25527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</a:t>
            </a:r>
          </a:p>
        </p:txBody>
      </p:sp>
      <p:sp>
        <p:nvSpPr>
          <p:cNvPr id="23" name="matrix-petal-title-0">
            <a:extLst xmlns:a="http://schemas.openxmlformats.org/drawingml/2006/main">
              <a:ext uri="{FF2B5EF4-FFF2-40B4-BE49-F238E27FC236}">
                <a16:creationId xmlns:a16="http://schemas.microsoft.com/office/drawing/2014/main" id="{7EF3F319-2AEC-42A4-B998-3A229A59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3257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24" name="matrix-petal-1">
            <a:extLst xmlns:a="http://schemas.openxmlformats.org/drawingml/2006/main">
              <a:ext uri="{FF2B5EF4-FFF2-40B4-BE49-F238E27FC236}">
                <a16:creationId xmlns:a16="http://schemas.microsoft.com/office/drawing/2014/main" id="{391ABCFC-73EC-4FDF-9FBD-15EE3285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96000" y="22098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5" name="matrix-initial-1">
            <a:extLst xmlns:a="http://schemas.openxmlformats.org/drawingml/2006/main">
              <a:ext uri="{FF2B5EF4-FFF2-40B4-BE49-F238E27FC236}">
                <a16:creationId xmlns:a16="http://schemas.microsoft.com/office/drawing/2014/main" id="{55512122-9056-4863-BA9D-51BC4D2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25527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</a:t>
            </a:r>
          </a:p>
        </p:txBody>
      </p:sp>
      <p:sp>
        <p:nvSpPr>
          <p:cNvPr id="26" name="matrix-petal-title-1">
            <a:extLst xmlns:a="http://schemas.openxmlformats.org/drawingml/2006/main">
              <a:ext uri="{FF2B5EF4-FFF2-40B4-BE49-F238E27FC236}">
                <a16:creationId xmlns:a16="http://schemas.microsoft.com/office/drawing/2014/main" id="{D901EC2C-5236-4317-BEA6-E3D378A2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3257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27" name="matrix-petal-2">
            <a:extLst xmlns:a="http://schemas.openxmlformats.org/drawingml/2006/main">
              <a:ext uri="{FF2B5EF4-FFF2-40B4-BE49-F238E27FC236}">
                <a16:creationId xmlns:a16="http://schemas.microsoft.com/office/drawing/2014/main" id="{043DE95C-9FE9-4547-9E53-43E5A589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9243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8" name="matrix-initial-2">
            <a:extLst xmlns:a="http://schemas.openxmlformats.org/drawingml/2006/main">
              <a:ext uri="{FF2B5EF4-FFF2-40B4-BE49-F238E27FC236}">
                <a16:creationId xmlns:a16="http://schemas.microsoft.com/office/drawing/2014/main" id="{AFEE4647-4063-4976-B448-685C37B2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42672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</a:t>
            </a:r>
          </a:p>
        </p:txBody>
      </p:sp>
      <p:sp>
        <p:nvSpPr>
          <p:cNvPr id="29" name="matrix-petal-title-2">
            <a:extLst xmlns:a="http://schemas.openxmlformats.org/drawingml/2006/main">
              <a:ext uri="{FF2B5EF4-FFF2-40B4-BE49-F238E27FC236}">
                <a16:creationId xmlns:a16="http://schemas.microsoft.com/office/drawing/2014/main" id="{ADD78026-E481-480E-B38C-64F1C9CB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49720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30" name="matrix-petal-3">
            <a:extLst xmlns:a="http://schemas.openxmlformats.org/drawingml/2006/main">
              <a:ext uri="{FF2B5EF4-FFF2-40B4-BE49-F238E27FC236}">
                <a16:creationId xmlns:a16="http://schemas.microsoft.com/office/drawing/2014/main" id="{A9813D98-D856-405F-AA87-4A9F4AB3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96000" y="3924300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1" name="matrix-initial-3">
            <a:extLst xmlns:a="http://schemas.openxmlformats.org/drawingml/2006/main">
              <a:ext uri="{FF2B5EF4-FFF2-40B4-BE49-F238E27FC236}">
                <a16:creationId xmlns:a16="http://schemas.microsoft.com/office/drawing/2014/main" id="{9B80AE83-73AE-4631-9C02-7935105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42672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</a:t>
            </a:r>
          </a:p>
        </p:txBody>
      </p:sp>
      <p:sp>
        <p:nvSpPr>
          <p:cNvPr id="32" name="matrix-petal-title-3">
            <a:extLst xmlns:a="http://schemas.openxmlformats.org/drawingml/2006/main">
              <a:ext uri="{FF2B5EF4-FFF2-40B4-BE49-F238E27FC236}">
                <a16:creationId xmlns:a16="http://schemas.microsoft.com/office/drawing/2014/main" id="{B98A85C3-1C3E-4429-82D0-6D21DF72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1275" y="49720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</p:spTree>
    <p:extLst>
      <p:ext uri="{BB962C8B-B14F-4D97-AF65-F5344CB8AC3E}">
        <p14:creationId xmlns:p14="http://schemas.microsoft.com/office/powerpoint/2010/main" val="18364108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2026-08-16T02:11:40.0040000Z</dcterms:created>
  <dcterms:modified xsi:type="dcterms:W3CDTF">2026-08-16T02:11:40.0040000Z</dcterms:modified>
</coreProperties>
</file>