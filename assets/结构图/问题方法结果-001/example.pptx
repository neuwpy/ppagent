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bd1cc695d24de0" /><Relationship Type="http://schemas.openxmlformats.org/officeDocument/2006/relationships/extended-properties" Target="/docProps/app.xml" Id="R35113ff3bed6461d" /><Relationship Type="http://schemas.openxmlformats.org/officeDocument/2006/relationships/officeDocument" Target="/ppt/presentation.xml" Id="R04315bb7760549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7abc1012d34d63"/>
  </p:sldMasterIdLst>
  <p:notesMasterIdLst>
    <p:notesMasterId xmlns:r="http://schemas.openxmlformats.org/officeDocument/2006/relationships" r:id="Rb40cfc482fb24397"/>
  </p:notesMasterIdLst>
  <p:sldIdLst>
    <p:sldId xmlns:r="http://schemas.openxmlformats.org/officeDocument/2006/relationships" id="256" r:id="Rd86fa921747d43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f952244aa44486" /><Relationship Type="http://schemas.openxmlformats.org/officeDocument/2006/relationships/slideMaster" Target="/ppt/slideMasters/slideMaster1.xml" Id="Rc57abc1012d34d63" /><Relationship Type="http://schemas.openxmlformats.org/officeDocument/2006/relationships/notesMaster" Target="/ppt/notesMasters/notesMaster1.xml" Id="Rb40cfc482fb24397" /><Relationship Type="http://schemas.openxmlformats.org/officeDocument/2006/relationships/presProps" Target="/ppt/presProps.xml" Id="R451de283227942bc" /><Relationship Type="http://schemas.openxmlformats.org/officeDocument/2006/relationships/tableStyles" Target="/ppt/tableStyles.xml" Id="R38c1e8f8348e4689" /><Relationship Type="http://schemas.openxmlformats.org/officeDocument/2006/relationships/slide" Target="/ppt/slides/slide1.xml" Id="Rd86fa921747d43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b15c44fa2b47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b27c8c9d7b49e8" /><Relationship Type="http://schemas.openxmlformats.org/officeDocument/2006/relationships/notesMaster" Target="/ppt/notesMasters/notesMaster1.xml" Id="R5395e20b05c040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637006b6fb4b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f08ee07ffc4054" /><Relationship Type="http://schemas.openxmlformats.org/officeDocument/2006/relationships/slideLayout" Target="/ppt/slideLayouts/slideLayout1.xml" Id="R63f93f33c0a74c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f93f33c0a74c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09ca28a69418d" /><Relationship Type="http://schemas.openxmlformats.org/officeDocument/2006/relationships/notesSlide" Target="/ppt/notesSlides/notesSlide1.xml" Id="Re5c95211a13945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problem-method-link-0">
            <a:extLst xmlns:a="http://schemas.openxmlformats.org/drawingml/2006/main">
              <a:ext uri="{FF2B5EF4-FFF2-40B4-BE49-F238E27FC236}">
                <a16:creationId xmlns:a16="http://schemas.microsoft.com/office/drawing/2014/main" id="{F844AFA5-ECE8-44EB-861B-230262A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2325" y="2590800"/>
            <a:ext cx="0" cy="371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dash"/>
          </a:ln>
        </p:spPr>
      </p:sp>
      <p:sp>
        <p:nvSpPr>
          <p:cNvPr id="2" name="problem-method-anchor-0">
            <a:extLst xmlns:a="http://schemas.openxmlformats.org/drawingml/2006/main">
              <a:ext uri="{FF2B5EF4-FFF2-40B4-BE49-F238E27FC236}">
                <a16:creationId xmlns:a16="http://schemas.microsoft.com/office/drawing/2014/main" id="{1808CE1D-AA9C-41C8-AB56-65A719D9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24225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3" name="problem-method-link-1">
            <a:extLst xmlns:a="http://schemas.openxmlformats.org/drawingml/2006/main">
              <a:ext uri="{FF2B5EF4-FFF2-40B4-BE49-F238E27FC236}">
                <a16:creationId xmlns:a16="http://schemas.microsoft.com/office/drawing/2014/main" id="{30BFAB9F-A9C6-4B14-BFF2-31FA381C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4625" y="2590800"/>
            <a:ext cx="0" cy="371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dash"/>
          </a:ln>
        </p:spPr>
      </p:sp>
      <p:sp>
        <p:nvSpPr>
          <p:cNvPr id="4" name="problem-method-anchor-1">
            <a:extLst xmlns:a="http://schemas.openxmlformats.org/drawingml/2006/main">
              <a:ext uri="{FF2B5EF4-FFF2-40B4-BE49-F238E27FC236}">
                <a16:creationId xmlns:a16="http://schemas.microsoft.com/office/drawing/2014/main" id="{6820EBD0-70FB-4CF4-958D-E0A187F9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86525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5" name="problem-method-link-2">
            <a:extLst xmlns:a="http://schemas.openxmlformats.org/drawingml/2006/main">
              <a:ext uri="{FF2B5EF4-FFF2-40B4-BE49-F238E27FC236}">
                <a16:creationId xmlns:a16="http://schemas.microsoft.com/office/drawing/2014/main" id="{1E9415B3-539A-4E43-BB32-D636FE47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2590800"/>
            <a:ext cx="0" cy="371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dash"/>
          </a:ln>
        </p:spPr>
      </p:sp>
      <p:sp>
        <p:nvSpPr>
          <p:cNvPr id="6" name="problem-method-anchor-2">
            <a:extLst xmlns:a="http://schemas.openxmlformats.org/drawingml/2006/main">
              <a:ext uri="{FF2B5EF4-FFF2-40B4-BE49-F238E27FC236}">
                <a16:creationId xmlns:a16="http://schemas.microsoft.com/office/drawing/2014/main" id="{53F48ED5-663E-4254-9EC0-23CC0226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48825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7" name="method-bus-link-0">
            <a:extLst xmlns:a="http://schemas.openxmlformats.org/drawingml/2006/main">
              <a:ext uri="{FF2B5EF4-FFF2-40B4-BE49-F238E27FC236}">
                <a16:creationId xmlns:a16="http://schemas.microsoft.com/office/drawing/2014/main" id="{A0F35263-0900-466D-8B55-A919EAD4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2325" y="49434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8" name="method-bus-anchor-0">
            <a:extLst xmlns:a="http://schemas.openxmlformats.org/drawingml/2006/main">
              <a:ext uri="{FF2B5EF4-FFF2-40B4-BE49-F238E27FC236}">
                <a16:creationId xmlns:a16="http://schemas.microsoft.com/office/drawing/2014/main" id="{D7834E82-A2AE-41E8-8B12-129252F8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24225" y="5067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9" name="method-bus-link-1">
            <a:extLst xmlns:a="http://schemas.openxmlformats.org/drawingml/2006/main">
              <a:ext uri="{FF2B5EF4-FFF2-40B4-BE49-F238E27FC236}">
                <a16:creationId xmlns:a16="http://schemas.microsoft.com/office/drawing/2014/main" id="{2EA852BB-50E0-4BCC-818B-A6B094A3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4625" y="49434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10" name="method-bus-anchor-1">
            <a:extLst xmlns:a="http://schemas.openxmlformats.org/drawingml/2006/main">
              <a:ext uri="{FF2B5EF4-FFF2-40B4-BE49-F238E27FC236}">
                <a16:creationId xmlns:a16="http://schemas.microsoft.com/office/drawing/2014/main" id="{3A05DFBE-9752-4AE4-A823-758F5405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86525" y="5067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" name="method-bus-link-2">
            <a:extLst xmlns:a="http://schemas.openxmlformats.org/drawingml/2006/main">
              <a:ext uri="{FF2B5EF4-FFF2-40B4-BE49-F238E27FC236}">
                <a16:creationId xmlns:a16="http://schemas.microsoft.com/office/drawing/2014/main" id="{30E32F0D-7857-4F0A-B306-BFFFED9B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49434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12" name="method-bus-anchor-2">
            <a:extLst xmlns:a="http://schemas.openxmlformats.org/drawingml/2006/main">
              <a:ext uri="{FF2B5EF4-FFF2-40B4-BE49-F238E27FC236}">
                <a16:creationId xmlns:a16="http://schemas.microsoft.com/office/drawing/2014/main" id="{47E18B9A-A3E7-4AE2-A628-72CEDB10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48825" y="5067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3" name="method-result-bus">
            <a:extLst xmlns:a="http://schemas.openxmlformats.org/drawingml/2006/main">
              <a:ext uri="{FF2B5EF4-FFF2-40B4-BE49-F238E27FC236}">
                <a16:creationId xmlns:a16="http://schemas.microsoft.com/office/drawing/2014/main" id="{DB1DF353-89EC-41B3-B39F-95E2175B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2325" y="5105400"/>
            <a:ext cx="632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AEEF"/>
            </a:solidFill>
            <a:prstDash val="solid"/>
          </a:ln>
        </p:spPr>
      </p:sp>
      <p:sp>
        <p:nvSpPr>
          <p:cNvPr id="14" name="result-link">
            <a:extLst xmlns:a="http://schemas.openxmlformats.org/drawingml/2006/main">
              <a:ext uri="{FF2B5EF4-FFF2-40B4-BE49-F238E27FC236}">
                <a16:creationId xmlns:a16="http://schemas.microsoft.com/office/drawing/2014/main" id="{6D704D4C-BB40-414F-879F-90026C92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4625" y="5105400"/>
            <a:ext cx="0" cy="180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15" name="result-arrow">
            <a:extLst xmlns:a="http://schemas.openxmlformats.org/drawingml/2006/main">
              <a:ext uri="{FF2B5EF4-FFF2-40B4-BE49-F238E27FC236}">
                <a16:creationId xmlns:a16="http://schemas.microsoft.com/office/drawing/2014/main" id="{2366EC8C-837A-4644-884E-92FA9419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58893" y="5200650"/>
            <a:ext cx="131455" cy="85725"/>
          </a:xfrm>
          <a:custGeom xmlns:a="http://schemas.openxmlformats.org/drawingml/2006/main">
            <a:pathLst>
              <a:path w="131455" h="85725">
                <a:moveTo>
                  <a:pt x="65732" y="85725"/>
                </a:moveTo>
                <a:lnTo>
                  <a:pt x="59007" y="77076"/>
                </a:lnTo>
                <a:lnTo>
                  <a:pt x="52273" y="68428"/>
                </a:lnTo>
                <a:lnTo>
                  <a:pt x="45549" y="59779"/>
                </a:lnTo>
                <a:lnTo>
                  <a:pt x="38824" y="51140"/>
                </a:lnTo>
                <a:lnTo>
                  <a:pt x="32099" y="42491"/>
                </a:lnTo>
                <a:lnTo>
                  <a:pt x="25375" y="33842"/>
                </a:lnTo>
                <a:lnTo>
                  <a:pt x="18650" y="25194"/>
                </a:lnTo>
                <a:lnTo>
                  <a:pt x="11925" y="16545"/>
                </a:lnTo>
                <a:lnTo>
                  <a:pt x="5201" y="7896"/>
                </a:lnTo>
                <a:lnTo>
                  <a:pt x="0" y="0"/>
                </a:lnTo>
                <a:lnTo>
                  <a:pt x="10954" y="0"/>
                </a:lnTo>
                <a:lnTo>
                  <a:pt x="21908" y="0"/>
                </a:lnTo>
                <a:lnTo>
                  <a:pt x="32861" y="0"/>
                </a:lnTo>
                <a:lnTo>
                  <a:pt x="43815" y="0"/>
                </a:lnTo>
                <a:lnTo>
                  <a:pt x="54778" y="0"/>
                </a:lnTo>
                <a:lnTo>
                  <a:pt x="65732" y="0"/>
                </a:lnTo>
                <a:lnTo>
                  <a:pt x="76686" y="0"/>
                </a:lnTo>
                <a:lnTo>
                  <a:pt x="87640" y="0"/>
                </a:lnTo>
                <a:lnTo>
                  <a:pt x="98593" y="0"/>
                </a:lnTo>
                <a:lnTo>
                  <a:pt x="109547" y="0"/>
                </a:lnTo>
                <a:lnTo>
                  <a:pt x="120501" y="0"/>
                </a:lnTo>
                <a:lnTo>
                  <a:pt x="131455" y="0"/>
                </a:lnTo>
                <a:lnTo>
                  <a:pt x="126263" y="7896"/>
                </a:lnTo>
                <a:lnTo>
                  <a:pt x="119529" y="16545"/>
                </a:lnTo>
                <a:lnTo>
                  <a:pt x="112805" y="25194"/>
                </a:lnTo>
                <a:lnTo>
                  <a:pt x="106080" y="33842"/>
                </a:lnTo>
                <a:lnTo>
                  <a:pt x="99355" y="42491"/>
                </a:lnTo>
                <a:lnTo>
                  <a:pt x="92631" y="51140"/>
                </a:lnTo>
                <a:lnTo>
                  <a:pt x="85906" y="59779"/>
                </a:lnTo>
                <a:lnTo>
                  <a:pt x="79181" y="68428"/>
                </a:lnTo>
                <a:lnTo>
                  <a:pt x="72457" y="77076"/>
                </a:lnTo>
                <a:lnTo>
                  <a:pt x="65732" y="85725"/>
                </a:lnTo>
                <a:close/>
              </a:path>
            </a:pathLst>
          </a:custGeom>
          <a:solidFill xmlns:a="http://schemas.openxmlformats.org/drawingml/2006/main">
            <a:srgbClr val="78AEE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phase-line">
            <a:extLst xmlns:a="http://schemas.openxmlformats.org/drawingml/2006/main">
              <a:ext uri="{FF2B5EF4-FFF2-40B4-BE49-F238E27FC236}">
                <a16:creationId xmlns:a16="http://schemas.microsoft.com/office/drawing/2014/main" id="{13997C64-B0DC-4E32-9F0D-0DB0EBE8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" y="2000250"/>
            <a:ext cx="19050" cy="381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8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hase-problem-count">
            <a:extLst xmlns:a="http://schemas.openxmlformats.org/drawingml/2006/main">
              <a:ext uri="{FF2B5EF4-FFF2-40B4-BE49-F238E27FC236}">
                <a16:creationId xmlns:a16="http://schemas.microsoft.com/office/drawing/2014/main" id="{E1FB796C-4915-493B-9615-82BEED0C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" y="18097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BFD3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8" name="phase-problem-label">
            <a:extLst xmlns:a="http://schemas.openxmlformats.org/drawingml/2006/main">
              <a:ext uri="{FF2B5EF4-FFF2-40B4-BE49-F238E27FC236}">
                <a16:creationId xmlns:a16="http://schemas.microsoft.com/office/drawing/2014/main" id="{4D0237E0-C9A1-4774-A18A-7F26CF21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565" y="2238375"/>
            <a:ext cx="466277" cy="215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19" name="phase-method-count">
            <a:extLst xmlns:a="http://schemas.openxmlformats.org/drawingml/2006/main">
              <a:ext uri="{FF2B5EF4-FFF2-40B4-BE49-F238E27FC236}">
                <a16:creationId xmlns:a16="http://schemas.microsoft.com/office/drawing/2014/main" id="{2054BE4D-9EA8-492B-9B86-0C3F311C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" y="36576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BFD3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phase-method-label">
            <a:extLst xmlns:a="http://schemas.openxmlformats.org/drawingml/2006/main">
              <a:ext uri="{FF2B5EF4-FFF2-40B4-BE49-F238E27FC236}">
                <a16:creationId xmlns:a16="http://schemas.microsoft.com/office/drawing/2014/main" id="{AC914960-D630-45C4-B523-7F033A96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565" y="4086225"/>
            <a:ext cx="466277" cy="215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21" name="phase-result-count">
            <a:extLst xmlns:a="http://schemas.openxmlformats.org/drawingml/2006/main">
              <a:ext uri="{FF2B5EF4-FFF2-40B4-BE49-F238E27FC236}">
                <a16:creationId xmlns:a16="http://schemas.microsoft.com/office/drawing/2014/main" id="{489011BF-5E65-42BF-A548-DED23446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" y="5438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BFD3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" name="phase-result-label">
            <a:extLst xmlns:a="http://schemas.openxmlformats.org/drawingml/2006/main">
              <a:ext uri="{FF2B5EF4-FFF2-40B4-BE49-F238E27FC236}">
                <a16:creationId xmlns:a16="http://schemas.microsoft.com/office/drawing/2014/main" id="{859DB09B-3754-40FA-B769-B5EF9CA0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565" y="5867400"/>
            <a:ext cx="466277" cy="215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23" name="problem-underlay">
            <a:extLst xmlns:a="http://schemas.openxmlformats.org/drawingml/2006/main">
              <a:ext uri="{FF2B5EF4-FFF2-40B4-BE49-F238E27FC236}">
                <a16:creationId xmlns:a16="http://schemas.microsoft.com/office/drawing/2014/main" id="{2D6151C6-7A2A-4673-A1DE-A7EA3B92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1724025"/>
            <a:ext cx="10191750" cy="866775"/>
          </a:xfrm>
          <a:prstGeom xmlns:a="http://schemas.openxmlformats.org/drawingml/2006/main" prst="roundRect">
            <a:avLst>
              <a:gd name="adj" fmla="val 24176"/>
            </a:avLst>
          </a:prstGeom>
          <a:solidFill xmlns:a="http://schemas.openxmlformats.org/drawingml/2006/main">
            <a:srgbClr val="D7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card">
            <a:extLst xmlns:a="http://schemas.openxmlformats.org/drawingml/2006/main">
              <a:ext uri="{FF2B5EF4-FFF2-40B4-BE49-F238E27FC236}">
                <a16:creationId xmlns:a16="http://schemas.microsoft.com/office/drawing/2014/main" id="{3B1D4483-7EEC-49D8-8D6C-64D1A78B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1657350"/>
            <a:ext cx="10191750" cy="933450"/>
          </a:xfrm>
          <a:prstGeom xmlns:a="http://schemas.openxmlformats.org/drawingml/2006/main" prst="roundRect">
            <a:avLst>
              <a:gd name="adj" fmla="val 22449"/>
            </a:avLst>
          </a:prstGeom>
          <a:gradFill xmlns:a="http://schemas.openxmlformats.org/drawingml/2006/main">
            <a:gsLst>
              <a:gs pos="0">
                <a:srgbClr val="2D5CA3"/>
              </a:gs>
              <a:gs pos="72000">
                <a:srgbClr val="3D79C5"/>
              </a:gs>
              <a:gs pos="100000">
                <a:srgbClr val="70A7EB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5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7DBC67FB-14CD-4FD2-B35D-E41B3890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1885950"/>
            <a:ext cx="542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26" name="problem-divider">
            <a:extLst xmlns:a="http://schemas.openxmlformats.org/drawingml/2006/main">
              <a:ext uri="{FF2B5EF4-FFF2-40B4-BE49-F238E27FC236}">
                <a16:creationId xmlns:a16="http://schemas.microsoft.com/office/drawing/2014/main" id="{4A5DFD66-C49A-418A-BA65-5638FBEE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81225" y="1885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CD56090D-0E9A-413E-A214-DB1A2F98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1811236"/>
            <a:ext cx="8401050" cy="30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复杂工况下模型预测精度不足</a:t>
            </a:r>
          </a:p>
        </p:txBody>
      </p:sp>
      <p:sp>
        <p:nvSpPr>
          <p:cNvPr id="28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258A9110-DB18-4295-8E8B-70913DC7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2177653"/>
            <a:ext cx="8401050" cy="259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00" b="0" i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现有方法难以同时处理多源数据差异与小样本约束</a:t>
            </a:r>
          </a:p>
        </p:txBody>
      </p:sp>
      <p:sp>
        <p:nvSpPr>
          <p:cNvPr id="29" name="method-card-0">
            <a:extLst xmlns:a="http://schemas.openxmlformats.org/drawingml/2006/main">
              <a:ext uri="{FF2B5EF4-FFF2-40B4-BE49-F238E27FC236}">
                <a16:creationId xmlns:a16="http://schemas.microsoft.com/office/drawing/2014/main" id="{28565762-C418-4B0B-8DE4-1D450116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05000" y="2962275"/>
            <a:ext cx="2914650" cy="1981200"/>
          </a:xfrm>
          <a:prstGeom xmlns:a="http://schemas.openxmlformats.org/drawingml/2006/main" prst="roundRect">
            <a:avLst>
              <a:gd name="adj" fmla="val 8654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2F7FD"/>
              </a:gs>
            </a:gsLst>
            <a:lin ang="10800000"/>
          </a:gradFill>
          <a:ln xmlns:a="http://schemas.openxmlformats.org/drawingml/2006/main" w="9525">
            <a:solidFill>
              <a:srgbClr val="D4E1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0" name="method-accent-0">
            <a:extLst xmlns:a="http://schemas.openxmlformats.org/drawingml/2006/main">
              <a:ext uri="{FF2B5EF4-FFF2-40B4-BE49-F238E27FC236}">
                <a16:creationId xmlns:a16="http://schemas.microsoft.com/office/drawing/2014/main" id="{ED046668-C69A-42EC-A28D-8C607F15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25" y="2971800"/>
            <a:ext cx="2895600" cy="762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A72BB"/>
              </a:gs>
              <a:gs pos="100000">
                <a:srgbClr val="7EB3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1" name="method-number-0">
            <a:extLst xmlns:a="http://schemas.openxmlformats.org/drawingml/2006/main">
              <a:ext uri="{FF2B5EF4-FFF2-40B4-BE49-F238E27FC236}">
                <a16:creationId xmlns:a16="http://schemas.microsoft.com/office/drawing/2014/main" id="{1D2D2B87-0356-4EA9-ADAD-BCA6D80E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85975" y="3324225"/>
            <a:ext cx="457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2" name="method-title-0">
            <a:extLst xmlns:a="http://schemas.openxmlformats.org/drawingml/2006/main">
              <a:ext uri="{FF2B5EF4-FFF2-40B4-BE49-F238E27FC236}">
                <a16:creationId xmlns:a16="http://schemas.microsoft.com/office/drawing/2014/main" id="{535884D4-CAD3-4FFA-9F2E-ECB31E13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38425" y="3190875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机理建模</a:t>
            </a:r>
          </a:p>
        </p:txBody>
      </p:sp>
      <p:sp>
        <p:nvSpPr>
          <p:cNvPr id="33" name="method-body-0">
            <a:extLst xmlns:a="http://schemas.openxmlformats.org/drawingml/2006/main">
              <a:ext uri="{FF2B5EF4-FFF2-40B4-BE49-F238E27FC236}">
                <a16:creationId xmlns:a16="http://schemas.microsoft.com/office/drawing/2014/main" id="{CDD1E5AE-D925-41E4-9585-5608BBA9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85975" y="3819525"/>
            <a:ext cx="2552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rPr>
              <a:t>建立关键变量间的物理约束</a:t>
            </a:r>
          </a:p>
        </p:txBody>
      </p:sp>
      <p:sp>
        <p:nvSpPr>
          <p:cNvPr id="34" name="method-card-1">
            <a:extLst xmlns:a="http://schemas.openxmlformats.org/drawingml/2006/main">
              <a:ext uri="{FF2B5EF4-FFF2-40B4-BE49-F238E27FC236}">
                <a16:creationId xmlns:a16="http://schemas.microsoft.com/office/drawing/2014/main" id="{45D319EA-6C40-461D-8A77-E4F124B8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962275"/>
            <a:ext cx="2914650" cy="1981200"/>
          </a:xfrm>
          <a:prstGeom xmlns:a="http://schemas.openxmlformats.org/drawingml/2006/main" prst="roundRect">
            <a:avLst>
              <a:gd name="adj" fmla="val 8654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2F7FD"/>
              </a:gs>
            </a:gsLst>
            <a:lin ang="10800000"/>
          </a:gradFill>
          <a:ln xmlns:a="http://schemas.openxmlformats.org/drawingml/2006/main" w="9525">
            <a:solidFill>
              <a:srgbClr val="D4E1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5" name="method-accent-1">
            <a:extLst xmlns:a="http://schemas.openxmlformats.org/drawingml/2006/main">
              <a:ext uri="{FF2B5EF4-FFF2-40B4-BE49-F238E27FC236}">
                <a16:creationId xmlns:a16="http://schemas.microsoft.com/office/drawing/2014/main" id="{8385D60F-23A3-48D4-9DBD-541FE6A7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6825" y="2971800"/>
            <a:ext cx="2895600" cy="762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A72BB"/>
              </a:gs>
              <a:gs pos="100000">
                <a:srgbClr val="7EB3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6" name="method-number-1">
            <a:extLst xmlns:a="http://schemas.openxmlformats.org/drawingml/2006/main">
              <a:ext uri="{FF2B5EF4-FFF2-40B4-BE49-F238E27FC236}">
                <a16:creationId xmlns:a16="http://schemas.microsoft.com/office/drawing/2014/main" id="{4EFBA9AB-8387-414F-9666-E9791CB6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3324225"/>
            <a:ext cx="457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7" name="method-title-1">
            <a:extLst xmlns:a="http://schemas.openxmlformats.org/drawingml/2006/main">
              <a:ext uri="{FF2B5EF4-FFF2-40B4-BE49-F238E27FC236}">
                <a16:creationId xmlns:a16="http://schemas.microsoft.com/office/drawing/2014/main" id="{6CB4C5F8-0F8F-4556-BB44-A497F017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00725" y="3190875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数据融合</a:t>
            </a:r>
          </a:p>
        </p:txBody>
      </p:sp>
      <p:sp>
        <p:nvSpPr>
          <p:cNvPr id="38" name="method-body-1">
            <a:extLst xmlns:a="http://schemas.openxmlformats.org/drawingml/2006/main">
              <a:ext uri="{FF2B5EF4-FFF2-40B4-BE49-F238E27FC236}">
                <a16:creationId xmlns:a16="http://schemas.microsoft.com/office/drawing/2014/main" id="{BA32248D-ECC7-4919-88CB-D89411A6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3819525"/>
            <a:ext cx="2552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rPr>
              <a:t>统一处理实验仿真与现场数据</a:t>
            </a:r>
          </a:p>
        </p:txBody>
      </p:sp>
      <p:sp>
        <p:nvSpPr>
          <p:cNvPr id="39" name="method-card-2">
            <a:extLst xmlns:a="http://schemas.openxmlformats.org/drawingml/2006/main">
              <a:ext uri="{FF2B5EF4-FFF2-40B4-BE49-F238E27FC236}">
                <a16:creationId xmlns:a16="http://schemas.microsoft.com/office/drawing/2014/main" id="{70B16808-F7F8-40E4-AE98-4EA95CCD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2962275"/>
            <a:ext cx="2914650" cy="1981200"/>
          </a:xfrm>
          <a:prstGeom xmlns:a="http://schemas.openxmlformats.org/drawingml/2006/main" prst="roundRect">
            <a:avLst>
              <a:gd name="adj" fmla="val 8654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2F7FD"/>
              </a:gs>
            </a:gsLst>
            <a:lin ang="10800000"/>
          </a:gradFill>
          <a:ln xmlns:a="http://schemas.openxmlformats.org/drawingml/2006/main" w="9525">
            <a:solidFill>
              <a:srgbClr val="D4E1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40" name="method-accent-2">
            <a:extLst xmlns:a="http://schemas.openxmlformats.org/drawingml/2006/main">
              <a:ext uri="{FF2B5EF4-FFF2-40B4-BE49-F238E27FC236}">
                <a16:creationId xmlns:a16="http://schemas.microsoft.com/office/drawing/2014/main" id="{18FC0B61-AA62-4D5B-90C8-EF9F7D27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39125" y="2971800"/>
            <a:ext cx="2895600" cy="762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A72BB"/>
              </a:gs>
              <a:gs pos="100000">
                <a:srgbClr val="7EB3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1" name="method-number-2">
            <a:extLst xmlns:a="http://schemas.openxmlformats.org/drawingml/2006/main">
              <a:ext uri="{FF2B5EF4-FFF2-40B4-BE49-F238E27FC236}">
                <a16:creationId xmlns:a16="http://schemas.microsoft.com/office/drawing/2014/main" id="{238F24F6-F445-4EB1-AECF-84A8454E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10575" y="3324225"/>
            <a:ext cx="457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2" name="method-title-2">
            <a:extLst xmlns:a="http://schemas.openxmlformats.org/drawingml/2006/main">
              <a:ext uri="{FF2B5EF4-FFF2-40B4-BE49-F238E27FC236}">
                <a16:creationId xmlns:a16="http://schemas.microsoft.com/office/drawing/2014/main" id="{77F4BA0A-7441-4A01-BF78-F8C6FED4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63025" y="3190875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参数辨识</a:t>
            </a:r>
          </a:p>
        </p:txBody>
      </p:sp>
      <p:sp>
        <p:nvSpPr>
          <p:cNvPr id="43" name="method-body-2">
            <a:extLst xmlns:a="http://schemas.openxmlformats.org/drawingml/2006/main">
              <a:ext uri="{FF2B5EF4-FFF2-40B4-BE49-F238E27FC236}">
                <a16:creationId xmlns:a16="http://schemas.microsoft.com/office/drawing/2014/main" id="{FA764D18-24E0-44BD-8C5D-01FA4E0F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10575" y="3819525"/>
            <a:ext cx="2552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rPr>
              <a:t>基于小样本更新模型参数</a:t>
            </a:r>
          </a:p>
        </p:txBody>
      </p:sp>
      <p:sp>
        <p:nvSpPr>
          <p:cNvPr id="44" name="result-card">
            <a:extLst xmlns:a="http://schemas.openxmlformats.org/drawingml/2006/main">
              <a:ext uri="{FF2B5EF4-FFF2-40B4-BE49-F238E27FC236}">
                <a16:creationId xmlns:a16="http://schemas.microsoft.com/office/drawing/2014/main" id="{89FDF544-1099-494D-AD98-0BDAC5E1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325" y="5286375"/>
            <a:ext cx="9782175" cy="819150"/>
          </a:xfrm>
          <a:prstGeom xmlns:a="http://schemas.openxmlformats.org/drawingml/2006/main" prst="roundRect">
            <a:avLst>
              <a:gd name="adj" fmla="val 25581"/>
            </a:avLst>
          </a:prstGeom>
          <a:gradFill xmlns:a="http://schemas.openxmlformats.org/drawingml/2006/main">
            <a:gsLst>
              <a:gs pos="0">
                <a:srgbClr val="E7F1FC"/>
              </a:gs>
              <a:gs pos="62000">
                <a:srgbClr val="F7FBFF"/>
              </a:gs>
              <a:gs pos="100000">
                <a:srgbClr val="EDF5FF"/>
              </a:gs>
            </a:gsLst>
            <a:lin ang="5400000"/>
          </a:gradFill>
          <a:ln xmlns:a="http://schemas.openxmlformats.org/drawingml/2006/main" w="9525">
            <a:solidFill>
              <a:srgbClr val="BFD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3"/>
          <a:fontRef xmlns:a="http://schemas.openxmlformats.org/drawingml/2006/main" idx="major"/>
        </p:style>
      </p:sp>
      <p:sp>
        <p:nvSpPr>
          <p:cNvPr id="45" name="result-title">
            <a:extLst xmlns:a="http://schemas.openxmlformats.org/drawingml/2006/main">
              <a:ext uri="{FF2B5EF4-FFF2-40B4-BE49-F238E27FC236}">
                <a16:creationId xmlns:a16="http://schemas.microsoft.com/office/drawing/2014/main" id="{EAB12029-4192-4A0F-B897-D350D699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5410200"/>
            <a:ext cx="8582025" cy="2808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模型在复杂工况下保持稳定预测能力</a:t>
            </a:r>
          </a:p>
        </p:txBody>
      </p:sp>
      <p:sp>
        <p:nvSpPr>
          <p:cNvPr id="46" name="result-body">
            <a:extLst xmlns:a="http://schemas.openxmlformats.org/drawingml/2006/main">
              <a:ext uri="{FF2B5EF4-FFF2-40B4-BE49-F238E27FC236}">
                <a16:creationId xmlns:a16="http://schemas.microsoft.com/office/drawing/2014/main" id="{261A375B-7C4F-4A8D-9A49-89F46D80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5748185"/>
            <a:ext cx="8582025" cy="233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00" b="0" i="0">
                <a:solidFill>
                  <a:srgbClr val="566B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566B84"/>
                </a:solidFill>
                <a:latin typeface="Microsoft YaHei"/>
                <a:ea typeface="Microsoft YaHei"/>
                <a:cs typeface="Microsoft YaHei"/>
              </a:rPr>
              <a:t>验证结果支持所提方法能够提升精度与泛化性</a:t>
            </a:r>
          </a:p>
        </p:txBody>
      </p:sp>
      <p:sp>
        <p:nvSpPr>
          <p:cNvPr id="47" name="result-badge">
            <a:extLst xmlns:a="http://schemas.openxmlformats.org/drawingml/2006/main">
              <a:ext uri="{FF2B5EF4-FFF2-40B4-BE49-F238E27FC236}">
                <a16:creationId xmlns:a16="http://schemas.microsoft.com/office/drawing/2014/main" id="{124C1E07-51B0-4B2C-8F98-22FDE194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0188" y="5286375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66675">
            <a:solidFill>
              <a:srgbClr val="E1ED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得到</a:t>
            </a:r>
          </a:p>
        </p:txBody>
      </p:sp>
    </p:spTree>
    <p:extLst>
      <p:ext uri="{BB962C8B-B14F-4D97-AF65-F5344CB8AC3E}">
        <p14:creationId xmlns:p14="http://schemas.microsoft.com/office/powerpoint/2010/main" val="20423105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2026-08-23T01:13:22.9910000Z</dcterms:created>
  <dcterms:modified xsi:type="dcterms:W3CDTF">2026-08-23T01:13:22.9910000Z</dcterms:modified>
</coreProperties>
</file>