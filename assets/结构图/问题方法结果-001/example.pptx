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0ae1ca9d0a4804" /><Relationship Type="http://schemas.openxmlformats.org/officeDocument/2006/relationships/extended-properties" Target="/docProps/app.xml" Id="Rfa5722ab8eeb4505" /><Relationship Type="http://schemas.openxmlformats.org/officeDocument/2006/relationships/officeDocument" Target="/ppt/presentation.xml" Id="R1bffa6b37e0b46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afbbf1724c4fad"/>
  </p:sldMasterIdLst>
  <p:notesMasterIdLst>
    <p:notesMasterId xmlns:r="http://schemas.openxmlformats.org/officeDocument/2006/relationships" r:id="R3725f948ef2e4ce1"/>
  </p:notesMasterIdLst>
  <p:sldIdLst>
    <p:sldId xmlns:r="http://schemas.openxmlformats.org/officeDocument/2006/relationships" id="256" r:id="Rf810d24ea2b543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6e3b90e0d14cb9" /><Relationship Type="http://schemas.openxmlformats.org/officeDocument/2006/relationships/slideMaster" Target="/ppt/slideMasters/slideMaster1.xml" Id="R80afbbf1724c4fad" /><Relationship Type="http://schemas.openxmlformats.org/officeDocument/2006/relationships/notesMaster" Target="/ppt/notesMasters/notesMaster1.xml" Id="R3725f948ef2e4ce1" /><Relationship Type="http://schemas.openxmlformats.org/officeDocument/2006/relationships/presProps" Target="/ppt/presProps.xml" Id="Rd6f8c5d02b2349ff" /><Relationship Type="http://schemas.openxmlformats.org/officeDocument/2006/relationships/tableStyles" Target="/ppt/tableStyles.xml" Id="Rdfcfe5f96b344fbd" /><Relationship Type="http://schemas.openxmlformats.org/officeDocument/2006/relationships/slide" Target="/ppt/slides/slide1.xml" Id="Rf810d24ea2b543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2c9cad325d46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e3e48261a2494a" /><Relationship Type="http://schemas.openxmlformats.org/officeDocument/2006/relationships/notesMaster" Target="/ppt/notesMasters/notesMaster1.xml" Id="R943849c09bec40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a8c3d8e04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210571bb504d14" /><Relationship Type="http://schemas.openxmlformats.org/officeDocument/2006/relationships/slideLayout" Target="/ppt/slideLayouts/slideLayout1.xml" Id="R8362139aa5a64b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62139aa5a64b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027d16196476a" /><Relationship Type="http://schemas.openxmlformats.org/officeDocument/2006/relationships/notesSlide" Target="/ppt/notesSlides/notesSlide1.xml" Id="R4c12c89fddd64b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problem-method-link-0">
            <a:extLst xmlns:a="http://schemas.openxmlformats.org/drawingml/2006/main">
              <a:ext uri="{FF2B5EF4-FFF2-40B4-BE49-F238E27FC236}">
                <a16:creationId xmlns:a16="http://schemas.microsoft.com/office/drawing/2014/main" id="{5486227A-4B3A-40B4-A7AA-479092B3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dash"/>
          </a:ln>
        </p:spPr>
      </p:sp>
      <p:sp>
        <p:nvSpPr>
          <p:cNvPr id="2" name="problem-method-anchor-0">
            <a:extLst xmlns:a="http://schemas.openxmlformats.org/drawingml/2006/main">
              <a:ext uri="{FF2B5EF4-FFF2-40B4-BE49-F238E27FC236}">
                <a16:creationId xmlns:a16="http://schemas.microsoft.com/office/drawing/2014/main" id="{E18E8BD8-AD91-4A8A-B737-5E91F55B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3" name="problem-method-link-1">
            <a:extLst xmlns:a="http://schemas.openxmlformats.org/drawingml/2006/main">
              <a:ext uri="{FF2B5EF4-FFF2-40B4-BE49-F238E27FC236}">
                <a16:creationId xmlns:a16="http://schemas.microsoft.com/office/drawing/2014/main" id="{F1EE93A9-8EA9-41AD-B942-ADFAB09F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dash"/>
          </a:ln>
        </p:spPr>
      </p:sp>
      <p:sp>
        <p:nvSpPr>
          <p:cNvPr id="4" name="problem-method-anchor-1">
            <a:extLst xmlns:a="http://schemas.openxmlformats.org/drawingml/2006/main">
              <a:ext uri="{FF2B5EF4-FFF2-40B4-BE49-F238E27FC236}">
                <a16:creationId xmlns:a16="http://schemas.microsoft.com/office/drawing/2014/main" id="{7DD56F24-871B-4477-873B-2A81C458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5" name="problem-method-link-2">
            <a:extLst xmlns:a="http://schemas.openxmlformats.org/drawingml/2006/main">
              <a:ext uri="{FF2B5EF4-FFF2-40B4-BE49-F238E27FC236}">
                <a16:creationId xmlns:a16="http://schemas.microsoft.com/office/drawing/2014/main" id="{6E441BEC-6D1D-40DE-A5F6-15C5F8FF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dash"/>
          </a:ln>
        </p:spPr>
      </p:sp>
      <p:sp>
        <p:nvSpPr>
          <p:cNvPr id="6" name="problem-method-anchor-2">
            <a:extLst xmlns:a="http://schemas.openxmlformats.org/drawingml/2006/main">
              <a:ext uri="{FF2B5EF4-FFF2-40B4-BE49-F238E27FC236}">
                <a16:creationId xmlns:a16="http://schemas.microsoft.com/office/drawing/2014/main" id="{7CB715DE-B766-4694-9C5B-7F2E40A9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7" name="method-bus-link-0">
            <a:extLst xmlns:a="http://schemas.openxmlformats.org/drawingml/2006/main">
              <a:ext uri="{FF2B5EF4-FFF2-40B4-BE49-F238E27FC236}">
                <a16:creationId xmlns:a16="http://schemas.microsoft.com/office/drawing/2014/main" id="{9DCB7FBD-46FF-48A9-ACE4-2F6E2731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8" name="method-bus-anchor-0">
            <a:extLst xmlns:a="http://schemas.openxmlformats.org/drawingml/2006/main">
              <a:ext uri="{FF2B5EF4-FFF2-40B4-BE49-F238E27FC236}">
                <a16:creationId xmlns:a16="http://schemas.microsoft.com/office/drawing/2014/main" id="{25C7F6AD-FCDB-4B4D-9251-29CDFC12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9" name="method-bus-link-1">
            <a:extLst xmlns:a="http://schemas.openxmlformats.org/drawingml/2006/main">
              <a:ext uri="{FF2B5EF4-FFF2-40B4-BE49-F238E27FC236}">
                <a16:creationId xmlns:a16="http://schemas.microsoft.com/office/drawing/2014/main" id="{3E2A6B71-49C9-409D-96BB-D5603F93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10" name="method-bus-anchor-1">
            <a:extLst xmlns:a="http://schemas.openxmlformats.org/drawingml/2006/main">
              <a:ext uri="{FF2B5EF4-FFF2-40B4-BE49-F238E27FC236}">
                <a16:creationId xmlns:a16="http://schemas.microsoft.com/office/drawing/2014/main" id="{7BB94A28-51E1-468E-A204-4A8EEB6B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1" name="method-bus-link-2">
            <a:extLst xmlns:a="http://schemas.openxmlformats.org/drawingml/2006/main">
              <a:ext uri="{FF2B5EF4-FFF2-40B4-BE49-F238E27FC236}">
                <a16:creationId xmlns:a16="http://schemas.microsoft.com/office/drawing/2014/main" id="{C1D0F9EC-328C-49F2-BBAB-06B189EB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12" name="method-bus-anchor-2">
            <a:extLst xmlns:a="http://schemas.openxmlformats.org/drawingml/2006/main">
              <a:ext uri="{FF2B5EF4-FFF2-40B4-BE49-F238E27FC236}">
                <a16:creationId xmlns:a16="http://schemas.microsoft.com/office/drawing/2014/main" id="{70584603-48DF-4685-96E2-E6B8196E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3" name="method-result-bus">
            <a:extLst xmlns:a="http://schemas.openxmlformats.org/drawingml/2006/main">
              <a:ext uri="{FF2B5EF4-FFF2-40B4-BE49-F238E27FC236}">
                <a16:creationId xmlns:a16="http://schemas.microsoft.com/office/drawing/2014/main" id="{E045AF29-C8F3-4816-9881-73823F73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105400"/>
            <a:ext cx="632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78AEEF"/>
            </a:solidFill>
            <a:prstDash val="solid"/>
          </a:ln>
        </p:spPr>
      </p:sp>
      <p:sp>
        <p:nvSpPr>
          <p:cNvPr id="14" name="result-link">
            <a:extLst xmlns:a="http://schemas.openxmlformats.org/drawingml/2006/main">
              <a:ext uri="{FF2B5EF4-FFF2-40B4-BE49-F238E27FC236}">
                <a16:creationId xmlns:a16="http://schemas.microsoft.com/office/drawing/2014/main" id="{99BE9043-557E-4467-8FE5-5163AB27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510540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15" name="result-arrow">
            <a:extLst xmlns:a="http://schemas.openxmlformats.org/drawingml/2006/main">
              <a:ext uri="{FF2B5EF4-FFF2-40B4-BE49-F238E27FC236}">
                <a16:creationId xmlns:a16="http://schemas.microsoft.com/office/drawing/2014/main" id="{57D0DE27-1DF7-4637-9EBE-A4089AC5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8893" y="5200650"/>
            <a:ext cx="131455" cy="85725"/>
          </a:xfrm>
          <a:custGeom xmlns:a="http://schemas.openxmlformats.org/drawingml/2006/main">
            <a:pathLst>
              <a:path w="131455" h="85725">
                <a:moveTo>
                  <a:pt x="65732" y="85725"/>
                </a:moveTo>
                <a:lnTo>
                  <a:pt x="59007" y="77076"/>
                </a:lnTo>
                <a:lnTo>
                  <a:pt x="52273" y="68428"/>
                </a:lnTo>
                <a:lnTo>
                  <a:pt x="45549" y="59779"/>
                </a:lnTo>
                <a:lnTo>
                  <a:pt x="38824" y="51140"/>
                </a:lnTo>
                <a:lnTo>
                  <a:pt x="32099" y="42491"/>
                </a:lnTo>
                <a:lnTo>
                  <a:pt x="25375" y="33842"/>
                </a:lnTo>
                <a:lnTo>
                  <a:pt x="18650" y="25194"/>
                </a:lnTo>
                <a:lnTo>
                  <a:pt x="11925" y="16545"/>
                </a:lnTo>
                <a:lnTo>
                  <a:pt x="5201" y="7896"/>
                </a:lnTo>
                <a:lnTo>
                  <a:pt x="0" y="0"/>
                </a:lnTo>
                <a:lnTo>
                  <a:pt x="10954" y="0"/>
                </a:lnTo>
                <a:lnTo>
                  <a:pt x="21908" y="0"/>
                </a:lnTo>
                <a:lnTo>
                  <a:pt x="32861" y="0"/>
                </a:lnTo>
                <a:lnTo>
                  <a:pt x="43815" y="0"/>
                </a:lnTo>
                <a:lnTo>
                  <a:pt x="54778" y="0"/>
                </a:lnTo>
                <a:lnTo>
                  <a:pt x="65732" y="0"/>
                </a:lnTo>
                <a:lnTo>
                  <a:pt x="76686" y="0"/>
                </a:lnTo>
                <a:lnTo>
                  <a:pt x="87640" y="0"/>
                </a:lnTo>
                <a:lnTo>
                  <a:pt x="98593" y="0"/>
                </a:lnTo>
                <a:lnTo>
                  <a:pt x="109547" y="0"/>
                </a:lnTo>
                <a:lnTo>
                  <a:pt x="120501" y="0"/>
                </a:lnTo>
                <a:lnTo>
                  <a:pt x="131455" y="0"/>
                </a:lnTo>
                <a:lnTo>
                  <a:pt x="126263" y="7896"/>
                </a:lnTo>
                <a:lnTo>
                  <a:pt x="119529" y="16545"/>
                </a:lnTo>
                <a:lnTo>
                  <a:pt x="112805" y="25194"/>
                </a:lnTo>
                <a:lnTo>
                  <a:pt x="106080" y="33842"/>
                </a:lnTo>
                <a:lnTo>
                  <a:pt x="99355" y="42491"/>
                </a:lnTo>
                <a:lnTo>
                  <a:pt x="92631" y="51140"/>
                </a:lnTo>
                <a:lnTo>
                  <a:pt x="85906" y="59779"/>
                </a:lnTo>
                <a:lnTo>
                  <a:pt x="79181" y="68428"/>
                </a:lnTo>
                <a:lnTo>
                  <a:pt x="72457" y="77076"/>
                </a:lnTo>
                <a:lnTo>
                  <a:pt x="65732" y="85725"/>
                </a:lnTo>
                <a:close/>
              </a:path>
            </a:pathLst>
          </a:custGeom>
          <a:solidFill xmlns:a="http://schemas.openxmlformats.org/drawingml/2006/main">
            <a:srgbClr val="78AE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phase-line">
            <a:extLst xmlns:a="http://schemas.openxmlformats.org/drawingml/2006/main">
              <a:ext uri="{FF2B5EF4-FFF2-40B4-BE49-F238E27FC236}">
                <a16:creationId xmlns:a16="http://schemas.microsoft.com/office/drawing/2014/main" id="{70B142B5-7973-4B5B-94CC-433CB17B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000250"/>
            <a:ext cx="19050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hase-problem-count">
            <a:extLst xmlns:a="http://schemas.openxmlformats.org/drawingml/2006/main">
              <a:ext uri="{FF2B5EF4-FFF2-40B4-BE49-F238E27FC236}">
                <a16:creationId xmlns:a16="http://schemas.microsoft.com/office/drawing/2014/main" id="{EFDA7B99-37DE-4B75-BD24-43E177D8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BFD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phase-problem-label">
            <a:extLst xmlns:a="http://schemas.openxmlformats.org/drawingml/2006/main">
              <a:ext uri="{FF2B5EF4-FFF2-40B4-BE49-F238E27FC236}">
                <a16:creationId xmlns:a16="http://schemas.microsoft.com/office/drawing/2014/main" id="{69F224A3-AE74-4888-8302-78E32419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49" y="2238375"/>
            <a:ext cx="41150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9" name="phase-method-count">
            <a:extLst xmlns:a="http://schemas.openxmlformats.org/drawingml/2006/main">
              <a:ext uri="{FF2B5EF4-FFF2-40B4-BE49-F238E27FC236}">
                <a16:creationId xmlns:a16="http://schemas.microsoft.com/office/drawing/2014/main" id="{63D90A30-E7FB-4FA6-B163-C7FF4419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3657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BFD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phase-method-label">
            <a:extLst xmlns:a="http://schemas.openxmlformats.org/drawingml/2006/main">
              <a:ext uri="{FF2B5EF4-FFF2-40B4-BE49-F238E27FC236}">
                <a16:creationId xmlns:a16="http://schemas.microsoft.com/office/drawing/2014/main" id="{06CB7E98-5039-4197-9787-B4465D0D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49" y="4086225"/>
            <a:ext cx="41150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21" name="phase-result-count">
            <a:extLst xmlns:a="http://schemas.openxmlformats.org/drawingml/2006/main">
              <a:ext uri="{FF2B5EF4-FFF2-40B4-BE49-F238E27FC236}">
                <a16:creationId xmlns:a16="http://schemas.microsoft.com/office/drawing/2014/main" id="{DB30B0EE-1442-4910-AE23-7313944D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5438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BFD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phase-result-label">
            <a:extLst xmlns:a="http://schemas.openxmlformats.org/drawingml/2006/main">
              <a:ext uri="{FF2B5EF4-FFF2-40B4-BE49-F238E27FC236}">
                <a16:creationId xmlns:a16="http://schemas.microsoft.com/office/drawing/2014/main" id="{37E8E366-5FAC-4D6B-A913-5BB9C572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49" y="5867400"/>
            <a:ext cx="41150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3" name="problem-underlay">
            <a:extLst xmlns:a="http://schemas.openxmlformats.org/drawingml/2006/main">
              <a:ext uri="{FF2B5EF4-FFF2-40B4-BE49-F238E27FC236}">
                <a16:creationId xmlns:a16="http://schemas.microsoft.com/office/drawing/2014/main" id="{464587F0-0B8C-4EB0-97BE-5BCB1094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724025"/>
            <a:ext cx="10191750" cy="866775"/>
          </a:xfrm>
          <a:prstGeom xmlns:a="http://schemas.openxmlformats.org/drawingml/2006/main" prst="roundRect">
            <a:avLst>
              <a:gd name="adj" fmla="val 24176"/>
            </a:avLst>
          </a:prstGeom>
          <a:solidFill xmlns:a="http://schemas.openxmlformats.org/drawingml/2006/main">
            <a:srgbClr val="D7E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blem-card">
            <a:extLst xmlns:a="http://schemas.openxmlformats.org/drawingml/2006/main">
              <a:ext uri="{FF2B5EF4-FFF2-40B4-BE49-F238E27FC236}">
                <a16:creationId xmlns:a16="http://schemas.microsoft.com/office/drawing/2014/main" id="{E2C45F13-DE82-4C9B-957C-E1748C34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657350"/>
            <a:ext cx="10191750" cy="933450"/>
          </a:xfrm>
          <a:prstGeom xmlns:a="http://schemas.openxmlformats.org/drawingml/2006/main" prst="roundRect">
            <a:avLst>
              <a:gd name="adj" fmla="val 22449"/>
            </a:avLst>
          </a:prstGeom>
          <a:gradFill xmlns:a="http://schemas.openxmlformats.org/drawingml/2006/main">
            <a:gsLst>
              <a:gs pos="0">
                <a:srgbClr val="2D5CA3"/>
              </a:gs>
              <a:gs pos="72000">
                <a:srgbClr val="3D79C5"/>
              </a:gs>
              <a:gs pos="100000">
                <a:srgbClr val="70A7EB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25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9870EA31-D8A8-4DAB-B6D2-459F8548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885950"/>
            <a:ext cx="54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6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10E78B26-3FFE-4870-A926-7F8C20E7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1225" y="1885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1A183808-255B-42EF-BFE4-CD070170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1811236"/>
            <a:ext cx="8401050" cy="309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复杂工况下模型预测精度不足</a:t>
            </a:r>
          </a:p>
        </p:txBody>
      </p:sp>
      <p:sp>
        <p:nvSpPr>
          <p:cNvPr id="28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FD166E5A-D854-4EAF-B3E9-9EC504B4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2177653"/>
            <a:ext cx="8401050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00" b="0" i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rPr>
              <a:t>现有方法难以同时处理多源数据差异与小样本约束</a:t>
            </a:r>
          </a:p>
        </p:txBody>
      </p:sp>
      <p:sp>
        <p:nvSpPr>
          <p:cNvPr id="29" name="method-card-0">
            <a:extLst xmlns:a="http://schemas.openxmlformats.org/drawingml/2006/main">
              <a:ext uri="{FF2B5EF4-FFF2-40B4-BE49-F238E27FC236}">
                <a16:creationId xmlns:a16="http://schemas.microsoft.com/office/drawing/2014/main" id="{0691002B-6DAF-46DE-81D9-4F8B68C2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2F7FD"/>
              </a:gs>
            </a:gsLst>
            <a:lin ang="10800000"/>
          </a:gradFill>
          <a:ln xmlns:a="http://schemas.openxmlformats.org/drawingml/2006/main" w="9525">
            <a:solidFill>
              <a:srgbClr val="D4E1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method-accent-0">
            <a:extLst xmlns:a="http://schemas.openxmlformats.org/drawingml/2006/main">
              <a:ext uri="{FF2B5EF4-FFF2-40B4-BE49-F238E27FC236}">
                <a16:creationId xmlns:a16="http://schemas.microsoft.com/office/drawing/2014/main" id="{07B902C9-A47E-4784-9768-8449EC18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A72BB"/>
              </a:gs>
              <a:gs pos="100000">
                <a:srgbClr val="7EB3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1" name="method-number-0">
            <a:extLst xmlns:a="http://schemas.openxmlformats.org/drawingml/2006/main">
              <a:ext uri="{FF2B5EF4-FFF2-40B4-BE49-F238E27FC236}">
                <a16:creationId xmlns:a16="http://schemas.microsoft.com/office/drawing/2014/main" id="{D484954F-F8D3-4DBF-B914-433B0980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method-title-0">
            <a:extLst xmlns:a="http://schemas.openxmlformats.org/drawingml/2006/main">
              <a:ext uri="{FF2B5EF4-FFF2-40B4-BE49-F238E27FC236}">
                <a16:creationId xmlns:a16="http://schemas.microsoft.com/office/drawing/2014/main" id="{500AEE8F-F953-4167-BBB5-5E477C56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机理建模</a:t>
            </a:r>
          </a:p>
        </p:txBody>
      </p:sp>
      <p:sp>
        <p:nvSpPr>
          <p:cNvPr id="33" name="method-body-0">
            <a:extLst xmlns:a="http://schemas.openxmlformats.org/drawingml/2006/main">
              <a:ext uri="{FF2B5EF4-FFF2-40B4-BE49-F238E27FC236}">
                <a16:creationId xmlns:a16="http://schemas.microsoft.com/office/drawing/2014/main" id="{2FFFDA29-F0DD-4AC3-8A13-3EA897C7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rPr>
              <a:t>建立关键变量间的物理约束</a:t>
            </a:r>
          </a:p>
        </p:txBody>
      </p:sp>
      <p:sp>
        <p:nvSpPr>
          <p:cNvPr id="34" name="method-card-1">
            <a:extLst xmlns:a="http://schemas.openxmlformats.org/drawingml/2006/main">
              <a:ext uri="{FF2B5EF4-FFF2-40B4-BE49-F238E27FC236}">
                <a16:creationId xmlns:a16="http://schemas.microsoft.com/office/drawing/2014/main" id="{8A7DD888-8677-4AF3-B196-9351644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2F7FD"/>
              </a:gs>
            </a:gsLst>
            <a:lin ang="10800000"/>
          </a:gradFill>
          <a:ln xmlns:a="http://schemas.openxmlformats.org/drawingml/2006/main" w="9525">
            <a:solidFill>
              <a:srgbClr val="D4E1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5" name="method-accent-1">
            <a:extLst xmlns:a="http://schemas.openxmlformats.org/drawingml/2006/main">
              <a:ext uri="{FF2B5EF4-FFF2-40B4-BE49-F238E27FC236}">
                <a16:creationId xmlns:a16="http://schemas.microsoft.com/office/drawing/2014/main" id="{9CF304CE-A058-40FC-BB14-26DDD883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A72BB"/>
              </a:gs>
              <a:gs pos="100000">
                <a:srgbClr val="7EB3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6" name="method-number-1">
            <a:extLst xmlns:a="http://schemas.openxmlformats.org/drawingml/2006/main">
              <a:ext uri="{FF2B5EF4-FFF2-40B4-BE49-F238E27FC236}">
                <a16:creationId xmlns:a16="http://schemas.microsoft.com/office/drawing/2014/main" id="{C554390B-2B25-4795-AAEC-1EDBE838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7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ECBF5F47-4D1E-4ED1-9FE8-73D83602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数据融合</a:t>
            </a:r>
          </a:p>
        </p:txBody>
      </p:sp>
      <p:sp>
        <p:nvSpPr>
          <p:cNvPr id="38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1FEDC0F9-5354-4AE9-8FF4-EF40E0DA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rPr>
              <a:t>统一处理实验仿真与现场数据</a:t>
            </a:r>
          </a:p>
        </p:txBody>
      </p:sp>
      <p:sp>
        <p:nvSpPr>
          <p:cNvPr id="39" name="method-card-2">
            <a:extLst xmlns:a="http://schemas.openxmlformats.org/drawingml/2006/main">
              <a:ext uri="{FF2B5EF4-FFF2-40B4-BE49-F238E27FC236}">
                <a16:creationId xmlns:a16="http://schemas.microsoft.com/office/drawing/2014/main" id="{1298B346-87E6-44B0-B5C3-495064AA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2F7FD"/>
              </a:gs>
            </a:gsLst>
            <a:lin ang="10800000"/>
          </a:gradFill>
          <a:ln xmlns:a="http://schemas.openxmlformats.org/drawingml/2006/main" w="9525">
            <a:solidFill>
              <a:srgbClr val="D4E1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0" name="method-accent-2">
            <a:extLst xmlns:a="http://schemas.openxmlformats.org/drawingml/2006/main">
              <a:ext uri="{FF2B5EF4-FFF2-40B4-BE49-F238E27FC236}">
                <a16:creationId xmlns:a16="http://schemas.microsoft.com/office/drawing/2014/main" id="{AA1C06E6-DBA3-4D25-AB7F-9910B22D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A72BB"/>
              </a:gs>
              <a:gs pos="100000">
                <a:srgbClr val="7EB3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1" name="method-number-2">
            <a:extLst xmlns:a="http://schemas.openxmlformats.org/drawingml/2006/main">
              <a:ext uri="{FF2B5EF4-FFF2-40B4-BE49-F238E27FC236}">
                <a16:creationId xmlns:a16="http://schemas.microsoft.com/office/drawing/2014/main" id="{22C05639-D376-4513-8453-16768E4B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17446047-23F1-4770-9C5E-499657F2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30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参数辨识</a:t>
            </a:r>
          </a:p>
        </p:txBody>
      </p:sp>
      <p:sp>
        <p:nvSpPr>
          <p:cNvPr id="43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A6079E0C-2552-468F-8BBE-954C55E0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rPr>
              <a:t>基于小样本更新模型参数</a:t>
            </a:r>
          </a:p>
        </p:txBody>
      </p:sp>
      <p:sp>
        <p:nvSpPr>
          <p:cNvPr id="44" name="result-card">
            <a:extLst xmlns:a="http://schemas.openxmlformats.org/drawingml/2006/main">
              <a:ext uri="{FF2B5EF4-FFF2-40B4-BE49-F238E27FC236}">
                <a16:creationId xmlns:a16="http://schemas.microsoft.com/office/drawing/2014/main" id="{FB6AAA43-842C-4387-B3CC-15DA01A5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5286375"/>
            <a:ext cx="9782175" cy="819150"/>
          </a:xfrm>
          <a:prstGeom xmlns:a="http://schemas.openxmlformats.org/drawingml/2006/main" prst="roundRect">
            <a:avLst>
              <a:gd name="adj" fmla="val 25581"/>
            </a:avLst>
          </a:prstGeom>
          <a:gradFill xmlns:a="http://schemas.openxmlformats.org/drawingml/2006/main">
            <a:gsLst>
              <a:gs pos="0">
                <a:srgbClr val="E7F1FC"/>
              </a:gs>
              <a:gs pos="62000">
                <a:srgbClr val="F7FBFF"/>
              </a:gs>
              <a:gs pos="100000">
                <a:srgbClr val="EDF5FF"/>
              </a:gs>
            </a:gsLst>
            <a:lin ang="5400000"/>
          </a:gradFill>
          <a:ln xmlns:a="http://schemas.openxmlformats.org/drawingml/2006/main" w="9525">
            <a:solidFill>
              <a:srgbClr val="BFD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5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2030484F-6502-49F0-9D18-6159FE9A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5401713"/>
            <a:ext cx="8582025" cy="306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模型在复杂工况下保持稳定预测能力</a:t>
            </a:r>
          </a:p>
        </p:txBody>
      </p:sp>
      <p:sp>
        <p:nvSpPr>
          <p:cNvPr id="46" name="result-body">
            <a:extLst xmlns:a="http://schemas.openxmlformats.org/drawingml/2006/main">
              <a:ext uri="{FF2B5EF4-FFF2-40B4-BE49-F238E27FC236}">
                <a16:creationId xmlns:a16="http://schemas.microsoft.com/office/drawing/2014/main" id="{4ABC75CE-CBCD-4969-819B-ECB5926B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5765454"/>
            <a:ext cx="8582025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56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66B84"/>
                </a:solidFill>
                <a:latin typeface="Microsoft YaHei"/>
                <a:ea typeface="Microsoft YaHei"/>
                <a:cs typeface="Microsoft YaHei"/>
              </a:rPr>
              <a:t>验证结果支持所提方法能够提升精度与泛化性</a:t>
            </a:r>
          </a:p>
        </p:txBody>
      </p:sp>
      <p:sp>
        <p:nvSpPr>
          <p:cNvPr id="47" name="result-badge">
            <a:extLst xmlns:a="http://schemas.openxmlformats.org/drawingml/2006/main">
              <a:ext uri="{FF2B5EF4-FFF2-40B4-BE49-F238E27FC236}">
                <a16:creationId xmlns:a16="http://schemas.microsoft.com/office/drawing/2014/main" id="{7449169A-E5E5-4F39-87B8-DE85584E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0188" y="52863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66675">
            <a:solidFill>
              <a:srgbClr val="E1ED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2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得到</a:t>
            </a:r>
          </a:p>
        </p:txBody>
      </p:sp>
    </p:spTree>
    <p:extLst>
      <p:ext uri="{BB962C8B-B14F-4D97-AF65-F5344CB8AC3E}">
        <p14:creationId xmlns:p14="http://schemas.microsoft.com/office/powerpoint/2010/main" val="229242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2026-08-24T02:19:41.2730000Z</dcterms:created>
  <dcterms:modified xsi:type="dcterms:W3CDTF">2026-08-24T02:19:41.2730000Z</dcterms:modified>
</coreProperties>
</file>