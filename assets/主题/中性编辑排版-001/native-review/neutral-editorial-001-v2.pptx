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53d52bac54fbd" /><Relationship Type="http://schemas.openxmlformats.org/officeDocument/2006/relationships/extended-properties" Target="/docProps/app.xml" Id="R9780ad14d7dd48a5" /><Relationship Type="http://schemas.openxmlformats.org/officeDocument/2006/relationships/officeDocument" Target="/ppt/presentation.xml" Id="Rd82024ed6abd41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ef1b9a0cf4758"/>
  </p:sldMasterIdLst>
  <p:notesMasterIdLst>
    <p:notesMasterId xmlns:r="http://schemas.openxmlformats.org/officeDocument/2006/relationships" r:id="R18608ac1489744fa"/>
  </p:notesMasterIdLst>
  <p:sldIdLst>
    <p:sldId xmlns:r="http://schemas.openxmlformats.org/officeDocument/2006/relationships" id="256" r:id="R45c0561f51e1484c"/>
    <p:sldId xmlns:r="http://schemas.openxmlformats.org/officeDocument/2006/relationships" id="257" r:id="R3a955f3f4eee44e8"/>
    <p:sldId xmlns:r="http://schemas.openxmlformats.org/officeDocument/2006/relationships" id="258" r:id="Rfddc081e69df4eaf"/>
    <p:sldId xmlns:r="http://schemas.openxmlformats.org/officeDocument/2006/relationships" id="259" r:id="Rbe720fa06ade4ba7"/>
    <p:sldId xmlns:r="http://schemas.openxmlformats.org/officeDocument/2006/relationships" id="260" r:id="R4632ba6685cb4991"/>
    <p:sldId xmlns:r="http://schemas.openxmlformats.org/officeDocument/2006/relationships" id="261" r:id="Rd582340c8e724d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b0d383e1ee4683" /><Relationship Type="http://schemas.openxmlformats.org/officeDocument/2006/relationships/slideMaster" Target="/ppt/slideMasters/slideMaster1.xml" Id="R2cbef1b9a0cf4758" /><Relationship Type="http://schemas.openxmlformats.org/officeDocument/2006/relationships/notesMaster" Target="/ppt/notesMasters/notesMaster1.xml" Id="R18608ac1489744fa" /><Relationship Type="http://schemas.openxmlformats.org/officeDocument/2006/relationships/presProps" Target="/ppt/presProps.xml" Id="R26d55f4384a1466e" /><Relationship Type="http://schemas.openxmlformats.org/officeDocument/2006/relationships/tableStyles" Target="/ppt/tableStyles.xml" Id="R51999e102902498b" /><Relationship Type="http://schemas.openxmlformats.org/officeDocument/2006/relationships/slide" Target="/ppt/slides/slide1.xml" Id="R45c0561f51e1484c" /><Relationship Type="http://schemas.openxmlformats.org/officeDocument/2006/relationships/slide" Target="/ppt/slides/slide2.xml" Id="R3a955f3f4eee44e8" /><Relationship Type="http://schemas.openxmlformats.org/officeDocument/2006/relationships/slide" Target="/ppt/slides/slide3.xml" Id="Rfddc081e69df4eaf" /><Relationship Type="http://schemas.openxmlformats.org/officeDocument/2006/relationships/slide" Target="/ppt/slides/slide4.xml" Id="Rbe720fa06ade4ba7" /><Relationship Type="http://schemas.openxmlformats.org/officeDocument/2006/relationships/slide" Target="/ppt/slides/slide5.xml" Id="R4632ba6685cb4991" /><Relationship Type="http://schemas.openxmlformats.org/officeDocument/2006/relationships/slide" Target="/ppt/slides/slide6.xml" Id="Rd582340c8e724d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f73223f6c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29e9a3abd94c8a" /><Relationship Type="http://schemas.openxmlformats.org/officeDocument/2006/relationships/notesMaster" Target="/ppt/notesMasters/notesMaster1.xml" Id="Rf5afb254ef44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4494a8ca24ce1" /><Relationship Type="http://schemas.openxmlformats.org/officeDocument/2006/relationships/notesMaster" Target="/ppt/notesMasters/notesMaster1.xml" Id="R6091503d31e94a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288ba3860b46f8" /><Relationship Type="http://schemas.openxmlformats.org/officeDocument/2006/relationships/notesMaster" Target="/ppt/notesMasters/notesMaster1.xml" Id="R8f876509922c40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aeeaa033784702" /><Relationship Type="http://schemas.openxmlformats.org/officeDocument/2006/relationships/notesMaster" Target="/ppt/notesMasters/notesMaster1.xml" Id="R527b703d354f44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5cba6bc5c340e2" /><Relationship Type="http://schemas.openxmlformats.org/officeDocument/2006/relationships/notesMaster" Target="/ppt/notesMasters/notesMaster1.xml" Id="R513e8332d70b4e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41297b7844749" /><Relationship Type="http://schemas.openxmlformats.org/officeDocument/2006/relationships/notesMaster" Target="/ppt/notesMasters/notesMaster1.xml" Id="R39b3452592fb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视觉参考：https://www.xiaohongshu.com/explore/6a17a37800000000070255dd</a:t>
            </a:r>
          </a:p>
          <a:p xmlns:a="http://schemas.openxmlformats.org/drawingml/2006/main">
            <a:r>
              <a:t>- 页面：封面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视觉参考：https://www.xiaohongshu.com/explore/6a17a37800000000070255dd</a:t>
            </a:r>
          </a:p>
          <a:p xmlns:a="http://schemas.openxmlformats.org/drawingml/2006/main">
            <a:r>
              <a:t>- 页面：内容地图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视觉参考：https://www.xiaohongshu.com/explore/6a17a37800000000070255dd</a:t>
            </a:r>
          </a:p>
          <a:p xmlns:a="http://schemas.openxmlformats.org/drawingml/2006/main">
            <a:r>
              <a:t>- 页面：核心美学原则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视觉参考：https://www.xiaohongshu.com/explore/6a17a37800000000070255dd</a:t>
            </a:r>
          </a:p>
          <a:p xmlns:a="http://schemas.openxmlformats.org/drawingml/2006/main">
            <a:r>
              <a:t>- 页面：方法拆解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视觉参考：https://www.xiaohongshu.com/explore/6a17a37800000000070255dd</a:t>
            </a:r>
          </a:p>
          <a:p xmlns:a="http://schemas.openxmlformats.org/drawingml/2006/main">
            <a:r>
              <a:t>- 页面：实战案例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视觉参考：https://www.xiaohongshu.com/explore/6a17a37800000000070255dd</a:t>
            </a:r>
          </a:p>
          <a:p xmlns:a="http://schemas.openxmlformats.org/drawingml/2006/main">
            <a:r>
              <a:t>- 页面：收束页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5d2ce046149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0f75d68044fdf" /><Relationship Type="http://schemas.openxmlformats.org/officeDocument/2006/relationships/slideLayout" Target="/ppt/slideLayouts/slideLayout1.xml" Id="R99b129479425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129479425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b688703fd4a67" /><Relationship Type="http://schemas.openxmlformats.org/officeDocument/2006/relationships/notesSlide" Target="/ppt/notesSlides/notesSlide1.xml" Id="R24a650e14cba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a72cbf0b54b7e" /><Relationship Type="http://schemas.openxmlformats.org/officeDocument/2006/relationships/notesSlide" Target="/ppt/notesSlides/notesSlide2.xml" Id="Rd6b6af19be3c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f362cf23b41e6" /><Relationship Type="http://schemas.openxmlformats.org/officeDocument/2006/relationships/notesSlide" Target="/ppt/notesSlides/notesSlide3.xml" Id="R8e158b5a6d3a47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d1475b0b64e25" /><Relationship Type="http://schemas.openxmlformats.org/officeDocument/2006/relationships/notesSlide" Target="/ppt/notesSlides/notesSlide4.xml" Id="Re45e1ef1482f4e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2699d330142e5" /><Relationship Type="http://schemas.openxmlformats.org/officeDocument/2006/relationships/notesSlide" Target="/ppt/notesSlides/notesSlide5.xml" Id="Rb19c2c8a32df4f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b7cdb4d8e4702" /><Relationship Type="http://schemas.openxmlformats.org/officeDocument/2006/relationships/notesSlide" Target="/ppt/notesSlides/notesSlide6.xml" Id="Rfc38adc59080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8128599-D147-4D43-8B87-97F208FD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6991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让复杂内容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更容易理解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B0ADA7A-FDC2-4DF2-8D32-C96EA773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99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结构先于装饰，层级先于风格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2D7E49D0-BC24-4B33-B133-FDC57AB6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一套不依赖组织标识的编辑式演示系统，用清晰的标题层级、连续编号和克制留白组织知识。</a:t>
            </a:r>
          </a:p>
        </p:txBody>
      </p:sp>
      <p:sp>
        <p:nvSpPr>
          <p:cNvPr id="4" name="cover-quote-mark">
            <a:extLst xmlns:a="http://schemas.openxmlformats.org/drawingml/2006/main">
              <a:ext uri="{FF2B5EF4-FFF2-40B4-BE49-F238E27FC236}">
                <a16:creationId xmlns:a16="http://schemas.microsoft.com/office/drawing/2014/main" id="{AA98B564-AB90-448B-9F3B-3CAB4193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068" y="1295400"/>
            <a:ext cx="3495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5" name="cover-quote">
            <a:extLst xmlns:a="http://schemas.openxmlformats.org/drawingml/2006/main">
              <a:ext uri="{FF2B5EF4-FFF2-40B4-BE49-F238E27FC236}">
                <a16:creationId xmlns:a16="http://schemas.microsoft.com/office/drawing/2014/main" id="{0DA70DA5-32A4-4B8A-A844-72607AC1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068" y="1809750"/>
            <a:ext cx="3495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  <a:defRPr sz="1425" b="0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好的教学页面，不是展示更多信息，而是让读者更快找到下一步。</a:t>
            </a:r>
          </a:p>
        </p:txBody>
      </p:sp>
      <p:sp>
        <p:nvSpPr>
          <p:cNvPr id="6" name="cover-quote-source">
            <a:extLst xmlns:a="http://schemas.openxmlformats.org/drawingml/2006/main">
              <a:ext uri="{FF2B5EF4-FFF2-40B4-BE49-F238E27FC236}">
                <a16:creationId xmlns:a16="http://schemas.microsoft.com/office/drawing/2014/main" id="{F07E2D20-3FBB-40CB-8915-69876D09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068" y="2571750"/>
            <a:ext cx="3495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设计原则 01</a:t>
            </a:r>
          </a:p>
        </p:txBody>
      </p:sp>
      <p:sp>
        <p:nvSpPr>
          <p:cNvPr id="7" name="folio-1">
            <a:extLst xmlns:a="http://schemas.openxmlformats.org/drawingml/2006/main">
              <a:ext uri="{FF2B5EF4-FFF2-40B4-BE49-F238E27FC236}">
                <a16:creationId xmlns:a16="http://schemas.microsoft.com/office/drawing/2014/main" id="{4519151F-A0EF-4970-93AA-5ED92B7A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098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00">
            <a:extLst xmlns:a="http://schemas.openxmlformats.org/drawingml/2006/main">
              <a:ext uri="{FF2B5EF4-FFF2-40B4-BE49-F238E27FC236}">
                <a16:creationId xmlns:a16="http://schemas.microsoft.com/office/drawing/2014/main" id="{27FF3D60-308F-4E31-9B35-820C7D4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00</a:t>
            </a:r>
          </a:p>
        </p:txBody>
      </p:sp>
      <p:sp>
        <p:nvSpPr>
          <p:cNvPr id="2" name="title-00">
            <a:extLst xmlns:a="http://schemas.openxmlformats.org/drawingml/2006/main">
              <a:ext uri="{FF2B5EF4-FFF2-40B4-BE49-F238E27FC236}">
                <a16:creationId xmlns:a16="http://schemas.microsoft.com/office/drawing/2014/main" id="{D31028AE-5584-45C6-92F6-0BDDCB6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" y="419100"/>
            <a:ext cx="96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内容地图</a:t>
            </a:r>
          </a:p>
        </p:txBody>
      </p:sp>
      <p:sp>
        <p:nvSpPr>
          <p:cNvPr id="3" name="title-rule-00">
            <a:extLst xmlns:a="http://schemas.openxmlformats.org/drawingml/2006/main">
              <a:ext uri="{FF2B5EF4-FFF2-40B4-BE49-F238E27FC236}">
                <a16:creationId xmlns:a16="http://schemas.microsoft.com/office/drawing/2014/main" id="{5EC3311A-AA65-424B-81D4-723E707E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5965" y="576263"/>
            <a:ext cx="9614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agenda-rule-0">
            <a:extLst xmlns:a="http://schemas.openxmlformats.org/drawingml/2006/main">
              <a:ext uri="{FF2B5EF4-FFF2-40B4-BE49-F238E27FC236}">
                <a16:creationId xmlns:a16="http://schemas.microsoft.com/office/drawing/2014/main" id="{A4632638-F367-44D7-9E01-26CACF4E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1914525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389A94A7-7C10-4F56-B220-5C6CC0A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2752725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5F7130CC-D00F-49DC-A2F4-08F2D429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3590925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9AED5AFD-814C-44A1-B567-D4A0F1F5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4429125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agenda-rule-4">
            <a:extLst xmlns:a="http://schemas.openxmlformats.org/drawingml/2006/main">
              <a:ext uri="{FF2B5EF4-FFF2-40B4-BE49-F238E27FC236}">
                <a16:creationId xmlns:a16="http://schemas.microsoft.com/office/drawing/2014/main" id="{08F9BC3A-EC23-4035-8BE1-FAACB80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" y="5267325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agenda-number-01">
            <a:extLst xmlns:a="http://schemas.openxmlformats.org/drawingml/2006/main">
              <a:ext uri="{FF2B5EF4-FFF2-40B4-BE49-F238E27FC236}">
                <a16:creationId xmlns:a16="http://schemas.microsoft.com/office/drawing/2014/main" id="{824C57DE-A1E8-4339-A076-F6D60AE4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agenda-label-01">
            <a:extLst xmlns:a="http://schemas.openxmlformats.org/drawingml/2006/main">
              <a:ext uri="{FF2B5EF4-FFF2-40B4-BE49-F238E27FC236}">
                <a16:creationId xmlns:a16="http://schemas.microsoft.com/office/drawing/2014/main" id="{F2E152D0-1343-4E53-9962-078A3423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43125"/>
            <a:ext cx="826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核心原则</a:t>
            </a:r>
          </a:p>
        </p:txBody>
      </p:sp>
      <p:sp>
        <p:nvSpPr>
          <p:cNvPr id="11" name="agenda-hint-01">
            <a:extLst xmlns:a="http://schemas.openxmlformats.org/drawingml/2006/main">
              <a:ext uri="{FF2B5EF4-FFF2-40B4-BE49-F238E27FC236}">
                <a16:creationId xmlns:a16="http://schemas.microsoft.com/office/drawing/2014/main" id="{E0FBB09C-9BF2-452C-8BD0-3EE56CF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建立共同判断标准</a:t>
            </a:r>
          </a:p>
        </p:txBody>
      </p:sp>
      <p:sp>
        <p:nvSpPr>
          <p:cNvPr id="12" name="agenda-number-02">
            <a:extLst xmlns:a="http://schemas.openxmlformats.org/drawingml/2006/main">
              <a:ext uri="{FF2B5EF4-FFF2-40B4-BE49-F238E27FC236}">
                <a16:creationId xmlns:a16="http://schemas.microsoft.com/office/drawing/2014/main" id="{93CDF0E6-9A65-47CF-AC26-10628968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3" name="agenda-label-02">
            <a:extLst xmlns:a="http://schemas.openxmlformats.org/drawingml/2006/main">
              <a:ext uri="{FF2B5EF4-FFF2-40B4-BE49-F238E27FC236}">
                <a16:creationId xmlns:a16="http://schemas.microsoft.com/office/drawing/2014/main" id="{7360DD40-2B53-4C5E-A5BB-4B2A8A8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81325"/>
            <a:ext cx="826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方法拆解</a:t>
            </a:r>
          </a:p>
        </p:txBody>
      </p:sp>
      <p:sp>
        <p:nvSpPr>
          <p:cNvPr id="14" name="agenda-hint-02">
            <a:extLst xmlns:a="http://schemas.openxmlformats.org/drawingml/2006/main">
              <a:ext uri="{FF2B5EF4-FFF2-40B4-BE49-F238E27FC236}">
                <a16:creationId xmlns:a16="http://schemas.microsoft.com/office/drawing/2014/main" id="{BF4269F2-C356-471F-8BE3-A8C36E8B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90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从原则进入操作步骤</a:t>
            </a:r>
          </a:p>
        </p:txBody>
      </p:sp>
      <p:sp>
        <p:nvSpPr>
          <p:cNvPr id="15" name="agenda-number-03">
            <a:extLst xmlns:a="http://schemas.openxmlformats.org/drawingml/2006/main">
              <a:ext uri="{FF2B5EF4-FFF2-40B4-BE49-F238E27FC236}">
                <a16:creationId xmlns:a16="http://schemas.microsoft.com/office/drawing/2014/main" id="{C3D12C4B-88AC-4E06-B9D2-4352C794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agenda-label-03">
            <a:extLst xmlns:a="http://schemas.openxmlformats.org/drawingml/2006/main">
              <a:ext uri="{FF2B5EF4-FFF2-40B4-BE49-F238E27FC236}">
                <a16:creationId xmlns:a16="http://schemas.microsoft.com/office/drawing/2014/main" id="{5929C5A5-A4AD-4C2C-BC6F-8993FF35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9525"/>
            <a:ext cx="826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对比示范</a:t>
            </a:r>
          </a:p>
        </p:txBody>
      </p:sp>
      <p:sp>
        <p:nvSpPr>
          <p:cNvPr id="17" name="agenda-hint-03">
            <a:extLst xmlns:a="http://schemas.openxmlformats.org/drawingml/2006/main">
              <a:ext uri="{FF2B5EF4-FFF2-40B4-BE49-F238E27FC236}">
                <a16:creationId xmlns:a16="http://schemas.microsoft.com/office/drawing/2014/main" id="{5FAFBF72-7A62-4181-81F6-EE39200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观察组织方式的差异</a:t>
            </a:r>
          </a:p>
        </p:txBody>
      </p:sp>
      <p:sp>
        <p:nvSpPr>
          <p:cNvPr id="18" name="agenda-number-04">
            <a:extLst xmlns:a="http://schemas.openxmlformats.org/drawingml/2006/main">
              <a:ext uri="{FF2B5EF4-FFF2-40B4-BE49-F238E27FC236}">
                <a16:creationId xmlns:a16="http://schemas.microsoft.com/office/drawing/2014/main" id="{796DBD55-FCD8-49E9-885B-29778192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19" name="agenda-label-04">
            <a:extLst xmlns:a="http://schemas.openxmlformats.org/drawingml/2006/main">
              <a:ext uri="{FF2B5EF4-FFF2-40B4-BE49-F238E27FC236}">
                <a16:creationId xmlns:a16="http://schemas.microsoft.com/office/drawing/2014/main" id="{FEF51971-233A-47A4-82F4-121389F7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57725"/>
            <a:ext cx="826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结论收束</a:t>
            </a:r>
          </a:p>
        </p:txBody>
      </p:sp>
      <p:sp>
        <p:nvSpPr>
          <p:cNvPr id="20" name="agenda-hint-04">
            <a:extLst xmlns:a="http://schemas.openxmlformats.org/drawingml/2006/main">
              <a:ext uri="{FF2B5EF4-FFF2-40B4-BE49-F238E27FC236}">
                <a16:creationId xmlns:a16="http://schemas.microsoft.com/office/drawing/2014/main" id="{1E5FD589-9FB4-464B-A85E-1B544C9F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67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留下可复用的行动准则</a:t>
            </a:r>
          </a:p>
        </p:txBody>
      </p:sp>
      <p:sp>
        <p:nvSpPr>
          <p:cNvPr id="21" name="folio-2">
            <a:extLst xmlns:a="http://schemas.openxmlformats.org/drawingml/2006/main">
              <a:ext uri="{FF2B5EF4-FFF2-40B4-BE49-F238E27FC236}">
                <a16:creationId xmlns:a16="http://schemas.microsoft.com/office/drawing/2014/main" id="{A755BD54-F54D-45D1-B6FA-2CD8D5F9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8286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01">
            <a:extLst xmlns:a="http://schemas.openxmlformats.org/drawingml/2006/main">
              <a:ext uri="{FF2B5EF4-FFF2-40B4-BE49-F238E27FC236}">
                <a16:creationId xmlns:a16="http://schemas.microsoft.com/office/drawing/2014/main" id="{2A4A7855-AE0B-4379-BF74-E0B1E0CC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01">
            <a:extLst xmlns:a="http://schemas.openxmlformats.org/drawingml/2006/main">
              <a:ext uri="{FF2B5EF4-FFF2-40B4-BE49-F238E27FC236}">
                <a16:creationId xmlns:a16="http://schemas.microsoft.com/office/drawing/2014/main" id="{27A5DFF0-DA03-4EC0-8986-BABE23EF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" y="419100"/>
            <a:ext cx="1443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核心美学原则</a:t>
            </a:r>
          </a:p>
        </p:txBody>
      </p:sp>
      <p:sp>
        <p:nvSpPr>
          <p:cNvPr id="3" name="title-rule-01">
            <a:extLst xmlns:a="http://schemas.openxmlformats.org/drawingml/2006/main">
              <a:ext uri="{FF2B5EF4-FFF2-40B4-BE49-F238E27FC236}">
                <a16:creationId xmlns:a16="http://schemas.microsoft.com/office/drawing/2014/main" id="{49F2A4AF-7167-4A56-B2AD-C467110A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86978" y="576263"/>
            <a:ext cx="91335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rinciples-top-rule">
            <a:extLst xmlns:a="http://schemas.openxmlformats.org/drawingml/2006/main">
              <a:ext uri="{FF2B5EF4-FFF2-40B4-BE49-F238E27FC236}">
                <a16:creationId xmlns:a16="http://schemas.microsoft.com/office/drawing/2014/main" id="{4FE0A8CB-16E0-4EE0-B333-02E2C7AD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2019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rinciples-bottom-rule">
            <a:extLst xmlns:a="http://schemas.openxmlformats.org/drawingml/2006/main">
              <a:ext uri="{FF2B5EF4-FFF2-40B4-BE49-F238E27FC236}">
                <a16:creationId xmlns:a16="http://schemas.microsoft.com/office/drawing/2014/main" id="{F76204E6-195E-4289-8D93-71A375A7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162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" name="principles-divider-1">
            <a:extLst xmlns:a="http://schemas.openxmlformats.org/drawingml/2006/main">
              <a:ext uri="{FF2B5EF4-FFF2-40B4-BE49-F238E27FC236}">
                <a16:creationId xmlns:a16="http://schemas.microsoft.com/office/drawing/2014/main" id="{D4D910FC-D9D4-475F-93F0-97BB1E4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41768" y="2028825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principles-divider-2">
            <a:extLst xmlns:a="http://schemas.openxmlformats.org/drawingml/2006/main">
              <a:ext uri="{FF2B5EF4-FFF2-40B4-BE49-F238E27FC236}">
                <a16:creationId xmlns:a16="http://schemas.microsoft.com/office/drawing/2014/main" id="{CC828994-D531-4433-97BF-66F1BA88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0137" y="2028825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principle-symbol-1">
            <a:extLst xmlns:a="http://schemas.openxmlformats.org/drawingml/2006/main">
              <a:ext uri="{FF2B5EF4-FFF2-40B4-BE49-F238E27FC236}">
                <a16:creationId xmlns:a16="http://schemas.microsoft.com/office/drawing/2014/main" id="{A0C07F46-6192-4699-8C50-9E7934ED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1755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</a:t>
            </a:r>
          </a:p>
        </p:txBody>
      </p:sp>
      <p:sp>
        <p:nvSpPr>
          <p:cNvPr id="9" name="principle-title-1">
            <a:extLst xmlns:a="http://schemas.openxmlformats.org/drawingml/2006/main">
              <a:ext uri="{FF2B5EF4-FFF2-40B4-BE49-F238E27FC236}">
                <a16:creationId xmlns:a16="http://schemas.microsoft.com/office/drawing/2014/main" id="{7DF30402-1AB8-4DF8-87F7-230A533A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6130"/>
            <a:ext cx="32703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字重对比</a:t>
            </a:r>
          </a:p>
        </p:txBody>
      </p:sp>
      <p:sp>
        <p:nvSpPr>
          <p:cNvPr id="10" name="principle-body-1">
            <a:extLst xmlns:a="http://schemas.openxmlformats.org/drawingml/2006/main">
              <a:ext uri="{FF2B5EF4-FFF2-40B4-BE49-F238E27FC236}">
                <a16:creationId xmlns:a16="http://schemas.microsoft.com/office/drawing/2014/main" id="{AF14A698-4F0D-4BD5-B82E-19A21818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1414"/>
            <a:ext cx="2714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标题足够明确，正文足够安静。层级来自对比，而不是给每一段都增加装饰。</a:t>
            </a:r>
          </a:p>
        </p:txBody>
      </p:sp>
      <p:sp>
        <p:nvSpPr>
          <p:cNvPr id="11" name="principle-symbol-2">
            <a:extLst xmlns:a="http://schemas.openxmlformats.org/drawingml/2006/main">
              <a:ext uri="{FF2B5EF4-FFF2-40B4-BE49-F238E27FC236}">
                <a16:creationId xmlns:a16="http://schemas.microsoft.com/office/drawing/2014/main" id="{A2098F77-BE17-420A-B654-456D5963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18" y="2753487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≈</a:t>
            </a:r>
          </a:p>
        </p:txBody>
      </p:sp>
      <p:sp>
        <p:nvSpPr>
          <p:cNvPr id="12" name="principle-title-2">
            <a:extLst xmlns:a="http://schemas.openxmlformats.org/drawingml/2006/main">
              <a:ext uri="{FF2B5EF4-FFF2-40B4-BE49-F238E27FC236}">
                <a16:creationId xmlns:a16="http://schemas.microsoft.com/office/drawing/2014/main" id="{FF263946-9ADA-43CB-B3C3-FE001117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18" y="3467862"/>
            <a:ext cx="30512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极致留白</a:t>
            </a:r>
          </a:p>
        </p:txBody>
      </p:sp>
      <p:sp>
        <p:nvSpPr>
          <p:cNvPr id="13" name="principle-body-2">
            <a:extLst xmlns:a="http://schemas.openxmlformats.org/drawingml/2006/main">
              <a:ext uri="{FF2B5EF4-FFF2-40B4-BE49-F238E27FC236}">
                <a16:creationId xmlns:a16="http://schemas.microsoft.com/office/drawing/2014/main" id="{5027C2F5-386C-441F-AB30-5CCC9B12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18" y="3833051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让模块之间拥有明显停顿，使视线能够聚焦，也让复杂信息保持可读。</a:t>
            </a:r>
          </a:p>
        </p:txBody>
      </p:sp>
      <p:sp>
        <p:nvSpPr>
          <p:cNvPr id="14" name="principle-symbol-3">
            <a:extLst xmlns:a="http://schemas.openxmlformats.org/drawingml/2006/main">
              <a:ext uri="{FF2B5EF4-FFF2-40B4-BE49-F238E27FC236}">
                <a16:creationId xmlns:a16="http://schemas.microsoft.com/office/drawing/2014/main" id="{764115D1-733A-4339-832C-985DFE5A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987" y="2753487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◐</a:t>
            </a:r>
          </a:p>
        </p:txBody>
      </p:sp>
      <p:sp>
        <p:nvSpPr>
          <p:cNvPr id="15" name="principle-title-3">
            <a:extLst xmlns:a="http://schemas.openxmlformats.org/drawingml/2006/main">
              <a:ext uri="{FF2B5EF4-FFF2-40B4-BE49-F238E27FC236}">
                <a16:creationId xmlns:a16="http://schemas.microsoft.com/office/drawing/2014/main" id="{4600A656-7381-4D67-B1CE-0F5FEBF3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987" y="3467862"/>
            <a:ext cx="327031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克制色彩</a:t>
            </a:r>
          </a:p>
        </p:txBody>
      </p:sp>
      <p:sp>
        <p:nvSpPr>
          <p:cNvPr id="16" name="principle-body-3">
            <a:extLst xmlns:a="http://schemas.openxmlformats.org/drawingml/2006/main">
              <a:ext uri="{FF2B5EF4-FFF2-40B4-BE49-F238E27FC236}">
                <a16:creationId xmlns:a16="http://schemas.microsoft.com/office/drawing/2014/main" id="{D301F8A9-3E29-4B0D-AA22-E4B5AC16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987" y="3833051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大部分页面由中性色构成，只用一种低饱和强调色标记真正关键的信息。</a:t>
            </a:r>
          </a:p>
        </p:txBody>
      </p:sp>
      <p:sp>
        <p:nvSpPr>
          <p:cNvPr id="17" name="folio-3">
            <a:extLst xmlns:a="http://schemas.openxmlformats.org/drawingml/2006/main">
              <a:ext uri="{FF2B5EF4-FFF2-40B4-BE49-F238E27FC236}">
                <a16:creationId xmlns:a16="http://schemas.microsoft.com/office/drawing/2014/main" id="{72C15958-2244-464F-9B04-88E02140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6486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02">
            <a:extLst xmlns:a="http://schemas.openxmlformats.org/drawingml/2006/main">
              <a:ext uri="{FF2B5EF4-FFF2-40B4-BE49-F238E27FC236}">
                <a16:creationId xmlns:a16="http://schemas.microsoft.com/office/drawing/2014/main" id="{BFAC9EE1-44BE-44CE-8AD7-43825F6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02">
            <a:extLst xmlns:a="http://schemas.openxmlformats.org/drawingml/2006/main">
              <a:ext uri="{FF2B5EF4-FFF2-40B4-BE49-F238E27FC236}">
                <a16:creationId xmlns:a16="http://schemas.microsoft.com/office/drawing/2014/main" id="{EED3104B-02BF-42E0-A5EB-562D286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" y="419100"/>
            <a:ext cx="96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方法拆解</a:t>
            </a:r>
          </a:p>
        </p:txBody>
      </p:sp>
      <p:sp>
        <p:nvSpPr>
          <p:cNvPr id="3" name="title-rule-02">
            <a:extLst xmlns:a="http://schemas.openxmlformats.org/drawingml/2006/main">
              <a:ext uri="{FF2B5EF4-FFF2-40B4-BE49-F238E27FC236}">
                <a16:creationId xmlns:a16="http://schemas.microsoft.com/office/drawing/2014/main" id="{48E0B9C0-B405-45A7-8B27-69B644E2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5965" y="576263"/>
            <a:ext cx="9614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EBFEF490-B007-41A9-A862-FBB54FF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685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CAC074FB-8210-41F7-8CFE-0CC009CD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263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3A3F8A90-3820-4A3B-A068-8CE2D144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590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98507ECA-00A6-42B3-A60B-A1EEBAB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543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method-rule-4">
            <a:extLst xmlns:a="http://schemas.openxmlformats.org/drawingml/2006/main">
              <a:ext uri="{FF2B5EF4-FFF2-40B4-BE49-F238E27FC236}">
                <a16:creationId xmlns:a16="http://schemas.microsoft.com/office/drawing/2014/main" id="{D4BDD8CA-8E4B-4828-AAE4-7553D1F6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4959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method-number-01">
            <a:extLst xmlns:a="http://schemas.openxmlformats.org/drawingml/2006/main">
              <a:ext uri="{FF2B5EF4-FFF2-40B4-BE49-F238E27FC236}">
                <a16:creationId xmlns:a16="http://schemas.microsoft.com/office/drawing/2014/main" id="{52847158-BF24-42FB-915B-2DC5E41E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method-symbol-01">
            <a:extLst xmlns:a="http://schemas.openxmlformats.org/drawingml/2006/main">
              <a:ext uri="{FF2B5EF4-FFF2-40B4-BE49-F238E27FC236}">
                <a16:creationId xmlns:a16="http://schemas.microsoft.com/office/drawing/2014/main" id="{EEA0701A-E5FC-408C-B55D-41CEC3F0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57388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□</a:t>
            </a:r>
          </a:p>
        </p:txBody>
      </p:sp>
      <p:sp>
        <p:nvSpPr>
          <p:cNvPr id="11" name="method-title-01">
            <a:extLst xmlns:a="http://schemas.openxmlformats.org/drawingml/2006/main">
              <a:ext uri="{FF2B5EF4-FFF2-40B4-BE49-F238E27FC236}">
                <a16:creationId xmlns:a16="http://schemas.microsoft.com/office/drawing/2014/main" id="{CEBF80EA-C39E-400F-872D-3A3DD8C1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335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先确定阅读入口</a:t>
            </a:r>
          </a:p>
        </p:txBody>
      </p:sp>
      <p:sp>
        <p:nvSpPr>
          <p:cNvPr id="12" name="method-body-01">
            <a:extLst xmlns:a="http://schemas.openxmlformats.org/drawingml/2006/main">
              <a:ext uri="{FF2B5EF4-FFF2-40B4-BE49-F238E27FC236}">
                <a16:creationId xmlns:a16="http://schemas.microsoft.com/office/drawing/2014/main" id="{8F1873B7-F698-467A-BC55-B8FC797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33575"/>
            <a:ext cx="697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用一句结论或问题建立页面中心，其他内容都围绕它展开。</a:t>
            </a:r>
          </a:p>
        </p:txBody>
      </p:sp>
      <p:sp>
        <p:nvSpPr>
          <p:cNvPr id="13" name="method-number-02">
            <a:extLst xmlns:a="http://schemas.openxmlformats.org/drawingml/2006/main">
              <a:ext uri="{FF2B5EF4-FFF2-40B4-BE49-F238E27FC236}">
                <a16:creationId xmlns:a16="http://schemas.microsoft.com/office/drawing/2014/main" id="{7926BBA3-B319-4FDB-A40E-A70C73CF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4" name="method-symbol-02">
            <a:extLst xmlns:a="http://schemas.openxmlformats.org/drawingml/2006/main">
              <a:ext uri="{FF2B5EF4-FFF2-40B4-BE49-F238E27FC236}">
                <a16:creationId xmlns:a16="http://schemas.microsoft.com/office/drawing/2014/main" id="{E61A9AD3-B606-4435-A3C7-5BBF282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09888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T</a:t>
            </a:r>
          </a:p>
        </p:txBody>
      </p:sp>
      <p:sp>
        <p:nvSpPr>
          <p:cNvPr id="15" name="method-title-02">
            <a:extLst xmlns:a="http://schemas.openxmlformats.org/drawingml/2006/main">
              <a:ext uri="{FF2B5EF4-FFF2-40B4-BE49-F238E27FC236}">
                <a16:creationId xmlns:a16="http://schemas.microsoft.com/office/drawing/2014/main" id="{7076198E-962C-499C-A26E-E27345FF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860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建立字体层级</a:t>
            </a:r>
          </a:p>
        </p:txBody>
      </p:sp>
      <p:sp>
        <p:nvSpPr>
          <p:cNvPr id="16" name="method-body-02-emphasis">
            <a:extLst xmlns:a="http://schemas.openxmlformats.org/drawingml/2006/main">
              <a:ext uri="{FF2B5EF4-FFF2-40B4-BE49-F238E27FC236}">
                <a16:creationId xmlns:a16="http://schemas.microsoft.com/office/drawing/2014/main" id="{F8BF0B8B-6B71-48E6-9D2A-34548DD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标题、引导语、正文、注释</a:t>
            </a:r>
          </a:p>
        </p:txBody>
      </p:sp>
      <p:sp>
        <p:nvSpPr>
          <p:cNvPr id="17" name="method-body-02-remainder">
            <a:extLst xmlns:a="http://schemas.openxmlformats.org/drawingml/2006/main">
              <a:ext uri="{FF2B5EF4-FFF2-40B4-BE49-F238E27FC236}">
                <a16:creationId xmlns:a16="http://schemas.microsoft.com/office/drawing/2014/main" id="{9CBF7BD3-4240-4E71-B845-CB7EF50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60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各自只承担一种角色。</a:t>
            </a:r>
          </a:p>
        </p:txBody>
      </p:sp>
      <p:sp>
        <p:nvSpPr>
          <p:cNvPr id="18" name="method-number-03">
            <a:extLst xmlns:a="http://schemas.openxmlformats.org/drawingml/2006/main">
              <a:ext uri="{FF2B5EF4-FFF2-40B4-BE49-F238E27FC236}">
                <a16:creationId xmlns:a16="http://schemas.microsoft.com/office/drawing/2014/main" id="{3C19B9F2-2020-46DA-B849-20C93378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method-symbol-03">
            <a:extLst xmlns:a="http://schemas.openxmlformats.org/drawingml/2006/main">
              <a:ext uri="{FF2B5EF4-FFF2-40B4-BE49-F238E27FC236}">
                <a16:creationId xmlns:a16="http://schemas.microsoft.com/office/drawing/2014/main" id="{84C8A3F4-C0E4-425C-8A28-39980132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2388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↔</a:t>
            </a:r>
          </a:p>
        </p:txBody>
      </p:sp>
      <p:sp>
        <p:nvSpPr>
          <p:cNvPr id="20" name="method-title-03">
            <a:extLst xmlns:a="http://schemas.openxmlformats.org/drawingml/2006/main">
              <a:ext uri="{FF2B5EF4-FFF2-40B4-BE49-F238E27FC236}">
                <a16:creationId xmlns:a16="http://schemas.microsoft.com/office/drawing/2014/main" id="{2C6E5BCD-7A82-4127-B239-B59B222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385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放大模块间距</a:t>
            </a:r>
          </a:p>
        </p:txBody>
      </p:sp>
      <p:sp>
        <p:nvSpPr>
          <p:cNvPr id="21" name="method-body-03">
            <a:extLst xmlns:a="http://schemas.openxmlformats.org/drawingml/2006/main">
              <a:ext uri="{FF2B5EF4-FFF2-40B4-BE49-F238E27FC236}">
                <a16:creationId xmlns:a16="http://schemas.microsoft.com/office/drawing/2014/main" id="{863FA7DB-EDBC-4486-AC42-D51B8E4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38575"/>
            <a:ext cx="697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先用空白分组，再用细线辅助；不让边框代替真正的层级。</a:t>
            </a:r>
          </a:p>
        </p:txBody>
      </p:sp>
      <p:sp>
        <p:nvSpPr>
          <p:cNvPr id="22" name="method-number-04">
            <a:extLst xmlns:a="http://schemas.openxmlformats.org/drawingml/2006/main">
              <a:ext uri="{FF2B5EF4-FFF2-40B4-BE49-F238E27FC236}">
                <a16:creationId xmlns:a16="http://schemas.microsoft.com/office/drawing/2014/main" id="{1B0766E9-45B9-4373-9C27-8713A37B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0">
                <a:solidFill>
                  <a:srgbClr val="B9B6AE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3" name="method-symbol-04">
            <a:extLst xmlns:a="http://schemas.openxmlformats.org/drawingml/2006/main">
              <a:ext uri="{FF2B5EF4-FFF2-40B4-BE49-F238E27FC236}">
                <a16:creationId xmlns:a16="http://schemas.microsoft.com/office/drawing/2014/main" id="{14A8C0DF-E43E-496E-B4D8-8529339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4888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2B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●</a:t>
            </a:r>
          </a:p>
        </p:txBody>
      </p:sp>
      <p:sp>
        <p:nvSpPr>
          <p:cNvPr id="24" name="method-title-04">
            <a:extLst xmlns:a="http://schemas.openxmlformats.org/drawingml/2006/main">
              <a:ext uri="{FF2B5EF4-FFF2-40B4-BE49-F238E27FC236}">
                <a16:creationId xmlns:a16="http://schemas.microsoft.com/office/drawing/2014/main" id="{976C5267-3BC8-450F-A3E6-FCA0634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910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最后加入强调</a:t>
            </a:r>
          </a:p>
        </p:txBody>
      </p:sp>
      <p:sp>
        <p:nvSpPr>
          <p:cNvPr id="25" name="method-body-04">
            <a:extLst xmlns:a="http://schemas.openxmlformats.org/drawingml/2006/main">
              <a:ext uri="{FF2B5EF4-FFF2-40B4-BE49-F238E27FC236}">
                <a16:creationId xmlns:a16="http://schemas.microsoft.com/office/drawing/2014/main" id="{F6128404-DBA0-4E87-8D79-CC762E0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697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只选择一个强调色，并把它留给编号、关键词或最终行动点。</a:t>
            </a:r>
          </a:p>
        </p:txBody>
      </p:sp>
      <p:sp>
        <p:nvSpPr>
          <p:cNvPr id="26" name="folio-4">
            <a:extLst xmlns:a="http://schemas.openxmlformats.org/drawingml/2006/main">
              <a:ext uri="{FF2B5EF4-FFF2-40B4-BE49-F238E27FC236}">
                <a16:creationId xmlns:a16="http://schemas.microsoft.com/office/drawing/2014/main" id="{4A0F8A2C-3199-4B62-9B86-4F8AAFE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8982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03">
            <a:extLst xmlns:a="http://schemas.openxmlformats.org/drawingml/2006/main">
              <a:ext uri="{FF2B5EF4-FFF2-40B4-BE49-F238E27FC236}">
                <a16:creationId xmlns:a16="http://schemas.microsoft.com/office/drawing/2014/main" id="{FD2AD722-6D02-4DCF-AA94-9857363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03">
            <a:extLst xmlns:a="http://schemas.openxmlformats.org/drawingml/2006/main">
              <a:ext uri="{FF2B5EF4-FFF2-40B4-BE49-F238E27FC236}">
                <a16:creationId xmlns:a16="http://schemas.microsoft.com/office/drawing/2014/main" id="{A978E3B9-11AD-499E-9101-E505BDE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" y="419100"/>
            <a:ext cx="96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实战案例</a:t>
            </a:r>
          </a:p>
        </p:txBody>
      </p:sp>
      <p:sp>
        <p:nvSpPr>
          <p:cNvPr id="3" name="title-rule-03">
            <a:extLst xmlns:a="http://schemas.openxmlformats.org/drawingml/2006/main">
              <a:ext uri="{FF2B5EF4-FFF2-40B4-BE49-F238E27FC236}">
                <a16:creationId xmlns:a16="http://schemas.microsoft.com/office/drawing/2014/main" id="{D91E2E04-76D5-40DF-A02A-94540F22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5965" y="576263"/>
            <a:ext cx="961453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comparison-card-1">
            <a:extLst xmlns:a="http://schemas.openxmlformats.org/drawingml/2006/main">
              <a:ext uri="{FF2B5EF4-FFF2-40B4-BE49-F238E27FC236}">
                <a16:creationId xmlns:a16="http://schemas.microsoft.com/office/drawing/2014/main" id="{94D0AAAE-9280-4E09-989D-BA0F04CE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comparison-state-1">
            <a:extLst xmlns:a="http://schemas.openxmlformats.org/drawingml/2006/main">
              <a:ext uri="{FF2B5EF4-FFF2-40B4-BE49-F238E27FC236}">
                <a16:creationId xmlns:a16="http://schemas.microsoft.com/office/drawing/2014/main" id="{3C7B44D8-571E-434A-9AB8-CECDEDB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82438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BAB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9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×</a:t>
            </a:r>
          </a:p>
        </p:txBody>
      </p:sp>
      <p:sp>
        <p:nvSpPr>
          <p:cNvPr id="6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EE34ED0D-DB92-4856-B5D6-687414FD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240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信息被平均对待</a:t>
            </a:r>
          </a:p>
        </p:txBody>
      </p:sp>
      <p:sp>
        <p:nvSpPr>
          <p:cNvPr id="7" name="comparison-wireframe-1">
            <a:extLst xmlns:a="http://schemas.openxmlformats.org/drawingml/2006/main">
              <a:ext uri="{FF2B5EF4-FFF2-40B4-BE49-F238E27FC236}">
                <a16:creationId xmlns:a16="http://schemas.microsoft.com/office/drawing/2014/main" id="{A0D24F18-36CC-4452-B9A6-6D35034A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31256"/>
            <a:ext cx="4914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wireframe-top-1">
            <a:extLst xmlns:a="http://schemas.openxmlformats.org/drawingml/2006/main">
              <a:ext uri="{FF2B5EF4-FFF2-40B4-BE49-F238E27FC236}">
                <a16:creationId xmlns:a16="http://schemas.microsoft.com/office/drawing/2014/main" id="{8515FB58-F673-425E-A2C7-437F95E5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575" y="2431256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comparison-bad-title-bar">
            <a:extLst xmlns:a="http://schemas.openxmlformats.org/drawingml/2006/main">
              <a:ext uri="{FF2B5EF4-FFF2-40B4-BE49-F238E27FC236}">
                <a16:creationId xmlns:a16="http://schemas.microsoft.com/office/drawing/2014/main" id="{58DC9159-D9DE-45B7-8CF6-6A55B981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0331"/>
            <a:ext cx="1708404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bad-line-1">
            <a:extLst xmlns:a="http://schemas.openxmlformats.org/drawingml/2006/main">
              <a:ext uri="{FF2B5EF4-FFF2-40B4-BE49-F238E27FC236}">
                <a16:creationId xmlns:a16="http://schemas.microsoft.com/office/drawing/2014/main" id="{E7A395E0-8D94-41C0-99CC-010B5E12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9881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bad-line-2">
            <a:extLst xmlns:a="http://schemas.openxmlformats.org/drawingml/2006/main">
              <a:ext uri="{FF2B5EF4-FFF2-40B4-BE49-F238E27FC236}">
                <a16:creationId xmlns:a16="http://schemas.microsoft.com/office/drawing/2014/main" id="{4AFE4877-6868-4472-9361-418399F5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1806"/>
            <a:ext cx="278730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arison-bad-box-1">
            <a:extLst xmlns:a="http://schemas.openxmlformats.org/drawingml/2006/main">
              <a:ext uri="{FF2B5EF4-FFF2-40B4-BE49-F238E27FC236}">
                <a16:creationId xmlns:a16="http://schemas.microsoft.com/office/drawing/2014/main" id="{6E734A83-C877-488B-96C2-BAF05905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7081"/>
            <a:ext cx="1447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DD7"/>
          </a:solidFill>
          <a:ln xmlns:a="http://schemas.openxmlformats.org/drawingml/2006/main" w="9525">
            <a:solidFill>
              <a:srgbClr val="D1CEC6"/>
            </a:solidFill>
            <a:prstDash val="solid"/>
          </a:ln>
        </p:spPr>
      </p:sp>
      <p:sp>
        <p:nvSpPr>
          <p:cNvPr id="13" name="comparison-bad-box-2">
            <a:extLst xmlns:a="http://schemas.openxmlformats.org/drawingml/2006/main">
              <a:ext uri="{FF2B5EF4-FFF2-40B4-BE49-F238E27FC236}">
                <a16:creationId xmlns:a16="http://schemas.microsoft.com/office/drawing/2014/main" id="{96EDE625-1FB3-4B95-9520-B2305DD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17081"/>
            <a:ext cx="1447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DD7"/>
          </a:solidFill>
          <a:ln xmlns:a="http://schemas.openxmlformats.org/drawingml/2006/main" w="9525">
            <a:solidFill>
              <a:srgbClr val="D1CEC6"/>
            </a:solidFill>
            <a:prstDash val="solid"/>
          </a:ln>
        </p:spPr>
      </p:sp>
      <p:sp>
        <p:nvSpPr>
          <p:cNvPr id="14" name="comparison-bad-box-3">
            <a:extLst xmlns:a="http://schemas.openxmlformats.org/drawingml/2006/main">
              <a:ext uri="{FF2B5EF4-FFF2-40B4-BE49-F238E27FC236}">
                <a16:creationId xmlns:a16="http://schemas.microsoft.com/office/drawing/2014/main" id="{D70E7EDA-84C1-4919-8413-C1A8959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17081"/>
            <a:ext cx="1447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DD7"/>
          </a:solidFill>
          <a:ln xmlns:a="http://schemas.openxmlformats.org/drawingml/2006/main" w="9525">
            <a:solidFill>
              <a:srgbClr val="D1CEC6"/>
            </a:solidFill>
            <a:prstDash val="solid"/>
          </a:ln>
        </p:spPr>
      </p:sp>
      <p:sp>
        <p:nvSpPr>
          <p:cNvPr id="15" name="comparison-paragraph-1">
            <a:extLst xmlns:a="http://schemas.openxmlformats.org/drawingml/2006/main">
              <a:ext uri="{FF2B5EF4-FFF2-40B4-BE49-F238E27FC236}">
                <a16:creationId xmlns:a16="http://schemas.microsoft.com/office/drawing/2014/main" id="{5C6611B3-D8C6-43C9-BF05-2A01AA14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339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多个模块同时争夺注意力，标题、正文和卡片缺少明确的先后关系。</a:t>
            </a:r>
          </a:p>
        </p:txBody>
      </p:sp>
      <p:sp>
        <p:nvSpPr>
          <p:cNvPr id="16" name="comparison-card-2">
            <a:extLst xmlns:a="http://schemas.openxmlformats.org/drawingml/2006/main">
              <a:ext uri="{FF2B5EF4-FFF2-40B4-BE49-F238E27FC236}">
                <a16:creationId xmlns:a16="http://schemas.microsoft.com/office/drawing/2014/main" id="{A5A1C929-EA89-4E26-901A-3286C318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comparison-state-2">
            <a:extLst xmlns:a="http://schemas.openxmlformats.org/drawingml/2006/main">
              <a:ext uri="{FF2B5EF4-FFF2-40B4-BE49-F238E27FC236}">
                <a16:creationId xmlns:a16="http://schemas.microsoft.com/office/drawing/2014/main" id="{A39F9301-4CA9-4F7F-8D6D-25458AF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8243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9525">
            <a:solidFill>
              <a:srgbClr val="20201D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90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✓</a:t>
            </a:r>
          </a:p>
        </p:txBody>
      </p:sp>
      <p:sp>
        <p:nvSpPr>
          <p:cNvPr id="18" name="comparison-label-2">
            <a:extLst xmlns:a="http://schemas.openxmlformats.org/drawingml/2006/main">
              <a:ext uri="{FF2B5EF4-FFF2-40B4-BE49-F238E27FC236}">
                <a16:creationId xmlns:a16="http://schemas.microsoft.com/office/drawing/2014/main" id="{5B07A2D5-B509-4EBC-9331-D3EE78DC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信息沿单一路径展开</a:t>
            </a:r>
          </a:p>
        </p:txBody>
      </p:sp>
      <p:sp>
        <p:nvSpPr>
          <p:cNvPr id="19" name="comparison-wireframe-2">
            <a:extLst xmlns:a="http://schemas.openxmlformats.org/drawingml/2006/main">
              <a:ext uri="{FF2B5EF4-FFF2-40B4-BE49-F238E27FC236}">
                <a16:creationId xmlns:a16="http://schemas.microsoft.com/office/drawing/2014/main" id="{93420608-B86B-4884-87D1-72DB5B49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31256"/>
            <a:ext cx="4914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arison-wireframe-top-2">
            <a:extLst xmlns:a="http://schemas.openxmlformats.org/drawingml/2006/main">
              <a:ext uri="{FF2B5EF4-FFF2-40B4-BE49-F238E27FC236}">
                <a16:creationId xmlns:a16="http://schemas.microsoft.com/office/drawing/2014/main" id="{237B7927-07C4-4EE3-AD06-D023EC8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86525" y="2431256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comparison-good-title-bar">
            <a:extLst xmlns:a="http://schemas.openxmlformats.org/drawingml/2006/main">
              <a:ext uri="{FF2B5EF4-FFF2-40B4-BE49-F238E27FC236}">
                <a16:creationId xmlns:a16="http://schemas.microsoft.com/office/drawing/2014/main" id="{8AB790B2-BD43-4414-AFCA-54333D4B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50331"/>
            <a:ext cx="233781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good-step-1">
            <a:extLst xmlns:a="http://schemas.openxmlformats.org/drawingml/2006/main">
              <a:ext uri="{FF2B5EF4-FFF2-40B4-BE49-F238E27FC236}">
                <a16:creationId xmlns:a16="http://schemas.microsoft.com/office/drawing/2014/main" id="{C9639A37-1F33-4DBB-8CAB-56B38533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02756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3" name="comparison-good-step-line-1">
            <a:extLst xmlns:a="http://schemas.openxmlformats.org/drawingml/2006/main">
              <a:ext uri="{FF2B5EF4-FFF2-40B4-BE49-F238E27FC236}">
                <a16:creationId xmlns:a16="http://schemas.microsoft.com/office/drawing/2014/main" id="{82A2FB0C-E852-4AD1-8BDE-2C2993B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40856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rison-good-step-2">
            <a:extLst xmlns:a="http://schemas.openxmlformats.org/drawingml/2006/main">
              <a:ext uri="{FF2B5EF4-FFF2-40B4-BE49-F238E27FC236}">
                <a16:creationId xmlns:a16="http://schemas.microsoft.com/office/drawing/2014/main" id="{97BB2311-52A6-43AE-91FF-D055F68A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31356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5" name="comparison-good-step-line-2">
            <a:extLst xmlns:a="http://schemas.openxmlformats.org/drawingml/2006/main">
              <a:ext uri="{FF2B5EF4-FFF2-40B4-BE49-F238E27FC236}">
                <a16:creationId xmlns:a16="http://schemas.microsoft.com/office/drawing/2014/main" id="{4121482C-454C-4CDD-8EEF-97CF610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69456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arison-good-step-3">
            <a:extLst xmlns:a="http://schemas.openxmlformats.org/drawingml/2006/main">
              <a:ext uri="{FF2B5EF4-FFF2-40B4-BE49-F238E27FC236}">
                <a16:creationId xmlns:a16="http://schemas.microsoft.com/office/drawing/2014/main" id="{55C48CE5-520D-47B7-9DB1-755688A4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59956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7" name="comparison-good-step-line-3">
            <a:extLst xmlns:a="http://schemas.openxmlformats.org/drawingml/2006/main">
              <a:ext uri="{FF2B5EF4-FFF2-40B4-BE49-F238E27FC236}">
                <a16:creationId xmlns:a16="http://schemas.microsoft.com/office/drawing/2014/main" id="{661221F8-9FFE-41DC-B89F-C6EA6F5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98056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rison-good-axis">
            <a:extLst xmlns:a="http://schemas.openxmlformats.org/drawingml/2006/main">
              <a:ext uri="{FF2B5EF4-FFF2-40B4-BE49-F238E27FC236}">
                <a16:creationId xmlns:a16="http://schemas.microsoft.com/office/drawing/2014/main" id="{9CCEA1A5-F74F-4917-804D-FA3832B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4060031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4BB"/>
            </a:solidFill>
            <a:prstDash val="solid"/>
          </a:ln>
        </p:spPr>
      </p:sp>
      <p:sp>
        <p:nvSpPr>
          <p:cNvPr id="29" name="comparison-paragraph-2">
            <a:extLst xmlns:a="http://schemas.openxmlformats.org/drawingml/2006/main">
              <a:ext uri="{FF2B5EF4-FFF2-40B4-BE49-F238E27FC236}">
                <a16:creationId xmlns:a16="http://schemas.microsoft.com/office/drawing/2014/main" id="{6AFDD9CF-CE11-4820-A4D0-B5639C35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33900"/>
            <a:ext cx="491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先建立标题和编号轴，再让正文依次进入；读者不需要猜测从哪里开始。</a:t>
            </a:r>
          </a:p>
        </p:txBody>
      </p:sp>
      <p:sp>
        <p:nvSpPr>
          <p:cNvPr id="30" name="folio-5">
            <a:extLst xmlns:a="http://schemas.openxmlformats.org/drawingml/2006/main">
              <a:ext uri="{FF2B5EF4-FFF2-40B4-BE49-F238E27FC236}">
                <a16:creationId xmlns:a16="http://schemas.microsoft.com/office/drawing/2014/main" id="{63240DB5-0BBC-402C-ABD7-B151A54E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5742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ing-title-line-1">
            <a:extLst xmlns:a="http://schemas.openxmlformats.org/drawingml/2006/main">
              <a:ext uri="{FF2B5EF4-FFF2-40B4-BE49-F238E27FC236}">
                <a16:creationId xmlns:a16="http://schemas.microsoft.com/office/drawing/2014/main" id="{B7F5BBB3-B6AB-45BE-AE23-38E43789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03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少一点装饰，</a:t>
            </a:r>
          </a:p>
        </p:txBody>
      </p:sp>
      <p:sp>
        <p:nvSpPr>
          <p:cNvPr id="2" name="closing-title-line-2">
            <a:extLst xmlns:a="http://schemas.openxmlformats.org/drawingml/2006/main">
              <a:ext uri="{FF2B5EF4-FFF2-40B4-BE49-F238E27FC236}">
                <a16:creationId xmlns:a16="http://schemas.microsoft.com/office/drawing/2014/main" id="{83828211-63F5-42FF-AC8D-D170F67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4588"/>
            <a:ext cx="7038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多一点秩序。</a:t>
            </a:r>
          </a:p>
        </p:txBody>
      </p:sp>
      <p:sp>
        <p:nvSpPr>
          <p:cNvPr id="3" name="closing-takeaway">
            <a:extLst xmlns:a="http://schemas.openxmlformats.org/drawingml/2006/main">
              <a:ext uri="{FF2B5EF4-FFF2-40B4-BE49-F238E27FC236}">
                <a16:creationId xmlns:a16="http://schemas.microsoft.com/office/drawing/2014/main" id="{28A7285E-D5BE-4E7C-8700-3FCF2FC8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637" y="2543175"/>
            <a:ext cx="351796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当标题、编号、间距和阅读路径都准确时，页面自然会呈现高级感。</a:t>
            </a:r>
          </a:p>
        </p:txBody>
      </p:sp>
      <p:sp>
        <p:nvSpPr>
          <p:cNvPr id="4" name="closing-keyword-rule">
            <a:extLst xmlns:a="http://schemas.openxmlformats.org/drawingml/2006/main">
              <a:ext uri="{FF2B5EF4-FFF2-40B4-BE49-F238E27FC236}">
                <a16:creationId xmlns:a16="http://schemas.microsoft.com/office/drawing/2014/main" id="{9D295A46-5F00-432D-B322-3D3444CE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63083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closing-keyword-1">
            <a:extLst xmlns:a="http://schemas.openxmlformats.org/drawingml/2006/main">
              <a:ext uri="{FF2B5EF4-FFF2-40B4-BE49-F238E27FC236}">
                <a16:creationId xmlns:a16="http://schemas.microsoft.com/office/drawing/2014/main" id="{CA5E52B8-C1F1-4953-82FF-3340D12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层级</a:t>
            </a:r>
          </a:p>
        </p:txBody>
      </p:sp>
      <p:sp>
        <p:nvSpPr>
          <p:cNvPr id="6" name="closing-keyword-2">
            <a:extLst xmlns:a="http://schemas.openxmlformats.org/drawingml/2006/main">
              <a:ext uri="{FF2B5EF4-FFF2-40B4-BE49-F238E27FC236}">
                <a16:creationId xmlns:a16="http://schemas.microsoft.com/office/drawing/2014/main" id="{C3629B20-24D1-4C4E-8EA4-78312131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57" y="3752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留白</a:t>
            </a:r>
          </a:p>
        </p:txBody>
      </p:sp>
      <p:sp>
        <p:nvSpPr>
          <p:cNvPr id="7" name="closing-keyword-3">
            <a:extLst xmlns:a="http://schemas.openxmlformats.org/drawingml/2006/main">
              <a:ext uri="{FF2B5EF4-FFF2-40B4-BE49-F238E27FC236}">
                <a16:creationId xmlns:a16="http://schemas.microsoft.com/office/drawing/2014/main" id="{3D3B0F39-FE30-437E-B6D3-79695361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619" y="3752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节奏</a:t>
            </a:r>
          </a:p>
        </p:txBody>
      </p:sp>
      <p:sp>
        <p:nvSpPr>
          <p:cNvPr id="8" name="folio-6">
            <a:extLst xmlns:a="http://schemas.openxmlformats.org/drawingml/2006/main">
              <a:ext uri="{FF2B5EF4-FFF2-40B4-BE49-F238E27FC236}">
                <a16:creationId xmlns:a16="http://schemas.microsoft.com/office/drawing/2014/main" id="{E692EDBB-056B-499B-A9EB-4CD4F045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20758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2026-09-04T16:57:57.2310000Z</dcterms:created>
  <dcterms:modified xsi:type="dcterms:W3CDTF">2026-09-04T16:57:57.2310000Z</dcterms:modified>
</coreProperties>
</file>