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28b2f1351c4a2b" /><Relationship Type="http://schemas.openxmlformats.org/officeDocument/2006/relationships/extended-properties" Target="/docProps/app.xml" Id="R4929d29aa03646c4" /><Relationship Type="http://schemas.openxmlformats.org/officeDocument/2006/relationships/officeDocument" Target="/ppt/presentation.xml" Id="R93ba163bbd5b49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7ac06bee2104d43"/>
  </p:sldMasterIdLst>
  <p:notesMasterIdLst>
    <p:notesMasterId xmlns:r="http://schemas.openxmlformats.org/officeDocument/2006/relationships" r:id="R2ae2867f7b174cca"/>
  </p:notesMasterIdLst>
  <p:sldIdLst>
    <p:sldId xmlns:r="http://schemas.openxmlformats.org/officeDocument/2006/relationships" id="256" r:id="R55b5b886a55f4b7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b0f486f43354796" /><Relationship Type="http://schemas.openxmlformats.org/officeDocument/2006/relationships/slideMaster" Target="/ppt/slideMasters/slideMaster1.xml" Id="Re7ac06bee2104d43" /><Relationship Type="http://schemas.openxmlformats.org/officeDocument/2006/relationships/notesMaster" Target="/ppt/notesMasters/notesMaster1.xml" Id="R2ae2867f7b174cca" /><Relationship Type="http://schemas.openxmlformats.org/officeDocument/2006/relationships/presProps" Target="/ppt/presProps.xml" Id="Rd50c70af17f54548" /><Relationship Type="http://schemas.openxmlformats.org/officeDocument/2006/relationships/tableStyles" Target="/ppt/tableStyles.xml" Id="R6e8f308147104c74" /><Relationship Type="http://schemas.openxmlformats.org/officeDocument/2006/relationships/slide" Target="/ppt/slides/slide1.xml" Id="R55b5b886a55f4b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26211972d924db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0fcefc3050c4e6b" /><Relationship Type="http://schemas.openxmlformats.org/officeDocument/2006/relationships/notesMaster" Target="/ppt/notesMasters/notesMaster1.xml" Id="R45582474303c4d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508a89bee0437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2345b114a54c8a" /><Relationship Type="http://schemas.openxmlformats.org/officeDocument/2006/relationships/slideLayout" Target="/ppt/slideLayouts/slideLayout1.xml" Id="Rcb1d8c78937f451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1d8c78937f451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ab2af0781e413f" /><Relationship Type="http://schemas.openxmlformats.org/officeDocument/2006/relationships/notesSlide" Target="/ppt/notesSlides/notesSlide1.xml" Id="Rc722b559a63d42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2596F8-B2D1-4645-AF20-3A8EEA5E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智能财务能力系统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98394F-96AC-4965-8919-EAA4BDE0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同心能力系统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7B5C22-29D3-4FED-B9FC-FDB95FD3A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86350"/>
            <a:ext cx="102870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D63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E46D85-7374-497A-BEDC-B79472830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71650"/>
            <a:ext cx="10934700" cy="38481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5C92"/>
              </a:gs>
              <a:gs pos="48000">
                <a:srgbClr val="397DB3"/>
              </a:gs>
              <a:gs pos="100000">
                <a:srgbClr val="174A75"/>
              </a:gs>
            </a:gsLst>
            <a:lin ang="10800000"/>
          </a:gradFill>
          <a:ln xmlns:a="http://schemas.openxmlformats.org/drawingml/2006/main" w="14288">
            <a:solidFill>
              <a:srgbClr val="D8EAF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A9C6B-EC6D-46C8-B56B-18B28ED6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362200"/>
            <a:ext cx="8039100" cy="268605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FFFF"/>
              </a:gs>
              <a:gs pos="100000">
                <a:srgbClr val="F5EEE8"/>
              </a:gs>
            </a:gsLst>
            <a:lin ang="10800000"/>
          </a:gradFill>
          <a:ln xmlns:a="http://schemas.openxmlformats.org/drawingml/2006/main" w="14288">
            <a:solidFill>
              <a:srgbClr val="E0B18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1B0C94-3024-4EB2-9D20-BFF46685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724150"/>
            <a:ext cx="5238750" cy="211455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2E78B6"/>
              </a:gs>
              <a:gs pos="100000">
                <a:srgbClr val="123F69"/>
              </a:gs>
            </a:gsLst>
            <a:lin ang="10800000"/>
          </a:gradFill>
          <a:ln xmlns:a="http://schemas.openxmlformats.org/drawingml/2006/main" w="19050">
            <a:solidFill>
              <a:srgbClr val="8CBC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596738-E1EC-4661-AC22-355ABEBE1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086100"/>
            <a:ext cx="4038600" cy="146685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A527E"/>
              </a:gs>
              <a:gs pos="100000">
                <a:srgbClr val="0E3457"/>
              </a:gs>
            </a:gsLst>
            <a:lin ang="10800000"/>
          </a:gradFill>
          <a:ln xmlns:a="http://schemas.openxmlformats.org/drawingml/2006/main" w="9525">
            <a:solidFill>
              <a:srgbClr val="5B9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84D21B-757D-4D39-906F-EE3115B8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9565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财务智能</a:t>
            </a:r>
          </a:p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处理系统</a:t>
            </a:r>
          </a:p>
        </p:txBody>
      </p:sp>
      <p:sp>
        <p:nvSpPr>
          <p:cNvPr id="9" name="PPAGENT_QA|parent=capability-0|domains=capability-nodes">
            <a:extLst xmlns:a="http://schemas.openxmlformats.org/drawingml/2006/main">
              <a:ext uri="{FF2B5EF4-FFF2-40B4-BE49-F238E27FC236}">
                <a16:creationId xmlns:a16="http://schemas.microsoft.com/office/drawing/2014/main" id="{02252A07-BFE2-4794-B96D-64372D42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485900"/>
            <a:ext cx="914400" cy="8001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EAB58E"/>
              </a:gs>
              <a:gs pos="100000">
                <a:srgbClr val="D88952"/>
              </a:gs>
            </a:gsLst>
            <a:lin ang="8100000"/>
          </a:gradFill>
          <a:ln xmlns:a="http://schemas.openxmlformats.org/drawingml/2006/main" w="1428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自动核算</a:t>
            </a:r>
          </a:p>
        </p:txBody>
      </p:sp>
      <p:sp>
        <p:nvSpPr>
          <p:cNvPr id="10" name="PPAGENT_QA|parent=capability-1|domains=capability-nodes">
            <a:extLst xmlns:a="http://schemas.openxmlformats.org/drawingml/2006/main">
              <a:ext uri="{FF2B5EF4-FFF2-40B4-BE49-F238E27FC236}">
                <a16:creationId xmlns:a16="http://schemas.microsoft.com/office/drawing/2014/main" id="{4699BF47-1F58-4493-98C2-66BC64CF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4490" y="2390775"/>
            <a:ext cx="914400" cy="8001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EAB58E"/>
              </a:gs>
              <a:gs pos="100000">
                <a:srgbClr val="D88952"/>
              </a:gs>
            </a:gsLst>
            <a:lin ang="8100000"/>
          </a:gradFill>
          <a:ln xmlns:a="http://schemas.openxmlformats.org/drawingml/2006/main" w="1428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智能稽核</a:t>
            </a:r>
          </a:p>
        </p:txBody>
      </p:sp>
      <p:sp>
        <p:nvSpPr>
          <p:cNvPr id="11" name="PPAGENT_QA|parent=capability-2|domains=capability-nodes">
            <a:extLst xmlns:a="http://schemas.openxmlformats.org/drawingml/2006/main">
              <a:ext uri="{FF2B5EF4-FFF2-40B4-BE49-F238E27FC236}">
                <a16:creationId xmlns:a16="http://schemas.microsoft.com/office/drawing/2014/main" id="{AAEB50E0-63FB-4EFC-9C2C-17D3031E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4490" y="4200525"/>
            <a:ext cx="914400" cy="8001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EAB58E"/>
              </a:gs>
              <a:gs pos="100000">
                <a:srgbClr val="D88952"/>
              </a:gs>
            </a:gsLst>
            <a:lin ang="8100000"/>
          </a:gradFill>
          <a:ln xmlns:a="http://schemas.openxmlformats.org/drawingml/2006/main" w="1428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资金管控</a:t>
            </a:r>
          </a:p>
        </p:txBody>
      </p:sp>
      <p:sp>
        <p:nvSpPr>
          <p:cNvPr id="12" name="PPAGENT_QA|parent=capability-3|domains=capability-nodes">
            <a:extLst xmlns:a="http://schemas.openxmlformats.org/drawingml/2006/main">
              <a:ext uri="{FF2B5EF4-FFF2-40B4-BE49-F238E27FC236}">
                <a16:creationId xmlns:a16="http://schemas.microsoft.com/office/drawing/2014/main" id="{004519E4-4E1C-4467-B1B0-ABAC0843F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5105400"/>
            <a:ext cx="914400" cy="8001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EAB58E"/>
              </a:gs>
              <a:gs pos="100000">
                <a:srgbClr val="D88952"/>
              </a:gs>
            </a:gsLst>
            <a:lin ang="8100000"/>
          </a:gradFill>
          <a:ln xmlns:a="http://schemas.openxmlformats.org/drawingml/2006/main" w="1428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报账终端</a:t>
            </a:r>
          </a:p>
        </p:txBody>
      </p:sp>
      <p:sp>
        <p:nvSpPr>
          <p:cNvPr id="13" name="PPAGENT_QA|parent=capability-4|domains=capability-nodes">
            <a:extLst xmlns:a="http://schemas.openxmlformats.org/drawingml/2006/main">
              <a:ext uri="{FF2B5EF4-FFF2-40B4-BE49-F238E27FC236}">
                <a16:creationId xmlns:a16="http://schemas.microsoft.com/office/drawing/2014/main" id="{210BB25C-90F0-41C4-A28D-0E81A60FC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110" y="4200525"/>
            <a:ext cx="914400" cy="8001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EAB58E"/>
              </a:gs>
              <a:gs pos="100000">
                <a:srgbClr val="D88952"/>
              </a:gs>
            </a:gsLst>
            <a:lin ang="8100000"/>
          </a:gradFill>
          <a:ln xmlns:a="http://schemas.openxmlformats.org/drawingml/2006/main" w="1428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流程管理</a:t>
            </a:r>
          </a:p>
        </p:txBody>
      </p:sp>
      <p:sp>
        <p:nvSpPr>
          <p:cNvPr id="14" name="PPAGENT_QA|parent=capability-5|domains=capability-nodes">
            <a:extLst xmlns:a="http://schemas.openxmlformats.org/drawingml/2006/main">
              <a:ext uri="{FF2B5EF4-FFF2-40B4-BE49-F238E27FC236}">
                <a16:creationId xmlns:a16="http://schemas.microsoft.com/office/drawing/2014/main" id="{7134DF1F-B814-4315-B820-3F6F94A1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110" y="2390775"/>
            <a:ext cx="914400" cy="8001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EAB58E"/>
              </a:gs>
              <a:gs pos="100000">
                <a:srgbClr val="D88952"/>
              </a:gs>
            </a:gsLst>
            <a:lin ang="8100000"/>
          </a:gradFill>
          <a:ln xmlns:a="http://schemas.openxmlformats.org/drawingml/2006/main" w="1428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66675" tIns="38100" rIns="6667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自助报账</a:t>
            </a:r>
          </a:p>
        </p:txBody>
      </p:sp>
    </p:spTree>
    <p:extLst>
      <p:ext uri="{BB962C8B-B14F-4D97-AF65-F5344CB8AC3E}">
        <p14:creationId xmlns:p14="http://schemas.microsoft.com/office/powerpoint/2010/main" val="15529384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2026-08-10T11:49:48.7770000Z</dcterms:created>
  <dcterms:modified xsi:type="dcterms:W3CDTF">2026-08-10T11:49:48.7780000Z</dcterms:modified>
</coreProperties>
</file>