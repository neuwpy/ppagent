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d85b446b8b4ebb" /><Relationship Type="http://schemas.openxmlformats.org/officeDocument/2006/relationships/extended-properties" Target="/docProps/app.xml" Id="R9e59417b4c0c425d" /><Relationship Type="http://schemas.openxmlformats.org/officeDocument/2006/relationships/officeDocument" Target="/ppt/presentation.xml" Id="R083fcaf7245043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c3e7311a4b4af0"/>
  </p:sldMasterIdLst>
  <p:notesMasterIdLst>
    <p:notesMasterId xmlns:r="http://schemas.openxmlformats.org/officeDocument/2006/relationships" r:id="R8b88881b49bc467f"/>
  </p:notesMasterIdLst>
  <p:sldIdLst>
    <p:sldId xmlns:r="http://schemas.openxmlformats.org/officeDocument/2006/relationships" id="256" r:id="R91fa69f8e38547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30e7acbb5e47d3" /><Relationship Type="http://schemas.openxmlformats.org/officeDocument/2006/relationships/slideMaster" Target="/ppt/slideMasters/slideMaster1.xml" Id="R60c3e7311a4b4af0" /><Relationship Type="http://schemas.openxmlformats.org/officeDocument/2006/relationships/notesMaster" Target="/ppt/notesMasters/notesMaster1.xml" Id="R8b88881b49bc467f" /><Relationship Type="http://schemas.openxmlformats.org/officeDocument/2006/relationships/presProps" Target="/ppt/presProps.xml" Id="Rd338e508c5fe4ec2" /><Relationship Type="http://schemas.openxmlformats.org/officeDocument/2006/relationships/tableStyles" Target="/ppt/tableStyles.xml" Id="Re5bf8dbad8ca4beb" /><Relationship Type="http://schemas.openxmlformats.org/officeDocument/2006/relationships/slide" Target="/ppt/slides/slide1.xml" Id="R91fa69f8e38547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460ae1a1f64f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5e1a734ed14917" /><Relationship Type="http://schemas.openxmlformats.org/officeDocument/2006/relationships/notesMaster" Target="/ppt/notesMasters/notesMaster1.xml" Id="R3a0cb84f39c04b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e6cb9945e4b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1544e36394d3a" /><Relationship Type="http://schemas.openxmlformats.org/officeDocument/2006/relationships/slideLayout" Target="/ppt/slideLayouts/slideLayout1.xml" Id="Rccdeda7644a840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deda7644a840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d7e1382b54d46" /><Relationship Type="http://schemas.openxmlformats.org/officeDocument/2006/relationships/notesSlide" Target="/ppt/notesSlides/notesSlide1.xml" Id="Re98a75cc72864c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ADCB58-7724-4FE4-B837-E61DD2B2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项目延期原因拆解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C15D4-B08F-48F7-8396-E18E5B19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结果问题 · 分类原因拆解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21E5B-1BDC-4F5F-8705-F8FB93CC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5800" y="3562350"/>
            <a:ext cx="870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677C8"/>
            </a:solidFill>
            <a:prstDash val="solid"/>
          </a:ln>
        </p:spPr>
      </p:sp>
      <p:sp>
        <p:nvSpPr>
          <p:cNvPr id="4" name="PPAGENT_QA|parent=fishbone-effect">
            <a:extLst xmlns:a="http://schemas.openxmlformats.org/drawingml/2006/main">
              <a:ext uri="{FF2B5EF4-FFF2-40B4-BE49-F238E27FC236}">
                <a16:creationId xmlns:a16="http://schemas.microsoft.com/office/drawing/2014/main" id="{8119AA59-BAC1-404A-8E64-E2E1C7B1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28950"/>
            <a:ext cx="2381250" cy="1066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交付延期</a:t>
            </a:r>
          </a:p>
        </p:txBody>
      </p:sp>
      <p:sp>
        <p:nvSpPr>
          <p:cNvPr id="5" name="PPAGENT_CONNECTOR|from=fishbone-item-0-2|fromSide=bottom|to=fishbone-joint-0|toSide=center">
            <a:extLst xmlns:a="http://schemas.openxmlformats.org/drawingml/2006/main">
              <a:ext uri="{FF2B5EF4-FFF2-40B4-BE49-F238E27FC236}">
                <a16:creationId xmlns:a16="http://schemas.microsoft.com/office/drawing/2014/main" id="{B802E44A-A4F3-48E6-812D-B0644AD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09800" y="30670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6" name="PPAGENT_QA|parent=fishbone-joint-0">
            <a:extLst xmlns:a="http://schemas.openxmlformats.org/drawingml/2006/main">
              <a:ext uri="{FF2B5EF4-FFF2-40B4-BE49-F238E27FC236}">
                <a16:creationId xmlns:a16="http://schemas.microsoft.com/office/drawing/2014/main" id="{1325895D-372C-494F-8031-5EABCC34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F1D01-D8ED-42C0-BF3A-A8BF3EDF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人员</a:t>
            </a:r>
          </a:p>
        </p:txBody>
      </p:sp>
      <p:sp>
        <p:nvSpPr>
          <p:cNvPr id="8" name="PPAGENT_QA|parent=fishbone-item-0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E854EE4-BC5C-4939-BDB8-A808ED68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907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关键岗位不足</a:t>
            </a:r>
          </a:p>
        </p:txBody>
      </p:sp>
      <p:sp>
        <p:nvSpPr>
          <p:cNvPr id="9" name="PPAGENT_QA|parent=fishbone-item-0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D3E7F8C-4285-48FE-8D6D-47DEA799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955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协同边界不清</a:t>
            </a:r>
          </a:p>
        </p:txBody>
      </p:sp>
      <p:sp>
        <p:nvSpPr>
          <p:cNvPr id="10" name="PPAGENT_QA|parent=fishbone-item-0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6CF913B9-480F-4716-86A6-505CCBDC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经验不匹配</a:t>
            </a:r>
          </a:p>
        </p:txBody>
      </p:sp>
      <p:sp>
        <p:nvSpPr>
          <p:cNvPr id="11" name="PPAGENT_CONNECTOR|from=fishbone-item-2-2|fromSide=bottom|to=fishbone-joint-2|toSide=center">
            <a:extLst xmlns:a="http://schemas.openxmlformats.org/drawingml/2006/main">
              <a:ext uri="{FF2B5EF4-FFF2-40B4-BE49-F238E27FC236}">
                <a16:creationId xmlns:a16="http://schemas.microsoft.com/office/drawing/2014/main" id="{70ED13F4-5400-4C43-9475-51AB5A59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76800" y="30670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2" name="PPAGENT_QA|parent=fishbone-joint-2">
            <a:extLst xmlns:a="http://schemas.openxmlformats.org/drawingml/2006/main">
              <a:ext uri="{FF2B5EF4-FFF2-40B4-BE49-F238E27FC236}">
                <a16:creationId xmlns:a16="http://schemas.microsoft.com/office/drawing/2014/main" id="{5C429696-92E7-4D43-AEEB-DC56EF61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32E191-AD30-4F4D-90F2-540C128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4" name="PPAGENT_QA|parent=fishbone-item-2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34503227-979E-4C47-A6F4-78E82C07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1907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系统稳定性不足</a:t>
            </a:r>
          </a:p>
        </p:txBody>
      </p:sp>
      <p:sp>
        <p:nvSpPr>
          <p:cNvPr id="15" name="PPAGENT_QA|parent=fishbone-item-2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1382AE2-1D80-440F-8226-EF81D595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接口依赖复杂</a:t>
            </a:r>
          </a:p>
        </p:txBody>
      </p:sp>
      <p:sp>
        <p:nvSpPr>
          <p:cNvPr id="16" name="PPAGENT_QA|parent=fishbone-item-2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4590A6CA-3861-44DE-94A5-1CF6F34C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03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测试覆盖不足</a:t>
            </a:r>
          </a:p>
        </p:txBody>
      </p:sp>
      <p:sp>
        <p:nvSpPr>
          <p:cNvPr id="17" name="PPAGENT_CONNECTOR|from=fishbone-item-4-2|fromSide=bottom|to=fishbone-joint-4|toSide=center">
            <a:extLst xmlns:a="http://schemas.openxmlformats.org/drawingml/2006/main">
              <a:ext uri="{FF2B5EF4-FFF2-40B4-BE49-F238E27FC236}">
                <a16:creationId xmlns:a16="http://schemas.microsoft.com/office/drawing/2014/main" id="{5B074C62-ACF7-4924-86C9-4CAADEF3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543800" y="30670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18" name="PPAGENT_QA|parent=fishbone-joint-4">
            <a:extLst xmlns:a="http://schemas.openxmlformats.org/drawingml/2006/main">
              <a:ext uri="{FF2B5EF4-FFF2-40B4-BE49-F238E27FC236}">
                <a16:creationId xmlns:a16="http://schemas.microsoft.com/office/drawing/2014/main" id="{A22A537B-58A0-49CC-B3E3-E21344D4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64CCD-FB15-4C56-AF98-2722AF52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09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20" name="PPAGENT_QA|parent=fishbone-item-4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3B88648-A63D-45F6-B987-A92B012C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目标多次调整</a:t>
            </a:r>
          </a:p>
        </p:txBody>
      </p:sp>
      <p:sp>
        <p:nvSpPr>
          <p:cNvPr id="21" name="PPAGENT_QA|parent=fishbone-item-4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CBF59A45-3DBC-4C91-B58F-C5C38886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955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验收口径模糊</a:t>
            </a:r>
          </a:p>
        </p:txBody>
      </p:sp>
      <p:sp>
        <p:nvSpPr>
          <p:cNvPr id="22" name="PPAGENT_QA|parent=fishbone-item-4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A7AA0D3E-D8F5-4374-A91A-477B8E29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0F5FA"/>
          </a:solidFill>
          <a:ln xmlns:a="http://schemas.openxmlformats.org/drawingml/2006/main" w="9525">
            <a:solidFill>
              <a:srgbClr val="B8CCE0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优先级冲突</a:t>
            </a:r>
          </a:p>
        </p:txBody>
      </p:sp>
      <p:sp>
        <p:nvSpPr>
          <p:cNvPr id="23" name="PPAGENT_CONNECTOR|from=fishbone-item-1-0|fromSide=top|to=fishbone-joint-1|toSide=center">
            <a:extLst xmlns:a="http://schemas.openxmlformats.org/drawingml/2006/main">
              <a:ext uri="{FF2B5EF4-FFF2-40B4-BE49-F238E27FC236}">
                <a16:creationId xmlns:a16="http://schemas.microsoft.com/office/drawing/2014/main" id="{5D435F67-B615-4262-84D5-6F197C76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209800" y="35623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24" name="PPAGENT_QA|parent=fishbone-joint-1">
            <a:extLst xmlns:a="http://schemas.openxmlformats.org/drawingml/2006/main">
              <a:ext uri="{FF2B5EF4-FFF2-40B4-BE49-F238E27FC236}">
                <a16:creationId xmlns:a16="http://schemas.microsoft.com/office/drawing/2014/main" id="{F82FF5E2-9F6A-4D9F-9D9F-8106A6FD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310582-CC73-4BE2-9E93-0F61F0EC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</p:txBody>
      </p:sp>
      <p:sp>
        <p:nvSpPr>
          <p:cNvPr id="26" name="PPAGENT_QA|parent=fishbone-item-1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9DEE1CBA-BA78-49C1-9DA9-067BE44E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审批链路过长</a:t>
            </a:r>
          </a:p>
        </p:txBody>
      </p:sp>
      <p:sp>
        <p:nvSpPr>
          <p:cNvPr id="27" name="PPAGENT_QA|parent=fishbone-item-1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4EDFCD8-9D8C-49C2-BB8C-26D0752D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交接标准缺失</a:t>
            </a:r>
          </a:p>
        </p:txBody>
      </p:sp>
      <p:sp>
        <p:nvSpPr>
          <p:cNvPr id="28" name="PPAGENT_QA|parent=fishbone-item-1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0B6D3C43-A5CC-4245-93D5-5FC1C546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672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变更响应迟缓</a:t>
            </a:r>
          </a:p>
        </p:txBody>
      </p:sp>
      <p:sp>
        <p:nvSpPr>
          <p:cNvPr id="29" name="PPAGENT_CONNECTOR|from=fishbone-item-3-0|fromSide=top|to=fishbone-joint-3|toSide=center">
            <a:extLst xmlns:a="http://schemas.openxmlformats.org/drawingml/2006/main">
              <a:ext uri="{FF2B5EF4-FFF2-40B4-BE49-F238E27FC236}">
                <a16:creationId xmlns:a16="http://schemas.microsoft.com/office/drawing/2014/main" id="{F261E099-AE80-48FA-9DA6-A29C1F60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876800" y="35623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0" name="PPAGENT_QA|parent=fishbone-joint-3">
            <a:extLst xmlns:a="http://schemas.openxmlformats.org/drawingml/2006/main">
              <a:ext uri="{FF2B5EF4-FFF2-40B4-BE49-F238E27FC236}">
                <a16:creationId xmlns:a16="http://schemas.microsoft.com/office/drawing/2014/main" id="{E432668F-C33E-401D-822F-928158BD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F00822-E6AE-44A0-A509-D10CD56F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32" name="PPAGENT_QA|parent=fishbone-item-3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2C6BA0C8-F0D0-428D-B9B9-36952953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576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预算受限</a:t>
            </a:r>
          </a:p>
        </p:txBody>
      </p:sp>
      <p:sp>
        <p:nvSpPr>
          <p:cNvPr id="33" name="PPAGENT_QA|parent=fishbone-item-3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B145C93F-4F78-41FD-AD44-5891FB77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624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设备交付延迟</a:t>
            </a:r>
          </a:p>
        </p:txBody>
      </p:sp>
      <p:sp>
        <p:nvSpPr>
          <p:cNvPr id="34" name="PPAGENT_QA|parent=fishbone-item-3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FB27CA1B-5F35-491A-AD2D-D5C43B62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外部支持不足</a:t>
            </a:r>
          </a:p>
        </p:txBody>
      </p:sp>
      <p:sp>
        <p:nvSpPr>
          <p:cNvPr id="35" name="PPAGENT_CONNECTOR|from=fishbone-item-5-0|fromSide=top|to=fishbone-joint-5|toSide=center">
            <a:extLst xmlns:a="http://schemas.openxmlformats.org/drawingml/2006/main">
              <a:ext uri="{FF2B5EF4-FFF2-40B4-BE49-F238E27FC236}">
                <a16:creationId xmlns:a16="http://schemas.microsoft.com/office/drawing/2014/main" id="{A8D70534-5EE9-4F3A-ACBD-3E573F0E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543800" y="3562350"/>
            <a:ext cx="74295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8D8"/>
            </a:solidFill>
            <a:prstDash val="solid"/>
          </a:ln>
        </p:spPr>
      </p:sp>
      <p:sp>
        <p:nvSpPr>
          <p:cNvPr id="36" name="PPAGENT_QA|parent=fishbone-joint-5">
            <a:extLst xmlns:a="http://schemas.openxmlformats.org/drawingml/2006/main">
              <a:ext uri="{FF2B5EF4-FFF2-40B4-BE49-F238E27FC236}">
                <a16:creationId xmlns:a16="http://schemas.microsoft.com/office/drawing/2014/main" id="{1E81FA4B-906F-40C5-B322-443976BC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26FE51-6B68-430D-B124-955293A4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38" name="PPAGENT_QA|parent=fishbone-item-5-0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9755C56-2146-4753-A2B4-24056932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供应链波动</a:t>
            </a:r>
          </a:p>
        </p:txBody>
      </p:sp>
      <p:sp>
        <p:nvSpPr>
          <p:cNvPr id="39" name="PPAGENT_QA|parent=fishbone-item-5-1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591726C4-AEF2-4B4E-ACBD-37CB66D2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政策窗口变化</a:t>
            </a:r>
          </a:p>
        </p:txBody>
      </p:sp>
      <p:sp>
        <p:nvSpPr>
          <p:cNvPr id="40" name="PPAGENT_QA|parent=fishbone-item-5-2|domains=fishbone-items">
            <a:extLst xmlns:a="http://schemas.openxmlformats.org/drawingml/2006/main">
              <a:ext uri="{FF2B5EF4-FFF2-40B4-BE49-F238E27FC236}">
                <a16:creationId xmlns:a16="http://schemas.microsoft.com/office/drawing/2014/main" id="{17210B97-492C-48B2-982E-DCAC0BBD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019300" cy="2667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9525">
            <a:solidFill>
              <a:srgbClr val="B9DCE8"/>
            </a:solidFill>
            <a:prstDash val="solid"/>
          </a:ln>
        </p:spPr>
        <p:txBody>
          <a:bodyPr xmlns:a="http://schemas.openxmlformats.org/drawingml/2006/main" lIns="114300" tIns="9525" rIns="1143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跨区域协作困难</a:t>
            </a:r>
          </a:p>
        </p:txBody>
      </p:sp>
    </p:spTree>
    <p:extLst>
      <p:ext uri="{BB962C8B-B14F-4D97-AF65-F5344CB8AC3E}">
        <p14:creationId xmlns:p14="http://schemas.microsoft.com/office/powerpoint/2010/main" val="17895878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2026-08-10T13:32:06.3100000Z</dcterms:created>
  <dcterms:modified xsi:type="dcterms:W3CDTF">2026-08-10T13:32:06.3100000Z</dcterms:modified>
</coreProperties>
</file>