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3c2ddb8a974747" /><Relationship Type="http://schemas.openxmlformats.org/officeDocument/2006/relationships/extended-properties" Target="/docProps/app.xml" Id="R66f0f91c5e894192" /><Relationship Type="http://schemas.openxmlformats.org/officeDocument/2006/relationships/officeDocument" Target="/ppt/presentation.xml" Id="Ra591cffb5aff40e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8067daedff4e1b"/>
  </p:sldMasterIdLst>
  <p:notesMasterIdLst>
    <p:notesMasterId xmlns:r="http://schemas.openxmlformats.org/officeDocument/2006/relationships" r:id="Rf67e70da68d0414d"/>
  </p:notesMasterIdLst>
  <p:sldIdLst>
    <p:sldId xmlns:r="http://schemas.openxmlformats.org/officeDocument/2006/relationships" id="256" r:id="R5e4d6172a6384f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e986818e6d4fc7" /><Relationship Type="http://schemas.openxmlformats.org/officeDocument/2006/relationships/slideMaster" Target="/ppt/slideMasters/slideMaster1.xml" Id="Rfb8067daedff4e1b" /><Relationship Type="http://schemas.openxmlformats.org/officeDocument/2006/relationships/notesMaster" Target="/ppt/notesMasters/notesMaster1.xml" Id="Rf67e70da68d0414d" /><Relationship Type="http://schemas.openxmlformats.org/officeDocument/2006/relationships/presProps" Target="/ppt/presProps.xml" Id="R55cf090089be490c" /><Relationship Type="http://schemas.openxmlformats.org/officeDocument/2006/relationships/tableStyles" Target="/ppt/tableStyles.xml" Id="R5af62fc5c1d14e04" /><Relationship Type="http://schemas.openxmlformats.org/officeDocument/2006/relationships/slide" Target="/ppt/slides/slide1.xml" Id="R5e4d6172a6384f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f85174dc9f4d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a9b8b053764107" /><Relationship Type="http://schemas.openxmlformats.org/officeDocument/2006/relationships/notesMaster" Target="/ppt/notesMasters/notesMaster1.xml" Id="Re10ab24ae4dc42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fc032a795644c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a53bb8cada407e" /><Relationship Type="http://schemas.openxmlformats.org/officeDocument/2006/relationships/slideLayout" Target="/ppt/slideLayouts/slideLayout1.xml" Id="R88d3514ce36440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d3514ce36440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36be79fc449ab" /><Relationship Type="http://schemas.openxmlformats.org/officeDocument/2006/relationships/notesSlide" Target="/ppt/notesSlides/notesSlide1.xml" Id="Rcb5e684b15504b4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7EF7749-8513-4590-A981-9F54A2D0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81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智慧供应链全链路运营框架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14869F-3E14-4E45-AEB1-F997495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全链路运营框架</a:t>
            </a:r>
          </a:p>
        </p:txBody>
      </p:sp>
      <p:sp>
        <p:nvSpPr>
          <p:cNvPr id="3" name="PPAGENT_QA|parent=operations-platform|domains=operations-platform">
            <a:extLst xmlns:a="http://schemas.openxmlformats.org/drawingml/2006/main">
              <a:ext uri="{FF2B5EF4-FFF2-40B4-BE49-F238E27FC236}">
                <a16:creationId xmlns:a16="http://schemas.microsoft.com/office/drawing/2014/main" id="{1CADB1F4-D0D8-421F-AAFF-95933FDD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33500"/>
            <a:ext cx="10858500" cy="2724150"/>
          </a:xfrm>
          <a:prstGeom xmlns:a="http://schemas.openxmlformats.org/drawingml/2006/main" prst="roundRect">
            <a:avLst>
              <a:gd name="adj" fmla="val 41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9D8E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5C6735-187F-42C1-8CB3-CD60E321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66850"/>
            <a:ext cx="3359150" cy="4762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33488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采购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AB8F98-FE54-4C4E-B007-7ACFF84BC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1466850"/>
            <a:ext cx="3359150" cy="4762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3E3E3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制造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523C25-F758-4FA1-93F2-CB8DDBA0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000" y="1466850"/>
            <a:ext cx="33020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5D9BD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仓储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EB6950-2259-4ABE-AE61-F67628FC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95500"/>
            <a:ext cx="647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一站式全链路运营平台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055A81-FB29-4C82-B268-ABC6AEDA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095500" y="3143250"/>
            <a:ext cx="800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D7E5"/>
            </a:solidFill>
            <a:prstDash val="solid"/>
          </a:ln>
        </p:spPr>
      </p:sp>
      <p:sp>
        <p:nvSpPr>
          <p:cNvPr id="9" name="PPAGENT_QA|parent=operations-node-0|domains=operations-nodes">
            <a:extLst xmlns:a="http://schemas.openxmlformats.org/drawingml/2006/main">
              <a:ext uri="{FF2B5EF4-FFF2-40B4-BE49-F238E27FC236}">
                <a16:creationId xmlns:a16="http://schemas.microsoft.com/office/drawing/2014/main" id="{D4CE13B6-4CE7-4F88-9D9A-BB677B08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62250"/>
            <a:ext cx="762000" cy="762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EEF2F6"/>
              </a:gs>
            </a:gsLst>
            <a:lin ang="10800000"/>
          </a:gradFill>
          <a:ln xmlns:a="http://schemas.openxmlformats.org/drawingml/2006/main" w="14288">
            <a:solidFill>
              <a:srgbClr val="D1DB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47625" tIns="38100" rIns="4762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10" name="PPAGENT_QA|parent=operations-node-1|domains=operations-nodes">
            <a:extLst xmlns:a="http://schemas.openxmlformats.org/drawingml/2006/main">
              <a:ext uri="{FF2B5EF4-FFF2-40B4-BE49-F238E27FC236}">
                <a16:creationId xmlns:a16="http://schemas.microsoft.com/office/drawing/2014/main" id="{1DB405B7-DFA2-40A7-9BBD-AF8CCD8D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762250"/>
            <a:ext cx="762000" cy="762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EEF2F6"/>
              </a:gs>
            </a:gsLst>
            <a:lin ang="10800000"/>
          </a:gradFill>
          <a:ln xmlns:a="http://schemas.openxmlformats.org/drawingml/2006/main" w="14288">
            <a:solidFill>
              <a:srgbClr val="D1DB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47625" tIns="38100" rIns="4762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采购</a:t>
            </a:r>
          </a:p>
        </p:txBody>
      </p:sp>
      <p:sp>
        <p:nvSpPr>
          <p:cNvPr id="11" name="PPAGENT_QA|parent=operations-node-2|domains=operations-nodes">
            <a:extLst xmlns:a="http://schemas.openxmlformats.org/drawingml/2006/main">
              <a:ext uri="{FF2B5EF4-FFF2-40B4-BE49-F238E27FC236}">
                <a16:creationId xmlns:a16="http://schemas.microsoft.com/office/drawing/2014/main" id="{21C36C7E-1025-41B1-9D2F-A3A13271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762250"/>
            <a:ext cx="762000" cy="762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EEF2F6"/>
              </a:gs>
            </a:gsLst>
            <a:lin ang="10800000"/>
          </a:gradFill>
          <a:ln xmlns:a="http://schemas.openxmlformats.org/drawingml/2006/main" w="14288">
            <a:solidFill>
              <a:srgbClr val="D1DB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47625" tIns="38100" rIns="4762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生产</a:t>
            </a:r>
          </a:p>
        </p:txBody>
      </p:sp>
      <p:sp>
        <p:nvSpPr>
          <p:cNvPr id="12" name="PPAGENT_QA|parent=operations-node-3|domains=operations-nodes">
            <a:extLst xmlns:a="http://schemas.openxmlformats.org/drawingml/2006/main">
              <a:ext uri="{FF2B5EF4-FFF2-40B4-BE49-F238E27FC236}">
                <a16:creationId xmlns:a16="http://schemas.microsoft.com/office/drawing/2014/main" id="{D518A035-E697-4A83-8E23-449EA8726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62250"/>
            <a:ext cx="762000" cy="762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EEF2F6"/>
              </a:gs>
            </a:gsLst>
            <a:lin ang="10800000"/>
          </a:gradFill>
          <a:ln xmlns:a="http://schemas.openxmlformats.org/drawingml/2006/main" w="14288">
            <a:solidFill>
              <a:srgbClr val="D1DB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47625" tIns="38100" rIns="4762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仓储</a:t>
            </a:r>
          </a:p>
        </p:txBody>
      </p:sp>
      <p:sp>
        <p:nvSpPr>
          <p:cNvPr id="13" name="PPAGENT_QA|parent=operations-node-4|domains=operations-nodes">
            <a:extLst xmlns:a="http://schemas.openxmlformats.org/drawingml/2006/main">
              <a:ext uri="{FF2B5EF4-FFF2-40B4-BE49-F238E27FC236}">
                <a16:creationId xmlns:a16="http://schemas.microsoft.com/office/drawing/2014/main" id="{BB979277-FBD1-4442-86DB-707FF9D3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62250"/>
            <a:ext cx="762000" cy="762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EEF2F6"/>
              </a:gs>
            </a:gsLst>
            <a:lin ang="10800000"/>
          </a:gradFill>
          <a:ln xmlns:a="http://schemas.openxmlformats.org/drawingml/2006/main" w="14288">
            <a:solidFill>
              <a:srgbClr val="D1DB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47625" tIns="38100" rIns="4762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物流</a:t>
            </a:r>
          </a:p>
        </p:txBody>
      </p:sp>
      <p:sp>
        <p:nvSpPr>
          <p:cNvPr id="14" name="PPAGENT_QA|parent=operations-node-5|domains=operations-nodes">
            <a:extLst xmlns:a="http://schemas.openxmlformats.org/drawingml/2006/main">
              <a:ext uri="{FF2B5EF4-FFF2-40B4-BE49-F238E27FC236}">
                <a16:creationId xmlns:a16="http://schemas.microsoft.com/office/drawing/2014/main" id="{B22217AA-83CF-4EEE-B0F8-6C07C854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62250"/>
            <a:ext cx="762000" cy="762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EEF2F6"/>
              </a:gs>
            </a:gsLst>
            <a:lin ang="10800000"/>
          </a:gradFill>
          <a:ln xmlns:a="http://schemas.openxmlformats.org/drawingml/2006/main" w="14288">
            <a:solidFill>
              <a:srgbClr val="D1DB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47625" tIns="38100" rIns="4762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金融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587AB5-3794-4F52-8B46-8A59A75B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42950" cy="1638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83792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F3EF1C-BDAE-4F13-ADB5-0B28BB0D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076450"/>
            <a:ext cx="742950" cy="1638300"/>
          </a:xfrm>
          <a:prstGeom xmlns:a="http://schemas.openxmlformats.org/drawingml/2006/main" prst="upArrow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83792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运营</a:t>
            </a:r>
          </a:p>
        </p:txBody>
      </p:sp>
      <p:sp>
        <p:nvSpPr>
          <p:cNvPr id="17" name="PPAGENT_QA|parent=operations-pillar-0|domains=operations-pillars">
            <a:extLst xmlns:a="http://schemas.openxmlformats.org/drawingml/2006/main">
              <a:ext uri="{FF2B5EF4-FFF2-40B4-BE49-F238E27FC236}">
                <a16:creationId xmlns:a16="http://schemas.microsoft.com/office/drawing/2014/main" id="{4220D9B4-82A3-4B00-8571-2EBB1FFA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26289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D6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B5D26A-172A-4960-A768-BB504F4E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26289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315AA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决策智能化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BDD23D-A8FD-4298-8C0A-F29A5DFE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2362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用数据支持关键经营判断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48E01F-EE66-4141-8C26-AFE292D9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11525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15AA7"/>
            </a:solidFill>
            <a:prstDash val="solid"/>
          </a:ln>
        </p:spPr>
        <p:txBody>
          <a:bodyPr xmlns:a="http://schemas.openxmlformats.org/drawingml/2006/main" lIns="47625" tIns="9525" rIns="47625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15A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315AA7"/>
                </a:solidFill>
                <a:latin typeface="Microsoft YaHei"/>
                <a:ea typeface="Microsoft YaHei"/>
                <a:cs typeface="Microsoft YaHei"/>
              </a:rPr>
              <a:t>采购决策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CDC211-0FCA-48A1-A39B-DCBA4E4B0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429250"/>
            <a:ext cx="11525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15AA7"/>
            </a:solidFill>
            <a:prstDash val="solid"/>
          </a:ln>
        </p:spPr>
        <p:txBody>
          <a:bodyPr xmlns:a="http://schemas.openxmlformats.org/drawingml/2006/main" lIns="47625" tIns="9525" rIns="47625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15A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315AA7"/>
                </a:solidFill>
                <a:latin typeface="Microsoft YaHei"/>
                <a:ea typeface="Microsoft YaHei"/>
                <a:cs typeface="Microsoft YaHei"/>
              </a:rPr>
              <a:t>配送决策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28FD7B-59E6-4A47-8BEC-D0407447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72150"/>
            <a:ext cx="11525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15AA7"/>
            </a:solidFill>
            <a:prstDash val="solid"/>
          </a:ln>
        </p:spPr>
        <p:txBody>
          <a:bodyPr xmlns:a="http://schemas.openxmlformats.org/drawingml/2006/main" lIns="47625" tIns="9525" rIns="47625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15A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315AA7"/>
                </a:solidFill>
                <a:latin typeface="Microsoft YaHei"/>
                <a:ea typeface="Microsoft YaHei"/>
                <a:cs typeface="Microsoft YaHei"/>
              </a:rPr>
              <a:t>运营决策</a:t>
            </a:r>
          </a:p>
        </p:txBody>
      </p:sp>
      <p:sp>
        <p:nvSpPr>
          <p:cNvPr id="23" name="PPAGENT_QA|parent=operations-pillar-1|domains=operations-pillars">
            <a:extLst xmlns:a="http://schemas.openxmlformats.org/drawingml/2006/main">
              <a:ext uri="{FF2B5EF4-FFF2-40B4-BE49-F238E27FC236}">
                <a16:creationId xmlns:a16="http://schemas.microsoft.com/office/drawing/2014/main" id="{264F12D5-0673-412D-9987-699060C2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67200"/>
            <a:ext cx="26289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9525">
            <a:solidFill>
              <a:srgbClr val="D6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10FA9C-D03C-47A8-9998-64C1C3C6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305300"/>
            <a:ext cx="26289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4C79B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运营可视化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D06B1D-732D-426A-A8CC-693462A3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857750"/>
            <a:ext cx="2362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让全过程状态可追踪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508551-0029-43A5-98ED-B4E1F29D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429250"/>
            <a:ext cx="11525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C79B7"/>
            </a:solidFill>
            <a:prstDash val="solid"/>
          </a:ln>
        </p:spPr>
        <p:txBody>
          <a:bodyPr xmlns:a="http://schemas.openxmlformats.org/drawingml/2006/main" lIns="47625" tIns="9525" rIns="47625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C79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C79B7"/>
                </a:solidFill>
                <a:latin typeface="Microsoft YaHei"/>
                <a:ea typeface="Microsoft YaHei"/>
                <a:cs typeface="Microsoft YaHei"/>
              </a:rPr>
              <a:t>过程可视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04614-A7D8-4D3E-9E73-D8AB28D6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5429250"/>
            <a:ext cx="11525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C79B7"/>
            </a:solidFill>
            <a:prstDash val="solid"/>
          </a:ln>
        </p:spPr>
        <p:txBody>
          <a:bodyPr xmlns:a="http://schemas.openxmlformats.org/drawingml/2006/main" lIns="47625" tIns="9525" rIns="47625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C79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C79B7"/>
                </a:solidFill>
                <a:latin typeface="Microsoft YaHei"/>
                <a:ea typeface="Microsoft YaHei"/>
                <a:cs typeface="Microsoft YaHei"/>
              </a:rPr>
              <a:t>仓储可视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2D5DE9-853A-4226-802C-71E067B0D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772150"/>
            <a:ext cx="11525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C79B7"/>
            </a:solidFill>
            <a:prstDash val="solid"/>
          </a:ln>
        </p:spPr>
        <p:txBody>
          <a:bodyPr xmlns:a="http://schemas.openxmlformats.org/drawingml/2006/main" lIns="47625" tIns="9525" rIns="47625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C79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C79B7"/>
                </a:solidFill>
                <a:latin typeface="Microsoft YaHei"/>
                <a:ea typeface="Microsoft YaHei"/>
                <a:cs typeface="Microsoft YaHei"/>
              </a:rPr>
              <a:t>风险可视</a:t>
            </a:r>
          </a:p>
        </p:txBody>
      </p:sp>
      <p:sp>
        <p:nvSpPr>
          <p:cNvPr id="29" name="PPAGENT_QA|parent=operations-pillar-2|domains=operations-pillars">
            <a:extLst xmlns:a="http://schemas.openxmlformats.org/drawingml/2006/main">
              <a:ext uri="{FF2B5EF4-FFF2-40B4-BE49-F238E27FC236}">
                <a16:creationId xmlns:a16="http://schemas.microsoft.com/office/drawing/2014/main" id="{60448076-33F7-4BA4-81F0-68A4BA0F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267200"/>
            <a:ext cx="26289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D6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4F7361-515A-4007-80FF-18EA062C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305300"/>
            <a:ext cx="26289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2F73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组织生态化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3FF3F2-2FFB-40B3-B1BA-86C5640EA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57750"/>
            <a:ext cx="2362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连接伙伴、资源和协同行为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8DB274-AA0C-427F-BFEB-B4325E8D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29250"/>
            <a:ext cx="11525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73B5"/>
            </a:solidFill>
            <a:prstDash val="solid"/>
          </a:ln>
        </p:spPr>
        <p:txBody>
          <a:bodyPr xmlns:a="http://schemas.openxmlformats.org/drawingml/2006/main" lIns="47625" tIns="9525" rIns="47625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F73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2F73B5"/>
                </a:solidFill>
                <a:latin typeface="Microsoft YaHei"/>
                <a:ea typeface="Microsoft YaHei"/>
                <a:cs typeface="Microsoft YaHei"/>
              </a:rPr>
              <a:t>协同关系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7240B2-1F07-4A60-890A-61562CCD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5429250"/>
            <a:ext cx="11525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73B5"/>
            </a:solidFill>
            <a:prstDash val="solid"/>
          </a:ln>
        </p:spPr>
        <p:txBody>
          <a:bodyPr xmlns:a="http://schemas.openxmlformats.org/drawingml/2006/main" lIns="47625" tIns="9525" rIns="47625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F73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2F73B5"/>
                </a:solidFill>
                <a:latin typeface="Microsoft YaHei"/>
                <a:ea typeface="Microsoft YaHei"/>
                <a:cs typeface="Microsoft YaHei"/>
              </a:rPr>
              <a:t>资源共通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E0B283-6EE1-4B81-B04C-75CC5DE9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772150"/>
            <a:ext cx="11525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73B5"/>
            </a:solidFill>
            <a:prstDash val="solid"/>
          </a:ln>
        </p:spPr>
        <p:txBody>
          <a:bodyPr xmlns:a="http://schemas.openxmlformats.org/drawingml/2006/main" lIns="47625" tIns="9525" rIns="47625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F73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2F73B5"/>
                </a:solidFill>
                <a:latin typeface="Microsoft YaHei"/>
                <a:ea typeface="Microsoft YaHei"/>
                <a:cs typeface="Microsoft YaHei"/>
              </a:rPr>
              <a:t>信息共享</a:t>
            </a:r>
          </a:p>
        </p:txBody>
      </p:sp>
      <p:sp>
        <p:nvSpPr>
          <p:cNvPr id="35" name="PPAGENT_QA|parent=operations-pillar-3|domains=operations-pillars">
            <a:extLst xmlns:a="http://schemas.openxmlformats.org/drawingml/2006/main">
              <a:ext uri="{FF2B5EF4-FFF2-40B4-BE49-F238E27FC236}">
                <a16:creationId xmlns:a16="http://schemas.microsoft.com/office/drawing/2014/main" id="{2C3716FD-164F-46BD-8CD4-C167E4957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267200"/>
            <a:ext cx="26289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9525">
            <a:solidFill>
              <a:srgbClr val="D6E0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0C68CE-17ED-4EBD-9A7A-0B75E7B6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305300"/>
            <a:ext cx="26289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5D91C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要素集成化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62DEFC5-F5B1-4CF9-8729-5A2E09311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857750"/>
            <a:ext cx="2362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整合业务要素形成闭环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ACFF995-2DF6-42A8-BF16-EBB9DA47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429250"/>
            <a:ext cx="11525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D91CD"/>
            </a:solidFill>
            <a:prstDash val="solid"/>
          </a:ln>
        </p:spPr>
        <p:txBody>
          <a:bodyPr xmlns:a="http://schemas.openxmlformats.org/drawingml/2006/main" lIns="47625" tIns="9525" rIns="47625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91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D91CD"/>
                </a:solidFill>
                <a:latin typeface="Microsoft YaHei"/>
                <a:ea typeface="Microsoft YaHei"/>
                <a:cs typeface="Microsoft YaHei"/>
              </a:rPr>
              <a:t>价值管理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44F296-0612-4717-A951-1059954F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5429250"/>
            <a:ext cx="11525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D91CD"/>
            </a:solidFill>
            <a:prstDash val="solid"/>
          </a:ln>
        </p:spPr>
        <p:txBody>
          <a:bodyPr xmlns:a="http://schemas.openxmlformats.org/drawingml/2006/main" lIns="47625" tIns="9525" rIns="47625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91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D91CD"/>
                </a:solidFill>
                <a:latin typeface="Microsoft YaHei"/>
                <a:ea typeface="Microsoft YaHei"/>
                <a:cs typeface="Microsoft YaHei"/>
              </a:rPr>
              <a:t>生产管理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9D4CF8-8999-474E-AD5D-9CB4CCAF9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772150"/>
            <a:ext cx="11525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D91CD"/>
            </a:solidFill>
            <a:prstDash val="solid"/>
          </a:ln>
        </p:spPr>
        <p:txBody>
          <a:bodyPr xmlns:a="http://schemas.openxmlformats.org/drawingml/2006/main" lIns="47625" tIns="9525" rIns="47625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D91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D91CD"/>
                </a:solidFill>
                <a:latin typeface="Microsoft YaHei"/>
                <a:ea typeface="Microsoft YaHei"/>
                <a:cs typeface="Microsoft YaHei"/>
              </a:rPr>
              <a:t>风险管理</a:t>
            </a:r>
          </a:p>
        </p:txBody>
      </p:sp>
    </p:spTree>
    <p:extLst>
      <p:ext uri="{BB962C8B-B14F-4D97-AF65-F5344CB8AC3E}">
        <p14:creationId xmlns:p14="http://schemas.microsoft.com/office/powerpoint/2010/main" val="19240438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2026-08-10T11:50:40.4910000Z</dcterms:created>
  <dcterms:modified xsi:type="dcterms:W3CDTF">2026-08-10T11:50:40.4910000Z</dcterms:modified>
</coreProperties>
</file>