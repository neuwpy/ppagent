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b06f9f9fe4276" /><Relationship Type="http://schemas.openxmlformats.org/officeDocument/2006/relationships/extended-properties" Target="/docProps/app.xml" Id="R50c184ee2fdf4f12" /><Relationship Type="http://schemas.openxmlformats.org/officeDocument/2006/relationships/officeDocument" Target="/ppt/presentation.xml" Id="R2e96481858f041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36635bb2847c4"/>
    <p:sldMasterId xmlns:r="http://schemas.openxmlformats.org/officeDocument/2006/relationships" id="2147483660" r:id="R97683516ec704bf4"/>
    <p:sldMasterId xmlns:r="http://schemas.openxmlformats.org/officeDocument/2006/relationships" id="2147483663" r:id="R589eb7cd650a4410"/>
  </p:sldMasterIdLst>
  <p:notesMasterIdLst>
    <p:notesMasterId xmlns:r="http://schemas.openxmlformats.org/officeDocument/2006/relationships" r:id="R99225d3bac5e4d09"/>
  </p:notesMasterIdLst>
  <p:sldIdLst>
    <p:sldId xmlns:r="http://schemas.openxmlformats.org/officeDocument/2006/relationships" id="256" r:id="R1663f87fdf094868"/>
    <p:sldId xmlns:r="http://schemas.openxmlformats.org/officeDocument/2006/relationships" id="257" r:id="R013011c001df4133"/>
    <p:sldId xmlns:r="http://schemas.openxmlformats.org/officeDocument/2006/relationships" id="258" r:id="Rd07b7c16bcf4436f"/>
    <p:sldId xmlns:r="http://schemas.openxmlformats.org/officeDocument/2006/relationships" id="259" r:id="R776f2f41b4ff42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5c2430dfe74c55" /><Relationship Type="http://schemas.openxmlformats.org/officeDocument/2006/relationships/slideMaster" Target="/ppt/slideMasters/slideMaster1.xml" Id="Rde836635bb2847c4" /><Relationship Type="http://schemas.openxmlformats.org/officeDocument/2006/relationships/slideMaster" Target="/ppt/slideMasters/slideMaster2.xml" Id="R97683516ec704bf4" /><Relationship Type="http://schemas.openxmlformats.org/officeDocument/2006/relationships/slideMaster" Target="/ppt/slideMasters/slideMaster3.xml" Id="R589eb7cd650a4410" /><Relationship Type="http://schemas.openxmlformats.org/officeDocument/2006/relationships/notesMaster" Target="/ppt/notesMasters/notesMaster1.xml" Id="R99225d3bac5e4d09" /><Relationship Type="http://schemas.openxmlformats.org/officeDocument/2006/relationships/presProps" Target="/ppt/presProps.xml" Id="Rde23ce63b7264df6" /><Relationship Type="http://schemas.openxmlformats.org/officeDocument/2006/relationships/viewProps" Target="/ppt/viewProps.xml" Id="R5285d378a8bd4b6c" /><Relationship Type="http://schemas.openxmlformats.org/officeDocument/2006/relationships/tableStyles" Target="/ppt/tableStyles.xml" Id="Rd835a1acfe4843a0" /><Relationship Type="http://schemas.openxmlformats.org/officeDocument/2006/relationships/slide" Target="/ppt/slides/slide1.xml" Id="R1663f87fdf094868" /><Relationship Type="http://schemas.openxmlformats.org/officeDocument/2006/relationships/slide" Target="/ppt/slides/slide2.xml" Id="R013011c001df4133" /><Relationship Type="http://schemas.openxmlformats.org/officeDocument/2006/relationships/slide" Target="/ppt/slides/slide3.xml" Id="Rd07b7c16bcf4436f" /><Relationship Type="http://schemas.openxmlformats.org/officeDocument/2006/relationships/slide" Target="/ppt/slides/slide4.xml" Id="R776f2f41b4ff42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f4df54c0f8e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48d4caade8407c" /><Relationship Type="http://schemas.openxmlformats.org/officeDocument/2006/relationships/notesMaster" Target="/ppt/notesMasters/notesMaster1.xml" Id="R7dfaa5b8aabc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52e843658e4162" /><Relationship Type="http://schemas.openxmlformats.org/officeDocument/2006/relationships/notesMaster" Target="/ppt/notesMasters/notesMaster1.xml" Id="Rad8e6fb0c89a41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4bf013b9204968" /><Relationship Type="http://schemas.openxmlformats.org/officeDocument/2006/relationships/notesMaster" Target="/ppt/notesMasters/notesMaster1.xml" Id="Rf7fd2a0932f245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81079d80d43b1" /><Relationship Type="http://schemas.openxmlformats.org/officeDocument/2006/relationships/notesMaster" Target="/ppt/notesMasters/notesMaster1.xml" Id="Rcd3ddadda1e74f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拟议试点用现有设备与人员验证交接是否清楚：申请人知道何时可用，管理员知道由谁交接，负责人能核对异常处理；不新增自动审批承诺。</a:t>
            </a:r>
            <a:endParaRPr/>
          </a:p>
          <a:p xmlns:a="http://schemas.openxmlformats.org/drawingml/2006/main">
            <a:r>
              <a:t>item-goals [s1]</a:t>
            </a:r>
            <a:endParaRPr/>
          </a:p>
          <a:p xmlns:a="http://schemas.openxmlformats.org/drawingml/2006/main">
            <a:r>
              <a:t>试点目标：让申请人知道何时可以使用，让管理员知道由谁交接，让负责人能够核对异常处理。本稿讨论一个拟议试点，没有提供已实现的成效统计。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item-boundary [s2]</a:t>
            </a:r>
            <a:endParaRPr/>
          </a:p>
          <a:p xmlns:a="http://schemas.openxmlformats.org/drawingml/2006/main">
            <a:r>
              <a:t>边界原则：先使用现有设备和人员安排，不新增自动审批承诺；涉及安全条件的申请仍须由责任人确认。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临时协调入口简单但记录分散，统一登记便于交接但需有人持续维护；试点先验证交接是否清楚，统一登记并不等于自动批准。</a:t>
            </a:r>
            <a:endParaRPr/>
          </a:p>
          <a:p xmlns:a="http://schemas.openxmlformats.org/drawingml/2006/main">
            <a:r>
              <a:t>item-adhoc [s3]</a:t>
            </a:r>
            <a:endParaRPr/>
          </a:p>
          <a:p xmlns:a="http://schemas.openxmlformats.org/drawingml/2006/main">
            <a:r>
              <a:t>临时协调：申请人在群里描述需求，管理员逐次确认设备和时间。入口简单，但调整记录分散，换班时需要重新解释。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item-registry [s4]</a:t>
            </a:r>
            <a:endParaRPr/>
          </a:p>
          <a:p xmlns:a="http://schemas.openxmlformats.org/drawingml/2006/main">
            <a:r>
              <a:t>统一登记：申请先进入同一份登记表，管理员确认后再通知使用时间。记录便于交接，但需要有人持续维护状态。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item-choice-basis [s5]</a:t>
            </a:r>
            <a:endParaRPr/>
          </a:p>
          <a:p xmlns:a="http://schemas.openxmlformats.org/drawingml/2006/main">
            <a:r>
              <a:t>选择依据：试点优先验证交接是否清楚，再决定是否增加系统功能；统一登记并不意味着自动批准。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一次预约按登记需求、确认安排、使用归还三步走，各步记录相互对应构成可交接的完整链条；设备故障或时间冲突时暂停原安排，由管理员联系责任人处理，该规则贯穿预约全程。</a:t>
            </a:r>
            <a:endParaRPr/>
          </a:p>
          <a:p xmlns:a="http://schemas.openxmlformats.org/drawingml/2006/main">
            <a:r>
              <a:t>item-step-register [s6]</a:t>
            </a:r>
            <a:endParaRPr/>
          </a:p>
          <a:p xmlns:a="http://schemas.openxmlformats.org/drawingml/2006/main">
            <a:r>
              <a:t>登记需求：第一步由申请人写明设备、时间和使用目的，提交后等待管理员确认。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item-step-confirm [s7]</a:t>
            </a:r>
            <a:endParaRPr/>
          </a:p>
          <a:p xmlns:a="http://schemas.openxmlformats.org/drawingml/2006/main">
            <a:r>
              <a:t>确认安排：第二步由管理员核对设备状态与值班安排，明确是否接收申请，再通知申请人。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item-step-use-return [s8]</a:t>
            </a:r>
            <a:endParaRPr/>
          </a:p>
          <a:p xmlns:a="http://schemas.openxmlformats.org/drawingml/2006/main">
            <a:r>
              <a:t>使用归还：第三步由使用人完成现场交接，使用结束后归还设备并登记异常情况。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item-exception-throughout [s9]</a:t>
            </a:r>
            <a:endParaRPr/>
          </a:p>
          <a:p xmlns:a="http://schemas.openxmlformats.org/drawingml/2006/main">
            <a:r>
              <a:t>异常处理：出现设备故障或时间冲突时暂停原安排，由管理员联系责任人处理；这项规则适用于整个预约过程。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首轮只核对记录完整、责任明确、调整有据三项；有争议先澄清责任再讨论自动化，以实际问题决定下一轮改进。</a:t>
            </a:r>
            <a:endParaRPr/>
          </a:p>
          <a:p xmlns:a="http://schemas.openxmlformats.org/drawingml/2006/main">
            <a:r>
              <a:t>item-check-record [s10]</a:t>
            </a:r>
            <a:endParaRPr/>
          </a:p>
          <a:p xmlns:a="http://schemas.openxmlformats.org/drawingml/2006/main">
            <a:r>
              <a:t>记录完整：检查登记信息、确认结果和归还记录是否能够对应，缺少任一环节就补齐交接信息。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item-check-responsibility [s11]</a:t>
            </a:r>
            <a:endParaRPr/>
          </a:p>
          <a:p xmlns:a="http://schemas.openxmlformats.org/drawingml/2006/main">
            <a:r>
              <a:t>责任明确：检查申请人、管理员和责任人的分工是否清楚；有争议时先澄清责任，再讨论自动化。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item-check-adjustment [s12]</a:t>
            </a:r>
            <a:endParaRPr/>
          </a:p>
          <a:p xmlns:a="http://schemas.openxmlformats.org/drawingml/2006/main">
            <a:r>
              <a:t>调整有据：记录取消、改期和故障的具体原因，以实际问题决定下一轮改进，不用页面里的示意流程冒充运行结果。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6d69c52504cc2" /><Relationship Type="http://schemas.openxmlformats.org/officeDocument/2006/relationships/image" Target="/ppt/media/image.jpeg" Id="R69a75d2e47664e31" /><Relationship Type="http://schemas.openxmlformats.org/officeDocument/2006/relationships/image" Target="/ppt/media/image.png" Id="Rb0c3dd927e8048b9" /><Relationship Type="http://schemas.openxmlformats.org/officeDocument/2006/relationships/image" Target="/ppt/media/image2.png" Id="R16850764bb754f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b2fa987ad44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4350106064180" /><Relationship Type="http://schemas.openxmlformats.org/officeDocument/2006/relationships/image" Target="/ppt/media/image3.png" Id="Rc785628eb24b47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adb10af9e40f1" /><Relationship Type="http://schemas.openxmlformats.org/officeDocument/2006/relationships/image" Target="/ppt/media/image4.png" Id="R75fa8310ebb441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092165f2949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23b835de147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e40215a9341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9dc3578bf45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7430cb50c42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fa3816d8340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4d572bf08461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6b5e99ca7a412e" /><Relationship Type="http://schemas.openxmlformats.org/officeDocument/2006/relationships/image" Target="/ppt/media/image5.png" Id="R60e02e724dc7458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950f8c55c0439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859f5121a448e9" /><Relationship Type="http://schemas.openxmlformats.org/officeDocument/2006/relationships/image" Target="/ppt/media/image5.png" Id="Rd90b7f8cad65464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1401add812a4ba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5d2e47664e3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3dd927e8048b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50764bb75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5628eb24b472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a8310ebb4418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02e724dc7458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b7f8cad65464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6fc035f76d4834" /><Relationship Type="http://schemas.openxmlformats.org/officeDocument/2006/relationships/slideLayout" Target="/ppt/slideLayouts/slideLayout1.xml" Id="R75faf11572ff41df" /><Relationship Type="http://schemas.openxmlformats.org/officeDocument/2006/relationships/slideLayout" Target="/ppt/slideLayouts/slideLayout2.xml" Id="R4ddea3fd0fa04775" /><Relationship Type="http://schemas.openxmlformats.org/officeDocument/2006/relationships/slideLayout" Target="/ppt/slideLayouts/slideLayout3.xml" Id="R113d057ca49e4bdc" /><Relationship Type="http://schemas.openxmlformats.org/officeDocument/2006/relationships/slideLayout" Target="/ppt/slideLayouts/slideLayout4.xml" Id="R0cc13cf1de7d499e" /><Relationship Type="http://schemas.openxmlformats.org/officeDocument/2006/relationships/slideLayout" Target="/ppt/slideLayouts/slideLayout5.xml" Id="Rbf6f6a78a1ea40fd" /><Relationship Type="http://schemas.openxmlformats.org/officeDocument/2006/relationships/slideLayout" Target="/ppt/slideLayouts/slideLayout6.xml" Id="R3fdcbe4678e342b3" /><Relationship Type="http://schemas.openxmlformats.org/officeDocument/2006/relationships/slideLayout" Target="/ppt/slideLayouts/slideLayout7.xml" Id="Ra002f69e3746444e" /><Relationship Type="http://schemas.openxmlformats.org/officeDocument/2006/relationships/slideLayout" Target="/ppt/slideLayouts/slideLayout8.xml" Id="R22c25582a2874666" /><Relationship Type="http://schemas.openxmlformats.org/officeDocument/2006/relationships/slideLayout" Target="/ppt/slideLayouts/slideLayout9.xml" Id="R5d086860182040c5" /><Relationship Type="http://schemas.openxmlformats.org/officeDocument/2006/relationships/slideLayout" Target="/ppt/slideLayouts/slideLayout10.xml" Id="Rc76863d8554c4c11" /><Relationship Type="http://schemas.openxmlformats.org/officeDocument/2006/relationships/slideLayout" Target="/ppt/slideLayouts/slideLayout11.xml" Id="Rd6fca1c316b54f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1d45b4ba4c24714" /><Relationship Type="http://schemas.openxmlformats.org/officeDocument/2006/relationships/slideLayout" Target="/ppt/slideLayouts/slideLayout12.xml" Id="Rb151fe932ef545c3" /><Relationship Type="http://schemas.openxmlformats.org/officeDocument/2006/relationships/slideLayout" Target="/ppt/slideLayouts/slideLayout13.xml" Id="Rd768aae1514c4ba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3bf1d4bbf9e4c60" /><Relationship Type="http://schemas.openxmlformats.org/officeDocument/2006/relationships/slideLayout" Target="/ppt/slideLayouts/slideLayout14.xml" Id="R21eb80d1f1784ceb" /><Relationship Type="http://schemas.openxmlformats.org/officeDocument/2006/relationships/slideLayout" Target="/ppt/slideLayouts/slideLayout15.xml" Id="R67b51f629d6443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faf11572ff41df"/>
    <p:sldLayoutId xmlns:r="http://schemas.openxmlformats.org/officeDocument/2006/relationships" id="2147483650" r:id="R4ddea3fd0fa04775"/>
    <p:sldLayoutId xmlns:r="http://schemas.openxmlformats.org/officeDocument/2006/relationships" id="2147483651" r:id="R113d057ca49e4bdc"/>
    <p:sldLayoutId xmlns:r="http://schemas.openxmlformats.org/officeDocument/2006/relationships" id="2147483652" r:id="R0cc13cf1de7d499e"/>
    <p:sldLayoutId xmlns:r="http://schemas.openxmlformats.org/officeDocument/2006/relationships" id="2147483653" r:id="Rbf6f6a78a1ea40fd"/>
    <p:sldLayoutId xmlns:r="http://schemas.openxmlformats.org/officeDocument/2006/relationships" id="2147483654" r:id="R3fdcbe4678e342b3"/>
    <p:sldLayoutId xmlns:r="http://schemas.openxmlformats.org/officeDocument/2006/relationships" id="2147483655" r:id="Ra002f69e3746444e"/>
    <p:sldLayoutId xmlns:r="http://schemas.openxmlformats.org/officeDocument/2006/relationships" id="2147483656" r:id="R22c25582a2874666"/>
    <p:sldLayoutId xmlns:r="http://schemas.openxmlformats.org/officeDocument/2006/relationships" id="2147483657" r:id="R5d086860182040c5"/>
    <p:sldLayoutId xmlns:r="http://schemas.openxmlformats.org/officeDocument/2006/relationships" id="2147483658" r:id="Rc76863d8554c4c11"/>
    <p:sldLayoutId xmlns:r="http://schemas.openxmlformats.org/officeDocument/2006/relationships" id="2147483659" r:id="Rd6fca1c316b54f1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151fe932ef545c3"/>
    <p:sldLayoutId xmlns:r="http://schemas.openxmlformats.org/officeDocument/2006/relationships" id="2147483662" r:id="Rd768aae1514c4ba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1eb80d1f1784ceb"/>
    <p:sldLayoutId xmlns:r="http://schemas.openxmlformats.org/officeDocument/2006/relationships" id="2147483665" r:id="R67b51f629d6443e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80d5b6cc644898" /><Relationship Type="http://schemas.openxmlformats.org/officeDocument/2006/relationships/notesSlide" Target="/ppt/notesSlides/notesSlide1.xml" Id="R08d2d4aceee24a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30009196414eb5" /><Relationship Type="http://schemas.openxmlformats.org/officeDocument/2006/relationships/notesSlide" Target="/ppt/notesSlides/notesSlide2.xml" Id="R5a283951b735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29c9da735d4ae6" /><Relationship Type="http://schemas.openxmlformats.org/officeDocument/2006/relationships/notesSlide" Target="/ppt/notesSlides/notesSlide3.xml" Id="R720efe3824e8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8810a859cd4b29" /><Relationship Type="http://schemas.openxmlformats.org/officeDocument/2006/relationships/notesSlide" Target="/ppt/notesSlides/notesSlide4.xml" Id="Ra5170b435f464d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试点目标与边界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goals-card:item-goals:title">
            <a:extLst xmlns:a="http://schemas.openxmlformats.org/drawingml/2006/main">
              <a:ext uri="{FF2B5EF4-FFF2-40B4-BE49-F238E27FC236}">
                <a16:creationId xmlns:a16="http://schemas.microsoft.com/office/drawing/2014/main" id="{8274D624-9E32-46D5-BFC4-B1FD5250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438400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试点目标</a:t>
            </a:r>
          </a:p>
        </p:txBody>
      </p:sp>
      <p:sp>
        <p:nvSpPr>
          <p:cNvPr id="16" name="grid:goals-card:item-goals:body">
            <a:extLst xmlns:a="http://schemas.openxmlformats.org/drawingml/2006/main">
              <a:ext uri="{FF2B5EF4-FFF2-40B4-BE49-F238E27FC236}">
                <a16:creationId xmlns:a16="http://schemas.microsoft.com/office/drawing/2014/main" id="{319AECDE-DFAF-43B5-B997-FA6F36E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895600"/>
            <a:ext cx="4491038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让申请人知道何时可以使用，让管理员知道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由谁交接，让负责人能够核对异常处理。</a:t>
            </a:r>
          </a:p>
        </p:txBody>
      </p:sp>
      <p:sp>
        <p:nvSpPr>
          <p:cNvPr id="17" name="grid:goals-card:item-goals:body">
            <a:extLst xmlns:a="http://schemas.openxmlformats.org/drawingml/2006/main">
              <a:ext uri="{FF2B5EF4-FFF2-40B4-BE49-F238E27FC236}">
                <a16:creationId xmlns:a16="http://schemas.microsoft.com/office/drawing/2014/main" id="{66F7A711-4B77-44FE-8C38-E0E9E5DB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3824288"/>
            <a:ext cx="4491038" cy="1195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本稿讨论一个拟议试点，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没有提供已实现的成效统计。</a:t>
            </a:r>
          </a:p>
        </p:txBody>
      </p:sp>
      <p:sp>
        <p:nvSpPr>
          <p:cNvPr id="18" name="grid:boundary-card:item-boundary:title">
            <a:extLst xmlns:a="http://schemas.openxmlformats.org/drawingml/2006/main">
              <a:ext uri="{FF2B5EF4-FFF2-40B4-BE49-F238E27FC236}">
                <a16:creationId xmlns:a16="http://schemas.microsoft.com/office/drawing/2014/main" id="{C3812367-C693-486B-BFAA-77BE0E0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438400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边界原则</a:t>
            </a:r>
          </a:p>
        </p:txBody>
      </p:sp>
      <p:sp>
        <p:nvSpPr>
          <p:cNvPr id="19" name="grid:boundary-card:item-boundary:body">
            <a:extLst xmlns:a="http://schemas.openxmlformats.org/drawingml/2006/main">
              <a:ext uri="{FF2B5EF4-FFF2-40B4-BE49-F238E27FC236}">
                <a16:creationId xmlns:a16="http://schemas.microsoft.com/office/drawing/2014/main" id="{D88BABCE-4EDF-4610-96C4-8D92DF8A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895600"/>
            <a:ext cx="4491038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先使用现有设备和人员安排，不新增自动审批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承诺；涉及安全条件的申请仍须由责任人确认。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两种协调方式的差别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adhoc-card:item-adhoc:title">
            <a:extLst xmlns:a="http://schemas.openxmlformats.org/drawingml/2006/main">
              <a:ext uri="{FF2B5EF4-FFF2-40B4-BE49-F238E27FC236}">
                <a16:creationId xmlns:a16="http://schemas.microsoft.com/office/drawing/2014/main" id="{9D68A0D0-07F8-4CE3-B1F1-7A8C3754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047875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临时协调</a:t>
            </a:r>
          </a:p>
        </p:txBody>
      </p:sp>
      <p:sp>
        <p:nvSpPr>
          <p:cNvPr id="16" name="grid:adhoc-card:item-adhoc:body">
            <a:extLst xmlns:a="http://schemas.openxmlformats.org/drawingml/2006/main">
              <a:ext uri="{FF2B5EF4-FFF2-40B4-BE49-F238E27FC236}">
                <a16:creationId xmlns:a16="http://schemas.microsoft.com/office/drawing/2014/main" id="{E8769DF4-C14B-4254-A38C-6B8315C3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505075"/>
            <a:ext cx="4491038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申请人在群里描述需求，管理员逐次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确认设备和时间。入口简单，但调整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记录分散，换班时需要重新解释。</a:t>
            </a:r>
          </a:p>
        </p:txBody>
      </p:sp>
      <p:sp>
        <p:nvSpPr>
          <p:cNvPr id="17" name="grid:registry-card:item-registry:title">
            <a:extLst xmlns:a="http://schemas.openxmlformats.org/drawingml/2006/main">
              <a:ext uri="{FF2B5EF4-FFF2-40B4-BE49-F238E27FC236}">
                <a16:creationId xmlns:a16="http://schemas.microsoft.com/office/drawing/2014/main" id="{D2137B13-BE21-49C0-B6D8-A5A23A14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047875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统一登记</a:t>
            </a:r>
          </a:p>
        </p:txBody>
      </p:sp>
      <p:sp>
        <p:nvSpPr>
          <p:cNvPr id="18" name="grid:registry-card:item-registry:body">
            <a:extLst xmlns:a="http://schemas.openxmlformats.org/drawingml/2006/main">
              <a:ext uri="{FF2B5EF4-FFF2-40B4-BE49-F238E27FC236}">
                <a16:creationId xmlns:a16="http://schemas.microsoft.com/office/drawing/2014/main" id="{75AEA99C-5BF3-4B35-9D37-2B4B7FCF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505075"/>
            <a:ext cx="4491038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申请先进入同一份登记表，管理员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确认后再通知使用时间。记录便于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交接，但需要有人持续维护状态。</a:t>
            </a:r>
          </a:p>
        </p:txBody>
      </p:sp>
      <p:sp>
        <p:nvSpPr>
          <p:cNvPr id="19" name="grid:basis-strip:item-choice-basis:title">
            <a:extLst xmlns:a="http://schemas.openxmlformats.org/drawingml/2006/main">
              <a:ext uri="{FF2B5EF4-FFF2-40B4-BE49-F238E27FC236}">
                <a16:creationId xmlns:a16="http://schemas.microsoft.com/office/drawing/2014/main" id="{4BAA03ED-56ED-4AA3-88DA-BB5A997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4781550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20" name="grid:basis-strip:item-choice-basis:body">
            <a:extLst xmlns:a="http://schemas.openxmlformats.org/drawingml/2006/main">
              <a:ext uri="{FF2B5EF4-FFF2-40B4-BE49-F238E27FC236}">
                <a16:creationId xmlns:a16="http://schemas.microsoft.com/office/drawing/2014/main" id="{22B8E355-B127-4F0A-B06A-B8AF7683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238750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试点优先验证交接是否清楚，再决定是否增加系统功能；统一登记并不意味着自动批准。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一次预约的三步流程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46EF366F-A4AC-4517-81FE-02DB7338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729798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A55DAB6A-B951-417C-BD4A-B3EB133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2876550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F31FFC2D-26B3-49B3-98A1-A221AC81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18192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登记需求</a:t>
            </a:r>
          </a:p>
        </p:txBody>
      </p:sp>
      <p:sp>
        <p:nvSpPr>
          <p:cNvPr id="18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9C3A5B21-E8DE-4E47-A506-5C063EC9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4669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19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FD614D8C-6B9B-4150-91B7-027FCA70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5812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62A263A7-6055-4E49-B1F9-CA1274D2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5812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4C95C9D0-3A32-4B18-9032-1F804F7C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2480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A34D7B72-5899-40E2-B85A-B0781407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361950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3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F8E43371-1AC5-405A-AB5F-DF90040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53377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4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8DCF17CF-69D5-48FA-939C-0D6B2BB3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5337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BF4DD954-E391-44C7-9319-2FB3979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38290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由申请人写明设备、时间和使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用目的，提交后等待管理员确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认。</a:t>
            </a:r>
          </a:p>
        </p:txBody>
      </p:sp>
      <p:sp>
        <p:nvSpPr>
          <p:cNvPr id="26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9A70D42D-1C12-470B-9C6E-DE40A8E6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18192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确认安排</a:t>
            </a:r>
          </a:p>
        </p:txBody>
      </p:sp>
      <p:sp>
        <p:nvSpPr>
          <p:cNvPr id="27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6A5588F0-D7D2-4396-93AF-F95BE7B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4669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8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F3605769-5BC5-4A98-AF48-D085021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5812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B1FBD07A-416A-4991-8ABC-89D52F6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5812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586C761F-FCA9-4887-84E9-0BA645A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2480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45E4BE56-DA5F-4805-977B-2C24A85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61950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2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3191D957-637D-46EE-B3B1-7C3189C8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53377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3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23F538D0-518A-4360-9351-4606CC1D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5337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F5F48364-1565-4ACC-BB53-4A88AAD2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38290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由管理员核对设备状态与值班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安排，明确是否接收申请，再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通知申请人。</a:t>
            </a:r>
          </a:p>
        </p:txBody>
      </p:sp>
      <p:sp>
        <p:nvSpPr>
          <p:cNvPr id="35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66B61016-2888-4639-8D3C-7A5B5E0A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8192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使用归还</a:t>
            </a:r>
          </a:p>
        </p:txBody>
      </p:sp>
      <p:sp>
        <p:nvSpPr>
          <p:cNvPr id="36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6378EC3F-1ECD-4CCA-B9A5-D5A419C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4669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7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2109492A-0348-4A25-A3E9-3CADCC9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5812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F9EA601-6504-46A6-BB97-6993DA19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5812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F5DD727-3B8E-4AC4-B744-C853015F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2480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838D4F71-B897-47D2-B58F-86539A25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61950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1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B87B8651-2A9A-4D96-A35C-E73F41E8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53377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2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FFBF8617-2908-4D70-AAC9-A6FF6F44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5337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B64A35D1-0FF7-458F-81F7-E06A240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38290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由使用人完成现场交接，使用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结束后归还设备并登记异常情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况。</a:t>
            </a:r>
          </a:p>
        </p:txBody>
      </p:sp>
      <p:sp>
        <p:nvSpPr>
          <p:cNvPr id="44" name="grid:exception-banner:item-exception-throughout:body">
            <a:extLst xmlns:a="http://schemas.openxmlformats.org/drawingml/2006/main">
              <a:ext uri="{FF2B5EF4-FFF2-40B4-BE49-F238E27FC236}">
                <a16:creationId xmlns:a16="http://schemas.microsoft.com/office/drawing/2014/main" id="{5417D0B8-2C01-4CA9-BFF4-7D4B487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562600"/>
            <a:ext cx="100631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异常处理：出现设备故障或时间冲突时暂停原安排，由管理员联系责任人处理；这项规则适用于整个预约过程。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首轮只检查三件事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record-band:item-check-record:title">
            <a:extLst xmlns:a="http://schemas.openxmlformats.org/drawingml/2006/main">
              <a:ext uri="{FF2B5EF4-FFF2-40B4-BE49-F238E27FC236}">
                <a16:creationId xmlns:a16="http://schemas.microsoft.com/office/drawing/2014/main" id="{9A1C94E2-6BC2-4D1D-8E1D-CAD8CE93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047875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16" name="grid:record-band:item-check-record:body">
            <a:extLst xmlns:a="http://schemas.openxmlformats.org/drawingml/2006/main">
              <a:ext uri="{FF2B5EF4-FFF2-40B4-BE49-F238E27FC236}">
                <a16:creationId xmlns:a16="http://schemas.microsoft.com/office/drawing/2014/main" id="{D9377AD4-D958-492C-B118-A988E9A5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505075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检查登记信息、确认结果和归还记录是否能够对应，缺少任一环节就补齐交接信息。</a:t>
            </a:r>
          </a:p>
        </p:txBody>
      </p:sp>
      <p:sp>
        <p:nvSpPr>
          <p:cNvPr id="17" name="grid:responsibility-band:item-check-responsibility:title">
            <a:extLst xmlns:a="http://schemas.openxmlformats.org/drawingml/2006/main">
              <a:ext uri="{FF2B5EF4-FFF2-40B4-BE49-F238E27FC236}">
                <a16:creationId xmlns:a16="http://schemas.microsoft.com/office/drawing/2014/main" id="{C0FCC515-9DE8-46B4-9EDF-92B6BAF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3609975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grid:responsibility-band:item-check-responsibility:body">
            <a:extLst xmlns:a="http://schemas.openxmlformats.org/drawingml/2006/main">
              <a:ext uri="{FF2B5EF4-FFF2-40B4-BE49-F238E27FC236}">
                <a16:creationId xmlns:a16="http://schemas.microsoft.com/office/drawing/2014/main" id="{EE0BA15D-AC4E-4C3C-99FD-9747C21C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4067175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检查申请人、管理员和责任人的分工是否清楚；有争议时先澄清责任，再讨论自动化。</a:t>
            </a:r>
          </a:p>
        </p:txBody>
      </p:sp>
      <p:sp>
        <p:nvSpPr>
          <p:cNvPr id="19" name="grid:adjustment-band:item-check-adjustment:title">
            <a:extLst xmlns:a="http://schemas.openxmlformats.org/drawingml/2006/main">
              <a:ext uri="{FF2B5EF4-FFF2-40B4-BE49-F238E27FC236}">
                <a16:creationId xmlns:a16="http://schemas.microsoft.com/office/drawing/2014/main" id="{461476E3-7FA0-4F7B-9D46-0AD5D184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172075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调整有据</a:t>
            </a:r>
          </a:p>
        </p:txBody>
      </p:sp>
      <p:sp>
        <p:nvSpPr>
          <p:cNvPr id="20" name="grid:adjustment-band:item-check-adjustment:body">
            <a:extLst xmlns:a="http://schemas.openxmlformats.org/drawingml/2006/main">
              <a:ext uri="{FF2B5EF4-FFF2-40B4-BE49-F238E27FC236}">
                <a16:creationId xmlns:a16="http://schemas.microsoft.com/office/drawing/2014/main" id="{6F4C18D9-8531-487E-A73B-41981D6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629275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记录取消、改期和故障的具体原因，以实际问题决定下一轮改进，不用页面里的示意流程冒充运行结果。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2026-09-05T02:08:18.7900000Z</dcterms:created>
  <dcterms:modified xsi:type="dcterms:W3CDTF">2026-09-05T02:08:18.7900000Z</dcterms:modified>
</coreProperties>
</file>