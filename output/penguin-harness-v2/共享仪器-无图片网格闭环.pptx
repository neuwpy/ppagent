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484ca5f9004e36" /><Relationship Type="http://schemas.openxmlformats.org/officeDocument/2006/relationships/extended-properties" Target="/docProps/app.xml" Id="Raa50e7977a634e7f" /><Relationship Type="http://schemas.openxmlformats.org/officeDocument/2006/relationships/officeDocument" Target="/ppt/presentation.xml" Id="R78e479a9ec8246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f9eda6868e41cd"/>
    <p:sldMasterId xmlns:r="http://schemas.openxmlformats.org/officeDocument/2006/relationships" id="2147483660" r:id="R2a3c678b23e3432f"/>
    <p:sldMasterId xmlns:r="http://schemas.openxmlformats.org/officeDocument/2006/relationships" id="2147483663" r:id="R5bd1a56014b54b0d"/>
  </p:sldMasterIdLst>
  <p:notesMasterIdLst>
    <p:notesMasterId xmlns:r="http://schemas.openxmlformats.org/officeDocument/2006/relationships" r:id="Ra75515a0ab474f3b"/>
  </p:notesMasterIdLst>
  <p:sldIdLst>
    <p:sldId xmlns:r="http://schemas.openxmlformats.org/officeDocument/2006/relationships" id="256" r:id="Rdc9780babce44679"/>
    <p:sldId xmlns:r="http://schemas.openxmlformats.org/officeDocument/2006/relationships" id="257" r:id="R2bf4a6774ab24688"/>
    <p:sldId xmlns:r="http://schemas.openxmlformats.org/officeDocument/2006/relationships" id="258" r:id="R46e6738f69014747"/>
    <p:sldId xmlns:r="http://schemas.openxmlformats.org/officeDocument/2006/relationships" id="259" r:id="Rda56a2f26a644d9a"/>
    <p:sldId xmlns:r="http://schemas.openxmlformats.org/officeDocument/2006/relationships" id="260" r:id="R5fac596ed1ff4a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e974c58d65458f" /><Relationship Type="http://schemas.openxmlformats.org/officeDocument/2006/relationships/slideMaster" Target="/ppt/slideMasters/slideMaster1.xml" Id="Rfcf9eda6868e41cd" /><Relationship Type="http://schemas.openxmlformats.org/officeDocument/2006/relationships/slideMaster" Target="/ppt/slideMasters/slideMaster2.xml" Id="R2a3c678b23e3432f" /><Relationship Type="http://schemas.openxmlformats.org/officeDocument/2006/relationships/slideMaster" Target="/ppt/slideMasters/slideMaster3.xml" Id="R5bd1a56014b54b0d" /><Relationship Type="http://schemas.openxmlformats.org/officeDocument/2006/relationships/notesMaster" Target="/ppt/notesMasters/notesMaster1.xml" Id="Ra75515a0ab474f3b" /><Relationship Type="http://schemas.openxmlformats.org/officeDocument/2006/relationships/presProps" Target="/ppt/presProps.xml" Id="Rb17bae7d286a4045" /><Relationship Type="http://schemas.openxmlformats.org/officeDocument/2006/relationships/viewProps" Target="/ppt/viewProps.xml" Id="R4b2b3dcfea424807" /><Relationship Type="http://schemas.openxmlformats.org/officeDocument/2006/relationships/tableStyles" Target="/ppt/tableStyles.xml" Id="Rc229d8de2c33493d" /><Relationship Type="http://schemas.openxmlformats.org/officeDocument/2006/relationships/slide" Target="/ppt/slides/slide1.xml" Id="Rdc9780babce44679" /><Relationship Type="http://schemas.openxmlformats.org/officeDocument/2006/relationships/slide" Target="/ppt/slides/slide2.xml" Id="R2bf4a6774ab24688" /><Relationship Type="http://schemas.openxmlformats.org/officeDocument/2006/relationships/slide" Target="/ppt/slides/slide3.xml" Id="R46e6738f69014747" /><Relationship Type="http://schemas.openxmlformats.org/officeDocument/2006/relationships/slide" Target="/ppt/slides/slide4.xml" Id="Rda56a2f26a644d9a" /><Relationship Type="http://schemas.openxmlformats.org/officeDocument/2006/relationships/slide" Target="/ppt/slides/slide5.xml" Id="R5fac596ed1ff4a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eddbbd925cde4a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d68bbecf224279" /><Relationship Type="http://schemas.openxmlformats.org/officeDocument/2006/relationships/notesMaster" Target="/ppt/notesMasters/notesMaster1.xml" Id="Reb3b28e7e0dd46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748c9bfdd9416a" /><Relationship Type="http://schemas.openxmlformats.org/officeDocument/2006/relationships/notesMaster" Target="/ppt/notesMasters/notesMaster1.xml" Id="Rb9293c13211941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40bc4138f3491e" /><Relationship Type="http://schemas.openxmlformats.org/officeDocument/2006/relationships/notesMaster" Target="/ppt/notesMasters/notesMaster1.xml" Id="Rfd3c48da68d549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5cc283b8344ea8" /><Relationship Type="http://schemas.openxmlformats.org/officeDocument/2006/relationships/notesMaster" Target="/ppt/notesMasters/notesMaster1.xml" Id="Rd9f9c4fd3fce48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93705a20934d7c" /><Relationship Type="http://schemas.openxmlformats.org/officeDocument/2006/relationships/notesMaster" Target="/ppt/notesMasters/notesMaster1.xml" Id="R8236b607557648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稿件：experiments/penguin-harness-v2/fixtures/grid-manuscript.md</a:t>
            </a:r>
            <a:endParaRPr/>
          </a:p>
          <a:p xmlns:a="http://schemas.openxmlformats.org/drawingml/2006/main">
            <a:r>
              <a:t>- Skin：assets/主题/东北大学-001/runtime-template.pptx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完整 PageBrief：</a:t>
            </a:r>
            <a:endParaRPr/>
          </a:p>
          <a:p xmlns:a="http://schemas.openxmlformats.org/drawingml/2006/main">
            <a:r>
              <a:t>拟议试点用现有设备与人员验证交接是否清楚：申请人知道何时可用，管理员知道由谁交接，负责人能核对异常处理；不新增自动审批承诺。</a:t>
            </a:r>
            <a:endParaRPr/>
          </a:p>
          <a:p xmlns:a="http://schemas.openxmlformats.org/drawingml/2006/main">
            <a:r>
              <a:t>item-goals [s1]</a:t>
            </a:r>
            <a:endParaRPr/>
          </a:p>
          <a:p xmlns:a="http://schemas.openxmlformats.org/drawingml/2006/main">
            <a:r>
              <a:t>试点目标：让申请人知道何时可以使用，让管理员知道由谁交接，让负责人能够核对异常处理。本稿讨论一个拟议试点，没有提供已实现的成效统计。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item-boundary [s2]</a:t>
            </a:r>
            <a:endParaRPr/>
          </a:p>
          <a:p xmlns:a="http://schemas.openxmlformats.org/drawingml/2006/main">
            <a:r>
              <a:t>边界原则：先使用现有设备和人员安排，不新增自动审批承诺；涉及安全条件的申请仍须由责任人确认。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稿件：experiments/penguin-harness-v2/fixtures/grid-manuscript.md</a:t>
            </a:r>
            <a:endParaRPr/>
          </a:p>
          <a:p xmlns:a="http://schemas.openxmlformats.org/drawingml/2006/main">
            <a:r>
              <a:t>- Skin：assets/主题/东北大学-001/runtime-template.pptx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完整 PageBrief：</a:t>
            </a:r>
            <a:endParaRPr/>
          </a:p>
          <a:p xmlns:a="http://schemas.openxmlformats.org/drawingml/2006/main">
            <a:r>
              <a:t>临时协调入口简单但记录分散，统一登记便于交接但需有人持续维护；试点先验证交接是否清楚，统一登记并不等于自动批准。</a:t>
            </a:r>
            <a:endParaRPr/>
          </a:p>
          <a:p xmlns:a="http://schemas.openxmlformats.org/drawingml/2006/main">
            <a:r>
              <a:t>item-adhoc [s3]</a:t>
            </a:r>
            <a:endParaRPr/>
          </a:p>
          <a:p xmlns:a="http://schemas.openxmlformats.org/drawingml/2006/main">
            <a:r>
              <a:t>临时协调：申请人在群里描述需求，管理员逐次确认设备和时间。入口简单，但调整记录分散，换班时需要重新解释。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item-registry [s4]</a:t>
            </a:r>
            <a:endParaRPr/>
          </a:p>
          <a:p xmlns:a="http://schemas.openxmlformats.org/drawingml/2006/main">
            <a:r>
              <a:t>统一登记：申请先进入同一份登记表，管理员确认后再通知使用时间。记录便于交接，但需要有人持续维护状态。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item-choice-basis [s5]</a:t>
            </a:r>
            <a:endParaRPr/>
          </a:p>
          <a:p xmlns:a="http://schemas.openxmlformats.org/drawingml/2006/main">
            <a:r>
              <a:t>选择依据：试点优先验证交接是否清楚，再决定是否增加系统功能；统一登记并不意味着自动批准。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稿件：experiments/penguin-harness-v2/fixtures/grid-manuscript.md</a:t>
            </a:r>
            <a:endParaRPr/>
          </a:p>
          <a:p xmlns:a="http://schemas.openxmlformats.org/drawingml/2006/main">
            <a:r>
              <a:t>- Skin：assets/主题/东北大学-001/runtime-template.pptx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完整 PageBrief：</a:t>
            </a:r>
            <a:endParaRPr/>
          </a:p>
          <a:p xmlns:a="http://schemas.openxmlformats.org/drawingml/2006/main">
            <a:r>
              <a:t>一次预约按登记需求、确认安排、使用归还三步走，各步记录相互对应即构成可交接的完整链条。</a:t>
            </a:r>
            <a:endParaRPr/>
          </a:p>
          <a:p xmlns:a="http://schemas.openxmlformats.org/drawingml/2006/main">
            <a:r>
              <a:t>item-step-register [s6]</a:t>
            </a:r>
            <a:endParaRPr/>
          </a:p>
          <a:p xmlns:a="http://schemas.openxmlformats.org/drawingml/2006/main">
            <a:r>
              <a:t>登记需求：第一步由申请人写明设备、时间和使用目的，提交后等待管理员确认。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item-step-confirm [s7]</a:t>
            </a:r>
            <a:endParaRPr/>
          </a:p>
          <a:p xmlns:a="http://schemas.openxmlformats.org/drawingml/2006/main">
            <a:r>
              <a:t>确认安排：第二步由管理员核对设备状态与值班安排，明确是否接收申请，再通知申请人。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item-step-use-return [s8]</a:t>
            </a:r>
            <a:endParaRPr/>
          </a:p>
          <a:p xmlns:a="http://schemas.openxmlformats.org/drawingml/2006/main">
            <a:r>
              <a:t>使用归还：第三步由使用人完成现场交接，使用结束后归还设备并登记异常情况。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稿件：experiments/penguin-harness-v2/fixtures/grid-manuscript.md</a:t>
            </a:r>
            <a:endParaRPr/>
          </a:p>
          <a:p xmlns:a="http://schemas.openxmlformats.org/drawingml/2006/main">
            <a:r>
              <a:t>- Skin：assets/主题/东北大学-001/runtime-template.pptx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完整 PageBrief：</a:t>
            </a:r>
            <a:endParaRPr/>
          </a:p>
          <a:p xmlns:a="http://schemas.openxmlformats.org/drawingml/2006/main">
            <a:r>
              <a:t>设备故障或时间冲突时暂停原安排，由管理员联系责任人处理；该规则适用于整个预约过程，而非某一个步骤。</a:t>
            </a:r>
            <a:endParaRPr/>
          </a:p>
          <a:p xmlns:a="http://schemas.openxmlformats.org/drawingml/2006/main">
            <a:r>
              <a:t>item-exception-handling [s9]</a:t>
            </a:r>
            <a:endParaRPr/>
          </a:p>
          <a:p xmlns:a="http://schemas.openxmlformats.org/drawingml/2006/main">
            <a:r>
              <a:t>异常处理：出现设备故障或时间冲突时暂停原安排，由管理员联系责任人处理；这项规则适用于整个预约过程。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稿件：experiments/penguin-harness-v2/fixtures/grid-manuscript.md</a:t>
            </a:r>
            <a:endParaRPr/>
          </a:p>
          <a:p xmlns:a="http://schemas.openxmlformats.org/drawingml/2006/main">
            <a:r>
              <a:t>- Skin：assets/主题/东北大学-001/runtime-template.pptx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完整 PageBrief：</a:t>
            </a:r>
            <a:endParaRPr/>
          </a:p>
          <a:p xmlns:a="http://schemas.openxmlformats.org/drawingml/2006/main">
            <a:r>
              <a:t>首轮只核对记录完整、责任明确、调整有据三项；有争议先澄清责任再讨论自动化，以实际问题决定下一轮改进。</a:t>
            </a:r>
            <a:endParaRPr/>
          </a:p>
          <a:p xmlns:a="http://schemas.openxmlformats.org/drawingml/2006/main">
            <a:r>
              <a:t>item-check-record [s10]</a:t>
            </a:r>
            <a:endParaRPr/>
          </a:p>
          <a:p xmlns:a="http://schemas.openxmlformats.org/drawingml/2006/main">
            <a:r>
              <a:t>记录完整：检查登记信息、确认结果和归还记录是否能够对应，缺少任一环节就补齐交接信息。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item-check-responsibility [s11]</a:t>
            </a:r>
            <a:endParaRPr/>
          </a:p>
          <a:p xmlns:a="http://schemas.openxmlformats.org/drawingml/2006/main">
            <a:r>
              <a:t>责任明确：检查申请人、管理员和责任人的分工是否清楚；有争议时先澄清责任，再讨论自动化。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item-check-adjustment [s12]</a:t>
            </a:r>
            <a:endParaRPr/>
          </a:p>
          <a:p xmlns:a="http://schemas.openxmlformats.org/drawingml/2006/main">
            <a:r>
              <a:t>调整有据：记录取消、改期和故障的具体原因，以实际问题决定下一轮改进，不用页面里的示意流程冒充运行结果。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a14b01ab34d42" /><Relationship Type="http://schemas.openxmlformats.org/officeDocument/2006/relationships/image" Target="/ppt/media/image.jpeg" Id="R14053a95724a4791" /><Relationship Type="http://schemas.openxmlformats.org/officeDocument/2006/relationships/image" Target="/ppt/media/image.png" Id="R4fae58b3e4754210" /><Relationship Type="http://schemas.openxmlformats.org/officeDocument/2006/relationships/image" Target="/ppt/media/image2.png" Id="R8c5debe31fdb41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cd362072a42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54264ab1b4c07" /><Relationship Type="http://schemas.openxmlformats.org/officeDocument/2006/relationships/image" Target="/ppt/media/image3.png" Id="R5fa6ffc837894d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2e152c14f4f97" /><Relationship Type="http://schemas.openxmlformats.org/officeDocument/2006/relationships/image" Target="/ppt/media/image4.png" Id="R47d148ecf6424c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00159b42049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eaa33a7be49b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723becb82414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d7f6b429d47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76751f931433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4c58ab032433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29049128c44d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975c786d5d4b9b" /><Relationship Type="http://schemas.openxmlformats.org/officeDocument/2006/relationships/image" Target="/ppt/media/image5.png" Id="R90718c22fe8d46b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f0a67b5de140c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26877c2c185462f" /><Relationship Type="http://schemas.openxmlformats.org/officeDocument/2006/relationships/image" Target="/ppt/media/image5.png" Id="Re0e9b0850d0f4de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dfa74cb913b41b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53a95724a479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e58b3e475421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debe31fdb41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6ffc837894df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148ecf6424ce4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18c22fe8d46b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9b0850d0f4de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a9824a23914d9e" /><Relationship Type="http://schemas.openxmlformats.org/officeDocument/2006/relationships/slideLayout" Target="/ppt/slideLayouts/slideLayout1.xml" Id="R58538e9404db4b87" /><Relationship Type="http://schemas.openxmlformats.org/officeDocument/2006/relationships/slideLayout" Target="/ppt/slideLayouts/slideLayout2.xml" Id="R5bc9a64828e94658" /><Relationship Type="http://schemas.openxmlformats.org/officeDocument/2006/relationships/slideLayout" Target="/ppt/slideLayouts/slideLayout3.xml" Id="Rde6432bd1b0e46c5" /><Relationship Type="http://schemas.openxmlformats.org/officeDocument/2006/relationships/slideLayout" Target="/ppt/slideLayouts/slideLayout4.xml" Id="Rce2d81bafe6741ea" /><Relationship Type="http://schemas.openxmlformats.org/officeDocument/2006/relationships/slideLayout" Target="/ppt/slideLayouts/slideLayout5.xml" Id="R86292fde0b834a13" /><Relationship Type="http://schemas.openxmlformats.org/officeDocument/2006/relationships/slideLayout" Target="/ppt/slideLayouts/slideLayout6.xml" Id="R64570541ec8944c3" /><Relationship Type="http://schemas.openxmlformats.org/officeDocument/2006/relationships/slideLayout" Target="/ppt/slideLayouts/slideLayout7.xml" Id="R55d3f6f7245b4576" /><Relationship Type="http://schemas.openxmlformats.org/officeDocument/2006/relationships/slideLayout" Target="/ppt/slideLayouts/slideLayout8.xml" Id="R12caac8e8d474f2a" /><Relationship Type="http://schemas.openxmlformats.org/officeDocument/2006/relationships/slideLayout" Target="/ppt/slideLayouts/slideLayout9.xml" Id="R5519558f8e0b40f1" /><Relationship Type="http://schemas.openxmlformats.org/officeDocument/2006/relationships/slideLayout" Target="/ppt/slideLayouts/slideLayout10.xml" Id="Re4799581cf884b7b" /><Relationship Type="http://schemas.openxmlformats.org/officeDocument/2006/relationships/slideLayout" Target="/ppt/slideLayouts/slideLayout11.xml" Id="Rd6b09e0679084d0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6ed4ade6acf4e7b" /><Relationship Type="http://schemas.openxmlformats.org/officeDocument/2006/relationships/slideLayout" Target="/ppt/slideLayouts/slideLayout12.xml" Id="Rb637aab0b95f46d6" /><Relationship Type="http://schemas.openxmlformats.org/officeDocument/2006/relationships/slideLayout" Target="/ppt/slideLayouts/slideLayout13.xml" Id="R9464a0010063469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8ce452b967848eb" /><Relationship Type="http://schemas.openxmlformats.org/officeDocument/2006/relationships/slideLayout" Target="/ppt/slideLayouts/slideLayout14.xml" Id="Rc49a9aa05f644463" /><Relationship Type="http://schemas.openxmlformats.org/officeDocument/2006/relationships/slideLayout" Target="/ppt/slideLayouts/slideLayout15.xml" Id="Rdb1035ecf4e3494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538e9404db4b87"/>
    <p:sldLayoutId xmlns:r="http://schemas.openxmlformats.org/officeDocument/2006/relationships" id="2147483650" r:id="R5bc9a64828e94658"/>
    <p:sldLayoutId xmlns:r="http://schemas.openxmlformats.org/officeDocument/2006/relationships" id="2147483651" r:id="Rde6432bd1b0e46c5"/>
    <p:sldLayoutId xmlns:r="http://schemas.openxmlformats.org/officeDocument/2006/relationships" id="2147483652" r:id="Rce2d81bafe6741ea"/>
    <p:sldLayoutId xmlns:r="http://schemas.openxmlformats.org/officeDocument/2006/relationships" id="2147483653" r:id="R86292fde0b834a13"/>
    <p:sldLayoutId xmlns:r="http://schemas.openxmlformats.org/officeDocument/2006/relationships" id="2147483654" r:id="R64570541ec8944c3"/>
    <p:sldLayoutId xmlns:r="http://schemas.openxmlformats.org/officeDocument/2006/relationships" id="2147483655" r:id="R55d3f6f7245b4576"/>
    <p:sldLayoutId xmlns:r="http://schemas.openxmlformats.org/officeDocument/2006/relationships" id="2147483656" r:id="R12caac8e8d474f2a"/>
    <p:sldLayoutId xmlns:r="http://schemas.openxmlformats.org/officeDocument/2006/relationships" id="2147483657" r:id="R5519558f8e0b40f1"/>
    <p:sldLayoutId xmlns:r="http://schemas.openxmlformats.org/officeDocument/2006/relationships" id="2147483658" r:id="Re4799581cf884b7b"/>
    <p:sldLayoutId xmlns:r="http://schemas.openxmlformats.org/officeDocument/2006/relationships" id="2147483659" r:id="Rd6b09e0679084d0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637aab0b95f46d6"/>
    <p:sldLayoutId xmlns:r="http://schemas.openxmlformats.org/officeDocument/2006/relationships" id="2147483662" r:id="R9464a0010063469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49a9aa05f644463"/>
    <p:sldLayoutId xmlns:r="http://schemas.openxmlformats.org/officeDocument/2006/relationships" id="2147483665" r:id="Rdb1035ecf4e3494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f26240afdb4da7" /><Relationship Type="http://schemas.openxmlformats.org/officeDocument/2006/relationships/notesSlide" Target="/ppt/notesSlides/notesSlide1.xml" Id="R4cddb17024134d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6b397a518a482c" /><Relationship Type="http://schemas.openxmlformats.org/officeDocument/2006/relationships/notesSlide" Target="/ppt/notesSlides/notesSlide2.xml" Id="R7a81a53f468948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4b9ea099fe4d55" /><Relationship Type="http://schemas.openxmlformats.org/officeDocument/2006/relationships/notesSlide" Target="/ppt/notesSlides/notesSlide3.xml" Id="Rdbc5a666425c49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9c95612b50f4ae6" /><Relationship Type="http://schemas.openxmlformats.org/officeDocument/2006/relationships/notesSlide" Target="/ppt/notesSlides/notesSlide4.xml" Id="R3f8de03d55fe4b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2c45d861d264c35" /><Relationship Type="http://schemas.openxmlformats.org/officeDocument/2006/relationships/notesSlide" Target="/ppt/notesSlides/notesSlide5.xml" Id="R96e2994abc004f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试点目标与边界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grid:goals-card:item-goals:title">
            <a:extLst xmlns:a="http://schemas.openxmlformats.org/drawingml/2006/main">
              <a:ext uri="{FF2B5EF4-FFF2-40B4-BE49-F238E27FC236}">
                <a16:creationId xmlns:a16="http://schemas.microsoft.com/office/drawing/2014/main" id="{F5888E7E-C07B-46B9-B1A2-17C7C7B2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438400"/>
            <a:ext cx="44910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试点目标</a:t>
            </a:r>
          </a:p>
        </p:txBody>
      </p:sp>
      <p:sp>
        <p:nvSpPr>
          <p:cNvPr id="16" name="grid:goals-card:item-goals:body">
            <a:extLst xmlns:a="http://schemas.openxmlformats.org/drawingml/2006/main">
              <a:ext uri="{FF2B5EF4-FFF2-40B4-BE49-F238E27FC236}">
                <a16:creationId xmlns:a16="http://schemas.microsoft.com/office/drawing/2014/main" id="{FF14C6A6-93D9-49C0-931E-B4B89AE8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895600"/>
            <a:ext cx="4491038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让申请人知道何时可以使用，让管理员知道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由谁交接，让负责人能够核对异常处理。</a:t>
            </a:r>
          </a:p>
        </p:txBody>
      </p:sp>
      <p:sp>
        <p:nvSpPr>
          <p:cNvPr id="17" name="grid:goals-card:item-goals:body">
            <a:extLst xmlns:a="http://schemas.openxmlformats.org/drawingml/2006/main">
              <a:ext uri="{FF2B5EF4-FFF2-40B4-BE49-F238E27FC236}">
                <a16:creationId xmlns:a16="http://schemas.microsoft.com/office/drawing/2014/main" id="{90219848-51AF-4691-9F0E-4825BC28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3824288"/>
            <a:ext cx="4491038" cy="1195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本稿讨论一个拟议试点，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没有提供已实现的成效统计。</a:t>
            </a:r>
          </a:p>
        </p:txBody>
      </p:sp>
      <p:sp>
        <p:nvSpPr>
          <p:cNvPr id="18" name="grid:boundary-card:item-boundary:title">
            <a:extLst xmlns:a="http://schemas.openxmlformats.org/drawingml/2006/main">
              <a:ext uri="{FF2B5EF4-FFF2-40B4-BE49-F238E27FC236}">
                <a16:creationId xmlns:a16="http://schemas.microsoft.com/office/drawing/2014/main" id="{F8CFE1D4-72DC-4E85-8462-FE214C94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544" y="2438400"/>
            <a:ext cx="44910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边界原则</a:t>
            </a:r>
          </a:p>
        </p:txBody>
      </p:sp>
      <p:sp>
        <p:nvSpPr>
          <p:cNvPr id="19" name="grid:boundary-card:item-boundary:body">
            <a:extLst xmlns:a="http://schemas.openxmlformats.org/drawingml/2006/main">
              <a:ext uri="{FF2B5EF4-FFF2-40B4-BE49-F238E27FC236}">
                <a16:creationId xmlns:a16="http://schemas.microsoft.com/office/drawing/2014/main" id="{2C417A10-3DE7-44B9-8F2B-636C6783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544" y="2895600"/>
            <a:ext cx="4491038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先使用现有设备和人员安排，不新增自动审批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承诺；涉及安全条件的申请仍须由责任人确认。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两种协调方式的差别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grid:adhoc-card:item-adhoc:title">
            <a:extLst xmlns:a="http://schemas.openxmlformats.org/drawingml/2006/main">
              <a:ext uri="{FF2B5EF4-FFF2-40B4-BE49-F238E27FC236}">
                <a16:creationId xmlns:a16="http://schemas.microsoft.com/office/drawing/2014/main" id="{2D4B4C5E-656D-404A-85D0-9EAA6141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047875"/>
            <a:ext cx="44910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临时协调</a:t>
            </a:r>
          </a:p>
        </p:txBody>
      </p:sp>
      <p:sp>
        <p:nvSpPr>
          <p:cNvPr id="16" name="grid:adhoc-card:item-adhoc:body">
            <a:extLst xmlns:a="http://schemas.openxmlformats.org/drawingml/2006/main">
              <a:ext uri="{FF2B5EF4-FFF2-40B4-BE49-F238E27FC236}">
                <a16:creationId xmlns:a16="http://schemas.microsoft.com/office/drawing/2014/main" id="{0116D75C-ADA8-4585-9627-ED3FEC66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505075"/>
            <a:ext cx="4491038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申请人在群里描述需求，管理员逐次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确认设备和时间。入口简单，但调整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记录分散，换班时需要重新解释。</a:t>
            </a:r>
          </a:p>
        </p:txBody>
      </p:sp>
      <p:sp>
        <p:nvSpPr>
          <p:cNvPr id="17" name="grid:registry-card:item-registry:title">
            <a:extLst xmlns:a="http://schemas.openxmlformats.org/drawingml/2006/main">
              <a:ext uri="{FF2B5EF4-FFF2-40B4-BE49-F238E27FC236}">
                <a16:creationId xmlns:a16="http://schemas.microsoft.com/office/drawing/2014/main" id="{C303E31C-DE4F-4707-A3F2-13DCF385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544" y="2047875"/>
            <a:ext cx="44910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统一登记</a:t>
            </a:r>
          </a:p>
        </p:txBody>
      </p:sp>
      <p:sp>
        <p:nvSpPr>
          <p:cNvPr id="18" name="grid:registry-card:item-registry:body">
            <a:extLst xmlns:a="http://schemas.openxmlformats.org/drawingml/2006/main">
              <a:ext uri="{FF2B5EF4-FFF2-40B4-BE49-F238E27FC236}">
                <a16:creationId xmlns:a16="http://schemas.microsoft.com/office/drawing/2014/main" id="{F759CE55-AC07-4CE1-AE25-020F7372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544" y="2505075"/>
            <a:ext cx="4491038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申请先进入同一份登记表，管理员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确认后再通知使用时间。记录便于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交接，但需要有人持续维护状态。</a:t>
            </a:r>
          </a:p>
        </p:txBody>
      </p:sp>
      <p:sp>
        <p:nvSpPr>
          <p:cNvPr id="19" name="grid:basis-strip:item-choice-basis:title">
            <a:extLst xmlns:a="http://schemas.openxmlformats.org/drawingml/2006/main">
              <a:ext uri="{FF2B5EF4-FFF2-40B4-BE49-F238E27FC236}">
                <a16:creationId xmlns:a16="http://schemas.microsoft.com/office/drawing/2014/main" id="{3DD72022-0C27-40F1-8803-94004D82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4781550"/>
            <a:ext cx="100631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20" name="grid:basis-strip:item-choice-basis:body">
            <a:extLst xmlns:a="http://schemas.openxmlformats.org/drawingml/2006/main">
              <a:ext uri="{FF2B5EF4-FFF2-40B4-BE49-F238E27FC236}">
                <a16:creationId xmlns:a16="http://schemas.microsoft.com/office/drawing/2014/main" id="{DDA2C62B-46F7-493B-A63C-6CE76237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5238750"/>
            <a:ext cx="1006316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试点优先验证交接是否清楚，再决定是否增加系统功能；统一登记并不意味着自动批准。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一次预约的三步流程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16D1396C-EDB1-45F3-8BB8-29D4D89F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86F509B8-0439-4AD1-BF1D-CDA2B085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51675F3F-2617-413F-B75D-B3756927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登记需求</a:t>
            </a:r>
          </a:p>
        </p:txBody>
      </p:sp>
      <p:sp>
        <p:nvSpPr>
          <p:cNvPr id="18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6D9203F9-C0EB-431E-B4F9-2FF05643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19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6D946E07-D5C0-4CB1-8F87-9F1F113C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60ADCF68-607F-4211-95F4-E2503903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A1E93FB3-335B-48FB-BFA6-E57A3942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E28F8279-AB59-42F5-92D6-2A447AD0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3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C50F8A4C-EDFC-4F5D-9471-B843200F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4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7C6BB53E-3B3D-458D-85AA-1F0CAF36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681EDCB2-4BFE-48AE-92E9-FEA7D277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第一步由申请人写明设备、时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间和使用目的，提交后等待管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理员确认。</a:t>
            </a:r>
          </a:p>
        </p:txBody>
      </p:sp>
      <p:sp>
        <p:nvSpPr>
          <p:cNvPr id="26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2FB96770-255E-4FF4-9CD8-11BFE45C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确认安排</a:t>
            </a:r>
          </a:p>
        </p:txBody>
      </p:sp>
      <p:sp>
        <p:nvSpPr>
          <p:cNvPr id="27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C45863DF-7649-42E7-AAF8-7AE7EF7F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8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4E3E7C37-518B-4ACA-B42E-1C6C7F19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01BCCFF5-4235-4114-81BC-94B1A46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465FF8DA-B268-450A-99C0-CDFC9CF1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72752E1C-0F78-4D4C-8F26-1CE028E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2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6FA713F0-283E-4B5A-ACBF-25A61297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3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7754D60D-7D0C-4CCD-B8EE-FE6B7A67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440C49B3-0674-47E3-AF67-FC37B1A9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第二步由管理员核对设备状态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与值班安排，明确是否接收申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请，再通知申请人。</a:t>
            </a:r>
          </a:p>
        </p:txBody>
      </p:sp>
      <p:sp>
        <p:nvSpPr>
          <p:cNvPr id="35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F0CA4B30-FCC6-488B-9B57-39ED172C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使用归还</a:t>
            </a:r>
          </a:p>
        </p:txBody>
      </p:sp>
      <p:sp>
        <p:nvSpPr>
          <p:cNvPr id="36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9C3961A5-A0DB-4C2E-B242-1785DB9F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7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2C1BB9D6-0740-4F98-BD2A-A465A9F1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1D0848C2-6271-491A-A775-3281B622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FB4AA329-76EB-47F9-B5F2-C9F9B486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6E1BDE1F-2E24-483E-A10C-02AE01A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1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7C578184-979A-4029-A8C8-AFB394E1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2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D53D9648-EEEC-4AC8-851C-A6327A3B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3E2F604A-0BFB-4D04-A054-ED28D065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第三步由使用人完成现场交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接，使用结束后归还设备并登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记异常情况。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异常处理贯穿全程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grid:action-block:item-exception-handling:title">
            <a:extLst xmlns:a="http://schemas.openxmlformats.org/drawingml/2006/main">
              <a:ext uri="{FF2B5EF4-FFF2-40B4-BE49-F238E27FC236}">
                <a16:creationId xmlns:a16="http://schemas.microsoft.com/office/drawing/2014/main" id="{E96ECBF5-16E4-45CE-A169-BF465DF9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106" y="2828925"/>
            <a:ext cx="820578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异常处理</a:t>
            </a:r>
          </a:p>
        </p:txBody>
      </p:sp>
      <p:sp>
        <p:nvSpPr>
          <p:cNvPr id="16" name="grid:action-block:item-exception-handling:body">
            <a:extLst xmlns:a="http://schemas.openxmlformats.org/drawingml/2006/main">
              <a:ext uri="{FF2B5EF4-FFF2-40B4-BE49-F238E27FC236}">
                <a16:creationId xmlns:a16="http://schemas.microsoft.com/office/drawing/2014/main" id="{A14FD514-86AD-4744-B627-1D7BAA5A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106" y="3286125"/>
            <a:ext cx="8205788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出现设备故障或时间冲突时暂停原安排，由管理员联系责任人处理</a:t>
            </a:r>
          </a:p>
        </p:txBody>
      </p:sp>
      <p:sp>
        <p:nvSpPr>
          <p:cNvPr id="17" name="grid:scope-strip:item-exception-handling:body">
            <a:extLst xmlns:a="http://schemas.openxmlformats.org/drawingml/2006/main">
              <a:ext uri="{FF2B5EF4-FFF2-40B4-BE49-F238E27FC236}">
                <a16:creationId xmlns:a16="http://schemas.microsoft.com/office/drawing/2014/main" id="{352D4D69-A786-40FD-AACF-A04261AA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81550"/>
            <a:ext cx="727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这项规则适用于整个预约过程。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首轮只检查三件事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grid:record-band:item-check-record:title">
            <a:extLst xmlns:a="http://schemas.openxmlformats.org/drawingml/2006/main">
              <a:ext uri="{FF2B5EF4-FFF2-40B4-BE49-F238E27FC236}">
                <a16:creationId xmlns:a16="http://schemas.microsoft.com/office/drawing/2014/main" id="{5D6B3616-1E91-47C1-9470-0A00E9E9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047875"/>
            <a:ext cx="100631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16" name="grid:record-band:item-check-record:body">
            <a:extLst xmlns:a="http://schemas.openxmlformats.org/drawingml/2006/main">
              <a:ext uri="{FF2B5EF4-FFF2-40B4-BE49-F238E27FC236}">
                <a16:creationId xmlns:a16="http://schemas.microsoft.com/office/drawing/2014/main" id="{6AE03943-2C46-4CD5-AB4C-14FA29A7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2505075"/>
            <a:ext cx="1006316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检查登记信息、确认结果和归还记录是否能够对应，缺少任一环节就补齐交接信息。</a:t>
            </a:r>
          </a:p>
        </p:txBody>
      </p:sp>
      <p:sp>
        <p:nvSpPr>
          <p:cNvPr id="17" name="grid:responsibility-band:item-check-responsibility:title">
            <a:extLst xmlns:a="http://schemas.openxmlformats.org/drawingml/2006/main">
              <a:ext uri="{FF2B5EF4-FFF2-40B4-BE49-F238E27FC236}">
                <a16:creationId xmlns:a16="http://schemas.microsoft.com/office/drawing/2014/main" id="{62E931A4-CCE9-47F8-8A59-568D0360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3609975"/>
            <a:ext cx="100631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18" name="grid:responsibility-band:item-check-responsibility:body">
            <a:extLst xmlns:a="http://schemas.openxmlformats.org/drawingml/2006/main">
              <a:ext uri="{FF2B5EF4-FFF2-40B4-BE49-F238E27FC236}">
                <a16:creationId xmlns:a16="http://schemas.microsoft.com/office/drawing/2014/main" id="{0B3614E2-ED05-4DFB-9BBF-DC9BB861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4067175"/>
            <a:ext cx="1006316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检查申请人、管理员和责任人的分工是否清楚；有争议时先澄清责任，再讨论自动化。</a:t>
            </a:r>
          </a:p>
        </p:txBody>
      </p:sp>
      <p:sp>
        <p:nvSpPr>
          <p:cNvPr id="19" name="grid:adjustment-band:item-check-adjustment:title">
            <a:extLst xmlns:a="http://schemas.openxmlformats.org/drawingml/2006/main">
              <a:ext uri="{FF2B5EF4-FFF2-40B4-BE49-F238E27FC236}">
                <a16:creationId xmlns:a16="http://schemas.microsoft.com/office/drawing/2014/main" id="{C9B93590-3521-4162-B97A-7081093D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5172075"/>
            <a:ext cx="100631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调整有据</a:t>
            </a:r>
          </a:p>
        </p:txBody>
      </p:sp>
      <p:sp>
        <p:nvSpPr>
          <p:cNvPr id="20" name="grid:adjustment-band:item-check-adjustment:body">
            <a:extLst xmlns:a="http://schemas.openxmlformats.org/drawingml/2006/main">
              <a:ext uri="{FF2B5EF4-FFF2-40B4-BE49-F238E27FC236}">
                <a16:creationId xmlns:a16="http://schemas.microsoft.com/office/drawing/2014/main" id="{E4276AB4-7D72-4BF1-973D-511F8425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9" y="5629275"/>
            <a:ext cx="1006316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记录取消、改期和故障的具体原因，以实际问题决定下一轮改进，不用页面里的示意流程冒充运行结果。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2026-09-05T02:00:02.6260000Z</dcterms:created>
  <dcterms:modified xsi:type="dcterms:W3CDTF">2026-09-05T02:00:02.6260000Z</dcterms:modified>
</coreProperties>
</file>