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a9eb12b854fad" /><Relationship Type="http://schemas.openxmlformats.org/officeDocument/2006/relationships/extended-properties" Target="/docProps/app.xml" Id="R4108d27822c34676" /><Relationship Type="http://schemas.openxmlformats.org/officeDocument/2006/relationships/officeDocument" Target="/ppt/presentation.xml" Id="R60b483550201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84c3c51c5741a6"/>
    <p:sldMasterId xmlns:r="http://schemas.openxmlformats.org/officeDocument/2006/relationships" id="2147483660" r:id="Rbfa3c38ad55d4ef7"/>
    <p:sldMasterId xmlns:r="http://schemas.openxmlformats.org/officeDocument/2006/relationships" id="2147483663" r:id="R60cafa5945244172"/>
  </p:sldMasterIdLst>
  <p:notesMasterIdLst>
    <p:notesMasterId xmlns:r="http://schemas.openxmlformats.org/officeDocument/2006/relationships" r:id="R80e5d1fc0a3a463d"/>
  </p:notesMasterIdLst>
  <p:sldIdLst>
    <p:sldId xmlns:r="http://schemas.openxmlformats.org/officeDocument/2006/relationships" id="256" r:id="R76ad05769b50400d"/>
    <p:sldId xmlns:r="http://schemas.openxmlformats.org/officeDocument/2006/relationships" id="257" r:id="R99a14885a0104e31"/>
    <p:sldId xmlns:r="http://schemas.openxmlformats.org/officeDocument/2006/relationships" id="258" r:id="Rd20d28e552da4388"/>
    <p:sldId xmlns:r="http://schemas.openxmlformats.org/officeDocument/2006/relationships" id="259" r:id="Rd3a4c6bb99774f5f"/>
    <p:sldId xmlns:r="http://schemas.openxmlformats.org/officeDocument/2006/relationships" id="260" r:id="R9c9189a7ea1044f3"/>
    <p:sldId xmlns:r="http://schemas.openxmlformats.org/officeDocument/2006/relationships" id="261" r:id="R467b0d39b6454231"/>
    <p:sldId xmlns:r="http://schemas.openxmlformats.org/officeDocument/2006/relationships" id="262" r:id="Rd3673de7a9a24a96"/>
    <p:sldId xmlns:r="http://schemas.openxmlformats.org/officeDocument/2006/relationships" id="263" r:id="R73d6b98efc134487"/>
    <p:sldId xmlns:r="http://schemas.openxmlformats.org/officeDocument/2006/relationships" id="264" r:id="R62d7c18bcc084402"/>
    <p:sldId xmlns:r="http://schemas.openxmlformats.org/officeDocument/2006/relationships" id="265" r:id="R4920f9996cee444f"/>
    <p:sldId xmlns:r="http://schemas.openxmlformats.org/officeDocument/2006/relationships" id="266" r:id="R953e65da3e534fce"/>
    <p:sldId xmlns:r="http://schemas.openxmlformats.org/officeDocument/2006/relationships" id="267" r:id="Re545fca1c1d246ec"/>
    <p:sldId xmlns:r="http://schemas.openxmlformats.org/officeDocument/2006/relationships" id="268" r:id="Raf50fce5334248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e9bead97334ac2" /><Relationship Type="http://schemas.openxmlformats.org/officeDocument/2006/relationships/slideMaster" Target="/ppt/slideMasters/slideMaster1.xml" Id="Rda84c3c51c5741a6" /><Relationship Type="http://schemas.openxmlformats.org/officeDocument/2006/relationships/slideMaster" Target="/ppt/slideMasters/slideMaster2.xml" Id="Rbfa3c38ad55d4ef7" /><Relationship Type="http://schemas.openxmlformats.org/officeDocument/2006/relationships/slideMaster" Target="/ppt/slideMasters/slideMaster3.xml" Id="R60cafa5945244172" /><Relationship Type="http://schemas.openxmlformats.org/officeDocument/2006/relationships/notesMaster" Target="/ppt/notesMasters/notesMaster1.xml" Id="R80e5d1fc0a3a463d" /><Relationship Type="http://schemas.openxmlformats.org/officeDocument/2006/relationships/presProps" Target="/ppt/presProps.xml" Id="Rc58b9d6a31ee4179" /><Relationship Type="http://schemas.openxmlformats.org/officeDocument/2006/relationships/viewProps" Target="/ppt/viewProps.xml" Id="Re687c2b4747b4f7f" /><Relationship Type="http://schemas.openxmlformats.org/officeDocument/2006/relationships/tableStyles" Target="/ppt/tableStyles.xml" Id="Rd809c5130d464a6b" /><Relationship Type="http://schemas.openxmlformats.org/officeDocument/2006/relationships/slide" Target="/ppt/slides/slide1.xml" Id="R76ad05769b50400d" /><Relationship Type="http://schemas.openxmlformats.org/officeDocument/2006/relationships/slide" Target="/ppt/slides/slide2.xml" Id="R99a14885a0104e31" /><Relationship Type="http://schemas.openxmlformats.org/officeDocument/2006/relationships/slide" Target="/ppt/slides/slide3.xml" Id="Rd20d28e552da4388" /><Relationship Type="http://schemas.openxmlformats.org/officeDocument/2006/relationships/slide" Target="/ppt/slides/slide4.xml" Id="Rd3a4c6bb99774f5f" /><Relationship Type="http://schemas.openxmlformats.org/officeDocument/2006/relationships/slide" Target="/ppt/slides/slide5.xml" Id="R9c9189a7ea1044f3" /><Relationship Type="http://schemas.openxmlformats.org/officeDocument/2006/relationships/slide" Target="/ppt/slides/slide6.xml" Id="R467b0d39b6454231" /><Relationship Type="http://schemas.openxmlformats.org/officeDocument/2006/relationships/slide" Target="/ppt/slides/slide7.xml" Id="Rd3673de7a9a24a96" /><Relationship Type="http://schemas.openxmlformats.org/officeDocument/2006/relationships/slide" Target="/ppt/slides/slide8.xml" Id="R73d6b98efc134487" /><Relationship Type="http://schemas.openxmlformats.org/officeDocument/2006/relationships/slide" Target="/ppt/slides/slide9.xml" Id="R62d7c18bcc084402" /><Relationship Type="http://schemas.openxmlformats.org/officeDocument/2006/relationships/slide" Target="/ppt/slides/slide10.xml" Id="R4920f9996cee444f" /><Relationship Type="http://schemas.openxmlformats.org/officeDocument/2006/relationships/slide" Target="/ppt/slides/slide11.xml" Id="R953e65da3e534fce" /><Relationship Type="http://schemas.openxmlformats.org/officeDocument/2006/relationships/slide" Target="/ppt/slides/slide12.xml" Id="Re545fca1c1d246ec" /><Relationship Type="http://schemas.openxmlformats.org/officeDocument/2006/relationships/slide" Target="/ppt/slides/slide13.xml" Id="Raf50fce5334248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b08ad65ce94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225c315ba4827" /><Relationship Type="http://schemas.openxmlformats.org/officeDocument/2006/relationships/notesMaster" Target="/ppt/notesMasters/notesMaster1.xml" Id="Rdd0407a9b8e649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d01cd7571a4571" /><Relationship Type="http://schemas.openxmlformats.org/officeDocument/2006/relationships/notesMaster" Target="/ppt/notesMasters/notesMaster1.xml" Id="Rd0440449c0fc47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d27252a4e64d92" /><Relationship Type="http://schemas.openxmlformats.org/officeDocument/2006/relationships/notesMaster" Target="/ppt/notesMasters/notesMaster1.xml" Id="R541b0300cc3749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2f78f3db14096" /><Relationship Type="http://schemas.openxmlformats.org/officeDocument/2006/relationships/notesMaster" Target="/ppt/notesMasters/notesMaster1.xml" Id="R3e6d02c91faa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65a00bc9864303" /><Relationship Type="http://schemas.openxmlformats.org/officeDocument/2006/relationships/notesMaster" Target="/ppt/notesMasters/notesMaster1.xml" Id="R5f3afe8e517b46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8874a469c543de" /><Relationship Type="http://schemas.openxmlformats.org/officeDocument/2006/relationships/notesMaster" Target="/ppt/notesMasters/notesMaster1.xml" Id="R86a28f8f750e4c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39366c96e446bb" /><Relationship Type="http://schemas.openxmlformats.org/officeDocument/2006/relationships/notesMaster" Target="/ppt/notesMasters/notesMaster1.xml" Id="R48e7267adecd41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16d26500a24e2c" /><Relationship Type="http://schemas.openxmlformats.org/officeDocument/2006/relationships/notesMaster" Target="/ppt/notesMasters/notesMaster1.xml" Id="R333d4ef1fa6246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0141538e9648db" /><Relationship Type="http://schemas.openxmlformats.org/officeDocument/2006/relationships/notesMaster" Target="/ppt/notesMasters/notesMaster1.xml" Id="Re61252abb99b4e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85d05266154970" /><Relationship Type="http://schemas.openxmlformats.org/officeDocument/2006/relationships/notesMaster" Target="/ppt/notesMasters/notesMaster1.xml" Id="R002523404b5943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099d8269a34061" /><Relationship Type="http://schemas.openxmlformats.org/officeDocument/2006/relationships/notesMaster" Target="/ppt/notesMasters/notesMaster1.xml" Id="R951ba58f3d1c40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6023a632ee42ac" /><Relationship Type="http://schemas.openxmlformats.org/officeDocument/2006/relationships/notesMaster" Target="/ppt/notesMasters/notesMaster1.xml" Id="Rb04a842fe37c46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328cf82478437b" /><Relationship Type="http://schemas.openxmlformats.org/officeDocument/2006/relationships/notesMaster" Target="/ppt/notesMasters/notesMaster1.xml" Id="R5d2f1f4bc86a41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PPagenT：cover-intent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PPagenT：p02-intent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PPagenT：p03-intent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PPagenT：p04-intent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PPagenT：p05-intent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PPagenT：p06-intent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PPagenT：p07-intent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PPagenT：p08-intent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PPagenT：p09-intent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PPagenT：p10-intent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PPagenT：p11-intent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PPagenT：p12-intent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内容：用户稿件《让六地红，成为理工青年最鲜亮的青春底色》与用户手工作品 v3.2【创新案例】.pptx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PPagenT：closing-intent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0c796b83244dc" /><Relationship Type="http://schemas.openxmlformats.org/officeDocument/2006/relationships/image" Target="/ppt/media/image.jpeg" Id="R8f2a145ab139468b" /><Relationship Type="http://schemas.openxmlformats.org/officeDocument/2006/relationships/image" Target="/ppt/media/image.png" Id="Rc35a502897244b31" /><Relationship Type="http://schemas.openxmlformats.org/officeDocument/2006/relationships/image" Target="/ppt/media/image2.png" Id="R60e7d787313246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c763ae60a42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f594ca7c143e2" /><Relationship Type="http://schemas.openxmlformats.org/officeDocument/2006/relationships/image" Target="/ppt/media/image3.png" Id="Rf36bc5481dac4b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b0acae6f84eee" /><Relationship Type="http://schemas.openxmlformats.org/officeDocument/2006/relationships/image" Target="/ppt/media/image4.png" Id="R5d473fde9b2c4e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d428cb0bd4a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844664e824c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0d3fbf1c044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4298b17b346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66b44d33140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803db5dd3457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9921a050c4a2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0c027f421d4787" /><Relationship Type="http://schemas.openxmlformats.org/officeDocument/2006/relationships/image" Target="/ppt/media/image5.png" Id="R64c3ac8aa4ae4c5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18c55d011e401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975dbd61bd54461" /><Relationship Type="http://schemas.openxmlformats.org/officeDocument/2006/relationships/image" Target="/ppt/media/image5.png" Id="R6a03ba11f54744e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ed1b97707434c2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a145ab139468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a502897244b3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7d7873132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5DCC4707-7AB0-463C-94BE-5334C08D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bc5481dac4bd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EF68C24-B84C-46CE-A914-DAC0301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2924A73-8873-4895-8A2D-0E20BC0B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EA0D887C-A793-495E-A21E-88EB1703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A2BD4CF3-9C00-4C1B-AF27-62ECBA2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73fde9b2c4e6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E6AD27F-9CF6-4E46-ADF2-BE2B344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020ABE8-5AFC-4423-8863-F285C1B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7E21A5-0C55-437D-A5FD-974BEDF95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94A1B5F-E646-4120-9B63-689849570D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07AC5C5-CD90-4015-8C77-47D8B43FE60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D1C1A30-D185-4A12-99B1-03F809148A8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2B63BB5-2EF4-430E-8A07-3D9A59A8B5D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EEA578-54C3-4803-84D8-61F5911BA7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AADF3E2-361D-4584-AEAE-7DB56CA766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EAA5842-8546-49BC-BA76-A91833ECA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95419B-1391-408A-BAD4-A68353C22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CB8AC86-BF59-449F-A70D-228A11CC83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E820E21-C317-4F2C-9944-5E3F0D508F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F80236-59D5-470D-902E-FB42AE28A3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F006F71-1600-4535-9382-FFD063F39D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3C30909-FFDF-4B59-9BAF-3B939FD61B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97FE1D4-380E-4E8F-B9C8-49AC194FD9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D60677-8B3E-4B3F-94BD-AB1E039AC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2DAB71A-4135-448A-A11E-2A3E20266F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9E28BF5-5F59-4897-9365-E21BDFFB25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69D892B-3607-4726-BE2C-A9080DDA1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A762E9A-66C9-4854-AB06-CE33A92822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17FA6A1-209F-49CA-B878-6B06D1E178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D9CE87-B42B-4D42-A553-CC4582B0D3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F1B7D7F-DC2B-41BB-A27F-7B98F6FB7A2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9F8AA24-99FE-43E5-A9AD-52267F6D1E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4DEB6D1-F64D-4E3A-BFB9-AAC3F4FC44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0029CF2-A721-4BC7-A9BA-A0579D0090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B90CE54-2DEB-4AD4-B723-C983DA0DCD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57F187-4079-440D-834A-ADA00CE3C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F686C7A-D80D-4B3A-B8C8-E1829D1C2E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F50013-AC53-451E-A982-B6164A72C5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7D4B4FA-65C3-4F1D-AF78-D995A5208C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6578F3-4897-4C52-AF12-E240AC3D5E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188FB95-C4E6-41B9-91CA-CB7A5CA4F2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C2BFBD-A3AC-4B55-96D9-E65E7768FD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E89E582-A308-413C-96DA-C3461E1805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71315AA-9E4F-4E1B-87AA-188994F68C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DA80DC5-5E55-4F3E-B904-E26DC951D9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3ac8aa4ae4c5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916D850-35ED-42D1-9530-16D5A910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D1ACD5-ACF5-4A90-BF15-6F93F29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0041DD00-A590-40D2-8973-0B3EB758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AE4355A-45C5-48B0-8758-FC4EDD45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3ba11f54744e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48E1E4F-6FA0-4799-9274-4B669C3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2D4E204-9459-4040-A76E-0856F645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BF004E8-02B1-4C58-AD51-BB742C7C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12B8D55-BDF4-47C4-B127-6549157B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11fa6695a4666" /><Relationship Type="http://schemas.openxmlformats.org/officeDocument/2006/relationships/slideLayout" Target="/ppt/slideLayouts/slideLayout1.xml" Id="R8bb68a8fadcf4c0a" /><Relationship Type="http://schemas.openxmlformats.org/officeDocument/2006/relationships/slideLayout" Target="/ppt/slideLayouts/slideLayout2.xml" Id="R3fbe55bbb038413b" /><Relationship Type="http://schemas.openxmlformats.org/officeDocument/2006/relationships/slideLayout" Target="/ppt/slideLayouts/slideLayout3.xml" Id="R867bfda54724456e" /><Relationship Type="http://schemas.openxmlformats.org/officeDocument/2006/relationships/slideLayout" Target="/ppt/slideLayouts/slideLayout4.xml" Id="R988dcdb9c55449b6" /><Relationship Type="http://schemas.openxmlformats.org/officeDocument/2006/relationships/slideLayout" Target="/ppt/slideLayouts/slideLayout5.xml" Id="Rde773345050643ff" /><Relationship Type="http://schemas.openxmlformats.org/officeDocument/2006/relationships/slideLayout" Target="/ppt/slideLayouts/slideLayout6.xml" Id="R533677eccf994ead" /><Relationship Type="http://schemas.openxmlformats.org/officeDocument/2006/relationships/slideLayout" Target="/ppt/slideLayouts/slideLayout7.xml" Id="Rf4136c5b11dd404e" /><Relationship Type="http://schemas.openxmlformats.org/officeDocument/2006/relationships/slideLayout" Target="/ppt/slideLayouts/slideLayout8.xml" Id="R1930ef85d2f34626" /><Relationship Type="http://schemas.openxmlformats.org/officeDocument/2006/relationships/slideLayout" Target="/ppt/slideLayouts/slideLayout9.xml" Id="R8ed64290c0034fa6" /><Relationship Type="http://schemas.openxmlformats.org/officeDocument/2006/relationships/slideLayout" Target="/ppt/slideLayouts/slideLayout10.xml" Id="R292db649d0ad4515" /><Relationship Type="http://schemas.openxmlformats.org/officeDocument/2006/relationships/slideLayout" Target="/ppt/slideLayouts/slideLayout11.xml" Id="R489e25fdba834ef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61020cafefa47ad" /><Relationship Type="http://schemas.openxmlformats.org/officeDocument/2006/relationships/slideLayout" Target="/ppt/slideLayouts/slideLayout12.xml" Id="R49b97a77c8a34821" /><Relationship Type="http://schemas.openxmlformats.org/officeDocument/2006/relationships/slideLayout" Target="/ppt/slideLayouts/slideLayout13.xml" Id="R37197b22a93c46f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e73dc89f4f54688" /><Relationship Type="http://schemas.openxmlformats.org/officeDocument/2006/relationships/slideLayout" Target="/ppt/slideLayouts/slideLayout14.xml" Id="Re9b0675ec1e64ef5" /><Relationship Type="http://schemas.openxmlformats.org/officeDocument/2006/relationships/slideLayout" Target="/ppt/slideLayouts/slideLayout15.xml" Id="Rcee403da9d8c422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D658AB4-C257-4981-BFC9-B09B30600C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5812917-18C5-4E59-8A16-4789F62797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47B16B8-FB06-4B29-9F6B-EDC1507668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F0B856E-B77C-4982-B67B-D69624B5EB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37DE43-B04E-4F8D-BABD-9C660DA5885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68a8fadcf4c0a"/>
    <p:sldLayoutId xmlns:r="http://schemas.openxmlformats.org/officeDocument/2006/relationships" id="2147483650" r:id="R3fbe55bbb038413b"/>
    <p:sldLayoutId xmlns:r="http://schemas.openxmlformats.org/officeDocument/2006/relationships" id="2147483651" r:id="R867bfda54724456e"/>
    <p:sldLayoutId xmlns:r="http://schemas.openxmlformats.org/officeDocument/2006/relationships" id="2147483652" r:id="R988dcdb9c55449b6"/>
    <p:sldLayoutId xmlns:r="http://schemas.openxmlformats.org/officeDocument/2006/relationships" id="2147483653" r:id="Rde773345050643ff"/>
    <p:sldLayoutId xmlns:r="http://schemas.openxmlformats.org/officeDocument/2006/relationships" id="2147483654" r:id="R533677eccf994ead"/>
    <p:sldLayoutId xmlns:r="http://schemas.openxmlformats.org/officeDocument/2006/relationships" id="2147483655" r:id="Rf4136c5b11dd404e"/>
    <p:sldLayoutId xmlns:r="http://schemas.openxmlformats.org/officeDocument/2006/relationships" id="2147483656" r:id="R1930ef85d2f34626"/>
    <p:sldLayoutId xmlns:r="http://schemas.openxmlformats.org/officeDocument/2006/relationships" id="2147483657" r:id="R8ed64290c0034fa6"/>
    <p:sldLayoutId xmlns:r="http://schemas.openxmlformats.org/officeDocument/2006/relationships" id="2147483658" r:id="R292db649d0ad4515"/>
    <p:sldLayoutId xmlns:r="http://schemas.openxmlformats.org/officeDocument/2006/relationships" id="2147483659" r:id="R489e25fdba834ef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F0D538C-C27B-41F8-9068-276BE4136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27A316D-5F25-4C81-A86D-6B074279F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4AF295-819E-4E32-A4AA-AED66A0F966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1BE5A6D-6C53-4DF0-BC69-EB273537D7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582D4A-9339-4F45-90F1-659BCB4A35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9b97a77c8a34821"/>
    <p:sldLayoutId xmlns:r="http://schemas.openxmlformats.org/officeDocument/2006/relationships" id="2147483662" r:id="R37197b22a93c46f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64654B2-AAE7-4E45-BF96-EE7AB7CFF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59F4E15-8896-47E8-89C8-8121E7C79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52DE5E9-4801-430B-B84E-BC0F156BF6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37067A-F0BC-43A2-9379-04DCD3D7111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C8D2278-803A-4C22-BEF5-1752C0AC3D9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9b0675ec1e64ef5"/>
    <p:sldLayoutId xmlns:r="http://schemas.openxmlformats.org/officeDocument/2006/relationships" id="2147483665" r:id="Rcee403da9d8c422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44e1897a24dac" /><Relationship Type="http://schemas.openxmlformats.org/officeDocument/2006/relationships/notesSlide" Target="/ppt/notesSlides/notesSlide1.xml" Id="R5910bf7154484b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a3d86dafb94dba" /><Relationship Type="http://schemas.openxmlformats.org/officeDocument/2006/relationships/notesSlide" Target="/ppt/notesSlides/notesSlide2.xml" Id="R386f2ed6ac324b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355c974de84e26" /><Relationship Type="http://schemas.openxmlformats.org/officeDocument/2006/relationships/notesSlide" Target="/ppt/notesSlides/notesSlide3.xml" Id="R05bf878998f6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f09cfd2e7746cb" /><Relationship Type="http://schemas.openxmlformats.org/officeDocument/2006/relationships/image" Target="/ppt/media/image6.png" Id="R300ff40f8bfc4855" /><Relationship Type="http://schemas.openxmlformats.org/officeDocument/2006/relationships/notesSlide" Target="/ppt/notesSlides/notesSlide4.xml" Id="Re0309f0f617946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a2c959f6b6402e" /><Relationship Type="http://schemas.openxmlformats.org/officeDocument/2006/relationships/image" Target="/ppt/media/image7.png" Id="Rd4a87c01d5734457" /><Relationship Type="http://schemas.openxmlformats.org/officeDocument/2006/relationships/image" Target="/ppt/media/image.svg" Id="Rb4add2276d9a4d6c" /><Relationship Type="http://schemas.openxmlformats.org/officeDocument/2006/relationships/image" Target="/ppt/media/image8.png" Id="R3757aa24dd7a48eb" /><Relationship Type="http://schemas.openxmlformats.org/officeDocument/2006/relationships/image" Target="/ppt/media/image2.svg" Id="Rb6ec798489e44036" /><Relationship Type="http://schemas.openxmlformats.org/officeDocument/2006/relationships/image" Target="/ppt/media/image9.png" Id="R71d8020f474a46da" /><Relationship Type="http://schemas.openxmlformats.org/officeDocument/2006/relationships/image" Target="/ppt/media/image3.svg" Id="Rb6f1148261334c3d" /><Relationship Type="http://schemas.openxmlformats.org/officeDocument/2006/relationships/notesSlide" Target="/ppt/notesSlides/notesSlide5.xml" Id="R516ba855458048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c7a3958b2d42af" /><Relationship Type="http://schemas.openxmlformats.org/officeDocument/2006/relationships/image" Target="/ppt/media/image10.png" Id="R88d5625a23ce46c0" /><Relationship Type="http://schemas.openxmlformats.org/officeDocument/2006/relationships/image" Target="/ppt/media/image11.png" Id="Rc896a54f4b63430f" /><Relationship Type="http://schemas.openxmlformats.org/officeDocument/2006/relationships/image" Target="/ppt/media/image12.png" Id="R241227d280a84650" /><Relationship Type="http://schemas.openxmlformats.org/officeDocument/2006/relationships/notesSlide" Target="/ppt/notesSlides/notesSlide6.xml" Id="R6dd68d911ae349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44fe988f844667" /><Relationship Type="http://schemas.openxmlformats.org/officeDocument/2006/relationships/image" Target="/ppt/media/image13.png" Id="Rb9febd4a331c476f" /><Relationship Type="http://schemas.openxmlformats.org/officeDocument/2006/relationships/notesSlide" Target="/ppt/notesSlides/notesSlide7.xml" Id="R063c4e308bd041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b5af5c2e8e49ee" /><Relationship Type="http://schemas.openxmlformats.org/officeDocument/2006/relationships/notesSlide" Target="/ppt/notesSlides/notesSlide8.xml" Id="R0170603adcbd4c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35b10dd9974b78" /><Relationship Type="http://schemas.openxmlformats.org/officeDocument/2006/relationships/notesSlide" Target="/ppt/notesSlides/notesSlide9.xml" Id="R0b3222bc17224c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f426b03c574a86" /><Relationship Type="http://schemas.openxmlformats.org/officeDocument/2006/relationships/image" Target="/ppt/media/image14.png" Id="Rf7b5ba4b5e2349e7" /><Relationship Type="http://schemas.openxmlformats.org/officeDocument/2006/relationships/image" Target="/ppt/media/image4.svg" Id="R95cde85311e8408e" /><Relationship Type="http://schemas.openxmlformats.org/officeDocument/2006/relationships/image" Target="/ppt/media/image15.png" Id="Rd1de488437054608" /><Relationship Type="http://schemas.openxmlformats.org/officeDocument/2006/relationships/image" Target="/ppt/media/image5.svg" Id="Rbe41a50c155c44c4" /><Relationship Type="http://schemas.openxmlformats.org/officeDocument/2006/relationships/image" Target="/ppt/media/image16.png" Id="R241d2f752dc3421e" /><Relationship Type="http://schemas.openxmlformats.org/officeDocument/2006/relationships/image" Target="/ppt/media/image6.svg" Id="Rf189788b46aa460f" /><Relationship Type="http://schemas.openxmlformats.org/officeDocument/2006/relationships/image" Target="/ppt/media/image17.png" Id="R9c6288f0682e418b" /><Relationship Type="http://schemas.openxmlformats.org/officeDocument/2006/relationships/image" Target="/ppt/media/image7.svg" Id="R2bf5808885564e04" /><Relationship Type="http://schemas.openxmlformats.org/officeDocument/2006/relationships/notesSlide" Target="/ppt/notesSlides/notesSlide10.xml" Id="Raaa67308e9414a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91ee3d914b442e" /><Relationship Type="http://schemas.openxmlformats.org/officeDocument/2006/relationships/image" Target="/ppt/media/image18.png" Id="R2770d4c50b4f435c" /><Relationship Type="http://schemas.openxmlformats.org/officeDocument/2006/relationships/image" Target="/ppt/media/image19.png" Id="R147a22ffb9c24ba6" /><Relationship Type="http://schemas.openxmlformats.org/officeDocument/2006/relationships/image" Target="/ppt/media/image20.png" Id="Rae5bdeb12a7f46fe" /><Relationship Type="http://schemas.openxmlformats.org/officeDocument/2006/relationships/notesSlide" Target="/ppt/notesSlides/notesSlide11.xml" Id="R8be7c62acca74c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5204df7b8e44ef" /><Relationship Type="http://schemas.openxmlformats.org/officeDocument/2006/relationships/notesSlide" Target="/ppt/notesSlides/notesSlide12.xml" Id="R3ffb54d137ae42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68bc52d0649f1" /><Relationship Type="http://schemas.openxmlformats.org/officeDocument/2006/relationships/notesSlide" Target="/ppt/notesSlides/notesSlide13.xml" Id="R8252027f0a9542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B2F68DA-79BA-41CF-9C4B-4436403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954191C2-411E-49D8-A7F4-BD5C8402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辽宁“六地”红色文化标识融入党员教育的创新实践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FAEA8E74-D034-4731-9C35-F4B01D8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东北大学｜创新案例分享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120CD9C-5BA4-4E0C-AB71-F42858E8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631DCBB3-889E-49E5-8650-4368C08F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让“六地”红
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16132924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理工“学霸”的优势很突出，育人短板也同样真实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问题起点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E7C2319E-D5C5-424F-AEBB-336954C9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C377DC3F-ABF2-4226-805B-B835C3B2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B1871C3F-E838-4C86-AE4B-2E6350B6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C33C5627-9283-45E7-9C9E-560675C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75A92E71-2366-4659-B893-02BEFFE9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7B65D9A2-7109-4634-A8BA-E644634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E201F4D9-919B-4C68-8823-B0DA9FB9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三高优势</a:t>
            </a:r>
          </a:p>
        </p:txBody>
      </p:sp>
      <p:sp>
        <p:nvSpPr>
          <p:cNvPr id="22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74A54372-8FBC-4AD3-B117-4B71C60B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3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4CD4A5BD-45E0-4A90-8C5E-8142E41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8C802616-E7C9-4B12-9703-AD7E2E64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5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9BAD33D2-3245-4A63-A6E0-5217A02B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高学分</a:t>
            </a:r>
          </a:p>
        </p:txBody>
      </p:sp>
      <p:sp>
        <p:nvSpPr>
          <p:cNvPr id="26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AD534D92-CAAD-4789-A3F6-3E86B947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7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50A98705-CC69-47A7-84B0-FC5A5F8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4C1D87A4-1466-4D87-AF8A-EAA90F65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9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36B18CB0-96CE-4D2D-8C62-C662D194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高竞赛</a:t>
            </a:r>
          </a:p>
        </p:txBody>
      </p:sp>
      <p:sp>
        <p:nvSpPr>
          <p:cNvPr id="30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9AE845F2-4F2F-49D7-8496-909C792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1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9C3400FB-CFC4-4D7E-9ABF-2B7D92E1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E972529E-72E3-478B-8469-3D5B1B25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8FB098E2-8A2C-43F3-9DBF-C4D2F885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高科研</a:t>
            </a:r>
          </a:p>
        </p:txBody>
      </p:sp>
      <p:sp>
        <p:nvSpPr>
          <p:cNvPr id="34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A60AB631-391E-4BD3-85C2-DF0B0100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4986469A-73E9-4548-9166-BBB50A1B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6DD978C6-9D6C-4B81-B96E-349CA049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027AB98D-7702-4CD8-9A79-AE0C8AF8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F31843C6-BC39-4211-AEFC-B7CACD79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三低短板</a:t>
            </a:r>
          </a:p>
        </p:txBody>
      </p:sp>
      <p:sp>
        <p:nvSpPr>
          <p:cNvPr id="39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D53FCD57-83D7-41D7-AB68-5E843287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0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7C4B0DB1-B12C-4F50-A6FE-E510FD7F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CEEBA51B-6911-43A9-ADC8-091FE71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2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A752FEFF-5FFC-4CAD-BF86-74E13DDC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理论情感浓度低</a:t>
            </a:r>
          </a:p>
        </p:txBody>
      </p:sp>
      <p:sp>
        <p:nvSpPr>
          <p:cNvPr id="43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E943F873-69D3-4F25-98D8-16CDDFC8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4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82FB1A64-27C7-43C1-BFC2-2E9BA1F0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4AD2CEF3-B5A8-4D6A-8ED0-6E220038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6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DE2921E9-FA07-46CE-91C1-A2D1A9BB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身份认同声量低</a:t>
            </a:r>
          </a:p>
        </p:txBody>
      </p:sp>
      <p:sp>
        <p:nvSpPr>
          <p:cNvPr id="47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8EA9A5F3-807C-4E5D-940A-C9E220F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8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9E9E7B14-3F67-47A1-B863-AD08372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2657450C-2692-4636-94FE-68E285D8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0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E27D9BA8-F6CB-4AD0-B833-7A75BD1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知行合一燃值低</a:t>
            </a:r>
          </a:p>
        </p:txBody>
      </p:sp>
      <p:sp>
        <p:nvSpPr>
          <p:cNvPr id="51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55F60D11-7781-4FF1-AAB6-E86A4E5B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52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DBE73D15-028D-4C70-9A7C-84676D8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53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CC78E1E9-48D9-4138-8881-FC7DD083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54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1199ED70-98FC-4C09-8731-A9176FC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并存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双轮驱动，把红色资源编成“1+3+N”育人系统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系统设计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8EEF2B5F-5DC6-40ED-BD6C-6D7FA8B4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DAFF5FBD-CE2B-4B16-B34E-6C3DB172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7C26D1F5-FA27-47E9-907D-0EC3261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layer-0-cap">
            <a:extLst xmlns:a="http://schemas.openxmlformats.org/drawingml/2006/main">
              <a:ext uri="{FF2B5EF4-FFF2-40B4-BE49-F238E27FC236}">
                <a16:creationId xmlns:a16="http://schemas.microsoft.com/office/drawing/2014/main" id="{A9DBF70A-BCFB-46DA-A947-CCBFB95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9833D601-1DF3-4720-994A-1898BDFE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6648E437-E569-4649-B3A4-99E18B3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N个场景</a:t>
            </a:r>
          </a:p>
        </p:txBody>
      </p:sp>
      <p:sp>
        <p:nvSpPr>
          <p:cNvPr id="21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01FB66C8-9301-4162-818F-55B2293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7527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校地联建</a:t>
            </a:r>
          </a:p>
        </p:txBody>
      </p:sp>
      <p:sp>
        <p:nvSpPr>
          <p:cNvPr id="22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636FB1CD-F793-4D4C-9956-F41CE3D9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9462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F58F7B94-66F5-4A07-BEF5-29AEE16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0451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校企协同</a:t>
            </a:r>
          </a:p>
        </p:txBody>
      </p:sp>
      <p:sp>
        <p:nvSpPr>
          <p:cNvPr id="24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03A1F045-764D-483C-9113-BA50C905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2386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D8B9A9B1-FC6E-4A06-BD9C-949893A5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校校共建</a:t>
            </a:r>
          </a:p>
        </p:txBody>
      </p:sp>
      <p:sp>
        <p:nvSpPr>
          <p:cNvPr id="26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6AB32769-3F74-4521-BF4A-9A97173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E37B6A2B-BE30-45FD-84AD-004E6D3A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B603B3EB-111C-4367-A3C3-7D4767FF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layer-1-cap">
            <a:extLst xmlns:a="http://schemas.openxmlformats.org/drawingml/2006/main">
              <a:ext uri="{FF2B5EF4-FFF2-40B4-BE49-F238E27FC236}">
                <a16:creationId xmlns:a16="http://schemas.microsoft.com/office/drawing/2014/main" id="{13146C59-64DA-4FB4-AF3B-EF54FA1E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6416B0D1-B240-4C7B-A2EE-68F07141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2664EC26-351A-4ACD-8626-9BFDEA37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3类课堂</a:t>
            </a:r>
          </a:p>
        </p:txBody>
      </p:sp>
      <p:sp>
        <p:nvSpPr>
          <p:cNvPr id="32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F3055D24-632F-4808-A20D-4EE07778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3195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行走课堂</a:t>
            </a:r>
          </a:p>
        </p:txBody>
      </p:sp>
      <p:sp>
        <p:nvSpPr>
          <p:cNvPr id="33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C199EC1C-5E25-4B97-85CE-E219D63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7296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8152B066-FBB6-4212-99EA-003FBE23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0451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沉浸课堂</a:t>
            </a:r>
          </a:p>
        </p:txBody>
      </p:sp>
      <p:sp>
        <p:nvSpPr>
          <p:cNvPr id="35" name="layer-1-item-2-separator">
            <a:extLst xmlns:a="http://schemas.openxmlformats.org/drawingml/2006/main">
              <a:ext uri="{FF2B5EF4-FFF2-40B4-BE49-F238E27FC236}">
                <a16:creationId xmlns:a16="http://schemas.microsoft.com/office/drawing/2014/main" id="{256FF4B1-7CB5-47DE-821F-2C86C84F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4552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yer-1-item-2-title">
            <a:extLst xmlns:a="http://schemas.openxmlformats.org/drawingml/2006/main">
              <a:ext uri="{FF2B5EF4-FFF2-40B4-BE49-F238E27FC236}">
                <a16:creationId xmlns:a16="http://schemas.microsoft.com/office/drawing/2014/main" id="{EE3FE8FA-3E66-48E6-A900-2CD27040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7706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互动课堂</a:t>
            </a:r>
          </a:p>
        </p:txBody>
      </p:sp>
      <p:sp>
        <p:nvSpPr>
          <p:cNvPr id="37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5B80DE03-3E46-4311-9BBF-D645A633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6FBFB411-F1B2-49B7-9A1F-5F87895C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7915AB91-D484-43C4-A8DB-873DB5BA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layer-2-cap">
            <a:extLst xmlns:a="http://schemas.openxmlformats.org/drawingml/2006/main">
              <a:ext uri="{FF2B5EF4-FFF2-40B4-BE49-F238E27FC236}">
                <a16:creationId xmlns:a16="http://schemas.microsoft.com/office/drawing/2014/main" id="{660FC9E8-7B8E-4377-B1A4-CCB9EB6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C253A166-7D41-4E74-8F86-436099ED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4E2830B8-3A79-4BFD-9018-E474D7A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1条研学链</a:t>
            </a:r>
          </a:p>
        </p:txBody>
      </p:sp>
      <p:sp>
        <p:nvSpPr>
          <p:cNvPr id="43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34D56651-15F9-4C7B-9724-70302999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5094" y="5559476"/>
            <a:ext cx="998344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1个校本基地</a:t>
            </a:r>
          </a:p>
        </p:txBody>
      </p:sp>
      <p:sp>
        <p:nvSpPr>
          <p:cNvPr id="44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ABA55B3F-55A8-4042-AE11-21964748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513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D09AC9CF-4811-416E-B20A-1EC98A42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6680" y="5559476"/>
            <a:ext cx="998344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6处核心场馆</a:t>
            </a:r>
          </a:p>
        </p:txBody>
      </p:sp>
      <p:sp>
        <p:nvSpPr>
          <p:cNvPr id="46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4E26ECAB-BB3F-4750-92BC-FA474EA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6717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CDF935FA-DAA7-46EC-8A7E-D081E84A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559476"/>
            <a:ext cx="861717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N个教学点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一条研学链，把资源点变成青年行动的连续现场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行走课堂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DA902-F9CD-4333-8B17-48B077AE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EDB41-4469-417F-B41D-E5061E73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00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从“看见资源”到“承担任务”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AC4FF-0B41-450C-98F6-6FD52D1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091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22 处示范教学点不是参观清单，而是青年完成真实任务的行动链。</a:t>
            </a:r>
          </a:p>
        </p:txBody>
      </p:sp>
      <p:sp>
        <p:nvSpPr>
          <p:cNvPr id="18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FBEB841E-A204-4745-80E0-5CF274AA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3418513"/>
            <a:ext cx="8638184" cy="322412"/>
          </a:xfrm>
          <a:custGeom xmlns:a="http://schemas.openxmlformats.org/drawingml/2006/main">
            <a:pathLst>
              <a:path w="8638184" h="322412">
                <a:moveTo>
                  <a:pt x="0" y="58112"/>
                </a:moveTo>
                <a:lnTo>
                  <a:pt x="49987" y="20012"/>
                </a:lnTo>
                <a:lnTo>
                  <a:pt x="123720" y="20012"/>
                </a:lnTo>
                <a:lnTo>
                  <a:pt x="197444" y="20012"/>
                </a:lnTo>
                <a:lnTo>
                  <a:pt x="271177" y="20012"/>
                </a:lnTo>
                <a:lnTo>
                  <a:pt x="344910" y="20012"/>
                </a:lnTo>
                <a:lnTo>
                  <a:pt x="418643" y="20012"/>
                </a:lnTo>
                <a:lnTo>
                  <a:pt x="492366" y="20012"/>
                </a:lnTo>
                <a:lnTo>
                  <a:pt x="566099" y="20012"/>
                </a:lnTo>
                <a:lnTo>
                  <a:pt x="639832" y="20012"/>
                </a:lnTo>
                <a:lnTo>
                  <a:pt x="713565" y="20012"/>
                </a:lnTo>
                <a:lnTo>
                  <a:pt x="787289" y="20012"/>
                </a:lnTo>
                <a:lnTo>
                  <a:pt x="861022" y="20012"/>
                </a:lnTo>
                <a:lnTo>
                  <a:pt x="934755" y="20012"/>
                </a:lnTo>
                <a:lnTo>
                  <a:pt x="1008488" y="20012"/>
                </a:lnTo>
                <a:lnTo>
                  <a:pt x="1082211" y="20012"/>
                </a:lnTo>
                <a:lnTo>
                  <a:pt x="1155944" y="20012"/>
                </a:lnTo>
                <a:lnTo>
                  <a:pt x="1229678" y="20012"/>
                </a:lnTo>
                <a:lnTo>
                  <a:pt x="1303401" y="20012"/>
                </a:lnTo>
                <a:lnTo>
                  <a:pt x="1377134" y="20012"/>
                </a:lnTo>
                <a:lnTo>
                  <a:pt x="1450867" y="20012"/>
                </a:lnTo>
                <a:lnTo>
                  <a:pt x="1524600" y="20012"/>
                </a:lnTo>
                <a:lnTo>
                  <a:pt x="1598324" y="20012"/>
                </a:lnTo>
                <a:lnTo>
                  <a:pt x="1672057" y="20012"/>
                </a:lnTo>
                <a:lnTo>
                  <a:pt x="1745790" y="20012"/>
                </a:lnTo>
                <a:lnTo>
                  <a:pt x="1819523" y="20012"/>
                </a:lnTo>
                <a:lnTo>
                  <a:pt x="1893246" y="20012"/>
                </a:lnTo>
                <a:lnTo>
                  <a:pt x="1966979" y="20012"/>
                </a:lnTo>
                <a:lnTo>
                  <a:pt x="2040712" y="20012"/>
                </a:lnTo>
                <a:lnTo>
                  <a:pt x="2114445" y="20012"/>
                </a:lnTo>
                <a:lnTo>
                  <a:pt x="2188169" y="20012"/>
                </a:lnTo>
                <a:lnTo>
                  <a:pt x="2261902" y="20012"/>
                </a:lnTo>
                <a:lnTo>
                  <a:pt x="2335635" y="20012"/>
                </a:lnTo>
                <a:lnTo>
                  <a:pt x="2409368" y="20012"/>
                </a:lnTo>
                <a:lnTo>
                  <a:pt x="2483091" y="20012"/>
                </a:lnTo>
                <a:lnTo>
                  <a:pt x="2556824" y="20012"/>
                </a:lnTo>
                <a:lnTo>
                  <a:pt x="2630557" y="20012"/>
                </a:lnTo>
                <a:lnTo>
                  <a:pt x="2704290" y="20012"/>
                </a:lnTo>
                <a:lnTo>
                  <a:pt x="2778014" y="20012"/>
                </a:lnTo>
                <a:lnTo>
                  <a:pt x="2851747" y="20012"/>
                </a:lnTo>
                <a:lnTo>
                  <a:pt x="2925480" y="20012"/>
                </a:lnTo>
                <a:lnTo>
                  <a:pt x="2999213" y="20012"/>
                </a:lnTo>
                <a:lnTo>
                  <a:pt x="3072936" y="20012"/>
                </a:lnTo>
                <a:lnTo>
                  <a:pt x="3146669" y="20012"/>
                </a:lnTo>
                <a:lnTo>
                  <a:pt x="3220403" y="20012"/>
                </a:lnTo>
                <a:lnTo>
                  <a:pt x="3294136" y="20012"/>
                </a:lnTo>
                <a:lnTo>
                  <a:pt x="3367859" y="20012"/>
                </a:lnTo>
                <a:lnTo>
                  <a:pt x="3441592" y="20012"/>
                </a:lnTo>
                <a:lnTo>
                  <a:pt x="3515325" y="20012"/>
                </a:lnTo>
                <a:lnTo>
                  <a:pt x="3589058" y="20012"/>
                </a:lnTo>
                <a:lnTo>
                  <a:pt x="3662782" y="20012"/>
                </a:lnTo>
                <a:lnTo>
                  <a:pt x="3736515" y="20012"/>
                </a:lnTo>
                <a:lnTo>
                  <a:pt x="3810248" y="20012"/>
                </a:lnTo>
                <a:lnTo>
                  <a:pt x="3883981" y="20012"/>
                </a:lnTo>
                <a:lnTo>
                  <a:pt x="3957704" y="20012"/>
                </a:lnTo>
                <a:lnTo>
                  <a:pt x="4031437" y="20012"/>
                </a:lnTo>
                <a:lnTo>
                  <a:pt x="4105170" y="20012"/>
                </a:lnTo>
                <a:lnTo>
                  <a:pt x="4178894" y="20012"/>
                </a:lnTo>
                <a:lnTo>
                  <a:pt x="4252627" y="20012"/>
                </a:lnTo>
                <a:lnTo>
                  <a:pt x="4326360" y="20012"/>
                </a:lnTo>
                <a:lnTo>
                  <a:pt x="4400093" y="20012"/>
                </a:lnTo>
                <a:lnTo>
                  <a:pt x="4473816" y="20012"/>
                </a:lnTo>
                <a:lnTo>
                  <a:pt x="4547549" y="20012"/>
                </a:lnTo>
                <a:lnTo>
                  <a:pt x="4621282" y="20012"/>
                </a:lnTo>
                <a:lnTo>
                  <a:pt x="4695015" y="20012"/>
                </a:lnTo>
                <a:lnTo>
                  <a:pt x="4768739" y="20012"/>
                </a:lnTo>
                <a:lnTo>
                  <a:pt x="4842472" y="20012"/>
                </a:lnTo>
                <a:lnTo>
                  <a:pt x="4916205" y="20012"/>
                </a:lnTo>
                <a:lnTo>
                  <a:pt x="4989938" y="20012"/>
                </a:lnTo>
                <a:lnTo>
                  <a:pt x="5063661" y="20012"/>
                </a:lnTo>
                <a:lnTo>
                  <a:pt x="5137394" y="20012"/>
                </a:lnTo>
                <a:lnTo>
                  <a:pt x="5211128" y="20012"/>
                </a:lnTo>
                <a:lnTo>
                  <a:pt x="5284861" y="20012"/>
                </a:lnTo>
                <a:lnTo>
                  <a:pt x="5358584" y="20012"/>
                </a:lnTo>
                <a:lnTo>
                  <a:pt x="5432317" y="20012"/>
                </a:lnTo>
                <a:lnTo>
                  <a:pt x="5506050" y="20012"/>
                </a:lnTo>
                <a:lnTo>
                  <a:pt x="5579783" y="20012"/>
                </a:lnTo>
                <a:lnTo>
                  <a:pt x="5653507" y="20012"/>
                </a:lnTo>
                <a:lnTo>
                  <a:pt x="5727240" y="20012"/>
                </a:lnTo>
                <a:lnTo>
                  <a:pt x="5800973" y="20012"/>
                </a:lnTo>
                <a:lnTo>
                  <a:pt x="5874706" y="20012"/>
                </a:lnTo>
                <a:lnTo>
                  <a:pt x="5948429" y="20012"/>
                </a:lnTo>
                <a:lnTo>
                  <a:pt x="6022162" y="20012"/>
                </a:lnTo>
                <a:lnTo>
                  <a:pt x="6095895" y="20012"/>
                </a:lnTo>
                <a:lnTo>
                  <a:pt x="6169628" y="20012"/>
                </a:lnTo>
                <a:lnTo>
                  <a:pt x="6243352" y="20012"/>
                </a:lnTo>
                <a:lnTo>
                  <a:pt x="6317085" y="20012"/>
                </a:lnTo>
                <a:lnTo>
                  <a:pt x="6390818" y="20012"/>
                </a:lnTo>
                <a:lnTo>
                  <a:pt x="6464551" y="20012"/>
                </a:lnTo>
                <a:lnTo>
                  <a:pt x="6538274" y="20012"/>
                </a:lnTo>
                <a:lnTo>
                  <a:pt x="6612007" y="20012"/>
                </a:lnTo>
                <a:lnTo>
                  <a:pt x="6685740" y="20012"/>
                </a:lnTo>
                <a:lnTo>
                  <a:pt x="6759473" y="20012"/>
                </a:lnTo>
                <a:lnTo>
                  <a:pt x="6833197" y="20012"/>
                </a:lnTo>
                <a:lnTo>
                  <a:pt x="6906930" y="20012"/>
                </a:lnTo>
                <a:lnTo>
                  <a:pt x="6980663" y="20012"/>
                </a:lnTo>
                <a:lnTo>
                  <a:pt x="7054396" y="20012"/>
                </a:lnTo>
                <a:lnTo>
                  <a:pt x="7128119" y="20012"/>
                </a:lnTo>
                <a:lnTo>
                  <a:pt x="7201853" y="20012"/>
                </a:lnTo>
                <a:lnTo>
                  <a:pt x="7275586" y="20012"/>
                </a:lnTo>
                <a:lnTo>
                  <a:pt x="7349309" y="20012"/>
                </a:lnTo>
                <a:lnTo>
                  <a:pt x="7423042" y="20012"/>
                </a:lnTo>
                <a:lnTo>
                  <a:pt x="7496775" y="20012"/>
                </a:lnTo>
                <a:lnTo>
                  <a:pt x="7570508" y="20012"/>
                </a:lnTo>
                <a:lnTo>
                  <a:pt x="7644232" y="20012"/>
                </a:lnTo>
                <a:lnTo>
                  <a:pt x="7717965" y="20012"/>
                </a:lnTo>
                <a:lnTo>
                  <a:pt x="7791698" y="20012"/>
                </a:lnTo>
                <a:lnTo>
                  <a:pt x="7865431" y="20012"/>
                </a:lnTo>
                <a:lnTo>
                  <a:pt x="7939154" y="20012"/>
                </a:lnTo>
                <a:lnTo>
                  <a:pt x="8012887" y="20012"/>
                </a:lnTo>
                <a:lnTo>
                  <a:pt x="8086620" y="20012"/>
                </a:lnTo>
                <a:lnTo>
                  <a:pt x="8160353" y="20012"/>
                </a:lnTo>
                <a:lnTo>
                  <a:pt x="8220075" y="6010"/>
                </a:lnTo>
                <a:lnTo>
                  <a:pt x="8266300" y="0"/>
                </a:lnTo>
                <a:lnTo>
                  <a:pt x="8334956" y="26870"/>
                </a:lnTo>
                <a:lnTo>
                  <a:pt x="8403622" y="53731"/>
                </a:lnTo>
                <a:lnTo>
                  <a:pt x="8472278" y="80601"/>
                </a:lnTo>
                <a:lnTo>
                  <a:pt x="8540944" y="107471"/>
                </a:lnTo>
                <a:lnTo>
                  <a:pt x="8609600" y="134341"/>
                </a:lnTo>
                <a:lnTo>
                  <a:pt x="8638184" y="161201"/>
                </a:lnTo>
                <a:lnTo>
                  <a:pt x="8569528" y="188071"/>
                </a:lnTo>
                <a:lnTo>
                  <a:pt x="8500862" y="214941"/>
                </a:lnTo>
                <a:lnTo>
                  <a:pt x="8432206" y="241802"/>
                </a:lnTo>
                <a:lnTo>
                  <a:pt x="8363541" y="268672"/>
                </a:lnTo>
                <a:lnTo>
                  <a:pt x="8294884" y="295542"/>
                </a:lnTo>
                <a:lnTo>
                  <a:pt x="8226219" y="322412"/>
                </a:lnTo>
                <a:lnTo>
                  <a:pt x="8191043" y="286712"/>
                </a:lnTo>
                <a:lnTo>
                  <a:pt x="8117310" y="286712"/>
                </a:lnTo>
                <a:lnTo>
                  <a:pt x="8043577" y="286712"/>
                </a:lnTo>
                <a:lnTo>
                  <a:pt x="7969853" y="286712"/>
                </a:lnTo>
                <a:lnTo>
                  <a:pt x="7896120" y="286712"/>
                </a:lnTo>
                <a:lnTo>
                  <a:pt x="7822387" y="286712"/>
                </a:lnTo>
                <a:lnTo>
                  <a:pt x="7748654" y="286712"/>
                </a:lnTo>
                <a:lnTo>
                  <a:pt x="7674931" y="286712"/>
                </a:lnTo>
                <a:lnTo>
                  <a:pt x="7601198" y="286712"/>
                </a:lnTo>
                <a:lnTo>
                  <a:pt x="7527465" y="286712"/>
                </a:lnTo>
                <a:lnTo>
                  <a:pt x="7453732" y="286712"/>
                </a:lnTo>
                <a:lnTo>
                  <a:pt x="7380008" y="286712"/>
                </a:lnTo>
                <a:lnTo>
                  <a:pt x="7306275" y="286712"/>
                </a:lnTo>
                <a:lnTo>
                  <a:pt x="7232542" y="286712"/>
                </a:lnTo>
                <a:lnTo>
                  <a:pt x="7158819" y="286712"/>
                </a:lnTo>
                <a:lnTo>
                  <a:pt x="7085086" y="286712"/>
                </a:lnTo>
                <a:lnTo>
                  <a:pt x="7011353" y="286712"/>
                </a:lnTo>
                <a:lnTo>
                  <a:pt x="6937619" y="286712"/>
                </a:lnTo>
                <a:lnTo>
                  <a:pt x="6863896" y="286712"/>
                </a:lnTo>
                <a:lnTo>
                  <a:pt x="6790163" y="286712"/>
                </a:lnTo>
                <a:lnTo>
                  <a:pt x="6716430" y="286712"/>
                </a:lnTo>
                <a:lnTo>
                  <a:pt x="6642697" y="286712"/>
                </a:lnTo>
                <a:lnTo>
                  <a:pt x="6568973" y="286712"/>
                </a:lnTo>
                <a:lnTo>
                  <a:pt x="6495240" y="286712"/>
                </a:lnTo>
                <a:lnTo>
                  <a:pt x="6421507" y="286712"/>
                </a:lnTo>
                <a:lnTo>
                  <a:pt x="6347774" y="286712"/>
                </a:lnTo>
                <a:lnTo>
                  <a:pt x="6274051" y="286712"/>
                </a:lnTo>
                <a:lnTo>
                  <a:pt x="6200318" y="286712"/>
                </a:lnTo>
                <a:lnTo>
                  <a:pt x="6126585" y="286712"/>
                </a:lnTo>
                <a:lnTo>
                  <a:pt x="6052852" y="286712"/>
                </a:lnTo>
                <a:lnTo>
                  <a:pt x="5979128" y="286712"/>
                </a:lnTo>
                <a:lnTo>
                  <a:pt x="5905395" y="286712"/>
                </a:lnTo>
                <a:lnTo>
                  <a:pt x="5831662" y="286712"/>
                </a:lnTo>
                <a:lnTo>
                  <a:pt x="5757929" y="286712"/>
                </a:lnTo>
                <a:lnTo>
                  <a:pt x="5684206" y="286712"/>
                </a:lnTo>
                <a:lnTo>
                  <a:pt x="5610473" y="286712"/>
                </a:lnTo>
                <a:lnTo>
                  <a:pt x="5536740" y="286712"/>
                </a:lnTo>
                <a:lnTo>
                  <a:pt x="5463007" y="286712"/>
                </a:lnTo>
                <a:lnTo>
                  <a:pt x="5389283" y="286712"/>
                </a:lnTo>
                <a:lnTo>
                  <a:pt x="5315550" y="286712"/>
                </a:lnTo>
                <a:lnTo>
                  <a:pt x="5241817" y="286712"/>
                </a:lnTo>
                <a:lnTo>
                  <a:pt x="5168084" y="286712"/>
                </a:lnTo>
                <a:lnTo>
                  <a:pt x="5094361" y="286712"/>
                </a:lnTo>
                <a:lnTo>
                  <a:pt x="5020628" y="286712"/>
                </a:lnTo>
                <a:lnTo>
                  <a:pt x="4946894" y="286712"/>
                </a:lnTo>
                <a:lnTo>
                  <a:pt x="4873161" y="286712"/>
                </a:lnTo>
                <a:lnTo>
                  <a:pt x="4799438" y="286712"/>
                </a:lnTo>
                <a:lnTo>
                  <a:pt x="4725705" y="286712"/>
                </a:lnTo>
                <a:lnTo>
                  <a:pt x="4651972" y="286712"/>
                </a:lnTo>
                <a:lnTo>
                  <a:pt x="4578239" y="286712"/>
                </a:lnTo>
                <a:lnTo>
                  <a:pt x="4504515" y="286712"/>
                </a:lnTo>
                <a:lnTo>
                  <a:pt x="4430782" y="286712"/>
                </a:lnTo>
                <a:lnTo>
                  <a:pt x="4357049" y="286712"/>
                </a:lnTo>
                <a:lnTo>
                  <a:pt x="4283326" y="286712"/>
                </a:lnTo>
                <a:lnTo>
                  <a:pt x="4209593" y="286712"/>
                </a:lnTo>
                <a:lnTo>
                  <a:pt x="4135860" y="286712"/>
                </a:lnTo>
                <a:lnTo>
                  <a:pt x="4062127" y="286712"/>
                </a:lnTo>
                <a:lnTo>
                  <a:pt x="3988394" y="286712"/>
                </a:lnTo>
                <a:lnTo>
                  <a:pt x="3914670" y="286712"/>
                </a:lnTo>
                <a:lnTo>
                  <a:pt x="3840937" y="286712"/>
                </a:lnTo>
                <a:lnTo>
                  <a:pt x="3767204" y="286712"/>
                </a:lnTo>
                <a:lnTo>
                  <a:pt x="3693471" y="286712"/>
                </a:lnTo>
                <a:lnTo>
                  <a:pt x="3619748" y="286712"/>
                </a:lnTo>
                <a:lnTo>
                  <a:pt x="3546015" y="286712"/>
                </a:lnTo>
                <a:lnTo>
                  <a:pt x="3472282" y="286712"/>
                </a:lnTo>
                <a:lnTo>
                  <a:pt x="3398558" y="286712"/>
                </a:lnTo>
                <a:lnTo>
                  <a:pt x="3324825" y="286712"/>
                </a:lnTo>
                <a:lnTo>
                  <a:pt x="3251092" y="286712"/>
                </a:lnTo>
                <a:lnTo>
                  <a:pt x="3177359" y="286712"/>
                </a:lnTo>
                <a:lnTo>
                  <a:pt x="3103636" y="286712"/>
                </a:lnTo>
                <a:lnTo>
                  <a:pt x="3029903" y="286712"/>
                </a:lnTo>
                <a:lnTo>
                  <a:pt x="2956169" y="286712"/>
                </a:lnTo>
                <a:lnTo>
                  <a:pt x="2882436" y="286712"/>
                </a:lnTo>
                <a:lnTo>
                  <a:pt x="2808713" y="286712"/>
                </a:lnTo>
                <a:lnTo>
                  <a:pt x="2734980" y="286712"/>
                </a:lnTo>
                <a:lnTo>
                  <a:pt x="2661247" y="286712"/>
                </a:lnTo>
                <a:lnTo>
                  <a:pt x="2587514" y="286712"/>
                </a:lnTo>
                <a:lnTo>
                  <a:pt x="2513790" y="286712"/>
                </a:lnTo>
                <a:lnTo>
                  <a:pt x="2440057" y="286712"/>
                </a:lnTo>
                <a:lnTo>
                  <a:pt x="2366324" y="286712"/>
                </a:lnTo>
                <a:lnTo>
                  <a:pt x="2292591" y="286712"/>
                </a:lnTo>
                <a:lnTo>
                  <a:pt x="2218868" y="286712"/>
                </a:lnTo>
                <a:lnTo>
                  <a:pt x="2145135" y="286712"/>
                </a:lnTo>
                <a:lnTo>
                  <a:pt x="2071402" y="286712"/>
                </a:lnTo>
                <a:lnTo>
                  <a:pt x="1997669" y="286712"/>
                </a:lnTo>
                <a:lnTo>
                  <a:pt x="1923945" y="286712"/>
                </a:lnTo>
                <a:lnTo>
                  <a:pt x="1850212" y="286712"/>
                </a:lnTo>
                <a:lnTo>
                  <a:pt x="1776479" y="286712"/>
                </a:lnTo>
                <a:lnTo>
                  <a:pt x="1702746" y="286712"/>
                </a:lnTo>
                <a:lnTo>
                  <a:pt x="1629023" y="286712"/>
                </a:lnTo>
                <a:lnTo>
                  <a:pt x="1555290" y="286712"/>
                </a:lnTo>
                <a:lnTo>
                  <a:pt x="1481557" y="286712"/>
                </a:lnTo>
                <a:lnTo>
                  <a:pt x="1407824" y="286712"/>
                </a:lnTo>
                <a:lnTo>
                  <a:pt x="1334100" y="286712"/>
                </a:lnTo>
                <a:lnTo>
                  <a:pt x="1260367" y="286712"/>
                </a:lnTo>
                <a:lnTo>
                  <a:pt x="1186634" y="286712"/>
                </a:lnTo>
                <a:lnTo>
                  <a:pt x="1112901" y="286712"/>
                </a:lnTo>
                <a:lnTo>
                  <a:pt x="1039178" y="286712"/>
                </a:lnTo>
                <a:lnTo>
                  <a:pt x="965444" y="286712"/>
                </a:lnTo>
                <a:lnTo>
                  <a:pt x="891711" y="286712"/>
                </a:lnTo>
                <a:lnTo>
                  <a:pt x="817978" y="286712"/>
                </a:lnTo>
                <a:lnTo>
                  <a:pt x="744255" y="286712"/>
                </a:lnTo>
                <a:lnTo>
                  <a:pt x="670522" y="286712"/>
                </a:lnTo>
                <a:lnTo>
                  <a:pt x="596789" y="286712"/>
                </a:lnTo>
                <a:lnTo>
                  <a:pt x="523065" y="286712"/>
                </a:lnTo>
                <a:lnTo>
                  <a:pt x="449332" y="286712"/>
                </a:lnTo>
                <a:lnTo>
                  <a:pt x="375599" y="286712"/>
                </a:lnTo>
                <a:lnTo>
                  <a:pt x="301866" y="286712"/>
                </a:lnTo>
                <a:lnTo>
                  <a:pt x="228143" y="286712"/>
                </a:lnTo>
                <a:lnTo>
                  <a:pt x="154410" y="286712"/>
                </a:lnTo>
                <a:lnTo>
                  <a:pt x="80677" y="286712"/>
                </a:lnTo>
                <a:lnTo>
                  <a:pt x="9363" y="277025"/>
                </a:lnTo>
                <a:lnTo>
                  <a:pt x="0" y="205569"/>
                </a:lnTo>
                <a:lnTo>
                  <a:pt x="0" y="131845"/>
                </a:lnTo>
                <a:lnTo>
                  <a:pt x="0" y="58112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0B2F73F2-3E9F-4350-B50E-B43D29BB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088" y="3562350"/>
            <a:ext cx="80486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C7FA76A9-E3CF-455E-9573-28B9C6BF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505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绘制地图</a:t>
            </a:r>
          </a:p>
        </p:txBody>
      </p:sp>
      <p:sp>
        <p:nvSpPr>
          <p:cNvPr id="21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D59552F1-3DE4-4AB0-BAEE-80D265E1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8" y="3152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2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BF15E462-7905-450D-AB14-F16486D7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3267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3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B1753D7F-32A0-4FF3-AE72-E1DA5B6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8" y="3267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A1A07420-A8A7-4936-B24B-B6ECA31E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933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E591F0D8-EE30-42E6-A5DB-5BFEB7DF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05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6C5C9E48-F6FD-46D2-AF68-57E2BCAA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4219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7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086030DF-A718-4B94-8453-2AB9BC4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338" y="4219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191F6A91-D67F-4034-A424-EC2AC47B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4514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梳理六地文化内涵</a:t>
            </a:r>
          </a:p>
        </p:txBody>
      </p:sp>
      <p:sp>
        <p:nvSpPr>
          <p:cNvPr id="29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D2EA6553-0834-42E6-A230-BFFDA616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505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设计路线</a:t>
            </a:r>
          </a:p>
        </p:txBody>
      </p:sp>
      <p:sp>
        <p:nvSpPr>
          <p:cNvPr id="30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EDBFC731-782B-4E63-ABD4-9AFA8496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0963" y="3152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1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64A356A5-7253-4665-8E88-5EEF18C7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3267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2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7461E56D-FED8-4280-9538-8B63C78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5263" y="3267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16DA3E27-09D7-4152-AE14-039F87F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933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1E917BE3-F7A5-49DA-8029-308E571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4305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EB426923-2ACF-4959-92BC-9ECE648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219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6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7F053437-70BE-4EB7-A284-728E5E3A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1463" y="4219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FCB8773B-4354-43CE-BA1A-9B623F44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514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1个校本基地 + 6处核心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场馆 + N个教学点</a:t>
            </a:r>
          </a:p>
        </p:txBody>
      </p:sp>
      <p:sp>
        <p:nvSpPr>
          <p:cNvPr id="38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F652FB7C-81BE-4804-8241-F5B12146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2505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现场研学</a:t>
            </a:r>
          </a:p>
        </p:txBody>
      </p:sp>
      <p:sp>
        <p:nvSpPr>
          <p:cNvPr id="39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EF337382-EA0D-4BB8-9F51-BB2CDDE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5088" y="3152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0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362B3307-0231-4CD0-85FE-3B6C4E49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3267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1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B010E32-7056-4DC8-B249-F024248E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3267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28BDA61E-4ABC-49EA-B9E1-57C92B9E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933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98EF7CDC-04EB-4EF4-B54F-DF5870E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305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46EF5AF9-A186-4070-99F5-C5185402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4219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5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2DA132BA-38BF-4B54-A371-410F07E4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5588" y="4219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65F6F693-767F-4DB8-8A8C-34E88081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4514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把课堂放进真实历史现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场</a:t>
            </a:r>
          </a:p>
        </p:txBody>
      </p:sp>
      <p:sp>
        <p:nvSpPr>
          <p:cNvPr id="47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7F4FA065-746F-4D7E-BAA9-F928596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50507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带回任务</a:t>
            </a:r>
          </a:p>
        </p:txBody>
      </p:sp>
      <p:sp>
        <p:nvSpPr>
          <p:cNvPr id="48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4747E237-7218-49D5-B28F-1710698E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9213" y="3152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9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BF1BFE51-BE0F-4C11-BF60-2196A737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3267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0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75E721C6-F085-4702-8937-AE7700FD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3513" y="32670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1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7B2425E3-BCB0-4C2B-9745-D05D9213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9338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BDF5DB37-B897-4735-8AC8-3774148F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430530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3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D32D0C78-6D29-486F-95F0-55764656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21957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4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298595AB-5938-4B8A-8669-4A07AEA0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9713" y="42195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019795B4-0238-4706-9CE3-92936666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51485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把感受转化为可交付成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果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ff40f8bfc4855"/>
          <a:srcRect xmlns:a="http://schemas.openxmlformats.org/drawingml/2006/main" l="40219" t="0" r="40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200" y="2724150"/>
            <a:ext cx="923925" cy="3028950"/>
          </a:xfrm>
          <a:prstGeom xmlns:a="http://schemas.openxmlformats.org/drawingml/2006/main" prst="roundRect">
            <a:avLst>
              <a:gd name="adj" fmla="val 12371"/>
            </a:avLst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一张任务单，让自我、专业与责任同时进入实践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任务驱动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6B5FD-9F8F-415F-A309-230EF65B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622B5-7F00-4E9A-850D-5C9770AE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00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任务不是打卡，而是“军令状”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1456B-639A-4DA7-8101-20144EAB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091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同一张任务单同时驱动价值认同、专业解决方案与振兴责任。</a:t>
            </a:r>
          </a:p>
        </p:txBody>
      </p:sp>
      <p:sp>
        <p:nvSpPr>
          <p:cNvPr id="18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DCEBDBFD-C9F7-4FD8-9AF5-BB33B9E7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9051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9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CDBDE052-D547-4488-AAD1-35B7260A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098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0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E35B5D46-7666-4B55-850A-C594E968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8098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50724841-36E7-42D5-AE75-BDBABF9C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23526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2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C043054E-9CD9-42DE-A3DE-A5CB4A9E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87c01d5734457">
            <a:extLst>
              <a:ext uri="{96DAC541-7B7A-43D3-8B79-37D633B846F1}">
                <asvg:svgBlip xmlns:asvg="http://schemas.microsoft.com/office/drawing/2016/SVG/main" r:embed="Rb4add2276d9a4d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6384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0D1E65D3-E8B7-4E23-9510-4F86A88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29025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把自己摆进去</a:t>
            </a:r>
          </a:p>
        </p:txBody>
      </p:sp>
      <p:sp>
        <p:nvSpPr>
          <p:cNvPr id="25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E69D7108-1530-47FA-8775-1332AAB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41624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F3509520-36D9-48D1-8E6E-CBCFD50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846291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写青春誓言</a:t>
            </a:r>
          </a:p>
        </p:txBody>
      </p:sp>
      <p:sp>
        <p:nvSpPr>
          <p:cNvPr id="27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A728E8EF-6190-4F85-A0EA-2D7BA98A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905125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8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C79BB1B5-E1DF-4FCF-93A2-3D27814A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809875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9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7F0C70A0-59D4-4051-8A19-712E15DC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8098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1C4C8B08-365A-45CB-A511-827BEDE7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23526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1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1EF6D6A7-3DA6-4DCB-B000-115B0BB9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7aa24dd7a48eb">
            <a:extLst>
              <a:ext uri="{96DAC541-7B7A-43D3-8B79-37D633B846F1}">
                <asvg:svgBlip xmlns:asvg="http://schemas.microsoft.com/office/drawing/2016/SVG/main" r:embed="Rb6ec798489e440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6384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3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A4F93636-353D-4962-89D2-3AF201C1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629025"/>
            <a:ext cx="2444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把工作摆进去</a:t>
            </a:r>
          </a:p>
        </p:txBody>
      </p:sp>
      <p:sp>
        <p:nvSpPr>
          <p:cNvPr id="34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1EB717BD-3327-41BD-9997-11E6CD55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41624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F3277328-F025-436C-8C75-968648E6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846291"/>
            <a:ext cx="2444801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写专业方案</a:t>
            </a:r>
          </a:p>
        </p:txBody>
      </p:sp>
      <p:sp>
        <p:nvSpPr>
          <p:cNvPr id="36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497E5EEB-3E58-4DFF-8937-550B6FDE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9051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7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7A5349BE-F4DC-4629-A362-2F89214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8098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38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44DBF0BD-C878-4326-9718-ABE0E2D0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8098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4B4A441E-37BC-43FE-8B4F-DEF90D34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23526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0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BB304468-72B9-425C-A72F-92C60BBB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8020f474a46da">
            <a:extLst>
              <a:ext uri="{96DAC541-7B7A-43D3-8B79-37D633B846F1}">
                <asvg:svgBlip xmlns:asvg="http://schemas.microsoft.com/office/drawing/2016/SVG/main" r:embed="Rb6f1148261334c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6384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2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0A4FAADF-9966-4E97-91E7-FD44E8C4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629025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把职责摆进去</a:t>
            </a:r>
          </a:p>
        </p:txBody>
      </p:sp>
      <p:sp>
        <p:nvSpPr>
          <p:cNvPr id="43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FD51ECAA-1860-4BD0-980B-2B778C0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41624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5FE09A9E-777B-4E0D-B14A-F49CE05C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846291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写振兴答卷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D0644C-41B7-4218-A31C-FF303963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724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69C9C9-6B3B-4AAD-BE2A-9787FEBE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26 项微课题被地方“揭榜挂帅”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一座 VR 基地，让 22 处旧址跨越时空进入党课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沉浸课堂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536B5-C3BD-4725-B6B3-A6AE9AFC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183E7-A3D3-439A-8A00-68368CC7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00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内容生产与场景体验同时成立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F04B8-A5E3-441C-87A2-85D000B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091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联合共建、全景采集、课程开发、预约体验，形成完整的沉浸党课产品链。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5625a23ce46c0"/>
          <a:srcRect xmlns:a="http://schemas.openxmlformats.org/drawingml/2006/main" l="0" t="11088" r="0" b="11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381250"/>
            <a:ext cx="4953000" cy="29718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6a54f4b63430f"/>
          <a:srcRect xmlns:a="http://schemas.openxmlformats.org/drawingml/2006/main" l="0" t="13136" r="0" b="13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23812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227d280a84650"/>
          <a:srcRect xmlns:a="http://schemas.openxmlformats.org/drawingml/2006/main" l="0" t="18617" r="0" b="18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392430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18AF9-2138-4808-9346-66C3E49E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30480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D5DF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7C4A6-EBE3-4E05-89D0-BDFAF320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22处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9271E-1C83-44FC-8663-B9F06E9D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4322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红色旧址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182E3-5001-403F-9015-3EAFEC3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33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7门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C7E7E-D91C-4A18-A186-F0F1606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4322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VR党课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3D014-FD19-42BC-A0F0-DD836D7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170个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AA358-6E82-462F-B3AF-007E1869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052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省内外支部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77471D-96D1-4FA0-900E-1337CC54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957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2400+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65DBF-E134-4A65-AD18-9C20751F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0527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党员预约体验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3A4325-0B7B-4DF9-8F7F-3ACD2518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434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获评辽宁省党员教育培训示范基地</a:t>
            </a:r>
          </a:p>
          <a:p xmlns:a="http://schemas.openxmlformats.org/drawingml/2006/main">
            <a:pPr algn="ctr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相关案例获省高校基层党建创新一等奖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一支青年宣讲团，把理论转换成青年愿意听的表达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互动课堂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ebd4a331c476f"/>
          <a:srcRect xmlns:a="http://schemas.openxmlformats.org/drawingml/2006/main" l="0" t="6983" r="0" b="6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81150"/>
            <a:ext cx="61912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BEF85-B874-46BD-9931-3B80132A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6191250" cy="1123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96140-7960-4EE8-A307-307B61F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565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青年讲 · 青年听 · 青年信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1A4A3-4A2E-4085-B812-72A4E1F6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沉浸式故事、情景短剧、红色闯关——理论不再只是被讲述，而是被青年重新表达。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9B242-BB56-4351-8045-65C1FC58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32人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09B12-A5EE-4B49-9839-69ABEE36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博士、硕士、本科混编梯队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00C94-877B-4775-A376-3B589C1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765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E9BCF-B79C-4BA9-8D93-C837392B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623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10类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A0674-35E3-4432-87D2-773F6EC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67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互动课件与青年语态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8B68F-0A91-40E9-BFD2-E7F310F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29CDA-EFD2-4F68-97CC-14CA1D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148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36场 / 3800+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AA64A-95D9-4087-98E6-E514E09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96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走进校园、社区与企业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一张红色朋友圈，把校园“小盆景”连成区域“大风景”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共享网络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3F515CD1-5484-4246-98AE-0BBF6BE0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16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537547D2-D83D-4F5F-94F3-32AC1C28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17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BF9A0751-282F-44E8-9B59-9AC6924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18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5C8468C6-8250-4A3E-885C-B3A325F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19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8E79A482-EF6A-41FC-8AE3-F313863D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0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814FE2EF-69D0-4DD6-8321-1EAECEF2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1117" y="3005900"/>
            <a:ext cx="498976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21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05106FA0-9252-48C8-8244-570C088E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8961" y="3999643"/>
            <a:ext cx="5477256" cy="767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22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F6C27A19-02D3-4D93-93E6-3850F5BC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5783" y="3999643"/>
            <a:ext cx="5477256" cy="767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23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6B84E997-3383-460E-870E-71A87F38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3442430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24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8841A528-DEFB-4C9C-9211-A7473335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4360831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25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B25CDE28-5EC0-49A3-995C-DACE1100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3808" y="3548825"/>
            <a:ext cx="0" cy="750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26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60C93FEE-BBBB-4AE0-9EB9-22DB9B6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27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4702E7D3-6D8C-4957-AE8F-48A0481E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28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CC86F520-E35C-488C-A007-C158E970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29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721E7D5A-919F-4D55-A307-9727905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30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13F76C93-670D-485B-A443-8BC44423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31" name="network-core-link-5">
            <a:extLst xmlns:a="http://schemas.openxmlformats.org/drawingml/2006/main">
              <a:ext uri="{FF2B5EF4-FFF2-40B4-BE49-F238E27FC236}">
                <a16:creationId xmlns:a16="http://schemas.microsoft.com/office/drawing/2014/main" id="{073CE753-354B-44C3-A873-8B70E60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32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2722D590-AE44-40B7-B949-5FDAF81E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校内供给</a:t>
            </a:r>
          </a:p>
        </p:txBody>
      </p:sp>
      <p:sp>
        <p:nvSpPr>
          <p:cNvPr id="33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865D0F43-D508-4CB3-857D-127803C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区域伙伴</a:t>
            </a:r>
          </a:p>
        </p:txBody>
      </p:sp>
      <p:sp>
        <p:nvSpPr>
          <p:cNvPr id="34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02AF0F37-4D00-4D2E-9235-4BD37D22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5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2AA2A97D-20F1-487B-9EBA-C52AA41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36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DBAC300B-E0D0-443E-B302-9356EC91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7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C746EF54-24BE-437A-98D6-F5127B4C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38" name="network-node-halo-2">
            <a:extLst xmlns:a="http://schemas.openxmlformats.org/drawingml/2006/main">
              <a:ext uri="{FF2B5EF4-FFF2-40B4-BE49-F238E27FC236}">
                <a16:creationId xmlns:a16="http://schemas.microsoft.com/office/drawing/2014/main" id="{2C3DFD04-94D4-4777-BE01-3673E8BE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9" name="network-node-surface-2">
            <a:extLst xmlns:a="http://schemas.openxmlformats.org/drawingml/2006/main">
              <a:ext uri="{FF2B5EF4-FFF2-40B4-BE49-F238E27FC236}">
                <a16:creationId xmlns:a16="http://schemas.microsoft.com/office/drawing/2014/main" id="{82D3D9AC-DAAA-40E6-987E-6389AE66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0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94E3572D-5E23-4169-94CB-A8D71AE5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41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F272E7A7-8B10-485E-B43A-BF47AEBE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2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5A9108D7-BD98-47F7-8EC8-8165B670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43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94F29D12-1A76-48B3-A469-D7CC2DF5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4" name="network-node-halo-external-2">
            <a:extLst xmlns:a="http://schemas.openxmlformats.org/drawingml/2006/main">
              <a:ext uri="{FF2B5EF4-FFF2-40B4-BE49-F238E27FC236}">
                <a16:creationId xmlns:a16="http://schemas.microsoft.com/office/drawing/2014/main" id="{941B4A16-D162-4F11-BB54-98A87B88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45" name="network-node-surface-external-2">
            <a:extLst xmlns:a="http://schemas.openxmlformats.org/drawingml/2006/main">
              <a:ext uri="{FF2B5EF4-FFF2-40B4-BE49-F238E27FC236}">
                <a16:creationId xmlns:a16="http://schemas.microsoft.com/office/drawing/2014/main" id="{804C11A6-F687-4372-8900-B6AA8731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6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4CA9D111-CBC4-4006-A885-8B0CAE4E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2739476"/>
            <a:ext cx="838200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VR基地</a:t>
            </a:r>
          </a:p>
        </p:txBody>
      </p:sp>
      <p:sp>
        <p:nvSpPr>
          <p:cNvPr id="47" name="network-node-body-0">
            <a:extLst xmlns:a="http://schemas.openxmlformats.org/drawingml/2006/main">
              <a:ext uri="{FF2B5EF4-FFF2-40B4-BE49-F238E27FC236}">
                <a16:creationId xmlns:a16="http://schemas.microsoft.com/office/drawing/2014/main" id="{0A9C7F1D-D90B-4890-90AB-EB745B3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3051419"/>
            <a:ext cx="83820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0" i="0">
                <a:solidFill>
                  <a:srgbClr val="65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5778E"/>
                </a:solidFill>
                <a:latin typeface="Microsoft YaHei"/>
                <a:ea typeface="Microsoft YaHei"/>
                <a:cs typeface="Microsoft YaHei"/>
              </a:rPr>
              <a:t>课程共享</a:t>
            </a:r>
          </a:p>
        </p:txBody>
      </p:sp>
      <p:sp>
        <p:nvSpPr>
          <p:cNvPr id="48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44AC5B10-6174-49AB-8B73-D7672CEF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3657895"/>
            <a:ext cx="838200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宣讲团</a:t>
            </a:r>
          </a:p>
        </p:txBody>
      </p:sp>
      <p:sp>
        <p:nvSpPr>
          <p:cNvPr id="49" name="network-node-body-1">
            <a:extLst xmlns:a="http://schemas.openxmlformats.org/drawingml/2006/main">
              <a:ext uri="{FF2B5EF4-FFF2-40B4-BE49-F238E27FC236}">
                <a16:creationId xmlns:a16="http://schemas.microsoft.com/office/drawing/2014/main" id="{B8CDABF5-818C-421B-A87D-BFA95DBA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3969839"/>
            <a:ext cx="83820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0" i="0">
                <a:solidFill>
                  <a:srgbClr val="65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5778E"/>
                </a:solidFill>
                <a:latin typeface="Microsoft YaHei"/>
                <a:ea typeface="Microsoft YaHei"/>
                <a:cs typeface="Microsoft YaHei"/>
              </a:rPr>
              <a:t>青年表达</a:t>
            </a:r>
          </a:p>
        </p:txBody>
      </p:sp>
      <p:sp>
        <p:nvSpPr>
          <p:cNvPr id="50" name="network-node-title-2">
            <a:extLst xmlns:a="http://schemas.openxmlformats.org/drawingml/2006/main">
              <a:ext uri="{FF2B5EF4-FFF2-40B4-BE49-F238E27FC236}">
                <a16:creationId xmlns:a16="http://schemas.microsoft.com/office/drawing/2014/main" id="{C147B8E9-53B2-48F0-8BD0-2F5A8FBA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4576172"/>
            <a:ext cx="838200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实践团</a:t>
            </a:r>
          </a:p>
        </p:txBody>
      </p:sp>
      <p:sp>
        <p:nvSpPr>
          <p:cNvPr id="51" name="network-node-body-2">
            <a:extLst xmlns:a="http://schemas.openxmlformats.org/drawingml/2006/main">
              <a:ext uri="{FF2B5EF4-FFF2-40B4-BE49-F238E27FC236}">
                <a16:creationId xmlns:a16="http://schemas.microsoft.com/office/drawing/2014/main" id="{8D2F86A8-36FB-4B26-B2F2-FBEBD578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4888116"/>
            <a:ext cx="83820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0" i="0">
                <a:solidFill>
                  <a:srgbClr val="65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5778E"/>
                </a:solidFill>
                <a:latin typeface="Microsoft YaHei"/>
                <a:ea typeface="Microsoft YaHei"/>
                <a:cs typeface="Microsoft YaHei"/>
              </a:rPr>
              <a:t>任务协同</a:t>
            </a:r>
          </a:p>
        </p:txBody>
      </p:sp>
      <p:sp>
        <p:nvSpPr>
          <p:cNvPr id="52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998ED834-EB77-40FB-9A61-6CCDCE2D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2747067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地方场馆</a:t>
            </a:r>
          </a:p>
        </p:txBody>
      </p:sp>
      <p:sp>
        <p:nvSpPr>
          <p:cNvPr id="53" name="network-node-body-external-0">
            <a:extLst xmlns:a="http://schemas.openxmlformats.org/drawingml/2006/main">
              <a:ext uri="{FF2B5EF4-FFF2-40B4-BE49-F238E27FC236}">
                <a16:creationId xmlns:a16="http://schemas.microsoft.com/office/drawing/2014/main" id="{163E1B41-CB49-40E8-A2D0-FCA9444F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3043838"/>
            <a:ext cx="83820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0" i="0">
                <a:solidFill>
                  <a:srgbClr val="65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57C86"/>
                </a:solidFill>
                <a:latin typeface="Microsoft YaHei"/>
                <a:ea typeface="Microsoft YaHei"/>
                <a:cs typeface="Microsoft YaHei"/>
              </a:rPr>
              <a:t>资源联用</a:t>
            </a:r>
          </a:p>
        </p:txBody>
      </p:sp>
      <p:sp>
        <p:nvSpPr>
          <p:cNvPr id="54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AA0FB1C4-0AB4-4A8E-BC2B-05264A8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3665487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企业院所</a:t>
            </a:r>
          </a:p>
        </p:txBody>
      </p:sp>
      <p:sp>
        <p:nvSpPr>
          <p:cNvPr id="55" name="network-node-body-external-1">
            <a:extLst xmlns:a="http://schemas.openxmlformats.org/drawingml/2006/main">
              <a:ext uri="{FF2B5EF4-FFF2-40B4-BE49-F238E27FC236}">
                <a16:creationId xmlns:a16="http://schemas.microsoft.com/office/drawing/2014/main" id="{8D3264B6-CC5C-4F4D-AE09-C609B135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3962248"/>
            <a:ext cx="83820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0" i="0">
                <a:solidFill>
                  <a:srgbClr val="65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57C86"/>
                </a:solidFill>
                <a:latin typeface="Microsoft YaHei"/>
                <a:ea typeface="Microsoft YaHei"/>
                <a:cs typeface="Microsoft YaHei"/>
              </a:rPr>
              <a:t>课题揭榜</a:t>
            </a:r>
          </a:p>
        </p:txBody>
      </p:sp>
      <p:sp>
        <p:nvSpPr>
          <p:cNvPr id="56" name="network-node-title-external-2">
            <a:extLst xmlns:a="http://schemas.openxmlformats.org/drawingml/2006/main">
              <a:ext uri="{FF2B5EF4-FFF2-40B4-BE49-F238E27FC236}">
                <a16:creationId xmlns:a16="http://schemas.microsoft.com/office/drawing/2014/main" id="{A2F01D94-71F4-43CA-B766-E3E5B97C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4583754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西部高校</a:t>
            </a:r>
          </a:p>
        </p:txBody>
      </p:sp>
      <p:sp>
        <p:nvSpPr>
          <p:cNvPr id="57" name="network-node-body-external-2">
            <a:extLst xmlns:a="http://schemas.openxmlformats.org/drawingml/2006/main">
              <a:ext uri="{FF2B5EF4-FFF2-40B4-BE49-F238E27FC236}">
                <a16:creationId xmlns:a16="http://schemas.microsoft.com/office/drawing/2014/main" id="{6A420119-46BB-4DB9-976C-3582E3CA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4880524"/>
            <a:ext cx="83820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0" i="0">
                <a:solidFill>
                  <a:srgbClr val="65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57C86"/>
                </a:solidFill>
                <a:latin typeface="Microsoft YaHei"/>
                <a:ea typeface="Microsoft YaHei"/>
                <a:cs typeface="Microsoft YaHei"/>
              </a:rPr>
              <a:t>双向联学</a:t>
            </a:r>
          </a:p>
        </p:txBody>
      </p:sp>
      <p:sp>
        <p:nvSpPr>
          <p:cNvPr id="58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6D664DEC-8BA9-4C92-BBEA-70022F03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9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ECB9373F-D748-4D21-8A5F-CA37C7B4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60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39DB1DB4-6CD1-42E8-BE05-9F19F0BC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1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02CEB3D0-0D83-47A1-885E-49D157E5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7803"/>
            <a:ext cx="1238250" cy="670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六地精神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共享循环</a:t>
            </a:r>
          </a:p>
        </p:txBody>
      </p:sp>
      <p:sp>
        <p:nvSpPr>
          <p:cNvPr id="62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0023693C-ECB6-448D-AF1A-B4BCFC5F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4105275"/>
            <a:ext cx="12382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组织互联 · 资源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互通 · 经验互鉴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一套长效机制，把一次活动固化为四阶培养链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长效机制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24347-3BD1-4D64-91F9-06C4AF0D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EBC52-47CF-4A5F-A6DC-BC53546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00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活动结束后，机制仍然继续工作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D757D-BCEC-4910-A845-FB9F42C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091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培养链、学分制度、组织生活与 36 位红色导师共同保证“年年有人抓、届届有人传”。</a:t>
            </a:r>
          </a:p>
        </p:txBody>
      </p:sp>
      <p:sp>
        <p:nvSpPr>
          <p:cNvPr id="18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D107DA14-6BBA-4327-A914-582F0AB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0713" y="3513763"/>
            <a:ext cx="8638184" cy="322412"/>
          </a:xfrm>
          <a:custGeom xmlns:a="http://schemas.openxmlformats.org/drawingml/2006/main">
            <a:pathLst>
              <a:path w="8638184" h="322412">
                <a:moveTo>
                  <a:pt x="0" y="58112"/>
                </a:moveTo>
                <a:lnTo>
                  <a:pt x="49987" y="20012"/>
                </a:lnTo>
                <a:lnTo>
                  <a:pt x="123720" y="20012"/>
                </a:lnTo>
                <a:lnTo>
                  <a:pt x="197444" y="20012"/>
                </a:lnTo>
                <a:lnTo>
                  <a:pt x="271177" y="20012"/>
                </a:lnTo>
                <a:lnTo>
                  <a:pt x="344910" y="20012"/>
                </a:lnTo>
                <a:lnTo>
                  <a:pt x="418643" y="20012"/>
                </a:lnTo>
                <a:lnTo>
                  <a:pt x="492366" y="20012"/>
                </a:lnTo>
                <a:lnTo>
                  <a:pt x="566099" y="20012"/>
                </a:lnTo>
                <a:lnTo>
                  <a:pt x="639832" y="20012"/>
                </a:lnTo>
                <a:lnTo>
                  <a:pt x="713565" y="20012"/>
                </a:lnTo>
                <a:lnTo>
                  <a:pt x="787289" y="20012"/>
                </a:lnTo>
                <a:lnTo>
                  <a:pt x="861022" y="20012"/>
                </a:lnTo>
                <a:lnTo>
                  <a:pt x="934755" y="20012"/>
                </a:lnTo>
                <a:lnTo>
                  <a:pt x="1008488" y="20012"/>
                </a:lnTo>
                <a:lnTo>
                  <a:pt x="1082211" y="20012"/>
                </a:lnTo>
                <a:lnTo>
                  <a:pt x="1155944" y="20012"/>
                </a:lnTo>
                <a:lnTo>
                  <a:pt x="1229678" y="20012"/>
                </a:lnTo>
                <a:lnTo>
                  <a:pt x="1303401" y="20012"/>
                </a:lnTo>
                <a:lnTo>
                  <a:pt x="1377134" y="20012"/>
                </a:lnTo>
                <a:lnTo>
                  <a:pt x="1450867" y="20012"/>
                </a:lnTo>
                <a:lnTo>
                  <a:pt x="1524600" y="20012"/>
                </a:lnTo>
                <a:lnTo>
                  <a:pt x="1598324" y="20012"/>
                </a:lnTo>
                <a:lnTo>
                  <a:pt x="1672057" y="20012"/>
                </a:lnTo>
                <a:lnTo>
                  <a:pt x="1745790" y="20012"/>
                </a:lnTo>
                <a:lnTo>
                  <a:pt x="1819523" y="20012"/>
                </a:lnTo>
                <a:lnTo>
                  <a:pt x="1893246" y="20012"/>
                </a:lnTo>
                <a:lnTo>
                  <a:pt x="1966979" y="20012"/>
                </a:lnTo>
                <a:lnTo>
                  <a:pt x="2040712" y="20012"/>
                </a:lnTo>
                <a:lnTo>
                  <a:pt x="2114445" y="20012"/>
                </a:lnTo>
                <a:lnTo>
                  <a:pt x="2188169" y="20012"/>
                </a:lnTo>
                <a:lnTo>
                  <a:pt x="2261902" y="20012"/>
                </a:lnTo>
                <a:lnTo>
                  <a:pt x="2335635" y="20012"/>
                </a:lnTo>
                <a:lnTo>
                  <a:pt x="2409368" y="20012"/>
                </a:lnTo>
                <a:lnTo>
                  <a:pt x="2483091" y="20012"/>
                </a:lnTo>
                <a:lnTo>
                  <a:pt x="2556824" y="20012"/>
                </a:lnTo>
                <a:lnTo>
                  <a:pt x="2630557" y="20012"/>
                </a:lnTo>
                <a:lnTo>
                  <a:pt x="2704290" y="20012"/>
                </a:lnTo>
                <a:lnTo>
                  <a:pt x="2778014" y="20012"/>
                </a:lnTo>
                <a:lnTo>
                  <a:pt x="2851747" y="20012"/>
                </a:lnTo>
                <a:lnTo>
                  <a:pt x="2925480" y="20012"/>
                </a:lnTo>
                <a:lnTo>
                  <a:pt x="2999213" y="20012"/>
                </a:lnTo>
                <a:lnTo>
                  <a:pt x="3072936" y="20012"/>
                </a:lnTo>
                <a:lnTo>
                  <a:pt x="3146669" y="20012"/>
                </a:lnTo>
                <a:lnTo>
                  <a:pt x="3220403" y="20012"/>
                </a:lnTo>
                <a:lnTo>
                  <a:pt x="3294136" y="20012"/>
                </a:lnTo>
                <a:lnTo>
                  <a:pt x="3367859" y="20012"/>
                </a:lnTo>
                <a:lnTo>
                  <a:pt x="3441592" y="20012"/>
                </a:lnTo>
                <a:lnTo>
                  <a:pt x="3515325" y="20012"/>
                </a:lnTo>
                <a:lnTo>
                  <a:pt x="3589058" y="20012"/>
                </a:lnTo>
                <a:lnTo>
                  <a:pt x="3662782" y="20012"/>
                </a:lnTo>
                <a:lnTo>
                  <a:pt x="3736515" y="20012"/>
                </a:lnTo>
                <a:lnTo>
                  <a:pt x="3810248" y="20012"/>
                </a:lnTo>
                <a:lnTo>
                  <a:pt x="3883981" y="20012"/>
                </a:lnTo>
                <a:lnTo>
                  <a:pt x="3957704" y="20012"/>
                </a:lnTo>
                <a:lnTo>
                  <a:pt x="4031437" y="20012"/>
                </a:lnTo>
                <a:lnTo>
                  <a:pt x="4105170" y="20012"/>
                </a:lnTo>
                <a:lnTo>
                  <a:pt x="4178894" y="20012"/>
                </a:lnTo>
                <a:lnTo>
                  <a:pt x="4252627" y="20012"/>
                </a:lnTo>
                <a:lnTo>
                  <a:pt x="4326360" y="20012"/>
                </a:lnTo>
                <a:lnTo>
                  <a:pt x="4400093" y="20012"/>
                </a:lnTo>
                <a:lnTo>
                  <a:pt x="4473816" y="20012"/>
                </a:lnTo>
                <a:lnTo>
                  <a:pt x="4547549" y="20012"/>
                </a:lnTo>
                <a:lnTo>
                  <a:pt x="4621282" y="20012"/>
                </a:lnTo>
                <a:lnTo>
                  <a:pt x="4695015" y="20012"/>
                </a:lnTo>
                <a:lnTo>
                  <a:pt x="4768739" y="20012"/>
                </a:lnTo>
                <a:lnTo>
                  <a:pt x="4842472" y="20012"/>
                </a:lnTo>
                <a:lnTo>
                  <a:pt x="4916205" y="20012"/>
                </a:lnTo>
                <a:lnTo>
                  <a:pt x="4989938" y="20012"/>
                </a:lnTo>
                <a:lnTo>
                  <a:pt x="5063661" y="20012"/>
                </a:lnTo>
                <a:lnTo>
                  <a:pt x="5137394" y="20012"/>
                </a:lnTo>
                <a:lnTo>
                  <a:pt x="5211128" y="20012"/>
                </a:lnTo>
                <a:lnTo>
                  <a:pt x="5284861" y="20012"/>
                </a:lnTo>
                <a:lnTo>
                  <a:pt x="5358584" y="20012"/>
                </a:lnTo>
                <a:lnTo>
                  <a:pt x="5432317" y="20012"/>
                </a:lnTo>
                <a:lnTo>
                  <a:pt x="5506050" y="20012"/>
                </a:lnTo>
                <a:lnTo>
                  <a:pt x="5579783" y="20012"/>
                </a:lnTo>
                <a:lnTo>
                  <a:pt x="5653507" y="20012"/>
                </a:lnTo>
                <a:lnTo>
                  <a:pt x="5727240" y="20012"/>
                </a:lnTo>
                <a:lnTo>
                  <a:pt x="5800973" y="20012"/>
                </a:lnTo>
                <a:lnTo>
                  <a:pt x="5874706" y="20012"/>
                </a:lnTo>
                <a:lnTo>
                  <a:pt x="5948429" y="20012"/>
                </a:lnTo>
                <a:lnTo>
                  <a:pt x="6022162" y="20012"/>
                </a:lnTo>
                <a:lnTo>
                  <a:pt x="6095895" y="20012"/>
                </a:lnTo>
                <a:lnTo>
                  <a:pt x="6169628" y="20012"/>
                </a:lnTo>
                <a:lnTo>
                  <a:pt x="6243352" y="20012"/>
                </a:lnTo>
                <a:lnTo>
                  <a:pt x="6317085" y="20012"/>
                </a:lnTo>
                <a:lnTo>
                  <a:pt x="6390818" y="20012"/>
                </a:lnTo>
                <a:lnTo>
                  <a:pt x="6464551" y="20012"/>
                </a:lnTo>
                <a:lnTo>
                  <a:pt x="6538274" y="20012"/>
                </a:lnTo>
                <a:lnTo>
                  <a:pt x="6612007" y="20012"/>
                </a:lnTo>
                <a:lnTo>
                  <a:pt x="6685740" y="20012"/>
                </a:lnTo>
                <a:lnTo>
                  <a:pt x="6759473" y="20012"/>
                </a:lnTo>
                <a:lnTo>
                  <a:pt x="6833197" y="20012"/>
                </a:lnTo>
                <a:lnTo>
                  <a:pt x="6906930" y="20012"/>
                </a:lnTo>
                <a:lnTo>
                  <a:pt x="6980663" y="20012"/>
                </a:lnTo>
                <a:lnTo>
                  <a:pt x="7054396" y="20012"/>
                </a:lnTo>
                <a:lnTo>
                  <a:pt x="7128119" y="20012"/>
                </a:lnTo>
                <a:lnTo>
                  <a:pt x="7201853" y="20012"/>
                </a:lnTo>
                <a:lnTo>
                  <a:pt x="7275586" y="20012"/>
                </a:lnTo>
                <a:lnTo>
                  <a:pt x="7349309" y="20012"/>
                </a:lnTo>
                <a:lnTo>
                  <a:pt x="7423042" y="20012"/>
                </a:lnTo>
                <a:lnTo>
                  <a:pt x="7496775" y="20012"/>
                </a:lnTo>
                <a:lnTo>
                  <a:pt x="7570508" y="20012"/>
                </a:lnTo>
                <a:lnTo>
                  <a:pt x="7644232" y="20012"/>
                </a:lnTo>
                <a:lnTo>
                  <a:pt x="7717965" y="20012"/>
                </a:lnTo>
                <a:lnTo>
                  <a:pt x="7791698" y="20012"/>
                </a:lnTo>
                <a:lnTo>
                  <a:pt x="7865431" y="20012"/>
                </a:lnTo>
                <a:lnTo>
                  <a:pt x="7939154" y="20012"/>
                </a:lnTo>
                <a:lnTo>
                  <a:pt x="8012887" y="20012"/>
                </a:lnTo>
                <a:lnTo>
                  <a:pt x="8086620" y="20012"/>
                </a:lnTo>
                <a:lnTo>
                  <a:pt x="8160353" y="20012"/>
                </a:lnTo>
                <a:lnTo>
                  <a:pt x="8220075" y="6010"/>
                </a:lnTo>
                <a:lnTo>
                  <a:pt x="8266300" y="0"/>
                </a:lnTo>
                <a:lnTo>
                  <a:pt x="8334956" y="26870"/>
                </a:lnTo>
                <a:lnTo>
                  <a:pt x="8403622" y="53731"/>
                </a:lnTo>
                <a:lnTo>
                  <a:pt x="8472278" y="80601"/>
                </a:lnTo>
                <a:lnTo>
                  <a:pt x="8540944" y="107471"/>
                </a:lnTo>
                <a:lnTo>
                  <a:pt x="8609600" y="134341"/>
                </a:lnTo>
                <a:lnTo>
                  <a:pt x="8638184" y="161201"/>
                </a:lnTo>
                <a:lnTo>
                  <a:pt x="8569528" y="188071"/>
                </a:lnTo>
                <a:lnTo>
                  <a:pt x="8500862" y="214941"/>
                </a:lnTo>
                <a:lnTo>
                  <a:pt x="8432206" y="241802"/>
                </a:lnTo>
                <a:lnTo>
                  <a:pt x="8363541" y="268672"/>
                </a:lnTo>
                <a:lnTo>
                  <a:pt x="8294884" y="295542"/>
                </a:lnTo>
                <a:lnTo>
                  <a:pt x="8226219" y="322412"/>
                </a:lnTo>
                <a:lnTo>
                  <a:pt x="8191043" y="286712"/>
                </a:lnTo>
                <a:lnTo>
                  <a:pt x="8117310" y="286712"/>
                </a:lnTo>
                <a:lnTo>
                  <a:pt x="8043577" y="286712"/>
                </a:lnTo>
                <a:lnTo>
                  <a:pt x="7969853" y="286712"/>
                </a:lnTo>
                <a:lnTo>
                  <a:pt x="7896120" y="286712"/>
                </a:lnTo>
                <a:lnTo>
                  <a:pt x="7822387" y="286712"/>
                </a:lnTo>
                <a:lnTo>
                  <a:pt x="7748654" y="286712"/>
                </a:lnTo>
                <a:lnTo>
                  <a:pt x="7674931" y="286712"/>
                </a:lnTo>
                <a:lnTo>
                  <a:pt x="7601198" y="286712"/>
                </a:lnTo>
                <a:lnTo>
                  <a:pt x="7527465" y="286712"/>
                </a:lnTo>
                <a:lnTo>
                  <a:pt x="7453732" y="286712"/>
                </a:lnTo>
                <a:lnTo>
                  <a:pt x="7380008" y="286712"/>
                </a:lnTo>
                <a:lnTo>
                  <a:pt x="7306275" y="286712"/>
                </a:lnTo>
                <a:lnTo>
                  <a:pt x="7232542" y="286712"/>
                </a:lnTo>
                <a:lnTo>
                  <a:pt x="7158819" y="286712"/>
                </a:lnTo>
                <a:lnTo>
                  <a:pt x="7085086" y="286712"/>
                </a:lnTo>
                <a:lnTo>
                  <a:pt x="7011353" y="286712"/>
                </a:lnTo>
                <a:lnTo>
                  <a:pt x="6937619" y="286712"/>
                </a:lnTo>
                <a:lnTo>
                  <a:pt x="6863896" y="286712"/>
                </a:lnTo>
                <a:lnTo>
                  <a:pt x="6790163" y="286712"/>
                </a:lnTo>
                <a:lnTo>
                  <a:pt x="6716430" y="286712"/>
                </a:lnTo>
                <a:lnTo>
                  <a:pt x="6642697" y="286712"/>
                </a:lnTo>
                <a:lnTo>
                  <a:pt x="6568973" y="286712"/>
                </a:lnTo>
                <a:lnTo>
                  <a:pt x="6495240" y="286712"/>
                </a:lnTo>
                <a:lnTo>
                  <a:pt x="6421507" y="286712"/>
                </a:lnTo>
                <a:lnTo>
                  <a:pt x="6347774" y="286712"/>
                </a:lnTo>
                <a:lnTo>
                  <a:pt x="6274051" y="286712"/>
                </a:lnTo>
                <a:lnTo>
                  <a:pt x="6200318" y="286712"/>
                </a:lnTo>
                <a:lnTo>
                  <a:pt x="6126585" y="286712"/>
                </a:lnTo>
                <a:lnTo>
                  <a:pt x="6052852" y="286712"/>
                </a:lnTo>
                <a:lnTo>
                  <a:pt x="5979128" y="286712"/>
                </a:lnTo>
                <a:lnTo>
                  <a:pt x="5905395" y="286712"/>
                </a:lnTo>
                <a:lnTo>
                  <a:pt x="5831662" y="286712"/>
                </a:lnTo>
                <a:lnTo>
                  <a:pt x="5757929" y="286712"/>
                </a:lnTo>
                <a:lnTo>
                  <a:pt x="5684206" y="286712"/>
                </a:lnTo>
                <a:lnTo>
                  <a:pt x="5610473" y="286712"/>
                </a:lnTo>
                <a:lnTo>
                  <a:pt x="5536740" y="286712"/>
                </a:lnTo>
                <a:lnTo>
                  <a:pt x="5463007" y="286712"/>
                </a:lnTo>
                <a:lnTo>
                  <a:pt x="5389283" y="286712"/>
                </a:lnTo>
                <a:lnTo>
                  <a:pt x="5315550" y="286712"/>
                </a:lnTo>
                <a:lnTo>
                  <a:pt x="5241817" y="286712"/>
                </a:lnTo>
                <a:lnTo>
                  <a:pt x="5168084" y="286712"/>
                </a:lnTo>
                <a:lnTo>
                  <a:pt x="5094361" y="286712"/>
                </a:lnTo>
                <a:lnTo>
                  <a:pt x="5020628" y="286712"/>
                </a:lnTo>
                <a:lnTo>
                  <a:pt x="4946894" y="286712"/>
                </a:lnTo>
                <a:lnTo>
                  <a:pt x="4873161" y="286712"/>
                </a:lnTo>
                <a:lnTo>
                  <a:pt x="4799438" y="286712"/>
                </a:lnTo>
                <a:lnTo>
                  <a:pt x="4725705" y="286712"/>
                </a:lnTo>
                <a:lnTo>
                  <a:pt x="4651972" y="286712"/>
                </a:lnTo>
                <a:lnTo>
                  <a:pt x="4578239" y="286712"/>
                </a:lnTo>
                <a:lnTo>
                  <a:pt x="4504515" y="286712"/>
                </a:lnTo>
                <a:lnTo>
                  <a:pt x="4430782" y="286712"/>
                </a:lnTo>
                <a:lnTo>
                  <a:pt x="4357049" y="286712"/>
                </a:lnTo>
                <a:lnTo>
                  <a:pt x="4283326" y="286712"/>
                </a:lnTo>
                <a:lnTo>
                  <a:pt x="4209593" y="286712"/>
                </a:lnTo>
                <a:lnTo>
                  <a:pt x="4135860" y="286712"/>
                </a:lnTo>
                <a:lnTo>
                  <a:pt x="4062127" y="286712"/>
                </a:lnTo>
                <a:lnTo>
                  <a:pt x="3988394" y="286712"/>
                </a:lnTo>
                <a:lnTo>
                  <a:pt x="3914670" y="286712"/>
                </a:lnTo>
                <a:lnTo>
                  <a:pt x="3840937" y="286712"/>
                </a:lnTo>
                <a:lnTo>
                  <a:pt x="3767204" y="286712"/>
                </a:lnTo>
                <a:lnTo>
                  <a:pt x="3693471" y="286712"/>
                </a:lnTo>
                <a:lnTo>
                  <a:pt x="3619748" y="286712"/>
                </a:lnTo>
                <a:lnTo>
                  <a:pt x="3546015" y="286712"/>
                </a:lnTo>
                <a:lnTo>
                  <a:pt x="3472282" y="286712"/>
                </a:lnTo>
                <a:lnTo>
                  <a:pt x="3398558" y="286712"/>
                </a:lnTo>
                <a:lnTo>
                  <a:pt x="3324825" y="286712"/>
                </a:lnTo>
                <a:lnTo>
                  <a:pt x="3251092" y="286712"/>
                </a:lnTo>
                <a:lnTo>
                  <a:pt x="3177359" y="286712"/>
                </a:lnTo>
                <a:lnTo>
                  <a:pt x="3103636" y="286712"/>
                </a:lnTo>
                <a:lnTo>
                  <a:pt x="3029903" y="286712"/>
                </a:lnTo>
                <a:lnTo>
                  <a:pt x="2956169" y="286712"/>
                </a:lnTo>
                <a:lnTo>
                  <a:pt x="2882436" y="286712"/>
                </a:lnTo>
                <a:lnTo>
                  <a:pt x="2808713" y="286712"/>
                </a:lnTo>
                <a:lnTo>
                  <a:pt x="2734980" y="286712"/>
                </a:lnTo>
                <a:lnTo>
                  <a:pt x="2661247" y="286712"/>
                </a:lnTo>
                <a:lnTo>
                  <a:pt x="2587514" y="286712"/>
                </a:lnTo>
                <a:lnTo>
                  <a:pt x="2513790" y="286712"/>
                </a:lnTo>
                <a:lnTo>
                  <a:pt x="2440057" y="286712"/>
                </a:lnTo>
                <a:lnTo>
                  <a:pt x="2366324" y="286712"/>
                </a:lnTo>
                <a:lnTo>
                  <a:pt x="2292591" y="286712"/>
                </a:lnTo>
                <a:lnTo>
                  <a:pt x="2218868" y="286712"/>
                </a:lnTo>
                <a:lnTo>
                  <a:pt x="2145135" y="286712"/>
                </a:lnTo>
                <a:lnTo>
                  <a:pt x="2071402" y="286712"/>
                </a:lnTo>
                <a:lnTo>
                  <a:pt x="1997669" y="286712"/>
                </a:lnTo>
                <a:lnTo>
                  <a:pt x="1923945" y="286712"/>
                </a:lnTo>
                <a:lnTo>
                  <a:pt x="1850212" y="286712"/>
                </a:lnTo>
                <a:lnTo>
                  <a:pt x="1776479" y="286712"/>
                </a:lnTo>
                <a:lnTo>
                  <a:pt x="1702746" y="286712"/>
                </a:lnTo>
                <a:lnTo>
                  <a:pt x="1629023" y="286712"/>
                </a:lnTo>
                <a:lnTo>
                  <a:pt x="1555290" y="286712"/>
                </a:lnTo>
                <a:lnTo>
                  <a:pt x="1481557" y="286712"/>
                </a:lnTo>
                <a:lnTo>
                  <a:pt x="1407824" y="286712"/>
                </a:lnTo>
                <a:lnTo>
                  <a:pt x="1334100" y="286712"/>
                </a:lnTo>
                <a:lnTo>
                  <a:pt x="1260367" y="286712"/>
                </a:lnTo>
                <a:lnTo>
                  <a:pt x="1186634" y="286712"/>
                </a:lnTo>
                <a:lnTo>
                  <a:pt x="1112901" y="286712"/>
                </a:lnTo>
                <a:lnTo>
                  <a:pt x="1039178" y="286712"/>
                </a:lnTo>
                <a:lnTo>
                  <a:pt x="965444" y="286712"/>
                </a:lnTo>
                <a:lnTo>
                  <a:pt x="891711" y="286712"/>
                </a:lnTo>
                <a:lnTo>
                  <a:pt x="817978" y="286712"/>
                </a:lnTo>
                <a:lnTo>
                  <a:pt x="744255" y="286712"/>
                </a:lnTo>
                <a:lnTo>
                  <a:pt x="670522" y="286712"/>
                </a:lnTo>
                <a:lnTo>
                  <a:pt x="596789" y="286712"/>
                </a:lnTo>
                <a:lnTo>
                  <a:pt x="523065" y="286712"/>
                </a:lnTo>
                <a:lnTo>
                  <a:pt x="449332" y="286712"/>
                </a:lnTo>
                <a:lnTo>
                  <a:pt x="375599" y="286712"/>
                </a:lnTo>
                <a:lnTo>
                  <a:pt x="301866" y="286712"/>
                </a:lnTo>
                <a:lnTo>
                  <a:pt x="228143" y="286712"/>
                </a:lnTo>
                <a:lnTo>
                  <a:pt x="154410" y="286712"/>
                </a:lnTo>
                <a:lnTo>
                  <a:pt x="80677" y="286712"/>
                </a:lnTo>
                <a:lnTo>
                  <a:pt x="9363" y="277025"/>
                </a:lnTo>
                <a:lnTo>
                  <a:pt x="0" y="205569"/>
                </a:lnTo>
                <a:lnTo>
                  <a:pt x="0" y="131845"/>
                </a:lnTo>
                <a:lnTo>
                  <a:pt x="0" y="58112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D8701B8C-1605-40A5-902A-9EBA7743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963" y="3657600"/>
            <a:ext cx="80486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BBAD3C31-AA30-4508-9948-5E3B3D48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6003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入学</a:t>
            </a:r>
          </a:p>
        </p:txBody>
      </p:sp>
      <p:sp>
        <p:nvSpPr>
          <p:cNvPr id="21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49402A12-C810-44E0-9F8F-5C4777C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0713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2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F1BE0924-2D72-4B58-930B-8DC7D06F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013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3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23079B0B-4999-43C2-BFBB-7BB4E87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013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E47D2112-E59B-454F-A4BC-ACC73C1E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5525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80C8776E-DDCC-49C3-A52F-C9E7947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44005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D151587A-163D-43EE-89DD-A42F886E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3148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7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BC2020FE-0286-4D1E-9B85-EEF90EFE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213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A4625FEA-6F40-48E3-965C-D319EB4A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6101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接触六地资源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建立地域认同</a:t>
            </a:r>
          </a:p>
        </p:txBody>
      </p:sp>
      <p:sp>
        <p:nvSpPr>
          <p:cNvPr id="29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A545911E-DD46-4289-9EFF-A4533C11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26003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入党</a:t>
            </a:r>
          </a:p>
        </p:txBody>
      </p:sp>
      <p:sp>
        <p:nvSpPr>
          <p:cNvPr id="30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C0CCD7D5-8810-4A85-86F2-994DC9C0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838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1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441D0603-3576-42E7-9ED0-71D8EDC4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138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2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C197A000-AE84-45E9-B4FC-0FBE4A0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138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742263B4-E572-4E7E-9665-53676E1F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C611A6F4-E6FE-4198-8CB3-A837B32C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44005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855A9878-D266-471F-B322-33A412F2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43148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6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8F4B7B7E-C633-4976-973E-15AA42B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A6AAE958-52BB-4F1C-A66D-C2117851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6101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实践计入学分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任务进入培养</a:t>
            </a:r>
          </a:p>
        </p:txBody>
      </p:sp>
      <p:sp>
        <p:nvSpPr>
          <p:cNvPr id="38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5F20D99E-9CB5-4DC7-AF57-DB07D9F2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6003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转正</a:t>
            </a:r>
          </a:p>
        </p:txBody>
      </p:sp>
      <p:sp>
        <p:nvSpPr>
          <p:cNvPr id="39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B72F84BA-840A-4B26-8BA1-0C287DD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8963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0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03869E1B-10EE-4753-AA09-8F959C6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263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1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BB714876-20CE-4103-B544-AEC1768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263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3D44E9E3-0CE3-4C8A-A07A-07BC59DF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B4E64E39-78F0-443E-AC88-33BF3EF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4005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A94D9388-CA05-43CC-B7CB-B9FB5F21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3148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5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CA5FE370-F017-4BDD-83AB-F4A78032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9463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51372F9E-6097-4CDF-877A-11FE5B86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6101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VR党课写进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“三会一课”</a:t>
            </a:r>
          </a:p>
        </p:txBody>
      </p:sp>
      <p:sp>
        <p:nvSpPr>
          <p:cNvPr id="47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BF4A25C6-4138-4B08-81CE-BBA0E87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00325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毕业</a:t>
            </a:r>
          </a:p>
        </p:txBody>
      </p:sp>
      <p:sp>
        <p:nvSpPr>
          <p:cNvPr id="48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C22A0FB2-95E4-47E6-91F4-2917B834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3088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9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2D850B13-6970-476B-99D6-6C6D004F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388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0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1C975075-FC96-43A1-AB2E-A8A6CFB9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388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1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ACCB7562-BDAC-4DBE-8BB0-C3571740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A00AF2B7-C6F9-4E52-983A-823A8BC1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4400550"/>
            <a:ext cx="220027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3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C558BE04-9781-4E9B-B9CB-DD1347B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43148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4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76351DE2-944D-4A90-B51C-0C101A2D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3588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C071C93D-737F-42C5-9DB7-882D9A6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46101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服务辽宁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投身重大装备研发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五年深耕后，“学霸”有了共同的新标签：红色先锋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育人成效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354087FB-2075-4A89-A860-D69A3D83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6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55BB275D-6902-4B6A-AD64-981BC322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7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C06E2420-3491-48B6-849F-F4167DFB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64ACB589-3A17-4140-A68E-5C2F5B25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9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025140BD-D1D1-4FBD-AF3C-CF197611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5ba4b5e2349e7">
            <a:extLst>
              <a:ext uri="{96DAC541-7B7A-43D3-8B79-37D633B846F1}">
                <asvg:svgBlip xmlns:asvg="http://schemas.microsoft.com/office/drawing/2016/SVG/main" r:embed="R95cde85311e840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DA5251C3-997F-46EA-AB04-3EFC8CAF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2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7DA0635E-254F-421C-BF45-507366B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FD2D9C17-801A-4303-BE9B-A76FC6CD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留辽意愿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58% → 87%</a:t>
            </a:r>
          </a:p>
        </p:txBody>
      </p:sp>
      <p:sp>
        <p:nvSpPr>
          <p:cNvPr id="24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77C42593-1B99-45A6-8A2F-67CD9CE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5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2A31222E-5474-4822-9985-E9549C7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6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63A9F52F-8A81-4069-A8B4-A01DF7E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C921788B-EAAF-4EFB-9CAC-3638CB36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8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EC1E5EAD-A27E-43AE-9D99-D4AA66D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e488437054608">
            <a:extLst>
              <a:ext uri="{96DAC541-7B7A-43D3-8B79-37D633B846F1}">
                <asvg:svgBlip xmlns:asvg="http://schemas.microsoft.com/office/drawing/2016/SVG/main" r:embed="Rbe41a50c155c44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570C57D8-F67E-49E7-8BE0-09766473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31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E53B6E72-34AB-4BF5-8664-D6657A2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01A9AB3B-1108-4EB1-BC03-48B110CB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26项微课题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8家企业收货</a:t>
            </a:r>
          </a:p>
        </p:txBody>
      </p:sp>
      <p:sp>
        <p:nvSpPr>
          <p:cNvPr id="33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9BCC9730-BAFF-4D2E-9996-A123DAF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4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C99BBEF3-5DD1-4E48-98F4-146C272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35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1113733B-8E51-45B7-A583-9947D9E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781C713D-286C-45FD-8E94-ACFA89F7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7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DC5E7AAE-49C8-472B-9D02-B9FE69E6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d2f752dc3421e">
            <a:extLst>
              <a:ext uri="{96DAC541-7B7A-43D3-8B79-37D633B846F1}">
                <asvg:svgBlip xmlns:asvg="http://schemas.microsoft.com/office/drawing/2016/SVG/main" r:embed="Rf189788b46aa46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9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C396DA1D-0158-4064-B5D0-71CA6E7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40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70ADB9DB-907F-47DA-93A9-15BB76E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E6824C15-BF97-41C8-9F95-D757D18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理论传播走进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社区、课堂、生产一线</a:t>
            </a:r>
          </a:p>
        </p:txBody>
      </p:sp>
      <p:sp>
        <p:nvSpPr>
          <p:cNvPr id="42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D765CCBD-F75A-47BC-8D48-BE7C655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3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ACD2D50D-2200-4F34-875B-0A3D8A7A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4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6EF5196F-51D8-4C8F-83DC-2B42246C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E65A58D2-1AAB-4251-9682-7EA090E3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6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7B1DCC5C-88F0-4F2A-BC22-B7599DD2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288f0682e418b">
            <a:extLst>
              <a:ext uri="{96DAC541-7B7A-43D3-8B79-37D633B846F1}">
                <asvg:svgBlip xmlns:asvg="http://schemas.microsoft.com/office/drawing/2016/SVG/main" r:embed="R2bf5808885564e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8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6E63ED0C-1F79-44B6-A9D1-98B40DED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49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93875CEA-0731-4829-8D77-60DD218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BB21A840-968D-4F7F-874A-6174AD2F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选调与重大装备研发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比例提升40%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真正的变化，是把专业能力写进辽宁振兴现场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证据落点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0d4c50b4f435c"/>
          <a:srcRect xmlns:a="http://schemas.openxmlformats.org/drawingml/2006/main" l="2666" t="0" r="26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81150"/>
            <a:ext cx="3476625" cy="220980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15203-1128-497F-8369-005A6B43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一段短视频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68CBB-C96B-4516-BDFC-7382BDBA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“青声说史”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3D926-1900-441C-B527-42B823BA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用青年语态讲述六地历史，让表达本身成为学习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a22ffb9c24ba6"/>
          <a:srcRect xmlns:a="http://schemas.openxmlformats.org/drawingml/2006/main" l="0" t="2463" r="0" b="2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581150"/>
            <a:ext cx="3476625" cy="220980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FC76E-9AFA-4F12-B4D0-31B4285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005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一份万字报告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1DECB-CF45-4C16-B8DB-DC783EA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讲解词年轻化改造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2D95A-564D-40BB-8B1D-A5D8CD3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1490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把寒暑假调研转化为场馆可使用的建议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bdeb12a7f46fe"/>
          <a:srcRect xmlns:a="http://schemas.openxmlformats.org/drawingml/2006/main" l="0" t="11966" r="0" b="11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1581150"/>
            <a:ext cx="3476625" cy="220980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F3921D-6505-49BB-AA46-6503ABE9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一门 VR 党课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65EAC-E83D-4F46-8EA0-21E1BAAD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技术能力进入红色教育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6734FB-0886-4B33-86FA-C581274B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1490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把全景数据、交互体验与课程设计结合起来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214A3-F453-476D-8418-CC4AF82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48350"/>
            <a:ext cx="1114425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91342-4114-4D3F-8C8D-63558A4E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振兴辽宁不是口号，而是算法、图纸和代码——是青年可以扛起的时代订单。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十年探路、五年深耕，五类抓手最终汇成一条育人链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系统收束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637AEBD-A08C-47F3-8E15-2C132A3A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91847-DBCC-4CFE-9721-F2A0E7A3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2500D-C00C-4C7E-B87B-F1E0B63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00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五类抓手不是五场活动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16709-857F-4C73-AEE9-3DF5A675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38325"/>
            <a:ext cx="1091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它们分别解决行动、沉浸、表达、共享与长效，最终共同指向青年党员的成长。</a:t>
            </a:r>
          </a:p>
        </p:txBody>
      </p:sp>
      <p:sp>
        <p:nvSpPr>
          <p:cNvPr id="18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6B68D5D4-8868-4D00-AEF5-26FDD975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506600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94D5F37A-3CC2-4462-A998-58EC74C4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657600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5668B9EE-6129-4100-BC36-817FB74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6003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研学链</a:t>
            </a:r>
          </a:p>
        </p:txBody>
      </p:sp>
      <p:sp>
        <p:nvSpPr>
          <p:cNvPr id="21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CCB59AE9-52B1-47B2-AA91-DB6CE31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2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E94E70BA-550E-4CCC-8E96-A13FA223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3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F327F0BB-C34B-40CF-87C5-99C22A14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5EA3A145-8413-4D7A-BAAC-AFE1F3E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AA6681ED-FEFB-4636-99E8-3E71F6EC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400550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FA6CCBD6-E287-4667-A734-ACBF6DBE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314825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7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7F164888-95E8-41DB-95C7-3D0B53B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9DF8BF6D-448A-4701-BC96-14C3C09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6101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贯通红色血脉</a:t>
            </a:r>
          </a:p>
        </p:txBody>
      </p:sp>
      <p:sp>
        <p:nvSpPr>
          <p:cNvPr id="29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C1C612EC-7D82-45E6-B70A-C67A2CBF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6003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任务单</a:t>
            </a:r>
          </a:p>
        </p:txBody>
      </p:sp>
      <p:sp>
        <p:nvSpPr>
          <p:cNvPr id="30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A8FF7D21-564F-47FD-83F5-03DC21F7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1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FEFD4E48-5C64-4120-9AB4-36961062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2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FEDB67D1-51EA-471F-A017-02888F34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82EEF8C4-6B7C-4D4C-A403-4132A125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0DD18DF7-394D-4EBD-BDE4-1DB9527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400550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2A77853A-4391-46F7-BEBD-7717D01B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4314825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6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9AE3AD3D-10A2-46BC-AB2C-962FDC1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D6AA6990-E49F-46CA-8B75-872666E6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6101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激发实干担当</a:t>
            </a:r>
          </a:p>
        </p:txBody>
      </p:sp>
      <p:sp>
        <p:nvSpPr>
          <p:cNvPr id="38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891A9C86-AFF9-4692-A60E-C4E7FDF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6003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VR基地</a:t>
            </a:r>
          </a:p>
        </p:txBody>
      </p:sp>
      <p:sp>
        <p:nvSpPr>
          <p:cNvPr id="39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559DAD56-59E2-44D4-850C-5FCE113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0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31521B3F-5705-47A6-8EE6-F4BD125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1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7DFE3CAB-56EF-469F-8639-9F7FD00B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B0CF1345-1E17-44BD-937E-A7513F8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2B242CF6-A110-4BE3-8C66-882681B4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400550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DED3A5A5-CC89-4129-8DEC-1BC58268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314825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5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FE5FBB30-5D1A-4966-B9E0-5C98D09A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A75AB3EF-32F5-4BFC-958D-ECBE809A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6101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跨越时空阻隔</a:t>
            </a:r>
          </a:p>
        </p:txBody>
      </p:sp>
      <p:sp>
        <p:nvSpPr>
          <p:cNvPr id="47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A8A09E64-BA20-4C48-ACF6-0D83D53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6003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宣讲团</a:t>
            </a:r>
          </a:p>
        </p:txBody>
      </p:sp>
      <p:sp>
        <p:nvSpPr>
          <p:cNvPr id="48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9F563573-8FBA-424E-A326-31F80B4B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9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862BB60B-F008-49E8-8D2F-F412B99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0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B9F96AD1-DBFC-4B55-A806-01A008D2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1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0AB6B9A4-7368-4AE1-8943-88E3FB88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C119E5B9-8C78-4D7A-A341-2850008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400550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3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5A5ED619-C5B3-44A6-B2AF-33003B24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314825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4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E25E0EB9-9466-4136-8DFC-ED134B83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63D21F6D-D02F-4949-B483-3E4E862F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6101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传递信仰之声</a:t>
            </a:r>
          </a:p>
        </p:txBody>
      </p:sp>
      <p:sp>
        <p:nvSpPr>
          <p:cNvPr id="56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5CAF6FFE-8FE5-4B2D-A0FB-EF7356BE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6003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育人机制</a:t>
            </a:r>
          </a:p>
        </p:txBody>
      </p:sp>
      <p:sp>
        <p:nvSpPr>
          <p:cNvPr id="57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70C1AF55-CF83-461B-8451-8281D1BD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32480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8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67CD2733-17D9-4FD2-A7A0-87FC6652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33623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9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BBA72A78-4547-4A0D-8653-A8DE7192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3362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0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663F15AB-6857-481B-8287-2F013DB0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402907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5041FE67-FD7C-4FFF-A297-4C6D822E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400550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2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05B1A4A0-B4A1-4B95-A453-874A338B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314825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3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764639B8-CEFD-4DD4-BDDF-CF9833FD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43148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653ED777-3B95-44B6-A2DB-704535A6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6101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夯实成长根基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206C1AC8-E8FE-4440-9FEF-AF73B18B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把论文写在大地
把青春植根黑土
把名字写进振兴辽宁的下一行代码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2026-09-03T03:22:01.9740000Z</dcterms:created>
  <dcterms:modified xsi:type="dcterms:W3CDTF">2026-09-03T03:22:01.9740000Z</dcterms:modified>
</coreProperties>
</file>