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3c9dd731494292" /><Relationship Type="http://schemas.openxmlformats.org/officeDocument/2006/relationships/extended-properties" Target="/docProps/app.xml" Id="Ra5c247dbb49b4440" /><Relationship Type="http://schemas.openxmlformats.org/officeDocument/2006/relationships/officeDocument" Target="/ppt/presentation.xml" Id="R9ff20fefe70144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8cb19f471ed4531"/>
    <p:sldMasterId xmlns:r="http://schemas.openxmlformats.org/officeDocument/2006/relationships" id="2147483660" r:id="R0172019f62fd4553"/>
    <p:sldMasterId xmlns:r="http://schemas.openxmlformats.org/officeDocument/2006/relationships" id="2147483663" r:id="R6531cce14e8543d1"/>
  </p:sldMasterIdLst>
  <p:notesMasterIdLst>
    <p:notesMasterId xmlns:r="http://schemas.openxmlformats.org/officeDocument/2006/relationships" r:id="Rf64c61446c5347ff"/>
  </p:notesMasterIdLst>
  <p:sldIdLst>
    <p:sldId xmlns:r="http://schemas.openxmlformats.org/officeDocument/2006/relationships" id="256" r:id="R2259a5f2fa244eea"/>
    <p:sldId xmlns:r="http://schemas.openxmlformats.org/officeDocument/2006/relationships" id="257" r:id="R04f48d8126794f03"/>
    <p:sldId xmlns:r="http://schemas.openxmlformats.org/officeDocument/2006/relationships" id="258" r:id="Rde510f293a7f4b1d"/>
    <p:sldId xmlns:r="http://schemas.openxmlformats.org/officeDocument/2006/relationships" id="259" r:id="Rf2fb081c2ed54f36"/>
    <p:sldId xmlns:r="http://schemas.openxmlformats.org/officeDocument/2006/relationships" id="260" r:id="Rfda051828462438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ff50c53b1a482a" /><Relationship Type="http://schemas.openxmlformats.org/officeDocument/2006/relationships/slideMaster" Target="/ppt/slideMasters/slideMaster1.xml" Id="R48cb19f471ed4531" /><Relationship Type="http://schemas.openxmlformats.org/officeDocument/2006/relationships/slideMaster" Target="/ppt/slideMasters/slideMaster2.xml" Id="R0172019f62fd4553" /><Relationship Type="http://schemas.openxmlformats.org/officeDocument/2006/relationships/slideMaster" Target="/ppt/slideMasters/slideMaster3.xml" Id="R6531cce14e8543d1" /><Relationship Type="http://schemas.openxmlformats.org/officeDocument/2006/relationships/notesMaster" Target="/ppt/notesMasters/notesMaster1.xml" Id="Rf64c61446c5347ff" /><Relationship Type="http://schemas.openxmlformats.org/officeDocument/2006/relationships/presProps" Target="/ppt/presProps.xml" Id="R885bb54fdadc4bca" /><Relationship Type="http://schemas.openxmlformats.org/officeDocument/2006/relationships/viewProps" Target="/ppt/viewProps.xml" Id="R3efea98330e840af" /><Relationship Type="http://schemas.openxmlformats.org/officeDocument/2006/relationships/tableStyles" Target="/ppt/tableStyles.xml" Id="R43f6e179f82a484d" /><Relationship Type="http://schemas.openxmlformats.org/officeDocument/2006/relationships/slide" Target="/ppt/slides/slide1.xml" Id="R2259a5f2fa244eea" /><Relationship Type="http://schemas.openxmlformats.org/officeDocument/2006/relationships/slide" Target="/ppt/slides/slide2.xml" Id="R04f48d8126794f03" /><Relationship Type="http://schemas.openxmlformats.org/officeDocument/2006/relationships/slide" Target="/ppt/slides/slide3.xml" Id="Rde510f293a7f4b1d" /><Relationship Type="http://schemas.openxmlformats.org/officeDocument/2006/relationships/slide" Target="/ppt/slides/slide4.xml" Id="Rf2fb081c2ed54f36" /><Relationship Type="http://schemas.openxmlformats.org/officeDocument/2006/relationships/slide" Target="/ppt/slides/slide5.xml" Id="Rfda051828462438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8601969ed53a477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8fef4c001f4462" /><Relationship Type="http://schemas.openxmlformats.org/officeDocument/2006/relationships/notesMaster" Target="/ppt/notesMasters/notesMaster1.xml" Id="Rb589e3d9500c4f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bdd7aa8b897456c" /><Relationship Type="http://schemas.openxmlformats.org/officeDocument/2006/relationships/notesMaster" Target="/ppt/notesMasters/notesMaster1.xml" Id="R07ef011301764b3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56bb342957f4518" /><Relationship Type="http://schemas.openxmlformats.org/officeDocument/2006/relationships/notesMaster" Target="/ppt/notesMasters/notesMaster1.xml" Id="R513bcadf0bbe4ca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2c31fb8c2d4f40" /><Relationship Type="http://schemas.openxmlformats.org/officeDocument/2006/relationships/notesMaster" Target="/ppt/notesMasters/notesMaster1.xml" Id="R7dacfd0520e4422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e36f5e5def641e9" /><Relationship Type="http://schemas.openxmlformats.org/officeDocument/2006/relationships/notesMaster" Target="/ppt/notesMasters/notesMaster1.xml" Id="Rc44e3ae0a63f463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内容：harness/runs/20260912-r1-thin-runner/原稿.md</a:t>
            </a:r>
          </a:p>
          <a:p xmlns:a="http://schemas.openxmlformats.org/drawingml/2006/main">
            <a:r>
              <a:t>- 视觉：assets/主题/东北大学-001/runtime-template.pptx（随仓库发布的运行模板）</a:t>
            </a:r>
          </a:p>
          <a:p xmlns:a="http://schemas.openxmlformats.org/drawingml/2006/main">
            <a:r>
              <a:t>- PPagenT：cover → northeastern-university-cover-001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内容：harness/runs/20260912-r1-thin-runner/原稿.md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PPagenT：p1 → northeastern-university-body-001</a:t>
            </a:r>
            <a:endParaRPr/>
          </a:p>
          <a:p xmlns:a="http://schemas.openxmlformats.org/drawingml/2006/main">
            <a:r>
              <a:t>- 整页编排：editorial-focus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内容：harness/runs/20260912-r1-thin-runner/原稿.md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PPagenT：p2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内容：harness/runs/20260912-r1-thin-runner/原稿.md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PPagenT：p3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  <a:endParaRPr/>
          </a:p>
          <a:p xmlns:a="http://schemas.openxmlformats.org/drawingml/2006/main">
            <a:r>
              <a:t>- 内容：harness/runs/20260912-r1-thin-runner/原稿.md</a:t>
            </a:r>
            <a:endParaRPr/>
          </a:p>
          <a:p xmlns:a="http://schemas.openxmlformats.org/drawingml/2006/main">
            <a:r>
              <a:t>- 视觉：assets/主题/东北大学-001/runtime-template.pptx（随仓库发布的运行模板）</a:t>
            </a:r>
            <a:endParaRPr/>
          </a:p>
          <a:p xmlns:a="http://schemas.openxmlformats.org/drawingml/2006/main">
            <a:r>
              <a:t>- PPagenT：p4 → northeastern-university-body-001</a:t>
            </a:r>
            <a:endParaRPr/>
          </a:p>
          <a:p xmlns:a="http://schemas.openxmlformats.org/drawingml/2006/main">
            <a:r>
              <a:t>- 整页编排：editorial-grid</a:t>
            </a:r>
            <a:endParaRPr/>
          </a:p>
          <a:p xmlns:a="http://schemas.openxmlformats.org/drawingml/2006/main">
            <a:r>
              <a:t>[/Sources]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3389342bc1f439e" /><Relationship Type="http://schemas.openxmlformats.org/officeDocument/2006/relationships/image" Target="/ppt/media/image.jpeg" Id="Rdf49b0340b344984" /><Relationship Type="http://schemas.openxmlformats.org/officeDocument/2006/relationships/image" Target="/ppt/media/image.png" Id="R9a62834638bc45f8" /><Relationship Type="http://schemas.openxmlformats.org/officeDocument/2006/relationships/image" Target="/ppt/media/image2.png" Id="R38da14850e194fb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08bc29137b40be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205a7c81ed434c" /><Relationship Type="http://schemas.openxmlformats.org/officeDocument/2006/relationships/image" Target="/ppt/media/image3.png" Id="R8130556215b34cf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c13c42c8b14729" /><Relationship Type="http://schemas.openxmlformats.org/officeDocument/2006/relationships/image" Target="/ppt/media/image4.png" Id="R8f0306e8acca44f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81f9c0df6b45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9c6a97c3f7843a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d2dcc8c815345af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1c1878d91436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1232df76d14cf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e2eedf04b84039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67abbddfc0402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aa0a88e5ccd4ce2" /><Relationship Type="http://schemas.openxmlformats.org/officeDocument/2006/relationships/image" Target="/ppt/media/image5.png" Id="Rb41930c6e3bc4c8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d2e90dc8d5b4d47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c8dc2d5650294315" /><Relationship Type="http://schemas.openxmlformats.org/officeDocument/2006/relationships/image" Target="/ppt/media/image5.png" Id="Re1757dc80a134ca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e80f63c12534a70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49b0340b344984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2834638bc45f8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da14850e194fb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30556215b34cf5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0306e8acca44fb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930c6e3bc4c8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757dc80a134ca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94784b3f7e4b4d" /><Relationship Type="http://schemas.openxmlformats.org/officeDocument/2006/relationships/slideLayout" Target="/ppt/slideLayouts/slideLayout1.xml" Id="R8dab8745e37946c6" /><Relationship Type="http://schemas.openxmlformats.org/officeDocument/2006/relationships/slideLayout" Target="/ppt/slideLayouts/slideLayout2.xml" Id="Ra2442234df3b43c4" /><Relationship Type="http://schemas.openxmlformats.org/officeDocument/2006/relationships/slideLayout" Target="/ppt/slideLayouts/slideLayout3.xml" Id="R0830a5fa22a64ab9" /><Relationship Type="http://schemas.openxmlformats.org/officeDocument/2006/relationships/slideLayout" Target="/ppt/slideLayouts/slideLayout4.xml" Id="Rbaf3617459864389" /><Relationship Type="http://schemas.openxmlformats.org/officeDocument/2006/relationships/slideLayout" Target="/ppt/slideLayouts/slideLayout5.xml" Id="R5d783272c6e84bca" /><Relationship Type="http://schemas.openxmlformats.org/officeDocument/2006/relationships/slideLayout" Target="/ppt/slideLayouts/slideLayout6.xml" Id="Rc40209a844644ab9" /><Relationship Type="http://schemas.openxmlformats.org/officeDocument/2006/relationships/slideLayout" Target="/ppt/slideLayouts/slideLayout7.xml" Id="Raf85bfe4b38944a3" /><Relationship Type="http://schemas.openxmlformats.org/officeDocument/2006/relationships/slideLayout" Target="/ppt/slideLayouts/slideLayout8.xml" Id="Rac86f31feaa14350" /><Relationship Type="http://schemas.openxmlformats.org/officeDocument/2006/relationships/slideLayout" Target="/ppt/slideLayouts/slideLayout9.xml" Id="R17f599435da04642" /><Relationship Type="http://schemas.openxmlformats.org/officeDocument/2006/relationships/slideLayout" Target="/ppt/slideLayouts/slideLayout10.xml" Id="Rfb4935d0a1d642ec" /><Relationship Type="http://schemas.openxmlformats.org/officeDocument/2006/relationships/slideLayout" Target="/ppt/slideLayouts/slideLayout11.xml" Id="R4583f1d6bce74d0e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26f43ef434874859" /><Relationship Type="http://schemas.openxmlformats.org/officeDocument/2006/relationships/slideLayout" Target="/ppt/slideLayouts/slideLayout12.xml" Id="R100bded18f804bae" /><Relationship Type="http://schemas.openxmlformats.org/officeDocument/2006/relationships/slideLayout" Target="/ppt/slideLayouts/slideLayout13.xml" Id="R7383cf44134846d9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2b2e12935c1c460b" /><Relationship Type="http://schemas.openxmlformats.org/officeDocument/2006/relationships/slideLayout" Target="/ppt/slideLayouts/slideLayout14.xml" Id="R3a5af1a111af4692" /><Relationship Type="http://schemas.openxmlformats.org/officeDocument/2006/relationships/slideLayout" Target="/ppt/slideLayouts/slideLayout15.xml" Id="R9c892442572b4c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dab8745e37946c6"/>
    <p:sldLayoutId xmlns:r="http://schemas.openxmlformats.org/officeDocument/2006/relationships" id="2147483650" r:id="Ra2442234df3b43c4"/>
    <p:sldLayoutId xmlns:r="http://schemas.openxmlformats.org/officeDocument/2006/relationships" id="2147483651" r:id="R0830a5fa22a64ab9"/>
    <p:sldLayoutId xmlns:r="http://schemas.openxmlformats.org/officeDocument/2006/relationships" id="2147483652" r:id="Rbaf3617459864389"/>
    <p:sldLayoutId xmlns:r="http://schemas.openxmlformats.org/officeDocument/2006/relationships" id="2147483653" r:id="R5d783272c6e84bca"/>
    <p:sldLayoutId xmlns:r="http://schemas.openxmlformats.org/officeDocument/2006/relationships" id="2147483654" r:id="Rc40209a844644ab9"/>
    <p:sldLayoutId xmlns:r="http://schemas.openxmlformats.org/officeDocument/2006/relationships" id="2147483655" r:id="Raf85bfe4b38944a3"/>
    <p:sldLayoutId xmlns:r="http://schemas.openxmlformats.org/officeDocument/2006/relationships" id="2147483656" r:id="Rac86f31feaa14350"/>
    <p:sldLayoutId xmlns:r="http://schemas.openxmlformats.org/officeDocument/2006/relationships" id="2147483657" r:id="R17f599435da04642"/>
    <p:sldLayoutId xmlns:r="http://schemas.openxmlformats.org/officeDocument/2006/relationships" id="2147483658" r:id="Rfb4935d0a1d642ec"/>
    <p:sldLayoutId xmlns:r="http://schemas.openxmlformats.org/officeDocument/2006/relationships" id="2147483659" r:id="R4583f1d6bce74d0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00bded18f804bae"/>
    <p:sldLayoutId xmlns:r="http://schemas.openxmlformats.org/officeDocument/2006/relationships" id="2147483662" r:id="R7383cf44134846d9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3a5af1a111af4692"/>
    <p:sldLayoutId xmlns:r="http://schemas.openxmlformats.org/officeDocument/2006/relationships" id="2147483665" r:id="R9c892442572b4c6d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d7aa7d9bde4c3f" /><Relationship Type="http://schemas.openxmlformats.org/officeDocument/2006/relationships/notesSlide" Target="/ppt/notesSlides/notesSlide1.xml" Id="R6126a2464c8942b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49b4d4111274519" /><Relationship Type="http://schemas.openxmlformats.org/officeDocument/2006/relationships/notesSlide" Target="/ppt/notesSlides/notesSlide2.xml" Id="R1a91e3ef5d5549d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90fe17b9c304e89" /><Relationship Type="http://schemas.openxmlformats.org/officeDocument/2006/relationships/notesSlide" Target="/ppt/notesSlides/notesSlide3.xml" Id="R138f23dd7c5e43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0eaba6037f4409" /><Relationship Type="http://schemas.openxmlformats.org/officeDocument/2006/relationships/notesSlide" Target="/ppt/notesSlides/notesSlide4.xml" Id="Re6b7237c4f2441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21af2ff5fdc4f98" /><Relationship Type="http://schemas.openxmlformats.org/officeDocument/2006/relationships/notesSlide" Target="/ppt/notesSlides/notesSlide5.xml" Id="R85a059a41c75483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矩形 62">
            <a:extLst xmlns:a="http://schemas.openxmlformats.org/drawingml/2006/main">
              <a:ext uri="{FF2B5EF4-FFF2-40B4-BE49-F238E27FC236}">
                <a16:creationId xmlns:a16="http://schemas.microsoft.com/office/drawing/2014/main" id="{38392E71-DCAF-495E-8FD2-5AE5B28B9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13114"/>
            <a:ext cx="12192000" cy="2376715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91000">
                <a:schemeClr val="accent1">
                  <a:lumMod val="75000"/>
                </a:schemeClr>
              </a:gs>
              <a:gs pos="25000">
                <a:srgbClr val="376DC2"/>
              </a:gs>
              <a:gs pos="0">
                <a:srgbClr val="0268FE">
                  <a:lumMod val="75000"/>
                  <a:lumOff val="25000"/>
                </a:srgbClr>
              </a:gs>
            </a:gsLst>
            <a:path path="circle">
              <a:fillToRect l="100000" t="0" r="0" b="100000"/>
            </a:path>
            <a:tileRect t="-100000" r="-100000"/>
          </a:gradFill>
          <a:ln xmlns:a="http://schemas.openxmlformats.org/drawingml/2006/main" w="12700" cmpd="sng">
            <a:noFill/>
            <a:prstDash val="solid"/>
          </a:ln>
          <a:effectLst xmlns:a="http://schemas.openxmlformats.org/drawingml/2006/main"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kern="0"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15" name="标题 8">
            <a:extLst xmlns:a="http://schemas.openxmlformats.org/drawingml/2006/main">
              <a:ext uri="{FF2B5EF4-FFF2-40B4-BE49-F238E27FC236}">
                <a16:creationId xmlns:a16="http://schemas.microsoft.com/office/drawing/2014/main" id="{5ABF2940-174F-4C84-84F5-75322311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810000"/>
            <a:ext cx="7620000" cy="723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10000"/>
              </a:lnSpc>
              <a:spcBef>
                <a:spcPts val="0"/>
              </a:spcBef>
              <a:buNone/>
              <a:defRPr sz="2250">
                <a:latin typeface="HYWenRunSongYun U"/>
                <a:ea typeface="HYWenRunSongYun U"/>
                <a:cs typeface="HYWenRunSongYun U"/>
              </a:defRPr>
            </a:pPr>
            <a:r>
              <a:rPr sz="2800" i="0" u="none" cap="none">
                <a:ln>
                  <a:noFill/>
                </a:ln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汇报人：魏鹏宇</a:t>
            </a:r>
          </a:p>
        </p:txBody>
      </p:sp>
      <p:sp>
        <p:nvSpPr>
          <p:cNvPr id="17" name="标题 8">
            <a:extLst xmlns:a="http://schemas.openxmlformats.org/drawingml/2006/main">
              <a:ext uri="{FF2B5EF4-FFF2-40B4-BE49-F238E27FC236}">
                <a16:creationId xmlns:a16="http://schemas.microsoft.com/office/drawing/2014/main" id="{2A01E317-59A4-4545-ADDD-BC9AE3A2A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219700"/>
            <a:ext cx="4762500" cy="685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algn="ctr">
              <a:lnSpc>
                <a:spcPct val="110000"/>
              </a:lnSpc>
              <a:spcBef>
                <a:spcPts val="0"/>
              </a:spcBef>
              <a:buNone/>
              <a:defRPr sz="1800">
                <a:latin typeface="Microsoft YaHei"/>
                <a:ea typeface="Microsoft YaHei"/>
                <a:cs typeface="Microsoft YaHei"/>
              </a:defRPr>
            </a:pPr>
            <a:r>
              <a:rPr sz="2400" spc="300">
                <a:solidFill>
                  <a:schemeClr val="tx1"/>
                </a:solidFill>
                <a:latin typeface="汉仪文润宋韵 U"/>
                <a:ea typeface="汉仪文润宋韵 U"/>
                <a:cs typeface="汉仪文润宋韵 U"/>
              </a:rPr>
              <a:t>2026.07.20</a:t>
            </a:r>
            <a:endParaRPr sz="2400" spc="300">
              <a:solidFill>
                <a:schemeClr val="tx1"/>
              </a:solidFill>
              <a:latin typeface="汉仪文润宋韵 U"/>
              <a:ea typeface="汉仪文润宋韵 U"/>
              <a:cs typeface="汉仪文润宋韵 U"/>
            </a:endParaRPr>
          </a:p>
        </p:txBody>
      </p:sp>
      <p:sp>
        <p:nvSpPr>
          <p:cNvPr id="64" name="直接连接符 63">
            <a:extLst xmlns:a="http://schemas.openxmlformats.org/drawingml/2006/main">
              <a:ext uri="{FF2B5EF4-FFF2-40B4-BE49-F238E27FC236}">
                <a16:creationId xmlns:a16="http://schemas.microsoft.com/office/drawing/2014/main" id="{1A82715C-FF75-4658-9262-D0648D6CD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7608"/>
            <a:ext cx="12975771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标题 8">
            <a:extLst xmlns:a="http://schemas.openxmlformats.org/drawingml/2006/main">
              <a:ext uri="{FF2B5EF4-FFF2-40B4-BE49-F238E27FC236}">
                <a16:creationId xmlns:a16="http://schemas.microsoft.com/office/drawing/2014/main" id="{88841613-2479-4D1E-8621-2346F7A1A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735" y="1887474"/>
            <a:ext cx="11932063" cy="161353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 defTabSz="914400">
              <a:lnSpc>
                <a:spcPct val="90000"/>
              </a:lnSpc>
              <a:spcBef>
                <a:spcPct val="0"/>
              </a:spcBef>
              <a:buNone/>
              <a:defRPr sz="5400" b="1" kern="1200">
                <a:solidFill>
                  <a:schemeClr val="accent1"/>
                </a:solidFill>
                <a:latin typeface="+mj-lt"/>
                <a:ea typeface="+mj-lt"/>
                <a:cs typeface="+mj-lt"/>
              </a:defRPr>
            </a:lvl1pPr>
          </a:lstStyle>
          <a:p xmlns:a="http://schemas.openxmlformats.org/drawingml/2006/main">
            <a:pPr lvl="0" algn="ctr">
              <a:lnSpc>
                <a:spcPct val="125000"/>
              </a:lnSpc>
              <a:spcBef>
                <a:spcPts val="0"/>
              </a:spcBef>
              <a:buNone/>
              <a:defRPr sz="4800">
                <a:latin typeface="HYWenRunSongYun U"/>
                <a:ea typeface="HYWenRunSongYun U"/>
                <a:cs typeface="HYWenRunSongYun U"/>
              </a:defRPr>
            </a:pPr>
            <a:r>
              <a:rPr sz="4800" i="0" u="none" cap="none" spc="0">
                <a:ln>
                  <a:noFill/>
                </a:ln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从设备清单走向明确交接：一次试点提案</a:t>
            </a:r>
          </a:p>
        </p:txBody>
      </p:sp>
    </p:spTree>
    <p:extLst>
      <p:ext uri="{BB962C8B-B14F-4D97-AF65-F5344CB8AC3E}">
        <p14:creationId xmlns:p14="http://schemas.microsoft.com/office/powerpoint/2010/main" val="199531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试点目标与边界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primary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2D14AE6-2809-475F-979D-FFDB07E8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5572125" cy="35615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parent=composition-support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8E88D21-6BEA-41BB-AE3D-72CB7B5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56054"/>
            <a:ext cx="3789045" cy="3749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7" name="PPAGENT_QA|within=composition-primary|role=accent">
            <a:extLst xmlns:a="http://schemas.openxmlformats.org/drawingml/2006/main">
              <a:ext uri="{FF2B5EF4-FFF2-40B4-BE49-F238E27FC236}">
                <a16:creationId xmlns:a16="http://schemas.microsoft.com/office/drawing/2014/main" id="{39293B6C-4200-425B-8186-D54D46A94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" y="2049780"/>
            <a:ext cx="66675" cy="35615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primary|role=eyebrow">
            <a:extLst xmlns:a="http://schemas.openxmlformats.org/drawingml/2006/main">
              <a:ext uri="{FF2B5EF4-FFF2-40B4-BE49-F238E27FC236}">
                <a16:creationId xmlns:a16="http://schemas.microsoft.com/office/drawing/2014/main" id="{76A55369-8873-44F6-B217-43A0186CF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087880"/>
            <a:ext cx="52482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核心能力</a:t>
            </a:r>
          </a:p>
        </p:txBody>
      </p:sp>
      <p:sp>
        <p:nvSpPr>
          <p:cNvPr id="19" name="PPAGENT_QA|within=composition-primary|role=title">
            <a:extLst xmlns:a="http://schemas.openxmlformats.org/drawingml/2006/main">
              <a:ext uri="{FF2B5EF4-FFF2-40B4-BE49-F238E27FC236}">
                <a16:creationId xmlns:a16="http://schemas.microsoft.com/office/drawing/2014/main" id="{0427C0A1-09F1-4199-8B77-99F6585E8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2449830"/>
            <a:ext cx="52482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试点目标</a:t>
            </a:r>
          </a:p>
        </p:txBody>
      </p:sp>
      <p:sp>
        <p:nvSpPr>
          <p:cNvPr id="20" name="PPAGENT_QA|within=composition-primary|role=body">
            <a:extLst xmlns:a="http://schemas.openxmlformats.org/drawingml/2006/main">
              <a:ext uri="{FF2B5EF4-FFF2-40B4-BE49-F238E27FC236}">
                <a16:creationId xmlns:a16="http://schemas.microsoft.com/office/drawing/2014/main" id="{30EF803E-1D75-4E07-B2BD-5E6A6C3F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345" y="3859530"/>
            <a:ext cx="5248275" cy="1675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试点目标：让申请人知道何时可以使用，让管理员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知道由谁交接，让负责人能够核对异常处理⁠。本稿</a:t>
            </a:r>
          </a:p>
          <a:p xmlns:a="http://schemas.openxmlformats.org/drawingml/2006/main">
            <a:pPr algn="l">
              <a:def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讨论一个拟议试点，没有提供已实现的成效统计⁠。</a:t>
            </a:r>
          </a:p>
        </p:txBody>
      </p:sp>
      <p:sp>
        <p:nvSpPr>
          <p:cNvPr id="21" name="PPAGENT_QA|within=composition-support|role=index-0">
            <a:extLst xmlns:a="http://schemas.openxmlformats.org/drawingml/2006/main">
              <a:ext uri="{FF2B5EF4-FFF2-40B4-BE49-F238E27FC236}">
                <a16:creationId xmlns:a16="http://schemas.microsoft.com/office/drawing/2014/main" id="{706E9772-D862-4A01-B974-84A0E9D1A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3310" y="1965579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4C88E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2" name="PPAGENT_QA|within=composition-support|role=title-0">
            <a:extLst xmlns:a="http://schemas.openxmlformats.org/drawingml/2006/main">
              <a:ext uri="{FF2B5EF4-FFF2-40B4-BE49-F238E27FC236}">
                <a16:creationId xmlns:a16="http://schemas.microsoft.com/office/drawing/2014/main" id="{0C558DD4-1A81-42FF-BAD3-9120F5AB9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1956054"/>
            <a:ext cx="314134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边界原则</a:t>
            </a:r>
          </a:p>
        </p:txBody>
      </p:sp>
      <p:sp>
        <p:nvSpPr>
          <p:cNvPr id="23" name="PPAGENT_QA|within=composition-support|role=body-0">
            <a:extLst xmlns:a="http://schemas.openxmlformats.org/drawingml/2006/main">
              <a:ext uri="{FF2B5EF4-FFF2-40B4-BE49-F238E27FC236}">
                <a16:creationId xmlns:a16="http://schemas.microsoft.com/office/drawing/2014/main" id="{7D37BE82-602E-466B-84BC-C88C93FE2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1010" y="2375154"/>
            <a:ext cx="3141345" cy="3329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边界原则：先使用现有设备和人员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安排，不新增自动审批承诺⁠；涉及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安全条件的申请仍须由责任人确认⁠。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两种协调方式的差别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对比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02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A45D4A4-6371-496E-B485-C81DFEB27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D993F2AC-7E9B-4B82-B496-3E8B1A17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4217670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DBE399C3-8D1E-45D4-99A3-611FB7F25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421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359A94F9-8B98-407F-B144-E0A52E37D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2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8090B951-EF2B-4CB4-9686-7646A89E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临时协调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24923554-BEBA-4427-BB61-4E357FFE5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2981960" cy="330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临时协调：申请人在群里描述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需求，管理员逐次确认设备和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时间⁠。入口简单，但调整记录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分散，换班时需要重新解释⁠。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F481592F-9512-40B2-8E24-E87529F4F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BA0C6312-6601-4790-9775-D456CECC5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4217670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DD94C5BA-4E4A-4197-B2B6-CF955A4F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66675" cy="421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9444E435-FD42-4D8A-9A7B-47792267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38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1C51C3F7-9220-48D4-9423-85066683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统一登记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09AE3D76-B80F-40D6-A0AC-30E93947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511552"/>
            <a:ext cx="2981960" cy="330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统一登记：申请先进入同一份登记表，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管理员确认后再通知使用时间⁠。记录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便于交接，但需要有人持续维护状态⁠。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D2AAFB9-6E41-4E6A-A91F-7C684F72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2AFDC6DA-2F1C-4CE7-BA77-DD3D7C3F5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4217670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6423CB02-60B1-49E7-8C2E-0A9DEA41E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66675" cy="421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CA568868-2F40-472C-A51E-7277E700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F76B54AA-E457-4FFE-99D1-0EDEE26A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选择依据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C7969C4A-0A2A-4581-855C-8B8D6FB63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511552"/>
            <a:ext cx="2981960" cy="330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选择依据：试点优先验证交接是否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清楚，再决定是否增加系统功能⁠；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统一登记并不意味着自动批准⁠。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一次预约怎样完成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流程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03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D43B29F7-F529-4113-A660-48CAB1B53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08A6C83D-E136-48A0-956F-1978C06B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087C9163-6CFC-4A50-B422-032671B1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5E5E566F-3BCA-4D39-86FF-2627CF42E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2230D458-6C26-45B1-AE99-8074D0D0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登记需求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F6D40159-8BCC-45BF-9308-DC1ABDF61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登记需求：第一步由申请人写明设备、时间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和使用目的，提交后等待管理员确认⁠。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17DE708A-DF6C-4843-8A27-31BAF37D6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94EF8847-C77D-4837-AEBA-C7A25F930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51461D95-46A7-4FF7-9281-2EBCBB7D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6860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620A0D38-ECD8-4513-81E4-BF619A7C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C8B378B4-A9FD-4F1C-9A51-5356F3E8F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5435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确认安排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70B3620D-D3D3-43E2-986A-8C9CF7DE0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155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确认安排：第二步由管理员核对设备状态与值班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安排，明确是否接收申请，再通知申请人⁠。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A204690F-6C53-4B61-91E9-CEC474813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1B8FBDC4-B9A1-45C7-8C40-51A48B289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8FC5C34F-271D-40C9-BF1D-7826EF3C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20F5144F-263F-40F0-B586-6F6305F27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E5D7FE87-E60A-46FE-A976-3AD25A68F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使用归还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C1A775C1-8CFA-4A50-99B4-3F593FC00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使用归还：第三步由使用人完成现场交接，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使用结束后归还设备并登记异常情况⁠。</a:t>
            </a:r>
          </a:p>
        </p:txBody>
      </p:sp>
      <p:sp>
        <p:nvSpPr>
          <p:cNvPr id="33" name="PPAGENT_QA|parent=composition-grid-3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4CD6F2C6-6087-4AE9-A7EF-01E91BD85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5253990" cy="2023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34" name="PPAGENT_QA|within=composition-grid-3|role=card">
            <a:extLst xmlns:a="http://schemas.openxmlformats.org/drawingml/2006/main">
              <a:ext uri="{FF2B5EF4-FFF2-40B4-BE49-F238E27FC236}">
                <a16:creationId xmlns:a16="http://schemas.microsoft.com/office/drawing/2014/main" id="{10E699CE-BEAA-4ACD-8BCB-56BA74B72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5253990" cy="2023110"/>
          </a:xfrm>
          <a:prstGeom xmlns:a="http://schemas.openxmlformats.org/drawingml/2006/main" prst="roundRect">
            <a:avLst>
              <a:gd name="adj" fmla="val 6591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35" name="PPAGENT_QA|within=composition-grid-3|role=accent">
            <a:extLst xmlns:a="http://schemas.openxmlformats.org/drawingml/2006/main">
              <a:ext uri="{FF2B5EF4-FFF2-40B4-BE49-F238E27FC236}">
                <a16:creationId xmlns:a16="http://schemas.microsoft.com/office/drawing/2014/main" id="{EFADBB05-D48F-47D5-B093-17B474DA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63162"/>
            <a:ext cx="66675" cy="202311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PPAGENT_QA|within=composition-grid-3|role=index">
            <a:extLst xmlns:a="http://schemas.openxmlformats.org/drawingml/2006/main">
              <a:ext uri="{FF2B5EF4-FFF2-40B4-BE49-F238E27FC236}">
                <a16:creationId xmlns:a16="http://schemas.microsoft.com/office/drawing/2014/main" id="{720054F2-0040-4A61-848B-66BB4505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413461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7" name="PPAGENT_QA|within=composition-grid-3|role=title">
            <a:extLst xmlns:a="http://schemas.openxmlformats.org/drawingml/2006/main">
              <a:ext uri="{FF2B5EF4-FFF2-40B4-BE49-F238E27FC236}">
                <a16:creationId xmlns:a16="http://schemas.microsoft.com/office/drawing/2014/main" id="{FF3D7E2B-C0B9-4B3F-9D04-75708A3D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48912"/>
            <a:ext cx="479679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异常处理</a:t>
            </a:r>
          </a:p>
        </p:txBody>
      </p:sp>
      <p:sp>
        <p:nvSpPr>
          <p:cNvPr id="38" name="PPAGENT_QA|within=composition-grid-3|role=body">
            <a:extLst xmlns:a="http://schemas.openxmlformats.org/drawingml/2006/main">
              <a:ext uri="{FF2B5EF4-FFF2-40B4-BE49-F238E27FC236}">
                <a16:creationId xmlns:a16="http://schemas.microsoft.com/office/drawing/2014/main" id="{D92A8A64-3F77-483A-AC28-7C4AB579C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6112"/>
            <a:ext cx="4796790" cy="11087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异常处理：出现设备故障或时间冲突时暂停原安排，由管理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员联系责任人处理⁠；这项规则适用于整个预约过程⁠。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" y="846296"/>
            <a:ext cx="11911489" cy="4616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noAutofit/>
          </a:bodyPr>
          <a:lstStyle xmlns:a="http://schemas.openxmlformats.org/drawingml/2006/main"/>
          <a:p xmlns:a="http://schemas.openxmlformats.org/drawingml/2006/main">
            <a:pPr marL="323850">
              <a:buNone/>
              <a:defRPr sz="2400">
                <a:latin typeface="HYWenRunSongYun U"/>
                <a:ea typeface="HYWenRunSongYun U"/>
                <a:cs typeface="HYWenRunSongYun U"/>
              </a:defRPr>
            </a:pPr>
            <a:r>
              <a:rPr sz="2400" b="1" spc="-150">
                <a:solidFill>
                  <a:schemeClr val="bg1"/>
                </a:solidFill>
                <a:latin typeface="HYWenRunSongYun U"/>
                <a:ea typeface="HYWenRunSongYun U"/>
                <a:cs typeface="HYWenRunSongYun U"/>
              </a:rPr>
              <a:t>首轮只检查三件事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观点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04</a:t>
            </a:r>
          </a:p>
        </p:txBody>
      </p:sp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PPAGENT_QA|parent=composition-grid-0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0FF86A7E-EF3B-48E9-8DAF-A8C71F7F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16" name="PPAGENT_QA|within=composition-grid-0|role=card">
            <a:extLst xmlns:a="http://schemas.openxmlformats.org/drawingml/2006/main">
              <a:ext uri="{FF2B5EF4-FFF2-40B4-BE49-F238E27FC236}">
                <a16:creationId xmlns:a16="http://schemas.microsoft.com/office/drawing/2014/main" id="{54FF108F-8FCD-4A6F-B8DB-29A8A7F4E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3439160" cy="4217670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F5F8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17" name="PPAGENT_QA|within=composition-grid-0|role=accent">
            <a:extLst xmlns:a="http://schemas.openxmlformats.org/drawingml/2006/main">
              <a:ext uri="{FF2B5EF4-FFF2-40B4-BE49-F238E27FC236}">
                <a16:creationId xmlns:a16="http://schemas.microsoft.com/office/drawing/2014/main" id="{CC28CA0A-E61B-4DF0-B9D6-9987E9181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" y="1768602"/>
            <a:ext cx="66675" cy="421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F5EA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PAGENT_QA|within=composition-grid-0|role=index">
            <a:extLst xmlns:a="http://schemas.openxmlformats.org/drawingml/2006/main">
              <a:ext uri="{FF2B5EF4-FFF2-40B4-BE49-F238E27FC236}">
                <a16:creationId xmlns:a16="http://schemas.microsoft.com/office/drawing/2014/main" id="{45941F79-9818-4EEE-903D-23264B3D8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872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PPAGENT_QA|within=composition-grid-0|role=title">
            <a:extLst xmlns:a="http://schemas.openxmlformats.org/drawingml/2006/main">
              <a:ext uri="{FF2B5EF4-FFF2-40B4-BE49-F238E27FC236}">
                <a16:creationId xmlns:a16="http://schemas.microsoft.com/office/drawing/2014/main" id="{1F5C0E3B-FB30-4B26-AB04-8333CD23B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记录完整</a:t>
            </a:r>
          </a:p>
        </p:txBody>
      </p:sp>
      <p:sp>
        <p:nvSpPr>
          <p:cNvPr id="20" name="PPAGENT_QA|within=composition-grid-0|role=body">
            <a:extLst xmlns:a="http://schemas.openxmlformats.org/drawingml/2006/main">
              <a:ext uri="{FF2B5EF4-FFF2-40B4-BE49-F238E27FC236}">
                <a16:creationId xmlns:a16="http://schemas.microsoft.com/office/drawing/2014/main" id="{60812A4C-F580-4AEB-8E6C-F57C40AA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" y="2511552"/>
            <a:ext cx="2981960" cy="330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记录完整：检查登记信息、确认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结果和归还记录是否能够对应，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缺少任一环节就补齐交接信息⁠。</a:t>
            </a:r>
          </a:p>
        </p:txBody>
      </p:sp>
      <p:sp>
        <p:nvSpPr>
          <p:cNvPr id="21" name="PPAGENT_QA|parent=composition-grid-1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84FB0145-DB79-41BC-9153-0F7AD72BB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2" name="PPAGENT_QA|within=composition-grid-1|role=card">
            <a:extLst xmlns:a="http://schemas.openxmlformats.org/drawingml/2006/main">
              <a:ext uri="{FF2B5EF4-FFF2-40B4-BE49-F238E27FC236}">
                <a16:creationId xmlns:a16="http://schemas.microsoft.com/office/drawing/2014/main" id="{0C854C86-A4C0-4E19-8DBD-DE836827A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3439160" cy="4217670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3" name="PPAGENT_QA|within=composition-grid-1|role=accent">
            <a:extLst xmlns:a="http://schemas.openxmlformats.org/drawingml/2006/main">
              <a:ext uri="{FF2B5EF4-FFF2-40B4-BE49-F238E27FC236}">
                <a16:creationId xmlns:a16="http://schemas.microsoft.com/office/drawing/2014/main" id="{C48612DF-F46D-4A2B-8C1E-A481A3152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6420" y="1768602"/>
            <a:ext cx="66675" cy="421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PAGENT_QA|within=composition-grid-1|role=index">
            <a:extLst xmlns:a="http://schemas.openxmlformats.org/drawingml/2006/main">
              <a:ext uri="{FF2B5EF4-FFF2-40B4-BE49-F238E27FC236}">
                <a16:creationId xmlns:a16="http://schemas.microsoft.com/office/drawing/2014/main" id="{66E4F3C2-6B35-4311-AA55-8CC793ACC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838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5" name="PPAGENT_QA|within=composition-grid-1|role=title">
            <a:extLst xmlns:a="http://schemas.openxmlformats.org/drawingml/2006/main">
              <a:ext uri="{FF2B5EF4-FFF2-40B4-BE49-F238E27FC236}">
                <a16:creationId xmlns:a16="http://schemas.microsoft.com/office/drawing/2014/main" id="{7A3FEAC9-9953-4D69-956F-14AFAA896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责任明确</a:t>
            </a:r>
          </a:p>
        </p:txBody>
      </p:sp>
      <p:sp>
        <p:nvSpPr>
          <p:cNvPr id="26" name="PPAGENT_QA|within=composition-grid-1|role=body">
            <a:extLst xmlns:a="http://schemas.openxmlformats.org/drawingml/2006/main">
              <a:ext uri="{FF2B5EF4-FFF2-40B4-BE49-F238E27FC236}">
                <a16:creationId xmlns:a16="http://schemas.microsoft.com/office/drawing/2014/main" id="{46131968-9813-457C-8A41-F5CBB2981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120" y="2511552"/>
            <a:ext cx="2981960" cy="330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责任明确：检查申请人、管理员和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责任人的分工是否清楚⁠；有争议</a:t>
            </a:r>
          </a:p>
          <a:p xmlns:a="http://schemas.openxmlformats.org/drawingml/2006/main">
            <a:pPr algn="l">
              <a:def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时先澄清责任，再讨论自动化⁠。</a:t>
            </a:r>
          </a:p>
        </p:txBody>
      </p:sp>
      <p:sp>
        <p:nvSpPr>
          <p:cNvPr id="27" name="PPAGENT_QA|parent=composition-grid-2|domains=page-composition-zones">
            <a:extLst xmlns:a="http://schemas.openxmlformats.org/drawingml/2006/main">
              <a:ext uri="{FF2B5EF4-FFF2-40B4-BE49-F238E27FC236}">
                <a16:creationId xmlns:a16="http://schemas.microsoft.com/office/drawing/2014/main" id="{BB23C678-59D4-4139-AB2A-C35A10A2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42176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28" name="PPAGENT_QA|within=composition-grid-2|role=card">
            <a:extLst xmlns:a="http://schemas.openxmlformats.org/drawingml/2006/main">
              <a:ext uri="{FF2B5EF4-FFF2-40B4-BE49-F238E27FC236}">
                <a16:creationId xmlns:a16="http://schemas.microsoft.com/office/drawing/2014/main" id="{582B7F79-CE2F-4382-8C77-8D2D14C68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3439160" cy="4217670"/>
          </a:xfrm>
          <a:prstGeom xmlns:a="http://schemas.openxmlformats.org/drawingml/2006/main" prst="roundRect">
            <a:avLst>
              <a:gd name="adj" fmla="val 3877"/>
            </a:avLst>
          </a:prstGeom>
          <a:solidFill xmlns:a="http://schemas.openxmlformats.org/drawingml/2006/main">
            <a:srgbClr val="FAFBFD"/>
          </a:solidFill>
          <a:ln xmlns:a="http://schemas.openxmlformats.org/drawingml/2006/main" w="9525">
            <a:solidFill>
              <a:srgbClr val="D9E3F0"/>
            </a:solidFill>
            <a:prstDash val="solid"/>
          </a:ln>
        </p:spPr>
      </p:sp>
      <p:sp>
        <p:nvSpPr>
          <p:cNvPr id="29" name="PPAGENT_QA|within=composition-grid-2|role=accent">
            <a:extLst xmlns:a="http://schemas.openxmlformats.org/drawingml/2006/main">
              <a:ext uri="{FF2B5EF4-FFF2-40B4-BE49-F238E27FC236}">
                <a16:creationId xmlns:a16="http://schemas.microsoft.com/office/drawing/2014/main" id="{58E6B868-EEFA-4995-B846-B4B40319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6080" y="1768602"/>
            <a:ext cx="66675" cy="421767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C8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PAGENT_QA|within=composition-grid-2|role=index">
            <a:extLst xmlns:a="http://schemas.openxmlformats.org/drawingml/2006/main">
              <a:ext uri="{FF2B5EF4-FFF2-40B4-BE49-F238E27FC236}">
                <a16:creationId xmlns:a16="http://schemas.microsoft.com/office/drawing/2014/main" id="{9A10F4EB-60B1-4D0F-A5B6-7396993FD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88040" y="1940052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F7D9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31" name="PPAGENT_QA|within=composition-grid-2|role=title">
            <a:extLst xmlns:a="http://schemas.openxmlformats.org/drawingml/2006/main">
              <a:ext uri="{FF2B5EF4-FFF2-40B4-BE49-F238E27FC236}">
                <a16:creationId xmlns:a16="http://schemas.microsoft.com/office/drawing/2014/main" id="{D649D09E-A629-4B81-844B-BDB24834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054352"/>
            <a:ext cx="298196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2B2B2B"/>
                </a:solidFill>
                <a:latin typeface="Microsoft YaHei"/>
                <a:ea typeface="Microsoft YaHei"/>
                <a:cs typeface="Microsoft YaHei"/>
              </a:rPr>
              <a:t>调整有据</a:t>
            </a:r>
          </a:p>
        </p:txBody>
      </p:sp>
      <p:sp>
        <p:nvSpPr>
          <p:cNvPr id="32" name="PPAGENT_QA|within=composition-grid-2|role=body">
            <a:extLst xmlns:a="http://schemas.openxmlformats.org/drawingml/2006/main">
              <a:ext uri="{FF2B5EF4-FFF2-40B4-BE49-F238E27FC236}">
                <a16:creationId xmlns:a16="http://schemas.microsoft.com/office/drawing/2014/main" id="{E957714B-1B57-4D35-A1B6-C3EA8D1F5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2780" y="2511552"/>
            <a:ext cx="2981960" cy="33032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调整有据：记录取消、改期和故障的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具体原因，以实际问题决定下一轮改进，</a:t>
            </a:r>
          </a:p>
          <a:p xmlns:a="http://schemas.openxmlformats.org/drawingml/2006/main">
            <a:pPr algn="l">
              <a:def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404040"/>
                </a:solidFill>
                <a:latin typeface="Microsoft YaHei"/>
                <a:ea typeface="Microsoft YaHei"/>
                <a:cs typeface="Microsoft YaHei"/>
              </a:rPr>
              <a:t>不用页面里的示意流程冒充运行结果⁠。</a:t>
            </a:r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2026-09-12T15:25:30.7720000Z</dcterms:created>
  <dcterms:modified xsi:type="dcterms:W3CDTF">2026-09-12T15:25:30.7720000Z</dcterms:modified>
</coreProperties>
</file>