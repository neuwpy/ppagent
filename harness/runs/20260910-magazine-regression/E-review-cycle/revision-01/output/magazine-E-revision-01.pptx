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fb30e819944f5" /><Relationship Type="http://schemas.openxmlformats.org/officeDocument/2006/relationships/extended-properties" Target="/docProps/app.xml" Id="Rf290588f974747a3" /><Relationship Type="http://schemas.openxmlformats.org/officeDocument/2006/relationships/officeDocument" Target="/ppt/presentation.xml" Id="Rabacb8aa3d1a48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8ac40103e347eb"/>
  </p:sldMasterIdLst>
  <p:notesMasterIdLst>
    <p:notesMasterId xmlns:r="http://schemas.openxmlformats.org/officeDocument/2006/relationships" r:id="R0a2f891c91cb41d1"/>
  </p:notesMasterIdLst>
  <p:sldIdLst>
    <p:sldId xmlns:r="http://schemas.openxmlformats.org/officeDocument/2006/relationships" id="256" r:id="Rff78ee4d04fc413f"/>
    <p:sldId xmlns:r="http://schemas.openxmlformats.org/officeDocument/2006/relationships" id="257" r:id="Rd7a3e824157641b5"/>
    <p:sldId xmlns:r="http://schemas.openxmlformats.org/officeDocument/2006/relationships" id="258" r:id="R5346fbcc9d1b4b9f"/>
    <p:sldId xmlns:r="http://schemas.openxmlformats.org/officeDocument/2006/relationships" id="259" r:id="R12f3a79805f845af"/>
    <p:sldId xmlns:r="http://schemas.openxmlformats.org/officeDocument/2006/relationships" id="260" r:id="Rad43bf1d42a947ee"/>
    <p:sldId xmlns:r="http://schemas.openxmlformats.org/officeDocument/2006/relationships" id="261" r:id="R804f8aacede5418d"/>
    <p:sldId xmlns:r="http://schemas.openxmlformats.org/officeDocument/2006/relationships" id="262" r:id="R8d451e321cae4916"/>
    <p:sldId xmlns:r="http://schemas.openxmlformats.org/officeDocument/2006/relationships" id="263" r:id="R4982c38c293144ee"/>
    <p:sldId xmlns:r="http://schemas.openxmlformats.org/officeDocument/2006/relationships" id="264" r:id="R2b2effcf748041bc"/>
    <p:sldId xmlns:r="http://schemas.openxmlformats.org/officeDocument/2006/relationships" id="265" r:id="R0bad098955774951"/>
    <p:sldId xmlns:r="http://schemas.openxmlformats.org/officeDocument/2006/relationships" id="266" r:id="R5f989472520f4042"/>
    <p:sldId xmlns:r="http://schemas.openxmlformats.org/officeDocument/2006/relationships" id="267" r:id="Rba370a51f70b4504"/>
    <p:sldId xmlns:r="http://schemas.openxmlformats.org/officeDocument/2006/relationships" id="268" r:id="R78c6d36e421742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89e6d10c8141b9" /><Relationship Type="http://schemas.openxmlformats.org/officeDocument/2006/relationships/slideMaster" Target="/ppt/slideMasters/slideMaster1.xml" Id="Rd68ac40103e347eb" /><Relationship Type="http://schemas.openxmlformats.org/officeDocument/2006/relationships/notesMaster" Target="/ppt/notesMasters/notesMaster1.xml" Id="R0a2f891c91cb41d1" /><Relationship Type="http://schemas.openxmlformats.org/officeDocument/2006/relationships/presProps" Target="/ppt/presProps.xml" Id="Re8fcb5c2171343c8" /><Relationship Type="http://schemas.openxmlformats.org/officeDocument/2006/relationships/tableStyles" Target="/ppt/tableStyles.xml" Id="Rcae5afb7ee2040d3" /><Relationship Type="http://schemas.openxmlformats.org/officeDocument/2006/relationships/slide" Target="/ppt/slides/slide1.xml" Id="Rff78ee4d04fc413f" /><Relationship Type="http://schemas.openxmlformats.org/officeDocument/2006/relationships/slide" Target="/ppt/slides/slide2.xml" Id="Rd7a3e824157641b5" /><Relationship Type="http://schemas.openxmlformats.org/officeDocument/2006/relationships/slide" Target="/ppt/slides/slide3.xml" Id="R5346fbcc9d1b4b9f" /><Relationship Type="http://schemas.openxmlformats.org/officeDocument/2006/relationships/slide" Target="/ppt/slides/slide4.xml" Id="R12f3a79805f845af" /><Relationship Type="http://schemas.openxmlformats.org/officeDocument/2006/relationships/slide" Target="/ppt/slides/slide5.xml" Id="Rad43bf1d42a947ee" /><Relationship Type="http://schemas.openxmlformats.org/officeDocument/2006/relationships/slide" Target="/ppt/slides/slide6.xml" Id="R804f8aacede5418d" /><Relationship Type="http://schemas.openxmlformats.org/officeDocument/2006/relationships/slide" Target="/ppt/slides/slide7.xml" Id="R8d451e321cae4916" /><Relationship Type="http://schemas.openxmlformats.org/officeDocument/2006/relationships/slide" Target="/ppt/slides/slide8.xml" Id="R4982c38c293144ee" /><Relationship Type="http://schemas.openxmlformats.org/officeDocument/2006/relationships/slide" Target="/ppt/slides/slide9.xml" Id="R2b2effcf748041bc" /><Relationship Type="http://schemas.openxmlformats.org/officeDocument/2006/relationships/slide" Target="/ppt/slides/slide10.xml" Id="R0bad098955774951" /><Relationship Type="http://schemas.openxmlformats.org/officeDocument/2006/relationships/slide" Target="/ppt/slides/slide11.xml" Id="R5f989472520f4042" /><Relationship Type="http://schemas.openxmlformats.org/officeDocument/2006/relationships/slide" Target="/ppt/slides/slide12.xml" Id="Rba370a51f70b4504" /><Relationship Type="http://schemas.openxmlformats.org/officeDocument/2006/relationships/slide" Target="/ppt/slides/slide13.xml" Id="R78c6d36e421742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6181fc16854c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9d1421b69249ca" /><Relationship Type="http://schemas.openxmlformats.org/officeDocument/2006/relationships/notesMaster" Target="/ppt/notesMasters/notesMaster1.xml" Id="R0764f7a534c643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d7f4d1e03e43be" /><Relationship Type="http://schemas.openxmlformats.org/officeDocument/2006/relationships/notesMaster" Target="/ppt/notesMasters/notesMaster1.xml" Id="Rfeb5e8a02c0d46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5e76ef75824afd" /><Relationship Type="http://schemas.openxmlformats.org/officeDocument/2006/relationships/notesMaster" Target="/ppt/notesMasters/notesMaster1.xml" Id="Rafab5dfe9a0d43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ffd1a6ad6a45e5" /><Relationship Type="http://schemas.openxmlformats.org/officeDocument/2006/relationships/notesMaster" Target="/ppt/notesMasters/notesMaster1.xml" Id="R9e8ed837c9bc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fd3d36de484c28" /><Relationship Type="http://schemas.openxmlformats.org/officeDocument/2006/relationships/notesMaster" Target="/ppt/notesMasters/notesMaster1.xml" Id="Rb4838ee191d44f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75369805924431" /><Relationship Type="http://schemas.openxmlformats.org/officeDocument/2006/relationships/notesMaster" Target="/ppt/notesMasters/notesMaster1.xml" Id="R51c343b14a734e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48ee3dc0024c18" /><Relationship Type="http://schemas.openxmlformats.org/officeDocument/2006/relationships/notesMaster" Target="/ppt/notesMasters/notesMaster1.xml" Id="R501ffeea701042c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8d8f45a73747ce" /><Relationship Type="http://schemas.openxmlformats.org/officeDocument/2006/relationships/notesMaster" Target="/ppt/notesMasters/notesMaster1.xml" Id="Ra742ed9d44ec43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a5aa5d92854df4" /><Relationship Type="http://schemas.openxmlformats.org/officeDocument/2006/relationships/notesMaster" Target="/ppt/notesMasters/notesMaster1.xml" Id="Ra197539fdfe345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15710737f042e7" /><Relationship Type="http://schemas.openxmlformats.org/officeDocument/2006/relationships/notesMaster" Target="/ppt/notesMasters/notesMaster1.xml" Id="R6c275ce5d8b247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fbb7bf445f48fe" /><Relationship Type="http://schemas.openxmlformats.org/officeDocument/2006/relationships/notesMaster" Target="/ppt/notesMasters/notesMaster1.xml" Id="R82fa3660ca1d49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9622357fcb423d" /><Relationship Type="http://schemas.openxmlformats.org/officeDocument/2006/relationships/notesMaster" Target="/ppt/notesMasters/notesMaster1.xml" Id="Rf9c5f8f272fe474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d0905a192b4b91" /><Relationship Type="http://schemas.openxmlformats.org/officeDocument/2006/relationships/notesMaster" Target="/ppt/notesMasters/notesMaster1.xml" Id="Raeb57f4ef08144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2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3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4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5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6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7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8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9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10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11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12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来源：input/manuscript.md。页面 13 采用 neutral-editorial-001 / magazine，内容组来自 composition-intent.json；原生文字与形状均可独立编辑。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987856e824f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857fac05f941fc" /><Relationship Type="http://schemas.openxmlformats.org/officeDocument/2006/relationships/slideLayout" Target="/ppt/slideLayouts/slideLayout1.xml" Id="Rfe0830dfc04b48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0830dfc04b48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74a08d6fe474f" /><Relationship Type="http://schemas.openxmlformats.org/officeDocument/2006/relationships/notesSlide" Target="/ppt/notesSlides/notesSlide1.xml" Id="R93793bd0196a4b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1e17555d24fb3" /><Relationship Type="http://schemas.openxmlformats.org/officeDocument/2006/relationships/notesSlide" Target="/ppt/notesSlides/notesSlide2.xml" Id="Re6501bfbbc5844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4b3194d48414e" /><Relationship Type="http://schemas.openxmlformats.org/officeDocument/2006/relationships/notesSlide" Target="/ppt/notesSlides/notesSlide3.xml" Id="R433ebffcacf840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1738044194f80" /><Relationship Type="http://schemas.openxmlformats.org/officeDocument/2006/relationships/notesSlide" Target="/ppt/notesSlides/notesSlide4.xml" Id="R89473a92fa9d41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13247982144e3" /><Relationship Type="http://schemas.openxmlformats.org/officeDocument/2006/relationships/notesSlide" Target="/ppt/notesSlides/notesSlide5.xml" Id="R6e7056fab0424c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a7ded59014003" /><Relationship Type="http://schemas.openxmlformats.org/officeDocument/2006/relationships/notesSlide" Target="/ppt/notesSlides/notesSlide6.xml" Id="Rcb28d54b995940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3ba0d4a224b56" /><Relationship Type="http://schemas.openxmlformats.org/officeDocument/2006/relationships/notesSlide" Target="/ppt/notesSlides/notesSlide7.xml" Id="R0c8ef63db3844b5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a3ba7bdfd480c" /><Relationship Type="http://schemas.openxmlformats.org/officeDocument/2006/relationships/notesSlide" Target="/ppt/notesSlides/notesSlide8.xml" Id="R737e6283ee6f4e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f7c618cc945b1" /><Relationship Type="http://schemas.openxmlformats.org/officeDocument/2006/relationships/notesSlide" Target="/ppt/notesSlides/notesSlide9.xml" Id="Rb689bc033ba44c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c684e4ab94a2d" /><Relationship Type="http://schemas.openxmlformats.org/officeDocument/2006/relationships/notesSlide" Target="/ppt/notesSlides/notesSlide10.xml" Id="R8458c3b5732e4d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9155f7f2149a2" /><Relationship Type="http://schemas.openxmlformats.org/officeDocument/2006/relationships/notesSlide" Target="/ppt/notesSlides/notesSlide11.xml" Id="R86498add66d24f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9911069b745b5" /><Relationship Type="http://schemas.openxmlformats.org/officeDocument/2006/relationships/notesSlide" Target="/ppt/notesSlides/notesSlide12.xml" Id="R448a7ca501054a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947d8362a4a55" /><Relationship Type="http://schemas.openxmlformats.org/officeDocument/2006/relationships/notesSlide" Target="/ppt/notesSlides/notesSlide13.xml" Id="Ra3aac27638324c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C3D69-8DB6-4ECF-8B2C-9317A0DB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4000"/>
              </a:lnSpc>
              <a:buNone/>
              <a:def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把 PPT 生成</a:t>
            </a:r>
          </a:p>
          <a:p xmlns:a="http://schemas.openxmlformats.org/drawingml/2006/main">
            <a:pPr>
              <a:lnSpc>
                <a:spcPct val="104000"/>
              </a:lnSpc>
              <a:buNone/>
              <a:def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变成可靠的生产过程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3CFBA-B2E9-4AA6-997B-403D6D1E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从一份工作稿，到一套可以直接拿去讲、也可以继续修改的 PPT。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4C3F5-7E88-4D4D-8949-66CDEF78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866BF-6E39-44E6-8C92-10125845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PPagenT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6AF0C-0F8F-4A6B-A2F6-6FDCD77B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006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让可靠的表达能力可以被反复调用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43AD0-A577-4619-8856-5268BDD1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9545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3000C-19A1-46AA-8247-91888051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952625"/>
            <a:ext cx="45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5D43B-0484-4582-8D7E-1AE4C44D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52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327418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3D65C-FD0A-4051-826D-71020BFA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7CF9C-0730-49A9-9394-7BF6CEA9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做 PPT，真正昂贵的是判断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30381-0651-4FD6-A536-8FF02CCD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"/>
            <a:ext cx="7258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BAF1-D8C4-4431-8693-1C42A381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27200-5BAA-4152-9285-AEC263B8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4909185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23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做 PPT 真正贵的，不是把文本框拖到左边还是右边。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D5389-D6C9-43E8-A505-6D134EA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67050"/>
            <a:ext cx="2000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5F9DA9-C3EE-48A1-AC50-90D2B6E8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462343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真正昂贵的是一连串判断：这场汇报怎么讲，一篇长稿拆成多少页，每一页承担什么职责。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18677-D896-4635-9926-F6193542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1771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BF655-FC4A-4512-AD80-F9941D9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1809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E2724-C2E2-43F9-B102-3E569411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17811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讲什么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219B1-8B4A-472B-A47A-9CB65DA7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20574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5102E-90B5-4A9E-A3FC-9CE38C9F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2400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BC5B1-6407-47FD-818A-17AD1168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24384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AC547-ECCC-4DCF-89F1-EAA20FC7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240982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拆几页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5E7ED-D3FB-4C76-9587-9EBFAB4C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268605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41616-C8CA-4251-BD93-0D80B1C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D9E881-2205-4074-949E-7457A8C0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30670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869B5-9D25-4358-B68C-1DD755B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30384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放哪里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5A91B-4760-402C-A5BB-E31B574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331470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F0AD8-5FE7-4FF9-9E64-29E20A7A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AB50A-5421-447A-BB40-C1F4CE7D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36957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BC9B0-899F-48D9-9F94-FF091A06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366712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用什么关系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4A95C-655B-41C8-ADA4-E2DE87E4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635" y="3943350"/>
            <a:ext cx="9525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3223AA-EBA2-4F81-AF35-E1068944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9285" y="4286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B589A8-4BC5-40B3-B7B7-790F1B95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010" y="43243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DE444-D5AE-4D39-B430-B32D30B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485" y="4295775"/>
            <a:ext cx="541591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还能否修改</a:t>
            </a:r>
          </a:p>
        </p:txBody>
      </p:sp>
    </p:spTree>
    <p:extLst>
      <p:ext uri="{BB962C8B-B14F-4D97-AF65-F5344CB8AC3E}">
        <p14:creationId xmlns:p14="http://schemas.microsoft.com/office/powerpoint/2010/main" val="1889818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2F044-3A92-4387-B2C5-225A4815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75034-4327-4886-99F2-5B1C2A24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需求集中在稳定可用的中间地带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2FD32-7DFE-4427-A6E8-2990DAD7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57225"/>
            <a:ext cx="7258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0D80D-A8C3-4A70-8623-0D51790B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2EDDF-7987-4915-A1F5-5206AA74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01F1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C19CE-1D44-4FAC-ABB6-C8A9BB2C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0960" y="2171700"/>
            <a:ext cx="4450080" cy="647700"/>
          </a:xfrm>
          <a:prstGeom xmlns:a="http://schemas.openxmlformats.org/drawingml/2006/main" prst="roundRect">
            <a:avLst>
              <a:gd name="adj" fmla="val 10294"/>
            </a:avLst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15F4C-963D-47C3-87A3-95D13AE3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0510" y="2314575"/>
            <a:ext cx="403098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工作型 PPT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A52CC-6187-4427-99D2-6F7975E0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87046-5775-4A4B-85EC-769BF3FC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54E08-B40B-46C5-B46E-DFAAD3C0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201F1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75238-89E1-4E96-AB7B-0558406D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版式几乎不重要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AC4E5C-21D1-415D-AC37-3C7610C8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高度定制的视觉创意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9B5FD-0850-40A8-A223-407228C7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更多需求位于两端之间：不能乱，不能丑，不能掉价，生成后还要能继续修改。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80A15-A063-439A-993C-36AF903D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290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低版式需求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02CFE-40A9-4600-8610-07966AA2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00550"/>
            <a:ext cx="54673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只要把文字放上去，版面不是主要决策。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47E1B-79B8-417B-A3F5-83787409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29075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高度定制需求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813A5C-F694-4BC6-958D-954759A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54673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发布会、品牌路演和高水平比赛，需要独特的视觉创意。</a:t>
            </a:r>
          </a:p>
        </p:txBody>
      </p:sp>
    </p:spTree>
    <p:extLst>
      <p:ext uri="{BB962C8B-B14F-4D97-AF65-F5344CB8AC3E}">
        <p14:creationId xmlns:p14="http://schemas.microsoft.com/office/powerpoint/2010/main" val="15601151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D8C470-5BFB-4658-971F-C4D9519E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1AF0E-EF2D-4A57-B3AD-191F9EC5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可靠度 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D2154-520E-4372-839D-32F656FF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7225"/>
            <a:ext cx="94011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4DC54-0322-4E1C-81C3-BAD36C79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B45BF-B723-41BB-BE26-EF0D8FD5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61498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R = P(Q ≥ Q可用 |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目标工作场景)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5CD79-BD9A-4AF5-9A23-59A2779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5386388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PPagenT 想提高的，不是一份 PPT 偶尔能有多漂亮，而是随机工作稿跨过可用标准的概率。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4E6745-7BAE-4AF1-BFFA-830490BC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542448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BAAE2-E72F-4760-8124-13025882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稳定的可用状态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9F1B4-8082-4E7E-8696-0E829CCB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5272088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直接使用不失专业，继续修改有可靠基础。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E1D93-0791-4B10-BE18-9E701952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1619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48777-C6C6-48A8-B9B9-D917FB87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8463" y="1714500"/>
            <a:ext cx="22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225F8-3D56-4B15-9426-4A0F1DB3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7588" y="1638300"/>
            <a:ext cx="429101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概念示意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AE55A9-BAC0-4918-8174-A3CB2882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2571750"/>
            <a:ext cx="49006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稳定跨过可用线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653DA-EAC0-429C-AE88-FF2AC400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3124200"/>
            <a:ext cx="4900613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“80 分”与“95 分”只是对可用状态与偶然高峰的形象称呼，不是实测数据。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FD09B-AEE7-4270-B2FD-842AF723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4343400"/>
            <a:ext cx="490061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C2A050-55B1-4209-AF8E-040A3F9E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538" y="4629150"/>
            <a:ext cx="4900613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稳定达到可用标准，比偶尔出现更高峰值更有价值。</a:t>
            </a:r>
          </a:p>
        </p:txBody>
      </p:sp>
    </p:spTree>
    <p:extLst>
      <p:ext uri="{BB962C8B-B14F-4D97-AF65-F5344CB8AC3E}">
        <p14:creationId xmlns:p14="http://schemas.microsoft.com/office/powerpoint/2010/main" val="17943146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D8297-4284-41BC-B5FB-783FBBF1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48C54-9C88-432A-9F6C-25DD2CA4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用限制自由换取可靠性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F612F-F37C-49D1-B368-3F26581B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57225"/>
            <a:ext cx="821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A5FE5-1660-412C-931A-91093117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778AB-1CC5-4511-A5D7-3F40E609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自由度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B2D22-BA69-41A2-9D98-71FBEE10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81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可预测性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7A8C1-BDBD-44C1-9F9D-943251B7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10496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6B227-3FDA-4E4A-B389-88BFA3DB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609850"/>
            <a:ext cx="9144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4A2D70-871C-445B-B9F5-F83E5E9F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限制颜色、结构、容量与退化方式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F88BC-1591-4AFD-A877-79B1C34A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0744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自由度越高，状态空间越大，失败模式也越多。正式工作更需要可预测。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28437-417E-40DE-8046-95E6288B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A0D30A-CC13-431B-AB6F-1821D12E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337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EA2CB-CAFC-49FC-A1D6-64142A1D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1022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固定，往往意味着验证过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DF70C-6B38-4606-AE15-DECA0D25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0100"/>
            <a:ext cx="1022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学校有学校的样子，企业有企业的样子，一个团队也有长期形成的表达方式。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7F23B-C7A7-4367-9A8B-833E1148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14975"/>
            <a:ext cx="1007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53A0E2-37BF-4D63-AB98-E5B50B91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10210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把已经证明好用的部分留下来，减少每次交付落到不可用区间的机会。</a:t>
            </a:r>
          </a:p>
        </p:txBody>
      </p:sp>
    </p:spTree>
    <p:extLst>
      <p:ext uri="{BB962C8B-B14F-4D97-AF65-F5344CB8AC3E}">
        <p14:creationId xmlns:p14="http://schemas.microsoft.com/office/powerpoint/2010/main" val="18980445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B612D7-2572-4CDD-89ED-9406FF98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6CB80-DDD0-42A9-88F6-5BD5BA4E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AI 是控制器，不是画师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E7028-DFA0-464E-B9A4-2BEEDB3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F43B3-0DE8-4685-87E4-F6DA0603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5693D-3F3D-44EC-A51D-EAACA18B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712210" cy="4191000"/>
          </a:xfrm>
          <a:prstGeom xmlns:a="http://schemas.openxmlformats.org/drawingml/2006/main" prst="roundRect">
            <a:avLst>
              <a:gd name="adj" fmla="val 2309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21A18-4F58-44DF-85D5-D3B87DB6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6B92D-B2C4-4188-A0AE-1ED6A36D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62225"/>
            <a:ext cx="325501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理解稿件、组织叙事、拆页，明确每一页的职责。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433B8-DA12-41B5-892A-B1DFC1F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325501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F9179-59E5-4015-BD84-50F19AAF9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E37A0-F57C-4395-A7DD-0DFD6E46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25501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判断每页适合怎样表达，从已确认的能力中选择结构。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376FC-A61B-41DC-B0A5-E9FEE549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2310" y="1828800"/>
            <a:ext cx="3712210" cy="4191000"/>
          </a:xfrm>
          <a:prstGeom xmlns:a="http://schemas.openxmlformats.org/drawingml/2006/main" prst="roundRect">
            <a:avLst>
              <a:gd name="adj" fmla="val 2309"/>
            </a:avLst>
          </a:prstGeom>
          <a:solidFill xmlns:a="http://schemas.openxmlformats.org/drawingml/2006/main">
            <a:srgbClr val="DDD9CE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583C4-8A89-4B72-B5FD-74B5DC85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220980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FAC17-C5F1-4AB8-8D80-780F86E0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2628900"/>
            <a:ext cx="325501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约束颜色、字号、容量和合法选择。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BC70C-FA8F-4EAC-A3A6-6E5A6518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3333750"/>
            <a:ext cx="325501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DF7B94-7786-49F6-B454-C9BB427B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3829050"/>
            <a:ext cx="325501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904FC-A066-4696-B4C6-A05FDE10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910" y="4248150"/>
            <a:ext cx="325501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把决策稳定地编译成原生对象。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8AEEE-EBEF-4F07-A8F9-FD6C7EB0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0770" y="1600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392ED-C7F7-473F-BD78-6D384A53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545" y="1809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PPTX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9282F7-C230-4310-AF02-546E4DDE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20" y="2438400"/>
            <a:ext cx="30911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原生可编辑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BDAEF5-DDA2-41CB-B1DD-5879F7A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320" y="2895600"/>
            <a:ext cx="307213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不是截图，不是整页图片，也不是难以修改的网页替代品。</a:t>
            </a:r>
          </a:p>
        </p:txBody>
      </p:sp>
    </p:spTree>
    <p:extLst>
      <p:ext uri="{BB962C8B-B14F-4D97-AF65-F5344CB8AC3E}">
        <p14:creationId xmlns:p14="http://schemas.microsoft.com/office/powerpoint/2010/main" val="2094403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F5BC9-6292-4B36-B1C4-520C101B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4E277-304F-4491-AAEF-39372EDA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内容与视觉共同完成一页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1B4B6-D19D-4E52-9C07-0E0C4FD3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657225"/>
            <a:ext cx="79724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A9E5C-6BBC-448E-A828-9D884753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69C6B-3B96-47B5-8EA2-7D9BC710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D9789D-BA3E-452A-8105-E69C91AB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67737-2DA8-413B-96B1-2478EFFE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430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86BB4-C0C2-4210-A164-E1F647FE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288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负责论证、页面职责、提炼、来源与语义约束。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6C43E-8426-43CD-A22D-B41C315B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57525"/>
            <a:ext cx="457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91BD3-9701-46A1-AE31-8F54240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956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回答：这页让读者理解什么？证据和条件是什么？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E40D3-9179-4BC1-B8EF-12293FB8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37B40-67F0-4932-9009-C19B07E5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5811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295C0-40B1-4FFB-80C2-9C5A1ACE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5430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E75582-1F22-4288-92FA-45A6B1B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28825"/>
            <a:ext cx="4591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负责区域、媒介、阅读关系与容量反馈。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9B38F-982F-4811-994B-527AF40E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57525"/>
            <a:ext cx="4572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F6935-934B-4665-93A9-C345AF1B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95650"/>
            <a:ext cx="4610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回答：哪些内容放哪里？用什么表达？是否放得下？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725C5-DC61-4CEE-AE13-362872F0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111252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8E84BB-7E9D-47FE-9471-C509E9A2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共同形成初模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0FD0A-EFB5-4F0E-B78C-4B8782E0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页面职责＋提炼后的实文＋宏观区域和阅读关系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C434C7-365C-4510-B494-F931BB49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67325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82E5F-284D-4B76-B010-B6663B3D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内容与空间在同一轮策划中共同调整。</a:t>
            </a:r>
          </a:p>
        </p:txBody>
      </p:sp>
    </p:spTree>
    <p:extLst>
      <p:ext uri="{BB962C8B-B14F-4D97-AF65-F5344CB8AC3E}">
        <p14:creationId xmlns:p14="http://schemas.microsoft.com/office/powerpoint/2010/main" val="20155824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4768D9-65F4-4B01-B5A8-A6B922AF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5C806-8728-43FE-A314-01A106EF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两条路线，一个核心资产库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3A0B1-BD69-4228-ADB6-E65537AD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2F238-3FF4-400B-A8B1-D140451E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F62D1-2BDB-4E21-A393-829DB18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546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资产入库线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CA79B-7545-480E-81C2-0B395AA3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02C96-E66C-4368-B0DD-A809EE7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1149C-5652-4547-B968-998266C0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4C093-58C1-4236-A328-F7F7DB43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193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优秀参考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9C0A2-1940-4BCA-8885-7068E9E3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772FD0-AEBC-445F-8DA2-E27800BD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48EFD-5681-4314-BB5E-378B1385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908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05934-4BE0-4184-AA38-C2E25E8E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622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提炼规律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1376D-B409-4CE5-9CC6-ECBE7CBD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9525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9B36E-6367-44EE-915B-80A6FE77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88CB5-054D-48B8-BF4A-8A63C560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22FC2-5A73-48E6-B84A-C09ED89C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9051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扩展能力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3EC8B-746E-4804-9314-8FD4FE98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1FB69-A60F-4116-B9F0-2AE4DE3C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DA44C-F9C6-4B13-96D9-D291717D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480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用户确认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731FA-0D4B-49A6-92D8-8E3495C3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46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正式生成线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80DF8-2B36-464E-B3FF-79885B2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CE57F-A2DC-4A4A-B807-59952BE9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17DD3-B0CC-48F1-96B9-59373D14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907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8FA46C-92E1-46DD-83E0-2251575F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1621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原始稿件＋主题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31769-736F-403C-B5D9-7EB0A3B0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5FC2CC-D84C-453A-B618-7957BBF7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344104-38FE-401C-8DD5-58789964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146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A2CA3E-0617-4169-A3C5-D773320C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860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AI 理解与编排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EF8D80-8F96-4F5E-ADFF-D14441E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9265A8-9817-4041-890A-FA6E607C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0F4CD0-B174-4F9F-AF06-D30D0E0E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384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87A88A-B2AF-4A6B-93C6-601AA01E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8098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从核心库选择合法能力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D7CA46-A5DB-4999-BD04-9BDEE093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952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D0C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7B5EC3-ACA7-4155-BAA1-42C88420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8E231D-8116-4E49-8F39-49005911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16230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8B4D46-CE2B-40FA-AC17-9BBB4D94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3372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确定性排版与编译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BF0413-B43F-4A7D-913C-95CAFD42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9EC91A-FC16-469F-9FF8-6D53E093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86150"/>
            <a:ext cx="114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C4B27F-F14A-4142-AF5A-F168D7ED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原生可编辑 PPTX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334BE2-796B-4227-8E9F-A3A4179C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90975"/>
            <a:ext cx="111252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389C0D-88D6-4BAE-AB0F-A23F1296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核心资产库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32B5CB-E5A0-4D75-8046-C32295FB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201F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201F1D"/>
                </a:solidFill>
                <a:latin typeface="Noto Sans SC"/>
                <a:ea typeface="Noto Sans SC"/>
                <a:cs typeface="Noto Sans SC"/>
              </a:rPr>
              <a:t>两条路线唯一的交汇点：正式生成只读调用已经确认的能力。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C4CBAC-81F7-422E-81F5-69714990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8157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没有合适结构 → 简单排版 / 拆页 → 确定性排版与编译</a:t>
            </a:r>
          </a:p>
        </p:txBody>
      </p:sp>
    </p:spTree>
    <p:extLst>
      <p:ext uri="{BB962C8B-B14F-4D97-AF65-F5344CB8AC3E}">
        <p14:creationId xmlns:p14="http://schemas.microsoft.com/office/powerpoint/2010/main" val="2124331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351493-2688-4518-B233-034D4B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D8789-59A6-4672-B954-A62968F7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把昂贵的计算前移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F0BEA-D9FD-478F-8B68-A91C1966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57225"/>
            <a:ext cx="868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12B40-532C-4943-9838-BB4D648A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E731D-553A-4282-984B-E2DC66DF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38325"/>
            <a:ext cx="3348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运行时重新支付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91D78-1908-468F-B956-92B3F602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32346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理解一次、设计一次、绘制一次。计算、审美判断和失败风险都集中在交付现场。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A5681-D0F2-45B0-98C6-20CC5876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323469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5F2B9-9938-40E0-9B79-0EA5BC3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323469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成本与不确定性在线上累积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53101-0696-4332-8338-F722C603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1390650"/>
            <a:ext cx="389382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C19B2-F735-4759-8FDC-5353E3A8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1990725"/>
            <a:ext cx="347472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建设期前移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21CEF-29CA-4220-9C9E-50EDE5EB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24955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AD721-EAF4-4C3F-BCA8-6349A56A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249555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筛选优秀页面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DD440-94E9-4517-A1CE-AFB1A07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3009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4D5E8-ACC9-47D3-9044-9C9C43C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300990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理解规律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B2AA7-1E21-436E-B060-A3C8521D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3524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7039D-40EF-4D13-B0CA-DD137EFB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352425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内容参数化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18C4B8-5CE8-47AF-B88D-888FFEF7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690" y="40386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E743F-26CC-4D0F-911B-32ECF146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4038600"/>
            <a:ext cx="303657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验证边界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241CC-9E23-481F-937A-4F66D91E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8640" y="5067300"/>
            <a:ext cx="347472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一次建设，多次调用。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视觉理解从在线成本变成离线资产。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F16B1-F1EA-4586-927D-FA44985E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1838325"/>
            <a:ext cx="33489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轻量地调用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08384-00E1-4712-96CA-9DA617E4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2362200"/>
            <a:ext cx="323469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模型主要执行理解、选择和填参；确定性代码完成重复绘制与检查。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574F9-5FC8-4A69-BC5D-D27963D5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610" y="3981450"/>
            <a:ext cx="323469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一次建设，多次复用</a:t>
            </a:r>
          </a:p>
        </p:txBody>
      </p:sp>
    </p:spTree>
    <p:extLst>
      <p:ext uri="{BB962C8B-B14F-4D97-AF65-F5344CB8AC3E}">
        <p14:creationId xmlns:p14="http://schemas.microsoft.com/office/powerpoint/2010/main" val="18494102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D263A2-4001-49A2-A07F-D0DCE58A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70699-516F-49DA-8F0D-ED09C7FE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真正积累的是表达经验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4660D-E4A3-466C-94AC-465C6885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657225"/>
            <a:ext cx="821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B451F-CC92-46DE-9B36-97B67725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F0031-1AE2-4E88-9459-27C4EE94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635793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一个能力包，记录四类经验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D5590-64A9-489A-BDD6-041FC150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AE7F1E-0744-4778-94B1-C032BFF4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什么内容适合怎样表达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FA7BC-0AF9-419C-9FFA-DDDF66C6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336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71FE3-704C-42E2-9295-AE7CF8D9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96D67-22D2-4E4E-8C9D-3B5EB704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一个版式能处理多少内容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73D3B-E187-4345-9FC9-F6EBD199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432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13B1E-9198-4B0C-9AC4-FAB71054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4A33A-61F1-4EB6-A2D0-2840DB49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数量变化时怎样重排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4923B1-3B0D-4CCA-AAC8-AF6CE2FB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514853-D05C-4753-8C78-118CB547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B7965-7C36-4CED-8542-8E6BA61B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57864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超过边界时怎样退化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7CA53-8452-4811-AA75-A1393F87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62475"/>
            <a:ext cx="5710238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EE621-4F35-4E98-A8D0-8070B5D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15621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2AE871-0691-4219-98EC-CA26D975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213" y="16383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32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rPr>
              <a:t>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A362C-CEC2-4FF3-A68C-E365A37E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1581150"/>
            <a:ext cx="3662363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84827A"/>
                </a:solidFill>
                <a:latin typeface="Noto Serif SC"/>
                <a:ea typeface="Noto Serif SC"/>
                <a:cs typeface="Noto Serif SC"/>
              </a:rPr>
              <a:t>模板越多，壁垒越高？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76AE4-E744-4C4E-AAE8-399620FD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152650"/>
            <a:ext cx="3509963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5BA6D9-0EEF-4210-999B-AB33C3F9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6238" y="2476500"/>
            <a:ext cx="3548063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真正的壁垒是：能否把新内容路由到正确能力，并稳定生成符合规范、原生可编辑的结果。</a:t>
            </a:r>
          </a:p>
        </p:txBody>
      </p:sp>
    </p:spTree>
    <p:extLst>
      <p:ext uri="{BB962C8B-B14F-4D97-AF65-F5344CB8AC3E}">
        <p14:creationId xmlns:p14="http://schemas.microsoft.com/office/powerpoint/2010/main" val="188660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16DB60-A989-4524-B662-35E6850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CCCC7-E713-4334-A131-1CE8C861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从一个学校，走向更多组织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C83E1-EB6F-4F28-8031-D6FECA36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57225"/>
            <a:ext cx="773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8C297-5411-4BD9-AF02-0DAC524E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2DE02-9999-454E-9D5E-B6EA9000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主题可以替换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6D9AB-053D-4130-944F-535CA5FA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颜色、Logo、字体、页眉页脚，属于一个组织的身份。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D9C8C4-4080-481D-B903-445B612B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37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F5EF7A-1A5F-478D-83CD-C9595FA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7187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学校、企业、实验室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2E7F8-CA61-44DA-9412-F9E3741B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能力可以复用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A0EB89-9F6E-47E6-A368-FAC97A98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内容理解规则和表达能力跨组织继续工作，主题只负责换一套身份。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0BFB6-DDD4-40EE-9CFB-EC0ED2D9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372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01CA3-3523-426D-A270-03BFA33B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共享方法，替换主题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A8CF8-5065-43E9-B191-2511CB82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0025"/>
            <a:ext cx="1112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AE4BB-9461-4120-B151-6B6AF2E0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更多组织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C48E8-2ADA-48B3-819B-73C07399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72025"/>
            <a:ext cx="10706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不用要求每个人都成为设计师，也能让日常输出稳定达到基本标准。</a:t>
            </a:r>
          </a:p>
        </p:txBody>
      </p:sp>
    </p:spTree>
    <p:extLst>
      <p:ext uri="{BB962C8B-B14F-4D97-AF65-F5344CB8AC3E}">
        <p14:creationId xmlns:p14="http://schemas.microsoft.com/office/powerpoint/2010/main" val="11705498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591E8B-EA11-4F7B-9CC0-51E327E1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4D512-0ECE-4854-8A3A-2A4B6FD2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可靠交付是一条持续校准的生产过程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B331D-EA74-4C39-815F-32B1FA68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57225"/>
            <a:ext cx="6781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58C30-7ECF-4F5E-8AA7-BA9558B5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A7260-6697-4E1A-AF97-D75B6229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85442-F749-433F-91E1-B80B7627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AD24A-D0CE-4851-8A32-9805778D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D7958-D316-4808-885E-D735CCAE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A6834-5C15-4359-8223-9A0FBAA9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读懂稿件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A6CF6F-E4A4-4CB3-847B-12FB6531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432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429FD-662E-40EA-AEE8-314AD635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201FA-B322-4E3C-8173-3713274C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5A9F5-FF3F-40EA-9FD3-E4E2C9AD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编排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1F85A-8668-4E76-B54E-4CB57FDF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决定页面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E629B-C393-4010-A25B-2CF1243F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432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AA40D-F675-4771-A5A6-DB8FB389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C088C-9A6E-4C9D-98D9-4BF0EEC5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82522-88DD-46E0-8FD6-CB5E9B9E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构建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D392D-4842-4CB6-93BD-E1AD7F51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生成对象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2A37B-2A9F-4154-A427-182E9173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5429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47B3AC-B9D2-453B-961E-B5E835B9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68FDF-6CFC-4A58-8A69-E14A4892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BFAF7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363BD-E7AD-4B87-82A0-66A74DB5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FBFAF7"/>
                </a:solidFill>
                <a:latin typeface="Noto Serif SC"/>
                <a:ea typeface="Noto Serif SC"/>
                <a:cs typeface="Noto Serif SC"/>
              </a:rPr>
              <a:t>审查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0C865-52ED-43A6-9F1C-33B4C4A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看实际渲染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B830AC-11DE-4487-816A-E4AB5DA8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337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0EAC62-0EB7-4C45-AC8E-2C190180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289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A5479-A6D2-4BC8-8E47-B8B0868B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2575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修正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2EE79B-4D64-442D-B7C5-D743586E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933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回到上游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536A69-3DEF-40AB-95CB-98524AE5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598170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EEECE4"/>
          </a:solidFill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F1F144-4BD2-46F0-BD9B-E21CCB97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62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修正 ↩ 回到理解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8C4CF9-C7EF-451C-B7CB-9459A341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50532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方向：理解 → 编排 → 构建 → 审查 → 修正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DF03C9-9730-457C-9CD6-095DC80A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24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340E2-EF13-4380-A1D7-FDC12CC6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240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原稿与来源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FBBB64-2D8C-4794-9836-83A5571B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BD2405-26B0-4752-A8D2-8C628A6C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52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10FFB8-DE3C-48EC-A090-9D83601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527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规则与 Skin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48F2DC-CB42-462E-B59D-D7CB39AC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1465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D89096-F3F8-4912-AECF-88317918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813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FB91B2-6399-4E13-9DE5-B3FDB23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8135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已确认能力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27B395-C4BC-4672-8F48-E968ECB3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6DB7E0-C35C-4D54-8682-80AFDD3E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00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1D5E75-EC9A-4B9E-B42D-63A1A2E6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实际审查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766183-7CDE-41AF-AB23-B18E355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71950"/>
            <a:ext cx="4076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5B1247-6AEC-4D53-9E93-7B82B594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624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持续校准，让一次生成成为可靠的生产过程。</a:t>
            </a:r>
          </a:p>
        </p:txBody>
      </p:sp>
    </p:spTree>
    <p:extLst>
      <p:ext uri="{BB962C8B-B14F-4D97-AF65-F5344CB8AC3E}">
        <p14:creationId xmlns:p14="http://schemas.microsoft.com/office/powerpoint/2010/main" val="1839909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ACFA7-398B-422B-B657-94204C39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99DC00-5EA1-4E04-B06D-E0ED8620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可预测的交付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E545F-3366-4DB4-BC89-A1296BA2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657225"/>
            <a:ext cx="9163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C3985-3A1E-40EA-B1F6-2005F9EE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9290A-3624-4416-8977-AAC6F4DB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752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它卖的不是一次偶然惊艳，</a:t>
            </a:r>
          </a:p>
          <a:p xmlns:a="http://schemas.openxmlformats.org/drawingml/2006/main">
            <a:pPr>
              <a:lnSpc>
                <a:spcPct val="107000"/>
              </a:lnSpc>
              <a:buNone/>
              <a:def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而是可预测的交付。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4B427-522D-43FE-9560-F4989FC2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62375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A95B2A-AA67-4354-A4B8-0418B975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不一定独一无二，但真的好用；可以立刻拿去讲，也可以继续修改。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6F8D1-DA87-4213-B11C-16A3FAAE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81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PPagenT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C6117-DC00-416D-A4A6-B98D7AE5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43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从一份工作稿，到一套可靠的 PPT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90738-B27D-4474-A5D6-FBD5ED9E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193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0C9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93EC2E-CFF7-4211-923B-A604029B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714625"/>
            <a:ext cx="38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473455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2026-09-10T20:02:39.3100000Z</dcterms:created>
  <dcterms:modified xsi:type="dcterms:W3CDTF">2026-09-10T20:02:39.3110000Z</dcterms:modified>
</coreProperties>
</file>