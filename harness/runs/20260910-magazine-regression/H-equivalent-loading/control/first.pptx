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cbc6b5414e4744" /><Relationship Type="http://schemas.openxmlformats.org/officeDocument/2006/relationships/extended-properties" Target="/docProps/app.xml" Id="R6efc27d0ba0045b6" /><Relationship Type="http://schemas.openxmlformats.org/officeDocument/2006/relationships/officeDocument" Target="/ppt/presentation.xml" Id="R676acff58a8946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57163ed23744d1"/>
  </p:sldMasterIdLst>
  <p:notesMasterIdLst>
    <p:notesMasterId xmlns:r="http://schemas.openxmlformats.org/officeDocument/2006/relationships" r:id="Rda2917c6e7d243ca"/>
  </p:notesMasterIdLst>
  <p:sldIdLst>
    <p:sldId xmlns:r="http://schemas.openxmlformats.org/officeDocument/2006/relationships" id="256" r:id="R4dc68720a9e74e4b"/>
    <p:sldId xmlns:r="http://schemas.openxmlformats.org/officeDocument/2006/relationships" id="257" r:id="R6aeb6357797e4230"/>
    <p:sldId xmlns:r="http://schemas.openxmlformats.org/officeDocument/2006/relationships" id="258" r:id="Re9420ab9b44d41cd"/>
    <p:sldId xmlns:r="http://schemas.openxmlformats.org/officeDocument/2006/relationships" id="259" r:id="Rf52e9e0dfe364d36"/>
    <p:sldId xmlns:r="http://schemas.openxmlformats.org/officeDocument/2006/relationships" id="260" r:id="R450befb907c24533"/>
    <p:sldId xmlns:r="http://schemas.openxmlformats.org/officeDocument/2006/relationships" id="261" r:id="Re3fb5709507b4ac2"/>
    <p:sldId xmlns:r="http://schemas.openxmlformats.org/officeDocument/2006/relationships" id="262" r:id="Rd7a6dc108ef34545"/>
    <p:sldId xmlns:r="http://schemas.openxmlformats.org/officeDocument/2006/relationships" id="263" r:id="R663ef3e49f1c4c67"/>
    <p:sldId xmlns:r="http://schemas.openxmlformats.org/officeDocument/2006/relationships" id="264" r:id="Rab9a688b06b040b9"/>
    <p:sldId xmlns:r="http://schemas.openxmlformats.org/officeDocument/2006/relationships" id="265" r:id="R523dd10b45154075"/>
    <p:sldId xmlns:r="http://schemas.openxmlformats.org/officeDocument/2006/relationships" id="266" r:id="R3f6fe21bdde44c6f"/>
    <p:sldId xmlns:r="http://schemas.openxmlformats.org/officeDocument/2006/relationships" id="267" r:id="R63d791fd110441ca"/>
    <p:sldId xmlns:r="http://schemas.openxmlformats.org/officeDocument/2006/relationships" id="268" r:id="Re5859278b99248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e61dcc9c3140b9" /><Relationship Type="http://schemas.openxmlformats.org/officeDocument/2006/relationships/slideMaster" Target="/ppt/slideMasters/slideMaster1.xml" Id="R1457163ed23744d1" /><Relationship Type="http://schemas.openxmlformats.org/officeDocument/2006/relationships/notesMaster" Target="/ppt/notesMasters/notesMaster1.xml" Id="Rda2917c6e7d243ca" /><Relationship Type="http://schemas.openxmlformats.org/officeDocument/2006/relationships/presProps" Target="/ppt/presProps.xml" Id="Rf917ae988e8f4b88" /><Relationship Type="http://schemas.openxmlformats.org/officeDocument/2006/relationships/tableStyles" Target="/ppt/tableStyles.xml" Id="R93e69780d7664e4b" /><Relationship Type="http://schemas.openxmlformats.org/officeDocument/2006/relationships/slide" Target="/ppt/slides/slide1.xml" Id="R4dc68720a9e74e4b" /><Relationship Type="http://schemas.openxmlformats.org/officeDocument/2006/relationships/slide" Target="/ppt/slides/slide2.xml" Id="R6aeb6357797e4230" /><Relationship Type="http://schemas.openxmlformats.org/officeDocument/2006/relationships/slide" Target="/ppt/slides/slide3.xml" Id="Re9420ab9b44d41cd" /><Relationship Type="http://schemas.openxmlformats.org/officeDocument/2006/relationships/slide" Target="/ppt/slides/slide4.xml" Id="Rf52e9e0dfe364d36" /><Relationship Type="http://schemas.openxmlformats.org/officeDocument/2006/relationships/slide" Target="/ppt/slides/slide5.xml" Id="R450befb907c24533" /><Relationship Type="http://schemas.openxmlformats.org/officeDocument/2006/relationships/slide" Target="/ppt/slides/slide6.xml" Id="Re3fb5709507b4ac2" /><Relationship Type="http://schemas.openxmlformats.org/officeDocument/2006/relationships/slide" Target="/ppt/slides/slide7.xml" Id="Rd7a6dc108ef34545" /><Relationship Type="http://schemas.openxmlformats.org/officeDocument/2006/relationships/slide" Target="/ppt/slides/slide8.xml" Id="R663ef3e49f1c4c67" /><Relationship Type="http://schemas.openxmlformats.org/officeDocument/2006/relationships/slide" Target="/ppt/slides/slide9.xml" Id="Rab9a688b06b040b9" /><Relationship Type="http://schemas.openxmlformats.org/officeDocument/2006/relationships/slide" Target="/ppt/slides/slide10.xml" Id="R523dd10b45154075" /><Relationship Type="http://schemas.openxmlformats.org/officeDocument/2006/relationships/slide" Target="/ppt/slides/slide11.xml" Id="R3f6fe21bdde44c6f" /><Relationship Type="http://schemas.openxmlformats.org/officeDocument/2006/relationships/slide" Target="/ppt/slides/slide12.xml" Id="R63d791fd110441ca" /><Relationship Type="http://schemas.openxmlformats.org/officeDocument/2006/relationships/slide" Target="/ppt/slides/slide13.xml" Id="Re5859278b99248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7fb78ecb749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dfecb3d4ae441b" /><Relationship Type="http://schemas.openxmlformats.org/officeDocument/2006/relationships/notesMaster" Target="/ppt/notesMasters/notesMaster1.xml" Id="R301a8e97c54d4c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398e7474b64588" /><Relationship Type="http://schemas.openxmlformats.org/officeDocument/2006/relationships/notesMaster" Target="/ppt/notesMasters/notesMaster1.xml" Id="Rbce4876749764b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e8264c52d94b3c" /><Relationship Type="http://schemas.openxmlformats.org/officeDocument/2006/relationships/notesMaster" Target="/ppt/notesMasters/notesMaster1.xml" Id="R3c2015e246e047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563a1bd769463d" /><Relationship Type="http://schemas.openxmlformats.org/officeDocument/2006/relationships/notesMaster" Target="/ppt/notesMasters/notesMaster1.xml" Id="R582b53ce6c7f4b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9878f25b724ebd" /><Relationship Type="http://schemas.openxmlformats.org/officeDocument/2006/relationships/notesMaster" Target="/ppt/notesMasters/notesMaster1.xml" Id="Re767c2d3843948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3de533c9e242fd" /><Relationship Type="http://schemas.openxmlformats.org/officeDocument/2006/relationships/notesMaster" Target="/ppt/notesMasters/notesMaster1.xml" Id="Rb3367a7d77494b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b4d4d09a1c423b" /><Relationship Type="http://schemas.openxmlformats.org/officeDocument/2006/relationships/notesMaster" Target="/ppt/notesMasters/notesMaster1.xml" Id="R108427d9416c45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39b0987a034020" /><Relationship Type="http://schemas.openxmlformats.org/officeDocument/2006/relationships/notesMaster" Target="/ppt/notesMasters/notesMaster1.xml" Id="Rc74f0991c91a48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aba1cd65e84b87" /><Relationship Type="http://schemas.openxmlformats.org/officeDocument/2006/relationships/notesMaster" Target="/ppt/notesMasters/notesMaster1.xml" Id="Rf9e230d9cf054e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54573cee724920" /><Relationship Type="http://schemas.openxmlformats.org/officeDocument/2006/relationships/notesMaster" Target="/ppt/notesMasters/notesMaster1.xml" Id="R5cac4f84c66f40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334d2f549f4064" /><Relationship Type="http://schemas.openxmlformats.org/officeDocument/2006/relationships/notesMaster" Target="/ppt/notesMasters/notesMaster1.xml" Id="R63ad43ee7f6f4f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628987909d4749" /><Relationship Type="http://schemas.openxmlformats.org/officeDocument/2006/relationships/notesMaster" Target="/ppt/notesMasters/notesMaster1.xml" Id="R10ee09bc11814a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edff4408e14ef6" /><Relationship Type="http://schemas.openxmlformats.org/officeDocument/2006/relationships/notesMaster" Target="/ppt/notesMasters/notesMaster1.xml" Id="Rfd07179e694647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封面根据输入稿件制作，未添加外部事实。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目录依据稿件章节归属建立，章节编号沿用到正文页。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本页将稿件中“昂贵的判断”拆成四类，保留其论证顺序。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需求两端与中间工作型场景来自稿件原文。中间圆点表示目标场景，不是市场测量。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公式与“80 分”均按稿件中的概念表达保留。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本页用左右对比解释限制自由的产品取舍，未添加新事实。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页面关系图保留内容导演、视觉导演、确定性代码三者职责。连接线只连接节点。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架构关系按稿件 Mermaid 图重绘为原生可编辑形状，保留入库线、生成线与唯一交汇点。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本页把稿件中的“建设期 / 正式生成阶段”流程做成三段可编辑关系图。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本页保留稿件列出的四项壁垒，使用平面双栏对比表达模板与能力的差异。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组织扩展关系仅使用稿件列举的学校、科研院所、实验室、企业与团队，不添加市场判断。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收束页保留稿件的三句动作表达，未加入产品外信息。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结尾引用直接来自稿件末段，保持概念性表述。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df8538c684c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54fab37ece4325" /><Relationship Type="http://schemas.openxmlformats.org/officeDocument/2006/relationships/slideLayout" Target="/ppt/slideLayouts/slideLayout1.xml" Id="Rf057f97adaa442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7f97adaa442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cd4e471524213" /><Relationship Type="http://schemas.openxmlformats.org/officeDocument/2006/relationships/notesSlide" Target="/ppt/notesSlides/notesSlide1.xml" Id="R7d53399f7163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2a85fe396432f" /><Relationship Type="http://schemas.openxmlformats.org/officeDocument/2006/relationships/notesSlide" Target="/ppt/notesSlides/notesSlide2.xml" Id="R0055aa84540a47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15864329b4897" /><Relationship Type="http://schemas.openxmlformats.org/officeDocument/2006/relationships/notesSlide" Target="/ppt/notesSlides/notesSlide3.xml" Id="R8f8680c8a78045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6e2e567e94eb5" /><Relationship Type="http://schemas.openxmlformats.org/officeDocument/2006/relationships/notesSlide" Target="/ppt/notesSlides/notesSlide4.xml" Id="R0ffbb05d921445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638dd54d04fe4" /><Relationship Type="http://schemas.openxmlformats.org/officeDocument/2006/relationships/notesSlide" Target="/ppt/notesSlides/notesSlide5.xml" Id="Rd2363f0da10042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2b7d8b00e43ab" /><Relationship Type="http://schemas.openxmlformats.org/officeDocument/2006/relationships/notesSlide" Target="/ppt/notesSlides/notesSlide6.xml" Id="R8cc008cf90f241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64f2909714761" /><Relationship Type="http://schemas.openxmlformats.org/officeDocument/2006/relationships/notesSlide" Target="/ppt/notesSlides/notesSlide7.xml" Id="Rdb5c0471dbe24a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04022154d4cc4" /><Relationship Type="http://schemas.openxmlformats.org/officeDocument/2006/relationships/notesSlide" Target="/ppt/notesSlides/notesSlide8.xml" Id="Rd28887e11d1546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377a8b1f842d7" /><Relationship Type="http://schemas.openxmlformats.org/officeDocument/2006/relationships/notesSlide" Target="/ppt/notesSlides/notesSlide9.xml" Id="R7f0e3777096a4f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b59a194724969" /><Relationship Type="http://schemas.openxmlformats.org/officeDocument/2006/relationships/notesSlide" Target="/ppt/notesSlides/notesSlide10.xml" Id="R1a2e1a6831f449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ccd33563747f9" /><Relationship Type="http://schemas.openxmlformats.org/officeDocument/2006/relationships/notesSlide" Target="/ppt/notesSlides/notesSlide11.xml" Id="R2a8f23e3c0e64f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5e17ccba34cb5" /><Relationship Type="http://schemas.openxmlformats.org/officeDocument/2006/relationships/notesSlide" Target="/ppt/notesSlides/notesSlide12.xml" Id="R9d4453db3e8549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93b411616403a" /><Relationship Type="http://schemas.openxmlformats.org/officeDocument/2006/relationships/notesSlide" Target="/ppt/notesSlides/notesSlide13.xml" Id="R30c68cdbb9114f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A21B9BE-FB65-4C85-97E4-1A95641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F613B1C-DFCC-4C89-AE85-7B987D07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PPagenT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984C2F7-1E3D-47D8-87A2-DF3FFDD1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 PPT 生成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变成可靠的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生产过程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B4A06F4-AADE-4AE5-8A7B-B7597744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1238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1E1C82-8E5E-47DA-846A-574FE22C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产品叙事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385EC7-DA07-432E-8063-7A216F04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 AI 读稿，让规则做判断，让代码完成重复劳动。</a:t>
            </a:r>
          </a:p>
        </p:txBody>
      </p:sp>
      <p:sp>
        <p:nvSpPr>
          <p:cNvPr id="7" name="circle">
            <a:extLst xmlns:a="http://schemas.openxmlformats.org/drawingml/2006/main">
              <a:ext uri="{FF2B5EF4-FFF2-40B4-BE49-F238E27FC236}">
                <a16:creationId xmlns:a16="http://schemas.microsoft.com/office/drawing/2014/main" id="{95D567A4-0B42-46B2-8767-1166E48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circle">
            <a:extLst xmlns:a="http://schemas.openxmlformats.org/drawingml/2006/main">
              <a:ext uri="{FF2B5EF4-FFF2-40B4-BE49-F238E27FC236}">
                <a16:creationId xmlns:a16="http://schemas.microsoft.com/office/drawing/2014/main" id="{D90F908B-C5D0-4445-866E-D91A0538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9F794A-745B-4CD6-8278-E3EA84B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336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36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Q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4ABEB73-CD9E-4960-AA12-5E8CD1F9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1475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1F6317-9FF5-41B3-B945-B519C471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从偶然生成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到稳定交付</a:t>
            </a:r>
          </a:p>
        </p:txBody>
      </p:sp>
    </p:spTree>
    <p:extLst>
      <p:ext uri="{BB962C8B-B14F-4D97-AF65-F5344CB8AC3E}">
        <p14:creationId xmlns:p14="http://schemas.microsoft.com/office/powerpoint/2010/main" val="1894519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65D0BA4-3FC7-4F3A-8161-9C634D8E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00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7FB7E88-AEF2-4288-8728-9A9653BC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目录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98C9F7E-1253-4786-BF1D-ABEB8581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F1F5939-D7C0-48D9-9295-7F24DAD4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03748C5-92AB-4460-B308-92D7E007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20FF0B-9DFC-413A-A751-41498740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为什么值得做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E7E271-ED38-4A74-B9E4-15B436E0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478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从昂贵判断到可靠度目标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6431A519-827C-40B7-B4CB-DAD9347C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55A4EF-3742-4ABB-BEC3-1F9FDA9F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D75138-DE80-4E25-842B-B5C7066B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怎样把自由变成可靠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E55E92-48DE-4C0C-A9DF-DF9CFACE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0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限制、控制器与能力调用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D0C097BB-E08A-44D9-9536-40E0941E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D6566F-6760-4884-B66C-3990B1D0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C98EF90-DD40-4A85-B9C4-0DF69D58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5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能力如何形成复用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47C5583-B36E-4817-AA97-6C7398A6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把计算前移，把经验留下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5F83D149-0EE9-4006-BE72-12D842E7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3F96043-F1CF-4C58-8276-D2DF2747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C924ED-9ED2-45C5-A984-ECE3E170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从一个学校走向更多组织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933750C-9D1D-41AF-B0A6-58A30F7C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05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主题可替换，能力可复用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5F54F2A2-9790-4587-935A-86FFAB67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FC3F978-EF75-4822-8AF7-A89C76CB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阅读路径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BF95943-7BB4-4667-89C4-5F4203BF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00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成本 → 目标 → 约束 → 架构 → 复用 → 规模</a:t>
            </a:r>
          </a:p>
        </p:txBody>
      </p:sp>
    </p:spTree>
    <p:extLst>
      <p:ext uri="{BB962C8B-B14F-4D97-AF65-F5344CB8AC3E}">
        <p14:creationId xmlns:p14="http://schemas.microsoft.com/office/powerpoint/2010/main" val="902631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E62F5F0-683C-4425-859A-E7D03F2A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FE5A7CC-E784-4076-9B50-85804AB3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 PPT，真正昂贵的不是“画”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8C843EF-A4A7-4EEB-BDD7-A944DFDD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9630951-6268-4D03-9B57-4FFA98A4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C23F5F-EB3B-45BA-B7F1-E951B97F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真正费时间的，是一连串判断。</a:t>
            </a:r>
          </a:p>
        </p:txBody>
      </p:sp>
      <p:sp>
        <p:nvSpPr>
          <p:cNvPr id="6" name="circle">
            <a:extLst xmlns:a="http://schemas.openxmlformats.org/drawingml/2006/main">
              <a:ext uri="{FF2B5EF4-FFF2-40B4-BE49-F238E27FC236}">
                <a16:creationId xmlns:a16="http://schemas.microsoft.com/office/drawing/2014/main" id="{10B3C1E9-E439-4842-9A31-DF9576CC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07B3B25-F938-4DC3-A5B9-267EFC40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E59AD2A-F282-420A-AB77-4FF52BBC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讲什么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1DAAF92-0F1F-445B-B6DC-5E0F4CCC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汇报到底怎么讲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F0942C7-CBA4-45DC-9731-5F325EFB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955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circle">
            <a:extLst xmlns:a="http://schemas.openxmlformats.org/drawingml/2006/main">
              <a:ext uri="{FF2B5EF4-FFF2-40B4-BE49-F238E27FC236}">
                <a16:creationId xmlns:a16="http://schemas.microsoft.com/office/drawing/2014/main" id="{B3A1E480-4261-4D4D-AE0B-495A03A6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3CD21C-12D6-43F8-B31E-3A8E5B36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B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1C99521-35DB-4ABA-9EED-E6CF1C2D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怎么拆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C442B03-FFC6-449B-8333-26492C61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长稿拆成多少页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65809F35-5F9E-41BF-9EB0-4A9D7674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55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circle">
            <a:extLst xmlns:a="http://schemas.openxmlformats.org/drawingml/2006/main">
              <a:ext uri="{FF2B5EF4-FFF2-40B4-BE49-F238E27FC236}">
                <a16:creationId xmlns:a16="http://schemas.microsoft.com/office/drawing/2014/main" id="{E77D3996-B72C-4D9E-80C9-223E4319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A9FE744-AE61-48EB-A2FE-4D63A549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C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38D2ACC-D643-4FE1-8000-A3299413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怎么连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BD48FED-D6DD-437D-B432-E10BA16D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并列、递进、因果还是流程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8930C05A-9040-458D-AEEA-A1BD7650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955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circle">
            <a:extLst xmlns:a="http://schemas.openxmlformats.org/drawingml/2006/main">
              <a:ext uri="{FF2B5EF4-FFF2-40B4-BE49-F238E27FC236}">
                <a16:creationId xmlns:a16="http://schemas.microsoft.com/office/drawing/2014/main" id="{E76507A4-C27C-40B0-AD00-FBAEB75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C69EC07-1B79-4737-B316-9504667D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ABFEAE3-0799-4E35-A2B4-6DC8A7B5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怎么呈现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28C5719-71FB-4D65-889D-1D06214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哪里突出，什么时候用图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01CEB2CD-B00D-417B-B5CA-493665EE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7E2DE89-54C3-4909-BEAF-8AE431B2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高手脑子里已经积累了大量答案。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220EEEF-DF95-40CE-A7ED-76CFED4F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4AB6BA6-16A4-4531-8D69-21DC5ED2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既然一个高手已经知道怎样做是好的，为什么每次还要重新做一遍？</a:t>
            </a:r>
          </a:p>
        </p:txBody>
      </p:sp>
    </p:spTree>
    <p:extLst>
      <p:ext uri="{BB962C8B-B14F-4D97-AF65-F5344CB8AC3E}">
        <p14:creationId xmlns:p14="http://schemas.microsoft.com/office/powerpoint/2010/main" val="11763243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6F65BDE-024E-4E7D-9616-F7512DAC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C4C68C8-E572-4CB4-A148-BC9B64E7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PPagenT 选择的是概率最大的需求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A4FFF4B-F456-4A74-B465-82FFFF8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A3A90EE-9FE7-4B9B-859E-9AA0CF7C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A087C66-1F50-44C0-8108-0838CAC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更多需求位于中间：工作型 PPT。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279E5EED-044A-40B7-AD41-D8BF1A2C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47950"/>
            <a:ext cx="9572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88C34FB5-59B2-48CB-A10A-0C71010A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8127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277806C6-92CF-495C-9395-A6BC5B9A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58127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9" name="circle">
            <a:extLst xmlns:a="http://schemas.openxmlformats.org/drawingml/2006/main">
              <a:ext uri="{FF2B5EF4-FFF2-40B4-BE49-F238E27FC236}">
                <a16:creationId xmlns:a16="http://schemas.microsoft.com/office/drawing/2014/main" id="{CD228967-7709-499F-B2B6-252C0C0F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05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circle">
            <a:extLst xmlns:a="http://schemas.openxmlformats.org/drawingml/2006/main">
              <a:ext uri="{FF2B5EF4-FFF2-40B4-BE49-F238E27FC236}">
                <a16:creationId xmlns:a16="http://schemas.microsoft.com/office/drawing/2014/main" id="{6044CFD2-DD5A-4F08-9085-F0C74A27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05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circle">
            <a:extLst xmlns:a="http://schemas.openxmlformats.org/drawingml/2006/main">
              <a:ext uri="{FF2B5EF4-FFF2-40B4-BE49-F238E27FC236}">
                <a16:creationId xmlns:a16="http://schemas.microsoft.com/office/drawing/2014/main" id="{3ECEF654-EE72-4FA7-8015-68BD705C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622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DCD456-E8A0-4F98-9DC8-6517F79C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只要文字放上去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164B6C6-647C-440F-9672-E3C6B0E8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发布会 / 路演 / 比赛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9BB0841-1256-46F9-A92B-0DD0E0F4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670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学校、科研院所、事业单位、央国企与普通企业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9AB85C4-0CA8-4D2A-8C45-7D7D131D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不能乱，不能丑，不能掉价，不能生成后无法修改。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99403913-1C80-4092-BB03-F37087A6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9650"/>
            <a:ext cx="438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18AAD99-9FB4-4BF3-8F11-4E57A6AC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综合质量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ACE30E0-4824-416E-BFB5-A22474FB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4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Q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B72B146-9C1F-4EE2-872D-F0C2BB06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43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产品真正要提高的，是达到可用标准的概率。</a:t>
            </a:r>
          </a:p>
        </p:txBody>
      </p:sp>
    </p:spTree>
    <p:extLst>
      <p:ext uri="{BB962C8B-B14F-4D97-AF65-F5344CB8AC3E}">
        <p14:creationId xmlns:p14="http://schemas.microsoft.com/office/powerpoint/2010/main" val="561003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4C41A86-C5B3-421A-8EBC-DFD3E6A2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157C443-871E-4543-96EC-0C2782D7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可靠度，是跨过可用线的概率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5A0660C-EC37-436E-A0CB-13F1D7B1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3DBBB2F-7149-46BC-9742-AA4A6E47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431810-376A-45CD-B97A-D74E4ACC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“80 分”代表稳定可用状态，不是质量上限。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4A447E-27DD-43D4-A604-90D141F0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不可直接工作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A65A679-C99B-4538-9A84-07C3E45E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可直接使用并继续修改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66D370D3-17CD-4E41-919E-483F48A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914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683497E3-D371-4583-9C84-BF983EC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95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E5339C-1B17-4A5A-8BFB-2AF6FE56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909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Q可用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F9C5EB8-1A7B-42AE-9835-A9F4BB01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随机工作稿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C34B74-C15F-4AB7-A0DF-1C51A68F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专业基础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CDA54E8-CF3D-4908-ACC0-FF87F6E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A39520D-C6BF-493C-9A88-B90B890A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对工作来说，稳定的 80 分，很多时候比随机的 95 分更值钱。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3990B27-6843-43AE-8507-E89EBAC8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1025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2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R = P(Q ≥ Q可用 | 目标工作场景)</a:t>
            </a:r>
          </a:p>
        </p:txBody>
      </p:sp>
    </p:spTree>
    <p:extLst>
      <p:ext uri="{BB962C8B-B14F-4D97-AF65-F5344CB8AC3E}">
        <p14:creationId xmlns:p14="http://schemas.microsoft.com/office/powerpoint/2010/main" val="282908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17542FB-E3B0-4B13-A1C3-4E026E0B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77838F8-3A7C-4A82-AB65-BF43095C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用限制自由换取可靠性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E59D2A2-A863-40CE-A4CA-ED32D67B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2B3429C-0C85-4FDF-B0F4-48352D6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5DB16A-EEB9-46A1-9D8C-12315B97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自由度越高，状态空间越大，失败模式也越多。</a:t>
            </a:r>
          </a:p>
        </p:txBody>
      </p:sp>
      <p:sp>
        <p:nvSpPr>
          <p:cNvPr id="6" name="freedom">
            <a:extLst xmlns:a="http://schemas.openxmlformats.org/drawingml/2006/main">
              <a:ext uri="{FF2B5EF4-FFF2-40B4-BE49-F238E27FC236}">
                <a16:creationId xmlns:a16="http://schemas.microsoft.com/office/drawing/2014/main" id="{205C6FE5-BF90-4F04-ABDA-2894A6E6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7F817F-4392-4E07-A5B2-8D25456E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每次都重新决定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CFBB124-236D-4532-A6D2-0542419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颜色  字体  结构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版式  元素  风格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B600CB-DA39-4C04-B373-1E5735FF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理论上限更高</a:t>
            </a:r>
          </a:p>
        </p:txBody>
      </p:sp>
      <p:sp>
        <p:nvSpPr>
          <p:cNvPr id="10" name="constraint">
            <a:extLst xmlns:a="http://schemas.openxmlformats.org/drawingml/2006/main">
              <a:ext uri="{FF2B5EF4-FFF2-40B4-BE49-F238E27FC236}">
                <a16:creationId xmlns:a16="http://schemas.microsoft.com/office/drawing/2014/main" id="{9D2654F6-79E2-4F27-B9EB-DC3B5F7C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2BD733-A178-49D9-8C9E-864D4FD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33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提前固定已验证的部分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E4AADD5-427F-4B2E-90F3-E1C2F39A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组织规范  能力边界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数量容量  退化方式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1C11AA-4A5D-46AC-B06E-1601B892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结果更可预测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B12C14F-F82B-4CA1-947F-4777FF3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52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5A8054D-D228-4B87-B93D-9235E42B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76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可靠性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A15DD1A-D5C1-49F2-9AE7-9599076A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D63CFCE-57EC-4791-8244-C4655DA9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每次都不一样，有时候才是缺点。</a:t>
            </a:r>
          </a:p>
        </p:txBody>
      </p:sp>
    </p:spTree>
    <p:extLst>
      <p:ext uri="{BB962C8B-B14F-4D97-AF65-F5344CB8AC3E}">
        <p14:creationId xmlns:p14="http://schemas.microsoft.com/office/powerpoint/2010/main" val="1324595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97B1C12-ACEF-4F63-8551-355B494A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3297337-04C1-422F-BB6B-8CEEFDC0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是控制器，不是画师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203E9B6-AC36-4889-B8E0-524B9C48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3641A3-8CD8-4617-9F57-3F4ED9D4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6A22778-02DF-4619-B934-E96600BB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把理解、路由与生成拆开，结果才可控。</a:t>
            </a:r>
          </a:p>
        </p:txBody>
      </p:sp>
      <p:sp>
        <p:nvSpPr>
          <p:cNvPr id="6" name="director-content">
            <a:extLst xmlns:a="http://schemas.openxmlformats.org/drawingml/2006/main">
              <a:ext uri="{FF2B5EF4-FFF2-40B4-BE49-F238E27FC236}">
                <a16:creationId xmlns:a16="http://schemas.microsoft.com/office/drawing/2014/main" id="{A518174D-3CD6-4B73-B9CD-7976E1FD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8F1871-81A0-41DB-B504-7F93AB23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内容导演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F3BAEF-7C43-43E8-B42C-CA516A23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理解稿件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组织叙事、拆页</a:t>
            </a:r>
          </a:p>
        </p:txBody>
      </p:sp>
      <p:sp>
        <p:nvSpPr>
          <p:cNvPr id="9" name="director-visual">
            <a:extLst xmlns:a="http://schemas.openxmlformats.org/drawingml/2006/main">
              <a:ext uri="{FF2B5EF4-FFF2-40B4-BE49-F238E27FC236}">
                <a16:creationId xmlns:a16="http://schemas.microsoft.com/office/drawing/2014/main" id="{CD86FA0C-69CD-4D3F-A715-02085A53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C27775-6F1F-4679-A2F4-4EC2502B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视觉导演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5EAE27C-7D73-44C5-85E3-2FE690BD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判断表达方式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选择合法结构</a:t>
            </a:r>
          </a:p>
        </p:txBody>
      </p:sp>
      <p:sp>
        <p:nvSpPr>
          <p:cNvPr id="12" name="compiler">
            <a:extLst xmlns:a="http://schemas.openxmlformats.org/drawingml/2006/main">
              <a:ext uri="{FF2B5EF4-FFF2-40B4-BE49-F238E27FC236}">
                <a16:creationId xmlns:a16="http://schemas.microsoft.com/office/drawing/2014/main" id="{663F1696-5345-41A9-BF03-D1AF6CF4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812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E5CDCF-B570-4858-9B90-7A367DA5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9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确定性代码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C63953A-1E81-46BF-A354-EC45DA2B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稳定生成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原生可编辑 PPTX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AF3D9033-E9A0-4BFE-9D2F-2B5BB58C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485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B3F4C781-ACA3-4E8F-8BE6-B2AA832C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1485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70D86BD-7A84-4D64-9B8B-EE2611A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AI 负责理解和路由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D330708-B5CC-401F-8415-E9E1D639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规则负责约束和选择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4A1EA2C-22FE-48B5-BC12-25DF32A8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代码负责稳定生成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8486CF09-1346-489C-9941-ED7B7238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48175C3-330A-4B64-9B3B-9B29EFA2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0D9C130-33B8-4B68-A1B8-F86E65E9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读懂稿子，然后调用人已经提前做好的好东西。</a:t>
            </a:r>
          </a:p>
        </p:txBody>
      </p:sp>
    </p:spTree>
    <p:extLst>
      <p:ext uri="{BB962C8B-B14F-4D97-AF65-F5344CB8AC3E}">
        <p14:creationId xmlns:p14="http://schemas.microsoft.com/office/powerpoint/2010/main" val="154528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F76529C-213B-41F5-804A-63410B64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25BAA50-8618-4FF9-BC1D-4A44E459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核心架构：建设能力，再稳定调用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E298D2C-583B-449C-AC5D-987C6229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95182A-01F5-41C3-88AA-698E4DD6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3D8A0EA-60C1-4993-AB12-7870E4C7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两条路线只在“经过确认的核心资产库”交汇。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3F9B5E-5DAC-4D00-8EDC-639C783D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资产入库线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D4C892-EA09-4EBE-ACC2-61FCB1FD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正式生成线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9F70D-1F2C-402D-95CF-B9AE9E3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FBCA2CD-B293-42F1-8592-041B1249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622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优秀参考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E2988-8B2F-4617-B234-CF912F46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F0B6BA-89CC-4AF9-91A8-56BF8BBF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62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提炼规律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1BFCA-DBA5-4A28-A887-1B55853C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FEE4D4-A8C3-4558-9170-818EEEDE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用户确认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A8CBC-8D49-48AF-AB9F-1D3985C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00A674B-0BC3-4BEE-9592-C81E29DB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62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核心资产库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74250FF8-C57C-4369-A96F-AAD7FE16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7652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C94E801-856F-4C40-B3CC-E92907DE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7652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EEF9B287-96E5-4884-BD70-527297BE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7652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2CE5D-2CF7-4DD0-8801-77CDDF32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C5BBB24-4881-452B-8E6F-38EDE78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稿件 + 主题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E818E-31E9-4B58-BBB7-5C053865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043739-CCF6-4936-A07C-DD741447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00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理解与编排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67AA9-8FB9-4DDF-918D-0EF63005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F344113-1D74-4D7D-A99D-8C6F023A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选择合法能力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67887-8A73-47E3-A521-2D82B61D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196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9EE5B77-1A6E-4642-BEBF-0446B4C2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编译 PPTX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3BE66933-BD7E-4BD1-A63E-01C35D8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149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59300077-59E9-4C97-AD58-F3150857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30EFBD59-FD61-45F2-89D1-34F97C55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087A6E49-B65B-4904-81FF-EAC5311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71800"/>
            <a:ext cx="9525" cy="1647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3C6A037-A57D-4453-BC43-7490A0E1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71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只读调用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7A64713-DC6B-40A9-B078-08B8F60A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95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没有合适结构 → 简单排版 / 拆页</a:t>
            </a:r>
          </a:p>
        </p:txBody>
      </p:sp>
    </p:spTree>
    <p:extLst>
      <p:ext uri="{BB962C8B-B14F-4D97-AF65-F5344CB8AC3E}">
        <p14:creationId xmlns:p14="http://schemas.microsoft.com/office/powerpoint/2010/main" val="1688585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2975425-E936-455A-9781-7F0557E2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793FEBA-E89F-4FB1-856D-F2B08447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把昂贵的计算前移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9DD2768-B122-46A5-89AC-390F99F0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4326F49-4393-4BAC-AB27-E434D95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2AC9CA-182A-4DDD-84F6-DF7B2F26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0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建设期先理解、筛选、参数化并确认，交付期负责理解、选择和填参。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A57F8-7B1F-4D83-8A2A-E33AF620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C2588E-CD1D-41C6-975F-A06830F1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建设期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9CE472-08DE-43D1-8F73-C69C0E74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筛选优秀页面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理解为什么好看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验证数量变化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67D676AF-AAE1-45C7-B3E3-477FD3D5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76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76FF8-CDE7-4A36-AE4C-D4D56651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78932C-8143-402B-B523-B317C62F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资产库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966C13-E29D-41FD-8E54-E6513092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内容、图片、参数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容量、退化方式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用户确认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0188C0E7-4DE7-4867-82D7-23FF44D9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76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42431-0383-4F07-B0D2-F3B4BC6C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93B7334-852A-4D93-A575-DFB261AB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正式生成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2BED9AA-767C-4E47-96B5-691C85B2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理解稿件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选择能力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确定性绘制与检查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E5C08D1-F943-49AB-9685-B350523A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视觉理解从在线成本变成一次建设、多次复用的离线资产。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A7E16229-3629-487A-85C4-5C572213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9DFCB59-51E0-4CA5-BB72-0CE11B9F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29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模型继续变强，但每次交付不必重新设计每一页。</a:t>
            </a:r>
          </a:p>
        </p:txBody>
      </p:sp>
    </p:spTree>
    <p:extLst>
      <p:ext uri="{BB962C8B-B14F-4D97-AF65-F5344CB8AC3E}">
        <p14:creationId xmlns:p14="http://schemas.microsoft.com/office/powerpoint/2010/main" val="965424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C774C0C-2579-4B05-8BC7-CFEC9AFE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5B55613-FA04-4587-82BE-AE99A05C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真正积累的不是一万个模板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FB73B7-E78C-4733-B0B1-7C6958ED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F77EAC-61D7-4D88-8D74-84E8B11E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D289A0-6F09-46FF-8FA6-3C2C03EF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页面数量会变，表达规律才值得留下。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667D6-37C7-470F-8C0E-2336D115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095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C26D64-E2A3-4F72-8661-A78ECBFC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一个漂亮页面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2F68CD-7A83-45ED-8611-517D8523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三个观点 → 四个观点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十个字 → 六十个字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B99C24B-55CE-4720-A830-0CB16688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静态模板难以穷尽内容变化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4C9C5-C182-4A71-A68A-487496A2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095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6E1049E-C72C-498B-B363-D374DE17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一套表达能力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E46BCF-5E09-45A4-A6B8-21772FC3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适合什么内容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能处理多少内容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超出边界怎么退化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92E83CF-06E2-4CD7-A803-E676D0DB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能力包可以反复调用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123F041-B6B1-4E09-88C7-90DEF698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1714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77FF6D-12EC-4345-A6AB-0A10B8E5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真正的壁垒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B52C54-964D-4871-AE1A-C13D65E8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05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有效表达能力 · 正确路由 · 容量边界 · 稳定生成</a:t>
            </a:r>
          </a:p>
        </p:txBody>
      </p:sp>
    </p:spTree>
    <p:extLst>
      <p:ext uri="{BB962C8B-B14F-4D97-AF65-F5344CB8AC3E}">
        <p14:creationId xmlns:p14="http://schemas.microsoft.com/office/powerpoint/2010/main" val="2815097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5C39ABE-9F3D-458F-9EFE-1EFD2345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60A7FF8-66B1-42BB-B52D-C7E4BAEC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从一个学校，走向更多组织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00A3829-506A-42A5-BD66-450F93EC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532FC4A-CD28-474F-9D9B-762AC7D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64BE18-5708-48B6-B30D-4C6740C3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东北大学是第一个正式落地场景，但不是最终边界。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823B7-4321-43B6-A281-177EBE5A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38400"/>
            <a:ext cx="2381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A08889-3BB5-4E52-B6EA-2157B5AC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956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0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可复用的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0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表达能力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FC708-ABD4-46A8-AC32-2235A836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99814B-255B-40AC-98AC-E312B1AC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东北大学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7938739-281D-423F-AD71-4B1F4B27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204787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687B7-C730-4421-84E7-18EC7EDA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484C900-AED2-4554-ACF1-F337E5C7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科研院所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449E0FB7-9929-43F6-A183-42B008D3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48025"/>
            <a:ext cx="2143125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D612D-EDCA-4348-9206-96195797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C0E9EC8-0100-4752-95B2-8DD8C48C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实验室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0E35F223-B918-4A1E-8A14-9FC95A61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43175"/>
            <a:ext cx="1571625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1D894-B6A4-4A9D-889D-01B6679E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FA20303-0E33-4ADC-B03B-805EEFF3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企业与团队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246F2505-3C49-453D-BAE0-C52E2A3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48025"/>
            <a:ext cx="1285875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C5463AC-2E31-4BED-9844-99658D0B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主题配置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5455A5-77E4-478E-9F26-F88D0E98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颜色、Logo、字体、页眉页脚可替换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8FBF37F7-52DF-46E4-AE25-70A3890D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D64B15C-7AD9-4913-81C2-BA896F31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626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组织不用要求每名成员都成为设计师，也能稳定达到自己的基本标准。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435822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429F9B2-52FE-49EB-848B-CE43DAC4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A607C44-A459-404F-B5D9-17BADCBB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最后，它仍然只想解决一件普通的事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FAB3344-047C-418B-A3E0-05000371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93A35A6-E353-42C7-BB85-3F4A0ED3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330FD8-6CE6-4596-A043-F5BC711E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5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做一套好 PPT 太费时间了。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5717A1-0D02-4D7F-BF2A-6BD43A4A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其中很多时间，花在以前已经有人解决过的问题上。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390287-271A-4AFD-A712-45162337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AI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131D57C-697C-4A17-AE22-F245E739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914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615B30-5D4D-4562-85DA-2AD4B50D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读稿子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6A7B1AC-DBC3-45CC-BD16-8E2CA04E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理解内容与叙事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B8086403-1E54-4714-B890-A72B6E2F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164E075-F624-4696-9447-3BA616FF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规则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85F97BFC-40EF-46D0-9EC5-FB50CBDD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52850"/>
            <a:ext cx="914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4C5A96-209D-42C7-BBD4-4DC4DF8A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做判断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1213C4-E9BD-4B07-B1E6-F05C4D5A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196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约束结构与选择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9FD6DC65-F4BD-4FF0-AD1F-9DD2B97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E4821C3-0670-4249-AEEC-87C4639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代码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23C88F81-6C55-4724-8B02-1520E42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914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A4BDD5D-D83E-4F09-89D4-4F74B4F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做重复劳动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C38BD37-90B2-4407-9F52-01E8BD62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稳定编译成 PPTX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90BFAE82-3503-45FF-B84C-BDBB7B87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811BB75-BFDD-4E17-977A-4CAB2D6D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让不太会做 PPT 的人，也能很快得到一套真正好用的 PPT。</a:t>
            </a:r>
          </a:p>
        </p:txBody>
      </p:sp>
    </p:spTree>
    <p:extLst>
      <p:ext uri="{BB962C8B-B14F-4D97-AF65-F5344CB8AC3E}">
        <p14:creationId xmlns:p14="http://schemas.microsoft.com/office/powerpoint/2010/main" val="5065029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FD6A42-4DA8-4312-8120-11972367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03FCC60-E6FA-46A7-96B0-E8B6BF9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0706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47F33DD-C7ED-47BD-BAD9-A57D7C4D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8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8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可预测的交付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844A09-0B2F-4F11-82A3-0F47E8A4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是 PPagenT 想留下的产品能力。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A6222F-EDD6-4936-A9FB-B3954FAF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574E64D-8F5D-4080-A772-03B9F54D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不一定惊艳，但靠谱；不一定独一无二，但真的好用。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B37E2F-DB82-409B-9B76-F9C1757F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4988421-9AE5-4625-8550-0E69D239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可以立刻拿去讲，也可以继续修改。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ED0D4389-6D4D-4151-A6E8-1C458850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81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CD060AE-08AD-43FB-BBF8-413BDEBA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如果能持续做到这一点，普通问题就能成为可靠的产品能力。</a:t>
            </a:r>
          </a:p>
        </p:txBody>
      </p:sp>
    </p:spTree>
    <p:extLst>
      <p:ext uri="{BB962C8B-B14F-4D97-AF65-F5344CB8AC3E}">
        <p14:creationId xmlns:p14="http://schemas.microsoft.com/office/powerpoint/2010/main" val="1254696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2026-09-11T01:10:20.8680000Z</dcterms:created>
  <dcterms:modified xsi:type="dcterms:W3CDTF">2026-09-11T01:10:20.8680000Z</dcterms:modified>
</coreProperties>
</file>