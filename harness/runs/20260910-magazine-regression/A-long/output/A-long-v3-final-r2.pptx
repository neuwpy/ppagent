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5b7e98cbd5489f" /><Relationship Type="http://schemas.openxmlformats.org/officeDocument/2006/relationships/extended-properties" Target="/docProps/app.xml" Id="R62585d5577214e72" /><Relationship Type="http://schemas.openxmlformats.org/officeDocument/2006/relationships/officeDocument" Target="/ppt/presentation.xml" Id="R9e5634e8c6164e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c21a5a38e643cf"/>
  </p:sldMasterIdLst>
  <p:notesMasterIdLst>
    <p:notesMasterId xmlns:r="http://schemas.openxmlformats.org/officeDocument/2006/relationships" r:id="R9b4e8211b0c84de1"/>
  </p:notesMasterIdLst>
  <p:sldIdLst>
    <p:sldId xmlns:r="http://schemas.openxmlformats.org/officeDocument/2006/relationships" id="256" r:id="Rab4a8c34e75347bb"/>
    <p:sldId xmlns:r="http://schemas.openxmlformats.org/officeDocument/2006/relationships" id="257" r:id="Rc410e04e60b042dc"/>
    <p:sldId xmlns:r="http://schemas.openxmlformats.org/officeDocument/2006/relationships" id="258" r:id="Rbbd069761e8f4cfe"/>
    <p:sldId xmlns:r="http://schemas.openxmlformats.org/officeDocument/2006/relationships" id="259" r:id="Re719be9a1534426d"/>
    <p:sldId xmlns:r="http://schemas.openxmlformats.org/officeDocument/2006/relationships" id="260" r:id="R7d566dc9d4054434"/>
    <p:sldId xmlns:r="http://schemas.openxmlformats.org/officeDocument/2006/relationships" id="261" r:id="R8b178b124b6d418b"/>
    <p:sldId xmlns:r="http://schemas.openxmlformats.org/officeDocument/2006/relationships" id="262" r:id="R0bb9b78167cb402f"/>
    <p:sldId xmlns:r="http://schemas.openxmlformats.org/officeDocument/2006/relationships" id="263" r:id="R3b3f8eb1b457497c"/>
    <p:sldId xmlns:r="http://schemas.openxmlformats.org/officeDocument/2006/relationships" id="264" r:id="Rc0bc079da5c1491a"/>
    <p:sldId xmlns:r="http://schemas.openxmlformats.org/officeDocument/2006/relationships" id="265" r:id="Rb64edb6ae5244742"/>
    <p:sldId xmlns:r="http://schemas.openxmlformats.org/officeDocument/2006/relationships" id="266" r:id="R163796612b4a4cdb"/>
    <p:sldId xmlns:r="http://schemas.openxmlformats.org/officeDocument/2006/relationships" id="267" r:id="R642332e7845d47e2"/>
    <p:sldId xmlns:r="http://schemas.openxmlformats.org/officeDocument/2006/relationships" id="268" r:id="R1ac79df20ba244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df4bde1b0248b2" /><Relationship Type="http://schemas.openxmlformats.org/officeDocument/2006/relationships/slideMaster" Target="/ppt/slideMasters/slideMaster1.xml" Id="R8ec21a5a38e643cf" /><Relationship Type="http://schemas.openxmlformats.org/officeDocument/2006/relationships/notesMaster" Target="/ppt/notesMasters/notesMaster1.xml" Id="R9b4e8211b0c84de1" /><Relationship Type="http://schemas.openxmlformats.org/officeDocument/2006/relationships/presProps" Target="/ppt/presProps.xml" Id="R0b94da13d67d4dd1" /><Relationship Type="http://schemas.openxmlformats.org/officeDocument/2006/relationships/tableStyles" Target="/ppt/tableStyles.xml" Id="R205d07c0958444fb" /><Relationship Type="http://schemas.openxmlformats.org/officeDocument/2006/relationships/slide" Target="/ppt/slides/slide1.xml" Id="Rab4a8c34e75347bb" /><Relationship Type="http://schemas.openxmlformats.org/officeDocument/2006/relationships/slide" Target="/ppt/slides/slide2.xml" Id="Rc410e04e60b042dc" /><Relationship Type="http://schemas.openxmlformats.org/officeDocument/2006/relationships/slide" Target="/ppt/slides/slide3.xml" Id="Rbbd069761e8f4cfe" /><Relationship Type="http://schemas.openxmlformats.org/officeDocument/2006/relationships/slide" Target="/ppt/slides/slide4.xml" Id="Re719be9a1534426d" /><Relationship Type="http://schemas.openxmlformats.org/officeDocument/2006/relationships/slide" Target="/ppt/slides/slide5.xml" Id="R7d566dc9d4054434" /><Relationship Type="http://schemas.openxmlformats.org/officeDocument/2006/relationships/slide" Target="/ppt/slides/slide6.xml" Id="R8b178b124b6d418b" /><Relationship Type="http://schemas.openxmlformats.org/officeDocument/2006/relationships/slide" Target="/ppt/slides/slide7.xml" Id="R0bb9b78167cb402f" /><Relationship Type="http://schemas.openxmlformats.org/officeDocument/2006/relationships/slide" Target="/ppt/slides/slide8.xml" Id="R3b3f8eb1b457497c" /><Relationship Type="http://schemas.openxmlformats.org/officeDocument/2006/relationships/slide" Target="/ppt/slides/slide9.xml" Id="Rc0bc079da5c1491a" /><Relationship Type="http://schemas.openxmlformats.org/officeDocument/2006/relationships/slide" Target="/ppt/slides/slide10.xml" Id="Rb64edb6ae5244742" /><Relationship Type="http://schemas.openxmlformats.org/officeDocument/2006/relationships/slide" Target="/ppt/slides/slide11.xml" Id="R163796612b4a4cdb" /><Relationship Type="http://schemas.openxmlformats.org/officeDocument/2006/relationships/slide" Target="/ppt/slides/slide12.xml" Id="R642332e7845d47e2" /><Relationship Type="http://schemas.openxmlformats.org/officeDocument/2006/relationships/slide" Target="/ppt/slides/slide13.xml" Id="R1ac79df20ba244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b2c5b108a048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b0f3141a5a4525" /><Relationship Type="http://schemas.openxmlformats.org/officeDocument/2006/relationships/notesMaster" Target="/ppt/notesMasters/notesMaster1.xml" Id="R873be3fbf83748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388767b39a4850" /><Relationship Type="http://schemas.openxmlformats.org/officeDocument/2006/relationships/notesMaster" Target="/ppt/notesMasters/notesMaster1.xml" Id="R3389798f612e4d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32293591724a61" /><Relationship Type="http://schemas.openxmlformats.org/officeDocument/2006/relationships/notesMaster" Target="/ppt/notesMasters/notesMaster1.xml" Id="Re204cf0e5bf546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c35357256b4f0c" /><Relationship Type="http://schemas.openxmlformats.org/officeDocument/2006/relationships/notesMaster" Target="/ppt/notesMasters/notesMaster1.xml" Id="Rb60656269ccd4a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39ae705cd244dd" /><Relationship Type="http://schemas.openxmlformats.org/officeDocument/2006/relationships/notesMaster" Target="/ppt/notesMasters/notesMaster1.xml" Id="Raf8bed3a413046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722ad44f744ed5" /><Relationship Type="http://schemas.openxmlformats.org/officeDocument/2006/relationships/notesMaster" Target="/ppt/notesMasters/notesMaster1.xml" Id="Rc91f576f40df43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f75f8f2c41404c" /><Relationship Type="http://schemas.openxmlformats.org/officeDocument/2006/relationships/notesMaster" Target="/ppt/notesMasters/notesMaster1.xml" Id="R5e3bb7cb470546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7ec56449e74cf5" /><Relationship Type="http://schemas.openxmlformats.org/officeDocument/2006/relationships/notesMaster" Target="/ppt/notesMasters/notesMaster1.xml" Id="R28f07c9f319f49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ec28d4d4b04a22" /><Relationship Type="http://schemas.openxmlformats.org/officeDocument/2006/relationships/notesMaster" Target="/ppt/notesMasters/notesMaster1.xml" Id="Ra583b783c4eb40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3f2c34a25347de" /><Relationship Type="http://schemas.openxmlformats.org/officeDocument/2006/relationships/notesMaster" Target="/ppt/notesMasters/notesMaster1.xml" Id="Rf08a96b0491048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4d4a0cd7c84cad" /><Relationship Type="http://schemas.openxmlformats.org/officeDocument/2006/relationships/notesMaster" Target="/ppt/notesMasters/notesMaster1.xml" Id="R94c0db5375294e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2e999ab97746d5" /><Relationship Type="http://schemas.openxmlformats.org/officeDocument/2006/relationships/notesMaster" Target="/ppt/notesMasters/notesMaster1.xml" Id="R00639f073ab847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84e1a05c674a71" /><Relationship Type="http://schemas.openxmlformats.org/officeDocument/2006/relationships/notesMaster" Target="/ppt/notesMasters/notesMaster1.xml" Id="Rce09dcbc9a1841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来源：input/manuscript.md；设计指令：input/prompt.md。封面保留产品设想语气，不将概念表述改写为已验证指标。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来源：input/manuscript.md。目录按稿件论证顺序编排，章节编号沿用至对应正文页。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来源：input/manuscript.md。原稿将拖放操作与结构判断区分开，本页保留该因果解释。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来源：input/manuscript.md。需求分布为原稿的概念性判断，未改写为市场测量结果。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来源：input/manuscript.md。R 与 Q可用为原稿的概念表达，本页明确保留其概念性质。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来源：input/manuscript.md。能力、组织规范与容量边界均按原稿表达。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来源：input/manuscript.md。内容导演、视觉导演、规则与代码的分工来自原稿。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来源：input/manuscript.md。流程图保留资产入库线、正式生成线、用户确认与简单排版退回关系。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来源：input/manuscript.md。建设期与正式生成期的职责边界按原稿表达，未添加成本数字。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来源：input/manuscript.md。页面数量、内容长度与退化方式均由稿件提供。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来源：input/manuscript.md。四项壁垒按原稿列举，未增加模型或商业数据。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来源：input/manuscript.md。东北大学为第一个正式落地场景，后续组织为原稿提出的可能性。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来源：input/manuscript.md。结尾保留产品价值的设想语气，不改写为已验证商业结论。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44e39de94943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6b84f187a04424" /><Relationship Type="http://schemas.openxmlformats.org/officeDocument/2006/relationships/slideLayout" Target="/ppt/slideLayouts/slideLayout1.xml" Id="R906ff07db05947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6ff07db05947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01dd1f6114dd8" /><Relationship Type="http://schemas.openxmlformats.org/officeDocument/2006/relationships/notesSlide" Target="/ppt/notesSlides/notesSlide1.xml" Id="R78772b4ab0a843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5be54cfe543f6" /><Relationship Type="http://schemas.openxmlformats.org/officeDocument/2006/relationships/notesSlide" Target="/ppt/notesSlides/notesSlide2.xml" Id="R51a7c429a6ea4a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5c8a297544f6c" /><Relationship Type="http://schemas.openxmlformats.org/officeDocument/2006/relationships/notesSlide" Target="/ppt/notesSlides/notesSlide3.xml" Id="R42afa81a3b0846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405be3ac14f45" /><Relationship Type="http://schemas.openxmlformats.org/officeDocument/2006/relationships/notesSlide" Target="/ppt/notesSlides/notesSlide4.xml" Id="R536183f634c149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56dea1d2e49e3" /><Relationship Type="http://schemas.openxmlformats.org/officeDocument/2006/relationships/notesSlide" Target="/ppt/notesSlides/notesSlide5.xml" Id="Rd28f5c94e5ab41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8b48215b2487f" /><Relationship Type="http://schemas.openxmlformats.org/officeDocument/2006/relationships/notesSlide" Target="/ppt/notesSlides/notesSlide6.xml" Id="Rb2076d10e2dc41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02bb81005472c" /><Relationship Type="http://schemas.openxmlformats.org/officeDocument/2006/relationships/notesSlide" Target="/ppt/notesSlides/notesSlide7.xml" Id="Ra527b41a313447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75bb48b004517" /><Relationship Type="http://schemas.openxmlformats.org/officeDocument/2006/relationships/notesSlide" Target="/ppt/notesSlides/notesSlide8.xml" Id="R93367c42300a49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899fbe44b4755" /><Relationship Type="http://schemas.openxmlformats.org/officeDocument/2006/relationships/notesSlide" Target="/ppt/notesSlides/notesSlide9.xml" Id="R3553a7b5598e43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0bec90d6e4a67" /><Relationship Type="http://schemas.openxmlformats.org/officeDocument/2006/relationships/notesSlide" Target="/ppt/notesSlides/notesSlide10.xml" Id="R7c7d161728e348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2311a7592450a" /><Relationship Type="http://schemas.openxmlformats.org/officeDocument/2006/relationships/notesSlide" Target="/ppt/notesSlides/notesSlide11.xml" Id="R2194c8dd636649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ce4fee7574fd8" /><Relationship Type="http://schemas.openxmlformats.org/officeDocument/2006/relationships/notesSlide" Target="/ppt/notesSlides/notesSlide12.xml" Id="R1d516ae3930448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d40bdd1e14606" /><Relationship Type="http://schemas.openxmlformats.org/officeDocument/2006/relationships/notesSlide" Target="/ppt/notesSlides/notesSlide13.xml" Id="R8442e7e2e04642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92BF4-A2D7-4C42-8C25-F8747E99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DAE55-3E7A-496C-A700-880038DF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PPAGENt / 产品叙事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3380E-09CD-41DF-B527-B112E3AA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657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3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把 PPT 生成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3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变成可靠的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3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生产过程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CDAF6-FA20-47FE-9B7A-E2726206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D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9FC1C-21DD-4759-9871-B44AF23A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一套工作型 PPT 的价值，不在于偶然惊艳，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7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而在于能稳定跨过可用线。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D9E13-8889-42D0-BE35-3E758680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09700"/>
            <a:ext cx="29527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FC7DA-7865-4300-81B8-53B74ADC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5740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27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不一定惊艳，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7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27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但靠谱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5B150-D858-4FD9-BAF0-B2E22A85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81350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8C90A-D43B-4AEB-AD64-87C54E41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4330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5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可以立刻拿去讲，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5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也可以继续修改。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67BEC-64E5-451D-A9FE-EC6EEC33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4198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 / 13</a:t>
            </a:r>
          </a:p>
        </p:txBody>
      </p:sp>
    </p:spTree>
    <p:extLst>
      <p:ext uri="{BB962C8B-B14F-4D97-AF65-F5344CB8AC3E}">
        <p14:creationId xmlns:p14="http://schemas.microsoft.com/office/powerpoint/2010/main" val="2081824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2FC9B8-217B-46E5-B04F-81136061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D5E20-666C-4404-BA56-0905A7A5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从昂贵判断到可靠交付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0134D-B047-4AE5-BEEC-FCE2B57B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3875"/>
            <a:ext cx="727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DCCDF-C472-405C-B752-EB04A8C0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388D2-3BB2-405B-A907-F05D2933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6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PPagenT 选择一条更窄、更稳定的产品道路。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11D4D-F539-41F9-9709-6C6975FE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11ACF-0A15-4CFD-99D9-AB7561CD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240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问题与选择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292BF-98A1-4B72-8D71-A6505773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431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昂贵的判断，以及概率最大的需求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25246-4FEC-4133-A93B-46614631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90775"/>
            <a:ext cx="902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14AE7-46AA-458F-9FF5-146D1E80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F68B6-8D99-4F5C-A9A9-F11A0CCF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432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可靠度与边界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1E7A9-834C-44F1-B7A7-7CDB6754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622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可用线、限制自由与可预测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181DB-BD19-4B69-A51D-264D9951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9925"/>
            <a:ext cx="902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A4C12F-4A83-4EF2-B13C-8F62EB7D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756493-21E7-4C43-ABDA-B69B702E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623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能力与生产线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3DB85D-7874-40E3-9735-AB2E916C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814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导演、资产库、编译与前移计算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1C4F9-DE25-4D6A-B33F-85EA2A3C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29075"/>
            <a:ext cx="902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F99FB2-421D-478C-A444-C5CA666B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DFE495-4919-4FD7-A2E0-A64E2A44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81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组织价值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D596FD-1351-4A7C-ADE6-A1FEC0AA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005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经验复用，从一个学校走向更多组织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C59EED-82E9-4D11-802D-25C361F2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48225"/>
            <a:ext cx="902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704508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F3A835-0524-4C40-940D-8427EEFC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0C9EC-C263-4B05-ABAD-FEC4D332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做 PPT，真正昂贵的是判断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F345D-EE01-49D0-8FA7-3ABE0AC6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3875"/>
            <a:ext cx="670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AB643-DB51-409E-A3EA-6B658DBC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C0571-0514-4D5A-855E-D83217AB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不是把文本框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拖到左边还是右边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8E6B9-4526-4262-AE93-A98DEABB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真正费时间的是一连串判断。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6D54C-C1E3-48D0-9816-F0E801B6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09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8D2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671DD-3ABE-4816-94E9-E5C98926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04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DDB35-3488-4926-9E3E-825390D3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汇报怎么讲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4182D-24B6-401B-A278-88C37982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14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5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叙事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2F13C-D4AC-46E6-998B-15ED0936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2877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7CFDA-0272-4046-8072-E12679A4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09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8D2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2CF3C-7F92-4E4E-9EF6-CD6A2AFF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04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FDA43D-3505-4C54-AAD4-D9BF5804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002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一篇长稿拆几页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73202-B5EF-45A3-B1D5-887339A1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14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5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分页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96166-2108-44C0-B1E7-3AA0053D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2877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B6E51F-3E2B-40CA-B35D-D4583CC7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09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8D2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9652B0-38B6-4415-AEC1-8588B55E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504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305EA9-F03D-4AFE-8E78-E581E14C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002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每页承担什么职责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47098-AFFD-4A12-864B-59BC2EFA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145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5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页任务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425F73-1CB8-45F3-8C80-B774CE01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2877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753A35-FE89-423F-844D-57AE4FB7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289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8D2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060C52-F2E5-4465-8AA4-4A37ECC1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95ECF5-AEA1-4F3D-8F95-37ABE1DF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194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观点是什么关系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0BFDBE-DAEA-465A-A5A9-9206E3C9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337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5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结构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9BD324-9923-42D3-A69B-B1835EC1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4797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BC29B8-F98B-41DE-9B8F-5665F196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289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8D2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4A9296-E5B9-4251-A389-156E6A65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241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12F57B-87DC-44D0-A2B8-26A15F1B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194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哪里应该突出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7BB040-07BE-482F-9C56-AE981230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337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5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视觉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B20DF0-73CC-478F-AD84-6BB5C37E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72050"/>
            <a:ext cx="1042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2A827A-5FDB-491E-86A4-88A2518B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“一个 PPT 做得很好的人，脑子里已经积累了大量答案。”</a:t>
            </a:r>
          </a:p>
        </p:txBody>
      </p:sp>
    </p:spTree>
    <p:extLst>
      <p:ext uri="{BB962C8B-B14F-4D97-AF65-F5344CB8AC3E}">
        <p14:creationId xmlns:p14="http://schemas.microsoft.com/office/powerpoint/2010/main" val="286092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D5826C-9D9A-4080-8030-A2160CA8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FD8A6-2D49-46A9-87EA-67D917B8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PPagenT 选择概率最大的需求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0F9CB-DF9F-4374-BB95-0DD18700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3875"/>
            <a:ext cx="670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FED7B-8013-4B9A-92B6-943AB235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77E05-0C1B-47B2-81EE-982BFF70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6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PPT 需求并不是平均分布的。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355C0-C981-4B7C-B838-2C26318E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67000"/>
            <a:ext cx="935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20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F0A72-3FC9-46F0-88A9-02C87CFA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717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01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E57F9-02DE-4583-80C0-0BE5190A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25717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01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0B679-9278-4246-99AC-6099F5D4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5717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0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A5DF73-0AFF-47EB-8FE9-71D8FCCA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4363" y="25717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01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A11804-4428-4381-81CA-17BBBE9A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01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56B40-6AA7-41B0-B7BF-AE00772C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337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几乎不在意版式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只要把文字放上去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E71BA-D3DC-48A3-8D40-AD35B0BA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发布会、品牌路演</a:t>
            </a:r>
          </a:p>
          <a:p xmlns:a="http://schemas.openxmlformats.org/drawingml/2006/main">
            <a:pPr algn="r">
              <a:lnSpc>
                <a:spcPct val="112000"/>
              </a:lnSpc>
              <a:buNone/>
              <a:defRPr sz="135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高度定制的视觉创意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B3098A-1D91-40CA-8D76-4C2B7753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47900"/>
            <a:ext cx="384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8D2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D2A7C-74AC-4C59-A537-9658B79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6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202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工作型 PPT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AFD5CD-00EC-4799-97DB-F42CF117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622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学校、科研院所、事业单位、央国企与普通企业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0D9999-10D2-462A-86F5-9A992157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386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不能乱 / 不能丑 / 不能掉价 / 生成后仍可修改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19E583-98EA-4230-97CA-9D65B657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384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D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14D08E-67A9-46D3-8C7B-2ED5039D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14900"/>
            <a:ext cx="861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“PPagenT 首先选择概率密度最大、重复发生、也最适合标准化的工作型 PPT。”</a:t>
            </a:r>
          </a:p>
        </p:txBody>
      </p:sp>
    </p:spTree>
    <p:extLst>
      <p:ext uri="{BB962C8B-B14F-4D97-AF65-F5344CB8AC3E}">
        <p14:creationId xmlns:p14="http://schemas.microsoft.com/office/powerpoint/2010/main" val="20897635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E12A38-8D71-4E9A-9054-3EFE97D0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81012-5CB6-4F05-B94B-E0CB4EC3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可靠度来自跨过可用线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DB129-CCC9-418A-B4B1-D0B62C2B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3875"/>
            <a:ext cx="727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C92E0-A47C-4C8E-AA69-3417B26F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4936D-71AA-49FD-A781-0B25EA0C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真正想提高的，不是某一次生成的最高分，而是达到可用标准的概率。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4CF90-7252-4A61-9A20-70007DC4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576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C5632-B27F-4E9C-97E3-C040A5F9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质量分布的比喻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E6AF7-3F6A-4650-9DFB-951D5035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99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9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4350" b="1" i="0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 i="0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95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93BB8-C0EB-4BAA-90DB-7BB28505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偶然惊艳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9913C-9F7D-4E9E-9EF6-DADF81A3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52750"/>
            <a:ext cx="188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1C797-47DA-4E6A-A9EB-3F8C6F2B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47950"/>
            <a:ext cx="99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9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435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7A7D6-EFED-4A00-8BCD-50F1643F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480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稳定可用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A2066-34F0-44F5-B689-85A58E7B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331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0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“80 分”是稳定可用状态的形象称呼，不是产品上限。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86462-DCBC-4081-A70B-B7B8DF7B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66900"/>
            <a:ext cx="5905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7F23E-208A-4B3D-BCC5-7032E249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52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产品可靠度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EE696-8BF7-4428-97B8-F94F436B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43200"/>
            <a:ext cx="523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62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62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R = P(Q ≥ Q可用 | 目标工作场景)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328C0-6723-4A57-B059-698B31E5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195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D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7674FF-D049-4C5E-A6A1-AA3A59B2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48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随机工作稿被可靠转化为可直接使用 PPT 的概率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EFF597-4333-450F-B68E-4380B179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02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“稳定的 80 分，很多时候比随机的 95 分更值钱。”</a:t>
            </a:r>
          </a:p>
        </p:txBody>
      </p:sp>
    </p:spTree>
    <p:extLst>
      <p:ext uri="{BB962C8B-B14F-4D97-AF65-F5344CB8AC3E}">
        <p14:creationId xmlns:p14="http://schemas.microsoft.com/office/powerpoint/2010/main" val="20181317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BD6CCA-CE4F-4563-ABAF-742412D4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3A107-579F-4152-9E40-C01DFC22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限制自由，换取可靠性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08A17-C390-4AAD-AEF6-045A1823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3875"/>
            <a:ext cx="727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2A4F2-C9A8-4830-9F07-1D3BB4E3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B1F55-4392-4195-99A6-3C6B9100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自由度越高，理论上限越高；状态空间与失败模式也随之增加。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47EEF-1BD3-4293-A001-D95AAAC9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8D2"/>
          </a:solidFill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5EF96-57CE-4CDF-A2C8-47BB0413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8612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7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27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可预测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91DE1-A11B-407C-89D6-5EA2C00D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28765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B50C2-E5FC-45E4-8B77-7CA26A28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2410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组织视觉规范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94ED1-21BB-4897-BBD2-AEECE694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6700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颜色、字体、Logo、页眉页脚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6F4BA-9F7C-4F9F-9022-E6CDAE26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19375"/>
            <a:ext cx="110490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119AAA-C5C7-429D-A1FA-2FF31532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52650"/>
            <a:ext cx="28765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7823F-E228-41C5-832D-44831461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2410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已验证的表达能力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EF5485-92DD-4654-B2A0-8F8F34B0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6700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并列、顺序、对比、层级、循环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43EA64-9498-48D5-9C62-F91F3AC5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19375"/>
            <a:ext cx="110490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47AF1-5AFC-42D4-808A-BECFEE1F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91050"/>
            <a:ext cx="28765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8CD88-0591-4F65-8032-77F190ED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6250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明确的容量边界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33ACC6-FF34-4A17-9294-489807EC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0540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数量、退化方式与失败边界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DC2BC5-6F09-4FB5-8D72-4DD6F188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57750"/>
            <a:ext cx="110490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28BD6D-8295-4906-BC98-54CC7BC0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91050"/>
            <a:ext cx="28765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F0EF54-904C-45B6-8940-AD1E5566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6250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确定性代码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81F4D3-AD96-4D23-80C1-0C52D74D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0540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把决策稳定编译成可编辑 PPTX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CD7628-41D0-4E43-B024-51DB6F91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110490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B6741D-D7C3-4A72-8F02-36DE2733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388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“每次都不一样，有时候才是缺点。”</a:t>
            </a:r>
          </a:p>
        </p:txBody>
      </p:sp>
    </p:spTree>
    <p:extLst>
      <p:ext uri="{BB962C8B-B14F-4D97-AF65-F5344CB8AC3E}">
        <p14:creationId xmlns:p14="http://schemas.microsoft.com/office/powerpoint/2010/main" val="14864298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276DE2-DABE-43AC-88A8-923777D4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C5345-7AF8-49BB-A04E-44CD235D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AI 负责理解与路由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79497-9167-48B9-B840-F74AAF5A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3875"/>
            <a:ext cx="727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2A7F4-2FC6-41A3-A301-600D2364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4A390-2066-4091-84B8-6C93083C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6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AI 不直接自由绘制整份 PPT。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A80DC-01A1-4FD0-ADBE-176D53F8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28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98928-B99D-4B4D-8FBE-0A96AFE0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原始稿件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DD45B-57BF-4A70-950A-1C103930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5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内容与组织主题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85BD6-AC49-48CA-B9D6-98BED393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09750"/>
            <a:ext cx="23812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C4EE8-6937-4C93-BA33-548B479C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383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内容导演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14B06-43B4-490D-B43E-FFDDB9C8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00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理解稿件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4AA3C-46F7-44C1-A783-42E21F6E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384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组织叙事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拆页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形成页面内容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49A69-D589-4D17-BA2F-54956FA6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23812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A2A4AE-6B90-46EC-96AB-FBAD7BBC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383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视觉导演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9646A-2F6B-460A-B189-4B617A41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选择表达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F2BB59-B9D4-416E-8496-E7801864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384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判断适合的结构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从确认能力中路由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必要时补充结构化信息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4816E6-97E4-4188-B14D-FEF477ED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66950"/>
            <a:ext cx="1981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8D2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EB6C0D-B13A-4FC5-92B9-7E5DA04B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765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原生 PPTX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83F8F4-4BBB-494C-829F-AA93A270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956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5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可编辑对象</a:t>
            </a:r>
          </a:p>
        </p:txBody>
      </p: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71800" y="286702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35D4F"/>
            </a:solidFill>
            <a:prstDash val="solid"/>
            <a:tailEnd type="arrow" w="sm" len="sm"/>
          </a:ln>
        </p:spPr>
      </p:cxnSp>
      <p:cxnSp>
        <p:nvCxnSpPr>
          <p:cNvPr id="47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81700" y="286702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35D4F"/>
            </a:solidFill>
            <a:prstDash val="solid"/>
            <a:tailEnd type="arrow" w="sm" len="sm"/>
          </a:ln>
        </p:spPr>
      </p:cxnSp>
      <p:cxnSp>
        <p:nvCxnSpPr>
          <p:cNvPr id="48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953500" y="28670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35D4F"/>
            </a:solidFill>
            <a:prstDash val="solid"/>
            <a:tail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8EF5EE-E405-43EF-8612-EEC20785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D3C1B6-3763-4338-BB06-6AC7F578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AI 负责理解和路由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BB1B88-96B7-49F8-9CA1-FCA90FF3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197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规则负责约束和选择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616B33-0605-49CB-9C5B-3029992C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197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22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代码负责稳定生成</a:t>
            </a:r>
          </a:p>
        </p:txBody>
      </p:sp>
    </p:spTree>
    <p:extLst>
      <p:ext uri="{BB962C8B-B14F-4D97-AF65-F5344CB8AC3E}">
        <p14:creationId xmlns:p14="http://schemas.microsoft.com/office/powerpoint/2010/main" val="17473314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24C623-B7C8-4D04-95B6-16DDC45F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D01FA-F244-435B-A1F3-ADB6943F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两条路线，唯一交汇点是核心资产库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018D3-9E95-404A-831B-B4C2B6C1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3875"/>
            <a:ext cx="670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8A152-F182-4386-8458-7DE3F4BF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28365-B035-41F9-9BC7-A77CC6A7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建设期把经验变成能力，运行期把能力稳定地用出来。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15AB8-AF49-46E3-B178-C954A378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资产入库线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AFC19-7291-4D6E-AC55-639CC5BA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55665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55665E"/>
                </a:solidFill>
                <a:latin typeface="Noto Sans SC"/>
                <a:ea typeface="Noto Sans SC"/>
                <a:cs typeface="Noto Sans SC"/>
              </a:rPr>
              <a:t>正式生成线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B2250-6B73-471B-A062-E48F1A14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907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113EC-95ED-4C5F-B66A-69E40E30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3812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优秀参考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C211E-4F52-4888-80C1-DB0ECBE7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523D1-4D5E-495D-8FCA-FDE70B71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812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提炼规律</a:t>
            </a:r>
          </a:p>
        </p:txBody>
      </p:sp>
      <p:cxnSp>
        <p:nvCxnSpPr>
          <p:cNvPr id="52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43250" y="25241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35D4F"/>
            </a:solidFill>
            <a:prstDash val="solid"/>
            <a:tailEnd type="arrow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50E03C-FBA8-4B0D-AE32-551FFA27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B4F96-FBF6-4364-A483-7EE11F68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812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扩展能力</a:t>
            </a:r>
          </a:p>
        </p:txBody>
      </p:sp>
      <p:cxnSp>
        <p:nvCxnSpPr>
          <p:cNvPr id="55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143500" y="25241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35D4F"/>
            </a:solidFill>
            <a:prstDash val="solid"/>
            <a:tail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86E80-79B9-4649-9CEA-0B893231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A0F3B-AC00-481D-8846-1BB9F0DF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812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用户确认</a:t>
            </a:r>
          </a:p>
        </p:txBody>
      </p:sp>
      <p:cxnSp>
        <p:nvCxnSpPr>
          <p:cNvPr id="58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143750" y="25241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35D4F"/>
            </a:solidFill>
            <a:prstDash val="solid"/>
            <a:tail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AA5D13-0E04-49BE-BB7A-C9D299AE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907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8D2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40A081-46C0-4ED5-993E-BF1C1F24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核心资产库</a:t>
            </a:r>
          </a:p>
        </p:txBody>
      </p:sp>
      <p:cxnSp>
        <p:nvCxnSpPr>
          <p:cNvPr id="61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44000" y="25241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35D4F"/>
            </a:solidFill>
            <a:prstDash val="solid"/>
            <a:tail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791BDE-32C8-475C-BCC1-1F092D11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862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7715C1-C40E-4CC5-99F6-5EEF89EA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3865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原始稿件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+ 组织主题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D47682-B0D8-4257-B2C4-FA626D18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862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53C703-4346-41F6-ABB8-CFCEB76E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3865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AI 理解与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编排</a:t>
            </a:r>
          </a:p>
        </p:txBody>
      </p:sp>
      <p:cxnSp>
        <p:nvCxnSpPr>
          <p:cNvPr id="66" name=""/>
          <p:cNvCxnSpPr>
            <a:stCxn xmlns:a="http://schemas.openxmlformats.org/drawingml/2006/main" id="2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143250" y="46577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5665E"/>
            </a:solidFill>
            <a:prstDash val="solid"/>
            <a:tailEnd type="arrow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D8177E-D741-4626-87B9-3838466E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862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86C0FE-29F9-44AC-90CC-44401AA5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3865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选择合法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能力</a:t>
            </a:r>
          </a:p>
        </p:txBody>
      </p:sp>
      <p:cxnSp>
        <p:nvCxnSpPr>
          <p:cNvPr id="69" name=""/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5143500" y="46577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5665E"/>
            </a:solidFill>
            <a:prstDash val="solid"/>
            <a:tailEnd type="arrow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5151C9-45B3-4D37-B865-9268E0B4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862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7F64FC-92A3-4F6A-9E69-2C58F569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3865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确定性排版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与编译</a:t>
            </a:r>
          </a:p>
        </p:txBody>
      </p:sp>
      <p:cxnSp>
        <p:nvCxnSpPr>
          <p:cNvPr id="72" name=""/>
          <p:cNvCxnSpPr>
            <a:stCxn xmlns:a="http://schemas.openxmlformats.org/drawingml/2006/main" id="27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7143750" y="46577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5665E"/>
            </a:solidFill>
            <a:prstDash val="solid"/>
            <a:tailEnd type="arrow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F5C104-2853-45B7-A58E-C5C93D9E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862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8D2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F1FA5C-8BD8-403B-8FA4-38269448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3865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9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原生可编辑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PPTX</a:t>
            </a:r>
          </a:p>
        </p:txBody>
      </p:sp>
      <p:cxnSp>
        <p:nvCxnSpPr>
          <p:cNvPr id="75" name=""/>
          <p:cNvCxnSpPr>
            <a:stCxn xmlns:a="http://schemas.openxmlformats.org/drawingml/2006/main" id="30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9144000" y="46577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5665E"/>
            </a:solidFill>
            <a:prstDash val="solid"/>
            <a:tailEnd type="arrow" w="sm" len="sm"/>
          </a:ln>
        </p:spPr>
      </p:cxnSp>
      <p:cxnSp>
        <p:nvCxnSpPr>
          <p:cNvPr id="76" name=""/>
          <p:cNvCxnSpPr>
            <a:stCxn xmlns:a="http://schemas.openxmlformats.org/drawingml/2006/main" id="19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6429375" y="2857500"/>
            <a:ext cx="3981450" cy="1428750"/>
          </a:xfrm>
          <a:prstGeom xmlns:a="http://schemas.openxmlformats.org/drawingml/2006/main" prst="bentConnector4">
            <a:avLst>
              <a:gd name="adj1" fmla="val 0"/>
              <a:gd name="adj2" fmla="val 16000"/>
            </a:avLst>
          </a:prstGeom>
          <a:ln xmlns:a="http://schemas.openxmlformats.org/drawingml/2006/main" w="14288">
            <a:solidFill>
              <a:srgbClr val="A35D4F"/>
            </a:solidFill>
            <a:prstDash val="dash"/>
            <a:tailEnd type="arrow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ABACEC-6274-4890-955A-2BE6F5D5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71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只读调用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A80853-9DA5-45DD-9118-7961322B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197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97ADA0-9878-4E28-9590-ED25A480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70547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0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0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没有合适结构：简单排版 / 拆页</a:t>
            </a:r>
          </a:p>
        </p:txBody>
      </p:sp>
      <p:cxnSp>
        <p:nvCxnSpPr>
          <p:cNvPr id="80" name=""/>
          <p:cNvCxnSpPr>
            <a:stCxn xmlns:a="http://schemas.openxmlformats.org/drawingml/2006/main" id="27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6429375" y="5029200"/>
            <a:ext cx="285750" cy="590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85837B"/>
            </a:solidFill>
            <a:prstDash val="dash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3680031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D67AC7-B38D-4D23-83ED-90CD8D2D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2E989-49CC-4F21-8C23-FDFCBD6B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把昂贵的计算前移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DDD49-7711-48ED-8FBA-5AC12A65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3875"/>
            <a:ext cx="756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117F6-81DD-4ABE-9F3D-4D3E3F67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3F523-2F54-47BE-A454-83C981DA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视觉理解没有消失，而是从在线成本变成可复用的离线资产。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29D7C-5504-4AEC-A310-EEDE832D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20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4534F-C3C0-42D5-9881-4622D361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003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8D2"/>
          </a:solidFill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79442-6D5F-4C8E-9124-9112A43E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2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94A3C-9496-4F1F-BAFB-DBA11527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766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建设期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B8D11-8D90-438C-81E9-1CA4C4CD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76650"/>
            <a:ext cx="2095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2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筛选优秀页面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理解为什么好看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内容与数量参数化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验证不同状态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0EA36-09CD-45B9-9F45-890B0653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03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19050">
            <a:solidFill>
              <a:srgbClr val="20201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EC41C-89FA-4C52-9D24-118393C1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2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A6A78-B09C-4978-AD37-9F3A75F7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766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用户确认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72ACB8-03E7-48F4-8CE6-10F196C6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76650"/>
            <a:ext cx="2095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确认能力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进入正式资产库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451D86-4383-4C1E-BF63-A35DEFE0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003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19050">
            <a:solidFill>
              <a:srgbClr val="5566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6DC7D-795D-413F-805D-92BA5E69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2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55665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55665E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AE7B19-C514-4463-A782-B42C0C99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766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55665E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55665E"/>
                </a:solidFill>
                <a:latin typeface="Noto Serif SC"/>
                <a:ea typeface="Noto Serif SC"/>
                <a:cs typeface="Noto Serif SC"/>
              </a:rPr>
              <a:t>正式生成期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39A219-12F5-40E7-9297-AA9AEA1C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76650"/>
            <a:ext cx="2095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理解、分类、路由、填参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确定性代码绘制与检查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AF834-9693-4666-8FEF-3C71021B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9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4720CD-ADF4-46C9-A016-E1EAFBEC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一次建设，多次复用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68E245-53B4-4F91-9528-E08C9E2E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626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7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视觉模型可以用于建设期的资产理解与审查，但不成为每次交付的必要成本。</a:t>
            </a:r>
          </a:p>
        </p:txBody>
      </p:sp>
    </p:spTree>
    <p:extLst>
      <p:ext uri="{BB962C8B-B14F-4D97-AF65-F5344CB8AC3E}">
        <p14:creationId xmlns:p14="http://schemas.microsoft.com/office/powerpoint/2010/main" val="1811271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D2964B-B925-43B8-8DDE-4F757A8E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FC750-E3B4-4370-8DD4-4636010E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能力包保存的不是页面，而是边界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CB126-61ED-479E-A706-BC49FC34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3875"/>
            <a:ext cx="670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FE48A-E5E0-495A-9D7F-DD12C9D8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F3939-5A22-4C25-B417-A89652A8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原页面三个观点，新稿件可能有四个；原页面十个字，新内容可能有六十个。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B217E-A4BA-4CDE-A98D-561BB46F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37F03-EB3E-465D-830D-8BB48559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1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内容数量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859D9-91E9-42B9-83B1-159EC00E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3 个观点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→ 4 个观点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CF7F8-3EB0-46FC-AB6B-EE090FDA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81300"/>
            <a:ext cx="533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5B5089-4C16-4F11-BB8F-8B9AD581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090F4-8DA1-4BEF-B25C-813BC32F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6700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1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可用容量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D193A-D3DD-4A30-B4EE-783C074D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一个版式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能处理多少内容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1187A-CA84-489A-902E-0788DA44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533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2231F-8994-4F00-82D5-5654A01F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907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63C41-EA0E-427B-AAC1-CEE90475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1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适应变化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9EA67A-1EE8-413C-BCB6-850025DC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480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重新排布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保持结构辨识度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8FCAB3-2702-4439-B7EC-67DF2C07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81300"/>
            <a:ext cx="533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A1C6D-14F1-459A-BC8B-A2381D64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907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8D2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5A15D1-C99C-4B63-93AB-4C5A5CEB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6700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1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超出边界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4F6CEB-C06C-410E-8EA2-44C09D4D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480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换样式 / 拆页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/ 简单排版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8F70C6-77B6-4ABE-92E4-DA3D7E01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51BF30-0CE1-463E-93BB-22C94B08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真正的资产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F66A39-17B7-49A4-8A87-9050BE63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006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什么内容适合怎样表达，怎样稳定变化，超过边界以后该怎么处理。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277EDD-3196-43A1-BCA5-10F6E36D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“一个漂亮页面，只有在规律被提炼出来以后，才能从一件作品变成一种能力。”</a:t>
            </a:r>
          </a:p>
        </p:txBody>
      </p:sp>
    </p:spTree>
    <p:extLst>
      <p:ext uri="{BB962C8B-B14F-4D97-AF65-F5344CB8AC3E}">
        <p14:creationId xmlns:p14="http://schemas.microsoft.com/office/powerpoint/2010/main" val="1419535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19E1DC-CFAC-4D8E-9359-B278A8D2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0ACBF-6CA4-4D57-BC85-F91C7E31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PPagenT 的壁垒在可复用经验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49D28-8FCF-485B-AD5F-95B837E2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3875"/>
            <a:ext cx="670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2569A-F633-4D8B-B4FF-F545D946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CF112-9AB2-4C5F-ADBF-136A4B19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模型会继续变强，也会继续变便宜；经过真实任务验证的表达经验不会自动出现。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D22AD-6970-4CC3-8046-30D00671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D0DC2-A5F0-4512-BBB3-719AE4B5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D70A6-8162-4F34-B3DA-5970D999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有效的表达能力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7AD9B-3A41-4748-A9DB-97812540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209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积累多少真正有效的结构与设计规律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7B701-FC7A-4E8D-9AD4-CA24C878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0FC58-AFFF-4096-9A87-B6FB55F5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288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8B263-3A6C-4D0B-A455-39471B37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81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正确的路由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696FF-CA21-416E-8136-62BDE4A4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57550"/>
            <a:ext cx="209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能否把新内容送到合适能力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162C49-97A5-41EC-ABBB-971EF747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479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ED1EC7-A87F-4983-858F-B0163455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288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A0E5BC-84EB-4D21-94C3-7229A3A8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81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容量与边界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8C0B5-12ED-4AC9-8A53-4C5291A0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57550"/>
            <a:ext cx="209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是否知道变化方式与失败边界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F5330E-4596-4B6F-A8D8-3A63571A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479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D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A321D3-0844-4080-A324-93B749D4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288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3C9781-5E13-4E47-97ED-9A38EA1D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81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稳定的编译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6D2248-0220-4D56-9D1B-FA766A82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57550"/>
            <a:ext cx="209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能否生成符合规范、原生可编辑的结果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6C6A1A-1416-415E-A37C-791EE3AD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A945E1-AC6E-4D12-ABCE-433AE953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“真正积累的不是一万个模板，而是页面背后的经验。”</a:t>
            </a:r>
          </a:p>
        </p:txBody>
      </p:sp>
    </p:spTree>
    <p:extLst>
      <p:ext uri="{BB962C8B-B14F-4D97-AF65-F5344CB8AC3E}">
        <p14:creationId xmlns:p14="http://schemas.microsoft.com/office/powerpoint/2010/main" val="369356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4AE218-0961-42EB-A6B9-9473BD2E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E9E96-6D50-44DB-9C54-C1E3FA5C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从一个学校，走向更多组织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68F39-2A7D-40FD-96D7-3B8DE988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3875"/>
            <a:ext cx="6991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06D5B-A54A-4F8A-BD71-1503205E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89C75-22EA-409D-B6DE-BBFE4CFA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主题负责组织差异，内容理解与表达能力继续复用。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FBC9A-354B-4BD3-8CB1-9BCCA08B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8D2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B52E6-18B3-47D6-AFAD-4EF14E00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7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第一个正式落地场景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740AD-CDC4-4B7C-8061-A3A584BC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480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7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62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262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东北大学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D389F-089D-4EE1-A21A-94C9F403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9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明确的视觉规范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持续发生的汇报需求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真实可检验的使用边界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4AB87-8C8A-4BC1-819D-3644DDAF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C6650-0FB2-4D18-ADA3-C4762213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0500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其他学校</a:t>
            </a:r>
          </a:p>
        </p:txBody>
      </p: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924300" y="2085975"/>
            <a:ext cx="2171700" cy="1123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1430">
            <a:solidFill>
              <a:srgbClr val="A35D4F"/>
            </a:solidFill>
            <a:prstDash val="solid"/>
            <a:tailEnd type="arrow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8848F-3CED-4245-8835-D9F260E9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C401C-8E65-4E9F-A519-094F5C8D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0500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科研院所</a:t>
            </a:r>
          </a:p>
        </p:txBody>
      </p: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3924300" y="2085975"/>
            <a:ext cx="4933950" cy="1123950"/>
          </a:xfrm>
          <a:prstGeom xmlns:a="http://schemas.openxmlformats.org/drawingml/2006/main" prst="bentConnector3">
            <a:avLst>
              <a:gd name="adj1" fmla="val 95367"/>
            </a:avLst>
          </a:prstGeom>
          <a:ln xmlns:a="http://schemas.openxmlformats.org/drawingml/2006/main" w="11430">
            <a:solidFill>
              <a:srgbClr val="A35D4F"/>
            </a:solidFill>
            <a:prstDash val="solid"/>
            <a:tail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945E7-9890-43F2-BC40-B80E81BF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B9455-69B9-4F3B-B3F2-843ACD8B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实验室</a:t>
            </a:r>
          </a:p>
        </p:txBody>
      </p: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924300" y="3209925"/>
            <a:ext cx="2171700" cy="971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1430">
            <a:solidFill>
              <a:srgbClr val="A35D4F"/>
            </a:solidFill>
            <a:prstDash val="solid"/>
            <a:tail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7DA3E0-6F6C-4259-958B-D37F2F7C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78DB68-B17E-4F72-8A9B-3A96E0D3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0050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企业与团队</a:t>
            </a:r>
          </a:p>
        </p:txBody>
      </p:sp>
      <p:cxnSp>
        <p:nvCxnSpPr>
          <p:cNvPr id="44" name=""/>
          <p:cNvCxnSpPr>
            <a:stCxn xmlns:a="http://schemas.openxmlformats.org/drawingml/2006/main" id="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924300" y="3209925"/>
            <a:ext cx="4933950" cy="971550"/>
          </a:xfrm>
          <a:prstGeom xmlns:a="http://schemas.openxmlformats.org/drawingml/2006/main" prst="bentConnector3">
            <a:avLst>
              <a:gd name="adj1" fmla="val 95367"/>
            </a:avLst>
          </a:prstGeom>
          <a:ln xmlns:a="http://schemas.openxmlformats.org/drawingml/2006/main" w="11430">
            <a:solidFill>
              <a:srgbClr val="A35D4F"/>
            </a:solidFill>
            <a:prstDash val="solid"/>
            <a:tail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591841-C7D0-4775-907F-AE977920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0589ED-FB4F-443C-8FCC-D705EDC0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颜色、Logo、字体、页眉页脚由主题配置替换；内容理解规则与表达能力继续复用。</a:t>
            </a:r>
          </a:p>
        </p:txBody>
      </p:sp>
    </p:spTree>
    <p:extLst>
      <p:ext uri="{BB962C8B-B14F-4D97-AF65-F5344CB8AC3E}">
        <p14:creationId xmlns:p14="http://schemas.microsoft.com/office/powerpoint/2010/main" val="18902041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C1A7CC-CE0A-4077-BA73-56ACFEB7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B0BEE-BD0D-457F-8DDC-A20BE93C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一个普通问题，成为可靠的产品能力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0DF08-2E46-4EB5-926F-C6747FC2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3875"/>
            <a:ext cx="670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6C491-AE87-436F-AF68-EDF6F51D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A8D3B-BBFC-404F-BCDA-F2C0D980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70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做一套好 PPT 太费时间了。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42759-F841-42EF-8E4D-8731E4F2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PPagenT 想把已经被验证的经验留下来：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779B0-4EF9-4AB2-B367-9975B9F5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0D96C-E5DC-4A4B-A401-793D0571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06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DABA1-7048-4999-848E-13830413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读懂稿子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4D84B-BA14-43D5-8600-FF1C642B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81350"/>
            <a:ext cx="1543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C0E65-4C3B-4AB5-AF28-40A0DF71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7655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8D2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A113D-4953-4A51-94FB-3C90F956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051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06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A65C2-19EA-42FB-BD9B-0913B99C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005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做出判断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52BC8-820A-45EB-B097-53AC016D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81350"/>
            <a:ext cx="1543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F0926-2CF6-4E1E-A490-BE091372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7655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BB72AB-157D-4D1A-BBBF-0E4124A4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051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06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代码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61FE48-0905-474E-A017-378F0DD5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005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90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完成重复劳动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84BFA2-71D1-4AEB-9D7B-F2368A48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610F96-36D2-438F-B7BD-B72D9A03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21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“不一定惊艳，但靠谱；不一定独一无二，但真的好用。”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596E1A-74B7-49AE-A9EE-0D49B620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可以立刻拿去讲，也可以继续修改。</a:t>
            </a:r>
          </a:p>
        </p:txBody>
      </p:sp>
    </p:spTree>
    <p:extLst>
      <p:ext uri="{BB962C8B-B14F-4D97-AF65-F5344CB8AC3E}">
        <p14:creationId xmlns:p14="http://schemas.microsoft.com/office/powerpoint/2010/main" val="163613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2026-09-10T14:54:15.5550000Z</dcterms:created>
  <dcterms:modified xsi:type="dcterms:W3CDTF">2026-09-10T14:54:15.5550000Z</dcterms:modified>
</coreProperties>
</file>