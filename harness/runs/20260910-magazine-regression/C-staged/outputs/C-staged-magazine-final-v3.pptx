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7da25f88bb44bc" /><Relationship Type="http://schemas.openxmlformats.org/officeDocument/2006/relationships/extended-properties" Target="/docProps/app.xml" Id="Recad3438a3184d42" /><Relationship Type="http://schemas.openxmlformats.org/officeDocument/2006/relationships/officeDocument" Target="/ppt/presentation.xml" Id="R50e9779a22624ee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6c75ec10324f62"/>
  </p:sldMasterIdLst>
  <p:notesMasterIdLst>
    <p:notesMasterId xmlns:r="http://schemas.openxmlformats.org/officeDocument/2006/relationships" r:id="R3d104beb891c47df"/>
  </p:notesMasterIdLst>
  <p:sldIdLst>
    <p:sldId xmlns:r="http://schemas.openxmlformats.org/officeDocument/2006/relationships" id="256" r:id="R0ad70afc93a04dde"/>
    <p:sldId xmlns:r="http://schemas.openxmlformats.org/officeDocument/2006/relationships" id="257" r:id="Rf53afd92fc054f5a"/>
    <p:sldId xmlns:r="http://schemas.openxmlformats.org/officeDocument/2006/relationships" id="258" r:id="Rd997ab4c91ac4c8e"/>
    <p:sldId xmlns:r="http://schemas.openxmlformats.org/officeDocument/2006/relationships" id="259" r:id="R29725360afd2464a"/>
    <p:sldId xmlns:r="http://schemas.openxmlformats.org/officeDocument/2006/relationships" id="260" r:id="R9f131dae59c448c8"/>
    <p:sldId xmlns:r="http://schemas.openxmlformats.org/officeDocument/2006/relationships" id="261" r:id="Rd2dade9fe3624845"/>
    <p:sldId xmlns:r="http://schemas.openxmlformats.org/officeDocument/2006/relationships" id="262" r:id="Rf1fbd9bcd84c4f1f"/>
    <p:sldId xmlns:r="http://schemas.openxmlformats.org/officeDocument/2006/relationships" id="263" r:id="R0c46accd2ab14889"/>
    <p:sldId xmlns:r="http://schemas.openxmlformats.org/officeDocument/2006/relationships" id="264" r:id="Rafc260b0a0ee499e"/>
    <p:sldId xmlns:r="http://schemas.openxmlformats.org/officeDocument/2006/relationships" id="265" r:id="Rd2c8d1b2775c4978"/>
    <p:sldId xmlns:r="http://schemas.openxmlformats.org/officeDocument/2006/relationships" id="266" r:id="Rdceabf28e3554266"/>
    <p:sldId xmlns:r="http://schemas.openxmlformats.org/officeDocument/2006/relationships" id="267" r:id="Rcc37c42c36da4a3d"/>
    <p:sldId xmlns:r="http://schemas.openxmlformats.org/officeDocument/2006/relationships" id="268" r:id="Ra0a18ccc21e843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8af7b1d794f1b" /><Relationship Type="http://schemas.openxmlformats.org/officeDocument/2006/relationships/slideMaster" Target="/ppt/slideMasters/slideMaster1.xml" Id="Ref6c75ec10324f62" /><Relationship Type="http://schemas.openxmlformats.org/officeDocument/2006/relationships/notesMaster" Target="/ppt/notesMasters/notesMaster1.xml" Id="R3d104beb891c47df" /><Relationship Type="http://schemas.openxmlformats.org/officeDocument/2006/relationships/presProps" Target="/ppt/presProps.xml" Id="R5254d8aa214e4302" /><Relationship Type="http://schemas.openxmlformats.org/officeDocument/2006/relationships/tableStyles" Target="/ppt/tableStyles.xml" Id="R6d1950d574a04a20" /><Relationship Type="http://schemas.openxmlformats.org/officeDocument/2006/relationships/slide" Target="/ppt/slides/slide1.xml" Id="R0ad70afc93a04dde" /><Relationship Type="http://schemas.openxmlformats.org/officeDocument/2006/relationships/slide" Target="/ppt/slides/slide2.xml" Id="Rf53afd92fc054f5a" /><Relationship Type="http://schemas.openxmlformats.org/officeDocument/2006/relationships/slide" Target="/ppt/slides/slide3.xml" Id="Rd997ab4c91ac4c8e" /><Relationship Type="http://schemas.openxmlformats.org/officeDocument/2006/relationships/slide" Target="/ppt/slides/slide4.xml" Id="R29725360afd2464a" /><Relationship Type="http://schemas.openxmlformats.org/officeDocument/2006/relationships/slide" Target="/ppt/slides/slide5.xml" Id="R9f131dae59c448c8" /><Relationship Type="http://schemas.openxmlformats.org/officeDocument/2006/relationships/slide" Target="/ppt/slides/slide6.xml" Id="Rd2dade9fe3624845" /><Relationship Type="http://schemas.openxmlformats.org/officeDocument/2006/relationships/slide" Target="/ppt/slides/slide7.xml" Id="Rf1fbd9bcd84c4f1f" /><Relationship Type="http://schemas.openxmlformats.org/officeDocument/2006/relationships/slide" Target="/ppt/slides/slide8.xml" Id="R0c46accd2ab14889" /><Relationship Type="http://schemas.openxmlformats.org/officeDocument/2006/relationships/slide" Target="/ppt/slides/slide9.xml" Id="Rafc260b0a0ee499e" /><Relationship Type="http://schemas.openxmlformats.org/officeDocument/2006/relationships/slide" Target="/ppt/slides/slide10.xml" Id="Rd2c8d1b2775c4978" /><Relationship Type="http://schemas.openxmlformats.org/officeDocument/2006/relationships/slide" Target="/ppt/slides/slide11.xml" Id="Rdceabf28e3554266" /><Relationship Type="http://schemas.openxmlformats.org/officeDocument/2006/relationships/slide" Target="/ppt/slides/slide12.xml" Id="Rcc37c42c36da4a3d" /><Relationship Type="http://schemas.openxmlformats.org/officeDocument/2006/relationships/slide" Target="/ppt/slides/slide13.xml" Id="Ra0a18ccc21e843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ac43219e6f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0f3c430f1a94b1c" /><Relationship Type="http://schemas.openxmlformats.org/officeDocument/2006/relationships/notesMaster" Target="/ppt/notesMasters/notesMaster1.xml" Id="Rfbf8cc6521be440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213122c9f0f4e79" /><Relationship Type="http://schemas.openxmlformats.org/officeDocument/2006/relationships/notesMaster" Target="/ppt/notesMasters/notesMaster1.xml" Id="Re57160337990497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5ce911ba684b72" /><Relationship Type="http://schemas.openxmlformats.org/officeDocument/2006/relationships/notesMaster" Target="/ppt/notesMasters/notesMaster1.xml" Id="R134def44057f419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2ff265cfaf6476c" /><Relationship Type="http://schemas.openxmlformats.org/officeDocument/2006/relationships/notesMaster" Target="/ppt/notesMasters/notesMaster1.xml" Id="Rea24259416ed4e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217e9e8d7d84bea" /><Relationship Type="http://schemas.openxmlformats.org/officeDocument/2006/relationships/notesMaster" Target="/ppt/notesMasters/notesMaster1.xml" Id="R3fa7829c4c7840a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b175f8c3970401e" /><Relationship Type="http://schemas.openxmlformats.org/officeDocument/2006/relationships/notesMaster" Target="/ppt/notesMasters/notesMaster1.xml" Id="R963d693f70c442b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498ca0402d4274" /><Relationship Type="http://schemas.openxmlformats.org/officeDocument/2006/relationships/notesMaster" Target="/ppt/notesMasters/notesMaster1.xml" Id="R74b1de87f26a442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7edc7c69e3f4b35" /><Relationship Type="http://schemas.openxmlformats.org/officeDocument/2006/relationships/notesMaster" Target="/ppt/notesMasters/notesMaster1.xml" Id="R018e6dda01dd4e5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04f01e256d4d7d" /><Relationship Type="http://schemas.openxmlformats.org/officeDocument/2006/relationships/notesMaster" Target="/ppt/notesMasters/notesMaster1.xml" Id="Re3126db6e9a84f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b3eca8c0514101" /><Relationship Type="http://schemas.openxmlformats.org/officeDocument/2006/relationships/notesMaster" Target="/ppt/notesMasters/notesMaster1.xml" Id="R1fb0bca332c94c7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be86348254a46ec" /><Relationship Type="http://schemas.openxmlformats.org/officeDocument/2006/relationships/notesMaster" Target="/ppt/notesMasters/notesMaster1.xml" Id="R0b5f042404aa4d4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82f64b15e694f90" /><Relationship Type="http://schemas.openxmlformats.org/officeDocument/2006/relationships/notesMaster" Target="/ppt/notesMasters/notesMaster1.xml" Id="R3b62056ea873488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370ebe7ba584063" /><Relationship Type="http://schemas.openxmlformats.org/officeDocument/2006/relationships/notesMaster" Target="/ppt/notesMasters/notesMaster1.xml" Id="R158e11078e69461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来源：input/manuscript.md。稿件明确将 80 分作为形象称呼，而非质量上限。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来源：input/manuscript.md。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a9dd6e12c4e7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6e152afeaf4607" /><Relationship Type="http://schemas.openxmlformats.org/officeDocument/2006/relationships/slideLayout" Target="/ppt/slideLayouts/slideLayout1.xml" Id="Ra0da7312d57042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da7312d57042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873733c9c416a" /><Relationship Type="http://schemas.openxmlformats.org/officeDocument/2006/relationships/notesSlide" Target="/ppt/notesSlides/notesSlide1.xml" Id="R04e900df2ef3465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6b404cc32349f7" /><Relationship Type="http://schemas.openxmlformats.org/officeDocument/2006/relationships/notesSlide" Target="/ppt/notesSlides/notesSlide2.xml" Id="Rbe11062a57f94b7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e0563999f44f1" /><Relationship Type="http://schemas.openxmlformats.org/officeDocument/2006/relationships/notesSlide" Target="/ppt/notesSlides/notesSlide3.xml" Id="Rb6e2e7932cb941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f0ed35069e4f6d" /><Relationship Type="http://schemas.openxmlformats.org/officeDocument/2006/relationships/notesSlide" Target="/ppt/notesSlides/notesSlide4.xml" Id="Rca2dab83a7cb4b4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b9172174a34b67" /><Relationship Type="http://schemas.openxmlformats.org/officeDocument/2006/relationships/notesSlide" Target="/ppt/notesSlides/notesSlide5.xml" Id="R0ba8358a83664f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59f79dcbe4044" /><Relationship Type="http://schemas.openxmlformats.org/officeDocument/2006/relationships/notesSlide" Target="/ppt/notesSlides/notesSlide6.xml" Id="R3e963b212bdd4ef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c9e4eb67bf4e14" /><Relationship Type="http://schemas.openxmlformats.org/officeDocument/2006/relationships/notesSlide" Target="/ppt/notesSlides/notesSlide7.xml" Id="R3d7898009ee3462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96baba39454295" /><Relationship Type="http://schemas.openxmlformats.org/officeDocument/2006/relationships/notesSlide" Target="/ppt/notesSlides/notesSlide8.xml" Id="R46d59c153e9f4c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e08ea24654787" /><Relationship Type="http://schemas.openxmlformats.org/officeDocument/2006/relationships/notesSlide" Target="/ppt/notesSlides/notesSlide9.xml" Id="R634b0b41dc6f44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574475ca464fd1" /><Relationship Type="http://schemas.openxmlformats.org/officeDocument/2006/relationships/notesSlide" Target="/ppt/notesSlides/notesSlide10.xml" Id="Rc8280f87b2c844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b632e1b334ac0" /><Relationship Type="http://schemas.openxmlformats.org/officeDocument/2006/relationships/notesSlide" Target="/ppt/notesSlides/notesSlide11.xml" Id="Re97870c4704d4d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48c5e90ee14637" /><Relationship Type="http://schemas.openxmlformats.org/officeDocument/2006/relationships/notesSlide" Target="/ppt/notesSlides/notesSlide12.xml" Id="R0ca5623aaf024d4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e1049e9104f33" /><Relationship Type="http://schemas.openxmlformats.org/officeDocument/2006/relationships/notesSlide" Target="/ppt/notesSlides/notesSlide13.xml" Id="R168a78cd698a4a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7CE526-75C3-410E-A810-DE469088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PPagenT 产品叙事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A195C6-00D0-4B7A-B770-835E417D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10668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1BA256-DFFC-4246-8089-A66C16AB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33550"/>
            <a:ext cx="657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 PPT 生成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变成可靠的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435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生产过程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0DD159-AD84-4C96-9DD4-B04DB70B3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5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产品选择、视觉能力与稳定交付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3285B5-59A9-45F6-9E4E-73EE6469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72050"/>
            <a:ext cx="4095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一套工作型 PPT 的价值，不在偶然惊艳，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而在于能否可靠地跨过可用线。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853F8B-5498-4333-B775-E5655843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3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可靠性来自一连串可重复的判断。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83784-FFE5-4819-966B-DCE4162AB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43800" y="3257550"/>
            <a:ext cx="34099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8F6C83-6DDA-4EDA-8C0B-9FE77217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052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读稿 → 拆页 → 选结构 → 编译 → 检查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807057-08C6-4EDB-8AB9-6F191C5A4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718148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624D59-349B-438A-8D0B-EECBDE55E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8003D9-1421-4B1E-96B0-7C8303C01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做 PPT，真正昂贵的不是“画”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2287F4-1C22-46C9-BC87-2E84403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800600" y="552450"/>
            <a:ext cx="6858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E60961-C46E-437F-8630-59EF77CB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一套汇报需要连续完成多层判断。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4034C1-6300-4A03-970B-8D5A972C2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EFDD5-7074-4D8C-ADB9-7BB2F946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文本框只是结果，判断才是成本。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81512F-7151-4752-93CE-3D3E90C1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2590800"/>
            <a:ext cx="2019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B8641F-DA42-4668-BFC6-5C09A96B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384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怎么讲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743686-C52E-4C31-8268-7B88E9EA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明确这场汇报的叙事线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A5814-8973-4E84-BA34-CBF69FD25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7550" y="2590800"/>
            <a:ext cx="2019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5CF99E-D45D-4B7A-97A0-AFD9709C4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384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45A617-D85C-4EA5-8841-CEF0A5FC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956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把长稿拆成有职责的页面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875CB-F876-46CE-BFD8-2426AFF2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81700" y="2590800"/>
            <a:ext cx="2019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7E6868-16A7-4101-89F2-C9043505E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8384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怎么表达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322725-6E8A-4EB6-8F0F-7201A8B7B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2956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辨认并列、递进、因果、流程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AD23B1-FDA6-44B5-912F-F9BE8EA7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705850" y="2590800"/>
            <a:ext cx="2019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1420A2-A9C0-48EE-B398-4954EA17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838450"/>
            <a:ext cx="2019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怎么复用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E7BF70D-AD9A-4B6C-8B87-C4A8D92E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95650"/>
            <a:ext cx="2019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从既有页面提取可用经验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70AE26-96E6-4223-95F5-A9EF9626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859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一个 PPT 做得很好的人，脑子里已经积累了大量答案。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4AB544-1A3B-44F6-A57A-C14B926DA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72125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PPagenT 从一个简单的问题开始：既然高手已经知道怎样做是好的，为什么每次还要重新做一遍？</a:t>
            </a:r>
          </a:p>
        </p:txBody>
      </p:sp>
    </p:spTree>
    <p:extLst>
      <p:ext uri="{BB962C8B-B14F-4D97-AF65-F5344CB8AC3E}">
        <p14:creationId xmlns:p14="http://schemas.microsoft.com/office/powerpoint/2010/main" val="43957469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88F71D-91D0-4279-9356-3C9E0075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01DCA9-D634-4BA6-ACE1-4230282D4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PPT 需求的概率分布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2F891-FAA2-4B5C-90CA-412436211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552450"/>
            <a:ext cx="800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5961A5-E5C2-4CE9-8644-8160AFB04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PPagenT 先选择重复发生、最适合标准化的工作型 PPT。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6B32A-DE3B-4756-9E21-9BBDC3D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3F917-CE8F-471A-A5D8-A9C99F81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70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更多需求位于中间。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C6D4EB-C9DA-4421-997B-56B8DE8E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两端都真实存在，但产品先服务中间那条最常见的带宽。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64DFFEA-04AF-48F8-A587-47B95AE2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43000" y="4305300"/>
            <a:ext cx="990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784216-4894-4887-8B3B-0C6F78D1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4191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AA1D4-A841-428B-AE82-85178408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只要文字放上去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BBD943-1AF2-4713-88AF-9CCC2197B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低版式要求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FB296-209A-4CC5-B722-87A08FB45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191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154B19-9AE7-4211-8D6D-C2925680A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29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工作型 PPT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F8901A-F137-4134-AA16-A35048EF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概率密度最大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E9FE31-B519-4D88-BE96-E5B101000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4191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885070-70B9-483D-99CA-80BF0F9F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62915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0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高度定制创意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F28F7F-46FA-4DEB-A549-3AB73041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49530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发布会 / 路演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23E4C0-E076-4EB5-9499-49CFBDD1D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52950" y="3752850"/>
            <a:ext cx="30861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45646A-B5A8-4624-BB71-1B4B5B1EC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15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不能乱，不能丑，不能掉价，不能生成完以后无法修改。</a:t>
            </a:r>
          </a:p>
        </p:txBody>
      </p:sp>
    </p:spTree>
    <p:extLst>
      <p:ext uri="{BB962C8B-B14F-4D97-AF65-F5344CB8AC3E}">
        <p14:creationId xmlns:p14="http://schemas.microsoft.com/office/powerpoint/2010/main" val="15247177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88489B-3DF9-4F8D-A1C5-686C868A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3F6A3C-BD42-43F1-94EE-5DEACAE2B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稳定跨过可用线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F70E5-D84F-4B63-B23E-DDC9516F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43200" y="552450"/>
            <a:ext cx="891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CD482E-C9BD-445B-86F2-3EF44497A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产品追求的是达到可用标准的概率。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E7CF94-41B1-4411-B004-DCFE01B9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F9A584-4CAC-45CD-A926-0322E2CC6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稳定的 80 分，很多时候比随机的 95 分更值钱。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B4590-76B7-4276-9D93-B348DDFB2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57400"/>
            <a:ext cx="904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“80 分”是稳定可用状态的形象称呼：直接使用不失专业，继续修改有可靠基础。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DABB76-DC35-41A0-B7D6-E9B4999A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43250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016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6900" b="1">
                <a:solidFill>
                  <a:srgbClr val="85837B"/>
                </a:solidFill>
                <a:latin typeface="Noto Serif SC"/>
                <a:ea typeface="Noto Serif SC"/>
                <a:cs typeface="Noto Serif SC"/>
              </a:defRPr>
            </a:pPr>
            <a:r>
              <a:rPr sz="6900" b="1">
                <a:solidFill>
                  <a:srgbClr val="85837B"/>
                </a:solidFill>
                <a:latin typeface="Noto Serif SC"/>
                <a:ea typeface="Noto Serif SC"/>
                <a:cs typeface="Noto Serif SC"/>
              </a:rPr>
              <a:t>95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19A3D-199A-4263-BCE5-AF397391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2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偶尔惊艳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A97F8B-215C-462D-8C1E-5D89580AA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57500"/>
            <a:ext cx="21907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6962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88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885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80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D9F79F-56F2-4823-AD66-19563827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42481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1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稳定可用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5C1D3C-BF4B-4D92-8D88-309CF5F21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3875" y="2914650"/>
            <a:ext cx="9525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BF9430-339D-4E28-8858-E03950C4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2385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R = P(Q ≥ Q可用 | 目标工作场景)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D76339-3D88-48B7-952A-4714D3BA7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076700"/>
            <a:ext cx="271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真正想提高的不是某一次生成的最高分，而是结果达到可用标准的概率。</a:t>
            </a:r>
          </a:p>
        </p:txBody>
      </p:sp>
    </p:spTree>
    <p:extLst>
      <p:ext uri="{BB962C8B-B14F-4D97-AF65-F5344CB8AC3E}">
        <p14:creationId xmlns:p14="http://schemas.microsoft.com/office/powerpoint/2010/main" val="730873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24A5D38-6556-4AFE-867A-43016E2E1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55EDEB-999E-415E-9499-885F50341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用限制自由换取可靠性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0A2D10-E993-4F9B-8F60-6BDAD5E3C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429000" y="552450"/>
            <a:ext cx="8229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49603E-7848-49C7-B6DE-C78D009EC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工作里的 PPT 不需要每次把颜色、结构和版式全部重来。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408D4-42A2-45B3-9BC1-5CD3C504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53E6537-12B2-498E-97F1-7BCD0D146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2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自由度越高，状态空间越大，失败模式也越多。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2AF35-4542-42E2-81F4-B50F3068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正式工作更需要可预测。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71BA9-28C5-4F48-8A65-A606FBADB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47750" y="3886200"/>
            <a:ext cx="9715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4111D-3D4F-44E8-A3D8-E78A5F29F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1CB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C6E431-7FC3-410A-AA0F-FFD9E9B04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2437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组织规范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550C2-2BD0-45EA-BA8C-64174FD1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14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颜色、字体、Logo、页眉页脚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34FD21-3741-41D3-AB87-51CADED2A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90700" y="3886200"/>
            <a:ext cx="129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7BF2B-432E-4BD2-B3D2-F68DA507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100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EA0066-4BED-46FD-AA9D-44B3E29F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47662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80616A-9241-4D21-9AC0-E46277B1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52437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表达能力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315F3-FA79-4F31-A21B-FFC826B7A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914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已经验证的页面结构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8EFD1CE-F92A-46F3-A181-E26507ED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438650" y="3886200"/>
            <a:ext cx="129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B5DEF-E856-476A-B682-13094F287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8100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C6D2E9-ADBF-4EB9-947E-B46B0C66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7662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E3F5F0C-C5F3-46A1-A2AD-CE5EBFB1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52437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容量边界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DB38A0-BAF2-4988-9151-4517E2CF7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914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数量与长度的稳定范围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240994-0A50-4F40-BC66-969BF377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86600" y="3886200"/>
            <a:ext cx="1295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E53ABAD-25D3-4872-A3A7-505470C61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8100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69EC72-62B2-4012-8791-18BE5CD9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476625"/>
            <a:ext cx="819150" cy="819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2B5319-0164-4264-B6FC-2D98B5D0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524375"/>
            <a:ext cx="1009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退化方式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7546D9-A5D5-4D43-8278-C3BD481A1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914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换样式、拆页或简单排版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D4C97C-EE71-413A-BAC3-BD03348F0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960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每次都不一样，有时候才是缺点。</a:t>
            </a:r>
          </a:p>
        </p:txBody>
      </p:sp>
    </p:spTree>
    <p:extLst>
      <p:ext uri="{BB962C8B-B14F-4D97-AF65-F5344CB8AC3E}">
        <p14:creationId xmlns:p14="http://schemas.microsoft.com/office/powerpoint/2010/main" val="13755285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9DD99C-D1AE-43F0-997F-541FC3CA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E4375D-0189-4D4C-A7E0-962435120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AI 是控制器，不是画师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959FAE-426B-42E8-AF53-E383CFF18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552450"/>
            <a:ext cx="777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1FFEDC-7CB2-4B7E-A3C4-3C8D3E38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AI 负责理解和路由，规则负责约束和选择，代码负责稳定生成。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96D021-3E41-49F1-939B-92EFEA32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E7586B-E77C-4ABD-9544-744326014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EA83E3-F08A-4FC2-9C6D-56EFC7DD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38500"/>
            <a:ext cx="8001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理解稿件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组织叙事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拆页填参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84F91E-88B9-4EF4-BBE8-DFD529D7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847850" y="2552700"/>
            <a:ext cx="990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CCF2C1-D478-4947-B5B0-506D31B5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4765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E3B7A-F7A9-4179-B877-F83685957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809750"/>
            <a:ext cx="2247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D3A1B2-4B53-40F5-84A6-A7F85ED7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955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内容导演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0C38A9-98DA-4EBB-8363-C5CE10661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57550" y="2609850"/>
            <a:ext cx="1790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171783-8B7F-4A0B-8EE6-1BEA196A8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575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读懂稿件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安排页面职责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CB4B28-5E0A-423A-AB38-CB6D2753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91150" y="278130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ABE849-6BDF-44A8-85FB-3F51F9EE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051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B6E424-260D-4F9E-9E4E-25237936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809750"/>
            <a:ext cx="2247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14DEF3-DBEE-459C-B1A4-AAF8E90D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0955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视觉导演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F4268E-D7D3-49CB-9CE8-4D1720BE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943600" y="2609850"/>
            <a:ext cx="1790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4AA11-0315-4B3A-BC0E-E0ADCF49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8575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判断表达方式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选择合法结构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418979-B360-4131-92FD-ED86740E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77200" y="2781300"/>
            <a:ext cx="114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C24EEB-5CCD-48B3-AE0A-8564F2974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70510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7EA752-6469-4384-B3C1-4C024DF64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1809750"/>
            <a:ext cx="22479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CE5"/>
          </a:solidFill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DCF52-D844-498C-B7FB-2CB94F03F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95500"/>
            <a:ext cx="1828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确定性代码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0569DA-7122-44EC-8ABF-7C714323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629650" y="2609850"/>
            <a:ext cx="1790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ED3632-E53D-45CB-8562-473328C1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57500"/>
            <a:ext cx="18288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编译成原生</a:t>
            </a:r>
          </a:p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可编辑 PPTX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75387B-9260-4CFC-BD1C-99A61975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148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AI 不直接自由绘制整份 PPT。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E1E8AA9-FB85-461B-B001-1212FEB4D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067300"/>
            <a:ext cx="666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55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主题负责组织样式，核心能力库保存已经确认的表达方式；没有合适结构时，系统退回简单排版。</a:t>
            </a:r>
          </a:p>
        </p:txBody>
      </p:sp>
    </p:spTree>
    <p:extLst>
      <p:ext uri="{BB962C8B-B14F-4D97-AF65-F5344CB8AC3E}">
        <p14:creationId xmlns:p14="http://schemas.microsoft.com/office/powerpoint/2010/main" val="16718339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B1EBDA-95AA-498C-B467-AA2D2192E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3ADE8-96F2-4BB4-A12B-7EBC20667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两条路线，一处交汇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B09BA6-89FA-4961-80FB-54BE949E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00400" y="552450"/>
            <a:ext cx="8458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D93669-C6B7-4F1E-9A41-D9B2508F0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资产入库线建设能力，正式生成线稳定调用能力。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1B220B-F9A4-4155-A961-12A8AF545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0684A6-B50C-4D89-A485-3C758AC1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71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核心资产库是唯一交汇点。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14D547-E2F0-409E-A686-03546FE4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只有用户明确确认的能力才能进入正式生成线。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EE1430-BE1B-48BC-BEB7-E281691CF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895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资产入库线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07E7BD-6457-4F7B-8AC4-71834CC5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80060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正式生成线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54B28D-1F8A-4597-940F-2D1192677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3333750"/>
            <a:ext cx="10801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94548-FA93-4966-BA8B-C749460D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5238750"/>
            <a:ext cx="108013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A18861-0CA7-4010-BD6C-30A79F6F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8B8E53-EE39-4B67-93B9-A56D26D17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714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优秀参考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22B9E-FE02-4CD4-9FE6-6E4BE7EF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3343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A0F315-FBE5-43ED-B441-9B325B1C4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67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7F2C7C-AFB8-4122-9149-DD4B9E0A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048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E18327-5EB0-4C51-AB7F-DD8FD388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8975" y="3714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提炼规律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38BF83-45E2-4E7D-8C9C-47539D626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43400" y="3343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35F4D6-6BC4-4405-97D4-C0B41446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267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F5FC6-6BAB-4E88-A0E0-ACD49127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48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CE8E2-0BA4-480C-8B88-2DFB6A45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714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扩展能力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7CF52D-0E1F-4EEA-A29A-016E2A8D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3343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9FFEB3-EEF0-4B30-852A-76AD18B3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267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CE5511-B8CE-4471-8894-E6A8BEDA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48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297871-97ED-443E-BC2F-74D53D24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714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用户确认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A71294B-033A-4167-B09A-CD081872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3343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25DF0B-8A91-44D2-811A-1DBAA737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267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7FB0EC-470C-4485-AB8B-F597EFB1D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48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1CB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5A6B7D4-1E62-46C6-BDAF-074065CC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3714750"/>
            <a:ext cx="144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核心资产库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14F0A9-4BC0-4094-A3C2-46AF6876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53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696153-0C60-4C74-AA3A-82EA3B3AB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619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原始稿件 + 主题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E837B3-7D6E-437E-B373-92DFC752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438400" y="5248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5127151-C54A-4C7B-BBCA-655579C8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72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9132F7-6F1F-4D79-9CD7-0F37B9317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4953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E821A06-0351-482C-85D3-304578E3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5619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AI 理解与编排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BCBC638-3440-44E1-9D77-D1B51DA8F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43400" y="5248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163DEF-ED8D-486C-B8AF-217EB444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172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4F840F-DFDB-4368-B47D-2B1C4580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953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8813CF-500D-45AD-ABF7-FD6A5024B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5619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选择合法能力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8DA57D8-A6AF-49F9-87B3-A240BC8FF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248400" y="5248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CF3052-06AA-489E-A6F0-C3B8ED303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72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26E7EDB-5276-4407-8129-433F72A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53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4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3FBA77-A0F2-4C6C-ABF2-7FADEF22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619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确定性排版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2B96BA-6D90-4C91-B021-E6817A14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53400" y="5248275"/>
            <a:ext cx="971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BCAD588-8B82-427D-BE54-8E24C3CD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172075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52BA3B-D1CA-4885-941E-427C9953D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530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5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865C74-CBE6-49F3-9C59-4791AE6CF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619750"/>
            <a:ext cx="1676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原生可编辑 PPTX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1EDFB1-1B20-4029-A2DF-899119D5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372600" y="3638550"/>
            <a:ext cx="9525" cy="1314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4E0C5D9-CE34-4409-AC1F-84B8DFD1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1624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89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A35D4F"/>
                </a:solidFill>
                <a:latin typeface="Noto Sans SC"/>
                <a:ea typeface="Noto Sans SC"/>
                <a:cs typeface="Noto Sans SC"/>
              </a:rPr>
              <a:t>只读调用</a:t>
            </a:r>
          </a:p>
        </p:txBody>
      </p:sp>
    </p:spTree>
    <p:extLst>
      <p:ext uri="{BB962C8B-B14F-4D97-AF65-F5344CB8AC3E}">
        <p14:creationId xmlns:p14="http://schemas.microsoft.com/office/powerpoint/2010/main" val="15491949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B42659-3E2A-4316-BC40-56FF4B0F9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75454-FD4D-4E4C-B59A-DA6713E0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把昂贵的计算前移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AC28E-0E75-45BE-8B45-55BF0556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971800" y="552450"/>
            <a:ext cx="868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55CA45-31AE-4806-B17A-DCA68A76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视觉理解从在线成本，变成一次建设、多次复用的离线资产。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005899-8D0F-44EA-93C3-C02F41F99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7320F9-66A3-46F7-BEEF-DC332B704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14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建设期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470863-9366-477F-B2EC-FE5DD9D3D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90750"/>
            <a:ext cx="3333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人和工具反复理解参考，提炼规律，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参数化内容与数量，验证不同状态。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520872-0A03-4120-ADCA-73FB838E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286250" y="2762250"/>
            <a:ext cx="3619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51F760-FAB7-4765-9791-C710169D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048250" y="2762250"/>
            <a:ext cx="2171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E20A4F-47F9-4942-B655-709F41DE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860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9CF4E2-725B-45E0-A4B2-02CA50AC6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1717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81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离线资产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561F6E-BCCA-4070-A35E-D477533C8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321945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03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0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经过真实任务验证的表达经验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021BA9-FB49-48DA-8EDB-AC70218E0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7145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正式生成期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B2EE92-F7F2-46E5-88D0-8111746B8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190750"/>
            <a:ext cx="285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模型主要执行理解、分类、路由和填参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确定性代码负责绘制与检查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61A52-FFD5-4586-869B-53746327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45720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476A6B-FD5F-40F1-B4E3-24120A9B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一次建设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8335B-99C7-4F37-893D-B3661321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5048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多次复用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CDC00-CDEB-458C-AC37-524A09F5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0482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45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持续校准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23228F-5A31-4EE7-AC49-882508B7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10250"/>
            <a:ext cx="742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把手工业变成可以重复运行的标准化生产过程。</a:t>
            </a:r>
          </a:p>
        </p:txBody>
      </p:sp>
    </p:spTree>
    <p:extLst>
      <p:ext uri="{BB962C8B-B14F-4D97-AF65-F5344CB8AC3E}">
        <p14:creationId xmlns:p14="http://schemas.microsoft.com/office/powerpoint/2010/main" val="11037137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E4279-826A-4E60-AAD4-646EB271D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B8EDB9-A357-4133-AD8D-FA39195AD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真正积累的不是一万个模板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4EAF92-0DE7-4560-A290-EF83FCD7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552450"/>
            <a:ext cx="777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8BCC89-2CF5-4275-93A3-56BBE5DCB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页面数量会变化，背后的经验才可以沉淀。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287A6-A636-4E61-ACFF-FDB20D4F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5DF14-EA81-4DBE-B339-1798AC144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763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518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一个漂亮页面，只有在规律被提炼后，才会变成能力。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D902A-599A-44E8-9DFD-4D7057A71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228600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34A5E-7324-4988-AE54-BDDD5D2B0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4574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适配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6E6EE9-ED04-474B-A9B7-4529D5FC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574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什么内容适合怎样表达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612D5-F978-4165-B99C-22249199F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4669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0F2642-113F-4F1F-B937-4AA68591A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30289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080408-E87A-45A0-B027-1B1E44A8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004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容量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FE43E-410E-4DE9-8508-36A3AE050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004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一个版式能够处理多少内容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38F65D-5896-4201-BCD3-6A449BA7A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099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660FE4-4ACF-489D-834B-63F8D6E62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377190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7839B-2C54-4AA2-A2EB-46A5B1C3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433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2E2ABE8-46BB-46E1-8420-07D0E7E0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94335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数量变化时怎样重新排布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A6BB48-9B37-45D0-9C6B-B1706367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95287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1B57F-62B6-4762-A8D1-93B4C3D5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45148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E80A22-5884-4400-8AA5-820B5741A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8630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9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边界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6311291-9BA1-42F2-B166-921B895B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686300"/>
            <a:ext cx="590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超过边界时如何退化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D62CE-42E5-4B06-9EE9-3AD9640E9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695825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86B412-D61C-440A-92FA-DE80484E6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5429250"/>
            <a:ext cx="10172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343275-C14E-4A6D-9AE9-E336F46A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7531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真正的壁垒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3FCA91-85A5-4CFF-9D92-C092DFDE5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57531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有效能力 · 正确路由 · 清楚边界 · 稳定生成</a:t>
            </a:r>
          </a:p>
        </p:txBody>
      </p:sp>
    </p:spTree>
    <p:extLst>
      <p:ext uri="{BB962C8B-B14F-4D97-AF65-F5344CB8AC3E}">
        <p14:creationId xmlns:p14="http://schemas.microsoft.com/office/powerpoint/2010/main" val="197189985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3B105C-9383-438B-B75B-16ADE176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75337F-7A7B-4F9C-B0CA-5FAE8D01F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可靠性来自一条完整链路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3445DA-1131-489E-B8C5-B3AEC210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657600" y="552450"/>
            <a:ext cx="8001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98C7DD-A836-4965-88A2-AE9E742D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从理解稿件到原生交付，每一段都要有确定的职责。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25ADEA-192C-4334-8714-E4E68125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213B17-9EE6-47E5-A9E1-A400350DB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00B74-F8BD-47BA-BE5C-6DB64717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读稿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DA17E-1DF5-4E37-9BD0-3570C213C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" y="41148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保留论点、条件与关系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FDC98F-09BE-4DFD-9537-24F948E6F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733550" y="2914650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427D13-4ED9-485E-8574-597FCDB1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384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7231A-976C-4BE2-B847-3E66B60D4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B1AFFC-7C04-4C5A-A1EF-50D903F60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6385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编排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AA4C7A-A3F6-443D-8EB8-0A505E94B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1148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为每页确定任务与焦点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107C8A-93C3-4346-B5FF-9258B644A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533900" y="2914650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315B4D-1949-47F6-B82D-F27ED097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8384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EF65F6-5B4A-41CB-8B78-761BA377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0FC23E-5ECA-4DF0-A971-B512F03E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385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调用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B4A5D-65D0-4E3B-95C0-8D58848C7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1148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选择已确认的表达能力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29E51C-2DFB-4DC8-B5C1-08D877B4B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2914650"/>
            <a:ext cx="1333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02CD4C-0CC4-4E4F-8351-660378050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838450"/>
            <a:ext cx="17145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0">
            <a:solidFill>
              <a:srgbClr val="A35D4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674D7DC-E87E-4A7E-B68A-FBD608E55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47650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5F4EF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F5F4EF"/>
                </a:solidFill>
                <a:latin typeface="Noto Serif SC"/>
                <a:ea typeface="Noto Serif SC"/>
                <a:cs typeface="Noto Serif SC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98A29-248B-47EF-B16E-072F7DD4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638550"/>
            <a:ext cx="1257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交付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614212-2A53-4C19-8A6D-10F3B31B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114800"/>
            <a:ext cx="2038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编译并检查可编辑结果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2CF711-295E-4617-AB9B-48E5466BA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52387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DA006-948B-4827-936F-72B6A54C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388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系统不把一次生成成功当作正式能力；正式能力必须先被建设、确认和验证。</a:t>
            </a:r>
          </a:p>
        </p:txBody>
      </p:sp>
    </p:spTree>
    <p:extLst>
      <p:ext uri="{BB962C8B-B14F-4D97-AF65-F5344CB8AC3E}">
        <p14:creationId xmlns:p14="http://schemas.microsoft.com/office/powerpoint/2010/main" val="9365775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F399A8-F275-4B4A-8956-32B0DAE4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AA19B3-B24A-45E2-B15D-11DBC5AF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从一个学校，走向更多组织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0FCA5D-A124-4E85-A0B5-47946CD7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886200" y="552450"/>
            <a:ext cx="7772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41DBC6-29E3-41F0-9810-D857A80A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主题可替换组织样式，表达能力继续复用。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53613-E93B-4719-8C22-C9D489C2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0F3F29-DEA9-4DBD-8D83-45FCBBBA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50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东北大学是第一个正式落地场景。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9B612E-CCCB-4FCC-B7AF-74E8F33DE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00250"/>
            <a:ext cx="685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明确的视觉规范、持续发生的汇报需求和真实可检验的使用边界，让产品先从这里开始。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1611A6-BB0E-4B47-95B9-093052CF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314325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5D1CB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核心</a:t>
            </a:r>
          </a:p>
          <a:p xmlns:a="http://schemas.openxmlformats.org/drawingml/2006/main">
            <a:pPr algn="ctr">
              <a:defRPr sz="21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100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能力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FCB6D0-BFF4-4651-9625-61E107437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19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2C2A08-DBB6-4E43-BB19-93700AA2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学校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D0D85-C38F-4DAF-BA40-7C377A4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324100" y="3238500"/>
            <a:ext cx="364807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BD929D-F11C-40E8-A5BF-E8CE820B5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194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70F4C4-7D07-4AA1-8800-09C9D609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88620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科研院所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2D125-6F14-4292-B77A-9EBCFE75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5972175" y="3238500"/>
            <a:ext cx="2943225" cy="714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E04406-375D-45C3-98B0-500207C1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733451-4FC0-406D-BCDC-C974FD81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8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实验室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BFC1D1-7061-444E-AC2A-CCA9BE412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2419350" y="3952875"/>
            <a:ext cx="355282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1230C01-1DB1-4213-B443-09F68EB4F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8196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28B43E-B462-4111-B1C8-27E48D64A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886450"/>
            <a:ext cx="142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企业与团队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49F12-4A9E-41A5-827F-28CDB284D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5972175" y="3952875"/>
            <a:ext cx="2790825" cy="12858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A9E7F4-87A7-4E8B-AA3D-E50D91061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1150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颜色、Logo、字体、页眉页脚由主题配置替换。</a:t>
            </a:r>
          </a:p>
        </p:txBody>
      </p:sp>
    </p:spTree>
    <p:extLst>
      <p:ext uri="{BB962C8B-B14F-4D97-AF65-F5344CB8AC3E}">
        <p14:creationId xmlns:p14="http://schemas.microsoft.com/office/powerpoint/2010/main" val="16902928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EAE46-B90C-47BF-ADF3-16765AB3B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298CB2-B785-4DB6-9023-2DAE4B60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PPagenT 的产品选择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122C27-9D8B-4B2A-B30F-9800D668F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14800" y="552450"/>
            <a:ext cx="754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AEA7C6-F06A-4CB3-A68E-134161436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把不可预测的生成，变成概率上高度可预测的交付。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6C9156-8366-451C-9D1F-5FC9E530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DC507-9D1E-4ECD-9F63-F21448400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668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981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产品价值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F9C65-2E5C-4C3B-B3E1-931D3EB2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81200"/>
            <a:ext cx="5143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把原本只存在于少数人头脑和电脑里的能力，转化成更多人可以低成本获得的生产能力。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EBD6E1-AC48-45FB-9C49-DF3A6515E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667500" y="1657350"/>
            <a:ext cx="9525" cy="3486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D5CC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997947-B753-48A2-A21E-C6DFA535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811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383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5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每一次交付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4A6B95-088C-4DFD-BF73-ED581B1A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2860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35D4F"/>
          </a:solidFill>
          <a:ln xmlns:a="http://schemas.openxmlformats.org/drawingml/2006/main" w="14288">
            <a:solidFill>
              <a:srgbClr val="A35D4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F04AAF-BDDD-42A1-8A3F-A7CEEC6A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符合组织规范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CB5F4B-9342-4E47-A531-2625C1BC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33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D99B07-E0FE-4DEE-9719-B88A06BC8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8956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逻辑清楚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0E11E-E2D7-4260-8A4F-4B1EBDD55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81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33A6BF-4464-43EF-9A7B-DCDE812C6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5433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原生可编辑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B7D9C-2758-4EC7-9277-5C4A4CFE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29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4EF"/>
          </a:solidFill>
          <a:ln xmlns:a="http://schemas.openxmlformats.org/drawingml/2006/main" w="14288">
            <a:solidFill>
              <a:srgbClr val="D8D5C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19795B-B792-4725-95EF-2B7C0A8C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19100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投入与收益匹配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8F8B6F-26A9-43D8-B3BB-33E0420E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4629150"/>
            <a:ext cx="48958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8A23B8-C030-4A95-8FA4-5674702EA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10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72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不一定惊艳，但靠谱。</a:t>
            </a:r>
          </a:p>
        </p:txBody>
      </p:sp>
    </p:spTree>
    <p:extLst>
      <p:ext uri="{BB962C8B-B14F-4D97-AF65-F5344CB8AC3E}">
        <p14:creationId xmlns:p14="http://schemas.microsoft.com/office/powerpoint/2010/main" val="1680698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4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8BAEE-04B4-434A-BED6-C350A6E9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12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F75061-EB03-420D-8ED9-2BE3CD2B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7042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它仍然只想解决一件普通的事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3967E6-1B63-4574-9DF4-5796E29DA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14800" y="552450"/>
            <a:ext cx="7543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7D55B2-67E3-43BA-A31E-19309C80F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76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做一套好 PPT 太费时间，而很多时间花在以前已经有人解决过的问题上。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00690-B4C7-4DFE-B012-366EFE87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3817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8247"/>
          </a:bodyPr>
          <a:lstStyle xmlns:a="http://schemas.openxmlformats.org/drawingml/2006/main"/>
          <a:p xmlns:a="http://schemas.openxmlformats.org/drawingml/2006/main">
            <a:pPr algn="r">
              <a:lnSpc>
                <a:spcPct val="142000"/>
              </a:lnSpc>
              <a:buNone/>
              <a:def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defRPr>
            </a:pPr>
            <a:r>
              <a:rPr sz="1125" b="0">
                <a:solidFill>
                  <a:srgbClr val="85837B"/>
                </a:solidFill>
                <a:latin typeface="Noto Sans SC"/>
                <a:ea typeface="Noto Sans SC"/>
                <a:cs typeface="Noto Sans SC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249A01-AAD6-4684-B2AB-95E54341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95450"/>
            <a:ext cx="8763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8817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让一个原本不太会做 PPT 的人，也能很快得到一套可以立刻拿去讲、也可以继续修改的 PPT。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20A6A3-9C89-40A6-82E9-1B4089809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314325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5C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9DA3F-4F76-4942-A4DD-1F5C82D57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957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 AI 帮我们读稿子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7E8F7-AA69-4660-B86C-DED57668C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6957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让规则帮我们做判断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297485-548C-412C-ADB3-952D06EAC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95700"/>
            <a:ext cx="276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75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defRPr>
            </a:pPr>
            <a:r>
              <a:rPr sz="1875" b="1">
                <a:solidFill>
                  <a:srgbClr val="20201D"/>
                </a:solidFill>
                <a:latin typeface="Noto Serif SC"/>
                <a:ea typeface="Noto Serif SC"/>
                <a:cs typeface="Noto Serif SC"/>
              </a:rPr>
              <a:t>让代码完成重复劳动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A294AB-A061-4611-8612-33D238A8D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3400" y="4457700"/>
            <a:ext cx="11125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A35D4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255429-1B6F-448F-82AC-0759D620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435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086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defRPr>
            </a:pPr>
            <a:r>
              <a:rPr sz="2325" b="1">
                <a:solidFill>
                  <a:srgbClr val="A35D4F"/>
                </a:solidFill>
                <a:latin typeface="Noto Serif SC"/>
                <a:ea typeface="Noto Serif SC"/>
                <a:cs typeface="Noto Serif SC"/>
              </a:rPr>
              <a:t>不一定惊艳，但靠谱；不一定独一无二，但真的好用。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0576BE-015E-4CAF-B4EB-A38E152A7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48350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665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42000"/>
              </a:lnSpc>
              <a:buNone/>
              <a:def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defRPr>
            </a:pPr>
            <a:r>
              <a:rPr sz="1275" b="0">
                <a:solidFill>
                  <a:srgbClr val="4B4A45"/>
                </a:solidFill>
                <a:latin typeface="Noto Sans SC"/>
                <a:ea typeface="Noto Sans SC"/>
                <a:cs typeface="Noto Sans SC"/>
              </a:rPr>
              <a:t>如果能持续做到这一点，这个普通问题就能成为一项可靠的产品能力。</a:t>
            </a:r>
          </a:p>
        </p:txBody>
      </p:sp>
    </p:spTree>
    <p:extLst>
      <p:ext uri="{BB962C8B-B14F-4D97-AF65-F5344CB8AC3E}">
        <p14:creationId xmlns:p14="http://schemas.microsoft.com/office/powerpoint/2010/main" val="6174490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2026-09-10T14:52:14.2940000Z</dcterms:created>
  <dcterms:modified xsi:type="dcterms:W3CDTF">2026-09-10T14:52:14.2940000Z</dcterms:modified>
</coreProperties>
</file>