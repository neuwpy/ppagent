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d126064ef94a94" /><Relationship Type="http://schemas.openxmlformats.org/officeDocument/2006/relationships/extended-properties" Target="/docProps/app.xml" Id="R8e4ff3e9abff4ed2" /><Relationship Type="http://schemas.openxmlformats.org/officeDocument/2006/relationships/officeDocument" Target="/ppt/presentation.xml" Id="R409b9121a10d48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a9b399156a46ad"/>
  </p:sldMasterIdLst>
  <p:notesMasterIdLst>
    <p:notesMasterId xmlns:r="http://schemas.openxmlformats.org/officeDocument/2006/relationships" r:id="Rf46ef09d9b4148e9"/>
  </p:notesMasterIdLst>
  <p:sldIdLst>
    <p:sldId xmlns:r="http://schemas.openxmlformats.org/officeDocument/2006/relationships" id="256" r:id="R2a30787254dd4c63"/>
    <p:sldId xmlns:r="http://schemas.openxmlformats.org/officeDocument/2006/relationships" id="257" r:id="Ra21a1a5a0408461a"/>
    <p:sldId xmlns:r="http://schemas.openxmlformats.org/officeDocument/2006/relationships" id="258" r:id="Rd13a23388e7f4c6b"/>
    <p:sldId xmlns:r="http://schemas.openxmlformats.org/officeDocument/2006/relationships" id="259" r:id="Rfffe4c9165a543c8"/>
    <p:sldId xmlns:r="http://schemas.openxmlformats.org/officeDocument/2006/relationships" id="260" r:id="R5cc37382d1024507"/>
    <p:sldId xmlns:r="http://schemas.openxmlformats.org/officeDocument/2006/relationships" id="261" r:id="Re955398764be4e14"/>
    <p:sldId xmlns:r="http://schemas.openxmlformats.org/officeDocument/2006/relationships" id="262" r:id="Rece7038675ea4ebf"/>
    <p:sldId xmlns:r="http://schemas.openxmlformats.org/officeDocument/2006/relationships" id="263" r:id="Rfdb62f5a9c814ea3"/>
    <p:sldId xmlns:r="http://schemas.openxmlformats.org/officeDocument/2006/relationships" id="264" r:id="Rda65a269637848e1"/>
    <p:sldId xmlns:r="http://schemas.openxmlformats.org/officeDocument/2006/relationships" id="265" r:id="Raffbe4a0d9d742ea"/>
    <p:sldId xmlns:r="http://schemas.openxmlformats.org/officeDocument/2006/relationships" id="266" r:id="R07934487032c432b"/>
    <p:sldId xmlns:r="http://schemas.openxmlformats.org/officeDocument/2006/relationships" id="267" r:id="R871318043b364a35"/>
    <p:sldId xmlns:r="http://schemas.openxmlformats.org/officeDocument/2006/relationships" id="268" r:id="R8fa44c0bb49847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d78e531f624ed2" /><Relationship Type="http://schemas.openxmlformats.org/officeDocument/2006/relationships/slideMaster" Target="/ppt/slideMasters/slideMaster1.xml" Id="R37a9b399156a46ad" /><Relationship Type="http://schemas.openxmlformats.org/officeDocument/2006/relationships/notesMaster" Target="/ppt/notesMasters/notesMaster1.xml" Id="Rf46ef09d9b4148e9" /><Relationship Type="http://schemas.openxmlformats.org/officeDocument/2006/relationships/presProps" Target="/ppt/presProps.xml" Id="Rd4c454f0aafa4bd0" /><Relationship Type="http://schemas.openxmlformats.org/officeDocument/2006/relationships/tableStyles" Target="/ppt/tableStyles.xml" Id="R7171f03428d34e6a" /><Relationship Type="http://schemas.openxmlformats.org/officeDocument/2006/relationships/slide" Target="/ppt/slides/slide1.xml" Id="R2a30787254dd4c63" /><Relationship Type="http://schemas.openxmlformats.org/officeDocument/2006/relationships/slide" Target="/ppt/slides/slide2.xml" Id="Ra21a1a5a0408461a" /><Relationship Type="http://schemas.openxmlformats.org/officeDocument/2006/relationships/slide" Target="/ppt/slides/slide3.xml" Id="Rd13a23388e7f4c6b" /><Relationship Type="http://schemas.openxmlformats.org/officeDocument/2006/relationships/slide" Target="/ppt/slides/slide4.xml" Id="Rfffe4c9165a543c8" /><Relationship Type="http://schemas.openxmlformats.org/officeDocument/2006/relationships/slide" Target="/ppt/slides/slide5.xml" Id="R5cc37382d1024507" /><Relationship Type="http://schemas.openxmlformats.org/officeDocument/2006/relationships/slide" Target="/ppt/slides/slide6.xml" Id="Re955398764be4e14" /><Relationship Type="http://schemas.openxmlformats.org/officeDocument/2006/relationships/slide" Target="/ppt/slides/slide7.xml" Id="Rece7038675ea4ebf" /><Relationship Type="http://schemas.openxmlformats.org/officeDocument/2006/relationships/slide" Target="/ppt/slides/slide8.xml" Id="Rfdb62f5a9c814ea3" /><Relationship Type="http://schemas.openxmlformats.org/officeDocument/2006/relationships/slide" Target="/ppt/slides/slide9.xml" Id="Rda65a269637848e1" /><Relationship Type="http://schemas.openxmlformats.org/officeDocument/2006/relationships/slide" Target="/ppt/slides/slide10.xml" Id="Raffbe4a0d9d742ea" /><Relationship Type="http://schemas.openxmlformats.org/officeDocument/2006/relationships/slide" Target="/ppt/slides/slide11.xml" Id="R07934487032c432b" /><Relationship Type="http://schemas.openxmlformats.org/officeDocument/2006/relationships/slide" Target="/ppt/slides/slide12.xml" Id="R871318043b364a35" /><Relationship Type="http://schemas.openxmlformats.org/officeDocument/2006/relationships/slide" Target="/ppt/slides/slide13.xml" Id="R8fa44c0bb49847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580918525846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8e3e8af92740dd" /><Relationship Type="http://schemas.openxmlformats.org/officeDocument/2006/relationships/notesMaster" Target="/ppt/notesMasters/notesMaster1.xml" Id="R2812e9f7afd242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73509e78554fa4" /><Relationship Type="http://schemas.openxmlformats.org/officeDocument/2006/relationships/notesMaster" Target="/ppt/notesMasters/notesMaster1.xml" Id="R056bd5de9d874b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1040eae2444110" /><Relationship Type="http://schemas.openxmlformats.org/officeDocument/2006/relationships/notesMaster" Target="/ppt/notesMasters/notesMaster1.xml" Id="R9dd8a789781244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de7adc05b24381" /><Relationship Type="http://schemas.openxmlformats.org/officeDocument/2006/relationships/notesMaster" Target="/ppt/notesMasters/notesMaster1.xml" Id="R988386dbd09945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96ee4ee5cc44c1" /><Relationship Type="http://schemas.openxmlformats.org/officeDocument/2006/relationships/notesMaster" Target="/ppt/notesMasters/notesMaster1.xml" Id="Rd8bfc315868546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7f2bf250864476" /><Relationship Type="http://schemas.openxmlformats.org/officeDocument/2006/relationships/notesMaster" Target="/ppt/notesMasters/notesMaster1.xml" Id="Rb4c70e2da6b74a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831e358b8e4e68" /><Relationship Type="http://schemas.openxmlformats.org/officeDocument/2006/relationships/notesMaster" Target="/ppt/notesMasters/notesMaster1.xml" Id="Reb9552f658544e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be7a4a586c4be3" /><Relationship Type="http://schemas.openxmlformats.org/officeDocument/2006/relationships/notesMaster" Target="/ppt/notesMasters/notesMaster1.xml" Id="R479414d40a8e44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1a4b486633460f" /><Relationship Type="http://schemas.openxmlformats.org/officeDocument/2006/relationships/notesMaster" Target="/ppt/notesMasters/notesMaster1.xml" Id="R9497d416a3f94b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38d3dc00634be0" /><Relationship Type="http://schemas.openxmlformats.org/officeDocument/2006/relationships/notesMaster" Target="/ppt/notesMasters/notesMaster1.xml" Id="Raa34f36733104e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ffe4b5a3c74ed4" /><Relationship Type="http://schemas.openxmlformats.org/officeDocument/2006/relationships/notesMaster" Target="/ppt/notesMasters/notesMaster1.xml" Id="R81821374e2a2411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d49cd923824853" /><Relationship Type="http://schemas.openxmlformats.org/officeDocument/2006/relationships/notesMaster" Target="/ppt/notesMasters/notesMaster1.xml" Id="Ra06dbd88f39d4e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7ad4fc6273c4274" /><Relationship Type="http://schemas.openxmlformats.org/officeDocument/2006/relationships/notesMaster" Target="/ppt/notesMasters/notesMaster1.xml" Id="Rf5fe3fbb870b49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内容来源：input/manuscript.md；设计规范：input/01.md、input/02.md、input/03.md、input/04.md。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内容来源：input/manuscript.md 第一节；页首章节编号遵循 input/02.md。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内容来源：input/manuscript.md 第二节。图示为稿件对需求分布的概念表达，不是测量结果。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内容来源：input/manuscript.md 第三节；R 为稿件中的概念公式，80 分为形象称呼，不是产品指标。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内容来源：input/manuscript.md 第四节；四项为原稿中的约束来源重组。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内容来源：input/manuscript.md 第六节；流程角色为原稿中的内容导演、视觉导演、主题、能力库与确定性代码。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内容来源：input/manuscript.md 第七节及其中 Mermaid 架构图。此页用原生矩形和线条重绘，保持两条路线、核心资产库与退回关系。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内容来源：input/manuscript.md 第八节；阶段关系按原稿逻辑表达。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内容来源：input/manuscript.md 第九节；右侧能力包为原稿中能力维度的可编辑重组。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内容来源：input/manuscript.md 第十节；东北大学是稿件明确提到的第一个正式落地场景。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内容来源：input/manuscript.md 第十节；价值链条按稿件原意压缩。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内容来源：input/manuscript.md 第八节与第十二节；流程为产品叙事收束。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内容来源：input/manuscript.md 最后一节；封面与收束页均使用稿件中的原句或紧缩改写。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95d0db38cb41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d6c119933b4690" /><Relationship Type="http://schemas.openxmlformats.org/officeDocument/2006/relationships/slideLayout" Target="/ppt/slideLayouts/slideLayout1.xml" Id="R642ee1ef6dae41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2ee1ef6dae41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d7909812d4830" /><Relationship Type="http://schemas.openxmlformats.org/officeDocument/2006/relationships/notesSlide" Target="/ppt/notesSlides/notesSlide1.xml" Id="R5415ab7f0bf04c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bc1beb0dd46b8" /><Relationship Type="http://schemas.openxmlformats.org/officeDocument/2006/relationships/notesSlide" Target="/ppt/notesSlides/notesSlide2.xml" Id="Rf47510ca8ee048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760779d0e422f" /><Relationship Type="http://schemas.openxmlformats.org/officeDocument/2006/relationships/notesSlide" Target="/ppt/notesSlides/notesSlide3.xml" Id="R6a9caae9b72b4b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e26db32194136" /><Relationship Type="http://schemas.openxmlformats.org/officeDocument/2006/relationships/notesSlide" Target="/ppt/notesSlides/notesSlide4.xml" Id="R9487cdfb301c4d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3fd34defc4bae" /><Relationship Type="http://schemas.openxmlformats.org/officeDocument/2006/relationships/notesSlide" Target="/ppt/notesSlides/notesSlide5.xml" Id="R28594e625a8d4f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2d0c7bf6a411b" /><Relationship Type="http://schemas.openxmlformats.org/officeDocument/2006/relationships/notesSlide" Target="/ppt/notesSlides/notesSlide6.xml" Id="Reee7648b11404f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71af2fc3e424c" /><Relationship Type="http://schemas.openxmlformats.org/officeDocument/2006/relationships/notesSlide" Target="/ppt/notesSlides/notesSlide7.xml" Id="R49fcd5db9fd945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e29926d5d4cf2" /><Relationship Type="http://schemas.openxmlformats.org/officeDocument/2006/relationships/notesSlide" Target="/ppt/notesSlides/notesSlide8.xml" Id="R6d605c39a2a244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3b0278e304c61" /><Relationship Type="http://schemas.openxmlformats.org/officeDocument/2006/relationships/notesSlide" Target="/ppt/notesSlides/notesSlide9.xml" Id="Rf2515c25376344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5ce0b7d1e48ec" /><Relationship Type="http://schemas.openxmlformats.org/officeDocument/2006/relationships/notesSlide" Target="/ppt/notesSlides/notesSlide10.xml" Id="Re37d2a2c9cf24a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097585da54673" /><Relationship Type="http://schemas.openxmlformats.org/officeDocument/2006/relationships/notesSlide" Target="/ppt/notesSlides/notesSlide11.xml" Id="Ra79ab85b36b743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f0d369f8d4095" /><Relationship Type="http://schemas.openxmlformats.org/officeDocument/2006/relationships/notesSlide" Target="/ppt/notesSlides/notesSlide12.xml" Id="Rcc29c351c1e44ae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39d16043a4fc8" /><Relationship Type="http://schemas.openxmlformats.org/officeDocument/2006/relationships/notesSlide" Target="/ppt/notesSlides/notesSlide13.xml" Id="R100ba408d4dd46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FA8FD-A066-4F42-8F06-DC290895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A36F8-410F-4EE0-840F-C982748A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PPagenT 产品叙事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1A35B-9B70-46E6-934B-242C9DA6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657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把 PPT 生成</a:t>
            </a:r>
          </a:p>
          <a:p xmlns:a="http://schemas.openxmlformats.org/drawingml/2006/main">
            <a:pPr>
              <a:defRPr sz="43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变成可靠的生产过程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5A4D8-4C0A-4342-BAD2-E4295F19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33800"/>
            <a:ext cx="523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从一份稿件到一套可以直接工作的演示文稿，真正需要复用的是判断，而不是拖动文本框。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23AA2-FA65-4943-BA34-50FC32CC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B7ABE-7CA3-4523-B0B6-1F6EDB90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产品道路 · 价值判断 · 核心架构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55FC00-BE43-4286-84F3-A598C5B0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76350"/>
            <a:ext cx="27241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7E19F-C3BF-4636-AF65-C9197E9D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38300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79348-8E7B-4A18-A2D3-05560846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0300"/>
            <a:ext cx="180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为什么每次</a:t>
            </a:r>
          </a:p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还要重新做</a:t>
            </a:r>
          </a:p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一遍？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B0C28-EFE2-4135-8469-63369C25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005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一个高手已经知道怎样做是好的。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8000BE-0633-4F7A-A113-55ABC2FE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41951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64F125-686D-423A-A484-FFC5DFC2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8F34B-C27C-4D5E-B344-A6F90BA4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先看真正昂贵的工作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37AE2-24D8-47D0-BC4B-E70A3E5B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1975"/>
            <a:ext cx="6524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9B14B-2BB1-4B31-93CF-590EEDA0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96BCC-83FE-4547-9D0A-B1788051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好的 PPT 不是把文字放上去，而是连续做出一串判断。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5C969F-0DCC-4131-9991-60D40049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181CB-1773-4EC9-838F-2826631D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怎么讲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B76CE-51C0-4CE8-BA16-CA4BC325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669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汇报的叙事路径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A89E0-38EC-4227-B9BB-15F5E9B6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6475"/>
            <a:ext cx="758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A0D47D-8895-41C0-9736-DD527A8C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01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0F535-D9CF-467D-9384-BC305CF0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拆成多少页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889FC-20B9-46B9-AFA5-BA094A51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289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长稿的分页边界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820C2A-B4F9-4534-A101-FC49D95B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38475"/>
            <a:ext cx="758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845227-88C9-4817-892A-86E16DAA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01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3C134-E207-4536-8BAC-5BC1591B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每页承担什么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2DD8F6-A198-4FD9-AAC6-7FA4FD49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909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并列、递进、因果还是流程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BF8B8B-F873-4AEA-B078-C91E5AF5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00475"/>
            <a:ext cx="758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3F34CB-AFBA-4630-B6CD-4DB43C46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01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04806A-D54B-4A26-9DF4-BD63FA5F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338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哪里应该突出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CFCF84-CDEF-408D-A1C4-74B08DA4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29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什么时候用图，什么时候一句话更有力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C891A3-E896-4791-8F78-4FED13FD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62475"/>
            <a:ext cx="758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DB4124-9A00-4D05-84E8-E12FFD37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71650"/>
            <a:ext cx="23812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43AAAB-0116-405C-8CBC-B7BCD453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重复发生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65FABC-CC56-41C1-AAE6-61504C7F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09850"/>
            <a:ext cx="1619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判断</a:t>
            </a:r>
          </a:p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比绘制更贵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39C8C1-B4AA-42F8-A816-E4ECA898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195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高手脑中已经积累了大量答案。</a:t>
            </a:r>
          </a:p>
        </p:txBody>
      </p:sp>
    </p:spTree>
    <p:extLst>
      <p:ext uri="{BB962C8B-B14F-4D97-AF65-F5344CB8AC3E}">
        <p14:creationId xmlns:p14="http://schemas.microsoft.com/office/powerpoint/2010/main" val="3472458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417AD4-A5F2-481B-882C-4F339D93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0A741-F665-4028-A348-743EEFEC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PPT 需求的中间地带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92F99-186A-4B4F-8632-A52CB2D6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1975"/>
            <a:ext cx="6524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7309F-ECD3-406A-A3FC-0C62C6B3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28CBF-8FC4-413E-B84F-49A4C950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需求从“只要能用”到“高度定制”，更多场景落在中间。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BDC5A-9E7B-4A3D-B8D6-5CD06F78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09900"/>
            <a:ext cx="962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B570B-824C-4EEC-B571-D835F499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432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01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E0E51-E976-447B-973E-D7F3F71C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432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01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A40E02-89FD-4AB7-AC6C-EBB752BA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432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01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B0F7FB-28AA-45EB-92FE-D4200C9F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几乎不在意版式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14BCB-220A-4C56-88D8-E23DDD05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把文字放上去即可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03BA77-C3F7-447F-B3E2-C3F4E56E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19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工作型 PPT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7A3D05-338D-4FE9-BA47-800BC7ED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33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学校、科研院所、事业单位、央国企与普通企业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F7DF7-8D95-426D-84E0-D3E5758C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19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高度定制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48FA0A-777B-437B-94F3-A955DC55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337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发布会、品牌路演、高水平比赛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16F882-2523-450E-8964-8FEEFDDF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48100"/>
            <a:ext cx="47815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C5058E-4D91-4BF3-86F3-675445BB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338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底线很清楚：不能乱，不能丑，不能掉价，不能生成后无法修改。</a:t>
            </a:r>
          </a:p>
        </p:txBody>
      </p:sp>
    </p:spTree>
    <p:extLst>
      <p:ext uri="{BB962C8B-B14F-4D97-AF65-F5344CB8AC3E}">
        <p14:creationId xmlns:p14="http://schemas.microsoft.com/office/powerpoint/2010/main" val="2773680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317BEE-9B6D-426B-BA9C-D9C41BBC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38BF8-F790-48F0-9CA3-A003F8D0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可靠度 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93827-BA1E-43B2-87FF-75F8634F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1975"/>
            <a:ext cx="6524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3E1D8-3097-4156-BF78-2F3DDDB6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6B2B9-B9EE-4672-8BA7-AD3F2854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产品真正想提高的是结果稳定跨过“可用线”的概率。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D9A65-3551-4187-B702-0B6000FE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269AF-890C-4882-AF45-A8ED10F0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62175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=  P(Q ≥ Q可用 | 目标工作场景)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A1D41-F5DF-4ED0-9E26-0BE74B7C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647E3-E1BA-4A9E-8607-0C414D1B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24574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59782-AEB6-45D0-916A-5CADEDCD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4B4A45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4B4A45"/>
                </a:solidFill>
                <a:latin typeface="Noto Serif SC"/>
                <a:ea typeface="Noto Serif SC"/>
                <a:cs typeface="Noto Serif SC"/>
              </a:rPr>
              <a:t>随机 95 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9E7255-29AF-4E0A-8777-B0EA85BC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148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偶尔惊艳</a:t>
            </a:r>
          </a:p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但不稳定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FBFEF6-8E97-40AF-B229-AED0F8FC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67150"/>
            <a:ext cx="24574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8D672F-6507-4C38-9B49-34A02574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957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BFAF6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FBFAF6"/>
                </a:solidFill>
                <a:latin typeface="Noto Serif SC"/>
                <a:ea typeface="Noto Serif SC"/>
                <a:cs typeface="Noto Serif SC"/>
              </a:rPr>
              <a:t>可用线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523A8A-AE77-41AE-BBD5-20010B44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148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直接使用不失专业</a:t>
            </a:r>
          </a:p>
          <a:p xmlns:a="http://schemas.openxmlformats.org/drawingml/2006/main">
            <a:pPr>
              <a:defRPr sz="1275" b="0" i="0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继续修改有可靠基础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41B58-A852-4E45-B300-9C6D980A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67150"/>
            <a:ext cx="24574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1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F8F217-5359-486F-A99A-96B9853B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957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BFAF6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FBFAF6"/>
                </a:solidFill>
                <a:latin typeface="Noto Serif SC"/>
                <a:ea typeface="Noto Serif SC"/>
                <a:cs typeface="Noto Serif SC"/>
              </a:rPr>
              <a:t>稳定 80 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3FD28D-F93D-4D7D-B942-96FE0F45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148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更贴近普通工作</a:t>
            </a:r>
          </a:p>
          <a:p xmlns:a="http://schemas.openxmlformats.org/drawingml/2006/main">
            <a:pPr>
              <a:defRPr sz="1275" b="0" i="0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投入与收益匹配</a:t>
            </a:r>
          </a:p>
        </p:txBody>
      </p:sp>
    </p:spTree>
    <p:extLst>
      <p:ext uri="{BB962C8B-B14F-4D97-AF65-F5344CB8AC3E}">
        <p14:creationId xmlns:p14="http://schemas.microsoft.com/office/powerpoint/2010/main" val="7795600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B758DA-4F84-4A90-BF38-C250BD4B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B7BCB-8D43-4497-BBE9-1A1A19C6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限制自由，换取可靠性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6AAC9-90A9-419D-87F1-48D645D8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1975"/>
            <a:ext cx="6524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10956-C7C2-46E2-8C48-FC0F07B1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92C01-A9A2-4ECF-81B1-1DE352A0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正式工作不需要所有元素每次重来。可预测性来自被验证过的边界。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D4326-DDA9-4C7F-BD22-92CE7757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50FA9-46B1-4D2E-84B1-E55E0194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BFAF6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FBFAF6"/>
                </a:solidFill>
                <a:latin typeface="Noto Serif SC"/>
                <a:ea typeface="Noto Serif SC"/>
                <a:cs typeface="Noto Serif SC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1FD34-68AD-41D0-B59B-B7070068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193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组织规范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EDA86-2184-4792-B770-86A26E40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669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颜色、字体、Logo、页眉页脚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7F8DE-3626-4EEB-BAE2-60846171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14600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3BDA0-3FD0-4056-8482-DF071D6C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F62F8-E4CE-49AF-9EFE-A15F0589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170D4F-1ED9-42D4-8D34-5D348F62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956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表达能力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DA3D49-B530-4C5B-9EFB-B4195A82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432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已经验证的并列、顺序、对比与层级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3AD7FA-0605-4C4F-80B4-0713B397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90900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4748F-CF64-4789-9119-9C82E904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A4B10-4401-4A3A-B475-9A513C02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0AA6FE-6EE9-4F98-BFE0-D36BAA4D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容量边界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008F81-A445-492A-9788-585DE821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195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数量变化时的适配与退化方式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C956D4-DD99-4131-8B93-25E2CE15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FF912D-8D35-4A91-A1B9-55EBB6F4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7E5999-0501-4974-BFA2-FF9FB45A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A6C595-DAB4-4D7A-A867-FF7747DF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编辑结果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61FD01-1C97-4F3B-9EF3-5908858D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958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原生可编辑，交付后仍能继续修改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3309A4-9FCF-4420-AF38-B6A2802C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8159E7-1EAA-4EB9-ABF0-D7682CC8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每次都不一样，有时候才是缺点。</a:t>
            </a:r>
          </a:p>
        </p:txBody>
      </p:sp>
    </p:spTree>
    <p:extLst>
      <p:ext uri="{BB962C8B-B14F-4D97-AF65-F5344CB8AC3E}">
        <p14:creationId xmlns:p14="http://schemas.microsoft.com/office/powerpoint/2010/main" val="3327555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BCBFEF-B537-43D5-8B5B-45C94307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EFD0B-81DC-453D-9C9C-2B1D2260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AI 是控制器，不是画师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E9E83-224A-48D4-A300-2272E0EC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1975"/>
            <a:ext cx="6524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18FAE-0623-43D1-B249-93BBB406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C9ADD-B9F4-4DDA-B156-60228C66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系统把理解、选择与绘制拆开，让每一层承担自己擅长的工作。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E9736-796D-439C-ABF2-2E44A87D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22669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3B696-6785-4EFE-B9C2-A0129598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20D41-FCE5-4B31-80EB-3433C7A0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内容导演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33B60-7B11-43AB-A8B3-DA99F4A6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理解稿件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E0DDC-1DF8-46FC-9F41-C9270FEA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组织叙事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2718F-01E3-47A1-B002-9B890A77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拆页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131BF-A13B-48B0-A458-B7E94257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形成页面内容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27A2E-A290-4980-ADE4-93D3C352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861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9CE144-02BB-4711-AB7F-0D830275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19300"/>
            <a:ext cx="22669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E0D8FB-107E-4AE0-9A90-032A687C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09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55E8BE-2410-4301-A000-A063C290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09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视觉导演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EED73-C99B-43DA-B663-6909DCBB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71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选择表达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79C394-6ED9-4B37-8939-ECF49F50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480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判断页面任务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9BA1CA-568F-4C18-8C26-83686C00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719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调用确认能力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9DE06F-89B0-4EC8-BF37-7A8809F6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957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必要时补充结构信息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538CEC-F52B-4CEC-B55F-74AE1740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861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A5EDF9-F17A-48B3-BABE-00307B0D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19300"/>
            <a:ext cx="22669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1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3910F6-964C-4EDD-861D-9C8E80CA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09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CD896D-3B16-4900-99CD-7627270C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09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BFAF6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FBFAF6"/>
                </a:solidFill>
                <a:latin typeface="Noto Serif SC"/>
                <a:ea typeface="Noto Serif SC"/>
                <a:cs typeface="Noto Serif SC"/>
              </a:rPr>
              <a:t>规则与代码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D34524-7C06-4CC2-AB64-A21B4053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71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D8D5C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D8D5CC"/>
                </a:solidFill>
                <a:latin typeface="Noto Sans SC"/>
                <a:ea typeface="Noto Sans SC"/>
                <a:cs typeface="Noto Sans SC"/>
              </a:rPr>
              <a:t>稳定生成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2CE647-B717-4C7B-9F9C-8D66E63C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480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主题统一规范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0BE5C8-3A47-4C61-9967-3F7782A1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719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容量边界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FFC18A-432D-4E3B-B103-D77D46F1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957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确定性排版与编译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B537C6-579B-4BB7-B88C-FCF02372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861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702C1D-C18B-4A32-84BB-9DA6E045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19300"/>
            <a:ext cx="22669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A37DC9-2D7E-4578-9F9B-FB39FB3A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76E1DA-6DE2-4087-A2D6-7D0B5C7F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09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BFAF6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FBFAF6"/>
                </a:solidFill>
                <a:latin typeface="Noto Serif SC"/>
                <a:ea typeface="Noto Serif SC"/>
                <a:cs typeface="Noto Serif SC"/>
              </a:rPr>
              <a:t>交付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5A65DA-8007-4AF3-AE52-8DC79075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D8D5C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D8D5CC"/>
                </a:solidFill>
                <a:latin typeface="Noto Sans SC"/>
                <a:ea typeface="Noto Sans SC"/>
                <a:cs typeface="Noto Sans SC"/>
              </a:rPr>
              <a:t>可继续修改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ECD059-CF6C-40F9-968A-09E48A21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80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原生 PPTX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47ADBB-CD05-4CE8-B512-8CE2C9D4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719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可直接拿去讲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96A74F-7FA3-4016-920E-97D18547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仍可继续编辑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0FE101-4987-487A-BCF1-E14FB767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AI 负责理解和路由，规则负责约束和选择，代码负责稳定生成。</a:t>
            </a:r>
          </a:p>
        </p:txBody>
      </p:sp>
    </p:spTree>
    <p:extLst>
      <p:ext uri="{BB962C8B-B14F-4D97-AF65-F5344CB8AC3E}">
        <p14:creationId xmlns:p14="http://schemas.microsoft.com/office/powerpoint/2010/main" val="20181123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CEF7D2-CC71-4234-89EB-AA2E3021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DE2E5-79C2-4E73-9B2E-577E49C9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核心架构：建设能力，再稳定调用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5207A-F4B1-4114-99EE-1EA88587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1975"/>
            <a:ext cx="6524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260FE-50E9-482C-A74A-17D5C94D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D96FD-6D66-4E11-91C7-6A184245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两条路线只在“经过确认的核心资产库”相遇。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F3DF1-0A79-4862-93DE-646F4810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资产入库线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2C611-5157-49FD-9D62-4DB7CBBB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正式生成线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E390A-D910-4517-8C42-E795ED9B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A9AC8-0B0C-4D40-AC50-E1C254CF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优秀参考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C567E-CBBB-41BF-B1D2-0C181AE4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241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D9376-F9D6-4CC9-BA1E-42F24631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717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C5F48-22FA-419B-BFD9-EA1A093C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003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提炼规律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A8C41-ECAB-43FC-8DBE-B3194566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8C57E-DDB4-4BE5-8652-5298EA26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717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31E6F4-2319-4824-88C2-49B961C0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003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扩展能力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344FC1-175A-4340-932C-9595003E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241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3B97A9-0494-4CEB-9DA9-3B17298E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717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201652-2C98-4D86-A0F5-2D029823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003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BFAF6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FBFAF6"/>
                </a:solidFill>
                <a:latin typeface="Noto Serif SC"/>
                <a:ea typeface="Noto Serif SC"/>
                <a:cs typeface="Noto Serif SC"/>
              </a:rPr>
              <a:t>用户确认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AE0F62-80AD-44E0-901C-A85F4EE7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EA8A8B-01AE-4C32-8A09-36FB9123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原始稿件 + 主题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96499C-1EBB-4730-A321-EDCDD235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01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B35C5F-54BD-42BB-A29D-53ABCDA4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577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8C485D-136E-4259-A897-99DB596E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2915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AI 理解与编排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F04CBA-EEB9-466C-9216-E35FDFAB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101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5DE881-1E0A-4D26-B3A4-D0B9029F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4577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AB3076-67BC-472F-8BB5-DFF3414A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2915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选择合法能力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7297FB-01F4-4B35-A9FC-D865DD75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101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DD9ED2-F93E-477D-9842-C3B045F0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577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1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ED52CA-A5A7-4E0B-9009-0E36B33B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2915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BFAF6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FBFAF6"/>
                </a:solidFill>
                <a:latin typeface="Noto Serif SC"/>
                <a:ea typeface="Noto Serif SC"/>
                <a:cs typeface="Noto Serif SC"/>
              </a:rPr>
              <a:t>排版与编译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4ED70A-7245-4627-AAB0-D6A95F47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81350"/>
            <a:ext cx="2781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1D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7DF4F8-74DD-4686-B9B5-C1896507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43275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BFAF6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FBFAF6"/>
                </a:solidFill>
                <a:latin typeface="Noto Serif SC"/>
                <a:ea typeface="Noto Serif SC"/>
                <a:cs typeface="Noto Serif SC"/>
              </a:rPr>
              <a:t>核心资产库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ADF6DE-5BEE-4A01-9062-013441BC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95600"/>
            <a:ext cx="285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870605-F6D7-41A6-BA51-80B7537F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7190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EE7B31-9F74-4A72-874E-CADDA344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766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只读调用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0E7D05-AD68-4601-8397-E544B3B5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没有合适结构时，退回简单排版或拆页。</a:t>
            </a:r>
          </a:p>
        </p:txBody>
      </p:sp>
    </p:spTree>
    <p:extLst>
      <p:ext uri="{BB962C8B-B14F-4D97-AF65-F5344CB8AC3E}">
        <p14:creationId xmlns:p14="http://schemas.microsoft.com/office/powerpoint/2010/main" val="20389122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B14B38-0E10-41E6-80D8-D155040E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96E49-CD5A-4595-8B77-1E2DD7F5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把昂贵的计算前移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439DF-D178-4D92-A3A4-532FA4F0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1975"/>
            <a:ext cx="6524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8ABD2-FD6D-4A2F-ADEB-DB06AF1E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82E1E-A94A-4D6E-841C-C4020706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把视觉理解从每次交付的在线成本，变成一次建设、多次复用的离线资产。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12DBB-131F-4CA0-8BE6-FE94E790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962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8D628-92F1-4ACF-9D01-19EE2445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003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A26ED-7691-4800-AD6A-E28A4F80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3847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BFAF6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FBFAF6"/>
                </a:solidFill>
                <a:latin typeface="Noto Serif SC"/>
                <a:ea typeface="Noto Serif SC"/>
                <a:cs typeface="Noto Serif S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0D562-7AAA-4521-B7B1-65E3416D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建设期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EF28CD-39AC-41CE-8DC2-37F7C795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79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筛选参考</a:t>
            </a:r>
          </a:p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理解规律</a:t>
            </a:r>
          </a:p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验证状态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99BE5-2759-46A0-86A5-EA11441F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004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900328-A667-40DD-A14F-D941CA76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003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01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715C2F-4586-425E-BDFF-76CAB733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3847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BFAF6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FBFAF6"/>
                </a:solidFill>
                <a:latin typeface="Noto Serif SC"/>
                <a:ea typeface="Noto Serif SC"/>
                <a:cs typeface="Noto Serif S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DBABA-B770-46FB-AD33-F95E5F61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481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0DD93E-C445-4C64-8B2B-A38A6F15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48150"/>
            <a:ext cx="179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进入</a:t>
            </a:r>
          </a:p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核心资产库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1385E-5B56-4D0E-9AC2-FECC13AE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004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E5C3E2-6E6E-4DE5-B02C-EE5B223A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003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DE1EB2-38CE-4883-9CD9-7F3C7E93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3847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62DEF0-91FA-4F45-80B4-FDEAECF5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481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运行期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D176D3-E9CC-4315-9320-553D1EA2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48150"/>
            <a:ext cx="179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理解</a:t>
            </a:r>
          </a:p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分类</a:t>
            </a:r>
          </a:p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路由</a:t>
            </a:r>
          </a:p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填参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8ADB2E-965B-4648-8BB8-698142F6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004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18E79A-4590-42C3-9DBE-EB8EF1C5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003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84400D-F9BE-4F7D-AC9E-033F29D7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3847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1915D3-D62A-4C7E-A479-E3E29163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481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02DCB6-C2A4-403F-AC4A-22650376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48150"/>
            <a:ext cx="179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确定性代码</a:t>
            </a:r>
          </a:p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生成 PPTX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3D2F09-A127-46EB-88D9-42D3C93A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视觉模型可以参与建设期审查，但不成为每次交付的必要成本。</a:t>
            </a:r>
          </a:p>
        </p:txBody>
      </p:sp>
    </p:spTree>
    <p:extLst>
      <p:ext uri="{BB962C8B-B14F-4D97-AF65-F5344CB8AC3E}">
        <p14:creationId xmlns:p14="http://schemas.microsoft.com/office/powerpoint/2010/main" val="4062584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189BE8-464F-423C-B9DA-A65B8A62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710F8-DAC2-4303-8CA1-89A66860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真正积累的不是一万个模板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159EB-DCA3-4A8C-B974-348B5F91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1975"/>
            <a:ext cx="6524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BE56B-62C4-4ABF-94F4-AFD68072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C68B4-2644-4D11-877B-8983B5FB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页面数量会变，经验才决定系统能否稳定适配新内容。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69498-132B-42FE-B20E-655E760C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4176E-F201-4857-A333-9EFE103A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内容适合怎样表达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1E04FE-F348-4288-95A5-CAE7313D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D4875-EB2F-4722-9748-FE605744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01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5268D-3D84-45A3-92A0-74E90FB2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一个版式能处理多少内容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F853F-DEC8-4E74-ACA5-CA9F32F9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7BD25E-19EA-4264-B642-8FBF30E8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01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C18F52-FAAF-4396-AF05-6702BD6F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数量变化时怎样重排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31EB7E-344F-4520-A168-EBE48EF5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8431FE-41CD-494B-816E-318685F4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01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611BEB-B7D9-4871-977F-3049C5C4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超过边界后如何退化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A3561B-7918-4682-AFB7-DC254C5F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DCA62A-13CE-4569-90F4-29D0D4D6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28800"/>
            <a:ext cx="4381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3625E5-DE81-47BB-ADDC-077ABDB9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表达能力包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81B513-142B-4B82-A43F-CCD1B957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关系语法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D9A3F0-0EC4-4BBA-B6FB-86091403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43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并列 · 顺序 · 对比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7EE53F-4BEB-4B6C-B494-83471EC2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容量契约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6DA5C1-A378-4507-8598-6C5FB46E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004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数量 · 长度 · 区域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D9DA9F-6AF6-4CD8-83A6-30C165EB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385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退化方式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7B5055-B3F9-49E6-BC8D-AB2ECF4A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57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换样式 · 拆页 · 简排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0F01E3-D5EB-4050-82B4-E209890C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真实校准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B8C27C-2C22-4B9E-80BD-529CD9DE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148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任务中持续验证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037620-905D-4B42-8402-D5EADCA6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模型会变强，经过真实任务验证的表达经验不会自动出现。</a:t>
            </a:r>
          </a:p>
        </p:txBody>
      </p:sp>
    </p:spTree>
    <p:extLst>
      <p:ext uri="{BB962C8B-B14F-4D97-AF65-F5344CB8AC3E}">
        <p14:creationId xmlns:p14="http://schemas.microsoft.com/office/powerpoint/2010/main" val="6937109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CEDD35-B836-49A5-92DB-9FE26477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856CE-660E-4367-B89D-9410D7B4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从一个学校，走向更多组织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CE7C7-CAA7-47C1-AE59-7128AEE4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1975"/>
            <a:ext cx="6524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20443-7DC6-4D8C-94A5-89148296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77297-EE45-43BA-ACFA-5DD991C9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主题配置负责组织差异，内容理解与表达能力继续复用。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D71B6-FD05-4796-8FAE-64B0C1AD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19050">
            <a:solidFill>
              <a:srgbClr val="D8D5C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5FA7C-FD9F-423F-9118-08E1DB46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00350"/>
            <a:ext cx="1295400" cy="12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5745B6-0DFD-4F1B-936C-AD2D59BB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956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BFAF6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FBFAF6"/>
                </a:solidFill>
                <a:latin typeface="Noto Serif SC"/>
                <a:ea typeface="Noto Serif SC"/>
                <a:cs typeface="Noto Serif SC"/>
              </a:rPr>
              <a:t>东北大学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013A7E-D067-49B1-9166-2DE1E610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2669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第一个正式</a:t>
            </a:r>
          </a:p>
          <a:p xmlns:a="http://schemas.openxmlformats.org/drawingml/2006/main">
            <a:pPr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落地场景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DA8AFA-0A7B-4106-85CC-85A625C1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622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学校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818C5-F8CC-497A-9A8D-3FFFF62A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622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科研院所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D2226-3030-41F0-A141-861E2C90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企业与团队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343306-D269-4528-8E36-70C4BD5B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81375"/>
            <a:ext cx="144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5F5793-244B-4C97-A3C3-287A6474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14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4701D-EAC5-4231-A8ED-62EF07AF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81375"/>
            <a:ext cx="354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FDC63A-18A4-45C7-BB4A-AC76BFD7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14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D6D8E7-7AB7-484E-B151-A129D6F0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81375"/>
            <a:ext cx="5657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C1B8D4-729A-4947-9423-3AA01D83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314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5DAAC4-AC38-4AB7-870E-9C89F1EA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10000"/>
            <a:ext cx="632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14BC8B-D177-442C-96F2-5F61DD5B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767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可替换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BEB702-4DF3-49FF-B385-C4C1AD0D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0767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颜色 · Logo · 字体 · 页眉页脚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FBED13-1FF3-41F9-9FE5-97ADC0DF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767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可复用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B9DD8F-AC58-44EB-AAC7-29762E51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4767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内容理解规则 · 表达能力</a:t>
            </a:r>
          </a:p>
        </p:txBody>
      </p:sp>
    </p:spTree>
    <p:extLst>
      <p:ext uri="{BB962C8B-B14F-4D97-AF65-F5344CB8AC3E}">
        <p14:creationId xmlns:p14="http://schemas.microsoft.com/office/powerpoint/2010/main" val="11577901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6EC7DA-EA40-41CF-9050-B367D6F4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71068-F746-4B66-B5DF-073C8BB9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把少数人的经验变成组织能力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8AB6A-98D5-483B-9226-0256C2AB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1975"/>
            <a:ext cx="6524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92BBA-154C-432F-B10F-4B85099D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E8722-EC2A-4354-BE44-725E8008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PPagenT 的价值来自把表达经验留在系统里，持续降低普通工作稿的交付成本。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20BDA-7D94-442B-A6BE-82EBA118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5BE25-BF15-446F-9773-0897DFEE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19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少数人的头脑和电脑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768DC-AC23-4D73-B371-45F4A880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7170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F39FA-DB0F-4B4F-935A-515564C5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383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经验只在个人手中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39F46E-8688-4202-AE6E-347E9294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28900"/>
            <a:ext cx="866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F606FD-0702-485A-A704-C18FE95B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9C3CF3-3CF6-495B-9232-C5DA3C81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099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经过验证的能力库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DB94F8-0AF0-4AA8-966F-C9F0E986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6230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ACB82E-CFA0-415A-95F5-EB5CF457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289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组织拥有可复用的表达方法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BA4381-B84B-4FFA-85E2-0E99D931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19500"/>
            <a:ext cx="866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6DDDA8-8782-457D-8595-4C94038B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5B608F-45B6-45E4-BDD6-93845F18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稳定可编辑的 PPTX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9A61A5-5163-4161-BE64-6D963A86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5290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8DDBF2-B8B3-4C8D-B111-4F77BCBC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195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更多人可以低成本获得基本标准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20AA4B-F85D-4068-A840-C2996491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0100"/>
            <a:ext cx="866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3ED152-9127-4348-89F1-774B083A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942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AFFE5A-CF33-440E-8C05-3A2E903D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不用要求每名成员都成为设计师，也能让日常输出稳定达到自己的基本标准。</a:t>
            </a:r>
          </a:p>
        </p:txBody>
      </p:sp>
    </p:spTree>
    <p:extLst>
      <p:ext uri="{BB962C8B-B14F-4D97-AF65-F5344CB8AC3E}">
        <p14:creationId xmlns:p14="http://schemas.microsoft.com/office/powerpoint/2010/main" val="9607428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BB2523-0B3E-47FB-9206-F083361B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69F78-9797-49FD-A372-22C51110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一套可以重复运行的生产过程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5DEC7-42A0-4DF7-AC45-A15B1BD8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1975"/>
            <a:ext cx="6524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D8C07-8DB1-4019-BBF7-D7A7BC0B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61A0D-C081-4058-8379-637DEC25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把以前已经解决过的问题留下来，让每次交付都从可靠的能力出发。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BDDC7-DFB6-407D-B9D1-489045C1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2F3A2-43CF-40E9-A317-CC625C87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读稿件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D35A9-E4D6-4C33-B99D-02889399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AI 识别内容与关系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70DDF-CA44-4565-A8F7-4E553CEB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2019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0A710B-DCAA-426A-AAF9-DC464130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3380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E75B6-904F-4273-882F-F613C134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764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B7B35-CC04-4DAA-AD75-4D472F82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57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做判断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7FF09-BDEB-4C94-8F8E-C73AFFD9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718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规则选择合法能力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F6D9C-4F63-45D7-A582-BDE237ED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33800"/>
            <a:ext cx="2019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A65E61-DB86-4EA9-8F06-78929B00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3380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5EF46B-5FF2-42F4-ACBF-5EAAA42C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764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BCAB10-9C56-4D8B-8133-57A7F0C7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57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完成排版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A2B49-B320-4FBB-963F-1909BC67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718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代码生成原生对象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78303D-D48F-4216-9897-DB95C833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33800"/>
            <a:ext cx="2019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6D4C97-2E39-40C9-B449-02C07CD3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3380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C8522B-37E5-4E41-8248-386EB7BE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93F6C8-3F7C-4EB0-B3A8-09E76D67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继续修改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BF24B9-59D8-435D-9B06-B0615F06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718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交付后保留编辑空间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1D7194-B3F9-4D91-87E7-E424EED5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33800"/>
            <a:ext cx="2019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E95C3E-8509-4C99-8CCE-A466C008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从一次性手工业，变成一种可以重复运行的标准化生产过程。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A694A1-7F79-44BB-89C5-385B2A52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912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价值不在于每次从零设计，而在于让可靠经验持续被调用。</a:t>
            </a:r>
          </a:p>
        </p:txBody>
      </p:sp>
    </p:spTree>
    <p:extLst>
      <p:ext uri="{BB962C8B-B14F-4D97-AF65-F5344CB8AC3E}">
        <p14:creationId xmlns:p14="http://schemas.microsoft.com/office/powerpoint/2010/main" val="3336463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A034A-E407-4DC8-8682-FB0C28B8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64B52-E331-4589-9927-67F99E12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最后，它仍然只想解决一件普通的事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9C2AA-0712-46A4-8B91-B7156D7F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28850"/>
            <a:ext cx="923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让一个原本不太会做 PPT 的人，</a:t>
            </a:r>
          </a:p>
          <a:p xmlns:a="http://schemas.openxmlformats.org/drawingml/2006/main">
            <a:pPr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也能很快得到一套真的好用的 PPT。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460E8-84CF-4D94-B84B-05A720C5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866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71970-7D03-4F6E-918F-13BA9EDD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704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不一定惊艳，但靠谱。</a:t>
            </a:r>
          </a:p>
          <a:p xmlns:a="http://schemas.openxmlformats.org/drawingml/2006/main">
            <a:pPr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不一定独一无二，但可以立刻拿去讲，也可以继续修改。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DF344-A384-469E-8ABC-94B2C5DC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71700"/>
            <a:ext cx="2362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1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7F7FE-D472-4AC1-A2A8-CFDFA937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1A760-74D9-4E77-9404-D3AC00FE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242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BFAF6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FBFAF6"/>
                </a:solidFill>
                <a:latin typeface="Noto Serif SC"/>
                <a:ea typeface="Noto Serif SC"/>
                <a:cs typeface="Noto Serif SC"/>
              </a:rPr>
              <a:t>可靠的</a:t>
            </a:r>
          </a:p>
          <a:p xmlns:a="http://schemas.openxmlformats.org/drawingml/2006/main">
            <a:pPr>
              <a:defRPr sz="1575" b="1" i="0">
                <a:solidFill>
                  <a:srgbClr val="FBFAF6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FBFAF6"/>
                </a:solidFill>
                <a:latin typeface="Noto Serif SC"/>
                <a:ea typeface="Noto Serif SC"/>
                <a:cs typeface="Noto Serif SC"/>
              </a:rPr>
              <a:t>生产过程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254E0-9550-41DF-8980-C089CC3E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037499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2026-09-10T15:05:43.7580000Z</dcterms:created>
  <dcterms:modified xsi:type="dcterms:W3CDTF">2026-09-10T15:05:43.7580000Z</dcterms:modified>
</coreProperties>
</file>