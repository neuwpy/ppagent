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35ac14a204e08" /><Relationship Type="http://schemas.openxmlformats.org/officeDocument/2006/relationships/extended-properties" Target="/docProps/app.xml" Id="R47784db789ce4691" /><Relationship Type="http://schemas.openxmlformats.org/officeDocument/2006/relationships/officeDocument" Target="/ppt/presentation.xml" Id="R5364a1fa9102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d65f4aee841e6"/>
  </p:sldMasterIdLst>
  <p:notesMasterIdLst>
    <p:notesMasterId xmlns:r="http://schemas.openxmlformats.org/officeDocument/2006/relationships" r:id="R00ec1ebb0a394e14"/>
  </p:notesMasterIdLst>
  <p:sldIdLst>
    <p:sldId xmlns:r="http://schemas.openxmlformats.org/officeDocument/2006/relationships" id="256" r:id="R6024714704d74209"/>
    <p:sldId xmlns:r="http://schemas.openxmlformats.org/officeDocument/2006/relationships" id="257" r:id="Reb1286310baa4c68"/>
    <p:sldId xmlns:r="http://schemas.openxmlformats.org/officeDocument/2006/relationships" id="258" r:id="Raee50688bec14eec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75517caeee4278" /><Relationship Type="http://schemas.openxmlformats.org/officeDocument/2006/relationships/slideMaster" Target="/ppt/slideMasters/slideMaster1.xml" Id="Rf54d65f4aee841e6" /><Relationship Type="http://schemas.openxmlformats.org/officeDocument/2006/relationships/notesMaster" Target="/ppt/notesMasters/notesMaster1.xml" Id="R00ec1ebb0a394e14" /><Relationship Type="http://schemas.openxmlformats.org/officeDocument/2006/relationships/presProps" Target="/ppt/presProps.xml" Id="Rfb34e58307084939" /><Relationship Type="http://schemas.openxmlformats.org/officeDocument/2006/relationships/tableStyles" Target="/ppt/tableStyles.xml" Id="R554cb8bf5e884da6" /><Relationship Type="http://schemas.openxmlformats.org/officeDocument/2006/relationships/slide" Target="/ppt/slides/slide1.xml" Id="R6024714704d74209" /><Relationship Type="http://schemas.openxmlformats.org/officeDocument/2006/relationships/slide" Target="/ppt/slides/slide2.xml" Id="Reb1286310baa4c68" /><Relationship Type="http://schemas.openxmlformats.org/officeDocument/2006/relationships/slide" Target="/ppt/slides/slide3.xml" Id="Raee50688bec1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7746e2910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10220a4614bfb" /><Relationship Type="http://schemas.openxmlformats.org/officeDocument/2006/relationships/notesMaster" Target="/ppt/notesMasters/notesMaster1.xml" Id="R40a300baf6d042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3f8f9fe4e84043" /><Relationship Type="http://schemas.openxmlformats.org/officeDocument/2006/relationships/notesMaster" Target="/ppt/notesMasters/notesMaster1.xml" Id="Raa9c93ea6af946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8be495bdf04316" /><Relationship Type="http://schemas.openxmlformats.org/officeDocument/2006/relationships/notesMaster" Target="/ppt/notesMasters/notesMaster1.xml" Id="Rcc37ea0605084d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4f76c5f03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a57210edf45c7" /><Relationship Type="http://schemas.openxmlformats.org/officeDocument/2006/relationships/slideLayout" Target="/ppt/slideLayouts/slideLayout1.xml" Id="R90fe4c660796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fe4c660796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0eec319de40f8" /><Relationship Type="http://schemas.openxmlformats.org/officeDocument/2006/relationships/notesSlide" Target="/ppt/notesSlides/notesSlide1.xml" Id="R6d29d97f1d99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a0ae601104259" /><Relationship Type="http://schemas.openxmlformats.org/officeDocument/2006/relationships/notesSlide" Target="/ppt/notesSlides/notesSlide2.xml" Id="R36f9307b562e42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23cc1c4024b50" /><Relationship Type="http://schemas.openxmlformats.org/officeDocument/2006/relationships/notesSlide" Target="/ppt/notesSlides/notesSlide3.xml" Id="Rdd8b9473d41642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4799-B3D7-4D06-A464-B2EE41E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预约提示不清、咨询口径已统一、夜间仍无固定承接人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2102018B-064E-493C-9EA8-C91B71F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9E361-24E3-4356-82C8-3048C556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读者服务三项发现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3BA43FBB-F8D4-43AA-BDAA-6AC84E9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EAB700D8-34BB-4885-A747-907494C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005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1:section-2">
            <a:extLst xmlns:a="http://schemas.openxmlformats.org/drawingml/2006/main">
              <a:ext uri="{FF2B5EF4-FFF2-40B4-BE49-F238E27FC236}">
                <a16:creationId xmlns:a16="http://schemas.microsoft.com/office/drawing/2014/main" id="{E6218874-7E8A-4924-8FC2-CB4CC3D3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800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3F5F4-3B41-415D-8A76-035F28D4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1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预约取书提示不清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F7A2A-4A4B-4936-B7E7-869B6DD7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011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读者常把到馆通知理解为已完成借阅。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16C51-A9DC-4595-AF9D-2DD0F941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F02E2-68C0-4032-B21E-BE61FF38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806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已统一回答口径。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7494C-E76D-4B5E-9907-CC43A95B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50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夜间咨询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F2FE9-DC6B-4A69-AC9E-0BACFEF9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6017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尚无固定承接人；遇到跨部门问题只能留单，第二天再转交。</a:t>
            </a:r>
          </a:p>
        </p:txBody>
      </p:sp>
    </p:spTree>
    <p:extLst>
      <p:ext uri="{BB962C8B-B14F-4D97-AF65-F5344CB8AC3E}">
        <p14:creationId xmlns:p14="http://schemas.microsoft.com/office/powerpoint/2010/main" val="6305236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00216-8BFB-4D59-8B17-691FC3F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已完成破损书目登记，修复仍需按损坏程度排队</a:t>
            </a:r>
          </a:p>
        </p:txBody>
      </p:sp>
      <p:sp>
        <p:nvSpPr>
          <p:cNvPr id="2" name="region:g2">
            <a:extLst xmlns:a="http://schemas.openxmlformats.org/drawingml/2006/main">
              <a:ext uri="{FF2B5EF4-FFF2-40B4-BE49-F238E27FC236}">
                <a16:creationId xmlns:a16="http://schemas.microsoft.com/office/drawing/2014/main" id="{BE6F4A68-2621-4F03-8E2E-D35853A5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4B5D1-97DE-4F00-A931-619278BF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馆藏维护两项进展</a:t>
            </a:r>
          </a:p>
        </p:txBody>
      </p:sp>
      <p:sp>
        <p:nvSpPr>
          <p:cNvPr id="4" name="block:g2:section-0">
            <a:extLst xmlns:a="http://schemas.openxmlformats.org/drawingml/2006/main">
              <a:ext uri="{FF2B5EF4-FFF2-40B4-BE49-F238E27FC236}">
                <a16:creationId xmlns:a16="http://schemas.microsoft.com/office/drawing/2014/main" id="{2A4E9CC9-08AA-4BC3-8694-5B746F7B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2:section-1">
            <a:extLst xmlns:a="http://schemas.openxmlformats.org/drawingml/2006/main">
              <a:ext uri="{FF2B5EF4-FFF2-40B4-BE49-F238E27FC236}">
                <a16:creationId xmlns:a16="http://schemas.microsoft.com/office/drawing/2014/main" id="{64E0936C-A43F-4166-ACAC-FE3DCD7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08394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84A2F-8625-4DB4-BCF7-3355D319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361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5000A-9078-40C0-9D61-C7D9E7AB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60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破损书目登记。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A8256-2587-4480-BF9B-96451A19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053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仍需按损坏程度排队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D5435-EF6D-4512-95F9-F552CEA9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153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修复工作仍需按损坏程度排队；登记完成不等于修复完成。</a:t>
            </a:r>
          </a:p>
        </p:txBody>
      </p:sp>
    </p:spTree>
    <p:extLst>
      <p:ext uri="{BB962C8B-B14F-4D97-AF65-F5344CB8AC3E}">
        <p14:creationId xmlns:p14="http://schemas.microsoft.com/office/powerpoint/2010/main" val="7296573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715AB-B789-4A41-908E-49D262D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每周集中核对未结工单，由原接单人员跟踪至接收部门确认</a:t>
            </a:r>
          </a:p>
        </p:txBody>
      </p:sp>
      <p:sp>
        <p:nvSpPr>
          <p:cNvPr id="2" name="region:g3">
            <a:extLst xmlns:a="http://schemas.openxmlformats.org/drawingml/2006/main">
              <a:ext uri="{FF2B5EF4-FFF2-40B4-BE49-F238E27FC236}">
                <a16:creationId xmlns:a16="http://schemas.microsoft.com/office/drawing/2014/main" id="{D9A7950E-D5D4-48FE-9F8D-5047889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0BF82-9458-497E-82BA-D52DB639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内部协作安排</a:t>
            </a:r>
          </a:p>
        </p:txBody>
      </p:sp>
      <p:sp>
        <p:nvSpPr>
          <p:cNvPr id="4" name="block:g3:section-0">
            <a:extLst xmlns:a="http://schemas.openxmlformats.org/drawingml/2006/main">
              <a:ext uri="{FF2B5EF4-FFF2-40B4-BE49-F238E27FC236}">
                <a16:creationId xmlns:a16="http://schemas.microsoft.com/office/drawing/2014/main" id="{C165614A-3D93-4789-A9DD-5DEEE01D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89182-ACD3-4CB0-8206-F07CD89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每周集中核对未结工单，由原接单人员持续跟踪，直到接收部门确认处理结果。</a:t>
            </a:r>
          </a:p>
        </p:txBody>
      </p:sp>
    </p:spTree>
    <p:extLst>
      <p:ext uri="{BB962C8B-B14F-4D97-AF65-F5344CB8AC3E}">
        <p14:creationId xmlns:p14="http://schemas.microsoft.com/office/powerpoint/2010/main" val="230563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2026-09-16T17:01:34.1730000Z</dcterms:created>
  <dcterms:modified xsi:type="dcterms:W3CDTF">2026-09-16T17:01:34.1730000Z</dcterms:modified>
</coreProperties>
</file>