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f21130fa204510" /><Relationship Type="http://schemas.openxmlformats.org/officeDocument/2006/relationships/extended-properties" Target="/docProps/app.xml" Id="R680d7d874af34f7c" /><Relationship Type="http://schemas.openxmlformats.org/officeDocument/2006/relationships/officeDocument" Target="/ppt/presentation.xml" Id="R6c7beafd7dcc49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c6caf5916b4a7f"/>
  </p:sldMasterIdLst>
  <p:notesMasterIdLst>
    <p:notesMasterId xmlns:r="http://schemas.openxmlformats.org/officeDocument/2006/relationships" r:id="R9a64bdcf6988417c"/>
  </p:notesMasterIdLst>
  <p:sldIdLst>
    <p:sldId xmlns:r="http://schemas.openxmlformats.org/officeDocument/2006/relationships" id="256" r:id="R7ce0e5dc7558443f"/>
    <p:sldId xmlns:r="http://schemas.openxmlformats.org/officeDocument/2006/relationships" id="257" r:id="R1a8a1c9fca4c454d"/>
    <p:sldId xmlns:r="http://schemas.openxmlformats.org/officeDocument/2006/relationships" id="258" r:id="R44292cefc97a4d2f"/>
    <p:sldId xmlns:r="http://schemas.openxmlformats.org/officeDocument/2006/relationships" id="259" r:id="Rf9a55b8a5a4140ed"/>
    <p:sldId xmlns:r="http://schemas.openxmlformats.org/officeDocument/2006/relationships" id="260" r:id="Rb32f47c3516045ae"/>
    <p:sldId xmlns:r="http://schemas.openxmlformats.org/officeDocument/2006/relationships" id="261" r:id="R050a88bff15f4d49"/>
    <p:sldId xmlns:r="http://schemas.openxmlformats.org/officeDocument/2006/relationships" id="262" r:id="R9c5985d370f0495c"/>
    <p:sldId xmlns:r="http://schemas.openxmlformats.org/officeDocument/2006/relationships" id="263" r:id="Rd664a27452224fdb"/>
    <p:sldId xmlns:r="http://schemas.openxmlformats.org/officeDocument/2006/relationships" id="264" r:id="R9242232877b54e29"/>
    <p:sldId xmlns:r="http://schemas.openxmlformats.org/officeDocument/2006/relationships" id="265" r:id="R48e4297433e1464d"/>
    <p:sldId xmlns:r="http://schemas.openxmlformats.org/officeDocument/2006/relationships" id="266" r:id="Rc5f29dca04664800"/>
    <p:sldId xmlns:r="http://schemas.openxmlformats.org/officeDocument/2006/relationships" id="267" r:id="Ra942a5df4e6a472b"/>
    <p:sldId xmlns:r="http://schemas.openxmlformats.org/officeDocument/2006/relationships" id="268" r:id="Rcc0eee93d0cf4b11"/>
    <p:sldId xmlns:r="http://schemas.openxmlformats.org/officeDocument/2006/relationships" id="269" r:id="R3d9260a936b8435e"/>
    <p:sldId xmlns:r="http://schemas.openxmlformats.org/officeDocument/2006/relationships" id="270" r:id="R0a1c0e4f03d44f43"/>
    <p:sldId xmlns:r="http://schemas.openxmlformats.org/officeDocument/2006/relationships" id="271" r:id="Reebfd14a03d74c8d"/>
    <p:sldId xmlns:r="http://schemas.openxmlformats.org/officeDocument/2006/relationships" id="272" r:id="Ra4ee2c15890b4b79"/>
    <p:sldId xmlns:r="http://schemas.openxmlformats.org/officeDocument/2006/relationships" id="273" r:id="R5cfa1b17ded64b94"/>
    <p:sldId xmlns:r="http://schemas.openxmlformats.org/officeDocument/2006/relationships" id="274" r:id="Rae4ca905abbe41da"/>
    <p:sldId xmlns:r="http://schemas.openxmlformats.org/officeDocument/2006/relationships" id="275" r:id="Rfe9f8e5eac424f9c"/>
    <p:sldId xmlns:r="http://schemas.openxmlformats.org/officeDocument/2006/relationships" id="276" r:id="R2ec3a4afc1b24a38"/>
    <p:sldId xmlns:r="http://schemas.openxmlformats.org/officeDocument/2006/relationships" id="277" r:id="Rf3beba6634574993"/>
    <p:sldId xmlns:r="http://schemas.openxmlformats.org/officeDocument/2006/relationships" id="278" r:id="R1e76580e5c6b4d24"/>
    <p:sldId xmlns:r="http://schemas.openxmlformats.org/officeDocument/2006/relationships" id="279" r:id="R5d688720285f4779"/>
  </p:sldIdLst>
  <p:sldSz cx="11906250" cy="61150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31993f21604602" /><Relationship Type="http://schemas.openxmlformats.org/officeDocument/2006/relationships/slideMaster" Target="/ppt/slideMasters/slideMaster1.xml" Id="R3fc6caf5916b4a7f" /><Relationship Type="http://schemas.openxmlformats.org/officeDocument/2006/relationships/notesMaster" Target="/ppt/notesMasters/notesMaster1.xml" Id="R9a64bdcf6988417c" /><Relationship Type="http://schemas.openxmlformats.org/officeDocument/2006/relationships/presProps" Target="/ppt/presProps.xml" Id="Rb4cc2cde20e34106" /><Relationship Type="http://schemas.openxmlformats.org/officeDocument/2006/relationships/tableStyles" Target="/ppt/tableStyles.xml" Id="Ra38a34a138fd4075" /><Relationship Type="http://schemas.openxmlformats.org/officeDocument/2006/relationships/slide" Target="/ppt/slides/slide1.xml" Id="R7ce0e5dc7558443f" /><Relationship Type="http://schemas.openxmlformats.org/officeDocument/2006/relationships/slide" Target="/ppt/slides/slide2.xml" Id="R1a8a1c9fca4c454d" /><Relationship Type="http://schemas.openxmlformats.org/officeDocument/2006/relationships/slide" Target="/ppt/slides/slide3.xml" Id="R44292cefc97a4d2f" /><Relationship Type="http://schemas.openxmlformats.org/officeDocument/2006/relationships/slide" Target="/ppt/slides/slide4.xml" Id="Rf9a55b8a5a4140ed" /><Relationship Type="http://schemas.openxmlformats.org/officeDocument/2006/relationships/slide" Target="/ppt/slides/slide5.xml" Id="Rb32f47c3516045ae" /><Relationship Type="http://schemas.openxmlformats.org/officeDocument/2006/relationships/slide" Target="/ppt/slides/slide6.xml" Id="R050a88bff15f4d49" /><Relationship Type="http://schemas.openxmlformats.org/officeDocument/2006/relationships/slide" Target="/ppt/slides/slide7.xml" Id="R9c5985d370f0495c" /><Relationship Type="http://schemas.openxmlformats.org/officeDocument/2006/relationships/slide" Target="/ppt/slides/slide8.xml" Id="Rd664a27452224fdb" /><Relationship Type="http://schemas.openxmlformats.org/officeDocument/2006/relationships/slide" Target="/ppt/slides/slide9.xml" Id="R9242232877b54e29" /><Relationship Type="http://schemas.openxmlformats.org/officeDocument/2006/relationships/slide" Target="/ppt/slides/slide10.xml" Id="R48e4297433e1464d" /><Relationship Type="http://schemas.openxmlformats.org/officeDocument/2006/relationships/slide" Target="/ppt/slides/slide11.xml" Id="Rc5f29dca04664800" /><Relationship Type="http://schemas.openxmlformats.org/officeDocument/2006/relationships/slide" Target="/ppt/slides/slide12.xml" Id="Ra942a5df4e6a472b" /><Relationship Type="http://schemas.openxmlformats.org/officeDocument/2006/relationships/slide" Target="/ppt/slides/slide13.xml" Id="Rcc0eee93d0cf4b11" /><Relationship Type="http://schemas.openxmlformats.org/officeDocument/2006/relationships/slide" Target="/ppt/slides/slide14.xml" Id="R3d9260a936b8435e" /><Relationship Type="http://schemas.openxmlformats.org/officeDocument/2006/relationships/slide" Target="/ppt/slides/slide15.xml" Id="R0a1c0e4f03d44f43" /><Relationship Type="http://schemas.openxmlformats.org/officeDocument/2006/relationships/slide" Target="/ppt/slides/slide16.xml" Id="Reebfd14a03d74c8d" /><Relationship Type="http://schemas.openxmlformats.org/officeDocument/2006/relationships/slide" Target="/ppt/slides/slide17.xml" Id="Ra4ee2c15890b4b79" /><Relationship Type="http://schemas.openxmlformats.org/officeDocument/2006/relationships/slide" Target="/ppt/slides/slide18.xml" Id="R5cfa1b17ded64b94" /><Relationship Type="http://schemas.openxmlformats.org/officeDocument/2006/relationships/slide" Target="/ppt/slides/slide19.xml" Id="Rae4ca905abbe41da" /><Relationship Type="http://schemas.openxmlformats.org/officeDocument/2006/relationships/slide" Target="/ppt/slides/slide20.xml" Id="Rfe9f8e5eac424f9c" /><Relationship Type="http://schemas.openxmlformats.org/officeDocument/2006/relationships/slide" Target="/ppt/slides/slide21.xml" Id="R2ec3a4afc1b24a38" /><Relationship Type="http://schemas.openxmlformats.org/officeDocument/2006/relationships/slide" Target="/ppt/slides/slide22.xml" Id="Rf3beba6634574993" /><Relationship Type="http://schemas.openxmlformats.org/officeDocument/2006/relationships/slide" Target="/ppt/slides/slide23.xml" Id="R1e76580e5c6b4d24" /><Relationship Type="http://schemas.openxmlformats.org/officeDocument/2006/relationships/slide" Target="/ppt/slides/slide24.xml" Id="R5d688720285f47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60b9db96f645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01fd1c06184e14" /><Relationship Type="http://schemas.openxmlformats.org/officeDocument/2006/relationships/notesMaster" Target="/ppt/notesMasters/notesMaster1.xml" Id="R2fa5f49b73ca43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f8e8a615294577" /><Relationship Type="http://schemas.openxmlformats.org/officeDocument/2006/relationships/notesMaster" Target="/ppt/notesMasters/notesMaster1.xml" Id="R7a8419a2e08e47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daf11b61ef45b8" /><Relationship Type="http://schemas.openxmlformats.org/officeDocument/2006/relationships/notesMaster" Target="/ppt/notesMasters/notesMaster1.xml" Id="R23c6e1c8084c45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8b01b043d946fe" /><Relationship Type="http://schemas.openxmlformats.org/officeDocument/2006/relationships/notesMaster" Target="/ppt/notesMasters/notesMaster1.xml" Id="R6aaa64e134ce4e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42855fed1245c3" /><Relationship Type="http://schemas.openxmlformats.org/officeDocument/2006/relationships/notesMaster" Target="/ppt/notesMasters/notesMaster1.xml" Id="Rbdcdafe2f74b41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cb9860a0cf4c02" /><Relationship Type="http://schemas.openxmlformats.org/officeDocument/2006/relationships/notesMaster" Target="/ppt/notesMasters/notesMaster1.xml" Id="R3bac22ef5b614a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2feb99bb11492a" /><Relationship Type="http://schemas.openxmlformats.org/officeDocument/2006/relationships/notesMaster" Target="/ppt/notesMasters/notesMaster1.xml" Id="Rcf772dc44b2d40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ea93d2552f4b4f" /><Relationship Type="http://schemas.openxmlformats.org/officeDocument/2006/relationships/notesMaster" Target="/ppt/notesMasters/notesMaster1.xml" Id="R43bb066fb53743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0dd97f7ac14cde" /><Relationship Type="http://schemas.openxmlformats.org/officeDocument/2006/relationships/notesMaster" Target="/ppt/notesMasters/notesMaster1.xml" Id="R79541c7d44f440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0c044c39a54b25" /><Relationship Type="http://schemas.openxmlformats.org/officeDocument/2006/relationships/notesMaster" Target="/ppt/notesMasters/notesMaster1.xml" Id="Reb4445df12bd41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9b9075f463413f" /><Relationship Type="http://schemas.openxmlformats.org/officeDocument/2006/relationships/notesMaster" Target="/ppt/notesMasters/notesMaster1.xml" Id="R6df185c4b0ef41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f435f78a39440f" /><Relationship Type="http://schemas.openxmlformats.org/officeDocument/2006/relationships/notesMaster" Target="/ppt/notesMasters/notesMaster1.xml" Id="R36da140fc893455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1f67f5cdbf4eca" /><Relationship Type="http://schemas.openxmlformats.org/officeDocument/2006/relationships/notesMaster" Target="/ppt/notesMasters/notesMaster1.xml" Id="R8781024831b147b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da1a97249774899" /><Relationship Type="http://schemas.openxmlformats.org/officeDocument/2006/relationships/notesMaster" Target="/ppt/notesMasters/notesMaster1.xml" Id="R1eb948b6b3ba46c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524afc1ed1240dc" /><Relationship Type="http://schemas.openxmlformats.org/officeDocument/2006/relationships/notesMaster" Target="/ppt/notesMasters/notesMaster1.xml" Id="R7af83c175fbe4cb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c24b79572b049fe" /><Relationship Type="http://schemas.openxmlformats.org/officeDocument/2006/relationships/notesMaster" Target="/ppt/notesMasters/notesMaster1.xml" Id="R96ff49c0ef044d2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2a852af528b43a4" /><Relationship Type="http://schemas.openxmlformats.org/officeDocument/2006/relationships/notesMaster" Target="/ppt/notesMasters/notesMaster1.xml" Id="R85b5bdb20a004a6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6f8e4b930164c7e" /><Relationship Type="http://schemas.openxmlformats.org/officeDocument/2006/relationships/notesMaster" Target="/ppt/notesMasters/notesMaster1.xml" Id="R16a98b757b584e7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9fb6e7877c14a63" /><Relationship Type="http://schemas.openxmlformats.org/officeDocument/2006/relationships/notesMaster" Target="/ppt/notesMasters/notesMaster1.xml" Id="R451e25ba3e0a431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c974635014841e1" /><Relationship Type="http://schemas.openxmlformats.org/officeDocument/2006/relationships/notesMaster" Target="/ppt/notesMasters/notesMaster1.xml" Id="R340975ea8bf7484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0e9c92f48884664" /><Relationship Type="http://schemas.openxmlformats.org/officeDocument/2006/relationships/notesMaster" Target="/ppt/notesMasters/notesMaster1.xml" Id="R1a1841241744425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0a177736f284bce" /><Relationship Type="http://schemas.openxmlformats.org/officeDocument/2006/relationships/notesMaster" Target="/ppt/notesMasters/notesMaster1.xml" Id="Rf8cae51855e84b6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30933cae2e44e1e" /><Relationship Type="http://schemas.openxmlformats.org/officeDocument/2006/relationships/notesMaster" Target="/ppt/notesMasters/notesMaster1.xml" Id="R12631e507b324c6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f8c40a6cd8541d6" /><Relationship Type="http://schemas.openxmlformats.org/officeDocument/2006/relationships/notesMaster" Target="/ppt/notesMasters/notesMaster1.xml" Id="R8291bea900f342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c6d18f24aa42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3697ee6a1547fe" /><Relationship Type="http://schemas.openxmlformats.org/officeDocument/2006/relationships/slideLayout" Target="/ppt/slideLayouts/slideLayout1.xml" Id="R423263316b6741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3263316b6741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f9fa0cccf45ad" /><Relationship Type="http://schemas.openxmlformats.org/officeDocument/2006/relationships/notesSlide" Target="/ppt/notesSlides/notesSlide1.xml" Id="Rcbe5c42c858f49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9bed40a8640ef" /><Relationship Type="http://schemas.openxmlformats.org/officeDocument/2006/relationships/notesSlide" Target="/ppt/notesSlides/notesSlide2.xml" Id="R0c288088a4f34e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e7c11675b45e4" /><Relationship Type="http://schemas.openxmlformats.org/officeDocument/2006/relationships/notesSlide" Target="/ppt/notesSlides/notesSlide3.xml" Id="R35eca39dbb6a42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9b1cea9d447ef" /><Relationship Type="http://schemas.openxmlformats.org/officeDocument/2006/relationships/notesSlide" Target="/ppt/notesSlides/notesSlide4.xml" Id="R53f11827283642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a6dbe7faf4186" /><Relationship Type="http://schemas.openxmlformats.org/officeDocument/2006/relationships/notesSlide" Target="/ppt/notesSlides/notesSlide5.xml" Id="Rb8910f62488249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584aeade14569" /><Relationship Type="http://schemas.openxmlformats.org/officeDocument/2006/relationships/notesSlide" Target="/ppt/notesSlides/notesSlide6.xml" Id="R3bc2c4d1bd4e45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e3bbc36294e56" /><Relationship Type="http://schemas.openxmlformats.org/officeDocument/2006/relationships/notesSlide" Target="/ppt/notesSlides/notesSlide7.xml" Id="Ra611d86631c14a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ffcca676740f1" /><Relationship Type="http://schemas.openxmlformats.org/officeDocument/2006/relationships/notesSlide" Target="/ppt/notesSlides/notesSlide8.xml" Id="R8071bada76ab4b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d6ce32bc44525" /><Relationship Type="http://schemas.openxmlformats.org/officeDocument/2006/relationships/notesSlide" Target="/ppt/notesSlides/notesSlide9.xml" Id="R2ce50f1081374c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e780c480646e8" /><Relationship Type="http://schemas.openxmlformats.org/officeDocument/2006/relationships/notesSlide" Target="/ppt/notesSlides/notesSlide10.xml" Id="Rcb5e3bc81c094e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3cb2983264579" /><Relationship Type="http://schemas.openxmlformats.org/officeDocument/2006/relationships/notesSlide" Target="/ppt/notesSlides/notesSlide11.xml" Id="R38dbfd57903a49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15970395f425d" /><Relationship Type="http://schemas.openxmlformats.org/officeDocument/2006/relationships/notesSlide" Target="/ppt/notesSlides/notesSlide12.xml" Id="R7f493ecab2204e6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a68ce9afc4e74" /><Relationship Type="http://schemas.openxmlformats.org/officeDocument/2006/relationships/notesSlide" Target="/ppt/notesSlides/notesSlide13.xml" Id="R8907b6dcd5a64d2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cc20b2a8b4820" /><Relationship Type="http://schemas.openxmlformats.org/officeDocument/2006/relationships/notesSlide" Target="/ppt/notesSlides/notesSlide14.xml" Id="R623b5c0c941048f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7584d1b394afc" /><Relationship Type="http://schemas.openxmlformats.org/officeDocument/2006/relationships/notesSlide" Target="/ppt/notesSlides/notesSlide15.xml" Id="R9d87db1af4f1446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681df31c7409f" /><Relationship Type="http://schemas.openxmlformats.org/officeDocument/2006/relationships/notesSlide" Target="/ppt/notesSlides/notesSlide16.xml" Id="Rf12e0638cc0f4b9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43d390bf746c2" /><Relationship Type="http://schemas.openxmlformats.org/officeDocument/2006/relationships/notesSlide" Target="/ppt/notesSlides/notesSlide17.xml" Id="R43429fc02a6544d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de7a483f64230" /><Relationship Type="http://schemas.openxmlformats.org/officeDocument/2006/relationships/notesSlide" Target="/ppt/notesSlides/notesSlide18.xml" Id="R51cf53b460424a3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b2ad236bd402f" /><Relationship Type="http://schemas.openxmlformats.org/officeDocument/2006/relationships/notesSlide" Target="/ppt/notesSlides/notesSlide19.xml" Id="R3026a61dc0bf421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8f2d06c1a48cf" /><Relationship Type="http://schemas.openxmlformats.org/officeDocument/2006/relationships/notesSlide" Target="/ppt/notesSlides/notesSlide20.xml" Id="Re95cb901d7e8487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5ea8e69d34c32" /><Relationship Type="http://schemas.openxmlformats.org/officeDocument/2006/relationships/notesSlide" Target="/ppt/notesSlides/notesSlide21.xml" Id="R69b0f853075f4c1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d20122c1f420b" /><Relationship Type="http://schemas.openxmlformats.org/officeDocument/2006/relationships/notesSlide" Target="/ppt/notesSlides/notesSlide22.xml" Id="R746978b0a76b43b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923d90aed4423" /><Relationship Type="http://schemas.openxmlformats.org/officeDocument/2006/relationships/notesSlide" Target="/ppt/notesSlides/notesSlide23.xml" Id="Rdaa77fd8a7f1416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26e82d38d46f9" /><Relationship Type="http://schemas.openxmlformats.org/officeDocument/2006/relationships/notesSlide" Target="/ppt/notesSlides/notesSlide24.xml" Id="Rec48d158ebe2465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FC7A4C-43E7-4BBB-BBD9-0DE42605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模拟｜先核验信息，再决定是否扩大试点</a:t>
            </a:r>
          </a:p>
        </p:txBody>
      </p:sp>
      <p:sp>
        <p:nvSpPr>
          <p:cNvPr id="2" name="region:p1-g1">
            <a:extLst xmlns:a="http://schemas.openxmlformats.org/drawingml/2006/main">
              <a:ext uri="{FF2B5EF4-FFF2-40B4-BE49-F238E27FC236}">
                <a16:creationId xmlns:a16="http://schemas.microsoft.com/office/drawing/2014/main" id="{3BB826F3-2D0B-4E76-BCE0-929DC8BD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111442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F670AB-1BD6-4C1E-9862-5473E8E4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判断与依据</a:t>
            </a:r>
          </a:p>
        </p:txBody>
      </p:sp>
      <p:sp>
        <p:nvSpPr>
          <p:cNvPr id="4" name="block:p1-g1:section-0">
            <a:extLst xmlns:a="http://schemas.openxmlformats.org/drawingml/2006/main">
              <a:ext uri="{FF2B5EF4-FFF2-40B4-BE49-F238E27FC236}">
                <a16:creationId xmlns:a16="http://schemas.microsoft.com/office/drawing/2014/main" id="{7926D0CE-91CE-4D93-B0FC-E8ED1A6B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839450" cy="7682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block:p1-g1:section-1">
            <a:extLst xmlns:a="http://schemas.openxmlformats.org/drawingml/2006/main">
              <a:ext uri="{FF2B5EF4-FFF2-40B4-BE49-F238E27FC236}">
                <a16:creationId xmlns:a16="http://schemas.microsoft.com/office/drawing/2014/main" id="{DEE80B55-F17C-48CE-88BF-D06005C0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44610"/>
            <a:ext cx="10839450" cy="2254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6" name="block:p1-g1:section-2">
            <a:extLst xmlns:a="http://schemas.openxmlformats.org/drawingml/2006/main">
              <a:ext uri="{FF2B5EF4-FFF2-40B4-BE49-F238E27FC236}">
                <a16:creationId xmlns:a16="http://schemas.microsoft.com/office/drawing/2014/main" id="{EBDC89EB-9193-4EA8-943D-3D032905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3440"/>
            <a:ext cx="10839450" cy="7682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11651-24BF-48F3-AA81-53A3CFC7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3330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模拟访谈显示办理入口难找，但样本只覆盖试点部门。当前建议先改进入口，再观察是否值得扩大覆盖。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C8646F-0C08-46C1-A6FD-880CD7D6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5138"/>
            <a:ext cx="10687050" cy="113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表达作用：组织判断依据。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承载内容：访谈记录支持“入口难找”；流程记录支持“交接等待”；二者共同支持先修复试点。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基本关系：证据指向各自支持的判断。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制作要求：保留来源标签及样本边界。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A9E2B5-F864-4B9F-90BD-AF1DCA90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4670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扩大范围仍需其他部门的记录支持；本轮材料不能证明所有部门都存在同样问题。</a:t>
            </a:r>
          </a:p>
        </p:txBody>
      </p:sp>
    </p:spTree>
    <p:extLst>
      <p:ext uri="{BB962C8B-B14F-4D97-AF65-F5344CB8AC3E}">
        <p14:creationId xmlns:p14="http://schemas.microsoft.com/office/powerpoint/2010/main" val="15663851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9374F-05C3-41BF-9036-A36F6941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模拟｜两种方案应在同一口径下比较</a:t>
            </a:r>
          </a:p>
        </p:txBody>
      </p:sp>
      <p:sp>
        <p:nvSpPr>
          <p:cNvPr id="2" name="region:p2-g1">
            <a:extLst xmlns:a="http://schemas.openxmlformats.org/drawingml/2006/main">
              <a:ext uri="{FF2B5EF4-FFF2-40B4-BE49-F238E27FC236}">
                <a16:creationId xmlns:a16="http://schemas.microsoft.com/office/drawing/2014/main" id="{4BE0A919-3358-4359-937C-D9FA38F7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545782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611E3-9349-4FDD-87CC-36CB4EC7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5153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轻量接入</a:t>
            </a:r>
          </a:p>
        </p:txBody>
      </p:sp>
      <p:sp>
        <p:nvSpPr>
          <p:cNvPr id="4" name="block:p2-g1:section-0">
            <a:extLst xmlns:a="http://schemas.openxmlformats.org/drawingml/2006/main">
              <a:ext uri="{FF2B5EF4-FFF2-40B4-BE49-F238E27FC236}">
                <a16:creationId xmlns:a16="http://schemas.microsoft.com/office/drawing/2014/main" id="{825207B3-E6CE-4CF4-A844-4A1F3FF3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153025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911BB-1957-43E8-B4D3-64511B12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2263"/>
            <a:ext cx="5000625" cy="1414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表达作用：说明方案特点。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承载内容：启动投入低；维护依赖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原系统；扩展受现有接口约束。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基本关系：与统一平台按相同维度对照。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制作要求：维度顺序一致；强调试点适用范围。</a:t>
            </a:r>
          </a:p>
        </p:txBody>
      </p:sp>
      <p:sp>
        <p:nvSpPr>
          <p:cNvPr id="6" name="region:p2-g2">
            <a:extLst xmlns:a="http://schemas.openxmlformats.org/drawingml/2006/main">
              <a:ext uri="{FF2B5EF4-FFF2-40B4-BE49-F238E27FC236}">
                <a16:creationId xmlns:a16="http://schemas.microsoft.com/office/drawing/2014/main" id="{E1D1D127-0B4B-45D6-AAC7-AD2645B9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047750"/>
            <a:ext cx="545782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0E945-BE20-4D2B-AB69-2CA333E2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162050"/>
            <a:ext cx="5153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统一平台</a:t>
            </a:r>
          </a:p>
        </p:txBody>
      </p:sp>
      <p:sp>
        <p:nvSpPr>
          <p:cNvPr id="8" name="block:p2-g2:section-0">
            <a:extLst xmlns:a="http://schemas.openxmlformats.org/drawingml/2006/main">
              <a:ext uri="{FF2B5EF4-FFF2-40B4-BE49-F238E27FC236}">
                <a16:creationId xmlns:a16="http://schemas.microsoft.com/office/drawing/2014/main" id="{276DC827-2D67-434E-83F4-10CAD7BD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562100"/>
            <a:ext cx="5153025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3F38A0-A77F-4BD1-9801-D94F01B2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62263"/>
            <a:ext cx="5000625" cy="1414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表达作用：说明方案特点。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承载内容：启动投入高；需要专职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维护；更便于统一跨系统协作。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基本关系：与轻量接入按相同维度对照。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制作要求：维度位置对应；保留长期投入条件。</a:t>
            </a:r>
          </a:p>
        </p:txBody>
      </p:sp>
    </p:spTree>
    <p:extLst>
      <p:ext uri="{BB962C8B-B14F-4D97-AF65-F5344CB8AC3E}">
        <p14:creationId xmlns:p14="http://schemas.microsoft.com/office/powerpoint/2010/main" val="6459944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5CB85-A3BA-4297-A3AE-31B6F5C3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模拟｜交接确认后再进入下一处理环节</a:t>
            </a:r>
          </a:p>
        </p:txBody>
      </p:sp>
      <p:sp>
        <p:nvSpPr>
          <p:cNvPr id="2" name="region:p3-g1">
            <a:extLst xmlns:a="http://schemas.openxmlformats.org/drawingml/2006/main">
              <a:ext uri="{FF2B5EF4-FFF2-40B4-BE49-F238E27FC236}">
                <a16:creationId xmlns:a16="http://schemas.microsoft.com/office/drawing/2014/main" id="{3561E30C-609D-4650-B668-41F511BB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11144250" cy="2509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2D8B9-E5FE-4DC9-9FF6-04C41D3F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办理路径</a:t>
            </a:r>
          </a:p>
        </p:txBody>
      </p:sp>
      <p:sp>
        <p:nvSpPr>
          <p:cNvPr id="4" name="block:p3-g1:section-0">
            <a:extLst xmlns:a="http://schemas.openxmlformats.org/drawingml/2006/main">
              <a:ext uri="{FF2B5EF4-FFF2-40B4-BE49-F238E27FC236}">
                <a16:creationId xmlns:a16="http://schemas.microsoft.com/office/drawing/2014/main" id="{366A05E6-2B05-40F5-A1FE-E1891C3A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839450" cy="1843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8D010-0639-4E00-8B73-A8D852CD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6906"/>
            <a:ext cx="10687050" cy="113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表达作用：展示办理顺序。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承载内容：受理 → 分派 → 处理 → 反馈。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基本关系：前一环节完成交接后进入后一环节。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制作要求：方向统一，保留处理人和接收方。</a:t>
            </a:r>
          </a:p>
        </p:txBody>
      </p:sp>
      <p:sp>
        <p:nvSpPr>
          <p:cNvPr id="6" name="region:p3-g2">
            <a:extLst xmlns:a="http://schemas.openxmlformats.org/drawingml/2006/main">
              <a:ext uri="{FF2B5EF4-FFF2-40B4-BE49-F238E27FC236}">
                <a16:creationId xmlns:a16="http://schemas.microsoft.com/office/drawing/2014/main" id="{83531042-58C1-4042-B60D-E13DB734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786188"/>
            <a:ext cx="11144250" cy="19478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C4689-B27A-43A2-8865-97D9A65A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0488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贯穿规则</a:t>
            </a:r>
          </a:p>
        </p:txBody>
      </p:sp>
      <p:sp>
        <p:nvSpPr>
          <p:cNvPr id="8" name="block:p3-g2:section-0">
            <a:extLst xmlns:a="http://schemas.openxmlformats.org/drawingml/2006/main">
              <a:ext uri="{FF2B5EF4-FFF2-40B4-BE49-F238E27FC236}">
                <a16:creationId xmlns:a16="http://schemas.microsoft.com/office/drawing/2014/main" id="{FEF505D2-3B38-41C4-AE01-6CC9DB45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0538"/>
            <a:ext cx="10839450" cy="1281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E8341-6E3B-4185-A626-0CFD280D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5344"/>
            <a:ext cx="1068705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每次交接记录时间、当前状态和接收人；用户补充材料时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暂停计时，补齐后恢复。暂停状态与正常流转分开记录。</a:t>
            </a:r>
          </a:p>
        </p:txBody>
      </p:sp>
    </p:spTree>
    <p:extLst>
      <p:ext uri="{BB962C8B-B14F-4D97-AF65-F5344CB8AC3E}">
        <p14:creationId xmlns:p14="http://schemas.microsoft.com/office/powerpoint/2010/main" val="9363672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FF38D3-E076-411E-9D5A-0D87F130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模拟｜先把过程记录清楚，再建设预测能力</a:t>
            </a:r>
          </a:p>
        </p:txBody>
      </p:sp>
      <p:sp>
        <p:nvSpPr>
          <p:cNvPr id="2" name="region:p4-g1">
            <a:extLst xmlns:a="http://schemas.openxmlformats.org/drawingml/2006/main">
              <a:ext uri="{FF2B5EF4-FFF2-40B4-BE49-F238E27FC236}">
                <a16:creationId xmlns:a16="http://schemas.microsoft.com/office/drawing/2014/main" id="{1E84D19F-BD86-45AB-A33A-2C003155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11144250" cy="1804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106D9-2383-43E2-898B-C101B1A6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建设前提</a:t>
            </a:r>
          </a:p>
        </p:txBody>
      </p:sp>
      <p:sp>
        <p:nvSpPr>
          <p:cNvPr id="4" name="block:p4-g1:section-0">
            <a:extLst xmlns:a="http://schemas.openxmlformats.org/drawingml/2006/main">
              <a:ext uri="{FF2B5EF4-FFF2-40B4-BE49-F238E27FC236}">
                <a16:creationId xmlns:a16="http://schemas.microsoft.com/office/drawing/2014/main" id="{D470EC30-5556-43F6-A798-18E35D19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839450" cy="1138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91BBD-2BAE-42EB-BF22-21648309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8344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基础数据口径尚未统一时，先补齐记录和责任归属。过程能稳定追踪后，才有条件开展更复杂的分析。</a:t>
            </a:r>
          </a:p>
        </p:txBody>
      </p:sp>
      <p:sp>
        <p:nvSpPr>
          <p:cNvPr id="6" name="region:p4-g2">
            <a:extLst xmlns:a="http://schemas.openxmlformats.org/drawingml/2006/main">
              <a:ext uri="{FF2B5EF4-FFF2-40B4-BE49-F238E27FC236}">
                <a16:creationId xmlns:a16="http://schemas.microsoft.com/office/drawing/2014/main" id="{1342B0A9-048B-4098-940A-631B7CC9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81338"/>
            <a:ext cx="11144250" cy="26527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BFF4F-BD60-4B37-B76F-EF3ACC5A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95638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递进路线</a:t>
            </a:r>
          </a:p>
        </p:txBody>
      </p:sp>
      <p:sp>
        <p:nvSpPr>
          <p:cNvPr id="8" name="block:p4-g2:section-0">
            <a:extLst xmlns:a="http://schemas.openxmlformats.org/drawingml/2006/main">
              <a:ext uri="{FF2B5EF4-FFF2-40B4-BE49-F238E27FC236}">
                <a16:creationId xmlns:a16="http://schemas.microsoft.com/office/drawing/2014/main" id="{72202CCB-0E23-4ED1-982E-D4BB89EF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95688"/>
            <a:ext cx="10839450" cy="1985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1708C0-43FF-4824-B6A1-8149CF26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1931"/>
            <a:ext cx="10687050" cy="113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表达作用：呈现能力递进。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承载内容：记录完整 → 过程可见 → 趋势分析 → 预测辅助。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基本关系：每级以前级稳定运行为前提。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制作要求：升级条件靠近级间连接，不把愿景写成现状。</a:t>
            </a:r>
          </a:p>
        </p:txBody>
      </p:sp>
    </p:spTree>
    <p:extLst>
      <p:ext uri="{BB962C8B-B14F-4D97-AF65-F5344CB8AC3E}">
        <p14:creationId xmlns:p14="http://schemas.microsoft.com/office/powerpoint/2010/main" val="184503090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5F6EE0-CD72-407D-AE7B-6E7DB174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模拟｜复杂事项单独处理，普通事项直接流转</a:t>
            </a:r>
          </a:p>
        </p:txBody>
      </p:sp>
      <p:sp>
        <p:nvSpPr>
          <p:cNvPr id="2" name="region:p5-g1">
            <a:extLst xmlns:a="http://schemas.openxmlformats.org/drawingml/2006/main">
              <a:ext uri="{FF2B5EF4-FFF2-40B4-BE49-F238E27FC236}">
                <a16:creationId xmlns:a16="http://schemas.microsoft.com/office/drawing/2014/main" id="{CED9C113-FFAF-49F0-91D8-49C4418E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654748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494B7-F1AA-40D0-A37C-B90D7786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624268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处理口径</a:t>
            </a:r>
          </a:p>
        </p:txBody>
      </p:sp>
      <p:sp>
        <p:nvSpPr>
          <p:cNvPr id="4" name="block:p5-g1:section-0">
            <a:extLst xmlns:a="http://schemas.openxmlformats.org/drawingml/2006/main">
              <a:ext uri="{FF2B5EF4-FFF2-40B4-BE49-F238E27FC236}">
                <a16:creationId xmlns:a16="http://schemas.microsoft.com/office/drawing/2014/main" id="{561E51AF-6931-4754-96E6-4C9662C4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6242685" cy="16443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block:p5-g1:section-1">
            <a:extLst xmlns:a="http://schemas.openxmlformats.org/drawingml/2006/main">
              <a:ext uri="{FF2B5EF4-FFF2-40B4-BE49-F238E27FC236}">
                <a16:creationId xmlns:a16="http://schemas.microsoft.com/office/drawing/2014/main" id="{C7166D77-C0C7-4889-8CE9-287FEF6B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20716"/>
            <a:ext cx="6242685" cy="22609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EE80F4-793F-47D3-8B6B-146302D1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9458"/>
            <a:ext cx="609028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普通事项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161F4-A318-4B5D-96C3-9CFB5E60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450"/>
            <a:ext cx="609028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资料齐全且规则明确时，直接交给对应业务人员。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2121F-0377-40D6-8C11-D76E2BDE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3508"/>
            <a:ext cx="609028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复杂事项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B583BB-4792-4C25-99C5-A40077A5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500"/>
            <a:ext cx="609028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涉及多个部门或存在规则争议时，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由牵头人组织会商，记录各方结论。</a:t>
            </a:r>
          </a:p>
        </p:txBody>
      </p:sp>
      <p:sp>
        <p:nvSpPr>
          <p:cNvPr id="10" name="region:p5-g2">
            <a:extLst xmlns:a="http://schemas.openxmlformats.org/drawingml/2006/main">
              <a:ext uri="{FF2B5EF4-FFF2-40B4-BE49-F238E27FC236}">
                <a16:creationId xmlns:a16="http://schemas.microsoft.com/office/drawing/2014/main" id="{228A05A8-1615-426A-B8DE-730B0E0C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1047750"/>
            <a:ext cx="4368165" cy="2795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11AB54-86F3-48BC-900D-8BBB2C2D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485" y="1162050"/>
            <a:ext cx="406336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分流判断</a:t>
            </a:r>
          </a:p>
        </p:txBody>
      </p:sp>
      <p:sp>
        <p:nvSpPr>
          <p:cNvPr id="12" name="block:p5-g2:section-0">
            <a:extLst xmlns:a="http://schemas.openxmlformats.org/drawingml/2006/main">
              <a:ext uri="{FF2B5EF4-FFF2-40B4-BE49-F238E27FC236}">
                <a16:creationId xmlns:a16="http://schemas.microsoft.com/office/drawing/2014/main" id="{90C02478-F43B-470E-B7B0-2A4D47E2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485" y="1562100"/>
            <a:ext cx="4063365" cy="2128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691F31-F021-49D1-B46A-E2E1D795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685" y="1774031"/>
            <a:ext cx="3910965" cy="1697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表达作用：按条件分流。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承载内容：规则明确：直接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办理；存在争议：会商。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基本关系：两条路径由判断条件决定。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制作要求：条件贴近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分支，不暗示先后。</a:t>
            </a:r>
          </a:p>
        </p:txBody>
      </p:sp>
      <p:sp>
        <p:nvSpPr>
          <p:cNvPr id="14" name="region:p5-g3">
            <a:extLst xmlns:a="http://schemas.openxmlformats.org/drawingml/2006/main">
              <a:ext uri="{FF2B5EF4-FFF2-40B4-BE49-F238E27FC236}">
                <a16:creationId xmlns:a16="http://schemas.microsoft.com/office/drawing/2014/main" id="{C680EEB8-7DAA-443C-A615-39011D06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4071938"/>
            <a:ext cx="4368165" cy="1662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52BA6E-B3D4-4808-9A8B-725F8B4A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485" y="4186238"/>
            <a:ext cx="406336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例外补充</a:t>
            </a:r>
          </a:p>
        </p:txBody>
      </p:sp>
      <p:sp>
        <p:nvSpPr>
          <p:cNvPr id="16" name="block:p5-g3:section-0">
            <a:extLst xmlns:a="http://schemas.openxmlformats.org/drawingml/2006/main">
              <a:ext uri="{FF2B5EF4-FFF2-40B4-BE49-F238E27FC236}">
                <a16:creationId xmlns:a16="http://schemas.microsoft.com/office/drawing/2014/main" id="{583A8A8B-5021-4D47-984E-ED259CB8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485" y="4586288"/>
            <a:ext cx="4063365" cy="995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EB7A36-9E4F-4C1F-BB2C-C25540DB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685" y="4798219"/>
            <a:ext cx="391096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材料不足先补齐，再重新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判断；不能直接归入普通事项。</a:t>
            </a:r>
          </a:p>
        </p:txBody>
      </p:sp>
    </p:spTree>
    <p:extLst>
      <p:ext uri="{BB962C8B-B14F-4D97-AF65-F5344CB8AC3E}">
        <p14:creationId xmlns:p14="http://schemas.microsoft.com/office/powerpoint/2010/main" val="205747334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D29F2F-C8EC-4DDD-AC41-474916F5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模拟｜复盘结论必须回到下一轮执行</a:t>
            </a:r>
          </a:p>
        </p:txBody>
      </p:sp>
      <p:sp>
        <p:nvSpPr>
          <p:cNvPr id="2" name="region:p6-g1">
            <a:extLst xmlns:a="http://schemas.openxmlformats.org/drawingml/2006/main">
              <a:ext uri="{FF2B5EF4-FFF2-40B4-BE49-F238E27FC236}">
                <a16:creationId xmlns:a16="http://schemas.microsoft.com/office/drawing/2014/main" id="{EBA2CD6F-4223-4DE0-A865-40C05B04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4368165" cy="1662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09161-D46E-43C6-B65A-865A469E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406336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当前缺口</a:t>
            </a:r>
          </a:p>
        </p:txBody>
      </p:sp>
      <p:sp>
        <p:nvSpPr>
          <p:cNvPr id="4" name="block:p6-g1:section-0">
            <a:extLst xmlns:a="http://schemas.openxmlformats.org/drawingml/2006/main">
              <a:ext uri="{FF2B5EF4-FFF2-40B4-BE49-F238E27FC236}">
                <a16:creationId xmlns:a16="http://schemas.microsoft.com/office/drawing/2014/main" id="{FB3B6DFC-C9C4-4D03-AA29-3ACF4C1C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4063365" cy="995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5230F-0C4B-452D-BB8E-00C2CAE6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4031"/>
            <a:ext cx="391096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异常虽已处理，但规则未更新，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相同问题仍可能重复出现。</a:t>
            </a:r>
          </a:p>
        </p:txBody>
      </p:sp>
      <p:sp>
        <p:nvSpPr>
          <p:cNvPr id="6" name="region:p6-g2">
            <a:extLst xmlns:a="http://schemas.openxmlformats.org/drawingml/2006/main">
              <a:ext uri="{FF2B5EF4-FFF2-40B4-BE49-F238E27FC236}">
                <a16:creationId xmlns:a16="http://schemas.microsoft.com/office/drawing/2014/main" id="{A836A3C3-0E3E-4FB5-ABE0-AD797FF6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38463"/>
            <a:ext cx="4368165" cy="2795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9FCD1-B8D3-441A-A15C-2B2517F9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52763"/>
            <a:ext cx="406336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闭环路径</a:t>
            </a:r>
          </a:p>
        </p:txBody>
      </p:sp>
      <p:sp>
        <p:nvSpPr>
          <p:cNvPr id="8" name="block:p6-g2:section-0">
            <a:extLst xmlns:a="http://schemas.openxmlformats.org/drawingml/2006/main">
              <a:ext uri="{FF2B5EF4-FFF2-40B4-BE49-F238E27FC236}">
                <a16:creationId xmlns:a16="http://schemas.microsoft.com/office/drawing/2014/main" id="{6775A466-2739-421A-A165-E3F3B3BE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52813"/>
            <a:ext cx="4063365" cy="2128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A97A4B-3186-4F72-A28D-17184D38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4744"/>
            <a:ext cx="3910965" cy="1697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表达作用：呈现持续改进。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承载内容：执行 → 记录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→ 复盘 → 修订 → 执行。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基本关系：修订反馈到下一轮执行。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制作要求：闭合箭头，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节点只留短标题。</a:t>
            </a:r>
          </a:p>
        </p:txBody>
      </p:sp>
      <p:sp>
        <p:nvSpPr>
          <p:cNvPr id="10" name="region:p6-g3">
            <a:extLst xmlns:a="http://schemas.openxmlformats.org/drawingml/2006/main">
              <a:ext uri="{FF2B5EF4-FFF2-40B4-BE49-F238E27FC236}">
                <a16:creationId xmlns:a16="http://schemas.microsoft.com/office/drawing/2014/main" id="{B81A7C41-A724-47F2-955D-649676A2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765" y="1047750"/>
            <a:ext cx="654748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2C4B85-6DBA-4516-9693-62277023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165" y="1162050"/>
            <a:ext cx="624268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落实方式</a:t>
            </a:r>
          </a:p>
        </p:txBody>
      </p:sp>
      <p:sp>
        <p:nvSpPr>
          <p:cNvPr id="12" name="block:p6-g3:section-0">
            <a:extLst xmlns:a="http://schemas.openxmlformats.org/drawingml/2006/main">
              <a:ext uri="{FF2B5EF4-FFF2-40B4-BE49-F238E27FC236}">
                <a16:creationId xmlns:a16="http://schemas.microsoft.com/office/drawing/2014/main" id="{56AC1787-0F9E-4BB8-B546-BD7F4EF4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165" y="1562100"/>
            <a:ext cx="6242685" cy="16443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3" name="block:p6-g3:section-1">
            <a:extLst xmlns:a="http://schemas.openxmlformats.org/drawingml/2006/main">
              <a:ext uri="{FF2B5EF4-FFF2-40B4-BE49-F238E27FC236}">
                <a16:creationId xmlns:a16="http://schemas.microsoft.com/office/drawing/2014/main" id="{C5D510CF-7C39-4270-A759-10028801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165" y="3320716"/>
            <a:ext cx="6242685" cy="22609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9B41FB-53BD-4225-BD07-97440497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365" y="2079458"/>
            <a:ext cx="609028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修订落到责任人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E9A4A6-07DE-4F67-B178-DAD23525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365" y="2400450"/>
            <a:ext cx="609028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复盘形成的规则变更由责任人确认，并向一线人员说明变化。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6B26C4-707C-48BC-A2D5-7EED4988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365" y="4003508"/>
            <a:ext cx="609028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验证再次发生情况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007C41-B3C1-43C0-9799-574940F6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365" y="4324500"/>
            <a:ext cx="609028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在后续抽查中核对同类问题，记录是否再次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出现；一次处理完成不能代表长期改善。</a:t>
            </a:r>
          </a:p>
        </p:txBody>
      </p:sp>
    </p:spTree>
    <p:extLst>
      <p:ext uri="{BB962C8B-B14F-4D97-AF65-F5344CB8AC3E}">
        <p14:creationId xmlns:p14="http://schemas.microsoft.com/office/powerpoint/2010/main" val="10663212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6B1CF6-83D8-4299-9637-6E42D696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模拟｜不同来源先统一口径再形成需求清单</a:t>
            </a:r>
          </a:p>
        </p:txBody>
      </p:sp>
      <p:sp>
        <p:nvSpPr>
          <p:cNvPr id="2" name="region:p7-g1">
            <a:extLst xmlns:a="http://schemas.openxmlformats.org/drawingml/2006/main">
              <a:ext uri="{FF2B5EF4-FFF2-40B4-BE49-F238E27FC236}">
                <a16:creationId xmlns:a16="http://schemas.microsoft.com/office/drawing/2014/main" id="{3AB63E9F-CBA5-4C99-B498-BE5D88C4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5457825" cy="1804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99EE0-04A8-4AC6-9953-724A931B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5153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用户反馈</a:t>
            </a:r>
          </a:p>
        </p:txBody>
      </p:sp>
      <p:sp>
        <p:nvSpPr>
          <p:cNvPr id="4" name="block:p7-g1:section-0">
            <a:extLst xmlns:a="http://schemas.openxmlformats.org/drawingml/2006/main">
              <a:ext uri="{FF2B5EF4-FFF2-40B4-BE49-F238E27FC236}">
                <a16:creationId xmlns:a16="http://schemas.microsoft.com/office/drawing/2014/main" id="{2E2BB80F-E68D-4E6E-A436-2A3A90B2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153025" cy="1138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8712DF-926C-45B2-A51E-B94E203B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8344"/>
            <a:ext cx="50006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保留用户描述的受阻环节和原始场景。</a:t>
            </a:r>
          </a:p>
        </p:txBody>
      </p:sp>
      <p:sp>
        <p:nvSpPr>
          <p:cNvPr id="6" name="region:p7-g2">
            <a:extLst xmlns:a="http://schemas.openxmlformats.org/drawingml/2006/main">
              <a:ext uri="{FF2B5EF4-FFF2-40B4-BE49-F238E27FC236}">
                <a16:creationId xmlns:a16="http://schemas.microsoft.com/office/drawing/2014/main" id="{DFE8FAF0-F4F0-4779-ACF4-4714E405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047750"/>
            <a:ext cx="5457825" cy="1804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7888FC-8226-436B-95DF-8336D808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162050"/>
            <a:ext cx="5153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服务记录</a:t>
            </a:r>
          </a:p>
        </p:txBody>
      </p:sp>
      <p:sp>
        <p:nvSpPr>
          <p:cNvPr id="8" name="block:p7-g2:section-0">
            <a:extLst xmlns:a="http://schemas.openxmlformats.org/drawingml/2006/main">
              <a:ext uri="{FF2B5EF4-FFF2-40B4-BE49-F238E27FC236}">
                <a16:creationId xmlns:a16="http://schemas.microsoft.com/office/drawing/2014/main" id="{14CE882D-7868-4992-8376-487BCF32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562100"/>
            <a:ext cx="5153025" cy="1138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027B2-4A8C-449A-9AE4-09F4CBEB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988344"/>
            <a:ext cx="50006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提取重复退回和长时间等待的事项。</a:t>
            </a:r>
          </a:p>
        </p:txBody>
      </p:sp>
      <p:sp>
        <p:nvSpPr>
          <p:cNvPr id="10" name="region:p7-g3">
            <a:extLst xmlns:a="http://schemas.openxmlformats.org/drawingml/2006/main">
              <a:ext uri="{FF2B5EF4-FFF2-40B4-BE49-F238E27FC236}">
                <a16:creationId xmlns:a16="http://schemas.microsoft.com/office/drawing/2014/main" id="{83C31AE3-8ABE-48BF-9B4A-26CB7838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81338"/>
            <a:ext cx="11144250" cy="26527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ABEEBD-4A77-4F19-8A51-891068CD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95638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共同进入需求池</a:t>
            </a:r>
          </a:p>
        </p:txBody>
      </p:sp>
      <p:sp>
        <p:nvSpPr>
          <p:cNvPr id="12" name="block:p7-g3:section-0">
            <a:extLst xmlns:a="http://schemas.openxmlformats.org/drawingml/2006/main">
              <a:ext uri="{FF2B5EF4-FFF2-40B4-BE49-F238E27FC236}">
                <a16:creationId xmlns:a16="http://schemas.microsoft.com/office/drawing/2014/main" id="{3867C52B-0C42-413B-A541-EE634D6F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95688"/>
            <a:ext cx="10839450" cy="1985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273B35-48B4-4959-A879-03FAD5EA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1931"/>
            <a:ext cx="10687050" cy="113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表达作用：统一多源输入。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承载内容：用户反馈、服务记录 → 去重核验 → 需求清单。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基本关系：两类来源并行汇入核验环节。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制作要求：来源可追溯，核验后才列入清单。</a:t>
            </a:r>
          </a:p>
        </p:txBody>
      </p:sp>
    </p:spTree>
    <p:extLst>
      <p:ext uri="{BB962C8B-B14F-4D97-AF65-F5344CB8AC3E}">
        <p14:creationId xmlns:p14="http://schemas.microsoft.com/office/powerpoint/2010/main" val="113220993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D2A1B6-2A5F-437B-841D-C7C4237F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模拟｜措施要对应具体问题，结果需单独验证</a:t>
            </a:r>
          </a:p>
        </p:txBody>
      </p:sp>
      <p:sp>
        <p:nvSpPr>
          <p:cNvPr id="2" name="region:p8-g1">
            <a:extLst xmlns:a="http://schemas.openxmlformats.org/drawingml/2006/main">
              <a:ext uri="{FF2B5EF4-FFF2-40B4-BE49-F238E27FC236}">
                <a16:creationId xmlns:a16="http://schemas.microsoft.com/office/drawing/2014/main" id="{7DCF8FA7-5971-4283-94D2-4B855AC3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11144250" cy="26527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95FD0-A33A-49AB-BA56-D6843889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改进对应</a:t>
            </a:r>
          </a:p>
        </p:txBody>
      </p:sp>
      <p:sp>
        <p:nvSpPr>
          <p:cNvPr id="4" name="block:p8-g1:section-0">
            <a:extLst xmlns:a="http://schemas.openxmlformats.org/drawingml/2006/main">
              <a:ext uri="{FF2B5EF4-FFF2-40B4-BE49-F238E27FC236}">
                <a16:creationId xmlns:a16="http://schemas.microsoft.com/office/drawing/2014/main" id="{61E561F2-19DB-4395-96A1-6679D7F1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839450" cy="1985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B75BD7-5956-4F87-9CEC-3092A83B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8344"/>
            <a:ext cx="10687050" cy="113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表达作用：串联改进逻辑。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承载内容：入口分散 → 统一受理；责任不清 → 明确分派。预期减少寻找入口与交接等待。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基本关系：每项措施对应一个问题。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制作要求：预期结果明确标注待验证。</a:t>
            </a:r>
          </a:p>
        </p:txBody>
      </p:sp>
      <p:sp>
        <p:nvSpPr>
          <p:cNvPr id="6" name="region:p8-g2">
            <a:extLst xmlns:a="http://schemas.openxmlformats.org/drawingml/2006/main">
              <a:ext uri="{FF2B5EF4-FFF2-40B4-BE49-F238E27FC236}">
                <a16:creationId xmlns:a16="http://schemas.microsoft.com/office/drawing/2014/main" id="{F3B0440F-65FB-4AA5-96FE-7FC34B8D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929063"/>
            <a:ext cx="5457825" cy="1804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60D51-03BC-49A8-92F9-45DABA9A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43363"/>
            <a:ext cx="5153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执行检查</a:t>
            </a:r>
          </a:p>
        </p:txBody>
      </p:sp>
      <p:sp>
        <p:nvSpPr>
          <p:cNvPr id="8" name="block:p8-g2:section-0">
            <a:extLst xmlns:a="http://schemas.openxmlformats.org/drawingml/2006/main">
              <a:ext uri="{FF2B5EF4-FFF2-40B4-BE49-F238E27FC236}">
                <a16:creationId xmlns:a16="http://schemas.microsoft.com/office/drawing/2014/main" id="{F175358B-AF20-4DA3-8D71-7E69387D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43413"/>
            <a:ext cx="5153025" cy="1138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D8105-4E21-459A-8790-2A15AF88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9656"/>
            <a:ext cx="50006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核对入口是否可用、事项是否分派到人。</a:t>
            </a:r>
          </a:p>
        </p:txBody>
      </p:sp>
      <p:sp>
        <p:nvSpPr>
          <p:cNvPr id="10" name="region:p8-g3">
            <a:extLst xmlns:a="http://schemas.openxmlformats.org/drawingml/2006/main">
              <a:ext uri="{FF2B5EF4-FFF2-40B4-BE49-F238E27FC236}">
                <a16:creationId xmlns:a16="http://schemas.microsoft.com/office/drawing/2014/main" id="{9CBE9559-F8FC-4779-903F-8C590C7F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929063"/>
            <a:ext cx="5457825" cy="1804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137E38-65CE-4DFC-AE46-F5D37E0B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43363"/>
            <a:ext cx="5153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结果检查</a:t>
            </a:r>
          </a:p>
        </p:txBody>
      </p:sp>
      <p:sp>
        <p:nvSpPr>
          <p:cNvPr id="12" name="block:p8-g3:section-0">
            <a:extLst xmlns:a="http://schemas.openxmlformats.org/drawingml/2006/main">
              <a:ext uri="{FF2B5EF4-FFF2-40B4-BE49-F238E27FC236}">
                <a16:creationId xmlns:a16="http://schemas.microsoft.com/office/drawing/2014/main" id="{D0BF0701-2756-45FB-BBD2-665A8F15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443413"/>
            <a:ext cx="5153025" cy="1138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91E2B7-3FA9-4802-8133-78FD067C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869656"/>
            <a:ext cx="50006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比较试点前后的等待记录，注明观察范围。</a:t>
            </a:r>
          </a:p>
        </p:txBody>
      </p:sp>
    </p:spTree>
    <p:extLst>
      <p:ext uri="{BB962C8B-B14F-4D97-AF65-F5344CB8AC3E}">
        <p14:creationId xmlns:p14="http://schemas.microsoft.com/office/powerpoint/2010/main" val="185792617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810B7A-000B-43B3-8392-2B9515E3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模拟｜数据、流程和应用分层建设</a:t>
            </a:r>
          </a:p>
        </p:txBody>
      </p:sp>
      <p:sp>
        <p:nvSpPr>
          <p:cNvPr id="2" name="region:p9-g1">
            <a:extLst xmlns:a="http://schemas.openxmlformats.org/drawingml/2006/main">
              <a:ext uri="{FF2B5EF4-FFF2-40B4-BE49-F238E27FC236}">
                <a16:creationId xmlns:a16="http://schemas.microsoft.com/office/drawing/2014/main" id="{F3B5D5EB-B408-4E74-98CC-63FD5AB5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35623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12508C-36CF-4D6B-BB8C-772FCE68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先打基础</a:t>
            </a:r>
          </a:p>
        </p:txBody>
      </p:sp>
      <p:sp>
        <p:nvSpPr>
          <p:cNvPr id="4" name="block:p9-g1:section-0">
            <a:extLst xmlns:a="http://schemas.openxmlformats.org/drawingml/2006/main">
              <a:ext uri="{FF2B5EF4-FFF2-40B4-BE49-F238E27FC236}">
                <a16:creationId xmlns:a16="http://schemas.microsoft.com/office/drawing/2014/main" id="{7ABFCD5C-69AB-4EBA-A002-9078A7ED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32575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block:p9-g1:section-1">
            <a:extLst xmlns:a="http://schemas.openxmlformats.org/drawingml/2006/main">
              <a:ext uri="{FF2B5EF4-FFF2-40B4-BE49-F238E27FC236}">
                <a16:creationId xmlns:a16="http://schemas.microsoft.com/office/drawing/2014/main" id="{68821549-4D9D-4BF3-86B7-73D91A18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29025"/>
            <a:ext cx="32575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DD822C-68D5-42E8-9E79-95E60C4D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0738"/>
            <a:ext cx="31051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数据口径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AEC01-AEE0-4F15-8605-1EDBE52D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1730"/>
            <a:ext cx="310515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编码与状态含义统一，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缺失值回到业务核对。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FBEF7-D6D9-4506-BE09-D1B1EF14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7663"/>
            <a:ext cx="31051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过程记录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D21065-15E4-4C56-8179-71B479D9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8655"/>
            <a:ext cx="310515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每个状态有时间和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责任人，支持追溯。</a:t>
            </a:r>
          </a:p>
        </p:txBody>
      </p:sp>
      <p:sp>
        <p:nvSpPr>
          <p:cNvPr id="10" name="region:p9-g2">
            <a:extLst xmlns:a="http://schemas.openxmlformats.org/drawingml/2006/main">
              <a:ext uri="{FF2B5EF4-FFF2-40B4-BE49-F238E27FC236}">
                <a16:creationId xmlns:a16="http://schemas.microsoft.com/office/drawing/2014/main" id="{735B81B3-5F78-4E42-AC32-492A2055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047750"/>
            <a:ext cx="35623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2C4084-3060-45F0-A93C-038A660D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1620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能力层级</a:t>
            </a:r>
          </a:p>
        </p:txBody>
      </p:sp>
      <p:sp>
        <p:nvSpPr>
          <p:cNvPr id="12" name="block:p9-g2:section-0">
            <a:extLst xmlns:a="http://schemas.openxmlformats.org/drawingml/2006/main">
              <a:ext uri="{FF2B5EF4-FFF2-40B4-BE49-F238E27FC236}">
                <a16:creationId xmlns:a16="http://schemas.microsoft.com/office/drawing/2014/main" id="{BFF6682E-5DB4-4616-B6D2-F6C91240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62100"/>
            <a:ext cx="325755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789EFA-F5FC-443B-95D3-0FC2E4C5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19388"/>
            <a:ext cx="3105150" cy="1697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表达作用：表达支撑层次。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承载内容：数据基础 →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流程协同 → 服务应用。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基本关系：上层依赖下层。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制作要求：保留上下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层次和支撑方向。</a:t>
            </a:r>
          </a:p>
        </p:txBody>
      </p:sp>
      <p:sp>
        <p:nvSpPr>
          <p:cNvPr id="14" name="region:p9-g3">
            <a:extLst xmlns:a="http://schemas.openxmlformats.org/drawingml/2006/main">
              <a:ext uri="{FF2B5EF4-FFF2-40B4-BE49-F238E27FC236}">
                <a16:creationId xmlns:a16="http://schemas.microsoft.com/office/drawing/2014/main" id="{8433BB28-BD16-4DFE-A566-07F9E44B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047750"/>
            <a:ext cx="35623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1E3CF6-DB44-4ACC-AA07-2513A8D2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1620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再做应用</a:t>
            </a:r>
          </a:p>
        </p:txBody>
      </p:sp>
      <p:sp>
        <p:nvSpPr>
          <p:cNvPr id="16" name="block:p9-g3:section-0">
            <a:extLst xmlns:a="http://schemas.openxmlformats.org/drawingml/2006/main">
              <a:ext uri="{FF2B5EF4-FFF2-40B4-BE49-F238E27FC236}">
                <a16:creationId xmlns:a16="http://schemas.microsoft.com/office/drawing/2014/main" id="{644A88A9-782E-44EF-A388-1E235559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62100"/>
            <a:ext cx="3257550" cy="16443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7" name="block:p9-g3:section-1">
            <a:extLst xmlns:a="http://schemas.openxmlformats.org/drawingml/2006/main">
              <a:ext uri="{FF2B5EF4-FFF2-40B4-BE49-F238E27FC236}">
                <a16:creationId xmlns:a16="http://schemas.microsoft.com/office/drawing/2014/main" id="{1499EAF6-D536-4D1D-9A65-77B41940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20716"/>
            <a:ext cx="3257550" cy="22609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58C44D-B7A6-47CB-9694-672866AB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79458"/>
            <a:ext cx="31051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面向用户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4D3692-4DA6-438F-8293-8C6EDD9D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00450"/>
            <a:ext cx="31051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查看进度与办理结果。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6B0C67-8AE9-4EFF-968C-0A95FC96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3508"/>
            <a:ext cx="31051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面向管理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6921AB-6704-4EC0-B83C-E6593141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24500"/>
            <a:ext cx="310515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观察积压环节，分析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前先核实记录质量。</a:t>
            </a:r>
          </a:p>
        </p:txBody>
      </p:sp>
    </p:spTree>
    <p:extLst>
      <p:ext uri="{BB962C8B-B14F-4D97-AF65-F5344CB8AC3E}">
        <p14:creationId xmlns:p14="http://schemas.microsoft.com/office/powerpoint/2010/main" val="64915919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F5B398-4D5F-4CEC-BBD9-08F3966F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模拟｜目标分解后，每项工作仍需明确负责人</a:t>
            </a:r>
          </a:p>
        </p:txBody>
      </p:sp>
      <p:sp>
        <p:nvSpPr>
          <p:cNvPr id="2" name="region:p10-g1">
            <a:extLst xmlns:a="http://schemas.openxmlformats.org/drawingml/2006/main">
              <a:ext uri="{FF2B5EF4-FFF2-40B4-BE49-F238E27FC236}">
                <a16:creationId xmlns:a16="http://schemas.microsoft.com/office/drawing/2014/main" id="{39F6ADCC-F8BE-479B-B8F3-F82EE129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35623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B691D-B236-4125-8931-99F033C4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责任层级</a:t>
            </a:r>
          </a:p>
        </p:txBody>
      </p:sp>
      <p:sp>
        <p:nvSpPr>
          <p:cNvPr id="4" name="block:p10-g1:section-0">
            <a:extLst xmlns:a="http://schemas.openxmlformats.org/drawingml/2006/main">
              <a:ext uri="{FF2B5EF4-FFF2-40B4-BE49-F238E27FC236}">
                <a16:creationId xmlns:a16="http://schemas.microsoft.com/office/drawing/2014/main" id="{BB997FE2-D838-4E32-B169-AC713D10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325755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C9A02-469E-4E49-B20F-F8E8C0EC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1275"/>
            <a:ext cx="3105150" cy="1980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表达作用：表达目标分解。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承载内容：服务改善 → 入口优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化、流转提速；各项设负责人。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基本关系：工作归属于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目标，责任归属于工作。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制作要求：父子归属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明确，不能摊成平行事项。</a:t>
            </a:r>
          </a:p>
        </p:txBody>
      </p:sp>
      <p:sp>
        <p:nvSpPr>
          <p:cNvPr id="6" name="region:p10-g2">
            <a:extLst xmlns:a="http://schemas.openxmlformats.org/drawingml/2006/main">
              <a:ext uri="{FF2B5EF4-FFF2-40B4-BE49-F238E27FC236}">
                <a16:creationId xmlns:a16="http://schemas.microsoft.com/office/drawing/2014/main" id="{D7E0F3A4-70B4-46CE-9541-11FEE4E1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047750"/>
            <a:ext cx="35623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936A7-B885-45A0-AFF2-9F141A59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1620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团队职责</a:t>
            </a:r>
          </a:p>
        </p:txBody>
      </p:sp>
      <p:sp>
        <p:nvSpPr>
          <p:cNvPr id="8" name="block:p10-g2:section-0">
            <a:extLst xmlns:a="http://schemas.openxmlformats.org/drawingml/2006/main">
              <a:ext uri="{FF2B5EF4-FFF2-40B4-BE49-F238E27FC236}">
                <a16:creationId xmlns:a16="http://schemas.microsoft.com/office/drawing/2014/main" id="{131E49B6-CB18-4A7E-9579-7FD92029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62100"/>
            <a:ext cx="32575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9" name="block:p10-g2:section-1">
            <a:extLst xmlns:a="http://schemas.openxmlformats.org/drawingml/2006/main">
              <a:ext uri="{FF2B5EF4-FFF2-40B4-BE49-F238E27FC236}">
                <a16:creationId xmlns:a16="http://schemas.microsoft.com/office/drawing/2014/main" id="{FBD2FA8B-4B77-434D-9312-1625CE43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29025"/>
            <a:ext cx="32575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447901-72FD-4AB0-B59B-773722D5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90738"/>
            <a:ext cx="31051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入口优化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EF5458-15A4-449F-B175-9D07CA46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11730"/>
            <a:ext cx="310515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业务组确认目录，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技术组实现检索。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BFEBA6-452C-4C72-B101-8CF77BB3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57663"/>
            <a:ext cx="31051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流转提速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2A0E0C-E886-4427-AAB2-16C565AE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78655"/>
            <a:ext cx="310515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牵头部门明确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接收与退回规则。</a:t>
            </a:r>
          </a:p>
        </p:txBody>
      </p:sp>
      <p:sp>
        <p:nvSpPr>
          <p:cNvPr id="14" name="region:p10-g3">
            <a:extLst xmlns:a="http://schemas.openxmlformats.org/drawingml/2006/main">
              <a:ext uri="{FF2B5EF4-FFF2-40B4-BE49-F238E27FC236}">
                <a16:creationId xmlns:a16="http://schemas.microsoft.com/office/drawing/2014/main" id="{0910EA40-1B62-417C-96E2-9BDAEA9D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047750"/>
            <a:ext cx="35623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73039A-69BF-494B-9173-3EBD933F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1620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个人交付</a:t>
            </a:r>
          </a:p>
        </p:txBody>
      </p:sp>
      <p:sp>
        <p:nvSpPr>
          <p:cNvPr id="16" name="block:p10-g3:section-0">
            <a:extLst xmlns:a="http://schemas.openxmlformats.org/drawingml/2006/main">
              <a:ext uri="{FF2B5EF4-FFF2-40B4-BE49-F238E27FC236}">
                <a16:creationId xmlns:a16="http://schemas.microsoft.com/office/drawing/2014/main" id="{333BBAF7-4E0F-4F9D-916C-D8EC4A40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62100"/>
            <a:ext cx="32575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7" name="block:p10-g3:section-1">
            <a:extLst xmlns:a="http://schemas.openxmlformats.org/drawingml/2006/main">
              <a:ext uri="{FF2B5EF4-FFF2-40B4-BE49-F238E27FC236}">
                <a16:creationId xmlns:a16="http://schemas.microsoft.com/office/drawing/2014/main" id="{EF2392AC-C9A1-4DE6-B93B-755637A9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29025"/>
            <a:ext cx="32575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DEA0F5-56F9-49C0-82F6-5B17F49B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0738"/>
            <a:ext cx="31051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负责人确认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A3C3BA-E85E-4EF2-A640-9831C852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11730"/>
            <a:ext cx="310515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每项工作记录交付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物和检查时间。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F2A066-FD8A-499B-8439-F44E855C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57663"/>
            <a:ext cx="31051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变更上报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135D0B-F343-48B1-BA92-04E5EE75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8655"/>
            <a:ext cx="310515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范围变化回到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对应工作项处理。</a:t>
            </a:r>
          </a:p>
        </p:txBody>
      </p:sp>
    </p:spTree>
    <p:extLst>
      <p:ext uri="{BB962C8B-B14F-4D97-AF65-F5344CB8AC3E}">
        <p14:creationId xmlns:p14="http://schemas.microsoft.com/office/powerpoint/2010/main" val="67469280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96E4F6-A7A5-4747-8AE8-4629695E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模拟｜统一协调入口，专业问题由对应团队处理</a:t>
            </a:r>
          </a:p>
        </p:txBody>
      </p:sp>
      <p:sp>
        <p:nvSpPr>
          <p:cNvPr id="2" name="region:p11-g1">
            <a:extLst xmlns:a="http://schemas.openxmlformats.org/drawingml/2006/main">
              <a:ext uri="{FF2B5EF4-FFF2-40B4-BE49-F238E27FC236}">
                <a16:creationId xmlns:a16="http://schemas.microsoft.com/office/drawing/2014/main" id="{76A74598-8110-4823-A8BD-0EC03C3D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35623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24E36-B10B-4858-95EA-3B7BE28B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协调组</a:t>
            </a:r>
          </a:p>
        </p:txBody>
      </p:sp>
      <p:sp>
        <p:nvSpPr>
          <p:cNvPr id="4" name="block:p11-g1:section-0">
            <a:extLst xmlns:a="http://schemas.openxmlformats.org/drawingml/2006/main">
              <a:ext uri="{FF2B5EF4-FFF2-40B4-BE49-F238E27FC236}">
                <a16:creationId xmlns:a16="http://schemas.microsoft.com/office/drawing/2014/main" id="{5CD44B9B-E0FB-40F3-B6DC-E4BDB8D4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3257550" cy="16443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block:p11-g1:section-1">
            <a:extLst xmlns:a="http://schemas.openxmlformats.org/drawingml/2006/main">
              <a:ext uri="{FF2B5EF4-FFF2-40B4-BE49-F238E27FC236}">
                <a16:creationId xmlns:a16="http://schemas.microsoft.com/office/drawing/2014/main" id="{8B394274-E013-42F9-B8F4-F9E0D4A8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20716"/>
            <a:ext cx="3257550" cy="22609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5524D-8ACF-4460-AECE-A598583E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9458"/>
            <a:ext cx="31051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统一受理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79702-BA63-4419-82CA-EA8ED409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450"/>
            <a:ext cx="31051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登记问题并跟踪当前处理人。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55696-9AE9-415F-9528-0B4B288C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3508"/>
            <a:ext cx="31051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跨组协调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164C0B-0EAD-496C-A682-C89770D3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500"/>
            <a:ext cx="310515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遇到职责交叉时组织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确认，避免无人接收。</a:t>
            </a:r>
          </a:p>
        </p:txBody>
      </p:sp>
      <p:sp>
        <p:nvSpPr>
          <p:cNvPr id="10" name="region:p11-g2">
            <a:extLst xmlns:a="http://schemas.openxmlformats.org/drawingml/2006/main">
              <a:ext uri="{FF2B5EF4-FFF2-40B4-BE49-F238E27FC236}">
                <a16:creationId xmlns:a16="http://schemas.microsoft.com/office/drawing/2014/main" id="{507AF2EB-C5A0-4A8C-A1AB-D16D0E66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047750"/>
            <a:ext cx="35623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D6B6FD-9905-4384-B567-31FF4FA1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1620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专业团队</a:t>
            </a:r>
          </a:p>
        </p:txBody>
      </p:sp>
      <p:sp>
        <p:nvSpPr>
          <p:cNvPr id="12" name="block:p11-g2:section-0">
            <a:extLst xmlns:a="http://schemas.openxmlformats.org/drawingml/2006/main">
              <a:ext uri="{FF2B5EF4-FFF2-40B4-BE49-F238E27FC236}">
                <a16:creationId xmlns:a16="http://schemas.microsoft.com/office/drawing/2014/main" id="{3111B6EC-C7CA-4706-88F7-0B4BA9C8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62100"/>
            <a:ext cx="3257550" cy="16443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3" name="block:p11-g2:section-1">
            <a:extLst xmlns:a="http://schemas.openxmlformats.org/drawingml/2006/main">
              <a:ext uri="{FF2B5EF4-FFF2-40B4-BE49-F238E27FC236}">
                <a16:creationId xmlns:a16="http://schemas.microsoft.com/office/drawing/2014/main" id="{62B13463-7D3F-4064-975F-A454A967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20716"/>
            <a:ext cx="3257550" cy="22609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B74685-CADD-4EC5-B35A-B2A2E462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79458"/>
            <a:ext cx="31051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业务团队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65F22B-5A9C-4FA7-9AEF-DE3FBE8E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00450"/>
            <a:ext cx="31051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解释办理规则与材料要求。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018A1C-1FFE-4AE1-B08A-64194139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03508"/>
            <a:ext cx="31051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技术团队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483C98-82E1-460C-A340-1B5389C2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24500"/>
            <a:ext cx="310515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处理接口和系统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异常，并回传结果。</a:t>
            </a:r>
          </a:p>
        </p:txBody>
      </p:sp>
      <p:sp>
        <p:nvSpPr>
          <p:cNvPr id="18" name="region:p11-g3">
            <a:extLst xmlns:a="http://schemas.openxmlformats.org/drawingml/2006/main">
              <a:ext uri="{FF2B5EF4-FFF2-40B4-BE49-F238E27FC236}">
                <a16:creationId xmlns:a16="http://schemas.microsoft.com/office/drawing/2014/main" id="{76E3773A-133C-4D15-80E0-7B735F94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047750"/>
            <a:ext cx="35623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0A9FE5-52BE-47C0-AA1B-3304B3B0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1620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协同中心</a:t>
            </a:r>
          </a:p>
        </p:txBody>
      </p:sp>
      <p:sp>
        <p:nvSpPr>
          <p:cNvPr id="20" name="block:p11-g3:section-0">
            <a:extLst xmlns:a="http://schemas.openxmlformats.org/drawingml/2006/main">
              <a:ext uri="{FF2B5EF4-FFF2-40B4-BE49-F238E27FC236}">
                <a16:creationId xmlns:a16="http://schemas.microsoft.com/office/drawing/2014/main" id="{47A837AB-8647-4F91-A87E-A24407F9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62100"/>
            <a:ext cx="325755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D55320-3BAC-45A2-93B1-76FE590F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81275"/>
            <a:ext cx="3105150" cy="1980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表达作用：呈现中心协调。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承载内容：协调组连接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业务组、技术组、服务组。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基本关系：各组经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协调组交接与反馈。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制作要求：中心突出，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双向联系与单向分派区分。</a:t>
            </a:r>
          </a:p>
        </p:txBody>
      </p:sp>
    </p:spTree>
    <p:extLst>
      <p:ext uri="{BB962C8B-B14F-4D97-AF65-F5344CB8AC3E}">
        <p14:creationId xmlns:p14="http://schemas.microsoft.com/office/powerpoint/2010/main" val="153779626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9D96D3-687F-4135-9CB5-71018F7E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模拟｜上线准备可并行推进，但缺项需补齐</a:t>
            </a:r>
          </a:p>
        </p:txBody>
      </p:sp>
      <p:sp>
        <p:nvSpPr>
          <p:cNvPr id="2" name="region:p12-g1">
            <a:extLst xmlns:a="http://schemas.openxmlformats.org/drawingml/2006/main">
              <a:ext uri="{FF2B5EF4-FFF2-40B4-BE49-F238E27FC236}">
                <a16:creationId xmlns:a16="http://schemas.microsoft.com/office/drawing/2014/main" id="{3149F887-5ED9-4203-AA37-BDC58D3E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545782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AFB0D-9BEA-49AA-9F40-F115B927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5153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业务规则</a:t>
            </a:r>
          </a:p>
        </p:txBody>
      </p:sp>
      <p:sp>
        <p:nvSpPr>
          <p:cNvPr id="4" name="block:p12-g1:section-0">
            <a:extLst xmlns:a="http://schemas.openxmlformats.org/drawingml/2006/main">
              <a:ext uri="{FF2B5EF4-FFF2-40B4-BE49-F238E27FC236}">
                <a16:creationId xmlns:a16="http://schemas.microsoft.com/office/drawing/2014/main" id="{E85DB305-4513-4481-BF66-08348BD5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1530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55CD3-0206-42C9-9B73-2E5C6AFC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50006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确认受理范围、材料要求和退回情形。</a:t>
            </a:r>
          </a:p>
        </p:txBody>
      </p:sp>
      <p:sp>
        <p:nvSpPr>
          <p:cNvPr id="6" name="region:p12-g2">
            <a:extLst xmlns:a="http://schemas.openxmlformats.org/drawingml/2006/main">
              <a:ext uri="{FF2B5EF4-FFF2-40B4-BE49-F238E27FC236}">
                <a16:creationId xmlns:a16="http://schemas.microsoft.com/office/drawing/2014/main" id="{6A0D3F55-EECD-4C91-9DE3-05568574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047750"/>
            <a:ext cx="545782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4B6118-2758-4756-B86C-208925FC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162050"/>
            <a:ext cx="5153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技术联调</a:t>
            </a:r>
          </a:p>
        </p:txBody>
      </p:sp>
      <p:sp>
        <p:nvSpPr>
          <p:cNvPr id="8" name="block:p12-g2:section-0">
            <a:extLst xmlns:a="http://schemas.openxmlformats.org/drawingml/2006/main">
              <a:ext uri="{FF2B5EF4-FFF2-40B4-BE49-F238E27FC236}">
                <a16:creationId xmlns:a16="http://schemas.microsoft.com/office/drawing/2014/main" id="{96BFADCA-9EB3-4962-B6A4-58FB4F79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562100"/>
            <a:ext cx="51530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BD1951-2E8B-4478-8176-3C4C1A5D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200275"/>
            <a:ext cx="50006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完成接口测试，并保存异常处理记录。</a:t>
            </a:r>
          </a:p>
        </p:txBody>
      </p:sp>
      <p:sp>
        <p:nvSpPr>
          <p:cNvPr id="10" name="region:p12-g3">
            <a:extLst xmlns:a="http://schemas.openxmlformats.org/drawingml/2006/main">
              <a:ext uri="{FF2B5EF4-FFF2-40B4-BE49-F238E27FC236}">
                <a16:creationId xmlns:a16="http://schemas.microsoft.com/office/drawing/2014/main" id="{BD87E676-D072-4EC6-B8A0-9487D75B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05200"/>
            <a:ext cx="545782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7DC9A-7F18-4F1E-8631-793AE9C6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5153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人员培训</a:t>
            </a:r>
          </a:p>
        </p:txBody>
      </p:sp>
      <p:sp>
        <p:nvSpPr>
          <p:cNvPr id="12" name="block:p12-g3:section-0">
            <a:extLst xmlns:a="http://schemas.openxmlformats.org/drawingml/2006/main">
              <a:ext uri="{FF2B5EF4-FFF2-40B4-BE49-F238E27FC236}">
                <a16:creationId xmlns:a16="http://schemas.microsoft.com/office/drawing/2014/main" id="{FCFF9525-7733-435E-A4F3-1AD49F1C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9550"/>
            <a:ext cx="51530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EF0A08-91E1-4286-AB1E-C3493509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50006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值班人员能够演示一次完整办理。</a:t>
            </a:r>
          </a:p>
        </p:txBody>
      </p:sp>
      <p:sp>
        <p:nvSpPr>
          <p:cNvPr id="14" name="region:p12-g4">
            <a:extLst xmlns:a="http://schemas.openxmlformats.org/drawingml/2006/main">
              <a:ext uri="{FF2B5EF4-FFF2-40B4-BE49-F238E27FC236}">
                <a16:creationId xmlns:a16="http://schemas.microsoft.com/office/drawing/2014/main" id="{7AC07F56-2A56-4066-958D-101CAB7F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505200"/>
            <a:ext cx="545782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2D8D10-232A-4045-B7EB-6F8BD49C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619500"/>
            <a:ext cx="5153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服务支持</a:t>
            </a:r>
          </a:p>
        </p:txBody>
      </p:sp>
      <p:sp>
        <p:nvSpPr>
          <p:cNvPr id="16" name="block:p12-g4:section-0">
            <a:extLst xmlns:a="http://schemas.openxmlformats.org/drawingml/2006/main">
              <a:ext uri="{FF2B5EF4-FFF2-40B4-BE49-F238E27FC236}">
                <a16:creationId xmlns:a16="http://schemas.microsoft.com/office/drawing/2014/main" id="{345CBAC7-965C-4264-ABB9-69F08CF4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19550"/>
            <a:ext cx="51530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6C8229-A0BE-4749-831E-47B6E1F4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657725"/>
            <a:ext cx="50006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明确故障联系人和用户咨询渠道。</a:t>
            </a:r>
          </a:p>
        </p:txBody>
      </p:sp>
    </p:spTree>
    <p:extLst>
      <p:ext uri="{BB962C8B-B14F-4D97-AF65-F5344CB8AC3E}">
        <p14:creationId xmlns:p14="http://schemas.microsoft.com/office/powerpoint/2010/main" val="104603689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C14E5-E8B9-4DCD-959B-2C9A0546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模拟｜先做高价值、低难度事项</a:t>
            </a:r>
          </a:p>
        </p:txBody>
      </p:sp>
      <p:sp>
        <p:nvSpPr>
          <p:cNvPr id="2" name="region:p13-g1">
            <a:extLst xmlns:a="http://schemas.openxmlformats.org/drawingml/2006/main">
              <a:ext uri="{FF2B5EF4-FFF2-40B4-BE49-F238E27FC236}">
                <a16:creationId xmlns:a16="http://schemas.microsoft.com/office/drawing/2014/main" id="{0B744296-24FD-4AE7-9E1E-B5C060EC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545782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D4E78-3864-4FEE-96E9-80F9C4B1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5153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双维定位</a:t>
            </a:r>
          </a:p>
        </p:txBody>
      </p:sp>
      <p:sp>
        <p:nvSpPr>
          <p:cNvPr id="4" name="block:p13-g1:section-0">
            <a:extLst xmlns:a="http://schemas.openxmlformats.org/drawingml/2006/main">
              <a:ext uri="{FF2B5EF4-FFF2-40B4-BE49-F238E27FC236}">
                <a16:creationId xmlns:a16="http://schemas.microsoft.com/office/drawing/2014/main" id="{044D4433-B727-400F-9DCA-B8E873DE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1530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6E35D-75BB-4408-9605-4CF65217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6413"/>
            <a:ext cx="5000625" cy="113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表达作用：定位优先级。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承载内容：入口：高值低难；迁移：低值高难。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基本关系：价值与难度交叉。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制作要求：保留坐标方向。</a:t>
            </a:r>
          </a:p>
        </p:txBody>
      </p:sp>
      <p:sp>
        <p:nvSpPr>
          <p:cNvPr id="6" name="region:p13-g2">
            <a:extLst xmlns:a="http://schemas.openxmlformats.org/drawingml/2006/main">
              <a:ext uri="{FF2B5EF4-FFF2-40B4-BE49-F238E27FC236}">
                <a16:creationId xmlns:a16="http://schemas.microsoft.com/office/drawing/2014/main" id="{5C6D8FD1-AFEE-4EB5-B051-5E129956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047750"/>
            <a:ext cx="545782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57E46-70BB-4C1B-922F-CC013EDD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162050"/>
            <a:ext cx="5153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优先事项</a:t>
            </a:r>
          </a:p>
        </p:txBody>
      </p:sp>
      <p:sp>
        <p:nvSpPr>
          <p:cNvPr id="8" name="block:p13-g2:section-0">
            <a:extLst xmlns:a="http://schemas.openxmlformats.org/drawingml/2006/main">
              <a:ext uri="{FF2B5EF4-FFF2-40B4-BE49-F238E27FC236}">
                <a16:creationId xmlns:a16="http://schemas.microsoft.com/office/drawing/2014/main" id="{6938485F-6DC5-477D-B6A9-9085E3AD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562100"/>
            <a:ext cx="51530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2E6B78-FBA1-4740-A8BF-3BBC2122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57400"/>
            <a:ext cx="50006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入口优化先在单一场景试用，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观察用户能否顺利找到办理入口。</a:t>
            </a:r>
          </a:p>
        </p:txBody>
      </p:sp>
      <p:sp>
        <p:nvSpPr>
          <p:cNvPr id="10" name="region:p13-g3">
            <a:extLst xmlns:a="http://schemas.openxmlformats.org/drawingml/2006/main">
              <a:ext uri="{FF2B5EF4-FFF2-40B4-BE49-F238E27FC236}">
                <a16:creationId xmlns:a16="http://schemas.microsoft.com/office/drawing/2014/main" id="{A2CAE2E8-E583-4ED2-87C5-C64D04B2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05200"/>
            <a:ext cx="545782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FA3FC6-F862-4450-9651-B84A6BEB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5153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暂缓事项</a:t>
            </a:r>
          </a:p>
        </p:txBody>
      </p:sp>
      <p:sp>
        <p:nvSpPr>
          <p:cNvPr id="12" name="block:p13-g3:section-0">
            <a:extLst xmlns:a="http://schemas.openxmlformats.org/drawingml/2006/main">
              <a:ext uri="{FF2B5EF4-FFF2-40B4-BE49-F238E27FC236}">
                <a16:creationId xmlns:a16="http://schemas.microsoft.com/office/drawing/2014/main" id="{8D06B6D4-A197-4974-8B71-229A99BE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9550"/>
            <a:ext cx="51530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19044B-2D3D-4457-8F03-6BBC37DA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50006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全量迁移需核对风险与回退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方案，当前不直接进入实施。</a:t>
            </a:r>
          </a:p>
        </p:txBody>
      </p:sp>
      <p:sp>
        <p:nvSpPr>
          <p:cNvPr id="14" name="region:p13-g4">
            <a:extLst xmlns:a="http://schemas.openxmlformats.org/drawingml/2006/main">
              <a:ext uri="{FF2B5EF4-FFF2-40B4-BE49-F238E27FC236}">
                <a16:creationId xmlns:a16="http://schemas.microsoft.com/office/drawing/2014/main" id="{1CDD6695-F375-4B21-B0E5-4C534E05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505200"/>
            <a:ext cx="545782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B3A0BB-9C5D-40EA-A190-C521CB64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619500"/>
            <a:ext cx="5153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判断边界</a:t>
            </a:r>
          </a:p>
        </p:txBody>
      </p:sp>
      <p:sp>
        <p:nvSpPr>
          <p:cNvPr id="16" name="block:p13-g4:section-0">
            <a:extLst xmlns:a="http://schemas.openxmlformats.org/drawingml/2006/main">
              <a:ext uri="{FF2B5EF4-FFF2-40B4-BE49-F238E27FC236}">
                <a16:creationId xmlns:a16="http://schemas.microsoft.com/office/drawing/2014/main" id="{96365040-E86C-4634-9691-3135BAC0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19550"/>
            <a:ext cx="51530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E7C493-8190-4946-AB77-09D2B8D4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514850"/>
            <a:ext cx="50006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以上为模拟定位。若接口条件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或业务范围变化，应重新评估。</a:t>
            </a:r>
          </a:p>
        </p:txBody>
      </p:sp>
    </p:spTree>
    <p:extLst>
      <p:ext uri="{BB962C8B-B14F-4D97-AF65-F5344CB8AC3E}">
        <p14:creationId xmlns:p14="http://schemas.microsoft.com/office/powerpoint/2010/main" val="108769261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D1B425-3E67-4015-BC38-651264D2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模拟｜不同原因需要对应不同的改进措施</a:t>
            </a:r>
          </a:p>
        </p:txBody>
      </p:sp>
      <p:sp>
        <p:nvSpPr>
          <p:cNvPr id="2" name="region:p14-g1">
            <a:extLst xmlns:a="http://schemas.openxmlformats.org/drawingml/2006/main">
              <a:ext uri="{FF2B5EF4-FFF2-40B4-BE49-F238E27FC236}">
                <a16:creationId xmlns:a16="http://schemas.microsoft.com/office/drawing/2014/main" id="{1E8F1041-2813-42C4-95F5-26D66564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545782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EE2D9-9CAC-4D50-8D8F-DB5EDCB0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5153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待验证原因甲</a:t>
            </a:r>
          </a:p>
        </p:txBody>
      </p:sp>
      <p:sp>
        <p:nvSpPr>
          <p:cNvPr id="4" name="block:p14-g1:section-0">
            <a:extLst xmlns:a="http://schemas.openxmlformats.org/drawingml/2006/main">
              <a:ext uri="{FF2B5EF4-FFF2-40B4-BE49-F238E27FC236}">
                <a16:creationId xmlns:a16="http://schemas.microsoft.com/office/drawing/2014/main" id="{3B2D8B6F-2912-4975-911A-7FAE530F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1530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12F4F-14BE-4AB4-8E99-6790149B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6413"/>
            <a:ext cx="5000625" cy="113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表达作用：解释候选原因。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承载内容：规则不清 → 重复补件。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基本关系：箭头为待验证假设。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制作要求：标注假设。</a:t>
            </a:r>
          </a:p>
        </p:txBody>
      </p:sp>
      <p:sp>
        <p:nvSpPr>
          <p:cNvPr id="6" name="region:p14-g2">
            <a:extLst xmlns:a="http://schemas.openxmlformats.org/drawingml/2006/main">
              <a:ext uri="{FF2B5EF4-FFF2-40B4-BE49-F238E27FC236}">
                <a16:creationId xmlns:a16="http://schemas.microsoft.com/office/drawing/2014/main" id="{21726EB1-B0D0-4322-A1AE-B4DD709F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047750"/>
            <a:ext cx="545782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F8A74-2735-42B9-AC47-7510F271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162050"/>
            <a:ext cx="5153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待验证原因乙</a:t>
            </a:r>
          </a:p>
        </p:txBody>
      </p:sp>
      <p:sp>
        <p:nvSpPr>
          <p:cNvPr id="8" name="block:p14-g2:section-0">
            <a:extLst xmlns:a="http://schemas.openxmlformats.org/drawingml/2006/main">
              <a:ext uri="{FF2B5EF4-FFF2-40B4-BE49-F238E27FC236}">
                <a16:creationId xmlns:a16="http://schemas.microsoft.com/office/drawing/2014/main" id="{A899C68E-7015-4C42-9A94-C5FCCE44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562100"/>
            <a:ext cx="51530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4C8FEA-D611-4963-8505-B32AFF9A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776413"/>
            <a:ext cx="5000625" cy="113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表达作用：解释候选原因。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承载内容：无人接收 → 交接等待。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基本关系：箭头为待验证假设。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制作要求：标注假设。</a:t>
            </a:r>
          </a:p>
        </p:txBody>
      </p:sp>
      <p:sp>
        <p:nvSpPr>
          <p:cNvPr id="10" name="region:p14-g3">
            <a:extLst xmlns:a="http://schemas.openxmlformats.org/drawingml/2006/main">
              <a:ext uri="{FF2B5EF4-FFF2-40B4-BE49-F238E27FC236}">
                <a16:creationId xmlns:a16="http://schemas.microsoft.com/office/drawing/2014/main" id="{26D7D985-9147-4A9D-A0AD-882BA2FF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05200"/>
            <a:ext cx="545782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94E9DB-EB92-4333-8734-15CAE9BD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5153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对应措施甲</a:t>
            </a:r>
          </a:p>
        </p:txBody>
      </p:sp>
      <p:sp>
        <p:nvSpPr>
          <p:cNvPr id="12" name="block:p14-g3:section-0">
            <a:extLst xmlns:a="http://schemas.openxmlformats.org/drawingml/2006/main">
              <a:ext uri="{FF2B5EF4-FFF2-40B4-BE49-F238E27FC236}">
                <a16:creationId xmlns:a16="http://schemas.microsoft.com/office/drawing/2014/main" id="{361DE6C3-26D9-4F54-99C6-0E3FE273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9550"/>
            <a:ext cx="51530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ED6C6D-AD7C-4057-95E9-BE493D8B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50006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完善材料说明；抽查重复补件记录，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核实规则不清是否为主要原因。</a:t>
            </a:r>
          </a:p>
        </p:txBody>
      </p:sp>
      <p:sp>
        <p:nvSpPr>
          <p:cNvPr id="14" name="region:p14-g4">
            <a:extLst xmlns:a="http://schemas.openxmlformats.org/drawingml/2006/main">
              <a:ext uri="{FF2B5EF4-FFF2-40B4-BE49-F238E27FC236}">
                <a16:creationId xmlns:a16="http://schemas.microsoft.com/office/drawing/2014/main" id="{9AB16D2E-0F18-471D-903D-ED2FF45A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505200"/>
            <a:ext cx="545782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1568AA-CA7A-4091-8E9F-7E2CA84E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619500"/>
            <a:ext cx="5153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对应措施乙</a:t>
            </a:r>
          </a:p>
        </p:txBody>
      </p:sp>
      <p:sp>
        <p:nvSpPr>
          <p:cNvPr id="16" name="block:p14-g4:section-0">
            <a:extLst xmlns:a="http://schemas.openxmlformats.org/drawingml/2006/main">
              <a:ext uri="{FF2B5EF4-FFF2-40B4-BE49-F238E27FC236}">
                <a16:creationId xmlns:a16="http://schemas.microsoft.com/office/drawing/2014/main" id="{67EDAEDB-8E94-4685-8ACF-DD7B6B6B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19550"/>
            <a:ext cx="51530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067166-58F3-4BB2-963E-3A48EC46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514850"/>
            <a:ext cx="50006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明确接收人；对照交接记录，核实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等待是否发生在无人接收的环节。</a:t>
            </a:r>
          </a:p>
        </p:txBody>
      </p:sp>
    </p:spTree>
    <p:extLst>
      <p:ext uri="{BB962C8B-B14F-4D97-AF65-F5344CB8AC3E}">
        <p14:creationId xmlns:p14="http://schemas.microsoft.com/office/powerpoint/2010/main" val="214339200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FAC59E-3430-4BC5-8C25-14BAD4B6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模拟｜每项目标都要配上动作和验证方式</a:t>
            </a:r>
          </a:p>
        </p:txBody>
      </p:sp>
      <p:sp>
        <p:nvSpPr>
          <p:cNvPr id="2" name="region:p15-g1">
            <a:extLst xmlns:a="http://schemas.openxmlformats.org/drawingml/2006/main">
              <a:ext uri="{FF2B5EF4-FFF2-40B4-BE49-F238E27FC236}">
                <a16:creationId xmlns:a16="http://schemas.microsoft.com/office/drawing/2014/main" id="{B1FD1527-4304-498C-AB48-A86991FA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35623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3FE72-752C-4DF8-A4B3-5E4CF800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目标：入口清楚</a:t>
            </a:r>
          </a:p>
        </p:txBody>
      </p:sp>
      <p:sp>
        <p:nvSpPr>
          <p:cNvPr id="4" name="block:p15-g1:section-0">
            <a:extLst xmlns:a="http://schemas.openxmlformats.org/drawingml/2006/main">
              <a:ext uri="{FF2B5EF4-FFF2-40B4-BE49-F238E27FC236}">
                <a16:creationId xmlns:a16="http://schemas.microsoft.com/office/drawing/2014/main" id="{5E8B83F8-EAA9-449B-8941-FDD0E563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32575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D1043-CEDE-4F6F-82AC-31B0C327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31051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用户能找到正确的办理入口。</a:t>
            </a:r>
          </a:p>
        </p:txBody>
      </p:sp>
      <p:sp>
        <p:nvSpPr>
          <p:cNvPr id="6" name="region:p15-g2">
            <a:extLst xmlns:a="http://schemas.openxmlformats.org/drawingml/2006/main">
              <a:ext uri="{FF2B5EF4-FFF2-40B4-BE49-F238E27FC236}">
                <a16:creationId xmlns:a16="http://schemas.microsoft.com/office/drawing/2014/main" id="{66059B57-A595-4DD3-B0CC-7EB7276E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047750"/>
            <a:ext cx="35623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7BBFF-49C8-47BD-96CA-02C5F0EF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1620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目标：交接明确</a:t>
            </a:r>
          </a:p>
        </p:txBody>
      </p:sp>
      <p:sp>
        <p:nvSpPr>
          <p:cNvPr id="8" name="block:p15-g2:section-0">
            <a:extLst xmlns:a="http://schemas.openxmlformats.org/drawingml/2006/main">
              <a:ext uri="{FF2B5EF4-FFF2-40B4-BE49-F238E27FC236}">
                <a16:creationId xmlns:a16="http://schemas.microsoft.com/office/drawing/2014/main" id="{2C304C55-9F6D-47F4-9E69-A051FD10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62100"/>
            <a:ext cx="32575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AE752-FE15-4634-AA61-F77F43FF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00275"/>
            <a:ext cx="31051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事项有接收人和当前状态。</a:t>
            </a:r>
          </a:p>
        </p:txBody>
      </p:sp>
      <p:sp>
        <p:nvSpPr>
          <p:cNvPr id="10" name="region:p15-g3">
            <a:extLst xmlns:a="http://schemas.openxmlformats.org/drawingml/2006/main">
              <a:ext uri="{FF2B5EF4-FFF2-40B4-BE49-F238E27FC236}">
                <a16:creationId xmlns:a16="http://schemas.microsoft.com/office/drawing/2014/main" id="{1E87C409-81AA-42C5-BBF5-4B6F117C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047750"/>
            <a:ext cx="35623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54A52-DC22-46E5-BFE3-5791B7D8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1620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目标：结果可见</a:t>
            </a:r>
          </a:p>
        </p:txBody>
      </p:sp>
      <p:sp>
        <p:nvSpPr>
          <p:cNvPr id="12" name="block:p15-g3:section-0">
            <a:extLst xmlns:a="http://schemas.openxmlformats.org/drawingml/2006/main">
              <a:ext uri="{FF2B5EF4-FFF2-40B4-BE49-F238E27FC236}">
                <a16:creationId xmlns:a16="http://schemas.microsoft.com/office/drawing/2014/main" id="{99104468-A210-488F-8D0D-E1150678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62100"/>
            <a:ext cx="32575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A9A8D8-533A-445C-8579-0D5F8E35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0275"/>
            <a:ext cx="31051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用户能查看办理结果。</a:t>
            </a:r>
          </a:p>
        </p:txBody>
      </p:sp>
      <p:sp>
        <p:nvSpPr>
          <p:cNvPr id="14" name="region:p15-g4">
            <a:extLst xmlns:a="http://schemas.openxmlformats.org/drawingml/2006/main">
              <a:ext uri="{FF2B5EF4-FFF2-40B4-BE49-F238E27FC236}">
                <a16:creationId xmlns:a16="http://schemas.microsoft.com/office/drawing/2014/main" id="{57E8A9A8-B236-436C-9D63-2001A728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05200"/>
            <a:ext cx="35623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1FC0AF-980D-41C8-8194-B766A7CA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动作与验证甲</a:t>
            </a:r>
          </a:p>
        </p:txBody>
      </p:sp>
      <p:sp>
        <p:nvSpPr>
          <p:cNvPr id="16" name="block:p15-g4:section-0">
            <a:extLst xmlns:a="http://schemas.openxmlformats.org/drawingml/2006/main">
              <a:ext uri="{FF2B5EF4-FFF2-40B4-BE49-F238E27FC236}">
                <a16:creationId xmlns:a16="http://schemas.microsoft.com/office/drawing/2014/main" id="{121854C9-BF5C-4075-A16E-332C22C7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9550"/>
            <a:ext cx="32575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A127F1-141C-4123-94E4-9F5B4B56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310515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统一目录；用实际任务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检查入口能否找到。</a:t>
            </a:r>
          </a:p>
        </p:txBody>
      </p:sp>
      <p:sp>
        <p:nvSpPr>
          <p:cNvPr id="18" name="region:p15-g5">
            <a:extLst xmlns:a="http://schemas.openxmlformats.org/drawingml/2006/main">
              <a:ext uri="{FF2B5EF4-FFF2-40B4-BE49-F238E27FC236}">
                <a16:creationId xmlns:a16="http://schemas.microsoft.com/office/drawing/2014/main" id="{9DAE7641-7116-4C4E-B604-11C851BD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05200"/>
            <a:ext cx="35623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ADDC26-5563-4259-8831-DE96261E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195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动作与验证乙</a:t>
            </a:r>
          </a:p>
        </p:txBody>
      </p:sp>
      <p:sp>
        <p:nvSpPr>
          <p:cNvPr id="20" name="block:p15-g5:section-0">
            <a:extLst xmlns:a="http://schemas.openxmlformats.org/drawingml/2006/main">
              <a:ext uri="{FF2B5EF4-FFF2-40B4-BE49-F238E27FC236}">
                <a16:creationId xmlns:a16="http://schemas.microsoft.com/office/drawing/2014/main" id="{7FF9033B-4C56-4A08-9BB7-3D49A0F9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19550"/>
            <a:ext cx="32575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7BC05F-37C6-49CA-AFE5-4BBE9A07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57725"/>
            <a:ext cx="31051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记录接收人；抽查停滞事项。</a:t>
            </a:r>
          </a:p>
        </p:txBody>
      </p:sp>
      <p:sp>
        <p:nvSpPr>
          <p:cNvPr id="22" name="region:p15-g6">
            <a:extLst xmlns:a="http://schemas.openxmlformats.org/drawingml/2006/main">
              <a:ext uri="{FF2B5EF4-FFF2-40B4-BE49-F238E27FC236}">
                <a16:creationId xmlns:a16="http://schemas.microsoft.com/office/drawing/2014/main" id="{9A320E4C-A070-464C-B693-47AD3E8F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05200"/>
            <a:ext cx="35623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6BF117-7B67-4B4E-B5BD-0DCC82A5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195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动作与验证丙</a:t>
            </a:r>
          </a:p>
        </p:txBody>
      </p:sp>
      <p:sp>
        <p:nvSpPr>
          <p:cNvPr id="24" name="block:p15-g6:section-0">
            <a:extLst xmlns:a="http://schemas.openxmlformats.org/drawingml/2006/main">
              <a:ext uri="{FF2B5EF4-FFF2-40B4-BE49-F238E27FC236}">
                <a16:creationId xmlns:a16="http://schemas.microsoft.com/office/drawing/2014/main" id="{18E2431F-45B4-4930-A3DE-5C549E02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19550"/>
            <a:ext cx="32575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7B74BF-DDF2-4E5B-B51A-FEE2B07E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14850"/>
            <a:ext cx="310515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提供进度查询；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核对结果是否回传。</a:t>
            </a:r>
          </a:p>
        </p:txBody>
      </p:sp>
    </p:spTree>
    <p:extLst>
      <p:ext uri="{BB962C8B-B14F-4D97-AF65-F5344CB8AC3E}">
        <p14:creationId xmlns:p14="http://schemas.microsoft.com/office/powerpoint/2010/main" val="194679618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4422F-5A20-4059-A261-54BC517C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模拟｜先明确包含什么，再讨论如何实现</a:t>
            </a:r>
          </a:p>
        </p:txBody>
      </p:sp>
      <p:sp>
        <p:nvSpPr>
          <p:cNvPr id="2" name="region:p16-g1">
            <a:extLst xmlns:a="http://schemas.openxmlformats.org/drawingml/2006/main">
              <a:ext uri="{FF2B5EF4-FFF2-40B4-BE49-F238E27FC236}">
                <a16:creationId xmlns:a16="http://schemas.microsoft.com/office/drawing/2014/main" id="{E40DA79B-CDCE-4E60-B8A0-48FC2826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111442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D4708-3C37-486A-A091-55A8BF94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本轮范围</a:t>
            </a:r>
          </a:p>
        </p:txBody>
      </p:sp>
      <p:sp>
        <p:nvSpPr>
          <p:cNvPr id="4" name="block:p16-g1:section-0">
            <a:extLst xmlns:a="http://schemas.openxmlformats.org/drawingml/2006/main">
              <a:ext uri="{FF2B5EF4-FFF2-40B4-BE49-F238E27FC236}">
                <a16:creationId xmlns:a16="http://schemas.microsoft.com/office/drawing/2014/main" id="{4562A841-EAB5-4163-AC2F-5567055E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839450" cy="7682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block:p16-g1:section-1">
            <a:extLst xmlns:a="http://schemas.openxmlformats.org/drawingml/2006/main">
              <a:ext uri="{FF2B5EF4-FFF2-40B4-BE49-F238E27FC236}">
                <a16:creationId xmlns:a16="http://schemas.microsoft.com/office/drawing/2014/main" id="{D413214D-6BA1-4155-B495-414BF027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44610"/>
            <a:ext cx="10839450" cy="2254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6" name="block:p16-g1:section-2">
            <a:extLst xmlns:a="http://schemas.openxmlformats.org/drawingml/2006/main">
              <a:ext uri="{FF2B5EF4-FFF2-40B4-BE49-F238E27FC236}">
                <a16:creationId xmlns:a16="http://schemas.microsoft.com/office/drawing/2014/main" id="{52FD5972-6C94-41ED-8945-485ADB73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3440"/>
            <a:ext cx="10839450" cy="7682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61470-0E46-45DA-98AC-88B0CC39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3330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本轮仅覆盖在线受理。材料上传与状态查询属于试点范围，线下核验由原业务流程继续承担。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1985A-69AD-450F-B237-7DA3345C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5138"/>
            <a:ext cx="10687050" cy="113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表达作用：表达包含边界。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承载内容：在线受理包含材料上传、状态查询；线下核验在范围外。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基本关系：内部功能从属于在线受理。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制作要求：保留内外边界，不能改成先后步骤。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87DC1-2598-4E0C-99C4-955E2C54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4670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需要线下核验时，线上展示转办提示；本轮不承诺线上直接完成核验。</a:t>
            </a:r>
          </a:p>
        </p:txBody>
      </p:sp>
    </p:spTree>
    <p:extLst>
      <p:ext uri="{BB962C8B-B14F-4D97-AF65-F5344CB8AC3E}">
        <p14:creationId xmlns:p14="http://schemas.microsoft.com/office/powerpoint/2010/main" val="77805564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C79FD0-4DCE-4CE5-819E-9B8D0F89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模拟｜技术流程局部图示，业务规则保留实文</a:t>
            </a:r>
          </a:p>
        </p:txBody>
      </p:sp>
      <p:sp>
        <p:nvSpPr>
          <p:cNvPr id="2" name="region:p17-g1">
            <a:extLst xmlns:a="http://schemas.openxmlformats.org/drawingml/2006/main">
              <a:ext uri="{FF2B5EF4-FFF2-40B4-BE49-F238E27FC236}">
                <a16:creationId xmlns:a16="http://schemas.microsoft.com/office/drawing/2014/main" id="{6EF1B4DC-D901-421F-93FD-E554C6F9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545782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E5B28-FCDD-4483-A841-C22C1A0D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5153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技术执行</a:t>
            </a:r>
          </a:p>
        </p:txBody>
      </p:sp>
      <p:sp>
        <p:nvSpPr>
          <p:cNvPr id="4" name="block:p17-g1:section-0">
            <a:extLst xmlns:a="http://schemas.openxmlformats.org/drawingml/2006/main">
              <a:ext uri="{FF2B5EF4-FFF2-40B4-BE49-F238E27FC236}">
                <a16:creationId xmlns:a16="http://schemas.microsoft.com/office/drawing/2014/main" id="{8A677CCB-AD08-4BC0-A97D-06A4917A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153025" cy="9924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block:p17-g1:section-1">
            <a:extLst xmlns:a="http://schemas.openxmlformats.org/drawingml/2006/main">
              <a:ext uri="{FF2B5EF4-FFF2-40B4-BE49-F238E27FC236}">
                <a16:creationId xmlns:a16="http://schemas.microsoft.com/office/drawing/2014/main" id="{AF8F7F6D-C87F-466F-BA6A-92F006EB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8894"/>
            <a:ext cx="5153025" cy="2912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FB5B20-ACFC-4CB7-A0EC-B051085B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5472"/>
            <a:ext cx="50006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请求进入系统后先核对权限，再读取相应状态。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1CE898-8402-4523-80C7-857B473F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8535"/>
            <a:ext cx="5000625" cy="113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表达作用：说明执行顺序。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承载内容：校验权限 → 查询状态 → 返回结果。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基本关系：校验失败则停止查询。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制作要求：失败分支与正常路径分开。</a:t>
            </a:r>
          </a:p>
        </p:txBody>
      </p:sp>
      <p:sp>
        <p:nvSpPr>
          <p:cNvPr id="8" name="region:p17-g2">
            <a:extLst xmlns:a="http://schemas.openxmlformats.org/drawingml/2006/main">
              <a:ext uri="{FF2B5EF4-FFF2-40B4-BE49-F238E27FC236}">
                <a16:creationId xmlns:a16="http://schemas.microsoft.com/office/drawing/2014/main" id="{E2A92CF6-1507-4E62-BDC7-5C8E2F6E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047750"/>
            <a:ext cx="545782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EEDB6-86B2-49A1-B620-A63E76F9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162050"/>
            <a:ext cx="5153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业务规则</a:t>
            </a:r>
          </a:p>
        </p:txBody>
      </p:sp>
      <p:sp>
        <p:nvSpPr>
          <p:cNvPr id="10" name="block:p17-g2:section-0">
            <a:extLst xmlns:a="http://schemas.openxmlformats.org/drawingml/2006/main">
              <a:ext uri="{FF2B5EF4-FFF2-40B4-BE49-F238E27FC236}">
                <a16:creationId xmlns:a16="http://schemas.microsoft.com/office/drawing/2014/main" id="{23207C69-9976-41A0-9980-0F809360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562100"/>
            <a:ext cx="515302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1" name="block:p17-g2:section-1">
            <a:extLst xmlns:a="http://schemas.openxmlformats.org/drawingml/2006/main">
              <a:ext uri="{FF2B5EF4-FFF2-40B4-BE49-F238E27FC236}">
                <a16:creationId xmlns:a16="http://schemas.microsoft.com/office/drawing/2014/main" id="{C212B436-77EB-46E7-AC5D-D66F7EFB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629025"/>
            <a:ext cx="515302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88D77-DB99-4BEC-B01A-852C49AB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90738"/>
            <a:ext cx="50006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谁可以查询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CD888A-0B9B-4F3C-8CEC-9738DC5B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11730"/>
            <a:ext cx="50006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申请人可以查看本人事项；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代办人须完成授权确认。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E19275-F7E4-49A0-B265-790C8E82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157663"/>
            <a:ext cx="50006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结果如何展示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D5E401-062A-4CB2-9FFB-D2FA2DE0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478655"/>
            <a:ext cx="50006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仅展示获准公开的办理状态，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内部处理记录按权限控制。</a:t>
            </a:r>
          </a:p>
        </p:txBody>
      </p:sp>
    </p:spTree>
    <p:extLst>
      <p:ext uri="{BB962C8B-B14F-4D97-AF65-F5344CB8AC3E}">
        <p14:creationId xmlns:p14="http://schemas.microsoft.com/office/powerpoint/2010/main" val="23702416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52FF11-57A8-4000-B257-AB0D72F6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模拟｜两类异常分别处理，责任归属保持清楚</a:t>
            </a:r>
          </a:p>
        </p:txBody>
      </p:sp>
      <p:sp>
        <p:nvSpPr>
          <p:cNvPr id="2" name="region:p18-g1">
            <a:extLst xmlns:a="http://schemas.openxmlformats.org/drawingml/2006/main">
              <a:ext uri="{FF2B5EF4-FFF2-40B4-BE49-F238E27FC236}">
                <a16:creationId xmlns:a16="http://schemas.microsoft.com/office/drawing/2014/main" id="{60F05913-78E3-4764-ABE5-44C3E37D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545782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BBB49-4263-4AB5-A031-EBFC105D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5153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材料异常</a:t>
            </a:r>
          </a:p>
        </p:txBody>
      </p:sp>
      <p:sp>
        <p:nvSpPr>
          <p:cNvPr id="4" name="block:p18-g1:section-0">
            <a:extLst xmlns:a="http://schemas.openxmlformats.org/drawingml/2006/main">
              <a:ext uri="{FF2B5EF4-FFF2-40B4-BE49-F238E27FC236}">
                <a16:creationId xmlns:a16="http://schemas.microsoft.com/office/drawing/2014/main" id="{4439D6F8-107C-473B-B171-55AB3B26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153025" cy="1406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block:p18-g1:section-1">
            <a:extLst xmlns:a="http://schemas.openxmlformats.org/drawingml/2006/main">
              <a:ext uri="{FF2B5EF4-FFF2-40B4-BE49-F238E27FC236}">
                <a16:creationId xmlns:a16="http://schemas.microsoft.com/office/drawing/2014/main" id="{701D7130-60FB-4FD7-9C79-FE505EEA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3030"/>
            <a:ext cx="5153025" cy="2498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558AE-FA46-4CCE-8CAB-4D69B853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9665"/>
            <a:ext cx="50006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材料缺失由业务人员通知补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齐，争议材料由负责人复核。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42C73-D149-40D9-81C1-CA3702F4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5603"/>
            <a:ext cx="5000625" cy="113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表达作用：区分处理路径。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承载内容：缺失：补齐；争议：复核。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基本关系：按异常类型分流。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制作要求：条件贴近分支。</a:t>
            </a:r>
          </a:p>
        </p:txBody>
      </p:sp>
      <p:sp>
        <p:nvSpPr>
          <p:cNvPr id="8" name="region:p18-g2">
            <a:extLst xmlns:a="http://schemas.openxmlformats.org/drawingml/2006/main">
              <a:ext uri="{FF2B5EF4-FFF2-40B4-BE49-F238E27FC236}">
                <a16:creationId xmlns:a16="http://schemas.microsoft.com/office/drawing/2014/main" id="{C671AD47-6840-48D6-B71B-DFF55CC5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047750"/>
            <a:ext cx="545782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008315-9A28-470C-B546-E2BEAAE0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162050"/>
            <a:ext cx="5153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系统异常</a:t>
            </a:r>
          </a:p>
        </p:txBody>
      </p:sp>
      <p:sp>
        <p:nvSpPr>
          <p:cNvPr id="10" name="block:p18-g2:section-0">
            <a:extLst xmlns:a="http://schemas.openxmlformats.org/drawingml/2006/main">
              <a:ext uri="{FF2B5EF4-FFF2-40B4-BE49-F238E27FC236}">
                <a16:creationId xmlns:a16="http://schemas.microsoft.com/office/drawing/2014/main" id="{6E8BE658-1108-49C1-B250-D0E61470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562100"/>
            <a:ext cx="5153025" cy="9924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1" name="block:p18-g2:section-1">
            <a:extLst xmlns:a="http://schemas.openxmlformats.org/drawingml/2006/main">
              <a:ext uri="{FF2B5EF4-FFF2-40B4-BE49-F238E27FC236}">
                <a16:creationId xmlns:a16="http://schemas.microsoft.com/office/drawing/2014/main" id="{E670E7C5-0641-46F4-81FF-DDEAF33D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668894"/>
            <a:ext cx="5153025" cy="2912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570717-7E7A-4ACC-B1B3-E441DE2C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915472"/>
            <a:ext cx="50006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短暂故障重试，持续故障交技术人员处理。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D18DD4-1B49-482B-82BD-FF17A045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558535"/>
            <a:ext cx="5000625" cy="113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表达作用：区分处理路径。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承载内容：短暂：重试；持续：技术处理。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基本关系：按故障持续情况分流。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制作要求：责任人留在所属路径。</a:t>
            </a:r>
          </a:p>
        </p:txBody>
      </p:sp>
    </p:spTree>
    <p:extLst>
      <p:ext uri="{BB962C8B-B14F-4D97-AF65-F5344CB8AC3E}">
        <p14:creationId xmlns:p14="http://schemas.microsoft.com/office/powerpoint/2010/main" val="21570159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AC89FF-64A4-4E49-8946-B0DB6A02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模拟｜阶段推进同时保留各角色的职责</a:t>
            </a:r>
          </a:p>
        </p:txBody>
      </p:sp>
      <p:sp>
        <p:nvSpPr>
          <p:cNvPr id="2" name="region:p19-g1">
            <a:extLst xmlns:a="http://schemas.openxmlformats.org/drawingml/2006/main">
              <a:ext uri="{FF2B5EF4-FFF2-40B4-BE49-F238E27FC236}">
                <a16:creationId xmlns:a16="http://schemas.microsoft.com/office/drawing/2014/main" id="{8DD95C19-99C5-4D43-ABBE-3104F9A5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111442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D3224-2A34-40CA-9622-D50DA5E2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阶段与职责</a:t>
            </a:r>
          </a:p>
        </p:txBody>
      </p:sp>
      <p:sp>
        <p:nvSpPr>
          <p:cNvPr id="4" name="block:p19-g1:section-0">
            <a:extLst xmlns:a="http://schemas.openxmlformats.org/drawingml/2006/main">
              <a:ext uri="{FF2B5EF4-FFF2-40B4-BE49-F238E27FC236}">
                <a16:creationId xmlns:a16="http://schemas.microsoft.com/office/drawing/2014/main" id="{BEC4F2A7-496A-4011-9D92-C1D48A08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83945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24709-B755-45C1-9F1B-6583F617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2263"/>
            <a:ext cx="10687050" cy="1414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表达作用：对齐角色和阶段。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承载内容：准备期：业务组确认规则，技术组核对接口，服务组整理常见问题。试点期：业务组处理例外，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技术组监控运行，服务组记录反馈。验收期：业务组核对结果，技术组提交记录，服务组汇总体验问题。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基本关系：三个角色跨三个阶段协作；阶段有先后，角色是并行职责。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制作要求：阶段横排、角色分行；每个交叉单元保留对应职责，交接关系单独标识。</a:t>
            </a:r>
          </a:p>
        </p:txBody>
      </p:sp>
    </p:spTree>
    <p:extLst>
      <p:ext uri="{BB962C8B-B14F-4D97-AF65-F5344CB8AC3E}">
        <p14:creationId xmlns:p14="http://schemas.microsoft.com/office/powerpoint/2010/main" val="193087817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78A16C-7837-40A8-A7FC-087E36D6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模拟｜协作关系由实际交接决定</a:t>
            </a:r>
          </a:p>
        </p:txBody>
      </p:sp>
      <p:sp>
        <p:nvSpPr>
          <p:cNvPr id="2" name="region:p20-g1">
            <a:extLst xmlns:a="http://schemas.openxmlformats.org/drawingml/2006/main">
              <a:ext uri="{FF2B5EF4-FFF2-40B4-BE49-F238E27FC236}">
                <a16:creationId xmlns:a16="http://schemas.microsoft.com/office/drawing/2014/main" id="{34AED27D-E74C-4601-A106-D854588E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111442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1A281-E847-4EDC-A35B-FC598F7E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跨组协作</a:t>
            </a:r>
          </a:p>
        </p:txBody>
      </p:sp>
      <p:sp>
        <p:nvSpPr>
          <p:cNvPr id="4" name="block:p20-g1:section-0">
            <a:extLst xmlns:a="http://schemas.openxmlformats.org/drawingml/2006/main">
              <a:ext uri="{FF2B5EF4-FFF2-40B4-BE49-F238E27FC236}">
                <a16:creationId xmlns:a16="http://schemas.microsoft.com/office/drawing/2014/main" id="{AECACB04-A5DC-49C4-9444-08142B88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83945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84F18-0957-4173-87D2-1F48A0E8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2263"/>
            <a:ext cx="10687050" cy="1414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表达作用：展现多点协作。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承载内容：业务组与技术组核对规则实现；业务组与服务组确认用户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说明；技术组与数据组核对数据口径；数据组与业务组复核异常记录。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基本关系：四组按实际交接连接；并非所有组两两互联。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制作要求：只绘制已列出的连接；边上标明交接内容，双向协作不误画成上级管理。</a:t>
            </a:r>
          </a:p>
        </p:txBody>
      </p:sp>
    </p:spTree>
    <p:extLst>
      <p:ext uri="{BB962C8B-B14F-4D97-AF65-F5344CB8AC3E}">
        <p14:creationId xmlns:p14="http://schemas.microsoft.com/office/powerpoint/2010/main" val="106730764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0B7F0A-609C-48D4-AA76-BB02C4FF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模拟｜规则、执行和复核各自承担不同职责</a:t>
            </a:r>
          </a:p>
        </p:txBody>
      </p:sp>
      <p:sp>
        <p:nvSpPr>
          <p:cNvPr id="2" name="region:p21-g1">
            <a:extLst xmlns:a="http://schemas.openxmlformats.org/drawingml/2006/main">
              <a:ext uri="{FF2B5EF4-FFF2-40B4-BE49-F238E27FC236}">
                <a16:creationId xmlns:a16="http://schemas.microsoft.com/office/drawing/2014/main" id="{0A49565F-D935-4FAE-A07D-B814C6A6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11144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3AC2A-14B4-4896-BD6F-198B0D9E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规则层</a:t>
            </a:r>
          </a:p>
        </p:txBody>
      </p:sp>
      <p:sp>
        <p:nvSpPr>
          <p:cNvPr id="4" name="block:p21-g1:section-0">
            <a:extLst xmlns:a="http://schemas.openxmlformats.org/drawingml/2006/main">
              <a:ext uri="{FF2B5EF4-FFF2-40B4-BE49-F238E27FC236}">
                <a16:creationId xmlns:a16="http://schemas.microsoft.com/office/drawing/2014/main" id="{3E0F37BA-C64B-441B-A643-4DD92A20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839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05170-22C5-411B-880E-883B09DD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定义受理边界、处理口径与例外规则，为执行提供共同依据。</a:t>
            </a:r>
          </a:p>
        </p:txBody>
      </p:sp>
      <p:sp>
        <p:nvSpPr>
          <p:cNvPr id="6" name="region:p21-g2">
            <a:extLst xmlns:a="http://schemas.openxmlformats.org/drawingml/2006/main">
              <a:ext uri="{FF2B5EF4-FFF2-40B4-BE49-F238E27FC236}">
                <a16:creationId xmlns:a16="http://schemas.microsoft.com/office/drawing/2014/main" id="{EF963F68-5518-4DA8-BD7D-F54386D2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86050"/>
            <a:ext cx="11144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F10FE7-57B9-49F5-AB58-CDE243E7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执行层</a:t>
            </a:r>
          </a:p>
        </p:txBody>
      </p:sp>
      <p:sp>
        <p:nvSpPr>
          <p:cNvPr id="8" name="block:p21-g2:section-0">
            <a:extLst xmlns:a="http://schemas.openxmlformats.org/drawingml/2006/main">
              <a:ext uri="{FF2B5EF4-FFF2-40B4-BE49-F238E27FC236}">
                <a16:creationId xmlns:a16="http://schemas.microsoft.com/office/drawing/2014/main" id="{7E211C8F-CBAE-447F-BCC4-4467949D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10839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1C256C-6DEA-4904-8147-4C35C42B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依据规则办理并记录实际过程；遇到规则未覆盖的情形，提交确认。</a:t>
            </a:r>
          </a:p>
        </p:txBody>
      </p:sp>
      <p:sp>
        <p:nvSpPr>
          <p:cNvPr id="10" name="region:p21-g3">
            <a:extLst xmlns:a="http://schemas.openxmlformats.org/drawingml/2006/main">
              <a:ext uri="{FF2B5EF4-FFF2-40B4-BE49-F238E27FC236}">
                <a16:creationId xmlns:a16="http://schemas.microsoft.com/office/drawing/2014/main" id="{63AB3FBE-A065-41F5-BE04-BD114723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24350"/>
            <a:ext cx="11144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F0D8B-7E87-44C9-A7A2-0DD24700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复核层</a:t>
            </a:r>
          </a:p>
        </p:txBody>
      </p:sp>
      <p:sp>
        <p:nvSpPr>
          <p:cNvPr id="12" name="block:p21-g3:section-0">
            <a:extLst xmlns:a="http://schemas.openxmlformats.org/drawingml/2006/main">
              <a:ext uri="{FF2B5EF4-FFF2-40B4-BE49-F238E27FC236}">
                <a16:creationId xmlns:a16="http://schemas.microsoft.com/office/drawing/2014/main" id="{8D760FDC-C0E3-4C18-BB2C-8015498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38700"/>
            <a:ext cx="10839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F189C8-91DF-43C5-928A-A58F43F0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抽查记录与结果；发现重复缺陷时推动规则修订。</a:t>
            </a:r>
          </a:p>
        </p:txBody>
      </p:sp>
    </p:spTree>
    <p:extLst>
      <p:ext uri="{BB962C8B-B14F-4D97-AF65-F5344CB8AC3E}">
        <p14:creationId xmlns:p14="http://schemas.microsoft.com/office/powerpoint/2010/main" val="4332124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DF28C0-C497-4779-A6C4-6DDDE960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模拟｜平均等待时间下降，仍需核对样本构成</a:t>
            </a:r>
          </a:p>
        </p:txBody>
      </p:sp>
      <p:sp>
        <p:nvSpPr>
          <p:cNvPr id="2" name="region:p22-g1">
            <a:extLst xmlns:a="http://schemas.openxmlformats.org/drawingml/2006/main">
              <a:ext uri="{FF2B5EF4-FFF2-40B4-BE49-F238E27FC236}">
                <a16:creationId xmlns:a16="http://schemas.microsoft.com/office/drawing/2014/main" id="{B8A508F5-D7CA-46B1-851F-FA986E5C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654748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8F98A-D097-4C14-A5ED-58A24F52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624268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等待时间趋势</a:t>
            </a:r>
          </a:p>
        </p:txBody>
      </p:sp>
      <p:sp>
        <p:nvSpPr>
          <p:cNvPr id="4" name="block:p22-g1:section-0">
            <a:extLst xmlns:a="http://schemas.openxmlformats.org/drawingml/2006/main">
              <a:ext uri="{FF2B5EF4-FFF2-40B4-BE49-F238E27FC236}">
                <a16:creationId xmlns:a16="http://schemas.microsoft.com/office/drawing/2014/main" id="{274B76BE-23E0-4876-ADF5-3BBA7677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6242685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3C0C6-3BBA-42BB-A79D-D5640DB8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9388"/>
            <a:ext cx="6090285" cy="1697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表达作用：比较期间变化。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承载内容：模拟数据：第一期 12 分钟，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第二期 10 分钟，第三期 8 分钟。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基本关系：三个期间同口径、按时间排列。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制作要求：展示单位及数值，纵轴从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零起；不要用结构卡代替数值编码。</a:t>
            </a:r>
          </a:p>
        </p:txBody>
      </p:sp>
      <p:sp>
        <p:nvSpPr>
          <p:cNvPr id="6" name="region:p22-g2">
            <a:extLst xmlns:a="http://schemas.openxmlformats.org/drawingml/2006/main">
              <a:ext uri="{FF2B5EF4-FFF2-40B4-BE49-F238E27FC236}">
                <a16:creationId xmlns:a16="http://schemas.microsoft.com/office/drawing/2014/main" id="{D09AE040-EF9D-41F3-9239-979B66C7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1047750"/>
            <a:ext cx="436816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009A3-5FF3-42CD-9B77-D77D0AAB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485" y="1162050"/>
            <a:ext cx="406336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如何解读</a:t>
            </a:r>
          </a:p>
        </p:txBody>
      </p:sp>
      <p:sp>
        <p:nvSpPr>
          <p:cNvPr id="8" name="block:p22-g2:section-0">
            <a:extLst xmlns:a="http://schemas.openxmlformats.org/drawingml/2006/main">
              <a:ext uri="{FF2B5EF4-FFF2-40B4-BE49-F238E27FC236}">
                <a16:creationId xmlns:a16="http://schemas.microsoft.com/office/drawing/2014/main" id="{1529BF2C-A7DA-42A9-9020-6E8F16CB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485" y="1562100"/>
            <a:ext cx="406336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9" name="block:p22-g2:section-1">
            <a:extLst xmlns:a="http://schemas.openxmlformats.org/drawingml/2006/main">
              <a:ext uri="{FF2B5EF4-FFF2-40B4-BE49-F238E27FC236}">
                <a16:creationId xmlns:a16="http://schemas.microsoft.com/office/drawing/2014/main" id="{B57CB0DA-EC3C-40CF-B1B9-7CF34716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485" y="3629025"/>
            <a:ext cx="406336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720A6E-91B7-44E1-A002-1F33DA5A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685" y="2090738"/>
            <a:ext cx="391096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观察到的变化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A25016-D22C-4E05-9543-62EE93AD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685" y="2411730"/>
            <a:ext cx="391096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这组模拟均值逐期下降，但不能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仅凭均值认定所有事项都更快。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5D15D1-308F-489D-931F-E33BEDB7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685" y="4157663"/>
            <a:ext cx="391096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继续核对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FCA176-554C-4E9E-AA01-2BADC7F1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685" y="4478655"/>
            <a:ext cx="391096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比较各期业务类型、样本数量与暂停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计时规则。此处只用于版式验收。</a:t>
            </a:r>
          </a:p>
        </p:txBody>
      </p:sp>
    </p:spTree>
    <p:extLst>
      <p:ext uri="{BB962C8B-B14F-4D97-AF65-F5344CB8AC3E}">
        <p14:creationId xmlns:p14="http://schemas.microsoft.com/office/powerpoint/2010/main" val="97028788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B1965D-A3E7-409A-AC67-4C0E2BDD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模拟｜职责与交付物逐项对应后再验收</a:t>
            </a:r>
          </a:p>
        </p:txBody>
      </p:sp>
      <p:sp>
        <p:nvSpPr>
          <p:cNvPr id="2" name="region:p23-g1">
            <a:extLst xmlns:a="http://schemas.openxmlformats.org/drawingml/2006/main">
              <a:ext uri="{FF2B5EF4-FFF2-40B4-BE49-F238E27FC236}">
                <a16:creationId xmlns:a16="http://schemas.microsoft.com/office/drawing/2014/main" id="{B49E7B63-11CA-446F-B8C7-FA388A4D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436816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13F8E-F056-4D71-AEA8-090AB97C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406336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验收口径</a:t>
            </a:r>
          </a:p>
        </p:txBody>
      </p:sp>
      <p:sp>
        <p:nvSpPr>
          <p:cNvPr id="4" name="block:p23-g1:section-0">
            <a:extLst xmlns:a="http://schemas.openxmlformats.org/drawingml/2006/main">
              <a:ext uri="{FF2B5EF4-FFF2-40B4-BE49-F238E27FC236}">
                <a16:creationId xmlns:a16="http://schemas.microsoft.com/office/drawing/2014/main" id="{31AEA6D4-EA9B-4792-9086-A0A72E4B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4063365" cy="16443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block:p23-g1:section-1">
            <a:extLst xmlns:a="http://schemas.openxmlformats.org/drawingml/2006/main">
              <a:ext uri="{FF2B5EF4-FFF2-40B4-BE49-F238E27FC236}">
                <a16:creationId xmlns:a16="http://schemas.microsoft.com/office/drawing/2014/main" id="{371D6670-7EC6-45B2-BD52-531F2798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20716"/>
            <a:ext cx="4063365" cy="22609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7FA14-A2EB-4046-B6D7-DE65E653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9458"/>
            <a:ext cx="391096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确认交付物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B99CE-98D0-4F2D-9425-E9CD3C2A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450"/>
            <a:ext cx="391096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每项职责对应一份可检查的交付物。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2809E-9014-488C-9C50-1F71570A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3508"/>
            <a:ext cx="391096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处理缺项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68B9C-5927-48ED-B5EC-88D8032A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500"/>
            <a:ext cx="391096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交付物缺失时，回到对应负责人补齐；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不能用整体“已完成”替代逐项核对。</a:t>
            </a:r>
          </a:p>
        </p:txBody>
      </p:sp>
      <p:sp>
        <p:nvSpPr>
          <p:cNvPr id="10" name="region:p23-g2">
            <a:extLst xmlns:a="http://schemas.openxmlformats.org/drawingml/2006/main">
              <a:ext uri="{FF2B5EF4-FFF2-40B4-BE49-F238E27FC236}">
                <a16:creationId xmlns:a16="http://schemas.microsoft.com/office/drawing/2014/main" id="{5A16E876-0A36-4602-AC78-2434FE52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765" y="1047750"/>
            <a:ext cx="654748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A24B81-5B2E-4EE9-B200-802FE3DF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165" y="1162050"/>
            <a:ext cx="624268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职责核对表</a:t>
            </a:r>
          </a:p>
        </p:txBody>
      </p:sp>
      <p:sp>
        <p:nvSpPr>
          <p:cNvPr id="12" name="block:p23-g2:section-0">
            <a:extLst xmlns:a="http://schemas.openxmlformats.org/drawingml/2006/main">
              <a:ext uri="{FF2B5EF4-FFF2-40B4-BE49-F238E27FC236}">
                <a16:creationId xmlns:a16="http://schemas.microsoft.com/office/drawing/2014/main" id="{ED6D2AB3-1487-4FCF-A64E-33F41D71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165" y="1562100"/>
            <a:ext cx="6242685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123398-C37E-4A43-800E-2E91DA87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365" y="2719388"/>
            <a:ext cx="6090285" cy="1697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表达作用：支持逐项核对。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承载内容：业务组—规则清单；技术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组—联调记录；服务组—反馈汇总。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基本关系：每行对应一个团队与其交付物。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制作要求：列为团队、交付物、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核对状态；状态初始均为待核对。</a:t>
            </a:r>
          </a:p>
        </p:txBody>
      </p:sp>
    </p:spTree>
    <p:extLst>
      <p:ext uri="{BB962C8B-B14F-4D97-AF65-F5344CB8AC3E}">
        <p14:creationId xmlns:p14="http://schemas.microsoft.com/office/powerpoint/2010/main" val="209800333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832E3E-BB5B-471C-A4A1-4DED1B4B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模拟｜用场景图交代环境，关键判断仍需实文</a:t>
            </a:r>
          </a:p>
        </p:txBody>
      </p:sp>
      <p:sp>
        <p:nvSpPr>
          <p:cNvPr id="2" name="region:p24-g1">
            <a:extLst xmlns:a="http://schemas.openxmlformats.org/drawingml/2006/main">
              <a:ext uri="{FF2B5EF4-FFF2-40B4-BE49-F238E27FC236}">
                <a16:creationId xmlns:a16="http://schemas.microsoft.com/office/drawing/2014/main" id="{509C390B-6F17-40AB-A6B5-47C0E1B3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654748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47708-BC17-4D34-89B5-96F1B551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624268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模拟服务场景</a:t>
            </a:r>
          </a:p>
        </p:txBody>
      </p:sp>
      <p:sp>
        <p:nvSpPr>
          <p:cNvPr id="4" name="block:p24-g1:section-0">
            <a:extLst xmlns:a="http://schemas.openxmlformats.org/drawingml/2006/main">
              <a:ext uri="{FF2B5EF4-FFF2-40B4-BE49-F238E27FC236}">
                <a16:creationId xmlns:a16="http://schemas.microsoft.com/office/drawing/2014/main" id="{BE5D7F4D-3EF8-4F83-B513-570E0B8A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6242685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29BD7-A1F5-4C3E-91F7-AD720101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5138"/>
            <a:ext cx="6090285" cy="113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表达作用：说明空间环境。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承载内容：拟呈现服务窗口、排队区及自助终端的位置。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基本关系：三个区域共同构成服务场景。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制作要求：后续用明确标注的模拟示意图，不当作实拍证据。</a:t>
            </a:r>
          </a:p>
        </p:txBody>
      </p:sp>
      <p:sp>
        <p:nvSpPr>
          <p:cNvPr id="6" name="region:p24-g2">
            <a:extLst xmlns:a="http://schemas.openxmlformats.org/drawingml/2006/main">
              <a:ext uri="{FF2B5EF4-FFF2-40B4-BE49-F238E27FC236}">
                <a16:creationId xmlns:a16="http://schemas.microsoft.com/office/drawing/2014/main" id="{E971CF66-BD0A-48AD-92E7-E2EDC05A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1047750"/>
            <a:ext cx="436816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C9BAA-097B-454E-B3B1-EA090EF6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485" y="1162050"/>
            <a:ext cx="406336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需要观察</a:t>
            </a:r>
          </a:p>
        </p:txBody>
      </p:sp>
      <p:sp>
        <p:nvSpPr>
          <p:cNvPr id="8" name="block:p24-g2:section-0">
            <a:extLst xmlns:a="http://schemas.openxmlformats.org/drawingml/2006/main">
              <a:ext uri="{FF2B5EF4-FFF2-40B4-BE49-F238E27FC236}">
                <a16:creationId xmlns:a16="http://schemas.microsoft.com/office/drawing/2014/main" id="{F0E440EC-1E8D-4573-A5D4-0ED2361C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485" y="1562100"/>
            <a:ext cx="406336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069732-E6F6-4F24-956F-8A5DEAC3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685" y="2057400"/>
            <a:ext cx="391096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记录用户从入口到办理窗口的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路径，核实是否发生重复询问。</a:t>
            </a:r>
          </a:p>
        </p:txBody>
      </p:sp>
      <p:sp>
        <p:nvSpPr>
          <p:cNvPr id="10" name="region:p24-g3">
            <a:extLst xmlns:a="http://schemas.openxmlformats.org/drawingml/2006/main">
              <a:ext uri="{FF2B5EF4-FFF2-40B4-BE49-F238E27FC236}">
                <a16:creationId xmlns:a16="http://schemas.microsoft.com/office/drawing/2014/main" id="{1BE39CC9-8193-4837-90B2-11A4963E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3505200"/>
            <a:ext cx="436816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31859-73FD-476E-8E0F-CFE0598B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485" y="3619500"/>
            <a:ext cx="406336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拟议措施</a:t>
            </a:r>
          </a:p>
        </p:txBody>
      </p:sp>
      <p:sp>
        <p:nvSpPr>
          <p:cNvPr id="12" name="block:p24-g3:section-0">
            <a:extLst xmlns:a="http://schemas.openxmlformats.org/drawingml/2006/main">
              <a:ext uri="{FF2B5EF4-FFF2-40B4-BE49-F238E27FC236}">
                <a16:creationId xmlns:a16="http://schemas.microsoft.com/office/drawing/2014/main" id="{D0AE9C59-F4B4-42BF-BCCC-4D7F1AD4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485" y="4019550"/>
            <a:ext cx="406336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4F243B-3973-4D36-A60D-111FE1EC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685" y="4514850"/>
            <a:ext cx="391096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若引导不清得到验证，再调整标识与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入口说明；场景图本身不证明措施有效。</a:t>
            </a:r>
          </a:p>
        </p:txBody>
      </p:sp>
    </p:spTree>
    <p:extLst>
      <p:ext uri="{BB962C8B-B14F-4D97-AF65-F5344CB8AC3E}">
        <p14:creationId xmlns:p14="http://schemas.microsoft.com/office/powerpoint/2010/main" val="5948361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2026-09-26T11:25:20.4910000Z</dcterms:created>
  <dcterms:modified xsi:type="dcterms:W3CDTF">2026-09-26T11:25:20.4920000Z</dcterms:modified>
</coreProperties>
</file>