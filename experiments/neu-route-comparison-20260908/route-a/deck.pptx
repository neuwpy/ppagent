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e58d06d3934559" /><Relationship Type="http://schemas.openxmlformats.org/officeDocument/2006/relationships/extended-properties" Target="/docProps/app.xml" Id="Rac54acaceb3e4c6c" /><Relationship Type="http://schemas.openxmlformats.org/officeDocument/2006/relationships/officeDocument" Target="/ppt/presentation.xml" Id="R2503f6013c0745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a4208646ff4b80"/>
    <p:sldMasterId xmlns:r="http://schemas.openxmlformats.org/officeDocument/2006/relationships" id="2147483660" r:id="R0e94fc80370f4341"/>
    <p:sldMasterId xmlns:r="http://schemas.openxmlformats.org/officeDocument/2006/relationships" id="2147483663" r:id="Rf70dc3f1e2de443d"/>
  </p:sldMasterIdLst>
  <p:notesMasterIdLst>
    <p:notesMasterId xmlns:r="http://schemas.openxmlformats.org/officeDocument/2006/relationships" r:id="Rd459153ce6fa47b5"/>
  </p:notesMasterIdLst>
  <p:sldIdLst>
    <p:sldId xmlns:r="http://schemas.openxmlformats.org/officeDocument/2006/relationships" id="256" r:id="Ra9d15e9289794923"/>
    <p:sldId xmlns:r="http://schemas.openxmlformats.org/officeDocument/2006/relationships" id="257" r:id="R45ac2f94e3a8490c"/>
    <p:sldId xmlns:r="http://schemas.openxmlformats.org/officeDocument/2006/relationships" id="258" r:id="R4e42117504ed4fc6"/>
    <p:sldId xmlns:r="http://schemas.openxmlformats.org/officeDocument/2006/relationships" id="259" r:id="Re82356202be9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6e21a63b1843ec" /><Relationship Type="http://schemas.openxmlformats.org/officeDocument/2006/relationships/slideMaster" Target="/ppt/slideMasters/slideMaster1.xml" Id="R8fa4208646ff4b80" /><Relationship Type="http://schemas.openxmlformats.org/officeDocument/2006/relationships/slideMaster" Target="/ppt/slideMasters/slideMaster2.xml" Id="R0e94fc80370f4341" /><Relationship Type="http://schemas.openxmlformats.org/officeDocument/2006/relationships/slideMaster" Target="/ppt/slideMasters/slideMaster3.xml" Id="Rf70dc3f1e2de443d" /><Relationship Type="http://schemas.openxmlformats.org/officeDocument/2006/relationships/notesMaster" Target="/ppt/notesMasters/notesMaster1.xml" Id="Rd459153ce6fa47b5" /><Relationship Type="http://schemas.openxmlformats.org/officeDocument/2006/relationships/presProps" Target="/ppt/presProps.xml" Id="R8b181274ccb74a53" /><Relationship Type="http://schemas.openxmlformats.org/officeDocument/2006/relationships/viewProps" Target="/ppt/viewProps.xml" Id="R54be9563bfc647ac" /><Relationship Type="http://schemas.openxmlformats.org/officeDocument/2006/relationships/tableStyles" Target="/ppt/tableStyles.xml" Id="Rd7374ef4286541d8" /><Relationship Type="http://schemas.openxmlformats.org/officeDocument/2006/relationships/slide" Target="/ppt/slides/slide1.xml" Id="Ra9d15e9289794923" /><Relationship Type="http://schemas.openxmlformats.org/officeDocument/2006/relationships/slide" Target="/ppt/slides/slide2.xml" Id="R45ac2f94e3a8490c" /><Relationship Type="http://schemas.openxmlformats.org/officeDocument/2006/relationships/slide" Target="/ppt/slides/slide3.xml" Id="R4e42117504ed4fc6" /><Relationship Type="http://schemas.openxmlformats.org/officeDocument/2006/relationships/slide" Target="/ppt/slides/slide4.xml" Id="Re82356202be9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60615d401dc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ab26e04a224351" /><Relationship Type="http://schemas.openxmlformats.org/officeDocument/2006/relationships/notesMaster" Target="/ppt/notesMasters/notesMaster1.xml" Id="R13cfebd1aed6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62a6da1f543da" /><Relationship Type="http://schemas.openxmlformats.org/officeDocument/2006/relationships/notesMaster" Target="/ppt/notesMasters/notesMaster1.xml" Id="R8eefffb570b540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ea8a005ce4019" /><Relationship Type="http://schemas.openxmlformats.org/officeDocument/2006/relationships/notesMaster" Target="/ppt/notesMasters/notesMaster1.xml" Id="R8ba7788806f045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1416bf5d2b4735" /><Relationship Type="http://schemas.openxmlformats.org/officeDocument/2006/relationships/notesMaster" Target="/ppt/notesMasters/notesMaster1.xml" Id="Ra07450b9fe0b48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判断：历史观察显示负荷与响应压力同步上升，但不构成唯一因果解释。统计时点为请求收到后两个工作日内是否首次给出可执行答复；结案后仅用于回看统计，不是结案时长。完整月度数据：1月收到120、两工作日内首次可执行答复96、比例80%、中位首次响应1.3个工作日；2月150、114、76%、1.5个工作日；3月180、126、70%、1.8个工作日；4月240、144、60%、2.4个工作日。每月无缺失记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内容：experiments/neu-route-comparison-20260908/inputs/manuscript.txt（模拟稿件）</a:t>
            </a:r>
            <a:endParaRPr/>
          </a:p>
          <a:p xmlns:a="http://schemas.openxmlformats.org/drawingml/2006/main">
            <a:r>
              <a:t>- 视觉：assets/主题/东北大学-001/runtime-template.pptx（运行模板）</a:t>
            </a:r>
            <a:endParaRPr/>
          </a:p>
          <a:p xmlns:a="http://schemas.openxmlformats.org/drawingml/2006/main">
            <a:r>
              <a:t>- 组织参考：route-a/inputs/mckinsey-anatomy.md、consulting-components.html、consulting-layout-grammar.md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页面判断：材料与权限类阻塞占主要部分，为方案选择提供方向，但复核分类不能直接转换为干预效果或节省工时。数据来自4月未达标请求的互斥完整复核。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内容：experiments/neu-route-comparison-20260908/inputs/manuscript.txt（模拟稿件）</a:t>
            </a:r>
            <a:endParaRPr/>
          </a:p>
          <a:p xmlns:a="http://schemas.openxmlformats.org/drawingml/2006/main">
            <a:r>
              <a:t>- 视觉：assets/主题/东北大学-001/runtime-template.pptx（运行模板）</a:t>
            </a:r>
            <a:endParaRPr/>
          </a:p>
          <a:p xmlns:a="http://schemas.openxmlformats.org/drawingml/2006/main">
            <a:r>
              <a:t>- 组织参考：route-a/inputs/mckinsey-anatomy.md、consulting-components.html、consulting-layout-grammar.md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页面判断：B的作用环节与主要阻塞更对应，适合作为先行试点；A可承担短期峰值，C需等字段与机器规则稳定。所有投入、周期和维护数据均为内部方案估计。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内容：experiments/neu-route-comparison-20260908/inputs/manuscript.txt（模拟稿件）</a:t>
            </a:r>
            <a:endParaRPr/>
          </a:p>
          <a:p xmlns:a="http://schemas.openxmlformats.org/drawingml/2006/main">
            <a:r>
              <a:t>- 视觉：assets/主题/东北大学-001/runtime-template.pptx（运行模板）</a:t>
            </a:r>
            <a:endParaRPr/>
          </a:p>
          <a:p xmlns:a="http://schemas.openxmlformats.org/drawingml/2006/main">
            <a:r>
              <a:t>- 组织参考：route-a/inputs/mckinsey-anatomy.md、consulting-components.html、consulting-layout-grammar.md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页面判断：试点的核心是依赖顺序与门禁条件。先统一规则，再在单一请求类型中留痕验证，最后由负责人依据多项指标决定扩面；本稿不设未经论证的百分比目标。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内容：experiments/neu-route-comparison-20260908/inputs/manuscript.txt（模拟稿件）</a:t>
            </a:r>
            <a:endParaRPr/>
          </a:p>
          <a:p xmlns:a="http://schemas.openxmlformats.org/drawingml/2006/main">
            <a:r>
              <a:t>- 视觉：assets/主题/东北大学-001/runtime-template.pptx（运行模板）</a:t>
            </a:r>
            <a:endParaRPr/>
          </a:p>
          <a:p xmlns:a="http://schemas.openxmlformats.org/drawingml/2006/main">
            <a:r>
              <a:t>- 组织参考：route-a/inputs/mckinsey-anatomy.md、consulting-components.html、consulting-layout-grammar.md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b2fc451fa403d" /><Relationship Type="http://schemas.openxmlformats.org/officeDocument/2006/relationships/image" Target="/ppt/media/image.jpeg" Id="R3b7151a2cf7b4efb" /><Relationship Type="http://schemas.openxmlformats.org/officeDocument/2006/relationships/image" Target="/ppt/media/image.png" Id="Rdeb4771249c54343" /><Relationship Type="http://schemas.openxmlformats.org/officeDocument/2006/relationships/image" Target="/ppt/media/image2.png" Id="R2d39368ebd5b48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693041e3b4c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25c1975d44cae" /><Relationship Type="http://schemas.openxmlformats.org/officeDocument/2006/relationships/image" Target="/ppt/media/image3.png" Id="R1e94522c6d3449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405f58b3b4417" /><Relationship Type="http://schemas.openxmlformats.org/officeDocument/2006/relationships/image" Target="/ppt/media/image4.png" Id="R5a9049eb376c40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3454aa54b46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808f6ec7a409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35c3e77134b3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7caeaa25a43c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b95df86f54df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32156fa514eb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6735ff98549f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7b420b4b274754" /><Relationship Type="http://schemas.openxmlformats.org/officeDocument/2006/relationships/image" Target="/ppt/media/image5.png" Id="R18115bb2a26c419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0f89e6b31d41e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dfab5df5973429b" /><Relationship Type="http://schemas.openxmlformats.org/officeDocument/2006/relationships/image" Target="/ppt/media/image5.png" Id="R1914c6bdbd3e4c6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6d988378f304998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151a2cf7b4ef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4771249c5434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9368ebd5b48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4522c6d3449f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049eb376c40e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15bb2a26c419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4c6bdbd3e4c6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31c2486e3d4131" /><Relationship Type="http://schemas.openxmlformats.org/officeDocument/2006/relationships/slideLayout" Target="/ppt/slideLayouts/slideLayout1.xml" Id="R16c30fb984074f9b" /><Relationship Type="http://schemas.openxmlformats.org/officeDocument/2006/relationships/slideLayout" Target="/ppt/slideLayouts/slideLayout2.xml" Id="R09cb11f1b3dd45d0" /><Relationship Type="http://schemas.openxmlformats.org/officeDocument/2006/relationships/slideLayout" Target="/ppt/slideLayouts/slideLayout3.xml" Id="R74ab8e88abdc49a0" /><Relationship Type="http://schemas.openxmlformats.org/officeDocument/2006/relationships/slideLayout" Target="/ppt/slideLayouts/slideLayout4.xml" Id="Rbb03828e77c5463c" /><Relationship Type="http://schemas.openxmlformats.org/officeDocument/2006/relationships/slideLayout" Target="/ppt/slideLayouts/slideLayout5.xml" Id="R14d657c02a224f6d" /><Relationship Type="http://schemas.openxmlformats.org/officeDocument/2006/relationships/slideLayout" Target="/ppt/slideLayouts/slideLayout6.xml" Id="Rf60048f9841349ba" /><Relationship Type="http://schemas.openxmlformats.org/officeDocument/2006/relationships/slideLayout" Target="/ppt/slideLayouts/slideLayout7.xml" Id="Re51e640785024e95" /><Relationship Type="http://schemas.openxmlformats.org/officeDocument/2006/relationships/slideLayout" Target="/ppt/slideLayouts/slideLayout8.xml" Id="R2ef476269c5f44e5" /><Relationship Type="http://schemas.openxmlformats.org/officeDocument/2006/relationships/slideLayout" Target="/ppt/slideLayouts/slideLayout9.xml" Id="Rc0eaea12d8fb42cc" /><Relationship Type="http://schemas.openxmlformats.org/officeDocument/2006/relationships/slideLayout" Target="/ppt/slideLayouts/slideLayout10.xml" Id="Ra18ab57bf4db4e60" /><Relationship Type="http://schemas.openxmlformats.org/officeDocument/2006/relationships/slideLayout" Target="/ppt/slideLayouts/slideLayout11.xml" Id="R31c286d347bb4ce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a50d58b4862420e" /><Relationship Type="http://schemas.openxmlformats.org/officeDocument/2006/relationships/slideLayout" Target="/ppt/slideLayouts/slideLayout12.xml" Id="R0a7079ef46ff4498" /><Relationship Type="http://schemas.openxmlformats.org/officeDocument/2006/relationships/slideLayout" Target="/ppt/slideLayouts/slideLayout13.xml" Id="Rb7b0606e51484f8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ec5aeceafb24ced" /><Relationship Type="http://schemas.openxmlformats.org/officeDocument/2006/relationships/slideLayout" Target="/ppt/slideLayouts/slideLayout14.xml" Id="R7ae3a81ac28a4f88" /><Relationship Type="http://schemas.openxmlformats.org/officeDocument/2006/relationships/slideLayout" Target="/ppt/slideLayouts/slideLayout15.xml" Id="R85bda77f2cfb49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c30fb984074f9b"/>
    <p:sldLayoutId xmlns:r="http://schemas.openxmlformats.org/officeDocument/2006/relationships" id="2147483650" r:id="R09cb11f1b3dd45d0"/>
    <p:sldLayoutId xmlns:r="http://schemas.openxmlformats.org/officeDocument/2006/relationships" id="2147483651" r:id="R74ab8e88abdc49a0"/>
    <p:sldLayoutId xmlns:r="http://schemas.openxmlformats.org/officeDocument/2006/relationships" id="2147483652" r:id="Rbb03828e77c5463c"/>
    <p:sldLayoutId xmlns:r="http://schemas.openxmlformats.org/officeDocument/2006/relationships" id="2147483653" r:id="R14d657c02a224f6d"/>
    <p:sldLayoutId xmlns:r="http://schemas.openxmlformats.org/officeDocument/2006/relationships" id="2147483654" r:id="Rf60048f9841349ba"/>
    <p:sldLayoutId xmlns:r="http://schemas.openxmlformats.org/officeDocument/2006/relationships" id="2147483655" r:id="Re51e640785024e95"/>
    <p:sldLayoutId xmlns:r="http://schemas.openxmlformats.org/officeDocument/2006/relationships" id="2147483656" r:id="R2ef476269c5f44e5"/>
    <p:sldLayoutId xmlns:r="http://schemas.openxmlformats.org/officeDocument/2006/relationships" id="2147483657" r:id="Rc0eaea12d8fb42cc"/>
    <p:sldLayoutId xmlns:r="http://schemas.openxmlformats.org/officeDocument/2006/relationships" id="2147483658" r:id="Ra18ab57bf4db4e60"/>
    <p:sldLayoutId xmlns:r="http://schemas.openxmlformats.org/officeDocument/2006/relationships" id="2147483659" r:id="R31c286d347bb4ce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a7079ef46ff4498"/>
    <p:sldLayoutId xmlns:r="http://schemas.openxmlformats.org/officeDocument/2006/relationships" id="2147483662" r:id="Rb7b0606e51484f8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ae3a81ac28a4f88"/>
    <p:sldLayoutId xmlns:r="http://schemas.openxmlformats.org/officeDocument/2006/relationships" id="2147483665" r:id="R85bda77f2cfb499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6eb784509d43a7" /><Relationship Type="http://schemas.openxmlformats.org/officeDocument/2006/relationships/chart" Target="/ppt/slides/charts/chart1.xml" Id="R7da57cc36ee442f9" /><Relationship Type="http://schemas.openxmlformats.org/officeDocument/2006/relationships/chart" Target="/ppt/slides/charts/chart2.xml" Id="R1d7bd36a6b494a50" /><Relationship Type="http://schemas.openxmlformats.org/officeDocument/2006/relationships/notesSlide" Target="/ppt/notesSlides/notesSlide1.xml" Id="R32d27cdd7a224f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53242fec0546d9" /><Relationship Type="http://schemas.openxmlformats.org/officeDocument/2006/relationships/chart" Target="/ppt/slides/charts/chart3.xml" Id="Rc3668e0becc94cf5" /><Relationship Type="http://schemas.openxmlformats.org/officeDocument/2006/relationships/notesSlide" Target="/ppt/notesSlides/notesSlide2.xml" Id="Rb996e9f3035d48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0067ed7cbd406f" /><Relationship Type="http://schemas.openxmlformats.org/officeDocument/2006/relationships/notesSlide" Target="/ppt/notesSlides/notesSlide3.xml" Id="R569638366e1c47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3148badcff4187" /><Relationship Type="http://schemas.openxmlformats.org/officeDocument/2006/relationships/notesSlide" Target="/ppt/notesSlides/notesSlide4.xml" Id="R252d49e839be4e3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收到请求数</c:v>
          </c:tx>
          <c:spPr>
            <a:solidFill xmlns:a="http://schemas.openxmlformats.org/drawingml/2006/main">
              <a:srgbClr val="315F91"/>
            </a:solidFill>
          </c:spPr>
          <c:cat>
            <c:strLit>
              <c:ptCount val="4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</c:strLit>
          </c:cat>
          <c:val>
            <c:numLit>
              <c:formatCode>General</c:formatCode>
              <c:ptCount val="4"/>
              <c:pt idx="0">
                <c:v>120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中位时间</c:v>
          </c:tx>
          <c:spPr>
            <a:ln xmlns:a="http://schemas.openxmlformats.org/drawingml/2006/main" w="28575">
              <a:solidFill>
                <a:srgbClr val="5B86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B86B2"/>
              </a:solidFill>
            </c:spPr>
          </c:marker>
          <c:cat>
            <c:strLit>
              <c:ptCount val="4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</c:strLit>
          </c:cat>
          <c:val>
            <c:numLit>
              <c:formatCode>0.0</c:formatCode>
              <c:ptCount val="4"/>
              <c:pt idx="0">
                <c:v>1.3</c:v>
              </c:pt>
              <c:pt idx="1">
                <c:v>1.5</c:v>
              </c:pt>
              <c:pt idx="2">
                <c:v>1.8</c:v>
              </c:pt>
              <c:pt idx="3">
                <c:v>2.4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5B86B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404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.6"/>
          <c:min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请求数</c:v>
          </c:tx>
          <c:spPr>
            <a:solidFill xmlns:a="http://schemas.openxmlformats.org/drawingml/2006/main">
              <a:srgbClr val="315F91"/>
            </a:solidFill>
          </c:spPr>
          <c:cat>
            <c:strLit>
              <c:ptCount val="4"/>
              <c:pt idx="0">
                <c:v>材料不全</c:v>
              </c:pt>
              <c:pt idx="1">
                <c:v>权限确认</c:v>
              </c:pt>
              <c:pt idx="2">
                <c:v>需求反复</c:v>
              </c:pt>
              <c:pt idx="3">
                <c:v>其他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30</c:v>
              </c:pt>
              <c:pt idx="2">
                <c:v>16</c:v>
              </c:pt>
              <c:pt idx="3">
                <c:v>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404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请求量翻倍使首次响应同时变慢，但数据不支持唯一归因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历史观察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obs-header">
            <a:extLst xmlns:a="http://schemas.openxmlformats.org/drawingml/2006/main">
              <a:ext uri="{FF2B5EF4-FFF2-40B4-BE49-F238E27FC236}">
                <a16:creationId xmlns:a16="http://schemas.microsoft.com/office/drawing/2014/main" id="{CB7A4140-DF4F-47D8-ACE4-F9DD175D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7096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16" name="obs-title">
            <a:extLst xmlns:a="http://schemas.openxmlformats.org/drawingml/2006/main">
              <a:ext uri="{FF2B5EF4-FFF2-40B4-BE49-F238E27FC236}">
                <a16:creationId xmlns:a16="http://schemas.microsoft.com/office/drawing/2014/main" id="{57C3E6FA-2F85-4C90-A04C-AD241E50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62125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请求量上升，首次响应变慢</a:t>
            </a:r>
          </a:p>
        </p:txBody>
      </p:sp>
      <p:sp>
        <p:nvSpPr>
          <p:cNvPr id="17" name="obs-meta">
            <a:extLst xmlns:a="http://schemas.openxmlformats.org/drawingml/2006/main">
              <a:ext uri="{FF2B5EF4-FFF2-40B4-BE49-F238E27FC236}">
                <a16:creationId xmlns:a16="http://schemas.microsoft.com/office/drawing/2014/main" id="{6623E67E-16D7-4C8D-BBCE-1A2342C0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 · 1—4月</a:t>
            </a:r>
          </a:p>
        </p:txBody>
      </p:sp>
      <p:sp>
        <p:nvSpPr>
          <p:cNvPr id="18" name="obs-exhibit">
            <a:extLst xmlns:a="http://schemas.openxmlformats.org/drawingml/2006/main">
              <a:ext uri="{FF2B5EF4-FFF2-40B4-BE49-F238E27FC236}">
                <a16:creationId xmlns:a16="http://schemas.microsoft.com/office/drawing/2014/main" id="{7687374A-B161-4D9E-A15E-66DACD77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70961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19" name="obs-chart-label">
            <a:extLst xmlns:a="http://schemas.openxmlformats.org/drawingml/2006/main">
              <a:ext uri="{FF2B5EF4-FFF2-40B4-BE49-F238E27FC236}">
                <a16:creationId xmlns:a16="http://schemas.microsoft.com/office/drawing/2014/main" id="{4245AA46-F536-4729-8E13-4B1ED350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9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收到请求数（件）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809625" y="2400300"/>
          <a:ext xmlns:a="http://schemas.openxmlformats.org/drawingml/2006/main" cx="6524625" cy="1752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a57cc36ee442f9"/>
          </a:graphicData>
        </a:graphic>
      </p:graphicFrame>
      <p:sp>
        <p:nvSpPr>
          <p:cNvPr id="21" name="obs-divider">
            <a:extLst xmlns:a="http://schemas.openxmlformats.org/drawingml/2006/main">
              <a:ext uri="{FF2B5EF4-FFF2-40B4-BE49-F238E27FC236}">
                <a16:creationId xmlns:a16="http://schemas.microsoft.com/office/drawing/2014/main" id="{0861D782-259C-4A1A-92FC-823A2392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2" name="obs-trend-label">
            <a:extLst xmlns:a="http://schemas.openxmlformats.org/drawingml/2006/main">
              <a:ext uri="{FF2B5EF4-FFF2-40B4-BE49-F238E27FC236}">
                <a16:creationId xmlns:a16="http://schemas.microsoft.com/office/drawing/2014/main" id="{3E3AD354-99A7-4AEE-A331-EF2C025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6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首次响应中位时间（工作日）</a:t>
            </a:r>
          </a:p>
        </p:txBody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857250" y="4695825"/>
          <a:ext xmlns:a="http://schemas.openxmlformats.org/drawingml/2006/main" cx="6429375" cy="1257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7bd36a6b494a50"/>
          </a:graphicData>
        </a:graphic>
      </p:graphicFrame>
      <p:sp>
        <p:nvSpPr>
          <p:cNvPr id="24" name="obs-side-header">
            <a:extLst xmlns:a="http://schemas.openxmlformats.org/drawingml/2006/main">
              <a:ext uri="{FF2B5EF4-FFF2-40B4-BE49-F238E27FC236}">
                <a16:creationId xmlns:a16="http://schemas.microsoft.com/office/drawing/2014/main" id="{AAB4BEA8-32D1-4B4D-8F63-5864EB0C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25" name="obs-side-title">
            <a:extLst xmlns:a="http://schemas.openxmlformats.org/drawingml/2006/main">
              <a:ext uri="{FF2B5EF4-FFF2-40B4-BE49-F238E27FC236}">
                <a16:creationId xmlns:a16="http://schemas.microsoft.com/office/drawing/2014/main" id="{8E40166B-C668-4017-95EA-70A7AE4F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62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这组数据支持什么</a:t>
            </a:r>
          </a:p>
        </p:txBody>
      </p:sp>
      <p:sp>
        <p:nvSpPr>
          <p:cNvPr id="26" name="obs-side-meta">
            <a:extLst xmlns:a="http://schemas.openxmlformats.org/drawingml/2006/main">
              <a:ext uri="{FF2B5EF4-FFF2-40B4-BE49-F238E27FC236}">
                <a16:creationId xmlns:a16="http://schemas.microsoft.com/office/drawing/2014/main" id="{DAAA2E30-658B-4B1E-9317-D3963F47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口径先固定</a:t>
            </a:r>
          </a:p>
        </p:txBody>
      </p:sp>
      <p:sp>
        <p:nvSpPr>
          <p:cNvPr id="27" name="obs-side-body">
            <a:extLst xmlns:a="http://schemas.openxmlformats.org/drawingml/2006/main">
              <a:ext uri="{FF2B5EF4-FFF2-40B4-BE49-F238E27FC236}">
                <a16:creationId xmlns:a16="http://schemas.microsoft.com/office/drawing/2014/main" id="{9340D17F-8656-441B-BAB8-AC476E06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810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8" name="obs-kpi">
            <a:extLst xmlns:a="http://schemas.openxmlformats.org/drawingml/2006/main">
              <a:ext uri="{FF2B5EF4-FFF2-40B4-BE49-F238E27FC236}">
                <a16:creationId xmlns:a16="http://schemas.microsoft.com/office/drawing/2014/main" id="{14DFE617-D577-456D-8E26-81F5EA98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435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rPr>
              <a:t>60%</a:t>
            </a:r>
          </a:p>
        </p:txBody>
      </p:sp>
      <p:sp>
        <p:nvSpPr>
          <p:cNvPr id="29" name="obs-kpi-label">
            <a:extLst xmlns:a="http://schemas.openxmlformats.org/drawingml/2006/main">
              <a:ext uri="{FF2B5EF4-FFF2-40B4-BE49-F238E27FC236}">
                <a16:creationId xmlns:a16="http://schemas.microsoft.com/office/drawing/2014/main" id="{832468C3-3F42-48DA-8D7D-F6436645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4月两工作日内首次可执行答复比例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144 / 240</a:t>
            </a:r>
          </a:p>
        </p:txBody>
      </p:sp>
      <p:sp>
        <p:nvSpPr>
          <p:cNvPr id="30" name="obs-side-rule">
            <a:extLst xmlns:a="http://schemas.openxmlformats.org/drawingml/2006/main">
              <a:ext uri="{FF2B5EF4-FFF2-40B4-BE49-F238E27FC236}">
                <a16:creationId xmlns:a16="http://schemas.microsoft.com/office/drawing/2014/main" id="{FC346B16-0118-49D4-B631-70703118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31" name="obs-side-p1">
            <a:extLst xmlns:a="http://schemas.openxmlformats.org/drawingml/2006/main">
              <a:ext uri="{FF2B5EF4-FFF2-40B4-BE49-F238E27FC236}">
                <a16:creationId xmlns:a16="http://schemas.microsoft.com/office/drawing/2014/main" id="{F3589AC5-FD9A-463B-B565-C885E580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比例从1月的80%降至4月的60%；同时中位首次响应时间从1.3升至2.4个工作日。</a:t>
            </a:r>
          </a:p>
        </p:txBody>
      </p:sp>
      <p:sp>
        <p:nvSpPr>
          <p:cNvPr id="32" name="obs-side-p2">
            <a:extLst xmlns:a="http://schemas.openxmlformats.org/drawingml/2006/main">
              <a:ext uri="{FF2B5EF4-FFF2-40B4-BE49-F238E27FC236}">
                <a16:creationId xmlns:a16="http://schemas.microsoft.com/office/drawing/2014/main" id="{C1E5949D-91EE-4D67-8A89-91958B9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服务人员数量四个月保持不变，工作量与响应压力同步上升。</a:t>
            </a:r>
          </a:p>
        </p:txBody>
      </p:sp>
      <p:sp>
        <p:nvSpPr>
          <p:cNvPr id="33" name="obs-side-limit">
            <a:extLst xmlns:a="http://schemas.openxmlformats.org/drawingml/2006/main">
              <a:ext uri="{FF2B5EF4-FFF2-40B4-BE49-F238E27FC236}">
                <a16:creationId xmlns:a16="http://schemas.microsoft.com/office/drawing/2014/main" id="{8A5DB525-A5F5-46CA-9080-37B40C1D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9590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4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解释边界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无对照实验，不能断言工作量增长是响应变慢的唯一原因。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材料与权限问题占4月未达标请求的75%，但不能直接等同于可消除量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block-header">
            <a:extLst xmlns:a="http://schemas.openxmlformats.org/drawingml/2006/main">
              <a:ext uri="{FF2B5EF4-FFF2-40B4-BE49-F238E27FC236}">
                <a16:creationId xmlns:a16="http://schemas.microsoft.com/office/drawing/2014/main" id="{458147D4-B8D6-4ADE-8532-AB8CB46A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7096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16" name="block-title">
            <a:extLst xmlns:a="http://schemas.openxmlformats.org/drawingml/2006/main">
              <a:ext uri="{FF2B5EF4-FFF2-40B4-BE49-F238E27FC236}">
                <a16:creationId xmlns:a16="http://schemas.microsoft.com/office/drawing/2014/main" id="{5E178C95-CF41-4193-A558-792D66BD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62125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材料与权限是主要阻塞，但不是可消除量</a:t>
            </a:r>
          </a:p>
        </p:txBody>
      </p:sp>
      <p:sp>
        <p:nvSpPr>
          <p:cNvPr id="17" name="block-meta">
            <a:extLst xmlns:a="http://schemas.openxmlformats.org/drawingml/2006/main">
              <a:ext uri="{FF2B5EF4-FFF2-40B4-BE49-F238E27FC236}">
                <a16:creationId xmlns:a16="http://schemas.microsoft.com/office/drawing/2014/main" id="{FFF32F98-A643-4ECD-AC52-F710E74C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 · 4月复核</a:t>
            </a:r>
          </a:p>
        </p:txBody>
      </p:sp>
      <p:sp>
        <p:nvSpPr>
          <p:cNvPr id="18" name="block-exhibit">
            <a:extLst xmlns:a="http://schemas.openxmlformats.org/drawingml/2006/main">
              <a:ext uri="{FF2B5EF4-FFF2-40B4-BE49-F238E27FC236}">
                <a16:creationId xmlns:a16="http://schemas.microsoft.com/office/drawing/2014/main" id="{23348564-0A64-4F10-9E7A-EC92C57F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70961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19" name="block-label">
            <a:extLst xmlns:a="http://schemas.openxmlformats.org/drawingml/2006/main">
              <a:ext uri="{FF2B5EF4-FFF2-40B4-BE49-F238E27FC236}">
                <a16:creationId xmlns:a16="http://schemas.microsoft.com/office/drawing/2014/main" id="{ECB48FC0-121E-4D0C-A274-549459BD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4月未达标的96个请求：每个请求仅记一个主要阻塞原因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1000125" y="2571750"/>
          <a:ext xmlns:a="http://schemas.openxmlformats.org/drawingml/2006/main" cx="623887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668e0becc94cf5"/>
          </a:graphicData>
        </a:graphic>
      </p:graphicFrame>
      <p:sp>
        <p:nvSpPr>
          <p:cNvPr id="21" name="block-foot">
            <a:extLst xmlns:a="http://schemas.openxmlformats.org/drawingml/2006/main">
              <a:ext uri="{FF2B5EF4-FFF2-40B4-BE49-F238E27FC236}">
                <a16:creationId xmlns:a16="http://schemas.microsoft.com/office/drawing/2014/main" id="{BE2CCCEC-872C-4C83-9836-38BA56CA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材料不全与权限确认合计72个，占96个未达标请求的75%</a:t>
            </a:r>
          </a:p>
        </p:txBody>
      </p:sp>
      <p:sp>
        <p:nvSpPr>
          <p:cNvPr id="22" name="block-side-header">
            <a:extLst xmlns:a="http://schemas.openxmlformats.org/drawingml/2006/main">
              <a:ext uri="{FF2B5EF4-FFF2-40B4-BE49-F238E27FC236}">
                <a16:creationId xmlns:a16="http://schemas.microsoft.com/office/drawing/2014/main" id="{343FD8B9-0D1B-40F7-ACF4-61B6E52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23" name="block-side-title">
            <a:extLst xmlns:a="http://schemas.openxmlformats.org/drawingml/2006/main">
              <a:ext uri="{FF2B5EF4-FFF2-40B4-BE49-F238E27FC236}">
                <a16:creationId xmlns:a16="http://schemas.microsoft.com/office/drawing/2014/main" id="{1E9E37FD-D8B8-4931-9173-C5820718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62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解释与边界</a:t>
            </a:r>
          </a:p>
        </p:txBody>
      </p:sp>
      <p:sp>
        <p:nvSpPr>
          <p:cNvPr id="24" name="block-side-meta">
            <a:extLst xmlns:a="http://schemas.openxmlformats.org/drawingml/2006/main">
              <a:ext uri="{FF2B5EF4-FFF2-40B4-BE49-F238E27FC236}">
                <a16:creationId xmlns:a16="http://schemas.microsoft.com/office/drawing/2014/main" id="{5BE415D9-5835-4CFE-812E-C9AAA8B5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分类≠预测</a:t>
            </a:r>
          </a:p>
        </p:txBody>
      </p:sp>
      <p:sp>
        <p:nvSpPr>
          <p:cNvPr id="25" name="block-side-body">
            <a:extLst xmlns:a="http://schemas.openxmlformats.org/drawingml/2006/main">
              <a:ext uri="{FF2B5EF4-FFF2-40B4-BE49-F238E27FC236}">
                <a16:creationId xmlns:a16="http://schemas.microsoft.com/office/drawing/2014/main" id="{F24EFF38-54F4-4C3A-8E00-38E40F62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810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6" name="block-kpi">
            <a:extLst xmlns:a="http://schemas.openxmlformats.org/drawingml/2006/main">
              <a:ext uri="{FF2B5EF4-FFF2-40B4-BE49-F238E27FC236}">
                <a16:creationId xmlns:a16="http://schemas.microsoft.com/office/drawing/2014/main" id="{DCABE8A3-659B-47FB-89E6-AE196805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5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360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rPr>
              <a:t>72 / 96</a:t>
            </a:r>
          </a:p>
        </p:txBody>
      </p:sp>
      <p:sp>
        <p:nvSpPr>
          <p:cNvPr id="27" name="block-kpi-label">
            <a:extLst xmlns:a="http://schemas.openxmlformats.org/drawingml/2006/main">
              <a:ext uri="{FF2B5EF4-FFF2-40B4-BE49-F238E27FC236}">
                <a16:creationId xmlns:a16="http://schemas.microsoft.com/office/drawing/2014/main" id="{1AB8690E-AD0B-468B-9442-C83241F9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材料与权限类阻塞的复核占比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75%</a:t>
            </a:r>
          </a:p>
        </p:txBody>
      </p:sp>
      <p:sp>
        <p:nvSpPr>
          <p:cNvPr id="28" name="block-rule">
            <a:extLst xmlns:a="http://schemas.openxmlformats.org/drawingml/2006/main">
              <a:ext uri="{FF2B5EF4-FFF2-40B4-BE49-F238E27FC236}">
                <a16:creationId xmlns:a16="http://schemas.microsoft.com/office/drawing/2014/main" id="{FD5DBC31-23AF-4B5A-8A17-0351FE94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9" name="block-defs">
            <a:extLst xmlns:a="http://schemas.openxmlformats.org/drawingml/2006/main">
              <a:ext uri="{FF2B5EF4-FFF2-40B4-BE49-F238E27FC236}">
                <a16:creationId xmlns:a16="http://schemas.microsoft.com/office/drawing/2014/main" id="{D76302D5-10F9-445A-AA88-EC4A78A4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材料不全：字段缺失或未附样本文件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权限确认：授权人或授权范围未确认</a:t>
            </a:r>
          </a:p>
        </p:txBody>
      </p:sp>
      <p:sp>
        <p:nvSpPr>
          <p:cNvPr id="30" name="block-limit">
            <a:extLst xmlns:a="http://schemas.openxmlformats.org/drawingml/2006/main">
              <a:ext uri="{FF2B5EF4-FFF2-40B4-BE49-F238E27FC236}">
                <a16:creationId xmlns:a16="http://schemas.microsoft.com/office/drawing/2014/main" id="{7C77BC34-1A54-4E66-BC22-5562BAE1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四类原因彼此互斥且合计完整；复核分类不等于各措施可以消除的数量，也不能直接预测节省工时。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B先试行更贴近主要阻塞环节，A仅作高峰应急；C留到规则稳定后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方案比较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options-header">
            <a:extLst xmlns:a="http://schemas.openxmlformats.org/drawingml/2006/main">
              <a:ext uri="{FF2B5EF4-FFF2-40B4-BE49-F238E27FC236}">
                <a16:creationId xmlns:a16="http://schemas.microsoft.com/office/drawing/2014/main" id="{84AE2CA5-03E4-48C5-884B-1CA5A6EA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114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16" name="options-title">
            <a:extLst xmlns:a="http://schemas.openxmlformats.org/drawingml/2006/main">
              <a:ext uri="{FF2B5EF4-FFF2-40B4-BE49-F238E27FC236}">
                <a16:creationId xmlns:a16="http://schemas.microsoft.com/office/drawing/2014/main" id="{DBA41166-E513-45B1-A16C-B0512DD7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62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B先试行更贴近主要阻塞，A保留作高峰应急，C等待规则稳定</a:t>
            </a:r>
          </a:p>
        </p:txBody>
      </p:sp>
      <p:sp>
        <p:nvSpPr>
          <p:cNvPr id="17" name="options-meta">
            <a:extLst xmlns:a="http://schemas.openxmlformats.org/drawingml/2006/main">
              <a:ext uri="{FF2B5EF4-FFF2-40B4-BE49-F238E27FC236}">
                <a16:creationId xmlns:a16="http://schemas.microsoft.com/office/drawing/2014/main" id="{9B20F3CD-8282-4454-ACD8-8363BBC2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 · 内部方案估计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23875" y="2076450"/>
          <a:ext xmlns:a="http://schemas.openxmlformats.org/drawingml/2006/main" cx="11144250" cy="3124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2857500"/>
                <a:gridCol w="2857500"/>
                <a:gridCol w="3333750"/>
              </a:tblGrid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315F9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91440" marR="91440" marT="45720" marB="45720" anchor="ctr">
                    <a:solidFill>
                      <a:srgbClr val="DCEA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315F9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临时增加值班</a:t>
                      </a:r>
                    </a:p>
                  </a:txBody>
                  <a:tcPr marL="91440" marR="91440" marT="45720" marB="45720" anchor="ctr">
                    <a:solidFill>
                      <a:srgbClr val="DCEA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统一申请入口</a:t>
                      </a:r>
                    </a:p>
                  </a:txBody>
                  <a:tcPr marL="91440" marR="91440" marT="45720" marB="45720" anchor="ctr">
                    <a:solidFill>
                      <a:srgbClr val="315F9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315F9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批量自动预检</a:t>
                      </a:r>
                    </a:p>
                  </a:txBody>
                  <a:tcPr marL="91440" marR="91440" marT="45720" marB="45720" anchor="ctr">
                    <a:solidFill>
                      <a:srgbClr val="DCEAF5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直接作用环节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人工响应排队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提交时字段与授权校验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重复性材料格式检查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初期投入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8人日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12人日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30人日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预计上线周期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2周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持续维护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每周2人日值班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每周0.5人日规则维护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每周1人日规则维护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可调配值班人员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三类请求字段达成一致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稳定字段及可机器判断的规则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主要限制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不直接解决材料缺失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不消除复杂需求沟通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不替代人工授权判断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9" name="options-bottom-rule">
            <a:extLst xmlns:a="http://schemas.openxmlformats.org/drawingml/2006/main">
              <a:ext uri="{FF2B5EF4-FFF2-40B4-BE49-F238E27FC236}">
                <a16:creationId xmlns:a16="http://schemas.microsoft.com/office/drawing/2014/main" id="{1E1CDD8D-E14D-4F5B-B99E-76C724CA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72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0" name="options-foot">
            <a:extLst xmlns:a="http://schemas.openxmlformats.org/drawingml/2006/main">
              <a:ext uri="{FF2B5EF4-FFF2-40B4-BE49-F238E27FC236}">
                <a16:creationId xmlns:a16="http://schemas.microsoft.com/office/drawing/2014/main" id="{A8CE5525-1367-4123-8EF7-2A9BA863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建议条件：B尚未实施，不能宣称已有改善；投入、周期与维护均为内部方案估计，不能与响应改善直接换算。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六周试点必须按依赖推进，先验证入口规则再决定扩大范围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试点计划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ilot-header">
            <a:extLst xmlns:a="http://schemas.openxmlformats.org/drawingml/2006/main">
              <a:ext uri="{FF2B5EF4-FFF2-40B4-BE49-F238E27FC236}">
                <a16:creationId xmlns:a16="http://schemas.microsoft.com/office/drawing/2014/main" id="{89D625EB-D3D2-4150-AD4E-F0B4326C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114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16" name="pilot-title">
            <a:extLst xmlns:a="http://schemas.openxmlformats.org/drawingml/2006/main">
              <a:ext uri="{FF2B5EF4-FFF2-40B4-BE49-F238E27FC236}">
                <a16:creationId xmlns:a16="http://schemas.microsoft.com/office/drawing/2014/main" id="{33C97EAF-51FC-4B79-A5EA-27E9B07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62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六周试点按依赖推进，先验证入口规则再决定扩大范围</a:t>
            </a:r>
          </a:p>
        </p:txBody>
      </p:sp>
      <p:sp>
        <p:nvSpPr>
          <p:cNvPr id="17" name="pilot-meta">
            <a:extLst xmlns:a="http://schemas.openxmlformats.org/drawingml/2006/main">
              <a:ext uri="{FF2B5EF4-FFF2-40B4-BE49-F238E27FC236}">
                <a16:creationId xmlns:a16="http://schemas.microsoft.com/office/drawing/2014/main" id="{18BED96A-7B8D-498C-AC00-64A93091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 · 未来计划</a:t>
            </a:r>
          </a:p>
        </p:txBody>
      </p:sp>
      <p:sp>
        <p:nvSpPr>
          <p:cNvPr id="18" name="pilot-arrow-1">
            <a:extLst xmlns:a="http://schemas.openxmlformats.org/drawingml/2006/main">
              <a:ext uri="{FF2B5EF4-FFF2-40B4-BE49-F238E27FC236}">
                <a16:creationId xmlns:a16="http://schemas.microsoft.com/office/drawing/2014/main" id="{FFB9026F-EF0A-439A-8966-F6CFD5D2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575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86B2"/>
          </a:solidFill>
          <a:ln xmlns:a="http://schemas.openxmlformats.org/drawingml/2006/main" w="0">
            <a:solidFill>
              <a:srgbClr val="5B86B2"/>
            </a:solidFill>
            <a:prstDash val="solid"/>
          </a:ln>
        </p:spPr>
      </p:sp>
      <p:sp>
        <p:nvSpPr>
          <p:cNvPr id="19" name="pilot-arrow-2">
            <a:extLst xmlns:a="http://schemas.openxmlformats.org/drawingml/2006/main">
              <a:ext uri="{FF2B5EF4-FFF2-40B4-BE49-F238E27FC236}">
                <a16:creationId xmlns:a16="http://schemas.microsoft.com/office/drawing/2014/main" id="{C56C4DF0-6656-4702-8607-31EF7803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575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86B2"/>
          </a:solidFill>
          <a:ln xmlns:a="http://schemas.openxmlformats.org/drawingml/2006/main" w="0">
            <a:solidFill>
              <a:srgbClr val="5B86B2"/>
            </a:solidFill>
            <a:prstDash val="solid"/>
          </a:ln>
        </p:spPr>
      </p:sp>
      <p:sp>
        <p:nvSpPr>
          <p:cNvPr id="20" name="pilot-box-1">
            <a:extLst xmlns:a="http://schemas.openxmlformats.org/drawingml/2006/main">
              <a:ext uri="{FF2B5EF4-FFF2-40B4-BE49-F238E27FC236}">
                <a16:creationId xmlns:a16="http://schemas.microsoft.com/office/drawing/2014/main" id="{CE14D983-C650-4AB9-9093-C01B6661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33337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1" name="pilot-head-1">
            <a:extLst xmlns:a="http://schemas.openxmlformats.org/drawingml/2006/main">
              <a:ext uri="{FF2B5EF4-FFF2-40B4-BE49-F238E27FC236}">
                <a16:creationId xmlns:a16="http://schemas.microsoft.com/office/drawing/2014/main" id="{55489550-CF87-4802-8E18-743AB92A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22" name="pilot-title-1">
            <a:extLst xmlns:a="http://schemas.openxmlformats.org/drawingml/2006/main">
              <a:ext uri="{FF2B5EF4-FFF2-40B4-BE49-F238E27FC236}">
                <a16:creationId xmlns:a16="http://schemas.microsoft.com/office/drawing/2014/main" id="{18FBA9F6-D9F2-4307-8636-3F2BA844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241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4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第1—2周 统一规则</a:t>
            </a:r>
          </a:p>
        </p:txBody>
      </p:sp>
      <p:sp>
        <p:nvSpPr>
          <p:cNvPr id="23" name="pilot-body-1">
            <a:extLst xmlns:a="http://schemas.openxmlformats.org/drawingml/2006/main">
              <a:ext uri="{FF2B5EF4-FFF2-40B4-BE49-F238E27FC236}">
                <a16:creationId xmlns:a16="http://schemas.microsoft.com/office/drawing/2014/main" id="{9D21F513-4913-49FD-8BE0-BB8FCAB4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76550"/>
            <a:ext cx="29908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负责人联合三类经办人统一字段与授权责任；形成字段字典、授权清单和统一入口。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进入条件：三类请求完成一轮实际样本填写检查，无关键必填字段缺失。</a:t>
            </a:r>
          </a:p>
        </p:txBody>
      </p:sp>
      <p:sp>
        <p:nvSpPr>
          <p:cNvPr id="24" name="pilot-box-2">
            <a:extLst xmlns:a="http://schemas.openxmlformats.org/drawingml/2006/main">
              <a:ext uri="{FF2B5EF4-FFF2-40B4-BE49-F238E27FC236}">
                <a16:creationId xmlns:a16="http://schemas.microsoft.com/office/drawing/2014/main" id="{7DF9590B-E9BC-4CA1-8B12-3B15F5EF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B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5" name="pilot-head-2">
            <a:extLst xmlns:a="http://schemas.openxmlformats.org/drawingml/2006/main">
              <a:ext uri="{FF2B5EF4-FFF2-40B4-BE49-F238E27FC236}">
                <a16:creationId xmlns:a16="http://schemas.microsoft.com/office/drawing/2014/main" id="{9109AE63-3FD0-4D91-AABF-C7EE0A1C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6" name="pilot-title-2">
            <a:extLst xmlns:a="http://schemas.openxmlformats.org/drawingml/2006/main">
              <a:ext uri="{FF2B5EF4-FFF2-40B4-BE49-F238E27FC236}">
                <a16:creationId xmlns:a16="http://schemas.microsoft.com/office/drawing/2014/main" id="{5BC372ED-2D5C-424F-904E-CF301793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241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4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第3—4周 先试数据提取</a:t>
            </a:r>
          </a:p>
        </p:txBody>
      </p:sp>
      <p:sp>
        <p:nvSpPr>
          <p:cNvPr id="27" name="pilot-body-2">
            <a:extLst xmlns:a="http://schemas.openxmlformats.org/drawingml/2006/main">
              <a:ext uri="{FF2B5EF4-FFF2-40B4-BE49-F238E27FC236}">
                <a16:creationId xmlns:a16="http://schemas.microsoft.com/office/drawing/2014/main" id="{EF2C0EFC-7E93-45B3-A655-0A7CC921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76550"/>
            <a:ext cx="29908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仅在数据提取请求中试用；保存缺失字段、退回原因和首次响应记录。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扩大条件：记录完整，且未发现阻断提交的高频规则错误；否则回到规则调整</a:t>
            </a:r>
          </a:p>
        </p:txBody>
      </p:sp>
      <p:sp>
        <p:nvSpPr>
          <p:cNvPr id="28" name="pilot-box-3">
            <a:extLst xmlns:a="http://schemas.openxmlformats.org/drawingml/2006/main">
              <a:ext uri="{FF2B5EF4-FFF2-40B4-BE49-F238E27FC236}">
                <a16:creationId xmlns:a16="http://schemas.microsoft.com/office/drawing/2014/main" id="{7DA1DF7E-551C-4B90-9AB7-C9A443AB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09800"/>
            <a:ext cx="33337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9" name="pilot-head-3">
            <a:extLst xmlns:a="http://schemas.openxmlformats.org/drawingml/2006/main">
              <a:ext uri="{FF2B5EF4-FFF2-40B4-BE49-F238E27FC236}">
                <a16:creationId xmlns:a16="http://schemas.microsoft.com/office/drawing/2014/main" id="{82E7A10A-622E-49E4-AEFD-C957E125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098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30" name="pilot-title-3">
            <a:extLst xmlns:a="http://schemas.openxmlformats.org/drawingml/2006/main">
              <a:ext uri="{FF2B5EF4-FFF2-40B4-BE49-F238E27FC236}">
                <a16:creationId xmlns:a16="http://schemas.microsoft.com/office/drawing/2014/main" id="{F45C902D-20BB-475C-B38D-D88FED63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241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4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第5—6周 复核后扩面</a:t>
            </a:r>
          </a:p>
        </p:txBody>
      </p:sp>
      <p:sp>
        <p:nvSpPr>
          <p:cNvPr id="31" name="pilot-body-3">
            <a:extLst xmlns:a="http://schemas.openxmlformats.org/drawingml/2006/main">
              <a:ext uri="{FF2B5EF4-FFF2-40B4-BE49-F238E27FC236}">
                <a16:creationId xmlns:a16="http://schemas.microsoft.com/office/drawing/2014/main" id="{F6366EE3-C39C-4D19-A61C-E1F3A37D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76550"/>
            <a:ext cx="29908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负责人复核试点数据，再决定是否扩大到数据清洗和权限开通。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评估：两工作日内响应比例、材料退回比例、经办人维护时间。目标值由试点基线确定。</a:t>
            </a:r>
          </a:p>
        </p:txBody>
      </p:sp>
      <p:sp>
        <p:nvSpPr>
          <p:cNvPr id="32" name="pilot-eval">
            <a:extLst xmlns:a="http://schemas.openxmlformats.org/drawingml/2006/main">
              <a:ext uri="{FF2B5EF4-FFF2-40B4-BE49-F238E27FC236}">
                <a16:creationId xmlns:a16="http://schemas.microsoft.com/office/drawing/2014/main" id="{0878381D-8328-47F7-BFFB-4ABDF821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11144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33" name="pilot-eval-label">
            <a:extLst xmlns:a="http://schemas.openxmlformats.org/drawingml/2006/main">
              <a:ext uri="{FF2B5EF4-FFF2-40B4-BE49-F238E27FC236}">
                <a16:creationId xmlns:a16="http://schemas.microsoft.com/office/drawing/2014/main" id="{CE94C611-F5DB-4AD2-8E38-DA69D44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扩大前共同门槛</a:t>
            </a:r>
          </a:p>
        </p:txBody>
      </p:sp>
      <p:sp>
        <p:nvSpPr>
          <p:cNvPr id="34" name="pilot-eval-body">
            <a:extLst xmlns:a="http://schemas.openxmlformats.org/drawingml/2006/main">
              <a:ext uri="{FF2B5EF4-FFF2-40B4-BE49-F238E27FC236}">
                <a16:creationId xmlns:a16="http://schemas.microsoft.com/office/drawing/2014/main" id="{7EF77981-13F2-4790-8091-184A080B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1015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先确保样本可追踪、规则不阻断提交，再根据试点基线判断是否扩面；不把响应速度单独当作成功标准。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2026-09-08T15:56:56.3010000Z</dcterms:created>
  <dcterms:modified xsi:type="dcterms:W3CDTF">2026-09-08T15:56:56.3010000Z</dcterms:modified>
</coreProperties>
</file>