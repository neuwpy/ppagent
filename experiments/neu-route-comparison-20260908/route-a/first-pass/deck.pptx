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ca191c6b354d55" /><Relationship Type="http://schemas.openxmlformats.org/officeDocument/2006/relationships/extended-properties" Target="/docProps/app.xml" Id="R0dc2642d7b804ea8" /><Relationship Type="http://schemas.openxmlformats.org/officeDocument/2006/relationships/officeDocument" Target="/ppt/presentation.xml" Id="Rb751135eba6248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aa521bed61460d"/>
    <p:sldMasterId xmlns:r="http://schemas.openxmlformats.org/officeDocument/2006/relationships" id="2147483660" r:id="Rc5448b0892de4ab5"/>
    <p:sldMasterId xmlns:r="http://schemas.openxmlformats.org/officeDocument/2006/relationships" id="2147483663" r:id="Rc042f1f1375c4fa4"/>
  </p:sldMasterIdLst>
  <p:notesMasterIdLst>
    <p:notesMasterId xmlns:r="http://schemas.openxmlformats.org/officeDocument/2006/relationships" r:id="R60405e1bc3fd452e"/>
  </p:notesMasterIdLst>
  <p:sldIdLst>
    <p:sldId xmlns:r="http://schemas.openxmlformats.org/officeDocument/2006/relationships" id="256" r:id="R8e039289ac7e4074"/>
    <p:sldId xmlns:r="http://schemas.openxmlformats.org/officeDocument/2006/relationships" id="257" r:id="R63ed6b8b691b4f1f"/>
    <p:sldId xmlns:r="http://schemas.openxmlformats.org/officeDocument/2006/relationships" id="258" r:id="Rc4fd934206524c7a"/>
    <p:sldId xmlns:r="http://schemas.openxmlformats.org/officeDocument/2006/relationships" id="259" r:id="R57d154bb61db4b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0405a0640a453e" /><Relationship Type="http://schemas.openxmlformats.org/officeDocument/2006/relationships/slideMaster" Target="/ppt/slideMasters/slideMaster1.xml" Id="Rc6aa521bed61460d" /><Relationship Type="http://schemas.openxmlformats.org/officeDocument/2006/relationships/slideMaster" Target="/ppt/slideMasters/slideMaster2.xml" Id="Rc5448b0892de4ab5" /><Relationship Type="http://schemas.openxmlformats.org/officeDocument/2006/relationships/slideMaster" Target="/ppt/slideMasters/slideMaster3.xml" Id="Rc042f1f1375c4fa4" /><Relationship Type="http://schemas.openxmlformats.org/officeDocument/2006/relationships/notesMaster" Target="/ppt/notesMasters/notesMaster1.xml" Id="R60405e1bc3fd452e" /><Relationship Type="http://schemas.openxmlformats.org/officeDocument/2006/relationships/presProps" Target="/ppt/presProps.xml" Id="R97c62ba15afe460d" /><Relationship Type="http://schemas.openxmlformats.org/officeDocument/2006/relationships/viewProps" Target="/ppt/viewProps.xml" Id="R080ed528b4c94f13" /><Relationship Type="http://schemas.openxmlformats.org/officeDocument/2006/relationships/tableStyles" Target="/ppt/tableStyles.xml" Id="Rb005508b4be54fa4" /><Relationship Type="http://schemas.openxmlformats.org/officeDocument/2006/relationships/slide" Target="/ppt/slides/slide1.xml" Id="R8e039289ac7e4074" /><Relationship Type="http://schemas.openxmlformats.org/officeDocument/2006/relationships/slide" Target="/ppt/slides/slide2.xml" Id="R63ed6b8b691b4f1f" /><Relationship Type="http://schemas.openxmlformats.org/officeDocument/2006/relationships/slide" Target="/ppt/slides/slide3.xml" Id="Rc4fd934206524c7a" /><Relationship Type="http://schemas.openxmlformats.org/officeDocument/2006/relationships/slide" Target="/ppt/slides/slide4.xml" Id="R57d154bb61db4b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64a0eb305254e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d2d27fb5c94cb2" /><Relationship Type="http://schemas.openxmlformats.org/officeDocument/2006/relationships/notesMaster" Target="/ppt/notesMasters/notesMaster1.xml" Id="R9cf55a0640fc47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71bb2129cc4834" /><Relationship Type="http://schemas.openxmlformats.org/officeDocument/2006/relationships/notesMaster" Target="/ppt/notesMasters/notesMaster1.xml" Id="R4bfe2120984b48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be16eb9029417f" /><Relationship Type="http://schemas.openxmlformats.org/officeDocument/2006/relationships/notesMaster" Target="/ppt/notesMasters/notesMaster1.xml" Id="R1c1e9a4c09364d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cf6fbbe69d4b13" /><Relationship Type="http://schemas.openxmlformats.org/officeDocument/2006/relationships/notesMaster" Target="/ppt/notesMasters/notesMaster1.xml" Id="R175493f0045d4d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页面判断：历史观察显示负荷与响应压力同步上升，但不构成唯一因果解释。图表沿用统一月份口径；首次响应不是结案时长。每月无缺失记录。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内容：experiments/neu-route-comparison-20260908/inputs/manuscript.txt（模拟稿件）</a:t>
            </a:r>
            <a:endParaRPr/>
          </a:p>
          <a:p xmlns:a="http://schemas.openxmlformats.org/drawingml/2006/main">
            <a:r>
              <a:t>- 视觉：assets/主题/东北大学-001/runtime-template.pptx（运行模板）</a:t>
            </a:r>
            <a:endParaRPr/>
          </a:p>
          <a:p xmlns:a="http://schemas.openxmlformats.org/drawingml/2006/main">
            <a:r>
              <a:t>- 组织参考：route-a/inputs/mckinsey-anatomy.md、consulting-components.html、consulting-layout-grammar.md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页面判断：材料与权限类阻塞占主要部分，为方案选择提供方向，但复核分类不能直接转换为干预效果或节省工时。数据来自4月未达标请求的互斥完整复核。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内容：experiments/neu-route-comparison-20260908/inputs/manuscript.txt（模拟稿件）</a:t>
            </a:r>
            <a:endParaRPr/>
          </a:p>
          <a:p xmlns:a="http://schemas.openxmlformats.org/drawingml/2006/main">
            <a:r>
              <a:t>- 视觉：assets/主题/东北大学-001/runtime-template.pptx（运行模板）</a:t>
            </a:r>
            <a:endParaRPr/>
          </a:p>
          <a:p xmlns:a="http://schemas.openxmlformats.org/drawingml/2006/main">
            <a:r>
              <a:t>- 组织参考：route-a/inputs/mckinsey-anatomy.md、consulting-components.html、consulting-layout-grammar.md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页面判断：B的作用环节与主要阻塞更对应，适合作为先行试点；A可承担短期峰值，C需等字段与机器规则稳定。所有投入、周期和维护数据均为内部方案估计。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内容：experiments/neu-route-comparison-20260908/inputs/manuscript.txt（模拟稿件）</a:t>
            </a:r>
            <a:endParaRPr/>
          </a:p>
          <a:p xmlns:a="http://schemas.openxmlformats.org/drawingml/2006/main">
            <a:r>
              <a:t>- 视觉：assets/主题/东北大学-001/runtime-template.pptx（运行模板）</a:t>
            </a:r>
            <a:endParaRPr/>
          </a:p>
          <a:p xmlns:a="http://schemas.openxmlformats.org/drawingml/2006/main">
            <a:r>
              <a:t>- 组织参考：route-a/inputs/mckinsey-anatomy.md、consulting-components.html、consulting-layout-grammar.md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页面判断：试点的核心是依赖顺序与门禁条件。先统一规则，再在单一请求类型中留痕验证，最后由负责人依据多项指标决定扩面；本稿不设未经论证的百分比目标。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内容：experiments/neu-route-comparison-20260908/inputs/manuscript.txt（模拟稿件）</a:t>
            </a:r>
            <a:endParaRPr/>
          </a:p>
          <a:p xmlns:a="http://schemas.openxmlformats.org/drawingml/2006/main">
            <a:r>
              <a:t>- 视觉：assets/主题/东北大学-001/runtime-template.pptx（运行模板）</a:t>
            </a:r>
            <a:endParaRPr/>
          </a:p>
          <a:p xmlns:a="http://schemas.openxmlformats.org/drawingml/2006/main">
            <a:r>
              <a:t>- 组织参考：route-a/inputs/mckinsey-anatomy.md、consulting-components.html、consulting-layout-grammar.md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601fef0db4baa" /><Relationship Type="http://schemas.openxmlformats.org/officeDocument/2006/relationships/image" Target="/ppt/media/image.jpeg" Id="R29ac91bf7a7c4505" /><Relationship Type="http://schemas.openxmlformats.org/officeDocument/2006/relationships/image" Target="/ppt/media/image.png" Id="Rd2ff459da25e4096" /><Relationship Type="http://schemas.openxmlformats.org/officeDocument/2006/relationships/image" Target="/ppt/media/image2.png" Id="R877b5ba0f29b47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785d04d1949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34e10aab04a16" /><Relationship Type="http://schemas.openxmlformats.org/officeDocument/2006/relationships/image" Target="/ppt/media/image3.png" Id="Re6c589d4341144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db063386e4070" /><Relationship Type="http://schemas.openxmlformats.org/officeDocument/2006/relationships/image" Target="/ppt/media/image4.png" Id="R88dc2f62a29047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fa34bc86442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0f26bd7334a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5b81aab1046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2fb1c3b694d1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3c4fd1cce4c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c94685beb41c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60bb91f69460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55628ce3774f8a" /><Relationship Type="http://schemas.openxmlformats.org/officeDocument/2006/relationships/image" Target="/ppt/media/image5.png" Id="Rf677d78907be4a6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b29dd1fed74cb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0ac89aed4424d2d" /><Relationship Type="http://schemas.openxmlformats.org/officeDocument/2006/relationships/image" Target="/ppt/media/image5.png" Id="Raf46662198ea4f4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68fdb9df4534b6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c91bf7a7c450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f459da25e409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b5ba0f29b4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589d43411443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c2f62a2904758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7d78907be4a6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6662198ea4f4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ddd52a1adb41eb" /><Relationship Type="http://schemas.openxmlformats.org/officeDocument/2006/relationships/slideLayout" Target="/ppt/slideLayouts/slideLayout1.xml" Id="R8eb0744bb1484e74" /><Relationship Type="http://schemas.openxmlformats.org/officeDocument/2006/relationships/slideLayout" Target="/ppt/slideLayouts/slideLayout2.xml" Id="R4c2dc7f8ead04a32" /><Relationship Type="http://schemas.openxmlformats.org/officeDocument/2006/relationships/slideLayout" Target="/ppt/slideLayouts/slideLayout3.xml" Id="R921184c7ac88403d" /><Relationship Type="http://schemas.openxmlformats.org/officeDocument/2006/relationships/slideLayout" Target="/ppt/slideLayouts/slideLayout4.xml" Id="R4583dc192f724e57" /><Relationship Type="http://schemas.openxmlformats.org/officeDocument/2006/relationships/slideLayout" Target="/ppt/slideLayouts/slideLayout5.xml" Id="Ra3e4da928ec24834" /><Relationship Type="http://schemas.openxmlformats.org/officeDocument/2006/relationships/slideLayout" Target="/ppt/slideLayouts/slideLayout6.xml" Id="Rc5eb4e07c3374457" /><Relationship Type="http://schemas.openxmlformats.org/officeDocument/2006/relationships/slideLayout" Target="/ppt/slideLayouts/slideLayout7.xml" Id="R11647c6d10524169" /><Relationship Type="http://schemas.openxmlformats.org/officeDocument/2006/relationships/slideLayout" Target="/ppt/slideLayouts/slideLayout8.xml" Id="Rd39d267c793242af" /><Relationship Type="http://schemas.openxmlformats.org/officeDocument/2006/relationships/slideLayout" Target="/ppt/slideLayouts/slideLayout9.xml" Id="Re5cb391cabd94c71" /><Relationship Type="http://schemas.openxmlformats.org/officeDocument/2006/relationships/slideLayout" Target="/ppt/slideLayouts/slideLayout10.xml" Id="R01c6785a28244351" /><Relationship Type="http://schemas.openxmlformats.org/officeDocument/2006/relationships/slideLayout" Target="/ppt/slideLayouts/slideLayout11.xml" Id="Rfb03bd0a6ee64ed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fc4897d2d074a20" /><Relationship Type="http://schemas.openxmlformats.org/officeDocument/2006/relationships/slideLayout" Target="/ppt/slideLayouts/slideLayout12.xml" Id="Re668fddf97ec4591" /><Relationship Type="http://schemas.openxmlformats.org/officeDocument/2006/relationships/slideLayout" Target="/ppt/slideLayouts/slideLayout13.xml" Id="Rd7f46dfcf4704dd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d0e121d7bdf456f" /><Relationship Type="http://schemas.openxmlformats.org/officeDocument/2006/relationships/slideLayout" Target="/ppt/slideLayouts/slideLayout14.xml" Id="R852edfa8637a44b9" /><Relationship Type="http://schemas.openxmlformats.org/officeDocument/2006/relationships/slideLayout" Target="/ppt/slideLayouts/slideLayout15.xml" Id="R9e75168898464e3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b0744bb1484e74"/>
    <p:sldLayoutId xmlns:r="http://schemas.openxmlformats.org/officeDocument/2006/relationships" id="2147483650" r:id="R4c2dc7f8ead04a32"/>
    <p:sldLayoutId xmlns:r="http://schemas.openxmlformats.org/officeDocument/2006/relationships" id="2147483651" r:id="R921184c7ac88403d"/>
    <p:sldLayoutId xmlns:r="http://schemas.openxmlformats.org/officeDocument/2006/relationships" id="2147483652" r:id="R4583dc192f724e57"/>
    <p:sldLayoutId xmlns:r="http://schemas.openxmlformats.org/officeDocument/2006/relationships" id="2147483653" r:id="Ra3e4da928ec24834"/>
    <p:sldLayoutId xmlns:r="http://schemas.openxmlformats.org/officeDocument/2006/relationships" id="2147483654" r:id="Rc5eb4e07c3374457"/>
    <p:sldLayoutId xmlns:r="http://schemas.openxmlformats.org/officeDocument/2006/relationships" id="2147483655" r:id="R11647c6d10524169"/>
    <p:sldLayoutId xmlns:r="http://schemas.openxmlformats.org/officeDocument/2006/relationships" id="2147483656" r:id="Rd39d267c793242af"/>
    <p:sldLayoutId xmlns:r="http://schemas.openxmlformats.org/officeDocument/2006/relationships" id="2147483657" r:id="Re5cb391cabd94c71"/>
    <p:sldLayoutId xmlns:r="http://schemas.openxmlformats.org/officeDocument/2006/relationships" id="2147483658" r:id="R01c6785a28244351"/>
    <p:sldLayoutId xmlns:r="http://schemas.openxmlformats.org/officeDocument/2006/relationships" id="2147483659" r:id="Rfb03bd0a6ee64ed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668fddf97ec4591"/>
    <p:sldLayoutId xmlns:r="http://schemas.openxmlformats.org/officeDocument/2006/relationships" id="2147483662" r:id="Rd7f46dfcf4704dd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52edfa8637a44b9"/>
    <p:sldLayoutId xmlns:r="http://schemas.openxmlformats.org/officeDocument/2006/relationships" id="2147483665" r:id="R9e75168898464e3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cf01bb2f15454e" /><Relationship Type="http://schemas.openxmlformats.org/officeDocument/2006/relationships/chart" Target="/ppt/slides/charts/chart1.xml" Id="Rb2b864984a9646c2" /><Relationship Type="http://schemas.openxmlformats.org/officeDocument/2006/relationships/chart" Target="/ppt/slides/charts/chart2.xml" Id="R6ecd8d82376a4294" /><Relationship Type="http://schemas.openxmlformats.org/officeDocument/2006/relationships/notesSlide" Target="/ppt/notesSlides/notesSlide1.xml" Id="R03246975b45644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1dc087a006408a" /><Relationship Type="http://schemas.openxmlformats.org/officeDocument/2006/relationships/chart" Target="/ppt/slides/charts/chart3.xml" Id="R00c8c61828444475" /><Relationship Type="http://schemas.openxmlformats.org/officeDocument/2006/relationships/notesSlide" Target="/ppt/notesSlides/notesSlide2.xml" Id="R5a7622d223264e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4aef3503564360" /><Relationship Type="http://schemas.openxmlformats.org/officeDocument/2006/relationships/notesSlide" Target="/ppt/notesSlides/notesSlide3.xml" Id="Rbc6adea4557e4e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58b958512a49e4" /><Relationship Type="http://schemas.openxmlformats.org/officeDocument/2006/relationships/notesSlide" Target="/ppt/notesSlides/notesSlide4.xml" Id="R9a626cfe9945407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收到请求数</c:v>
          </c:tx>
          <c:spPr>
            <a:solidFill xmlns:a="http://schemas.openxmlformats.org/drawingml/2006/main">
              <a:srgbClr val="315F91"/>
            </a:solidFill>
          </c:spPr>
          <c:cat>
            <c:strLit>
              <c:ptCount val="4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</c:strLit>
          </c:cat>
          <c:val>
            <c:numLit>
              <c:formatCode>General</c:formatCode>
              <c:ptCount val="4"/>
              <c:pt idx="0">
                <c:v>120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0404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中位时间</c:v>
          </c:tx>
          <c:spPr>
            <a:ln xmlns:a="http://schemas.openxmlformats.org/drawingml/2006/main" w="28575">
              <a:solidFill>
                <a:srgbClr val="5B86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B86B2"/>
              </a:solidFill>
            </c:spPr>
          </c:marker>
          <c:cat>
            <c:strLit>
              <c:ptCount val="4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</c:strLit>
          </c:cat>
          <c:val>
            <c:numLit>
              <c:formatCode>0.0</c:formatCode>
              <c:ptCount val="4"/>
              <c:pt idx="0">
                <c:v>1.3</c:v>
              </c:pt>
              <c:pt idx="1">
                <c:v>1.5</c:v>
              </c:pt>
              <c:pt idx="2">
                <c:v>1.8</c:v>
              </c:pt>
              <c:pt idx="3">
                <c:v>2.4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5B86B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0404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.6"/>
          <c:min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F6F"/>
                </a:solidFill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请求数</c:v>
          </c:tx>
          <c:spPr>
            <a:solidFill xmlns:a="http://schemas.openxmlformats.org/drawingml/2006/main">
              <a:srgbClr val="315F91"/>
            </a:solidFill>
          </c:spPr>
          <c:cat>
            <c:strLit>
              <c:ptCount val="4"/>
              <c:pt idx="0">
                <c:v>材料不全</c:v>
              </c:pt>
              <c:pt idx="1">
                <c:v>权限确认</c:v>
              </c:pt>
              <c:pt idx="2">
                <c:v>需求反复</c:v>
              </c:pt>
              <c:pt idx="3">
                <c:v>其他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30</c:v>
              </c:pt>
              <c:pt idx="2">
                <c:v>16</c:v>
              </c:pt>
              <c:pt idx="3">
                <c:v>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7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404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请求量翻倍使首次响应同时变慢，但数据不支持唯一归因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历史观察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obs-header">
            <a:extLst xmlns:a="http://schemas.openxmlformats.org/drawingml/2006/main">
              <a:ext uri="{FF2B5EF4-FFF2-40B4-BE49-F238E27FC236}">
                <a16:creationId xmlns:a16="http://schemas.microsoft.com/office/drawing/2014/main" id="{6868356A-C86E-4EB2-B8AE-B4AB87BB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7096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16" name="obs-title">
            <a:extLst xmlns:a="http://schemas.openxmlformats.org/drawingml/2006/main">
              <a:ext uri="{FF2B5EF4-FFF2-40B4-BE49-F238E27FC236}">
                <a16:creationId xmlns:a16="http://schemas.microsoft.com/office/drawing/2014/main" id="{9A86B5B8-99B4-4642-B461-42A7E93D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62125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请求量上升，首次响应变慢</a:t>
            </a:r>
          </a:p>
        </p:txBody>
      </p:sp>
      <p:sp>
        <p:nvSpPr>
          <p:cNvPr id="17" name="obs-meta">
            <a:extLst xmlns:a="http://schemas.openxmlformats.org/drawingml/2006/main">
              <a:ext uri="{FF2B5EF4-FFF2-40B4-BE49-F238E27FC236}">
                <a16:creationId xmlns:a16="http://schemas.microsoft.com/office/drawing/2014/main" id="{0882DF1A-020F-43E5-8E49-7984320F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 · 1—4月</a:t>
            </a:r>
          </a:p>
        </p:txBody>
      </p:sp>
      <p:sp>
        <p:nvSpPr>
          <p:cNvPr id="18" name="obs-exhibit">
            <a:extLst xmlns:a="http://schemas.openxmlformats.org/drawingml/2006/main">
              <a:ext uri="{FF2B5EF4-FFF2-40B4-BE49-F238E27FC236}">
                <a16:creationId xmlns:a16="http://schemas.microsoft.com/office/drawing/2014/main" id="{48A1E472-344D-446F-99C8-618EE419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70961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19" name="obs-chart-label">
            <a:extLst xmlns:a="http://schemas.openxmlformats.org/drawingml/2006/main">
              <a:ext uri="{FF2B5EF4-FFF2-40B4-BE49-F238E27FC236}">
                <a16:creationId xmlns:a16="http://schemas.microsoft.com/office/drawing/2014/main" id="{B4B08D9C-1794-4011-AE9B-23C9D431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9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收到请求数（件）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809625" y="2400300"/>
          <a:ext xmlns:a="http://schemas.openxmlformats.org/drawingml/2006/main" cx="6524625" cy="1752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b864984a9646c2"/>
          </a:graphicData>
        </a:graphic>
      </p:graphicFrame>
      <p:sp>
        <p:nvSpPr>
          <p:cNvPr id="21" name="obs-divider">
            <a:extLst xmlns:a="http://schemas.openxmlformats.org/drawingml/2006/main">
              <a:ext uri="{FF2B5EF4-FFF2-40B4-BE49-F238E27FC236}">
                <a16:creationId xmlns:a16="http://schemas.microsoft.com/office/drawing/2014/main" id="{D5FB2063-9ABE-490D-92CF-2B9B2698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2" name="obs-trend-label">
            <a:extLst xmlns:a="http://schemas.openxmlformats.org/drawingml/2006/main">
              <a:ext uri="{FF2B5EF4-FFF2-40B4-BE49-F238E27FC236}">
                <a16:creationId xmlns:a16="http://schemas.microsoft.com/office/drawing/2014/main" id="{5566B297-0821-42A1-9E68-F448E2A2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6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首次响应中位时间（工作日）</a:t>
            </a:r>
          </a:p>
        </p:txBody>
      </p:sp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857250" y="4695825"/>
          <a:ext xmlns:a="http://schemas.openxmlformats.org/drawingml/2006/main" cx="6429375" cy="1257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cd8d82376a4294"/>
          </a:graphicData>
        </a:graphic>
      </p:graphicFrame>
      <p:sp>
        <p:nvSpPr>
          <p:cNvPr id="24" name="obs-side-header">
            <a:extLst xmlns:a="http://schemas.openxmlformats.org/drawingml/2006/main">
              <a:ext uri="{FF2B5EF4-FFF2-40B4-BE49-F238E27FC236}">
                <a16:creationId xmlns:a16="http://schemas.microsoft.com/office/drawing/2014/main" id="{44845010-D31D-42A1-BF4B-DEE1DD2C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25" name="obs-side-title">
            <a:extLst xmlns:a="http://schemas.openxmlformats.org/drawingml/2006/main">
              <a:ext uri="{FF2B5EF4-FFF2-40B4-BE49-F238E27FC236}">
                <a16:creationId xmlns:a16="http://schemas.microsoft.com/office/drawing/2014/main" id="{0406C969-4B52-43F6-AFB6-586FC501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62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这组数据支持什么</a:t>
            </a:r>
          </a:p>
        </p:txBody>
      </p:sp>
      <p:sp>
        <p:nvSpPr>
          <p:cNvPr id="26" name="obs-side-meta">
            <a:extLst xmlns:a="http://schemas.openxmlformats.org/drawingml/2006/main">
              <a:ext uri="{FF2B5EF4-FFF2-40B4-BE49-F238E27FC236}">
                <a16:creationId xmlns:a16="http://schemas.microsoft.com/office/drawing/2014/main" id="{374899AB-D50C-4E24-9581-ECCA5003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口径先固定</a:t>
            </a:r>
          </a:p>
        </p:txBody>
      </p:sp>
      <p:sp>
        <p:nvSpPr>
          <p:cNvPr id="27" name="obs-side-body">
            <a:extLst xmlns:a="http://schemas.openxmlformats.org/drawingml/2006/main">
              <a:ext uri="{FF2B5EF4-FFF2-40B4-BE49-F238E27FC236}">
                <a16:creationId xmlns:a16="http://schemas.microsoft.com/office/drawing/2014/main" id="{EE1D0993-922E-44D9-B072-98717637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810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8" name="obs-kpi">
            <a:extLst xmlns:a="http://schemas.openxmlformats.org/drawingml/2006/main">
              <a:ext uri="{FF2B5EF4-FFF2-40B4-BE49-F238E27FC236}">
                <a16:creationId xmlns:a16="http://schemas.microsoft.com/office/drawing/2014/main" id="{BC7FBECE-56D9-40C2-9B68-6560AE45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435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rPr>
              <a:t>60%</a:t>
            </a:r>
          </a:p>
        </p:txBody>
      </p:sp>
      <p:sp>
        <p:nvSpPr>
          <p:cNvPr id="29" name="obs-kpi-label">
            <a:extLst xmlns:a="http://schemas.openxmlformats.org/drawingml/2006/main">
              <a:ext uri="{FF2B5EF4-FFF2-40B4-BE49-F238E27FC236}">
                <a16:creationId xmlns:a16="http://schemas.microsoft.com/office/drawing/2014/main" id="{67BF82F7-7E4C-4603-833C-C0DB1ED1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4月两工作日内首次可执行答复比例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144 / 240</a:t>
            </a:r>
          </a:p>
        </p:txBody>
      </p:sp>
      <p:sp>
        <p:nvSpPr>
          <p:cNvPr id="30" name="obs-side-rule">
            <a:extLst xmlns:a="http://schemas.openxmlformats.org/drawingml/2006/main">
              <a:ext uri="{FF2B5EF4-FFF2-40B4-BE49-F238E27FC236}">
                <a16:creationId xmlns:a16="http://schemas.microsoft.com/office/drawing/2014/main" id="{A3C36145-FF82-4EE1-AB43-21335FD1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31" name="obs-side-p1">
            <a:extLst xmlns:a="http://schemas.openxmlformats.org/drawingml/2006/main">
              <a:ext uri="{FF2B5EF4-FFF2-40B4-BE49-F238E27FC236}">
                <a16:creationId xmlns:a16="http://schemas.microsoft.com/office/drawing/2014/main" id="{85682611-363A-4350-8806-E89D58E7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比例从1月的80%降至4月的60%；同时中位首次响应时间从1.3升至2.4个工作日。</a:t>
            </a:r>
          </a:p>
        </p:txBody>
      </p:sp>
      <p:sp>
        <p:nvSpPr>
          <p:cNvPr id="32" name="obs-side-p2">
            <a:extLst xmlns:a="http://schemas.openxmlformats.org/drawingml/2006/main">
              <a:ext uri="{FF2B5EF4-FFF2-40B4-BE49-F238E27FC236}">
                <a16:creationId xmlns:a16="http://schemas.microsoft.com/office/drawing/2014/main" id="{0998757B-2AE8-4DF7-8052-39A95EF3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服务人员数量四个月保持不变，工作量与响应压力同步上升。</a:t>
            </a:r>
          </a:p>
        </p:txBody>
      </p:sp>
      <p:sp>
        <p:nvSpPr>
          <p:cNvPr id="33" name="obs-side-limit">
            <a:extLst xmlns:a="http://schemas.openxmlformats.org/drawingml/2006/main">
              <a:ext uri="{FF2B5EF4-FFF2-40B4-BE49-F238E27FC236}">
                <a16:creationId xmlns:a16="http://schemas.microsoft.com/office/drawing/2014/main" id="{DBF4F6F3-C822-4C32-B133-8B069702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9590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4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解释边界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无对照实验，不能断言工作量增长是响应变慢的唯一原因。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材料与权限问题占4月未达标请求的75%，但不能直接等同于可消除量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原因复核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block-header">
            <a:extLst xmlns:a="http://schemas.openxmlformats.org/drawingml/2006/main">
              <a:ext uri="{FF2B5EF4-FFF2-40B4-BE49-F238E27FC236}">
                <a16:creationId xmlns:a16="http://schemas.microsoft.com/office/drawing/2014/main" id="{A18A0C43-E471-42A7-8795-8FF742E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7096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16" name="block-title">
            <a:extLst xmlns:a="http://schemas.openxmlformats.org/drawingml/2006/main">
              <a:ext uri="{FF2B5EF4-FFF2-40B4-BE49-F238E27FC236}">
                <a16:creationId xmlns:a16="http://schemas.microsoft.com/office/drawing/2014/main" id="{D5A0A2A4-CEFA-4E23-BD23-5F253B15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62125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材料与权限是主要阻塞，但不是可消除量</a:t>
            </a:r>
          </a:p>
        </p:txBody>
      </p:sp>
      <p:sp>
        <p:nvSpPr>
          <p:cNvPr id="17" name="block-meta">
            <a:extLst xmlns:a="http://schemas.openxmlformats.org/drawingml/2006/main">
              <a:ext uri="{FF2B5EF4-FFF2-40B4-BE49-F238E27FC236}">
                <a16:creationId xmlns:a16="http://schemas.microsoft.com/office/drawing/2014/main" id="{6785AE99-D6E4-4913-8597-0429095B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 · 4月复核</a:t>
            </a:r>
          </a:p>
        </p:txBody>
      </p:sp>
      <p:sp>
        <p:nvSpPr>
          <p:cNvPr id="18" name="block-exhibit">
            <a:extLst xmlns:a="http://schemas.openxmlformats.org/drawingml/2006/main">
              <a:ext uri="{FF2B5EF4-FFF2-40B4-BE49-F238E27FC236}">
                <a16:creationId xmlns:a16="http://schemas.microsoft.com/office/drawing/2014/main" id="{FF2F7B42-C927-4E6F-A49A-F9DAA642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70961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19" name="block-label">
            <a:extLst xmlns:a="http://schemas.openxmlformats.org/drawingml/2006/main">
              <a:ext uri="{FF2B5EF4-FFF2-40B4-BE49-F238E27FC236}">
                <a16:creationId xmlns:a16="http://schemas.microsoft.com/office/drawing/2014/main" id="{B75781C4-ADC2-4415-9D50-8BC98061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4月未达标的96个请求：每个请求仅记一个主要阻塞原因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1000125" y="2571750"/>
          <a:ext xmlns:a="http://schemas.openxmlformats.org/drawingml/2006/main" cx="623887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c8c61828444475"/>
          </a:graphicData>
        </a:graphic>
      </p:graphicFrame>
      <p:sp>
        <p:nvSpPr>
          <p:cNvPr id="21" name="block-foot">
            <a:extLst xmlns:a="http://schemas.openxmlformats.org/drawingml/2006/main">
              <a:ext uri="{FF2B5EF4-FFF2-40B4-BE49-F238E27FC236}">
                <a16:creationId xmlns:a16="http://schemas.microsoft.com/office/drawing/2014/main" id="{4987A35C-D55D-4E3A-8124-113AFA1B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材料不全与权限确认合计72个，占96个未达标请求的75%</a:t>
            </a:r>
          </a:p>
        </p:txBody>
      </p:sp>
      <p:sp>
        <p:nvSpPr>
          <p:cNvPr id="22" name="block-side-header">
            <a:extLst xmlns:a="http://schemas.openxmlformats.org/drawingml/2006/main">
              <a:ext uri="{FF2B5EF4-FFF2-40B4-BE49-F238E27FC236}">
                <a16:creationId xmlns:a16="http://schemas.microsoft.com/office/drawing/2014/main" id="{17669981-362F-4B3A-978A-B0E20A7B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23" name="block-side-title">
            <a:extLst xmlns:a="http://schemas.openxmlformats.org/drawingml/2006/main">
              <a:ext uri="{FF2B5EF4-FFF2-40B4-BE49-F238E27FC236}">
                <a16:creationId xmlns:a16="http://schemas.microsoft.com/office/drawing/2014/main" id="{47E85BDA-35D0-4A40-BA8D-E336D5FD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62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解释与边界</a:t>
            </a:r>
          </a:p>
        </p:txBody>
      </p:sp>
      <p:sp>
        <p:nvSpPr>
          <p:cNvPr id="24" name="block-side-meta">
            <a:extLst xmlns:a="http://schemas.openxmlformats.org/drawingml/2006/main">
              <a:ext uri="{FF2B5EF4-FFF2-40B4-BE49-F238E27FC236}">
                <a16:creationId xmlns:a16="http://schemas.microsoft.com/office/drawing/2014/main" id="{7B794835-923C-4E32-B504-90774636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分类≠预测</a:t>
            </a:r>
          </a:p>
        </p:txBody>
      </p:sp>
      <p:sp>
        <p:nvSpPr>
          <p:cNvPr id="25" name="block-side-body">
            <a:extLst xmlns:a="http://schemas.openxmlformats.org/drawingml/2006/main">
              <a:ext uri="{FF2B5EF4-FFF2-40B4-BE49-F238E27FC236}">
                <a16:creationId xmlns:a16="http://schemas.microsoft.com/office/drawing/2014/main" id="{27C969CB-873D-4D4C-818E-BB00D045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810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6" name="block-kpi">
            <a:extLst xmlns:a="http://schemas.openxmlformats.org/drawingml/2006/main">
              <a:ext uri="{FF2B5EF4-FFF2-40B4-BE49-F238E27FC236}">
                <a16:creationId xmlns:a16="http://schemas.microsoft.com/office/drawing/2014/main" id="{3FE4560A-98CF-4025-B95E-C04E5786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5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360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rPr>
              <a:t>72 / 96</a:t>
            </a:r>
          </a:p>
        </p:txBody>
      </p:sp>
      <p:sp>
        <p:nvSpPr>
          <p:cNvPr id="27" name="block-kpi-label">
            <a:extLst xmlns:a="http://schemas.openxmlformats.org/drawingml/2006/main">
              <a:ext uri="{FF2B5EF4-FFF2-40B4-BE49-F238E27FC236}">
                <a16:creationId xmlns:a16="http://schemas.microsoft.com/office/drawing/2014/main" id="{76DCE9C2-70D2-423F-967D-F796565F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材料与权限类阻塞的复核占比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75%</a:t>
            </a:r>
          </a:p>
        </p:txBody>
      </p:sp>
      <p:sp>
        <p:nvSpPr>
          <p:cNvPr id="28" name="block-rule">
            <a:extLst xmlns:a="http://schemas.openxmlformats.org/drawingml/2006/main">
              <a:ext uri="{FF2B5EF4-FFF2-40B4-BE49-F238E27FC236}">
                <a16:creationId xmlns:a16="http://schemas.microsoft.com/office/drawing/2014/main" id="{6B89FEFF-24D1-464B-8AB7-94B26837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9" name="block-defs">
            <a:extLst xmlns:a="http://schemas.openxmlformats.org/drawingml/2006/main">
              <a:ext uri="{FF2B5EF4-FFF2-40B4-BE49-F238E27FC236}">
                <a16:creationId xmlns:a16="http://schemas.microsoft.com/office/drawing/2014/main" id="{283F495E-8412-43DC-BDDE-F8AFD24B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材料不全：字段缺失或未附样本文件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权限确认：授权人或授权范围未确认</a:t>
            </a:r>
          </a:p>
        </p:txBody>
      </p:sp>
      <p:sp>
        <p:nvSpPr>
          <p:cNvPr id="30" name="block-limit">
            <a:extLst xmlns:a="http://schemas.openxmlformats.org/drawingml/2006/main">
              <a:ext uri="{FF2B5EF4-FFF2-40B4-BE49-F238E27FC236}">
                <a16:creationId xmlns:a16="http://schemas.microsoft.com/office/drawing/2014/main" id="{EFF19574-8C90-41D9-8BAA-1B5A82F1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四类原因彼此互斥且合计完整；复核分类不等于各措施可以消除的数量，也不能直接预测节省工时。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B先试行更贴近主要阻塞环节，A仅作高峰应急；C留到规则稳定后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方案比较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options-header">
            <a:extLst xmlns:a="http://schemas.openxmlformats.org/drawingml/2006/main">
              <a:ext uri="{FF2B5EF4-FFF2-40B4-BE49-F238E27FC236}">
                <a16:creationId xmlns:a16="http://schemas.microsoft.com/office/drawing/2014/main" id="{C7A66240-5F07-4FA8-8411-3AE98972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114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16" name="options-title">
            <a:extLst xmlns:a="http://schemas.openxmlformats.org/drawingml/2006/main">
              <a:ext uri="{FF2B5EF4-FFF2-40B4-BE49-F238E27FC236}">
                <a16:creationId xmlns:a16="http://schemas.microsoft.com/office/drawing/2014/main" id="{EAC7EE86-E344-4305-8A9A-77230CF7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62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B先试行更贴近主要阻塞，A保留作高峰应急，C等待规则稳定</a:t>
            </a:r>
          </a:p>
        </p:txBody>
      </p:sp>
      <p:sp>
        <p:nvSpPr>
          <p:cNvPr id="17" name="options-meta">
            <a:extLst xmlns:a="http://schemas.openxmlformats.org/drawingml/2006/main">
              <a:ext uri="{FF2B5EF4-FFF2-40B4-BE49-F238E27FC236}">
                <a16:creationId xmlns:a16="http://schemas.microsoft.com/office/drawing/2014/main" id="{33351420-A6E2-478F-8215-B8F4A4F6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 · 内部方案估计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23875" y="2076450"/>
          <a:ext xmlns:a="http://schemas.openxmlformats.org/drawingml/2006/main" cx="11144250" cy="3124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2857500"/>
                <a:gridCol w="2857500"/>
                <a:gridCol w="3333750"/>
              </a:tblGrid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315F9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91440" marR="91440" marT="45720" marB="45720" anchor="ctr">
                    <a:solidFill>
                      <a:srgbClr val="DCEA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315F9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临时增加值班</a:t>
                      </a:r>
                    </a:p>
                  </a:txBody>
                  <a:tcPr marL="91440" marR="91440" marT="45720" marB="45720" anchor="ctr">
                    <a:solidFill>
                      <a:srgbClr val="DCEA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统一申请入口</a:t>
                      </a:r>
                    </a:p>
                  </a:txBody>
                  <a:tcPr marL="91440" marR="91440" marT="45720" marB="45720" anchor="ctr">
                    <a:solidFill>
                      <a:srgbClr val="315F9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315F9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批量自动预检</a:t>
                      </a:r>
                    </a:p>
                  </a:txBody>
                  <a:tcPr marL="91440" marR="91440" marT="45720" marB="45720" anchor="ctr">
                    <a:solidFill>
                      <a:srgbClr val="DCEAF5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直接作用环节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人工响应排队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提交时字段与授权校验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重复性材料格式检查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初期投入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8人日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12人日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30人日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预计上线周期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2周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持续维护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每周2人日值班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每周0.5人日规则维护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每周1人日规则维护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可调配值班人员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三类请求字段达成一致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稳定字段及可机器判断的规则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6314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主要限制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不直接解决材料缺失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不消除复杂需求沟通</a:t>
                      </a:r>
                    </a:p>
                  </a:txBody>
                  <a:tcPr marL="91440" marR="91440" marT="45720" marB="45720" anchor="ctr">
                    <a:solidFill>
                      <a:srgbClr val="F0F6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不替代人工授权判断</a:t>
                      </a:r>
                    </a:p>
                  </a:txBody>
                  <a:tcPr marL="91440" marR="91440" marT="45720" marB="4572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9" name="options-bottom-rule">
            <a:extLst xmlns:a="http://schemas.openxmlformats.org/drawingml/2006/main">
              <a:ext uri="{FF2B5EF4-FFF2-40B4-BE49-F238E27FC236}">
                <a16:creationId xmlns:a16="http://schemas.microsoft.com/office/drawing/2014/main" id="{B3FB0DBE-A410-417A-8A67-B7A56314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72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0" name="options-foot">
            <a:extLst xmlns:a="http://schemas.openxmlformats.org/drawingml/2006/main">
              <a:ext uri="{FF2B5EF4-FFF2-40B4-BE49-F238E27FC236}">
                <a16:creationId xmlns:a16="http://schemas.microsoft.com/office/drawing/2014/main" id="{6AA11E15-A5D5-4333-9404-8B05034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建议条件：B尚未实施，不能宣称已有改善；投入、周期与维护均为内部方案估计，不能与响应改善直接换算。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六周试点必须按依赖推进，先验证入口规则再决定扩大范围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试点计划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ilot-header">
            <a:extLst xmlns:a="http://schemas.openxmlformats.org/drawingml/2006/main">
              <a:ext uri="{FF2B5EF4-FFF2-40B4-BE49-F238E27FC236}">
                <a16:creationId xmlns:a16="http://schemas.microsoft.com/office/drawing/2014/main" id="{822E2F71-55AD-4D04-8B5C-F9F9538E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114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16" name="pilot-title">
            <a:extLst xmlns:a="http://schemas.openxmlformats.org/drawingml/2006/main">
              <a:ext uri="{FF2B5EF4-FFF2-40B4-BE49-F238E27FC236}">
                <a16:creationId xmlns:a16="http://schemas.microsoft.com/office/drawing/2014/main" id="{4AEC44E5-F242-4D1D-9B12-F9E53D80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62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六周试点按依赖推进，先验证入口规则再决定扩大范围</a:t>
            </a:r>
          </a:p>
        </p:txBody>
      </p:sp>
      <p:sp>
        <p:nvSpPr>
          <p:cNvPr id="17" name="pilot-meta">
            <a:extLst xmlns:a="http://schemas.openxmlformats.org/drawingml/2006/main">
              <a:ext uri="{FF2B5EF4-FFF2-40B4-BE49-F238E27FC236}">
                <a16:creationId xmlns:a16="http://schemas.microsoft.com/office/drawing/2014/main" id="{508EFD66-1C46-449D-A23E-9C567946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5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 · 未来计划</a:t>
            </a:r>
          </a:p>
        </p:txBody>
      </p:sp>
      <p:sp>
        <p:nvSpPr>
          <p:cNvPr id="18" name="pilot-arrow-1">
            <a:extLst xmlns:a="http://schemas.openxmlformats.org/drawingml/2006/main">
              <a:ext uri="{FF2B5EF4-FFF2-40B4-BE49-F238E27FC236}">
                <a16:creationId xmlns:a16="http://schemas.microsoft.com/office/drawing/2014/main" id="{CDAC166C-BABE-45D5-89BE-766B4093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575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86B2"/>
          </a:solidFill>
          <a:ln xmlns:a="http://schemas.openxmlformats.org/drawingml/2006/main" w="0">
            <a:solidFill>
              <a:srgbClr val="5B86B2"/>
            </a:solidFill>
            <a:prstDash val="solid"/>
          </a:ln>
        </p:spPr>
      </p:sp>
      <p:sp>
        <p:nvSpPr>
          <p:cNvPr id="19" name="pilot-arrow-2">
            <a:extLst xmlns:a="http://schemas.openxmlformats.org/drawingml/2006/main">
              <a:ext uri="{FF2B5EF4-FFF2-40B4-BE49-F238E27FC236}">
                <a16:creationId xmlns:a16="http://schemas.microsoft.com/office/drawing/2014/main" id="{634F43A2-3CAF-41D7-8344-FDA0E2EF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575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86B2"/>
          </a:solidFill>
          <a:ln xmlns:a="http://schemas.openxmlformats.org/drawingml/2006/main" w="0">
            <a:solidFill>
              <a:srgbClr val="5B86B2"/>
            </a:solidFill>
            <a:prstDash val="solid"/>
          </a:ln>
        </p:spPr>
      </p:sp>
      <p:sp>
        <p:nvSpPr>
          <p:cNvPr id="20" name="pilot-box-1">
            <a:extLst xmlns:a="http://schemas.openxmlformats.org/drawingml/2006/main">
              <a:ext uri="{FF2B5EF4-FFF2-40B4-BE49-F238E27FC236}">
                <a16:creationId xmlns:a16="http://schemas.microsoft.com/office/drawing/2014/main" id="{5BCA9B72-E60C-4038-B866-D2DF8C30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33337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1" name="pilot-head-1">
            <a:extLst xmlns:a="http://schemas.openxmlformats.org/drawingml/2006/main">
              <a:ext uri="{FF2B5EF4-FFF2-40B4-BE49-F238E27FC236}">
                <a16:creationId xmlns:a16="http://schemas.microsoft.com/office/drawing/2014/main" id="{9BD89257-4B49-43BC-8C69-F5A9EB64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22" name="pilot-title-1">
            <a:extLst xmlns:a="http://schemas.openxmlformats.org/drawingml/2006/main">
              <a:ext uri="{FF2B5EF4-FFF2-40B4-BE49-F238E27FC236}">
                <a16:creationId xmlns:a16="http://schemas.microsoft.com/office/drawing/2014/main" id="{75068B9C-C06D-47E5-9EEE-0BDB573D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241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4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第1—2周 统一规则</a:t>
            </a:r>
          </a:p>
        </p:txBody>
      </p:sp>
      <p:sp>
        <p:nvSpPr>
          <p:cNvPr id="23" name="pilot-body-1">
            <a:extLst xmlns:a="http://schemas.openxmlformats.org/drawingml/2006/main">
              <a:ext uri="{FF2B5EF4-FFF2-40B4-BE49-F238E27FC236}">
                <a16:creationId xmlns:a16="http://schemas.microsoft.com/office/drawing/2014/main" id="{FB77E4C4-A52F-44AD-B337-1DAC14D4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76550"/>
            <a:ext cx="29908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负责人联合三类经办人统一字段与授权责任；形成字段字典、授权清单和统一入口。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进入条件：三类请求完成一轮实际样本填写检查，无关键必填字段缺失。</a:t>
            </a:r>
          </a:p>
        </p:txBody>
      </p:sp>
      <p:sp>
        <p:nvSpPr>
          <p:cNvPr id="24" name="pilot-box-2">
            <a:extLst xmlns:a="http://schemas.openxmlformats.org/drawingml/2006/main">
              <a:ext uri="{FF2B5EF4-FFF2-40B4-BE49-F238E27FC236}">
                <a16:creationId xmlns:a16="http://schemas.microsoft.com/office/drawing/2014/main" id="{51928245-2EA4-4B4C-9C50-B65B8C1A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B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5" name="pilot-head-2">
            <a:extLst xmlns:a="http://schemas.openxmlformats.org/drawingml/2006/main">
              <a:ext uri="{FF2B5EF4-FFF2-40B4-BE49-F238E27FC236}">
                <a16:creationId xmlns:a16="http://schemas.microsoft.com/office/drawing/2014/main" id="{63B75401-09C1-4F04-AB65-92C7C977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6" name="pilot-title-2">
            <a:extLst xmlns:a="http://schemas.openxmlformats.org/drawingml/2006/main">
              <a:ext uri="{FF2B5EF4-FFF2-40B4-BE49-F238E27FC236}">
                <a16:creationId xmlns:a16="http://schemas.microsoft.com/office/drawing/2014/main" id="{AB990D1E-5D95-47CB-BC96-84393C5D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241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4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第3—4周 先试数据提取</a:t>
            </a:r>
          </a:p>
        </p:txBody>
      </p:sp>
      <p:sp>
        <p:nvSpPr>
          <p:cNvPr id="27" name="pilot-body-2">
            <a:extLst xmlns:a="http://schemas.openxmlformats.org/drawingml/2006/main">
              <a:ext uri="{FF2B5EF4-FFF2-40B4-BE49-F238E27FC236}">
                <a16:creationId xmlns:a16="http://schemas.microsoft.com/office/drawing/2014/main" id="{1282D45A-5316-44A6-8C47-85D37E85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76550"/>
            <a:ext cx="29908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仅在数据提取请求中试用；保存缺失字段、退回原因和首次响应记录。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扩大条件：记录完整，且未发现阻断提交的高频规则错误；否则回到规则修订。</a:t>
            </a:r>
          </a:p>
        </p:txBody>
      </p:sp>
      <p:sp>
        <p:nvSpPr>
          <p:cNvPr id="28" name="pilot-box-3">
            <a:extLst xmlns:a="http://schemas.openxmlformats.org/drawingml/2006/main">
              <a:ext uri="{FF2B5EF4-FFF2-40B4-BE49-F238E27FC236}">
                <a16:creationId xmlns:a16="http://schemas.microsoft.com/office/drawing/2014/main" id="{D9F03422-6F7F-4556-B5DB-256ED882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09800"/>
            <a:ext cx="33337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29" name="pilot-head-3">
            <a:extLst xmlns:a="http://schemas.openxmlformats.org/drawingml/2006/main">
              <a:ext uri="{FF2B5EF4-FFF2-40B4-BE49-F238E27FC236}">
                <a16:creationId xmlns:a16="http://schemas.microsoft.com/office/drawing/2014/main" id="{E2D9893B-E08E-4450-AE31-69EB9A73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0980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EAF2F9"/>
            </a:solidFill>
            <a:prstDash val="solid"/>
          </a:ln>
        </p:spPr>
      </p:sp>
      <p:sp>
        <p:nvSpPr>
          <p:cNvPr id="30" name="pilot-title-3">
            <a:extLst xmlns:a="http://schemas.openxmlformats.org/drawingml/2006/main">
              <a:ext uri="{FF2B5EF4-FFF2-40B4-BE49-F238E27FC236}">
                <a16:creationId xmlns:a16="http://schemas.microsoft.com/office/drawing/2014/main" id="{7D63A0D1-1FAD-40AA-90D3-FFD5B835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241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4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第5—6周 复核后扩面</a:t>
            </a:r>
          </a:p>
        </p:txBody>
      </p:sp>
      <p:sp>
        <p:nvSpPr>
          <p:cNvPr id="31" name="pilot-body-3">
            <a:extLst xmlns:a="http://schemas.openxmlformats.org/drawingml/2006/main">
              <a:ext uri="{FF2B5EF4-FFF2-40B4-BE49-F238E27FC236}">
                <a16:creationId xmlns:a16="http://schemas.microsoft.com/office/drawing/2014/main" id="{CB177587-62DC-4631-83B3-5FFEA7D6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76550"/>
            <a:ext cx="29908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负责人复核试点数据，再决定是否扩大到数据清洗和权限开通。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评估：两工作日内响应比例、材料退回比例、经办人维护时间。目标值由试点基线确定。</a:t>
            </a:r>
          </a:p>
        </p:txBody>
      </p:sp>
      <p:sp>
        <p:nvSpPr>
          <p:cNvPr id="32" name="pilot-eval">
            <a:extLst xmlns:a="http://schemas.openxmlformats.org/drawingml/2006/main">
              <a:ext uri="{FF2B5EF4-FFF2-40B4-BE49-F238E27FC236}">
                <a16:creationId xmlns:a16="http://schemas.microsoft.com/office/drawing/2014/main" id="{0A7A2D7A-6AD0-4C94-B897-FB1944A0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11144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33" name="pilot-eval-label">
            <a:extLst xmlns:a="http://schemas.openxmlformats.org/drawingml/2006/main">
              <a:ext uri="{FF2B5EF4-FFF2-40B4-BE49-F238E27FC236}">
                <a16:creationId xmlns:a16="http://schemas.microsoft.com/office/drawing/2014/main" id="{0EB96BDE-1ADC-4D3A-A2EC-487A1B8E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扩大前共同门槛</a:t>
            </a:r>
          </a:p>
        </p:txBody>
      </p:sp>
      <p:sp>
        <p:nvSpPr>
          <p:cNvPr id="34" name="pilot-eval-body">
            <a:extLst xmlns:a="http://schemas.openxmlformats.org/drawingml/2006/main">
              <a:ext uri="{FF2B5EF4-FFF2-40B4-BE49-F238E27FC236}">
                <a16:creationId xmlns:a16="http://schemas.microsoft.com/office/drawing/2014/main" id="{E8C7F64D-2604-47DE-A5F2-58073BE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1015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先确保样本可追踪、规则不阻断提交，再根据试点基线判断是否扩面；不把响应速度单独当作成功标准。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2026-09-08T15:51:10.1100000Z</dcterms:created>
  <dcterms:modified xsi:type="dcterms:W3CDTF">2026-09-08T15:51:10.1100000Z</dcterms:modified>
</coreProperties>
</file>