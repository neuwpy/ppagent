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15838657049a0" /><Relationship Type="http://schemas.openxmlformats.org/officeDocument/2006/relationships/extended-properties" Target="/docProps/app.xml" Id="R04a616d10f524c22" /><Relationship Type="http://schemas.openxmlformats.org/officeDocument/2006/relationships/officeDocument" Target="/ppt/presentation.xml" Id="Rf3f2c0b4969f4e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5e0cd95c864e6d"/>
    <p:sldMasterId xmlns:r="http://schemas.openxmlformats.org/officeDocument/2006/relationships" id="2147483660" r:id="R7746032d017b46da"/>
    <p:sldMasterId xmlns:r="http://schemas.openxmlformats.org/officeDocument/2006/relationships" id="2147483663" r:id="Rdd50ee93c29247f3"/>
  </p:sldMasterIdLst>
  <p:notesMasterIdLst>
    <p:notesMasterId xmlns:r="http://schemas.openxmlformats.org/officeDocument/2006/relationships" r:id="Rd2bcce8e9a36457d"/>
  </p:notesMasterIdLst>
  <p:sldIdLst>
    <p:sldId xmlns:r="http://schemas.openxmlformats.org/officeDocument/2006/relationships" id="256" r:id="Ra3550b5889f84cde"/>
    <p:sldId xmlns:r="http://schemas.openxmlformats.org/officeDocument/2006/relationships" id="257" r:id="Rf9a26ccbfb4a464e"/>
    <p:sldId xmlns:r="http://schemas.openxmlformats.org/officeDocument/2006/relationships" id="258" r:id="R0a5789d79ca446f7"/>
    <p:sldId xmlns:r="http://schemas.openxmlformats.org/officeDocument/2006/relationships" id="259" r:id="Rd08ac73e4f4041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402bee7ac14307" /><Relationship Type="http://schemas.openxmlformats.org/officeDocument/2006/relationships/slideMaster" Target="/ppt/slideMasters/slideMaster1.xml" Id="R555e0cd95c864e6d" /><Relationship Type="http://schemas.openxmlformats.org/officeDocument/2006/relationships/slideMaster" Target="/ppt/slideMasters/slideMaster2.xml" Id="R7746032d017b46da" /><Relationship Type="http://schemas.openxmlformats.org/officeDocument/2006/relationships/slideMaster" Target="/ppt/slideMasters/slideMaster3.xml" Id="Rdd50ee93c29247f3" /><Relationship Type="http://schemas.openxmlformats.org/officeDocument/2006/relationships/notesMaster" Target="/ppt/notesMasters/notesMaster1.xml" Id="Rd2bcce8e9a36457d" /><Relationship Type="http://schemas.openxmlformats.org/officeDocument/2006/relationships/presProps" Target="/ppt/presProps.xml" Id="R60be148be2974ff8" /><Relationship Type="http://schemas.openxmlformats.org/officeDocument/2006/relationships/viewProps" Target="/ppt/viewProps.xml" Id="R9a6bba43e8be42c9" /><Relationship Type="http://schemas.openxmlformats.org/officeDocument/2006/relationships/tableStyles" Target="/ppt/tableStyles.xml" Id="R5f1c7d7590894de3" /><Relationship Type="http://schemas.openxmlformats.org/officeDocument/2006/relationships/slide" Target="/ppt/slides/slide1.xml" Id="Ra3550b5889f84cde" /><Relationship Type="http://schemas.openxmlformats.org/officeDocument/2006/relationships/slide" Target="/ppt/slides/slide2.xml" Id="Rf9a26ccbfb4a464e" /><Relationship Type="http://schemas.openxmlformats.org/officeDocument/2006/relationships/slide" Target="/ppt/slides/slide3.xml" Id="R0a5789d79ca446f7" /><Relationship Type="http://schemas.openxmlformats.org/officeDocument/2006/relationships/slide" Target="/ppt/slides/slide4.xml" Id="Rd08ac73e4f40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a20e88f19054b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ff797b78c471c" /><Relationship Type="http://schemas.openxmlformats.org/officeDocument/2006/relationships/notesMaster" Target="/ppt/notesMasters/notesMaster1.xml" Id="R25d6cd3f1d684b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f23af795ec4bfc" /><Relationship Type="http://schemas.openxmlformats.org/officeDocument/2006/relationships/notesMaster" Target="/ppt/notesMasters/notesMaster1.xml" Id="Re1fb69b448bb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55ba7f18014980" /><Relationship Type="http://schemas.openxmlformats.org/officeDocument/2006/relationships/notesMaster" Target="/ppt/notesMasters/notesMaster1.xml" Id="Rb95346c3a7d6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aefb034c3f411b" /><Relationship Type="http://schemas.openxmlformats.org/officeDocument/2006/relationships/notesMaster" Target="/ppt/notesMasters/notesMaster1.xml" Id="Re88b6102f7344d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PPagenT：route-b-evidence → route-b-c01-multi-evidence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PPagenT：route-b-decomposition → route-b-evidence-decomposition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PPagenT：route-b-eval-grid → route-b-c03-eval-grid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PPagenT：route-b-workplan → route-b-c06-workplan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b499b26bc46ef" /><Relationship Type="http://schemas.openxmlformats.org/officeDocument/2006/relationships/image" Target="/ppt/media/image.jpeg" Id="Rc476c56fa0014410" /><Relationship Type="http://schemas.openxmlformats.org/officeDocument/2006/relationships/image" Target="/ppt/media/image.png" Id="Ra79f7320a12e4701" /><Relationship Type="http://schemas.openxmlformats.org/officeDocument/2006/relationships/image" Target="/ppt/media/image2.png" Id="R9c7dc7aa15f54e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18d5f67564e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f16fc4c814419" /><Relationship Type="http://schemas.openxmlformats.org/officeDocument/2006/relationships/image" Target="/ppt/media/image3.png" Id="Rfd503d7ffe5e4f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51f55f5584629" /><Relationship Type="http://schemas.openxmlformats.org/officeDocument/2006/relationships/image" Target="/ppt/media/image4.png" Id="Ra2cfd10a7fd845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d69cc3d6145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b59ed77fe43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c9e620c9e4e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b046a207f4a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9a96fda8943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3afd58c8e49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7cc57b5e442b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e9750c6421438f" /><Relationship Type="http://schemas.openxmlformats.org/officeDocument/2006/relationships/image" Target="/ppt/media/image5.png" Id="R29a0f710607142a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acda6844674ea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c0eb21b315c4169" /><Relationship Type="http://schemas.openxmlformats.org/officeDocument/2006/relationships/image" Target="/ppt/media/image5.png" Id="R82a0963e3eed471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c00010834a439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6c56fa001441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f7320a12e470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dc7aa15f54e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03d7ffe5e4fb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fd10a7fd8451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0f710607142a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0963e3eed471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67d198e6f4e7d" /><Relationship Type="http://schemas.openxmlformats.org/officeDocument/2006/relationships/slideLayout" Target="/ppt/slideLayouts/slideLayout1.xml" Id="Ra350f159b0424c0e" /><Relationship Type="http://schemas.openxmlformats.org/officeDocument/2006/relationships/slideLayout" Target="/ppt/slideLayouts/slideLayout2.xml" Id="R937b79d1ce85413c" /><Relationship Type="http://schemas.openxmlformats.org/officeDocument/2006/relationships/slideLayout" Target="/ppt/slideLayouts/slideLayout3.xml" Id="Ra4f2d02c2542486a" /><Relationship Type="http://schemas.openxmlformats.org/officeDocument/2006/relationships/slideLayout" Target="/ppt/slideLayouts/slideLayout4.xml" Id="R5f5b4108a3a04efa" /><Relationship Type="http://schemas.openxmlformats.org/officeDocument/2006/relationships/slideLayout" Target="/ppt/slideLayouts/slideLayout5.xml" Id="R88a762ab85504252" /><Relationship Type="http://schemas.openxmlformats.org/officeDocument/2006/relationships/slideLayout" Target="/ppt/slideLayouts/slideLayout6.xml" Id="R9cf4e10473df4a09" /><Relationship Type="http://schemas.openxmlformats.org/officeDocument/2006/relationships/slideLayout" Target="/ppt/slideLayouts/slideLayout7.xml" Id="R389e0c18a88d4cce" /><Relationship Type="http://schemas.openxmlformats.org/officeDocument/2006/relationships/slideLayout" Target="/ppt/slideLayouts/slideLayout8.xml" Id="Rdb00b74141c145b2" /><Relationship Type="http://schemas.openxmlformats.org/officeDocument/2006/relationships/slideLayout" Target="/ppt/slideLayouts/slideLayout9.xml" Id="Re47571dad1fc453f" /><Relationship Type="http://schemas.openxmlformats.org/officeDocument/2006/relationships/slideLayout" Target="/ppt/slideLayouts/slideLayout10.xml" Id="R72d81785a77941e9" /><Relationship Type="http://schemas.openxmlformats.org/officeDocument/2006/relationships/slideLayout" Target="/ppt/slideLayouts/slideLayout11.xml" Id="R83b135df52054c5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75f13b352dd4799" /><Relationship Type="http://schemas.openxmlformats.org/officeDocument/2006/relationships/slideLayout" Target="/ppt/slideLayouts/slideLayout12.xml" Id="Rf9a55bee7b67422d" /><Relationship Type="http://schemas.openxmlformats.org/officeDocument/2006/relationships/slideLayout" Target="/ppt/slideLayouts/slideLayout13.xml" Id="Rb89e73329d4d4ad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50e07ec5f0b44a6" /><Relationship Type="http://schemas.openxmlformats.org/officeDocument/2006/relationships/slideLayout" Target="/ppt/slideLayouts/slideLayout14.xml" Id="Re93df1338266425b" /><Relationship Type="http://schemas.openxmlformats.org/officeDocument/2006/relationships/slideLayout" Target="/ppt/slideLayouts/slideLayout15.xml" Id="R130556bedada4e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50f159b0424c0e"/>
    <p:sldLayoutId xmlns:r="http://schemas.openxmlformats.org/officeDocument/2006/relationships" id="2147483650" r:id="R937b79d1ce85413c"/>
    <p:sldLayoutId xmlns:r="http://schemas.openxmlformats.org/officeDocument/2006/relationships" id="2147483651" r:id="Ra4f2d02c2542486a"/>
    <p:sldLayoutId xmlns:r="http://schemas.openxmlformats.org/officeDocument/2006/relationships" id="2147483652" r:id="R5f5b4108a3a04efa"/>
    <p:sldLayoutId xmlns:r="http://schemas.openxmlformats.org/officeDocument/2006/relationships" id="2147483653" r:id="R88a762ab85504252"/>
    <p:sldLayoutId xmlns:r="http://schemas.openxmlformats.org/officeDocument/2006/relationships" id="2147483654" r:id="R9cf4e10473df4a09"/>
    <p:sldLayoutId xmlns:r="http://schemas.openxmlformats.org/officeDocument/2006/relationships" id="2147483655" r:id="R389e0c18a88d4cce"/>
    <p:sldLayoutId xmlns:r="http://schemas.openxmlformats.org/officeDocument/2006/relationships" id="2147483656" r:id="Rdb00b74141c145b2"/>
    <p:sldLayoutId xmlns:r="http://schemas.openxmlformats.org/officeDocument/2006/relationships" id="2147483657" r:id="Re47571dad1fc453f"/>
    <p:sldLayoutId xmlns:r="http://schemas.openxmlformats.org/officeDocument/2006/relationships" id="2147483658" r:id="R72d81785a77941e9"/>
    <p:sldLayoutId xmlns:r="http://schemas.openxmlformats.org/officeDocument/2006/relationships" id="2147483659" r:id="R83b135df52054c5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9a55bee7b67422d"/>
    <p:sldLayoutId xmlns:r="http://schemas.openxmlformats.org/officeDocument/2006/relationships" id="2147483662" r:id="Rb89e73329d4d4ad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93df1338266425b"/>
    <p:sldLayoutId xmlns:r="http://schemas.openxmlformats.org/officeDocument/2006/relationships" id="2147483665" r:id="R130556bedada4ef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22a4cd9f044507" /><Relationship Type="http://schemas.openxmlformats.org/officeDocument/2006/relationships/notesSlide" Target="/ppt/notesSlides/notesSlide1.xml" Id="Rc4e69f294bc84d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0a4b5940084cb2" /><Relationship Type="http://schemas.openxmlformats.org/officeDocument/2006/relationships/notesSlide" Target="/ppt/notesSlides/notesSlide2.xml" Id="R85319d65db83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6338dd1f6e4389" /><Relationship Type="http://schemas.openxmlformats.org/officeDocument/2006/relationships/notesSlide" Target="/ppt/notesSlides/notesSlide3.xml" Id="R6a44b3ee5c0a4e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3afe14c2744acb" /><Relationship Type="http://schemas.openxmlformats.org/officeDocument/2006/relationships/notesSlide" Target="/ppt/notesSlides/notesSlide4.xml" Id="R9968d51e593848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请求量翻倍后，首响及时率降至60%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运行观察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1-kicker">
            <a:extLst xmlns:a="http://schemas.openxmlformats.org/drawingml/2006/main">
              <a:ext uri="{FF2B5EF4-FFF2-40B4-BE49-F238E27FC236}">
                <a16:creationId xmlns:a16="http://schemas.microsoft.com/office/drawing/2014/main" id="{D280F95A-39C0-4671-9D7D-557773E3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主证据｜四个月同口径观察</a:t>
            </a:r>
          </a:p>
        </p:txBody>
      </p:sp>
      <p:sp>
        <p:nvSpPr>
          <p:cNvPr id="16" name="p1-lead">
            <a:extLst xmlns:a="http://schemas.openxmlformats.org/drawingml/2006/main">
              <a:ext uri="{FF2B5EF4-FFF2-40B4-BE49-F238E27FC236}">
                <a16:creationId xmlns:a16="http://schemas.microsoft.com/office/drawing/2014/main" id="{C625C561-C6F8-40BD-82CD-F7726FAE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请求量翻倍后，首响及时率降至60%</a:t>
            </a:r>
          </a:p>
        </p:txBody>
      </p:sp>
      <p:sp>
        <p:nvSpPr>
          <p:cNvPr id="17" name="p1-context">
            <a:extLst xmlns:a="http://schemas.openxmlformats.org/drawingml/2006/main">
              <a:ext uri="{FF2B5EF4-FFF2-40B4-BE49-F238E27FC236}">
                <a16:creationId xmlns:a16="http://schemas.microsoft.com/office/drawing/2014/main" id="{D8333983-4E13-4EC3-9E87-271930F3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收到请求数上升与响应压力上升同步出现；指标衡量当月收到的请求中，是否在两个工作日内首次给出可执行答复，不是结案时长。</a:t>
            </a:r>
          </a:p>
        </p:txBody>
      </p:sp>
      <p:sp>
        <p:nvSpPr>
          <p:cNvPr id="18" name="p1-table-bg">
            <a:extLst xmlns:a="http://schemas.openxmlformats.org/drawingml/2006/main">
              <a:ext uri="{FF2B5EF4-FFF2-40B4-BE49-F238E27FC236}">
                <a16:creationId xmlns:a16="http://schemas.microsoft.com/office/drawing/2014/main" id="{4392854A-A2AB-4FFA-BDD6-E5F9F1D5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6953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9" name="p1-table-title">
            <a:extLst xmlns:a="http://schemas.openxmlformats.org/drawingml/2006/main">
              <a:ext uri="{FF2B5EF4-FFF2-40B4-BE49-F238E27FC236}">
                <a16:creationId xmlns:a16="http://schemas.microsoft.com/office/drawing/2014/main" id="{2C8CD7B3-A5AF-4D58-BE70-71DDED88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71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月度观察值（同一统计口径）</a:t>
            </a:r>
          </a:p>
        </p:txBody>
      </p:sp>
      <p:sp>
        <p:nvSpPr>
          <p:cNvPr id="20" name="p1-head-0">
            <a:extLst xmlns:a="http://schemas.openxmlformats.org/drawingml/2006/main">
              <a:ext uri="{FF2B5EF4-FFF2-40B4-BE49-F238E27FC236}">
                <a16:creationId xmlns:a16="http://schemas.microsoft.com/office/drawing/2014/main" id="{D8C08DB4-7C27-4769-9ACB-9313E02C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432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21" name="p1-head-1">
            <a:extLst xmlns:a="http://schemas.openxmlformats.org/drawingml/2006/main">
              <a:ext uri="{FF2B5EF4-FFF2-40B4-BE49-F238E27FC236}">
                <a16:creationId xmlns:a16="http://schemas.microsoft.com/office/drawing/2014/main" id="{1336D770-C9E7-43B7-9730-A83190F6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432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收到请求数</a:t>
            </a:r>
          </a:p>
        </p:txBody>
      </p:sp>
      <p:sp>
        <p:nvSpPr>
          <p:cNvPr id="22" name="p1-head-2">
            <a:extLst xmlns:a="http://schemas.openxmlformats.org/drawingml/2006/main">
              <a:ext uri="{FF2B5EF4-FFF2-40B4-BE49-F238E27FC236}">
                <a16:creationId xmlns:a16="http://schemas.microsoft.com/office/drawing/2014/main" id="{526F3BAB-047A-4C85-8C94-65F6D6CC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4327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≤2工作日首响</a:t>
            </a:r>
          </a:p>
        </p:txBody>
      </p:sp>
      <p:sp>
        <p:nvSpPr>
          <p:cNvPr id="23" name="p1-head-3">
            <a:extLst xmlns:a="http://schemas.openxmlformats.org/drawingml/2006/main">
              <a:ext uri="{FF2B5EF4-FFF2-40B4-BE49-F238E27FC236}">
                <a16:creationId xmlns:a16="http://schemas.microsoft.com/office/drawing/2014/main" id="{0CAB943A-FA87-4304-AD5A-524C1DFE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432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中位首次响应</a:t>
            </a:r>
          </a:p>
        </p:txBody>
      </p:sp>
      <p:sp>
        <p:nvSpPr>
          <p:cNvPr id="24" name="p1-head-rule">
            <a:extLst xmlns:a="http://schemas.openxmlformats.org/drawingml/2006/main">
              <a:ext uri="{FF2B5EF4-FFF2-40B4-BE49-F238E27FC236}">
                <a16:creationId xmlns:a16="http://schemas.microsoft.com/office/drawing/2014/main" id="{014B456D-3003-4DF4-940B-157D00E2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1-r-0-m">
            <a:extLst xmlns:a="http://schemas.openxmlformats.org/drawingml/2006/main">
              <a:ext uri="{FF2B5EF4-FFF2-40B4-BE49-F238E27FC236}">
                <a16:creationId xmlns:a16="http://schemas.microsoft.com/office/drawing/2014/main" id="{B2FF6259-17AD-47F9-9CC4-05CBF2A6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338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6" name="p1-r-0-n">
            <a:extLst xmlns:a="http://schemas.openxmlformats.org/drawingml/2006/main">
              <a:ext uri="{FF2B5EF4-FFF2-40B4-BE49-F238E27FC236}">
                <a16:creationId xmlns:a16="http://schemas.microsoft.com/office/drawing/2014/main" id="{7DEE5762-1294-4A67-9F49-020E3223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338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27" name="p1-r-0-rate">
            <a:extLst xmlns:a="http://schemas.openxmlformats.org/drawingml/2006/main">
              <a:ext uri="{FF2B5EF4-FFF2-40B4-BE49-F238E27FC236}">
                <a16:creationId xmlns:a16="http://schemas.microsoft.com/office/drawing/2014/main" id="{AC286B19-A039-4D05-AFE6-887A7CA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338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96 / 80%</a:t>
            </a:r>
          </a:p>
        </p:txBody>
      </p:sp>
      <p:sp>
        <p:nvSpPr>
          <p:cNvPr id="28" name="p1-r-0-median">
            <a:extLst xmlns:a="http://schemas.openxmlformats.org/drawingml/2006/main">
              <a:ext uri="{FF2B5EF4-FFF2-40B4-BE49-F238E27FC236}">
                <a16:creationId xmlns:a16="http://schemas.microsoft.com/office/drawing/2014/main" id="{508B54A7-AF25-488A-87D6-79AEF570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33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1.3工作日</a:t>
            </a:r>
          </a:p>
        </p:txBody>
      </p:sp>
      <p:sp>
        <p:nvSpPr>
          <p:cNvPr id="29" name="p1-r-1-m">
            <a:extLst xmlns:a="http://schemas.openxmlformats.org/drawingml/2006/main">
              <a:ext uri="{FF2B5EF4-FFF2-40B4-BE49-F238E27FC236}">
                <a16:creationId xmlns:a16="http://schemas.microsoft.com/office/drawing/2014/main" id="{C7D04E8C-94E0-431F-A5DC-C5EDE9B8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338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30" name="p1-r-1-n">
            <a:extLst xmlns:a="http://schemas.openxmlformats.org/drawingml/2006/main">
              <a:ext uri="{FF2B5EF4-FFF2-40B4-BE49-F238E27FC236}">
                <a16:creationId xmlns:a16="http://schemas.microsoft.com/office/drawing/2014/main" id="{15C66139-2583-491E-B0C5-A0F5F210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1338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1" name="p1-r-1-rate">
            <a:extLst xmlns:a="http://schemas.openxmlformats.org/drawingml/2006/main">
              <a:ext uri="{FF2B5EF4-FFF2-40B4-BE49-F238E27FC236}">
                <a16:creationId xmlns:a16="http://schemas.microsoft.com/office/drawing/2014/main" id="{AF26DA85-DE47-475D-818A-2F14CD7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1338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114 / 76%</a:t>
            </a:r>
          </a:p>
        </p:txBody>
      </p:sp>
      <p:sp>
        <p:nvSpPr>
          <p:cNvPr id="32" name="p1-r-1-median">
            <a:extLst xmlns:a="http://schemas.openxmlformats.org/drawingml/2006/main">
              <a:ext uri="{FF2B5EF4-FFF2-40B4-BE49-F238E27FC236}">
                <a16:creationId xmlns:a16="http://schemas.microsoft.com/office/drawing/2014/main" id="{FCA3B815-A2C5-4F53-9F41-36618ED8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33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1.5工作日</a:t>
            </a:r>
          </a:p>
        </p:txBody>
      </p:sp>
      <p:sp>
        <p:nvSpPr>
          <p:cNvPr id="33" name="p1-r-2-m">
            <a:extLst xmlns:a="http://schemas.openxmlformats.org/drawingml/2006/main">
              <a:ext uri="{FF2B5EF4-FFF2-40B4-BE49-F238E27FC236}">
                <a16:creationId xmlns:a16="http://schemas.microsoft.com/office/drawing/2014/main" id="{1E5A07BB-183E-4F20-B26B-7218243C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4" name="p1-r-2-n">
            <a:extLst xmlns:a="http://schemas.openxmlformats.org/drawingml/2006/main">
              <a:ext uri="{FF2B5EF4-FFF2-40B4-BE49-F238E27FC236}">
                <a16:creationId xmlns:a16="http://schemas.microsoft.com/office/drawing/2014/main" id="{A28E3076-182E-4C93-8A95-7C7292D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339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35" name="p1-r-2-rate">
            <a:extLst xmlns:a="http://schemas.openxmlformats.org/drawingml/2006/main">
              <a:ext uri="{FF2B5EF4-FFF2-40B4-BE49-F238E27FC236}">
                <a16:creationId xmlns:a16="http://schemas.microsoft.com/office/drawing/2014/main" id="{49101DE3-FCC2-42D4-A993-269ED833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339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126 / 70%</a:t>
            </a:r>
          </a:p>
        </p:txBody>
      </p:sp>
      <p:sp>
        <p:nvSpPr>
          <p:cNvPr id="36" name="p1-r-2-median">
            <a:extLst xmlns:a="http://schemas.openxmlformats.org/drawingml/2006/main">
              <a:ext uri="{FF2B5EF4-FFF2-40B4-BE49-F238E27FC236}">
                <a16:creationId xmlns:a16="http://schemas.microsoft.com/office/drawing/2014/main" id="{97F4D7E0-3903-4D1D-ACEB-3A909F99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33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1.8工作日</a:t>
            </a:r>
          </a:p>
        </p:txBody>
      </p:sp>
      <p:sp>
        <p:nvSpPr>
          <p:cNvPr id="37" name="p1-highlight-3">
            <a:extLst xmlns:a="http://schemas.openxmlformats.org/drawingml/2006/main">
              <a:ext uri="{FF2B5EF4-FFF2-40B4-BE49-F238E27FC236}">
                <a16:creationId xmlns:a16="http://schemas.microsoft.com/office/drawing/2014/main" id="{7CF4C9BE-ED1C-4963-B438-F6BC501C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6686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1-r-3-m">
            <a:extLst xmlns:a="http://schemas.openxmlformats.org/drawingml/2006/main">
              <a:ext uri="{FF2B5EF4-FFF2-40B4-BE49-F238E27FC236}">
                <a16:creationId xmlns:a16="http://schemas.microsoft.com/office/drawing/2014/main" id="{4DC7197E-CC13-4EA6-A5D8-8E1FBB4D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33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39" name="p1-r-3-n">
            <a:extLst xmlns:a="http://schemas.openxmlformats.org/drawingml/2006/main">
              <a:ext uri="{FF2B5EF4-FFF2-40B4-BE49-F238E27FC236}">
                <a16:creationId xmlns:a16="http://schemas.microsoft.com/office/drawing/2014/main" id="{44C9DC7F-DCD0-453C-A698-F26F18A5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339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240</a:t>
            </a:r>
          </a:p>
        </p:txBody>
      </p:sp>
      <p:sp>
        <p:nvSpPr>
          <p:cNvPr id="40" name="p1-r-3-rate">
            <a:extLst xmlns:a="http://schemas.openxmlformats.org/drawingml/2006/main">
              <a:ext uri="{FF2B5EF4-FFF2-40B4-BE49-F238E27FC236}">
                <a16:creationId xmlns:a16="http://schemas.microsoft.com/office/drawing/2014/main" id="{68BD9FA7-9538-406E-8ED1-2AB28180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33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144 / 60%</a:t>
            </a:r>
          </a:p>
        </p:txBody>
      </p:sp>
      <p:sp>
        <p:nvSpPr>
          <p:cNvPr id="41" name="p1-r-3-median">
            <a:extLst xmlns:a="http://schemas.openxmlformats.org/drawingml/2006/main">
              <a:ext uri="{FF2B5EF4-FFF2-40B4-BE49-F238E27FC236}">
                <a16:creationId xmlns:a16="http://schemas.microsoft.com/office/drawing/2014/main" id="{D471E994-133E-4C20-82BB-849F7443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4B43"/>
                </a:solidFill>
                <a:latin typeface="Microsoft YaHei"/>
                <a:ea typeface="Microsoft YaHei"/>
                <a:cs typeface="Microsoft YaHei"/>
              </a:rPr>
              <a:t>2.4工作日</a:t>
            </a:r>
          </a:p>
        </p:txBody>
      </p:sp>
      <p:sp>
        <p:nvSpPr>
          <p:cNvPr id="42" name="p1-legend-blue-swatch">
            <a:extLst xmlns:a="http://schemas.openxmlformats.org/drawingml/2006/main">
              <a:ext uri="{FF2B5EF4-FFF2-40B4-BE49-F238E27FC236}">
                <a16:creationId xmlns:a16="http://schemas.microsoft.com/office/drawing/2014/main" id="{7BDF5C09-E7B4-4FC1-A043-DD99CAF6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43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43" name="p1-legend-blue-label">
            <a:extLst xmlns:a="http://schemas.openxmlformats.org/drawingml/2006/main">
              <a:ext uri="{FF2B5EF4-FFF2-40B4-BE49-F238E27FC236}">
                <a16:creationId xmlns:a16="http://schemas.microsoft.com/office/drawing/2014/main" id="{3ED28DE6-DC21-4797-B698-7CBBD7D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5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4月重点行</a:t>
            </a:r>
          </a:p>
        </p:txBody>
      </p:sp>
      <p:sp>
        <p:nvSpPr>
          <p:cNvPr id="44" name="p1-legend-note">
            <a:extLst xmlns:a="http://schemas.openxmlformats.org/drawingml/2006/main">
              <a:ext uri="{FF2B5EF4-FFF2-40B4-BE49-F238E27FC236}">
                <a16:creationId xmlns:a16="http://schemas.microsoft.com/office/drawing/2014/main" id="{F3DC3C0A-F8AD-45B0-A64A-E7FD81BC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054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1—4月无缺失记录</a:t>
            </a:r>
          </a:p>
        </p:txBody>
      </p:sp>
      <p:sp>
        <p:nvSpPr>
          <p:cNvPr id="45" name="p1-side-bg">
            <a:extLst xmlns:a="http://schemas.openxmlformats.org/drawingml/2006/main">
              <a:ext uri="{FF2B5EF4-FFF2-40B4-BE49-F238E27FC236}">
                <a16:creationId xmlns:a16="http://schemas.microsoft.com/office/drawing/2014/main" id="{ABE11BED-5B70-4B5C-8FB3-1035111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0350"/>
            <a:ext cx="3905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46" name="p1-side-title">
            <a:extLst xmlns:a="http://schemas.openxmlformats.org/drawingml/2006/main">
              <a:ext uri="{FF2B5EF4-FFF2-40B4-BE49-F238E27FC236}">
                <a16:creationId xmlns:a16="http://schemas.microsoft.com/office/drawing/2014/main" id="{36C620E8-18D0-4577-86ED-A4274B2E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观察含义</a:t>
            </a:r>
          </a:p>
        </p:txBody>
      </p:sp>
      <p:sp>
        <p:nvSpPr>
          <p:cNvPr id="47" name="p1-m1-value">
            <a:extLst xmlns:a="http://schemas.openxmlformats.org/drawingml/2006/main">
              <a:ext uri="{FF2B5EF4-FFF2-40B4-BE49-F238E27FC236}">
                <a16:creationId xmlns:a16="http://schemas.microsoft.com/office/drawing/2014/main" id="{90971465-5BC5-47D3-84C8-08C9AAF6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2×</a:t>
            </a:r>
          </a:p>
        </p:txBody>
      </p:sp>
      <p:sp>
        <p:nvSpPr>
          <p:cNvPr id="48" name="p1-m1-label">
            <a:extLst xmlns:a="http://schemas.openxmlformats.org/drawingml/2006/main">
              <a:ext uri="{FF2B5EF4-FFF2-40B4-BE49-F238E27FC236}">
                <a16:creationId xmlns:a16="http://schemas.microsoft.com/office/drawing/2014/main" id="{E18F7CB4-1DBB-4797-AFE6-5195B59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请求量：120 → 240</a:t>
            </a:r>
          </a:p>
        </p:txBody>
      </p:sp>
      <p:sp>
        <p:nvSpPr>
          <p:cNvPr id="49" name="p1-m2-value">
            <a:extLst xmlns:a="http://schemas.openxmlformats.org/drawingml/2006/main">
              <a:ext uri="{FF2B5EF4-FFF2-40B4-BE49-F238E27FC236}">
                <a16:creationId xmlns:a16="http://schemas.microsoft.com/office/drawing/2014/main" id="{344B66A2-5FF4-4ECB-A873-64E0F2F9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90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6B3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C56B31"/>
                </a:solidFill>
                <a:latin typeface="HYWenRunSongYun U"/>
                <a:ea typeface="HYWenRunSongYun U"/>
                <a:cs typeface="HYWenRunSongYun U"/>
              </a:rPr>
              <a:t>−20个百分点</a:t>
            </a:r>
          </a:p>
        </p:txBody>
      </p:sp>
      <p:sp>
        <p:nvSpPr>
          <p:cNvPr id="50" name="p1-m2-label">
            <a:extLst xmlns:a="http://schemas.openxmlformats.org/drawingml/2006/main">
              <a:ext uri="{FF2B5EF4-FFF2-40B4-BE49-F238E27FC236}">
                <a16:creationId xmlns:a16="http://schemas.microsoft.com/office/drawing/2014/main" id="{18689D4A-4F65-4AE2-BABD-48CE5049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81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及时率：80% → 60%</a:t>
            </a:r>
          </a:p>
        </p:txBody>
      </p:sp>
      <p:sp>
        <p:nvSpPr>
          <p:cNvPr id="51" name="p1-side-rule">
            <a:extLst xmlns:a="http://schemas.openxmlformats.org/drawingml/2006/main">
              <a:ext uri="{FF2B5EF4-FFF2-40B4-BE49-F238E27FC236}">
                <a16:creationId xmlns:a16="http://schemas.microsoft.com/office/drawing/2014/main" id="{501A4764-9300-4C33-9C0E-3D8A7B82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624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1-side-body">
            <a:extLst xmlns:a="http://schemas.openxmlformats.org/drawingml/2006/main">
              <a:ext uri="{FF2B5EF4-FFF2-40B4-BE49-F238E27FC236}">
                <a16:creationId xmlns:a16="http://schemas.microsoft.com/office/drawing/2014/main" id="{4D7E0CC6-609E-4E3D-B728-FC49C53A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52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中位首次响应时间同步由1.3天升至2.4天。</a:t>
            </a:r>
          </a:p>
        </p:txBody>
      </p:sp>
      <p:sp>
        <p:nvSpPr>
          <p:cNvPr id="53" name="p1-side-boundary">
            <a:extLst xmlns:a="http://schemas.openxmlformats.org/drawingml/2006/main">
              <a:ext uri="{FF2B5EF4-FFF2-40B4-BE49-F238E27FC236}">
                <a16:creationId xmlns:a16="http://schemas.microsoft.com/office/drawing/2014/main" id="{86C0DC7E-70E1-4370-AFEA-68EB9AEA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54" name="p1-side-boundary-body">
            <a:extLst xmlns:a="http://schemas.openxmlformats.org/drawingml/2006/main">
              <a:ext uri="{FF2B5EF4-FFF2-40B4-BE49-F238E27FC236}">
                <a16:creationId xmlns:a16="http://schemas.microsoft.com/office/drawing/2014/main" id="{268215A8-BAB2-4675-91A5-DBF76747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86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工作量与压力同步上升，但无对照实验，不能断言工作量增长是响应变慢的唯一原因。</a:t>
            </a:r>
          </a:p>
        </p:txBody>
      </p:sp>
      <p:sp>
        <p:nvSpPr>
          <p:cNvPr id="55" name="p1-foot">
            <a:extLst xmlns:a="http://schemas.openxmlformats.org/drawingml/2006/main">
              <a:ext uri="{FF2B5EF4-FFF2-40B4-BE49-F238E27FC236}">
                <a16:creationId xmlns:a16="http://schemas.microsoft.com/office/drawing/2014/main" id="{783543FC-1CE0-4F6A-8223-D74C8CEB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模拟数据｜服务人员数量四个月保持不变；所有数值为排版验证用虚构情境。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4月未达标请求中，材料与权限阻塞占75%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2-kicker">
            <a:extLst xmlns:a="http://schemas.openxmlformats.org/drawingml/2006/main">
              <a:ext uri="{FF2B5EF4-FFF2-40B4-BE49-F238E27FC236}">
                <a16:creationId xmlns:a16="http://schemas.microsoft.com/office/drawing/2014/main" id="{05AE6F93-0EB5-4C32-8985-67820E86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原因复核｜互斥且完整的阻塞分类</a:t>
            </a:r>
          </a:p>
        </p:txBody>
      </p:sp>
      <p:sp>
        <p:nvSpPr>
          <p:cNvPr id="16" name="p2-lead">
            <a:extLst xmlns:a="http://schemas.openxmlformats.org/drawingml/2006/main">
              <a:ext uri="{FF2B5EF4-FFF2-40B4-BE49-F238E27FC236}">
                <a16:creationId xmlns:a16="http://schemas.microsoft.com/office/drawing/2014/main" id="{9A62537F-9B03-4A9A-B6C4-E88B52C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4月未达标请求中，材料与权限阻塞占75%</a:t>
            </a:r>
          </a:p>
        </p:txBody>
      </p:sp>
      <p:sp>
        <p:nvSpPr>
          <p:cNvPr id="17" name="p2-context">
            <a:extLst xmlns:a="http://schemas.openxmlformats.org/drawingml/2006/main">
              <a:ext uri="{FF2B5EF4-FFF2-40B4-BE49-F238E27FC236}">
                <a16:creationId xmlns:a16="http://schemas.microsoft.com/office/drawing/2014/main" id="{85694C4A-A5D4-4968-96DE-C5CB30A8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复核对象为4月未达到两个工作日首响标准的96个请求；每个请求只记一个主要阻塞原因。</a:t>
            </a:r>
          </a:p>
        </p:txBody>
      </p:sp>
      <p:sp>
        <p:nvSpPr>
          <p:cNvPr id="18" name="p2-main-bg">
            <a:extLst xmlns:a="http://schemas.openxmlformats.org/drawingml/2006/main">
              <a:ext uri="{FF2B5EF4-FFF2-40B4-BE49-F238E27FC236}">
                <a16:creationId xmlns:a16="http://schemas.microsoft.com/office/drawing/2014/main" id="{C690768C-6ABB-40B2-A7A1-20CAC049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7096125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9" name="p2-main-title">
            <a:extLst xmlns:a="http://schemas.openxmlformats.org/drawingml/2006/main">
              <a:ext uri="{FF2B5EF4-FFF2-40B4-BE49-F238E27FC236}">
                <a16:creationId xmlns:a16="http://schemas.microsoft.com/office/drawing/2014/main" id="{D301BE42-13EC-4341-BE7F-5D78CA5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90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96个请求的主要阻塞原因</a:t>
            </a:r>
          </a:p>
        </p:txBody>
      </p:sp>
      <p:sp>
        <p:nvSpPr>
          <p:cNvPr id="20" name="p2-bar-0">
            <a:extLst xmlns:a="http://schemas.openxmlformats.org/drawingml/2006/main">
              <a:ext uri="{FF2B5EF4-FFF2-40B4-BE49-F238E27FC236}">
                <a16:creationId xmlns:a16="http://schemas.microsoft.com/office/drawing/2014/main" id="{D42B9EAF-A2E2-44B6-940F-B9B09310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289619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1" name="p2-bar-label-0">
            <a:extLst xmlns:a="http://schemas.openxmlformats.org/drawingml/2006/main">
              <a:ext uri="{FF2B5EF4-FFF2-40B4-BE49-F238E27FC236}">
                <a16:creationId xmlns:a16="http://schemas.microsoft.com/office/drawing/2014/main" id="{48F26F91-C471-4A90-905C-0D3D72E4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8199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 42</a:t>
            </a:r>
          </a:p>
        </p:txBody>
      </p:sp>
      <p:sp>
        <p:nvSpPr>
          <p:cNvPr id="22" name="p2-bar-1">
            <a:extLst xmlns:a="http://schemas.openxmlformats.org/drawingml/2006/main">
              <a:ext uri="{FF2B5EF4-FFF2-40B4-BE49-F238E27FC236}">
                <a16:creationId xmlns:a16="http://schemas.microsoft.com/office/drawing/2014/main" id="{473DB558-2029-4E93-AF61-BEC32FF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195" y="3467100"/>
            <a:ext cx="206871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23" name="p2-bar-label-1">
            <a:extLst xmlns:a="http://schemas.openxmlformats.org/drawingml/2006/main">
              <a:ext uri="{FF2B5EF4-FFF2-40B4-BE49-F238E27FC236}">
                <a16:creationId xmlns:a16="http://schemas.microsoft.com/office/drawing/2014/main" id="{76C0C1F4-8B9C-4CFD-BA11-9A817337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295" y="3562350"/>
            <a:ext cx="199251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 30</a:t>
            </a:r>
          </a:p>
        </p:txBody>
      </p:sp>
      <p:sp>
        <p:nvSpPr>
          <p:cNvPr id="24" name="p2-bar-2">
            <a:extLst xmlns:a="http://schemas.openxmlformats.org/drawingml/2006/main">
              <a:ext uri="{FF2B5EF4-FFF2-40B4-BE49-F238E27FC236}">
                <a16:creationId xmlns:a16="http://schemas.microsoft.com/office/drawing/2014/main" id="{12322075-8E0D-4857-91DE-BB75BF04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906" y="3467100"/>
            <a:ext cx="11033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EAF"/>
          </a:solidFill>
          <a:ln xmlns:a="http://schemas.openxmlformats.org/drawingml/2006/main" w="9525">
            <a:solidFill>
              <a:srgbClr val="6E8EAF"/>
            </a:solidFill>
            <a:prstDash val="solid"/>
          </a:ln>
        </p:spPr>
      </p:sp>
      <p:sp>
        <p:nvSpPr>
          <p:cNvPr id="25" name="p2-bar-label-2">
            <a:extLst xmlns:a="http://schemas.openxmlformats.org/drawingml/2006/main">
              <a:ext uri="{FF2B5EF4-FFF2-40B4-BE49-F238E27FC236}">
                <a16:creationId xmlns:a16="http://schemas.microsoft.com/office/drawing/2014/main" id="{C0FA093F-251A-4B50-BFA4-E0F4BE92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006" y="3562350"/>
            <a:ext cx="10271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需求反复 16</a:t>
            </a:r>
          </a:p>
        </p:txBody>
      </p:sp>
      <p:sp>
        <p:nvSpPr>
          <p:cNvPr id="26" name="p2-bar-3">
            <a:extLst xmlns:a="http://schemas.openxmlformats.org/drawingml/2006/main">
              <a:ext uri="{FF2B5EF4-FFF2-40B4-BE49-F238E27FC236}">
                <a16:creationId xmlns:a16="http://schemas.microsoft.com/office/drawing/2014/main" id="{AA80DED0-1889-47DE-A35A-FE972A14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219" y="3467100"/>
            <a:ext cx="551656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27" name="p2-bar-label-3">
            <a:extLst xmlns:a="http://schemas.openxmlformats.org/drawingml/2006/main">
              <a:ext uri="{FF2B5EF4-FFF2-40B4-BE49-F238E27FC236}">
                <a16:creationId xmlns:a16="http://schemas.microsoft.com/office/drawing/2014/main" id="{EF3E6796-710C-4AE2-8DF1-AD1521E2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569" y="32385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其他 8</a:t>
            </a:r>
          </a:p>
        </p:txBody>
      </p:sp>
      <p:sp>
        <p:nvSpPr>
          <p:cNvPr id="28" name="p2-total">
            <a:extLst xmlns:a="http://schemas.openxmlformats.org/drawingml/2006/main">
              <a:ext uri="{FF2B5EF4-FFF2-40B4-BE49-F238E27FC236}">
                <a16:creationId xmlns:a16="http://schemas.microsoft.com/office/drawing/2014/main" id="{146F6719-F805-458C-B8C4-1FF17158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661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材料与权限：72 / 96 = 75%</a:t>
            </a:r>
          </a:p>
        </p:txBody>
      </p:sp>
      <p:sp>
        <p:nvSpPr>
          <p:cNvPr id="29" name="p2-dot-0">
            <a:extLst xmlns:a="http://schemas.openxmlformats.org/drawingml/2006/main">
              <a:ext uri="{FF2B5EF4-FFF2-40B4-BE49-F238E27FC236}">
                <a16:creationId xmlns:a16="http://schemas.microsoft.com/office/drawing/2014/main" id="{24510324-166B-414E-A123-E6C6784F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0" name="p2-cause-0">
            <a:extLst xmlns:a="http://schemas.openxmlformats.org/drawingml/2006/main">
              <a:ext uri="{FF2B5EF4-FFF2-40B4-BE49-F238E27FC236}">
                <a16:creationId xmlns:a16="http://schemas.microsoft.com/office/drawing/2014/main" id="{1117B892-A002-4B54-8CC7-FA801978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641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材料不全 42｜字段缺失或样本文件未附</a:t>
            </a:r>
          </a:p>
        </p:txBody>
      </p:sp>
      <p:sp>
        <p:nvSpPr>
          <p:cNvPr id="31" name="p2-dot-1">
            <a:extLst xmlns:a="http://schemas.openxmlformats.org/drawingml/2006/main">
              <a:ext uri="{FF2B5EF4-FFF2-40B4-BE49-F238E27FC236}">
                <a16:creationId xmlns:a16="http://schemas.microsoft.com/office/drawing/2014/main" id="{659392F9-02F6-4686-8D47-FE78BB55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32" name="p2-cause-1">
            <a:extLst xmlns:a="http://schemas.openxmlformats.org/drawingml/2006/main">
              <a:ext uri="{FF2B5EF4-FFF2-40B4-BE49-F238E27FC236}">
                <a16:creationId xmlns:a16="http://schemas.microsoft.com/office/drawing/2014/main" id="{7CACFACA-681E-4354-917B-21769C46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641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权限确认 30｜授权人不明确或范围未确认</a:t>
            </a:r>
          </a:p>
        </p:txBody>
      </p:sp>
      <p:sp>
        <p:nvSpPr>
          <p:cNvPr id="33" name="p2-dot-2">
            <a:extLst xmlns:a="http://schemas.openxmlformats.org/drawingml/2006/main">
              <a:ext uri="{FF2B5EF4-FFF2-40B4-BE49-F238E27FC236}">
                <a16:creationId xmlns:a16="http://schemas.microsoft.com/office/drawing/2014/main" id="{F856C23D-870C-4726-A7E6-2157BF08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8EAF"/>
          </a:solidFill>
          <a:ln xmlns:a="http://schemas.openxmlformats.org/drawingml/2006/main" w="9525">
            <a:solidFill>
              <a:srgbClr val="6E8EAF"/>
            </a:solidFill>
            <a:prstDash val="solid"/>
          </a:ln>
        </p:spPr>
      </p:sp>
      <p:sp>
        <p:nvSpPr>
          <p:cNvPr id="34" name="p2-cause-2">
            <a:extLst xmlns:a="http://schemas.openxmlformats.org/drawingml/2006/main">
              <a:ext uri="{FF2B5EF4-FFF2-40B4-BE49-F238E27FC236}">
                <a16:creationId xmlns:a16="http://schemas.microsoft.com/office/drawing/2014/main" id="{80B10D27-9ABF-4915-939D-98AD44C1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641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需求反复 16｜需求多轮变更</a:t>
            </a:r>
          </a:p>
        </p:txBody>
      </p:sp>
      <p:sp>
        <p:nvSpPr>
          <p:cNvPr id="35" name="p2-dot-3">
            <a:extLst xmlns:a="http://schemas.openxmlformats.org/drawingml/2006/main">
              <a:ext uri="{FF2B5EF4-FFF2-40B4-BE49-F238E27FC236}">
                <a16:creationId xmlns:a16="http://schemas.microsoft.com/office/drawing/2014/main" id="{73C82458-DA3C-4E2B-A727-41E0403B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6F6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36" name="p2-cause-3">
            <a:extLst xmlns:a="http://schemas.openxmlformats.org/drawingml/2006/main">
              <a:ext uri="{FF2B5EF4-FFF2-40B4-BE49-F238E27FC236}">
                <a16:creationId xmlns:a16="http://schemas.microsoft.com/office/drawing/2014/main" id="{41C7A4D5-1179-41AE-A935-AA35EA70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641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其他 8｜其余主要阻塞</a:t>
            </a:r>
          </a:p>
        </p:txBody>
      </p:sp>
      <p:sp>
        <p:nvSpPr>
          <p:cNvPr id="37" name="p2-side-bg">
            <a:extLst xmlns:a="http://schemas.openxmlformats.org/drawingml/2006/main">
              <a:ext uri="{FF2B5EF4-FFF2-40B4-BE49-F238E27FC236}">
                <a16:creationId xmlns:a16="http://schemas.microsoft.com/office/drawing/2014/main" id="{195DDF72-9E36-48D2-83DC-5C86228D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0350"/>
            <a:ext cx="3810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EDE5"/>
          </a:solidFill>
          <a:ln xmlns:a="http://schemas.openxmlformats.org/drawingml/2006/main" w="9525">
            <a:solidFill>
              <a:srgbClr val="F7EDE5"/>
            </a:solidFill>
            <a:prstDash val="solid"/>
          </a:ln>
        </p:spPr>
      </p:sp>
      <p:sp>
        <p:nvSpPr>
          <p:cNvPr id="38" name="p2-side-title">
            <a:extLst xmlns:a="http://schemas.openxmlformats.org/drawingml/2006/main">
              <a:ext uri="{FF2B5EF4-FFF2-40B4-BE49-F238E27FC236}">
                <a16:creationId xmlns:a16="http://schemas.microsoft.com/office/drawing/2014/main" id="{6D328304-9C3D-46A0-9175-D25597E2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这项证据能支持什么</a:t>
            </a:r>
          </a:p>
        </p:txBody>
      </p:sp>
      <p:sp>
        <p:nvSpPr>
          <p:cNvPr id="39" name="p2-use-1">
            <a:extLst xmlns:a="http://schemas.openxmlformats.org/drawingml/2006/main">
              <a:ext uri="{FF2B5EF4-FFF2-40B4-BE49-F238E27FC236}">
                <a16:creationId xmlns:a16="http://schemas.microsoft.com/office/drawing/2014/main" id="{16FBDAB1-5C53-40B8-859E-9AE75884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① 入口先覆盖字段与授权校验。</a:t>
            </a:r>
          </a:p>
        </p:txBody>
      </p:sp>
      <p:sp>
        <p:nvSpPr>
          <p:cNvPr id="40" name="p2-use-2">
            <a:extLst xmlns:a="http://schemas.openxmlformats.org/drawingml/2006/main">
              <a:ext uri="{FF2B5EF4-FFF2-40B4-BE49-F238E27FC236}">
                <a16:creationId xmlns:a16="http://schemas.microsoft.com/office/drawing/2014/main" id="{3E904B87-1716-44C7-BE9A-3BE9DBAA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② 复杂需求沟通仍需人工判断。</a:t>
            </a:r>
          </a:p>
        </p:txBody>
      </p:sp>
      <p:sp>
        <p:nvSpPr>
          <p:cNvPr id="41" name="p2-use-3">
            <a:extLst xmlns:a="http://schemas.openxmlformats.org/drawingml/2006/main">
              <a:ext uri="{FF2B5EF4-FFF2-40B4-BE49-F238E27FC236}">
                <a16:creationId xmlns:a16="http://schemas.microsoft.com/office/drawing/2014/main" id="{4DC1055D-213D-4184-A30D-7905FED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③ 比例仅代表4月复核结果。</a:t>
            </a:r>
          </a:p>
        </p:txBody>
      </p:sp>
      <p:sp>
        <p:nvSpPr>
          <p:cNvPr id="42" name="p2-side-rule">
            <a:extLst xmlns:a="http://schemas.openxmlformats.org/drawingml/2006/main">
              <a:ext uri="{FF2B5EF4-FFF2-40B4-BE49-F238E27FC236}">
                <a16:creationId xmlns:a16="http://schemas.microsoft.com/office/drawing/2014/main" id="{CF2B5C2F-3BD9-4531-9F0C-2162F233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482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2-side-limit">
            <a:extLst xmlns:a="http://schemas.openxmlformats.org/drawingml/2006/main">
              <a:ext uri="{FF2B5EF4-FFF2-40B4-BE49-F238E27FC236}">
                <a16:creationId xmlns:a16="http://schemas.microsoft.com/office/drawing/2014/main" id="{7BC18F9C-4E6B-4701-B77B-C230A1F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4" name="p2-side-limit-body">
            <a:extLst xmlns:a="http://schemas.openxmlformats.org/drawingml/2006/main">
              <a:ext uri="{FF2B5EF4-FFF2-40B4-BE49-F238E27FC236}">
                <a16:creationId xmlns:a16="http://schemas.microsoft.com/office/drawing/2014/main" id="{8DF34385-4A5D-4426-8705-026163C2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分类用于确定先查哪里，不等于每项干预可消除的数量，也不能预测节省工时。</a:t>
            </a:r>
          </a:p>
        </p:txBody>
      </p:sp>
      <p:sp>
        <p:nvSpPr>
          <p:cNvPr id="45" name="p2-foot">
            <a:extLst xmlns:a="http://schemas.openxmlformats.org/drawingml/2006/main">
              <a:ext uri="{FF2B5EF4-FFF2-40B4-BE49-F238E27FC236}">
                <a16:creationId xmlns:a16="http://schemas.microsoft.com/office/drawing/2014/main" id="{7878D33D-FBA7-4293-B7AA-A983B104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模拟数据｜四类原因彼此互斥且合计完整；比例由本次复核直接计算。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建议先试行统一申请入口，因其直接对应主要阻塞且投入可控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方案取舍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3-kicker">
            <a:extLst xmlns:a="http://schemas.openxmlformats.org/drawingml/2006/main">
              <a:ext uri="{FF2B5EF4-FFF2-40B4-BE49-F238E27FC236}">
                <a16:creationId xmlns:a16="http://schemas.microsoft.com/office/drawing/2014/main" id="{497EA07D-6A8E-4815-A645-9B24A44E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方案对照｜作用环节 × 实施约束</a:t>
            </a:r>
          </a:p>
        </p:txBody>
      </p:sp>
      <p:sp>
        <p:nvSpPr>
          <p:cNvPr id="16" name="p3-lead">
            <a:extLst xmlns:a="http://schemas.openxmlformats.org/drawingml/2006/main">
              <a:ext uri="{FF2B5EF4-FFF2-40B4-BE49-F238E27FC236}">
                <a16:creationId xmlns:a16="http://schemas.microsoft.com/office/drawing/2014/main" id="{F37C9528-C5E7-42FA-81BE-3F8DC43A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建议先试行统一申请入口，因其直接对应主要阻塞且投入可控</a:t>
            </a:r>
          </a:p>
        </p:txBody>
      </p:sp>
      <p:sp>
        <p:nvSpPr>
          <p:cNvPr id="17" name="p3-context">
            <a:extLst xmlns:a="http://schemas.openxmlformats.org/drawingml/2006/main">
              <a:ext uri="{FF2B5EF4-FFF2-40B4-BE49-F238E27FC236}">
                <a16:creationId xmlns:a16="http://schemas.microsoft.com/office/drawing/2014/main" id="{E972BC97-40F2-4763-928C-41759A24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三种应对措施的投入与周期均为内部方案估计，不能换算为已验证的响应改善。</a:t>
            </a:r>
          </a:p>
        </p:txBody>
      </p:sp>
      <p:sp>
        <p:nvSpPr>
          <p:cNvPr id="18" name="p3-h-label-bg">
            <a:extLst xmlns:a="http://schemas.openxmlformats.org/drawingml/2006/main">
              <a:ext uri="{FF2B5EF4-FFF2-40B4-BE49-F238E27FC236}">
                <a16:creationId xmlns:a16="http://schemas.microsoft.com/office/drawing/2014/main" id="{579A901C-CA93-45AE-9CAB-5A31AD53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9" name="p3-h-label-text">
            <a:extLst xmlns:a="http://schemas.openxmlformats.org/drawingml/2006/main">
              <a:ext uri="{FF2B5EF4-FFF2-40B4-BE49-F238E27FC236}">
                <a16:creationId xmlns:a16="http://schemas.microsoft.com/office/drawing/2014/main" id="{6133CB38-B7F4-4B05-9D2C-BF0F1BB8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289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20" name="p3-h-a-bg">
            <a:extLst xmlns:a="http://schemas.openxmlformats.org/drawingml/2006/main">
              <a:ext uri="{FF2B5EF4-FFF2-40B4-BE49-F238E27FC236}">
                <a16:creationId xmlns:a16="http://schemas.microsoft.com/office/drawing/2014/main" id="{F3F9DFD4-8ED5-443B-97D1-9D0ADF74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1" name="p3-h-a-text">
            <a:extLst xmlns:a="http://schemas.openxmlformats.org/drawingml/2006/main">
              <a:ext uri="{FF2B5EF4-FFF2-40B4-BE49-F238E27FC236}">
                <a16:creationId xmlns:a16="http://schemas.microsoft.com/office/drawing/2014/main" id="{352EBED5-8826-454F-9120-0E69349A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289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2" name="p3-h-b-bg">
            <a:extLst xmlns:a="http://schemas.openxmlformats.org/drawingml/2006/main">
              <a:ext uri="{FF2B5EF4-FFF2-40B4-BE49-F238E27FC236}">
                <a16:creationId xmlns:a16="http://schemas.microsoft.com/office/drawing/2014/main" id="{69FAED5B-3A45-45CD-9ED9-C9DB1E1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3" name="p3-h-b-text">
            <a:extLst xmlns:a="http://schemas.openxmlformats.org/drawingml/2006/main">
              <a:ext uri="{FF2B5EF4-FFF2-40B4-BE49-F238E27FC236}">
                <a16:creationId xmlns:a16="http://schemas.microsoft.com/office/drawing/2014/main" id="{578D56BF-C4B3-4832-922B-CD5F196F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289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4" name="p3-h-c-bg">
            <a:extLst xmlns:a="http://schemas.openxmlformats.org/drawingml/2006/main">
              <a:ext uri="{FF2B5EF4-FFF2-40B4-BE49-F238E27FC236}">
                <a16:creationId xmlns:a16="http://schemas.microsoft.com/office/drawing/2014/main" id="{855943E9-57BD-4967-AC95-D43C6685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81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5" name="p3-h-c-text">
            <a:extLst xmlns:a="http://schemas.openxmlformats.org/drawingml/2006/main">
              <a:ext uri="{FF2B5EF4-FFF2-40B4-BE49-F238E27FC236}">
                <a16:creationId xmlns:a16="http://schemas.microsoft.com/office/drawing/2014/main" id="{EAF243BE-4131-4401-8F1D-65CD8B99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289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6" name="p3-r-0-label-bg">
            <a:extLst xmlns:a="http://schemas.openxmlformats.org/drawingml/2006/main">
              <a:ext uri="{FF2B5EF4-FFF2-40B4-BE49-F238E27FC236}">
                <a16:creationId xmlns:a16="http://schemas.microsoft.com/office/drawing/2014/main" id="{E653708D-986F-4958-94C6-44314002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7" name="p3-r-0-label-text">
            <a:extLst xmlns:a="http://schemas.openxmlformats.org/drawingml/2006/main">
              <a:ext uri="{FF2B5EF4-FFF2-40B4-BE49-F238E27FC236}">
                <a16:creationId xmlns:a16="http://schemas.microsoft.com/office/drawing/2014/main" id="{7BD7F704-9F6C-4214-9920-701AD263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8" name="p3-r-0-a-bg">
            <a:extLst xmlns:a="http://schemas.openxmlformats.org/drawingml/2006/main">
              <a:ext uri="{FF2B5EF4-FFF2-40B4-BE49-F238E27FC236}">
                <a16:creationId xmlns:a16="http://schemas.microsoft.com/office/drawing/2014/main" id="{7373453A-EEAE-4F61-B854-C6C18CC6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9" name="p3-r-0-a-text">
            <a:extLst xmlns:a="http://schemas.openxmlformats.org/drawingml/2006/main">
              <a:ext uri="{FF2B5EF4-FFF2-40B4-BE49-F238E27FC236}">
                <a16:creationId xmlns:a16="http://schemas.microsoft.com/office/drawing/2014/main" id="{7F0F6BD9-15B2-49C3-9377-15D890AA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908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30" name="p3-r-0-b-bg">
            <a:extLst xmlns:a="http://schemas.openxmlformats.org/drawingml/2006/main">
              <a:ext uri="{FF2B5EF4-FFF2-40B4-BE49-F238E27FC236}">
                <a16:creationId xmlns:a16="http://schemas.microsoft.com/office/drawing/2014/main" id="{C960765E-54BF-4A07-B990-1AD82A34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1" name="p3-r-0-b-text">
            <a:extLst xmlns:a="http://schemas.openxmlformats.org/drawingml/2006/main">
              <a:ext uri="{FF2B5EF4-FFF2-40B4-BE49-F238E27FC236}">
                <a16:creationId xmlns:a16="http://schemas.microsoft.com/office/drawing/2014/main" id="{A1CD8EB3-B51E-4E85-A11A-BFB85E3A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908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32" name="p3-r-0-c-bg">
            <a:extLst xmlns:a="http://schemas.openxmlformats.org/drawingml/2006/main">
              <a:ext uri="{FF2B5EF4-FFF2-40B4-BE49-F238E27FC236}">
                <a16:creationId xmlns:a16="http://schemas.microsoft.com/office/drawing/2014/main" id="{2FCE7444-1FF9-4002-B4F6-1AF4082A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3" name="p3-r-0-c-text">
            <a:extLst xmlns:a="http://schemas.openxmlformats.org/drawingml/2006/main">
              <a:ext uri="{FF2B5EF4-FFF2-40B4-BE49-F238E27FC236}">
                <a16:creationId xmlns:a16="http://schemas.microsoft.com/office/drawing/2014/main" id="{0BED7A74-276B-4BFA-8EBE-0F666C87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908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34" name="p3-r-1-label-bg">
            <a:extLst xmlns:a="http://schemas.openxmlformats.org/drawingml/2006/main">
              <a:ext uri="{FF2B5EF4-FFF2-40B4-BE49-F238E27FC236}">
                <a16:creationId xmlns:a16="http://schemas.microsoft.com/office/drawing/2014/main" id="{BBAECE78-10BA-4F41-BA79-5B2D0BE0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1472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5" name="p3-r-1-label-text">
            <a:extLst xmlns:a="http://schemas.openxmlformats.org/drawingml/2006/main">
              <a:ext uri="{FF2B5EF4-FFF2-40B4-BE49-F238E27FC236}">
                <a16:creationId xmlns:a16="http://schemas.microsoft.com/office/drawing/2014/main" id="{40B752A0-28ED-423D-AFB4-1396E010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62350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6" name="p3-r-1-a-bg">
            <a:extLst xmlns:a="http://schemas.openxmlformats.org/drawingml/2006/main">
              <a:ext uri="{FF2B5EF4-FFF2-40B4-BE49-F238E27FC236}">
                <a16:creationId xmlns:a16="http://schemas.microsoft.com/office/drawing/2014/main" id="{692631A2-2180-4443-A018-DF1FBB7A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147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7" name="p3-r-1-a-text">
            <a:extLst xmlns:a="http://schemas.openxmlformats.org/drawingml/2006/main">
              <a:ext uri="{FF2B5EF4-FFF2-40B4-BE49-F238E27FC236}">
                <a16:creationId xmlns:a16="http://schemas.microsoft.com/office/drawing/2014/main" id="{EFCE8108-0EE0-4DF5-B302-E44F0DDF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623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8" name="p3-r-1-b-bg">
            <a:extLst xmlns:a="http://schemas.openxmlformats.org/drawingml/2006/main">
              <a:ext uri="{FF2B5EF4-FFF2-40B4-BE49-F238E27FC236}">
                <a16:creationId xmlns:a16="http://schemas.microsoft.com/office/drawing/2014/main" id="{3B00AE07-294C-4DFD-826A-AE86A155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147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9" name="p3-r-1-b-text">
            <a:extLst xmlns:a="http://schemas.openxmlformats.org/drawingml/2006/main">
              <a:ext uri="{FF2B5EF4-FFF2-40B4-BE49-F238E27FC236}">
                <a16:creationId xmlns:a16="http://schemas.microsoft.com/office/drawing/2014/main" id="{AD01BA33-D737-4010-9F5A-3D80F353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623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40" name="p3-r-1-c-bg">
            <a:extLst xmlns:a="http://schemas.openxmlformats.org/drawingml/2006/main">
              <a:ext uri="{FF2B5EF4-FFF2-40B4-BE49-F238E27FC236}">
                <a16:creationId xmlns:a16="http://schemas.microsoft.com/office/drawing/2014/main" id="{03D59ABE-CCAD-48D5-9479-D2F20D6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147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1" name="p3-r-1-c-text">
            <a:extLst xmlns:a="http://schemas.openxmlformats.org/drawingml/2006/main">
              <a:ext uri="{FF2B5EF4-FFF2-40B4-BE49-F238E27FC236}">
                <a16:creationId xmlns:a16="http://schemas.microsoft.com/office/drawing/2014/main" id="{F8F73549-90A5-4A77-8F08-7C24508F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623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42" name="p3-r-2-label-bg">
            <a:extLst xmlns:a="http://schemas.openxmlformats.org/drawingml/2006/main">
              <a:ext uri="{FF2B5EF4-FFF2-40B4-BE49-F238E27FC236}">
                <a16:creationId xmlns:a16="http://schemas.microsoft.com/office/drawing/2014/main" id="{B5B21B50-13AF-4D53-8849-F86D33B2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3" name="p3-r-2-label-text">
            <a:extLst xmlns:a="http://schemas.openxmlformats.org/drawingml/2006/main">
              <a:ext uri="{FF2B5EF4-FFF2-40B4-BE49-F238E27FC236}">
                <a16:creationId xmlns:a16="http://schemas.microsoft.com/office/drawing/2014/main" id="{2CCE7F50-71F9-4F56-A90C-334CD6F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33825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44" name="p3-r-2-a-bg">
            <a:extLst xmlns:a="http://schemas.openxmlformats.org/drawingml/2006/main">
              <a:ext uri="{FF2B5EF4-FFF2-40B4-BE49-F238E27FC236}">
                <a16:creationId xmlns:a16="http://schemas.microsoft.com/office/drawing/2014/main" id="{D2276E92-CE00-4BD4-8824-2A921B6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862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5" name="p3-r-2-a-text">
            <a:extLst xmlns:a="http://schemas.openxmlformats.org/drawingml/2006/main">
              <a:ext uri="{FF2B5EF4-FFF2-40B4-BE49-F238E27FC236}">
                <a16:creationId xmlns:a16="http://schemas.microsoft.com/office/drawing/2014/main" id="{53FC8AF0-F947-4AC4-B832-2B7D1AD5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933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46" name="p3-r-2-b-bg">
            <a:extLst xmlns:a="http://schemas.openxmlformats.org/drawingml/2006/main">
              <a:ext uri="{FF2B5EF4-FFF2-40B4-BE49-F238E27FC236}">
                <a16:creationId xmlns:a16="http://schemas.microsoft.com/office/drawing/2014/main" id="{53768FC3-5084-4F0E-98AB-32CACDC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862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7" name="p3-r-2-b-text">
            <a:extLst xmlns:a="http://schemas.openxmlformats.org/drawingml/2006/main">
              <a:ext uri="{FF2B5EF4-FFF2-40B4-BE49-F238E27FC236}">
                <a16:creationId xmlns:a16="http://schemas.microsoft.com/office/drawing/2014/main" id="{48E59BBC-772F-417A-A6F1-7F1B9EC8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33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48" name="p3-r-2-c-bg">
            <a:extLst xmlns:a="http://schemas.openxmlformats.org/drawingml/2006/main">
              <a:ext uri="{FF2B5EF4-FFF2-40B4-BE49-F238E27FC236}">
                <a16:creationId xmlns:a16="http://schemas.microsoft.com/office/drawing/2014/main" id="{A295C737-476D-44E9-8E22-C57B0B0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862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9" name="p3-r-2-c-text">
            <a:extLst xmlns:a="http://schemas.openxmlformats.org/drawingml/2006/main">
              <a:ext uri="{FF2B5EF4-FFF2-40B4-BE49-F238E27FC236}">
                <a16:creationId xmlns:a16="http://schemas.microsoft.com/office/drawing/2014/main" id="{CBDFABA3-15DA-4D70-BB97-1009931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33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50" name="p3-r-3-label-bg">
            <a:extLst xmlns:a="http://schemas.openxmlformats.org/drawingml/2006/main">
              <a:ext uri="{FF2B5EF4-FFF2-40B4-BE49-F238E27FC236}">
                <a16:creationId xmlns:a16="http://schemas.microsoft.com/office/drawing/2014/main" id="{1B388FC2-1921-471F-B800-7395DD6A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5767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1" name="p3-r-3-label-text">
            <a:extLst xmlns:a="http://schemas.openxmlformats.org/drawingml/2006/main">
              <a:ext uri="{FF2B5EF4-FFF2-40B4-BE49-F238E27FC236}">
                <a16:creationId xmlns:a16="http://schemas.microsoft.com/office/drawing/2014/main" id="{601159C7-D169-4069-9B46-8C80EDD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05300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52" name="p3-r-3-a-bg">
            <a:extLst xmlns:a="http://schemas.openxmlformats.org/drawingml/2006/main">
              <a:ext uri="{FF2B5EF4-FFF2-40B4-BE49-F238E27FC236}">
                <a16:creationId xmlns:a16="http://schemas.microsoft.com/office/drawing/2014/main" id="{1604D242-B2E8-450C-B94C-710730FF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5767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3" name="p3-r-3-a-text">
            <a:extLst xmlns:a="http://schemas.openxmlformats.org/drawingml/2006/main">
              <a:ext uri="{FF2B5EF4-FFF2-40B4-BE49-F238E27FC236}">
                <a16:creationId xmlns:a16="http://schemas.microsoft.com/office/drawing/2014/main" id="{48448E97-85D1-48DB-B89B-C4C93908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3053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54" name="p3-r-3-b-bg">
            <a:extLst xmlns:a="http://schemas.openxmlformats.org/drawingml/2006/main">
              <a:ext uri="{FF2B5EF4-FFF2-40B4-BE49-F238E27FC236}">
                <a16:creationId xmlns:a16="http://schemas.microsoft.com/office/drawing/2014/main" id="{606615A4-1791-4BE7-A9A1-DFF9E430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5767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5" name="p3-r-3-b-text">
            <a:extLst xmlns:a="http://schemas.openxmlformats.org/drawingml/2006/main">
              <a:ext uri="{FF2B5EF4-FFF2-40B4-BE49-F238E27FC236}">
                <a16:creationId xmlns:a16="http://schemas.microsoft.com/office/drawing/2014/main" id="{51259AF8-23D8-4294-B45D-ECB6DFED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053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56" name="p3-r-3-c-bg">
            <a:extLst xmlns:a="http://schemas.openxmlformats.org/drawingml/2006/main">
              <a:ext uri="{FF2B5EF4-FFF2-40B4-BE49-F238E27FC236}">
                <a16:creationId xmlns:a16="http://schemas.microsoft.com/office/drawing/2014/main" id="{D64EE0CC-1B91-478F-ABCE-9D689DA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5767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7" name="p3-r-3-c-text">
            <a:extLst xmlns:a="http://schemas.openxmlformats.org/drawingml/2006/main">
              <a:ext uri="{FF2B5EF4-FFF2-40B4-BE49-F238E27FC236}">
                <a16:creationId xmlns:a16="http://schemas.microsoft.com/office/drawing/2014/main" id="{C01060CF-F763-4CDC-AC7D-0FD7F78D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053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58" name="p3-r-4-label-bg">
            <a:extLst xmlns:a="http://schemas.openxmlformats.org/drawingml/2006/main">
              <a:ext uri="{FF2B5EF4-FFF2-40B4-BE49-F238E27FC236}">
                <a16:creationId xmlns:a16="http://schemas.microsoft.com/office/drawing/2014/main" id="{ED310D0C-583E-4A37-ACEF-F3234F1F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9" name="p3-r-4-label-text">
            <a:extLst xmlns:a="http://schemas.openxmlformats.org/drawingml/2006/main">
              <a:ext uri="{FF2B5EF4-FFF2-40B4-BE49-F238E27FC236}">
                <a16:creationId xmlns:a16="http://schemas.microsoft.com/office/drawing/2014/main" id="{97B343C1-BCA1-42A8-B94B-6659B1A3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76775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60" name="p3-r-4-a-bg">
            <a:extLst xmlns:a="http://schemas.openxmlformats.org/drawingml/2006/main">
              <a:ext uri="{FF2B5EF4-FFF2-40B4-BE49-F238E27FC236}">
                <a16:creationId xmlns:a16="http://schemas.microsoft.com/office/drawing/2014/main" id="{CE705960-6D76-4D99-A396-020E59A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291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1" name="p3-r-4-a-text">
            <a:extLst xmlns:a="http://schemas.openxmlformats.org/drawingml/2006/main">
              <a:ext uri="{FF2B5EF4-FFF2-40B4-BE49-F238E27FC236}">
                <a16:creationId xmlns:a16="http://schemas.microsoft.com/office/drawing/2014/main" id="{E0BDD958-DC5D-4292-B3C7-2F127507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6767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62" name="p3-r-4-b-bg">
            <a:extLst xmlns:a="http://schemas.openxmlformats.org/drawingml/2006/main">
              <a:ext uri="{FF2B5EF4-FFF2-40B4-BE49-F238E27FC236}">
                <a16:creationId xmlns:a16="http://schemas.microsoft.com/office/drawing/2014/main" id="{37EBB3A2-71C8-4A68-AA12-C380DE82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291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3" name="p3-r-4-b-text">
            <a:extLst xmlns:a="http://schemas.openxmlformats.org/drawingml/2006/main">
              <a:ext uri="{FF2B5EF4-FFF2-40B4-BE49-F238E27FC236}">
                <a16:creationId xmlns:a16="http://schemas.microsoft.com/office/drawing/2014/main" id="{7FBCC2D9-7352-4D82-81E5-F809F123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767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64" name="p3-r-4-c-bg">
            <a:extLst xmlns:a="http://schemas.openxmlformats.org/drawingml/2006/main">
              <a:ext uri="{FF2B5EF4-FFF2-40B4-BE49-F238E27FC236}">
                <a16:creationId xmlns:a16="http://schemas.microsoft.com/office/drawing/2014/main" id="{89395E73-45B7-4826-9AD6-2F55BDB4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291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5" name="p3-r-4-c-text">
            <a:extLst xmlns:a="http://schemas.openxmlformats.org/drawingml/2006/main">
              <a:ext uri="{FF2B5EF4-FFF2-40B4-BE49-F238E27FC236}">
                <a16:creationId xmlns:a16="http://schemas.microsoft.com/office/drawing/2014/main" id="{4E41F7BB-C45A-40A1-A558-6B80F87F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767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66" name="p3-r-5-label-bg">
            <a:extLst xmlns:a="http://schemas.openxmlformats.org/drawingml/2006/main">
              <a:ext uri="{FF2B5EF4-FFF2-40B4-BE49-F238E27FC236}">
                <a16:creationId xmlns:a16="http://schemas.microsoft.com/office/drawing/2014/main" id="{8A1CA9CB-DBE0-479F-85EA-772864C4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7" name="p3-r-5-label-text">
            <a:extLst xmlns:a="http://schemas.openxmlformats.org/drawingml/2006/main">
              <a:ext uri="{FF2B5EF4-FFF2-40B4-BE49-F238E27FC236}">
                <a16:creationId xmlns:a16="http://schemas.microsoft.com/office/drawing/2014/main" id="{7CFE9D66-9765-4560-B928-11A15D88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0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68" name="p3-r-5-a-bg">
            <a:extLst xmlns:a="http://schemas.openxmlformats.org/drawingml/2006/main">
              <a:ext uri="{FF2B5EF4-FFF2-40B4-BE49-F238E27FC236}">
                <a16:creationId xmlns:a16="http://schemas.microsoft.com/office/drawing/2014/main" id="{EA6282DF-A213-4C9B-AA35-80C839F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00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9" name="p3-r-5-a-text">
            <a:extLst xmlns:a="http://schemas.openxmlformats.org/drawingml/2006/main">
              <a:ext uri="{FF2B5EF4-FFF2-40B4-BE49-F238E27FC236}">
                <a16:creationId xmlns:a16="http://schemas.microsoft.com/office/drawing/2014/main" id="{641495B1-7DC5-4772-A900-8A8DA54E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0482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70" name="p3-r-5-b-bg">
            <a:extLst xmlns:a="http://schemas.openxmlformats.org/drawingml/2006/main">
              <a:ext uri="{FF2B5EF4-FFF2-40B4-BE49-F238E27FC236}">
                <a16:creationId xmlns:a16="http://schemas.microsoft.com/office/drawing/2014/main" id="{2C8B0858-B332-4E20-BA30-EC2D0978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1" name="p3-r-5-b-text">
            <a:extLst xmlns:a="http://schemas.openxmlformats.org/drawingml/2006/main">
              <a:ext uri="{FF2B5EF4-FFF2-40B4-BE49-F238E27FC236}">
                <a16:creationId xmlns:a16="http://schemas.microsoft.com/office/drawing/2014/main" id="{143A708D-6526-494B-92A4-F51B2565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482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72" name="p3-r-5-c-bg">
            <a:extLst xmlns:a="http://schemas.openxmlformats.org/drawingml/2006/main">
              <a:ext uri="{FF2B5EF4-FFF2-40B4-BE49-F238E27FC236}">
                <a16:creationId xmlns:a16="http://schemas.microsoft.com/office/drawing/2014/main" id="{F5895382-A2C6-4AEA-97D1-6EC2E64A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00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3" name="p3-r-5-c-text">
            <a:extLst xmlns:a="http://schemas.openxmlformats.org/drawingml/2006/main">
              <a:ext uri="{FF2B5EF4-FFF2-40B4-BE49-F238E27FC236}">
                <a16:creationId xmlns:a16="http://schemas.microsoft.com/office/drawing/2014/main" id="{1958D18E-0127-466F-8A89-E7C18E30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482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74" name="p3-side">
            <a:extLst xmlns:a="http://schemas.openxmlformats.org/drawingml/2006/main">
              <a:ext uri="{FF2B5EF4-FFF2-40B4-BE49-F238E27FC236}">
                <a16:creationId xmlns:a16="http://schemas.microsoft.com/office/drawing/2014/main" id="{0590E822-8DA9-42B1-80C3-876B53AF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26098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75" name="p3-side-title">
            <a:extLst xmlns:a="http://schemas.openxmlformats.org/drawingml/2006/main">
              <a:ext uri="{FF2B5EF4-FFF2-40B4-BE49-F238E27FC236}">
                <a16:creationId xmlns:a16="http://schemas.microsoft.com/office/drawing/2014/main" id="{B341A160-A6CC-40D0-BA7D-CDFBE14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52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575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选择 B</a:t>
            </a:r>
          </a:p>
        </p:txBody>
      </p:sp>
      <p:sp>
        <p:nvSpPr>
          <p:cNvPr id="76" name="p3-side-why">
            <a:extLst xmlns:a="http://schemas.openxmlformats.org/drawingml/2006/main">
              <a:ext uri="{FF2B5EF4-FFF2-40B4-BE49-F238E27FC236}">
                <a16:creationId xmlns:a16="http://schemas.microsoft.com/office/drawing/2014/main" id="{3E140FC8-13C7-47C6-8233-5F46C49B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7185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材料与权限类阻塞占75%；B直接对应。</a:t>
            </a:r>
          </a:p>
        </p:txBody>
      </p:sp>
      <p:sp>
        <p:nvSpPr>
          <p:cNvPr id="77" name="p3-side-rule">
            <a:extLst xmlns:a="http://schemas.openxmlformats.org/drawingml/2006/main">
              <a:ext uri="{FF2B5EF4-FFF2-40B4-BE49-F238E27FC236}">
                <a16:creationId xmlns:a16="http://schemas.microsoft.com/office/drawing/2014/main" id="{CC82124D-7881-48C7-BD80-4048BEB9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62425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3-side-next">
            <a:extLst xmlns:a="http://schemas.openxmlformats.org/drawingml/2006/main">
              <a:ext uri="{FF2B5EF4-FFF2-40B4-BE49-F238E27FC236}">
                <a16:creationId xmlns:a16="http://schemas.microsoft.com/office/drawing/2014/main" id="{23F9B0A1-90B3-49B4-8184-EAA222F9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053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A保留为高峰应急；C待入口规则稳定后再评估。</a:t>
            </a:r>
          </a:p>
        </p:txBody>
      </p:sp>
      <p:sp>
        <p:nvSpPr>
          <p:cNvPr id="79" name="p3-side-limit">
            <a:extLst xmlns:a="http://schemas.openxmlformats.org/drawingml/2006/main">
              <a:ext uri="{FF2B5EF4-FFF2-40B4-BE49-F238E27FC236}">
                <a16:creationId xmlns:a16="http://schemas.microsoft.com/office/drawing/2014/main" id="{8216BA31-DADB-4364-849D-FB618D9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53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B尚未实施，暂不宣称改善。</a:t>
            </a:r>
          </a:p>
        </p:txBody>
      </p:sp>
      <p:sp>
        <p:nvSpPr>
          <p:cNvPr id="80" name="p3-foot">
            <a:extLst xmlns:a="http://schemas.openxmlformats.org/drawingml/2006/main">
              <a:ext uri="{FF2B5EF4-FFF2-40B4-BE49-F238E27FC236}">
                <a16:creationId xmlns:a16="http://schemas.microsoft.com/office/drawing/2014/main" id="{E19CA538-BC2C-4958-ABC3-B27022B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模拟方案估计｜“人日”表示实施工作量；持续维护为周期性投入；不承诺消除全部阻塞。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六周试点应以数据完整和规则可用为门槛，再决定是否扩围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试点计划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4-kicker">
            <a:extLst xmlns:a="http://schemas.openxmlformats.org/drawingml/2006/main">
              <a:ext uri="{FF2B5EF4-FFF2-40B4-BE49-F238E27FC236}">
                <a16:creationId xmlns:a16="http://schemas.microsoft.com/office/drawing/2014/main" id="{D8648E45-7541-4E8A-A7DB-64AD7EF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工作计划｜门槛决定是否扩围</a:t>
            </a:r>
          </a:p>
        </p:txBody>
      </p:sp>
      <p:sp>
        <p:nvSpPr>
          <p:cNvPr id="16" name="p4-lead">
            <a:extLst xmlns:a="http://schemas.openxmlformats.org/drawingml/2006/main">
              <a:ext uri="{FF2B5EF4-FFF2-40B4-BE49-F238E27FC236}">
                <a16:creationId xmlns:a16="http://schemas.microsoft.com/office/drawing/2014/main" id="{D3956110-D22C-43B3-BC8B-BF4485B2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六周试点应以数据完整和规则可用为门槛，再决定是否扩围</a:t>
            </a:r>
          </a:p>
        </p:txBody>
      </p:sp>
      <p:sp>
        <p:nvSpPr>
          <p:cNvPr id="17" name="p4-context">
            <a:extLst xmlns:a="http://schemas.openxmlformats.org/drawingml/2006/main">
              <a:ext uri="{FF2B5EF4-FFF2-40B4-BE49-F238E27FC236}">
                <a16:creationId xmlns:a16="http://schemas.microsoft.com/office/drawing/2014/main" id="{BA4A964A-B379-4E7B-B05D-3D5F1869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第3—4周只覆盖数据提取请求；通过后才考虑扩展到数据清洗和权限开通。</a:t>
            </a:r>
          </a:p>
        </p:txBody>
      </p:sp>
      <p:sp>
        <p:nvSpPr>
          <p:cNvPr id="18" name="p4-grid-bg">
            <a:extLst xmlns:a="http://schemas.openxmlformats.org/drawingml/2006/main">
              <a:ext uri="{FF2B5EF4-FFF2-40B4-BE49-F238E27FC236}">
                <a16:creationId xmlns:a16="http://schemas.microsoft.com/office/drawing/2014/main" id="{F6AC57AA-5EA4-4B28-B0B9-BD7A0D24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7429500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9" name="p4-grid-label">
            <a:extLst xmlns:a="http://schemas.openxmlformats.org/drawingml/2006/main">
              <a:ext uri="{FF2B5EF4-FFF2-40B4-BE49-F238E27FC236}">
                <a16:creationId xmlns:a16="http://schemas.microsoft.com/office/drawing/2014/main" id="{6FEF50AD-E5FC-4E3B-BECA-1618444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1465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阶段与交付</a:t>
            </a:r>
          </a:p>
        </p:txBody>
      </p:sp>
      <p:sp>
        <p:nvSpPr>
          <p:cNvPr id="20" name="p4-week-0-bg">
            <a:extLst xmlns:a="http://schemas.openxmlformats.org/drawingml/2006/main">
              <a:ext uri="{FF2B5EF4-FFF2-40B4-BE49-F238E27FC236}">
                <a16:creationId xmlns:a16="http://schemas.microsoft.com/office/drawing/2014/main" id="{9B7F407A-23FB-4538-B0DC-D3859CEA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1" name="p4-week-0">
            <a:extLst xmlns:a="http://schemas.openxmlformats.org/drawingml/2006/main">
              <a:ext uri="{FF2B5EF4-FFF2-40B4-BE49-F238E27FC236}">
                <a16:creationId xmlns:a16="http://schemas.microsoft.com/office/drawing/2014/main" id="{6A7F2CC9-15B2-4DDE-9F17-76595133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</p:txBody>
      </p:sp>
      <p:sp>
        <p:nvSpPr>
          <p:cNvPr id="22" name="p4-week-1-bg">
            <a:extLst xmlns:a="http://schemas.openxmlformats.org/drawingml/2006/main">
              <a:ext uri="{FF2B5EF4-FFF2-40B4-BE49-F238E27FC236}">
                <a16:creationId xmlns:a16="http://schemas.microsoft.com/office/drawing/2014/main" id="{E6FE6466-E4FE-41A1-BBFA-3A309BCB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p4-week-1">
            <a:extLst xmlns:a="http://schemas.openxmlformats.org/drawingml/2006/main">
              <a:ext uri="{FF2B5EF4-FFF2-40B4-BE49-F238E27FC236}">
                <a16:creationId xmlns:a16="http://schemas.microsoft.com/office/drawing/2014/main" id="{8A45EA55-8CCE-4ECE-842F-1173200D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第2周</a:t>
            </a:r>
          </a:p>
        </p:txBody>
      </p:sp>
      <p:sp>
        <p:nvSpPr>
          <p:cNvPr id="24" name="p4-week-2-bg">
            <a:extLst xmlns:a="http://schemas.openxmlformats.org/drawingml/2006/main">
              <a:ext uri="{FF2B5EF4-FFF2-40B4-BE49-F238E27FC236}">
                <a16:creationId xmlns:a16="http://schemas.microsoft.com/office/drawing/2014/main" id="{BC2CBF4C-0D20-4C35-9978-39B53ADB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5" name="p4-week-2">
            <a:extLst xmlns:a="http://schemas.openxmlformats.org/drawingml/2006/main">
              <a:ext uri="{FF2B5EF4-FFF2-40B4-BE49-F238E27FC236}">
                <a16:creationId xmlns:a16="http://schemas.microsoft.com/office/drawing/2014/main" id="{FB91B19C-491E-4DE6-A05B-F9666C2E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第3周</a:t>
            </a:r>
          </a:p>
        </p:txBody>
      </p:sp>
      <p:sp>
        <p:nvSpPr>
          <p:cNvPr id="26" name="p4-week-3-bg">
            <a:extLst xmlns:a="http://schemas.openxmlformats.org/drawingml/2006/main">
              <a:ext uri="{FF2B5EF4-FFF2-40B4-BE49-F238E27FC236}">
                <a16:creationId xmlns:a16="http://schemas.microsoft.com/office/drawing/2014/main" id="{7734FB32-3507-4732-9D4F-D1D9AA9D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7" name="p4-week-3">
            <a:extLst xmlns:a="http://schemas.openxmlformats.org/drawingml/2006/main">
              <a:ext uri="{FF2B5EF4-FFF2-40B4-BE49-F238E27FC236}">
                <a16:creationId xmlns:a16="http://schemas.microsoft.com/office/drawing/2014/main" id="{930EC20D-5787-4811-B6BD-D40A4FB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第4周</a:t>
            </a:r>
          </a:p>
        </p:txBody>
      </p:sp>
      <p:sp>
        <p:nvSpPr>
          <p:cNvPr id="28" name="p4-week-4-bg">
            <a:extLst xmlns:a="http://schemas.openxmlformats.org/drawingml/2006/main">
              <a:ext uri="{FF2B5EF4-FFF2-40B4-BE49-F238E27FC236}">
                <a16:creationId xmlns:a16="http://schemas.microsoft.com/office/drawing/2014/main" id="{2C4B56E8-92B6-4EB7-A9E9-00799D2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9" name="p4-week-4">
            <a:extLst xmlns:a="http://schemas.openxmlformats.org/drawingml/2006/main">
              <a:ext uri="{FF2B5EF4-FFF2-40B4-BE49-F238E27FC236}">
                <a16:creationId xmlns:a16="http://schemas.microsoft.com/office/drawing/2014/main" id="{8E3113E3-ABBD-4007-8383-670AE221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第5周</a:t>
            </a:r>
          </a:p>
        </p:txBody>
      </p:sp>
      <p:sp>
        <p:nvSpPr>
          <p:cNvPr id="30" name="p4-week-5-bg">
            <a:extLst xmlns:a="http://schemas.openxmlformats.org/drawingml/2006/main">
              <a:ext uri="{FF2B5EF4-FFF2-40B4-BE49-F238E27FC236}">
                <a16:creationId xmlns:a16="http://schemas.microsoft.com/office/drawing/2014/main" id="{A2CE2975-1B33-459B-9899-31629EA1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1" name="p4-week-5">
            <a:extLst xmlns:a="http://schemas.openxmlformats.org/drawingml/2006/main">
              <a:ext uri="{FF2B5EF4-FFF2-40B4-BE49-F238E27FC236}">
                <a16:creationId xmlns:a16="http://schemas.microsoft.com/office/drawing/2014/main" id="{24067176-CE76-4A05-94C2-84A6F1B2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第6周</a:t>
            </a:r>
          </a:p>
        </p:txBody>
      </p:sp>
      <p:sp>
        <p:nvSpPr>
          <p:cNvPr id="32" name="p4-row-0">
            <a:extLst xmlns:a="http://schemas.openxmlformats.org/drawingml/2006/main">
              <a:ext uri="{FF2B5EF4-FFF2-40B4-BE49-F238E27FC236}">
                <a16:creationId xmlns:a16="http://schemas.microsoft.com/office/drawing/2014/main" id="{63DEA700-5E7D-4E8A-8E7D-7ED2DB93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4-row-label-0">
            <a:extLst xmlns:a="http://schemas.openxmlformats.org/drawingml/2006/main">
              <a:ext uri="{FF2B5EF4-FFF2-40B4-BE49-F238E27FC236}">
                <a16:creationId xmlns:a16="http://schemas.microsoft.com/office/drawing/2014/main" id="{248ADA4A-0D8A-48BD-A735-8C81C022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38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字段字典、授权清单、统一入口</a:t>
            </a:r>
          </a:p>
        </p:txBody>
      </p:sp>
      <p:sp>
        <p:nvSpPr>
          <p:cNvPr id="34" name="p4-v-0-0">
            <a:extLst xmlns:a="http://schemas.openxmlformats.org/drawingml/2006/main">
              <a:ext uri="{FF2B5EF4-FFF2-40B4-BE49-F238E27FC236}">
                <a16:creationId xmlns:a16="http://schemas.microsoft.com/office/drawing/2014/main" id="{2706156C-E61F-4968-99BC-D5DECCD8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4-v-0-1">
            <a:extLst xmlns:a="http://schemas.openxmlformats.org/drawingml/2006/main">
              <a:ext uri="{FF2B5EF4-FFF2-40B4-BE49-F238E27FC236}">
                <a16:creationId xmlns:a16="http://schemas.microsoft.com/office/drawing/2014/main" id="{4B2F1BCC-CFC7-4CFC-B657-F1F0EA6B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4-v-0-2">
            <a:extLst xmlns:a="http://schemas.openxmlformats.org/drawingml/2006/main">
              <a:ext uri="{FF2B5EF4-FFF2-40B4-BE49-F238E27FC236}">
                <a16:creationId xmlns:a16="http://schemas.microsoft.com/office/drawing/2014/main" id="{24471503-C210-4FB8-86A1-74D962DB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4-v-0-3">
            <a:extLst xmlns:a="http://schemas.openxmlformats.org/drawingml/2006/main">
              <a:ext uri="{FF2B5EF4-FFF2-40B4-BE49-F238E27FC236}">
                <a16:creationId xmlns:a16="http://schemas.microsoft.com/office/drawing/2014/main" id="{C92D8D28-2E27-4FB2-9CD1-72CC5094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4-v-0-4">
            <a:extLst xmlns:a="http://schemas.openxmlformats.org/drawingml/2006/main">
              <a:ext uri="{FF2B5EF4-FFF2-40B4-BE49-F238E27FC236}">
                <a16:creationId xmlns:a16="http://schemas.microsoft.com/office/drawing/2014/main" id="{C44787C6-9EE4-4319-9437-9015BEFE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4-v-0-5">
            <a:extLst xmlns:a="http://schemas.openxmlformats.org/drawingml/2006/main">
              <a:ext uri="{FF2B5EF4-FFF2-40B4-BE49-F238E27FC236}">
                <a16:creationId xmlns:a16="http://schemas.microsoft.com/office/drawing/2014/main" id="{D95C8D17-9045-4FDF-8195-11D90371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4-bar-0">
            <a:extLst xmlns:a="http://schemas.openxmlformats.org/drawingml/2006/main">
              <a:ext uri="{FF2B5EF4-FFF2-40B4-BE49-F238E27FC236}">
                <a16:creationId xmlns:a16="http://schemas.microsoft.com/office/drawing/2014/main" id="{67426B50-A36F-4A17-9BB7-CB7BD9FB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76600"/>
            <a:ext cx="1473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41" name="p4-bar-note-0">
            <a:extLst xmlns:a="http://schemas.openxmlformats.org/drawingml/2006/main">
              <a:ext uri="{FF2B5EF4-FFF2-40B4-BE49-F238E27FC236}">
                <a16:creationId xmlns:a16="http://schemas.microsoft.com/office/drawing/2014/main" id="{7A775928-1513-41F6-8F76-A01D67D8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139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三类请求共同参与</a:t>
            </a:r>
          </a:p>
        </p:txBody>
      </p:sp>
      <p:sp>
        <p:nvSpPr>
          <p:cNvPr id="42" name="p4-row-1">
            <a:extLst xmlns:a="http://schemas.openxmlformats.org/drawingml/2006/main">
              <a:ext uri="{FF2B5EF4-FFF2-40B4-BE49-F238E27FC236}">
                <a16:creationId xmlns:a16="http://schemas.microsoft.com/office/drawing/2014/main" id="{77378F35-F252-45AE-9E5B-FF75A227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7672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4-row-label-1">
            <a:extLst xmlns:a="http://schemas.openxmlformats.org/drawingml/2006/main">
              <a:ext uri="{FF2B5EF4-FFF2-40B4-BE49-F238E27FC236}">
                <a16:creationId xmlns:a16="http://schemas.microsoft.com/office/drawing/2014/main" id="{8B14E4B1-2419-4426-80E3-935A188F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0047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小范围试用</a:t>
            </a:r>
          </a:p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缺失字段、退回原因、首次响应记录</a:t>
            </a:r>
          </a:p>
        </p:txBody>
      </p:sp>
      <p:sp>
        <p:nvSpPr>
          <p:cNvPr id="44" name="p4-v-1-0">
            <a:extLst xmlns:a="http://schemas.openxmlformats.org/drawingml/2006/main">
              <a:ext uri="{FF2B5EF4-FFF2-40B4-BE49-F238E27FC236}">
                <a16:creationId xmlns:a16="http://schemas.microsoft.com/office/drawing/2014/main" id="{F381F5FD-D00B-4738-BE24-6DB54C1A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4-v-1-1">
            <a:extLst xmlns:a="http://schemas.openxmlformats.org/drawingml/2006/main">
              <a:ext uri="{FF2B5EF4-FFF2-40B4-BE49-F238E27FC236}">
                <a16:creationId xmlns:a16="http://schemas.microsoft.com/office/drawing/2014/main" id="{9536FFCE-C638-4E27-A51D-BE9BDF0E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4-v-1-2">
            <a:extLst xmlns:a="http://schemas.openxmlformats.org/drawingml/2006/main">
              <a:ext uri="{FF2B5EF4-FFF2-40B4-BE49-F238E27FC236}">
                <a16:creationId xmlns:a16="http://schemas.microsoft.com/office/drawing/2014/main" id="{8444AAAF-BE3F-45A3-8667-C2F7965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4-v-1-3">
            <a:extLst xmlns:a="http://schemas.openxmlformats.org/drawingml/2006/main">
              <a:ext uri="{FF2B5EF4-FFF2-40B4-BE49-F238E27FC236}">
                <a16:creationId xmlns:a16="http://schemas.microsoft.com/office/drawing/2014/main" id="{50207792-E598-49B2-9607-0D89D929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4-v-1-4">
            <a:extLst xmlns:a="http://schemas.openxmlformats.org/drawingml/2006/main">
              <a:ext uri="{FF2B5EF4-FFF2-40B4-BE49-F238E27FC236}">
                <a16:creationId xmlns:a16="http://schemas.microsoft.com/office/drawing/2014/main" id="{BD7E389F-E3BB-4765-BB4F-AEF23E5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4-v-1-5">
            <a:extLst xmlns:a="http://schemas.openxmlformats.org/drawingml/2006/main">
              <a:ext uri="{FF2B5EF4-FFF2-40B4-BE49-F238E27FC236}">
                <a16:creationId xmlns:a16="http://schemas.microsoft.com/office/drawing/2014/main" id="{DE75B6E2-0EC8-4900-BA05-F877B067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4-bar-1">
            <a:extLst xmlns:a="http://schemas.openxmlformats.org/drawingml/2006/main">
              <a:ext uri="{FF2B5EF4-FFF2-40B4-BE49-F238E27FC236}">
                <a16:creationId xmlns:a16="http://schemas.microsoft.com/office/drawing/2014/main" id="{D073B76C-5492-4040-BB3C-A74846E5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25" y="3838575"/>
            <a:ext cx="1473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51" name="p4-bar-note-1">
            <a:extLst xmlns:a="http://schemas.openxmlformats.org/drawingml/2006/main">
              <a:ext uri="{FF2B5EF4-FFF2-40B4-BE49-F238E27FC236}">
                <a16:creationId xmlns:a16="http://schemas.microsoft.com/office/drawing/2014/main" id="{66A2669A-D3A9-4310-986D-DCC5D938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3895725"/>
            <a:ext cx="139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仅数据提取请求</a:t>
            </a:r>
          </a:p>
        </p:txBody>
      </p:sp>
      <p:sp>
        <p:nvSpPr>
          <p:cNvPr id="52" name="p4-row-2">
            <a:extLst xmlns:a="http://schemas.openxmlformats.org/drawingml/2006/main">
              <a:ext uri="{FF2B5EF4-FFF2-40B4-BE49-F238E27FC236}">
                <a16:creationId xmlns:a16="http://schemas.microsoft.com/office/drawing/2014/main" id="{7E84A31C-7F5D-4628-A254-1516DC3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387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4-row-label-2">
            <a:extLst xmlns:a="http://schemas.openxmlformats.org/drawingml/2006/main">
              <a:ext uri="{FF2B5EF4-FFF2-40B4-BE49-F238E27FC236}">
                <a16:creationId xmlns:a16="http://schemas.microsoft.com/office/drawing/2014/main" id="{9BC5DF0E-4D12-4871-91A9-D7EA8078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2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复核后决定扩围</a:t>
            </a:r>
          </a:p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数据清洗、权限开通</a:t>
            </a:r>
          </a:p>
        </p:txBody>
      </p:sp>
      <p:sp>
        <p:nvSpPr>
          <p:cNvPr id="54" name="p4-v-2-0">
            <a:extLst xmlns:a="http://schemas.openxmlformats.org/drawingml/2006/main">
              <a:ext uri="{FF2B5EF4-FFF2-40B4-BE49-F238E27FC236}">
                <a16:creationId xmlns:a16="http://schemas.microsoft.com/office/drawing/2014/main" id="{D0B444E4-F23A-4580-BB93-5C39FD80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4-v-2-1">
            <a:extLst xmlns:a="http://schemas.openxmlformats.org/drawingml/2006/main">
              <a:ext uri="{FF2B5EF4-FFF2-40B4-BE49-F238E27FC236}">
                <a16:creationId xmlns:a16="http://schemas.microsoft.com/office/drawing/2014/main" id="{4E8BA22F-AF71-43CF-BEBD-2686A7B5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4-v-2-2">
            <a:extLst xmlns:a="http://schemas.openxmlformats.org/drawingml/2006/main">
              <a:ext uri="{FF2B5EF4-FFF2-40B4-BE49-F238E27FC236}">
                <a16:creationId xmlns:a16="http://schemas.microsoft.com/office/drawing/2014/main" id="{B6E8F544-AEC0-4B2C-ACCA-F2BA9132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4-v-2-3">
            <a:extLst xmlns:a="http://schemas.openxmlformats.org/drawingml/2006/main">
              <a:ext uri="{FF2B5EF4-FFF2-40B4-BE49-F238E27FC236}">
                <a16:creationId xmlns:a16="http://schemas.microsoft.com/office/drawing/2014/main" id="{69AA6844-DA79-4532-9090-0AB534EA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4-v-2-4">
            <a:extLst xmlns:a="http://schemas.openxmlformats.org/drawingml/2006/main">
              <a:ext uri="{FF2B5EF4-FFF2-40B4-BE49-F238E27FC236}">
                <a16:creationId xmlns:a16="http://schemas.microsoft.com/office/drawing/2014/main" id="{5600767C-D8C0-4222-9656-45F9205B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4-v-2-5">
            <a:extLst xmlns:a="http://schemas.openxmlformats.org/drawingml/2006/main">
              <a:ext uri="{FF2B5EF4-FFF2-40B4-BE49-F238E27FC236}">
                <a16:creationId xmlns:a16="http://schemas.microsoft.com/office/drawing/2014/main" id="{9F395E67-16FD-4A32-B408-6FDB6A65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4-bar-2">
            <a:extLst xmlns:a="http://schemas.openxmlformats.org/drawingml/2006/main">
              <a:ext uri="{FF2B5EF4-FFF2-40B4-BE49-F238E27FC236}">
                <a16:creationId xmlns:a16="http://schemas.microsoft.com/office/drawing/2014/main" id="{A34F2B5D-B5BD-4E55-A59F-5FC7B1A8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025" y="4400550"/>
            <a:ext cx="1473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D8364"/>
          </a:solidFill>
          <a:ln xmlns:a="http://schemas.openxmlformats.org/drawingml/2006/main" w="9525">
            <a:solidFill>
              <a:srgbClr val="5D8364"/>
            </a:solidFill>
            <a:prstDash val="solid"/>
          </a:ln>
        </p:spPr>
      </p:sp>
      <p:sp>
        <p:nvSpPr>
          <p:cNvPr id="61" name="p4-bar-note-2">
            <a:extLst xmlns:a="http://schemas.openxmlformats.org/drawingml/2006/main">
              <a:ext uri="{FF2B5EF4-FFF2-40B4-BE49-F238E27FC236}">
                <a16:creationId xmlns:a16="http://schemas.microsoft.com/office/drawing/2014/main" id="{D4ED3046-59FF-471B-936F-0B035ED2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125" y="4457700"/>
            <a:ext cx="139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负责人复核后决定</a:t>
            </a:r>
          </a:p>
        </p:txBody>
      </p:sp>
      <p:sp>
        <p:nvSpPr>
          <p:cNvPr id="62" name="p4-side-bg">
            <a:extLst xmlns:a="http://schemas.openxmlformats.org/drawingml/2006/main">
              <a:ext uri="{FF2B5EF4-FFF2-40B4-BE49-F238E27FC236}">
                <a16:creationId xmlns:a16="http://schemas.microsoft.com/office/drawing/2014/main" id="{8BCFE6F0-0906-48E0-AC03-D4387BD0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5718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63" name="p4-side-title">
            <a:extLst xmlns:a="http://schemas.openxmlformats.org/drawingml/2006/main">
              <a:ext uri="{FF2B5EF4-FFF2-40B4-BE49-F238E27FC236}">
                <a16:creationId xmlns:a16="http://schemas.microsoft.com/office/drawing/2014/main" id="{16C5A3C4-1BBC-4D2E-83D7-17FBE0E2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3152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进入下一阶段的条件</a:t>
            </a:r>
          </a:p>
        </p:txBody>
      </p:sp>
      <p:sp>
        <p:nvSpPr>
          <p:cNvPr id="64" name="p4-g1">
            <a:extLst xmlns:a="http://schemas.openxmlformats.org/drawingml/2006/main">
              <a:ext uri="{FF2B5EF4-FFF2-40B4-BE49-F238E27FC236}">
                <a16:creationId xmlns:a16="http://schemas.microsoft.com/office/drawing/2014/main" id="{1B99C40D-104B-473D-A5A5-72D2B159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152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1—2周：三类请求均完成一轮实际样本填写检查，无关键必填缺失。</a:t>
            </a:r>
          </a:p>
        </p:txBody>
      </p:sp>
      <p:sp>
        <p:nvSpPr>
          <p:cNvPr id="65" name="p4-g2">
            <a:extLst xmlns:a="http://schemas.openxmlformats.org/drawingml/2006/main">
              <a:ext uri="{FF2B5EF4-FFF2-40B4-BE49-F238E27FC236}">
                <a16:creationId xmlns:a16="http://schemas.microsoft.com/office/drawing/2014/main" id="{F83AEEEB-7E5E-46F4-A7ED-9BEA29A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3152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3—4周：记录完整，且未发现阻断提交的高频规则错误；否则回到字段/规则修订。</a:t>
            </a:r>
          </a:p>
        </p:txBody>
      </p:sp>
      <p:sp>
        <p:nvSpPr>
          <p:cNvPr id="66" name="p4-g3">
            <a:extLst xmlns:a="http://schemas.openxmlformats.org/drawingml/2006/main">
              <a:ext uri="{FF2B5EF4-FFF2-40B4-BE49-F238E27FC236}">
                <a16:creationId xmlns:a16="http://schemas.microsoft.com/office/drawing/2014/main" id="{1FA0630D-8064-48E6-9523-738C075F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152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5—6周：负责人复核数据后，再决定是否扩围。</a:t>
            </a:r>
          </a:p>
        </p:txBody>
      </p:sp>
      <p:sp>
        <p:nvSpPr>
          <p:cNvPr id="67" name="p4-metrics-bg">
            <a:extLst xmlns:a="http://schemas.openxmlformats.org/drawingml/2006/main">
              <a:ext uri="{FF2B5EF4-FFF2-40B4-BE49-F238E27FC236}">
                <a16:creationId xmlns:a16="http://schemas.microsoft.com/office/drawing/2014/main" id="{F1E81716-2BA5-410C-9FE2-75C2AFA3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11144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1EA"/>
          </a:solidFill>
          <a:ln xmlns:a="http://schemas.openxmlformats.org/drawingml/2006/main" w="9525">
            <a:solidFill>
              <a:srgbClr val="E9F1EA"/>
            </a:solidFill>
            <a:prstDash val="solid"/>
          </a:ln>
        </p:spPr>
      </p:sp>
      <p:sp>
        <p:nvSpPr>
          <p:cNvPr id="68" name="p4-metrics-title">
            <a:extLst xmlns:a="http://schemas.openxmlformats.org/drawingml/2006/main">
              <a:ext uri="{FF2B5EF4-FFF2-40B4-BE49-F238E27FC236}">
                <a16:creationId xmlns:a16="http://schemas.microsoft.com/office/drawing/2014/main" id="{95A23623-B8DF-405C-BCAE-BCF37BB8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rPr>
              <a:t>统一评估口径</a:t>
            </a:r>
          </a:p>
        </p:txBody>
      </p:sp>
      <p:sp>
        <p:nvSpPr>
          <p:cNvPr id="69" name="p4-m1">
            <a:extLst xmlns:a="http://schemas.openxmlformats.org/drawingml/2006/main">
              <a:ext uri="{FF2B5EF4-FFF2-40B4-BE49-F238E27FC236}">
                <a16:creationId xmlns:a16="http://schemas.microsoft.com/office/drawing/2014/main" id="{49286F7C-EE1B-4E7F-80BE-EAB4E23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721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两个工作日内响应比例</a:t>
            </a:r>
          </a:p>
        </p:txBody>
      </p:sp>
      <p:sp>
        <p:nvSpPr>
          <p:cNvPr id="70" name="p4-m2">
            <a:extLst xmlns:a="http://schemas.openxmlformats.org/drawingml/2006/main">
              <a:ext uri="{FF2B5EF4-FFF2-40B4-BE49-F238E27FC236}">
                <a16:creationId xmlns:a16="http://schemas.microsoft.com/office/drawing/2014/main" id="{EE469005-030C-4E5D-9EBE-4940AA20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72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材料退回比例</a:t>
            </a:r>
          </a:p>
        </p:txBody>
      </p:sp>
      <p:sp>
        <p:nvSpPr>
          <p:cNvPr id="71" name="p4-m3">
            <a:extLst xmlns:a="http://schemas.openxmlformats.org/drawingml/2006/main">
              <a:ext uri="{FF2B5EF4-FFF2-40B4-BE49-F238E27FC236}">
                <a16:creationId xmlns:a16="http://schemas.microsoft.com/office/drawing/2014/main" id="{16848C1D-486B-40B7-8B51-002B7AAC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721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经办人维护时间</a:t>
            </a:r>
          </a:p>
        </p:txBody>
      </p:sp>
      <p:sp>
        <p:nvSpPr>
          <p:cNvPr id="72" name="p4-m4">
            <a:extLst xmlns:a="http://schemas.openxmlformats.org/drawingml/2006/main">
              <a:ext uri="{FF2B5EF4-FFF2-40B4-BE49-F238E27FC236}">
                <a16:creationId xmlns:a16="http://schemas.microsoft.com/office/drawing/2014/main" id="{E860974C-5666-45B7-9C9C-359761B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72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目标值由试点基线确定</a:t>
            </a:r>
          </a:p>
        </p:txBody>
      </p:sp>
      <p:sp>
        <p:nvSpPr>
          <p:cNvPr id="73" name="p4-foot">
            <a:extLst xmlns:a="http://schemas.openxmlformats.org/drawingml/2006/main">
              <a:ext uri="{FF2B5EF4-FFF2-40B4-BE49-F238E27FC236}">
                <a16:creationId xmlns:a16="http://schemas.microsoft.com/office/drawing/2014/main" id="{506EF51C-D582-476F-91A0-7A414E1C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模拟计划｜阶段存在回流条件；未预设未经论证的百分比目标。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2026-09-08T15:56:57.3930000Z</dcterms:created>
  <dcterms:modified xsi:type="dcterms:W3CDTF">2026-09-08T15:56:57.3930000Z</dcterms:modified>
</coreProperties>
</file>