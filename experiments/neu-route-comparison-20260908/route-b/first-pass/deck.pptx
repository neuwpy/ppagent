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7855bf897b4f06" /><Relationship Type="http://schemas.openxmlformats.org/officeDocument/2006/relationships/extended-properties" Target="/docProps/app.xml" Id="Rafac8b0c6e7647e2" /><Relationship Type="http://schemas.openxmlformats.org/officeDocument/2006/relationships/officeDocument" Target="/ppt/presentation.xml" Id="R36c089259b1743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e6cfb0f7574ef0"/>
    <p:sldMasterId xmlns:r="http://schemas.openxmlformats.org/officeDocument/2006/relationships" id="2147483660" r:id="Rd7e2f50fe0d147c6"/>
    <p:sldMasterId xmlns:r="http://schemas.openxmlformats.org/officeDocument/2006/relationships" id="2147483663" r:id="R828d375dd00a4588"/>
  </p:sldMasterIdLst>
  <p:notesMasterIdLst>
    <p:notesMasterId xmlns:r="http://schemas.openxmlformats.org/officeDocument/2006/relationships" r:id="R79821d2046ea4b96"/>
  </p:notesMasterIdLst>
  <p:sldIdLst>
    <p:sldId xmlns:r="http://schemas.openxmlformats.org/officeDocument/2006/relationships" id="256" r:id="Re097e07868224485"/>
    <p:sldId xmlns:r="http://schemas.openxmlformats.org/officeDocument/2006/relationships" id="257" r:id="R6b80ebb36183437f"/>
    <p:sldId xmlns:r="http://schemas.openxmlformats.org/officeDocument/2006/relationships" id="258" r:id="Rec54ef99f4bd4840"/>
    <p:sldId xmlns:r="http://schemas.openxmlformats.org/officeDocument/2006/relationships" id="259" r:id="Rb7c564db930348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4eb941ca434275" /><Relationship Type="http://schemas.openxmlformats.org/officeDocument/2006/relationships/slideMaster" Target="/ppt/slideMasters/slideMaster1.xml" Id="R6de6cfb0f7574ef0" /><Relationship Type="http://schemas.openxmlformats.org/officeDocument/2006/relationships/slideMaster" Target="/ppt/slideMasters/slideMaster2.xml" Id="Rd7e2f50fe0d147c6" /><Relationship Type="http://schemas.openxmlformats.org/officeDocument/2006/relationships/slideMaster" Target="/ppt/slideMasters/slideMaster3.xml" Id="R828d375dd00a4588" /><Relationship Type="http://schemas.openxmlformats.org/officeDocument/2006/relationships/notesMaster" Target="/ppt/notesMasters/notesMaster1.xml" Id="R79821d2046ea4b96" /><Relationship Type="http://schemas.openxmlformats.org/officeDocument/2006/relationships/presProps" Target="/ppt/presProps.xml" Id="R71415ffc37924493" /><Relationship Type="http://schemas.openxmlformats.org/officeDocument/2006/relationships/viewProps" Target="/ppt/viewProps.xml" Id="R48900148bb734af9" /><Relationship Type="http://schemas.openxmlformats.org/officeDocument/2006/relationships/tableStyles" Target="/ppt/tableStyles.xml" Id="Rcc2bcc86ba9b4e30" /><Relationship Type="http://schemas.openxmlformats.org/officeDocument/2006/relationships/slide" Target="/ppt/slides/slide1.xml" Id="Re097e07868224485" /><Relationship Type="http://schemas.openxmlformats.org/officeDocument/2006/relationships/slide" Target="/ppt/slides/slide2.xml" Id="R6b80ebb36183437f" /><Relationship Type="http://schemas.openxmlformats.org/officeDocument/2006/relationships/slide" Target="/ppt/slides/slide3.xml" Id="Rec54ef99f4bd4840" /><Relationship Type="http://schemas.openxmlformats.org/officeDocument/2006/relationships/slide" Target="/ppt/slides/slide4.xml" Id="Rb7c564db930348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9032a0b9394a4d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69dbb0a6ae42e5" /><Relationship Type="http://schemas.openxmlformats.org/officeDocument/2006/relationships/notesMaster" Target="/ppt/notesMasters/notesMaster1.xml" Id="R5a16e69503ef40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42939340174821" /><Relationship Type="http://schemas.openxmlformats.org/officeDocument/2006/relationships/notesMaster" Target="/ppt/notesMasters/notesMaster1.xml" Id="Rd9b4f0a478de44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fecea0611e43c4" /><Relationship Type="http://schemas.openxmlformats.org/officeDocument/2006/relationships/notesMaster" Target="/ppt/notesMasters/notesMaster1.xml" Id="Ra9da89f5df6740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d67b1c40cc4e37" /><Relationship Type="http://schemas.openxmlformats.org/officeDocument/2006/relationships/notesMaster" Target="/ppt/notesMasters/notesMaster1.xml" Id="R900364992ee54b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内容：inputs/manuscript.txt（模拟数据）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PPagenT：route-b-evidence → route-b-c01-multi-evidence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内容：inputs/manuscript.txt（模拟数据）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PPagenT：route-b-decomposition → route-b-evidence-decomposition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内容：inputs/manuscript.txt（模拟数据）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PPagenT：route-b-eval-grid → route-b-c03-eval-grid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内容：inputs/manuscript.txt（模拟数据）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PPagenT：route-b-workplan → route-b-c06-workplan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ed53386a414cd3" /><Relationship Type="http://schemas.openxmlformats.org/officeDocument/2006/relationships/image" Target="/ppt/media/image.jpeg" Id="R9b34a00f9fea4fc2" /><Relationship Type="http://schemas.openxmlformats.org/officeDocument/2006/relationships/image" Target="/ppt/media/image.png" Id="Rf6d09cbd7a314600" /><Relationship Type="http://schemas.openxmlformats.org/officeDocument/2006/relationships/image" Target="/ppt/media/image2.png" Id="Rf621b9a5b51e419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c0a8ec1278476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7b5bfb13a94b01" /><Relationship Type="http://schemas.openxmlformats.org/officeDocument/2006/relationships/image" Target="/ppt/media/image3.png" Id="Rb1ac0cddbed541a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2c816046b04e53" /><Relationship Type="http://schemas.openxmlformats.org/officeDocument/2006/relationships/image" Target="/ppt/media/image4.png" Id="R34f8fda453244ba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6c270c9f904dc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82ba5acbf14c1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ddfa7676044e9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92e5a6877f494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1e1ead1f2c4d6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9204986ddf4a4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d3d1d03551417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3ccb3db5dfb42d0" /><Relationship Type="http://schemas.openxmlformats.org/officeDocument/2006/relationships/image" Target="/ppt/media/image5.png" Id="R3b0cbd89ed3d452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3717faec2e84013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29f739d370844e2" /><Relationship Type="http://schemas.openxmlformats.org/officeDocument/2006/relationships/image" Target="/ppt/media/image5.png" Id="Rb1052219bba64f68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97843f139434678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34a00f9fea4fc2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09cbd7a314600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21b9a5b51e41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ac0cddbed541a1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f8fda453244ba0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0cbd89ed3d4525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52219bba64f68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1235a93a234d4c" /><Relationship Type="http://schemas.openxmlformats.org/officeDocument/2006/relationships/slideLayout" Target="/ppt/slideLayouts/slideLayout1.xml" Id="R6214bc00952149c2" /><Relationship Type="http://schemas.openxmlformats.org/officeDocument/2006/relationships/slideLayout" Target="/ppt/slideLayouts/slideLayout2.xml" Id="R884e5b21a99241b6" /><Relationship Type="http://schemas.openxmlformats.org/officeDocument/2006/relationships/slideLayout" Target="/ppt/slideLayouts/slideLayout3.xml" Id="R076ff12a98e94104" /><Relationship Type="http://schemas.openxmlformats.org/officeDocument/2006/relationships/slideLayout" Target="/ppt/slideLayouts/slideLayout4.xml" Id="R29c2fd91a7864617" /><Relationship Type="http://schemas.openxmlformats.org/officeDocument/2006/relationships/slideLayout" Target="/ppt/slideLayouts/slideLayout5.xml" Id="R8c0d70d8b05441d6" /><Relationship Type="http://schemas.openxmlformats.org/officeDocument/2006/relationships/slideLayout" Target="/ppt/slideLayouts/slideLayout6.xml" Id="Rff05e0b24c8d440e" /><Relationship Type="http://schemas.openxmlformats.org/officeDocument/2006/relationships/slideLayout" Target="/ppt/slideLayouts/slideLayout7.xml" Id="Rd2c838fabb934d5d" /><Relationship Type="http://schemas.openxmlformats.org/officeDocument/2006/relationships/slideLayout" Target="/ppt/slideLayouts/slideLayout8.xml" Id="R67c37f12376e4e6b" /><Relationship Type="http://schemas.openxmlformats.org/officeDocument/2006/relationships/slideLayout" Target="/ppt/slideLayouts/slideLayout9.xml" Id="Rb43f750162ab4fcc" /><Relationship Type="http://schemas.openxmlformats.org/officeDocument/2006/relationships/slideLayout" Target="/ppt/slideLayouts/slideLayout10.xml" Id="Re25e83c448b84b0e" /><Relationship Type="http://schemas.openxmlformats.org/officeDocument/2006/relationships/slideLayout" Target="/ppt/slideLayouts/slideLayout11.xml" Id="R2ce6c17e62bb43a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c2bf6dfc9a24b35" /><Relationship Type="http://schemas.openxmlformats.org/officeDocument/2006/relationships/slideLayout" Target="/ppt/slideLayouts/slideLayout12.xml" Id="Rba417674fa434aed" /><Relationship Type="http://schemas.openxmlformats.org/officeDocument/2006/relationships/slideLayout" Target="/ppt/slideLayouts/slideLayout13.xml" Id="Ra4635abcc9404e8c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96966f5edd58440f" /><Relationship Type="http://schemas.openxmlformats.org/officeDocument/2006/relationships/slideLayout" Target="/ppt/slideLayouts/slideLayout14.xml" Id="R72c1b2273dd04472" /><Relationship Type="http://schemas.openxmlformats.org/officeDocument/2006/relationships/slideLayout" Target="/ppt/slideLayouts/slideLayout15.xml" Id="Raca1a34d2ecc47e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14bc00952149c2"/>
    <p:sldLayoutId xmlns:r="http://schemas.openxmlformats.org/officeDocument/2006/relationships" id="2147483650" r:id="R884e5b21a99241b6"/>
    <p:sldLayoutId xmlns:r="http://schemas.openxmlformats.org/officeDocument/2006/relationships" id="2147483651" r:id="R076ff12a98e94104"/>
    <p:sldLayoutId xmlns:r="http://schemas.openxmlformats.org/officeDocument/2006/relationships" id="2147483652" r:id="R29c2fd91a7864617"/>
    <p:sldLayoutId xmlns:r="http://schemas.openxmlformats.org/officeDocument/2006/relationships" id="2147483653" r:id="R8c0d70d8b05441d6"/>
    <p:sldLayoutId xmlns:r="http://schemas.openxmlformats.org/officeDocument/2006/relationships" id="2147483654" r:id="Rff05e0b24c8d440e"/>
    <p:sldLayoutId xmlns:r="http://schemas.openxmlformats.org/officeDocument/2006/relationships" id="2147483655" r:id="Rd2c838fabb934d5d"/>
    <p:sldLayoutId xmlns:r="http://schemas.openxmlformats.org/officeDocument/2006/relationships" id="2147483656" r:id="R67c37f12376e4e6b"/>
    <p:sldLayoutId xmlns:r="http://schemas.openxmlformats.org/officeDocument/2006/relationships" id="2147483657" r:id="Rb43f750162ab4fcc"/>
    <p:sldLayoutId xmlns:r="http://schemas.openxmlformats.org/officeDocument/2006/relationships" id="2147483658" r:id="Re25e83c448b84b0e"/>
    <p:sldLayoutId xmlns:r="http://schemas.openxmlformats.org/officeDocument/2006/relationships" id="2147483659" r:id="R2ce6c17e62bb43a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ba417674fa434aed"/>
    <p:sldLayoutId xmlns:r="http://schemas.openxmlformats.org/officeDocument/2006/relationships" id="2147483662" r:id="Ra4635abcc9404e8c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72c1b2273dd04472"/>
    <p:sldLayoutId xmlns:r="http://schemas.openxmlformats.org/officeDocument/2006/relationships" id="2147483665" r:id="Raca1a34d2ecc47ef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6ae0ce52d074e3c" /><Relationship Type="http://schemas.openxmlformats.org/officeDocument/2006/relationships/notesSlide" Target="/ppt/notesSlides/notesSlide1.xml" Id="R0e408d3e569848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50c5f868eab4ead" /><Relationship Type="http://schemas.openxmlformats.org/officeDocument/2006/relationships/notesSlide" Target="/ppt/notesSlides/notesSlide2.xml" Id="Rd9214861a5fe4a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8f13eb708b04c5b" /><Relationship Type="http://schemas.openxmlformats.org/officeDocument/2006/relationships/notesSlide" Target="/ppt/notesSlides/notesSlide3.xml" Id="Rebee8615047041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869a7549b5e4c8e" /><Relationship Type="http://schemas.openxmlformats.org/officeDocument/2006/relationships/notesSlide" Target="/ppt/notesSlides/notesSlide4.xml" Id="R3cf0ad09cb194fa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请求量翻倍后，首响及时率降至60%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运行观察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1-kicker">
            <a:extLst xmlns:a="http://schemas.openxmlformats.org/drawingml/2006/main">
              <a:ext uri="{FF2B5EF4-FFF2-40B4-BE49-F238E27FC236}">
                <a16:creationId xmlns:a16="http://schemas.microsoft.com/office/drawing/2014/main" id="{4F68BF1B-8582-4D8B-8994-2B5042B1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1114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主证据｜四个月同口径观察</a:t>
            </a:r>
          </a:p>
        </p:txBody>
      </p:sp>
      <p:sp>
        <p:nvSpPr>
          <p:cNvPr id="16" name="p1-lead">
            <a:extLst xmlns:a="http://schemas.openxmlformats.org/drawingml/2006/main">
              <a:ext uri="{FF2B5EF4-FFF2-40B4-BE49-F238E27FC236}">
                <a16:creationId xmlns:a16="http://schemas.microsoft.com/office/drawing/2014/main" id="{430B6F0F-B1C3-4B9A-818A-C5887543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9775"/>
            <a:ext cx="11144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请求量翻倍后，首响及时率降至60%</a:t>
            </a:r>
          </a:p>
        </p:txBody>
      </p:sp>
      <p:sp>
        <p:nvSpPr>
          <p:cNvPr id="17" name="p1-context">
            <a:extLst xmlns:a="http://schemas.openxmlformats.org/drawingml/2006/main">
              <a:ext uri="{FF2B5EF4-FFF2-40B4-BE49-F238E27FC236}">
                <a16:creationId xmlns:a16="http://schemas.microsoft.com/office/drawing/2014/main" id="{21A06DE2-1525-44BE-A45D-4B194D66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6220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收到请求数上升与响应压力上升同步出现；指标是“结案后≤2个工作日首次给出可执行答复”，不是结案时长。</a:t>
            </a:r>
          </a:p>
        </p:txBody>
      </p:sp>
      <p:sp>
        <p:nvSpPr>
          <p:cNvPr id="18" name="p1-table-bg">
            <a:extLst xmlns:a="http://schemas.openxmlformats.org/drawingml/2006/main">
              <a:ext uri="{FF2B5EF4-FFF2-40B4-BE49-F238E27FC236}">
                <a16:creationId xmlns:a16="http://schemas.microsoft.com/office/drawing/2014/main" id="{76F46889-0523-43D3-9344-1CFBE64E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00350"/>
            <a:ext cx="69532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19" name="p1-table-title">
            <a:extLst xmlns:a="http://schemas.openxmlformats.org/drawingml/2006/main">
              <a:ext uri="{FF2B5EF4-FFF2-40B4-BE49-F238E27FC236}">
                <a16:creationId xmlns:a16="http://schemas.microsoft.com/office/drawing/2014/main" id="{78B63894-DEAA-41A4-AB42-5AA8CE4D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718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月度观察值（同一统计口径）</a:t>
            </a:r>
          </a:p>
        </p:txBody>
      </p:sp>
      <p:sp>
        <p:nvSpPr>
          <p:cNvPr id="20" name="p1-head-0">
            <a:extLst xmlns:a="http://schemas.openxmlformats.org/drawingml/2006/main">
              <a:ext uri="{FF2B5EF4-FFF2-40B4-BE49-F238E27FC236}">
                <a16:creationId xmlns:a16="http://schemas.microsoft.com/office/drawing/2014/main" id="{493E53F0-F938-49F4-B5DA-E5334E94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432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21" name="p1-head-1">
            <a:extLst xmlns:a="http://schemas.openxmlformats.org/drawingml/2006/main">
              <a:ext uri="{FF2B5EF4-FFF2-40B4-BE49-F238E27FC236}">
                <a16:creationId xmlns:a16="http://schemas.microsoft.com/office/drawing/2014/main" id="{F7E71E3D-2BDA-4C5D-88C6-1C596606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43275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收到请求数</a:t>
            </a:r>
          </a:p>
        </p:txBody>
      </p:sp>
      <p:sp>
        <p:nvSpPr>
          <p:cNvPr id="22" name="p1-head-2">
            <a:extLst xmlns:a="http://schemas.openxmlformats.org/drawingml/2006/main">
              <a:ext uri="{FF2B5EF4-FFF2-40B4-BE49-F238E27FC236}">
                <a16:creationId xmlns:a16="http://schemas.microsoft.com/office/drawing/2014/main" id="{BEFFCE85-F774-48E4-B0DF-475FB6D8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343275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≤2工作日首响</a:t>
            </a:r>
          </a:p>
        </p:txBody>
      </p:sp>
      <p:sp>
        <p:nvSpPr>
          <p:cNvPr id="23" name="p1-head-3">
            <a:extLst xmlns:a="http://schemas.openxmlformats.org/drawingml/2006/main">
              <a:ext uri="{FF2B5EF4-FFF2-40B4-BE49-F238E27FC236}">
                <a16:creationId xmlns:a16="http://schemas.microsoft.com/office/drawing/2014/main" id="{F51D3650-3E44-4CD1-AA9C-C019DC23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432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中位首次响应</a:t>
            </a:r>
          </a:p>
        </p:txBody>
      </p:sp>
      <p:sp>
        <p:nvSpPr>
          <p:cNvPr id="24" name="p1-head-rule">
            <a:extLst xmlns:a="http://schemas.openxmlformats.org/drawingml/2006/main">
              <a:ext uri="{FF2B5EF4-FFF2-40B4-BE49-F238E27FC236}">
                <a16:creationId xmlns:a16="http://schemas.microsoft.com/office/drawing/2014/main" id="{ABE04388-2941-471D-99B2-D4D695DE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0045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1-r-0-m">
            <a:extLst xmlns:a="http://schemas.openxmlformats.org/drawingml/2006/main">
              <a:ext uri="{FF2B5EF4-FFF2-40B4-BE49-F238E27FC236}">
                <a16:creationId xmlns:a16="http://schemas.microsoft.com/office/drawing/2014/main" id="{F8427710-7077-4AE9-8E89-AFA97D4C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33800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1月</a:t>
            </a:r>
          </a:p>
        </p:txBody>
      </p:sp>
      <p:sp>
        <p:nvSpPr>
          <p:cNvPr id="26" name="p1-r-0-n">
            <a:extLst xmlns:a="http://schemas.openxmlformats.org/drawingml/2006/main">
              <a:ext uri="{FF2B5EF4-FFF2-40B4-BE49-F238E27FC236}">
                <a16:creationId xmlns:a16="http://schemas.microsoft.com/office/drawing/2014/main" id="{D68B82EE-FE3A-4084-9811-D5C69EB2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73380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120</a:t>
            </a:r>
          </a:p>
        </p:txBody>
      </p:sp>
      <p:sp>
        <p:nvSpPr>
          <p:cNvPr id="27" name="p1-r-0-rate">
            <a:extLst xmlns:a="http://schemas.openxmlformats.org/drawingml/2006/main">
              <a:ext uri="{FF2B5EF4-FFF2-40B4-BE49-F238E27FC236}">
                <a16:creationId xmlns:a16="http://schemas.microsoft.com/office/drawing/2014/main" id="{3E5F00A0-82D3-4AB3-BF5B-C4F162EB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7338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96 / 80%</a:t>
            </a:r>
          </a:p>
        </p:txBody>
      </p:sp>
      <p:sp>
        <p:nvSpPr>
          <p:cNvPr id="28" name="p1-r-0-median">
            <a:extLst xmlns:a="http://schemas.openxmlformats.org/drawingml/2006/main">
              <a:ext uri="{FF2B5EF4-FFF2-40B4-BE49-F238E27FC236}">
                <a16:creationId xmlns:a16="http://schemas.microsoft.com/office/drawing/2014/main" id="{0FA87104-C06F-4A63-9CDD-B3E4860A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338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1.3工作日</a:t>
            </a:r>
          </a:p>
        </p:txBody>
      </p:sp>
      <p:sp>
        <p:nvSpPr>
          <p:cNvPr id="29" name="p1-r-1-m">
            <a:extLst xmlns:a="http://schemas.openxmlformats.org/drawingml/2006/main">
              <a:ext uri="{FF2B5EF4-FFF2-40B4-BE49-F238E27FC236}">
                <a16:creationId xmlns:a16="http://schemas.microsoft.com/office/drawing/2014/main" id="{2C678AB6-FACF-45B8-8309-40277B2F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33850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2月</a:t>
            </a:r>
          </a:p>
        </p:txBody>
      </p:sp>
      <p:sp>
        <p:nvSpPr>
          <p:cNvPr id="30" name="p1-r-1-n">
            <a:extLst xmlns:a="http://schemas.openxmlformats.org/drawingml/2006/main">
              <a:ext uri="{FF2B5EF4-FFF2-40B4-BE49-F238E27FC236}">
                <a16:creationId xmlns:a16="http://schemas.microsoft.com/office/drawing/2014/main" id="{AB6F8401-8E6D-40A8-A864-8E0C0EC9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1338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150</a:t>
            </a:r>
          </a:p>
        </p:txBody>
      </p:sp>
      <p:sp>
        <p:nvSpPr>
          <p:cNvPr id="31" name="p1-r-1-rate">
            <a:extLst xmlns:a="http://schemas.openxmlformats.org/drawingml/2006/main">
              <a:ext uri="{FF2B5EF4-FFF2-40B4-BE49-F238E27FC236}">
                <a16:creationId xmlns:a16="http://schemas.microsoft.com/office/drawing/2014/main" id="{097975D9-9A42-435E-9FC5-CD44E487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13385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114 / 76%</a:t>
            </a:r>
          </a:p>
        </p:txBody>
      </p:sp>
      <p:sp>
        <p:nvSpPr>
          <p:cNvPr id="32" name="p1-r-1-median">
            <a:extLst xmlns:a="http://schemas.openxmlformats.org/drawingml/2006/main">
              <a:ext uri="{FF2B5EF4-FFF2-40B4-BE49-F238E27FC236}">
                <a16:creationId xmlns:a16="http://schemas.microsoft.com/office/drawing/2014/main" id="{DBCFB834-1AF8-4699-BA25-936F465D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133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1.5工作日</a:t>
            </a:r>
          </a:p>
        </p:txBody>
      </p:sp>
      <p:sp>
        <p:nvSpPr>
          <p:cNvPr id="33" name="p1-r-2-m">
            <a:extLst xmlns:a="http://schemas.openxmlformats.org/drawingml/2006/main">
              <a:ext uri="{FF2B5EF4-FFF2-40B4-BE49-F238E27FC236}">
                <a16:creationId xmlns:a16="http://schemas.microsoft.com/office/drawing/2014/main" id="{3BB901B5-E4E3-4CDE-9BAB-8594ECB0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533900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3月</a:t>
            </a:r>
          </a:p>
        </p:txBody>
      </p:sp>
      <p:sp>
        <p:nvSpPr>
          <p:cNvPr id="34" name="p1-r-2-n">
            <a:extLst xmlns:a="http://schemas.openxmlformats.org/drawingml/2006/main">
              <a:ext uri="{FF2B5EF4-FFF2-40B4-BE49-F238E27FC236}">
                <a16:creationId xmlns:a16="http://schemas.microsoft.com/office/drawing/2014/main" id="{98F0A364-6251-48E1-AFEB-B9882140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53390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180</a:t>
            </a:r>
          </a:p>
        </p:txBody>
      </p:sp>
      <p:sp>
        <p:nvSpPr>
          <p:cNvPr id="35" name="p1-r-2-rate">
            <a:extLst xmlns:a="http://schemas.openxmlformats.org/drawingml/2006/main">
              <a:ext uri="{FF2B5EF4-FFF2-40B4-BE49-F238E27FC236}">
                <a16:creationId xmlns:a16="http://schemas.microsoft.com/office/drawing/2014/main" id="{08AD8C4A-F682-4E1D-A290-7611EBFD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5339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126 / 70%</a:t>
            </a:r>
          </a:p>
        </p:txBody>
      </p:sp>
      <p:sp>
        <p:nvSpPr>
          <p:cNvPr id="36" name="p1-r-2-median">
            <a:extLst xmlns:a="http://schemas.openxmlformats.org/drawingml/2006/main">
              <a:ext uri="{FF2B5EF4-FFF2-40B4-BE49-F238E27FC236}">
                <a16:creationId xmlns:a16="http://schemas.microsoft.com/office/drawing/2014/main" id="{B691A144-7583-4116-A5FB-EB69DAC7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5339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1.8工作日</a:t>
            </a:r>
          </a:p>
        </p:txBody>
      </p:sp>
      <p:sp>
        <p:nvSpPr>
          <p:cNvPr id="37" name="p1-highlight-3">
            <a:extLst xmlns:a="http://schemas.openxmlformats.org/drawingml/2006/main">
              <a:ext uri="{FF2B5EF4-FFF2-40B4-BE49-F238E27FC236}">
                <a16:creationId xmlns:a16="http://schemas.microsoft.com/office/drawing/2014/main" id="{EDE55060-2967-4593-818C-26A00C7C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886325"/>
            <a:ext cx="6686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1-r-3-m">
            <a:extLst xmlns:a="http://schemas.openxmlformats.org/drawingml/2006/main">
              <a:ext uri="{FF2B5EF4-FFF2-40B4-BE49-F238E27FC236}">
                <a16:creationId xmlns:a16="http://schemas.microsoft.com/office/drawing/2014/main" id="{7D435840-5A69-43B9-A213-9B0E3AC6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33950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4月</a:t>
            </a:r>
          </a:p>
        </p:txBody>
      </p:sp>
      <p:sp>
        <p:nvSpPr>
          <p:cNvPr id="39" name="p1-r-3-n">
            <a:extLst xmlns:a="http://schemas.openxmlformats.org/drawingml/2006/main">
              <a:ext uri="{FF2B5EF4-FFF2-40B4-BE49-F238E27FC236}">
                <a16:creationId xmlns:a16="http://schemas.microsoft.com/office/drawing/2014/main" id="{9FA68DEE-0377-4111-9AC4-D84153A2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9339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240</a:t>
            </a:r>
          </a:p>
        </p:txBody>
      </p:sp>
      <p:sp>
        <p:nvSpPr>
          <p:cNvPr id="40" name="p1-r-3-rate">
            <a:extLst xmlns:a="http://schemas.openxmlformats.org/drawingml/2006/main">
              <a:ext uri="{FF2B5EF4-FFF2-40B4-BE49-F238E27FC236}">
                <a16:creationId xmlns:a16="http://schemas.microsoft.com/office/drawing/2014/main" id="{859202AB-4E5A-42BA-8B71-6781CFFD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93395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56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56B31"/>
                </a:solidFill>
                <a:latin typeface="Microsoft YaHei"/>
                <a:ea typeface="Microsoft YaHei"/>
                <a:cs typeface="Microsoft YaHei"/>
              </a:rPr>
              <a:t>144 / 60%</a:t>
            </a:r>
          </a:p>
        </p:txBody>
      </p:sp>
      <p:sp>
        <p:nvSpPr>
          <p:cNvPr id="41" name="p1-r-3-median">
            <a:extLst xmlns:a="http://schemas.openxmlformats.org/drawingml/2006/main">
              <a:ext uri="{FF2B5EF4-FFF2-40B4-BE49-F238E27FC236}">
                <a16:creationId xmlns:a16="http://schemas.microsoft.com/office/drawing/2014/main" id="{D8850C7D-DC3F-48AE-84C0-BD7268A0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339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6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64B43"/>
                </a:solidFill>
                <a:latin typeface="Microsoft YaHei"/>
                <a:ea typeface="Microsoft YaHei"/>
                <a:cs typeface="Microsoft YaHei"/>
              </a:rPr>
              <a:t>2.4工作日</a:t>
            </a:r>
          </a:p>
        </p:txBody>
      </p:sp>
      <p:sp>
        <p:nvSpPr>
          <p:cNvPr id="42" name="p1-legend-blue-swatch">
            <a:extLst xmlns:a="http://schemas.openxmlformats.org/drawingml/2006/main">
              <a:ext uri="{FF2B5EF4-FFF2-40B4-BE49-F238E27FC236}">
                <a16:creationId xmlns:a16="http://schemas.microsoft.com/office/drawing/2014/main" id="{B8AEB113-64DD-4F46-961D-8D7FAF2D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343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43" name="p1-legend-blue-label">
            <a:extLst xmlns:a="http://schemas.openxmlformats.org/drawingml/2006/main">
              <a:ext uri="{FF2B5EF4-FFF2-40B4-BE49-F238E27FC236}">
                <a16:creationId xmlns:a16="http://schemas.microsoft.com/office/drawing/2014/main" id="{74FF6F3A-3E48-448F-BD76-E8704FE3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054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4月重点行</a:t>
            </a:r>
          </a:p>
        </p:txBody>
      </p:sp>
      <p:sp>
        <p:nvSpPr>
          <p:cNvPr id="44" name="p1-legend-note">
            <a:extLst xmlns:a="http://schemas.openxmlformats.org/drawingml/2006/main">
              <a:ext uri="{FF2B5EF4-FFF2-40B4-BE49-F238E27FC236}">
                <a16:creationId xmlns:a16="http://schemas.microsoft.com/office/drawing/2014/main" id="{BABD63B5-9825-4F25-B632-066321F4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3054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1—4月无缺失记录</a:t>
            </a:r>
          </a:p>
        </p:txBody>
      </p:sp>
      <p:sp>
        <p:nvSpPr>
          <p:cNvPr id="45" name="p1-side-bg">
            <a:extLst xmlns:a="http://schemas.openxmlformats.org/drawingml/2006/main">
              <a:ext uri="{FF2B5EF4-FFF2-40B4-BE49-F238E27FC236}">
                <a16:creationId xmlns:a16="http://schemas.microsoft.com/office/drawing/2014/main" id="{F61EB5D0-1D54-4043-B297-92DFD4E7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00350"/>
            <a:ext cx="39052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E8F0F7"/>
            </a:solidFill>
            <a:prstDash val="solid"/>
          </a:ln>
        </p:spPr>
      </p:sp>
      <p:sp>
        <p:nvSpPr>
          <p:cNvPr id="46" name="p1-side-title">
            <a:extLst xmlns:a="http://schemas.openxmlformats.org/drawingml/2006/main">
              <a:ext uri="{FF2B5EF4-FFF2-40B4-BE49-F238E27FC236}">
                <a16:creationId xmlns:a16="http://schemas.microsoft.com/office/drawing/2014/main" id="{1053F1A6-31A0-4983-B93B-0F14CE78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09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观察含义</a:t>
            </a:r>
          </a:p>
        </p:txBody>
      </p:sp>
      <p:sp>
        <p:nvSpPr>
          <p:cNvPr id="47" name="p1-m1-value">
            <a:extLst xmlns:a="http://schemas.openxmlformats.org/drawingml/2006/main">
              <a:ext uri="{FF2B5EF4-FFF2-40B4-BE49-F238E27FC236}">
                <a16:creationId xmlns:a16="http://schemas.microsoft.com/office/drawing/2014/main" id="{0FFBFF39-9429-4AA2-B0F1-ACF582B2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909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15F91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2400" b="1">
                <a:solidFill>
                  <a:srgbClr val="315F91"/>
                </a:solidFill>
                <a:latin typeface="HYWenRunSongYun U"/>
                <a:ea typeface="HYWenRunSongYun U"/>
                <a:cs typeface="HYWenRunSongYun U"/>
              </a:rPr>
              <a:t>2×</a:t>
            </a:r>
          </a:p>
        </p:txBody>
      </p:sp>
      <p:sp>
        <p:nvSpPr>
          <p:cNvPr id="48" name="p1-m1-label">
            <a:extLst xmlns:a="http://schemas.openxmlformats.org/drawingml/2006/main">
              <a:ext uri="{FF2B5EF4-FFF2-40B4-BE49-F238E27FC236}">
                <a16:creationId xmlns:a16="http://schemas.microsoft.com/office/drawing/2014/main" id="{AB00D297-943D-4CB7-8EB0-A13D4E85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814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请求量：120 → 240</a:t>
            </a:r>
          </a:p>
        </p:txBody>
      </p:sp>
      <p:sp>
        <p:nvSpPr>
          <p:cNvPr id="49" name="p1-m2-value">
            <a:extLst xmlns:a="http://schemas.openxmlformats.org/drawingml/2006/main">
              <a:ext uri="{FF2B5EF4-FFF2-40B4-BE49-F238E27FC236}">
                <a16:creationId xmlns:a16="http://schemas.microsoft.com/office/drawing/2014/main" id="{C31B6705-D46A-4839-9D35-C365EFC9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909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56B31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2400" b="1">
                <a:solidFill>
                  <a:srgbClr val="C56B31"/>
                </a:solidFill>
                <a:latin typeface="HYWenRunSongYun U"/>
                <a:ea typeface="HYWenRunSongYun U"/>
                <a:cs typeface="HYWenRunSongYun U"/>
              </a:rPr>
              <a:t>−20pt</a:t>
            </a:r>
          </a:p>
        </p:txBody>
      </p:sp>
      <p:sp>
        <p:nvSpPr>
          <p:cNvPr id="50" name="p1-m2-label">
            <a:extLst xmlns:a="http://schemas.openxmlformats.org/drawingml/2006/main">
              <a:ext uri="{FF2B5EF4-FFF2-40B4-BE49-F238E27FC236}">
                <a16:creationId xmlns:a16="http://schemas.microsoft.com/office/drawing/2014/main" id="{D97D1422-34E1-4AA4-8477-25587ED9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814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及时率：80% → 60%</a:t>
            </a:r>
          </a:p>
        </p:txBody>
      </p:sp>
      <p:sp>
        <p:nvSpPr>
          <p:cNvPr id="51" name="p1-side-rule">
            <a:extLst xmlns:a="http://schemas.openxmlformats.org/drawingml/2006/main">
              <a:ext uri="{FF2B5EF4-FFF2-40B4-BE49-F238E27FC236}">
                <a16:creationId xmlns:a16="http://schemas.microsoft.com/office/drawing/2014/main" id="{CC5C5991-46A8-48DF-9B49-F918C74C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62425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D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1-side-body">
            <a:extLst xmlns:a="http://schemas.openxmlformats.org/drawingml/2006/main">
              <a:ext uri="{FF2B5EF4-FFF2-40B4-BE49-F238E27FC236}">
                <a16:creationId xmlns:a16="http://schemas.microsoft.com/office/drawing/2014/main" id="{C64F881D-15FD-4D5F-8681-D88BFF62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529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中位首次响应时间同步由1.3天升至2.4天。</a:t>
            </a:r>
          </a:p>
        </p:txBody>
      </p:sp>
      <p:sp>
        <p:nvSpPr>
          <p:cNvPr id="53" name="p1-side-boundary">
            <a:extLst xmlns:a="http://schemas.openxmlformats.org/drawingml/2006/main">
              <a:ext uri="{FF2B5EF4-FFF2-40B4-BE49-F238E27FC236}">
                <a16:creationId xmlns:a16="http://schemas.microsoft.com/office/drawing/2014/main" id="{D985C92E-0DF2-49DA-AB1F-0CCDA2AC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387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54" name="p1-side-boundary-body">
            <a:extLst xmlns:a="http://schemas.openxmlformats.org/drawingml/2006/main">
              <a:ext uri="{FF2B5EF4-FFF2-40B4-BE49-F238E27FC236}">
                <a16:creationId xmlns:a16="http://schemas.microsoft.com/office/drawing/2014/main" id="{E938A390-4627-4B03-813E-3AC742C0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863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工作量与压力同步上升，但无对照实验，不能断言工作量增长是响应变慢的唯一原因。</a:t>
            </a:r>
          </a:p>
        </p:txBody>
      </p:sp>
      <p:sp>
        <p:nvSpPr>
          <p:cNvPr id="55" name="p1-foot">
            <a:extLst xmlns:a="http://schemas.openxmlformats.org/drawingml/2006/main">
              <a:ext uri="{FF2B5EF4-FFF2-40B4-BE49-F238E27FC236}">
                <a16:creationId xmlns:a16="http://schemas.microsoft.com/office/drawing/2014/main" id="{4BA9F302-D774-4EE9-8AE8-DC4FDA54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38850"/>
            <a:ext cx="1114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模拟数据｜服务人员数量四个月保持不变；所有数值为排版验证用虚构情境。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4月未达标请求中，材料与权限阻塞占75%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原因复核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2-kicker">
            <a:extLst xmlns:a="http://schemas.openxmlformats.org/drawingml/2006/main">
              <a:ext uri="{FF2B5EF4-FFF2-40B4-BE49-F238E27FC236}">
                <a16:creationId xmlns:a16="http://schemas.microsoft.com/office/drawing/2014/main" id="{49E6F420-B068-4897-80D5-A2D5D7ED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1114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原因复核｜互斥且完整的阻塞分类</a:t>
            </a:r>
          </a:p>
        </p:txBody>
      </p:sp>
      <p:sp>
        <p:nvSpPr>
          <p:cNvPr id="16" name="p2-lead">
            <a:extLst xmlns:a="http://schemas.openxmlformats.org/drawingml/2006/main">
              <a:ext uri="{FF2B5EF4-FFF2-40B4-BE49-F238E27FC236}">
                <a16:creationId xmlns:a16="http://schemas.microsoft.com/office/drawing/2014/main" id="{07BF47DB-2F9E-42EC-AD10-7CCF2529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9775"/>
            <a:ext cx="11144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4月未达标请求中，材料与权限阻塞占75%</a:t>
            </a:r>
          </a:p>
        </p:txBody>
      </p:sp>
      <p:sp>
        <p:nvSpPr>
          <p:cNvPr id="17" name="p2-context">
            <a:extLst xmlns:a="http://schemas.openxmlformats.org/drawingml/2006/main">
              <a:ext uri="{FF2B5EF4-FFF2-40B4-BE49-F238E27FC236}">
                <a16:creationId xmlns:a16="http://schemas.microsoft.com/office/drawing/2014/main" id="{B538459A-36A2-4EE6-8CC7-C586A646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6220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复核对象为4月未达到两个工作日首响标准的96个请求；每个请求只记一个主要阻塞原因。</a:t>
            </a:r>
          </a:p>
        </p:txBody>
      </p:sp>
      <p:sp>
        <p:nvSpPr>
          <p:cNvPr id="18" name="p2-main-bg">
            <a:extLst xmlns:a="http://schemas.openxmlformats.org/drawingml/2006/main">
              <a:ext uri="{FF2B5EF4-FFF2-40B4-BE49-F238E27FC236}">
                <a16:creationId xmlns:a16="http://schemas.microsoft.com/office/drawing/2014/main" id="{46E756CC-B6FD-4F93-AB2D-497A7235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00350"/>
            <a:ext cx="7096125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19" name="p2-main-title">
            <a:extLst xmlns:a="http://schemas.openxmlformats.org/drawingml/2006/main">
              <a:ext uri="{FF2B5EF4-FFF2-40B4-BE49-F238E27FC236}">
                <a16:creationId xmlns:a16="http://schemas.microsoft.com/office/drawing/2014/main" id="{08E68E9F-824C-43DC-BE4C-45C1D518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90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96个请求的主要阻塞原因</a:t>
            </a:r>
          </a:p>
        </p:txBody>
      </p:sp>
      <p:sp>
        <p:nvSpPr>
          <p:cNvPr id="20" name="p2-bar-0">
            <a:extLst xmlns:a="http://schemas.openxmlformats.org/drawingml/2006/main">
              <a:ext uri="{FF2B5EF4-FFF2-40B4-BE49-F238E27FC236}">
                <a16:creationId xmlns:a16="http://schemas.microsoft.com/office/drawing/2014/main" id="{7AC2CB86-A5B7-42C3-907B-C0DCEC61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289619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1" name="p2-bar-label-0">
            <a:extLst xmlns:a="http://schemas.openxmlformats.org/drawingml/2006/main">
              <a:ext uri="{FF2B5EF4-FFF2-40B4-BE49-F238E27FC236}">
                <a16:creationId xmlns:a16="http://schemas.microsoft.com/office/drawing/2014/main" id="{37595E98-B0BB-4EC1-BA56-61059107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281999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材料不全 42</a:t>
            </a:r>
          </a:p>
        </p:txBody>
      </p:sp>
      <p:sp>
        <p:nvSpPr>
          <p:cNvPr id="22" name="p2-bar-1">
            <a:extLst xmlns:a="http://schemas.openxmlformats.org/drawingml/2006/main">
              <a:ext uri="{FF2B5EF4-FFF2-40B4-BE49-F238E27FC236}">
                <a16:creationId xmlns:a16="http://schemas.microsoft.com/office/drawing/2014/main" id="{2B53BF54-42D0-43BD-9252-B41C7C38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8195" y="3467100"/>
            <a:ext cx="2068711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1"/>
          </a:solidFill>
          <a:ln xmlns:a="http://schemas.openxmlformats.org/drawingml/2006/main" w="9525">
            <a:solidFill>
              <a:srgbClr val="C56B31"/>
            </a:solidFill>
            <a:prstDash val="solid"/>
          </a:ln>
        </p:spPr>
      </p:sp>
      <p:sp>
        <p:nvSpPr>
          <p:cNvPr id="23" name="p2-bar-label-1">
            <a:extLst xmlns:a="http://schemas.openxmlformats.org/drawingml/2006/main">
              <a:ext uri="{FF2B5EF4-FFF2-40B4-BE49-F238E27FC236}">
                <a16:creationId xmlns:a16="http://schemas.microsoft.com/office/drawing/2014/main" id="{3A9F0F05-F7FF-459A-9F77-0EC070E2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6295" y="3562350"/>
            <a:ext cx="199251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权限确认 30</a:t>
            </a:r>
          </a:p>
        </p:txBody>
      </p:sp>
      <p:sp>
        <p:nvSpPr>
          <p:cNvPr id="24" name="p2-bar-2">
            <a:extLst xmlns:a="http://schemas.openxmlformats.org/drawingml/2006/main">
              <a:ext uri="{FF2B5EF4-FFF2-40B4-BE49-F238E27FC236}">
                <a16:creationId xmlns:a16="http://schemas.microsoft.com/office/drawing/2014/main" id="{C1F18B6E-FA73-46FC-884D-103EEA1D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906" y="3467100"/>
            <a:ext cx="110331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8EAF"/>
          </a:solidFill>
          <a:ln xmlns:a="http://schemas.openxmlformats.org/drawingml/2006/main" w="9525">
            <a:solidFill>
              <a:srgbClr val="6E8EAF"/>
            </a:solidFill>
            <a:prstDash val="solid"/>
          </a:ln>
        </p:spPr>
      </p:sp>
      <p:sp>
        <p:nvSpPr>
          <p:cNvPr id="25" name="p2-bar-label-2">
            <a:extLst xmlns:a="http://schemas.openxmlformats.org/drawingml/2006/main">
              <a:ext uri="{FF2B5EF4-FFF2-40B4-BE49-F238E27FC236}">
                <a16:creationId xmlns:a16="http://schemas.microsoft.com/office/drawing/2014/main" id="{AEFA2097-FA43-497B-B75F-9F05D96D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006" y="3562350"/>
            <a:ext cx="102711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需求反复 16</a:t>
            </a:r>
          </a:p>
        </p:txBody>
      </p:sp>
      <p:sp>
        <p:nvSpPr>
          <p:cNvPr id="26" name="p2-bar-3">
            <a:extLst xmlns:a="http://schemas.openxmlformats.org/drawingml/2006/main">
              <a:ext uri="{FF2B5EF4-FFF2-40B4-BE49-F238E27FC236}">
                <a16:creationId xmlns:a16="http://schemas.microsoft.com/office/drawing/2014/main" id="{F1C09660-646F-4073-93FF-090E022C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219" y="3467100"/>
            <a:ext cx="551656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F6F"/>
          </a:solidFill>
          <a:ln xmlns:a="http://schemas.openxmlformats.org/drawingml/2006/main" w="9525">
            <a:solidFill>
              <a:srgbClr val="6F6F6F"/>
            </a:solidFill>
            <a:prstDash val="solid"/>
          </a:ln>
        </p:spPr>
      </p:sp>
      <p:sp>
        <p:nvSpPr>
          <p:cNvPr id="27" name="p2-bar-label-3">
            <a:extLst xmlns:a="http://schemas.openxmlformats.org/drawingml/2006/main">
              <a:ext uri="{FF2B5EF4-FFF2-40B4-BE49-F238E27FC236}">
                <a16:creationId xmlns:a16="http://schemas.microsoft.com/office/drawing/2014/main" id="{1801D7BF-7FF3-4605-9CD9-77E9720F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8319" y="3562350"/>
            <a:ext cx="47545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其他 8</a:t>
            </a:r>
          </a:p>
        </p:txBody>
      </p:sp>
      <p:sp>
        <p:nvSpPr>
          <p:cNvPr id="28" name="p2-total">
            <a:extLst xmlns:a="http://schemas.openxmlformats.org/drawingml/2006/main">
              <a:ext uri="{FF2B5EF4-FFF2-40B4-BE49-F238E27FC236}">
                <a16:creationId xmlns:a16="http://schemas.microsoft.com/office/drawing/2014/main" id="{C8246051-8CE2-4B8A-8402-3FF71B3A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67175"/>
            <a:ext cx="661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材料与权限：72 / 96 = 75%</a:t>
            </a:r>
          </a:p>
        </p:txBody>
      </p:sp>
      <p:sp>
        <p:nvSpPr>
          <p:cNvPr id="29" name="p2-dot-0">
            <a:extLst xmlns:a="http://schemas.openxmlformats.org/drawingml/2006/main">
              <a:ext uri="{FF2B5EF4-FFF2-40B4-BE49-F238E27FC236}">
                <a16:creationId xmlns:a16="http://schemas.microsoft.com/office/drawing/2014/main" id="{B737BD74-94D3-418B-8D31-C989A101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30" name="p2-cause-0">
            <a:extLst xmlns:a="http://schemas.openxmlformats.org/drawingml/2006/main">
              <a:ext uri="{FF2B5EF4-FFF2-40B4-BE49-F238E27FC236}">
                <a16:creationId xmlns:a16="http://schemas.microsoft.com/office/drawing/2014/main" id="{C430F05A-00A7-49E8-AB79-4ED3FC23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14850"/>
            <a:ext cx="6410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材料不全 42｜字段缺失或样本文件未附</a:t>
            </a:r>
          </a:p>
        </p:txBody>
      </p:sp>
      <p:sp>
        <p:nvSpPr>
          <p:cNvPr id="31" name="p2-dot-1">
            <a:extLst xmlns:a="http://schemas.openxmlformats.org/drawingml/2006/main">
              <a:ext uri="{FF2B5EF4-FFF2-40B4-BE49-F238E27FC236}">
                <a16:creationId xmlns:a16="http://schemas.microsoft.com/office/drawing/2014/main" id="{CEEDA72E-E981-4B1E-A6EF-C10C4F10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56B31"/>
          </a:solidFill>
          <a:ln xmlns:a="http://schemas.openxmlformats.org/drawingml/2006/main" w="9525">
            <a:solidFill>
              <a:srgbClr val="C56B31"/>
            </a:solidFill>
            <a:prstDash val="solid"/>
          </a:ln>
        </p:spPr>
      </p:sp>
      <p:sp>
        <p:nvSpPr>
          <p:cNvPr id="32" name="p2-cause-1">
            <a:extLst xmlns:a="http://schemas.openxmlformats.org/drawingml/2006/main">
              <a:ext uri="{FF2B5EF4-FFF2-40B4-BE49-F238E27FC236}">
                <a16:creationId xmlns:a16="http://schemas.microsoft.com/office/drawing/2014/main" id="{7968D7CE-DB45-428F-AD3C-6069690B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43450"/>
            <a:ext cx="6410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权限确认 30｜授权人不明确或范围未确认</a:t>
            </a:r>
          </a:p>
        </p:txBody>
      </p:sp>
      <p:sp>
        <p:nvSpPr>
          <p:cNvPr id="33" name="p2-dot-2">
            <a:extLst xmlns:a="http://schemas.openxmlformats.org/drawingml/2006/main">
              <a:ext uri="{FF2B5EF4-FFF2-40B4-BE49-F238E27FC236}">
                <a16:creationId xmlns:a16="http://schemas.microsoft.com/office/drawing/2014/main" id="{401D204E-9371-4463-BC37-29353DCC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8EAF"/>
          </a:solidFill>
          <a:ln xmlns:a="http://schemas.openxmlformats.org/drawingml/2006/main" w="9525">
            <a:solidFill>
              <a:srgbClr val="6E8EAF"/>
            </a:solidFill>
            <a:prstDash val="solid"/>
          </a:ln>
        </p:spPr>
      </p:sp>
      <p:sp>
        <p:nvSpPr>
          <p:cNvPr id="34" name="p2-cause-2">
            <a:extLst xmlns:a="http://schemas.openxmlformats.org/drawingml/2006/main">
              <a:ext uri="{FF2B5EF4-FFF2-40B4-BE49-F238E27FC236}">
                <a16:creationId xmlns:a16="http://schemas.microsoft.com/office/drawing/2014/main" id="{2148E3C3-4B3B-4C0B-8656-50D0C16D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72050"/>
            <a:ext cx="6410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需求反复 16｜需求多轮变更</a:t>
            </a:r>
          </a:p>
        </p:txBody>
      </p:sp>
      <p:sp>
        <p:nvSpPr>
          <p:cNvPr id="35" name="p2-dot-3">
            <a:extLst xmlns:a="http://schemas.openxmlformats.org/drawingml/2006/main">
              <a:ext uri="{FF2B5EF4-FFF2-40B4-BE49-F238E27FC236}">
                <a16:creationId xmlns:a16="http://schemas.microsoft.com/office/drawing/2014/main" id="{70E30847-1022-41AD-9041-1C58E745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6F6F"/>
          </a:solidFill>
          <a:ln xmlns:a="http://schemas.openxmlformats.org/drawingml/2006/main" w="9525">
            <a:solidFill>
              <a:srgbClr val="6F6F6F"/>
            </a:solidFill>
            <a:prstDash val="solid"/>
          </a:ln>
        </p:spPr>
      </p:sp>
      <p:sp>
        <p:nvSpPr>
          <p:cNvPr id="36" name="p2-cause-3">
            <a:extLst xmlns:a="http://schemas.openxmlformats.org/drawingml/2006/main">
              <a:ext uri="{FF2B5EF4-FFF2-40B4-BE49-F238E27FC236}">
                <a16:creationId xmlns:a16="http://schemas.microsoft.com/office/drawing/2014/main" id="{CF1F6F0D-4B8D-4906-A59F-3EA0398C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00650"/>
            <a:ext cx="6410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其他 8｜其余主要阻塞</a:t>
            </a:r>
          </a:p>
        </p:txBody>
      </p:sp>
      <p:sp>
        <p:nvSpPr>
          <p:cNvPr id="37" name="p2-side-bg">
            <a:extLst xmlns:a="http://schemas.openxmlformats.org/drawingml/2006/main">
              <a:ext uri="{FF2B5EF4-FFF2-40B4-BE49-F238E27FC236}">
                <a16:creationId xmlns:a16="http://schemas.microsoft.com/office/drawing/2014/main" id="{8059ED0C-2F2A-43CC-827B-A8B31623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00350"/>
            <a:ext cx="38100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7EDE5"/>
          </a:solidFill>
          <a:ln xmlns:a="http://schemas.openxmlformats.org/drawingml/2006/main" w="9525">
            <a:solidFill>
              <a:srgbClr val="F7EDE5"/>
            </a:solidFill>
            <a:prstDash val="solid"/>
          </a:ln>
        </p:spPr>
      </p:sp>
      <p:sp>
        <p:nvSpPr>
          <p:cNvPr id="38" name="p2-side-title">
            <a:extLst xmlns:a="http://schemas.openxmlformats.org/drawingml/2006/main">
              <a:ext uri="{FF2B5EF4-FFF2-40B4-BE49-F238E27FC236}">
                <a16:creationId xmlns:a16="http://schemas.microsoft.com/office/drawing/2014/main" id="{FFF4E702-F529-4A56-B6BB-78D2E1E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9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56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56B31"/>
                </a:solidFill>
                <a:latin typeface="Microsoft YaHei"/>
                <a:ea typeface="Microsoft YaHei"/>
                <a:cs typeface="Microsoft YaHei"/>
              </a:rPr>
              <a:t>这项证据能支持什么</a:t>
            </a:r>
          </a:p>
        </p:txBody>
      </p:sp>
      <p:sp>
        <p:nvSpPr>
          <p:cNvPr id="39" name="p2-use-1">
            <a:extLst xmlns:a="http://schemas.openxmlformats.org/drawingml/2006/main">
              <a:ext uri="{FF2B5EF4-FFF2-40B4-BE49-F238E27FC236}">
                <a16:creationId xmlns:a16="http://schemas.microsoft.com/office/drawing/2014/main" id="{180B825F-A5A1-463A-BE41-A15F7EF6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147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① 入口先覆盖字段与授权校验。</a:t>
            </a:r>
          </a:p>
        </p:txBody>
      </p:sp>
      <p:sp>
        <p:nvSpPr>
          <p:cNvPr id="40" name="p2-use-2">
            <a:extLst xmlns:a="http://schemas.openxmlformats.org/drawingml/2006/main">
              <a:ext uri="{FF2B5EF4-FFF2-40B4-BE49-F238E27FC236}">
                <a16:creationId xmlns:a16="http://schemas.microsoft.com/office/drawing/2014/main" id="{5D0A4060-834C-44A8-8FBF-941BB5F3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528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② 复杂需求沟通仍需人工判断。</a:t>
            </a:r>
          </a:p>
        </p:txBody>
      </p:sp>
      <p:sp>
        <p:nvSpPr>
          <p:cNvPr id="41" name="p2-use-3">
            <a:extLst xmlns:a="http://schemas.openxmlformats.org/drawingml/2006/main">
              <a:ext uri="{FF2B5EF4-FFF2-40B4-BE49-F238E27FC236}">
                <a16:creationId xmlns:a16="http://schemas.microsoft.com/office/drawing/2014/main" id="{457A4D4A-5DED-4640-A92D-8AEEC897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910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③ 比例仅代表4月复核结果。</a:t>
            </a:r>
          </a:p>
        </p:txBody>
      </p:sp>
      <p:sp>
        <p:nvSpPr>
          <p:cNvPr id="42" name="p2-side-rule">
            <a:extLst xmlns:a="http://schemas.openxmlformats.org/drawingml/2006/main">
              <a:ext uri="{FF2B5EF4-FFF2-40B4-BE49-F238E27FC236}">
                <a16:creationId xmlns:a16="http://schemas.microsoft.com/office/drawing/2014/main" id="{00A92473-14AD-4243-B2C6-56767423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4822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C9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2-side-limit">
            <a:extLst xmlns:a="http://schemas.openxmlformats.org/drawingml/2006/main">
              <a:ext uri="{FF2B5EF4-FFF2-40B4-BE49-F238E27FC236}">
                <a16:creationId xmlns:a16="http://schemas.microsoft.com/office/drawing/2014/main" id="{77108B4D-A188-435E-BCF0-21994D54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006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56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56B31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44" name="p2-side-limit-body">
            <a:extLst xmlns:a="http://schemas.openxmlformats.org/drawingml/2006/main">
              <a:ext uri="{FF2B5EF4-FFF2-40B4-BE49-F238E27FC236}">
                <a16:creationId xmlns:a16="http://schemas.microsoft.com/office/drawing/2014/main" id="{1AAD9B04-C781-467F-A504-A1C9EDB2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197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分类用于确定先查哪里，不等于每项干预可消除的数量，也不能预测节省工时。</a:t>
            </a:r>
          </a:p>
        </p:txBody>
      </p:sp>
      <p:sp>
        <p:nvSpPr>
          <p:cNvPr id="45" name="p2-foot">
            <a:extLst xmlns:a="http://schemas.openxmlformats.org/drawingml/2006/main">
              <a:ext uri="{FF2B5EF4-FFF2-40B4-BE49-F238E27FC236}">
                <a16:creationId xmlns:a16="http://schemas.microsoft.com/office/drawing/2014/main" id="{8FBB726F-4C68-4A02-BC48-6B25EBA1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38850"/>
            <a:ext cx="1114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模拟数据｜四类原因彼此互斥且合计完整；比例由本次复核直接计算。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建议先试行统一申请入口，因其直接对应主要阻塞且投入可控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方案取舍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3-kicker">
            <a:extLst xmlns:a="http://schemas.openxmlformats.org/drawingml/2006/main">
              <a:ext uri="{FF2B5EF4-FFF2-40B4-BE49-F238E27FC236}">
                <a16:creationId xmlns:a16="http://schemas.microsoft.com/office/drawing/2014/main" id="{BD9E7B39-F259-4DDC-B9C6-CBA1DAE7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1114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方案对照｜作用环节 × 实施约束</a:t>
            </a:r>
          </a:p>
        </p:txBody>
      </p:sp>
      <p:sp>
        <p:nvSpPr>
          <p:cNvPr id="16" name="p3-lead">
            <a:extLst xmlns:a="http://schemas.openxmlformats.org/drawingml/2006/main">
              <a:ext uri="{FF2B5EF4-FFF2-40B4-BE49-F238E27FC236}">
                <a16:creationId xmlns:a16="http://schemas.microsoft.com/office/drawing/2014/main" id="{F5AEF8A6-7C00-46F6-A0C8-5ADD8210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9775"/>
            <a:ext cx="11144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建议先试行统一申请入口，因其直接对应主要阻塞且投入可控</a:t>
            </a:r>
          </a:p>
        </p:txBody>
      </p:sp>
      <p:sp>
        <p:nvSpPr>
          <p:cNvPr id="17" name="p3-context">
            <a:extLst xmlns:a="http://schemas.openxmlformats.org/drawingml/2006/main">
              <a:ext uri="{FF2B5EF4-FFF2-40B4-BE49-F238E27FC236}">
                <a16:creationId xmlns:a16="http://schemas.microsoft.com/office/drawing/2014/main" id="{9A808AD3-3F4C-42BD-A28E-1B246D16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6220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三种应对措施的投入与周期均为内部方案估计，不能换算为已验证的响应改善。</a:t>
            </a:r>
          </a:p>
        </p:txBody>
      </p:sp>
      <p:sp>
        <p:nvSpPr>
          <p:cNvPr id="18" name="p3-h-label-bg">
            <a:extLst xmlns:a="http://schemas.openxmlformats.org/drawingml/2006/main">
              <a:ext uri="{FF2B5EF4-FFF2-40B4-BE49-F238E27FC236}">
                <a16:creationId xmlns:a16="http://schemas.microsoft.com/office/drawing/2014/main" id="{9BA03A89-A6BF-42CE-810F-BEADA95D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813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19" name="p3-h-label-text">
            <a:extLst xmlns:a="http://schemas.openxmlformats.org/drawingml/2006/main">
              <a:ext uri="{FF2B5EF4-FFF2-40B4-BE49-F238E27FC236}">
                <a16:creationId xmlns:a16="http://schemas.microsoft.com/office/drawing/2014/main" id="{4B9C90C2-39CD-49D9-AF4E-8AD3214D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82892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比较维度</a:t>
            </a:r>
          </a:p>
        </p:txBody>
      </p:sp>
      <p:sp>
        <p:nvSpPr>
          <p:cNvPr id="20" name="p3-h-a-bg">
            <a:extLst xmlns:a="http://schemas.openxmlformats.org/drawingml/2006/main">
              <a:ext uri="{FF2B5EF4-FFF2-40B4-BE49-F238E27FC236}">
                <a16:creationId xmlns:a16="http://schemas.microsoft.com/office/drawing/2014/main" id="{1237674B-DA51-499D-A507-BEAA4D2E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813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F6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21" name="p3-h-a-text">
            <a:extLst xmlns:a="http://schemas.openxmlformats.org/drawingml/2006/main">
              <a:ext uri="{FF2B5EF4-FFF2-40B4-BE49-F238E27FC236}">
                <a16:creationId xmlns:a16="http://schemas.microsoft.com/office/drawing/2014/main" id="{E79EF417-4876-4612-85A3-93B8D0F9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82892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 临时增加值班</a:t>
            </a:r>
          </a:p>
        </p:txBody>
      </p:sp>
      <p:sp>
        <p:nvSpPr>
          <p:cNvPr id="22" name="p3-h-b-bg">
            <a:extLst xmlns:a="http://schemas.openxmlformats.org/drawingml/2006/main">
              <a:ext uri="{FF2B5EF4-FFF2-40B4-BE49-F238E27FC236}">
                <a16:creationId xmlns:a16="http://schemas.microsoft.com/office/drawing/2014/main" id="{62DCDBC2-A0FC-4AEA-850B-0D3213BF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813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23" name="p3-h-b-text">
            <a:extLst xmlns:a="http://schemas.openxmlformats.org/drawingml/2006/main">
              <a:ext uri="{FF2B5EF4-FFF2-40B4-BE49-F238E27FC236}">
                <a16:creationId xmlns:a16="http://schemas.microsoft.com/office/drawing/2014/main" id="{FFCA8B45-02F8-4D37-B33C-4D21D556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82892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 统一申请入口</a:t>
            </a:r>
          </a:p>
        </p:txBody>
      </p:sp>
      <p:sp>
        <p:nvSpPr>
          <p:cNvPr id="24" name="p3-h-c-bg">
            <a:extLst xmlns:a="http://schemas.openxmlformats.org/drawingml/2006/main">
              <a:ext uri="{FF2B5EF4-FFF2-40B4-BE49-F238E27FC236}">
                <a16:creationId xmlns:a16="http://schemas.microsoft.com/office/drawing/2014/main" id="{49DE33F3-245A-4FDD-988F-A413CB93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813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1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25" name="p3-h-c-text">
            <a:extLst xmlns:a="http://schemas.openxmlformats.org/drawingml/2006/main">
              <a:ext uri="{FF2B5EF4-FFF2-40B4-BE49-F238E27FC236}">
                <a16:creationId xmlns:a16="http://schemas.microsoft.com/office/drawing/2014/main" id="{EA904651-BFCB-4FD9-AC05-619D95B9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82892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 批量自动预检</a:t>
            </a:r>
          </a:p>
        </p:txBody>
      </p:sp>
      <p:sp>
        <p:nvSpPr>
          <p:cNvPr id="26" name="p3-r-0-label-bg">
            <a:extLst xmlns:a="http://schemas.openxmlformats.org/drawingml/2006/main">
              <a:ext uri="{FF2B5EF4-FFF2-40B4-BE49-F238E27FC236}">
                <a16:creationId xmlns:a16="http://schemas.microsoft.com/office/drawing/2014/main" id="{A1BB05E5-B964-4042-B514-809B6273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1428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27" name="p3-r-0-label-text">
            <a:extLst xmlns:a="http://schemas.openxmlformats.org/drawingml/2006/main">
              <a:ext uri="{FF2B5EF4-FFF2-40B4-BE49-F238E27FC236}">
                <a16:creationId xmlns:a16="http://schemas.microsoft.com/office/drawing/2014/main" id="{E9668556-F87B-4B0C-8EC2-D96D7F90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190875"/>
            <a:ext cx="1276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直接作用环节</a:t>
            </a:r>
          </a:p>
        </p:txBody>
      </p:sp>
      <p:sp>
        <p:nvSpPr>
          <p:cNvPr id="28" name="p3-r-0-a-bg">
            <a:extLst xmlns:a="http://schemas.openxmlformats.org/drawingml/2006/main">
              <a:ext uri="{FF2B5EF4-FFF2-40B4-BE49-F238E27FC236}">
                <a16:creationId xmlns:a16="http://schemas.microsoft.com/office/drawing/2014/main" id="{EFFDD419-7475-4982-95EC-F73FF3A8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4325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29" name="p3-r-0-a-text">
            <a:extLst xmlns:a="http://schemas.openxmlformats.org/drawingml/2006/main">
              <a:ext uri="{FF2B5EF4-FFF2-40B4-BE49-F238E27FC236}">
                <a16:creationId xmlns:a16="http://schemas.microsoft.com/office/drawing/2014/main" id="{FE8FBBD0-03CB-4B9D-9780-A7FE02F7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19087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人工响应排队</a:t>
            </a:r>
          </a:p>
        </p:txBody>
      </p:sp>
      <p:sp>
        <p:nvSpPr>
          <p:cNvPr id="30" name="p3-r-0-b-bg">
            <a:extLst xmlns:a="http://schemas.openxmlformats.org/drawingml/2006/main">
              <a:ext uri="{FF2B5EF4-FFF2-40B4-BE49-F238E27FC236}">
                <a16:creationId xmlns:a16="http://schemas.microsoft.com/office/drawing/2014/main" id="{8638F0AA-5505-4828-97C0-F9C363E1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4325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31" name="p3-r-0-b-text">
            <a:extLst xmlns:a="http://schemas.openxmlformats.org/drawingml/2006/main">
              <a:ext uri="{FF2B5EF4-FFF2-40B4-BE49-F238E27FC236}">
                <a16:creationId xmlns:a16="http://schemas.microsoft.com/office/drawing/2014/main" id="{863DC079-3296-4B7A-BC54-CC494008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19087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提交时字段与授权校验</a:t>
            </a:r>
          </a:p>
        </p:txBody>
      </p:sp>
      <p:sp>
        <p:nvSpPr>
          <p:cNvPr id="32" name="p3-r-0-c-bg">
            <a:extLst xmlns:a="http://schemas.openxmlformats.org/drawingml/2006/main">
              <a:ext uri="{FF2B5EF4-FFF2-40B4-BE49-F238E27FC236}">
                <a16:creationId xmlns:a16="http://schemas.microsoft.com/office/drawing/2014/main" id="{31945EB2-C35D-4756-983C-CB24171F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4325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33" name="p3-r-0-c-text">
            <a:extLst xmlns:a="http://schemas.openxmlformats.org/drawingml/2006/main">
              <a:ext uri="{FF2B5EF4-FFF2-40B4-BE49-F238E27FC236}">
                <a16:creationId xmlns:a16="http://schemas.microsoft.com/office/drawing/2014/main" id="{29E085D0-653B-4C21-81E5-64BE39B1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19087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重复性材料格式检查</a:t>
            </a:r>
          </a:p>
        </p:txBody>
      </p:sp>
      <p:sp>
        <p:nvSpPr>
          <p:cNvPr id="34" name="p3-r-1-label-bg">
            <a:extLst xmlns:a="http://schemas.openxmlformats.org/drawingml/2006/main">
              <a:ext uri="{FF2B5EF4-FFF2-40B4-BE49-F238E27FC236}">
                <a16:creationId xmlns:a16="http://schemas.microsoft.com/office/drawing/2014/main" id="{AE5508E2-6043-40B7-9E80-BBD82D05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14725"/>
            <a:ext cx="1428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35" name="p3-r-1-label-text">
            <a:extLst xmlns:a="http://schemas.openxmlformats.org/drawingml/2006/main">
              <a:ext uri="{FF2B5EF4-FFF2-40B4-BE49-F238E27FC236}">
                <a16:creationId xmlns:a16="http://schemas.microsoft.com/office/drawing/2014/main" id="{6C610761-D0C5-4AB2-8188-55E92026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562350"/>
            <a:ext cx="1276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初期投入</a:t>
            </a:r>
          </a:p>
        </p:txBody>
      </p:sp>
      <p:sp>
        <p:nvSpPr>
          <p:cNvPr id="36" name="p3-r-1-a-bg">
            <a:extLst xmlns:a="http://schemas.openxmlformats.org/drawingml/2006/main">
              <a:ext uri="{FF2B5EF4-FFF2-40B4-BE49-F238E27FC236}">
                <a16:creationId xmlns:a16="http://schemas.microsoft.com/office/drawing/2014/main" id="{881B6CC2-454F-4783-9DFC-A6B355D3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14725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37" name="p3-r-1-a-text">
            <a:extLst xmlns:a="http://schemas.openxmlformats.org/drawingml/2006/main">
              <a:ext uri="{FF2B5EF4-FFF2-40B4-BE49-F238E27FC236}">
                <a16:creationId xmlns:a16="http://schemas.microsoft.com/office/drawing/2014/main" id="{3CE6C156-E299-46DC-AED3-ED6EB0DB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562350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8人日</a:t>
            </a:r>
          </a:p>
        </p:txBody>
      </p:sp>
      <p:sp>
        <p:nvSpPr>
          <p:cNvPr id="38" name="p3-r-1-b-bg">
            <a:extLst xmlns:a="http://schemas.openxmlformats.org/drawingml/2006/main">
              <a:ext uri="{FF2B5EF4-FFF2-40B4-BE49-F238E27FC236}">
                <a16:creationId xmlns:a16="http://schemas.microsoft.com/office/drawing/2014/main" id="{731CC300-FB02-48F8-B20B-D0CBB870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514725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39" name="p3-r-1-b-text">
            <a:extLst xmlns:a="http://schemas.openxmlformats.org/drawingml/2006/main">
              <a:ext uri="{FF2B5EF4-FFF2-40B4-BE49-F238E27FC236}">
                <a16:creationId xmlns:a16="http://schemas.microsoft.com/office/drawing/2014/main" id="{F9003758-7182-40EB-B2C4-CCF9B353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562350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12人日</a:t>
            </a:r>
          </a:p>
        </p:txBody>
      </p:sp>
      <p:sp>
        <p:nvSpPr>
          <p:cNvPr id="40" name="p3-r-1-c-bg">
            <a:extLst xmlns:a="http://schemas.openxmlformats.org/drawingml/2006/main">
              <a:ext uri="{FF2B5EF4-FFF2-40B4-BE49-F238E27FC236}">
                <a16:creationId xmlns:a16="http://schemas.microsoft.com/office/drawing/2014/main" id="{AFA20A7C-3B30-40E1-9FA5-706DF0D0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514725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41" name="p3-r-1-c-text">
            <a:extLst xmlns:a="http://schemas.openxmlformats.org/drawingml/2006/main">
              <a:ext uri="{FF2B5EF4-FFF2-40B4-BE49-F238E27FC236}">
                <a16:creationId xmlns:a16="http://schemas.microsoft.com/office/drawing/2014/main" id="{AA6791FE-9C48-4BA7-9195-D64C79A7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562350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56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56B31"/>
                </a:solidFill>
                <a:latin typeface="Microsoft YaHei"/>
                <a:ea typeface="Microsoft YaHei"/>
                <a:cs typeface="Microsoft YaHei"/>
              </a:rPr>
              <a:t>30人日</a:t>
            </a:r>
          </a:p>
        </p:txBody>
      </p:sp>
      <p:sp>
        <p:nvSpPr>
          <p:cNvPr id="42" name="p3-r-2-label-bg">
            <a:extLst xmlns:a="http://schemas.openxmlformats.org/drawingml/2006/main">
              <a:ext uri="{FF2B5EF4-FFF2-40B4-BE49-F238E27FC236}">
                <a16:creationId xmlns:a16="http://schemas.microsoft.com/office/drawing/2014/main" id="{2E56FF4B-50D4-42D9-A202-88FF1C27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86200"/>
            <a:ext cx="1428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43" name="p3-r-2-label-text">
            <a:extLst xmlns:a="http://schemas.openxmlformats.org/drawingml/2006/main">
              <a:ext uri="{FF2B5EF4-FFF2-40B4-BE49-F238E27FC236}">
                <a16:creationId xmlns:a16="http://schemas.microsoft.com/office/drawing/2014/main" id="{E2B45FDD-B953-49EC-9C43-9165EA8E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933825"/>
            <a:ext cx="1276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预计上线周期</a:t>
            </a:r>
          </a:p>
        </p:txBody>
      </p:sp>
      <p:sp>
        <p:nvSpPr>
          <p:cNvPr id="44" name="p3-r-2-a-bg">
            <a:extLst xmlns:a="http://schemas.openxmlformats.org/drawingml/2006/main">
              <a:ext uri="{FF2B5EF4-FFF2-40B4-BE49-F238E27FC236}">
                <a16:creationId xmlns:a16="http://schemas.microsoft.com/office/drawing/2014/main" id="{01D9644F-930F-4002-8823-C74D815B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88620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45" name="p3-r-2-a-text">
            <a:extLst xmlns:a="http://schemas.openxmlformats.org/drawingml/2006/main">
              <a:ext uri="{FF2B5EF4-FFF2-40B4-BE49-F238E27FC236}">
                <a16:creationId xmlns:a16="http://schemas.microsoft.com/office/drawing/2014/main" id="{5407527E-026A-4CC6-B590-F057091C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93382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1周</a:t>
            </a:r>
          </a:p>
        </p:txBody>
      </p:sp>
      <p:sp>
        <p:nvSpPr>
          <p:cNvPr id="46" name="p3-r-2-b-bg">
            <a:extLst xmlns:a="http://schemas.openxmlformats.org/drawingml/2006/main">
              <a:ext uri="{FF2B5EF4-FFF2-40B4-BE49-F238E27FC236}">
                <a16:creationId xmlns:a16="http://schemas.microsoft.com/office/drawing/2014/main" id="{286A66A3-3F5B-4102-97F9-77092370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8620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47" name="p3-r-2-b-text">
            <a:extLst xmlns:a="http://schemas.openxmlformats.org/drawingml/2006/main">
              <a:ext uri="{FF2B5EF4-FFF2-40B4-BE49-F238E27FC236}">
                <a16:creationId xmlns:a16="http://schemas.microsoft.com/office/drawing/2014/main" id="{40EDCB20-EF6A-4A42-907E-639C466F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93382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2周</a:t>
            </a:r>
          </a:p>
        </p:txBody>
      </p:sp>
      <p:sp>
        <p:nvSpPr>
          <p:cNvPr id="48" name="p3-r-2-c-bg">
            <a:extLst xmlns:a="http://schemas.openxmlformats.org/drawingml/2006/main">
              <a:ext uri="{FF2B5EF4-FFF2-40B4-BE49-F238E27FC236}">
                <a16:creationId xmlns:a16="http://schemas.microsoft.com/office/drawing/2014/main" id="{44AAD8BD-2C7F-4BB0-9F24-5437D9A8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88620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49" name="p3-r-2-c-text">
            <a:extLst xmlns:a="http://schemas.openxmlformats.org/drawingml/2006/main">
              <a:ext uri="{FF2B5EF4-FFF2-40B4-BE49-F238E27FC236}">
                <a16:creationId xmlns:a16="http://schemas.microsoft.com/office/drawing/2014/main" id="{45E239AF-0AF2-4ABE-9259-AE02EEF2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93382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56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56B31"/>
                </a:solidFill>
                <a:latin typeface="Microsoft YaHei"/>
                <a:ea typeface="Microsoft YaHei"/>
                <a:cs typeface="Microsoft YaHei"/>
              </a:rPr>
              <a:t>6周</a:t>
            </a:r>
          </a:p>
        </p:txBody>
      </p:sp>
      <p:sp>
        <p:nvSpPr>
          <p:cNvPr id="50" name="p3-r-3-label-bg">
            <a:extLst xmlns:a="http://schemas.openxmlformats.org/drawingml/2006/main">
              <a:ext uri="{FF2B5EF4-FFF2-40B4-BE49-F238E27FC236}">
                <a16:creationId xmlns:a16="http://schemas.microsoft.com/office/drawing/2014/main" id="{D57B3B61-411C-4BA9-8405-9768A589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57675"/>
            <a:ext cx="1428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51" name="p3-r-3-label-text">
            <a:extLst xmlns:a="http://schemas.openxmlformats.org/drawingml/2006/main">
              <a:ext uri="{FF2B5EF4-FFF2-40B4-BE49-F238E27FC236}">
                <a16:creationId xmlns:a16="http://schemas.microsoft.com/office/drawing/2014/main" id="{3FF9FA31-4B80-41AC-8654-0ECBC763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305300"/>
            <a:ext cx="1276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持续维护</a:t>
            </a:r>
          </a:p>
        </p:txBody>
      </p:sp>
      <p:sp>
        <p:nvSpPr>
          <p:cNvPr id="52" name="p3-r-3-a-bg">
            <a:extLst xmlns:a="http://schemas.openxmlformats.org/drawingml/2006/main">
              <a:ext uri="{FF2B5EF4-FFF2-40B4-BE49-F238E27FC236}">
                <a16:creationId xmlns:a16="http://schemas.microsoft.com/office/drawing/2014/main" id="{8F0DB4A3-6546-4D73-BA9E-A5E31999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57675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53" name="p3-r-3-a-text">
            <a:extLst xmlns:a="http://schemas.openxmlformats.org/drawingml/2006/main">
              <a:ext uri="{FF2B5EF4-FFF2-40B4-BE49-F238E27FC236}">
                <a16:creationId xmlns:a16="http://schemas.microsoft.com/office/drawing/2014/main" id="{BD26EFD6-FBFE-4C3D-B2A8-901AD43E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4305300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每周2人日值班</a:t>
            </a:r>
          </a:p>
        </p:txBody>
      </p:sp>
      <p:sp>
        <p:nvSpPr>
          <p:cNvPr id="54" name="p3-r-3-b-bg">
            <a:extLst xmlns:a="http://schemas.openxmlformats.org/drawingml/2006/main">
              <a:ext uri="{FF2B5EF4-FFF2-40B4-BE49-F238E27FC236}">
                <a16:creationId xmlns:a16="http://schemas.microsoft.com/office/drawing/2014/main" id="{31E0231A-E768-496F-BCCD-38F64A12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57675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55" name="p3-r-3-b-text">
            <a:extLst xmlns:a="http://schemas.openxmlformats.org/drawingml/2006/main">
              <a:ext uri="{FF2B5EF4-FFF2-40B4-BE49-F238E27FC236}">
                <a16:creationId xmlns:a16="http://schemas.microsoft.com/office/drawing/2014/main" id="{7990036D-7643-42B0-AA47-F5386A2D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305300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每周0.5人日规则维护</a:t>
            </a:r>
          </a:p>
        </p:txBody>
      </p:sp>
      <p:sp>
        <p:nvSpPr>
          <p:cNvPr id="56" name="p3-r-3-c-bg">
            <a:extLst xmlns:a="http://schemas.openxmlformats.org/drawingml/2006/main">
              <a:ext uri="{FF2B5EF4-FFF2-40B4-BE49-F238E27FC236}">
                <a16:creationId xmlns:a16="http://schemas.microsoft.com/office/drawing/2014/main" id="{5379B418-586A-4E3A-A9F1-D1CAE0C1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57675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57" name="p3-r-3-c-text">
            <a:extLst xmlns:a="http://schemas.openxmlformats.org/drawingml/2006/main">
              <a:ext uri="{FF2B5EF4-FFF2-40B4-BE49-F238E27FC236}">
                <a16:creationId xmlns:a16="http://schemas.microsoft.com/office/drawing/2014/main" id="{76ACFDB1-88E8-472F-8C10-8E9D0620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305300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每周1人日规则维护</a:t>
            </a:r>
          </a:p>
        </p:txBody>
      </p:sp>
      <p:sp>
        <p:nvSpPr>
          <p:cNvPr id="58" name="p3-r-4-label-bg">
            <a:extLst xmlns:a="http://schemas.openxmlformats.org/drawingml/2006/main">
              <a:ext uri="{FF2B5EF4-FFF2-40B4-BE49-F238E27FC236}">
                <a16:creationId xmlns:a16="http://schemas.microsoft.com/office/drawing/2014/main" id="{9324EBCD-015C-49BC-9033-F040F82D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29150"/>
            <a:ext cx="1428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59" name="p3-r-4-label-text">
            <a:extLst xmlns:a="http://schemas.openxmlformats.org/drawingml/2006/main">
              <a:ext uri="{FF2B5EF4-FFF2-40B4-BE49-F238E27FC236}">
                <a16:creationId xmlns:a16="http://schemas.microsoft.com/office/drawing/2014/main" id="{43F04462-B096-4971-A266-AC72EA32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676775"/>
            <a:ext cx="1276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当前依赖</a:t>
            </a:r>
          </a:p>
        </p:txBody>
      </p:sp>
      <p:sp>
        <p:nvSpPr>
          <p:cNvPr id="60" name="p3-r-4-a-bg">
            <a:extLst xmlns:a="http://schemas.openxmlformats.org/drawingml/2006/main">
              <a:ext uri="{FF2B5EF4-FFF2-40B4-BE49-F238E27FC236}">
                <a16:creationId xmlns:a16="http://schemas.microsoft.com/office/drawing/2014/main" id="{A0479DDB-2CCD-4735-A7C6-FF8DDEBF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2915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61" name="p3-r-4-a-text">
            <a:extLst xmlns:a="http://schemas.openxmlformats.org/drawingml/2006/main">
              <a:ext uri="{FF2B5EF4-FFF2-40B4-BE49-F238E27FC236}">
                <a16:creationId xmlns:a16="http://schemas.microsoft.com/office/drawing/2014/main" id="{9E2ACADB-C1EF-4F62-AE6D-D50911C5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467677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可调配值班人员</a:t>
            </a:r>
          </a:p>
        </p:txBody>
      </p:sp>
      <p:sp>
        <p:nvSpPr>
          <p:cNvPr id="62" name="p3-r-4-b-bg">
            <a:extLst xmlns:a="http://schemas.openxmlformats.org/drawingml/2006/main">
              <a:ext uri="{FF2B5EF4-FFF2-40B4-BE49-F238E27FC236}">
                <a16:creationId xmlns:a16="http://schemas.microsoft.com/office/drawing/2014/main" id="{30789E07-3234-4513-B0E9-D0A42663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62915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63" name="p3-r-4-b-text">
            <a:extLst xmlns:a="http://schemas.openxmlformats.org/drawingml/2006/main">
              <a:ext uri="{FF2B5EF4-FFF2-40B4-BE49-F238E27FC236}">
                <a16:creationId xmlns:a16="http://schemas.microsoft.com/office/drawing/2014/main" id="{A26AF4FF-1FB1-430E-B0DD-503B5578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67677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三类请求字段达成一致</a:t>
            </a:r>
          </a:p>
        </p:txBody>
      </p:sp>
      <p:sp>
        <p:nvSpPr>
          <p:cNvPr id="64" name="p3-r-4-c-bg">
            <a:extLst xmlns:a="http://schemas.openxmlformats.org/drawingml/2006/main">
              <a:ext uri="{FF2B5EF4-FFF2-40B4-BE49-F238E27FC236}">
                <a16:creationId xmlns:a16="http://schemas.microsoft.com/office/drawing/2014/main" id="{860730E2-005F-46C7-BA43-DB659DAE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62915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65" name="p3-r-4-c-text">
            <a:extLst xmlns:a="http://schemas.openxmlformats.org/drawingml/2006/main">
              <a:ext uri="{FF2B5EF4-FFF2-40B4-BE49-F238E27FC236}">
                <a16:creationId xmlns:a16="http://schemas.microsoft.com/office/drawing/2014/main" id="{DFD88CE1-1370-4AC8-9807-DFAAB328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67677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稳定字段及可机器判断的规则</a:t>
            </a:r>
          </a:p>
        </p:txBody>
      </p:sp>
      <p:sp>
        <p:nvSpPr>
          <p:cNvPr id="66" name="p3-r-5-label-bg">
            <a:extLst xmlns:a="http://schemas.openxmlformats.org/drawingml/2006/main">
              <a:ext uri="{FF2B5EF4-FFF2-40B4-BE49-F238E27FC236}">
                <a16:creationId xmlns:a16="http://schemas.microsoft.com/office/drawing/2014/main" id="{A3253AF5-58F2-4C38-A09D-6BCFB6BA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00625"/>
            <a:ext cx="1428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67" name="p3-r-5-label-text">
            <a:extLst xmlns:a="http://schemas.openxmlformats.org/drawingml/2006/main">
              <a:ext uri="{FF2B5EF4-FFF2-40B4-BE49-F238E27FC236}">
                <a16:creationId xmlns:a16="http://schemas.microsoft.com/office/drawing/2014/main" id="{11E2221E-3E73-4035-AAB0-7BF47407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048250"/>
            <a:ext cx="1276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主要限制</a:t>
            </a:r>
          </a:p>
        </p:txBody>
      </p:sp>
      <p:sp>
        <p:nvSpPr>
          <p:cNvPr id="68" name="p3-r-5-a-bg">
            <a:extLst xmlns:a="http://schemas.openxmlformats.org/drawingml/2006/main">
              <a:ext uri="{FF2B5EF4-FFF2-40B4-BE49-F238E27FC236}">
                <a16:creationId xmlns:a16="http://schemas.microsoft.com/office/drawing/2014/main" id="{D1F0A8D3-345C-4E99-9C87-12CE7BA5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000625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69" name="p3-r-5-a-text">
            <a:extLst xmlns:a="http://schemas.openxmlformats.org/drawingml/2006/main">
              <a:ext uri="{FF2B5EF4-FFF2-40B4-BE49-F238E27FC236}">
                <a16:creationId xmlns:a16="http://schemas.microsoft.com/office/drawing/2014/main" id="{4E103981-A83F-4398-9DFA-CF6F1D46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048250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不直接解决材料缺失</a:t>
            </a:r>
          </a:p>
        </p:txBody>
      </p:sp>
      <p:sp>
        <p:nvSpPr>
          <p:cNvPr id="70" name="p3-r-5-b-bg">
            <a:extLst xmlns:a="http://schemas.openxmlformats.org/drawingml/2006/main">
              <a:ext uri="{FF2B5EF4-FFF2-40B4-BE49-F238E27FC236}">
                <a16:creationId xmlns:a16="http://schemas.microsoft.com/office/drawing/2014/main" id="{26EFCFFF-FB17-4A94-BC04-F3DAB60C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00625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71" name="p3-r-5-b-text">
            <a:extLst xmlns:a="http://schemas.openxmlformats.org/drawingml/2006/main">
              <a:ext uri="{FF2B5EF4-FFF2-40B4-BE49-F238E27FC236}">
                <a16:creationId xmlns:a16="http://schemas.microsoft.com/office/drawing/2014/main" id="{9C9AE3C6-14E8-4B60-B416-EE242E63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048250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不消除复杂需求沟通</a:t>
            </a:r>
          </a:p>
        </p:txBody>
      </p:sp>
      <p:sp>
        <p:nvSpPr>
          <p:cNvPr id="72" name="p3-r-5-c-bg">
            <a:extLst xmlns:a="http://schemas.openxmlformats.org/drawingml/2006/main">
              <a:ext uri="{FF2B5EF4-FFF2-40B4-BE49-F238E27FC236}">
                <a16:creationId xmlns:a16="http://schemas.microsoft.com/office/drawing/2014/main" id="{8FD1C29F-B08D-4A76-9D73-C449AE1F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000625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73" name="p3-r-5-c-text">
            <a:extLst xmlns:a="http://schemas.openxmlformats.org/drawingml/2006/main">
              <a:ext uri="{FF2B5EF4-FFF2-40B4-BE49-F238E27FC236}">
                <a16:creationId xmlns:a16="http://schemas.microsoft.com/office/drawing/2014/main" id="{28C544DD-BCDA-48F8-8D39-301CAB83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048250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不替代人工授权判断</a:t>
            </a:r>
          </a:p>
        </p:txBody>
      </p:sp>
      <p:sp>
        <p:nvSpPr>
          <p:cNvPr id="74" name="p3-side">
            <a:extLst xmlns:a="http://schemas.openxmlformats.org/drawingml/2006/main">
              <a:ext uri="{FF2B5EF4-FFF2-40B4-BE49-F238E27FC236}">
                <a16:creationId xmlns:a16="http://schemas.microsoft.com/office/drawing/2014/main" id="{2FCC3226-5806-42D4-8F6A-73AAAFDB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781300"/>
            <a:ext cx="2381250" cy="26098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75" name="p3-side-title">
            <a:extLst xmlns:a="http://schemas.openxmlformats.org/drawingml/2006/main">
              <a:ext uri="{FF2B5EF4-FFF2-40B4-BE49-F238E27FC236}">
                <a16:creationId xmlns:a16="http://schemas.microsoft.com/office/drawing/2014/main" id="{8978FF3C-5CD3-4F7A-919D-8B5EBCCA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9527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1575" b="1">
                <a:solidFill>
                  <a:srgbClr val="315F91"/>
                </a:solidFill>
                <a:latin typeface="HYWenRunSongYun U"/>
                <a:ea typeface="HYWenRunSongYun U"/>
                <a:cs typeface="HYWenRunSongYun U"/>
              </a:rPr>
              <a:t>选择 B</a:t>
            </a:r>
          </a:p>
        </p:txBody>
      </p:sp>
      <p:sp>
        <p:nvSpPr>
          <p:cNvPr id="76" name="p3-side-why">
            <a:extLst xmlns:a="http://schemas.openxmlformats.org/drawingml/2006/main">
              <a:ext uri="{FF2B5EF4-FFF2-40B4-BE49-F238E27FC236}">
                <a16:creationId xmlns:a16="http://schemas.microsoft.com/office/drawing/2014/main" id="{3F946837-CAEB-47B8-96D5-05BA2E20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371850"/>
            <a:ext cx="2038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材料与权限类阻塞占75%；B直接对应。</a:t>
            </a:r>
          </a:p>
        </p:txBody>
      </p:sp>
      <p:sp>
        <p:nvSpPr>
          <p:cNvPr id="77" name="p3-side-rule">
            <a:extLst xmlns:a="http://schemas.openxmlformats.org/drawingml/2006/main">
              <a:ext uri="{FF2B5EF4-FFF2-40B4-BE49-F238E27FC236}">
                <a16:creationId xmlns:a16="http://schemas.microsoft.com/office/drawing/2014/main" id="{67D7DB70-FA71-4104-9F45-144EF8F0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162425"/>
            <a:ext cx="2038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D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3-side-next">
            <a:extLst xmlns:a="http://schemas.openxmlformats.org/drawingml/2006/main">
              <a:ext uri="{FF2B5EF4-FFF2-40B4-BE49-F238E27FC236}">
                <a16:creationId xmlns:a16="http://schemas.microsoft.com/office/drawing/2014/main" id="{7B4E3522-494F-482D-9932-CD6511FB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30530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A保留为高峰应急；C待入口规则稳定后再评估。</a:t>
            </a:r>
          </a:p>
        </p:txBody>
      </p:sp>
      <p:sp>
        <p:nvSpPr>
          <p:cNvPr id="79" name="p3-side-limit">
            <a:extLst xmlns:a="http://schemas.openxmlformats.org/drawingml/2006/main">
              <a:ext uri="{FF2B5EF4-FFF2-40B4-BE49-F238E27FC236}">
                <a16:creationId xmlns:a16="http://schemas.microsoft.com/office/drawing/2014/main" id="{526EB0EA-F630-4205-B104-FEEDA8C1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9530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B尚未实施，暂不宣称改善。</a:t>
            </a:r>
          </a:p>
        </p:txBody>
      </p:sp>
      <p:sp>
        <p:nvSpPr>
          <p:cNvPr id="80" name="p3-foot">
            <a:extLst xmlns:a="http://schemas.openxmlformats.org/drawingml/2006/main">
              <a:ext uri="{FF2B5EF4-FFF2-40B4-BE49-F238E27FC236}">
                <a16:creationId xmlns:a16="http://schemas.microsoft.com/office/drawing/2014/main" id="{9DA431DD-57CE-4066-88E4-4C180269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38850"/>
            <a:ext cx="1114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模拟方案估计｜“人日”表示实施工作量；持续维护为周期性投入；不承诺消除全部阻塞。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六周试点应以数据完整和规则可用为门槛，再决定是否扩围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试点计划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4-kicker">
            <a:extLst xmlns:a="http://schemas.openxmlformats.org/drawingml/2006/main">
              <a:ext uri="{FF2B5EF4-FFF2-40B4-BE49-F238E27FC236}">
                <a16:creationId xmlns:a16="http://schemas.microsoft.com/office/drawing/2014/main" id="{77A4FABA-343F-4A1F-A12B-857769F8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1114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工作计划｜门槛决定是否扩围</a:t>
            </a:r>
          </a:p>
        </p:txBody>
      </p:sp>
      <p:sp>
        <p:nvSpPr>
          <p:cNvPr id="16" name="p4-lead">
            <a:extLst xmlns:a="http://schemas.openxmlformats.org/drawingml/2006/main">
              <a:ext uri="{FF2B5EF4-FFF2-40B4-BE49-F238E27FC236}">
                <a16:creationId xmlns:a16="http://schemas.microsoft.com/office/drawing/2014/main" id="{EF7A8C74-78BE-4AB2-A4EB-42B6F2A6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9775"/>
            <a:ext cx="11144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六周试点应以数据完整和规则可用为门槛，再决定是否扩围</a:t>
            </a:r>
          </a:p>
        </p:txBody>
      </p:sp>
      <p:sp>
        <p:nvSpPr>
          <p:cNvPr id="17" name="p4-context">
            <a:extLst xmlns:a="http://schemas.openxmlformats.org/drawingml/2006/main">
              <a:ext uri="{FF2B5EF4-FFF2-40B4-BE49-F238E27FC236}">
                <a16:creationId xmlns:a16="http://schemas.microsoft.com/office/drawing/2014/main" id="{E0063B22-B28B-4B50-830C-7D30895C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6220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第3—4周只覆盖数据提取请求；通过后才考虑扩展到数据清洗和权限开通。</a:t>
            </a:r>
          </a:p>
        </p:txBody>
      </p:sp>
      <p:sp>
        <p:nvSpPr>
          <p:cNvPr id="18" name="p4-grid-bg">
            <a:extLst xmlns:a="http://schemas.openxmlformats.org/drawingml/2006/main">
              <a:ext uri="{FF2B5EF4-FFF2-40B4-BE49-F238E27FC236}">
                <a16:creationId xmlns:a16="http://schemas.microsoft.com/office/drawing/2014/main" id="{4B95F8F0-FC10-4393-A478-B1FCD0B2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0"/>
            <a:ext cx="7429500" cy="1990725"/>
          </a:xfrm>
          <a:prstGeom xmlns:a="http://schemas.openxmlformats.org/drawingml/2006/main" prst="roundRect">
            <a:avLst>
              <a:gd name="adj" fmla="val 38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19" name="p4-grid-label">
            <a:extLst xmlns:a="http://schemas.openxmlformats.org/drawingml/2006/main">
              <a:ext uri="{FF2B5EF4-FFF2-40B4-BE49-F238E27FC236}">
                <a16:creationId xmlns:a16="http://schemas.microsoft.com/office/drawing/2014/main" id="{F8876743-1597-44BA-ADB9-2D3061DB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914650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阶段与交付</a:t>
            </a:r>
          </a:p>
        </p:txBody>
      </p:sp>
      <p:sp>
        <p:nvSpPr>
          <p:cNvPr id="20" name="p4-week-0-bg">
            <a:extLst xmlns:a="http://schemas.openxmlformats.org/drawingml/2006/main">
              <a:ext uri="{FF2B5EF4-FFF2-40B4-BE49-F238E27FC236}">
                <a16:creationId xmlns:a16="http://schemas.microsoft.com/office/drawing/2014/main" id="{BC23C577-34CD-4977-A032-1A310C60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857500"/>
            <a:ext cx="79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1" name="p4-week-0">
            <a:extLst xmlns:a="http://schemas.openxmlformats.org/drawingml/2006/main">
              <a:ext uri="{FF2B5EF4-FFF2-40B4-BE49-F238E27FC236}">
                <a16:creationId xmlns:a16="http://schemas.microsoft.com/office/drawing/2014/main" id="{5FB80CBD-5799-4E67-861A-5ABA2104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14650"/>
            <a:ext cx="79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第1周</a:t>
            </a:r>
          </a:p>
        </p:txBody>
      </p:sp>
      <p:sp>
        <p:nvSpPr>
          <p:cNvPr id="22" name="p4-week-1-bg">
            <a:extLst xmlns:a="http://schemas.openxmlformats.org/drawingml/2006/main">
              <a:ext uri="{FF2B5EF4-FFF2-40B4-BE49-F238E27FC236}">
                <a16:creationId xmlns:a16="http://schemas.microsoft.com/office/drawing/2014/main" id="{D8D5705E-9FA0-446C-9A19-69D2B9C8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4625" y="2857500"/>
            <a:ext cx="79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3" name="p4-week-1">
            <a:extLst xmlns:a="http://schemas.openxmlformats.org/drawingml/2006/main">
              <a:ext uri="{FF2B5EF4-FFF2-40B4-BE49-F238E27FC236}">
                <a16:creationId xmlns:a16="http://schemas.microsoft.com/office/drawing/2014/main" id="{B081A54F-63C9-4C5E-A756-09EBA159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4625" y="2914650"/>
            <a:ext cx="79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第2周</a:t>
            </a:r>
          </a:p>
        </p:txBody>
      </p:sp>
      <p:sp>
        <p:nvSpPr>
          <p:cNvPr id="24" name="p4-week-2-bg">
            <a:extLst xmlns:a="http://schemas.openxmlformats.org/drawingml/2006/main">
              <a:ext uri="{FF2B5EF4-FFF2-40B4-BE49-F238E27FC236}">
                <a16:creationId xmlns:a16="http://schemas.microsoft.com/office/drawing/2014/main" id="{81201EDF-7ACB-4229-BC89-03CE9C90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8375" y="2857500"/>
            <a:ext cx="79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5" name="p4-week-2">
            <a:extLst xmlns:a="http://schemas.openxmlformats.org/drawingml/2006/main">
              <a:ext uri="{FF2B5EF4-FFF2-40B4-BE49-F238E27FC236}">
                <a16:creationId xmlns:a16="http://schemas.microsoft.com/office/drawing/2014/main" id="{B7832AB4-DCD5-49D6-AC2F-735BD607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8375" y="2914650"/>
            <a:ext cx="79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第3周</a:t>
            </a:r>
          </a:p>
        </p:txBody>
      </p:sp>
      <p:sp>
        <p:nvSpPr>
          <p:cNvPr id="26" name="p4-week-3-bg">
            <a:extLst xmlns:a="http://schemas.openxmlformats.org/drawingml/2006/main">
              <a:ext uri="{FF2B5EF4-FFF2-40B4-BE49-F238E27FC236}">
                <a16:creationId xmlns:a16="http://schemas.microsoft.com/office/drawing/2014/main" id="{DE410712-3E77-4841-8DEB-3344F565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857500"/>
            <a:ext cx="79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7" name="p4-week-3">
            <a:extLst xmlns:a="http://schemas.openxmlformats.org/drawingml/2006/main">
              <a:ext uri="{FF2B5EF4-FFF2-40B4-BE49-F238E27FC236}">
                <a16:creationId xmlns:a16="http://schemas.microsoft.com/office/drawing/2014/main" id="{DAA46DC1-0B34-45E4-81B1-409C4373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14650"/>
            <a:ext cx="79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第4周</a:t>
            </a:r>
          </a:p>
        </p:txBody>
      </p:sp>
      <p:sp>
        <p:nvSpPr>
          <p:cNvPr id="28" name="p4-week-4-bg">
            <a:extLst xmlns:a="http://schemas.openxmlformats.org/drawingml/2006/main">
              <a:ext uri="{FF2B5EF4-FFF2-40B4-BE49-F238E27FC236}">
                <a16:creationId xmlns:a16="http://schemas.microsoft.com/office/drawing/2014/main" id="{0D3B40CE-746F-4C6F-9043-6E99C2EC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5875" y="2857500"/>
            <a:ext cx="79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9" name="p4-week-4">
            <a:extLst xmlns:a="http://schemas.openxmlformats.org/drawingml/2006/main">
              <a:ext uri="{FF2B5EF4-FFF2-40B4-BE49-F238E27FC236}">
                <a16:creationId xmlns:a16="http://schemas.microsoft.com/office/drawing/2014/main" id="{374DFB9F-F759-4935-80D1-223DC1B6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5875" y="2914650"/>
            <a:ext cx="79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第5周</a:t>
            </a:r>
          </a:p>
        </p:txBody>
      </p:sp>
      <p:sp>
        <p:nvSpPr>
          <p:cNvPr id="30" name="p4-week-5-bg">
            <a:extLst xmlns:a="http://schemas.openxmlformats.org/drawingml/2006/main">
              <a:ext uri="{FF2B5EF4-FFF2-40B4-BE49-F238E27FC236}">
                <a16:creationId xmlns:a16="http://schemas.microsoft.com/office/drawing/2014/main" id="{2C998D91-31D1-411C-B12B-A60A5C37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625" y="2857500"/>
            <a:ext cx="79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31" name="p4-week-5">
            <a:extLst xmlns:a="http://schemas.openxmlformats.org/drawingml/2006/main">
              <a:ext uri="{FF2B5EF4-FFF2-40B4-BE49-F238E27FC236}">
                <a16:creationId xmlns:a16="http://schemas.microsoft.com/office/drawing/2014/main" id="{79879BF7-B779-4723-92A5-555A3655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625" y="2914650"/>
            <a:ext cx="79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第6周</a:t>
            </a:r>
          </a:p>
        </p:txBody>
      </p:sp>
      <p:sp>
        <p:nvSpPr>
          <p:cNvPr id="32" name="p4-row-0">
            <a:extLst xmlns:a="http://schemas.openxmlformats.org/drawingml/2006/main">
              <a:ext uri="{FF2B5EF4-FFF2-40B4-BE49-F238E27FC236}">
                <a16:creationId xmlns:a16="http://schemas.microsoft.com/office/drawing/2014/main" id="{680DA08F-B62C-42D8-97FE-DE996508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4-row-label-0">
            <a:extLst xmlns:a="http://schemas.openxmlformats.org/drawingml/2006/main">
              <a:ext uri="{FF2B5EF4-FFF2-40B4-BE49-F238E27FC236}">
                <a16:creationId xmlns:a16="http://schemas.microsoft.com/office/drawing/2014/main" id="{85034A12-0241-4E91-82E3-B7DB686A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2385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统一字段与授权责任</a:t>
            </a:r>
          </a:p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字段字典、授权清单、统一入口</a:t>
            </a:r>
          </a:p>
        </p:txBody>
      </p:sp>
      <p:sp>
        <p:nvSpPr>
          <p:cNvPr id="34" name="p4-v-0-0">
            <a:extLst xmlns:a="http://schemas.openxmlformats.org/drawingml/2006/main">
              <a:ext uri="{FF2B5EF4-FFF2-40B4-BE49-F238E27FC236}">
                <a16:creationId xmlns:a16="http://schemas.microsoft.com/office/drawing/2014/main" id="{74473A78-15D1-4E43-BC56-FAE5E151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62300"/>
            <a:ext cx="95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4-v-0-1">
            <a:extLst xmlns:a="http://schemas.openxmlformats.org/drawingml/2006/main">
              <a:ext uri="{FF2B5EF4-FFF2-40B4-BE49-F238E27FC236}">
                <a16:creationId xmlns:a16="http://schemas.microsoft.com/office/drawing/2014/main" id="{5BEA7515-42C3-4506-B805-7B928159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4625" y="3162300"/>
            <a:ext cx="95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4-v-0-2">
            <a:extLst xmlns:a="http://schemas.openxmlformats.org/drawingml/2006/main">
              <a:ext uri="{FF2B5EF4-FFF2-40B4-BE49-F238E27FC236}">
                <a16:creationId xmlns:a16="http://schemas.microsoft.com/office/drawing/2014/main" id="{B945931E-A47E-4061-BB18-A815E6FF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8375" y="3162300"/>
            <a:ext cx="95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4-v-0-3">
            <a:extLst xmlns:a="http://schemas.openxmlformats.org/drawingml/2006/main">
              <a:ext uri="{FF2B5EF4-FFF2-40B4-BE49-F238E27FC236}">
                <a16:creationId xmlns:a16="http://schemas.microsoft.com/office/drawing/2014/main" id="{A937732D-9324-4415-AE3D-4261FCCA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62300"/>
            <a:ext cx="95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4-v-0-4">
            <a:extLst xmlns:a="http://schemas.openxmlformats.org/drawingml/2006/main">
              <a:ext uri="{FF2B5EF4-FFF2-40B4-BE49-F238E27FC236}">
                <a16:creationId xmlns:a16="http://schemas.microsoft.com/office/drawing/2014/main" id="{B39B58D5-C76A-4EC8-95F4-C3EDF0F8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5875" y="3162300"/>
            <a:ext cx="95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4-v-0-5">
            <a:extLst xmlns:a="http://schemas.openxmlformats.org/drawingml/2006/main">
              <a:ext uri="{FF2B5EF4-FFF2-40B4-BE49-F238E27FC236}">
                <a16:creationId xmlns:a16="http://schemas.microsoft.com/office/drawing/2014/main" id="{D8825340-16B2-4239-A763-9DD7337E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625" y="3162300"/>
            <a:ext cx="95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4-bar-0">
            <a:extLst xmlns:a="http://schemas.openxmlformats.org/drawingml/2006/main">
              <a:ext uri="{FF2B5EF4-FFF2-40B4-BE49-F238E27FC236}">
                <a16:creationId xmlns:a16="http://schemas.microsoft.com/office/drawing/2014/main" id="{FD816699-DEEC-4712-94B6-E41B91E2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276600"/>
            <a:ext cx="1473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41" name="p4-bar-note-0">
            <a:extLst xmlns:a="http://schemas.openxmlformats.org/drawingml/2006/main">
              <a:ext uri="{FF2B5EF4-FFF2-40B4-BE49-F238E27FC236}">
                <a16:creationId xmlns:a16="http://schemas.microsoft.com/office/drawing/2014/main" id="{B0786985-01A6-4453-AC64-E07F5E60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33750"/>
            <a:ext cx="139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三类请求共同参与</a:t>
            </a:r>
          </a:p>
        </p:txBody>
      </p:sp>
      <p:sp>
        <p:nvSpPr>
          <p:cNvPr id="42" name="p4-row-1">
            <a:extLst xmlns:a="http://schemas.openxmlformats.org/drawingml/2006/main">
              <a:ext uri="{FF2B5EF4-FFF2-40B4-BE49-F238E27FC236}">
                <a16:creationId xmlns:a16="http://schemas.microsoft.com/office/drawing/2014/main" id="{1DCD6836-6894-4A94-8578-BA4CE580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76725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4-row-label-1">
            <a:extLst xmlns:a="http://schemas.openxmlformats.org/drawingml/2006/main">
              <a:ext uri="{FF2B5EF4-FFF2-40B4-BE49-F238E27FC236}">
                <a16:creationId xmlns:a16="http://schemas.microsoft.com/office/drawing/2014/main" id="{3E3A5A0C-5BD8-4638-BF98-BDF295BA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800475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小范围试用</a:t>
            </a:r>
          </a:p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缺失字段、退回原因、首次响应记录</a:t>
            </a:r>
          </a:p>
        </p:txBody>
      </p:sp>
      <p:sp>
        <p:nvSpPr>
          <p:cNvPr id="44" name="p4-v-1-0">
            <a:extLst xmlns:a="http://schemas.openxmlformats.org/drawingml/2006/main">
              <a:ext uri="{FF2B5EF4-FFF2-40B4-BE49-F238E27FC236}">
                <a16:creationId xmlns:a16="http://schemas.microsoft.com/office/drawing/2014/main" id="{C15028B6-0A6E-4B04-8A8A-E04E64A3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724275"/>
            <a:ext cx="95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4-v-1-1">
            <a:extLst xmlns:a="http://schemas.openxmlformats.org/drawingml/2006/main">
              <a:ext uri="{FF2B5EF4-FFF2-40B4-BE49-F238E27FC236}">
                <a16:creationId xmlns:a16="http://schemas.microsoft.com/office/drawing/2014/main" id="{40BA6D99-0B10-44C4-8FE0-A022E8CB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4625" y="3724275"/>
            <a:ext cx="95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4-v-1-2">
            <a:extLst xmlns:a="http://schemas.openxmlformats.org/drawingml/2006/main">
              <a:ext uri="{FF2B5EF4-FFF2-40B4-BE49-F238E27FC236}">
                <a16:creationId xmlns:a16="http://schemas.microsoft.com/office/drawing/2014/main" id="{4FF2A64F-83CD-4138-99F5-0189AA3E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8375" y="3724275"/>
            <a:ext cx="95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4-v-1-3">
            <a:extLst xmlns:a="http://schemas.openxmlformats.org/drawingml/2006/main">
              <a:ext uri="{FF2B5EF4-FFF2-40B4-BE49-F238E27FC236}">
                <a16:creationId xmlns:a16="http://schemas.microsoft.com/office/drawing/2014/main" id="{D391E1B9-FBBB-4FB9-BDD6-1F70AD13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724275"/>
            <a:ext cx="95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4-v-1-4">
            <a:extLst xmlns:a="http://schemas.openxmlformats.org/drawingml/2006/main">
              <a:ext uri="{FF2B5EF4-FFF2-40B4-BE49-F238E27FC236}">
                <a16:creationId xmlns:a16="http://schemas.microsoft.com/office/drawing/2014/main" id="{07A7987D-9B17-43A0-8D40-4CBE9FD0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5875" y="3724275"/>
            <a:ext cx="95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4-v-1-5">
            <a:extLst xmlns:a="http://schemas.openxmlformats.org/drawingml/2006/main">
              <a:ext uri="{FF2B5EF4-FFF2-40B4-BE49-F238E27FC236}">
                <a16:creationId xmlns:a16="http://schemas.microsoft.com/office/drawing/2014/main" id="{AC1480FB-38B4-42A8-A0FB-27B4FDAC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625" y="3724275"/>
            <a:ext cx="95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4-bar-1">
            <a:extLst xmlns:a="http://schemas.openxmlformats.org/drawingml/2006/main">
              <a:ext uri="{FF2B5EF4-FFF2-40B4-BE49-F238E27FC236}">
                <a16:creationId xmlns:a16="http://schemas.microsoft.com/office/drawing/2014/main" id="{88DA1641-DB5B-4BCF-B26B-92F0FCB2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525" y="3838575"/>
            <a:ext cx="1473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C56B31"/>
          </a:solidFill>
          <a:ln xmlns:a="http://schemas.openxmlformats.org/drawingml/2006/main" w="9525">
            <a:solidFill>
              <a:srgbClr val="C56B31"/>
            </a:solidFill>
            <a:prstDash val="solid"/>
          </a:ln>
        </p:spPr>
      </p:sp>
      <p:sp>
        <p:nvSpPr>
          <p:cNvPr id="51" name="p4-bar-note-1">
            <a:extLst xmlns:a="http://schemas.openxmlformats.org/drawingml/2006/main">
              <a:ext uri="{FF2B5EF4-FFF2-40B4-BE49-F238E27FC236}">
                <a16:creationId xmlns:a16="http://schemas.microsoft.com/office/drawing/2014/main" id="{2A809540-CD98-4724-9658-B3661AA8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625" y="3895725"/>
            <a:ext cx="139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仅数据提取请求</a:t>
            </a:r>
          </a:p>
        </p:txBody>
      </p:sp>
      <p:sp>
        <p:nvSpPr>
          <p:cNvPr id="52" name="p4-row-2">
            <a:extLst xmlns:a="http://schemas.openxmlformats.org/drawingml/2006/main">
              <a:ext uri="{FF2B5EF4-FFF2-40B4-BE49-F238E27FC236}">
                <a16:creationId xmlns:a16="http://schemas.microsoft.com/office/drawing/2014/main" id="{DB675055-14A5-4C5F-BC18-5A55B548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38700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4-row-label-2">
            <a:extLst xmlns:a="http://schemas.openxmlformats.org/drawingml/2006/main">
              <a:ext uri="{FF2B5EF4-FFF2-40B4-BE49-F238E27FC236}">
                <a16:creationId xmlns:a16="http://schemas.microsoft.com/office/drawing/2014/main" id="{9B7B194A-54C6-482C-AAE8-45B8DD16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3624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复核后决定扩围</a:t>
            </a:r>
          </a:p>
          <a:p xmlns:a="http://schemas.openxmlformats.org/drawingml/2006/main">
            <a:pPr algn="l">
              <a:def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数据清洗、权限开通</a:t>
            </a:r>
          </a:p>
        </p:txBody>
      </p:sp>
      <p:sp>
        <p:nvSpPr>
          <p:cNvPr id="54" name="p4-v-2-0">
            <a:extLst xmlns:a="http://schemas.openxmlformats.org/drawingml/2006/main">
              <a:ext uri="{FF2B5EF4-FFF2-40B4-BE49-F238E27FC236}">
                <a16:creationId xmlns:a16="http://schemas.microsoft.com/office/drawing/2014/main" id="{C97B13ED-C46D-46C3-BCA9-8495F794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86250"/>
            <a:ext cx="95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4-v-2-1">
            <a:extLst xmlns:a="http://schemas.openxmlformats.org/drawingml/2006/main">
              <a:ext uri="{FF2B5EF4-FFF2-40B4-BE49-F238E27FC236}">
                <a16:creationId xmlns:a16="http://schemas.microsoft.com/office/drawing/2014/main" id="{B3EE81F0-A40E-4448-A7CA-54EAA3B2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4625" y="4286250"/>
            <a:ext cx="95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4-v-2-2">
            <a:extLst xmlns:a="http://schemas.openxmlformats.org/drawingml/2006/main">
              <a:ext uri="{FF2B5EF4-FFF2-40B4-BE49-F238E27FC236}">
                <a16:creationId xmlns:a16="http://schemas.microsoft.com/office/drawing/2014/main" id="{3ECAA7E6-530F-4F12-B904-511F0DDB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8375" y="4286250"/>
            <a:ext cx="95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4-v-2-3">
            <a:extLst xmlns:a="http://schemas.openxmlformats.org/drawingml/2006/main">
              <a:ext uri="{FF2B5EF4-FFF2-40B4-BE49-F238E27FC236}">
                <a16:creationId xmlns:a16="http://schemas.microsoft.com/office/drawing/2014/main" id="{49FCFC7B-68E7-4986-9B76-9E38881B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286250"/>
            <a:ext cx="95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4-v-2-4">
            <a:extLst xmlns:a="http://schemas.openxmlformats.org/drawingml/2006/main">
              <a:ext uri="{FF2B5EF4-FFF2-40B4-BE49-F238E27FC236}">
                <a16:creationId xmlns:a16="http://schemas.microsoft.com/office/drawing/2014/main" id="{AD1B11B6-81C5-41AB-948D-530F8383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5875" y="4286250"/>
            <a:ext cx="95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4-v-2-5">
            <a:extLst xmlns:a="http://schemas.openxmlformats.org/drawingml/2006/main">
              <a:ext uri="{FF2B5EF4-FFF2-40B4-BE49-F238E27FC236}">
                <a16:creationId xmlns:a16="http://schemas.microsoft.com/office/drawing/2014/main" id="{990A9492-E991-4683-B5FA-A4809406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625" y="4286250"/>
            <a:ext cx="95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4-bar-2">
            <a:extLst xmlns:a="http://schemas.openxmlformats.org/drawingml/2006/main">
              <a:ext uri="{FF2B5EF4-FFF2-40B4-BE49-F238E27FC236}">
                <a16:creationId xmlns:a16="http://schemas.microsoft.com/office/drawing/2014/main" id="{6E3F978B-37F0-444B-AEF4-ADA3B464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025" y="4400550"/>
            <a:ext cx="1473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5D8364"/>
          </a:solidFill>
          <a:ln xmlns:a="http://schemas.openxmlformats.org/drawingml/2006/main" w="9525">
            <a:solidFill>
              <a:srgbClr val="5D8364"/>
            </a:solidFill>
            <a:prstDash val="solid"/>
          </a:ln>
        </p:spPr>
      </p:sp>
      <p:sp>
        <p:nvSpPr>
          <p:cNvPr id="61" name="p4-bar-note-2">
            <a:extLst xmlns:a="http://schemas.openxmlformats.org/drawingml/2006/main">
              <a:ext uri="{FF2B5EF4-FFF2-40B4-BE49-F238E27FC236}">
                <a16:creationId xmlns:a16="http://schemas.microsoft.com/office/drawing/2014/main" id="{C6BEF581-113B-4843-924F-A4ABA90E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125" y="4457700"/>
            <a:ext cx="139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负责人复核后决定</a:t>
            </a:r>
          </a:p>
        </p:txBody>
      </p:sp>
      <p:sp>
        <p:nvSpPr>
          <p:cNvPr id="62" name="p4-side-bg">
            <a:extLst xmlns:a="http://schemas.openxmlformats.org/drawingml/2006/main">
              <a:ext uri="{FF2B5EF4-FFF2-40B4-BE49-F238E27FC236}">
                <a16:creationId xmlns:a16="http://schemas.microsoft.com/office/drawing/2014/main" id="{422BC0CA-0587-435A-A0EF-67346F05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357187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E8F0F7"/>
            </a:solidFill>
            <a:prstDash val="solid"/>
          </a:ln>
        </p:spPr>
      </p:sp>
      <p:sp>
        <p:nvSpPr>
          <p:cNvPr id="63" name="p4-side-title">
            <a:extLst xmlns:a="http://schemas.openxmlformats.org/drawingml/2006/main">
              <a:ext uri="{FF2B5EF4-FFF2-40B4-BE49-F238E27FC236}">
                <a16:creationId xmlns:a16="http://schemas.microsoft.com/office/drawing/2014/main" id="{F3FF2339-EA01-4AAC-8074-A809A10D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48000"/>
            <a:ext cx="3152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进入下一阶段的条件</a:t>
            </a:r>
          </a:p>
        </p:txBody>
      </p:sp>
      <p:sp>
        <p:nvSpPr>
          <p:cNvPr id="64" name="p4-g1">
            <a:extLst xmlns:a="http://schemas.openxmlformats.org/drawingml/2006/main">
              <a:ext uri="{FF2B5EF4-FFF2-40B4-BE49-F238E27FC236}">
                <a16:creationId xmlns:a16="http://schemas.microsoft.com/office/drawing/2014/main" id="{5DFF76EE-E4C5-4ED1-AC83-8C304D61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09950"/>
            <a:ext cx="3152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1—2周：三类请求均完成一轮实际样本填写检查，无关键必填缺失。</a:t>
            </a:r>
          </a:p>
        </p:txBody>
      </p:sp>
      <p:sp>
        <p:nvSpPr>
          <p:cNvPr id="65" name="p4-g2">
            <a:extLst xmlns:a="http://schemas.openxmlformats.org/drawingml/2006/main">
              <a:ext uri="{FF2B5EF4-FFF2-40B4-BE49-F238E27FC236}">
                <a16:creationId xmlns:a16="http://schemas.microsoft.com/office/drawing/2014/main" id="{ADDD2227-9EBE-4C6D-A675-2DE08900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05250"/>
            <a:ext cx="3152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3—4周：记录完整，且未发现阻断提交的高频规则错误；否则回到字段/规则修订。</a:t>
            </a:r>
          </a:p>
        </p:txBody>
      </p:sp>
      <p:sp>
        <p:nvSpPr>
          <p:cNvPr id="66" name="p4-g3">
            <a:extLst xmlns:a="http://schemas.openxmlformats.org/drawingml/2006/main">
              <a:ext uri="{FF2B5EF4-FFF2-40B4-BE49-F238E27FC236}">
                <a16:creationId xmlns:a16="http://schemas.microsoft.com/office/drawing/2014/main" id="{33804FDB-5C0C-45DB-A2AC-936DFC0C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57700"/>
            <a:ext cx="3152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5—6周：负责人复核数据后，再决定是否扩围。</a:t>
            </a:r>
          </a:p>
        </p:txBody>
      </p:sp>
      <p:sp>
        <p:nvSpPr>
          <p:cNvPr id="67" name="p4-metrics-bg">
            <a:extLst xmlns:a="http://schemas.openxmlformats.org/drawingml/2006/main">
              <a:ext uri="{FF2B5EF4-FFF2-40B4-BE49-F238E27FC236}">
                <a16:creationId xmlns:a16="http://schemas.microsoft.com/office/drawing/2014/main" id="{344AE67F-9A62-4E32-AAAB-179E1E19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19700"/>
            <a:ext cx="11144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1EA"/>
          </a:solidFill>
          <a:ln xmlns:a="http://schemas.openxmlformats.org/drawingml/2006/main" w="9525">
            <a:solidFill>
              <a:srgbClr val="E9F1EA"/>
            </a:solidFill>
            <a:prstDash val="solid"/>
          </a:ln>
        </p:spPr>
      </p:sp>
      <p:sp>
        <p:nvSpPr>
          <p:cNvPr id="68" name="p4-metrics-title">
            <a:extLst xmlns:a="http://schemas.openxmlformats.org/drawingml/2006/main">
              <a:ext uri="{FF2B5EF4-FFF2-40B4-BE49-F238E27FC236}">
                <a16:creationId xmlns:a16="http://schemas.microsoft.com/office/drawing/2014/main" id="{CD2199CE-8670-4824-8CDA-AF5B4862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721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83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D8364"/>
                </a:solidFill>
                <a:latin typeface="Microsoft YaHei"/>
                <a:ea typeface="Microsoft YaHei"/>
                <a:cs typeface="Microsoft YaHei"/>
              </a:rPr>
              <a:t>统一评估口径</a:t>
            </a:r>
          </a:p>
        </p:txBody>
      </p:sp>
      <p:sp>
        <p:nvSpPr>
          <p:cNvPr id="69" name="p4-m1">
            <a:extLst xmlns:a="http://schemas.openxmlformats.org/drawingml/2006/main">
              <a:ext uri="{FF2B5EF4-FFF2-40B4-BE49-F238E27FC236}">
                <a16:creationId xmlns:a16="http://schemas.microsoft.com/office/drawing/2014/main" id="{AA48AD4E-16FC-40BC-9FB1-CBAD03C8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721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两个工作日内响应比例</a:t>
            </a:r>
          </a:p>
        </p:txBody>
      </p:sp>
      <p:sp>
        <p:nvSpPr>
          <p:cNvPr id="70" name="p4-m2">
            <a:extLst xmlns:a="http://schemas.openxmlformats.org/drawingml/2006/main">
              <a:ext uri="{FF2B5EF4-FFF2-40B4-BE49-F238E27FC236}">
                <a16:creationId xmlns:a16="http://schemas.microsoft.com/office/drawing/2014/main" id="{0BB191BD-BE81-4A84-8486-9323AE0E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721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材料退回比例</a:t>
            </a:r>
          </a:p>
        </p:txBody>
      </p:sp>
      <p:sp>
        <p:nvSpPr>
          <p:cNvPr id="71" name="p4-m3">
            <a:extLst xmlns:a="http://schemas.openxmlformats.org/drawingml/2006/main">
              <a:ext uri="{FF2B5EF4-FFF2-40B4-BE49-F238E27FC236}">
                <a16:creationId xmlns:a16="http://schemas.microsoft.com/office/drawing/2014/main" id="{DDF9967A-9343-4F63-94DB-4A497B1E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721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经办人维护时间</a:t>
            </a:r>
          </a:p>
        </p:txBody>
      </p:sp>
      <p:sp>
        <p:nvSpPr>
          <p:cNvPr id="72" name="p4-m4">
            <a:extLst xmlns:a="http://schemas.openxmlformats.org/drawingml/2006/main">
              <a:ext uri="{FF2B5EF4-FFF2-40B4-BE49-F238E27FC236}">
                <a16:creationId xmlns:a16="http://schemas.microsoft.com/office/drawing/2014/main" id="{5E4E2BD8-4A51-4FCF-9920-5CAD6E81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3721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目标值由试点基线确定</a:t>
            </a:r>
          </a:p>
        </p:txBody>
      </p:sp>
      <p:sp>
        <p:nvSpPr>
          <p:cNvPr id="73" name="p4-foot">
            <a:extLst xmlns:a="http://schemas.openxmlformats.org/drawingml/2006/main">
              <a:ext uri="{FF2B5EF4-FFF2-40B4-BE49-F238E27FC236}">
                <a16:creationId xmlns:a16="http://schemas.microsoft.com/office/drawing/2014/main" id="{C344DBF3-A8CB-476A-8B2B-3B3F73EF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38850"/>
            <a:ext cx="1114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模拟计划｜阶段存在回流条件；未预设未经论证的百分比目标。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2026-09-08T15:53:46.8450000Z</dcterms:created>
  <dcterms:modified xsi:type="dcterms:W3CDTF">2026-09-08T15:53:46.8450000Z</dcterms:modified>
</coreProperties>
</file>