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793fcaddc34ab3" /><Relationship Type="http://schemas.openxmlformats.org/officeDocument/2006/relationships/extended-properties" Target="/docProps/app.xml" Id="R569c60071b4047f9" /><Relationship Type="http://schemas.openxmlformats.org/officeDocument/2006/relationships/officeDocument" Target="/ppt/presentation.xml" Id="Rd7f1a4436c1a43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e893ef7c2a43ea"/>
    <p:sldMasterId xmlns:r="http://schemas.openxmlformats.org/officeDocument/2006/relationships" id="2147483660" r:id="R7c3e2fbf72b74866"/>
    <p:sldMasterId xmlns:r="http://schemas.openxmlformats.org/officeDocument/2006/relationships" id="2147483663" r:id="R0a1ed9570f8c4c35"/>
  </p:sldMasterIdLst>
  <p:notesMasterIdLst>
    <p:notesMasterId xmlns:r="http://schemas.openxmlformats.org/officeDocument/2006/relationships" r:id="R8ce0d2e70dc2476d"/>
  </p:notesMasterIdLst>
  <p:sldIdLst>
    <p:sldId xmlns:r="http://schemas.openxmlformats.org/officeDocument/2006/relationships" id="256" r:id="Ra514280c499c42f9"/>
    <p:sldId xmlns:r="http://schemas.openxmlformats.org/officeDocument/2006/relationships" id="257" r:id="R9f2bd57348fb4fe5"/>
    <p:sldId xmlns:r="http://schemas.openxmlformats.org/officeDocument/2006/relationships" id="258" r:id="R0081f54a68324e95"/>
    <p:sldId xmlns:r="http://schemas.openxmlformats.org/officeDocument/2006/relationships" id="259" r:id="Rb8cdc932e1144b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b4bd0c2eb9439f" /><Relationship Type="http://schemas.openxmlformats.org/officeDocument/2006/relationships/slideMaster" Target="/ppt/slideMasters/slideMaster1.xml" Id="R20e893ef7c2a43ea" /><Relationship Type="http://schemas.openxmlformats.org/officeDocument/2006/relationships/slideMaster" Target="/ppt/slideMasters/slideMaster2.xml" Id="R7c3e2fbf72b74866" /><Relationship Type="http://schemas.openxmlformats.org/officeDocument/2006/relationships/slideMaster" Target="/ppt/slideMasters/slideMaster3.xml" Id="R0a1ed9570f8c4c35" /><Relationship Type="http://schemas.openxmlformats.org/officeDocument/2006/relationships/notesMaster" Target="/ppt/notesMasters/notesMaster1.xml" Id="R8ce0d2e70dc2476d" /><Relationship Type="http://schemas.openxmlformats.org/officeDocument/2006/relationships/presProps" Target="/ppt/presProps.xml" Id="Rfdd032858db545e6" /><Relationship Type="http://schemas.openxmlformats.org/officeDocument/2006/relationships/viewProps" Target="/ppt/viewProps.xml" Id="Rb3e394b8f0684ac9" /><Relationship Type="http://schemas.openxmlformats.org/officeDocument/2006/relationships/tableStyles" Target="/ppt/tableStyles.xml" Id="Re0adbeab891247d3" /><Relationship Type="http://schemas.openxmlformats.org/officeDocument/2006/relationships/slide" Target="/ppt/slides/slide1.xml" Id="Ra514280c499c42f9" /><Relationship Type="http://schemas.openxmlformats.org/officeDocument/2006/relationships/slide" Target="/ppt/slides/slide2.xml" Id="R9f2bd57348fb4fe5" /><Relationship Type="http://schemas.openxmlformats.org/officeDocument/2006/relationships/slide" Target="/ppt/slides/slide3.xml" Id="R0081f54a68324e95" /><Relationship Type="http://schemas.openxmlformats.org/officeDocument/2006/relationships/slide" Target="/ppt/slides/slide4.xml" Id="Rb8cdc932e1144b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ebfcfafeea1d40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6f782dd6d140c4" /><Relationship Type="http://schemas.openxmlformats.org/officeDocument/2006/relationships/notesMaster" Target="/ppt/notesMasters/notesMaster1.xml" Id="R5120ef9a00894b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08ca899a624fcb" /><Relationship Type="http://schemas.openxmlformats.org/officeDocument/2006/relationships/notesMaster" Target="/ppt/notesMasters/notesMaster1.xml" Id="R5568d141aa9f4d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3ffea70736493d" /><Relationship Type="http://schemas.openxmlformats.org/officeDocument/2006/relationships/notesMaster" Target="/ppt/notesMasters/notesMaster1.xml" Id="R6c0bb1dc71e34b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ffb981357e4ac7" /><Relationship Type="http://schemas.openxmlformats.org/officeDocument/2006/relationships/notesMaster" Target="/ppt/notesMasters/notesMaster1.xml" Id="Ra717c64e73874e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内容：experiments/neu-route-comparison-20260908/route-c/inputs/manuscript.txt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PPagenT：route-c-C14-trend → route-c-body-001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内容：experiments/neu-route-comparison-20260908/route-c/inputs/manuscript.txt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PPagenT：route-c-C16-composition → route-c-body-001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内容：experiments/neu-route-comparison-20260908/route-c/inputs/manuscript.txt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PPagenT：route-c-C09-comparison → route-c-body-001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内容：experiments/neu-route-comparison-20260908/route-c/inputs/manuscript.txt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PPagenT：route-c-C30-roadmap → route-c-body-001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c5ac0d2be4481b" /><Relationship Type="http://schemas.openxmlformats.org/officeDocument/2006/relationships/image" Target="/ppt/media/image.jpeg" Id="Rb8f76196b08f4336" /><Relationship Type="http://schemas.openxmlformats.org/officeDocument/2006/relationships/image" Target="/ppt/media/image.png" Id="R5382340fb944499d" /><Relationship Type="http://schemas.openxmlformats.org/officeDocument/2006/relationships/image" Target="/ppt/media/image2.png" Id="R13f73ce935f843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ffbc4a29f24a1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fc22cdd6644ffd" /><Relationship Type="http://schemas.openxmlformats.org/officeDocument/2006/relationships/image" Target="/ppt/media/image3.png" Id="Rb150da9f8175451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197092640b485e" /><Relationship Type="http://schemas.openxmlformats.org/officeDocument/2006/relationships/image" Target="/ppt/media/image4.png" Id="Rc8520d9f301049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8d4de34d2741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d8477e97184db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659b7243c04aa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4ceb29635448a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30d78a90764b0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6ac8298c7b49c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56186dbac6432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627816fa4d041ff" /><Relationship Type="http://schemas.openxmlformats.org/officeDocument/2006/relationships/image" Target="/ppt/media/image5.png" Id="R59bc9d287c46420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f0abe4c0e6c444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3fe49d03b1d4f5c" /><Relationship Type="http://schemas.openxmlformats.org/officeDocument/2006/relationships/image" Target="/ppt/media/image5.png" Id="R0a07cc98c92f401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0d50d13dbbc4bb4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76196b08f4336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82340fb944499d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73ce935f843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0da9f8175451b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20d9f3010491e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c9d287c464200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7cc98c92f401b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a6d2ed6d4749d3" /><Relationship Type="http://schemas.openxmlformats.org/officeDocument/2006/relationships/slideLayout" Target="/ppt/slideLayouts/slideLayout1.xml" Id="Rc4f28a1cef164b18" /><Relationship Type="http://schemas.openxmlformats.org/officeDocument/2006/relationships/slideLayout" Target="/ppt/slideLayouts/slideLayout2.xml" Id="Raa262d5e3e824ef4" /><Relationship Type="http://schemas.openxmlformats.org/officeDocument/2006/relationships/slideLayout" Target="/ppt/slideLayouts/slideLayout3.xml" Id="Rcabba7fbedc54c3f" /><Relationship Type="http://schemas.openxmlformats.org/officeDocument/2006/relationships/slideLayout" Target="/ppt/slideLayouts/slideLayout4.xml" Id="Rb7de4cb5273e459e" /><Relationship Type="http://schemas.openxmlformats.org/officeDocument/2006/relationships/slideLayout" Target="/ppt/slideLayouts/slideLayout5.xml" Id="Ra3192a167821486b" /><Relationship Type="http://schemas.openxmlformats.org/officeDocument/2006/relationships/slideLayout" Target="/ppt/slideLayouts/slideLayout6.xml" Id="R748af610b47f4970" /><Relationship Type="http://schemas.openxmlformats.org/officeDocument/2006/relationships/slideLayout" Target="/ppt/slideLayouts/slideLayout7.xml" Id="Re4d5b3b62e8d461e" /><Relationship Type="http://schemas.openxmlformats.org/officeDocument/2006/relationships/slideLayout" Target="/ppt/slideLayouts/slideLayout8.xml" Id="R42cba9d6bf694360" /><Relationship Type="http://schemas.openxmlformats.org/officeDocument/2006/relationships/slideLayout" Target="/ppt/slideLayouts/slideLayout9.xml" Id="R225493b07bc642be" /><Relationship Type="http://schemas.openxmlformats.org/officeDocument/2006/relationships/slideLayout" Target="/ppt/slideLayouts/slideLayout10.xml" Id="R8a1aacdad6584aa8" /><Relationship Type="http://schemas.openxmlformats.org/officeDocument/2006/relationships/slideLayout" Target="/ppt/slideLayouts/slideLayout11.xml" Id="R90c0f442949448c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db0439c414c40fa" /><Relationship Type="http://schemas.openxmlformats.org/officeDocument/2006/relationships/slideLayout" Target="/ppt/slideLayouts/slideLayout12.xml" Id="R0d1b1a5944704d40" /><Relationship Type="http://schemas.openxmlformats.org/officeDocument/2006/relationships/slideLayout" Target="/ppt/slideLayouts/slideLayout13.xml" Id="R4ad06b42ff6f4d5b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84ef34f03c5147c2" /><Relationship Type="http://schemas.openxmlformats.org/officeDocument/2006/relationships/slideLayout" Target="/ppt/slideLayouts/slideLayout14.xml" Id="Rc361ee18dacd4a34" /><Relationship Type="http://schemas.openxmlformats.org/officeDocument/2006/relationships/slideLayout" Target="/ppt/slideLayouts/slideLayout15.xml" Id="R711e7a9491ec437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f28a1cef164b18"/>
    <p:sldLayoutId xmlns:r="http://schemas.openxmlformats.org/officeDocument/2006/relationships" id="2147483650" r:id="Raa262d5e3e824ef4"/>
    <p:sldLayoutId xmlns:r="http://schemas.openxmlformats.org/officeDocument/2006/relationships" id="2147483651" r:id="Rcabba7fbedc54c3f"/>
    <p:sldLayoutId xmlns:r="http://schemas.openxmlformats.org/officeDocument/2006/relationships" id="2147483652" r:id="Rb7de4cb5273e459e"/>
    <p:sldLayoutId xmlns:r="http://schemas.openxmlformats.org/officeDocument/2006/relationships" id="2147483653" r:id="Ra3192a167821486b"/>
    <p:sldLayoutId xmlns:r="http://schemas.openxmlformats.org/officeDocument/2006/relationships" id="2147483654" r:id="R748af610b47f4970"/>
    <p:sldLayoutId xmlns:r="http://schemas.openxmlformats.org/officeDocument/2006/relationships" id="2147483655" r:id="Re4d5b3b62e8d461e"/>
    <p:sldLayoutId xmlns:r="http://schemas.openxmlformats.org/officeDocument/2006/relationships" id="2147483656" r:id="R42cba9d6bf694360"/>
    <p:sldLayoutId xmlns:r="http://schemas.openxmlformats.org/officeDocument/2006/relationships" id="2147483657" r:id="R225493b07bc642be"/>
    <p:sldLayoutId xmlns:r="http://schemas.openxmlformats.org/officeDocument/2006/relationships" id="2147483658" r:id="R8a1aacdad6584aa8"/>
    <p:sldLayoutId xmlns:r="http://schemas.openxmlformats.org/officeDocument/2006/relationships" id="2147483659" r:id="R90c0f442949448c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0d1b1a5944704d40"/>
    <p:sldLayoutId xmlns:r="http://schemas.openxmlformats.org/officeDocument/2006/relationships" id="2147483662" r:id="R4ad06b42ff6f4d5b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c361ee18dacd4a34"/>
    <p:sldLayoutId xmlns:r="http://schemas.openxmlformats.org/officeDocument/2006/relationships" id="2147483665" r:id="R711e7a9491ec4373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413eb034bbd4899" /><Relationship Type="http://schemas.openxmlformats.org/officeDocument/2006/relationships/chart" Target="/ppt/slides/charts/chart1.xml" Id="Rc7f5c16a479a4327" /><Relationship Type="http://schemas.openxmlformats.org/officeDocument/2006/relationships/chart" Target="/ppt/slides/charts/chart2.xml" Id="R811dd63409bf47e8" /><Relationship Type="http://schemas.openxmlformats.org/officeDocument/2006/relationships/notesSlide" Target="/ppt/notesSlides/notesSlide1.xml" Id="Rc0a10d8f0a884e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1a8909d85314a22" /><Relationship Type="http://schemas.openxmlformats.org/officeDocument/2006/relationships/notesSlide" Target="/ppt/notesSlides/notesSlide2.xml" Id="Rd618c488b85c4e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6726272cb094d9e" /><Relationship Type="http://schemas.openxmlformats.org/officeDocument/2006/relationships/notesSlide" Target="/ppt/notesSlides/notesSlide3.xml" Id="Rf4afaf81393642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18d0cf080274b62" /><Relationship Type="http://schemas.openxmlformats.org/officeDocument/2006/relationships/notesSlide" Target="/ppt/notesSlides/notesSlide4.xml" Id="R9682cc19a0b74bf4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响应比例</c:v>
          </c:tx>
          <c:spPr>
            <a:solidFill xmlns:a="http://schemas.openxmlformats.org/drawingml/2006/main">
              <a:srgbClr val="315F91"/>
            </a:solidFill>
          </c:spPr>
          <c:marker>
            <c:symbol val="none"/>
          </c:marker>
          <c:cat>
            <c:strLit>
              <c:ptCount val="4"/>
              <c:pt idx="0">
                <c:v>1月</c:v>
              </c:pt>
              <c:pt idx="1">
                <c:v>2月</c:v>
              </c:pt>
              <c:pt idx="2">
                <c:v>3月</c:v>
              </c:pt>
              <c:pt idx="3">
                <c:v>4月</c:v>
              </c:pt>
            </c:strLit>
          </c:cat>
          <c:val>
            <c:numLit>
              <c:formatCode>General</c:formatCode>
              <c:ptCount val="4"/>
              <c:pt idx="0">
                <c:v>80</c:v>
              </c:pt>
              <c:pt idx="1">
                <c:v>76</c:v>
              </c:pt>
              <c:pt idx="2">
                <c:v>70</c:v>
              </c:pt>
              <c:pt idx="3">
                <c:v>60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0">
              <a:noFill/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6F6F6F">
                  <a:alpha val="20000"/>
                </a:srgbClr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中位时间</c:v>
          </c:tx>
          <c:spPr>
            <a:solidFill xmlns:a="http://schemas.openxmlformats.org/drawingml/2006/main">
              <a:srgbClr val="315F91"/>
            </a:solidFill>
          </c:spPr>
          <c:marker>
            <c:symbol val="none"/>
          </c:marker>
          <c:cat>
            <c:strLit>
              <c:ptCount val="4"/>
              <c:pt idx="0">
                <c:v>1月</c:v>
              </c:pt>
              <c:pt idx="1">
                <c:v>2月</c:v>
              </c:pt>
              <c:pt idx="2">
                <c:v>3月</c:v>
              </c:pt>
              <c:pt idx="3">
                <c:v>4月</c:v>
              </c:pt>
            </c:strLit>
          </c:cat>
          <c:val>
            <c:numLit>
              <c:formatCode>General</c:formatCode>
              <c:ptCount val="4"/>
              <c:pt idx="0">
                <c:v>1.3</c:v>
              </c:pt>
              <c:pt idx="1">
                <c:v>1.5</c:v>
              </c:pt>
              <c:pt idx="2">
                <c:v>1.8</c:v>
              </c:pt>
              <c:pt idx="3">
                <c:v>2.4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0">
              <a:noFill/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6F6F6F">
                  <a:alpha val="20000"/>
                </a:srgbClr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1"/>
      </c:valAx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1—4月工作量翻倍后，两日内首次响应比例降至60%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服务中心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simulated-data-tag">
            <a:extLst xmlns:a="http://schemas.openxmlformats.org/drawingml/2006/main">
              <a:ext uri="{FF2B5EF4-FFF2-40B4-BE49-F238E27FC236}">
                <a16:creationId xmlns:a16="http://schemas.microsoft.com/office/drawing/2014/main" id="{ACB68F76-BFBA-4E82-973E-20D9F02B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4307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模拟数据｜排版验证稿，不代表真实运行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AD0B4A-E2E5-4763-81FA-92E6FD98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C14 · TREND</a:t>
            </a:r>
          </a:p>
        </p:txBody>
      </p:sp>
      <p:sp>
        <p:nvSpPr>
          <p:cNvPr id="17" name="slide-1-claim">
            <a:extLst xmlns:a="http://schemas.openxmlformats.org/drawingml/2006/main">
              <a:ext uri="{FF2B5EF4-FFF2-40B4-BE49-F238E27FC236}">
                <a16:creationId xmlns:a16="http://schemas.microsoft.com/office/drawing/2014/main" id="{20DB80BB-419D-4FE2-AD04-C27FC4BB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18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rPr>
              <a:t>1—4月工作量翻倍后，两日内首次响应比例降至60%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88D4B5-343D-48E8-A520-60A4611E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响应压力同步上升，但仅凭观察不能把工作量增长认定为唯一原因。</a:t>
            </a:r>
          </a:p>
        </p:txBody>
      </p:sp>
      <p:sp>
        <p:nvSpPr>
          <p:cNvPr id="19" name="response-rate-exhibit">
            <a:extLst xmlns:a="http://schemas.openxmlformats.org/drawingml/2006/main">
              <a:ext uri="{FF2B5EF4-FFF2-40B4-BE49-F238E27FC236}">
                <a16:creationId xmlns:a16="http://schemas.microsoft.com/office/drawing/2014/main" id="{59A3DB1C-EFAC-48BA-9B8F-6D6023A9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5143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20" name="median-time-exhibit">
            <a:extLst xmlns:a="http://schemas.openxmlformats.org/drawingml/2006/main">
              <a:ext uri="{FF2B5EF4-FFF2-40B4-BE49-F238E27FC236}">
                <a16:creationId xmlns:a16="http://schemas.microsoft.com/office/drawing/2014/main" id="{585FBE7D-B61F-453A-A666-7BAB6167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57500"/>
            <a:ext cx="5143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651DB2-8ECC-4C5A-89A5-7C2D7CD5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两日内首次给出可执行答复（比例）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601EA4-138E-4D42-8F4E-37237B85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首次响应中位时间（工作日）</a:t>
            </a:r>
          </a:p>
        </p:txBody>
      </p:sp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952500" y="3381375"/>
          <a:ext xmlns:a="http://schemas.openxmlformats.org/drawingml/2006/main" cx="4572000" cy="1571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f5c16a479a4327"/>
          </a:graphicData>
        </a:graphic>
      </p:graphicFrame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6429375" y="3381375"/>
          <a:ext xmlns:a="http://schemas.openxmlformats.org/drawingml/2006/main" cx="4572000" cy="1571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1dd63409bf47e8"/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3A85D1-0452-4DF6-9E20-1F4BDB6A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006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120 → 240 件／月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EF44AC-F80F-47C5-9B9D-8AB348CC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000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1.3 → 2.4 个工作日</a:t>
            </a:r>
          </a:p>
        </p:txBody>
      </p:sp>
      <p:sp>
        <p:nvSpPr>
          <p:cNvPr id="27" name="source-band">
            <a:extLst xmlns:a="http://schemas.openxmlformats.org/drawingml/2006/main">
              <a:ext uri="{FF2B5EF4-FFF2-40B4-BE49-F238E27FC236}">
                <a16:creationId xmlns:a16="http://schemas.microsoft.com/office/drawing/2014/main" id="{343C26EA-A53F-41D8-8C80-869D8FEF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48375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口径：当月收到的请求，观察结案后是否在两个工作日内首次给出可执行答复；该指标不是结案时长。每月无缺失记录。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4月未达标请求中，材料与权限问题占75%，入口规则是首要改善点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服务中心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simulated-data-tag">
            <a:extLst xmlns:a="http://schemas.openxmlformats.org/drawingml/2006/main">
              <a:ext uri="{FF2B5EF4-FFF2-40B4-BE49-F238E27FC236}">
                <a16:creationId xmlns:a16="http://schemas.microsoft.com/office/drawing/2014/main" id="{01DFAC8A-B3E1-4912-B8AD-DC2D954B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4307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模拟数据｜排版验证稿，不代表真实运行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61C893-7606-4AFC-B787-9BE1B372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C16 · COMPOSITION</a:t>
            </a:r>
          </a:p>
        </p:txBody>
      </p:sp>
      <p:sp>
        <p:nvSpPr>
          <p:cNvPr id="17" name="slide-2-claim">
            <a:extLst xmlns:a="http://schemas.openxmlformats.org/drawingml/2006/main">
              <a:ext uri="{FF2B5EF4-FFF2-40B4-BE49-F238E27FC236}">
                <a16:creationId xmlns:a16="http://schemas.microsoft.com/office/drawing/2014/main" id="{AE58F3A7-4C26-4A6A-9112-90A46905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18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rPr>
              <a:t>4月未达标请求中，材料与权限问题占75%，入口规则是首要改善点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0B030F-D08E-49A3-9751-055574B1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96个请求逐一复核，每个请求只记一个主要阻塞原因，彼此互斥且合计完整。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BE4E12-D26E-4FC1-AA80-080352C1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4月未达标请求（n=96）</a:t>
            </a:r>
          </a:p>
        </p:txBody>
      </p:sp>
      <p:sp>
        <p:nvSpPr>
          <p:cNvPr id="20" name="blocker-材料不全">
            <a:extLst xmlns:a="http://schemas.openxmlformats.org/drawingml/2006/main">
              <a:ext uri="{FF2B5EF4-FFF2-40B4-BE49-F238E27FC236}">
                <a16:creationId xmlns:a16="http://schemas.microsoft.com/office/drawing/2014/main" id="{6D8C6C7D-65A7-4506-A6E2-F4E80042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3292078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8D85AE-501F-4485-9573-F8E9F48E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81375"/>
            <a:ext cx="317777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材料不全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42（44%）</a:t>
            </a:r>
          </a:p>
        </p:txBody>
      </p:sp>
      <p:sp>
        <p:nvSpPr>
          <p:cNvPr id="22" name="blocker-权限确认">
            <a:extLst xmlns:a="http://schemas.openxmlformats.org/drawingml/2006/main">
              <a:ext uri="{FF2B5EF4-FFF2-40B4-BE49-F238E27FC236}">
                <a16:creationId xmlns:a16="http://schemas.microsoft.com/office/drawing/2014/main" id="{DBFF2846-FB2C-4D18-ACD6-FEA21E82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578" y="3257550"/>
            <a:ext cx="2351484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>
              <a:alpha val="70000"/>
            </a:srgbClr>
          </a:solidFill>
          <a:ln xmlns:a="http://schemas.openxmlformats.org/drawingml/2006/main" w="9525">
            <a:solidFill>
              <a:srgbClr val="315F91">
                <a:alpha val="7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F96CD6-B389-4329-91A3-842DD826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1728" y="3381375"/>
            <a:ext cx="223718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权限确认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30（31%）</a:t>
            </a:r>
          </a:p>
        </p:txBody>
      </p:sp>
      <p:sp>
        <p:nvSpPr>
          <p:cNvPr id="24" name="blocker-需求反复">
            <a:extLst xmlns:a="http://schemas.openxmlformats.org/drawingml/2006/main">
              <a:ext uri="{FF2B5EF4-FFF2-40B4-BE49-F238E27FC236}">
                <a16:creationId xmlns:a16="http://schemas.microsoft.com/office/drawing/2014/main" id="{FA7D65F4-B43F-49CB-B820-40942858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063" y="3257550"/>
            <a:ext cx="1254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>
              <a:alpha val="45000"/>
            </a:srgbClr>
          </a:solidFill>
          <a:ln xmlns:a="http://schemas.openxmlformats.org/drawingml/2006/main" w="9525">
            <a:solidFill>
              <a:srgbClr val="315F91">
                <a:alpha val="45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8EC3F0-D373-4CAE-A064-717B88CF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3213" y="3381375"/>
            <a:ext cx="1139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需求反复</a:t>
            </a:r>
          </a:p>
          <a:p xmlns:a="http://schemas.openxmlformats.org/drawingml/2006/main">
            <a:pPr algn="ctr">
              <a:def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16（17%）</a:t>
            </a:r>
          </a:p>
        </p:txBody>
      </p:sp>
      <p:sp>
        <p:nvSpPr>
          <p:cNvPr id="26" name="blocker-其他">
            <a:extLst xmlns:a="http://schemas.openxmlformats.org/drawingml/2006/main">
              <a:ext uri="{FF2B5EF4-FFF2-40B4-BE49-F238E27FC236}">
                <a16:creationId xmlns:a16="http://schemas.microsoft.com/office/drawing/2014/main" id="{31571BEA-8778-4BF6-A21C-E6873222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0188" y="3257550"/>
            <a:ext cx="627063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>
              <a:alpha val="25000"/>
            </a:srgbClr>
          </a:solidFill>
          <a:ln xmlns:a="http://schemas.openxmlformats.org/drawingml/2006/main" w="9525">
            <a:solidFill>
              <a:srgbClr val="315F91">
                <a:alpha val="25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6BC5FA-4DEC-47D6-AACF-CB97D908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7338" y="3467100"/>
            <a:ext cx="51276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28" name="implication-box">
            <a:extLst xmlns:a="http://schemas.openxmlformats.org/drawingml/2006/main">
              <a:ext uri="{FF2B5EF4-FFF2-40B4-BE49-F238E27FC236}">
                <a16:creationId xmlns:a16="http://schemas.microsoft.com/office/drawing/2014/main" id="{BD3D5181-DE2C-4A37-B0A2-105E1F09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57500"/>
            <a:ext cx="24288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>
              <a:alpha val="12000"/>
            </a:srgbClr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650B28-33C5-4CBA-AF92-F9E3D4B9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67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这支持什么判断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4BDBA3-984D-4D04-B29F-771626F9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76625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入口前置字段与授权校验，和主要阻塞环节直接对应。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2AA0D8-E7D1-4AAD-BC1D-30A74D1C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719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但复核分类不等于干预可消除数量，也不能预测节省工时。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6BC4D8-C00D-4BEE-A318-2090527A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0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D666C2-A816-4D86-9A33-6D614B69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材料不全：字段缺失或样本文件未附  ｜  权限确认：授权人或授权范围未确认  ｜  其他：8（8%）</a:t>
            </a:r>
          </a:p>
        </p:txBody>
      </p:sp>
      <p:sp>
        <p:nvSpPr>
          <p:cNvPr id="34" name="source-band">
            <a:extLst xmlns:a="http://schemas.openxmlformats.org/drawingml/2006/main">
              <a:ext uri="{FF2B5EF4-FFF2-40B4-BE49-F238E27FC236}">
                <a16:creationId xmlns:a16="http://schemas.microsoft.com/office/drawing/2014/main" id="{C3F4A271-6C06-45DB-8592-4C391CB9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48375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证据性质：4月未达标请求的互斥复核分类；不是因果实验，也不是方案效果预测。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B统一申请入口最贴近主要阻塞，但需先完成三类请求字段共识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服务中心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simulated-data-tag">
            <a:extLst xmlns:a="http://schemas.openxmlformats.org/drawingml/2006/main">
              <a:ext uri="{FF2B5EF4-FFF2-40B4-BE49-F238E27FC236}">
                <a16:creationId xmlns:a16="http://schemas.microsoft.com/office/drawing/2014/main" id="{D974F1CF-0F40-402C-AD8C-57EB0FA3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4307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模拟数据｜排版验证稿，不代表真实运行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0C50CD-121D-4A92-ABDF-F1272DC6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C09 · MULTI-OPTION COMPARISON</a:t>
            </a:r>
          </a:p>
        </p:txBody>
      </p:sp>
      <p:sp>
        <p:nvSpPr>
          <p:cNvPr id="17" name="slide-3-claim">
            <a:extLst xmlns:a="http://schemas.openxmlformats.org/drawingml/2006/main">
              <a:ext uri="{FF2B5EF4-FFF2-40B4-BE49-F238E27FC236}">
                <a16:creationId xmlns:a16="http://schemas.microsoft.com/office/drawing/2014/main" id="{37D30F8C-48BB-4D53-B745-A840D849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18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rPr>
              <a:t>B统一申请入口最贴近主要阻塞，但需先完成三类请求字段共识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D52042-20BD-4B86-958D-9873C62F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投入与周期均为内部方案估计，不能与后续响应改善直接换算。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6EEE0E-CE2A-4FE8-BC0E-2B1A49E4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CA078F-B94B-4E49-86E8-9C7B02CC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1942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比较项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02EEB5-05B1-48C8-8CCA-889AED97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0512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6F">
              <a:alpha val="10000"/>
            </a:srgbClr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BCD49E-259D-4B37-82F2-D26E182E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099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A 临时增加值班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0452CC-E797-4F2A-B166-5B393F90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0512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>
              <a:alpha val="12000"/>
            </a:srgbClr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0FC213-5CD3-4595-B59B-F04682C8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99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B 统一申请入口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A786D0-6A18-42B4-9074-D099A116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0512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>
              <a:alpha val="10000"/>
            </a:srgbClr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B8D8A9-D925-4ECF-9EC3-3BD3C7A3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99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C 批量自动预检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5F1A1C-D86A-494B-B620-4EA41EEF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8EF747-B334-4B4F-9D96-142680BA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直接作用环节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522120-9A30-47FE-9E8E-E981BAD3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6707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7E8C1E-21E4-4B9E-9ABC-DE07445B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14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人工响应排队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32527B-7D90-4D62-9CF9-295F5389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6707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>
              <a:alpha val="12000"/>
            </a:srgbClr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813AFD-1D8F-45E6-857C-7C2E3CE6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14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提交时字段与授权校验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CD3B6E-8762-4DFE-B59A-5622E69A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6707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F22EAC-84DF-43F1-B76A-109842EF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14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重复性材料格式检查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1527C3-BDDF-4E1B-AA8F-6196CAE6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2902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09DA86-A465-4799-AFBE-1662C86C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初期投入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789C58-02F5-4F44-B158-64AE1BD0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2902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E4AE70-577D-4589-87BB-10AE72B5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76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8人日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6FC77C-5BAF-4BC2-B1B0-F01F606D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2902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>
              <a:alpha val="12000"/>
            </a:srgbClr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A83112-C8DF-4388-8612-1CE8FD42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76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12人日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71F9E3-DB9D-4014-8FCC-FFD87568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2902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F125C4-8C8D-43BB-9F7F-D61CD414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76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30人日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8F9A05-1914-4763-A729-43CD4CC2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9097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46A4D1-0C3F-4413-B195-0ED720A4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预计上线周期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9FCAC0-700F-41AB-A397-12B2AF10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9097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1CBD359-1925-44A1-98DE-AB40E548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38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DAD1DEC-B362-42F1-81A0-20473EB0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9097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>
              <a:alpha val="12000"/>
            </a:srgbClr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5D617B-986A-4D48-939D-28093A62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38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2周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ABA166-CF12-43DE-A612-7601E877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9097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E1C912-0833-4EE5-A2D0-E588B05B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38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6周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A915CF-3A0A-452C-8551-0C0E853A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B2FCC0-1E19-4A44-9F6A-90BFC970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持续维护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D54AD27-FB39-425B-9DBD-39CF9597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5292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17EBA81-CAFF-4B71-9B1E-546E9028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00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每周2人日值班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491DD32-9B65-475B-9C6A-99875758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5292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>
              <a:alpha val="12000"/>
            </a:srgbClr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1E33E7E-55DD-4DB2-997C-1BA28892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00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每周0.5人日规则维护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A631C76-BBA4-451B-9D78-0DA9B3F7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5292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60A95F6-AAC6-4638-8421-77ED1EF1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00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每周1人日规则维护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F4E1A1A-01CE-41C7-8BB6-7932FADC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05717EE-8031-4F1B-8533-3616321B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当前依赖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98888C2-3DED-439B-A6F1-80AF234E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1487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2C09093-A50C-4116-ADB5-BE5C7216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62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可调配值班人员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08C15D1-A98C-41AD-BD49-A785FD64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1487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>
              <a:alpha val="12000"/>
            </a:srgbClr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956FB9E-00E9-4CA0-9726-EC8B616B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62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三类请求字段达成一致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8E53869-0B14-4E48-B648-549E02E7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1487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091A56C-2D3A-49BD-856A-6861F9E8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62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稳定字段及可机器判断的规则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63ECD4B-DC7C-4F59-80F7-74840E88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02C8FFB-DB16-42AA-8D34-FB2F6F12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主要限制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06C5138-8D8D-4050-8AA6-C593C1AE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7682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3A3C60E-CB85-4E36-8616-AFD8F58F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244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不直接解决材料缺失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B81B18E-57C4-4404-8122-484C4F42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7682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>
              <a:alpha val="12000"/>
            </a:srgbClr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ED80F36-F4A6-462E-AC7E-06802BD3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244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不消除复杂需求沟通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E8D5104-74D6-472D-95FA-B4987E85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7682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DDD5BE9-3F1E-4666-83C5-30E20CC0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244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不替代人工授权判断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94F4D3D-CC44-4E24-9B2D-0BDB57B6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建议：先试行 B；保留 A 作为短期高峰应急；C 等入口规则稳定后再评估。</a:t>
            </a:r>
          </a:p>
        </p:txBody>
      </p:sp>
      <p:sp>
        <p:nvSpPr>
          <p:cNvPr id="76" name="source-band">
            <a:extLst xmlns:a="http://schemas.openxmlformats.org/drawingml/2006/main">
              <a:ext uri="{FF2B5EF4-FFF2-40B4-BE49-F238E27FC236}">
                <a16:creationId xmlns:a16="http://schemas.microsoft.com/office/drawing/2014/main" id="{D5FE64F2-1468-4EB0-AD03-73F52EF4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48375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方案状态：A/B/C均未实施；所有投入、周期和维护量均为内部估计，尚无效果证据。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六周试点先锁定字段，再验证数据提取，最后决定是否扩围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服务中心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simulated-data-tag">
            <a:extLst xmlns:a="http://schemas.openxmlformats.org/drawingml/2006/main">
              <a:ext uri="{FF2B5EF4-FFF2-40B4-BE49-F238E27FC236}">
                <a16:creationId xmlns:a16="http://schemas.microsoft.com/office/drawing/2014/main" id="{2DBCF94F-50E9-4184-BF9E-E0B5CDB5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4307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模拟数据｜排版验证稿，不代表真实运行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104DAB-44BF-49DA-A164-736A8157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C30 · ROADMAP</a:t>
            </a:r>
          </a:p>
        </p:txBody>
      </p:sp>
      <p:sp>
        <p:nvSpPr>
          <p:cNvPr id="17" name="slide-4-claim">
            <a:extLst xmlns:a="http://schemas.openxmlformats.org/drawingml/2006/main">
              <a:ext uri="{FF2B5EF4-FFF2-40B4-BE49-F238E27FC236}">
                <a16:creationId xmlns:a16="http://schemas.microsoft.com/office/drawing/2014/main" id="{B6A6E585-E770-4B4D-AC9F-0F9F6647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18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rPr>
              <a:t>六周试点先锁定字段，再验证数据提取，最后决定是否扩围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3929A4-5471-410F-AEB5-33EF0B23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每一阶段都有进入条件；规则错误时回到字段和规则修订，而不是直接扩围。</a:t>
            </a:r>
          </a:p>
        </p:txBody>
      </p:sp>
      <p:sp>
        <p:nvSpPr>
          <p:cNvPr id="19" name="roadmap-70">
            <a:extLst xmlns:a="http://schemas.openxmlformats.org/drawingml/2006/main">
              <a:ext uri="{FF2B5EF4-FFF2-40B4-BE49-F238E27FC236}">
                <a16:creationId xmlns:a16="http://schemas.microsoft.com/office/drawing/2014/main" id="{0E6D97C6-02A7-4B36-AC1B-FBB77468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0ADA80-BCAE-4F2F-B41E-C7B4BF0E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260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第1—2周 统一入口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3B24A5-90CE-42CF-BF02-8C7C44EF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609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负责人 + 三类经办人</a:t>
            </a:r>
          </a:p>
          <a:p xmlns:a="http://schemas.openxmlformats.org/drawingml/2006/main">
            <a:pPr>
              <a:def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统一字段与授权责任</a:t>
            </a:r>
          </a:p>
          <a:p xmlns:a="http://schemas.openxmlformats.org/drawingml/2006/main">
            <a:pPr>
              <a:def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形成字段字典、授权清单和入口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73FFD8-E45A-4D35-A936-1822F503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进入条件：三类请求完成一轮实际样本填写检查，无关键必填字段缺失。</a:t>
            </a:r>
          </a:p>
        </p:txBody>
      </p:sp>
      <p:sp>
        <p:nvSpPr>
          <p:cNvPr id="23" name="roadmap-430">
            <a:extLst xmlns:a="http://schemas.openxmlformats.org/drawingml/2006/main">
              <a:ext uri="{FF2B5EF4-FFF2-40B4-BE49-F238E27FC236}">
                <a16:creationId xmlns:a16="http://schemas.microsoft.com/office/drawing/2014/main" id="{959537C8-52B5-42D3-A7B8-5631C4F1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0375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>
              <a:alpha val="12000"/>
            </a:srgbClr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9CDFA0-CDBA-47ED-B404-CECCEDD1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81350"/>
            <a:ext cx="260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第3—4周 数据提取试用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A0D811-84B9-4872-9472-B005C861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62350"/>
            <a:ext cx="2609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只在数据提取请求试用</a:t>
            </a:r>
          </a:p>
          <a:p xmlns:a="http://schemas.openxmlformats.org/drawingml/2006/main">
            <a:pPr>
              <a:def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保存缺失字段、退回原因、首次响应记录</a:t>
            </a:r>
          </a:p>
          <a:p xmlns:a="http://schemas.openxmlformats.org/drawingml/2006/main">
            <a:pPr>
              <a:def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先验证记录是否完整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C0583E-19E3-49B6-9CAF-9351458B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196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扩大条件：无阻断提交的高频规则错误；否则回到字段和规则修订。</a:t>
            </a:r>
          </a:p>
        </p:txBody>
      </p:sp>
      <p:sp>
        <p:nvSpPr>
          <p:cNvPr id="27" name="roadmap-790">
            <a:extLst xmlns:a="http://schemas.openxmlformats.org/drawingml/2006/main">
              <a:ext uri="{FF2B5EF4-FFF2-40B4-BE49-F238E27FC236}">
                <a16:creationId xmlns:a16="http://schemas.microsoft.com/office/drawing/2014/main" id="{4342F29F-69D0-42A3-B82F-850E0C2B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0375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>
                <a:alpha val="3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9BD185-8C2A-476B-93A1-DB64B9DB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81350"/>
            <a:ext cx="260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第5—6周 复核后扩围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B7C19F-F267-44B4-A44B-2DAFBA87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62350"/>
            <a:ext cx="2609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负责人复核试点数据</a:t>
            </a:r>
          </a:p>
          <a:p xmlns:a="http://schemas.openxmlformats.org/drawingml/2006/main">
            <a:pPr>
              <a:def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再决定是否扩到清洗、权限开通</a:t>
            </a:r>
          </a:p>
          <a:p xmlns:a="http://schemas.openxmlformats.org/drawingml/2006/main">
            <a:pPr>
              <a:def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保留暂停与修订选项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A04480-E114-4FB0-8B4A-98C01D25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196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评估：两日响应比例、材料退回比例、经办人维护时间。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8D4D94-FF31-4169-89AE-64073EDC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6385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954C5E-699B-44A8-B52D-AB3EDAE9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385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43173D-051A-4487-856A-A9C3A425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6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A5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A53B3B"/>
                </a:solidFill>
                <a:latin typeface="Microsoft YaHei"/>
                <a:ea typeface="Microsoft YaHei"/>
                <a:cs typeface="Microsoft YaHei"/>
              </a:rPr>
              <a:t>← 高频规则错误时回到第1—2周修订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318A74-7EBE-4241-9F23-8DCD7F65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目标值根据试点基线确定；本稿不预设未经论证的百分比目标。</a:t>
            </a:r>
          </a:p>
        </p:txBody>
      </p:sp>
      <p:sp>
        <p:nvSpPr>
          <p:cNvPr id="35" name="source-band">
            <a:extLst xmlns:a="http://schemas.openxmlformats.org/drawingml/2006/main">
              <a:ext uri="{FF2B5EF4-FFF2-40B4-BE49-F238E27FC236}">
                <a16:creationId xmlns:a16="http://schemas.microsoft.com/office/drawing/2014/main" id="{69A7B288-6C93-46AB-9378-C541AFD3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48375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计划性质：未来拟用六周完成有限试点；不是已发生结果，也不承诺消除所有材料与权限阻塞。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2026-09-08T15:54:42.2100000Z</dcterms:created>
  <dcterms:modified xsi:type="dcterms:W3CDTF">2026-09-08T15:54:42.2100000Z</dcterms:modified>
</coreProperties>
</file>