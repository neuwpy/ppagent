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d4ff560474a1d" /><Relationship Type="http://schemas.openxmlformats.org/officeDocument/2006/relationships/extended-properties" Target="/docProps/app.xml" Id="R2fe7f488ffa6428c" /><Relationship Type="http://schemas.openxmlformats.org/officeDocument/2006/relationships/officeDocument" Target="/ppt/presentation.xml" Id="R241c8ec22b1d48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2f9249a9a4e64"/>
    <p:sldMasterId xmlns:r="http://schemas.openxmlformats.org/officeDocument/2006/relationships" id="2147483660" r:id="R31d5bcf0ed44408d"/>
    <p:sldMasterId xmlns:r="http://schemas.openxmlformats.org/officeDocument/2006/relationships" id="2147483663" r:id="Rd9a7548e7b424bfc"/>
  </p:sldMasterIdLst>
  <p:notesMasterIdLst>
    <p:notesMasterId xmlns:r="http://schemas.openxmlformats.org/officeDocument/2006/relationships" r:id="R8a16020cb31048fd"/>
  </p:notesMasterIdLst>
  <p:sldIdLst>
    <p:sldId xmlns:r="http://schemas.openxmlformats.org/officeDocument/2006/relationships" id="256" r:id="R2f047dee59694e53"/>
    <p:sldId xmlns:r="http://schemas.openxmlformats.org/officeDocument/2006/relationships" id="257" r:id="Re3978107a4284131"/>
    <p:sldId xmlns:r="http://schemas.openxmlformats.org/officeDocument/2006/relationships" id="258" r:id="R420435606adc40f9"/>
    <p:sldId xmlns:r="http://schemas.openxmlformats.org/officeDocument/2006/relationships" id="259" r:id="R720e10f46618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691b1bce04578" /><Relationship Type="http://schemas.openxmlformats.org/officeDocument/2006/relationships/slideMaster" Target="/ppt/slideMasters/slideMaster1.xml" Id="Rf4c2f9249a9a4e64" /><Relationship Type="http://schemas.openxmlformats.org/officeDocument/2006/relationships/slideMaster" Target="/ppt/slideMasters/slideMaster2.xml" Id="R31d5bcf0ed44408d" /><Relationship Type="http://schemas.openxmlformats.org/officeDocument/2006/relationships/slideMaster" Target="/ppt/slideMasters/slideMaster3.xml" Id="Rd9a7548e7b424bfc" /><Relationship Type="http://schemas.openxmlformats.org/officeDocument/2006/relationships/notesMaster" Target="/ppt/notesMasters/notesMaster1.xml" Id="R8a16020cb31048fd" /><Relationship Type="http://schemas.openxmlformats.org/officeDocument/2006/relationships/presProps" Target="/ppt/presProps.xml" Id="R56795010f65e450d" /><Relationship Type="http://schemas.openxmlformats.org/officeDocument/2006/relationships/viewProps" Target="/ppt/viewProps.xml" Id="R23f280774d644ff1" /><Relationship Type="http://schemas.openxmlformats.org/officeDocument/2006/relationships/tableStyles" Target="/ppt/tableStyles.xml" Id="Rc33fd2fde0c84a9d" /><Relationship Type="http://schemas.openxmlformats.org/officeDocument/2006/relationships/slide" Target="/ppt/slides/slide1.xml" Id="R2f047dee59694e53" /><Relationship Type="http://schemas.openxmlformats.org/officeDocument/2006/relationships/slide" Target="/ppt/slides/slide2.xml" Id="Re3978107a4284131" /><Relationship Type="http://schemas.openxmlformats.org/officeDocument/2006/relationships/slide" Target="/ppt/slides/slide3.xml" Id="R420435606adc40f9" /><Relationship Type="http://schemas.openxmlformats.org/officeDocument/2006/relationships/slide" Target="/ppt/slides/slide4.xml" Id="R720e10f46618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6bd8ee190b3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5f7cd855240d3" /><Relationship Type="http://schemas.openxmlformats.org/officeDocument/2006/relationships/notesMaster" Target="/ppt/notesMasters/notesMaster1.xml" Id="R8fe7143c5cf94a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2155ad03844dca" /><Relationship Type="http://schemas.openxmlformats.org/officeDocument/2006/relationships/notesMaster" Target="/ppt/notesMasters/notesMaster1.xml" Id="Rc8839ba4bcf3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a09b2c9674abb" /><Relationship Type="http://schemas.openxmlformats.org/officeDocument/2006/relationships/notesMaster" Target="/ppt/notesMasters/notesMaster1.xml" Id="R9550e376e62a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22d2cca05f4c7a" /><Relationship Type="http://schemas.openxmlformats.org/officeDocument/2006/relationships/notesMaster" Target="/ppt/notesMasters/notesMaster1.xml" Id="Rafdd8f3fbad7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PPagenT：route-c-C14-trend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
[Supporting data]
逐月原始计数：1月 120件收到 / 96件两日内首次可执行答复 / 中位1.3工作日 / 80%；2月 150 / 114 / 1.5 / 76%；3月 180 / 126 / 1.8 / 70%；4月 240 / 144 / 2.4 / 60%。4月请求组成：数据提取120、数据清洗72、权限开通48。
[/Supporting data]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PPagenT：route-c-C16-composition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
[Supporting data]
4月未达到两个工作日响应标准的96个请求：材料不全42、权限确认30、需求反复16、其他8；四类彼此互斥且合计完整。4月请求总量240，其中数据提取120、数据清洗72、权限开通48。
[/Supporting data]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PPagenT：route-c-C09-comparison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
[Supporting data]
方案估计原表：A 临时增加值班（8人日，1周，每周2人日值班）；B 统一申请入口（12人日，2周，每周0.5人日规则维护）；C 批量自动预检（30人日，6周，每周1人日规则维护）。三项均为内部方案估计，并非已验证效果。
[/Supporting data]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PPagenT：route-c-C30-roadmap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
[Supporting data]
试点原计划：第1—2周统一字段与授权责任；第3—4周仅在数据提取请求试用并保存缺失字段、退回原因、首次响应记录；第5—6周复核后再决定是否扩到数据清洗和权限开通。评估看两日响应比例、材料退回比例和经办人维护时间，目标值根据试点基线确定。
[/Supporting data]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da162984d478d" /><Relationship Type="http://schemas.openxmlformats.org/officeDocument/2006/relationships/image" Target="/ppt/media/image.jpeg" Id="R5cb3b744f3c14649" /><Relationship Type="http://schemas.openxmlformats.org/officeDocument/2006/relationships/image" Target="/ppt/media/image.png" Id="Rc3f7cbe8b78643e5" /><Relationship Type="http://schemas.openxmlformats.org/officeDocument/2006/relationships/image" Target="/ppt/media/image2.png" Id="R7c7f7573545840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f804643bb49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82047afab4cf7" /><Relationship Type="http://schemas.openxmlformats.org/officeDocument/2006/relationships/image" Target="/ppt/media/image3.png" Id="R55fcf865e97843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861908de9435d" /><Relationship Type="http://schemas.openxmlformats.org/officeDocument/2006/relationships/image" Target="/ppt/media/image4.png" Id="Rca0a8d7856b841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52d51e4e440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64f1248d942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ca64fbf2a4e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8b913027e40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f0939cca245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3f5a32c044f4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d9a0e434d449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3ea46d753d4cd3" /><Relationship Type="http://schemas.openxmlformats.org/officeDocument/2006/relationships/image" Target="/ppt/media/image5.png" Id="R5b7af444e52f45d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2db1407e8848c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be658020f14b69" /><Relationship Type="http://schemas.openxmlformats.org/officeDocument/2006/relationships/image" Target="/ppt/media/image5.png" Id="Rf090d048a0774a9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ca2ab6963434f6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3b744f3c1464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7cbe8b78643e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f75735458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cf865e97843f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a8d7856b8411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af444e52f45d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0d048a0774a9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fbbce84d74840" /><Relationship Type="http://schemas.openxmlformats.org/officeDocument/2006/relationships/slideLayout" Target="/ppt/slideLayouts/slideLayout1.xml" Id="R57b65114376d445d" /><Relationship Type="http://schemas.openxmlformats.org/officeDocument/2006/relationships/slideLayout" Target="/ppt/slideLayouts/slideLayout2.xml" Id="R0de1f832718c48d6" /><Relationship Type="http://schemas.openxmlformats.org/officeDocument/2006/relationships/slideLayout" Target="/ppt/slideLayouts/slideLayout3.xml" Id="R12029dea39804cc6" /><Relationship Type="http://schemas.openxmlformats.org/officeDocument/2006/relationships/slideLayout" Target="/ppt/slideLayouts/slideLayout4.xml" Id="R7e37fe570f03473d" /><Relationship Type="http://schemas.openxmlformats.org/officeDocument/2006/relationships/slideLayout" Target="/ppt/slideLayouts/slideLayout5.xml" Id="R22b49e9fb9a346b2" /><Relationship Type="http://schemas.openxmlformats.org/officeDocument/2006/relationships/slideLayout" Target="/ppt/slideLayouts/slideLayout6.xml" Id="R4c3dea6f4e8a4aad" /><Relationship Type="http://schemas.openxmlformats.org/officeDocument/2006/relationships/slideLayout" Target="/ppt/slideLayouts/slideLayout7.xml" Id="Rf4466267c5a54311" /><Relationship Type="http://schemas.openxmlformats.org/officeDocument/2006/relationships/slideLayout" Target="/ppt/slideLayouts/slideLayout8.xml" Id="R04fa72e672a042af" /><Relationship Type="http://schemas.openxmlformats.org/officeDocument/2006/relationships/slideLayout" Target="/ppt/slideLayouts/slideLayout9.xml" Id="R52f135e0b48641fd" /><Relationship Type="http://schemas.openxmlformats.org/officeDocument/2006/relationships/slideLayout" Target="/ppt/slideLayouts/slideLayout10.xml" Id="R11515f07f2f24e72" /><Relationship Type="http://schemas.openxmlformats.org/officeDocument/2006/relationships/slideLayout" Target="/ppt/slideLayouts/slideLayout11.xml" Id="Rb7fb2999b9ac4ce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771b6ceb7bd414b" /><Relationship Type="http://schemas.openxmlformats.org/officeDocument/2006/relationships/slideLayout" Target="/ppt/slideLayouts/slideLayout12.xml" Id="R58333870e50640f5" /><Relationship Type="http://schemas.openxmlformats.org/officeDocument/2006/relationships/slideLayout" Target="/ppt/slideLayouts/slideLayout13.xml" Id="R5fa1ea39ac70402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70ab462829a4d6b" /><Relationship Type="http://schemas.openxmlformats.org/officeDocument/2006/relationships/slideLayout" Target="/ppt/slideLayouts/slideLayout14.xml" Id="R7b08c9105c8043b5" /><Relationship Type="http://schemas.openxmlformats.org/officeDocument/2006/relationships/slideLayout" Target="/ppt/slideLayouts/slideLayout15.xml" Id="Rbe67634fb4b742f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65114376d445d"/>
    <p:sldLayoutId xmlns:r="http://schemas.openxmlformats.org/officeDocument/2006/relationships" id="2147483650" r:id="R0de1f832718c48d6"/>
    <p:sldLayoutId xmlns:r="http://schemas.openxmlformats.org/officeDocument/2006/relationships" id="2147483651" r:id="R12029dea39804cc6"/>
    <p:sldLayoutId xmlns:r="http://schemas.openxmlformats.org/officeDocument/2006/relationships" id="2147483652" r:id="R7e37fe570f03473d"/>
    <p:sldLayoutId xmlns:r="http://schemas.openxmlformats.org/officeDocument/2006/relationships" id="2147483653" r:id="R22b49e9fb9a346b2"/>
    <p:sldLayoutId xmlns:r="http://schemas.openxmlformats.org/officeDocument/2006/relationships" id="2147483654" r:id="R4c3dea6f4e8a4aad"/>
    <p:sldLayoutId xmlns:r="http://schemas.openxmlformats.org/officeDocument/2006/relationships" id="2147483655" r:id="Rf4466267c5a54311"/>
    <p:sldLayoutId xmlns:r="http://schemas.openxmlformats.org/officeDocument/2006/relationships" id="2147483656" r:id="R04fa72e672a042af"/>
    <p:sldLayoutId xmlns:r="http://schemas.openxmlformats.org/officeDocument/2006/relationships" id="2147483657" r:id="R52f135e0b48641fd"/>
    <p:sldLayoutId xmlns:r="http://schemas.openxmlformats.org/officeDocument/2006/relationships" id="2147483658" r:id="R11515f07f2f24e72"/>
    <p:sldLayoutId xmlns:r="http://schemas.openxmlformats.org/officeDocument/2006/relationships" id="2147483659" r:id="Rb7fb2999b9ac4ce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8333870e50640f5"/>
    <p:sldLayoutId xmlns:r="http://schemas.openxmlformats.org/officeDocument/2006/relationships" id="2147483662" r:id="R5fa1ea39ac70402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b08c9105c8043b5"/>
    <p:sldLayoutId xmlns:r="http://schemas.openxmlformats.org/officeDocument/2006/relationships" id="2147483665" r:id="Rbe67634fb4b742f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ec7dac11634928" /><Relationship Type="http://schemas.openxmlformats.org/officeDocument/2006/relationships/chart" Target="/ppt/slides/charts/chart1.xml" Id="R058d801c56704b53" /><Relationship Type="http://schemas.openxmlformats.org/officeDocument/2006/relationships/chart" Target="/ppt/slides/charts/chart2.xml" Id="Raed58e0803264239" /><Relationship Type="http://schemas.openxmlformats.org/officeDocument/2006/relationships/notesSlide" Target="/ppt/notesSlides/notesSlide1.xml" Id="R3f38a00388c5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9c231625f34a85" /><Relationship Type="http://schemas.openxmlformats.org/officeDocument/2006/relationships/notesSlide" Target="/ppt/notesSlides/notesSlide2.xml" Id="Rf1594bdb8fa1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62d612f5cf47fd" /><Relationship Type="http://schemas.openxmlformats.org/officeDocument/2006/relationships/notesSlide" Target="/ppt/notesSlides/notesSlide3.xml" Id="R17d45715685046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f71fd0fc8e49be" /><Relationship Type="http://schemas.openxmlformats.org/officeDocument/2006/relationships/notesSlide" Target="/ppt/notesSlides/notesSlide4.xml" Id="R8ad90225d2334e9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响应比例</c:v>
          </c:tx>
          <c:spPr>
            <a:solidFill xmlns:a="http://schemas.openxmlformats.org/drawingml/2006/main">
              <a:srgbClr val="315F91"/>
            </a:solidFill>
          </c:spPr>
          <c:marker>
            <c:symbol val="none"/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80</c:v>
              </c:pt>
              <c:pt idx="1">
                <c:v>76</c:v>
              </c:pt>
              <c:pt idx="2">
                <c:v>70</c:v>
              </c:pt>
              <c:pt idx="3">
                <c:v>60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6F6F6F">
                  <a:alpha val="2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中位时间</c:v>
          </c:tx>
          <c:spPr>
            <a:solidFill xmlns:a="http://schemas.openxmlformats.org/drawingml/2006/main">
              <a:srgbClr val="315F91"/>
            </a:solidFill>
          </c:spPr>
          <c:marker>
            <c:symbol val="none"/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1.3</c:v>
              </c:pt>
              <c:pt idx="1">
                <c:v>1.5</c:v>
              </c:pt>
              <c:pt idx="2">
                <c:v>1.8</c:v>
              </c:pt>
              <c:pt idx="3">
                <c:v>2.4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6F6F6F">
                  <a:alpha val="2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1—4月工作量翻倍后，两日内首次响应比例降至60%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9F18C050-372F-4BCC-B33B-B1E1BA1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C887-3590-4039-B074-67FBF95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运行观察</a:t>
            </a:r>
          </a:p>
        </p:txBody>
      </p:sp>
      <p:sp>
        <p:nvSpPr>
          <p:cNvPr id="17" name="slide-1-claim">
            <a:extLst xmlns:a="http://schemas.openxmlformats.org/drawingml/2006/main">
              <a:ext uri="{FF2B5EF4-FFF2-40B4-BE49-F238E27FC236}">
                <a16:creationId xmlns:a16="http://schemas.microsoft.com/office/drawing/2014/main" id="{66EEA912-D00A-4892-8918-8FFBD468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1—4月工作量翻倍后，两日内首次响应比例降至60%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85379-2951-4DA7-B281-AC10056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响应压力同步上升，但仅凭观察不能把工作量增长认定为唯一原因。</a:t>
            </a:r>
          </a:p>
        </p:txBody>
      </p:sp>
      <p:sp>
        <p:nvSpPr>
          <p:cNvPr id="19" name="response-rate-exhibit">
            <a:extLst xmlns:a="http://schemas.openxmlformats.org/drawingml/2006/main">
              <a:ext uri="{FF2B5EF4-FFF2-40B4-BE49-F238E27FC236}">
                <a16:creationId xmlns:a16="http://schemas.microsoft.com/office/drawing/2014/main" id="{ED6B36B8-FCA0-47DF-A7CF-8D72B87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median-time-exhibit">
            <a:extLst xmlns:a="http://schemas.openxmlformats.org/drawingml/2006/main">
              <a:ext uri="{FF2B5EF4-FFF2-40B4-BE49-F238E27FC236}">
                <a16:creationId xmlns:a16="http://schemas.microsoft.com/office/drawing/2014/main" id="{C5D0727E-8466-4504-8CFA-7970287B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FE270-927D-4C0E-8B24-C119DD00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两日内首次给出可执行答复（比例）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CDFE0-88D3-4AA2-833F-71CA1E79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首次响应中位时间（工作日）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52500" y="3381375"/>
          <a:ext xmlns:a="http://schemas.openxmlformats.org/drawingml/2006/main" cx="4572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8d801c56704b53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429375" y="3381375"/>
          <a:ext xmlns:a="http://schemas.openxmlformats.org/drawingml/2006/main" cx="4572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d58e0803264239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601B2-97AC-4CE5-9333-B777AFAD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120 → 240 件／月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2D9D5-2CCC-4136-94AB-BCEB4547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00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1.3 → 2.4 个工作日</a:t>
            </a:r>
          </a:p>
        </p:txBody>
      </p:sp>
      <p:sp>
        <p:nvSpPr>
          <p:cNvPr id="27" name="source-band">
            <a:extLst xmlns:a="http://schemas.openxmlformats.org/drawingml/2006/main">
              <a:ext uri="{FF2B5EF4-FFF2-40B4-BE49-F238E27FC236}">
                <a16:creationId xmlns:a16="http://schemas.microsoft.com/office/drawing/2014/main" id="{465CE1D0-1F0E-443B-BB98-FCA36B10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口径：从收到请求起计两个工作日；结案后回看统计首次可执行答复时间；该指标不是结案时长。每月无缺失记录。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4月未达标请求中，材料与权限问题占75%，入口规则是首要改善点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A88F8480-E89A-4EB0-901B-2A07BBDF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D63A2-B3F4-4E2C-83D7-65ABFD4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原因复核</a:t>
            </a:r>
          </a:p>
        </p:txBody>
      </p:sp>
      <p:sp>
        <p:nvSpPr>
          <p:cNvPr id="17" name="slide-2-claim">
            <a:extLst xmlns:a="http://schemas.openxmlformats.org/drawingml/2006/main">
              <a:ext uri="{FF2B5EF4-FFF2-40B4-BE49-F238E27FC236}">
                <a16:creationId xmlns:a16="http://schemas.microsoft.com/office/drawing/2014/main" id="{2B247625-D54E-4F0E-92BB-984DE3B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4月未达标请求中，材料与权限问题占75%，入口规则是首要改善点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5764D-C393-4B5F-A0ED-D1EB36C6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96个请求逐一复核，每个请求只记一个主要阻塞原因，彼此互斥且合计完整。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3681A-EE71-45B5-954A-A5A58B7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4月未达标请求（n=96）</a:t>
            </a:r>
          </a:p>
        </p:txBody>
      </p:sp>
      <p:sp>
        <p:nvSpPr>
          <p:cNvPr id="20" name="blocker-材料不全">
            <a:extLst xmlns:a="http://schemas.openxmlformats.org/drawingml/2006/main">
              <a:ext uri="{FF2B5EF4-FFF2-40B4-BE49-F238E27FC236}">
                <a16:creationId xmlns:a16="http://schemas.microsoft.com/office/drawing/2014/main" id="{1355CFB7-7709-47E1-89D6-6B8E4BB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29207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0D90F-2958-47C5-9F6F-9964AEBA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81375"/>
            <a:ext cx="317777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2" name="blocker-权限确认">
            <a:extLst xmlns:a="http://schemas.openxmlformats.org/drawingml/2006/main">
              <a:ext uri="{FF2B5EF4-FFF2-40B4-BE49-F238E27FC236}">
                <a16:creationId xmlns:a16="http://schemas.microsoft.com/office/drawing/2014/main" id="{AB5A0F49-3597-499D-837A-D6FF267C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578" y="3257550"/>
            <a:ext cx="2351484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70000"/>
            </a:srgbClr>
          </a:solidFill>
          <a:ln xmlns:a="http://schemas.openxmlformats.org/drawingml/2006/main" w="9525">
            <a:solidFill>
              <a:srgbClr val="315F91">
                <a:alpha val="7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28E01-8C41-47D6-B061-71B73AD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728" y="3381375"/>
            <a:ext cx="223718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4" name="blocker-需求反复">
            <a:extLst xmlns:a="http://schemas.openxmlformats.org/drawingml/2006/main">
              <a:ext uri="{FF2B5EF4-FFF2-40B4-BE49-F238E27FC236}">
                <a16:creationId xmlns:a16="http://schemas.microsoft.com/office/drawing/2014/main" id="{232A3557-1FA8-4A04-B3A3-05C08B9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257550"/>
            <a:ext cx="1254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45000"/>
            </a:srgbClr>
          </a:solidFill>
          <a:ln xmlns:a="http://schemas.openxmlformats.org/drawingml/2006/main" w="9525">
            <a:solidFill>
              <a:srgbClr val="315F91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63FF9-3090-4A06-952B-78F84C4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213" y="3381375"/>
            <a:ext cx="113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6" name="blocker-其他">
            <a:extLst xmlns:a="http://schemas.openxmlformats.org/drawingml/2006/main">
              <a:ext uri="{FF2B5EF4-FFF2-40B4-BE49-F238E27FC236}">
                <a16:creationId xmlns:a16="http://schemas.microsoft.com/office/drawing/2014/main" id="{422248DC-00B9-4CE6-8329-8BF16A8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188" y="3257550"/>
            <a:ext cx="62706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25000"/>
            </a:srgbClr>
          </a:solidFill>
          <a:ln xmlns:a="http://schemas.openxmlformats.org/drawingml/2006/main" w="9525">
            <a:solidFill>
              <a:srgbClr val="315F91">
                <a:alpha val="2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E1803-8C59-4EA8-AD19-5974E45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38" y="3467100"/>
            <a:ext cx="51276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8" name="implication-box">
            <a:extLst xmlns:a="http://schemas.openxmlformats.org/drawingml/2006/main">
              <a:ext uri="{FF2B5EF4-FFF2-40B4-BE49-F238E27FC236}">
                <a16:creationId xmlns:a16="http://schemas.microsoft.com/office/drawing/2014/main" id="{7B0EA84C-66CA-43BD-BFEA-D97E9F4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428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427766-6C2A-4C2A-893A-3E19A972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这支持什么判断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E62B6-2008-446D-9364-FE1E1A22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入口前置字段与授权校验，和主要阻塞环节直接对应。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8D2CE-27DB-47BA-8825-4748774B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但复核分类不等于干预可消除数量，也不能预测节省工时。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FD765-E5D1-4144-B065-ABDED6E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0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97738-DC79-4681-A888-2A966B81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材料不全：字段缺失或样本文件未附  ｜  权限确认：授权人或授权范围未确认  ｜  其他：8（8%）</a:t>
            </a:r>
          </a:p>
        </p:txBody>
      </p:sp>
      <p:sp>
        <p:nvSpPr>
          <p:cNvPr id="34" name="source-band">
            <a:extLst xmlns:a="http://schemas.openxmlformats.org/drawingml/2006/main">
              <a:ext uri="{FF2B5EF4-FFF2-40B4-BE49-F238E27FC236}">
                <a16:creationId xmlns:a16="http://schemas.microsoft.com/office/drawing/2014/main" id="{B7A2C244-61C8-47B8-9ECD-7F991C1C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证据性质：4月未达标请求的互斥复核分类；不是因果实验，也不是方案效果预测。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B统一申请入口最贴近主要阻塞，但需先完成三类请求字段共识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ECBC031E-5046-430B-8512-FC68A914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A876D-B23E-46EF-9B05-79390034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方案比较</a:t>
            </a:r>
          </a:p>
        </p:txBody>
      </p:sp>
      <p:sp>
        <p:nvSpPr>
          <p:cNvPr id="17" name="slide-3-claim">
            <a:extLst xmlns:a="http://schemas.openxmlformats.org/drawingml/2006/main">
              <a:ext uri="{FF2B5EF4-FFF2-40B4-BE49-F238E27FC236}">
                <a16:creationId xmlns:a16="http://schemas.microsoft.com/office/drawing/2014/main" id="{6EB2B485-6757-4A32-BB6D-39CA147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B统一申请入口最贴近主要阻塞，但需先完成三类请求字段共识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A9123-0E13-4F43-AD17-775CD7D3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投入与周期均为内部方案估计，不能与后续响应改善直接换算。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3B2F0-D608-40F4-82C8-84B39BA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E6362-D842-439A-9D8C-F12FE0D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4AFBC-954D-4D9E-AE53-75E1E984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>
              <a:alpha val="10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AA03C-EA08-498F-8F8A-DB63BBC6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4BB2F-925B-4F8A-A5DC-742849D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3D951-27B7-4A05-8D49-3D06561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4CB13-3D61-49C5-A4A2-EAC4D90B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0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BEFEC-8685-4E04-BF4E-BF0E2B4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536DFB-4857-4832-97A6-9D525205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46288-A4E3-45D8-9113-3948736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742EC-DAA0-4FAB-A52C-B597CFA7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6C793-75C5-46C4-88D1-3F1F37F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C608DC-910D-484E-84A2-D4F75D42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0BC54-243E-4A7B-B192-5E8DE9A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557E4-704C-4433-B7B8-F981C11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157F9-F5A3-48ED-85D8-050B64A7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31D65-6E11-4516-93D8-267DB6C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A5001-C0B5-4DBE-A814-1DD3FAD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E48E3-2F0C-4280-89B7-4365C0E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D603D8-2C6C-4A67-B668-386D526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F27017-AF1C-4C85-A3B4-BCFF475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4D586D-38EB-47D5-90E1-8CF64A4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23CC92-2FA9-4E12-AF59-3D5EA020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793095-E68D-446B-8F72-950D042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4FF95A-F53F-42D7-87EF-A3A8D38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CC5ED3-294D-45F0-B4CA-7D69AC86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9E7EA0-F851-48EB-A2E1-0EF49A91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C995AC-DD3E-48CB-B4DB-27887A3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2E68BE-F386-4D38-B2A4-BA6DD85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F2BDFE-090A-4906-AC75-64539EC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D906CB-B1DF-4AF1-B8AF-7A7949DF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1D257E-996E-494D-8D68-20A7F471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21DAB2-79D6-4315-A4C2-341CE581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EB09FC-C1AF-4674-9B7C-73AF8E7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17FA90-2AEB-4FB7-ADC8-F3794208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CC5DE9-61A2-4789-8020-5725C049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5BA314-D6AC-481A-98A0-92EA248A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BDE26F-9266-455B-81A9-01F1004F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646751-E54D-45B8-84C0-A32C5F8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9E044D-D661-4E4C-AF8A-0D1A2DE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84045B-5FD8-4637-870B-696490B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68B768-1DA2-4D39-BA95-1BBDA79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E1EF41-5A03-4ED9-B3C4-FC42A5E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412EBE-F127-4C59-88FA-64B47A9A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B9C2FF-03BC-4774-B2F4-B2BBCE4E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39D245-87DC-4C7B-9273-35F74AE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0F4E94-FD47-4BD2-8BAC-EAC06074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376FEB-1F8C-4851-B051-AD397F45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822232-2A9A-4C88-A39E-F27EA1E5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0F92B0-18FC-43E7-89B3-4F1F90D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B45678-2A0D-4BA2-A56C-9FCB802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64C05D-B0C6-4CEE-8E59-4F7CD12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6EA091-2C17-45E5-B98C-4A1E6ED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E4D42C-2B62-42EF-A1E6-A15774DF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C5C73D-86C1-4DF0-A112-6F151DD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2E4DB2-AF05-4616-811C-D2CF947D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47B4F4-62A3-499C-A286-0D19B7F4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建议：先试行 B；保留 A 作为短期高峰应急；C 等入口规则稳定后再评估。</a:t>
            </a:r>
          </a:p>
        </p:txBody>
      </p:sp>
      <p:sp>
        <p:nvSpPr>
          <p:cNvPr id="76" name="source-band">
            <a:extLst xmlns:a="http://schemas.openxmlformats.org/drawingml/2006/main">
              <a:ext uri="{FF2B5EF4-FFF2-40B4-BE49-F238E27FC236}">
                <a16:creationId xmlns:a16="http://schemas.microsoft.com/office/drawing/2014/main" id="{41269D2B-AC75-4072-8732-21D3F98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方案状态：A/B/C均未实施；所有投入、周期和维护量均为内部估计，尚无效果证据。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六周试点先锁定字段，再验证数据提取，最后决定是否扩围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CECBA2AE-A122-469B-B4A7-8C558A92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5DC6-820F-4EB3-B1C9-600FFB53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试点路线</a:t>
            </a:r>
          </a:p>
        </p:txBody>
      </p:sp>
      <p:sp>
        <p:nvSpPr>
          <p:cNvPr id="17" name="slide-4-claim">
            <a:extLst xmlns:a="http://schemas.openxmlformats.org/drawingml/2006/main">
              <a:ext uri="{FF2B5EF4-FFF2-40B4-BE49-F238E27FC236}">
                <a16:creationId xmlns:a16="http://schemas.microsoft.com/office/drawing/2014/main" id="{35A4BB0E-A5C1-4B39-B79D-871E40A0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六周试点先锁定字段，再验证数据提取，最后决定是否扩围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536C5-1666-4306-96A1-4BF788F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每一阶段都有进入条件；规则错误时回到字段和规则修订，而不是直接扩围。</a:t>
            </a:r>
          </a:p>
        </p:txBody>
      </p:sp>
      <p:sp>
        <p:nvSpPr>
          <p:cNvPr id="19" name="roadmap-70">
            <a:extLst xmlns:a="http://schemas.openxmlformats.org/drawingml/2006/main">
              <a:ext uri="{FF2B5EF4-FFF2-40B4-BE49-F238E27FC236}">
                <a16:creationId xmlns:a16="http://schemas.microsoft.com/office/drawing/2014/main" id="{099C761B-5D4C-4DF2-8D9D-86E43E6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E38FD-1328-44F7-AD10-6DE9D9F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第1—2周 统一入口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B16E3-8E0C-4E71-98C1-D15F4AE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 + 三类经办人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形成字段字典、授权清单和入口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17582-EABF-4C01-803E-C6D469D6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进入条件：三类请求完成一轮实际样本填写检查，无关键必填字段缺失。</a:t>
            </a:r>
          </a:p>
        </p:txBody>
      </p:sp>
      <p:sp>
        <p:nvSpPr>
          <p:cNvPr id="23" name="roadmap-430">
            <a:extLst xmlns:a="http://schemas.openxmlformats.org/drawingml/2006/main">
              <a:ext uri="{FF2B5EF4-FFF2-40B4-BE49-F238E27FC236}">
                <a16:creationId xmlns:a16="http://schemas.microsoft.com/office/drawing/2014/main" id="{6DBFB45C-6FD6-4643-A319-097F30D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FA9D4-597E-4815-B77C-02E32C3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第3—4周 数据提取试用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DB252-63C3-4BAA-B168-0A13428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保存缺失字段、退回原因、首次响应记录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先验证记录是否完整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D676D-BD65-4CE7-9B71-4F710AB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扩大条件：无阻断提交的高频规则错误；否则回到字段和规则修订。</a:t>
            </a:r>
          </a:p>
        </p:txBody>
      </p:sp>
      <p:sp>
        <p:nvSpPr>
          <p:cNvPr id="27" name="roadmap-790">
            <a:extLst xmlns:a="http://schemas.openxmlformats.org/drawingml/2006/main">
              <a:ext uri="{FF2B5EF4-FFF2-40B4-BE49-F238E27FC236}">
                <a16:creationId xmlns:a16="http://schemas.microsoft.com/office/drawing/2014/main" id="{90EF3549-C306-4957-82C5-258FB5FF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1DA5A-D8D8-4C66-8B77-8BBBF01B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第5—6周 复核后扩围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973D2-7A16-41D5-B70E-0A372844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再决定是否扩到清洗、权限开通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保留暂停与修订选项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FF7A0-C634-4B50-9667-968717C0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评估：两日响应比例、材料退回比例、经办人维护时间。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910E1-3ED2-42E4-89FE-6D18129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38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FA3D8-CD72-4123-8B2A-A628925E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A0A886-3AE8-45DB-B936-FD7CBED5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5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A53B3B"/>
                </a:solidFill>
                <a:latin typeface="Microsoft YaHei"/>
                <a:ea typeface="Microsoft YaHei"/>
                <a:cs typeface="Microsoft YaHei"/>
              </a:rPr>
              <a:t>← 高频规则错误时回到第1—2周修订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61A0C9-96D5-4A2B-B398-AC94B72E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目标值根据试点基线确定；本稿不预设未经论证的百分比目标。</a:t>
            </a:r>
          </a:p>
        </p:txBody>
      </p:sp>
      <p:sp>
        <p:nvSpPr>
          <p:cNvPr id="35" name="source-band">
            <a:extLst xmlns:a="http://schemas.openxmlformats.org/drawingml/2006/main">
              <a:ext uri="{FF2B5EF4-FFF2-40B4-BE49-F238E27FC236}">
                <a16:creationId xmlns:a16="http://schemas.microsoft.com/office/drawing/2014/main" id="{ADAA1604-0A12-4C8E-BA37-1A65F2A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计划性质：未来拟用六周完成有限试点；不是已发生结果，也不承诺消除所有材料与权限阻塞。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2026-09-08T15:59:47.3420000Z</dcterms:created>
  <dcterms:modified xsi:type="dcterms:W3CDTF">2026-09-08T15:59:47.3420000Z</dcterms:modified>
</coreProperties>
</file>