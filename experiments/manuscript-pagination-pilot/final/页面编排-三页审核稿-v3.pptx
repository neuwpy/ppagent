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81323580c4a12" /><Relationship Type="http://schemas.openxmlformats.org/officeDocument/2006/relationships/extended-properties" Target="/docProps/app.xml" Id="R35018b3dd3c94698" /><Relationship Type="http://schemas.openxmlformats.org/officeDocument/2006/relationships/officeDocument" Target="/ppt/presentation.xml" Id="Rf7448eab48af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5601f001094629"/>
    <p:sldMasterId xmlns:r="http://schemas.openxmlformats.org/officeDocument/2006/relationships" id="2147483660" r:id="R269d287d91b64ce1"/>
    <p:sldMasterId xmlns:r="http://schemas.openxmlformats.org/officeDocument/2006/relationships" id="2147483663" r:id="R048363f8202a4683"/>
  </p:sldMasterIdLst>
  <p:notesMasterIdLst>
    <p:notesMasterId xmlns:r="http://schemas.openxmlformats.org/officeDocument/2006/relationships" r:id="R0cdad377e1024d74"/>
  </p:notesMasterIdLst>
  <p:sldIdLst>
    <p:sldId xmlns:r="http://schemas.openxmlformats.org/officeDocument/2006/relationships" id="256" r:id="R453ca37ea26a493d"/>
    <p:sldId xmlns:r="http://schemas.openxmlformats.org/officeDocument/2006/relationships" id="257" r:id="R6ec9a2613afe4ad8"/>
    <p:sldId xmlns:r="http://schemas.openxmlformats.org/officeDocument/2006/relationships" id="258" r:id="R9ebe52d816a14a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d7156b583432b" /><Relationship Type="http://schemas.openxmlformats.org/officeDocument/2006/relationships/slideMaster" Target="/ppt/slideMasters/slideMaster1.xml" Id="R1a5601f001094629" /><Relationship Type="http://schemas.openxmlformats.org/officeDocument/2006/relationships/slideMaster" Target="/ppt/slideMasters/slideMaster2.xml" Id="R269d287d91b64ce1" /><Relationship Type="http://schemas.openxmlformats.org/officeDocument/2006/relationships/slideMaster" Target="/ppt/slideMasters/slideMaster3.xml" Id="R048363f8202a4683" /><Relationship Type="http://schemas.openxmlformats.org/officeDocument/2006/relationships/notesMaster" Target="/ppt/notesMasters/notesMaster1.xml" Id="R0cdad377e1024d74" /><Relationship Type="http://schemas.openxmlformats.org/officeDocument/2006/relationships/presProps" Target="/ppt/presProps.xml" Id="R8a2f0019307c4436" /><Relationship Type="http://schemas.openxmlformats.org/officeDocument/2006/relationships/viewProps" Target="/ppt/viewProps.xml" Id="R55482d05e3c3403f" /><Relationship Type="http://schemas.openxmlformats.org/officeDocument/2006/relationships/tableStyles" Target="/ppt/tableStyles.xml" Id="Raf51671840cf46f8" /><Relationship Type="http://schemas.openxmlformats.org/officeDocument/2006/relationships/slide" Target="/ppt/slides/slide1.xml" Id="R453ca37ea26a493d" /><Relationship Type="http://schemas.openxmlformats.org/officeDocument/2006/relationships/slide" Target="/ppt/slides/slide2.xml" Id="R6ec9a2613afe4ad8" /><Relationship Type="http://schemas.openxmlformats.org/officeDocument/2006/relationships/slide" Target="/ppt/slides/slide3.xml" Id="R9ebe52d816a14a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47097e5a024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bd47c2761441f" /><Relationship Type="http://schemas.openxmlformats.org/officeDocument/2006/relationships/notesMaster" Target="/ppt/notesMasters/notesMaster1.xml" Id="R3dcd03c285cb46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8664a02b4948c3" /><Relationship Type="http://schemas.openxmlformats.org/officeDocument/2006/relationships/notesMaster" Target="/ppt/notesMasters/notesMaster1.xml" Id="R77edeaf6b2a54b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ca9bdd129a4c9f" /><Relationship Type="http://schemas.openxmlformats.org/officeDocument/2006/relationships/notesMaster" Target="/ppt/notesMasters/notesMaster1.xml" Id="R2c6b8a39b53b43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以下均为模拟观察与拟议方案，不代表真实运行结果。建议先改善预约履约与故障记录，再依据试点证据决定是否增加设备。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# 共享实验设备预约改进建议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连续四周预约总数分别为80、100、120、120次，晚间预约分别为48、65、84、90次，预约后未使用分别为8、10、24、30次。晚间预约占比和未使用占比均以当周预约总数为分母，两类记录可能重叠，不能相加。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预约增加与未使用增加同时出现，提示需求分布和履约机制值得核对，但不能据此认定设备总量不足。第四周30条未使用记录尚未区分忘记取消、临时变更和设备故障，四周观察也可能受到考试周期影响。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建议选择两间实验室开展两周试点，用预约提醒和故障登记补齐判断依据，不在试点开始时承诺利用率提升。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案A仅增加预约前提醒，预计准备2个管理员工作日，试点期间每周维护0.5个工作日；方案B同时增加提醒和故障登记，预计准备4个工作日，每周维护1个工作日。两者均针对相同的两间实验室，均不含设备维修工时，也不是实测投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优先选择B是因为只做提醒仍无法判断未使用是否由设备故障造成。管理员每周可投入1.5个工作日；若实际维护超过该容量，保留必要故障记录、暂停扩大提醒覆盖，并记录暂停原因。不能把预计投入低于容量当成实际负荷已经达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审核候选：全文来源见 three-pages.json。模拟稿，不代表真实结果。此轮验证实文组织，不声明结构或图表 Skill 接入通过。</a:t>
            </a:r>
            <a:endParaRPr/>
          </a:p>
          <a:p xmlns:a="http://schemas.openxmlformats.org/drawingml/2006/main">
            <a:r>
              <a:t>是否扩大试点应由履约、故障与工作量证据共同决定；增加设备只是可能的后续选择，不是预定结论。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试点期间记录预约数、实际使用数、取消原因、故障关闭时间和管理员实际工时。两周结束时先检查记录是否完整，再结合晚间排队和实际利用率判断：若故障是主要原因，先修复；若设备利用率高且排队持续，再评估增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扩大范围前必须同时确认记录可追溯、无影响安全的未关闭故障、维护工作量不超过每周1.5个工作日。任一条件不满足，保留两间实验室规模并修订流程；不得删除失败记录。两周试点没有对照组，改善现象不能单独证明提醒或登记导致了改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30894f715429f" /><Relationship Type="http://schemas.openxmlformats.org/officeDocument/2006/relationships/image" Target="/ppt/media/image.jpeg" Id="R7128fb692b954d1d" /><Relationship Type="http://schemas.openxmlformats.org/officeDocument/2006/relationships/image" Target="/ppt/media/image.png" Id="Ra605891815894ba1" /><Relationship Type="http://schemas.openxmlformats.org/officeDocument/2006/relationships/image" Target="/ppt/media/image2.png" Id="Rae35e163eba945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d21fc5b9c41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cfcf51e9744328" /><Relationship Type="http://schemas.openxmlformats.org/officeDocument/2006/relationships/image" Target="/ppt/media/image3.png" Id="R7d4b65c4608148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0c97c95934140" /><Relationship Type="http://schemas.openxmlformats.org/officeDocument/2006/relationships/image" Target="/ppt/media/image4.png" Id="R26825a3c9b8942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547c160034f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adac735fc4c7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620d451f5a4e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9de55dbd047f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25b3dd77646b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32e3095f9a40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32c9fe430490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a466729b11445d" /><Relationship Type="http://schemas.openxmlformats.org/officeDocument/2006/relationships/image" Target="/ppt/media/image5.png" Id="Rca26832eb11a417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d00328152249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fcf9c4c3a514109" /><Relationship Type="http://schemas.openxmlformats.org/officeDocument/2006/relationships/image" Target="/ppt/media/image5.png" Id="Rec6b033318ca49a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8520358bdd4c4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8fb692b954d1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5891815894ba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5e163eba9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b65c46081486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25a3c9b89425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6832eb11a417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b033318ca49a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c45eaa674c45a8" /><Relationship Type="http://schemas.openxmlformats.org/officeDocument/2006/relationships/slideLayout" Target="/ppt/slideLayouts/slideLayout1.xml" Id="Rcb4638225fc44d81" /><Relationship Type="http://schemas.openxmlformats.org/officeDocument/2006/relationships/slideLayout" Target="/ppt/slideLayouts/slideLayout2.xml" Id="R3d97c308c53e476e" /><Relationship Type="http://schemas.openxmlformats.org/officeDocument/2006/relationships/slideLayout" Target="/ppt/slideLayouts/slideLayout3.xml" Id="R717c09f363f54de4" /><Relationship Type="http://schemas.openxmlformats.org/officeDocument/2006/relationships/slideLayout" Target="/ppt/slideLayouts/slideLayout4.xml" Id="Rfb22cf0df92b4711" /><Relationship Type="http://schemas.openxmlformats.org/officeDocument/2006/relationships/slideLayout" Target="/ppt/slideLayouts/slideLayout5.xml" Id="R240798e2bf204319" /><Relationship Type="http://schemas.openxmlformats.org/officeDocument/2006/relationships/slideLayout" Target="/ppt/slideLayouts/slideLayout6.xml" Id="R0f2a8124ce5d4dc5" /><Relationship Type="http://schemas.openxmlformats.org/officeDocument/2006/relationships/slideLayout" Target="/ppt/slideLayouts/slideLayout7.xml" Id="Rf906a6c627f94a2d" /><Relationship Type="http://schemas.openxmlformats.org/officeDocument/2006/relationships/slideLayout" Target="/ppt/slideLayouts/slideLayout8.xml" Id="Rbaa21d71a7e4470e" /><Relationship Type="http://schemas.openxmlformats.org/officeDocument/2006/relationships/slideLayout" Target="/ppt/slideLayouts/slideLayout9.xml" Id="R179b90e37ff54db9" /><Relationship Type="http://schemas.openxmlformats.org/officeDocument/2006/relationships/slideLayout" Target="/ppt/slideLayouts/slideLayout10.xml" Id="Rd7e0798c561e4ce8" /><Relationship Type="http://schemas.openxmlformats.org/officeDocument/2006/relationships/slideLayout" Target="/ppt/slideLayouts/slideLayout11.xml" Id="Rfd93a0549c4046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085b34c7320498f" /><Relationship Type="http://schemas.openxmlformats.org/officeDocument/2006/relationships/slideLayout" Target="/ppt/slideLayouts/slideLayout12.xml" Id="Rbba3c92f4a8145dd" /><Relationship Type="http://schemas.openxmlformats.org/officeDocument/2006/relationships/slideLayout" Target="/ppt/slideLayouts/slideLayout13.xml" Id="R3a1d9bed77cf4e9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de2cb509ffc4e2c" /><Relationship Type="http://schemas.openxmlformats.org/officeDocument/2006/relationships/slideLayout" Target="/ppt/slideLayouts/slideLayout14.xml" Id="Rde9036c0be62494f" /><Relationship Type="http://schemas.openxmlformats.org/officeDocument/2006/relationships/slideLayout" Target="/ppt/slideLayouts/slideLayout15.xml" Id="R4e1378ced4a647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638225fc44d81"/>
    <p:sldLayoutId xmlns:r="http://schemas.openxmlformats.org/officeDocument/2006/relationships" id="2147483650" r:id="R3d97c308c53e476e"/>
    <p:sldLayoutId xmlns:r="http://schemas.openxmlformats.org/officeDocument/2006/relationships" id="2147483651" r:id="R717c09f363f54de4"/>
    <p:sldLayoutId xmlns:r="http://schemas.openxmlformats.org/officeDocument/2006/relationships" id="2147483652" r:id="Rfb22cf0df92b4711"/>
    <p:sldLayoutId xmlns:r="http://schemas.openxmlformats.org/officeDocument/2006/relationships" id="2147483653" r:id="R240798e2bf204319"/>
    <p:sldLayoutId xmlns:r="http://schemas.openxmlformats.org/officeDocument/2006/relationships" id="2147483654" r:id="R0f2a8124ce5d4dc5"/>
    <p:sldLayoutId xmlns:r="http://schemas.openxmlformats.org/officeDocument/2006/relationships" id="2147483655" r:id="Rf906a6c627f94a2d"/>
    <p:sldLayoutId xmlns:r="http://schemas.openxmlformats.org/officeDocument/2006/relationships" id="2147483656" r:id="Rbaa21d71a7e4470e"/>
    <p:sldLayoutId xmlns:r="http://schemas.openxmlformats.org/officeDocument/2006/relationships" id="2147483657" r:id="R179b90e37ff54db9"/>
    <p:sldLayoutId xmlns:r="http://schemas.openxmlformats.org/officeDocument/2006/relationships" id="2147483658" r:id="Rd7e0798c561e4ce8"/>
    <p:sldLayoutId xmlns:r="http://schemas.openxmlformats.org/officeDocument/2006/relationships" id="2147483659" r:id="Rfd93a0549c4046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ba3c92f4a8145dd"/>
    <p:sldLayoutId xmlns:r="http://schemas.openxmlformats.org/officeDocument/2006/relationships" id="2147483662" r:id="R3a1d9bed77cf4e9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e9036c0be62494f"/>
    <p:sldLayoutId xmlns:r="http://schemas.openxmlformats.org/officeDocument/2006/relationships" id="2147483665" r:id="R4e1378ced4a6479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94fab980c14bab" /><Relationship Type="http://schemas.openxmlformats.org/officeDocument/2006/relationships/notesSlide" Target="/ppt/notesSlides/notesSlide1.xml" Id="Rfd16e408cd4841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6e2aceaf604808" /><Relationship Type="http://schemas.openxmlformats.org/officeDocument/2006/relationships/notesSlide" Target="/ppt/notesSlides/notesSlide2.xml" Id="R43e897d847ed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b7820f5cd14f64" /><Relationship Type="http://schemas.openxmlformats.org/officeDocument/2006/relationships/notesSlide" Target="/ppt/notesSlides/notesSlide3.xml" Id="R53dfd80592e442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先核对履约与故障，再判断是否增容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观察与判断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4F216-658E-442B-B234-C410676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以下均为模拟观察与拟议方案，不代表真实运行结果。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6A3D6-1374-4FE0-BCE4-5B4FCAA8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33575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建议先改善预约履约与故障记录，再依据试点证据决定是否增加设备。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CAEF0-59CF-456C-97A2-FC2E6D2B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预约与未使用的观察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67707-B703-423D-807D-A30D95FA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3F3D0-C5FD-4050-BBB9-C40FF0DA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连续四周预约总数分别为80、100、120、120次，晚间预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D2CC5-BDF2-4576-B57C-0EF6461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约分别为48、65、84、90次，预约后未使用分别为8、10、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E7AD9-E5E0-4A8C-81BE-BE171AE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24、30次。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99CB7-01CF-4B58-91D1-162A679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晚间预约占比和未使用占比均以当周预约总数为分母，两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3AB2B-73B6-4938-9C54-A0F26B73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类记录可能重叠，不能相加。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DEBAF-CA68-4842-8EBE-8977591E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解读及证据边界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005DA-3306-45D1-B6FE-94C86B75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88D2F-AD9C-40F9-A71E-8C7116D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预约增加与未使用增加同时出现，提示需求分布和履约机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3423C-6E87-4FC2-A2A1-490BDA5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制值得核对，但不能据此认定设备总量不足。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EB6EF-7891-42B3-AE6C-34FAF598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第四周30条未使用记录尚未区分忘记取消、临时变更和设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625177-D956-4EE8-940D-E6676E0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备故障，四周观察也可能受到考试周期影响。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选择提醒与故障登记试点，保留负荷回退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方案与约束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C8AE8C-702F-4F44-BDB1-0E2C45CD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建议选择两间实验室开展两周试点，用预约提醒和故障登记补齐判断依据，不在试点开始时承诺利用率提升。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932F2-79D7-4FB5-B8F2-8CBE7A4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同范围投入比较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E0314-0EDA-4A95-B3F9-B8E8928B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4BE92-3019-4EF8-B4B5-935AE934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方案A仅增加预约前提醒，预计准备2个管理员工作日，试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684B-1C66-4D4F-8449-B27B0A8E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点期间每周维护0.5个工作日；方案B同时增加提醒和故障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FECD2-63F1-49B5-A556-0475EBB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登记，预计准备4个工作日，每周维护1个工作日。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8F982-9AA6-4FEB-AB6D-26D3FF68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两者均针对相同的两间实验室，均不含设备维修工时，也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5ADA9-4C8C-4E8B-9FC2-0BA3ACCB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不是实测投入。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9BF70-7583-4279-B9C9-CB44BB1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选择依据与暂停条件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01B56-0A6B-49E2-860A-722DAF7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AFEFFF-68E4-419A-94CB-AD796CE0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优先选择B是因为只做提醒仍无法判断未使用是否由设备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797C9-2783-4AD6-BFAF-B3FD9546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故障造成。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E5D0D-C49E-49D2-AFCA-9BE36A71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管理员每周可投入1.5个工作日；若实际维护超过该容量，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B0C1D-FF27-4222-A015-E27E0C58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保留必要故障记录、暂停扩大提醒覆盖，并记录暂停原因。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485F8-CD42-4014-9647-1DD9C2F1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不能把预计投入低于容量当成实际负荷已经达标。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用实际记录决定扩围，三项门槛须同时满足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复核与扩围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B9726-6DC6-4E97-852A-99C22560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1123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是否扩大试点应由履约、故障与工作量证据共同决定；增加设备只是可能的后续选择，不是预定结论。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5507D-38EF-4E8D-8C90-4A6A3CF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5476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采证与分支判断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C255D-6454-42C1-A435-8E64816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53816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C57A1-2B25-4556-BB91-5D827E10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试点期间记录预约数、实际使用数、取消原因、故障关闭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8B1E0-3F0D-4CC7-9DBE-D51C512B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时间和管理员实际工时。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74577-6A9E-4B9D-9438-412E3F5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两周结束时先检查记录是否完整，再结合晚间排队和实际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A9630-D25E-4557-90AB-38649EE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利用率判断：若故障是主要原因，先修复；若设备利用率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22F83-80C3-4DAC-83B8-9FC5D64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547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高且排队持续，再评估增容。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6084D-BEE0-47C7-8FB6-18888C72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3816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并列门槛及证据边界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FE944-80DB-4766-A49D-FEA5721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8637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7A728-6C3D-4540-AA95-F1D17B7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扩大范围前必须同时确认记录可追溯、无影响安全的未关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B1BD6-5CDD-4A31-BE0D-ED55A88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闭故障、维护工作量不超过每周1.5个工作日。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46182-7F08-44F6-953C-88C884EF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任一条件不满足，保留两间实验室规模并修订流程；不得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C57FC-DEE8-4064-9DBD-7DD88ADA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0527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删除失败记录。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7C56B-3D5A-411C-8B58-CB2BC8BC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两周试点没有对照组，改善现象不能单独证明提醒或登记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F130CD-875C-483A-BACF-51C4488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9625"/>
            <a:ext cx="5381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导致了改善。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2026-09-09T15:52:41.4320000Z</dcterms:created>
  <dcterms:modified xsi:type="dcterms:W3CDTF">2026-09-09T15:52:41.4320000Z</dcterms:modified>
</coreProperties>
</file>