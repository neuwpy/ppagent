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4ba59462745ef" /><Relationship Type="http://schemas.openxmlformats.org/officeDocument/2006/relationships/extended-properties" Target="/docProps/app.xml" Id="Rbba4c61d35ea426f" /><Relationship Type="http://schemas.openxmlformats.org/officeDocument/2006/relationships/officeDocument" Target="/ppt/presentation.xml" Id="R3fd1e6832e9b4f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75dbce8a44578"/>
    <p:sldMasterId xmlns:r="http://schemas.openxmlformats.org/officeDocument/2006/relationships" id="2147483660" r:id="R5e055ea5c15b4ffa"/>
    <p:sldMasterId xmlns:r="http://schemas.openxmlformats.org/officeDocument/2006/relationships" id="2147483663" r:id="R29c8dc20f5534639"/>
  </p:sldMasterIdLst>
  <p:notesMasterIdLst>
    <p:notesMasterId xmlns:r="http://schemas.openxmlformats.org/officeDocument/2006/relationships" r:id="Rc7d3aff81e7f4fb0"/>
  </p:notesMasterIdLst>
  <p:sldIdLst>
    <p:sldId xmlns:r="http://schemas.openxmlformats.org/officeDocument/2006/relationships" id="256" r:id="Re80b549a99d1449a"/>
    <p:sldId xmlns:r="http://schemas.openxmlformats.org/officeDocument/2006/relationships" id="257" r:id="Ra40184a13f2d44c2"/>
    <p:sldId xmlns:r="http://schemas.openxmlformats.org/officeDocument/2006/relationships" id="258" r:id="R84cf7035a9a1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66ac21d9b471e" /><Relationship Type="http://schemas.openxmlformats.org/officeDocument/2006/relationships/slideMaster" Target="/ppt/slideMasters/slideMaster1.xml" Id="Ree275dbce8a44578" /><Relationship Type="http://schemas.openxmlformats.org/officeDocument/2006/relationships/slideMaster" Target="/ppt/slideMasters/slideMaster2.xml" Id="R5e055ea5c15b4ffa" /><Relationship Type="http://schemas.openxmlformats.org/officeDocument/2006/relationships/slideMaster" Target="/ppt/slideMasters/slideMaster3.xml" Id="R29c8dc20f5534639" /><Relationship Type="http://schemas.openxmlformats.org/officeDocument/2006/relationships/notesMaster" Target="/ppt/notesMasters/notesMaster1.xml" Id="Rc7d3aff81e7f4fb0" /><Relationship Type="http://schemas.openxmlformats.org/officeDocument/2006/relationships/presProps" Target="/ppt/presProps.xml" Id="R2c16486dca8c4cad" /><Relationship Type="http://schemas.openxmlformats.org/officeDocument/2006/relationships/viewProps" Target="/ppt/viewProps.xml" Id="R94191b8121ea4db2" /><Relationship Type="http://schemas.openxmlformats.org/officeDocument/2006/relationships/tableStyles" Target="/ppt/tableStyles.xml" Id="R0b598044f7f04690" /><Relationship Type="http://schemas.openxmlformats.org/officeDocument/2006/relationships/slide" Target="/ppt/slides/slide1.xml" Id="Re80b549a99d1449a" /><Relationship Type="http://schemas.openxmlformats.org/officeDocument/2006/relationships/slide" Target="/ppt/slides/slide2.xml" Id="Ra40184a13f2d44c2" /><Relationship Type="http://schemas.openxmlformats.org/officeDocument/2006/relationships/slide" Target="/ppt/slides/slide3.xml" Id="R84cf7035a9a1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fc4a60d9c0744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6cfec5a9404981" /><Relationship Type="http://schemas.openxmlformats.org/officeDocument/2006/relationships/notesMaster" Target="/ppt/notesMasters/notesMaster1.xml" Id="R8d719dce9c58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a9aa2e31b4467" /><Relationship Type="http://schemas.openxmlformats.org/officeDocument/2006/relationships/notesMaster" Target="/ppt/notesMasters/notesMaster1.xml" Id="R3d1d67c6a607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deb8e7f5149b7" /><Relationship Type="http://schemas.openxmlformats.org/officeDocument/2006/relationships/notesMaster" Target="/ppt/notesMasters/notesMaster1.xml" Id="R4e13c52459ef4d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以下均为模拟观察与拟议方案，不代表真实运行结果。建议先改善预约履约与故障记录，再依据试点证据决定是否增加设备。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 共享实验设备预约改进建议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连续四周预约总数分别为80、100、120、120次，晚间预约分别为48、65、84、90次，预约后未使用分别为8、10、24、30次。晚间预约占比和未使用占比均以当周预约总数为分母，两类记录可能重叠，不能相加。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预约增加与未使用增加同时出现，提示需求分布和履约机制值得核对，但不能据此认定设备总量不足。第四周30条未使用记录尚未区分忘记取消、临时变更和设备故障，四周观察也可能受到考试周期影响。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建议选择两间实验室开展两周试点，用预约提醒和故障登记补齐判断依据，不在试点开始时承诺利用率提升。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案A仅增加预约前提醒，预计准备2个管理员工作日，试点期间每周维护0.5个工作日；方案B同时增加提醒和故障登记，预计准备4个工作日，每周维护1个工作日。两者均针对相同的两间实验室，均不含设备维修工时，也不是实测投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优先选择B是因为只做提醒仍无法判断未使用是否由设备故障造成。管理员每周可投入1.5个工作日；若实际维护超过该容量，保留必要故障记录、暂停扩大提醒覆盖，并记录暂停原因。不能把预计投入低于容量当成实际负荷已经达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是否扩大试点应由履约、故障与工作量证据共同决定；增加设备只是可能的后续选择，不是预定结论。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试点期间记录预约数、实际使用数、取消原因、故障关闭时间和管理员实际工时。两周结束时先检查记录是否完整，再结合晚间排队和实际利用率判断：若故障是主要原因，先修复；若设备利用率高且排队持续，再评估增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扩大范围前必须同时确认记录可追溯、无影响安全的未关闭故障、维护工作量不超过每周1.5个工作日。任一条件不满足，保留两间实验室规模并修订流程；不得删除失败记录。两周试点没有对照组，改善现象不能单独证明提醒或登记导致了改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d075471f34f42" /><Relationship Type="http://schemas.openxmlformats.org/officeDocument/2006/relationships/image" Target="/ppt/media/image.jpeg" Id="Redb7b013bd734448" /><Relationship Type="http://schemas.openxmlformats.org/officeDocument/2006/relationships/image" Target="/ppt/media/image.png" Id="Re04c19f7d82b4678" /><Relationship Type="http://schemas.openxmlformats.org/officeDocument/2006/relationships/image" Target="/ppt/media/image2.png" Id="Rc8ffb84a9a064a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f698e175b42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54abef8734c82" /><Relationship Type="http://schemas.openxmlformats.org/officeDocument/2006/relationships/image" Target="/ppt/media/image3.png" Id="R22d0caf60d4e44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3265a8e5f472f" /><Relationship Type="http://schemas.openxmlformats.org/officeDocument/2006/relationships/image" Target="/ppt/media/image4.png" Id="R84cc84ec135241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531e0151740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9b0dc3c7e47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df3c004b140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fff3f529c4f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262497f2f45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a5b5b0cfb4d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80e6f8772409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122b5018e2487f" /><Relationship Type="http://schemas.openxmlformats.org/officeDocument/2006/relationships/image" Target="/ppt/media/image5.png" Id="R58efa5a10f9a4b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65442f6035443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c842f55b7944e6f" /><Relationship Type="http://schemas.openxmlformats.org/officeDocument/2006/relationships/image" Target="/ppt/media/image5.png" Id="R1626a07f0a7c4ee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5b0a2670617415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7b013bd73444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c19f7d82b467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fb84a9a064a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0caf60d4e44a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c84ec1352410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fa5a10f9a4ba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6a07f0a7c4ee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b9886be7f4f44" /><Relationship Type="http://schemas.openxmlformats.org/officeDocument/2006/relationships/slideLayout" Target="/ppt/slideLayouts/slideLayout1.xml" Id="R548014f4831e428e" /><Relationship Type="http://schemas.openxmlformats.org/officeDocument/2006/relationships/slideLayout" Target="/ppt/slideLayouts/slideLayout2.xml" Id="R1fca11c1cac74bb7" /><Relationship Type="http://schemas.openxmlformats.org/officeDocument/2006/relationships/slideLayout" Target="/ppt/slideLayouts/slideLayout3.xml" Id="R30fea95d49f541f1" /><Relationship Type="http://schemas.openxmlformats.org/officeDocument/2006/relationships/slideLayout" Target="/ppt/slideLayouts/slideLayout4.xml" Id="R765d4c6dd0454133" /><Relationship Type="http://schemas.openxmlformats.org/officeDocument/2006/relationships/slideLayout" Target="/ppt/slideLayouts/slideLayout5.xml" Id="R7b2e9218098e4a47" /><Relationship Type="http://schemas.openxmlformats.org/officeDocument/2006/relationships/slideLayout" Target="/ppt/slideLayouts/slideLayout6.xml" Id="Rf649992f5470405c" /><Relationship Type="http://schemas.openxmlformats.org/officeDocument/2006/relationships/slideLayout" Target="/ppt/slideLayouts/slideLayout7.xml" Id="R1d0bf4e35f5742e8" /><Relationship Type="http://schemas.openxmlformats.org/officeDocument/2006/relationships/slideLayout" Target="/ppt/slideLayouts/slideLayout8.xml" Id="Rbe60075010114c26" /><Relationship Type="http://schemas.openxmlformats.org/officeDocument/2006/relationships/slideLayout" Target="/ppt/slideLayouts/slideLayout9.xml" Id="Ra4949af2e76b406f" /><Relationship Type="http://schemas.openxmlformats.org/officeDocument/2006/relationships/slideLayout" Target="/ppt/slideLayouts/slideLayout10.xml" Id="Rf9d369c36f4244b4" /><Relationship Type="http://schemas.openxmlformats.org/officeDocument/2006/relationships/slideLayout" Target="/ppt/slideLayouts/slideLayout11.xml" Id="R3a3ec774513f47c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f6add5d3c814771" /><Relationship Type="http://schemas.openxmlformats.org/officeDocument/2006/relationships/slideLayout" Target="/ppt/slideLayouts/slideLayout12.xml" Id="R47cf924aeff94520" /><Relationship Type="http://schemas.openxmlformats.org/officeDocument/2006/relationships/slideLayout" Target="/ppt/slideLayouts/slideLayout13.xml" Id="R6b3bb1257f7440e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019e72a850a4e25" /><Relationship Type="http://schemas.openxmlformats.org/officeDocument/2006/relationships/slideLayout" Target="/ppt/slideLayouts/slideLayout14.xml" Id="R8f6df549c4484957" /><Relationship Type="http://schemas.openxmlformats.org/officeDocument/2006/relationships/slideLayout" Target="/ppt/slideLayouts/slideLayout15.xml" Id="R272741b85be64c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014f4831e428e"/>
    <p:sldLayoutId xmlns:r="http://schemas.openxmlformats.org/officeDocument/2006/relationships" id="2147483650" r:id="R1fca11c1cac74bb7"/>
    <p:sldLayoutId xmlns:r="http://schemas.openxmlformats.org/officeDocument/2006/relationships" id="2147483651" r:id="R30fea95d49f541f1"/>
    <p:sldLayoutId xmlns:r="http://schemas.openxmlformats.org/officeDocument/2006/relationships" id="2147483652" r:id="R765d4c6dd0454133"/>
    <p:sldLayoutId xmlns:r="http://schemas.openxmlformats.org/officeDocument/2006/relationships" id="2147483653" r:id="R7b2e9218098e4a47"/>
    <p:sldLayoutId xmlns:r="http://schemas.openxmlformats.org/officeDocument/2006/relationships" id="2147483654" r:id="Rf649992f5470405c"/>
    <p:sldLayoutId xmlns:r="http://schemas.openxmlformats.org/officeDocument/2006/relationships" id="2147483655" r:id="R1d0bf4e35f5742e8"/>
    <p:sldLayoutId xmlns:r="http://schemas.openxmlformats.org/officeDocument/2006/relationships" id="2147483656" r:id="Rbe60075010114c26"/>
    <p:sldLayoutId xmlns:r="http://schemas.openxmlformats.org/officeDocument/2006/relationships" id="2147483657" r:id="Ra4949af2e76b406f"/>
    <p:sldLayoutId xmlns:r="http://schemas.openxmlformats.org/officeDocument/2006/relationships" id="2147483658" r:id="Rf9d369c36f4244b4"/>
    <p:sldLayoutId xmlns:r="http://schemas.openxmlformats.org/officeDocument/2006/relationships" id="2147483659" r:id="R3a3ec774513f47c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7cf924aeff94520"/>
    <p:sldLayoutId xmlns:r="http://schemas.openxmlformats.org/officeDocument/2006/relationships" id="2147483662" r:id="R6b3bb1257f7440e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f6df549c4484957"/>
    <p:sldLayoutId xmlns:r="http://schemas.openxmlformats.org/officeDocument/2006/relationships" id="2147483665" r:id="R272741b85be64c1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3116985a814279" /><Relationship Type="http://schemas.openxmlformats.org/officeDocument/2006/relationships/notesSlide" Target="/ppt/notesSlides/notesSlide1.xml" Id="R10bae5224e8349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22ef1d470e410d" /><Relationship Type="http://schemas.openxmlformats.org/officeDocument/2006/relationships/notesSlide" Target="/ppt/notesSlides/notesSlide2.xml" Id="Rcb70123d3c1b4c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7453b9cc3144b2" /><Relationship Type="http://schemas.openxmlformats.org/officeDocument/2006/relationships/notesSlide" Target="/ppt/notesSlides/notesSlide3.xml" Id="R729d6e02d99f40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先核对履约与故障，再判断是否增容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观察与判断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8EA95-54EE-4CD8-BF13-913D1E17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以下均为模拟观察与拟议方案，不代表真实运行结果。建议先改善预约履约与故障记录，再依据试点证据决定是否增加设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8E379-47FB-43DE-B024-6669DDA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33575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D6C9A-719C-454A-8CAD-0B4C82E4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预约与未使用的观察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ECFB2-C0E8-41FA-911C-0F4989D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5895B-9439-41E9-94E3-52261E2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连续四周预约总数分别为80、100、120、120次，晚间预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818DD-8305-405A-B751-CF15F71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约分别为48、65、84、90次，预约后未使用分别为8、10、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C7CA6-BF33-47CB-9426-5BB2611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24、30次。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6C1A4-1280-474C-9B97-4C6D47D5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晚间预约占比和未使用占比均以当周预约总数为分母，两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B8B34-F605-4C97-B753-5956EA4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类记录可能重叠，不能相加。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DEB62-2AA7-46EF-A9D6-53119A7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解读及证据边界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BF5E8-E9CC-4903-8AD1-43C47C4F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3B65C-59EF-44F2-A4C3-D094202B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预约增加与未使用增加同时出现，提示需求分布和履约机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625E7-6D93-4757-98E2-BDA16A6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制值得核对，但不能据此认定设备总量不足。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5F129-8A9C-4B7B-A8F6-E729AC4B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第四周30条未使用记录尚未区分忘记取消、临时变更和设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0E853-B8CC-4018-ABFA-2F197E3B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备故障，四周观察也可能受到考试周期影响。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选择提醒与故障登记试点，保留负荷回退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方案与约束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A883A-02FC-4418-91CD-C432C0E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建议选择两间实验室开展两周试点，用预约提醒和故障登记补齐判断依据，不在试点开始时承诺利用率提升。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34BDA-2F10-44AF-96BC-6E0E43F2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同范围投入比较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3A83A-6D92-4E0E-99B1-CEF084B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958F5-1EDC-4180-92BE-C1A29E8F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方案A仅增加预约前提醒，预计准备2个管理员工作日，试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3D2D0-5C19-4151-A142-4FD9168B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点期间每周维护0.5个工作日；方案B同时增加提醒和故障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C571E-FFB6-4F6B-B178-ECF756E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登记，预计准备4个工作日，每周维护1个工作日。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8F0C2-EA41-4C63-B0F5-769B1C1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两者均针对相同的两间实验室，均不含设备维修工时，也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FAE30-CBAC-4DD7-901A-64EF6CF1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不是实测投入。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4FFF8-CCED-48BB-BD34-AED74F6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选择依据与暂停条件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61934-762B-4EF5-BC9D-97A7EB8F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4159F0-0DBE-48E1-BFBC-5AB33EB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优先选择B是因为只做提醒仍无法判断未使用是否由设备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1C7E0-5881-46A9-BE99-2FAAE52B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故障造成。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C9ACE-840D-4691-AEA8-0461A0B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管理员每周可投入1.5个工作日；若实际维护超过该容量，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A83E3-6D95-4EC8-BCA1-DE8A0CB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保留必要故障记录、暂停扩大提醒覆盖，并记录暂停原因。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ACACB-695D-4181-8B13-1941BB6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不能把预计投入低于容量当成实际负荷已经达标。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用实际记录决定扩围，三项门槛须同时满足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复核与扩围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8D87C-6A08-4EE4-A854-7874035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是否扩大试点应由履约、故障与工作量证据共同决定；增加设备只是可能的后续选择，不是预定结论。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E8A83-F88A-4318-B5A7-BAC418E0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采证与分支判断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394E8-6E6A-4FBF-9F1F-4457D2A6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35BF8-0F04-45D1-B870-FDE0045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试点期间记录预约数、实际使用数、取消原因、故障关闭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E1DBA-3FE4-45F5-90D2-7E1E040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时间和管理员实际工时。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F6518-8AC0-45BA-9117-03FA201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两周结束时先检查记录是否完整，再结合晚间排队和实际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7F0E8-CC0D-4F0C-B4CD-DC9A9C5E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利用率判断：若故障是主要原因，先修复；若设备利用率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51EB8-AD65-4794-AA53-3D853380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高且排队持续，再评估增容。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9D68A-69CD-457C-9F4C-DD7E8470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并列门槛及证据边界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8B906-8BC5-4DB4-8727-1B6834C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CF17B-E824-4D3C-B84B-8BB7E56E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扩大范围前必须同时确认记录可追溯、无影响安全的未关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D8323-E665-456B-8ECE-4272000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闭故障、维护工作量不超过每周1.5个工作日。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65A57-BE4E-4AF9-A6BD-43708E1E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任一条件不满足，保留两间实验室规模并修订流程；不得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032DA-58C6-423C-98CD-A08BB85A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删除失败记录。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C81A7-542F-4D22-9163-BC04A22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两周试点没有对照组，改善现象不能单独证明提醒或登记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D0202-CE47-4930-8B19-DE160A03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导致了改善。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2026-09-09T15:51:28.6660000Z</dcterms:created>
  <dcterms:modified xsi:type="dcterms:W3CDTF">2026-09-09T15:51:28.6660000Z</dcterms:modified>
</coreProperties>
</file>