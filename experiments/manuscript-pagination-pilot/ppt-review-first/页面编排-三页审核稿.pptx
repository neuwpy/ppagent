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a3e319ffc843bb" /><Relationship Type="http://schemas.openxmlformats.org/officeDocument/2006/relationships/extended-properties" Target="/docProps/app.xml" Id="Rf196f04e45f14e25" /><Relationship Type="http://schemas.openxmlformats.org/officeDocument/2006/relationships/officeDocument" Target="/ppt/presentation.xml" Id="R0f6410358a8446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9b7918990943a9"/>
    <p:sldMasterId xmlns:r="http://schemas.openxmlformats.org/officeDocument/2006/relationships" id="2147483660" r:id="R2bbe9514dc03469c"/>
    <p:sldMasterId xmlns:r="http://schemas.openxmlformats.org/officeDocument/2006/relationships" id="2147483663" r:id="R94d8bb17dcab4cc2"/>
  </p:sldMasterIdLst>
  <p:notesMasterIdLst>
    <p:notesMasterId xmlns:r="http://schemas.openxmlformats.org/officeDocument/2006/relationships" r:id="Rdb82f7a28eb84862"/>
  </p:notesMasterIdLst>
  <p:sldIdLst>
    <p:sldId xmlns:r="http://schemas.openxmlformats.org/officeDocument/2006/relationships" id="256" r:id="R40ac2bf26b6c4acf"/>
    <p:sldId xmlns:r="http://schemas.openxmlformats.org/officeDocument/2006/relationships" id="257" r:id="Rf3d70b3cc0c54fd3"/>
    <p:sldId xmlns:r="http://schemas.openxmlformats.org/officeDocument/2006/relationships" id="258" r:id="Ref26f3d9ec1344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3005edc76f4ebe" /><Relationship Type="http://schemas.openxmlformats.org/officeDocument/2006/relationships/slideMaster" Target="/ppt/slideMasters/slideMaster1.xml" Id="R4a9b7918990943a9" /><Relationship Type="http://schemas.openxmlformats.org/officeDocument/2006/relationships/slideMaster" Target="/ppt/slideMasters/slideMaster2.xml" Id="R2bbe9514dc03469c" /><Relationship Type="http://schemas.openxmlformats.org/officeDocument/2006/relationships/slideMaster" Target="/ppt/slideMasters/slideMaster3.xml" Id="R94d8bb17dcab4cc2" /><Relationship Type="http://schemas.openxmlformats.org/officeDocument/2006/relationships/notesMaster" Target="/ppt/notesMasters/notesMaster1.xml" Id="Rdb82f7a28eb84862" /><Relationship Type="http://schemas.openxmlformats.org/officeDocument/2006/relationships/presProps" Target="/ppt/presProps.xml" Id="R23fa3f53762b4634" /><Relationship Type="http://schemas.openxmlformats.org/officeDocument/2006/relationships/viewProps" Target="/ppt/viewProps.xml" Id="R25bcf398fdfe4ba7" /><Relationship Type="http://schemas.openxmlformats.org/officeDocument/2006/relationships/tableStyles" Target="/ppt/tableStyles.xml" Id="R2d7a8ef32683474e" /><Relationship Type="http://schemas.openxmlformats.org/officeDocument/2006/relationships/slide" Target="/ppt/slides/slide1.xml" Id="R40ac2bf26b6c4acf" /><Relationship Type="http://schemas.openxmlformats.org/officeDocument/2006/relationships/slide" Target="/ppt/slides/slide2.xml" Id="Rf3d70b3cc0c54fd3" /><Relationship Type="http://schemas.openxmlformats.org/officeDocument/2006/relationships/slide" Target="/ppt/slides/slide3.xml" Id="Ref26f3d9ec1344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360db4767a344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111845aec14efa" /><Relationship Type="http://schemas.openxmlformats.org/officeDocument/2006/relationships/notesMaster" Target="/ppt/notesMasters/notesMaster1.xml" Id="R99ca805ffcc244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b586c4af6e4790" /><Relationship Type="http://schemas.openxmlformats.org/officeDocument/2006/relationships/notesMaster" Target="/ppt/notesMasters/notesMaster1.xml" Id="Rf0f5a1590c8e4d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82cebe14194307" /><Relationship Type="http://schemas.openxmlformats.org/officeDocument/2006/relationships/notesMaster" Target="/ppt/notesMasters/notesMaster1.xml" Id="R644b4d0dc7c448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审核候选：全文来源见 three-pages.json。模拟稿，不代表真实结果。此轮验证实文组织，不声明结构或图表 Skill 接入通过。</a:t>
            </a:r>
            <a:endParaRPr/>
          </a:p>
          <a:p xmlns:a="http://schemas.openxmlformats.org/drawingml/2006/main">
            <a:r>
              <a:t>以下均为模拟观察与拟议方案，不代表真实运行结果。建议先改善预约履约与故障记录，再依据试点证据决定是否增加设备。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# 共享实验设备预约改进建议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连续四周预约总数分别为80、100、120、120次，晚间预约分别为48、65、84、90次，预约后未使用分别为8、10、24、30次。晚间预约占比和未使用占比均以当周预约总数为分母，两类记录可能重叠，不能相加。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预约增加与未使用增加同时出现，提示需求分布和履约机制值得核对，但不能据此认定设备总量不足。第四周30条未使用记录尚未区分忘记取消、临时变更和设备故障，四周观察也可能受到考试周期影响。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审核候选：全文来源见 three-pages.json。模拟稿，不代表真实结果。此轮验证实文组织，不声明结构或图表 Skill 接入通过。</a:t>
            </a:r>
            <a:endParaRPr/>
          </a:p>
          <a:p xmlns:a="http://schemas.openxmlformats.org/drawingml/2006/main">
            <a:r>
              <a:t>建议选择两间实验室开展两周试点，用预约提醒和故障登记补齐判断依据，不在试点开始时承诺利用率提升。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方案A仅增加预约前提醒，预计准备2个管理员工作日，试点期间每周维护0.5个工作日；方案B同时增加提醒和故障登记，预计准备4个工作日，每周维护1个工作日。两者均针对相同的两间实验室，均不含设备维修工时，也不是实测投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优先选择B是因为只做提醒仍无法判断未使用是否由设备故障造成。管理员每周可投入1.5个工作日；若实际维护超过该容量，保留必要故障记录、暂停扩大提醒覆盖，并记录暂停原因。不能把预计投入低于容量当成实际负荷已经达标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审核候选：全文来源见 three-pages.json。模拟稿，不代表真实结果。此轮验证实文组织，不声明结构或图表 Skill 接入通过。</a:t>
            </a:r>
            <a:endParaRPr/>
          </a:p>
          <a:p xmlns:a="http://schemas.openxmlformats.org/drawingml/2006/main">
            <a:r>
              <a:t>是否扩大试点应由履约、故障与工作量证据共同决定；增加设备只是可能的后续选择，不是预定结论。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试点期间记录预约数、实际使用数、取消原因、故障关闭时间和管理员实际工时。两周结束时先检查记录是否完整，再结合晚间排队和实际利用率判断：若故障是主要原因，先修复；若设备利用率高且排队持续，再评估增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扩大范围前必须同时确认记录可追溯、无影响安全的未关闭故障、维护工作量不超过每周1.5个工作日。任一条件不满足，保留两间实验室规模并修订流程；不得删除失败记录。两周试点没有对照组，改善现象不能单独证明提醒或登记导致了改善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1e38b1f2044a4" /><Relationship Type="http://schemas.openxmlformats.org/officeDocument/2006/relationships/image" Target="/ppt/media/image.jpeg" Id="R8b76ab16860b481b" /><Relationship Type="http://schemas.openxmlformats.org/officeDocument/2006/relationships/image" Target="/ppt/media/image.png" Id="Ra75e9c06b5a54bc9" /><Relationship Type="http://schemas.openxmlformats.org/officeDocument/2006/relationships/image" Target="/ppt/media/image2.png" Id="Ra78130641cb844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e6dcc0e6184b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c0722d59a479b" /><Relationship Type="http://schemas.openxmlformats.org/officeDocument/2006/relationships/image" Target="/ppt/media/image3.png" Id="Rd6b409b25ab94b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205f30aa2043ed" /><Relationship Type="http://schemas.openxmlformats.org/officeDocument/2006/relationships/image" Target="/ppt/media/image4.png" Id="R637d0a98d7294d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51bebc9214d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e7390689b4df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23d2dbfef44f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54db5e5116465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f64271081a482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8b738725f74ca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86abf39c2e470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4bd89ae7b9d4e46" /><Relationship Type="http://schemas.openxmlformats.org/officeDocument/2006/relationships/image" Target="/ppt/media/image5.png" Id="Re719c52a06684cb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e6e337e109492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5f36c6f3f38423a" /><Relationship Type="http://schemas.openxmlformats.org/officeDocument/2006/relationships/image" Target="/ppt/media/image5.png" Id="R0f197b3f43c143d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eb7ef7647474a66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6ab16860b481b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e9c06b5a54bc9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130641cb844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409b25ab94be0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d0a98d7294dab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9c52a06684cb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97b3f43c143d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5fcd10036d4230" /><Relationship Type="http://schemas.openxmlformats.org/officeDocument/2006/relationships/slideLayout" Target="/ppt/slideLayouts/slideLayout1.xml" Id="R772186bd68614cca" /><Relationship Type="http://schemas.openxmlformats.org/officeDocument/2006/relationships/slideLayout" Target="/ppt/slideLayouts/slideLayout2.xml" Id="R2c0372d60840428c" /><Relationship Type="http://schemas.openxmlformats.org/officeDocument/2006/relationships/slideLayout" Target="/ppt/slideLayouts/slideLayout3.xml" Id="R2150dafe8d7545fb" /><Relationship Type="http://schemas.openxmlformats.org/officeDocument/2006/relationships/slideLayout" Target="/ppt/slideLayouts/slideLayout4.xml" Id="R0565d150b659400d" /><Relationship Type="http://schemas.openxmlformats.org/officeDocument/2006/relationships/slideLayout" Target="/ppt/slideLayouts/slideLayout5.xml" Id="R13e227c2e7df42fb" /><Relationship Type="http://schemas.openxmlformats.org/officeDocument/2006/relationships/slideLayout" Target="/ppt/slideLayouts/slideLayout6.xml" Id="R274b274cfec64489" /><Relationship Type="http://schemas.openxmlformats.org/officeDocument/2006/relationships/slideLayout" Target="/ppt/slideLayouts/slideLayout7.xml" Id="R46ecbea7055d4efa" /><Relationship Type="http://schemas.openxmlformats.org/officeDocument/2006/relationships/slideLayout" Target="/ppt/slideLayouts/slideLayout8.xml" Id="R7a42a75172a041e3" /><Relationship Type="http://schemas.openxmlformats.org/officeDocument/2006/relationships/slideLayout" Target="/ppt/slideLayouts/slideLayout9.xml" Id="R3d0dec4d2c3c4313" /><Relationship Type="http://schemas.openxmlformats.org/officeDocument/2006/relationships/slideLayout" Target="/ppt/slideLayouts/slideLayout10.xml" Id="R9a467f7ac36c4b2c" /><Relationship Type="http://schemas.openxmlformats.org/officeDocument/2006/relationships/slideLayout" Target="/ppt/slideLayouts/slideLayout11.xml" Id="R2ab4e02bd235442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4d0836aba5e423a" /><Relationship Type="http://schemas.openxmlformats.org/officeDocument/2006/relationships/slideLayout" Target="/ppt/slideLayouts/slideLayout12.xml" Id="R4d158625dfd34e6c" /><Relationship Type="http://schemas.openxmlformats.org/officeDocument/2006/relationships/slideLayout" Target="/ppt/slideLayouts/slideLayout13.xml" Id="R29a8880c4aec4878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b11304402754b00" /><Relationship Type="http://schemas.openxmlformats.org/officeDocument/2006/relationships/slideLayout" Target="/ppt/slideLayouts/slideLayout14.xml" Id="R9241580744b4497f" /><Relationship Type="http://schemas.openxmlformats.org/officeDocument/2006/relationships/slideLayout" Target="/ppt/slideLayouts/slideLayout15.xml" Id="R75363417900f4f1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2186bd68614cca"/>
    <p:sldLayoutId xmlns:r="http://schemas.openxmlformats.org/officeDocument/2006/relationships" id="2147483650" r:id="R2c0372d60840428c"/>
    <p:sldLayoutId xmlns:r="http://schemas.openxmlformats.org/officeDocument/2006/relationships" id="2147483651" r:id="R2150dafe8d7545fb"/>
    <p:sldLayoutId xmlns:r="http://schemas.openxmlformats.org/officeDocument/2006/relationships" id="2147483652" r:id="R0565d150b659400d"/>
    <p:sldLayoutId xmlns:r="http://schemas.openxmlformats.org/officeDocument/2006/relationships" id="2147483653" r:id="R13e227c2e7df42fb"/>
    <p:sldLayoutId xmlns:r="http://schemas.openxmlformats.org/officeDocument/2006/relationships" id="2147483654" r:id="R274b274cfec64489"/>
    <p:sldLayoutId xmlns:r="http://schemas.openxmlformats.org/officeDocument/2006/relationships" id="2147483655" r:id="R46ecbea7055d4efa"/>
    <p:sldLayoutId xmlns:r="http://schemas.openxmlformats.org/officeDocument/2006/relationships" id="2147483656" r:id="R7a42a75172a041e3"/>
    <p:sldLayoutId xmlns:r="http://schemas.openxmlformats.org/officeDocument/2006/relationships" id="2147483657" r:id="R3d0dec4d2c3c4313"/>
    <p:sldLayoutId xmlns:r="http://schemas.openxmlformats.org/officeDocument/2006/relationships" id="2147483658" r:id="R9a467f7ac36c4b2c"/>
    <p:sldLayoutId xmlns:r="http://schemas.openxmlformats.org/officeDocument/2006/relationships" id="2147483659" r:id="R2ab4e02bd235442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d158625dfd34e6c"/>
    <p:sldLayoutId xmlns:r="http://schemas.openxmlformats.org/officeDocument/2006/relationships" id="2147483662" r:id="R29a8880c4aec4878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9241580744b4497f"/>
    <p:sldLayoutId xmlns:r="http://schemas.openxmlformats.org/officeDocument/2006/relationships" id="2147483665" r:id="R75363417900f4f12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6b8dc1af9d4ee0" /><Relationship Type="http://schemas.openxmlformats.org/officeDocument/2006/relationships/notesSlide" Target="/ppt/notesSlides/notesSlide1.xml" Id="R0c45b87b6bad4f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628e10a8fad42f4" /><Relationship Type="http://schemas.openxmlformats.org/officeDocument/2006/relationships/notesSlide" Target="/ppt/notesSlides/notesSlide2.xml" Id="Rc1db1013dac34e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6d5026470424499" /><Relationship Type="http://schemas.openxmlformats.org/officeDocument/2006/relationships/notesSlide" Target="/ppt/notesSlides/notesSlide3.xml" Id="Rb2da6801aacf4e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先核对履约与故障，再判断是否增容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观察与判断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05E56-DB07-42E2-A299-63AD6079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1114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以下均为模拟观察与拟议方案，不代表真实运行结果。建议先改善预约履约与故障记录，再依据试点证据决定是否增加设备。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285F7-8753-485D-AC56-9463CC0B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5381625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预约与未使用的观察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EA03D-E29E-48A9-8623-BFAA5C91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5381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659A2-DEA5-4D8D-AC8A-C8C0E730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5381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连续四周预约总数分别为80、100、120、120次，晚间预约分别为48、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65、84、90次，预约后未使用分别为8、10、24、30次。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晚间预约占比和未使用占比均以当周预约总数为分母，两类记录可能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重叠，不能相加。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345280-52ED-47DC-BE55-BB3CD93E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286375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解读及证据边界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A8DFA-38EC-41AF-B65B-A40736EB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528637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0536B5-FF67-47A0-88EB-A7C50474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5286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预约增加与未使用增加同时出现，提示需求分布和履约机制值得核对，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但不能据此认定设备总量不足。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第四周30条未使用记录尚未区分忘记取消、临时变更和设备故障，四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周观察也可能受到考试周期影响。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选择提醒与故障登记试点，保留负荷回退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方案与约束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271B3-3FDC-4E74-91C6-B4BB6353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1114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建议选择两间实验室开展两周试点，用预约提醒和故障登记补齐判断依据，不在试点开始时承诺利用率提升。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3C49E-3466-4D86-81E3-F5309DA4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5381625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同范围投入比较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3270BC-8B6F-42DA-8B25-AE249796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5381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C4D1E8-2F37-4E33-B7F9-C3BD5B72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53816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方案A仅增加预约前提醒，预计准备2个管理员工作日，试点期间每周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维护0.5个工作日；方案B同时增加提醒和故障登记，预计准备4个工作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日，每周维护1个工作日。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两者均针对相同的两间实验室，均不含设备维修工时，也不是实测投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99DAC-565B-435E-BD6E-732931C1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286375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选择依据与暂停条件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83443B-8367-4470-9525-06E4F2AF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528637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72BFAE-B779-436D-AFA5-2839A588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5286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优先选择B是因为只做提醒仍无法判断未使用是否由设备故障造成。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管理员每周可投入1.5个工作日；若实际维护超过该容量，保留必要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故障记录、暂停扩大提醒覆盖，并记录暂停原因。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不能把预计投入低于容量当成实际负荷已经达标。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用实际记录决定扩围，三项门槛须同时满足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复核与扩围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B1CAA-10FE-4DC5-A671-97534641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1114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是否扩大试点应由履约、故障与工作量证据共同决定；增加设备只是可能的后续选择，不是预定结论。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CC647-2142-40F7-ACC8-8B76C043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5381625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采证与分支判断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AC3FD9-BA43-4E4D-A25C-2D74D9AF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5381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A9B371-8CFC-43AB-8186-F8A824A9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53816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试点期间记录预约数、实际使用数、取消原因、故障关闭时间和管理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员实际工时。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两周结束时先检查记录是否完整，再结合晚间排队和实际利用率判断：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若故障是主要原因，先修复；若设备利用率高且排队持续，再评估增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A462F-0551-401C-B90C-2FC005E8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286375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并列门槛及证据边界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27636-06BD-4E0B-BFCD-80A58231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528637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741AA2-02C4-4D25-95FC-1DE4E4F4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52863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扩大范围前必须同时确认记录可追溯、无影响安全的未关闭故障、维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护工作量不超过每周1.5个工作日。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任一条件不满足，保留两间实验室规模并修订流程；不得删除失败记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录。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两周试点没有对照组，改善现象不能单独证明提醒或登记导致了改善。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2026-09-09T15:50:39.7480000Z</dcterms:created>
  <dcterms:modified xsi:type="dcterms:W3CDTF">2026-09-09T15:50:39.7480000Z</dcterms:modified>
</coreProperties>
</file>