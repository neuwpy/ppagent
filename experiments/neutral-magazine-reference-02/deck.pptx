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8c2100043a4680" /><Relationship Type="http://schemas.openxmlformats.org/officeDocument/2006/relationships/extended-properties" Target="/docProps/app.xml" Id="R6d13d3ed51104ab6" /><Relationship Type="http://schemas.openxmlformats.org/officeDocument/2006/relationships/officeDocument" Target="/ppt/presentation.xml" Id="Rcde938ef81574f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6f3dca106449d8"/>
  </p:sldMasterIdLst>
  <p:notesMasterIdLst>
    <p:notesMasterId xmlns:r="http://schemas.openxmlformats.org/officeDocument/2006/relationships" r:id="R5593a3ccfd19441c"/>
  </p:notesMasterIdLst>
  <p:sldIdLst>
    <p:sldId xmlns:r="http://schemas.openxmlformats.org/officeDocument/2006/relationships" id="256" r:id="Re469cc8a623342c8"/>
    <p:sldId xmlns:r="http://schemas.openxmlformats.org/officeDocument/2006/relationships" id="257" r:id="Rab16e71140a241cf"/>
    <p:sldId xmlns:r="http://schemas.openxmlformats.org/officeDocument/2006/relationships" id="258" r:id="R0cb23c383f8b4cab"/>
    <p:sldId xmlns:r="http://schemas.openxmlformats.org/officeDocument/2006/relationships" id="259" r:id="R4c930686d042454e"/>
    <p:sldId xmlns:r="http://schemas.openxmlformats.org/officeDocument/2006/relationships" id="260" r:id="R90dba6bac1b34eb9"/>
    <p:sldId xmlns:r="http://schemas.openxmlformats.org/officeDocument/2006/relationships" id="261" r:id="Rc23e8d3e225c4552"/>
    <p:sldId xmlns:r="http://schemas.openxmlformats.org/officeDocument/2006/relationships" id="262" r:id="Rcbab03ad5baf46a5"/>
    <p:sldId xmlns:r="http://schemas.openxmlformats.org/officeDocument/2006/relationships" id="263" r:id="Re7cb9fab8ecc47f5"/>
    <p:sldId xmlns:r="http://schemas.openxmlformats.org/officeDocument/2006/relationships" id="264" r:id="R6c5f3a1a11a544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8c931456634280" /><Relationship Type="http://schemas.openxmlformats.org/officeDocument/2006/relationships/slideMaster" Target="/ppt/slideMasters/slideMaster1.xml" Id="Rdc6f3dca106449d8" /><Relationship Type="http://schemas.openxmlformats.org/officeDocument/2006/relationships/notesMaster" Target="/ppt/notesMasters/notesMaster1.xml" Id="R5593a3ccfd19441c" /><Relationship Type="http://schemas.openxmlformats.org/officeDocument/2006/relationships/presProps" Target="/ppt/presProps.xml" Id="R479285a14f274092" /><Relationship Type="http://schemas.openxmlformats.org/officeDocument/2006/relationships/tableStyles" Target="/ppt/tableStyles.xml" Id="R9a3c628a70424c11" /><Relationship Type="http://schemas.openxmlformats.org/officeDocument/2006/relationships/slide" Target="/ppt/slides/slide1.xml" Id="Re469cc8a623342c8" /><Relationship Type="http://schemas.openxmlformats.org/officeDocument/2006/relationships/slide" Target="/ppt/slides/slide2.xml" Id="Rab16e71140a241cf" /><Relationship Type="http://schemas.openxmlformats.org/officeDocument/2006/relationships/slide" Target="/ppt/slides/slide3.xml" Id="R0cb23c383f8b4cab" /><Relationship Type="http://schemas.openxmlformats.org/officeDocument/2006/relationships/slide" Target="/ppt/slides/slide4.xml" Id="R4c930686d042454e" /><Relationship Type="http://schemas.openxmlformats.org/officeDocument/2006/relationships/slide" Target="/ppt/slides/slide5.xml" Id="R90dba6bac1b34eb9" /><Relationship Type="http://schemas.openxmlformats.org/officeDocument/2006/relationships/slide" Target="/ppt/slides/slide6.xml" Id="Rc23e8d3e225c4552" /><Relationship Type="http://schemas.openxmlformats.org/officeDocument/2006/relationships/slide" Target="/ppt/slides/slide7.xml" Id="Rcbab03ad5baf46a5" /><Relationship Type="http://schemas.openxmlformats.org/officeDocument/2006/relationships/slide" Target="/ppt/slides/slide8.xml" Id="Re7cb9fab8ecc47f5" /><Relationship Type="http://schemas.openxmlformats.org/officeDocument/2006/relationships/slide" Target="/ppt/slides/slide9.xml" Id="R6c5f3a1a11a544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f58ecbf2684e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efedb6c3ed4b49" /><Relationship Type="http://schemas.openxmlformats.org/officeDocument/2006/relationships/notesMaster" Target="/ppt/notesMasters/notesMaster1.xml" Id="R95db91985fab43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0f696c982e406d" /><Relationship Type="http://schemas.openxmlformats.org/officeDocument/2006/relationships/notesMaster" Target="/ppt/notesMasters/notesMaster1.xml" Id="R4699e2c50e4642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c0f10492e1406d" /><Relationship Type="http://schemas.openxmlformats.org/officeDocument/2006/relationships/notesMaster" Target="/ppt/notesMasters/notesMaster1.xml" Id="R1aa61fd4ad2143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b0338dd79940db" /><Relationship Type="http://schemas.openxmlformats.org/officeDocument/2006/relationships/notesMaster" Target="/ppt/notesMasters/notesMaster1.xml" Id="Rfb7835d04a564f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e37725714e4e9e" /><Relationship Type="http://schemas.openxmlformats.org/officeDocument/2006/relationships/notesMaster" Target="/ppt/notesMasters/notesMaster1.xml" Id="R7e6ed99c6a574d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20c6c9c3214502" /><Relationship Type="http://schemas.openxmlformats.org/officeDocument/2006/relationships/notesMaster" Target="/ppt/notesMasters/notesMaster1.xml" Id="R475e2fc69d8049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246f9a22b84562" /><Relationship Type="http://schemas.openxmlformats.org/officeDocument/2006/relationships/notesMaster" Target="/ppt/notesMasters/notesMaster1.xml" Id="R118c99762b8249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4f92b2634e45cb" /><Relationship Type="http://schemas.openxmlformats.org/officeDocument/2006/relationships/notesMaster" Target="/ppt/notesMasters/notesMaster1.xml" Id="Rb11ac9d8d8ff46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c4d5b26bd747a1" /><Relationship Type="http://schemas.openxmlformats.org/officeDocument/2006/relationships/notesMaster" Target="/ppt/notesMasters/notesMaster1.xml" Id="R0a94db7b13894f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1a66421cce4c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77e8c7990b4d04" /><Relationship Type="http://schemas.openxmlformats.org/officeDocument/2006/relationships/slideLayout" Target="/ppt/slideLayouts/slideLayout1.xml" Id="R1fce4e9a98cc40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ce4e9a98cc40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bf73778cf41a6" /><Relationship Type="http://schemas.openxmlformats.org/officeDocument/2006/relationships/notesSlide" Target="/ppt/notesSlides/notesSlide1.xml" Id="Rd79466f7ca4243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9fe320045428d" /><Relationship Type="http://schemas.openxmlformats.org/officeDocument/2006/relationships/notesSlide" Target="/ppt/notesSlides/notesSlide2.xml" Id="R3f5afeb704904b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dfd0dd33f454f" /><Relationship Type="http://schemas.openxmlformats.org/officeDocument/2006/relationships/notesSlide" Target="/ppt/notesSlides/notesSlide3.xml" Id="R97a05133a7824d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9986c2488448c" /><Relationship Type="http://schemas.openxmlformats.org/officeDocument/2006/relationships/notesSlide" Target="/ppt/notesSlides/notesSlide4.xml" Id="Rea77c38d76af4b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c05a3cf614f07" /><Relationship Type="http://schemas.openxmlformats.org/officeDocument/2006/relationships/notesSlide" Target="/ppt/notesSlides/notesSlide5.xml" Id="Ra58ab1b2d9604b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1867e73b747c9" /><Relationship Type="http://schemas.openxmlformats.org/officeDocument/2006/relationships/notesSlide" Target="/ppt/notesSlides/notesSlide6.xml" Id="R6b18d062f69349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3e1508cda471f" /><Relationship Type="http://schemas.openxmlformats.org/officeDocument/2006/relationships/notesSlide" Target="/ppt/notesSlides/notesSlide7.xml" Id="R601c771f281146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f5401a48f4929" /><Relationship Type="http://schemas.openxmlformats.org/officeDocument/2006/relationships/notesSlide" Target="/ppt/notesSlides/notesSlide8.xml" Id="Rb2a46f71e1d24d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844369f0745c3" /><Relationship Type="http://schemas.openxmlformats.org/officeDocument/2006/relationships/notesSlide" Target="/ppt/notesSlides/notesSlide9.xml" Id="Re9ac52a9432c4a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E632F-2D7C-4A2F-B1FF-19084465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533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先把一次</a:t>
            </a:r>
          </a:p>
          <a:p xmlns:a="http://schemas.openxmlformats.org/drawingml/2006/main">
            <a:pPr algn="l">
              <a:defRPr sz="435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结果说明白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AD369-52BC-44EB-B04A-2DF50ECF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实验数据归档试点讨论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79AA6-01BD-458F-BA8E-FA1930E9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3467100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5D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12E5A-6391-415B-9C10-5420C50F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受众：课题组教师与研究生</a:t>
            </a:r>
          </a:p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目的：讨论是否用四周、小范围试点，建立能够解释实验结果的数据归档习惯。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8DB0D-6403-452C-B345-30EBC6A2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91500" y="161925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D75CFB-279E-48CB-B263-B7DEAD9F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28800"/>
            <a:ext cx="76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0BFC5-0338-4733-A593-89A648D5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5717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record unit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D5C3B-0579-4587-8EFA-A08A9B93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765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结果 = 证据 + 责任边界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CFAAE-E37B-4C48-AF5C-A3F259B2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7052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一次结果能否被别人理解，先于是否扩大共享范围。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DD4DD0-6A10-4E69-A50A-EE16510D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有限尝试 · 方案讨论口径</a:t>
            </a:r>
          </a:p>
        </p:txBody>
      </p:sp>
      <p:sp>
        <p:nvSpPr>
          <p:cNvPr id="11" name="page-cover-0">
            <a:extLst xmlns:a="http://schemas.openxmlformats.org/drawingml/2006/main">
              <a:ext uri="{FF2B5EF4-FFF2-40B4-BE49-F238E27FC236}">
                <a16:creationId xmlns:a16="http://schemas.microsoft.com/office/drawing/2014/main" id="{9DD3B771-2ABD-4515-B0F3-8EA78C2E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57950"/>
            <a:ext cx="9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rPr>
              <a:t>0</a:t>
            </a:r>
          </a:p>
        </p:txBody>
      </p:sp>
      <p:sp>
        <p:nvSpPr>
          <p:cNvPr id="12" name="page-cover-1">
            <a:extLst xmlns:a="http://schemas.openxmlformats.org/drawingml/2006/main">
              <a:ext uri="{FF2B5EF4-FFF2-40B4-BE49-F238E27FC236}">
                <a16:creationId xmlns:a16="http://schemas.microsoft.com/office/drawing/2014/main" id="{7ECADE74-2BE7-43B9-8ADF-EEA7F8B4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57950"/>
            <a:ext cx="9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53067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chapter-2-0">
            <a:extLst xmlns:a="http://schemas.openxmlformats.org/drawingml/2006/main">
              <a:ext uri="{FF2B5EF4-FFF2-40B4-BE49-F238E27FC236}">
                <a16:creationId xmlns:a16="http://schemas.microsoft.com/office/drawing/2014/main" id="{7A97E3A6-E4F0-42F6-BE55-A87FC54C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04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</a:t>
            </a:r>
          </a:p>
        </p:txBody>
      </p:sp>
      <p:sp>
        <p:nvSpPr>
          <p:cNvPr id="2" name="chapter-2-1">
            <a:extLst xmlns:a="http://schemas.openxmlformats.org/drawingml/2006/main">
              <a:ext uri="{FF2B5EF4-FFF2-40B4-BE49-F238E27FC236}">
                <a16:creationId xmlns:a16="http://schemas.microsoft.com/office/drawing/2014/main" id="{A5F23F73-3B30-4BF1-9043-ABF88F06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2900"/>
            <a:ext cx="104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9D2AE-F207-436E-A6A9-F71B0B56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问题从哪里开始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D8CA6-F2FF-4AA3-9904-95B0DAA1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62375" y="495300"/>
            <a:ext cx="789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5" name="page-2-0">
            <a:extLst xmlns:a="http://schemas.openxmlformats.org/drawingml/2006/main">
              <a:ext uri="{FF2B5EF4-FFF2-40B4-BE49-F238E27FC236}">
                <a16:creationId xmlns:a16="http://schemas.microsoft.com/office/drawing/2014/main" id="{1F73F8E7-7392-403B-B7AB-FA01F4CB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57950"/>
            <a:ext cx="9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rPr>
              <a:t>0</a:t>
            </a:r>
          </a:p>
        </p:txBody>
      </p:sp>
      <p:sp>
        <p:nvSpPr>
          <p:cNvPr id="6" name="page-2-1">
            <a:extLst xmlns:a="http://schemas.openxmlformats.org/drawingml/2006/main">
              <a:ext uri="{FF2B5EF4-FFF2-40B4-BE49-F238E27FC236}">
                <a16:creationId xmlns:a16="http://schemas.microsoft.com/office/drawing/2014/main" id="{233B6F9E-48A3-461B-834E-CD8036A0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57950"/>
            <a:ext cx="9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5387C7-3D90-4DF1-A9B6-6288802B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课题组讨论 · 数据归档试点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745AC-42C4-417A-AEE8-48CA943A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找到最终图片，不等于能够解释它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4DB02-D6FE-47B8-A8D2-C14654F1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课题组讨论一张实验曲线时，经常能找到最终图片，却不能快速说明图片来自哪批样本、用了哪版脚本、哪些数据被排除。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8087EE-8571-47D6-885D-39CB4416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文件存在，结果仍可能无法解释。</a:t>
            </a:r>
          </a:p>
        </p:txBody>
      </p:sp>
      <p:sp>
        <p:nvSpPr>
          <p:cNvPr id="11" name="PPAGENT_QA|parent=problem-rule-0">
            <a:extLst xmlns:a="http://schemas.openxmlformats.org/drawingml/2006/main">
              <a:ext uri="{FF2B5EF4-FFF2-40B4-BE49-F238E27FC236}">
                <a16:creationId xmlns:a16="http://schemas.microsoft.com/office/drawing/2014/main" id="{32271B74-CD4F-42BC-9450-E87B9C8B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3162300"/>
            <a:ext cx="2114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5D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9B9C52-C734-4FA4-B191-D5E6FD70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最终图片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219253-050B-4861-B781-B618A170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05225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结果看得到，来源说不清</a:t>
            </a:r>
          </a:p>
        </p:txBody>
      </p:sp>
      <p:sp>
        <p:nvSpPr>
          <p:cNvPr id="14" name="PPAGENT_QA|parent=problem-rule-1">
            <a:extLst xmlns:a="http://schemas.openxmlformats.org/drawingml/2006/main">
              <a:ext uri="{FF2B5EF4-FFF2-40B4-BE49-F238E27FC236}">
                <a16:creationId xmlns:a16="http://schemas.microsoft.com/office/drawing/2014/main" id="{EFD0022C-21D0-4D1C-92F2-1CA8B947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57550" y="3162300"/>
            <a:ext cx="2114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8D5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BC8593-3B99-4A84-AD79-626FC73F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147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样本批次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F869E0-9882-4C67-8646-FF2A6D8D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05225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条件无法快速还原</a:t>
            </a:r>
          </a:p>
        </p:txBody>
      </p:sp>
      <p:sp>
        <p:nvSpPr>
          <p:cNvPr id="17" name="PPAGENT_QA|parent=problem-rule-2">
            <a:extLst xmlns:a="http://schemas.openxmlformats.org/drawingml/2006/main">
              <a:ext uri="{FF2B5EF4-FFF2-40B4-BE49-F238E27FC236}">
                <a16:creationId xmlns:a16="http://schemas.microsoft.com/office/drawing/2014/main" id="{D01484B6-5029-46D5-B0FD-71BDF8F5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81700" y="3162300"/>
            <a:ext cx="2114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8D5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D6DCAE-5C32-406C-8579-82C1220C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147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脚本版本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09EC9F-F823-41B4-B5B3-506B67D1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05225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处理过程难以定位</a:t>
            </a:r>
          </a:p>
        </p:txBody>
      </p:sp>
      <p:sp>
        <p:nvSpPr>
          <p:cNvPr id="20" name="PPAGENT_QA|parent=problem-rule-3">
            <a:extLst xmlns:a="http://schemas.openxmlformats.org/drawingml/2006/main">
              <a:ext uri="{FF2B5EF4-FFF2-40B4-BE49-F238E27FC236}">
                <a16:creationId xmlns:a16="http://schemas.microsoft.com/office/drawing/2014/main" id="{14CEADAF-7D11-449B-9885-49C743C3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05850" y="3162300"/>
            <a:ext cx="2114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8D5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C21189-12C7-4E30-9B52-0D398382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147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排除依据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ADC2DA-45A4-458B-8B3C-A0BD13EC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05225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只留下“已清理”</a:t>
            </a:r>
          </a:p>
        </p:txBody>
      </p:sp>
      <p:sp>
        <p:nvSpPr>
          <p:cNvPr id="23" name="PPAGENT_QA|parent=problem-thesis|domains=conclusion">
            <a:extLst xmlns:a="http://schemas.openxmlformats.org/drawingml/2006/main">
              <a:ext uri="{FF2B5EF4-FFF2-40B4-BE49-F238E27FC236}">
                <a16:creationId xmlns:a16="http://schemas.microsoft.com/office/drawing/2014/main" id="{0B9B5DC4-61FC-4D6D-A582-1768807A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958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solidFill>
              <a:srgbClr val="EEEC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7CD693-0D8F-47D4-99D0-1E6C31F7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1032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归档首先要保存结果和依据之间的关系，随后才讨论扩大共享范围。</a:t>
            </a:r>
          </a:p>
        </p:txBody>
      </p:sp>
    </p:spTree>
    <p:extLst>
      <p:ext uri="{BB962C8B-B14F-4D97-AF65-F5344CB8AC3E}">
        <p14:creationId xmlns:p14="http://schemas.microsoft.com/office/powerpoint/2010/main" val="16737097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chapter-3-0">
            <a:extLst xmlns:a="http://schemas.openxmlformats.org/drawingml/2006/main">
              <a:ext uri="{FF2B5EF4-FFF2-40B4-BE49-F238E27FC236}">
                <a16:creationId xmlns:a16="http://schemas.microsoft.com/office/drawing/2014/main" id="{D78E7AE4-DCBC-49C2-991E-43162EB4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04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</a:t>
            </a:r>
          </a:p>
        </p:txBody>
      </p:sp>
      <p:sp>
        <p:nvSpPr>
          <p:cNvPr id="2" name="chapter-3-1">
            <a:extLst xmlns:a="http://schemas.openxmlformats.org/drawingml/2006/main">
              <a:ext uri="{FF2B5EF4-FFF2-40B4-BE49-F238E27FC236}">
                <a16:creationId xmlns:a16="http://schemas.microsoft.com/office/drawing/2014/main" id="{224B02C7-9D51-46C5-96F9-EA337BC4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2900"/>
            <a:ext cx="104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3322A-B306-4958-859C-C71A2919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记录单元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F872D4-2ACB-4585-9FDD-71142333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62375" y="495300"/>
            <a:ext cx="789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5" name="page-3-0">
            <a:extLst xmlns:a="http://schemas.openxmlformats.org/drawingml/2006/main">
              <a:ext uri="{FF2B5EF4-FFF2-40B4-BE49-F238E27FC236}">
                <a16:creationId xmlns:a16="http://schemas.microsoft.com/office/drawing/2014/main" id="{43B64F99-8F73-4995-8B64-B4575476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57950"/>
            <a:ext cx="9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rPr>
              <a:t>0</a:t>
            </a:r>
          </a:p>
        </p:txBody>
      </p:sp>
      <p:sp>
        <p:nvSpPr>
          <p:cNvPr id="6" name="page-3-1">
            <a:extLst xmlns:a="http://schemas.openxmlformats.org/drawingml/2006/main">
              <a:ext uri="{FF2B5EF4-FFF2-40B4-BE49-F238E27FC236}">
                <a16:creationId xmlns:a16="http://schemas.microsoft.com/office/drawing/2014/main" id="{797E88C7-0251-46B2-8DB8-C569BCCF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57950"/>
            <a:ext cx="9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EAFE6-4B3B-45DA-A67F-5381C976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课题组讨论 · 数据归档试点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2BBD4-E7AA-42C6-8D88-5AB0FA8D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一个可讨论的实验结果，由五项依据共同解释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C7B51-91F5-4BEB-BE45-72DCE9AB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这些项目共同解释一个结果，并不是必须依次执行的五个步骤。</a:t>
            </a:r>
          </a:p>
        </p:txBody>
      </p:sp>
      <p:sp>
        <p:nvSpPr>
          <p:cNvPr id="10" name="PPAGENT_QA|parent=record-input-0|domains=record-input">
            <a:extLst xmlns:a="http://schemas.openxmlformats.org/drawingml/2006/main">
              <a:ext uri="{FF2B5EF4-FFF2-40B4-BE49-F238E27FC236}">
                <a16:creationId xmlns:a16="http://schemas.microsoft.com/office/drawing/2014/main" id="{E0530B9A-2A19-4987-821A-1DF57BC4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1" name="PPAGENT_QA|within=record-input-0|role=title">
            <a:extLst xmlns:a="http://schemas.openxmlformats.org/drawingml/2006/main">
              <a:ext uri="{FF2B5EF4-FFF2-40B4-BE49-F238E27FC236}">
                <a16:creationId xmlns:a16="http://schemas.microsoft.com/office/drawing/2014/main" id="{52AD3627-BB39-4CF4-9C7E-FD50DFF6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669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原始数据位置</a:t>
            </a:r>
          </a:p>
        </p:txBody>
      </p:sp>
      <p:sp>
        <p:nvSpPr>
          <p:cNvPr id="12" name="PPAGENT_QA|within=record-input-0|role=body">
            <a:extLst xmlns:a="http://schemas.openxmlformats.org/drawingml/2006/main">
              <a:ext uri="{FF2B5EF4-FFF2-40B4-BE49-F238E27FC236}">
                <a16:creationId xmlns:a16="http://schemas.microsoft.com/office/drawing/2014/main" id="{F3027A31-D6D5-4766-87A6-43FBC5D5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保持原貌，指向真实来源</a:t>
            </a:r>
          </a:p>
        </p:txBody>
      </p:sp>
      <p:sp>
        <p:nvSpPr>
          <p:cNvPr id="13" name="record-link-0">
            <a:extLst xmlns:a="http://schemas.openxmlformats.org/drawingml/2006/main">
              <a:ext uri="{FF2B5EF4-FFF2-40B4-BE49-F238E27FC236}">
                <a16:creationId xmlns:a16="http://schemas.microsoft.com/office/drawing/2014/main" id="{1FB2B084-1254-45E9-99C4-6891C766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71850" y="2657475"/>
            <a:ext cx="3067050" cy="1076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5CC"/>
            </a:solidFill>
            <a:prstDash val="solid"/>
          </a:ln>
        </p:spPr>
      </p:sp>
      <p:sp>
        <p:nvSpPr>
          <p:cNvPr id="14" name="PPAGENT_QA|parent=record-input-1|domains=record-input">
            <a:extLst xmlns:a="http://schemas.openxmlformats.org/drawingml/2006/main">
              <a:ext uri="{FF2B5EF4-FFF2-40B4-BE49-F238E27FC236}">
                <a16:creationId xmlns:a16="http://schemas.microsoft.com/office/drawing/2014/main" id="{653CA945-AA2D-4646-BD8C-2C6CC89D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PPAGENT_QA|within=record-input-1|role=title">
            <a:extLst xmlns:a="http://schemas.openxmlformats.org/drawingml/2006/main">
              <a:ext uri="{FF2B5EF4-FFF2-40B4-BE49-F238E27FC236}">
                <a16:creationId xmlns:a16="http://schemas.microsoft.com/office/drawing/2014/main" id="{096A6B67-F4C7-4E60-A129-2CB49DCE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样本与采集条件</a:t>
            </a:r>
          </a:p>
        </p:txBody>
      </p:sp>
      <p:sp>
        <p:nvSpPr>
          <p:cNvPr id="16" name="PPAGENT_QA|within=record-input-1|role=body">
            <a:extLst xmlns:a="http://schemas.openxmlformats.org/drawingml/2006/main">
              <a:ext uri="{FF2B5EF4-FFF2-40B4-BE49-F238E27FC236}">
                <a16:creationId xmlns:a16="http://schemas.microsoft.com/office/drawing/2014/main" id="{D762400B-BAF1-4009-91EF-CE225A42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说明结果来自哪批样本</a:t>
            </a:r>
          </a:p>
        </p:txBody>
      </p:sp>
      <p:sp>
        <p:nvSpPr>
          <p:cNvPr id="17" name="record-link-1">
            <a:extLst xmlns:a="http://schemas.openxmlformats.org/drawingml/2006/main">
              <a:ext uri="{FF2B5EF4-FFF2-40B4-BE49-F238E27FC236}">
                <a16:creationId xmlns:a16="http://schemas.microsoft.com/office/drawing/2014/main" id="{192AEE2D-C654-49BD-BD34-730BD3AC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71850" y="3324225"/>
            <a:ext cx="3067050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5CC"/>
            </a:solidFill>
            <a:prstDash val="solid"/>
          </a:ln>
        </p:spPr>
      </p:sp>
      <p:sp>
        <p:nvSpPr>
          <p:cNvPr id="18" name="PPAGENT_QA|parent=record-input-2|domains=record-input">
            <a:extLst xmlns:a="http://schemas.openxmlformats.org/drawingml/2006/main">
              <a:ext uri="{FF2B5EF4-FFF2-40B4-BE49-F238E27FC236}">
                <a16:creationId xmlns:a16="http://schemas.microsoft.com/office/drawing/2014/main" id="{48B90E98-423F-46F2-9836-6D18A798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PPAGENT_QA|within=record-input-2|role=title">
            <a:extLst xmlns:a="http://schemas.openxmlformats.org/drawingml/2006/main">
              <a:ext uri="{FF2B5EF4-FFF2-40B4-BE49-F238E27FC236}">
                <a16:creationId xmlns:a16="http://schemas.microsoft.com/office/drawing/2014/main" id="{008EAFDA-E269-4252-A7AC-1B1FB76F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004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处理脚本版本</a:t>
            </a:r>
          </a:p>
        </p:txBody>
      </p:sp>
      <p:sp>
        <p:nvSpPr>
          <p:cNvPr id="20" name="PPAGENT_QA|within=record-input-2|role=body">
            <a:extLst xmlns:a="http://schemas.openxmlformats.org/drawingml/2006/main">
              <a:ext uri="{FF2B5EF4-FFF2-40B4-BE49-F238E27FC236}">
                <a16:creationId xmlns:a16="http://schemas.microsoft.com/office/drawing/2014/main" id="{6FA0759E-68B2-440C-BE10-A2B5D8D7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定位实际运行的代码</a:t>
            </a:r>
          </a:p>
        </p:txBody>
      </p:sp>
      <p:sp>
        <p:nvSpPr>
          <p:cNvPr id="21" name="record-link-2">
            <a:extLst xmlns:a="http://schemas.openxmlformats.org/drawingml/2006/main">
              <a:ext uri="{FF2B5EF4-FFF2-40B4-BE49-F238E27FC236}">
                <a16:creationId xmlns:a16="http://schemas.microsoft.com/office/drawing/2014/main" id="{CEF49B50-A7B8-4A66-A349-B7D928EE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371850" y="3733800"/>
            <a:ext cx="3067050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5CC"/>
            </a:solidFill>
            <a:prstDash val="solid"/>
          </a:ln>
        </p:spPr>
      </p:sp>
      <p:sp>
        <p:nvSpPr>
          <p:cNvPr id="22" name="PPAGENT_QA|parent=record-input-3|domains=record-input">
            <a:extLst xmlns:a="http://schemas.openxmlformats.org/drawingml/2006/main">
              <a:ext uri="{FF2B5EF4-FFF2-40B4-BE49-F238E27FC236}">
                <a16:creationId xmlns:a16="http://schemas.microsoft.com/office/drawing/2014/main" id="{CBAF5624-778C-4B6D-A34B-C88C2B3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3" name="PPAGENT_QA|within=record-input-3|role=title">
            <a:extLst xmlns:a="http://schemas.openxmlformats.org/drawingml/2006/main">
              <a:ext uri="{FF2B5EF4-FFF2-40B4-BE49-F238E27FC236}">
                <a16:creationId xmlns:a16="http://schemas.microsoft.com/office/drawing/2014/main" id="{4B19A61C-CEAC-46F7-A46C-A0D4B158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672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结果文件</a:t>
            </a:r>
          </a:p>
        </p:txBody>
      </p:sp>
      <p:sp>
        <p:nvSpPr>
          <p:cNvPr id="24" name="PPAGENT_QA|within=record-input-3|role=body">
            <a:extLst xmlns:a="http://schemas.openxmlformats.org/drawingml/2006/main">
              <a:ext uri="{FF2B5EF4-FFF2-40B4-BE49-F238E27FC236}">
                <a16:creationId xmlns:a16="http://schemas.microsoft.com/office/drawing/2014/main" id="{71C6D3AF-4376-48EC-A61A-B53A6ABE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保留可讨论的最终产物</a:t>
            </a:r>
          </a:p>
        </p:txBody>
      </p:sp>
      <p:sp>
        <p:nvSpPr>
          <p:cNvPr id="25" name="record-link-3">
            <a:extLst xmlns:a="http://schemas.openxmlformats.org/drawingml/2006/main">
              <a:ext uri="{FF2B5EF4-FFF2-40B4-BE49-F238E27FC236}">
                <a16:creationId xmlns:a16="http://schemas.microsoft.com/office/drawing/2014/main" id="{DAA28482-F3A0-48BF-8121-E16207D1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371850" y="3733800"/>
            <a:ext cx="3067050" cy="923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5CC"/>
            </a:solidFill>
            <a:prstDash val="solid"/>
          </a:ln>
        </p:spPr>
      </p:sp>
      <p:sp>
        <p:nvSpPr>
          <p:cNvPr id="26" name="PPAGENT_QA|parent=record-input-4|domains=record-input">
            <a:extLst xmlns:a="http://schemas.openxmlformats.org/drawingml/2006/main">
              <a:ext uri="{FF2B5EF4-FFF2-40B4-BE49-F238E27FC236}">
                <a16:creationId xmlns:a16="http://schemas.microsoft.com/office/drawing/2014/main" id="{E9442123-A48C-40F3-8D19-3ECF8B70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7" name="PPAGENT_QA|within=record-input-4|role=title">
            <a:extLst xmlns:a="http://schemas.openxmlformats.org/drawingml/2006/main">
              <a:ext uri="{FF2B5EF4-FFF2-40B4-BE49-F238E27FC236}">
                <a16:creationId xmlns:a16="http://schemas.microsoft.com/office/drawing/2014/main" id="{DD9A3E51-4D5C-418B-9DD1-1B6D5522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339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异常与排除说明</a:t>
            </a:r>
          </a:p>
        </p:txBody>
      </p:sp>
      <p:sp>
        <p:nvSpPr>
          <p:cNvPr id="28" name="PPAGENT_QA|within=record-input-4|role=body">
            <a:extLst xmlns:a="http://schemas.openxmlformats.org/drawingml/2006/main">
              <a:ext uri="{FF2B5EF4-FFF2-40B4-BE49-F238E27FC236}">
                <a16:creationId xmlns:a16="http://schemas.microsoft.com/office/drawing/2014/main" id="{DECC77A4-0234-4FAC-9E7D-79756C44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保留判断依据与排除条件</a:t>
            </a:r>
          </a:p>
        </p:txBody>
      </p:sp>
      <p:sp>
        <p:nvSpPr>
          <p:cNvPr id="29" name="record-link-4">
            <a:extLst xmlns:a="http://schemas.openxmlformats.org/drawingml/2006/main">
              <a:ext uri="{FF2B5EF4-FFF2-40B4-BE49-F238E27FC236}">
                <a16:creationId xmlns:a16="http://schemas.microsoft.com/office/drawing/2014/main" id="{28A11C4A-A58B-4BE3-A677-67492649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371850" y="3733800"/>
            <a:ext cx="3067050" cy="1590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30" name="PPAGENT_QA|parent=record-core|domains=record-result">
            <a:extLst xmlns:a="http://schemas.openxmlformats.org/drawingml/2006/main">
              <a:ext uri="{FF2B5EF4-FFF2-40B4-BE49-F238E27FC236}">
                <a16:creationId xmlns:a16="http://schemas.microsoft.com/office/drawing/2014/main" id="{E94C8A34-02AB-4474-BBB0-A86293AE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86100"/>
            <a:ext cx="1295400" cy="12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31" name="PPAGENT_QA|within=record-core|role=title">
            <a:extLst xmlns:a="http://schemas.openxmlformats.org/drawingml/2006/main">
              <a:ext uri="{FF2B5EF4-FFF2-40B4-BE49-F238E27FC236}">
                <a16:creationId xmlns:a16="http://schemas.microsoft.com/office/drawing/2014/main" id="{CC2CFC01-E11B-4B23-8F4C-FC6B5A55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2900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BFAF6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FBFAF6"/>
                </a:solidFill>
                <a:latin typeface="Noto Serif SC"/>
                <a:ea typeface="Noto Serif SC"/>
                <a:cs typeface="Noto Serif SC"/>
              </a:rPr>
              <a:t>记录单元</a:t>
            </a:r>
          </a:p>
        </p:txBody>
      </p:sp>
      <p:sp>
        <p:nvSpPr>
          <p:cNvPr id="32" name="PPAGENT_QA|within=record-core|role=body">
            <a:extLst xmlns:a="http://schemas.openxmlformats.org/drawingml/2006/main">
              <a:ext uri="{FF2B5EF4-FFF2-40B4-BE49-F238E27FC236}">
                <a16:creationId xmlns:a16="http://schemas.microsoft.com/office/drawing/2014/main" id="{F4F5DA25-B5EA-4CBA-BF27-4EC58928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433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结果 + 依据</a:t>
            </a:r>
          </a:p>
        </p:txBody>
      </p:sp>
      <p:sp>
        <p:nvSpPr>
          <p:cNvPr id="33" name="record-result-line">
            <a:extLst xmlns:a="http://schemas.openxmlformats.org/drawingml/2006/main">
              <a:ext uri="{FF2B5EF4-FFF2-40B4-BE49-F238E27FC236}">
                <a16:creationId xmlns:a16="http://schemas.microsoft.com/office/drawing/2014/main" id="{27CCFE28-1035-49A5-B22A-6392AC7B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53350" y="37338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35D4F"/>
            </a:solidFill>
            <a:prstDash val="solid"/>
          </a:ln>
        </p:spPr>
      </p:sp>
      <p:sp>
        <p:nvSpPr>
          <p:cNvPr id="34" name="PPAGENT_QA|parent=record-output|domains=record-result">
            <a:extLst xmlns:a="http://schemas.openxmlformats.org/drawingml/2006/main">
              <a:ext uri="{FF2B5EF4-FFF2-40B4-BE49-F238E27FC236}">
                <a16:creationId xmlns:a16="http://schemas.microsoft.com/office/drawing/2014/main" id="{ED61BCA8-1E12-4A99-9250-7813E9F3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62300"/>
            <a:ext cx="2419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35" name="PPAGENT_QA|within=record-output|role=title">
            <a:extLst xmlns:a="http://schemas.openxmlformats.org/drawingml/2006/main">
              <a:ext uri="{FF2B5EF4-FFF2-40B4-BE49-F238E27FC236}">
                <a16:creationId xmlns:a16="http://schemas.microsoft.com/office/drawing/2014/main" id="{2B2A6541-CDC1-4EF9-806A-A4307CF3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480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可讨论的实验结果</a:t>
            </a:r>
          </a:p>
        </p:txBody>
      </p:sp>
      <p:sp>
        <p:nvSpPr>
          <p:cNvPr id="36" name="PPAGENT_QA|within=record-output|role=body">
            <a:extLst xmlns:a="http://schemas.openxmlformats.org/drawingml/2006/main">
              <a:ext uri="{FF2B5EF4-FFF2-40B4-BE49-F238E27FC236}">
                <a16:creationId xmlns:a16="http://schemas.microsoft.com/office/drawing/2014/main" id="{0750A4B3-8EFE-4048-AB18-B7CB41A0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57625"/>
            <a:ext cx="196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别人可以沿记录理解</a:t>
            </a:r>
          </a:p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它是怎么产生的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1197FA-7E62-46B7-B93A-C330F230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清洗与处理另存；未纳入结果的样本也要解释排除条件。</a:t>
            </a:r>
          </a:p>
        </p:txBody>
      </p:sp>
    </p:spTree>
    <p:extLst>
      <p:ext uri="{BB962C8B-B14F-4D97-AF65-F5344CB8AC3E}">
        <p14:creationId xmlns:p14="http://schemas.microsoft.com/office/powerpoint/2010/main" val="18516380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chapter-4-0">
            <a:extLst xmlns:a="http://schemas.openxmlformats.org/drawingml/2006/main">
              <a:ext uri="{FF2B5EF4-FFF2-40B4-BE49-F238E27FC236}">
                <a16:creationId xmlns:a16="http://schemas.microsoft.com/office/drawing/2014/main" id="{C01F27DE-7645-4CF3-B326-407B8BB4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04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</a:t>
            </a:r>
          </a:p>
        </p:txBody>
      </p:sp>
      <p:sp>
        <p:nvSpPr>
          <p:cNvPr id="2" name="chapter-4-1">
            <a:extLst xmlns:a="http://schemas.openxmlformats.org/drawingml/2006/main">
              <a:ext uri="{FF2B5EF4-FFF2-40B4-BE49-F238E27FC236}">
                <a16:creationId xmlns:a16="http://schemas.microsoft.com/office/drawing/2014/main" id="{76413067-656F-4EA7-8994-CF322158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2900"/>
            <a:ext cx="104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BCB47-BB11-41CD-BB3B-C5D09FCB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访问边界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F3ABD-CBA9-488B-90AE-994C1855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62375" y="495300"/>
            <a:ext cx="789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5" name="page-4-0">
            <a:extLst xmlns:a="http://schemas.openxmlformats.org/drawingml/2006/main">
              <a:ext uri="{FF2B5EF4-FFF2-40B4-BE49-F238E27FC236}">
                <a16:creationId xmlns:a16="http://schemas.microsoft.com/office/drawing/2014/main" id="{14BA97F4-F318-4494-A2B0-78CAB236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57950"/>
            <a:ext cx="9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rPr>
              <a:t>0</a:t>
            </a:r>
          </a:p>
        </p:txBody>
      </p:sp>
      <p:sp>
        <p:nvSpPr>
          <p:cNvPr id="6" name="page-4-1">
            <a:extLst xmlns:a="http://schemas.openxmlformats.org/drawingml/2006/main">
              <a:ext uri="{FF2B5EF4-FFF2-40B4-BE49-F238E27FC236}">
                <a16:creationId xmlns:a16="http://schemas.microsoft.com/office/drawing/2014/main" id="{A572B577-91F6-436B-B5A2-59D7436E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57950"/>
            <a:ext cx="9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14EC1E-2BA7-4BA1-BC15-61E107FA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课题组讨论 · 数据归档试点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E7ED22-9007-49D1-90A2-307BD78C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B4A45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4B4A45"/>
                </a:solidFill>
                <a:latin typeface="Noto Serif SC"/>
                <a:ea typeface="Noto Serif SC"/>
                <a:cs typeface="Noto Serif SC"/>
              </a:rPr>
              <a:t>记录完整，不等于所有人都能看到全部文件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745FC-0C7D-45D4-8501-61AA9250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归档记录解释结果的来源，同时保留现有授权边界。</a:t>
            </a:r>
          </a:p>
        </p:txBody>
      </p:sp>
      <p:sp>
        <p:nvSpPr>
          <p:cNvPr id="10" name="PPAGENT_QA|parent=access-discussion|domains=access-domain">
            <a:extLst xmlns:a="http://schemas.openxmlformats.org/drawingml/2006/main">
              <a:ext uri="{FF2B5EF4-FFF2-40B4-BE49-F238E27FC236}">
                <a16:creationId xmlns:a16="http://schemas.microsoft.com/office/drawing/2014/main" id="{5A46A936-A2EF-4E48-9578-639EECA7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41910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1" name="PPAGENT_QA|parent=access-restricted|domains=access-domain">
            <a:extLst xmlns:a="http://schemas.openxmlformats.org/drawingml/2006/main">
              <a:ext uri="{FF2B5EF4-FFF2-40B4-BE49-F238E27FC236}">
                <a16:creationId xmlns:a16="http://schemas.microsoft.com/office/drawing/2014/main" id="{10D03430-EE3B-43C9-ADC0-44CC2A44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4191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5A6200-06C0-4967-B54C-FB8844F6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可讨论材料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D7E73F-64B1-49CB-B997-32E66295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结果图</a:t>
            </a:r>
          </a:p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可公开的解释</a:t>
            </a:r>
          </a:p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受控引用与访问条件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F6BCB9-5C5E-4007-BFB0-72B0B5FA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受限原始数据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693547-CF9F-4EC8-B386-11796FCB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仍放在原授权位置</a:t>
            </a:r>
          </a:p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个人信息与合作限制继续有效</a:t>
            </a:r>
          </a:p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记录中的路径不代表成员已获访问权</a:t>
            </a:r>
          </a:p>
        </p:txBody>
      </p:sp>
      <p:sp>
        <p:nvSpPr>
          <p:cNvPr id="16" name="access-boundary-line">
            <a:extLst xmlns:a="http://schemas.openxmlformats.org/drawingml/2006/main">
              <a:ext uri="{FF2B5EF4-FFF2-40B4-BE49-F238E27FC236}">
                <a16:creationId xmlns:a16="http://schemas.microsoft.com/office/drawing/2014/main" id="{6B6A9E9C-2759-45A3-8F41-50EF830D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0" y="3552825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5D4F"/>
            </a:solidFill>
            <a:prstDash val="solid"/>
          </a:ln>
        </p:spPr>
      </p:sp>
      <p:sp>
        <p:nvSpPr>
          <p:cNvPr id="17" name="PPAGENT_QA|parent=access-boundary|domains=access-boundary">
            <a:extLst xmlns:a="http://schemas.openxmlformats.org/drawingml/2006/main">
              <a:ext uri="{FF2B5EF4-FFF2-40B4-BE49-F238E27FC236}">
                <a16:creationId xmlns:a16="http://schemas.microsoft.com/office/drawing/2014/main" id="{F8575B88-33F2-4927-BB86-779E04EA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409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F9E982-D097-4C54-877F-4C6E8425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91477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授权边界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A9659D-2B13-49C6-A561-B5364BC9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涉及新的访问授权时，暂停共享，由负责人处理授权后再继续。</a:t>
            </a:r>
          </a:p>
        </p:txBody>
      </p:sp>
    </p:spTree>
    <p:extLst>
      <p:ext uri="{BB962C8B-B14F-4D97-AF65-F5344CB8AC3E}">
        <p14:creationId xmlns:p14="http://schemas.microsoft.com/office/powerpoint/2010/main" val="12371815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chapter-5-0">
            <a:extLst xmlns:a="http://schemas.openxmlformats.org/drawingml/2006/main">
              <a:ext uri="{FF2B5EF4-FFF2-40B4-BE49-F238E27FC236}">
                <a16:creationId xmlns:a16="http://schemas.microsoft.com/office/drawing/2014/main" id="{9E672340-BC83-43C6-B067-38ECC227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04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</a:t>
            </a:r>
          </a:p>
        </p:txBody>
      </p:sp>
      <p:sp>
        <p:nvSpPr>
          <p:cNvPr id="2" name="chapter-5-1">
            <a:extLst xmlns:a="http://schemas.openxmlformats.org/drawingml/2006/main">
              <a:ext uri="{FF2B5EF4-FFF2-40B4-BE49-F238E27FC236}">
                <a16:creationId xmlns:a16="http://schemas.microsoft.com/office/drawing/2014/main" id="{FD4AB5B7-55CF-46C9-A967-A80D02DC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2900"/>
            <a:ext cx="104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F4E8F-2359-49DB-B5C6-A0AE3DBA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试点起点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8EA02-8A80-46B1-9FE7-A89D4083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62375" y="495300"/>
            <a:ext cx="789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5" name="page-5-0">
            <a:extLst xmlns:a="http://schemas.openxmlformats.org/drawingml/2006/main">
              <a:ext uri="{FF2B5EF4-FFF2-40B4-BE49-F238E27FC236}">
                <a16:creationId xmlns:a16="http://schemas.microsoft.com/office/drawing/2014/main" id="{48D1FB44-9CDC-45EC-B74D-7CF5FC57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57950"/>
            <a:ext cx="9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rPr>
              <a:t>0</a:t>
            </a:r>
          </a:p>
        </p:txBody>
      </p:sp>
      <p:sp>
        <p:nvSpPr>
          <p:cNvPr id="6" name="page-5-1">
            <a:extLst xmlns:a="http://schemas.openxmlformats.org/drawingml/2006/main">
              <a:ext uri="{FF2B5EF4-FFF2-40B4-BE49-F238E27FC236}">
                <a16:creationId xmlns:a16="http://schemas.microsoft.com/office/drawing/2014/main" id="{B8905E9E-B6CF-436E-8BFA-FD147AAA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57950"/>
            <a:ext cx="9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10087-102F-4891-8CB9-8D582BD4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课题组讨论 · 数据归档试点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85A4F1-4434-4E5B-8723-9FD4768C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B4A45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4B4A45"/>
                </a:solidFill>
                <a:latin typeface="Noto Serif SC"/>
                <a:ea typeface="Noto Serif SC"/>
                <a:cs typeface="Noto Serif SC"/>
              </a:rPr>
              <a:t>先处理什么，决定试点能否留下可信上下文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C62B43-C974-4B81-8C55-A70A8A58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两种推进思路都是范围选择，各自保留一部分价值，也带来一部分代价。</a:t>
            </a:r>
          </a:p>
        </p:txBody>
      </p:sp>
      <p:sp>
        <p:nvSpPr>
          <p:cNvPr id="10" name="PPAGENT_QA|parent=choice-history|domains=choice-side">
            <a:extLst xmlns:a="http://schemas.openxmlformats.org/drawingml/2006/main">
              <a:ext uri="{FF2B5EF4-FFF2-40B4-BE49-F238E27FC236}">
                <a16:creationId xmlns:a16="http://schemas.microsoft.com/office/drawing/2014/main" id="{6ADCAF59-5163-417B-9525-BB93D4EF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36385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1" name="PPAGENT_QA|parent=choice-new|domains=choice-side">
            <a:extLst xmlns:a="http://schemas.openxmlformats.org/drawingml/2006/main">
              <a:ext uri="{FF2B5EF4-FFF2-40B4-BE49-F238E27FC236}">
                <a16:creationId xmlns:a16="http://schemas.microsoft.com/office/drawing/2014/main" id="{D8490BE8-92BD-4A89-AC72-E21DA487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67000"/>
            <a:ext cx="36385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40A6DA-2EBC-48A3-B08E-1F4AA21D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813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集中补历史档案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0E4538-9125-4EB9-99DE-06E1F3F7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76625"/>
            <a:ext cx="2914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一次形成较大的目录</a:t>
            </a:r>
          </a:p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但可能耗费大量时间追查遗失上下文，</a:t>
            </a:r>
          </a:p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把不确定记忆写成确定说明。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C9AFF3-6E52-44E0-8C71-A8E8067E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813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先记录新增实验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7E42CA-53BF-4CBE-89E3-A7B4FB7B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76625"/>
            <a:ext cx="2914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上下文尚清楚时记录，</a:t>
            </a:r>
          </a:p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但短期内无法解决全部历史材料的追溯问题。</a:t>
            </a:r>
          </a:p>
        </p:txBody>
      </p:sp>
      <p:sp>
        <p:nvSpPr>
          <p:cNvPr id="16" name="choice-axis">
            <a:extLst xmlns:a="http://schemas.openxmlformats.org/drawingml/2006/main">
              <a:ext uri="{FF2B5EF4-FFF2-40B4-BE49-F238E27FC236}">
                <a16:creationId xmlns:a16="http://schemas.microsoft.com/office/drawing/2014/main" id="{5AA9CE1D-9CB0-4762-9245-4A13D0F8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52950" y="3714750"/>
            <a:ext cx="308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5D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FDB2F6-E0B6-4811-B07C-8548C7D4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3623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范围选择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1DAA82-DEC5-4CF0-BBE8-483BCF83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8637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对新增实验试行，对真正需要复核的历史结果逐项补充。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25F9BB-76E4-46A3-B2DE-4E8827B8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这是一种范围选择，不能表述为已经证明新方式更高效。</a:t>
            </a:r>
          </a:p>
        </p:txBody>
      </p:sp>
    </p:spTree>
    <p:extLst>
      <p:ext uri="{BB962C8B-B14F-4D97-AF65-F5344CB8AC3E}">
        <p14:creationId xmlns:p14="http://schemas.microsoft.com/office/powerpoint/2010/main" val="17132442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chapter-6-0">
            <a:extLst xmlns:a="http://schemas.openxmlformats.org/drawingml/2006/main">
              <a:ext uri="{FF2B5EF4-FFF2-40B4-BE49-F238E27FC236}">
                <a16:creationId xmlns:a16="http://schemas.microsoft.com/office/drawing/2014/main" id="{7FBD5436-0C5B-4771-9C18-434F4E45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04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</a:t>
            </a:r>
          </a:p>
        </p:txBody>
      </p:sp>
      <p:sp>
        <p:nvSpPr>
          <p:cNvPr id="2" name="chapter-6-1">
            <a:extLst xmlns:a="http://schemas.openxmlformats.org/drawingml/2006/main">
              <a:ext uri="{FF2B5EF4-FFF2-40B4-BE49-F238E27FC236}">
                <a16:creationId xmlns:a16="http://schemas.microsoft.com/office/drawing/2014/main" id="{2C23AE20-5E65-4AC4-A65A-1EE837B1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2900"/>
            <a:ext cx="104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27A6C-E686-4220-9200-1DB16361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记录进入讨论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E227F-C337-47E7-96D4-C012B7B2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62375" y="495300"/>
            <a:ext cx="789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5" name="page-6-0">
            <a:extLst xmlns:a="http://schemas.openxmlformats.org/drawingml/2006/main">
              <a:ext uri="{FF2B5EF4-FFF2-40B4-BE49-F238E27FC236}">
                <a16:creationId xmlns:a16="http://schemas.microsoft.com/office/drawing/2014/main" id="{4CBFEFB6-82A6-4C3A-951C-9DE62EAA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57950"/>
            <a:ext cx="9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rPr>
              <a:t>0</a:t>
            </a:r>
          </a:p>
        </p:txBody>
      </p:sp>
      <p:sp>
        <p:nvSpPr>
          <p:cNvPr id="6" name="page-6-1">
            <a:extLst xmlns:a="http://schemas.openxmlformats.org/drawingml/2006/main">
              <a:ext uri="{FF2B5EF4-FFF2-40B4-BE49-F238E27FC236}">
                <a16:creationId xmlns:a16="http://schemas.microsoft.com/office/drawing/2014/main" id="{B78214BD-0F19-4AAD-AEF5-DDD689B6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57950"/>
            <a:ext cx="9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0D226-FF29-44B1-9CCF-82FE04B9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课题组讨论 · 数据归档试点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F3E42-2443-4843-9AB2-8CFA0116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B4A45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4B4A45"/>
                </a:solidFill>
                <a:latin typeface="Noto Serif SC"/>
                <a:ea typeface="Noto Serif SC"/>
                <a:cs typeface="Noto Serif SC"/>
              </a:rPr>
              <a:t>记录版本沿着复核与补充逐步成形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CD07F-09EB-40F7-98F9-67F15142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复核先检查别人能否理解结果如何产生，不要求复做整项实验，也不代替科学结论审查。</a:t>
            </a:r>
          </a:p>
        </p:txBody>
      </p:sp>
      <p:sp>
        <p:nvSpPr>
          <p:cNvPr id="10" name="PPAGENT_QA|parent=wf-submit|domains=workflow-stage">
            <a:extLst xmlns:a="http://schemas.openxmlformats.org/drawingml/2006/main">
              <a:ext uri="{FF2B5EF4-FFF2-40B4-BE49-F238E27FC236}">
                <a16:creationId xmlns:a16="http://schemas.microsoft.com/office/drawing/2014/main" id="{A1E382DF-9552-4F42-952E-AB6E2273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2095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1" name="PPAGENT_QA|within=wf-submit|role=index">
            <a:extLst xmlns:a="http://schemas.openxmlformats.org/drawingml/2006/main">
              <a:ext uri="{FF2B5EF4-FFF2-40B4-BE49-F238E27FC236}">
                <a16:creationId xmlns:a16="http://schemas.microsoft.com/office/drawing/2014/main" id="{6DDB56A9-1396-48E9-BFBD-9D17A23C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2" name="PPAGENT_QA|within=wf-submit|role=title">
            <a:extLst xmlns:a="http://schemas.openxmlformats.org/drawingml/2006/main">
              <a:ext uri="{FF2B5EF4-FFF2-40B4-BE49-F238E27FC236}">
                <a16:creationId xmlns:a16="http://schemas.microsoft.com/office/drawing/2014/main" id="{B0BE34DC-7A8B-4D8F-900E-C87DF757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2422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提交记录</a:t>
            </a:r>
          </a:p>
        </p:txBody>
      </p:sp>
      <p:sp>
        <p:nvSpPr>
          <p:cNvPr id="13" name="PPAGENT_QA|within=wf-submit|role=body">
            <a:extLst xmlns:a="http://schemas.openxmlformats.org/drawingml/2006/main">
              <a:ext uri="{FF2B5EF4-FFF2-40B4-BE49-F238E27FC236}">
                <a16:creationId xmlns:a16="http://schemas.microsoft.com/office/drawing/2014/main" id="{615F60AD-105F-4E0E-8065-E4583E2D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05225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执行者提交结果记录</a:t>
            </a:r>
          </a:p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及受控引用</a:t>
            </a:r>
          </a:p>
        </p:txBody>
      </p:sp>
      <p:sp>
        <p:nvSpPr>
          <p:cNvPr id="14" name="PPAGENT_QA|parent=wf-review|domains=workflow-stage">
            <a:extLst xmlns:a="http://schemas.openxmlformats.org/drawingml/2006/main">
              <a:ext uri="{FF2B5EF4-FFF2-40B4-BE49-F238E27FC236}">
                <a16:creationId xmlns:a16="http://schemas.microsoft.com/office/drawing/2014/main" id="{A71B24FC-E9AF-4653-81BB-D07C18E8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57500"/>
            <a:ext cx="2095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PPAGENT_QA|within=wf-review|role=index">
            <a:extLst xmlns:a="http://schemas.openxmlformats.org/drawingml/2006/main">
              <a:ext uri="{FF2B5EF4-FFF2-40B4-BE49-F238E27FC236}">
                <a16:creationId xmlns:a16="http://schemas.microsoft.com/office/drawing/2014/main" id="{F81EE8C1-8EBA-49D0-BE5C-2D593A04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289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6" name="PPAGENT_QA|within=wf-review|role=title">
            <a:extLst xmlns:a="http://schemas.openxmlformats.org/drawingml/2006/main">
              <a:ext uri="{FF2B5EF4-FFF2-40B4-BE49-F238E27FC236}">
                <a16:creationId xmlns:a16="http://schemas.microsoft.com/office/drawing/2014/main" id="{96C7AC90-6E31-4292-BE5E-702073E1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2422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尝试定位</a:t>
            </a:r>
          </a:p>
        </p:txBody>
      </p:sp>
      <p:sp>
        <p:nvSpPr>
          <p:cNvPr id="17" name="PPAGENT_QA|within=wf-review|role=body">
            <a:extLst xmlns:a="http://schemas.openxmlformats.org/drawingml/2006/main">
              <a:ext uri="{FF2B5EF4-FFF2-40B4-BE49-F238E27FC236}">
                <a16:creationId xmlns:a16="http://schemas.microsoft.com/office/drawing/2014/main" id="{93FFD3AF-70D3-479E-9734-1A9DDF0F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05225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另一位成员定位数据、</a:t>
            </a:r>
          </a:p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脚本与条件，提出缺项</a:t>
            </a:r>
          </a:p>
        </p:txBody>
      </p:sp>
      <p:sp>
        <p:nvSpPr>
          <p:cNvPr id="18" name="PPAGENT_QA|parent=wf-supplement|domains=workflow-stage">
            <a:extLst xmlns:a="http://schemas.openxmlformats.org/drawingml/2006/main">
              <a:ext uri="{FF2B5EF4-FFF2-40B4-BE49-F238E27FC236}">
                <a16:creationId xmlns:a16="http://schemas.microsoft.com/office/drawing/2014/main" id="{EE8DFFAE-BAE5-432A-9A6F-C37A7B90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57500"/>
            <a:ext cx="2095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PPAGENT_QA|within=wf-supplement|role=index">
            <a:extLst xmlns:a="http://schemas.openxmlformats.org/drawingml/2006/main">
              <a:ext uri="{FF2B5EF4-FFF2-40B4-BE49-F238E27FC236}">
                <a16:creationId xmlns:a16="http://schemas.microsoft.com/office/drawing/2014/main" id="{EF3CA822-1A41-4065-A8B7-CE96CF18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289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0" name="PPAGENT_QA|within=wf-supplement|role=title">
            <a:extLst xmlns:a="http://schemas.openxmlformats.org/drawingml/2006/main">
              <a:ext uri="{FF2B5EF4-FFF2-40B4-BE49-F238E27FC236}">
                <a16:creationId xmlns:a16="http://schemas.microsoft.com/office/drawing/2014/main" id="{60C10134-6251-41E1-8353-D71433DE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2422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补充缺项</a:t>
            </a:r>
          </a:p>
        </p:txBody>
      </p:sp>
      <p:sp>
        <p:nvSpPr>
          <p:cNvPr id="21" name="PPAGENT_QA|within=wf-supplement|role=body">
            <a:extLst xmlns:a="http://schemas.openxmlformats.org/drawingml/2006/main">
              <a:ext uri="{FF2B5EF4-FFF2-40B4-BE49-F238E27FC236}">
                <a16:creationId xmlns:a16="http://schemas.microsoft.com/office/drawing/2014/main" id="{EDA2BF0D-70A1-4D27-8B91-720410D2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05225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执行者补充上下文，</a:t>
            </a:r>
          </a:p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再交负责人确认</a:t>
            </a:r>
          </a:p>
        </p:txBody>
      </p:sp>
      <p:sp>
        <p:nvSpPr>
          <p:cNvPr id="22" name="PPAGENT_QA|parent=wf-ready|domains=workflow-stage">
            <a:extLst xmlns:a="http://schemas.openxmlformats.org/drawingml/2006/main">
              <a:ext uri="{FF2B5EF4-FFF2-40B4-BE49-F238E27FC236}">
                <a16:creationId xmlns:a16="http://schemas.microsoft.com/office/drawing/2014/main" id="{AA13FCE1-276B-46FC-AF8C-DFAAAB5E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57500"/>
            <a:ext cx="2095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3" name="PPAGENT_QA|within=wf-ready|role=index">
            <a:extLst xmlns:a="http://schemas.openxmlformats.org/drawingml/2006/main">
              <a:ext uri="{FF2B5EF4-FFF2-40B4-BE49-F238E27FC236}">
                <a16:creationId xmlns:a16="http://schemas.microsoft.com/office/drawing/2014/main" id="{81CF0335-D4D3-4142-8740-54C141B8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289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4" name="PPAGENT_QA|within=wf-ready|role=title">
            <a:extLst xmlns:a="http://schemas.openxmlformats.org/drawingml/2006/main">
              <a:ext uri="{FF2B5EF4-FFF2-40B4-BE49-F238E27FC236}">
                <a16:creationId xmlns:a16="http://schemas.microsoft.com/office/drawing/2014/main" id="{B78783C7-4418-48C9-9E5B-862F4950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2422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BFAF6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FBFAF6"/>
                </a:solidFill>
                <a:latin typeface="Noto Serif SC"/>
                <a:ea typeface="Noto Serif SC"/>
                <a:cs typeface="Noto Serif SC"/>
              </a:rPr>
              <a:t>可讨论版本</a:t>
            </a:r>
          </a:p>
        </p:txBody>
      </p:sp>
      <p:sp>
        <p:nvSpPr>
          <p:cNvPr id="25" name="PPAGENT_QA|within=wf-ready|role=body">
            <a:extLst xmlns:a="http://schemas.openxmlformats.org/drawingml/2006/main">
              <a:ext uri="{FF2B5EF4-FFF2-40B4-BE49-F238E27FC236}">
                <a16:creationId xmlns:a16="http://schemas.microsoft.com/office/drawing/2014/main" id="{32420C29-AC28-4205-9898-320E3BE7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05225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记录进入讨论，</a:t>
            </a:r>
          </a:p>
          <a:p xmlns:a="http://schemas.openxmlformats.org/drawingml/2006/main">
            <a:pPr algn="l">
              <a:defRPr sz="1275" b="0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依据关系清楚</a:t>
            </a:r>
          </a:p>
        </p:txBody>
      </p:sp>
      <p:sp>
        <p:nvSpPr>
          <p:cNvPr id="26" name="PPAGENT_CONNECTOR|from=wf-submit|fromSide=right|to=wf-review|toSide=left">
            <a:extLst xmlns:a="http://schemas.openxmlformats.org/drawingml/2006/main">
              <a:ext uri="{FF2B5EF4-FFF2-40B4-BE49-F238E27FC236}">
                <a16:creationId xmlns:a16="http://schemas.microsoft.com/office/drawing/2014/main" id="{DCC3D897-AD8F-437B-8F66-21A1D42A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00350" y="3552825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A35D4F"/>
            </a:solidFill>
            <a:prstDash val="solid"/>
          </a:ln>
        </p:spPr>
      </p:sp>
      <p:sp>
        <p:nvSpPr>
          <p:cNvPr id="27" name="workflow-arrow-endpoint">
            <a:extLst xmlns:a="http://schemas.openxmlformats.org/drawingml/2006/main">
              <a:ext uri="{FF2B5EF4-FFF2-40B4-BE49-F238E27FC236}">
                <a16:creationId xmlns:a16="http://schemas.microsoft.com/office/drawing/2014/main" id="{E59AC862-1DE3-42DE-BF37-A82E0800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14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28" name="PPAGENT_CONNECTOR|from=wf-review|fromSide=right|to=wf-supplement|toSide=left">
            <a:extLst xmlns:a="http://schemas.openxmlformats.org/drawingml/2006/main">
              <a:ext uri="{FF2B5EF4-FFF2-40B4-BE49-F238E27FC236}">
                <a16:creationId xmlns:a16="http://schemas.microsoft.com/office/drawing/2014/main" id="{273DEDF1-D36C-4A4B-9714-7F6FE45E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67350" y="3552825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A35D4F"/>
            </a:solidFill>
            <a:prstDash val="solid"/>
          </a:ln>
        </p:spPr>
      </p:sp>
      <p:sp>
        <p:nvSpPr>
          <p:cNvPr id="29" name="workflow-arrow-endpoint">
            <a:extLst xmlns:a="http://schemas.openxmlformats.org/drawingml/2006/main">
              <a:ext uri="{FF2B5EF4-FFF2-40B4-BE49-F238E27FC236}">
                <a16:creationId xmlns:a16="http://schemas.microsoft.com/office/drawing/2014/main" id="{F89148C0-8BDB-4ED0-BE2A-1F6EC0CB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14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30" name="PPAGENT_CONNECTOR|from=wf-supplement|fromSide=right|to=wf-ready|toSide=left">
            <a:extLst xmlns:a="http://schemas.openxmlformats.org/drawingml/2006/main">
              <a:ext uri="{FF2B5EF4-FFF2-40B4-BE49-F238E27FC236}">
                <a16:creationId xmlns:a16="http://schemas.microsoft.com/office/drawing/2014/main" id="{4784F1EB-CEFC-44FF-897E-09C8F673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34350" y="3552825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A35D4F"/>
            </a:solidFill>
            <a:prstDash val="solid"/>
          </a:ln>
        </p:spPr>
      </p:sp>
      <p:sp>
        <p:nvSpPr>
          <p:cNvPr id="31" name="workflow-arrow-endpoint">
            <a:extLst xmlns:a="http://schemas.openxmlformats.org/drawingml/2006/main">
              <a:ext uri="{FF2B5EF4-FFF2-40B4-BE49-F238E27FC236}">
                <a16:creationId xmlns:a16="http://schemas.microsoft.com/office/drawing/2014/main" id="{D2971E94-3B27-4A17-880A-DE14E938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14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32" name="gate-2">
            <a:extLst xmlns:a="http://schemas.openxmlformats.org/drawingml/2006/main">
              <a:ext uri="{FF2B5EF4-FFF2-40B4-BE49-F238E27FC236}">
                <a16:creationId xmlns:a16="http://schemas.microsoft.com/office/drawing/2014/main" id="{CE940C81-8EE5-4710-903F-7E6DE434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72150" y="342900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5D4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FFE2D6-229C-40E6-86F7-E05D971C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3372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缺项</a:t>
            </a:r>
          </a:p>
        </p:txBody>
      </p:sp>
      <p:sp>
        <p:nvSpPr>
          <p:cNvPr id="34" name="gate-3">
            <a:extLst xmlns:a="http://schemas.openxmlformats.org/drawingml/2006/main">
              <a:ext uri="{FF2B5EF4-FFF2-40B4-BE49-F238E27FC236}">
                <a16:creationId xmlns:a16="http://schemas.microsoft.com/office/drawing/2014/main" id="{BFA13587-BFCE-47FD-8DBC-BCEF6FD5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39150" y="342900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5D4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2E02C7-730C-4F58-9B96-DE53CD87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337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负责人确认</a:t>
            </a:r>
          </a:p>
        </p:txBody>
      </p:sp>
      <p:sp>
        <p:nvSpPr>
          <p:cNvPr id="36" name="workflow-authorization-branch">
            <a:extLst xmlns:a="http://schemas.openxmlformats.org/drawingml/2006/main">
              <a:ext uri="{FF2B5EF4-FFF2-40B4-BE49-F238E27FC236}">
                <a16:creationId xmlns:a16="http://schemas.microsoft.com/office/drawing/2014/main" id="{CE7F82C1-9C29-4978-AFB7-06D4099D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86600" y="4248150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EDF577-F48D-4659-99A7-52A0DC97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涉及新的访问授权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C4B0EA-813C-46DD-B626-6B856738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76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暂停共享，由负责人处理授权后再继续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AA9FA5-B7F4-4C0B-8395-3E3299DF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00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推进条件是记录可理解且授权边界清楚。</a:t>
            </a:r>
          </a:p>
        </p:txBody>
      </p:sp>
    </p:spTree>
    <p:extLst>
      <p:ext uri="{BB962C8B-B14F-4D97-AF65-F5344CB8AC3E}">
        <p14:creationId xmlns:p14="http://schemas.microsoft.com/office/powerpoint/2010/main" val="8172992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chapter-7-0">
            <a:extLst xmlns:a="http://schemas.openxmlformats.org/drawingml/2006/main">
              <a:ext uri="{FF2B5EF4-FFF2-40B4-BE49-F238E27FC236}">
                <a16:creationId xmlns:a16="http://schemas.microsoft.com/office/drawing/2014/main" id="{AE25D32F-FB09-450A-BFF1-BF1B6C1C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04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</a:t>
            </a:r>
          </a:p>
        </p:txBody>
      </p:sp>
      <p:sp>
        <p:nvSpPr>
          <p:cNvPr id="2" name="chapter-7-1">
            <a:extLst xmlns:a="http://schemas.openxmlformats.org/drawingml/2006/main">
              <a:ext uri="{FF2B5EF4-FFF2-40B4-BE49-F238E27FC236}">
                <a16:creationId xmlns:a16="http://schemas.microsoft.com/office/drawing/2014/main" id="{5923F766-22D5-4759-857D-7067AAF1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2900"/>
            <a:ext cx="104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DBBF0-1C5A-4843-8675-51BD173F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四周试点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12838-9046-43B7-B1B4-2FC34F01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62375" y="495300"/>
            <a:ext cx="789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5" name="page-7-0">
            <a:extLst xmlns:a="http://schemas.openxmlformats.org/drawingml/2006/main">
              <a:ext uri="{FF2B5EF4-FFF2-40B4-BE49-F238E27FC236}">
                <a16:creationId xmlns:a16="http://schemas.microsoft.com/office/drawing/2014/main" id="{AD428BE4-9489-4AB9-8061-60BDC7C5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57950"/>
            <a:ext cx="9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rPr>
              <a:t>0</a:t>
            </a:r>
          </a:p>
        </p:txBody>
      </p:sp>
      <p:sp>
        <p:nvSpPr>
          <p:cNvPr id="6" name="page-7-1">
            <a:extLst xmlns:a="http://schemas.openxmlformats.org/drawingml/2006/main">
              <a:ext uri="{FF2B5EF4-FFF2-40B4-BE49-F238E27FC236}">
                <a16:creationId xmlns:a16="http://schemas.microsoft.com/office/drawing/2014/main" id="{3CC09DEC-0BB0-4ACF-B1A6-95DA3A66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57950"/>
            <a:ext cx="9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F955F1-5BEC-4E13-A334-2C567489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课题组讨论 · 数据归档试点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6B19C-50AE-43E4-B7DC-167BE7BA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B4A45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4B4A45"/>
                </a:solidFill>
                <a:latin typeface="Noto Serif SC"/>
                <a:ea typeface="Noto Serif SC"/>
                <a:cs typeface="Noto Serif SC"/>
              </a:rPr>
              <a:t>先用一个课题方向，观察记录是否能被持续承担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27FC7-4A32-4364-BAC6-A26B63A6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拟定范围：一个课题方向、两名自愿成员、只记录新增实验。四周安排没有实测效率提升或完成率数字。</a:t>
            </a:r>
          </a:p>
        </p:txBody>
      </p:sp>
      <p:sp>
        <p:nvSpPr>
          <p:cNvPr id="10" name="pilot-timeline">
            <a:extLst xmlns:a="http://schemas.openxmlformats.org/drawingml/2006/main">
              <a:ext uri="{FF2B5EF4-FFF2-40B4-BE49-F238E27FC236}">
                <a16:creationId xmlns:a16="http://schemas.microsoft.com/office/drawing/2014/main" id="{1B449622-246A-4252-B02A-66038832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" y="3257550"/>
            <a:ext cx="586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8D5CC"/>
            </a:solidFill>
            <a:prstDash val="solid"/>
          </a:ln>
        </p:spPr>
      </p:sp>
      <p:sp>
        <p:nvSpPr>
          <p:cNvPr id="11" name="PPAGENT_QA|parent=pilot-week-0|domains=pilot-week">
            <a:extLst xmlns:a="http://schemas.openxmlformats.org/drawingml/2006/main">
              <a:ext uri="{FF2B5EF4-FFF2-40B4-BE49-F238E27FC236}">
                <a16:creationId xmlns:a16="http://schemas.microsoft.com/office/drawing/2014/main" id="{0C1507FA-5873-469E-A80E-B0E3F323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3335">
            <a:solidFill>
              <a:srgbClr val="A35D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4E6EF5-A036-43D6-AE6A-F49B69F6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152775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第1周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7CC958-4864-4854-8F20-99A68D56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70522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共同定字段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55E383-BE02-4D0C-BD50-7D533EEA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91000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明确最少字段，用一个结果试填</a:t>
            </a:r>
          </a:p>
        </p:txBody>
      </p:sp>
      <p:sp>
        <p:nvSpPr>
          <p:cNvPr id="15" name="PPAGENT_QA|parent=pilot-week-1|domains=pilot-week">
            <a:extLst xmlns:a="http://schemas.openxmlformats.org/drawingml/2006/main">
              <a:ext uri="{FF2B5EF4-FFF2-40B4-BE49-F238E27FC236}">
                <a16:creationId xmlns:a16="http://schemas.microsoft.com/office/drawing/2014/main" id="{4513DCDD-1215-4E7E-B95D-7A601933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3335">
            <a:solidFill>
              <a:srgbClr val="A35D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87E475-2142-4BDE-B969-DC008C08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52775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第2–3周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E3A0D3-BC5A-4DFA-AA48-B592F8CC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0522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实际记录与观察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6F7949-6717-4747-BF41-5EF04C21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91000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记录缺项与填写负担，收集复核过程</a:t>
            </a:r>
          </a:p>
        </p:txBody>
      </p:sp>
      <p:sp>
        <p:nvSpPr>
          <p:cNvPr id="19" name="PPAGENT_QA|parent=pilot-week-2|domains=pilot-week">
            <a:extLst xmlns:a="http://schemas.openxmlformats.org/drawingml/2006/main">
              <a:ext uri="{FF2B5EF4-FFF2-40B4-BE49-F238E27FC236}">
                <a16:creationId xmlns:a16="http://schemas.microsoft.com/office/drawing/2014/main" id="{464448A6-1A51-4FA5-8809-BEE60976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13335">
            <a:solidFill>
              <a:srgbClr val="A35D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032639-61B6-437D-985B-97ADE3D1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152775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第4周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DE21E3-9816-437D-B78F-8BAD067E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0522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讨论去留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C12E85-A5A0-4E0D-AEA5-DFB85AEC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191000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保留、修改或停止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10BA9E-7350-4EAC-A74A-5EB233D2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29500" y="2305050"/>
            <a:ext cx="0" cy="3448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F4FAA9-0993-462A-8951-8DF7F667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62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试点评估回答三个问题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2D74E5-87E3-4EDE-97C4-4A9F4E9A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289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FF6F9D-EE60-49FF-B1EA-5EA76E4E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289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能否沿记录定位结果来源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BA44FA-6B8C-4553-B35C-3445D36C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62900" y="3552825"/>
            <a:ext cx="325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7B6348-240C-4C8E-A4CC-D7AEC059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290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85C8D6-233D-4A42-945A-04D0D334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290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关键处理与排除是否有可理解依据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B16712-3734-487E-8CED-BDCF8320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62900" y="4352925"/>
            <a:ext cx="325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FF3D7B-1B8A-4EDB-A0DE-D5CD9315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291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1A7F3C-4AC4-4EC6-B6F4-FBBD8294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291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记录负担是否在愿意持续承担的范围内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AC55D7-F758-4154-84B4-1835C336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5435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收集具体复核过程和当事人反馈，不先给一个统一“合格分数”。</a:t>
            </a:r>
          </a:p>
        </p:txBody>
      </p:sp>
    </p:spTree>
    <p:extLst>
      <p:ext uri="{BB962C8B-B14F-4D97-AF65-F5344CB8AC3E}">
        <p14:creationId xmlns:p14="http://schemas.microsoft.com/office/powerpoint/2010/main" val="17395221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hapter-8-0">
            <a:extLst xmlns:a="http://schemas.openxmlformats.org/drawingml/2006/main">
              <a:ext uri="{FF2B5EF4-FFF2-40B4-BE49-F238E27FC236}">
                <a16:creationId xmlns:a16="http://schemas.microsoft.com/office/drawing/2014/main" id="{1F0ED76B-D356-48B0-AB3C-F89BCC21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04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</a:t>
            </a:r>
          </a:p>
        </p:txBody>
      </p:sp>
      <p:sp>
        <p:nvSpPr>
          <p:cNvPr id="2" name="chapter-8-1">
            <a:extLst xmlns:a="http://schemas.openxmlformats.org/drawingml/2006/main">
              <a:ext uri="{FF2B5EF4-FFF2-40B4-BE49-F238E27FC236}">
                <a16:creationId xmlns:a16="http://schemas.microsoft.com/office/drawing/2014/main" id="{C02E9A4D-D8BA-4D0A-B555-E83FA36B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2900"/>
            <a:ext cx="104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08AA97-A02A-4112-8024-ED298426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开始与止损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0FDB3-6B6B-4625-9EEA-1F50B7C5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62375" y="495300"/>
            <a:ext cx="789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5" name="page-8-0">
            <a:extLst xmlns:a="http://schemas.openxmlformats.org/drawingml/2006/main">
              <a:ext uri="{FF2B5EF4-FFF2-40B4-BE49-F238E27FC236}">
                <a16:creationId xmlns:a16="http://schemas.microsoft.com/office/drawing/2014/main" id="{91E3ECFD-9320-4EAE-B177-37647999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57950"/>
            <a:ext cx="9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rPr>
              <a:t>0</a:t>
            </a:r>
          </a:p>
        </p:txBody>
      </p:sp>
      <p:sp>
        <p:nvSpPr>
          <p:cNvPr id="6" name="page-8-1">
            <a:extLst xmlns:a="http://schemas.openxmlformats.org/drawingml/2006/main">
              <a:ext uri="{FF2B5EF4-FFF2-40B4-BE49-F238E27FC236}">
                <a16:creationId xmlns:a16="http://schemas.microsoft.com/office/drawing/2014/main" id="{67FEAE10-ED04-4A17-A374-292ED22A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57950"/>
            <a:ext cx="9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3DCE5-226B-425A-AB04-8166F04F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课题组讨论 · 数据归档试点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5DF994-5C2B-4AE4-947D-1773D6AF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B4A45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4B4A45"/>
                </a:solidFill>
                <a:latin typeface="Noto Serif SC"/>
                <a:ea typeface="Noto Serif SC"/>
                <a:cs typeface="Noto Serif SC"/>
              </a:rPr>
              <a:t>试点需要清楚的责任，也需要允许停止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759AD-942F-4AD5-866A-9602B45F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试点目标是理解结果的产生过程，范围、授权和负担都应在过程中保持可解释。</a:t>
            </a:r>
          </a:p>
        </p:txBody>
      </p:sp>
      <p:sp>
        <p:nvSpPr>
          <p:cNvPr id="10" name="PPAGENT_QA|parent=guard-start|domains=guardrail-panel">
            <a:extLst xmlns:a="http://schemas.openxmlformats.org/drawingml/2006/main">
              <a:ext uri="{FF2B5EF4-FFF2-40B4-BE49-F238E27FC236}">
                <a16:creationId xmlns:a16="http://schemas.microsoft.com/office/drawing/2014/main" id="{250F34D2-80B7-4204-8F7E-2F4676AB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48006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1" name="PPAGENT_QA|within=guard-start|role=title">
            <a:extLst xmlns:a="http://schemas.openxmlformats.org/drawingml/2006/main">
              <a:ext uri="{FF2B5EF4-FFF2-40B4-BE49-F238E27FC236}">
                <a16:creationId xmlns:a16="http://schemas.microsoft.com/office/drawing/2014/main" id="{DD76666A-3490-4A2D-9232-5EDDE860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开始前确认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44F4D-8B4D-4068-B0D1-C2925E35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3314700"/>
            <a:ext cx="421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0201D"/>
            </a:solidFill>
            <a:prstDash val="solid"/>
          </a:ln>
        </p:spPr>
      </p:sp>
      <p:sp>
        <p:nvSpPr>
          <p:cNvPr id="13" name="PPAGENT_QA|within=guard-start|role=body">
            <a:extLst xmlns:a="http://schemas.openxmlformats.org/drawingml/2006/main">
              <a:ext uri="{FF2B5EF4-FFF2-40B4-BE49-F238E27FC236}">
                <a16:creationId xmlns:a16="http://schemas.microsoft.com/office/drawing/2014/main" id="{647BD159-E4DE-488D-B9BF-61B94251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114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负责人确认试点范围</a:t>
            </a:r>
          </a:p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负责人确认授权联系人</a:t>
            </a:r>
          </a:p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参与成员认可最少字段</a:t>
            </a:r>
          </a:p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确定谁负责复核</a:t>
            </a:r>
          </a:p>
        </p:txBody>
      </p:sp>
      <p:sp>
        <p:nvSpPr>
          <p:cNvPr id="14" name="PPAGENT_QA|parent=guard-stop|domains=guardrail-panel">
            <a:extLst xmlns:a="http://schemas.openxmlformats.org/drawingml/2006/main">
              <a:ext uri="{FF2B5EF4-FFF2-40B4-BE49-F238E27FC236}">
                <a16:creationId xmlns:a16="http://schemas.microsoft.com/office/drawing/2014/main" id="{18285340-42B1-408F-B80E-BDA756EC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14600"/>
            <a:ext cx="48006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5" name="PPAGENT_QA|within=guard-stop|role=title">
            <a:extLst xmlns:a="http://schemas.openxmlformats.org/drawingml/2006/main">
              <a:ext uri="{FF2B5EF4-FFF2-40B4-BE49-F238E27FC236}">
                <a16:creationId xmlns:a16="http://schemas.microsoft.com/office/drawing/2014/main" id="{A5D7C977-A83C-41A6-96D3-01F0F420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384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停止或修改信号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1F22F5-EB43-43AA-96F4-E5EF8A05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91300" y="3314700"/>
            <a:ext cx="421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17" name="PPAGENT_QA|within=guard-stop|role=body">
            <a:extLst xmlns:a="http://schemas.openxmlformats.org/drawingml/2006/main">
              <a:ext uri="{FF2B5EF4-FFF2-40B4-BE49-F238E27FC236}">
                <a16:creationId xmlns:a16="http://schemas.microsoft.com/office/drawing/2014/main" id="{E9FF5D83-B6C2-4641-9339-969E0E84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19500"/>
            <a:ext cx="4114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填写工作持续挤占必要实验时间</a:t>
            </a:r>
          </a:p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权限边界无法说明</a:t>
            </a:r>
          </a:p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记录只增加重复抄写，没有帮助解释结果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DB5FE7-3B77-4491-AE2F-180696C0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届时先缩小要求或停止试点，不能为了完成试点目标强行推广。</a:t>
            </a:r>
          </a:p>
        </p:txBody>
      </p:sp>
    </p:spTree>
    <p:extLst>
      <p:ext uri="{BB962C8B-B14F-4D97-AF65-F5344CB8AC3E}">
        <p14:creationId xmlns:p14="http://schemas.microsoft.com/office/powerpoint/2010/main" val="7392703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chapter-9-0">
            <a:extLst xmlns:a="http://schemas.openxmlformats.org/drawingml/2006/main">
              <a:ext uri="{FF2B5EF4-FFF2-40B4-BE49-F238E27FC236}">
                <a16:creationId xmlns:a16="http://schemas.microsoft.com/office/drawing/2014/main" id="{4640F203-AE35-407D-868E-EEBF2BC7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04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</a:t>
            </a:r>
          </a:p>
        </p:txBody>
      </p:sp>
      <p:sp>
        <p:nvSpPr>
          <p:cNvPr id="2" name="chapter-9-1">
            <a:extLst xmlns:a="http://schemas.openxmlformats.org/drawingml/2006/main">
              <a:ext uri="{FF2B5EF4-FFF2-40B4-BE49-F238E27FC236}">
                <a16:creationId xmlns:a16="http://schemas.microsoft.com/office/drawing/2014/main" id="{0662080C-3F39-43FA-BF70-7CDDF9A3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2900"/>
            <a:ext cx="104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F97DB-F587-4037-8B95-BC5FA287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讨论要确认什么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97798-D7B2-4895-A0E8-78FA1096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62375" y="495300"/>
            <a:ext cx="789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5" name="page-9-0">
            <a:extLst xmlns:a="http://schemas.openxmlformats.org/drawingml/2006/main">
              <a:ext uri="{FF2B5EF4-FFF2-40B4-BE49-F238E27FC236}">
                <a16:creationId xmlns:a16="http://schemas.microsoft.com/office/drawing/2014/main" id="{B374A419-EB64-4E2A-9A5F-679D5732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57950"/>
            <a:ext cx="9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rPr>
              <a:t>0</a:t>
            </a:r>
          </a:p>
        </p:txBody>
      </p:sp>
      <p:sp>
        <p:nvSpPr>
          <p:cNvPr id="6" name="page-9-1">
            <a:extLst xmlns:a="http://schemas.openxmlformats.org/drawingml/2006/main">
              <a:ext uri="{FF2B5EF4-FFF2-40B4-BE49-F238E27FC236}">
                <a16:creationId xmlns:a16="http://schemas.microsoft.com/office/drawing/2014/main" id="{8D9D208F-7684-405D-9C7B-2DE2A612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57950"/>
            <a:ext cx="9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rPr>
              <a:t>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E8A66-EA26-4924-9F8A-18431BF5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8572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先让一次结果可以被理解，</a:t>
            </a:r>
          </a:p>
          <a:p xmlns:a="http://schemas.openxmlformats.org/drawingml/2006/main">
            <a:pPr algn="l">
              <a:defRPr sz="435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再决定哪些记录值得长期保存。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52769-FAC3-4A6D-9C6C-8D0BF396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28765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5D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7ED18-A0A7-49DD-8302-42092220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9BCD3-047A-4076-B3FC-4470AADD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052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一张图来自哪里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34442-2682-449B-93B8-AFB825C9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81400" y="325755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41B21-8442-4248-971C-1BCF4251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19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依据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F2C8AD-4806-4235-94AD-1C33305D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052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处理与排除为何成立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F49F5E-2791-4B93-AD08-EC9FE574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05650" y="325755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82E82B-19FB-46D5-AAE0-622253E4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9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责任边界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8C0A8C-A5A3-4128-8949-7F1B95E4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052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谁能看见，谁来确认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22B434-B2BD-4A1D-BD01-BB4285D6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归档工具只是承载方式，结果、依据和责任边界的联系才是这次试点要验证的内容。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F9898C-B0C1-43D2-8F1B-1CDE1E02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本次讨论确认的是一个有限尝试。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39B76E-A403-4A23-958A-5F821632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2103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PPagenT</a:t>
            </a:r>
          </a:p>
        </p:txBody>
      </p:sp>
    </p:spTree>
    <p:extLst>
      <p:ext uri="{BB962C8B-B14F-4D97-AF65-F5344CB8AC3E}">
        <p14:creationId xmlns:p14="http://schemas.microsoft.com/office/powerpoint/2010/main" val="12830039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2026-09-06T08:39:53.6330000Z</dcterms:created>
  <dcterms:modified xsi:type="dcterms:W3CDTF">2026-09-06T08:39:53.6330000Z</dcterms:modified>
</coreProperties>
</file>