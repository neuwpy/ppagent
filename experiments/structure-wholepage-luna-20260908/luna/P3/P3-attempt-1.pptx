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965ec9cefb945ef" /><Relationship Type="http://schemas.openxmlformats.org/officeDocument/2006/relationships/extended-properties" Target="/docProps/app.xml" Id="Rebb300b2adfc4a1e" /><Relationship Type="http://schemas.openxmlformats.org/officeDocument/2006/relationships/officeDocument" Target="/ppt/presentation.xml" Id="Rc7ccba5fcd1148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fdb3bc730e4700"/>
  </p:sldMasterIdLst>
  <p:notesMasterIdLst>
    <p:notesMasterId xmlns:r="http://schemas.openxmlformats.org/officeDocument/2006/relationships" r:id="R4697cc84cd99448a"/>
  </p:notesMasterIdLst>
  <p:sldIdLst>
    <p:sldId xmlns:r="http://schemas.openxmlformats.org/officeDocument/2006/relationships" id="256" r:id="Rf5c6c46ea67843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08b7f25df34f64" /><Relationship Type="http://schemas.openxmlformats.org/officeDocument/2006/relationships/slideMaster" Target="/ppt/slideMasters/slideMaster1.xml" Id="R42fdb3bc730e4700" /><Relationship Type="http://schemas.openxmlformats.org/officeDocument/2006/relationships/notesMaster" Target="/ppt/notesMasters/notesMaster1.xml" Id="R4697cc84cd99448a" /><Relationship Type="http://schemas.openxmlformats.org/officeDocument/2006/relationships/presProps" Target="/ppt/presProps.xml" Id="R0ea5b51637ab4af8" /><Relationship Type="http://schemas.openxmlformats.org/officeDocument/2006/relationships/tableStyles" Target="/ppt/tableStyles.xml" Id="R3e78c63a18fe49d9" /><Relationship Type="http://schemas.openxmlformats.org/officeDocument/2006/relationships/slide" Target="/ppt/slides/slide1.xml" Id="Rf5c6c46ea67843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8298bf6f7d4e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ec08326b884020" /><Relationship Type="http://schemas.openxmlformats.org/officeDocument/2006/relationships/notesMaster" Target="/ppt/notesMasters/notesMaster1.xml" Id="Rbd3c0d73d50344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c0eeb7d30b4c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dc867a95674155" /><Relationship Type="http://schemas.openxmlformats.org/officeDocument/2006/relationships/slideLayout" Target="/ppt/slideLayouts/slideLayout1.xml" Id="R402d51c4a61b4b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2d51c4a61b4b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f9a6883dc4fc6" /><Relationship Type="http://schemas.openxmlformats.org/officeDocument/2006/relationships/notesSlide" Target="/ppt/notesSlides/notesSlide1.xml" Id="Rf4a936d35d3942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ge-paper">
            <a:extLst xmlns:a="http://schemas.openxmlformats.org/drawingml/2006/main">
              <a:ext uri="{FF2B5EF4-FFF2-40B4-BE49-F238E27FC236}">
                <a16:creationId xmlns:a16="http://schemas.microsoft.com/office/drawing/2014/main" id="{4B3EA6CE-07D1-4CC2-826C-24E208BD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</a:ln>
        </p:spPr>
      </p:sp>
      <p:sp>
        <p:nvSpPr>
          <p:cNvPr id="2" name="chapter">
            <a:extLst xmlns:a="http://schemas.openxmlformats.org/drawingml/2006/main">
              <a:ext uri="{FF2B5EF4-FFF2-40B4-BE49-F238E27FC236}">
                <a16:creationId xmlns:a16="http://schemas.microsoft.com/office/drawing/2014/main" id="{5234B95F-BAED-4E6F-A667-794629EE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6725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E759DE04-FC89-4C27-AE4A-728576B37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设备维护能力：从可查记录走向周期责任</a:t>
            </a:r>
          </a:p>
        </p:txBody>
      </p:sp>
      <p:sp>
        <p:nvSpPr>
          <p:cNvPr id="4" name="heading-rule">
            <a:extLst xmlns:a="http://schemas.openxmlformats.org/drawingml/2006/main">
              <a:ext uri="{FF2B5EF4-FFF2-40B4-BE49-F238E27FC236}">
                <a16:creationId xmlns:a16="http://schemas.microsoft.com/office/drawing/2014/main" id="{40856F78-914E-4539-81A6-3A2F64E5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477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</a:ln>
        </p:spPr>
      </p:sp>
      <p:sp>
        <p:nvSpPr>
          <p:cNvPr id="5" name="plain-0-body">
            <a:extLst xmlns:a="http://schemas.openxmlformats.org/drawingml/2006/main">
              <a:ext uri="{FF2B5EF4-FFF2-40B4-BE49-F238E27FC236}">
                <a16:creationId xmlns:a16="http://schemas.microsoft.com/office/drawing/2014/main" id="{A53454E1-8273-407C-9D27-32A8A49D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673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下一步：从“可查记录”走向“按周期落实责任”。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1C915DA-56A4-4F63-93CE-54AB6479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7" name="maturity-level-support-1">
            <a:extLst xmlns:a="http://schemas.openxmlformats.org/drawingml/2006/main">
              <a:ext uri="{FF2B5EF4-FFF2-40B4-BE49-F238E27FC236}">
                <a16:creationId xmlns:a16="http://schemas.microsoft.com/office/drawing/2014/main" id="{4A694C7D-9E1E-47A6-B818-A812E18F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92813" y="3765233"/>
            <a:ext cx="1202817" cy="866861"/>
          </a:xfrm>
          <a:custGeom xmlns:a="http://schemas.openxmlformats.org/drawingml/2006/main">
            <a:pathLst>
              <a:path w="1202817" h="866861">
                <a:moveTo>
                  <a:pt x="71342" y="120015"/>
                </a:moveTo>
                <a:lnTo>
                  <a:pt x="90221" y="117996"/>
                </a:lnTo>
                <a:lnTo>
                  <a:pt x="109090" y="115976"/>
                </a:lnTo>
                <a:lnTo>
                  <a:pt x="127968" y="113957"/>
                </a:lnTo>
                <a:lnTo>
                  <a:pt x="146847" y="111938"/>
                </a:lnTo>
                <a:lnTo>
                  <a:pt x="165716" y="109928"/>
                </a:lnTo>
                <a:lnTo>
                  <a:pt x="184595" y="107909"/>
                </a:lnTo>
                <a:lnTo>
                  <a:pt x="203473" y="105889"/>
                </a:lnTo>
                <a:lnTo>
                  <a:pt x="222342" y="103870"/>
                </a:lnTo>
                <a:lnTo>
                  <a:pt x="241221" y="101851"/>
                </a:lnTo>
                <a:lnTo>
                  <a:pt x="260099" y="99832"/>
                </a:lnTo>
                <a:lnTo>
                  <a:pt x="278968" y="97812"/>
                </a:lnTo>
                <a:lnTo>
                  <a:pt x="297847" y="95802"/>
                </a:lnTo>
                <a:lnTo>
                  <a:pt x="316725" y="93783"/>
                </a:lnTo>
                <a:lnTo>
                  <a:pt x="335594" y="91764"/>
                </a:lnTo>
                <a:lnTo>
                  <a:pt x="354473" y="89745"/>
                </a:lnTo>
                <a:lnTo>
                  <a:pt x="373351" y="87725"/>
                </a:lnTo>
                <a:lnTo>
                  <a:pt x="392220" y="85706"/>
                </a:lnTo>
                <a:lnTo>
                  <a:pt x="411099" y="83696"/>
                </a:lnTo>
                <a:lnTo>
                  <a:pt x="429978" y="81677"/>
                </a:lnTo>
                <a:lnTo>
                  <a:pt x="448847" y="79658"/>
                </a:lnTo>
                <a:lnTo>
                  <a:pt x="467725" y="77638"/>
                </a:lnTo>
                <a:lnTo>
                  <a:pt x="486604" y="75619"/>
                </a:lnTo>
                <a:lnTo>
                  <a:pt x="505473" y="73600"/>
                </a:lnTo>
                <a:lnTo>
                  <a:pt x="524351" y="71590"/>
                </a:lnTo>
                <a:lnTo>
                  <a:pt x="543230" y="69571"/>
                </a:lnTo>
                <a:lnTo>
                  <a:pt x="562099" y="67551"/>
                </a:lnTo>
                <a:lnTo>
                  <a:pt x="580977" y="65532"/>
                </a:lnTo>
                <a:lnTo>
                  <a:pt x="599856" y="63513"/>
                </a:lnTo>
                <a:lnTo>
                  <a:pt x="618725" y="61493"/>
                </a:lnTo>
                <a:lnTo>
                  <a:pt x="637604" y="59474"/>
                </a:lnTo>
                <a:lnTo>
                  <a:pt x="656482" y="57464"/>
                </a:lnTo>
                <a:lnTo>
                  <a:pt x="675351" y="55445"/>
                </a:lnTo>
                <a:lnTo>
                  <a:pt x="694230" y="53426"/>
                </a:lnTo>
                <a:lnTo>
                  <a:pt x="713108" y="51406"/>
                </a:lnTo>
                <a:lnTo>
                  <a:pt x="731977" y="49387"/>
                </a:lnTo>
                <a:lnTo>
                  <a:pt x="750856" y="47368"/>
                </a:lnTo>
                <a:lnTo>
                  <a:pt x="769734" y="45358"/>
                </a:lnTo>
                <a:lnTo>
                  <a:pt x="788603" y="43339"/>
                </a:lnTo>
                <a:lnTo>
                  <a:pt x="807482" y="41319"/>
                </a:lnTo>
                <a:lnTo>
                  <a:pt x="826360" y="39300"/>
                </a:lnTo>
                <a:lnTo>
                  <a:pt x="845229" y="37281"/>
                </a:lnTo>
                <a:lnTo>
                  <a:pt x="864108" y="35262"/>
                </a:lnTo>
                <a:lnTo>
                  <a:pt x="882987" y="33242"/>
                </a:lnTo>
                <a:lnTo>
                  <a:pt x="901856" y="31232"/>
                </a:lnTo>
                <a:lnTo>
                  <a:pt x="920734" y="29213"/>
                </a:lnTo>
                <a:lnTo>
                  <a:pt x="939613" y="27194"/>
                </a:lnTo>
                <a:lnTo>
                  <a:pt x="958482" y="25175"/>
                </a:lnTo>
                <a:lnTo>
                  <a:pt x="977360" y="23155"/>
                </a:lnTo>
                <a:lnTo>
                  <a:pt x="996239" y="21136"/>
                </a:lnTo>
                <a:lnTo>
                  <a:pt x="1015108" y="19126"/>
                </a:lnTo>
                <a:lnTo>
                  <a:pt x="1033986" y="17107"/>
                </a:lnTo>
                <a:lnTo>
                  <a:pt x="1052865" y="15088"/>
                </a:lnTo>
                <a:lnTo>
                  <a:pt x="1071734" y="13068"/>
                </a:lnTo>
                <a:lnTo>
                  <a:pt x="1090613" y="11049"/>
                </a:lnTo>
                <a:lnTo>
                  <a:pt x="1109491" y="9030"/>
                </a:lnTo>
                <a:lnTo>
                  <a:pt x="1128360" y="7010"/>
                </a:lnTo>
                <a:lnTo>
                  <a:pt x="1147239" y="5001"/>
                </a:lnTo>
                <a:lnTo>
                  <a:pt x="1166117" y="2981"/>
                </a:lnTo>
                <a:lnTo>
                  <a:pt x="1184986" y="962"/>
                </a:lnTo>
                <a:lnTo>
                  <a:pt x="1202817" y="0"/>
                </a:lnTo>
                <a:lnTo>
                  <a:pt x="1200988" y="18898"/>
                </a:lnTo>
                <a:lnTo>
                  <a:pt x="1199159" y="37786"/>
                </a:lnTo>
                <a:lnTo>
                  <a:pt x="1197321" y="56683"/>
                </a:lnTo>
                <a:lnTo>
                  <a:pt x="1195492" y="75581"/>
                </a:lnTo>
                <a:lnTo>
                  <a:pt x="1193663" y="94469"/>
                </a:lnTo>
                <a:lnTo>
                  <a:pt x="1191825" y="113367"/>
                </a:lnTo>
                <a:lnTo>
                  <a:pt x="1189996" y="132264"/>
                </a:lnTo>
                <a:lnTo>
                  <a:pt x="1188168" y="151152"/>
                </a:lnTo>
                <a:lnTo>
                  <a:pt x="1186339" y="170050"/>
                </a:lnTo>
                <a:lnTo>
                  <a:pt x="1184500" y="188947"/>
                </a:lnTo>
                <a:lnTo>
                  <a:pt x="1182672" y="207836"/>
                </a:lnTo>
                <a:lnTo>
                  <a:pt x="1180843" y="226733"/>
                </a:lnTo>
                <a:lnTo>
                  <a:pt x="1179005" y="245631"/>
                </a:lnTo>
                <a:lnTo>
                  <a:pt x="1177176" y="264519"/>
                </a:lnTo>
                <a:lnTo>
                  <a:pt x="1175347" y="283416"/>
                </a:lnTo>
                <a:lnTo>
                  <a:pt x="1173518" y="302314"/>
                </a:lnTo>
                <a:lnTo>
                  <a:pt x="1171680" y="321202"/>
                </a:lnTo>
                <a:lnTo>
                  <a:pt x="1169851" y="340100"/>
                </a:lnTo>
                <a:lnTo>
                  <a:pt x="1168022" y="358997"/>
                </a:lnTo>
                <a:lnTo>
                  <a:pt x="1166184" y="377885"/>
                </a:lnTo>
                <a:lnTo>
                  <a:pt x="1164355" y="396783"/>
                </a:lnTo>
                <a:lnTo>
                  <a:pt x="1162526" y="415681"/>
                </a:lnTo>
                <a:lnTo>
                  <a:pt x="1160697" y="434569"/>
                </a:lnTo>
                <a:lnTo>
                  <a:pt x="1158859" y="453466"/>
                </a:lnTo>
                <a:lnTo>
                  <a:pt x="1157030" y="472364"/>
                </a:lnTo>
                <a:lnTo>
                  <a:pt x="1155202" y="491252"/>
                </a:lnTo>
                <a:lnTo>
                  <a:pt x="1153363" y="510149"/>
                </a:lnTo>
                <a:lnTo>
                  <a:pt x="1151534" y="529047"/>
                </a:lnTo>
                <a:lnTo>
                  <a:pt x="1149706" y="547935"/>
                </a:lnTo>
                <a:lnTo>
                  <a:pt x="1147867" y="566833"/>
                </a:lnTo>
                <a:lnTo>
                  <a:pt x="1146038" y="585730"/>
                </a:lnTo>
                <a:lnTo>
                  <a:pt x="1144210" y="604618"/>
                </a:lnTo>
                <a:lnTo>
                  <a:pt x="1142381" y="623516"/>
                </a:lnTo>
                <a:lnTo>
                  <a:pt x="1140543" y="642414"/>
                </a:lnTo>
                <a:lnTo>
                  <a:pt x="1138714" y="661302"/>
                </a:lnTo>
                <a:lnTo>
                  <a:pt x="1136885" y="680199"/>
                </a:lnTo>
                <a:lnTo>
                  <a:pt x="1135047" y="699087"/>
                </a:lnTo>
                <a:lnTo>
                  <a:pt x="1133218" y="717985"/>
                </a:lnTo>
                <a:lnTo>
                  <a:pt x="1131389" y="736883"/>
                </a:lnTo>
                <a:lnTo>
                  <a:pt x="1120559" y="746874"/>
                </a:lnTo>
                <a:lnTo>
                  <a:pt x="1101690" y="748913"/>
                </a:lnTo>
                <a:lnTo>
                  <a:pt x="1082812" y="750941"/>
                </a:lnTo>
                <a:lnTo>
                  <a:pt x="1063943" y="752980"/>
                </a:lnTo>
                <a:lnTo>
                  <a:pt x="1045064" y="755009"/>
                </a:lnTo>
                <a:lnTo>
                  <a:pt x="1026195" y="757047"/>
                </a:lnTo>
                <a:lnTo>
                  <a:pt x="1007316" y="759076"/>
                </a:lnTo>
                <a:lnTo>
                  <a:pt x="988447" y="761114"/>
                </a:lnTo>
                <a:lnTo>
                  <a:pt x="969578" y="763143"/>
                </a:lnTo>
                <a:lnTo>
                  <a:pt x="950700" y="765181"/>
                </a:lnTo>
                <a:lnTo>
                  <a:pt x="931831" y="767210"/>
                </a:lnTo>
                <a:lnTo>
                  <a:pt x="912952" y="769249"/>
                </a:lnTo>
                <a:lnTo>
                  <a:pt x="894083" y="771277"/>
                </a:lnTo>
                <a:lnTo>
                  <a:pt x="875205" y="773316"/>
                </a:lnTo>
                <a:lnTo>
                  <a:pt x="856336" y="775345"/>
                </a:lnTo>
                <a:lnTo>
                  <a:pt x="837457" y="777383"/>
                </a:lnTo>
                <a:lnTo>
                  <a:pt x="818588" y="779412"/>
                </a:lnTo>
                <a:lnTo>
                  <a:pt x="799709" y="781450"/>
                </a:lnTo>
                <a:lnTo>
                  <a:pt x="780840" y="783479"/>
                </a:lnTo>
                <a:lnTo>
                  <a:pt x="761962" y="785517"/>
                </a:lnTo>
                <a:lnTo>
                  <a:pt x="743093" y="787546"/>
                </a:lnTo>
                <a:lnTo>
                  <a:pt x="724214" y="789584"/>
                </a:lnTo>
                <a:lnTo>
                  <a:pt x="705345" y="791613"/>
                </a:lnTo>
                <a:lnTo>
                  <a:pt x="686467" y="793652"/>
                </a:lnTo>
                <a:lnTo>
                  <a:pt x="667598" y="795680"/>
                </a:lnTo>
                <a:lnTo>
                  <a:pt x="648719" y="797719"/>
                </a:lnTo>
                <a:lnTo>
                  <a:pt x="629850" y="799748"/>
                </a:lnTo>
                <a:lnTo>
                  <a:pt x="610972" y="801786"/>
                </a:lnTo>
                <a:lnTo>
                  <a:pt x="592103" y="803815"/>
                </a:lnTo>
                <a:lnTo>
                  <a:pt x="573224" y="805853"/>
                </a:lnTo>
                <a:lnTo>
                  <a:pt x="554355" y="807882"/>
                </a:lnTo>
                <a:lnTo>
                  <a:pt x="535476" y="809920"/>
                </a:lnTo>
                <a:lnTo>
                  <a:pt x="516607" y="811949"/>
                </a:lnTo>
                <a:lnTo>
                  <a:pt x="497729" y="813987"/>
                </a:lnTo>
                <a:lnTo>
                  <a:pt x="478860" y="816016"/>
                </a:lnTo>
                <a:lnTo>
                  <a:pt x="459981" y="818055"/>
                </a:lnTo>
                <a:lnTo>
                  <a:pt x="441112" y="820083"/>
                </a:lnTo>
                <a:lnTo>
                  <a:pt x="422234" y="822122"/>
                </a:lnTo>
                <a:lnTo>
                  <a:pt x="403365" y="824151"/>
                </a:lnTo>
                <a:lnTo>
                  <a:pt x="384486" y="826189"/>
                </a:lnTo>
                <a:lnTo>
                  <a:pt x="365617" y="828218"/>
                </a:lnTo>
                <a:lnTo>
                  <a:pt x="346739" y="830256"/>
                </a:lnTo>
                <a:lnTo>
                  <a:pt x="327870" y="832285"/>
                </a:lnTo>
                <a:lnTo>
                  <a:pt x="308991" y="834323"/>
                </a:lnTo>
                <a:lnTo>
                  <a:pt x="290122" y="836352"/>
                </a:lnTo>
                <a:lnTo>
                  <a:pt x="271243" y="838391"/>
                </a:lnTo>
                <a:lnTo>
                  <a:pt x="252374" y="840419"/>
                </a:lnTo>
                <a:lnTo>
                  <a:pt x="233496" y="842458"/>
                </a:lnTo>
                <a:lnTo>
                  <a:pt x="214627" y="844487"/>
                </a:lnTo>
                <a:lnTo>
                  <a:pt x="195748" y="846525"/>
                </a:lnTo>
                <a:lnTo>
                  <a:pt x="176879" y="848554"/>
                </a:lnTo>
                <a:lnTo>
                  <a:pt x="158001" y="850592"/>
                </a:lnTo>
                <a:lnTo>
                  <a:pt x="139132" y="852621"/>
                </a:lnTo>
                <a:lnTo>
                  <a:pt x="120253" y="854659"/>
                </a:lnTo>
                <a:lnTo>
                  <a:pt x="101384" y="856688"/>
                </a:lnTo>
                <a:lnTo>
                  <a:pt x="82506" y="858726"/>
                </a:lnTo>
                <a:lnTo>
                  <a:pt x="63637" y="860755"/>
                </a:lnTo>
                <a:lnTo>
                  <a:pt x="44758" y="862794"/>
                </a:lnTo>
                <a:lnTo>
                  <a:pt x="25889" y="864822"/>
                </a:lnTo>
                <a:lnTo>
                  <a:pt x="7010" y="866861"/>
                </a:lnTo>
                <a:lnTo>
                  <a:pt x="0" y="856898"/>
                </a:lnTo>
                <a:lnTo>
                  <a:pt x="1829" y="838010"/>
                </a:lnTo>
                <a:lnTo>
                  <a:pt x="3658" y="819112"/>
                </a:lnTo>
                <a:lnTo>
                  <a:pt x="5486" y="800214"/>
                </a:lnTo>
                <a:lnTo>
                  <a:pt x="7315" y="781326"/>
                </a:lnTo>
                <a:lnTo>
                  <a:pt x="9144" y="762429"/>
                </a:lnTo>
                <a:lnTo>
                  <a:pt x="10973" y="743531"/>
                </a:lnTo>
                <a:lnTo>
                  <a:pt x="12802" y="724643"/>
                </a:lnTo>
                <a:lnTo>
                  <a:pt x="14630" y="705745"/>
                </a:lnTo>
                <a:lnTo>
                  <a:pt x="16459" y="686848"/>
                </a:lnTo>
                <a:lnTo>
                  <a:pt x="18298" y="667960"/>
                </a:lnTo>
                <a:lnTo>
                  <a:pt x="20126" y="649062"/>
                </a:lnTo>
                <a:lnTo>
                  <a:pt x="21955" y="630164"/>
                </a:lnTo>
                <a:lnTo>
                  <a:pt x="23784" y="611276"/>
                </a:lnTo>
                <a:lnTo>
                  <a:pt x="25613" y="592379"/>
                </a:lnTo>
                <a:lnTo>
                  <a:pt x="27442" y="573481"/>
                </a:lnTo>
                <a:lnTo>
                  <a:pt x="29270" y="554593"/>
                </a:lnTo>
                <a:lnTo>
                  <a:pt x="31099" y="535696"/>
                </a:lnTo>
                <a:lnTo>
                  <a:pt x="32928" y="516798"/>
                </a:lnTo>
                <a:lnTo>
                  <a:pt x="34757" y="497900"/>
                </a:lnTo>
                <a:lnTo>
                  <a:pt x="36586" y="479012"/>
                </a:lnTo>
                <a:lnTo>
                  <a:pt x="38414" y="460115"/>
                </a:lnTo>
                <a:lnTo>
                  <a:pt x="40243" y="441217"/>
                </a:lnTo>
                <a:lnTo>
                  <a:pt x="42072" y="422329"/>
                </a:lnTo>
                <a:lnTo>
                  <a:pt x="43901" y="403431"/>
                </a:lnTo>
                <a:lnTo>
                  <a:pt x="45730" y="384534"/>
                </a:lnTo>
                <a:lnTo>
                  <a:pt x="47558" y="365646"/>
                </a:lnTo>
                <a:lnTo>
                  <a:pt x="49387" y="346748"/>
                </a:lnTo>
                <a:lnTo>
                  <a:pt x="51216" y="327851"/>
                </a:lnTo>
                <a:lnTo>
                  <a:pt x="53045" y="308962"/>
                </a:lnTo>
                <a:lnTo>
                  <a:pt x="54883" y="290065"/>
                </a:lnTo>
                <a:lnTo>
                  <a:pt x="56712" y="271167"/>
                </a:lnTo>
                <a:lnTo>
                  <a:pt x="58541" y="252279"/>
                </a:lnTo>
                <a:lnTo>
                  <a:pt x="60369" y="233382"/>
                </a:lnTo>
                <a:lnTo>
                  <a:pt x="62198" y="214484"/>
                </a:lnTo>
                <a:lnTo>
                  <a:pt x="64027" y="195596"/>
                </a:lnTo>
                <a:lnTo>
                  <a:pt x="65856" y="176698"/>
                </a:lnTo>
                <a:lnTo>
                  <a:pt x="67685" y="157801"/>
                </a:lnTo>
                <a:lnTo>
                  <a:pt x="69513" y="138903"/>
                </a:lnTo>
                <a:lnTo>
                  <a:pt x="71342" y="120015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" name="maturity-level-support-2">
            <a:extLst xmlns:a="http://schemas.openxmlformats.org/drawingml/2006/main">
              <a:ext uri="{FF2B5EF4-FFF2-40B4-BE49-F238E27FC236}">
                <a16:creationId xmlns:a16="http://schemas.microsoft.com/office/drawing/2014/main" id="{8EC8A112-AC94-4ED2-BF5E-609A8964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9620" y="3310795"/>
            <a:ext cx="1202922" cy="866861"/>
          </a:xfrm>
          <a:custGeom xmlns:a="http://schemas.openxmlformats.org/drawingml/2006/main">
            <a:pathLst>
              <a:path w="1202922" h="866861">
                <a:moveTo>
                  <a:pt x="71428" y="121063"/>
                </a:moveTo>
                <a:lnTo>
                  <a:pt x="90307" y="119034"/>
                </a:lnTo>
                <a:lnTo>
                  <a:pt x="109176" y="116996"/>
                </a:lnTo>
                <a:lnTo>
                  <a:pt x="128054" y="114967"/>
                </a:lnTo>
                <a:lnTo>
                  <a:pt x="146923" y="112928"/>
                </a:lnTo>
                <a:lnTo>
                  <a:pt x="165802" y="110900"/>
                </a:lnTo>
                <a:lnTo>
                  <a:pt x="184671" y="108861"/>
                </a:lnTo>
                <a:lnTo>
                  <a:pt x="203549" y="106832"/>
                </a:lnTo>
                <a:lnTo>
                  <a:pt x="222418" y="104794"/>
                </a:lnTo>
                <a:lnTo>
                  <a:pt x="241297" y="102765"/>
                </a:lnTo>
                <a:lnTo>
                  <a:pt x="260166" y="100727"/>
                </a:lnTo>
                <a:lnTo>
                  <a:pt x="279044" y="98698"/>
                </a:lnTo>
                <a:lnTo>
                  <a:pt x="297913" y="96660"/>
                </a:lnTo>
                <a:lnTo>
                  <a:pt x="316792" y="94631"/>
                </a:lnTo>
                <a:lnTo>
                  <a:pt x="335661" y="92593"/>
                </a:lnTo>
                <a:lnTo>
                  <a:pt x="354540" y="90564"/>
                </a:lnTo>
                <a:lnTo>
                  <a:pt x="373409" y="88525"/>
                </a:lnTo>
                <a:lnTo>
                  <a:pt x="392287" y="86497"/>
                </a:lnTo>
                <a:lnTo>
                  <a:pt x="411156" y="84468"/>
                </a:lnTo>
                <a:lnTo>
                  <a:pt x="430035" y="82429"/>
                </a:lnTo>
                <a:lnTo>
                  <a:pt x="448904" y="80401"/>
                </a:lnTo>
                <a:lnTo>
                  <a:pt x="467782" y="78362"/>
                </a:lnTo>
                <a:lnTo>
                  <a:pt x="486651" y="76333"/>
                </a:lnTo>
                <a:lnTo>
                  <a:pt x="505530" y="74295"/>
                </a:lnTo>
                <a:lnTo>
                  <a:pt x="524399" y="72266"/>
                </a:lnTo>
                <a:lnTo>
                  <a:pt x="543277" y="70228"/>
                </a:lnTo>
                <a:lnTo>
                  <a:pt x="562146" y="68199"/>
                </a:lnTo>
                <a:lnTo>
                  <a:pt x="581025" y="66161"/>
                </a:lnTo>
                <a:lnTo>
                  <a:pt x="599894" y="64132"/>
                </a:lnTo>
                <a:lnTo>
                  <a:pt x="618773" y="62093"/>
                </a:lnTo>
                <a:lnTo>
                  <a:pt x="637642" y="60065"/>
                </a:lnTo>
                <a:lnTo>
                  <a:pt x="656520" y="58026"/>
                </a:lnTo>
                <a:lnTo>
                  <a:pt x="675389" y="55997"/>
                </a:lnTo>
                <a:lnTo>
                  <a:pt x="694268" y="53959"/>
                </a:lnTo>
                <a:lnTo>
                  <a:pt x="713137" y="51930"/>
                </a:lnTo>
                <a:lnTo>
                  <a:pt x="732015" y="49892"/>
                </a:lnTo>
                <a:lnTo>
                  <a:pt x="750884" y="47863"/>
                </a:lnTo>
                <a:lnTo>
                  <a:pt x="769763" y="45825"/>
                </a:lnTo>
                <a:lnTo>
                  <a:pt x="788632" y="43796"/>
                </a:lnTo>
                <a:lnTo>
                  <a:pt x="807510" y="41758"/>
                </a:lnTo>
                <a:lnTo>
                  <a:pt x="826379" y="39729"/>
                </a:lnTo>
                <a:lnTo>
                  <a:pt x="845258" y="37690"/>
                </a:lnTo>
                <a:lnTo>
                  <a:pt x="864127" y="35662"/>
                </a:lnTo>
                <a:lnTo>
                  <a:pt x="883006" y="33623"/>
                </a:lnTo>
                <a:lnTo>
                  <a:pt x="901875" y="31594"/>
                </a:lnTo>
                <a:lnTo>
                  <a:pt x="920753" y="29556"/>
                </a:lnTo>
                <a:lnTo>
                  <a:pt x="939622" y="27527"/>
                </a:lnTo>
                <a:lnTo>
                  <a:pt x="958501" y="25489"/>
                </a:lnTo>
                <a:lnTo>
                  <a:pt x="977370" y="23460"/>
                </a:lnTo>
                <a:lnTo>
                  <a:pt x="996248" y="21422"/>
                </a:lnTo>
                <a:lnTo>
                  <a:pt x="1015117" y="19393"/>
                </a:lnTo>
                <a:lnTo>
                  <a:pt x="1033996" y="17355"/>
                </a:lnTo>
                <a:lnTo>
                  <a:pt x="1052865" y="15326"/>
                </a:lnTo>
                <a:lnTo>
                  <a:pt x="1071743" y="13287"/>
                </a:lnTo>
                <a:lnTo>
                  <a:pt x="1090613" y="11259"/>
                </a:lnTo>
                <a:lnTo>
                  <a:pt x="1109491" y="9220"/>
                </a:lnTo>
                <a:lnTo>
                  <a:pt x="1128360" y="7191"/>
                </a:lnTo>
                <a:lnTo>
                  <a:pt x="1147229" y="5153"/>
                </a:lnTo>
                <a:lnTo>
                  <a:pt x="1166108" y="3124"/>
                </a:lnTo>
                <a:lnTo>
                  <a:pt x="1184977" y="1086"/>
                </a:lnTo>
                <a:lnTo>
                  <a:pt x="1202922" y="0"/>
                </a:lnTo>
                <a:lnTo>
                  <a:pt x="1201093" y="18898"/>
                </a:lnTo>
                <a:lnTo>
                  <a:pt x="1199264" y="37786"/>
                </a:lnTo>
                <a:lnTo>
                  <a:pt x="1197435" y="56683"/>
                </a:lnTo>
                <a:lnTo>
                  <a:pt x="1195607" y="75581"/>
                </a:lnTo>
                <a:lnTo>
                  <a:pt x="1193778" y="94469"/>
                </a:lnTo>
                <a:lnTo>
                  <a:pt x="1191939" y="113367"/>
                </a:lnTo>
                <a:lnTo>
                  <a:pt x="1190111" y="132264"/>
                </a:lnTo>
                <a:lnTo>
                  <a:pt x="1188282" y="151152"/>
                </a:lnTo>
                <a:lnTo>
                  <a:pt x="1186453" y="170050"/>
                </a:lnTo>
                <a:lnTo>
                  <a:pt x="1184624" y="188947"/>
                </a:lnTo>
                <a:lnTo>
                  <a:pt x="1182795" y="207845"/>
                </a:lnTo>
                <a:lnTo>
                  <a:pt x="1180967" y="226733"/>
                </a:lnTo>
                <a:lnTo>
                  <a:pt x="1179138" y="245631"/>
                </a:lnTo>
                <a:lnTo>
                  <a:pt x="1177309" y="264528"/>
                </a:lnTo>
                <a:lnTo>
                  <a:pt x="1175480" y="283416"/>
                </a:lnTo>
                <a:lnTo>
                  <a:pt x="1173651" y="302314"/>
                </a:lnTo>
                <a:lnTo>
                  <a:pt x="1171823" y="321212"/>
                </a:lnTo>
                <a:lnTo>
                  <a:pt x="1169994" y="340100"/>
                </a:lnTo>
                <a:lnTo>
                  <a:pt x="1168165" y="358997"/>
                </a:lnTo>
                <a:lnTo>
                  <a:pt x="1166336" y="377895"/>
                </a:lnTo>
                <a:lnTo>
                  <a:pt x="1164507" y="396783"/>
                </a:lnTo>
                <a:lnTo>
                  <a:pt x="1162679" y="415681"/>
                </a:lnTo>
                <a:lnTo>
                  <a:pt x="1160850" y="434578"/>
                </a:lnTo>
                <a:lnTo>
                  <a:pt x="1159021" y="453466"/>
                </a:lnTo>
                <a:lnTo>
                  <a:pt x="1157183" y="472364"/>
                </a:lnTo>
                <a:lnTo>
                  <a:pt x="1155354" y="491261"/>
                </a:lnTo>
                <a:lnTo>
                  <a:pt x="1153525" y="510149"/>
                </a:lnTo>
                <a:lnTo>
                  <a:pt x="1151696" y="529047"/>
                </a:lnTo>
                <a:lnTo>
                  <a:pt x="1149868" y="547945"/>
                </a:lnTo>
                <a:lnTo>
                  <a:pt x="1148039" y="566842"/>
                </a:lnTo>
                <a:lnTo>
                  <a:pt x="1146210" y="585730"/>
                </a:lnTo>
                <a:lnTo>
                  <a:pt x="1144381" y="604628"/>
                </a:lnTo>
                <a:lnTo>
                  <a:pt x="1142552" y="623526"/>
                </a:lnTo>
                <a:lnTo>
                  <a:pt x="1140724" y="642414"/>
                </a:lnTo>
                <a:lnTo>
                  <a:pt x="1138895" y="661311"/>
                </a:lnTo>
                <a:lnTo>
                  <a:pt x="1137066" y="680209"/>
                </a:lnTo>
                <a:lnTo>
                  <a:pt x="1135237" y="699097"/>
                </a:lnTo>
                <a:lnTo>
                  <a:pt x="1133408" y="717995"/>
                </a:lnTo>
                <a:lnTo>
                  <a:pt x="1131580" y="736892"/>
                </a:lnTo>
                <a:lnTo>
                  <a:pt x="1121693" y="747808"/>
                </a:lnTo>
                <a:lnTo>
                  <a:pt x="1102824" y="749827"/>
                </a:lnTo>
                <a:lnTo>
                  <a:pt x="1083945" y="751846"/>
                </a:lnTo>
                <a:lnTo>
                  <a:pt x="1065066" y="753866"/>
                </a:lnTo>
                <a:lnTo>
                  <a:pt x="1046197" y="755885"/>
                </a:lnTo>
                <a:lnTo>
                  <a:pt x="1027319" y="757904"/>
                </a:lnTo>
                <a:lnTo>
                  <a:pt x="1008440" y="759924"/>
                </a:lnTo>
                <a:lnTo>
                  <a:pt x="989571" y="761933"/>
                </a:lnTo>
                <a:lnTo>
                  <a:pt x="970693" y="763953"/>
                </a:lnTo>
                <a:lnTo>
                  <a:pt x="951814" y="765972"/>
                </a:lnTo>
                <a:lnTo>
                  <a:pt x="932945" y="767991"/>
                </a:lnTo>
                <a:lnTo>
                  <a:pt x="914067" y="770011"/>
                </a:lnTo>
                <a:lnTo>
                  <a:pt x="895188" y="772030"/>
                </a:lnTo>
                <a:lnTo>
                  <a:pt x="876319" y="774040"/>
                </a:lnTo>
                <a:lnTo>
                  <a:pt x="857441" y="776059"/>
                </a:lnTo>
                <a:lnTo>
                  <a:pt x="838562" y="778078"/>
                </a:lnTo>
                <a:lnTo>
                  <a:pt x="819693" y="780098"/>
                </a:lnTo>
                <a:lnTo>
                  <a:pt x="800814" y="782117"/>
                </a:lnTo>
                <a:lnTo>
                  <a:pt x="781936" y="784136"/>
                </a:lnTo>
                <a:lnTo>
                  <a:pt x="763067" y="786155"/>
                </a:lnTo>
                <a:lnTo>
                  <a:pt x="744188" y="788165"/>
                </a:lnTo>
                <a:lnTo>
                  <a:pt x="725310" y="790184"/>
                </a:lnTo>
                <a:lnTo>
                  <a:pt x="706441" y="792204"/>
                </a:lnTo>
                <a:lnTo>
                  <a:pt x="687562" y="794223"/>
                </a:lnTo>
                <a:lnTo>
                  <a:pt x="668684" y="796242"/>
                </a:lnTo>
                <a:lnTo>
                  <a:pt x="649815" y="798262"/>
                </a:lnTo>
                <a:lnTo>
                  <a:pt x="630936" y="800271"/>
                </a:lnTo>
                <a:lnTo>
                  <a:pt x="612057" y="802291"/>
                </a:lnTo>
                <a:lnTo>
                  <a:pt x="593188" y="804310"/>
                </a:lnTo>
                <a:lnTo>
                  <a:pt x="574310" y="806329"/>
                </a:lnTo>
                <a:lnTo>
                  <a:pt x="555431" y="808349"/>
                </a:lnTo>
                <a:lnTo>
                  <a:pt x="536562" y="810368"/>
                </a:lnTo>
                <a:lnTo>
                  <a:pt x="517684" y="812387"/>
                </a:lnTo>
                <a:lnTo>
                  <a:pt x="498805" y="814397"/>
                </a:lnTo>
                <a:lnTo>
                  <a:pt x="479936" y="816416"/>
                </a:lnTo>
                <a:lnTo>
                  <a:pt x="461058" y="818436"/>
                </a:lnTo>
                <a:lnTo>
                  <a:pt x="442179" y="820455"/>
                </a:lnTo>
                <a:lnTo>
                  <a:pt x="423310" y="822474"/>
                </a:lnTo>
                <a:lnTo>
                  <a:pt x="404432" y="824494"/>
                </a:lnTo>
                <a:lnTo>
                  <a:pt x="385553" y="826503"/>
                </a:lnTo>
                <a:lnTo>
                  <a:pt x="366684" y="828523"/>
                </a:lnTo>
                <a:lnTo>
                  <a:pt x="347805" y="830542"/>
                </a:lnTo>
                <a:lnTo>
                  <a:pt x="328927" y="832561"/>
                </a:lnTo>
                <a:lnTo>
                  <a:pt x="310058" y="834581"/>
                </a:lnTo>
                <a:lnTo>
                  <a:pt x="291179" y="836600"/>
                </a:lnTo>
                <a:lnTo>
                  <a:pt x="272301" y="838619"/>
                </a:lnTo>
                <a:lnTo>
                  <a:pt x="253432" y="840629"/>
                </a:lnTo>
                <a:lnTo>
                  <a:pt x="234553" y="842648"/>
                </a:lnTo>
                <a:lnTo>
                  <a:pt x="215675" y="844667"/>
                </a:lnTo>
                <a:lnTo>
                  <a:pt x="196806" y="846687"/>
                </a:lnTo>
                <a:lnTo>
                  <a:pt x="177927" y="848706"/>
                </a:lnTo>
                <a:lnTo>
                  <a:pt x="159048" y="850725"/>
                </a:lnTo>
                <a:lnTo>
                  <a:pt x="140179" y="852735"/>
                </a:lnTo>
                <a:lnTo>
                  <a:pt x="121301" y="854754"/>
                </a:lnTo>
                <a:lnTo>
                  <a:pt x="102422" y="856774"/>
                </a:lnTo>
                <a:lnTo>
                  <a:pt x="83553" y="858793"/>
                </a:lnTo>
                <a:lnTo>
                  <a:pt x="64675" y="860812"/>
                </a:lnTo>
                <a:lnTo>
                  <a:pt x="45796" y="862832"/>
                </a:lnTo>
                <a:lnTo>
                  <a:pt x="26927" y="864841"/>
                </a:lnTo>
                <a:lnTo>
                  <a:pt x="8049" y="866861"/>
                </a:lnTo>
                <a:lnTo>
                  <a:pt x="0" y="857945"/>
                </a:lnTo>
                <a:lnTo>
                  <a:pt x="1829" y="839057"/>
                </a:lnTo>
                <a:lnTo>
                  <a:pt x="3667" y="820160"/>
                </a:lnTo>
                <a:lnTo>
                  <a:pt x="5496" y="801262"/>
                </a:lnTo>
                <a:lnTo>
                  <a:pt x="7325" y="782374"/>
                </a:lnTo>
                <a:lnTo>
                  <a:pt x="9154" y="763476"/>
                </a:lnTo>
                <a:lnTo>
                  <a:pt x="10992" y="744579"/>
                </a:lnTo>
                <a:lnTo>
                  <a:pt x="12821" y="725691"/>
                </a:lnTo>
                <a:lnTo>
                  <a:pt x="14649" y="706793"/>
                </a:lnTo>
                <a:lnTo>
                  <a:pt x="16488" y="687896"/>
                </a:lnTo>
                <a:lnTo>
                  <a:pt x="18317" y="669007"/>
                </a:lnTo>
                <a:lnTo>
                  <a:pt x="20145" y="650110"/>
                </a:lnTo>
                <a:lnTo>
                  <a:pt x="21984" y="631212"/>
                </a:lnTo>
                <a:lnTo>
                  <a:pt x="23813" y="612324"/>
                </a:lnTo>
                <a:lnTo>
                  <a:pt x="25641" y="593427"/>
                </a:lnTo>
                <a:lnTo>
                  <a:pt x="27470" y="574529"/>
                </a:lnTo>
                <a:lnTo>
                  <a:pt x="29308" y="555641"/>
                </a:lnTo>
                <a:lnTo>
                  <a:pt x="31137" y="536743"/>
                </a:lnTo>
                <a:lnTo>
                  <a:pt x="32966" y="517846"/>
                </a:lnTo>
                <a:lnTo>
                  <a:pt x="34804" y="498958"/>
                </a:lnTo>
                <a:lnTo>
                  <a:pt x="36633" y="480060"/>
                </a:lnTo>
                <a:lnTo>
                  <a:pt x="38462" y="461162"/>
                </a:lnTo>
                <a:lnTo>
                  <a:pt x="40291" y="442274"/>
                </a:lnTo>
                <a:lnTo>
                  <a:pt x="42129" y="423377"/>
                </a:lnTo>
                <a:lnTo>
                  <a:pt x="43958" y="404479"/>
                </a:lnTo>
                <a:lnTo>
                  <a:pt x="45787" y="385591"/>
                </a:lnTo>
                <a:lnTo>
                  <a:pt x="47625" y="366693"/>
                </a:lnTo>
                <a:lnTo>
                  <a:pt x="49454" y="347796"/>
                </a:lnTo>
                <a:lnTo>
                  <a:pt x="51283" y="328908"/>
                </a:lnTo>
                <a:lnTo>
                  <a:pt x="53121" y="310010"/>
                </a:lnTo>
                <a:lnTo>
                  <a:pt x="54950" y="291113"/>
                </a:lnTo>
                <a:lnTo>
                  <a:pt x="56779" y="272225"/>
                </a:lnTo>
                <a:lnTo>
                  <a:pt x="58607" y="253327"/>
                </a:lnTo>
                <a:lnTo>
                  <a:pt x="60446" y="234429"/>
                </a:lnTo>
                <a:lnTo>
                  <a:pt x="62274" y="215541"/>
                </a:lnTo>
                <a:lnTo>
                  <a:pt x="64103" y="196644"/>
                </a:lnTo>
                <a:lnTo>
                  <a:pt x="65942" y="177746"/>
                </a:lnTo>
                <a:lnTo>
                  <a:pt x="67770" y="158858"/>
                </a:lnTo>
                <a:lnTo>
                  <a:pt x="69599" y="139960"/>
                </a:lnTo>
                <a:lnTo>
                  <a:pt x="71428" y="121063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9" name="maturity-level-support-3">
            <a:extLst xmlns:a="http://schemas.openxmlformats.org/drawingml/2006/main">
              <a:ext uri="{FF2B5EF4-FFF2-40B4-BE49-F238E27FC236}">
                <a16:creationId xmlns:a16="http://schemas.microsoft.com/office/drawing/2014/main" id="{1B1EF0F5-9230-45BA-A29F-6717BE16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6493" y="2857662"/>
            <a:ext cx="1202912" cy="866594"/>
          </a:xfrm>
          <a:custGeom xmlns:a="http://schemas.openxmlformats.org/drawingml/2006/main">
            <a:pathLst>
              <a:path w="1202912" h="866594">
                <a:moveTo>
                  <a:pt x="71447" y="120806"/>
                </a:moveTo>
                <a:lnTo>
                  <a:pt x="90326" y="118777"/>
                </a:lnTo>
                <a:lnTo>
                  <a:pt x="109204" y="116738"/>
                </a:lnTo>
                <a:lnTo>
                  <a:pt x="128083" y="114710"/>
                </a:lnTo>
                <a:lnTo>
                  <a:pt x="146961" y="112671"/>
                </a:lnTo>
                <a:lnTo>
                  <a:pt x="165840" y="110642"/>
                </a:lnTo>
                <a:lnTo>
                  <a:pt x="184718" y="108604"/>
                </a:lnTo>
                <a:lnTo>
                  <a:pt x="203597" y="106575"/>
                </a:lnTo>
                <a:lnTo>
                  <a:pt x="222475" y="104537"/>
                </a:lnTo>
                <a:lnTo>
                  <a:pt x="241354" y="102508"/>
                </a:lnTo>
                <a:lnTo>
                  <a:pt x="260233" y="100470"/>
                </a:lnTo>
                <a:lnTo>
                  <a:pt x="279102" y="98431"/>
                </a:lnTo>
                <a:lnTo>
                  <a:pt x="297980" y="96403"/>
                </a:lnTo>
                <a:lnTo>
                  <a:pt x="316859" y="94364"/>
                </a:lnTo>
                <a:lnTo>
                  <a:pt x="335737" y="92335"/>
                </a:lnTo>
                <a:lnTo>
                  <a:pt x="354616" y="90297"/>
                </a:lnTo>
                <a:lnTo>
                  <a:pt x="373494" y="88268"/>
                </a:lnTo>
                <a:lnTo>
                  <a:pt x="392373" y="86230"/>
                </a:lnTo>
                <a:lnTo>
                  <a:pt x="411251" y="84201"/>
                </a:lnTo>
                <a:lnTo>
                  <a:pt x="430130" y="82163"/>
                </a:lnTo>
                <a:lnTo>
                  <a:pt x="449009" y="80134"/>
                </a:lnTo>
                <a:lnTo>
                  <a:pt x="467887" y="78095"/>
                </a:lnTo>
                <a:lnTo>
                  <a:pt x="486766" y="76057"/>
                </a:lnTo>
                <a:lnTo>
                  <a:pt x="505644" y="74028"/>
                </a:lnTo>
                <a:lnTo>
                  <a:pt x="524523" y="71990"/>
                </a:lnTo>
                <a:lnTo>
                  <a:pt x="543401" y="69961"/>
                </a:lnTo>
                <a:lnTo>
                  <a:pt x="562280" y="67923"/>
                </a:lnTo>
                <a:lnTo>
                  <a:pt x="581158" y="65894"/>
                </a:lnTo>
                <a:lnTo>
                  <a:pt x="600027" y="63856"/>
                </a:lnTo>
                <a:lnTo>
                  <a:pt x="618906" y="61827"/>
                </a:lnTo>
                <a:lnTo>
                  <a:pt x="637784" y="59788"/>
                </a:lnTo>
                <a:lnTo>
                  <a:pt x="656663" y="57760"/>
                </a:lnTo>
                <a:lnTo>
                  <a:pt x="675542" y="55721"/>
                </a:lnTo>
                <a:lnTo>
                  <a:pt x="694420" y="53692"/>
                </a:lnTo>
                <a:lnTo>
                  <a:pt x="713299" y="51654"/>
                </a:lnTo>
                <a:lnTo>
                  <a:pt x="732177" y="49616"/>
                </a:lnTo>
                <a:lnTo>
                  <a:pt x="751056" y="47587"/>
                </a:lnTo>
                <a:lnTo>
                  <a:pt x="769934" y="45549"/>
                </a:lnTo>
                <a:lnTo>
                  <a:pt x="788813" y="43520"/>
                </a:lnTo>
                <a:lnTo>
                  <a:pt x="807691" y="41481"/>
                </a:lnTo>
                <a:lnTo>
                  <a:pt x="826570" y="39453"/>
                </a:lnTo>
                <a:lnTo>
                  <a:pt x="845449" y="37414"/>
                </a:lnTo>
                <a:lnTo>
                  <a:pt x="864327" y="35385"/>
                </a:lnTo>
                <a:lnTo>
                  <a:pt x="883206" y="33347"/>
                </a:lnTo>
                <a:lnTo>
                  <a:pt x="902084" y="31318"/>
                </a:lnTo>
                <a:lnTo>
                  <a:pt x="920963" y="29280"/>
                </a:lnTo>
                <a:lnTo>
                  <a:pt x="939832" y="27242"/>
                </a:lnTo>
                <a:lnTo>
                  <a:pt x="958710" y="25213"/>
                </a:lnTo>
                <a:lnTo>
                  <a:pt x="977589" y="23174"/>
                </a:lnTo>
                <a:lnTo>
                  <a:pt x="996467" y="21146"/>
                </a:lnTo>
                <a:lnTo>
                  <a:pt x="1015346" y="19107"/>
                </a:lnTo>
                <a:lnTo>
                  <a:pt x="1034225" y="17078"/>
                </a:lnTo>
                <a:lnTo>
                  <a:pt x="1053103" y="15040"/>
                </a:lnTo>
                <a:lnTo>
                  <a:pt x="1071982" y="13011"/>
                </a:lnTo>
                <a:lnTo>
                  <a:pt x="1090860" y="10973"/>
                </a:lnTo>
                <a:lnTo>
                  <a:pt x="1109739" y="8944"/>
                </a:lnTo>
                <a:lnTo>
                  <a:pt x="1128617" y="6906"/>
                </a:lnTo>
                <a:lnTo>
                  <a:pt x="1147496" y="4877"/>
                </a:lnTo>
                <a:lnTo>
                  <a:pt x="1166374" y="2838"/>
                </a:lnTo>
                <a:lnTo>
                  <a:pt x="1185253" y="800"/>
                </a:lnTo>
                <a:lnTo>
                  <a:pt x="1202912" y="0"/>
                </a:lnTo>
                <a:lnTo>
                  <a:pt x="1201103" y="18898"/>
                </a:lnTo>
                <a:lnTo>
                  <a:pt x="1199302" y="37805"/>
                </a:lnTo>
                <a:lnTo>
                  <a:pt x="1197493" y="56702"/>
                </a:lnTo>
                <a:lnTo>
                  <a:pt x="1195692" y="75609"/>
                </a:lnTo>
                <a:lnTo>
                  <a:pt x="1193883" y="94507"/>
                </a:lnTo>
                <a:lnTo>
                  <a:pt x="1192082" y="113405"/>
                </a:lnTo>
                <a:lnTo>
                  <a:pt x="1190273" y="132312"/>
                </a:lnTo>
                <a:lnTo>
                  <a:pt x="1188463" y="151209"/>
                </a:lnTo>
                <a:lnTo>
                  <a:pt x="1186663" y="170107"/>
                </a:lnTo>
                <a:lnTo>
                  <a:pt x="1184853" y="189014"/>
                </a:lnTo>
                <a:lnTo>
                  <a:pt x="1183053" y="207912"/>
                </a:lnTo>
                <a:lnTo>
                  <a:pt x="1181243" y="226819"/>
                </a:lnTo>
                <a:lnTo>
                  <a:pt x="1179433" y="245716"/>
                </a:lnTo>
                <a:lnTo>
                  <a:pt x="1177633" y="264614"/>
                </a:lnTo>
                <a:lnTo>
                  <a:pt x="1175823" y="283521"/>
                </a:lnTo>
                <a:lnTo>
                  <a:pt x="1174023" y="302419"/>
                </a:lnTo>
                <a:lnTo>
                  <a:pt x="1172213" y="321316"/>
                </a:lnTo>
                <a:lnTo>
                  <a:pt x="1170403" y="340223"/>
                </a:lnTo>
                <a:lnTo>
                  <a:pt x="1168603" y="359121"/>
                </a:lnTo>
                <a:lnTo>
                  <a:pt x="1166793" y="378028"/>
                </a:lnTo>
                <a:lnTo>
                  <a:pt x="1164993" y="396926"/>
                </a:lnTo>
                <a:lnTo>
                  <a:pt x="1163183" y="415823"/>
                </a:lnTo>
                <a:lnTo>
                  <a:pt x="1161383" y="434731"/>
                </a:lnTo>
                <a:lnTo>
                  <a:pt x="1159574" y="453628"/>
                </a:lnTo>
                <a:lnTo>
                  <a:pt x="1157764" y="472526"/>
                </a:lnTo>
                <a:lnTo>
                  <a:pt x="1155964" y="491433"/>
                </a:lnTo>
                <a:lnTo>
                  <a:pt x="1154154" y="510330"/>
                </a:lnTo>
                <a:lnTo>
                  <a:pt x="1152354" y="529238"/>
                </a:lnTo>
                <a:lnTo>
                  <a:pt x="1150544" y="548135"/>
                </a:lnTo>
                <a:lnTo>
                  <a:pt x="1148734" y="567033"/>
                </a:lnTo>
                <a:lnTo>
                  <a:pt x="1146934" y="585940"/>
                </a:lnTo>
                <a:lnTo>
                  <a:pt x="1145124" y="604838"/>
                </a:lnTo>
                <a:lnTo>
                  <a:pt x="1143324" y="623735"/>
                </a:lnTo>
                <a:lnTo>
                  <a:pt x="1141514" y="642642"/>
                </a:lnTo>
                <a:lnTo>
                  <a:pt x="1139704" y="661540"/>
                </a:lnTo>
                <a:lnTo>
                  <a:pt x="1137904" y="680447"/>
                </a:lnTo>
                <a:lnTo>
                  <a:pt x="1136094" y="699345"/>
                </a:lnTo>
                <a:lnTo>
                  <a:pt x="1134294" y="718242"/>
                </a:lnTo>
                <a:lnTo>
                  <a:pt x="1132484" y="737149"/>
                </a:lnTo>
                <a:lnTo>
                  <a:pt x="1122150" y="747608"/>
                </a:lnTo>
                <a:lnTo>
                  <a:pt x="1103271" y="749627"/>
                </a:lnTo>
                <a:lnTo>
                  <a:pt x="1084383" y="751646"/>
                </a:lnTo>
                <a:lnTo>
                  <a:pt x="1065505" y="753656"/>
                </a:lnTo>
                <a:lnTo>
                  <a:pt x="1046626" y="755675"/>
                </a:lnTo>
                <a:lnTo>
                  <a:pt x="1027748" y="757695"/>
                </a:lnTo>
                <a:lnTo>
                  <a:pt x="1008869" y="759714"/>
                </a:lnTo>
                <a:lnTo>
                  <a:pt x="989990" y="761724"/>
                </a:lnTo>
                <a:lnTo>
                  <a:pt x="971112" y="763743"/>
                </a:lnTo>
                <a:lnTo>
                  <a:pt x="952224" y="765762"/>
                </a:lnTo>
                <a:lnTo>
                  <a:pt x="933345" y="767772"/>
                </a:lnTo>
                <a:lnTo>
                  <a:pt x="914467" y="769791"/>
                </a:lnTo>
                <a:lnTo>
                  <a:pt x="895588" y="771811"/>
                </a:lnTo>
                <a:lnTo>
                  <a:pt x="876710" y="773830"/>
                </a:lnTo>
                <a:lnTo>
                  <a:pt x="857831" y="775840"/>
                </a:lnTo>
                <a:lnTo>
                  <a:pt x="838952" y="777859"/>
                </a:lnTo>
                <a:lnTo>
                  <a:pt x="820074" y="779878"/>
                </a:lnTo>
                <a:lnTo>
                  <a:pt x="801186" y="781888"/>
                </a:lnTo>
                <a:lnTo>
                  <a:pt x="782307" y="783908"/>
                </a:lnTo>
                <a:lnTo>
                  <a:pt x="763429" y="785927"/>
                </a:lnTo>
                <a:lnTo>
                  <a:pt x="744550" y="787946"/>
                </a:lnTo>
                <a:lnTo>
                  <a:pt x="725672" y="789956"/>
                </a:lnTo>
                <a:lnTo>
                  <a:pt x="706793" y="791975"/>
                </a:lnTo>
                <a:lnTo>
                  <a:pt x="687915" y="793994"/>
                </a:lnTo>
                <a:lnTo>
                  <a:pt x="669026" y="796004"/>
                </a:lnTo>
                <a:lnTo>
                  <a:pt x="650148" y="798024"/>
                </a:lnTo>
                <a:lnTo>
                  <a:pt x="631269" y="800043"/>
                </a:lnTo>
                <a:lnTo>
                  <a:pt x="612391" y="802062"/>
                </a:lnTo>
                <a:lnTo>
                  <a:pt x="593512" y="804072"/>
                </a:lnTo>
                <a:lnTo>
                  <a:pt x="574634" y="806091"/>
                </a:lnTo>
                <a:lnTo>
                  <a:pt x="555755" y="808111"/>
                </a:lnTo>
                <a:lnTo>
                  <a:pt x="536877" y="810120"/>
                </a:lnTo>
                <a:lnTo>
                  <a:pt x="517989" y="812140"/>
                </a:lnTo>
                <a:lnTo>
                  <a:pt x="499110" y="814159"/>
                </a:lnTo>
                <a:lnTo>
                  <a:pt x="480231" y="816178"/>
                </a:lnTo>
                <a:lnTo>
                  <a:pt x="461353" y="818188"/>
                </a:lnTo>
                <a:lnTo>
                  <a:pt x="442474" y="820207"/>
                </a:lnTo>
                <a:lnTo>
                  <a:pt x="423596" y="822227"/>
                </a:lnTo>
                <a:lnTo>
                  <a:pt x="404717" y="824236"/>
                </a:lnTo>
                <a:lnTo>
                  <a:pt x="385829" y="826256"/>
                </a:lnTo>
                <a:lnTo>
                  <a:pt x="366951" y="828275"/>
                </a:lnTo>
                <a:lnTo>
                  <a:pt x="348072" y="830294"/>
                </a:lnTo>
                <a:lnTo>
                  <a:pt x="329194" y="832304"/>
                </a:lnTo>
                <a:lnTo>
                  <a:pt x="310315" y="834323"/>
                </a:lnTo>
                <a:lnTo>
                  <a:pt x="291436" y="836343"/>
                </a:lnTo>
                <a:lnTo>
                  <a:pt x="272558" y="838352"/>
                </a:lnTo>
                <a:lnTo>
                  <a:pt x="253670" y="840372"/>
                </a:lnTo>
                <a:lnTo>
                  <a:pt x="234791" y="842391"/>
                </a:lnTo>
                <a:lnTo>
                  <a:pt x="215913" y="844410"/>
                </a:lnTo>
                <a:lnTo>
                  <a:pt x="197034" y="846420"/>
                </a:lnTo>
                <a:lnTo>
                  <a:pt x="178156" y="848439"/>
                </a:lnTo>
                <a:lnTo>
                  <a:pt x="159277" y="850459"/>
                </a:lnTo>
                <a:lnTo>
                  <a:pt x="140399" y="852478"/>
                </a:lnTo>
                <a:lnTo>
                  <a:pt x="121520" y="854488"/>
                </a:lnTo>
                <a:lnTo>
                  <a:pt x="102632" y="856507"/>
                </a:lnTo>
                <a:lnTo>
                  <a:pt x="83753" y="858526"/>
                </a:lnTo>
                <a:lnTo>
                  <a:pt x="64875" y="860536"/>
                </a:lnTo>
                <a:lnTo>
                  <a:pt x="45996" y="862555"/>
                </a:lnTo>
                <a:lnTo>
                  <a:pt x="27118" y="864575"/>
                </a:lnTo>
                <a:lnTo>
                  <a:pt x="8239" y="866594"/>
                </a:lnTo>
                <a:lnTo>
                  <a:pt x="0" y="857860"/>
                </a:lnTo>
                <a:lnTo>
                  <a:pt x="1829" y="838962"/>
                </a:lnTo>
                <a:lnTo>
                  <a:pt x="3667" y="820064"/>
                </a:lnTo>
                <a:lnTo>
                  <a:pt x="5496" y="801157"/>
                </a:lnTo>
                <a:lnTo>
                  <a:pt x="7325" y="782260"/>
                </a:lnTo>
                <a:lnTo>
                  <a:pt x="9163" y="763362"/>
                </a:lnTo>
                <a:lnTo>
                  <a:pt x="10992" y="744464"/>
                </a:lnTo>
                <a:lnTo>
                  <a:pt x="12821" y="725567"/>
                </a:lnTo>
                <a:lnTo>
                  <a:pt x="14659" y="706669"/>
                </a:lnTo>
                <a:lnTo>
                  <a:pt x="16488" y="687772"/>
                </a:lnTo>
                <a:lnTo>
                  <a:pt x="18317" y="668874"/>
                </a:lnTo>
                <a:lnTo>
                  <a:pt x="20155" y="649976"/>
                </a:lnTo>
                <a:lnTo>
                  <a:pt x="21984" y="631069"/>
                </a:lnTo>
                <a:lnTo>
                  <a:pt x="23813" y="612172"/>
                </a:lnTo>
                <a:lnTo>
                  <a:pt x="25651" y="593274"/>
                </a:lnTo>
                <a:lnTo>
                  <a:pt x="27480" y="574377"/>
                </a:lnTo>
                <a:lnTo>
                  <a:pt x="29308" y="555479"/>
                </a:lnTo>
                <a:lnTo>
                  <a:pt x="31147" y="536581"/>
                </a:lnTo>
                <a:lnTo>
                  <a:pt x="32976" y="517684"/>
                </a:lnTo>
                <a:lnTo>
                  <a:pt x="34804" y="498786"/>
                </a:lnTo>
                <a:lnTo>
                  <a:pt x="36643" y="479889"/>
                </a:lnTo>
                <a:lnTo>
                  <a:pt x="38471" y="460981"/>
                </a:lnTo>
                <a:lnTo>
                  <a:pt x="40300" y="442084"/>
                </a:lnTo>
                <a:lnTo>
                  <a:pt x="42139" y="423186"/>
                </a:lnTo>
                <a:lnTo>
                  <a:pt x="43967" y="404289"/>
                </a:lnTo>
                <a:lnTo>
                  <a:pt x="45796" y="385391"/>
                </a:lnTo>
                <a:lnTo>
                  <a:pt x="47635" y="366493"/>
                </a:lnTo>
                <a:lnTo>
                  <a:pt x="49463" y="347596"/>
                </a:lnTo>
                <a:lnTo>
                  <a:pt x="51292" y="328698"/>
                </a:lnTo>
                <a:lnTo>
                  <a:pt x="53130" y="309801"/>
                </a:lnTo>
                <a:lnTo>
                  <a:pt x="54959" y="290894"/>
                </a:lnTo>
                <a:lnTo>
                  <a:pt x="56788" y="271996"/>
                </a:lnTo>
                <a:lnTo>
                  <a:pt x="58626" y="253098"/>
                </a:lnTo>
                <a:lnTo>
                  <a:pt x="60455" y="234201"/>
                </a:lnTo>
                <a:lnTo>
                  <a:pt x="62284" y="215303"/>
                </a:lnTo>
                <a:lnTo>
                  <a:pt x="64122" y="196406"/>
                </a:lnTo>
                <a:lnTo>
                  <a:pt x="65951" y="177508"/>
                </a:lnTo>
                <a:lnTo>
                  <a:pt x="67789" y="158610"/>
                </a:lnTo>
                <a:lnTo>
                  <a:pt x="69618" y="139713"/>
                </a:lnTo>
                <a:lnTo>
                  <a:pt x="71447" y="120806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0" name="maturity-level-support-4">
            <a:extLst xmlns:a="http://schemas.openxmlformats.org/drawingml/2006/main">
              <a:ext uri="{FF2B5EF4-FFF2-40B4-BE49-F238E27FC236}">
                <a16:creationId xmlns:a16="http://schemas.microsoft.com/office/drawing/2014/main" id="{A7D2B037-85D9-4BD3-9B1F-F16827FA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4328" y="2403167"/>
            <a:ext cx="1202941" cy="867689"/>
          </a:xfrm>
          <a:custGeom xmlns:a="http://schemas.openxmlformats.org/drawingml/2006/main">
            <a:pathLst>
              <a:path w="1202941" h="867689">
                <a:moveTo>
                  <a:pt x="70504" y="121910"/>
                </a:moveTo>
                <a:lnTo>
                  <a:pt x="89373" y="119882"/>
                </a:lnTo>
                <a:lnTo>
                  <a:pt x="108252" y="117843"/>
                </a:lnTo>
                <a:lnTo>
                  <a:pt x="127121" y="115814"/>
                </a:lnTo>
                <a:lnTo>
                  <a:pt x="145999" y="113786"/>
                </a:lnTo>
                <a:lnTo>
                  <a:pt x="164868" y="111747"/>
                </a:lnTo>
                <a:lnTo>
                  <a:pt x="183747" y="109718"/>
                </a:lnTo>
                <a:lnTo>
                  <a:pt x="202616" y="107690"/>
                </a:lnTo>
                <a:lnTo>
                  <a:pt x="221494" y="105651"/>
                </a:lnTo>
                <a:lnTo>
                  <a:pt x="240363" y="103622"/>
                </a:lnTo>
                <a:lnTo>
                  <a:pt x="259242" y="101594"/>
                </a:lnTo>
                <a:lnTo>
                  <a:pt x="278111" y="99565"/>
                </a:lnTo>
                <a:lnTo>
                  <a:pt x="296990" y="97526"/>
                </a:lnTo>
                <a:lnTo>
                  <a:pt x="315859" y="95498"/>
                </a:lnTo>
                <a:lnTo>
                  <a:pt x="334737" y="93469"/>
                </a:lnTo>
                <a:lnTo>
                  <a:pt x="353606" y="91430"/>
                </a:lnTo>
                <a:lnTo>
                  <a:pt x="372485" y="89402"/>
                </a:lnTo>
                <a:lnTo>
                  <a:pt x="391354" y="87373"/>
                </a:lnTo>
                <a:lnTo>
                  <a:pt x="410232" y="85334"/>
                </a:lnTo>
                <a:lnTo>
                  <a:pt x="429101" y="83306"/>
                </a:lnTo>
                <a:lnTo>
                  <a:pt x="447980" y="81277"/>
                </a:lnTo>
                <a:lnTo>
                  <a:pt x="466849" y="79238"/>
                </a:lnTo>
                <a:lnTo>
                  <a:pt x="485727" y="77210"/>
                </a:lnTo>
                <a:lnTo>
                  <a:pt x="504606" y="75181"/>
                </a:lnTo>
                <a:lnTo>
                  <a:pt x="523475" y="73142"/>
                </a:lnTo>
                <a:lnTo>
                  <a:pt x="542354" y="71114"/>
                </a:lnTo>
                <a:lnTo>
                  <a:pt x="561223" y="69085"/>
                </a:lnTo>
                <a:lnTo>
                  <a:pt x="580101" y="67046"/>
                </a:lnTo>
                <a:lnTo>
                  <a:pt x="598970" y="65018"/>
                </a:lnTo>
                <a:lnTo>
                  <a:pt x="617849" y="62989"/>
                </a:lnTo>
                <a:lnTo>
                  <a:pt x="636718" y="60960"/>
                </a:lnTo>
                <a:lnTo>
                  <a:pt x="655596" y="58922"/>
                </a:lnTo>
                <a:lnTo>
                  <a:pt x="674465" y="56893"/>
                </a:lnTo>
                <a:lnTo>
                  <a:pt x="693344" y="54864"/>
                </a:lnTo>
                <a:lnTo>
                  <a:pt x="712213" y="52826"/>
                </a:lnTo>
                <a:lnTo>
                  <a:pt x="731091" y="50797"/>
                </a:lnTo>
                <a:lnTo>
                  <a:pt x="749960" y="48768"/>
                </a:lnTo>
                <a:lnTo>
                  <a:pt x="768839" y="46730"/>
                </a:lnTo>
                <a:lnTo>
                  <a:pt x="787708" y="44701"/>
                </a:lnTo>
                <a:lnTo>
                  <a:pt x="806587" y="42672"/>
                </a:lnTo>
                <a:lnTo>
                  <a:pt x="825456" y="40634"/>
                </a:lnTo>
                <a:lnTo>
                  <a:pt x="844334" y="38605"/>
                </a:lnTo>
                <a:lnTo>
                  <a:pt x="863203" y="36576"/>
                </a:lnTo>
                <a:lnTo>
                  <a:pt x="882082" y="34538"/>
                </a:lnTo>
                <a:lnTo>
                  <a:pt x="900951" y="32509"/>
                </a:lnTo>
                <a:lnTo>
                  <a:pt x="919829" y="30480"/>
                </a:lnTo>
                <a:lnTo>
                  <a:pt x="938698" y="28442"/>
                </a:lnTo>
                <a:lnTo>
                  <a:pt x="957577" y="26413"/>
                </a:lnTo>
                <a:lnTo>
                  <a:pt x="976446" y="24384"/>
                </a:lnTo>
                <a:lnTo>
                  <a:pt x="995324" y="22346"/>
                </a:lnTo>
                <a:lnTo>
                  <a:pt x="1014193" y="20317"/>
                </a:lnTo>
                <a:lnTo>
                  <a:pt x="1033072" y="18288"/>
                </a:lnTo>
                <a:lnTo>
                  <a:pt x="1051941" y="16259"/>
                </a:lnTo>
                <a:lnTo>
                  <a:pt x="1070820" y="14221"/>
                </a:lnTo>
                <a:lnTo>
                  <a:pt x="1089698" y="12192"/>
                </a:lnTo>
                <a:lnTo>
                  <a:pt x="1108567" y="10163"/>
                </a:lnTo>
                <a:lnTo>
                  <a:pt x="1127446" y="8125"/>
                </a:lnTo>
                <a:lnTo>
                  <a:pt x="1146315" y="6096"/>
                </a:lnTo>
                <a:lnTo>
                  <a:pt x="1165193" y="4067"/>
                </a:lnTo>
                <a:lnTo>
                  <a:pt x="1184062" y="2029"/>
                </a:lnTo>
                <a:lnTo>
                  <a:pt x="1202941" y="0"/>
                </a:lnTo>
                <a:lnTo>
                  <a:pt x="1201198" y="18802"/>
                </a:lnTo>
                <a:lnTo>
                  <a:pt x="1199369" y="37690"/>
                </a:lnTo>
                <a:lnTo>
                  <a:pt x="1197540" y="56588"/>
                </a:lnTo>
                <a:lnTo>
                  <a:pt x="1195702" y="75486"/>
                </a:lnTo>
                <a:lnTo>
                  <a:pt x="1193873" y="94374"/>
                </a:lnTo>
                <a:lnTo>
                  <a:pt x="1192044" y="113271"/>
                </a:lnTo>
                <a:lnTo>
                  <a:pt x="1190206" y="132169"/>
                </a:lnTo>
                <a:lnTo>
                  <a:pt x="1188377" y="151057"/>
                </a:lnTo>
                <a:lnTo>
                  <a:pt x="1186548" y="169955"/>
                </a:lnTo>
                <a:lnTo>
                  <a:pt x="1184720" y="188852"/>
                </a:lnTo>
                <a:lnTo>
                  <a:pt x="1182881" y="207740"/>
                </a:lnTo>
                <a:lnTo>
                  <a:pt x="1181052" y="226638"/>
                </a:lnTo>
                <a:lnTo>
                  <a:pt x="1179224" y="245535"/>
                </a:lnTo>
                <a:lnTo>
                  <a:pt x="1177385" y="264424"/>
                </a:lnTo>
                <a:lnTo>
                  <a:pt x="1175556" y="283321"/>
                </a:lnTo>
                <a:lnTo>
                  <a:pt x="1173728" y="302219"/>
                </a:lnTo>
                <a:lnTo>
                  <a:pt x="1171899" y="321107"/>
                </a:lnTo>
                <a:lnTo>
                  <a:pt x="1170061" y="340004"/>
                </a:lnTo>
                <a:lnTo>
                  <a:pt x="1168232" y="358902"/>
                </a:lnTo>
                <a:lnTo>
                  <a:pt x="1166403" y="377790"/>
                </a:lnTo>
                <a:lnTo>
                  <a:pt x="1164565" y="396688"/>
                </a:lnTo>
                <a:lnTo>
                  <a:pt x="1162736" y="415585"/>
                </a:lnTo>
                <a:lnTo>
                  <a:pt x="1160907" y="434473"/>
                </a:lnTo>
                <a:lnTo>
                  <a:pt x="1159078" y="453371"/>
                </a:lnTo>
                <a:lnTo>
                  <a:pt x="1157240" y="472269"/>
                </a:lnTo>
                <a:lnTo>
                  <a:pt x="1155411" y="491157"/>
                </a:lnTo>
                <a:lnTo>
                  <a:pt x="1153582" y="510054"/>
                </a:lnTo>
                <a:lnTo>
                  <a:pt x="1151744" y="528952"/>
                </a:lnTo>
                <a:lnTo>
                  <a:pt x="1149915" y="547840"/>
                </a:lnTo>
                <a:lnTo>
                  <a:pt x="1148086" y="566738"/>
                </a:lnTo>
                <a:lnTo>
                  <a:pt x="1146248" y="585635"/>
                </a:lnTo>
                <a:lnTo>
                  <a:pt x="1144419" y="604523"/>
                </a:lnTo>
                <a:lnTo>
                  <a:pt x="1142590" y="623421"/>
                </a:lnTo>
                <a:lnTo>
                  <a:pt x="1140762" y="642318"/>
                </a:lnTo>
                <a:lnTo>
                  <a:pt x="1138923" y="661206"/>
                </a:lnTo>
                <a:lnTo>
                  <a:pt x="1137095" y="680104"/>
                </a:lnTo>
                <a:lnTo>
                  <a:pt x="1135266" y="699002"/>
                </a:lnTo>
                <a:lnTo>
                  <a:pt x="1133427" y="717890"/>
                </a:lnTo>
                <a:lnTo>
                  <a:pt x="1131599" y="736787"/>
                </a:lnTo>
                <a:lnTo>
                  <a:pt x="1121712" y="747713"/>
                </a:lnTo>
                <a:lnTo>
                  <a:pt x="1102843" y="749741"/>
                </a:lnTo>
                <a:lnTo>
                  <a:pt x="1083964" y="751780"/>
                </a:lnTo>
                <a:lnTo>
                  <a:pt x="1065095" y="753809"/>
                </a:lnTo>
                <a:lnTo>
                  <a:pt x="1046216" y="755847"/>
                </a:lnTo>
                <a:lnTo>
                  <a:pt x="1027347" y="757876"/>
                </a:lnTo>
                <a:lnTo>
                  <a:pt x="1008469" y="759914"/>
                </a:lnTo>
                <a:lnTo>
                  <a:pt x="989600" y="761943"/>
                </a:lnTo>
                <a:lnTo>
                  <a:pt x="970721" y="763981"/>
                </a:lnTo>
                <a:lnTo>
                  <a:pt x="951852" y="766010"/>
                </a:lnTo>
                <a:lnTo>
                  <a:pt x="932974" y="768048"/>
                </a:lnTo>
                <a:lnTo>
                  <a:pt x="914105" y="770077"/>
                </a:lnTo>
                <a:lnTo>
                  <a:pt x="895226" y="772116"/>
                </a:lnTo>
                <a:lnTo>
                  <a:pt x="876357" y="774144"/>
                </a:lnTo>
                <a:lnTo>
                  <a:pt x="857479" y="776183"/>
                </a:lnTo>
                <a:lnTo>
                  <a:pt x="838610" y="778212"/>
                </a:lnTo>
                <a:lnTo>
                  <a:pt x="819731" y="780250"/>
                </a:lnTo>
                <a:lnTo>
                  <a:pt x="800862" y="782279"/>
                </a:lnTo>
                <a:lnTo>
                  <a:pt x="781983" y="784317"/>
                </a:lnTo>
                <a:lnTo>
                  <a:pt x="763114" y="786346"/>
                </a:lnTo>
                <a:lnTo>
                  <a:pt x="744236" y="788384"/>
                </a:lnTo>
                <a:lnTo>
                  <a:pt x="725367" y="790413"/>
                </a:lnTo>
                <a:lnTo>
                  <a:pt x="706488" y="792451"/>
                </a:lnTo>
                <a:lnTo>
                  <a:pt x="687619" y="794480"/>
                </a:lnTo>
                <a:lnTo>
                  <a:pt x="668741" y="796519"/>
                </a:lnTo>
                <a:lnTo>
                  <a:pt x="649872" y="798547"/>
                </a:lnTo>
                <a:lnTo>
                  <a:pt x="630993" y="800586"/>
                </a:lnTo>
                <a:lnTo>
                  <a:pt x="612124" y="802615"/>
                </a:lnTo>
                <a:lnTo>
                  <a:pt x="593246" y="804653"/>
                </a:lnTo>
                <a:lnTo>
                  <a:pt x="574377" y="806682"/>
                </a:lnTo>
                <a:lnTo>
                  <a:pt x="555498" y="808720"/>
                </a:lnTo>
                <a:lnTo>
                  <a:pt x="536629" y="810749"/>
                </a:lnTo>
                <a:lnTo>
                  <a:pt x="517750" y="812787"/>
                </a:lnTo>
                <a:lnTo>
                  <a:pt x="498881" y="814816"/>
                </a:lnTo>
                <a:lnTo>
                  <a:pt x="480003" y="816854"/>
                </a:lnTo>
                <a:lnTo>
                  <a:pt x="461134" y="818883"/>
                </a:lnTo>
                <a:lnTo>
                  <a:pt x="442255" y="820922"/>
                </a:lnTo>
                <a:lnTo>
                  <a:pt x="423386" y="822950"/>
                </a:lnTo>
                <a:lnTo>
                  <a:pt x="404508" y="824989"/>
                </a:lnTo>
                <a:lnTo>
                  <a:pt x="385639" y="827018"/>
                </a:lnTo>
                <a:lnTo>
                  <a:pt x="366760" y="829056"/>
                </a:lnTo>
                <a:lnTo>
                  <a:pt x="347891" y="831085"/>
                </a:lnTo>
                <a:lnTo>
                  <a:pt x="329013" y="833123"/>
                </a:lnTo>
                <a:lnTo>
                  <a:pt x="310144" y="835152"/>
                </a:lnTo>
                <a:lnTo>
                  <a:pt x="291265" y="837190"/>
                </a:lnTo>
                <a:lnTo>
                  <a:pt x="272396" y="839219"/>
                </a:lnTo>
                <a:lnTo>
                  <a:pt x="253517" y="841258"/>
                </a:lnTo>
                <a:lnTo>
                  <a:pt x="234648" y="843286"/>
                </a:lnTo>
                <a:lnTo>
                  <a:pt x="215770" y="845325"/>
                </a:lnTo>
                <a:lnTo>
                  <a:pt x="196901" y="847354"/>
                </a:lnTo>
                <a:lnTo>
                  <a:pt x="178022" y="849392"/>
                </a:lnTo>
                <a:lnTo>
                  <a:pt x="159153" y="851421"/>
                </a:lnTo>
                <a:lnTo>
                  <a:pt x="140275" y="853459"/>
                </a:lnTo>
                <a:lnTo>
                  <a:pt x="121406" y="855488"/>
                </a:lnTo>
                <a:lnTo>
                  <a:pt x="102527" y="857526"/>
                </a:lnTo>
                <a:lnTo>
                  <a:pt x="83658" y="859555"/>
                </a:lnTo>
                <a:lnTo>
                  <a:pt x="64780" y="861593"/>
                </a:lnTo>
                <a:lnTo>
                  <a:pt x="45911" y="863622"/>
                </a:lnTo>
                <a:lnTo>
                  <a:pt x="27032" y="865661"/>
                </a:lnTo>
                <a:lnTo>
                  <a:pt x="8163" y="867689"/>
                </a:lnTo>
                <a:lnTo>
                  <a:pt x="0" y="858879"/>
                </a:lnTo>
                <a:lnTo>
                  <a:pt x="1810" y="839991"/>
                </a:lnTo>
                <a:lnTo>
                  <a:pt x="3620" y="821093"/>
                </a:lnTo>
                <a:lnTo>
                  <a:pt x="5420" y="802196"/>
                </a:lnTo>
                <a:lnTo>
                  <a:pt x="7229" y="783298"/>
                </a:lnTo>
                <a:lnTo>
                  <a:pt x="9039" y="764400"/>
                </a:lnTo>
                <a:lnTo>
                  <a:pt x="10849" y="745503"/>
                </a:lnTo>
                <a:lnTo>
                  <a:pt x="12649" y="726605"/>
                </a:lnTo>
                <a:lnTo>
                  <a:pt x="14459" y="707708"/>
                </a:lnTo>
                <a:lnTo>
                  <a:pt x="16269" y="688810"/>
                </a:lnTo>
                <a:lnTo>
                  <a:pt x="18078" y="669912"/>
                </a:lnTo>
                <a:lnTo>
                  <a:pt x="19888" y="651015"/>
                </a:lnTo>
                <a:lnTo>
                  <a:pt x="21688" y="632127"/>
                </a:lnTo>
                <a:lnTo>
                  <a:pt x="23498" y="613229"/>
                </a:lnTo>
                <a:lnTo>
                  <a:pt x="25308" y="594331"/>
                </a:lnTo>
                <a:lnTo>
                  <a:pt x="27118" y="575434"/>
                </a:lnTo>
                <a:lnTo>
                  <a:pt x="28927" y="556536"/>
                </a:lnTo>
                <a:lnTo>
                  <a:pt x="30728" y="537639"/>
                </a:lnTo>
                <a:lnTo>
                  <a:pt x="32537" y="518741"/>
                </a:lnTo>
                <a:lnTo>
                  <a:pt x="34347" y="499843"/>
                </a:lnTo>
                <a:lnTo>
                  <a:pt x="36157" y="480946"/>
                </a:lnTo>
                <a:lnTo>
                  <a:pt x="37957" y="462048"/>
                </a:lnTo>
                <a:lnTo>
                  <a:pt x="39767" y="443151"/>
                </a:lnTo>
                <a:lnTo>
                  <a:pt x="41577" y="424263"/>
                </a:lnTo>
                <a:lnTo>
                  <a:pt x="43386" y="405365"/>
                </a:lnTo>
                <a:lnTo>
                  <a:pt x="45196" y="386467"/>
                </a:lnTo>
                <a:lnTo>
                  <a:pt x="46996" y="367570"/>
                </a:lnTo>
                <a:lnTo>
                  <a:pt x="48806" y="348672"/>
                </a:lnTo>
                <a:lnTo>
                  <a:pt x="50616" y="329775"/>
                </a:lnTo>
                <a:lnTo>
                  <a:pt x="52426" y="310877"/>
                </a:lnTo>
                <a:lnTo>
                  <a:pt x="54235" y="291979"/>
                </a:lnTo>
                <a:lnTo>
                  <a:pt x="56036" y="273082"/>
                </a:lnTo>
                <a:lnTo>
                  <a:pt x="57845" y="254184"/>
                </a:lnTo>
                <a:lnTo>
                  <a:pt x="59655" y="235287"/>
                </a:lnTo>
                <a:lnTo>
                  <a:pt x="61465" y="216398"/>
                </a:lnTo>
                <a:lnTo>
                  <a:pt x="63275" y="197501"/>
                </a:lnTo>
                <a:lnTo>
                  <a:pt x="65075" y="178603"/>
                </a:lnTo>
                <a:lnTo>
                  <a:pt x="66885" y="159706"/>
                </a:lnTo>
                <a:lnTo>
                  <a:pt x="68694" y="140808"/>
                </a:lnTo>
                <a:lnTo>
                  <a:pt x="70504" y="121910"/>
                </a:lnTo>
              </a:path>
            </a:pathLst>
          </a:custGeom>
          <a:solidFill xmlns:a="http://schemas.openxmlformats.org/drawingml/2006/main">
            <a:srgbClr val="EEECE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1" name="maturity-step-riser-1">
            <a:extLst xmlns:a="http://schemas.openxmlformats.org/drawingml/2006/main">
              <a:ext uri="{FF2B5EF4-FFF2-40B4-BE49-F238E27FC236}">
                <a16:creationId xmlns:a16="http://schemas.microsoft.com/office/drawing/2014/main" id="{243D9141-A20F-4C38-9552-E32F767F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1923" y="4295889"/>
            <a:ext cx="490538" cy="627583"/>
          </a:xfrm>
          <a:custGeom xmlns:a="http://schemas.openxmlformats.org/drawingml/2006/main">
            <a:pathLst>
              <a:path w="490538" h="627583">
                <a:moveTo>
                  <a:pt x="0" y="627583"/>
                </a:moveTo>
                <a:lnTo>
                  <a:pt x="0" y="608657"/>
                </a:lnTo>
                <a:lnTo>
                  <a:pt x="0" y="589740"/>
                </a:lnTo>
                <a:lnTo>
                  <a:pt x="0" y="570814"/>
                </a:lnTo>
                <a:lnTo>
                  <a:pt x="0" y="551898"/>
                </a:lnTo>
                <a:lnTo>
                  <a:pt x="0" y="532971"/>
                </a:lnTo>
                <a:lnTo>
                  <a:pt x="0" y="514055"/>
                </a:lnTo>
                <a:lnTo>
                  <a:pt x="0" y="495129"/>
                </a:lnTo>
                <a:lnTo>
                  <a:pt x="0" y="476202"/>
                </a:lnTo>
                <a:lnTo>
                  <a:pt x="0" y="457286"/>
                </a:lnTo>
                <a:lnTo>
                  <a:pt x="0" y="438360"/>
                </a:lnTo>
                <a:lnTo>
                  <a:pt x="0" y="419443"/>
                </a:lnTo>
                <a:lnTo>
                  <a:pt x="0" y="400517"/>
                </a:lnTo>
                <a:lnTo>
                  <a:pt x="0" y="381600"/>
                </a:lnTo>
                <a:lnTo>
                  <a:pt x="0" y="362674"/>
                </a:lnTo>
                <a:lnTo>
                  <a:pt x="0" y="343757"/>
                </a:lnTo>
                <a:lnTo>
                  <a:pt x="0" y="324831"/>
                </a:lnTo>
                <a:lnTo>
                  <a:pt x="0" y="305905"/>
                </a:lnTo>
                <a:lnTo>
                  <a:pt x="0" y="286988"/>
                </a:lnTo>
                <a:lnTo>
                  <a:pt x="0" y="268062"/>
                </a:lnTo>
                <a:lnTo>
                  <a:pt x="0" y="249145"/>
                </a:lnTo>
                <a:lnTo>
                  <a:pt x="0" y="230219"/>
                </a:lnTo>
                <a:lnTo>
                  <a:pt x="0" y="211303"/>
                </a:lnTo>
                <a:lnTo>
                  <a:pt x="0" y="192376"/>
                </a:lnTo>
                <a:lnTo>
                  <a:pt x="0" y="173460"/>
                </a:lnTo>
                <a:lnTo>
                  <a:pt x="4201" y="157591"/>
                </a:lnTo>
                <a:lnTo>
                  <a:pt x="22203" y="151752"/>
                </a:lnTo>
                <a:lnTo>
                  <a:pt x="40205" y="145913"/>
                </a:lnTo>
                <a:lnTo>
                  <a:pt x="58198" y="140084"/>
                </a:lnTo>
                <a:lnTo>
                  <a:pt x="76200" y="134245"/>
                </a:lnTo>
                <a:lnTo>
                  <a:pt x="94202" y="128407"/>
                </a:lnTo>
                <a:lnTo>
                  <a:pt x="112195" y="122568"/>
                </a:lnTo>
                <a:lnTo>
                  <a:pt x="130197" y="116729"/>
                </a:lnTo>
                <a:lnTo>
                  <a:pt x="148199" y="110900"/>
                </a:lnTo>
                <a:lnTo>
                  <a:pt x="166192" y="105061"/>
                </a:lnTo>
                <a:lnTo>
                  <a:pt x="184194" y="99222"/>
                </a:lnTo>
                <a:lnTo>
                  <a:pt x="202197" y="93383"/>
                </a:lnTo>
                <a:lnTo>
                  <a:pt x="220189" y="87554"/>
                </a:lnTo>
                <a:lnTo>
                  <a:pt x="238192" y="81715"/>
                </a:lnTo>
                <a:lnTo>
                  <a:pt x="256194" y="75876"/>
                </a:lnTo>
                <a:lnTo>
                  <a:pt x="274196" y="70037"/>
                </a:lnTo>
                <a:lnTo>
                  <a:pt x="292189" y="64199"/>
                </a:lnTo>
                <a:lnTo>
                  <a:pt x="310191" y="58369"/>
                </a:lnTo>
                <a:lnTo>
                  <a:pt x="328193" y="52530"/>
                </a:lnTo>
                <a:lnTo>
                  <a:pt x="346186" y="46692"/>
                </a:lnTo>
                <a:lnTo>
                  <a:pt x="364188" y="40853"/>
                </a:lnTo>
                <a:lnTo>
                  <a:pt x="382191" y="35023"/>
                </a:lnTo>
                <a:lnTo>
                  <a:pt x="400183" y="29185"/>
                </a:lnTo>
                <a:lnTo>
                  <a:pt x="418186" y="23346"/>
                </a:lnTo>
                <a:lnTo>
                  <a:pt x="436188" y="17507"/>
                </a:lnTo>
                <a:lnTo>
                  <a:pt x="454181" y="11678"/>
                </a:lnTo>
                <a:lnTo>
                  <a:pt x="472183" y="5839"/>
                </a:lnTo>
                <a:lnTo>
                  <a:pt x="490185" y="0"/>
                </a:lnTo>
                <a:lnTo>
                  <a:pt x="490538" y="18431"/>
                </a:lnTo>
                <a:lnTo>
                  <a:pt x="490538" y="37357"/>
                </a:lnTo>
                <a:lnTo>
                  <a:pt x="490538" y="56274"/>
                </a:lnTo>
                <a:lnTo>
                  <a:pt x="490538" y="75200"/>
                </a:lnTo>
                <a:lnTo>
                  <a:pt x="490538" y="94126"/>
                </a:lnTo>
                <a:lnTo>
                  <a:pt x="490538" y="113043"/>
                </a:lnTo>
                <a:lnTo>
                  <a:pt x="490538" y="131969"/>
                </a:lnTo>
                <a:lnTo>
                  <a:pt x="490538" y="150886"/>
                </a:lnTo>
                <a:lnTo>
                  <a:pt x="490538" y="169812"/>
                </a:lnTo>
                <a:lnTo>
                  <a:pt x="490538" y="188728"/>
                </a:lnTo>
                <a:lnTo>
                  <a:pt x="490538" y="207655"/>
                </a:lnTo>
                <a:lnTo>
                  <a:pt x="490538" y="226571"/>
                </a:lnTo>
                <a:lnTo>
                  <a:pt x="490538" y="245497"/>
                </a:lnTo>
                <a:lnTo>
                  <a:pt x="490538" y="264414"/>
                </a:lnTo>
                <a:lnTo>
                  <a:pt x="490538" y="283340"/>
                </a:lnTo>
                <a:lnTo>
                  <a:pt x="490538" y="302266"/>
                </a:lnTo>
                <a:lnTo>
                  <a:pt x="490538" y="321183"/>
                </a:lnTo>
                <a:lnTo>
                  <a:pt x="490538" y="340109"/>
                </a:lnTo>
                <a:lnTo>
                  <a:pt x="490538" y="359026"/>
                </a:lnTo>
                <a:lnTo>
                  <a:pt x="490538" y="377952"/>
                </a:lnTo>
                <a:lnTo>
                  <a:pt x="490538" y="396869"/>
                </a:lnTo>
                <a:lnTo>
                  <a:pt x="490538" y="415795"/>
                </a:lnTo>
                <a:lnTo>
                  <a:pt x="490538" y="434711"/>
                </a:lnTo>
                <a:lnTo>
                  <a:pt x="476860" y="444246"/>
                </a:lnTo>
                <a:lnTo>
                  <a:pt x="459200" y="451037"/>
                </a:lnTo>
                <a:lnTo>
                  <a:pt x="441541" y="457829"/>
                </a:lnTo>
                <a:lnTo>
                  <a:pt x="423882" y="464620"/>
                </a:lnTo>
                <a:lnTo>
                  <a:pt x="406213" y="471402"/>
                </a:lnTo>
                <a:lnTo>
                  <a:pt x="388553" y="478193"/>
                </a:lnTo>
                <a:lnTo>
                  <a:pt x="370894" y="484984"/>
                </a:lnTo>
                <a:lnTo>
                  <a:pt x="353235" y="491776"/>
                </a:lnTo>
                <a:lnTo>
                  <a:pt x="335566" y="498567"/>
                </a:lnTo>
                <a:lnTo>
                  <a:pt x="317906" y="505358"/>
                </a:lnTo>
                <a:lnTo>
                  <a:pt x="300247" y="512150"/>
                </a:lnTo>
                <a:lnTo>
                  <a:pt x="282588" y="518941"/>
                </a:lnTo>
                <a:lnTo>
                  <a:pt x="264928" y="525732"/>
                </a:lnTo>
                <a:lnTo>
                  <a:pt x="247259" y="532514"/>
                </a:lnTo>
                <a:lnTo>
                  <a:pt x="229600" y="539306"/>
                </a:lnTo>
                <a:lnTo>
                  <a:pt x="211941" y="546097"/>
                </a:lnTo>
                <a:lnTo>
                  <a:pt x="194281" y="552888"/>
                </a:lnTo>
                <a:lnTo>
                  <a:pt x="176613" y="559679"/>
                </a:lnTo>
                <a:lnTo>
                  <a:pt x="158953" y="566471"/>
                </a:lnTo>
                <a:lnTo>
                  <a:pt x="141294" y="573262"/>
                </a:lnTo>
                <a:lnTo>
                  <a:pt x="123635" y="580053"/>
                </a:lnTo>
                <a:lnTo>
                  <a:pt x="105966" y="586845"/>
                </a:lnTo>
                <a:lnTo>
                  <a:pt x="88306" y="593627"/>
                </a:lnTo>
                <a:lnTo>
                  <a:pt x="70647" y="600418"/>
                </a:lnTo>
                <a:lnTo>
                  <a:pt x="52988" y="607209"/>
                </a:lnTo>
                <a:lnTo>
                  <a:pt x="35319" y="614001"/>
                </a:lnTo>
                <a:lnTo>
                  <a:pt x="17659" y="620792"/>
                </a:lnTo>
                <a:lnTo>
                  <a:pt x="0" y="627583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2" name="maturity-step-top-1">
            <a:extLst xmlns:a="http://schemas.openxmlformats.org/drawingml/2006/main">
              <a:ext uri="{FF2B5EF4-FFF2-40B4-BE49-F238E27FC236}">
                <a16:creationId xmlns:a16="http://schemas.microsoft.com/office/drawing/2014/main" id="{5225114E-C60C-4F8B-BEAD-1D25B2A2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6928" y="4734878"/>
            <a:ext cx="2352561" cy="188595"/>
          </a:xfrm>
          <a:custGeom xmlns:a="http://schemas.openxmlformats.org/drawingml/2006/main">
            <a:pathLst>
              <a:path w="2352561" h="188595">
                <a:moveTo>
                  <a:pt x="0" y="188595"/>
                </a:moveTo>
                <a:lnTo>
                  <a:pt x="19898" y="188595"/>
                </a:lnTo>
                <a:lnTo>
                  <a:pt x="39786" y="188595"/>
                </a:lnTo>
                <a:lnTo>
                  <a:pt x="59684" y="188595"/>
                </a:lnTo>
                <a:lnTo>
                  <a:pt x="79581" y="188595"/>
                </a:lnTo>
                <a:lnTo>
                  <a:pt x="99470" y="188595"/>
                </a:lnTo>
                <a:lnTo>
                  <a:pt x="119367" y="188595"/>
                </a:lnTo>
                <a:lnTo>
                  <a:pt x="139265" y="188595"/>
                </a:lnTo>
                <a:lnTo>
                  <a:pt x="159153" y="188595"/>
                </a:lnTo>
                <a:lnTo>
                  <a:pt x="179051" y="188595"/>
                </a:lnTo>
                <a:lnTo>
                  <a:pt x="198949" y="188595"/>
                </a:lnTo>
                <a:lnTo>
                  <a:pt x="218837" y="188595"/>
                </a:lnTo>
                <a:lnTo>
                  <a:pt x="238735" y="188595"/>
                </a:lnTo>
                <a:lnTo>
                  <a:pt x="258632" y="188595"/>
                </a:lnTo>
                <a:lnTo>
                  <a:pt x="278521" y="188595"/>
                </a:lnTo>
                <a:lnTo>
                  <a:pt x="298418" y="188595"/>
                </a:lnTo>
                <a:lnTo>
                  <a:pt x="318316" y="188595"/>
                </a:lnTo>
                <a:lnTo>
                  <a:pt x="338204" y="188595"/>
                </a:lnTo>
                <a:lnTo>
                  <a:pt x="358102" y="188595"/>
                </a:lnTo>
                <a:lnTo>
                  <a:pt x="378000" y="188595"/>
                </a:lnTo>
                <a:lnTo>
                  <a:pt x="397888" y="188595"/>
                </a:lnTo>
                <a:lnTo>
                  <a:pt x="417786" y="188595"/>
                </a:lnTo>
                <a:lnTo>
                  <a:pt x="437683" y="188595"/>
                </a:lnTo>
                <a:lnTo>
                  <a:pt x="457571" y="188595"/>
                </a:lnTo>
                <a:lnTo>
                  <a:pt x="477469" y="188595"/>
                </a:lnTo>
                <a:lnTo>
                  <a:pt x="497367" y="188595"/>
                </a:lnTo>
                <a:lnTo>
                  <a:pt x="517255" y="188595"/>
                </a:lnTo>
                <a:lnTo>
                  <a:pt x="537153" y="188595"/>
                </a:lnTo>
                <a:lnTo>
                  <a:pt x="557051" y="188595"/>
                </a:lnTo>
                <a:lnTo>
                  <a:pt x="576948" y="188595"/>
                </a:lnTo>
                <a:lnTo>
                  <a:pt x="596837" y="188595"/>
                </a:lnTo>
                <a:lnTo>
                  <a:pt x="616734" y="188595"/>
                </a:lnTo>
                <a:lnTo>
                  <a:pt x="636632" y="188595"/>
                </a:lnTo>
                <a:lnTo>
                  <a:pt x="656520" y="188595"/>
                </a:lnTo>
                <a:lnTo>
                  <a:pt x="676418" y="188595"/>
                </a:lnTo>
                <a:lnTo>
                  <a:pt x="696316" y="188595"/>
                </a:lnTo>
                <a:lnTo>
                  <a:pt x="716204" y="188595"/>
                </a:lnTo>
                <a:lnTo>
                  <a:pt x="736102" y="188595"/>
                </a:lnTo>
                <a:lnTo>
                  <a:pt x="755999" y="188595"/>
                </a:lnTo>
                <a:lnTo>
                  <a:pt x="775887" y="188595"/>
                </a:lnTo>
                <a:lnTo>
                  <a:pt x="795785" y="188595"/>
                </a:lnTo>
                <a:lnTo>
                  <a:pt x="815683" y="188595"/>
                </a:lnTo>
                <a:lnTo>
                  <a:pt x="835571" y="188595"/>
                </a:lnTo>
                <a:lnTo>
                  <a:pt x="855469" y="188595"/>
                </a:lnTo>
                <a:lnTo>
                  <a:pt x="875367" y="188595"/>
                </a:lnTo>
                <a:lnTo>
                  <a:pt x="895255" y="188595"/>
                </a:lnTo>
                <a:lnTo>
                  <a:pt x="915152" y="188595"/>
                </a:lnTo>
                <a:lnTo>
                  <a:pt x="935050" y="188595"/>
                </a:lnTo>
                <a:lnTo>
                  <a:pt x="954938" y="188595"/>
                </a:lnTo>
                <a:lnTo>
                  <a:pt x="974836" y="188595"/>
                </a:lnTo>
                <a:lnTo>
                  <a:pt x="994734" y="188595"/>
                </a:lnTo>
                <a:lnTo>
                  <a:pt x="1014622" y="188595"/>
                </a:lnTo>
                <a:lnTo>
                  <a:pt x="1034520" y="188595"/>
                </a:lnTo>
                <a:lnTo>
                  <a:pt x="1054418" y="188595"/>
                </a:lnTo>
                <a:lnTo>
                  <a:pt x="1074306" y="188595"/>
                </a:lnTo>
                <a:lnTo>
                  <a:pt x="1094203" y="188595"/>
                </a:lnTo>
                <a:lnTo>
                  <a:pt x="1114101" y="188595"/>
                </a:lnTo>
                <a:lnTo>
                  <a:pt x="1133989" y="188595"/>
                </a:lnTo>
                <a:lnTo>
                  <a:pt x="1153887" y="188595"/>
                </a:lnTo>
                <a:lnTo>
                  <a:pt x="1173785" y="188595"/>
                </a:lnTo>
                <a:lnTo>
                  <a:pt x="1193673" y="188595"/>
                </a:lnTo>
                <a:lnTo>
                  <a:pt x="1213571" y="188595"/>
                </a:lnTo>
                <a:lnTo>
                  <a:pt x="1233468" y="188595"/>
                </a:lnTo>
                <a:lnTo>
                  <a:pt x="1253357" y="188595"/>
                </a:lnTo>
                <a:lnTo>
                  <a:pt x="1273254" y="188595"/>
                </a:lnTo>
                <a:lnTo>
                  <a:pt x="1293152" y="188595"/>
                </a:lnTo>
                <a:lnTo>
                  <a:pt x="1313040" y="188595"/>
                </a:lnTo>
                <a:lnTo>
                  <a:pt x="1332938" y="188595"/>
                </a:lnTo>
                <a:lnTo>
                  <a:pt x="1352836" y="188595"/>
                </a:lnTo>
                <a:lnTo>
                  <a:pt x="1372724" y="188595"/>
                </a:lnTo>
                <a:lnTo>
                  <a:pt x="1392622" y="188595"/>
                </a:lnTo>
                <a:lnTo>
                  <a:pt x="1412519" y="188595"/>
                </a:lnTo>
                <a:lnTo>
                  <a:pt x="1432408" y="188595"/>
                </a:lnTo>
                <a:lnTo>
                  <a:pt x="1452305" y="188595"/>
                </a:lnTo>
                <a:lnTo>
                  <a:pt x="1472203" y="188595"/>
                </a:lnTo>
                <a:lnTo>
                  <a:pt x="1492091" y="188595"/>
                </a:lnTo>
                <a:lnTo>
                  <a:pt x="1511989" y="188595"/>
                </a:lnTo>
                <a:lnTo>
                  <a:pt x="1531887" y="188595"/>
                </a:lnTo>
                <a:lnTo>
                  <a:pt x="1551775" y="188595"/>
                </a:lnTo>
                <a:lnTo>
                  <a:pt x="1571673" y="188595"/>
                </a:lnTo>
                <a:lnTo>
                  <a:pt x="1591570" y="188595"/>
                </a:lnTo>
                <a:lnTo>
                  <a:pt x="1611459" y="188595"/>
                </a:lnTo>
                <a:lnTo>
                  <a:pt x="1631356" y="188595"/>
                </a:lnTo>
                <a:lnTo>
                  <a:pt x="1651254" y="188595"/>
                </a:lnTo>
                <a:lnTo>
                  <a:pt x="1671142" y="188595"/>
                </a:lnTo>
                <a:lnTo>
                  <a:pt x="1691040" y="188595"/>
                </a:lnTo>
                <a:lnTo>
                  <a:pt x="1710938" y="188595"/>
                </a:lnTo>
                <a:lnTo>
                  <a:pt x="1730835" y="188595"/>
                </a:lnTo>
                <a:lnTo>
                  <a:pt x="1750724" y="188595"/>
                </a:lnTo>
                <a:lnTo>
                  <a:pt x="1770621" y="188595"/>
                </a:lnTo>
                <a:lnTo>
                  <a:pt x="1790510" y="188595"/>
                </a:lnTo>
                <a:lnTo>
                  <a:pt x="1810407" y="188595"/>
                </a:lnTo>
                <a:lnTo>
                  <a:pt x="1830305" y="188595"/>
                </a:lnTo>
                <a:lnTo>
                  <a:pt x="1850203" y="188595"/>
                </a:lnTo>
                <a:lnTo>
                  <a:pt x="1869758" y="186766"/>
                </a:lnTo>
                <a:lnTo>
                  <a:pt x="1888322" y="179622"/>
                </a:lnTo>
                <a:lnTo>
                  <a:pt x="1906895" y="172488"/>
                </a:lnTo>
                <a:lnTo>
                  <a:pt x="1925460" y="165344"/>
                </a:lnTo>
                <a:lnTo>
                  <a:pt x="1944033" y="158210"/>
                </a:lnTo>
                <a:lnTo>
                  <a:pt x="1962598" y="151067"/>
                </a:lnTo>
                <a:lnTo>
                  <a:pt x="1981171" y="143932"/>
                </a:lnTo>
                <a:lnTo>
                  <a:pt x="1999736" y="136789"/>
                </a:lnTo>
                <a:lnTo>
                  <a:pt x="2018309" y="129654"/>
                </a:lnTo>
                <a:lnTo>
                  <a:pt x="2036883" y="122511"/>
                </a:lnTo>
                <a:lnTo>
                  <a:pt x="2055447" y="115376"/>
                </a:lnTo>
                <a:lnTo>
                  <a:pt x="2074021" y="108233"/>
                </a:lnTo>
                <a:lnTo>
                  <a:pt x="2092585" y="101089"/>
                </a:lnTo>
                <a:lnTo>
                  <a:pt x="2111159" y="93955"/>
                </a:lnTo>
                <a:lnTo>
                  <a:pt x="2129723" y="86811"/>
                </a:lnTo>
                <a:lnTo>
                  <a:pt x="2148297" y="79677"/>
                </a:lnTo>
                <a:lnTo>
                  <a:pt x="2166861" y="72533"/>
                </a:lnTo>
                <a:lnTo>
                  <a:pt x="2185435" y="65399"/>
                </a:lnTo>
                <a:lnTo>
                  <a:pt x="2203999" y="58255"/>
                </a:lnTo>
                <a:lnTo>
                  <a:pt x="2222573" y="51121"/>
                </a:lnTo>
                <a:lnTo>
                  <a:pt x="2241147" y="43977"/>
                </a:lnTo>
                <a:lnTo>
                  <a:pt x="2259711" y="36843"/>
                </a:lnTo>
                <a:lnTo>
                  <a:pt x="2278285" y="29699"/>
                </a:lnTo>
                <a:lnTo>
                  <a:pt x="2296849" y="22565"/>
                </a:lnTo>
                <a:lnTo>
                  <a:pt x="2315423" y="15421"/>
                </a:lnTo>
                <a:lnTo>
                  <a:pt x="2333987" y="8287"/>
                </a:lnTo>
                <a:lnTo>
                  <a:pt x="2352561" y="1143"/>
                </a:lnTo>
                <a:lnTo>
                  <a:pt x="2338826" y="0"/>
                </a:lnTo>
                <a:lnTo>
                  <a:pt x="2318928" y="0"/>
                </a:lnTo>
                <a:lnTo>
                  <a:pt x="2299030" y="0"/>
                </a:lnTo>
                <a:lnTo>
                  <a:pt x="2279142" y="0"/>
                </a:lnTo>
                <a:lnTo>
                  <a:pt x="2259244" y="0"/>
                </a:lnTo>
                <a:lnTo>
                  <a:pt x="2239347" y="0"/>
                </a:lnTo>
                <a:lnTo>
                  <a:pt x="2219458" y="0"/>
                </a:lnTo>
                <a:lnTo>
                  <a:pt x="2199561" y="0"/>
                </a:lnTo>
                <a:lnTo>
                  <a:pt x="2179663" y="0"/>
                </a:lnTo>
                <a:lnTo>
                  <a:pt x="2159775" y="0"/>
                </a:lnTo>
                <a:lnTo>
                  <a:pt x="2139877" y="0"/>
                </a:lnTo>
                <a:lnTo>
                  <a:pt x="2119979" y="0"/>
                </a:lnTo>
                <a:lnTo>
                  <a:pt x="2100091" y="0"/>
                </a:lnTo>
                <a:lnTo>
                  <a:pt x="2080193" y="0"/>
                </a:lnTo>
                <a:lnTo>
                  <a:pt x="2060296" y="0"/>
                </a:lnTo>
                <a:lnTo>
                  <a:pt x="2040407" y="0"/>
                </a:lnTo>
                <a:lnTo>
                  <a:pt x="2020510" y="0"/>
                </a:lnTo>
                <a:lnTo>
                  <a:pt x="2000612" y="0"/>
                </a:lnTo>
                <a:lnTo>
                  <a:pt x="1980724" y="0"/>
                </a:lnTo>
                <a:lnTo>
                  <a:pt x="1960826" y="0"/>
                </a:lnTo>
                <a:lnTo>
                  <a:pt x="1940928" y="0"/>
                </a:lnTo>
                <a:lnTo>
                  <a:pt x="1921040" y="0"/>
                </a:lnTo>
                <a:lnTo>
                  <a:pt x="1901142" y="0"/>
                </a:lnTo>
                <a:lnTo>
                  <a:pt x="1881245" y="0"/>
                </a:lnTo>
                <a:lnTo>
                  <a:pt x="1861356" y="0"/>
                </a:lnTo>
                <a:lnTo>
                  <a:pt x="1841459" y="0"/>
                </a:lnTo>
                <a:lnTo>
                  <a:pt x="1821561" y="0"/>
                </a:lnTo>
                <a:lnTo>
                  <a:pt x="1801673" y="0"/>
                </a:lnTo>
                <a:lnTo>
                  <a:pt x="1781775" y="0"/>
                </a:lnTo>
                <a:lnTo>
                  <a:pt x="1761877" y="0"/>
                </a:lnTo>
                <a:lnTo>
                  <a:pt x="1741989" y="0"/>
                </a:lnTo>
                <a:lnTo>
                  <a:pt x="1722091" y="0"/>
                </a:lnTo>
                <a:lnTo>
                  <a:pt x="1702194" y="0"/>
                </a:lnTo>
                <a:lnTo>
                  <a:pt x="1682306" y="0"/>
                </a:lnTo>
                <a:lnTo>
                  <a:pt x="1662408" y="0"/>
                </a:lnTo>
                <a:lnTo>
                  <a:pt x="1642510" y="0"/>
                </a:lnTo>
                <a:lnTo>
                  <a:pt x="1622612" y="0"/>
                </a:lnTo>
                <a:lnTo>
                  <a:pt x="1602724" y="0"/>
                </a:lnTo>
                <a:lnTo>
                  <a:pt x="1582826" y="0"/>
                </a:lnTo>
                <a:lnTo>
                  <a:pt x="1562929" y="0"/>
                </a:lnTo>
                <a:lnTo>
                  <a:pt x="1543040" y="0"/>
                </a:lnTo>
                <a:lnTo>
                  <a:pt x="1523143" y="0"/>
                </a:lnTo>
                <a:lnTo>
                  <a:pt x="1503245" y="0"/>
                </a:lnTo>
                <a:lnTo>
                  <a:pt x="1483357" y="0"/>
                </a:lnTo>
                <a:lnTo>
                  <a:pt x="1463459" y="0"/>
                </a:lnTo>
                <a:lnTo>
                  <a:pt x="1443561" y="0"/>
                </a:lnTo>
                <a:lnTo>
                  <a:pt x="1423673" y="0"/>
                </a:lnTo>
                <a:lnTo>
                  <a:pt x="1403775" y="0"/>
                </a:lnTo>
                <a:lnTo>
                  <a:pt x="1383878" y="0"/>
                </a:lnTo>
                <a:lnTo>
                  <a:pt x="1363990" y="0"/>
                </a:lnTo>
                <a:lnTo>
                  <a:pt x="1344092" y="0"/>
                </a:lnTo>
                <a:lnTo>
                  <a:pt x="1324194" y="0"/>
                </a:lnTo>
                <a:lnTo>
                  <a:pt x="1304306" y="0"/>
                </a:lnTo>
                <a:lnTo>
                  <a:pt x="1284408" y="0"/>
                </a:lnTo>
                <a:lnTo>
                  <a:pt x="1264510" y="0"/>
                </a:lnTo>
                <a:lnTo>
                  <a:pt x="1244622" y="0"/>
                </a:lnTo>
                <a:lnTo>
                  <a:pt x="1224725" y="0"/>
                </a:lnTo>
                <a:lnTo>
                  <a:pt x="1204827" y="0"/>
                </a:lnTo>
                <a:lnTo>
                  <a:pt x="1184939" y="0"/>
                </a:lnTo>
                <a:lnTo>
                  <a:pt x="1165041" y="0"/>
                </a:lnTo>
                <a:lnTo>
                  <a:pt x="1145143" y="0"/>
                </a:lnTo>
                <a:lnTo>
                  <a:pt x="1125255" y="0"/>
                </a:lnTo>
                <a:lnTo>
                  <a:pt x="1105357" y="0"/>
                </a:lnTo>
                <a:lnTo>
                  <a:pt x="1085459" y="0"/>
                </a:lnTo>
                <a:lnTo>
                  <a:pt x="1065571" y="0"/>
                </a:lnTo>
                <a:lnTo>
                  <a:pt x="1045674" y="0"/>
                </a:lnTo>
                <a:lnTo>
                  <a:pt x="1025776" y="0"/>
                </a:lnTo>
                <a:lnTo>
                  <a:pt x="1005888" y="0"/>
                </a:lnTo>
                <a:lnTo>
                  <a:pt x="985990" y="0"/>
                </a:lnTo>
                <a:lnTo>
                  <a:pt x="966092" y="0"/>
                </a:lnTo>
                <a:lnTo>
                  <a:pt x="946204" y="0"/>
                </a:lnTo>
                <a:lnTo>
                  <a:pt x="926306" y="0"/>
                </a:lnTo>
                <a:lnTo>
                  <a:pt x="906409" y="0"/>
                </a:lnTo>
                <a:lnTo>
                  <a:pt x="886520" y="0"/>
                </a:lnTo>
                <a:lnTo>
                  <a:pt x="866623" y="0"/>
                </a:lnTo>
                <a:lnTo>
                  <a:pt x="846725" y="0"/>
                </a:lnTo>
                <a:lnTo>
                  <a:pt x="826837" y="0"/>
                </a:lnTo>
                <a:lnTo>
                  <a:pt x="806939" y="0"/>
                </a:lnTo>
                <a:lnTo>
                  <a:pt x="787041" y="0"/>
                </a:lnTo>
                <a:lnTo>
                  <a:pt x="767153" y="0"/>
                </a:lnTo>
                <a:lnTo>
                  <a:pt x="747255" y="0"/>
                </a:lnTo>
                <a:lnTo>
                  <a:pt x="727358" y="0"/>
                </a:lnTo>
                <a:lnTo>
                  <a:pt x="707469" y="0"/>
                </a:lnTo>
                <a:lnTo>
                  <a:pt x="687572" y="0"/>
                </a:lnTo>
                <a:lnTo>
                  <a:pt x="667674" y="0"/>
                </a:lnTo>
                <a:lnTo>
                  <a:pt x="647786" y="0"/>
                </a:lnTo>
                <a:lnTo>
                  <a:pt x="627888" y="0"/>
                </a:lnTo>
                <a:lnTo>
                  <a:pt x="607990" y="0"/>
                </a:lnTo>
                <a:lnTo>
                  <a:pt x="588940" y="5534"/>
                </a:lnTo>
                <a:lnTo>
                  <a:pt x="569938" y="11440"/>
                </a:lnTo>
                <a:lnTo>
                  <a:pt x="550945" y="17345"/>
                </a:lnTo>
                <a:lnTo>
                  <a:pt x="531943" y="23251"/>
                </a:lnTo>
                <a:lnTo>
                  <a:pt x="512950" y="29156"/>
                </a:lnTo>
                <a:lnTo>
                  <a:pt x="493947" y="35062"/>
                </a:lnTo>
                <a:lnTo>
                  <a:pt x="474955" y="40967"/>
                </a:lnTo>
                <a:lnTo>
                  <a:pt x="455952" y="46873"/>
                </a:lnTo>
                <a:lnTo>
                  <a:pt x="436950" y="52778"/>
                </a:lnTo>
                <a:lnTo>
                  <a:pt x="417957" y="58684"/>
                </a:lnTo>
                <a:lnTo>
                  <a:pt x="398955" y="64589"/>
                </a:lnTo>
                <a:lnTo>
                  <a:pt x="379962" y="70495"/>
                </a:lnTo>
                <a:lnTo>
                  <a:pt x="360959" y="76400"/>
                </a:lnTo>
                <a:lnTo>
                  <a:pt x="341967" y="82306"/>
                </a:lnTo>
                <a:lnTo>
                  <a:pt x="322964" y="88211"/>
                </a:lnTo>
                <a:lnTo>
                  <a:pt x="303971" y="94117"/>
                </a:lnTo>
                <a:lnTo>
                  <a:pt x="284969" y="100013"/>
                </a:lnTo>
                <a:lnTo>
                  <a:pt x="265976" y="105918"/>
                </a:lnTo>
                <a:lnTo>
                  <a:pt x="246974" y="111824"/>
                </a:lnTo>
                <a:lnTo>
                  <a:pt x="227971" y="117729"/>
                </a:lnTo>
                <a:lnTo>
                  <a:pt x="208979" y="123635"/>
                </a:lnTo>
                <a:lnTo>
                  <a:pt x="189976" y="129540"/>
                </a:lnTo>
                <a:lnTo>
                  <a:pt x="170983" y="135446"/>
                </a:lnTo>
                <a:lnTo>
                  <a:pt x="151981" y="141351"/>
                </a:lnTo>
                <a:lnTo>
                  <a:pt x="132988" y="147257"/>
                </a:lnTo>
                <a:lnTo>
                  <a:pt x="113986" y="153162"/>
                </a:lnTo>
                <a:lnTo>
                  <a:pt x="94993" y="159068"/>
                </a:lnTo>
                <a:lnTo>
                  <a:pt x="75990" y="164973"/>
                </a:lnTo>
                <a:lnTo>
                  <a:pt x="56998" y="170879"/>
                </a:lnTo>
                <a:lnTo>
                  <a:pt x="37995" y="176784"/>
                </a:lnTo>
                <a:lnTo>
                  <a:pt x="19002" y="182690"/>
                </a:lnTo>
                <a:lnTo>
                  <a:pt x="0" y="18859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3" name="maturity-step-inset-1">
            <a:extLst xmlns:a="http://schemas.openxmlformats.org/drawingml/2006/main">
              <a:ext uri="{FF2B5EF4-FFF2-40B4-BE49-F238E27FC236}">
                <a16:creationId xmlns:a16="http://schemas.microsoft.com/office/drawing/2014/main" id="{57C87BF8-CF98-4D44-8F69-4BC1D17B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5035" y="4734878"/>
            <a:ext cx="2165985" cy="188595"/>
          </a:xfrm>
          <a:custGeom xmlns:a="http://schemas.openxmlformats.org/drawingml/2006/main">
            <a:pathLst>
              <a:path w="2165985" h="188595">
                <a:moveTo>
                  <a:pt x="0" y="188595"/>
                </a:moveTo>
                <a:lnTo>
                  <a:pt x="18974" y="188595"/>
                </a:lnTo>
                <a:lnTo>
                  <a:pt x="37938" y="188595"/>
                </a:lnTo>
                <a:lnTo>
                  <a:pt x="56912" y="188595"/>
                </a:lnTo>
                <a:lnTo>
                  <a:pt x="75886" y="188595"/>
                </a:lnTo>
                <a:lnTo>
                  <a:pt x="94850" y="188595"/>
                </a:lnTo>
                <a:lnTo>
                  <a:pt x="113824" y="188595"/>
                </a:lnTo>
                <a:lnTo>
                  <a:pt x="132788" y="188595"/>
                </a:lnTo>
                <a:lnTo>
                  <a:pt x="151762" y="188595"/>
                </a:lnTo>
                <a:lnTo>
                  <a:pt x="170736" y="188595"/>
                </a:lnTo>
                <a:lnTo>
                  <a:pt x="189700" y="188595"/>
                </a:lnTo>
                <a:lnTo>
                  <a:pt x="208674" y="188595"/>
                </a:lnTo>
                <a:lnTo>
                  <a:pt x="227648" y="188595"/>
                </a:lnTo>
                <a:lnTo>
                  <a:pt x="246612" y="188595"/>
                </a:lnTo>
                <a:lnTo>
                  <a:pt x="265586" y="188595"/>
                </a:lnTo>
                <a:lnTo>
                  <a:pt x="284550" y="188595"/>
                </a:lnTo>
                <a:lnTo>
                  <a:pt x="303524" y="188595"/>
                </a:lnTo>
                <a:lnTo>
                  <a:pt x="322497" y="188595"/>
                </a:lnTo>
                <a:lnTo>
                  <a:pt x="341462" y="188595"/>
                </a:lnTo>
                <a:lnTo>
                  <a:pt x="360436" y="188595"/>
                </a:lnTo>
                <a:lnTo>
                  <a:pt x="379409" y="188595"/>
                </a:lnTo>
                <a:lnTo>
                  <a:pt x="398374" y="188595"/>
                </a:lnTo>
                <a:lnTo>
                  <a:pt x="417347" y="188595"/>
                </a:lnTo>
                <a:lnTo>
                  <a:pt x="436312" y="188595"/>
                </a:lnTo>
                <a:lnTo>
                  <a:pt x="455285" y="188595"/>
                </a:lnTo>
                <a:lnTo>
                  <a:pt x="474259" y="188595"/>
                </a:lnTo>
                <a:lnTo>
                  <a:pt x="493224" y="188595"/>
                </a:lnTo>
                <a:lnTo>
                  <a:pt x="512197" y="188595"/>
                </a:lnTo>
                <a:lnTo>
                  <a:pt x="531171" y="188595"/>
                </a:lnTo>
                <a:lnTo>
                  <a:pt x="550135" y="188595"/>
                </a:lnTo>
                <a:lnTo>
                  <a:pt x="569109" y="188595"/>
                </a:lnTo>
                <a:lnTo>
                  <a:pt x="588083" y="188595"/>
                </a:lnTo>
                <a:lnTo>
                  <a:pt x="607047" y="188595"/>
                </a:lnTo>
                <a:lnTo>
                  <a:pt x="626021" y="188595"/>
                </a:lnTo>
                <a:lnTo>
                  <a:pt x="644985" y="188595"/>
                </a:lnTo>
                <a:lnTo>
                  <a:pt x="663959" y="188595"/>
                </a:lnTo>
                <a:lnTo>
                  <a:pt x="682933" y="188595"/>
                </a:lnTo>
                <a:lnTo>
                  <a:pt x="701897" y="188595"/>
                </a:lnTo>
                <a:lnTo>
                  <a:pt x="720871" y="188595"/>
                </a:lnTo>
                <a:lnTo>
                  <a:pt x="739845" y="188595"/>
                </a:lnTo>
                <a:lnTo>
                  <a:pt x="758809" y="188595"/>
                </a:lnTo>
                <a:lnTo>
                  <a:pt x="777783" y="188595"/>
                </a:lnTo>
                <a:lnTo>
                  <a:pt x="796747" y="188595"/>
                </a:lnTo>
                <a:lnTo>
                  <a:pt x="815721" y="188595"/>
                </a:lnTo>
                <a:lnTo>
                  <a:pt x="834695" y="188595"/>
                </a:lnTo>
                <a:lnTo>
                  <a:pt x="853659" y="188595"/>
                </a:lnTo>
                <a:lnTo>
                  <a:pt x="872633" y="188595"/>
                </a:lnTo>
                <a:lnTo>
                  <a:pt x="891607" y="188595"/>
                </a:lnTo>
                <a:lnTo>
                  <a:pt x="910571" y="188595"/>
                </a:lnTo>
                <a:lnTo>
                  <a:pt x="929545" y="188595"/>
                </a:lnTo>
                <a:lnTo>
                  <a:pt x="948509" y="188595"/>
                </a:lnTo>
                <a:lnTo>
                  <a:pt x="967483" y="188595"/>
                </a:lnTo>
                <a:lnTo>
                  <a:pt x="986457" y="188595"/>
                </a:lnTo>
                <a:lnTo>
                  <a:pt x="1005421" y="188595"/>
                </a:lnTo>
                <a:lnTo>
                  <a:pt x="1024395" y="188595"/>
                </a:lnTo>
                <a:lnTo>
                  <a:pt x="1043369" y="188595"/>
                </a:lnTo>
                <a:lnTo>
                  <a:pt x="1062333" y="188595"/>
                </a:lnTo>
                <a:lnTo>
                  <a:pt x="1081307" y="188595"/>
                </a:lnTo>
                <a:lnTo>
                  <a:pt x="1100271" y="188595"/>
                </a:lnTo>
                <a:lnTo>
                  <a:pt x="1119245" y="188595"/>
                </a:lnTo>
                <a:lnTo>
                  <a:pt x="1138218" y="188595"/>
                </a:lnTo>
                <a:lnTo>
                  <a:pt x="1157183" y="188595"/>
                </a:lnTo>
                <a:lnTo>
                  <a:pt x="1176157" y="188595"/>
                </a:lnTo>
                <a:lnTo>
                  <a:pt x="1195130" y="188595"/>
                </a:lnTo>
                <a:lnTo>
                  <a:pt x="1214095" y="188595"/>
                </a:lnTo>
                <a:lnTo>
                  <a:pt x="1233068" y="188595"/>
                </a:lnTo>
                <a:lnTo>
                  <a:pt x="1252042" y="188595"/>
                </a:lnTo>
                <a:lnTo>
                  <a:pt x="1271006" y="188595"/>
                </a:lnTo>
                <a:lnTo>
                  <a:pt x="1289980" y="188595"/>
                </a:lnTo>
                <a:lnTo>
                  <a:pt x="1308945" y="188595"/>
                </a:lnTo>
                <a:lnTo>
                  <a:pt x="1327918" y="188595"/>
                </a:lnTo>
                <a:lnTo>
                  <a:pt x="1346892" y="188595"/>
                </a:lnTo>
                <a:lnTo>
                  <a:pt x="1365856" y="188595"/>
                </a:lnTo>
                <a:lnTo>
                  <a:pt x="1384830" y="188595"/>
                </a:lnTo>
                <a:lnTo>
                  <a:pt x="1403804" y="188595"/>
                </a:lnTo>
                <a:lnTo>
                  <a:pt x="1422768" y="188595"/>
                </a:lnTo>
                <a:lnTo>
                  <a:pt x="1441742" y="188595"/>
                </a:lnTo>
                <a:lnTo>
                  <a:pt x="1460706" y="188595"/>
                </a:lnTo>
                <a:lnTo>
                  <a:pt x="1479680" y="188595"/>
                </a:lnTo>
                <a:lnTo>
                  <a:pt x="1498654" y="188595"/>
                </a:lnTo>
                <a:lnTo>
                  <a:pt x="1517618" y="188595"/>
                </a:lnTo>
                <a:lnTo>
                  <a:pt x="1536592" y="188595"/>
                </a:lnTo>
                <a:lnTo>
                  <a:pt x="1555566" y="188595"/>
                </a:lnTo>
                <a:lnTo>
                  <a:pt x="1574530" y="188595"/>
                </a:lnTo>
                <a:lnTo>
                  <a:pt x="1593504" y="188595"/>
                </a:lnTo>
                <a:lnTo>
                  <a:pt x="1612478" y="188595"/>
                </a:lnTo>
                <a:lnTo>
                  <a:pt x="1631442" y="188595"/>
                </a:lnTo>
                <a:lnTo>
                  <a:pt x="1650416" y="188595"/>
                </a:lnTo>
                <a:lnTo>
                  <a:pt x="1669342" y="188376"/>
                </a:lnTo>
                <a:lnTo>
                  <a:pt x="1687078" y="181651"/>
                </a:lnTo>
                <a:lnTo>
                  <a:pt x="1704823" y="174927"/>
                </a:lnTo>
                <a:lnTo>
                  <a:pt x="1722558" y="168192"/>
                </a:lnTo>
                <a:lnTo>
                  <a:pt x="1740294" y="161468"/>
                </a:lnTo>
                <a:lnTo>
                  <a:pt x="1758029" y="154743"/>
                </a:lnTo>
                <a:lnTo>
                  <a:pt x="1775765" y="148009"/>
                </a:lnTo>
                <a:lnTo>
                  <a:pt x="1793500" y="141284"/>
                </a:lnTo>
                <a:lnTo>
                  <a:pt x="1811245" y="134560"/>
                </a:lnTo>
                <a:lnTo>
                  <a:pt x="1828981" y="127826"/>
                </a:lnTo>
                <a:lnTo>
                  <a:pt x="1846717" y="121101"/>
                </a:lnTo>
                <a:lnTo>
                  <a:pt x="1864452" y="114376"/>
                </a:lnTo>
                <a:lnTo>
                  <a:pt x="1882188" y="107642"/>
                </a:lnTo>
                <a:lnTo>
                  <a:pt x="1899923" y="100917"/>
                </a:lnTo>
                <a:lnTo>
                  <a:pt x="1917668" y="94193"/>
                </a:lnTo>
                <a:lnTo>
                  <a:pt x="1935404" y="87459"/>
                </a:lnTo>
                <a:lnTo>
                  <a:pt x="1953139" y="80734"/>
                </a:lnTo>
                <a:lnTo>
                  <a:pt x="1970875" y="74009"/>
                </a:lnTo>
                <a:lnTo>
                  <a:pt x="1988610" y="67275"/>
                </a:lnTo>
                <a:lnTo>
                  <a:pt x="2006346" y="60550"/>
                </a:lnTo>
                <a:lnTo>
                  <a:pt x="2024091" y="53826"/>
                </a:lnTo>
                <a:lnTo>
                  <a:pt x="2041827" y="47092"/>
                </a:lnTo>
                <a:lnTo>
                  <a:pt x="2059562" y="40367"/>
                </a:lnTo>
                <a:lnTo>
                  <a:pt x="2077298" y="33642"/>
                </a:lnTo>
                <a:lnTo>
                  <a:pt x="2095033" y="26908"/>
                </a:lnTo>
                <a:lnTo>
                  <a:pt x="2112778" y="20183"/>
                </a:lnTo>
                <a:lnTo>
                  <a:pt x="2130514" y="13459"/>
                </a:lnTo>
                <a:lnTo>
                  <a:pt x="2148249" y="6725"/>
                </a:lnTo>
                <a:lnTo>
                  <a:pt x="216598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4" name="maturity-step-projection-1">
            <a:extLst xmlns:a="http://schemas.openxmlformats.org/drawingml/2006/main">
              <a:ext uri="{FF2B5EF4-FFF2-40B4-BE49-F238E27FC236}">
                <a16:creationId xmlns:a16="http://schemas.microsoft.com/office/drawing/2014/main" id="{19F1A2C9-FDA9-4C9F-AC76-D90BFECD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85110" y="4734878"/>
            <a:ext cx="156591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aturity-step-riser-2">
            <a:extLst xmlns:a="http://schemas.openxmlformats.org/drawingml/2006/main">
              <a:ext uri="{FF2B5EF4-FFF2-40B4-BE49-F238E27FC236}">
                <a16:creationId xmlns:a16="http://schemas.microsoft.com/office/drawing/2014/main" id="{838E3C0F-FC0B-45EA-9ED1-D3FD522A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6918" y="3859673"/>
            <a:ext cx="375285" cy="595170"/>
          </a:xfrm>
          <a:custGeom xmlns:a="http://schemas.openxmlformats.org/drawingml/2006/main">
            <a:pathLst>
              <a:path w="375285" h="595170">
                <a:moveTo>
                  <a:pt x="0" y="595170"/>
                </a:moveTo>
                <a:lnTo>
                  <a:pt x="0" y="576148"/>
                </a:lnTo>
                <a:lnTo>
                  <a:pt x="0" y="557127"/>
                </a:lnTo>
                <a:lnTo>
                  <a:pt x="0" y="538105"/>
                </a:lnTo>
                <a:lnTo>
                  <a:pt x="0" y="519093"/>
                </a:lnTo>
                <a:lnTo>
                  <a:pt x="0" y="500072"/>
                </a:lnTo>
                <a:lnTo>
                  <a:pt x="0" y="481051"/>
                </a:lnTo>
                <a:lnTo>
                  <a:pt x="0" y="462029"/>
                </a:lnTo>
                <a:lnTo>
                  <a:pt x="0" y="443017"/>
                </a:lnTo>
                <a:lnTo>
                  <a:pt x="0" y="423996"/>
                </a:lnTo>
                <a:lnTo>
                  <a:pt x="0" y="404974"/>
                </a:lnTo>
                <a:lnTo>
                  <a:pt x="0" y="385953"/>
                </a:lnTo>
                <a:lnTo>
                  <a:pt x="0" y="366941"/>
                </a:lnTo>
                <a:lnTo>
                  <a:pt x="0" y="347920"/>
                </a:lnTo>
                <a:lnTo>
                  <a:pt x="0" y="328898"/>
                </a:lnTo>
                <a:lnTo>
                  <a:pt x="0" y="309877"/>
                </a:lnTo>
                <a:lnTo>
                  <a:pt x="0" y="290865"/>
                </a:lnTo>
                <a:lnTo>
                  <a:pt x="0" y="271844"/>
                </a:lnTo>
                <a:lnTo>
                  <a:pt x="0" y="252822"/>
                </a:lnTo>
                <a:lnTo>
                  <a:pt x="0" y="233801"/>
                </a:lnTo>
                <a:lnTo>
                  <a:pt x="0" y="214789"/>
                </a:lnTo>
                <a:lnTo>
                  <a:pt x="0" y="195767"/>
                </a:lnTo>
                <a:lnTo>
                  <a:pt x="0" y="176746"/>
                </a:lnTo>
                <a:lnTo>
                  <a:pt x="0" y="157724"/>
                </a:lnTo>
                <a:lnTo>
                  <a:pt x="0" y="138713"/>
                </a:lnTo>
                <a:lnTo>
                  <a:pt x="7363" y="124930"/>
                </a:lnTo>
                <a:lnTo>
                  <a:pt x="25327" y="118682"/>
                </a:lnTo>
                <a:lnTo>
                  <a:pt x="43291" y="112433"/>
                </a:lnTo>
                <a:lnTo>
                  <a:pt x="61255" y="106185"/>
                </a:lnTo>
                <a:lnTo>
                  <a:pt x="79219" y="99946"/>
                </a:lnTo>
                <a:lnTo>
                  <a:pt x="97184" y="93697"/>
                </a:lnTo>
                <a:lnTo>
                  <a:pt x="115148" y="87449"/>
                </a:lnTo>
                <a:lnTo>
                  <a:pt x="133112" y="81201"/>
                </a:lnTo>
                <a:lnTo>
                  <a:pt x="151076" y="74952"/>
                </a:lnTo>
                <a:lnTo>
                  <a:pt x="169040" y="68713"/>
                </a:lnTo>
                <a:lnTo>
                  <a:pt x="187004" y="62465"/>
                </a:lnTo>
                <a:lnTo>
                  <a:pt x="204968" y="56217"/>
                </a:lnTo>
                <a:lnTo>
                  <a:pt x="222933" y="49968"/>
                </a:lnTo>
                <a:lnTo>
                  <a:pt x="240897" y="43720"/>
                </a:lnTo>
                <a:lnTo>
                  <a:pt x="258861" y="37481"/>
                </a:lnTo>
                <a:lnTo>
                  <a:pt x="276825" y="31232"/>
                </a:lnTo>
                <a:lnTo>
                  <a:pt x="294789" y="24984"/>
                </a:lnTo>
                <a:lnTo>
                  <a:pt x="312753" y="18736"/>
                </a:lnTo>
                <a:lnTo>
                  <a:pt x="330718" y="12497"/>
                </a:lnTo>
                <a:lnTo>
                  <a:pt x="348682" y="6248"/>
                </a:lnTo>
                <a:lnTo>
                  <a:pt x="366646" y="0"/>
                </a:lnTo>
                <a:lnTo>
                  <a:pt x="375285" y="6868"/>
                </a:lnTo>
                <a:lnTo>
                  <a:pt x="375285" y="25889"/>
                </a:lnTo>
                <a:lnTo>
                  <a:pt x="375285" y="44901"/>
                </a:lnTo>
                <a:lnTo>
                  <a:pt x="375285" y="63922"/>
                </a:lnTo>
                <a:lnTo>
                  <a:pt x="375285" y="82944"/>
                </a:lnTo>
                <a:lnTo>
                  <a:pt x="375285" y="101965"/>
                </a:lnTo>
                <a:lnTo>
                  <a:pt x="375285" y="120977"/>
                </a:lnTo>
                <a:lnTo>
                  <a:pt x="375285" y="139998"/>
                </a:lnTo>
                <a:lnTo>
                  <a:pt x="375285" y="159020"/>
                </a:lnTo>
                <a:lnTo>
                  <a:pt x="375285" y="178041"/>
                </a:lnTo>
                <a:lnTo>
                  <a:pt x="375285" y="197053"/>
                </a:lnTo>
                <a:lnTo>
                  <a:pt x="375285" y="216075"/>
                </a:lnTo>
                <a:lnTo>
                  <a:pt x="375285" y="235096"/>
                </a:lnTo>
                <a:lnTo>
                  <a:pt x="375285" y="254117"/>
                </a:lnTo>
                <a:lnTo>
                  <a:pt x="375285" y="273129"/>
                </a:lnTo>
                <a:lnTo>
                  <a:pt x="375285" y="292151"/>
                </a:lnTo>
                <a:lnTo>
                  <a:pt x="375285" y="311172"/>
                </a:lnTo>
                <a:lnTo>
                  <a:pt x="375285" y="330194"/>
                </a:lnTo>
                <a:lnTo>
                  <a:pt x="375285" y="349206"/>
                </a:lnTo>
                <a:lnTo>
                  <a:pt x="375285" y="368227"/>
                </a:lnTo>
                <a:lnTo>
                  <a:pt x="375285" y="387248"/>
                </a:lnTo>
                <a:lnTo>
                  <a:pt x="375285" y="406270"/>
                </a:lnTo>
                <a:lnTo>
                  <a:pt x="375285" y="425282"/>
                </a:lnTo>
                <a:lnTo>
                  <a:pt x="367732" y="439303"/>
                </a:lnTo>
                <a:lnTo>
                  <a:pt x="350215" y="446723"/>
                </a:lnTo>
                <a:lnTo>
                  <a:pt x="332708" y="454142"/>
                </a:lnTo>
                <a:lnTo>
                  <a:pt x="315201" y="461562"/>
                </a:lnTo>
                <a:lnTo>
                  <a:pt x="297685" y="468992"/>
                </a:lnTo>
                <a:lnTo>
                  <a:pt x="280178" y="476412"/>
                </a:lnTo>
                <a:lnTo>
                  <a:pt x="262661" y="483832"/>
                </a:lnTo>
                <a:lnTo>
                  <a:pt x="245154" y="491252"/>
                </a:lnTo>
                <a:lnTo>
                  <a:pt x="227638" y="498681"/>
                </a:lnTo>
                <a:lnTo>
                  <a:pt x="210131" y="506101"/>
                </a:lnTo>
                <a:lnTo>
                  <a:pt x="192624" y="513521"/>
                </a:lnTo>
                <a:lnTo>
                  <a:pt x="175108" y="520941"/>
                </a:lnTo>
                <a:lnTo>
                  <a:pt x="157601" y="528371"/>
                </a:lnTo>
                <a:lnTo>
                  <a:pt x="140084" y="535791"/>
                </a:lnTo>
                <a:lnTo>
                  <a:pt x="122577" y="543211"/>
                </a:lnTo>
                <a:lnTo>
                  <a:pt x="105070" y="550631"/>
                </a:lnTo>
                <a:lnTo>
                  <a:pt x="87554" y="558051"/>
                </a:lnTo>
                <a:lnTo>
                  <a:pt x="70047" y="565480"/>
                </a:lnTo>
                <a:lnTo>
                  <a:pt x="52530" y="572900"/>
                </a:lnTo>
                <a:lnTo>
                  <a:pt x="35023" y="580320"/>
                </a:lnTo>
                <a:lnTo>
                  <a:pt x="17507" y="587740"/>
                </a:lnTo>
                <a:lnTo>
                  <a:pt x="0" y="595170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6" name="maturity-step-top-2">
            <a:extLst xmlns:a="http://schemas.openxmlformats.org/drawingml/2006/main">
              <a:ext uri="{FF2B5EF4-FFF2-40B4-BE49-F238E27FC236}">
                <a16:creationId xmlns:a16="http://schemas.microsoft.com/office/drawing/2014/main" id="{015C7808-EDF1-46DC-B6B3-F6A4588A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1923" y="4295775"/>
            <a:ext cx="2234375" cy="159068"/>
          </a:xfrm>
          <a:custGeom xmlns:a="http://schemas.openxmlformats.org/drawingml/2006/main">
            <a:pathLst>
              <a:path w="2234375" h="159068">
                <a:moveTo>
                  <a:pt x="0" y="159068"/>
                </a:moveTo>
                <a:lnTo>
                  <a:pt x="18983" y="159068"/>
                </a:lnTo>
                <a:lnTo>
                  <a:pt x="37976" y="159068"/>
                </a:lnTo>
                <a:lnTo>
                  <a:pt x="56960" y="159068"/>
                </a:lnTo>
                <a:lnTo>
                  <a:pt x="75952" y="159068"/>
                </a:lnTo>
                <a:lnTo>
                  <a:pt x="94936" y="159068"/>
                </a:lnTo>
                <a:lnTo>
                  <a:pt x="113929" y="159068"/>
                </a:lnTo>
                <a:lnTo>
                  <a:pt x="132912" y="159068"/>
                </a:lnTo>
                <a:lnTo>
                  <a:pt x="151905" y="159068"/>
                </a:lnTo>
                <a:lnTo>
                  <a:pt x="170888" y="159068"/>
                </a:lnTo>
                <a:lnTo>
                  <a:pt x="189871" y="159068"/>
                </a:lnTo>
                <a:lnTo>
                  <a:pt x="208864" y="159068"/>
                </a:lnTo>
                <a:lnTo>
                  <a:pt x="227848" y="159068"/>
                </a:lnTo>
                <a:lnTo>
                  <a:pt x="246840" y="159068"/>
                </a:lnTo>
                <a:lnTo>
                  <a:pt x="265824" y="159068"/>
                </a:lnTo>
                <a:lnTo>
                  <a:pt x="284817" y="159068"/>
                </a:lnTo>
                <a:lnTo>
                  <a:pt x="303800" y="159068"/>
                </a:lnTo>
                <a:lnTo>
                  <a:pt x="322793" y="159068"/>
                </a:lnTo>
                <a:lnTo>
                  <a:pt x="341776" y="159068"/>
                </a:lnTo>
                <a:lnTo>
                  <a:pt x="360759" y="159068"/>
                </a:lnTo>
                <a:lnTo>
                  <a:pt x="379752" y="159068"/>
                </a:lnTo>
                <a:lnTo>
                  <a:pt x="398736" y="159068"/>
                </a:lnTo>
                <a:lnTo>
                  <a:pt x="417728" y="159068"/>
                </a:lnTo>
                <a:lnTo>
                  <a:pt x="436712" y="159068"/>
                </a:lnTo>
                <a:lnTo>
                  <a:pt x="455705" y="159068"/>
                </a:lnTo>
                <a:lnTo>
                  <a:pt x="474688" y="159068"/>
                </a:lnTo>
                <a:lnTo>
                  <a:pt x="493681" y="159068"/>
                </a:lnTo>
                <a:lnTo>
                  <a:pt x="512664" y="159068"/>
                </a:lnTo>
                <a:lnTo>
                  <a:pt x="531647" y="159068"/>
                </a:lnTo>
                <a:lnTo>
                  <a:pt x="550640" y="159068"/>
                </a:lnTo>
                <a:lnTo>
                  <a:pt x="569624" y="159068"/>
                </a:lnTo>
                <a:lnTo>
                  <a:pt x="588616" y="159068"/>
                </a:lnTo>
                <a:lnTo>
                  <a:pt x="607600" y="159068"/>
                </a:lnTo>
                <a:lnTo>
                  <a:pt x="626593" y="159068"/>
                </a:lnTo>
                <a:lnTo>
                  <a:pt x="645576" y="159068"/>
                </a:lnTo>
                <a:lnTo>
                  <a:pt x="664569" y="159068"/>
                </a:lnTo>
                <a:lnTo>
                  <a:pt x="683552" y="159068"/>
                </a:lnTo>
                <a:lnTo>
                  <a:pt x="702535" y="159068"/>
                </a:lnTo>
                <a:lnTo>
                  <a:pt x="721528" y="159068"/>
                </a:lnTo>
                <a:lnTo>
                  <a:pt x="740512" y="159068"/>
                </a:lnTo>
                <a:lnTo>
                  <a:pt x="759504" y="159068"/>
                </a:lnTo>
                <a:lnTo>
                  <a:pt x="778488" y="159068"/>
                </a:lnTo>
                <a:lnTo>
                  <a:pt x="797481" y="159068"/>
                </a:lnTo>
                <a:lnTo>
                  <a:pt x="816464" y="159068"/>
                </a:lnTo>
                <a:lnTo>
                  <a:pt x="835457" y="159068"/>
                </a:lnTo>
                <a:lnTo>
                  <a:pt x="854440" y="159068"/>
                </a:lnTo>
                <a:lnTo>
                  <a:pt x="873423" y="159068"/>
                </a:lnTo>
                <a:lnTo>
                  <a:pt x="892416" y="159068"/>
                </a:lnTo>
                <a:lnTo>
                  <a:pt x="911400" y="159068"/>
                </a:lnTo>
                <a:lnTo>
                  <a:pt x="930392" y="159068"/>
                </a:lnTo>
                <a:lnTo>
                  <a:pt x="949376" y="159068"/>
                </a:lnTo>
                <a:lnTo>
                  <a:pt x="968369" y="159068"/>
                </a:lnTo>
                <a:lnTo>
                  <a:pt x="987352" y="159068"/>
                </a:lnTo>
                <a:lnTo>
                  <a:pt x="1006345" y="159068"/>
                </a:lnTo>
                <a:lnTo>
                  <a:pt x="1025328" y="159068"/>
                </a:lnTo>
                <a:lnTo>
                  <a:pt x="1044311" y="159068"/>
                </a:lnTo>
                <a:lnTo>
                  <a:pt x="1063304" y="159068"/>
                </a:lnTo>
                <a:lnTo>
                  <a:pt x="1082288" y="159068"/>
                </a:lnTo>
                <a:lnTo>
                  <a:pt x="1101281" y="159068"/>
                </a:lnTo>
                <a:lnTo>
                  <a:pt x="1120264" y="159068"/>
                </a:lnTo>
                <a:lnTo>
                  <a:pt x="1139257" y="159068"/>
                </a:lnTo>
                <a:lnTo>
                  <a:pt x="1158240" y="159068"/>
                </a:lnTo>
                <a:lnTo>
                  <a:pt x="1177233" y="159068"/>
                </a:lnTo>
                <a:lnTo>
                  <a:pt x="1196216" y="159068"/>
                </a:lnTo>
                <a:lnTo>
                  <a:pt x="1215200" y="159068"/>
                </a:lnTo>
                <a:lnTo>
                  <a:pt x="1234192" y="159068"/>
                </a:lnTo>
                <a:lnTo>
                  <a:pt x="1253176" y="159068"/>
                </a:lnTo>
                <a:lnTo>
                  <a:pt x="1272169" y="159068"/>
                </a:lnTo>
                <a:lnTo>
                  <a:pt x="1291152" y="159068"/>
                </a:lnTo>
                <a:lnTo>
                  <a:pt x="1310145" y="159068"/>
                </a:lnTo>
                <a:lnTo>
                  <a:pt x="1329128" y="159068"/>
                </a:lnTo>
                <a:lnTo>
                  <a:pt x="1348121" y="159068"/>
                </a:lnTo>
                <a:lnTo>
                  <a:pt x="1367104" y="159068"/>
                </a:lnTo>
                <a:lnTo>
                  <a:pt x="1386088" y="159068"/>
                </a:lnTo>
                <a:lnTo>
                  <a:pt x="1405080" y="159068"/>
                </a:lnTo>
                <a:lnTo>
                  <a:pt x="1424064" y="159068"/>
                </a:lnTo>
                <a:lnTo>
                  <a:pt x="1443057" y="159068"/>
                </a:lnTo>
                <a:lnTo>
                  <a:pt x="1462040" y="159068"/>
                </a:lnTo>
                <a:lnTo>
                  <a:pt x="1481033" y="159068"/>
                </a:lnTo>
                <a:lnTo>
                  <a:pt x="1500016" y="159068"/>
                </a:lnTo>
                <a:lnTo>
                  <a:pt x="1518999" y="159068"/>
                </a:lnTo>
                <a:lnTo>
                  <a:pt x="1537992" y="159068"/>
                </a:lnTo>
                <a:lnTo>
                  <a:pt x="1556976" y="159068"/>
                </a:lnTo>
                <a:lnTo>
                  <a:pt x="1575968" y="159068"/>
                </a:lnTo>
                <a:lnTo>
                  <a:pt x="1594952" y="159068"/>
                </a:lnTo>
                <a:lnTo>
                  <a:pt x="1613945" y="159068"/>
                </a:lnTo>
                <a:lnTo>
                  <a:pt x="1632928" y="159068"/>
                </a:lnTo>
                <a:lnTo>
                  <a:pt x="1651921" y="159068"/>
                </a:lnTo>
                <a:lnTo>
                  <a:pt x="1670904" y="159068"/>
                </a:lnTo>
                <a:lnTo>
                  <a:pt x="1689897" y="159068"/>
                </a:lnTo>
                <a:lnTo>
                  <a:pt x="1708880" y="159068"/>
                </a:lnTo>
                <a:lnTo>
                  <a:pt x="1727864" y="159068"/>
                </a:lnTo>
                <a:lnTo>
                  <a:pt x="1746856" y="159068"/>
                </a:lnTo>
                <a:lnTo>
                  <a:pt x="1765840" y="159068"/>
                </a:lnTo>
                <a:lnTo>
                  <a:pt x="1784833" y="159068"/>
                </a:lnTo>
                <a:lnTo>
                  <a:pt x="1803816" y="159068"/>
                </a:lnTo>
                <a:lnTo>
                  <a:pt x="1822809" y="159068"/>
                </a:lnTo>
                <a:lnTo>
                  <a:pt x="1841792" y="159068"/>
                </a:lnTo>
                <a:lnTo>
                  <a:pt x="1860785" y="159068"/>
                </a:lnTo>
                <a:lnTo>
                  <a:pt x="1878597" y="153305"/>
                </a:lnTo>
                <a:lnTo>
                  <a:pt x="1896075" y="145894"/>
                </a:lnTo>
                <a:lnTo>
                  <a:pt x="1913563" y="138484"/>
                </a:lnTo>
                <a:lnTo>
                  <a:pt x="1931041" y="131074"/>
                </a:lnTo>
                <a:lnTo>
                  <a:pt x="1948520" y="123663"/>
                </a:lnTo>
                <a:lnTo>
                  <a:pt x="1966008" y="116253"/>
                </a:lnTo>
                <a:lnTo>
                  <a:pt x="1983486" y="108842"/>
                </a:lnTo>
                <a:lnTo>
                  <a:pt x="2000974" y="101432"/>
                </a:lnTo>
                <a:lnTo>
                  <a:pt x="2018452" y="94021"/>
                </a:lnTo>
                <a:lnTo>
                  <a:pt x="2035931" y="86611"/>
                </a:lnTo>
                <a:lnTo>
                  <a:pt x="2053419" y="79200"/>
                </a:lnTo>
                <a:lnTo>
                  <a:pt x="2070897" y="71790"/>
                </a:lnTo>
                <a:lnTo>
                  <a:pt x="2088385" y="64379"/>
                </a:lnTo>
                <a:lnTo>
                  <a:pt x="2105863" y="56979"/>
                </a:lnTo>
                <a:lnTo>
                  <a:pt x="2123342" y="49568"/>
                </a:lnTo>
                <a:lnTo>
                  <a:pt x="2140829" y="42158"/>
                </a:lnTo>
                <a:lnTo>
                  <a:pt x="2158308" y="34747"/>
                </a:lnTo>
                <a:lnTo>
                  <a:pt x="2175786" y="27337"/>
                </a:lnTo>
                <a:lnTo>
                  <a:pt x="2193274" y="19926"/>
                </a:lnTo>
                <a:lnTo>
                  <a:pt x="2210753" y="12516"/>
                </a:lnTo>
                <a:lnTo>
                  <a:pt x="2228240" y="5105"/>
                </a:lnTo>
                <a:lnTo>
                  <a:pt x="2234375" y="0"/>
                </a:lnTo>
                <a:lnTo>
                  <a:pt x="2215382" y="0"/>
                </a:lnTo>
                <a:lnTo>
                  <a:pt x="2196398" y="0"/>
                </a:lnTo>
                <a:lnTo>
                  <a:pt x="2177405" y="0"/>
                </a:lnTo>
                <a:lnTo>
                  <a:pt x="2158422" y="0"/>
                </a:lnTo>
                <a:lnTo>
                  <a:pt x="2139439" y="0"/>
                </a:lnTo>
                <a:lnTo>
                  <a:pt x="2120446" y="0"/>
                </a:lnTo>
                <a:lnTo>
                  <a:pt x="2101463" y="0"/>
                </a:lnTo>
                <a:lnTo>
                  <a:pt x="2082470" y="0"/>
                </a:lnTo>
                <a:lnTo>
                  <a:pt x="2063486" y="0"/>
                </a:lnTo>
                <a:lnTo>
                  <a:pt x="2044494" y="0"/>
                </a:lnTo>
                <a:lnTo>
                  <a:pt x="2025510" y="0"/>
                </a:lnTo>
                <a:lnTo>
                  <a:pt x="2006517" y="0"/>
                </a:lnTo>
                <a:lnTo>
                  <a:pt x="1987534" y="0"/>
                </a:lnTo>
                <a:lnTo>
                  <a:pt x="1968551" y="0"/>
                </a:lnTo>
                <a:lnTo>
                  <a:pt x="1949558" y="0"/>
                </a:lnTo>
                <a:lnTo>
                  <a:pt x="1930575" y="0"/>
                </a:lnTo>
                <a:lnTo>
                  <a:pt x="1911582" y="0"/>
                </a:lnTo>
                <a:lnTo>
                  <a:pt x="1892598" y="0"/>
                </a:lnTo>
                <a:lnTo>
                  <a:pt x="1873606" y="0"/>
                </a:lnTo>
                <a:lnTo>
                  <a:pt x="1854622" y="0"/>
                </a:lnTo>
                <a:lnTo>
                  <a:pt x="1835629" y="0"/>
                </a:lnTo>
                <a:lnTo>
                  <a:pt x="1816646" y="0"/>
                </a:lnTo>
                <a:lnTo>
                  <a:pt x="1797663" y="0"/>
                </a:lnTo>
                <a:lnTo>
                  <a:pt x="1778670" y="0"/>
                </a:lnTo>
                <a:lnTo>
                  <a:pt x="1759687" y="0"/>
                </a:lnTo>
                <a:lnTo>
                  <a:pt x="1740694" y="0"/>
                </a:lnTo>
                <a:lnTo>
                  <a:pt x="1721710" y="0"/>
                </a:lnTo>
                <a:lnTo>
                  <a:pt x="1702718" y="0"/>
                </a:lnTo>
                <a:lnTo>
                  <a:pt x="1683734" y="0"/>
                </a:lnTo>
                <a:lnTo>
                  <a:pt x="1664741" y="0"/>
                </a:lnTo>
                <a:lnTo>
                  <a:pt x="1645758" y="0"/>
                </a:lnTo>
                <a:lnTo>
                  <a:pt x="1626775" y="0"/>
                </a:lnTo>
                <a:lnTo>
                  <a:pt x="1607782" y="0"/>
                </a:lnTo>
                <a:lnTo>
                  <a:pt x="1588799" y="0"/>
                </a:lnTo>
                <a:lnTo>
                  <a:pt x="1569806" y="0"/>
                </a:lnTo>
                <a:lnTo>
                  <a:pt x="1550822" y="0"/>
                </a:lnTo>
                <a:lnTo>
                  <a:pt x="1531830" y="0"/>
                </a:lnTo>
                <a:lnTo>
                  <a:pt x="1512846" y="0"/>
                </a:lnTo>
                <a:lnTo>
                  <a:pt x="1493863" y="0"/>
                </a:lnTo>
                <a:lnTo>
                  <a:pt x="1474870" y="0"/>
                </a:lnTo>
                <a:lnTo>
                  <a:pt x="1455887" y="0"/>
                </a:lnTo>
                <a:lnTo>
                  <a:pt x="1436894" y="0"/>
                </a:lnTo>
                <a:lnTo>
                  <a:pt x="1417911" y="0"/>
                </a:lnTo>
                <a:lnTo>
                  <a:pt x="1398918" y="0"/>
                </a:lnTo>
                <a:lnTo>
                  <a:pt x="1379934" y="0"/>
                </a:lnTo>
                <a:lnTo>
                  <a:pt x="1360942" y="0"/>
                </a:lnTo>
                <a:lnTo>
                  <a:pt x="1341958" y="0"/>
                </a:lnTo>
                <a:lnTo>
                  <a:pt x="1322975" y="0"/>
                </a:lnTo>
                <a:lnTo>
                  <a:pt x="1303982" y="0"/>
                </a:lnTo>
                <a:lnTo>
                  <a:pt x="1284999" y="0"/>
                </a:lnTo>
                <a:lnTo>
                  <a:pt x="1266006" y="0"/>
                </a:lnTo>
                <a:lnTo>
                  <a:pt x="1247023" y="0"/>
                </a:lnTo>
                <a:lnTo>
                  <a:pt x="1228030" y="0"/>
                </a:lnTo>
                <a:lnTo>
                  <a:pt x="1209046" y="0"/>
                </a:lnTo>
                <a:lnTo>
                  <a:pt x="1190054" y="0"/>
                </a:lnTo>
                <a:lnTo>
                  <a:pt x="1171070" y="0"/>
                </a:lnTo>
                <a:lnTo>
                  <a:pt x="1152087" y="0"/>
                </a:lnTo>
                <a:lnTo>
                  <a:pt x="1133094" y="0"/>
                </a:lnTo>
                <a:lnTo>
                  <a:pt x="1114111" y="0"/>
                </a:lnTo>
                <a:lnTo>
                  <a:pt x="1095118" y="0"/>
                </a:lnTo>
                <a:lnTo>
                  <a:pt x="1076135" y="0"/>
                </a:lnTo>
                <a:lnTo>
                  <a:pt x="1057142" y="0"/>
                </a:lnTo>
                <a:lnTo>
                  <a:pt x="1038158" y="0"/>
                </a:lnTo>
                <a:lnTo>
                  <a:pt x="1019165" y="0"/>
                </a:lnTo>
                <a:lnTo>
                  <a:pt x="1000182" y="0"/>
                </a:lnTo>
                <a:lnTo>
                  <a:pt x="981189" y="0"/>
                </a:lnTo>
                <a:lnTo>
                  <a:pt x="962206" y="0"/>
                </a:lnTo>
                <a:lnTo>
                  <a:pt x="943223" y="0"/>
                </a:lnTo>
                <a:lnTo>
                  <a:pt x="924230" y="0"/>
                </a:lnTo>
                <a:lnTo>
                  <a:pt x="905246" y="0"/>
                </a:lnTo>
                <a:lnTo>
                  <a:pt x="886254" y="0"/>
                </a:lnTo>
                <a:lnTo>
                  <a:pt x="867270" y="0"/>
                </a:lnTo>
                <a:lnTo>
                  <a:pt x="848277" y="0"/>
                </a:lnTo>
                <a:lnTo>
                  <a:pt x="829294" y="0"/>
                </a:lnTo>
                <a:lnTo>
                  <a:pt x="810311" y="0"/>
                </a:lnTo>
                <a:lnTo>
                  <a:pt x="791318" y="0"/>
                </a:lnTo>
                <a:lnTo>
                  <a:pt x="772335" y="0"/>
                </a:lnTo>
                <a:lnTo>
                  <a:pt x="753342" y="0"/>
                </a:lnTo>
                <a:lnTo>
                  <a:pt x="734358" y="0"/>
                </a:lnTo>
                <a:lnTo>
                  <a:pt x="715366" y="0"/>
                </a:lnTo>
                <a:lnTo>
                  <a:pt x="696382" y="0"/>
                </a:lnTo>
                <a:lnTo>
                  <a:pt x="677389" y="0"/>
                </a:lnTo>
                <a:lnTo>
                  <a:pt x="658406" y="0"/>
                </a:lnTo>
                <a:lnTo>
                  <a:pt x="639423" y="0"/>
                </a:lnTo>
                <a:lnTo>
                  <a:pt x="620430" y="0"/>
                </a:lnTo>
                <a:lnTo>
                  <a:pt x="601447" y="0"/>
                </a:lnTo>
                <a:lnTo>
                  <a:pt x="582454" y="0"/>
                </a:lnTo>
                <a:lnTo>
                  <a:pt x="563470" y="0"/>
                </a:lnTo>
                <a:lnTo>
                  <a:pt x="544478" y="0"/>
                </a:lnTo>
                <a:lnTo>
                  <a:pt x="525494" y="0"/>
                </a:lnTo>
                <a:lnTo>
                  <a:pt x="506501" y="0"/>
                </a:lnTo>
                <a:lnTo>
                  <a:pt x="487661" y="933"/>
                </a:lnTo>
                <a:lnTo>
                  <a:pt x="469602" y="6791"/>
                </a:lnTo>
                <a:lnTo>
                  <a:pt x="451542" y="12649"/>
                </a:lnTo>
                <a:lnTo>
                  <a:pt x="433483" y="18498"/>
                </a:lnTo>
                <a:lnTo>
                  <a:pt x="415414" y="24355"/>
                </a:lnTo>
                <a:lnTo>
                  <a:pt x="397354" y="30213"/>
                </a:lnTo>
                <a:lnTo>
                  <a:pt x="379295" y="36071"/>
                </a:lnTo>
                <a:lnTo>
                  <a:pt x="361236" y="41929"/>
                </a:lnTo>
                <a:lnTo>
                  <a:pt x="343176" y="47787"/>
                </a:lnTo>
                <a:lnTo>
                  <a:pt x="325107" y="53645"/>
                </a:lnTo>
                <a:lnTo>
                  <a:pt x="307048" y="59503"/>
                </a:lnTo>
                <a:lnTo>
                  <a:pt x="288989" y="65361"/>
                </a:lnTo>
                <a:lnTo>
                  <a:pt x="270929" y="71218"/>
                </a:lnTo>
                <a:lnTo>
                  <a:pt x="252860" y="77067"/>
                </a:lnTo>
                <a:lnTo>
                  <a:pt x="234801" y="82925"/>
                </a:lnTo>
                <a:lnTo>
                  <a:pt x="216741" y="88783"/>
                </a:lnTo>
                <a:lnTo>
                  <a:pt x="198682" y="94640"/>
                </a:lnTo>
                <a:lnTo>
                  <a:pt x="180613" y="100498"/>
                </a:lnTo>
                <a:lnTo>
                  <a:pt x="162554" y="106356"/>
                </a:lnTo>
                <a:lnTo>
                  <a:pt x="144494" y="112214"/>
                </a:lnTo>
                <a:lnTo>
                  <a:pt x="126435" y="118072"/>
                </a:lnTo>
                <a:lnTo>
                  <a:pt x="108366" y="123930"/>
                </a:lnTo>
                <a:lnTo>
                  <a:pt x="90307" y="129788"/>
                </a:lnTo>
                <a:lnTo>
                  <a:pt x="72247" y="135636"/>
                </a:lnTo>
                <a:lnTo>
                  <a:pt x="54188" y="141494"/>
                </a:lnTo>
                <a:lnTo>
                  <a:pt x="36119" y="147352"/>
                </a:lnTo>
                <a:lnTo>
                  <a:pt x="18059" y="153210"/>
                </a:lnTo>
                <a:lnTo>
                  <a:pt x="0" y="159068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17" name="maturity-step-inset-2">
            <a:extLst xmlns:a="http://schemas.openxmlformats.org/drawingml/2006/main">
              <a:ext uri="{FF2B5EF4-FFF2-40B4-BE49-F238E27FC236}">
                <a16:creationId xmlns:a16="http://schemas.microsoft.com/office/drawing/2014/main" id="{F4BB47A7-73E2-4FBB-AE55-B9735C3B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0030" y="4295775"/>
            <a:ext cx="2049780" cy="159068"/>
          </a:xfrm>
          <a:custGeom xmlns:a="http://schemas.openxmlformats.org/drawingml/2006/main">
            <a:pathLst>
              <a:path w="2049780" h="159068">
                <a:moveTo>
                  <a:pt x="0" y="159068"/>
                </a:moveTo>
                <a:lnTo>
                  <a:pt x="18926" y="159068"/>
                </a:lnTo>
                <a:lnTo>
                  <a:pt x="37852" y="159068"/>
                </a:lnTo>
                <a:lnTo>
                  <a:pt x="56769" y="159068"/>
                </a:lnTo>
                <a:lnTo>
                  <a:pt x="75695" y="159068"/>
                </a:lnTo>
                <a:lnTo>
                  <a:pt x="94621" y="159068"/>
                </a:lnTo>
                <a:lnTo>
                  <a:pt x="113548" y="159068"/>
                </a:lnTo>
                <a:lnTo>
                  <a:pt x="132464" y="159068"/>
                </a:lnTo>
                <a:lnTo>
                  <a:pt x="151390" y="159068"/>
                </a:lnTo>
                <a:lnTo>
                  <a:pt x="170317" y="159068"/>
                </a:lnTo>
                <a:lnTo>
                  <a:pt x="189243" y="159068"/>
                </a:lnTo>
                <a:lnTo>
                  <a:pt x="208169" y="159068"/>
                </a:lnTo>
                <a:lnTo>
                  <a:pt x="227086" y="159068"/>
                </a:lnTo>
                <a:lnTo>
                  <a:pt x="246012" y="159068"/>
                </a:lnTo>
                <a:lnTo>
                  <a:pt x="264938" y="159068"/>
                </a:lnTo>
                <a:lnTo>
                  <a:pt x="283864" y="159068"/>
                </a:lnTo>
                <a:lnTo>
                  <a:pt x="302790" y="159068"/>
                </a:lnTo>
                <a:lnTo>
                  <a:pt x="321707" y="159068"/>
                </a:lnTo>
                <a:lnTo>
                  <a:pt x="340633" y="159068"/>
                </a:lnTo>
                <a:lnTo>
                  <a:pt x="359559" y="159068"/>
                </a:lnTo>
                <a:lnTo>
                  <a:pt x="378485" y="159068"/>
                </a:lnTo>
                <a:lnTo>
                  <a:pt x="397402" y="159068"/>
                </a:lnTo>
                <a:lnTo>
                  <a:pt x="416328" y="159068"/>
                </a:lnTo>
                <a:lnTo>
                  <a:pt x="435254" y="159068"/>
                </a:lnTo>
                <a:lnTo>
                  <a:pt x="454181" y="159068"/>
                </a:lnTo>
                <a:lnTo>
                  <a:pt x="473107" y="159068"/>
                </a:lnTo>
                <a:lnTo>
                  <a:pt x="492023" y="159068"/>
                </a:lnTo>
                <a:lnTo>
                  <a:pt x="510950" y="159068"/>
                </a:lnTo>
                <a:lnTo>
                  <a:pt x="529876" y="159068"/>
                </a:lnTo>
                <a:lnTo>
                  <a:pt x="548802" y="159068"/>
                </a:lnTo>
                <a:lnTo>
                  <a:pt x="567728" y="159068"/>
                </a:lnTo>
                <a:lnTo>
                  <a:pt x="586645" y="159068"/>
                </a:lnTo>
                <a:lnTo>
                  <a:pt x="605571" y="159068"/>
                </a:lnTo>
                <a:lnTo>
                  <a:pt x="624497" y="159068"/>
                </a:lnTo>
                <a:lnTo>
                  <a:pt x="643423" y="159068"/>
                </a:lnTo>
                <a:lnTo>
                  <a:pt x="662340" y="159068"/>
                </a:lnTo>
                <a:lnTo>
                  <a:pt x="681266" y="159068"/>
                </a:lnTo>
                <a:lnTo>
                  <a:pt x="700192" y="159068"/>
                </a:lnTo>
                <a:lnTo>
                  <a:pt x="719118" y="159068"/>
                </a:lnTo>
                <a:lnTo>
                  <a:pt x="738045" y="159068"/>
                </a:lnTo>
                <a:lnTo>
                  <a:pt x="756961" y="159068"/>
                </a:lnTo>
                <a:lnTo>
                  <a:pt x="775887" y="159068"/>
                </a:lnTo>
                <a:lnTo>
                  <a:pt x="794814" y="159068"/>
                </a:lnTo>
                <a:lnTo>
                  <a:pt x="813740" y="159068"/>
                </a:lnTo>
                <a:lnTo>
                  <a:pt x="832656" y="159068"/>
                </a:lnTo>
                <a:lnTo>
                  <a:pt x="851583" y="159068"/>
                </a:lnTo>
                <a:lnTo>
                  <a:pt x="870509" y="159068"/>
                </a:lnTo>
                <a:lnTo>
                  <a:pt x="889435" y="159068"/>
                </a:lnTo>
                <a:lnTo>
                  <a:pt x="908361" y="159068"/>
                </a:lnTo>
                <a:lnTo>
                  <a:pt x="927278" y="159068"/>
                </a:lnTo>
                <a:lnTo>
                  <a:pt x="946204" y="159068"/>
                </a:lnTo>
                <a:lnTo>
                  <a:pt x="965130" y="159068"/>
                </a:lnTo>
                <a:lnTo>
                  <a:pt x="984056" y="159068"/>
                </a:lnTo>
                <a:lnTo>
                  <a:pt x="1002983" y="159068"/>
                </a:lnTo>
                <a:lnTo>
                  <a:pt x="1021899" y="159068"/>
                </a:lnTo>
                <a:lnTo>
                  <a:pt x="1040825" y="159068"/>
                </a:lnTo>
                <a:lnTo>
                  <a:pt x="1059752" y="159068"/>
                </a:lnTo>
                <a:lnTo>
                  <a:pt x="1078678" y="159068"/>
                </a:lnTo>
                <a:lnTo>
                  <a:pt x="1097594" y="159068"/>
                </a:lnTo>
                <a:lnTo>
                  <a:pt x="1116521" y="159068"/>
                </a:lnTo>
                <a:lnTo>
                  <a:pt x="1135447" y="159068"/>
                </a:lnTo>
                <a:lnTo>
                  <a:pt x="1154373" y="159068"/>
                </a:lnTo>
                <a:lnTo>
                  <a:pt x="1173299" y="159068"/>
                </a:lnTo>
                <a:lnTo>
                  <a:pt x="1192216" y="159068"/>
                </a:lnTo>
                <a:lnTo>
                  <a:pt x="1211142" y="159068"/>
                </a:lnTo>
                <a:lnTo>
                  <a:pt x="1230068" y="159068"/>
                </a:lnTo>
                <a:lnTo>
                  <a:pt x="1248994" y="159068"/>
                </a:lnTo>
                <a:lnTo>
                  <a:pt x="1267920" y="159068"/>
                </a:lnTo>
                <a:lnTo>
                  <a:pt x="1286837" y="159068"/>
                </a:lnTo>
                <a:lnTo>
                  <a:pt x="1305763" y="159068"/>
                </a:lnTo>
                <a:lnTo>
                  <a:pt x="1324689" y="159068"/>
                </a:lnTo>
                <a:lnTo>
                  <a:pt x="1343616" y="159068"/>
                </a:lnTo>
                <a:lnTo>
                  <a:pt x="1362532" y="159068"/>
                </a:lnTo>
                <a:lnTo>
                  <a:pt x="1381458" y="159068"/>
                </a:lnTo>
                <a:lnTo>
                  <a:pt x="1400385" y="159068"/>
                </a:lnTo>
                <a:lnTo>
                  <a:pt x="1419311" y="159068"/>
                </a:lnTo>
                <a:lnTo>
                  <a:pt x="1438237" y="159068"/>
                </a:lnTo>
                <a:lnTo>
                  <a:pt x="1457154" y="159068"/>
                </a:lnTo>
                <a:lnTo>
                  <a:pt x="1476080" y="159068"/>
                </a:lnTo>
                <a:lnTo>
                  <a:pt x="1495006" y="159068"/>
                </a:lnTo>
                <a:lnTo>
                  <a:pt x="1513932" y="159068"/>
                </a:lnTo>
                <a:lnTo>
                  <a:pt x="1532849" y="159068"/>
                </a:lnTo>
                <a:lnTo>
                  <a:pt x="1551775" y="159068"/>
                </a:lnTo>
                <a:lnTo>
                  <a:pt x="1570701" y="159068"/>
                </a:lnTo>
                <a:lnTo>
                  <a:pt x="1589627" y="159068"/>
                </a:lnTo>
                <a:lnTo>
                  <a:pt x="1608553" y="159068"/>
                </a:lnTo>
                <a:lnTo>
                  <a:pt x="1627470" y="159068"/>
                </a:lnTo>
                <a:lnTo>
                  <a:pt x="1646396" y="159068"/>
                </a:lnTo>
                <a:lnTo>
                  <a:pt x="1665322" y="159068"/>
                </a:lnTo>
                <a:lnTo>
                  <a:pt x="1683048" y="153105"/>
                </a:lnTo>
                <a:lnTo>
                  <a:pt x="1700517" y="145818"/>
                </a:lnTo>
                <a:lnTo>
                  <a:pt x="1717977" y="138532"/>
                </a:lnTo>
                <a:lnTo>
                  <a:pt x="1735445" y="131235"/>
                </a:lnTo>
                <a:lnTo>
                  <a:pt x="1752905" y="123949"/>
                </a:lnTo>
                <a:lnTo>
                  <a:pt x="1770364" y="116653"/>
                </a:lnTo>
                <a:lnTo>
                  <a:pt x="1787833" y="109366"/>
                </a:lnTo>
                <a:lnTo>
                  <a:pt x="1805292" y="102070"/>
                </a:lnTo>
                <a:lnTo>
                  <a:pt x="1822761" y="94783"/>
                </a:lnTo>
                <a:lnTo>
                  <a:pt x="1840220" y="87487"/>
                </a:lnTo>
                <a:lnTo>
                  <a:pt x="1857680" y="80201"/>
                </a:lnTo>
                <a:lnTo>
                  <a:pt x="1875149" y="72904"/>
                </a:lnTo>
                <a:lnTo>
                  <a:pt x="1892608" y="65618"/>
                </a:lnTo>
                <a:lnTo>
                  <a:pt x="1910077" y="58331"/>
                </a:lnTo>
                <a:lnTo>
                  <a:pt x="1927536" y="51035"/>
                </a:lnTo>
                <a:lnTo>
                  <a:pt x="1945005" y="43748"/>
                </a:lnTo>
                <a:lnTo>
                  <a:pt x="1962464" y="36452"/>
                </a:lnTo>
                <a:lnTo>
                  <a:pt x="1979924" y="29166"/>
                </a:lnTo>
                <a:lnTo>
                  <a:pt x="1997393" y="21869"/>
                </a:lnTo>
                <a:lnTo>
                  <a:pt x="2014852" y="14583"/>
                </a:lnTo>
                <a:lnTo>
                  <a:pt x="2032321" y="7287"/>
                </a:lnTo>
                <a:lnTo>
                  <a:pt x="204978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maturity-step-projection-2">
            <a:extLst xmlns:a="http://schemas.openxmlformats.org/drawingml/2006/main">
              <a:ext uri="{FF2B5EF4-FFF2-40B4-BE49-F238E27FC236}">
                <a16:creationId xmlns:a16="http://schemas.microsoft.com/office/drawing/2014/main" id="{47035865-7BE6-471A-8F22-14586356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34853" y="4295775"/>
            <a:ext cx="1564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9" name="maturity-step-riser-3">
            <a:extLst xmlns:a="http://schemas.openxmlformats.org/drawingml/2006/main">
              <a:ext uri="{FF2B5EF4-FFF2-40B4-BE49-F238E27FC236}">
                <a16:creationId xmlns:a16="http://schemas.microsoft.com/office/drawing/2014/main" id="{BE596983-818D-4A76-A489-C9F5943F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3420751"/>
            <a:ext cx="259080" cy="566414"/>
          </a:xfrm>
          <a:custGeom xmlns:a="http://schemas.openxmlformats.org/drawingml/2006/main">
            <a:pathLst>
              <a:path w="259080" h="566414">
                <a:moveTo>
                  <a:pt x="0" y="566414"/>
                </a:moveTo>
                <a:lnTo>
                  <a:pt x="0" y="547497"/>
                </a:lnTo>
                <a:lnTo>
                  <a:pt x="0" y="528571"/>
                </a:lnTo>
                <a:lnTo>
                  <a:pt x="0" y="509654"/>
                </a:lnTo>
                <a:lnTo>
                  <a:pt x="0" y="490728"/>
                </a:lnTo>
                <a:lnTo>
                  <a:pt x="0" y="471811"/>
                </a:lnTo>
                <a:lnTo>
                  <a:pt x="0" y="452885"/>
                </a:lnTo>
                <a:lnTo>
                  <a:pt x="0" y="433969"/>
                </a:lnTo>
                <a:lnTo>
                  <a:pt x="0" y="415042"/>
                </a:lnTo>
                <a:lnTo>
                  <a:pt x="0" y="396126"/>
                </a:lnTo>
                <a:lnTo>
                  <a:pt x="0" y="377200"/>
                </a:lnTo>
                <a:lnTo>
                  <a:pt x="0" y="358283"/>
                </a:lnTo>
                <a:lnTo>
                  <a:pt x="0" y="339357"/>
                </a:lnTo>
                <a:lnTo>
                  <a:pt x="0" y="320440"/>
                </a:lnTo>
                <a:lnTo>
                  <a:pt x="0" y="301514"/>
                </a:lnTo>
                <a:lnTo>
                  <a:pt x="0" y="282597"/>
                </a:lnTo>
                <a:lnTo>
                  <a:pt x="0" y="263671"/>
                </a:lnTo>
                <a:lnTo>
                  <a:pt x="0" y="244754"/>
                </a:lnTo>
                <a:lnTo>
                  <a:pt x="0" y="225828"/>
                </a:lnTo>
                <a:lnTo>
                  <a:pt x="0" y="206912"/>
                </a:lnTo>
                <a:lnTo>
                  <a:pt x="0" y="187985"/>
                </a:lnTo>
                <a:lnTo>
                  <a:pt x="0" y="169069"/>
                </a:lnTo>
                <a:lnTo>
                  <a:pt x="0" y="150143"/>
                </a:lnTo>
                <a:lnTo>
                  <a:pt x="0" y="131226"/>
                </a:lnTo>
                <a:lnTo>
                  <a:pt x="0" y="112300"/>
                </a:lnTo>
                <a:lnTo>
                  <a:pt x="4105" y="96183"/>
                </a:lnTo>
                <a:lnTo>
                  <a:pt x="21736" y="89316"/>
                </a:lnTo>
                <a:lnTo>
                  <a:pt x="39367" y="82448"/>
                </a:lnTo>
                <a:lnTo>
                  <a:pt x="56998" y="75571"/>
                </a:lnTo>
                <a:lnTo>
                  <a:pt x="74628" y="68704"/>
                </a:lnTo>
                <a:lnTo>
                  <a:pt x="92259" y="61836"/>
                </a:lnTo>
                <a:lnTo>
                  <a:pt x="109890" y="54969"/>
                </a:lnTo>
                <a:lnTo>
                  <a:pt x="127521" y="48092"/>
                </a:lnTo>
                <a:lnTo>
                  <a:pt x="145151" y="41224"/>
                </a:lnTo>
                <a:lnTo>
                  <a:pt x="162782" y="34357"/>
                </a:lnTo>
                <a:lnTo>
                  <a:pt x="180404" y="27480"/>
                </a:lnTo>
                <a:lnTo>
                  <a:pt x="198034" y="20612"/>
                </a:lnTo>
                <a:lnTo>
                  <a:pt x="215665" y="13745"/>
                </a:lnTo>
                <a:lnTo>
                  <a:pt x="233296" y="6868"/>
                </a:lnTo>
                <a:lnTo>
                  <a:pt x="250927" y="0"/>
                </a:lnTo>
                <a:lnTo>
                  <a:pt x="259080" y="6991"/>
                </a:lnTo>
                <a:lnTo>
                  <a:pt x="259080" y="25918"/>
                </a:lnTo>
                <a:lnTo>
                  <a:pt x="259080" y="44834"/>
                </a:lnTo>
                <a:lnTo>
                  <a:pt x="259080" y="63760"/>
                </a:lnTo>
                <a:lnTo>
                  <a:pt x="259080" y="82677"/>
                </a:lnTo>
                <a:lnTo>
                  <a:pt x="259080" y="101603"/>
                </a:lnTo>
                <a:lnTo>
                  <a:pt x="259080" y="120529"/>
                </a:lnTo>
                <a:lnTo>
                  <a:pt x="259080" y="139446"/>
                </a:lnTo>
                <a:lnTo>
                  <a:pt x="259080" y="158372"/>
                </a:lnTo>
                <a:lnTo>
                  <a:pt x="259080" y="177289"/>
                </a:lnTo>
                <a:lnTo>
                  <a:pt x="259080" y="196215"/>
                </a:lnTo>
                <a:lnTo>
                  <a:pt x="259080" y="215132"/>
                </a:lnTo>
                <a:lnTo>
                  <a:pt x="259080" y="234058"/>
                </a:lnTo>
                <a:lnTo>
                  <a:pt x="259080" y="252974"/>
                </a:lnTo>
                <a:lnTo>
                  <a:pt x="259080" y="271901"/>
                </a:lnTo>
                <a:lnTo>
                  <a:pt x="259080" y="290817"/>
                </a:lnTo>
                <a:lnTo>
                  <a:pt x="259080" y="309743"/>
                </a:lnTo>
                <a:lnTo>
                  <a:pt x="259080" y="328660"/>
                </a:lnTo>
                <a:lnTo>
                  <a:pt x="259080" y="347586"/>
                </a:lnTo>
                <a:lnTo>
                  <a:pt x="259080" y="366503"/>
                </a:lnTo>
                <a:lnTo>
                  <a:pt x="259080" y="385429"/>
                </a:lnTo>
                <a:lnTo>
                  <a:pt x="259080" y="404346"/>
                </a:lnTo>
                <a:lnTo>
                  <a:pt x="259080" y="423272"/>
                </a:lnTo>
                <a:lnTo>
                  <a:pt x="253489" y="438741"/>
                </a:lnTo>
                <a:lnTo>
                  <a:pt x="236582" y="447256"/>
                </a:lnTo>
                <a:lnTo>
                  <a:pt x="219685" y="455771"/>
                </a:lnTo>
                <a:lnTo>
                  <a:pt x="202787" y="464277"/>
                </a:lnTo>
                <a:lnTo>
                  <a:pt x="185890" y="472792"/>
                </a:lnTo>
                <a:lnTo>
                  <a:pt x="168993" y="481298"/>
                </a:lnTo>
                <a:lnTo>
                  <a:pt x="152095" y="489814"/>
                </a:lnTo>
                <a:lnTo>
                  <a:pt x="135188" y="498329"/>
                </a:lnTo>
                <a:lnTo>
                  <a:pt x="118291" y="506835"/>
                </a:lnTo>
                <a:lnTo>
                  <a:pt x="101394" y="515350"/>
                </a:lnTo>
                <a:lnTo>
                  <a:pt x="84496" y="523856"/>
                </a:lnTo>
                <a:lnTo>
                  <a:pt x="67599" y="532371"/>
                </a:lnTo>
                <a:lnTo>
                  <a:pt x="50702" y="540887"/>
                </a:lnTo>
                <a:lnTo>
                  <a:pt x="33795" y="549392"/>
                </a:lnTo>
                <a:lnTo>
                  <a:pt x="16897" y="557908"/>
                </a:lnTo>
                <a:lnTo>
                  <a:pt x="0" y="566414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0" name="maturity-step-top-3">
            <a:extLst xmlns:a="http://schemas.openxmlformats.org/drawingml/2006/main">
              <a:ext uri="{FF2B5EF4-FFF2-40B4-BE49-F238E27FC236}">
                <a16:creationId xmlns:a16="http://schemas.microsoft.com/office/drawing/2014/main" id="{09D33587-E6D1-4F62-B5E8-C51F14A2F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6918" y="3856673"/>
            <a:ext cx="2120075" cy="130493"/>
          </a:xfrm>
          <a:custGeom xmlns:a="http://schemas.openxmlformats.org/drawingml/2006/main">
            <a:pathLst>
              <a:path w="2120075" h="130493">
                <a:moveTo>
                  <a:pt x="0" y="130493"/>
                </a:moveTo>
                <a:lnTo>
                  <a:pt x="19031" y="130493"/>
                </a:lnTo>
                <a:lnTo>
                  <a:pt x="38062" y="130493"/>
                </a:lnTo>
                <a:lnTo>
                  <a:pt x="57093" y="130493"/>
                </a:lnTo>
                <a:lnTo>
                  <a:pt x="76124" y="130493"/>
                </a:lnTo>
                <a:lnTo>
                  <a:pt x="95155" y="130493"/>
                </a:lnTo>
                <a:lnTo>
                  <a:pt x="114195" y="130493"/>
                </a:lnTo>
                <a:lnTo>
                  <a:pt x="133226" y="130493"/>
                </a:lnTo>
                <a:lnTo>
                  <a:pt x="152257" y="130493"/>
                </a:lnTo>
                <a:lnTo>
                  <a:pt x="171288" y="130493"/>
                </a:lnTo>
                <a:lnTo>
                  <a:pt x="190319" y="130493"/>
                </a:lnTo>
                <a:lnTo>
                  <a:pt x="209350" y="130493"/>
                </a:lnTo>
                <a:lnTo>
                  <a:pt x="228381" y="130493"/>
                </a:lnTo>
                <a:lnTo>
                  <a:pt x="247412" y="130493"/>
                </a:lnTo>
                <a:lnTo>
                  <a:pt x="266443" y="130493"/>
                </a:lnTo>
                <a:lnTo>
                  <a:pt x="285474" y="130493"/>
                </a:lnTo>
                <a:lnTo>
                  <a:pt x="304505" y="130493"/>
                </a:lnTo>
                <a:lnTo>
                  <a:pt x="323545" y="130493"/>
                </a:lnTo>
                <a:lnTo>
                  <a:pt x="342576" y="130493"/>
                </a:lnTo>
                <a:lnTo>
                  <a:pt x="361607" y="130493"/>
                </a:lnTo>
                <a:lnTo>
                  <a:pt x="380638" y="130493"/>
                </a:lnTo>
                <a:lnTo>
                  <a:pt x="399669" y="130493"/>
                </a:lnTo>
                <a:lnTo>
                  <a:pt x="418700" y="130493"/>
                </a:lnTo>
                <a:lnTo>
                  <a:pt x="437731" y="130493"/>
                </a:lnTo>
                <a:lnTo>
                  <a:pt x="456762" y="130493"/>
                </a:lnTo>
                <a:lnTo>
                  <a:pt x="475793" y="130493"/>
                </a:lnTo>
                <a:lnTo>
                  <a:pt x="494824" y="130493"/>
                </a:lnTo>
                <a:lnTo>
                  <a:pt x="513864" y="130493"/>
                </a:lnTo>
                <a:lnTo>
                  <a:pt x="532895" y="130493"/>
                </a:lnTo>
                <a:lnTo>
                  <a:pt x="551926" y="130493"/>
                </a:lnTo>
                <a:lnTo>
                  <a:pt x="570957" y="130493"/>
                </a:lnTo>
                <a:lnTo>
                  <a:pt x="589988" y="130493"/>
                </a:lnTo>
                <a:lnTo>
                  <a:pt x="609019" y="130493"/>
                </a:lnTo>
                <a:lnTo>
                  <a:pt x="628050" y="130493"/>
                </a:lnTo>
                <a:lnTo>
                  <a:pt x="647081" y="130493"/>
                </a:lnTo>
                <a:lnTo>
                  <a:pt x="666112" y="130493"/>
                </a:lnTo>
                <a:lnTo>
                  <a:pt x="685143" y="130493"/>
                </a:lnTo>
                <a:lnTo>
                  <a:pt x="704183" y="130493"/>
                </a:lnTo>
                <a:lnTo>
                  <a:pt x="723214" y="130493"/>
                </a:lnTo>
                <a:lnTo>
                  <a:pt x="742245" y="130493"/>
                </a:lnTo>
                <a:lnTo>
                  <a:pt x="761276" y="130493"/>
                </a:lnTo>
                <a:lnTo>
                  <a:pt x="780307" y="130493"/>
                </a:lnTo>
                <a:lnTo>
                  <a:pt x="799338" y="130493"/>
                </a:lnTo>
                <a:lnTo>
                  <a:pt x="818369" y="130493"/>
                </a:lnTo>
                <a:lnTo>
                  <a:pt x="837400" y="130493"/>
                </a:lnTo>
                <a:lnTo>
                  <a:pt x="856431" y="130493"/>
                </a:lnTo>
                <a:lnTo>
                  <a:pt x="875462" y="130493"/>
                </a:lnTo>
                <a:lnTo>
                  <a:pt x="894493" y="130493"/>
                </a:lnTo>
                <a:lnTo>
                  <a:pt x="913533" y="130493"/>
                </a:lnTo>
                <a:lnTo>
                  <a:pt x="932564" y="130493"/>
                </a:lnTo>
                <a:lnTo>
                  <a:pt x="951595" y="130493"/>
                </a:lnTo>
                <a:lnTo>
                  <a:pt x="970626" y="130493"/>
                </a:lnTo>
                <a:lnTo>
                  <a:pt x="989657" y="130493"/>
                </a:lnTo>
                <a:lnTo>
                  <a:pt x="1008688" y="130493"/>
                </a:lnTo>
                <a:lnTo>
                  <a:pt x="1027719" y="130493"/>
                </a:lnTo>
                <a:lnTo>
                  <a:pt x="1046750" y="130493"/>
                </a:lnTo>
                <a:lnTo>
                  <a:pt x="1065781" y="130493"/>
                </a:lnTo>
                <a:lnTo>
                  <a:pt x="1084812" y="130493"/>
                </a:lnTo>
                <a:lnTo>
                  <a:pt x="1103843" y="130493"/>
                </a:lnTo>
                <a:lnTo>
                  <a:pt x="1122883" y="130493"/>
                </a:lnTo>
                <a:lnTo>
                  <a:pt x="1141914" y="130493"/>
                </a:lnTo>
                <a:lnTo>
                  <a:pt x="1160945" y="130493"/>
                </a:lnTo>
                <a:lnTo>
                  <a:pt x="1179976" y="130493"/>
                </a:lnTo>
                <a:lnTo>
                  <a:pt x="1199007" y="130493"/>
                </a:lnTo>
                <a:lnTo>
                  <a:pt x="1218038" y="130493"/>
                </a:lnTo>
                <a:lnTo>
                  <a:pt x="1237069" y="130493"/>
                </a:lnTo>
                <a:lnTo>
                  <a:pt x="1256100" y="130493"/>
                </a:lnTo>
                <a:lnTo>
                  <a:pt x="1275131" y="130493"/>
                </a:lnTo>
                <a:lnTo>
                  <a:pt x="1294162" y="130493"/>
                </a:lnTo>
                <a:lnTo>
                  <a:pt x="1313193" y="130493"/>
                </a:lnTo>
                <a:lnTo>
                  <a:pt x="1332233" y="130493"/>
                </a:lnTo>
                <a:lnTo>
                  <a:pt x="1351264" y="130493"/>
                </a:lnTo>
                <a:lnTo>
                  <a:pt x="1370295" y="130493"/>
                </a:lnTo>
                <a:lnTo>
                  <a:pt x="1389326" y="130493"/>
                </a:lnTo>
                <a:lnTo>
                  <a:pt x="1408357" y="130493"/>
                </a:lnTo>
                <a:lnTo>
                  <a:pt x="1427388" y="130493"/>
                </a:lnTo>
                <a:lnTo>
                  <a:pt x="1446419" y="130493"/>
                </a:lnTo>
                <a:lnTo>
                  <a:pt x="1465450" y="130493"/>
                </a:lnTo>
                <a:lnTo>
                  <a:pt x="1484481" y="130493"/>
                </a:lnTo>
                <a:lnTo>
                  <a:pt x="1503512" y="130493"/>
                </a:lnTo>
                <a:lnTo>
                  <a:pt x="1522552" y="130493"/>
                </a:lnTo>
                <a:lnTo>
                  <a:pt x="1541583" y="130493"/>
                </a:lnTo>
                <a:lnTo>
                  <a:pt x="1560614" y="130493"/>
                </a:lnTo>
                <a:lnTo>
                  <a:pt x="1579645" y="130493"/>
                </a:lnTo>
                <a:lnTo>
                  <a:pt x="1598676" y="130493"/>
                </a:lnTo>
                <a:lnTo>
                  <a:pt x="1617707" y="130493"/>
                </a:lnTo>
                <a:lnTo>
                  <a:pt x="1636738" y="130493"/>
                </a:lnTo>
                <a:lnTo>
                  <a:pt x="1655769" y="130493"/>
                </a:lnTo>
                <a:lnTo>
                  <a:pt x="1674800" y="130493"/>
                </a:lnTo>
                <a:lnTo>
                  <a:pt x="1693831" y="130493"/>
                </a:lnTo>
                <a:lnTo>
                  <a:pt x="1712862" y="130493"/>
                </a:lnTo>
                <a:lnTo>
                  <a:pt x="1731902" y="130493"/>
                </a:lnTo>
                <a:lnTo>
                  <a:pt x="1750933" y="130493"/>
                </a:lnTo>
                <a:lnTo>
                  <a:pt x="1769964" y="130493"/>
                </a:lnTo>
                <a:lnTo>
                  <a:pt x="1788995" y="130493"/>
                </a:lnTo>
                <a:lnTo>
                  <a:pt x="1808026" y="130493"/>
                </a:lnTo>
                <a:lnTo>
                  <a:pt x="1827057" y="130493"/>
                </a:lnTo>
                <a:lnTo>
                  <a:pt x="1846088" y="130493"/>
                </a:lnTo>
                <a:lnTo>
                  <a:pt x="1865109" y="130435"/>
                </a:lnTo>
                <a:lnTo>
                  <a:pt x="1882102" y="121872"/>
                </a:lnTo>
                <a:lnTo>
                  <a:pt x="1899104" y="113309"/>
                </a:lnTo>
                <a:lnTo>
                  <a:pt x="1916097" y="104756"/>
                </a:lnTo>
                <a:lnTo>
                  <a:pt x="1933099" y="96193"/>
                </a:lnTo>
                <a:lnTo>
                  <a:pt x="1950091" y="87630"/>
                </a:lnTo>
                <a:lnTo>
                  <a:pt x="1967093" y="79067"/>
                </a:lnTo>
                <a:lnTo>
                  <a:pt x="1984086" y="70504"/>
                </a:lnTo>
                <a:lnTo>
                  <a:pt x="2001088" y="61941"/>
                </a:lnTo>
                <a:lnTo>
                  <a:pt x="2018081" y="53388"/>
                </a:lnTo>
                <a:lnTo>
                  <a:pt x="2035083" y="44825"/>
                </a:lnTo>
                <a:lnTo>
                  <a:pt x="2052085" y="36262"/>
                </a:lnTo>
                <a:lnTo>
                  <a:pt x="2069078" y="27699"/>
                </a:lnTo>
                <a:lnTo>
                  <a:pt x="2086080" y="19136"/>
                </a:lnTo>
                <a:lnTo>
                  <a:pt x="2103072" y="10582"/>
                </a:lnTo>
                <a:lnTo>
                  <a:pt x="2120075" y="2019"/>
                </a:lnTo>
                <a:lnTo>
                  <a:pt x="2109530" y="0"/>
                </a:lnTo>
                <a:lnTo>
                  <a:pt x="2090499" y="0"/>
                </a:lnTo>
                <a:lnTo>
                  <a:pt x="2071459" y="0"/>
                </a:lnTo>
                <a:lnTo>
                  <a:pt x="2052428" y="0"/>
                </a:lnTo>
                <a:lnTo>
                  <a:pt x="2033397" y="0"/>
                </a:lnTo>
                <a:lnTo>
                  <a:pt x="2014366" y="0"/>
                </a:lnTo>
                <a:lnTo>
                  <a:pt x="1995335" y="0"/>
                </a:lnTo>
                <a:lnTo>
                  <a:pt x="1976304" y="0"/>
                </a:lnTo>
                <a:lnTo>
                  <a:pt x="1957273" y="0"/>
                </a:lnTo>
                <a:lnTo>
                  <a:pt x="1938242" y="0"/>
                </a:lnTo>
                <a:lnTo>
                  <a:pt x="1919211" y="0"/>
                </a:lnTo>
                <a:lnTo>
                  <a:pt x="1900180" y="0"/>
                </a:lnTo>
                <a:lnTo>
                  <a:pt x="1881149" y="0"/>
                </a:lnTo>
                <a:lnTo>
                  <a:pt x="1862109" y="0"/>
                </a:lnTo>
                <a:lnTo>
                  <a:pt x="1843078" y="0"/>
                </a:lnTo>
                <a:lnTo>
                  <a:pt x="1824047" y="0"/>
                </a:lnTo>
                <a:lnTo>
                  <a:pt x="1805016" y="0"/>
                </a:lnTo>
                <a:lnTo>
                  <a:pt x="1785985" y="0"/>
                </a:lnTo>
                <a:lnTo>
                  <a:pt x="1766954" y="0"/>
                </a:lnTo>
                <a:lnTo>
                  <a:pt x="1747923" y="0"/>
                </a:lnTo>
                <a:lnTo>
                  <a:pt x="1728892" y="0"/>
                </a:lnTo>
                <a:lnTo>
                  <a:pt x="1709861" y="0"/>
                </a:lnTo>
                <a:lnTo>
                  <a:pt x="1690830" y="0"/>
                </a:lnTo>
                <a:lnTo>
                  <a:pt x="1671790" y="0"/>
                </a:lnTo>
                <a:lnTo>
                  <a:pt x="1652759" y="0"/>
                </a:lnTo>
                <a:lnTo>
                  <a:pt x="1633728" y="0"/>
                </a:lnTo>
                <a:lnTo>
                  <a:pt x="1614697" y="0"/>
                </a:lnTo>
                <a:lnTo>
                  <a:pt x="1595666" y="0"/>
                </a:lnTo>
                <a:lnTo>
                  <a:pt x="1576635" y="0"/>
                </a:lnTo>
                <a:lnTo>
                  <a:pt x="1557604" y="0"/>
                </a:lnTo>
                <a:lnTo>
                  <a:pt x="1538573" y="0"/>
                </a:lnTo>
                <a:lnTo>
                  <a:pt x="1519542" y="0"/>
                </a:lnTo>
                <a:lnTo>
                  <a:pt x="1500511" y="0"/>
                </a:lnTo>
                <a:lnTo>
                  <a:pt x="1481480" y="0"/>
                </a:lnTo>
                <a:lnTo>
                  <a:pt x="1462440" y="0"/>
                </a:lnTo>
                <a:lnTo>
                  <a:pt x="1443409" y="0"/>
                </a:lnTo>
                <a:lnTo>
                  <a:pt x="1424378" y="0"/>
                </a:lnTo>
                <a:lnTo>
                  <a:pt x="1405347" y="0"/>
                </a:lnTo>
                <a:lnTo>
                  <a:pt x="1386316" y="0"/>
                </a:lnTo>
                <a:lnTo>
                  <a:pt x="1367285" y="0"/>
                </a:lnTo>
                <a:lnTo>
                  <a:pt x="1348254" y="0"/>
                </a:lnTo>
                <a:lnTo>
                  <a:pt x="1329223" y="0"/>
                </a:lnTo>
                <a:lnTo>
                  <a:pt x="1310192" y="0"/>
                </a:lnTo>
                <a:lnTo>
                  <a:pt x="1291161" y="0"/>
                </a:lnTo>
                <a:lnTo>
                  <a:pt x="1272130" y="0"/>
                </a:lnTo>
                <a:lnTo>
                  <a:pt x="1253090" y="0"/>
                </a:lnTo>
                <a:lnTo>
                  <a:pt x="1234059" y="0"/>
                </a:lnTo>
                <a:lnTo>
                  <a:pt x="1215028" y="0"/>
                </a:lnTo>
                <a:lnTo>
                  <a:pt x="1195997" y="0"/>
                </a:lnTo>
                <a:lnTo>
                  <a:pt x="1176966" y="0"/>
                </a:lnTo>
                <a:lnTo>
                  <a:pt x="1157935" y="0"/>
                </a:lnTo>
                <a:lnTo>
                  <a:pt x="1138904" y="0"/>
                </a:lnTo>
                <a:lnTo>
                  <a:pt x="1119873" y="0"/>
                </a:lnTo>
                <a:lnTo>
                  <a:pt x="1100842" y="0"/>
                </a:lnTo>
                <a:lnTo>
                  <a:pt x="1081811" y="0"/>
                </a:lnTo>
                <a:lnTo>
                  <a:pt x="1062771" y="0"/>
                </a:lnTo>
                <a:lnTo>
                  <a:pt x="1043740" y="0"/>
                </a:lnTo>
                <a:lnTo>
                  <a:pt x="1024709" y="0"/>
                </a:lnTo>
                <a:lnTo>
                  <a:pt x="1005678" y="0"/>
                </a:lnTo>
                <a:lnTo>
                  <a:pt x="986647" y="0"/>
                </a:lnTo>
                <a:lnTo>
                  <a:pt x="967616" y="0"/>
                </a:lnTo>
                <a:lnTo>
                  <a:pt x="948585" y="0"/>
                </a:lnTo>
                <a:lnTo>
                  <a:pt x="929554" y="0"/>
                </a:lnTo>
                <a:lnTo>
                  <a:pt x="910523" y="0"/>
                </a:lnTo>
                <a:lnTo>
                  <a:pt x="891492" y="0"/>
                </a:lnTo>
                <a:lnTo>
                  <a:pt x="872452" y="0"/>
                </a:lnTo>
                <a:lnTo>
                  <a:pt x="853421" y="0"/>
                </a:lnTo>
                <a:lnTo>
                  <a:pt x="834390" y="0"/>
                </a:lnTo>
                <a:lnTo>
                  <a:pt x="815359" y="0"/>
                </a:lnTo>
                <a:lnTo>
                  <a:pt x="796328" y="0"/>
                </a:lnTo>
                <a:lnTo>
                  <a:pt x="777297" y="0"/>
                </a:lnTo>
                <a:lnTo>
                  <a:pt x="758266" y="0"/>
                </a:lnTo>
                <a:lnTo>
                  <a:pt x="739235" y="0"/>
                </a:lnTo>
                <a:lnTo>
                  <a:pt x="720204" y="0"/>
                </a:lnTo>
                <a:lnTo>
                  <a:pt x="701173" y="0"/>
                </a:lnTo>
                <a:lnTo>
                  <a:pt x="682142" y="0"/>
                </a:lnTo>
                <a:lnTo>
                  <a:pt x="663102" y="0"/>
                </a:lnTo>
                <a:lnTo>
                  <a:pt x="644071" y="0"/>
                </a:lnTo>
                <a:lnTo>
                  <a:pt x="625040" y="0"/>
                </a:lnTo>
                <a:lnTo>
                  <a:pt x="606009" y="0"/>
                </a:lnTo>
                <a:lnTo>
                  <a:pt x="586978" y="0"/>
                </a:lnTo>
                <a:lnTo>
                  <a:pt x="567947" y="0"/>
                </a:lnTo>
                <a:lnTo>
                  <a:pt x="548916" y="0"/>
                </a:lnTo>
                <a:lnTo>
                  <a:pt x="529885" y="0"/>
                </a:lnTo>
                <a:lnTo>
                  <a:pt x="510854" y="0"/>
                </a:lnTo>
                <a:lnTo>
                  <a:pt x="491823" y="0"/>
                </a:lnTo>
                <a:lnTo>
                  <a:pt x="472792" y="0"/>
                </a:lnTo>
                <a:lnTo>
                  <a:pt x="453752" y="0"/>
                </a:lnTo>
                <a:lnTo>
                  <a:pt x="434721" y="0"/>
                </a:lnTo>
                <a:lnTo>
                  <a:pt x="415690" y="0"/>
                </a:lnTo>
                <a:lnTo>
                  <a:pt x="396659" y="0"/>
                </a:lnTo>
                <a:lnTo>
                  <a:pt x="377628" y="0"/>
                </a:lnTo>
                <a:lnTo>
                  <a:pt x="359521" y="5477"/>
                </a:lnTo>
                <a:lnTo>
                  <a:pt x="341547" y="11735"/>
                </a:lnTo>
                <a:lnTo>
                  <a:pt x="323574" y="17983"/>
                </a:lnTo>
                <a:lnTo>
                  <a:pt x="305591" y="24232"/>
                </a:lnTo>
                <a:lnTo>
                  <a:pt x="287617" y="30480"/>
                </a:lnTo>
                <a:lnTo>
                  <a:pt x="269643" y="36738"/>
                </a:lnTo>
                <a:lnTo>
                  <a:pt x="251670" y="42986"/>
                </a:lnTo>
                <a:lnTo>
                  <a:pt x="233686" y="49235"/>
                </a:lnTo>
                <a:lnTo>
                  <a:pt x="215713" y="55483"/>
                </a:lnTo>
                <a:lnTo>
                  <a:pt x="197739" y="61732"/>
                </a:lnTo>
                <a:lnTo>
                  <a:pt x="179765" y="67989"/>
                </a:lnTo>
                <a:lnTo>
                  <a:pt x="161782" y="74238"/>
                </a:lnTo>
                <a:lnTo>
                  <a:pt x="143808" y="80486"/>
                </a:lnTo>
                <a:lnTo>
                  <a:pt x="125835" y="86735"/>
                </a:lnTo>
                <a:lnTo>
                  <a:pt x="107861" y="92993"/>
                </a:lnTo>
                <a:lnTo>
                  <a:pt x="89878" y="99241"/>
                </a:lnTo>
                <a:lnTo>
                  <a:pt x="71904" y="105489"/>
                </a:lnTo>
                <a:lnTo>
                  <a:pt x="53931" y="111738"/>
                </a:lnTo>
                <a:lnTo>
                  <a:pt x="35957" y="117996"/>
                </a:lnTo>
                <a:lnTo>
                  <a:pt x="17974" y="124244"/>
                </a:lnTo>
                <a:lnTo>
                  <a:pt x="0" y="130493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1" name="maturity-step-inset-3">
            <a:extLst xmlns:a="http://schemas.openxmlformats.org/drawingml/2006/main">
              <a:ext uri="{FF2B5EF4-FFF2-40B4-BE49-F238E27FC236}">
                <a16:creationId xmlns:a16="http://schemas.microsoft.com/office/drawing/2014/main" id="{704EEBD5-726C-47B3-900F-65994C5F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15025" y="3856673"/>
            <a:ext cx="1934528" cy="130493"/>
          </a:xfrm>
          <a:custGeom xmlns:a="http://schemas.openxmlformats.org/drawingml/2006/main">
            <a:pathLst>
              <a:path w="1934528" h="130493">
                <a:moveTo>
                  <a:pt x="0" y="130493"/>
                </a:moveTo>
                <a:lnTo>
                  <a:pt x="18888" y="130493"/>
                </a:lnTo>
                <a:lnTo>
                  <a:pt x="37786" y="130493"/>
                </a:lnTo>
                <a:lnTo>
                  <a:pt x="56674" y="130493"/>
                </a:lnTo>
                <a:lnTo>
                  <a:pt x="75571" y="130493"/>
                </a:lnTo>
                <a:lnTo>
                  <a:pt x="94459" y="130493"/>
                </a:lnTo>
                <a:lnTo>
                  <a:pt x="113357" y="130493"/>
                </a:lnTo>
                <a:lnTo>
                  <a:pt x="132245" y="130493"/>
                </a:lnTo>
                <a:lnTo>
                  <a:pt x="151143" y="130493"/>
                </a:lnTo>
                <a:lnTo>
                  <a:pt x="170031" y="130493"/>
                </a:lnTo>
                <a:lnTo>
                  <a:pt x="188928" y="130493"/>
                </a:lnTo>
                <a:lnTo>
                  <a:pt x="207816" y="130493"/>
                </a:lnTo>
                <a:lnTo>
                  <a:pt x="226714" y="130493"/>
                </a:lnTo>
                <a:lnTo>
                  <a:pt x="245602" y="130493"/>
                </a:lnTo>
                <a:lnTo>
                  <a:pt x="264500" y="130493"/>
                </a:lnTo>
                <a:lnTo>
                  <a:pt x="283388" y="130493"/>
                </a:lnTo>
                <a:lnTo>
                  <a:pt x="302285" y="130493"/>
                </a:lnTo>
                <a:lnTo>
                  <a:pt x="321173" y="130493"/>
                </a:lnTo>
                <a:lnTo>
                  <a:pt x="340071" y="130493"/>
                </a:lnTo>
                <a:lnTo>
                  <a:pt x="358959" y="130493"/>
                </a:lnTo>
                <a:lnTo>
                  <a:pt x="377857" y="130493"/>
                </a:lnTo>
                <a:lnTo>
                  <a:pt x="396745" y="130493"/>
                </a:lnTo>
                <a:lnTo>
                  <a:pt x="415642" y="130493"/>
                </a:lnTo>
                <a:lnTo>
                  <a:pt x="434531" y="130493"/>
                </a:lnTo>
                <a:lnTo>
                  <a:pt x="453428" y="130493"/>
                </a:lnTo>
                <a:lnTo>
                  <a:pt x="472316" y="130493"/>
                </a:lnTo>
                <a:lnTo>
                  <a:pt x="491214" y="130493"/>
                </a:lnTo>
                <a:lnTo>
                  <a:pt x="510102" y="130493"/>
                </a:lnTo>
                <a:lnTo>
                  <a:pt x="528990" y="130493"/>
                </a:lnTo>
                <a:lnTo>
                  <a:pt x="547888" y="130493"/>
                </a:lnTo>
                <a:lnTo>
                  <a:pt x="566776" y="130493"/>
                </a:lnTo>
                <a:lnTo>
                  <a:pt x="585673" y="130493"/>
                </a:lnTo>
                <a:lnTo>
                  <a:pt x="604561" y="130493"/>
                </a:lnTo>
                <a:lnTo>
                  <a:pt x="623459" y="130493"/>
                </a:lnTo>
                <a:lnTo>
                  <a:pt x="642347" y="130493"/>
                </a:lnTo>
                <a:lnTo>
                  <a:pt x="661245" y="130493"/>
                </a:lnTo>
                <a:lnTo>
                  <a:pt x="680133" y="130493"/>
                </a:lnTo>
                <a:lnTo>
                  <a:pt x="699030" y="130493"/>
                </a:lnTo>
                <a:lnTo>
                  <a:pt x="717918" y="130493"/>
                </a:lnTo>
                <a:lnTo>
                  <a:pt x="736816" y="130493"/>
                </a:lnTo>
                <a:lnTo>
                  <a:pt x="755704" y="130493"/>
                </a:lnTo>
                <a:lnTo>
                  <a:pt x="774602" y="130493"/>
                </a:lnTo>
                <a:lnTo>
                  <a:pt x="793490" y="130493"/>
                </a:lnTo>
                <a:lnTo>
                  <a:pt x="812387" y="130493"/>
                </a:lnTo>
                <a:lnTo>
                  <a:pt x="831275" y="130493"/>
                </a:lnTo>
                <a:lnTo>
                  <a:pt x="850173" y="130493"/>
                </a:lnTo>
                <a:lnTo>
                  <a:pt x="869061" y="130493"/>
                </a:lnTo>
                <a:lnTo>
                  <a:pt x="887959" y="130493"/>
                </a:lnTo>
                <a:lnTo>
                  <a:pt x="906847" y="130493"/>
                </a:lnTo>
                <a:lnTo>
                  <a:pt x="925744" y="130493"/>
                </a:lnTo>
                <a:lnTo>
                  <a:pt x="944632" y="130493"/>
                </a:lnTo>
                <a:lnTo>
                  <a:pt x="963530" y="130493"/>
                </a:lnTo>
                <a:lnTo>
                  <a:pt x="982418" y="130493"/>
                </a:lnTo>
                <a:lnTo>
                  <a:pt x="1001316" y="130493"/>
                </a:lnTo>
                <a:lnTo>
                  <a:pt x="1020204" y="130493"/>
                </a:lnTo>
                <a:lnTo>
                  <a:pt x="1039101" y="130493"/>
                </a:lnTo>
                <a:lnTo>
                  <a:pt x="1057989" y="130493"/>
                </a:lnTo>
                <a:lnTo>
                  <a:pt x="1076877" y="130493"/>
                </a:lnTo>
                <a:lnTo>
                  <a:pt x="1095775" y="130493"/>
                </a:lnTo>
                <a:lnTo>
                  <a:pt x="1114663" y="130493"/>
                </a:lnTo>
                <a:lnTo>
                  <a:pt x="1133561" y="130493"/>
                </a:lnTo>
                <a:lnTo>
                  <a:pt x="1152449" y="130493"/>
                </a:lnTo>
                <a:lnTo>
                  <a:pt x="1171346" y="130493"/>
                </a:lnTo>
                <a:lnTo>
                  <a:pt x="1190234" y="130493"/>
                </a:lnTo>
                <a:lnTo>
                  <a:pt x="1209132" y="130493"/>
                </a:lnTo>
                <a:lnTo>
                  <a:pt x="1228020" y="130493"/>
                </a:lnTo>
                <a:lnTo>
                  <a:pt x="1246918" y="130493"/>
                </a:lnTo>
                <a:lnTo>
                  <a:pt x="1265806" y="130493"/>
                </a:lnTo>
                <a:lnTo>
                  <a:pt x="1284703" y="130493"/>
                </a:lnTo>
                <a:lnTo>
                  <a:pt x="1303592" y="130493"/>
                </a:lnTo>
                <a:lnTo>
                  <a:pt x="1322489" y="130493"/>
                </a:lnTo>
                <a:lnTo>
                  <a:pt x="1341377" y="130493"/>
                </a:lnTo>
                <a:lnTo>
                  <a:pt x="1360275" y="130493"/>
                </a:lnTo>
                <a:lnTo>
                  <a:pt x="1379163" y="130493"/>
                </a:lnTo>
                <a:lnTo>
                  <a:pt x="1398060" y="130493"/>
                </a:lnTo>
                <a:lnTo>
                  <a:pt x="1416949" y="130493"/>
                </a:lnTo>
                <a:lnTo>
                  <a:pt x="1435846" y="130493"/>
                </a:lnTo>
                <a:lnTo>
                  <a:pt x="1454734" y="130493"/>
                </a:lnTo>
                <a:lnTo>
                  <a:pt x="1473632" y="130493"/>
                </a:lnTo>
                <a:lnTo>
                  <a:pt x="1492520" y="130493"/>
                </a:lnTo>
                <a:lnTo>
                  <a:pt x="1511417" y="130493"/>
                </a:lnTo>
                <a:lnTo>
                  <a:pt x="1530306" y="130493"/>
                </a:lnTo>
                <a:lnTo>
                  <a:pt x="1549203" y="130493"/>
                </a:lnTo>
                <a:lnTo>
                  <a:pt x="1568091" y="130493"/>
                </a:lnTo>
                <a:lnTo>
                  <a:pt x="1586979" y="130493"/>
                </a:lnTo>
                <a:lnTo>
                  <a:pt x="1605877" y="130493"/>
                </a:lnTo>
                <a:lnTo>
                  <a:pt x="1624765" y="130493"/>
                </a:lnTo>
                <a:lnTo>
                  <a:pt x="1643663" y="130493"/>
                </a:lnTo>
                <a:lnTo>
                  <a:pt x="1662551" y="130493"/>
                </a:lnTo>
                <a:lnTo>
                  <a:pt x="1680153" y="124911"/>
                </a:lnTo>
                <a:lnTo>
                  <a:pt x="1697107" y="116586"/>
                </a:lnTo>
                <a:lnTo>
                  <a:pt x="1714071" y="108252"/>
                </a:lnTo>
                <a:lnTo>
                  <a:pt x="1731026" y="99927"/>
                </a:lnTo>
                <a:lnTo>
                  <a:pt x="1747980" y="91602"/>
                </a:lnTo>
                <a:lnTo>
                  <a:pt x="1764944" y="83277"/>
                </a:lnTo>
                <a:lnTo>
                  <a:pt x="1781899" y="74943"/>
                </a:lnTo>
                <a:lnTo>
                  <a:pt x="1798863" y="66618"/>
                </a:lnTo>
                <a:lnTo>
                  <a:pt x="1815817" y="58293"/>
                </a:lnTo>
                <a:lnTo>
                  <a:pt x="1832772" y="49968"/>
                </a:lnTo>
                <a:lnTo>
                  <a:pt x="1849736" y="41634"/>
                </a:lnTo>
                <a:lnTo>
                  <a:pt x="1866690" y="33309"/>
                </a:lnTo>
                <a:lnTo>
                  <a:pt x="1883654" y="24984"/>
                </a:lnTo>
                <a:lnTo>
                  <a:pt x="1900609" y="16659"/>
                </a:lnTo>
                <a:lnTo>
                  <a:pt x="1917573" y="8325"/>
                </a:lnTo>
                <a:lnTo>
                  <a:pt x="193452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2" name="maturity-step-projection-3">
            <a:extLst xmlns:a="http://schemas.openxmlformats.org/drawingml/2006/main">
              <a:ext uri="{FF2B5EF4-FFF2-40B4-BE49-F238E27FC236}">
                <a16:creationId xmlns:a16="http://schemas.microsoft.com/office/drawing/2014/main" id="{32C47B4B-CBA1-4B66-9961-72DE3254A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4595" y="3856673"/>
            <a:ext cx="1564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maturity-step-riser-4">
            <a:extLst xmlns:a="http://schemas.openxmlformats.org/drawingml/2006/main">
              <a:ext uri="{FF2B5EF4-FFF2-40B4-BE49-F238E27FC236}">
                <a16:creationId xmlns:a16="http://schemas.microsoft.com/office/drawing/2014/main" id="{090A0E90-A65C-4440-B673-2D95AE8B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46908" y="3420780"/>
            <a:ext cx="143828" cy="230095"/>
          </a:xfrm>
          <a:custGeom xmlns:a="http://schemas.openxmlformats.org/drawingml/2006/main">
            <a:pathLst>
              <a:path w="143828" h="230095">
                <a:moveTo>
                  <a:pt x="0" y="97755"/>
                </a:moveTo>
                <a:lnTo>
                  <a:pt x="0" y="116662"/>
                </a:lnTo>
                <a:lnTo>
                  <a:pt x="0" y="135569"/>
                </a:lnTo>
                <a:lnTo>
                  <a:pt x="0" y="154476"/>
                </a:lnTo>
                <a:lnTo>
                  <a:pt x="0" y="173384"/>
                </a:lnTo>
                <a:lnTo>
                  <a:pt x="0" y="192281"/>
                </a:lnTo>
                <a:lnTo>
                  <a:pt x="0" y="211188"/>
                </a:lnTo>
                <a:lnTo>
                  <a:pt x="0" y="230095"/>
                </a:lnTo>
                <a:lnTo>
                  <a:pt x="12306" y="225323"/>
                </a:lnTo>
                <a:lnTo>
                  <a:pt x="27775" y="214465"/>
                </a:lnTo>
                <a:lnTo>
                  <a:pt x="43253" y="203606"/>
                </a:lnTo>
                <a:lnTo>
                  <a:pt x="58722" y="192738"/>
                </a:lnTo>
                <a:lnTo>
                  <a:pt x="74200" y="181880"/>
                </a:lnTo>
                <a:lnTo>
                  <a:pt x="89668" y="171021"/>
                </a:lnTo>
                <a:lnTo>
                  <a:pt x="105146" y="160153"/>
                </a:lnTo>
                <a:lnTo>
                  <a:pt x="120615" y="149295"/>
                </a:lnTo>
                <a:lnTo>
                  <a:pt x="136093" y="138436"/>
                </a:lnTo>
                <a:lnTo>
                  <a:pt x="143828" y="123549"/>
                </a:lnTo>
                <a:lnTo>
                  <a:pt x="143828" y="104642"/>
                </a:lnTo>
                <a:lnTo>
                  <a:pt x="143828" y="85735"/>
                </a:lnTo>
                <a:lnTo>
                  <a:pt x="143828" y="66837"/>
                </a:lnTo>
                <a:lnTo>
                  <a:pt x="143828" y="47930"/>
                </a:lnTo>
                <a:lnTo>
                  <a:pt x="143828" y="29023"/>
                </a:lnTo>
                <a:lnTo>
                  <a:pt x="143828" y="10116"/>
                </a:lnTo>
                <a:lnTo>
                  <a:pt x="139256" y="0"/>
                </a:lnTo>
                <a:lnTo>
                  <a:pt x="123787" y="10858"/>
                </a:lnTo>
                <a:lnTo>
                  <a:pt x="108309" y="21727"/>
                </a:lnTo>
                <a:lnTo>
                  <a:pt x="92840" y="32585"/>
                </a:lnTo>
                <a:lnTo>
                  <a:pt x="77362" y="43444"/>
                </a:lnTo>
                <a:lnTo>
                  <a:pt x="61893" y="54312"/>
                </a:lnTo>
                <a:lnTo>
                  <a:pt x="46415" y="65170"/>
                </a:lnTo>
                <a:lnTo>
                  <a:pt x="30947" y="76038"/>
                </a:lnTo>
                <a:lnTo>
                  <a:pt x="15478" y="86897"/>
                </a:lnTo>
                <a:lnTo>
                  <a:pt x="0" y="97755"/>
                </a:lnTo>
              </a:path>
            </a:pathLst>
          </a:custGeom>
          <a:solidFill xmlns:a="http://schemas.openxmlformats.org/drawingml/2006/main">
            <a:srgbClr val="D8D5CC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4" name="maturity-step-top-4">
            <a:extLst xmlns:a="http://schemas.openxmlformats.org/drawingml/2006/main">
              <a:ext uri="{FF2B5EF4-FFF2-40B4-BE49-F238E27FC236}">
                <a16:creationId xmlns:a16="http://schemas.microsoft.com/office/drawing/2014/main" id="{44846E35-F796-4801-80CB-C7930DD2A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3417570"/>
            <a:ext cx="2003536" cy="100965"/>
          </a:xfrm>
          <a:custGeom xmlns:a="http://schemas.openxmlformats.org/drawingml/2006/main">
            <a:pathLst>
              <a:path w="2003536" h="100965">
                <a:moveTo>
                  <a:pt x="0" y="100965"/>
                </a:moveTo>
                <a:lnTo>
                  <a:pt x="19012" y="100965"/>
                </a:lnTo>
                <a:lnTo>
                  <a:pt x="38024" y="100965"/>
                </a:lnTo>
                <a:lnTo>
                  <a:pt x="57036" y="100965"/>
                </a:lnTo>
                <a:lnTo>
                  <a:pt x="76048" y="100965"/>
                </a:lnTo>
                <a:lnTo>
                  <a:pt x="95060" y="100965"/>
                </a:lnTo>
                <a:lnTo>
                  <a:pt x="114071" y="100965"/>
                </a:lnTo>
                <a:lnTo>
                  <a:pt x="133083" y="100965"/>
                </a:lnTo>
                <a:lnTo>
                  <a:pt x="152095" y="100965"/>
                </a:lnTo>
                <a:lnTo>
                  <a:pt x="171107" y="100965"/>
                </a:lnTo>
                <a:lnTo>
                  <a:pt x="190119" y="100965"/>
                </a:lnTo>
                <a:lnTo>
                  <a:pt x="209131" y="100965"/>
                </a:lnTo>
                <a:lnTo>
                  <a:pt x="228143" y="100965"/>
                </a:lnTo>
                <a:lnTo>
                  <a:pt x="247155" y="100965"/>
                </a:lnTo>
                <a:lnTo>
                  <a:pt x="266167" y="100965"/>
                </a:lnTo>
                <a:lnTo>
                  <a:pt x="285179" y="100965"/>
                </a:lnTo>
                <a:lnTo>
                  <a:pt x="304190" y="100965"/>
                </a:lnTo>
                <a:lnTo>
                  <a:pt x="323202" y="100965"/>
                </a:lnTo>
                <a:lnTo>
                  <a:pt x="342214" y="100965"/>
                </a:lnTo>
                <a:lnTo>
                  <a:pt x="361226" y="100965"/>
                </a:lnTo>
                <a:lnTo>
                  <a:pt x="380238" y="100965"/>
                </a:lnTo>
                <a:lnTo>
                  <a:pt x="399250" y="100965"/>
                </a:lnTo>
                <a:lnTo>
                  <a:pt x="418262" y="100965"/>
                </a:lnTo>
                <a:lnTo>
                  <a:pt x="437274" y="100965"/>
                </a:lnTo>
                <a:lnTo>
                  <a:pt x="456286" y="100965"/>
                </a:lnTo>
                <a:lnTo>
                  <a:pt x="475298" y="100965"/>
                </a:lnTo>
                <a:lnTo>
                  <a:pt x="494309" y="100965"/>
                </a:lnTo>
                <a:lnTo>
                  <a:pt x="513321" y="100965"/>
                </a:lnTo>
                <a:lnTo>
                  <a:pt x="532333" y="100965"/>
                </a:lnTo>
                <a:lnTo>
                  <a:pt x="551345" y="100965"/>
                </a:lnTo>
                <a:lnTo>
                  <a:pt x="570357" y="100965"/>
                </a:lnTo>
                <a:lnTo>
                  <a:pt x="589369" y="100965"/>
                </a:lnTo>
                <a:lnTo>
                  <a:pt x="608381" y="100965"/>
                </a:lnTo>
                <a:lnTo>
                  <a:pt x="627393" y="100965"/>
                </a:lnTo>
                <a:lnTo>
                  <a:pt x="646405" y="100965"/>
                </a:lnTo>
                <a:lnTo>
                  <a:pt x="665417" y="100965"/>
                </a:lnTo>
                <a:lnTo>
                  <a:pt x="684428" y="100965"/>
                </a:lnTo>
                <a:lnTo>
                  <a:pt x="703440" y="100965"/>
                </a:lnTo>
                <a:lnTo>
                  <a:pt x="722452" y="100965"/>
                </a:lnTo>
                <a:lnTo>
                  <a:pt x="741464" y="100965"/>
                </a:lnTo>
                <a:lnTo>
                  <a:pt x="760476" y="100965"/>
                </a:lnTo>
                <a:lnTo>
                  <a:pt x="779488" y="100965"/>
                </a:lnTo>
                <a:lnTo>
                  <a:pt x="798500" y="100965"/>
                </a:lnTo>
                <a:lnTo>
                  <a:pt x="817512" y="100965"/>
                </a:lnTo>
                <a:lnTo>
                  <a:pt x="836514" y="100965"/>
                </a:lnTo>
                <a:lnTo>
                  <a:pt x="855535" y="100965"/>
                </a:lnTo>
                <a:lnTo>
                  <a:pt x="874538" y="100965"/>
                </a:lnTo>
                <a:lnTo>
                  <a:pt x="893550" y="100965"/>
                </a:lnTo>
                <a:lnTo>
                  <a:pt x="912562" y="100965"/>
                </a:lnTo>
                <a:lnTo>
                  <a:pt x="931574" y="100965"/>
                </a:lnTo>
                <a:lnTo>
                  <a:pt x="950585" y="100965"/>
                </a:lnTo>
                <a:lnTo>
                  <a:pt x="969597" y="100965"/>
                </a:lnTo>
                <a:lnTo>
                  <a:pt x="988609" y="100965"/>
                </a:lnTo>
                <a:lnTo>
                  <a:pt x="1007621" y="100965"/>
                </a:lnTo>
                <a:lnTo>
                  <a:pt x="1026633" y="100965"/>
                </a:lnTo>
                <a:lnTo>
                  <a:pt x="1045645" y="100965"/>
                </a:lnTo>
                <a:lnTo>
                  <a:pt x="1064657" y="100965"/>
                </a:lnTo>
                <a:lnTo>
                  <a:pt x="1083669" y="100965"/>
                </a:lnTo>
                <a:lnTo>
                  <a:pt x="1102681" y="100965"/>
                </a:lnTo>
                <a:lnTo>
                  <a:pt x="1121693" y="100965"/>
                </a:lnTo>
                <a:lnTo>
                  <a:pt x="1140704" y="100965"/>
                </a:lnTo>
                <a:lnTo>
                  <a:pt x="1159716" y="100965"/>
                </a:lnTo>
                <a:lnTo>
                  <a:pt x="1178728" y="100965"/>
                </a:lnTo>
                <a:lnTo>
                  <a:pt x="1197740" y="100965"/>
                </a:lnTo>
                <a:lnTo>
                  <a:pt x="1216752" y="100965"/>
                </a:lnTo>
                <a:lnTo>
                  <a:pt x="1235764" y="100965"/>
                </a:lnTo>
                <a:lnTo>
                  <a:pt x="1254776" y="100965"/>
                </a:lnTo>
                <a:lnTo>
                  <a:pt x="1273788" y="100965"/>
                </a:lnTo>
                <a:lnTo>
                  <a:pt x="1292800" y="100965"/>
                </a:lnTo>
                <a:lnTo>
                  <a:pt x="1311812" y="100965"/>
                </a:lnTo>
                <a:lnTo>
                  <a:pt x="1330823" y="100965"/>
                </a:lnTo>
                <a:lnTo>
                  <a:pt x="1349835" y="100965"/>
                </a:lnTo>
                <a:lnTo>
                  <a:pt x="1368847" y="100965"/>
                </a:lnTo>
                <a:lnTo>
                  <a:pt x="1387859" y="100965"/>
                </a:lnTo>
                <a:lnTo>
                  <a:pt x="1406871" y="100965"/>
                </a:lnTo>
                <a:lnTo>
                  <a:pt x="1425883" y="100965"/>
                </a:lnTo>
                <a:lnTo>
                  <a:pt x="1444895" y="100965"/>
                </a:lnTo>
                <a:lnTo>
                  <a:pt x="1463907" y="100965"/>
                </a:lnTo>
                <a:lnTo>
                  <a:pt x="1482919" y="100965"/>
                </a:lnTo>
                <a:lnTo>
                  <a:pt x="1501931" y="100965"/>
                </a:lnTo>
                <a:lnTo>
                  <a:pt x="1520942" y="100965"/>
                </a:lnTo>
                <a:lnTo>
                  <a:pt x="1539954" y="100965"/>
                </a:lnTo>
                <a:lnTo>
                  <a:pt x="1558966" y="100965"/>
                </a:lnTo>
                <a:lnTo>
                  <a:pt x="1577978" y="100965"/>
                </a:lnTo>
                <a:lnTo>
                  <a:pt x="1596990" y="100965"/>
                </a:lnTo>
                <a:lnTo>
                  <a:pt x="1616002" y="100965"/>
                </a:lnTo>
                <a:lnTo>
                  <a:pt x="1635014" y="100965"/>
                </a:lnTo>
                <a:lnTo>
                  <a:pt x="1654026" y="100965"/>
                </a:lnTo>
                <a:lnTo>
                  <a:pt x="1673038" y="100965"/>
                </a:lnTo>
                <a:lnTo>
                  <a:pt x="1692050" y="100965"/>
                </a:lnTo>
                <a:lnTo>
                  <a:pt x="1711061" y="100965"/>
                </a:lnTo>
                <a:lnTo>
                  <a:pt x="1730073" y="100965"/>
                </a:lnTo>
                <a:lnTo>
                  <a:pt x="1749085" y="100965"/>
                </a:lnTo>
                <a:lnTo>
                  <a:pt x="1768097" y="100965"/>
                </a:lnTo>
                <a:lnTo>
                  <a:pt x="1787109" y="100965"/>
                </a:lnTo>
                <a:lnTo>
                  <a:pt x="1806121" y="100965"/>
                </a:lnTo>
                <a:lnTo>
                  <a:pt x="1825133" y="100965"/>
                </a:lnTo>
                <a:lnTo>
                  <a:pt x="1844145" y="100965"/>
                </a:lnTo>
                <a:lnTo>
                  <a:pt x="1863157" y="100965"/>
                </a:lnTo>
                <a:lnTo>
                  <a:pt x="1879054" y="91097"/>
                </a:lnTo>
                <a:lnTo>
                  <a:pt x="1894608" y="80172"/>
                </a:lnTo>
                <a:lnTo>
                  <a:pt x="1910172" y="69256"/>
                </a:lnTo>
                <a:lnTo>
                  <a:pt x="1925736" y="58331"/>
                </a:lnTo>
                <a:lnTo>
                  <a:pt x="1941290" y="47406"/>
                </a:lnTo>
                <a:lnTo>
                  <a:pt x="1956854" y="36481"/>
                </a:lnTo>
                <a:lnTo>
                  <a:pt x="1972418" y="25556"/>
                </a:lnTo>
                <a:lnTo>
                  <a:pt x="1987972" y="14640"/>
                </a:lnTo>
                <a:lnTo>
                  <a:pt x="2003536" y="3715"/>
                </a:lnTo>
                <a:lnTo>
                  <a:pt x="1996269" y="0"/>
                </a:lnTo>
                <a:lnTo>
                  <a:pt x="1977257" y="0"/>
                </a:lnTo>
                <a:lnTo>
                  <a:pt x="1958245" y="0"/>
                </a:lnTo>
                <a:lnTo>
                  <a:pt x="1939233" y="0"/>
                </a:lnTo>
                <a:lnTo>
                  <a:pt x="1920221" y="0"/>
                </a:lnTo>
                <a:lnTo>
                  <a:pt x="1901209" y="0"/>
                </a:lnTo>
                <a:lnTo>
                  <a:pt x="1882197" y="0"/>
                </a:lnTo>
                <a:lnTo>
                  <a:pt x="1863185" y="0"/>
                </a:lnTo>
                <a:lnTo>
                  <a:pt x="1844173" y="0"/>
                </a:lnTo>
                <a:lnTo>
                  <a:pt x="1825161" y="0"/>
                </a:lnTo>
                <a:lnTo>
                  <a:pt x="1806150" y="0"/>
                </a:lnTo>
                <a:lnTo>
                  <a:pt x="1787138" y="0"/>
                </a:lnTo>
                <a:lnTo>
                  <a:pt x="1768126" y="0"/>
                </a:lnTo>
                <a:lnTo>
                  <a:pt x="1749123" y="0"/>
                </a:lnTo>
                <a:lnTo>
                  <a:pt x="1730102" y="0"/>
                </a:lnTo>
                <a:lnTo>
                  <a:pt x="1711100" y="0"/>
                </a:lnTo>
                <a:lnTo>
                  <a:pt x="1692088" y="0"/>
                </a:lnTo>
                <a:lnTo>
                  <a:pt x="1673076" y="0"/>
                </a:lnTo>
                <a:lnTo>
                  <a:pt x="1654064" y="0"/>
                </a:lnTo>
                <a:lnTo>
                  <a:pt x="1635052" y="0"/>
                </a:lnTo>
                <a:lnTo>
                  <a:pt x="1616040" y="0"/>
                </a:lnTo>
                <a:lnTo>
                  <a:pt x="1597028" y="0"/>
                </a:lnTo>
                <a:lnTo>
                  <a:pt x="1578016" y="0"/>
                </a:lnTo>
                <a:lnTo>
                  <a:pt x="1559004" y="0"/>
                </a:lnTo>
                <a:lnTo>
                  <a:pt x="1539992" y="0"/>
                </a:lnTo>
                <a:lnTo>
                  <a:pt x="1520981" y="0"/>
                </a:lnTo>
                <a:lnTo>
                  <a:pt x="1501969" y="0"/>
                </a:lnTo>
                <a:lnTo>
                  <a:pt x="1482957" y="0"/>
                </a:lnTo>
                <a:lnTo>
                  <a:pt x="1463945" y="0"/>
                </a:lnTo>
                <a:lnTo>
                  <a:pt x="1444933" y="0"/>
                </a:lnTo>
                <a:lnTo>
                  <a:pt x="1425921" y="0"/>
                </a:lnTo>
                <a:lnTo>
                  <a:pt x="1406909" y="0"/>
                </a:lnTo>
                <a:lnTo>
                  <a:pt x="1387897" y="0"/>
                </a:lnTo>
                <a:lnTo>
                  <a:pt x="1368885" y="0"/>
                </a:lnTo>
                <a:lnTo>
                  <a:pt x="1349873" y="0"/>
                </a:lnTo>
                <a:lnTo>
                  <a:pt x="1330862" y="0"/>
                </a:lnTo>
                <a:lnTo>
                  <a:pt x="1311850" y="0"/>
                </a:lnTo>
                <a:lnTo>
                  <a:pt x="1292838" y="0"/>
                </a:lnTo>
                <a:lnTo>
                  <a:pt x="1273826" y="0"/>
                </a:lnTo>
                <a:lnTo>
                  <a:pt x="1254814" y="0"/>
                </a:lnTo>
                <a:lnTo>
                  <a:pt x="1235802" y="0"/>
                </a:lnTo>
                <a:lnTo>
                  <a:pt x="1216790" y="0"/>
                </a:lnTo>
                <a:lnTo>
                  <a:pt x="1197778" y="0"/>
                </a:lnTo>
                <a:lnTo>
                  <a:pt x="1178766" y="0"/>
                </a:lnTo>
                <a:lnTo>
                  <a:pt x="1159754" y="0"/>
                </a:lnTo>
                <a:lnTo>
                  <a:pt x="1140743" y="0"/>
                </a:lnTo>
                <a:lnTo>
                  <a:pt x="1121731" y="0"/>
                </a:lnTo>
                <a:lnTo>
                  <a:pt x="1102719" y="0"/>
                </a:lnTo>
                <a:lnTo>
                  <a:pt x="1083707" y="0"/>
                </a:lnTo>
                <a:lnTo>
                  <a:pt x="1064695" y="0"/>
                </a:lnTo>
                <a:lnTo>
                  <a:pt x="1045683" y="0"/>
                </a:lnTo>
                <a:lnTo>
                  <a:pt x="1026671" y="0"/>
                </a:lnTo>
                <a:lnTo>
                  <a:pt x="1007659" y="0"/>
                </a:lnTo>
                <a:lnTo>
                  <a:pt x="988647" y="0"/>
                </a:lnTo>
                <a:lnTo>
                  <a:pt x="969635" y="0"/>
                </a:lnTo>
                <a:lnTo>
                  <a:pt x="950624" y="0"/>
                </a:lnTo>
                <a:lnTo>
                  <a:pt x="931612" y="0"/>
                </a:lnTo>
                <a:lnTo>
                  <a:pt x="912600" y="0"/>
                </a:lnTo>
                <a:lnTo>
                  <a:pt x="893588" y="0"/>
                </a:lnTo>
                <a:lnTo>
                  <a:pt x="874576" y="0"/>
                </a:lnTo>
                <a:lnTo>
                  <a:pt x="855564" y="0"/>
                </a:lnTo>
                <a:lnTo>
                  <a:pt x="836552" y="0"/>
                </a:lnTo>
                <a:lnTo>
                  <a:pt x="817540" y="0"/>
                </a:lnTo>
                <a:lnTo>
                  <a:pt x="798528" y="0"/>
                </a:lnTo>
                <a:lnTo>
                  <a:pt x="779516" y="0"/>
                </a:lnTo>
                <a:lnTo>
                  <a:pt x="760505" y="0"/>
                </a:lnTo>
                <a:lnTo>
                  <a:pt x="741493" y="0"/>
                </a:lnTo>
                <a:lnTo>
                  <a:pt x="722481" y="0"/>
                </a:lnTo>
                <a:lnTo>
                  <a:pt x="703469" y="0"/>
                </a:lnTo>
                <a:lnTo>
                  <a:pt x="684457" y="0"/>
                </a:lnTo>
                <a:lnTo>
                  <a:pt x="665445" y="0"/>
                </a:lnTo>
                <a:lnTo>
                  <a:pt x="646433" y="0"/>
                </a:lnTo>
                <a:lnTo>
                  <a:pt x="627421" y="0"/>
                </a:lnTo>
                <a:lnTo>
                  <a:pt x="608409" y="0"/>
                </a:lnTo>
                <a:lnTo>
                  <a:pt x="589397" y="0"/>
                </a:lnTo>
                <a:lnTo>
                  <a:pt x="570386" y="0"/>
                </a:lnTo>
                <a:lnTo>
                  <a:pt x="551374" y="0"/>
                </a:lnTo>
                <a:lnTo>
                  <a:pt x="532362" y="0"/>
                </a:lnTo>
                <a:lnTo>
                  <a:pt x="513350" y="0"/>
                </a:lnTo>
                <a:lnTo>
                  <a:pt x="494338" y="0"/>
                </a:lnTo>
                <a:lnTo>
                  <a:pt x="475326" y="0"/>
                </a:lnTo>
                <a:lnTo>
                  <a:pt x="456314" y="0"/>
                </a:lnTo>
                <a:lnTo>
                  <a:pt x="437302" y="0"/>
                </a:lnTo>
                <a:lnTo>
                  <a:pt x="418290" y="0"/>
                </a:lnTo>
                <a:lnTo>
                  <a:pt x="399278" y="0"/>
                </a:lnTo>
                <a:lnTo>
                  <a:pt x="380267" y="0"/>
                </a:lnTo>
                <a:lnTo>
                  <a:pt x="361255" y="0"/>
                </a:lnTo>
                <a:lnTo>
                  <a:pt x="342243" y="0"/>
                </a:lnTo>
                <a:lnTo>
                  <a:pt x="323231" y="0"/>
                </a:lnTo>
                <a:lnTo>
                  <a:pt x="304219" y="0"/>
                </a:lnTo>
                <a:lnTo>
                  <a:pt x="285207" y="0"/>
                </a:lnTo>
                <a:lnTo>
                  <a:pt x="266195" y="0"/>
                </a:lnTo>
                <a:lnTo>
                  <a:pt x="248002" y="4315"/>
                </a:lnTo>
                <a:lnTo>
                  <a:pt x="230286" y="11220"/>
                </a:lnTo>
                <a:lnTo>
                  <a:pt x="212569" y="18126"/>
                </a:lnTo>
                <a:lnTo>
                  <a:pt x="194853" y="25032"/>
                </a:lnTo>
                <a:lnTo>
                  <a:pt x="177146" y="31928"/>
                </a:lnTo>
                <a:lnTo>
                  <a:pt x="159429" y="38833"/>
                </a:lnTo>
                <a:lnTo>
                  <a:pt x="141713" y="45739"/>
                </a:lnTo>
                <a:lnTo>
                  <a:pt x="123996" y="52645"/>
                </a:lnTo>
                <a:lnTo>
                  <a:pt x="106289" y="59541"/>
                </a:lnTo>
                <a:lnTo>
                  <a:pt x="88573" y="66446"/>
                </a:lnTo>
                <a:lnTo>
                  <a:pt x="70856" y="73352"/>
                </a:lnTo>
                <a:lnTo>
                  <a:pt x="53140" y="80258"/>
                </a:lnTo>
                <a:lnTo>
                  <a:pt x="35423" y="87154"/>
                </a:lnTo>
                <a:lnTo>
                  <a:pt x="17717" y="94059"/>
                </a:lnTo>
                <a:lnTo>
                  <a:pt x="0" y="100965"/>
                </a:lnTo>
              </a:path>
            </a:pathLst>
          </a:cu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85837B"/>
            </a:solidFill>
            <a:prstDash val="solid"/>
          </a:ln>
        </p:spPr>
      </p:sp>
      <p:sp>
        <p:nvSpPr>
          <p:cNvPr id="25" name="maturity-step-inset-4">
            <a:extLst xmlns:a="http://schemas.openxmlformats.org/drawingml/2006/main">
              <a:ext uri="{FF2B5EF4-FFF2-40B4-BE49-F238E27FC236}">
                <a16:creationId xmlns:a16="http://schemas.microsoft.com/office/drawing/2014/main" id="{CD4962E7-1413-44F1-A9C3-1C8EC07D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0020" y="3417570"/>
            <a:ext cx="1818323" cy="100965"/>
          </a:xfrm>
          <a:custGeom xmlns:a="http://schemas.openxmlformats.org/drawingml/2006/main">
            <a:pathLst>
              <a:path w="1818323" h="100965">
                <a:moveTo>
                  <a:pt x="0" y="100965"/>
                </a:moveTo>
                <a:lnTo>
                  <a:pt x="18869" y="100965"/>
                </a:lnTo>
                <a:lnTo>
                  <a:pt x="37738" y="100965"/>
                </a:lnTo>
                <a:lnTo>
                  <a:pt x="56607" y="100965"/>
                </a:lnTo>
                <a:lnTo>
                  <a:pt x="75476" y="100965"/>
                </a:lnTo>
                <a:lnTo>
                  <a:pt x="94345" y="100965"/>
                </a:lnTo>
                <a:lnTo>
                  <a:pt x="113214" y="100965"/>
                </a:lnTo>
                <a:lnTo>
                  <a:pt x="132083" y="100965"/>
                </a:lnTo>
                <a:lnTo>
                  <a:pt x="150952" y="100965"/>
                </a:lnTo>
                <a:lnTo>
                  <a:pt x="169821" y="100965"/>
                </a:lnTo>
                <a:lnTo>
                  <a:pt x="188700" y="100965"/>
                </a:lnTo>
                <a:lnTo>
                  <a:pt x="207569" y="100965"/>
                </a:lnTo>
                <a:lnTo>
                  <a:pt x="226438" y="100965"/>
                </a:lnTo>
                <a:lnTo>
                  <a:pt x="245307" y="100965"/>
                </a:lnTo>
                <a:lnTo>
                  <a:pt x="264176" y="100965"/>
                </a:lnTo>
                <a:lnTo>
                  <a:pt x="283045" y="100965"/>
                </a:lnTo>
                <a:lnTo>
                  <a:pt x="301914" y="100965"/>
                </a:lnTo>
                <a:lnTo>
                  <a:pt x="320783" y="100965"/>
                </a:lnTo>
                <a:lnTo>
                  <a:pt x="339652" y="100965"/>
                </a:lnTo>
                <a:lnTo>
                  <a:pt x="358521" y="100965"/>
                </a:lnTo>
                <a:lnTo>
                  <a:pt x="377390" y="100965"/>
                </a:lnTo>
                <a:lnTo>
                  <a:pt x="396259" y="100965"/>
                </a:lnTo>
                <a:lnTo>
                  <a:pt x="415128" y="100965"/>
                </a:lnTo>
                <a:lnTo>
                  <a:pt x="433997" y="100965"/>
                </a:lnTo>
                <a:lnTo>
                  <a:pt x="452866" y="100965"/>
                </a:lnTo>
                <a:lnTo>
                  <a:pt x="471735" y="100965"/>
                </a:lnTo>
                <a:lnTo>
                  <a:pt x="490604" y="100965"/>
                </a:lnTo>
                <a:lnTo>
                  <a:pt x="509473" y="100965"/>
                </a:lnTo>
                <a:lnTo>
                  <a:pt x="528352" y="100965"/>
                </a:lnTo>
                <a:lnTo>
                  <a:pt x="547221" y="100965"/>
                </a:lnTo>
                <a:lnTo>
                  <a:pt x="566090" y="100965"/>
                </a:lnTo>
                <a:lnTo>
                  <a:pt x="584959" y="100965"/>
                </a:lnTo>
                <a:lnTo>
                  <a:pt x="603828" y="100965"/>
                </a:lnTo>
                <a:lnTo>
                  <a:pt x="622697" y="100965"/>
                </a:lnTo>
                <a:lnTo>
                  <a:pt x="641566" y="100965"/>
                </a:lnTo>
                <a:lnTo>
                  <a:pt x="660435" y="100965"/>
                </a:lnTo>
                <a:lnTo>
                  <a:pt x="679304" y="100965"/>
                </a:lnTo>
                <a:lnTo>
                  <a:pt x="698173" y="100965"/>
                </a:lnTo>
                <a:lnTo>
                  <a:pt x="717042" y="100965"/>
                </a:lnTo>
                <a:lnTo>
                  <a:pt x="735911" y="100965"/>
                </a:lnTo>
                <a:lnTo>
                  <a:pt x="754780" y="100965"/>
                </a:lnTo>
                <a:lnTo>
                  <a:pt x="773649" y="100965"/>
                </a:lnTo>
                <a:lnTo>
                  <a:pt x="792518" y="100965"/>
                </a:lnTo>
                <a:lnTo>
                  <a:pt x="811387" y="100965"/>
                </a:lnTo>
                <a:lnTo>
                  <a:pt x="830256" y="100965"/>
                </a:lnTo>
                <a:lnTo>
                  <a:pt x="849125" y="100965"/>
                </a:lnTo>
                <a:lnTo>
                  <a:pt x="867994" y="100965"/>
                </a:lnTo>
                <a:lnTo>
                  <a:pt x="886873" y="100965"/>
                </a:lnTo>
                <a:lnTo>
                  <a:pt x="905742" y="100965"/>
                </a:lnTo>
                <a:lnTo>
                  <a:pt x="924611" y="100965"/>
                </a:lnTo>
                <a:lnTo>
                  <a:pt x="943480" y="100965"/>
                </a:lnTo>
                <a:lnTo>
                  <a:pt x="962349" y="100965"/>
                </a:lnTo>
                <a:lnTo>
                  <a:pt x="981218" y="100965"/>
                </a:lnTo>
                <a:lnTo>
                  <a:pt x="1000087" y="100965"/>
                </a:lnTo>
                <a:lnTo>
                  <a:pt x="1018956" y="100965"/>
                </a:lnTo>
                <a:lnTo>
                  <a:pt x="1037825" y="100965"/>
                </a:lnTo>
                <a:lnTo>
                  <a:pt x="1056694" y="100965"/>
                </a:lnTo>
                <a:lnTo>
                  <a:pt x="1075563" y="100965"/>
                </a:lnTo>
                <a:lnTo>
                  <a:pt x="1094432" y="100965"/>
                </a:lnTo>
                <a:lnTo>
                  <a:pt x="1113301" y="100965"/>
                </a:lnTo>
                <a:lnTo>
                  <a:pt x="1132170" y="100965"/>
                </a:lnTo>
                <a:lnTo>
                  <a:pt x="1151039" y="100965"/>
                </a:lnTo>
                <a:lnTo>
                  <a:pt x="1169908" y="100965"/>
                </a:lnTo>
                <a:lnTo>
                  <a:pt x="1188777" y="100965"/>
                </a:lnTo>
                <a:lnTo>
                  <a:pt x="1207646" y="100965"/>
                </a:lnTo>
                <a:lnTo>
                  <a:pt x="1226525" y="100965"/>
                </a:lnTo>
                <a:lnTo>
                  <a:pt x="1245394" y="100965"/>
                </a:lnTo>
                <a:lnTo>
                  <a:pt x="1264263" y="100965"/>
                </a:lnTo>
                <a:lnTo>
                  <a:pt x="1283132" y="100965"/>
                </a:lnTo>
                <a:lnTo>
                  <a:pt x="1302001" y="100965"/>
                </a:lnTo>
                <a:lnTo>
                  <a:pt x="1320870" y="100965"/>
                </a:lnTo>
                <a:lnTo>
                  <a:pt x="1339739" y="100965"/>
                </a:lnTo>
                <a:lnTo>
                  <a:pt x="1358608" y="100965"/>
                </a:lnTo>
                <a:lnTo>
                  <a:pt x="1377477" y="100965"/>
                </a:lnTo>
                <a:lnTo>
                  <a:pt x="1396346" y="100965"/>
                </a:lnTo>
                <a:lnTo>
                  <a:pt x="1415215" y="100965"/>
                </a:lnTo>
                <a:lnTo>
                  <a:pt x="1434084" y="100965"/>
                </a:lnTo>
                <a:lnTo>
                  <a:pt x="1452953" y="100965"/>
                </a:lnTo>
                <a:lnTo>
                  <a:pt x="1471822" y="100965"/>
                </a:lnTo>
                <a:lnTo>
                  <a:pt x="1490691" y="100965"/>
                </a:lnTo>
                <a:lnTo>
                  <a:pt x="1509560" y="100965"/>
                </a:lnTo>
                <a:lnTo>
                  <a:pt x="1528429" y="100965"/>
                </a:lnTo>
                <a:lnTo>
                  <a:pt x="1547298" y="100965"/>
                </a:lnTo>
                <a:lnTo>
                  <a:pt x="1566177" y="100965"/>
                </a:lnTo>
                <a:lnTo>
                  <a:pt x="1585046" y="100965"/>
                </a:lnTo>
                <a:lnTo>
                  <a:pt x="1603915" y="100965"/>
                </a:lnTo>
                <a:lnTo>
                  <a:pt x="1622784" y="100965"/>
                </a:lnTo>
                <a:lnTo>
                  <a:pt x="1641653" y="100965"/>
                </a:lnTo>
                <a:lnTo>
                  <a:pt x="1660522" y="100965"/>
                </a:lnTo>
                <a:lnTo>
                  <a:pt x="1677572" y="95031"/>
                </a:lnTo>
                <a:lnTo>
                  <a:pt x="1693212" y="84468"/>
                </a:lnTo>
                <a:lnTo>
                  <a:pt x="1708852" y="73914"/>
                </a:lnTo>
                <a:lnTo>
                  <a:pt x="1724492" y="63351"/>
                </a:lnTo>
                <a:lnTo>
                  <a:pt x="1740132" y="52797"/>
                </a:lnTo>
                <a:lnTo>
                  <a:pt x="1755772" y="42234"/>
                </a:lnTo>
                <a:lnTo>
                  <a:pt x="1771402" y="31680"/>
                </a:lnTo>
                <a:lnTo>
                  <a:pt x="1787042" y="21117"/>
                </a:lnTo>
                <a:lnTo>
                  <a:pt x="1802682" y="10563"/>
                </a:lnTo>
                <a:lnTo>
                  <a:pt x="18183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6" name="maturity-step-projection-4">
            <a:extLst xmlns:a="http://schemas.openxmlformats.org/drawingml/2006/main">
              <a:ext uri="{FF2B5EF4-FFF2-40B4-BE49-F238E27FC236}">
                <a16:creationId xmlns:a16="http://schemas.microsoft.com/office/drawing/2014/main" id="{71618F58-2FA7-48C4-AF0C-55DE83C1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3385" y="3417570"/>
            <a:ext cx="15649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7" name="level-1-text-heading">
            <a:extLst xmlns:a="http://schemas.openxmlformats.org/drawingml/2006/main">
              <a:ext uri="{FF2B5EF4-FFF2-40B4-BE49-F238E27FC236}">
                <a16:creationId xmlns:a16="http://schemas.microsoft.com/office/drawing/2014/main" id="{F7348477-0733-4E14-931D-F65AFC85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673" y="3881733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被动处理</a:t>
            </a:r>
          </a:p>
        </p:txBody>
      </p:sp>
      <p:sp>
        <p:nvSpPr>
          <p:cNvPr id="28" name="level-1-text-body">
            <a:extLst xmlns:a="http://schemas.openxmlformats.org/drawingml/2006/main">
              <a:ext uri="{FF2B5EF4-FFF2-40B4-BE49-F238E27FC236}">
                <a16:creationId xmlns:a16="http://schemas.microsoft.com/office/drawing/2014/main" id="{A668BCE9-B173-4B68-9375-944B8B258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90673" y="4129830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故障后临时组织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抢修</a:t>
            </a:r>
          </a:p>
        </p:txBody>
      </p:sp>
      <p:sp>
        <p:nvSpPr>
          <p:cNvPr id="29" name="maturity-level-index-1">
            <a:extLst xmlns:a="http://schemas.openxmlformats.org/drawingml/2006/main">
              <a:ext uri="{FF2B5EF4-FFF2-40B4-BE49-F238E27FC236}">
                <a16:creationId xmlns:a16="http://schemas.microsoft.com/office/drawing/2014/main" id="{37C18988-BE05-4178-BA45-9DFF9464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33573" y="4668888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30" name="level-2-text-heading">
            <a:extLst xmlns:a="http://schemas.openxmlformats.org/drawingml/2006/main">
              <a:ext uri="{FF2B5EF4-FFF2-40B4-BE49-F238E27FC236}">
                <a16:creationId xmlns:a16="http://schemas.microsoft.com/office/drawing/2014/main" id="{673BC1B8-7D3B-43F4-8032-62E05B74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7746" y="3428105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形成记录</a:t>
            </a:r>
          </a:p>
        </p:txBody>
      </p:sp>
      <p:sp>
        <p:nvSpPr>
          <p:cNvPr id="31" name="level-2-text-body">
            <a:extLst xmlns:a="http://schemas.openxmlformats.org/drawingml/2006/main">
              <a:ext uri="{FF2B5EF4-FFF2-40B4-BE49-F238E27FC236}">
                <a16:creationId xmlns:a16="http://schemas.microsoft.com/office/drawing/2014/main" id="{EA00E0DB-7D09-4C14-8A0A-4EC162D0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7746" y="3676202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故障原因与处理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过程可查</a:t>
            </a:r>
          </a:p>
        </p:txBody>
      </p:sp>
      <p:sp>
        <p:nvSpPr>
          <p:cNvPr id="32" name="maturity-level-index-2">
            <a:extLst xmlns:a="http://schemas.openxmlformats.org/drawingml/2006/main">
              <a:ext uri="{FF2B5EF4-FFF2-40B4-BE49-F238E27FC236}">
                <a16:creationId xmlns:a16="http://schemas.microsoft.com/office/drawing/2014/main" id="{D2B3C555-3E2A-4DB0-80C9-8C653D1C8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0646" y="4215260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33" name="level-3-text-heading">
            <a:extLst xmlns:a="http://schemas.openxmlformats.org/drawingml/2006/main">
              <a:ext uri="{FF2B5EF4-FFF2-40B4-BE49-F238E27FC236}">
                <a16:creationId xmlns:a16="http://schemas.microsoft.com/office/drawing/2014/main" id="{8C523D87-F4AD-4D55-947A-953FABBC3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4820" y="2974477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计划维护</a:t>
            </a:r>
          </a:p>
        </p:txBody>
      </p:sp>
      <p:sp>
        <p:nvSpPr>
          <p:cNvPr id="34" name="level-3-text-body">
            <a:extLst xmlns:a="http://schemas.openxmlformats.org/drawingml/2006/main">
              <a:ext uri="{FF2B5EF4-FFF2-40B4-BE49-F238E27FC236}">
                <a16:creationId xmlns:a16="http://schemas.microsoft.com/office/drawing/2014/main" id="{E59C6BB4-2BFD-4F44-A113-F9A66DBE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04820" y="3222574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按周期检查并落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实责任</a:t>
            </a:r>
          </a:p>
        </p:txBody>
      </p:sp>
      <p:sp>
        <p:nvSpPr>
          <p:cNvPr id="35" name="maturity-level-index-3">
            <a:extLst xmlns:a="http://schemas.openxmlformats.org/drawingml/2006/main">
              <a:ext uri="{FF2B5EF4-FFF2-40B4-BE49-F238E27FC236}">
                <a16:creationId xmlns:a16="http://schemas.microsoft.com/office/drawing/2014/main" id="{733AF672-7EB5-4CE2-84BA-9791152F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7872" y="3761632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36" name="level-4-text-heading">
            <a:extLst xmlns:a="http://schemas.openxmlformats.org/drawingml/2006/main">
              <a:ext uri="{FF2B5EF4-FFF2-40B4-BE49-F238E27FC236}">
                <a16:creationId xmlns:a16="http://schemas.microsoft.com/office/drawing/2014/main" id="{3AD20A6A-8E73-4ADD-B89A-E09B8ED2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1893" y="2521001"/>
            <a:ext cx="1005926" cy="1909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2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持续改善</a:t>
            </a:r>
          </a:p>
        </p:txBody>
      </p:sp>
      <p:sp>
        <p:nvSpPr>
          <p:cNvPr id="37" name="level-4-text-body">
            <a:extLst xmlns:a="http://schemas.openxmlformats.org/drawingml/2006/main">
              <a:ext uri="{FF2B5EF4-FFF2-40B4-BE49-F238E27FC236}">
                <a16:creationId xmlns:a16="http://schemas.microsoft.com/office/drawing/2014/main" id="{2A574127-FBC2-430B-AF77-05838FC1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1893" y="2769098"/>
            <a:ext cx="1005926" cy="365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用复盘减少重复</a:t>
            </a:r>
          </a:p>
          <a:p xmlns:a="http://schemas.openxmlformats.org/drawingml/2006/main">
            <a:pPr algn="l">
              <a:lnSpc>
                <a:spcPct val="128000"/>
              </a:lnSpc>
              <a:buNone/>
              <a:def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</a:t>
            </a:r>
          </a:p>
        </p:txBody>
      </p:sp>
      <p:sp>
        <p:nvSpPr>
          <p:cNvPr id="38" name="maturity-level-index-4">
            <a:extLst xmlns:a="http://schemas.openxmlformats.org/drawingml/2006/main">
              <a:ext uri="{FF2B5EF4-FFF2-40B4-BE49-F238E27FC236}">
                <a16:creationId xmlns:a16="http://schemas.microsoft.com/office/drawing/2014/main" id="{8E8B5BA4-416A-4A95-BEF4-DA59F723E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54936" y="3308004"/>
            <a:ext cx="319983" cy="31998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39" name="maturity-current-status">
            <a:extLst xmlns:a="http://schemas.openxmlformats.org/drawingml/2006/main">
              <a:ext uri="{FF2B5EF4-FFF2-40B4-BE49-F238E27FC236}">
                <a16:creationId xmlns:a16="http://schemas.microsoft.com/office/drawing/2014/main" id="{B80BDC17-82EE-4184-95B9-360186B1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89306" y="4580934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当前</a:t>
            </a:r>
          </a:p>
        </p:txBody>
      </p:sp>
      <p:sp>
        <p:nvSpPr>
          <p:cNvPr id="40" name="maturity-target-status">
            <a:extLst xmlns:a="http://schemas.openxmlformats.org/drawingml/2006/main">
              <a:ext uri="{FF2B5EF4-FFF2-40B4-BE49-F238E27FC236}">
                <a16:creationId xmlns:a16="http://schemas.microsoft.com/office/drawing/2014/main" id="{9B258537-9701-4B1A-B0AA-6F61769A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03444" y="3673821"/>
            <a:ext cx="422672" cy="230391"/>
          </a:xfrm>
          <a:prstGeom xmlns:a="http://schemas.openxmlformats.org/drawingml/2006/main" prst="roundRect">
            <a:avLst>
              <a:gd name="adj" fmla="val 42997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 i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目标</a:t>
            </a:r>
          </a:p>
        </p:txBody>
      </p:sp>
    </p:spTree>
    <p:extLst>
      <p:ext uri="{BB962C8B-B14F-4D97-AF65-F5344CB8AC3E}">
        <p14:creationId xmlns:p14="http://schemas.microsoft.com/office/powerpoint/2010/main" val="2067213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2026-09-07T23:53:35.1740000Z</dcterms:created>
  <dcterms:modified xsi:type="dcterms:W3CDTF">2026-09-07T23:53:35.1740000Z</dcterms:modified>
</coreProperties>
</file>