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c3a65383cf49e4" /><Relationship Type="http://schemas.openxmlformats.org/officeDocument/2006/relationships/extended-properties" Target="/docProps/app.xml" Id="R91ae0cc64d244b3d" /><Relationship Type="http://schemas.openxmlformats.org/officeDocument/2006/relationships/officeDocument" Target="/ppt/presentation.xml" Id="Rd3dfcc1ee9384c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b7058c7ad24590"/>
  </p:sldMasterIdLst>
  <p:notesMasterIdLst>
    <p:notesMasterId xmlns:r="http://schemas.openxmlformats.org/officeDocument/2006/relationships" r:id="Rd24fd85d0a5e4e9b"/>
  </p:notesMasterIdLst>
  <p:sldIdLst>
    <p:sldId xmlns:r="http://schemas.openxmlformats.org/officeDocument/2006/relationships" id="256" r:id="R9acf773c8e8648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de86b41c4d4b29" /><Relationship Type="http://schemas.openxmlformats.org/officeDocument/2006/relationships/slideMaster" Target="/ppt/slideMasters/slideMaster1.xml" Id="R84b7058c7ad24590" /><Relationship Type="http://schemas.openxmlformats.org/officeDocument/2006/relationships/notesMaster" Target="/ppt/notesMasters/notesMaster1.xml" Id="Rd24fd85d0a5e4e9b" /><Relationship Type="http://schemas.openxmlformats.org/officeDocument/2006/relationships/presProps" Target="/ppt/presProps.xml" Id="R771132a72f95474c" /><Relationship Type="http://schemas.openxmlformats.org/officeDocument/2006/relationships/tableStyles" Target="/ppt/tableStyles.xml" Id="R089bcb1f4c2946f9" /><Relationship Type="http://schemas.openxmlformats.org/officeDocument/2006/relationships/slide" Target="/ppt/slides/slide1.xml" Id="R9acf773c8e8648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06d76f9dc54d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87300a64c7423a" /><Relationship Type="http://schemas.openxmlformats.org/officeDocument/2006/relationships/notesMaster" Target="/ppt/notesMasters/notesMaster1.xml" Id="R18321bb2a81941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来源：experiments/neutral-structure-luna-batch-04/inputs/01-convergence.md。</a:t>
            </a:r>
          </a:p>
          <a:p xmlns:a="http://schemas.openxmlformats.org/drawingml/2006/main">
            <a:r>
              <a:t>本页采用 adapted-source：沿用 assets/结构图/多路汇聚结果-003 的三路独立输入、同一点汇流、唯一结果语法，并将其局部改写到左栏；未执行 invokeStructure，不声称原库调用成功。</a:t>
            </a:r>
          </a:p>
          <a:p xmlns:a="http://schemas.openxmlformats.org/drawingml/2006/main">
            <a:r>
              <a:t>页面为设备维修协作演示场景，不代表实际企业成效。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84d39c5d1c45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3d4e2788c34383" /><Relationship Type="http://schemas.openxmlformats.org/officeDocument/2006/relationships/slideLayout" Target="/ppt/slideLayouts/slideLayout1.xml" Id="Rbc1253a5431847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1253a5431847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b0e7bd6ed4946" /><Relationship Type="http://schemas.openxmlformats.org/officeDocument/2006/relationships/notesSlide" Target="/ppt/notesSlides/notesSlide1.xml" Id="R58611efffcf54d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C4D3A46C-8FD0-4599-8A9E-49ED6F52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" name="page-title">
            <a:extLst xmlns:a="http://schemas.openxmlformats.org/drawingml/2006/main">
              <a:ext uri="{FF2B5EF4-FFF2-40B4-BE49-F238E27FC236}">
                <a16:creationId xmlns:a16="http://schemas.microsoft.com/office/drawing/2014/main" id="{CC00ACDA-E6FC-45F6-9AD4-069FC0F0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三路信息共同进入交接单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65B161C-FE2E-4662-9C4A-76C0283D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0" y="600075"/>
            <a:ext cx="706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9EB5CA0A-8CF3-4649-A500-0FEBE990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77000"/>
            <a:ext cx="247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5" name="left-kicker">
            <a:extLst xmlns:a="http://schemas.openxmlformats.org/drawingml/2006/main">
              <a:ext uri="{FF2B5EF4-FFF2-40B4-BE49-F238E27FC236}">
                <a16:creationId xmlns:a16="http://schemas.microsoft.com/office/drawing/2014/main" id="{C427EA74-7149-40E8-B642-6190F414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三路资料地位相同，独立准备，直接汇入同一份交接单</a:t>
            </a:r>
          </a:p>
        </p:txBody>
      </p:sp>
      <p:sp>
        <p:nvSpPr>
          <p:cNvPr id="6" name="column-divider">
            <a:extLst xmlns:a="http://schemas.openxmlformats.org/drawingml/2006/main">
              <a:ext uri="{FF2B5EF4-FFF2-40B4-BE49-F238E27FC236}">
                <a16:creationId xmlns:a16="http://schemas.microsoft.com/office/drawing/2014/main" id="{00CED58D-6EE5-48A6-9605-E2857D93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77150" y="1257300"/>
            <a:ext cx="0" cy="4695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7" name="adaptive-merge-lane-1">
            <a:extLst xmlns:a="http://schemas.openxmlformats.org/drawingml/2006/main">
              <a:ext uri="{FF2B5EF4-FFF2-40B4-BE49-F238E27FC236}">
                <a16:creationId xmlns:a16="http://schemas.microsoft.com/office/drawing/2014/main" id="{8F3747A4-398E-4575-9D9B-BD3843FB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81275"/>
            <a:ext cx="2562225" cy="1085850"/>
          </a:xfrm>
          <a:custGeom xmlns:a="http://schemas.openxmlformats.org/drawingml/2006/main">
            <a:pathLst>
              <a:path w="2562225" h="1085850">
                <a:moveTo>
                  <a:pt x="0" y="0"/>
                </a:moveTo>
                <a:lnTo>
                  <a:pt x="75779" y="2358"/>
                </a:lnTo>
                <a:lnTo>
                  <a:pt x="154040" y="9265"/>
                </a:lnTo>
                <a:lnTo>
                  <a:pt x="234562" y="20469"/>
                </a:lnTo>
                <a:lnTo>
                  <a:pt x="317125" y="35719"/>
                </a:lnTo>
                <a:lnTo>
                  <a:pt x="401509" y="54764"/>
                </a:lnTo>
                <a:lnTo>
                  <a:pt x="487492" y="77353"/>
                </a:lnTo>
                <a:lnTo>
                  <a:pt x="574855" y="103236"/>
                </a:lnTo>
                <a:lnTo>
                  <a:pt x="663376" y="132159"/>
                </a:lnTo>
                <a:lnTo>
                  <a:pt x="752836" y="163874"/>
                </a:lnTo>
                <a:lnTo>
                  <a:pt x="843013" y="198127"/>
                </a:lnTo>
                <a:lnTo>
                  <a:pt x="933688" y="234669"/>
                </a:lnTo>
                <a:lnTo>
                  <a:pt x="1024640" y="273248"/>
                </a:lnTo>
                <a:lnTo>
                  <a:pt x="1115648" y="313613"/>
                </a:lnTo>
                <a:lnTo>
                  <a:pt x="1206491" y="355513"/>
                </a:lnTo>
                <a:lnTo>
                  <a:pt x="1296950" y="398697"/>
                </a:lnTo>
                <a:lnTo>
                  <a:pt x="1386804" y="442913"/>
                </a:lnTo>
                <a:lnTo>
                  <a:pt x="1475832" y="487910"/>
                </a:lnTo>
                <a:lnTo>
                  <a:pt x="1563814" y="533437"/>
                </a:lnTo>
                <a:lnTo>
                  <a:pt x="1650529" y="579244"/>
                </a:lnTo>
                <a:lnTo>
                  <a:pt x="1735757" y="625078"/>
                </a:lnTo>
                <a:lnTo>
                  <a:pt x="1819277" y="670689"/>
                </a:lnTo>
                <a:lnTo>
                  <a:pt x="1900869" y="715826"/>
                </a:lnTo>
                <a:lnTo>
                  <a:pt x="1980313" y="760237"/>
                </a:lnTo>
                <a:lnTo>
                  <a:pt x="2057387" y="803672"/>
                </a:lnTo>
                <a:lnTo>
                  <a:pt x="2131871" y="845879"/>
                </a:lnTo>
                <a:lnTo>
                  <a:pt x="2203545" y="886606"/>
                </a:lnTo>
                <a:lnTo>
                  <a:pt x="2272188" y="925604"/>
                </a:lnTo>
                <a:lnTo>
                  <a:pt x="2337580" y="962620"/>
                </a:lnTo>
                <a:lnTo>
                  <a:pt x="2399500" y="997404"/>
                </a:lnTo>
                <a:lnTo>
                  <a:pt x="2457728" y="1029705"/>
                </a:lnTo>
                <a:lnTo>
                  <a:pt x="2512043" y="1059270"/>
                </a:lnTo>
                <a:lnTo>
                  <a:pt x="2562225" y="1085850"/>
                </a:lnTo>
              </a:path>
            </a:pathLst>
          </a:custGeom>
          <a:noFill xmlns:a="http://schemas.openxmlformats.org/drawingml/2006/main"/>
          <a:ln xmlns:a="http://schemas.openxmlformats.org/drawingml/2006/main" w="95250">
            <a:solidFill>
              <a:srgbClr val="DCC1BA"/>
            </a:solidFill>
            <a:prstDash val="solid"/>
          </a:ln>
        </p:spPr>
      </p:sp>
      <p:sp>
        <p:nvSpPr>
          <p:cNvPr id="8" name="adaptive-merge-lane-2">
            <a:extLst xmlns:a="http://schemas.openxmlformats.org/drawingml/2006/main">
              <a:ext uri="{FF2B5EF4-FFF2-40B4-BE49-F238E27FC236}">
                <a16:creationId xmlns:a16="http://schemas.microsoft.com/office/drawing/2014/main" id="{D11A24AC-CFA0-48E2-B87D-F0A967A2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67125"/>
            <a:ext cx="2562225" cy="276225"/>
          </a:xfrm>
          <a:custGeom xmlns:a="http://schemas.openxmlformats.org/drawingml/2006/main">
            <a:pathLst>
              <a:path w="2562225" h="276225">
                <a:moveTo>
                  <a:pt x="0" y="276225"/>
                </a:moveTo>
                <a:lnTo>
                  <a:pt x="75779" y="275433"/>
                </a:lnTo>
                <a:lnTo>
                  <a:pt x="154040" y="273123"/>
                </a:lnTo>
                <a:lnTo>
                  <a:pt x="234562" y="269397"/>
                </a:lnTo>
                <a:lnTo>
                  <a:pt x="317125" y="264356"/>
                </a:lnTo>
                <a:lnTo>
                  <a:pt x="401509" y="258101"/>
                </a:lnTo>
                <a:lnTo>
                  <a:pt x="487492" y="250734"/>
                </a:lnTo>
                <a:lnTo>
                  <a:pt x="574855" y="242354"/>
                </a:lnTo>
                <a:lnTo>
                  <a:pt x="663376" y="233065"/>
                </a:lnTo>
                <a:lnTo>
                  <a:pt x="752836" y="222966"/>
                </a:lnTo>
                <a:lnTo>
                  <a:pt x="843013" y="212159"/>
                </a:lnTo>
                <a:lnTo>
                  <a:pt x="933688" y="200745"/>
                </a:lnTo>
                <a:lnTo>
                  <a:pt x="1024640" y="188826"/>
                </a:lnTo>
                <a:lnTo>
                  <a:pt x="1115648" y="176501"/>
                </a:lnTo>
                <a:lnTo>
                  <a:pt x="1206491" y="163874"/>
                </a:lnTo>
                <a:lnTo>
                  <a:pt x="1296950" y="151044"/>
                </a:lnTo>
                <a:lnTo>
                  <a:pt x="1386804" y="138113"/>
                </a:lnTo>
                <a:lnTo>
                  <a:pt x="1475832" y="125181"/>
                </a:lnTo>
                <a:lnTo>
                  <a:pt x="1563814" y="112351"/>
                </a:lnTo>
                <a:lnTo>
                  <a:pt x="1650529" y="99724"/>
                </a:lnTo>
                <a:lnTo>
                  <a:pt x="1735757" y="87399"/>
                </a:lnTo>
                <a:lnTo>
                  <a:pt x="1819277" y="75480"/>
                </a:lnTo>
                <a:lnTo>
                  <a:pt x="1900869" y="64066"/>
                </a:lnTo>
                <a:lnTo>
                  <a:pt x="1980313" y="53259"/>
                </a:lnTo>
                <a:lnTo>
                  <a:pt x="2057387" y="43160"/>
                </a:lnTo>
                <a:lnTo>
                  <a:pt x="2131871" y="33871"/>
                </a:lnTo>
                <a:lnTo>
                  <a:pt x="2203545" y="25491"/>
                </a:lnTo>
                <a:lnTo>
                  <a:pt x="2272188" y="18124"/>
                </a:lnTo>
                <a:lnTo>
                  <a:pt x="2337580" y="11869"/>
                </a:lnTo>
                <a:lnTo>
                  <a:pt x="2399500" y="6828"/>
                </a:lnTo>
                <a:lnTo>
                  <a:pt x="2457728" y="3102"/>
                </a:lnTo>
                <a:lnTo>
                  <a:pt x="2512043" y="792"/>
                </a:lnTo>
                <a:lnTo>
                  <a:pt x="2562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0">
            <a:solidFill>
              <a:srgbClr val="C2948B"/>
            </a:solidFill>
            <a:prstDash val="solid"/>
          </a:ln>
        </p:spPr>
      </p:sp>
      <p:sp>
        <p:nvSpPr>
          <p:cNvPr id="9" name="adaptive-merge-lane-3">
            <a:extLst xmlns:a="http://schemas.openxmlformats.org/drawingml/2006/main">
              <a:ext uri="{FF2B5EF4-FFF2-40B4-BE49-F238E27FC236}">
                <a16:creationId xmlns:a16="http://schemas.microsoft.com/office/drawing/2014/main" id="{04E25874-F5FB-4195-950E-40A03709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67125"/>
            <a:ext cx="2562225" cy="1638300"/>
          </a:xfrm>
          <a:custGeom xmlns:a="http://schemas.openxmlformats.org/drawingml/2006/main">
            <a:pathLst>
              <a:path w="2562225" h="1638300">
                <a:moveTo>
                  <a:pt x="0" y="1638300"/>
                </a:moveTo>
                <a:lnTo>
                  <a:pt x="75779" y="1634357"/>
                </a:lnTo>
                <a:lnTo>
                  <a:pt x="154040" y="1622831"/>
                </a:lnTo>
                <a:lnTo>
                  <a:pt x="234562" y="1604175"/>
                </a:lnTo>
                <a:lnTo>
                  <a:pt x="317125" y="1578843"/>
                </a:lnTo>
                <a:lnTo>
                  <a:pt x="401509" y="1547288"/>
                </a:lnTo>
                <a:lnTo>
                  <a:pt x="487492" y="1509964"/>
                </a:lnTo>
                <a:lnTo>
                  <a:pt x="574855" y="1467323"/>
                </a:lnTo>
                <a:lnTo>
                  <a:pt x="663376" y="1419820"/>
                </a:lnTo>
                <a:lnTo>
                  <a:pt x="752836" y="1367908"/>
                </a:lnTo>
                <a:lnTo>
                  <a:pt x="843013" y="1312041"/>
                </a:lnTo>
                <a:lnTo>
                  <a:pt x="933688" y="1252671"/>
                </a:lnTo>
                <a:lnTo>
                  <a:pt x="1024640" y="1190253"/>
                </a:lnTo>
                <a:lnTo>
                  <a:pt x="1115648" y="1125239"/>
                </a:lnTo>
                <a:lnTo>
                  <a:pt x="1206491" y="1058084"/>
                </a:lnTo>
                <a:lnTo>
                  <a:pt x="1296950" y="989241"/>
                </a:lnTo>
                <a:lnTo>
                  <a:pt x="1386804" y="919163"/>
                </a:lnTo>
                <a:lnTo>
                  <a:pt x="1475832" y="848303"/>
                </a:lnTo>
                <a:lnTo>
                  <a:pt x="1563814" y="777115"/>
                </a:lnTo>
                <a:lnTo>
                  <a:pt x="1650529" y="706053"/>
                </a:lnTo>
                <a:lnTo>
                  <a:pt x="1735757" y="635571"/>
                </a:lnTo>
                <a:lnTo>
                  <a:pt x="1819277" y="566120"/>
                </a:lnTo>
                <a:lnTo>
                  <a:pt x="1900869" y="498156"/>
                </a:lnTo>
                <a:lnTo>
                  <a:pt x="1980313" y="432131"/>
                </a:lnTo>
                <a:lnTo>
                  <a:pt x="2057387" y="368498"/>
                </a:lnTo>
                <a:lnTo>
                  <a:pt x="2131871" y="307713"/>
                </a:lnTo>
                <a:lnTo>
                  <a:pt x="2203545" y="250227"/>
                </a:lnTo>
                <a:lnTo>
                  <a:pt x="2272188" y="196494"/>
                </a:lnTo>
                <a:lnTo>
                  <a:pt x="2337580" y="146968"/>
                </a:lnTo>
                <a:lnTo>
                  <a:pt x="2399500" y="102102"/>
                </a:lnTo>
                <a:lnTo>
                  <a:pt x="2457728" y="62350"/>
                </a:lnTo>
                <a:lnTo>
                  <a:pt x="2512043" y="28165"/>
                </a:lnTo>
                <a:lnTo>
                  <a:pt x="2562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0">
            <a:solidFill>
              <a:srgbClr val="A35D4F"/>
            </a:solidFill>
            <a:prstDash val="solid"/>
          </a:ln>
        </p:spPr>
      </p:sp>
      <p:sp>
        <p:nvSpPr>
          <p:cNvPr id="10" name="adaptive-merge-input-1">
            <a:extLst xmlns:a="http://schemas.openxmlformats.org/drawingml/2006/main">
              <a:ext uri="{FF2B5EF4-FFF2-40B4-BE49-F238E27FC236}">
                <a16:creationId xmlns:a16="http://schemas.microsoft.com/office/drawing/2014/main" id="{5A4930CC-7C10-4E20-94C1-000E18CE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21621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1" name="adaptive-merge-input-1-accent">
            <a:extLst xmlns:a="http://schemas.openxmlformats.org/drawingml/2006/main">
              <a:ext uri="{FF2B5EF4-FFF2-40B4-BE49-F238E27FC236}">
                <a16:creationId xmlns:a16="http://schemas.microsoft.com/office/drawing/2014/main" id="{51578FA8-B97D-46EA-BF70-098199D0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66675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C1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daptive-merge-input-1-title">
            <a:extLst xmlns:a="http://schemas.openxmlformats.org/drawingml/2006/main">
              <a:ext uri="{FF2B5EF4-FFF2-40B4-BE49-F238E27FC236}">
                <a16:creationId xmlns:a16="http://schemas.microsoft.com/office/drawing/2014/main" id="{18E3A2D1-19ED-4D55-90ED-9129F1F5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819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现场记录</a:t>
            </a:r>
          </a:p>
        </p:txBody>
      </p:sp>
      <p:sp>
        <p:nvSpPr>
          <p:cNvPr id="13" name="adaptive-merge-input-1-body">
            <a:extLst xmlns:a="http://schemas.openxmlformats.org/drawingml/2006/main">
              <a:ext uri="{FF2B5EF4-FFF2-40B4-BE49-F238E27FC236}">
                <a16:creationId xmlns:a16="http://schemas.microsoft.com/office/drawing/2014/main" id="{239D6930-7FC7-4424-AF07-0E1E8AEB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38425"/>
            <a:ext cx="1819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故障现象与发生时间</a:t>
            </a:r>
          </a:p>
        </p:txBody>
      </p:sp>
      <p:sp>
        <p:nvSpPr>
          <p:cNvPr id="14" name="adaptive-merge-input-2">
            <a:extLst xmlns:a="http://schemas.openxmlformats.org/drawingml/2006/main">
              <a:ext uri="{FF2B5EF4-FFF2-40B4-BE49-F238E27FC236}">
                <a16:creationId xmlns:a16="http://schemas.microsoft.com/office/drawing/2014/main" id="{BCCF28B2-5D1C-4AB4-91F7-85D7F631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71875"/>
            <a:ext cx="21621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adaptive-merge-input-2-accent">
            <a:extLst xmlns:a="http://schemas.openxmlformats.org/drawingml/2006/main">
              <a:ext uri="{FF2B5EF4-FFF2-40B4-BE49-F238E27FC236}">
                <a16:creationId xmlns:a16="http://schemas.microsoft.com/office/drawing/2014/main" id="{AD8E8A11-C7E8-4986-8B0F-0E800AC2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71875"/>
            <a:ext cx="66675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9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daptive-merge-input-2-title">
            <a:extLst xmlns:a="http://schemas.openxmlformats.org/drawingml/2006/main">
              <a:ext uri="{FF2B5EF4-FFF2-40B4-BE49-F238E27FC236}">
                <a16:creationId xmlns:a16="http://schemas.microsoft.com/office/drawing/2014/main" id="{E52B90E7-386E-4B92-9D7B-6F4B42E7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1819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检测记录</a:t>
            </a:r>
          </a:p>
        </p:txBody>
      </p:sp>
      <p:sp>
        <p:nvSpPr>
          <p:cNvPr id="17" name="adaptive-merge-input-2-body">
            <a:extLst xmlns:a="http://schemas.openxmlformats.org/drawingml/2006/main">
              <a:ext uri="{FF2B5EF4-FFF2-40B4-BE49-F238E27FC236}">
                <a16:creationId xmlns:a16="http://schemas.microsoft.com/office/drawing/2014/main" id="{CA46CC29-27A1-4075-B7C7-82CA428B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1819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测量读数与测试条件</a:t>
            </a:r>
          </a:p>
        </p:txBody>
      </p:sp>
      <p:sp>
        <p:nvSpPr>
          <p:cNvPr id="18" name="adaptive-merge-input-3">
            <a:extLst xmlns:a="http://schemas.openxmlformats.org/drawingml/2006/main">
              <a:ext uri="{FF2B5EF4-FFF2-40B4-BE49-F238E27FC236}">
                <a16:creationId xmlns:a16="http://schemas.microsoft.com/office/drawing/2014/main" id="{B9754D95-5F15-48FF-AD0B-609A413F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21621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adaptive-merge-input-3-accent">
            <a:extLst xmlns:a="http://schemas.openxmlformats.org/drawingml/2006/main">
              <a:ext uri="{FF2B5EF4-FFF2-40B4-BE49-F238E27FC236}">
                <a16:creationId xmlns:a16="http://schemas.microsoft.com/office/drawing/2014/main" id="{A1C88768-D8FD-4E1B-AE94-E5ED986E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66675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daptive-merge-input-3-title">
            <a:extLst xmlns:a="http://schemas.openxmlformats.org/drawingml/2006/main">
              <a:ext uri="{FF2B5EF4-FFF2-40B4-BE49-F238E27FC236}">
                <a16:creationId xmlns:a16="http://schemas.microsoft.com/office/drawing/2014/main" id="{2846A2C5-71D9-4B09-9BEF-9DD69664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57775"/>
            <a:ext cx="1819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备件记录</a:t>
            </a:r>
          </a:p>
        </p:txBody>
      </p:sp>
      <p:sp>
        <p:nvSpPr>
          <p:cNvPr id="21" name="adaptive-merge-input-3-body">
            <a:extLst xmlns:a="http://schemas.openxmlformats.org/drawingml/2006/main">
              <a:ext uri="{FF2B5EF4-FFF2-40B4-BE49-F238E27FC236}">
                <a16:creationId xmlns:a16="http://schemas.microsoft.com/office/drawing/2014/main" id="{1166AFDF-09CA-414A-80A3-6B2ADDAD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62575"/>
            <a:ext cx="1819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替换型号与领用数量</a:t>
            </a:r>
          </a:p>
        </p:txBody>
      </p:sp>
      <p:sp>
        <p:nvSpPr>
          <p:cNvPr id="22" name="adaptive-merge-result">
            <a:extLst xmlns:a="http://schemas.openxmlformats.org/drawingml/2006/main">
              <a:ext uri="{FF2B5EF4-FFF2-40B4-BE49-F238E27FC236}">
                <a16:creationId xmlns:a16="http://schemas.microsoft.com/office/drawing/2014/main" id="{1B241D73-B0B8-4135-9A9A-864EC81D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62250"/>
            <a:ext cx="1714500" cy="1809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ECE5"/>
          </a:solidFill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23" name="adaptive-merge-result-label">
            <a:extLst xmlns:a="http://schemas.openxmlformats.org/drawingml/2006/main">
              <a:ext uri="{FF2B5EF4-FFF2-40B4-BE49-F238E27FC236}">
                <a16:creationId xmlns:a16="http://schemas.microsoft.com/office/drawing/2014/main" id="{E01332CA-7E37-450E-8698-461187F2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52775"/>
            <a:ext cx="1371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共同结果</a:t>
            </a:r>
          </a:p>
        </p:txBody>
      </p:sp>
      <p:sp>
        <p:nvSpPr>
          <p:cNvPr id="24" name="adaptive-merge-result-title">
            <a:extLst xmlns:a="http://schemas.openxmlformats.org/drawingml/2006/main">
              <a:ext uri="{FF2B5EF4-FFF2-40B4-BE49-F238E27FC236}">
                <a16:creationId xmlns:a16="http://schemas.microsoft.com/office/drawing/2014/main" id="{D62ACDD6-3C36-4431-8985-E48EAA1A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486150"/>
            <a:ext cx="1371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维修交接单</a:t>
            </a:r>
          </a:p>
        </p:txBody>
      </p:sp>
      <p:sp>
        <p:nvSpPr>
          <p:cNvPr id="25" name="adaptive-merge-result-body">
            <a:extLst xmlns:a="http://schemas.openxmlformats.org/drawingml/2006/main">
              <a:ext uri="{FF2B5EF4-FFF2-40B4-BE49-F238E27FC236}">
                <a16:creationId xmlns:a16="http://schemas.microsoft.com/office/drawing/2014/main" id="{AB337511-DFE8-4759-ACC2-22611A62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24300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让接班人员追溯本次处理</a:t>
            </a:r>
          </a:p>
        </p:txBody>
      </p:sp>
      <p:sp>
        <p:nvSpPr>
          <p:cNvPr id="26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DDD963C4-4051-4D38-AB56-EB2DC4EB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049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交接单的使用边界</a:t>
            </a:r>
          </a:p>
        </p:txBody>
      </p:sp>
      <p:sp>
        <p:nvSpPr>
          <p:cNvPr id="27" name="right-intro">
            <a:extLst xmlns:a="http://schemas.openxmlformats.org/drawingml/2006/main">
              <a:ext uri="{FF2B5EF4-FFF2-40B4-BE49-F238E27FC236}">
                <a16:creationId xmlns:a16="http://schemas.microsoft.com/office/drawing/2014/main" id="{84DA078E-0B76-4665-AA80-B5610E5E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24025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共同结果进入交接环节前，仍需保留确认动作与事实边界。</a:t>
            </a:r>
          </a:p>
        </p:txBody>
      </p:sp>
      <p:sp>
        <p:nvSpPr>
          <p:cNvPr id="28" name="right-intro-rule">
            <a:extLst xmlns:a="http://schemas.openxmlformats.org/drawingml/2006/main">
              <a:ext uri="{FF2B5EF4-FFF2-40B4-BE49-F238E27FC236}">
                <a16:creationId xmlns:a16="http://schemas.microsoft.com/office/drawing/2014/main" id="{6D6F8CE4-BDA3-4194-B6B1-C073B9C4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96250" y="2343150"/>
            <a:ext cx="354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9" name="right-note-1-index">
            <a:extLst xmlns:a="http://schemas.openxmlformats.org/drawingml/2006/main">
              <a:ext uri="{FF2B5EF4-FFF2-40B4-BE49-F238E27FC236}">
                <a16:creationId xmlns:a16="http://schemas.microsoft.com/office/drawing/2014/main" id="{987C035E-4B11-4544-A462-C856D70D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146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30" name="right-note-1-title">
            <a:extLst xmlns:a="http://schemas.openxmlformats.org/drawingml/2006/main">
              <a:ext uri="{FF2B5EF4-FFF2-40B4-BE49-F238E27FC236}">
                <a16:creationId xmlns:a16="http://schemas.microsoft.com/office/drawing/2014/main" id="{0F3D3AA0-0C6B-44F6-BABF-3262BE41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0507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交接确认</a:t>
            </a:r>
          </a:p>
        </p:txBody>
      </p:sp>
      <p:sp>
        <p:nvSpPr>
          <p:cNvPr id="31" name="right-note-1-body">
            <a:extLst xmlns:a="http://schemas.openxmlformats.org/drawingml/2006/main">
              <a:ext uri="{FF2B5EF4-FFF2-40B4-BE49-F238E27FC236}">
                <a16:creationId xmlns:a16="http://schemas.microsoft.com/office/drawing/2014/main" id="{9E9B33FE-1CAD-4C04-87FB-6BE2B4B7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098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交接单仍需由交接双方确认。</a:t>
            </a:r>
          </a:p>
        </p:txBody>
      </p:sp>
      <p:sp>
        <p:nvSpPr>
          <p:cNvPr id="32" name="right-note-1-rule">
            <a:extLst xmlns:a="http://schemas.openxmlformats.org/drawingml/2006/main">
              <a:ext uri="{FF2B5EF4-FFF2-40B4-BE49-F238E27FC236}">
                <a16:creationId xmlns:a16="http://schemas.microsoft.com/office/drawing/2014/main" id="{0FC9369E-F46C-4055-A77F-3C215AD4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96250" y="3390900"/>
            <a:ext cx="354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3" name="right-note-2-index">
            <a:extLst xmlns:a="http://schemas.openxmlformats.org/drawingml/2006/main">
              <a:ext uri="{FF2B5EF4-FFF2-40B4-BE49-F238E27FC236}">
                <a16:creationId xmlns:a16="http://schemas.microsoft.com/office/drawing/2014/main" id="{3B4EFFB3-493A-4DAA-A1F1-9210FFE8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34" name="right-note-2-title">
            <a:extLst xmlns:a="http://schemas.openxmlformats.org/drawingml/2006/main">
              <a:ext uri="{FF2B5EF4-FFF2-40B4-BE49-F238E27FC236}">
                <a16:creationId xmlns:a16="http://schemas.microsoft.com/office/drawing/2014/main" id="{429C6395-2A72-426E-9DBA-852A3363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1472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缺失待补</a:t>
            </a:r>
          </a:p>
        </p:txBody>
      </p:sp>
      <p:sp>
        <p:nvSpPr>
          <p:cNvPr id="35" name="right-note-2-body">
            <a:extLst xmlns:a="http://schemas.openxmlformats.org/drawingml/2006/main">
              <a:ext uri="{FF2B5EF4-FFF2-40B4-BE49-F238E27FC236}">
                <a16:creationId xmlns:a16="http://schemas.microsoft.com/office/drawing/2014/main" id="{8712AAB8-B5B7-4DC5-BBA3-C1B52347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195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材料缺失时，明确标注“待补”。</a:t>
            </a:r>
          </a:p>
        </p:txBody>
      </p:sp>
      <p:sp>
        <p:nvSpPr>
          <p:cNvPr id="36" name="right-note-2-rule">
            <a:extLst xmlns:a="http://schemas.openxmlformats.org/drawingml/2006/main">
              <a:ext uri="{FF2B5EF4-FFF2-40B4-BE49-F238E27FC236}">
                <a16:creationId xmlns:a16="http://schemas.microsoft.com/office/drawing/2014/main" id="{1727C138-71BB-48A6-AE5D-BC66124F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96250" y="4400550"/>
            <a:ext cx="354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7" name="right-note-3-index">
            <a:extLst xmlns:a="http://schemas.openxmlformats.org/drawingml/2006/main">
              <a:ext uri="{FF2B5EF4-FFF2-40B4-BE49-F238E27FC236}">
                <a16:creationId xmlns:a16="http://schemas.microsoft.com/office/drawing/2014/main" id="{20F31FDF-4192-4BB9-88CF-814C9AB4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339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38" name="right-note-3-title">
            <a:extLst xmlns:a="http://schemas.openxmlformats.org/drawingml/2006/main">
              <a:ext uri="{FF2B5EF4-FFF2-40B4-BE49-F238E27FC236}">
                <a16:creationId xmlns:a16="http://schemas.microsoft.com/office/drawing/2014/main" id="{143E353B-877E-4C31-A7F1-3BB04FB0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2437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事实边界</a:t>
            </a:r>
          </a:p>
        </p:txBody>
      </p:sp>
      <p:sp>
        <p:nvSpPr>
          <p:cNvPr id="39" name="right-note-3-body">
            <a:extLst xmlns:a="http://schemas.openxmlformats.org/drawingml/2006/main">
              <a:ext uri="{FF2B5EF4-FFF2-40B4-BE49-F238E27FC236}">
                <a16:creationId xmlns:a16="http://schemas.microsoft.com/office/drawing/2014/main" id="{25C0268F-9BA5-433F-87BC-CAD956AC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291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待补内容不能当作已核实事实。</a:t>
            </a:r>
          </a:p>
        </p:txBody>
      </p:sp>
      <p:sp>
        <p:nvSpPr>
          <p:cNvPr id="40" name="right-note-3-rule">
            <a:extLst xmlns:a="http://schemas.openxmlformats.org/drawingml/2006/main">
              <a:ext uri="{FF2B5EF4-FFF2-40B4-BE49-F238E27FC236}">
                <a16:creationId xmlns:a16="http://schemas.microsoft.com/office/drawing/2014/main" id="{4DDC9871-9BA0-4C3E-BFF9-7237D731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96250" y="5410200"/>
            <a:ext cx="354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1" name="right-disclosure">
            <a:extLst xmlns:a="http://schemas.openxmlformats.org/drawingml/2006/main">
              <a:ext uri="{FF2B5EF4-FFF2-40B4-BE49-F238E27FC236}">
                <a16:creationId xmlns:a16="http://schemas.microsoft.com/office/drawing/2014/main" id="{9D98D636-8865-4DA4-BE6F-315895D7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769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本页未宣称故障已经排除，也没有时间节约或完成率数据。</a:t>
            </a:r>
          </a:p>
        </p:txBody>
      </p:sp>
    </p:spTree>
    <p:extLst>
      <p:ext uri="{BB962C8B-B14F-4D97-AF65-F5344CB8AC3E}">
        <p14:creationId xmlns:p14="http://schemas.microsoft.com/office/powerpoint/2010/main" val="8957302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2026-09-06T11:52:52.8630000Z</dcterms:created>
  <dcterms:modified xsi:type="dcterms:W3CDTF">2026-09-06T11:52:52.8630000Z</dcterms:modified>
</coreProperties>
</file>