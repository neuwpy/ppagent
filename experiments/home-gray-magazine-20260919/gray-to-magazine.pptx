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5cddc6f5d4a4a" /><Relationship Type="http://schemas.openxmlformats.org/officeDocument/2006/relationships/extended-properties" Target="/docProps/app.xml" Id="Rfdefe6c1247a48d6" /><Relationship Type="http://schemas.openxmlformats.org/officeDocument/2006/relationships/officeDocument" Target="/ppt/presentation.xml" Id="R42231a61913b4a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b68de2f88447a"/>
  </p:sldMasterIdLst>
  <p:notesMasterIdLst>
    <p:notesMasterId xmlns:r="http://schemas.openxmlformats.org/officeDocument/2006/relationships" r:id="R991635df28d14219"/>
  </p:notesMasterIdLst>
  <p:sldIdLst>
    <p:sldId xmlns:r="http://schemas.openxmlformats.org/officeDocument/2006/relationships" id="256" r:id="R279345196a43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07a8de70824ce6" /><Relationship Type="http://schemas.openxmlformats.org/officeDocument/2006/relationships/slideMaster" Target="/ppt/slideMasters/slideMaster1.xml" Id="R4b0b68de2f88447a" /><Relationship Type="http://schemas.openxmlformats.org/officeDocument/2006/relationships/notesMaster" Target="/ppt/notesMasters/notesMaster1.xml" Id="R991635df28d14219" /><Relationship Type="http://schemas.openxmlformats.org/officeDocument/2006/relationships/presProps" Target="/ppt/presProps.xml" Id="R575ae9bcc32244a1" /><Relationship Type="http://schemas.openxmlformats.org/officeDocument/2006/relationships/tableStyles" Target="/ppt/tableStyles.xml" Id="Rc5eb769f88ba459b" /><Relationship Type="http://schemas.openxmlformats.org/officeDocument/2006/relationships/slide" Target="/ppt/slides/slide1.xml" Id="R279345196a43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ed17e29ee5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349b3329994e91" /><Relationship Type="http://schemas.openxmlformats.org/officeDocument/2006/relationships/notesMaster" Target="/ppt/notesMasters/notesMaster1.xml" Id="R7bb13eb9dbf8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Frozen gray input: ../input/gray-state.json and gray.pptx</a:t>
            </a:r>
          </a:p>
          <a:p xmlns:a="http://schemas.openxmlformats.org/drawingml/2006/main">
            <a:r>
              <a:t>- Source manuscript is retained in gray-state.json:sources.</a:t>
            </a:r>
          </a:p>
          <a:p xmlns:a="http://schemas.openxmlformats.org/drawingml/2006/main">
            <a:r>
              <a:t>- Style: rules/排版体系/杂志风.md and assets/主题/中性编辑排版-001/asset.json</a:t>
            </a:r>
          </a:p>
          <a:p xmlns:a="http://schemas.openxmlformats.org/drawingml/2006/main">
            <a:r>
              <a:t>- Structure: convergence-many-to-one-003, task-local geometry adaptation from review.mjs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c249dd365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90c201b7324990" /><Relationship Type="http://schemas.openxmlformats.org/officeDocument/2006/relationships/slideLayout" Target="/ppt/slideLayouts/slideLayout1.xml" Id="R38ebe3b835c2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be3b835c2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70be9ca9492b" /><Relationship Type="http://schemas.openxmlformats.org/officeDocument/2006/relationships/notesSlide" Target="/ppt/notesSlides/notesSlide1.xml" Id="Ree521596892547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hapter-0">
            <a:extLst xmlns:a="http://schemas.openxmlformats.org/drawingml/2006/main">
              <a:ext uri="{FF2B5EF4-FFF2-40B4-BE49-F238E27FC236}">
                <a16:creationId xmlns:a16="http://schemas.microsoft.com/office/drawing/2014/main" id="{DD22CBA4-BC46-4D2F-86E6-51DB1C4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0480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7E9D1EE6-4BD8-4218-A370-D13FC8E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20955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存在的不足与感悟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8BE26-7149-4FF5-B9A7-C2FBAD4E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"/>
            <a:ext cx="830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" name="page-number-0">
            <a:extLst xmlns:a="http://schemas.openxmlformats.org/drawingml/2006/main">
              <a:ext uri="{FF2B5EF4-FFF2-40B4-BE49-F238E27FC236}">
                <a16:creationId xmlns:a16="http://schemas.microsoft.com/office/drawing/2014/main" id="{47210545-4A24-4503-AA4C-43BBCC5E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2857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issues-0">
            <a:extLst xmlns:a="http://schemas.openxmlformats.org/drawingml/2006/main">
              <a:ext uri="{FF2B5EF4-FFF2-40B4-BE49-F238E27FC236}">
                <a16:creationId xmlns:a16="http://schemas.microsoft.com/office/drawing/2014/main" id="{D0357C4B-FFE3-487C-83BE-B440A14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48923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两点不足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31D10-0C79-4341-930E-39E705F4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8923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B5433B5D-58F3-404F-A2DA-962414F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DD2FCE37-6C89-4E66-9D45-23938EF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5494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变革落地阻力重重</a:t>
            </a:r>
          </a:p>
        </p:txBody>
      </p:sp>
      <p:sp>
        <p:nvSpPr>
          <p:cNvPr id="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4F6DB9D5-8BF3-491B-8CE7-3AED230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060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顶层设计已完成</a:t>
            </a:r>
          </a:p>
        </p:txBody>
      </p:sp>
      <p:sp>
        <p:nvSpPr>
          <p:cNvPr id="1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2E8D11B2-CD24-4217-8B2F-C040D0E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2685860"/>
            <a:ext cx="1069129" cy="628650"/>
          </a:xfrm>
          <a:custGeom xmlns:a="http://schemas.openxmlformats.org/drawingml/2006/main">
            <a:pathLst>
              <a:path w="1069129" h="628650">
                <a:moveTo>
                  <a:pt x="0" y="0"/>
                </a:moveTo>
                <a:lnTo>
                  <a:pt x="26563" y="807"/>
                </a:lnTo>
                <a:lnTo>
                  <a:pt x="52801" y="3183"/>
                </a:lnTo>
                <a:lnTo>
                  <a:pt x="78723" y="7060"/>
                </a:lnTo>
                <a:lnTo>
                  <a:pt x="104339" y="12369"/>
                </a:lnTo>
                <a:lnTo>
                  <a:pt x="129658" y="19043"/>
                </a:lnTo>
                <a:lnTo>
                  <a:pt x="154690" y="27012"/>
                </a:lnTo>
                <a:lnTo>
                  <a:pt x="179443" y="36210"/>
                </a:lnTo>
                <a:lnTo>
                  <a:pt x="203927" y="46567"/>
                </a:lnTo>
                <a:lnTo>
                  <a:pt x="228151" y="58015"/>
                </a:lnTo>
                <a:lnTo>
                  <a:pt x="252124" y="70487"/>
                </a:lnTo>
                <a:lnTo>
                  <a:pt x="275856" y="83913"/>
                </a:lnTo>
                <a:lnTo>
                  <a:pt x="299356" y="98227"/>
                </a:lnTo>
                <a:lnTo>
                  <a:pt x="322634" y="113358"/>
                </a:lnTo>
                <a:lnTo>
                  <a:pt x="345698" y="129241"/>
                </a:lnTo>
                <a:lnTo>
                  <a:pt x="368557" y="145805"/>
                </a:lnTo>
                <a:lnTo>
                  <a:pt x="391222" y="162983"/>
                </a:lnTo>
                <a:lnTo>
                  <a:pt x="413701" y="180707"/>
                </a:lnTo>
                <a:lnTo>
                  <a:pt x="436004" y="198909"/>
                </a:lnTo>
                <a:lnTo>
                  <a:pt x="458140" y="217520"/>
                </a:lnTo>
                <a:lnTo>
                  <a:pt x="480118" y="236471"/>
                </a:lnTo>
                <a:lnTo>
                  <a:pt x="501948" y="255696"/>
                </a:lnTo>
                <a:lnTo>
                  <a:pt x="523638" y="275125"/>
                </a:lnTo>
                <a:lnTo>
                  <a:pt x="545199" y="294691"/>
                </a:lnTo>
                <a:lnTo>
                  <a:pt x="566639" y="314325"/>
                </a:lnTo>
                <a:lnTo>
                  <a:pt x="587967" y="333959"/>
                </a:lnTo>
                <a:lnTo>
                  <a:pt x="609193" y="353525"/>
                </a:lnTo>
                <a:lnTo>
                  <a:pt x="630327" y="372954"/>
                </a:lnTo>
                <a:lnTo>
                  <a:pt x="651377" y="392179"/>
                </a:lnTo>
                <a:lnTo>
                  <a:pt x="672353" y="411130"/>
                </a:lnTo>
                <a:lnTo>
                  <a:pt x="693264" y="429741"/>
                </a:lnTo>
                <a:lnTo>
                  <a:pt x="714119" y="447943"/>
                </a:lnTo>
                <a:lnTo>
                  <a:pt x="734927" y="465667"/>
                </a:lnTo>
                <a:lnTo>
                  <a:pt x="755699" y="482845"/>
                </a:lnTo>
                <a:lnTo>
                  <a:pt x="776443" y="499409"/>
                </a:lnTo>
                <a:lnTo>
                  <a:pt x="797168" y="515292"/>
                </a:lnTo>
                <a:lnTo>
                  <a:pt x="817884" y="530423"/>
                </a:lnTo>
                <a:lnTo>
                  <a:pt x="838600" y="544737"/>
                </a:lnTo>
                <a:lnTo>
                  <a:pt x="859325" y="558163"/>
                </a:lnTo>
                <a:lnTo>
                  <a:pt x="880069" y="570635"/>
                </a:lnTo>
                <a:lnTo>
                  <a:pt x="900840" y="582083"/>
                </a:lnTo>
                <a:lnTo>
                  <a:pt x="921649" y="592440"/>
                </a:lnTo>
                <a:lnTo>
                  <a:pt x="942504" y="601638"/>
                </a:lnTo>
                <a:lnTo>
                  <a:pt x="963415" y="609607"/>
                </a:lnTo>
                <a:lnTo>
                  <a:pt x="984391" y="616281"/>
                </a:lnTo>
                <a:lnTo>
                  <a:pt x="1005441" y="621590"/>
                </a:lnTo>
                <a:lnTo>
                  <a:pt x="1026574" y="625467"/>
                </a:lnTo>
                <a:lnTo>
                  <a:pt x="1047801" y="627843"/>
                </a:lnTo>
                <a:lnTo>
                  <a:pt x="1069129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CDAD2"/>
            </a:solidFill>
          </a:ln>
        </p:spPr>
      </p:sp>
      <p:sp>
        <p:nvSpPr>
          <p:cNvPr id="1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22B5D1AD-4FDE-47C8-985B-69C8EF88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3314510"/>
            <a:ext cx="1069129" cy="9525"/>
          </a:xfrm>
          <a:custGeom xmlns:a="http://schemas.openxmlformats.org/drawingml/2006/main">
            <a:pathLst>
              <a:path w="1069129" h="9525">
                <a:moveTo>
                  <a:pt x="0" y="0"/>
                </a:moveTo>
                <a:lnTo>
                  <a:pt x="26563" y="0"/>
                </a:lnTo>
                <a:lnTo>
                  <a:pt x="52801" y="0"/>
                </a:lnTo>
                <a:lnTo>
                  <a:pt x="78723" y="0"/>
                </a:lnTo>
                <a:lnTo>
                  <a:pt x="104339" y="0"/>
                </a:lnTo>
                <a:lnTo>
                  <a:pt x="129658" y="0"/>
                </a:lnTo>
                <a:lnTo>
                  <a:pt x="154690" y="0"/>
                </a:lnTo>
                <a:lnTo>
                  <a:pt x="179443" y="0"/>
                </a:lnTo>
                <a:lnTo>
                  <a:pt x="203927" y="0"/>
                </a:lnTo>
                <a:lnTo>
                  <a:pt x="228151" y="0"/>
                </a:lnTo>
                <a:lnTo>
                  <a:pt x="252124" y="0"/>
                </a:lnTo>
                <a:lnTo>
                  <a:pt x="275856" y="0"/>
                </a:lnTo>
                <a:lnTo>
                  <a:pt x="299356" y="0"/>
                </a:lnTo>
                <a:lnTo>
                  <a:pt x="322634" y="0"/>
                </a:lnTo>
                <a:lnTo>
                  <a:pt x="345698" y="0"/>
                </a:lnTo>
                <a:lnTo>
                  <a:pt x="368557" y="0"/>
                </a:lnTo>
                <a:lnTo>
                  <a:pt x="391222" y="0"/>
                </a:lnTo>
                <a:lnTo>
                  <a:pt x="413701" y="0"/>
                </a:lnTo>
                <a:lnTo>
                  <a:pt x="436004" y="0"/>
                </a:lnTo>
                <a:lnTo>
                  <a:pt x="458140" y="0"/>
                </a:lnTo>
                <a:lnTo>
                  <a:pt x="480118" y="0"/>
                </a:lnTo>
                <a:lnTo>
                  <a:pt x="501948" y="0"/>
                </a:lnTo>
                <a:lnTo>
                  <a:pt x="523638" y="0"/>
                </a:lnTo>
                <a:lnTo>
                  <a:pt x="545199" y="0"/>
                </a:lnTo>
                <a:lnTo>
                  <a:pt x="566639" y="0"/>
                </a:lnTo>
                <a:lnTo>
                  <a:pt x="587967" y="0"/>
                </a:lnTo>
                <a:lnTo>
                  <a:pt x="609193" y="0"/>
                </a:lnTo>
                <a:lnTo>
                  <a:pt x="630327" y="0"/>
                </a:lnTo>
                <a:lnTo>
                  <a:pt x="651377" y="0"/>
                </a:lnTo>
                <a:lnTo>
                  <a:pt x="672353" y="0"/>
                </a:lnTo>
                <a:lnTo>
                  <a:pt x="693264" y="0"/>
                </a:lnTo>
                <a:lnTo>
                  <a:pt x="714119" y="0"/>
                </a:lnTo>
                <a:lnTo>
                  <a:pt x="734927" y="0"/>
                </a:lnTo>
                <a:lnTo>
                  <a:pt x="755699" y="0"/>
                </a:lnTo>
                <a:lnTo>
                  <a:pt x="776443" y="0"/>
                </a:lnTo>
                <a:lnTo>
                  <a:pt x="797168" y="0"/>
                </a:lnTo>
                <a:lnTo>
                  <a:pt x="817884" y="0"/>
                </a:lnTo>
                <a:lnTo>
                  <a:pt x="838600" y="0"/>
                </a:lnTo>
                <a:lnTo>
                  <a:pt x="859325" y="0"/>
                </a:lnTo>
                <a:lnTo>
                  <a:pt x="880069" y="0"/>
                </a:lnTo>
                <a:lnTo>
                  <a:pt x="900840" y="0"/>
                </a:lnTo>
                <a:lnTo>
                  <a:pt x="921649" y="0"/>
                </a:lnTo>
                <a:lnTo>
                  <a:pt x="942504" y="0"/>
                </a:lnTo>
                <a:lnTo>
                  <a:pt x="963415" y="0"/>
                </a:lnTo>
                <a:lnTo>
                  <a:pt x="984391" y="0"/>
                </a:lnTo>
                <a:lnTo>
                  <a:pt x="1005441" y="0"/>
                </a:lnTo>
                <a:lnTo>
                  <a:pt x="1026574" y="0"/>
                </a:lnTo>
                <a:lnTo>
                  <a:pt x="1047801" y="0"/>
                </a:lnTo>
                <a:lnTo>
                  <a:pt x="1069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6D5CC"/>
            </a:solidFill>
          </a:ln>
        </p:spPr>
      </p:sp>
      <p:sp>
        <p:nvSpPr>
          <p:cNvPr id="1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34C62004-90F0-41A3-B6E9-91D5FC6A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3314510"/>
            <a:ext cx="1069129" cy="628650"/>
          </a:xfrm>
          <a:custGeom xmlns:a="http://schemas.openxmlformats.org/drawingml/2006/main">
            <a:pathLst>
              <a:path w="1069129" h="628650">
                <a:moveTo>
                  <a:pt x="0" y="628650"/>
                </a:moveTo>
                <a:lnTo>
                  <a:pt x="26563" y="627843"/>
                </a:lnTo>
                <a:lnTo>
                  <a:pt x="52801" y="625467"/>
                </a:lnTo>
                <a:lnTo>
                  <a:pt x="78723" y="621590"/>
                </a:lnTo>
                <a:lnTo>
                  <a:pt x="104339" y="616281"/>
                </a:lnTo>
                <a:lnTo>
                  <a:pt x="129658" y="609607"/>
                </a:lnTo>
                <a:lnTo>
                  <a:pt x="154690" y="601638"/>
                </a:lnTo>
                <a:lnTo>
                  <a:pt x="179443" y="592440"/>
                </a:lnTo>
                <a:lnTo>
                  <a:pt x="203927" y="582083"/>
                </a:lnTo>
                <a:lnTo>
                  <a:pt x="228151" y="570635"/>
                </a:lnTo>
                <a:lnTo>
                  <a:pt x="252124" y="558163"/>
                </a:lnTo>
                <a:lnTo>
                  <a:pt x="275856" y="544737"/>
                </a:lnTo>
                <a:lnTo>
                  <a:pt x="299356" y="530423"/>
                </a:lnTo>
                <a:lnTo>
                  <a:pt x="322634" y="515292"/>
                </a:lnTo>
                <a:lnTo>
                  <a:pt x="345698" y="499409"/>
                </a:lnTo>
                <a:lnTo>
                  <a:pt x="368557" y="482845"/>
                </a:lnTo>
                <a:lnTo>
                  <a:pt x="391222" y="465667"/>
                </a:lnTo>
                <a:lnTo>
                  <a:pt x="413701" y="447943"/>
                </a:lnTo>
                <a:lnTo>
                  <a:pt x="436004" y="429741"/>
                </a:lnTo>
                <a:lnTo>
                  <a:pt x="458140" y="411130"/>
                </a:lnTo>
                <a:lnTo>
                  <a:pt x="480118" y="392179"/>
                </a:lnTo>
                <a:lnTo>
                  <a:pt x="501948" y="372954"/>
                </a:lnTo>
                <a:lnTo>
                  <a:pt x="523638" y="353525"/>
                </a:lnTo>
                <a:lnTo>
                  <a:pt x="545199" y="333959"/>
                </a:lnTo>
                <a:lnTo>
                  <a:pt x="566639" y="314325"/>
                </a:lnTo>
                <a:lnTo>
                  <a:pt x="587967" y="294691"/>
                </a:lnTo>
                <a:lnTo>
                  <a:pt x="609193" y="275125"/>
                </a:lnTo>
                <a:lnTo>
                  <a:pt x="630327" y="255696"/>
                </a:lnTo>
                <a:lnTo>
                  <a:pt x="651377" y="236471"/>
                </a:lnTo>
                <a:lnTo>
                  <a:pt x="672353" y="217520"/>
                </a:lnTo>
                <a:lnTo>
                  <a:pt x="693264" y="198909"/>
                </a:lnTo>
                <a:lnTo>
                  <a:pt x="714119" y="180707"/>
                </a:lnTo>
                <a:lnTo>
                  <a:pt x="734927" y="162983"/>
                </a:lnTo>
                <a:lnTo>
                  <a:pt x="755699" y="145805"/>
                </a:lnTo>
                <a:lnTo>
                  <a:pt x="776443" y="129241"/>
                </a:lnTo>
                <a:lnTo>
                  <a:pt x="797168" y="113358"/>
                </a:lnTo>
                <a:lnTo>
                  <a:pt x="817884" y="98227"/>
                </a:lnTo>
                <a:lnTo>
                  <a:pt x="838600" y="83913"/>
                </a:lnTo>
                <a:lnTo>
                  <a:pt x="859325" y="70487"/>
                </a:lnTo>
                <a:lnTo>
                  <a:pt x="880069" y="58015"/>
                </a:lnTo>
                <a:lnTo>
                  <a:pt x="900840" y="46567"/>
                </a:lnTo>
                <a:lnTo>
                  <a:pt x="921649" y="36210"/>
                </a:lnTo>
                <a:lnTo>
                  <a:pt x="942504" y="27012"/>
                </a:lnTo>
                <a:lnTo>
                  <a:pt x="963415" y="19043"/>
                </a:lnTo>
                <a:lnTo>
                  <a:pt x="984391" y="12369"/>
                </a:lnTo>
                <a:lnTo>
                  <a:pt x="1005441" y="7060"/>
                </a:lnTo>
                <a:lnTo>
                  <a:pt x="1026574" y="3183"/>
                </a:lnTo>
                <a:lnTo>
                  <a:pt x="1047801" y="807"/>
                </a:lnTo>
                <a:lnTo>
                  <a:pt x="1069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D0C7"/>
            </a:solidFill>
          </a:ln>
        </p:spPr>
      </p:sp>
      <p:sp>
        <p:nvSpPr>
          <p:cNvPr id="1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84870DDE-3083-4331-8974-F6495BB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6203"/>
            <a:ext cx="2229248" cy="599313"/>
          </a:xfrm>
          <a:prstGeom xmlns:a="http://schemas.openxmlformats.org/drawingml/2006/main" prst="roundRect">
            <a:avLst>
              <a:gd name="adj" fmla="val 9536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14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77ECE23F-DD7E-4509-8102-FC48CB1E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2403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公司内部人力资源</a:t>
            </a:r>
          </a:p>
        </p:txBody>
      </p:sp>
      <p:sp>
        <p:nvSpPr>
          <p:cNvPr id="15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EE9A0D88-607D-4BBA-BFAE-5CDE1C0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5859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变革氛围尚未完全形成</a:t>
            </a:r>
          </a:p>
        </p:txBody>
      </p:sp>
      <p:sp>
        <p:nvSpPr>
          <p:cNvPr id="16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93AF7738-7C7B-4B08-A157-E9797B0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4853"/>
            <a:ext cx="2229248" cy="599313"/>
          </a:xfrm>
          <a:prstGeom xmlns:a="http://schemas.openxmlformats.org/drawingml/2006/main" prst="roundRect">
            <a:avLst>
              <a:gd name="adj" fmla="val 9536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17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629F1A94-8EF8-42B0-AF44-804B6A04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1053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信息系统支撑</a:t>
            </a:r>
          </a:p>
        </p:txBody>
      </p:sp>
      <p:sp>
        <p:nvSpPr>
          <p:cNvPr id="18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0707BC74-0514-420E-AAF8-ECFE4CE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510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能力仍有差距</a:t>
            </a:r>
          </a:p>
        </p:txBody>
      </p:sp>
      <p:sp>
        <p:nvSpPr>
          <p:cNvPr id="19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B11EAEE6-1372-4C8F-8EFF-B67E1004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560"/>
            <a:ext cx="2229248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0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E93C74E4-51E6-47DE-BBA0-94091ECA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1431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缺乏市场化管理机制</a:t>
            </a:r>
          </a:p>
        </p:txBody>
      </p:sp>
      <p:sp>
        <p:nvSpPr>
          <p:cNvPr id="21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07C1EE7B-232F-4BC5-AC31-1A6C659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678" y="2819210"/>
            <a:ext cx="1251109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6C4BA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2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EABEE1B6-8FD2-40A5-BA14-C28963A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978" y="3091053"/>
            <a:ext cx="1022509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变革落地</a:t>
            </a:r>
          </a:p>
        </p:txBody>
      </p:sp>
      <p:sp>
        <p:nvSpPr>
          <p:cNvPr id="23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C615DD27-DA52-4029-B562-EAADF62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978" y="3314510"/>
            <a:ext cx="1022509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阻力重重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6619BF-1AE4-4053-990B-1B48F73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360"/>
            <a:ext cx="48923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5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0F4A4486-C054-4FF3-9F26-7F9498D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0860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6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4FEE1C13-14A1-4D37-A6F5-12AF638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335"/>
            <a:ext cx="45494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合规管理短板亟待提升</a:t>
            </a:r>
          </a:p>
        </p:txBody>
      </p:sp>
      <p:sp>
        <p:nvSpPr>
          <p:cNvPr id="27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15E6BDF4-BB0E-4AE1-9F2C-DEA3566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094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2017年巡视整改取得一定成效，也暴露人力条线基础管理</a:t>
            </a:r>
          </a:p>
        </p:txBody>
      </p:sp>
      <p:sp>
        <p:nvSpPr>
          <p:cNvPr id="28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3CB0B222-D4A5-433A-9637-13F40B2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269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薄弱：认识待提升、作风待转变、能力待增强、协同待深化。</a:t>
            </a:r>
          </a:p>
        </p:txBody>
      </p:sp>
      <p:sp>
        <p:nvSpPr>
          <p:cNvPr id="29" name="insights-0">
            <a:extLst xmlns:a="http://schemas.openxmlformats.org/drawingml/2006/main">
              <a:ext uri="{FF2B5EF4-FFF2-40B4-BE49-F238E27FC236}">
                <a16:creationId xmlns:a16="http://schemas.microsoft.com/office/drawing/2014/main" id="{32FA2636-400F-4712-8645-0DD2B22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066800"/>
            <a:ext cx="58708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四点感悟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F2079-005B-4B7B-B6D3-93B8447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428750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31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C051D770-7E4C-4B0C-B0E6-588A1D38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64782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826002BE-FC54-41FE-9FB5-95870F2E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1638300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统一语言，促进业务与人力协同</a:t>
            </a:r>
          </a:p>
        </p:txBody>
      </p:sp>
      <p:sp>
        <p:nvSpPr>
          <p:cNvPr id="33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6358BBF5-82FA-4BF1-A6C3-07DF7E7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000060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沿BLM管理模型统一语言、目标、策略，贯通业务战略、</a:t>
            </a:r>
          </a:p>
        </p:txBody>
      </p:sp>
      <p:sp>
        <p:nvSpPr>
          <p:cNvPr id="34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376891DC-2842-42BD-B40D-F17782CF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257235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人力战略规划与落地方案，达成“三个市场化”转型目标。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ACC91A-B48A-4683-BC7A-088D8BB3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2657285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36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DAA933FF-96B7-49A8-BA9E-072DEBA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284778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7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F4DA98EF-CD8B-4204-9E77-FA1E6D7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838260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解决实际问题是唯一检验标准</a:t>
            </a:r>
          </a:p>
        </p:txBody>
      </p:sp>
      <p:sp>
        <p:nvSpPr>
          <p:cNvPr id="38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04CA3AA0-1455-49D9-9648-28BA5AF8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3200019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以能否解决实际问题检验变革成效，力求落地有实效。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72A8AB-306A-488A-B4DB-D7BBE22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3600069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0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0036F7A9-61A2-42FE-BE40-21856C70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3790569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1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0FC732CC-E353-4574-8B21-2689E108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3781044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顶层设计持续迭代</a:t>
            </a:r>
          </a:p>
        </p:txBody>
      </p:sp>
      <p:sp>
        <p:nvSpPr>
          <p:cNvPr id="42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70C1384B-3001-4633-8B87-F8E3AE89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4142804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加速试点、小步快跑；对标行业优秀实践，结合落地成效持续优化体系。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47671-4DCE-488F-B23D-5C2CD863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4542854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4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9A455A6B-1211-47FA-9D9A-4723406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4733354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5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47A9FB9E-3E7A-4633-A30B-733F57B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4723829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统筹变革、合规与作风</a:t>
            </a:r>
          </a:p>
        </p:txBody>
      </p:sp>
      <p:sp>
        <p:nvSpPr>
          <p:cNvPr id="46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E563E067-59FC-4787-91D0-93D4C9F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5085588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变革是硬道理，合规是硬要求，作风是硬标准；以规范管理的</a:t>
            </a:r>
          </a:p>
        </p:txBody>
      </p:sp>
      <p:sp>
        <p:nvSpPr>
          <p:cNvPr id="47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E27ECFC6-2089-474D-B89D-94BA2F35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5342763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474581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2026-09-19T15:35:51.0690000Z</dcterms:created>
  <dcterms:modified xsi:type="dcterms:W3CDTF">2026-09-19T15:35:51.0690000Z</dcterms:modified>
</coreProperties>
</file>