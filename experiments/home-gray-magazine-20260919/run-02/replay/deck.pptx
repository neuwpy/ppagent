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c415499ed4c10" /><Relationship Type="http://schemas.openxmlformats.org/officeDocument/2006/relationships/extended-properties" Target="/docProps/app.xml" Id="Rb40aa784f9254fc1" /><Relationship Type="http://schemas.openxmlformats.org/officeDocument/2006/relationships/officeDocument" Target="/ppt/presentation.xml" Id="R287b6839c12b4f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2bdd0c74c34af9"/>
  </p:sldMasterIdLst>
  <p:notesMasterIdLst>
    <p:notesMasterId xmlns:r="http://schemas.openxmlformats.org/officeDocument/2006/relationships" r:id="R9e5c16048f674c49"/>
  </p:notesMasterIdLst>
  <p:sldIdLst>
    <p:sldId xmlns:r="http://schemas.openxmlformats.org/officeDocument/2006/relationships" id="256" r:id="R8450b8d693d74d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77ba4519d94d52" /><Relationship Type="http://schemas.openxmlformats.org/officeDocument/2006/relationships/slideMaster" Target="/ppt/slideMasters/slideMaster1.xml" Id="R6d2bdd0c74c34af9" /><Relationship Type="http://schemas.openxmlformats.org/officeDocument/2006/relationships/notesMaster" Target="/ppt/notesMasters/notesMaster1.xml" Id="R9e5c16048f674c49" /><Relationship Type="http://schemas.openxmlformats.org/officeDocument/2006/relationships/presProps" Target="/ppt/presProps.xml" Id="R25da384b00df4498" /><Relationship Type="http://schemas.openxmlformats.org/officeDocument/2006/relationships/tableStyles" Target="/ppt/tableStyles.xml" Id="Re0d7fcc285014f72" /><Relationship Type="http://schemas.openxmlformats.org/officeDocument/2006/relationships/slide" Target="/ppt/slides/slide1.xml" Id="R8450b8d693d74d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06df00984443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f69caaa7e4931" /><Relationship Type="http://schemas.openxmlformats.org/officeDocument/2006/relationships/notesMaster" Target="/ppt/notesMasters/notesMaster1.xml" Id="R98348900542e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Frozen gray input: ../input/gray-state.json and gray.pptx</a:t>
            </a:r>
          </a:p>
          <a:p xmlns:a="http://schemas.openxmlformats.org/drawingml/2006/main">
            <a:r>
              <a:t>- Source manuscript is retained in gray-state.json:sources.</a:t>
            </a:r>
          </a:p>
          <a:p xmlns:a="http://schemas.openxmlformats.org/drawingml/2006/main">
            <a:r>
              <a:t>- Style: rules/排版体系/杂志风.md and assets/主题/中性编辑排版-001/asset.json</a:t>
            </a:r>
          </a:p>
          <a:p xmlns:a="http://schemas.openxmlformats.org/drawingml/2006/main">
            <a:r>
              <a:t>- Structure: convergence-many-to-one-003, task-local geometry adaptation from review.mjs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67749c7e14c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b5c2fb80b24e22" /><Relationship Type="http://schemas.openxmlformats.org/officeDocument/2006/relationships/slideLayout" Target="/ppt/slideLayouts/slideLayout1.xml" Id="Ra015b803639a4b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15b803639a4b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df1f4fb974521" /><Relationship Type="http://schemas.openxmlformats.org/officeDocument/2006/relationships/notesSlide" Target="/ppt/notesSlides/notesSlide1.xml" Id="Rd055cb3996f548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chapter-0">
            <a:extLst xmlns:a="http://schemas.openxmlformats.org/drawingml/2006/main">
              <a:ext uri="{FF2B5EF4-FFF2-40B4-BE49-F238E27FC236}">
                <a16:creationId xmlns:a16="http://schemas.microsoft.com/office/drawing/2014/main" id="{5A2E9BA9-BB45-44C3-B128-6814A92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0480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title-0">
            <a:extLst xmlns:a="http://schemas.openxmlformats.org/drawingml/2006/main">
              <a:ext uri="{FF2B5EF4-FFF2-40B4-BE49-F238E27FC236}">
                <a16:creationId xmlns:a16="http://schemas.microsoft.com/office/drawing/2014/main" id="{59BE4935-FC73-44E6-8095-14AE1303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20955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存在的不足与感悟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5D1EC-D7BC-46D1-91EE-22DA11F2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"/>
            <a:ext cx="830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4" name="page-number-0">
            <a:extLst xmlns:a="http://schemas.openxmlformats.org/drawingml/2006/main">
              <a:ext uri="{FF2B5EF4-FFF2-40B4-BE49-F238E27FC236}">
                <a16:creationId xmlns:a16="http://schemas.microsoft.com/office/drawing/2014/main" id="{9C8F591B-75C7-4838-B979-D840558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2857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issues-0">
            <a:extLst xmlns:a="http://schemas.openxmlformats.org/drawingml/2006/main">
              <a:ext uri="{FF2B5EF4-FFF2-40B4-BE49-F238E27FC236}">
                <a16:creationId xmlns:a16="http://schemas.microsoft.com/office/drawing/2014/main" id="{94A0A5B7-0B3E-4577-86E9-AE514A0B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489238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两点不足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C374A-2FB2-442C-B4CB-94BF298D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8923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51099227-B48D-4B7B-AD83-CD244EE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5332C843-6996-456E-AD29-42992302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54948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变革落地阻力重重</a:t>
            </a:r>
          </a:p>
        </p:txBody>
      </p:sp>
      <p:sp>
        <p:nvSpPr>
          <p:cNvPr id="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34C5C69A-8275-4D4E-9702-B2DBEDFD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060"/>
            <a:ext cx="45494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顶层设计已完成</a:t>
            </a:r>
          </a:p>
        </p:txBody>
      </p:sp>
      <p:sp>
        <p:nvSpPr>
          <p:cNvPr id="1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8828CDB3-9B16-45DC-9E25-8D6B8EBE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48" y="2685860"/>
            <a:ext cx="1069129" cy="628650"/>
          </a:xfrm>
          <a:custGeom xmlns:a="http://schemas.openxmlformats.org/drawingml/2006/main">
            <a:pathLst>
              <a:path w="1069129" h="628650">
                <a:moveTo>
                  <a:pt x="0" y="0"/>
                </a:moveTo>
                <a:lnTo>
                  <a:pt x="26563" y="807"/>
                </a:lnTo>
                <a:lnTo>
                  <a:pt x="52801" y="3183"/>
                </a:lnTo>
                <a:lnTo>
                  <a:pt x="78723" y="7060"/>
                </a:lnTo>
                <a:lnTo>
                  <a:pt x="104339" y="12369"/>
                </a:lnTo>
                <a:lnTo>
                  <a:pt x="129658" y="19043"/>
                </a:lnTo>
                <a:lnTo>
                  <a:pt x="154690" y="27012"/>
                </a:lnTo>
                <a:lnTo>
                  <a:pt x="179443" y="36210"/>
                </a:lnTo>
                <a:lnTo>
                  <a:pt x="203927" y="46567"/>
                </a:lnTo>
                <a:lnTo>
                  <a:pt x="228151" y="58015"/>
                </a:lnTo>
                <a:lnTo>
                  <a:pt x="252124" y="70487"/>
                </a:lnTo>
                <a:lnTo>
                  <a:pt x="275856" y="83913"/>
                </a:lnTo>
                <a:lnTo>
                  <a:pt x="299356" y="98227"/>
                </a:lnTo>
                <a:lnTo>
                  <a:pt x="322634" y="113358"/>
                </a:lnTo>
                <a:lnTo>
                  <a:pt x="345698" y="129241"/>
                </a:lnTo>
                <a:lnTo>
                  <a:pt x="368557" y="145805"/>
                </a:lnTo>
                <a:lnTo>
                  <a:pt x="391222" y="162983"/>
                </a:lnTo>
                <a:lnTo>
                  <a:pt x="413701" y="180707"/>
                </a:lnTo>
                <a:lnTo>
                  <a:pt x="436004" y="198909"/>
                </a:lnTo>
                <a:lnTo>
                  <a:pt x="458140" y="217520"/>
                </a:lnTo>
                <a:lnTo>
                  <a:pt x="480118" y="236471"/>
                </a:lnTo>
                <a:lnTo>
                  <a:pt x="501948" y="255696"/>
                </a:lnTo>
                <a:lnTo>
                  <a:pt x="523638" y="275125"/>
                </a:lnTo>
                <a:lnTo>
                  <a:pt x="545199" y="294691"/>
                </a:lnTo>
                <a:lnTo>
                  <a:pt x="566639" y="314325"/>
                </a:lnTo>
                <a:lnTo>
                  <a:pt x="587967" y="333959"/>
                </a:lnTo>
                <a:lnTo>
                  <a:pt x="609193" y="353525"/>
                </a:lnTo>
                <a:lnTo>
                  <a:pt x="630327" y="372954"/>
                </a:lnTo>
                <a:lnTo>
                  <a:pt x="651377" y="392179"/>
                </a:lnTo>
                <a:lnTo>
                  <a:pt x="672353" y="411130"/>
                </a:lnTo>
                <a:lnTo>
                  <a:pt x="693264" y="429741"/>
                </a:lnTo>
                <a:lnTo>
                  <a:pt x="714119" y="447943"/>
                </a:lnTo>
                <a:lnTo>
                  <a:pt x="734927" y="465667"/>
                </a:lnTo>
                <a:lnTo>
                  <a:pt x="755699" y="482845"/>
                </a:lnTo>
                <a:lnTo>
                  <a:pt x="776443" y="499409"/>
                </a:lnTo>
                <a:lnTo>
                  <a:pt x="797168" y="515292"/>
                </a:lnTo>
                <a:lnTo>
                  <a:pt x="817884" y="530423"/>
                </a:lnTo>
                <a:lnTo>
                  <a:pt x="838600" y="544737"/>
                </a:lnTo>
                <a:lnTo>
                  <a:pt x="859325" y="558163"/>
                </a:lnTo>
                <a:lnTo>
                  <a:pt x="880069" y="570635"/>
                </a:lnTo>
                <a:lnTo>
                  <a:pt x="900840" y="582083"/>
                </a:lnTo>
                <a:lnTo>
                  <a:pt x="921649" y="592440"/>
                </a:lnTo>
                <a:lnTo>
                  <a:pt x="942504" y="601638"/>
                </a:lnTo>
                <a:lnTo>
                  <a:pt x="963415" y="609607"/>
                </a:lnTo>
                <a:lnTo>
                  <a:pt x="984391" y="616281"/>
                </a:lnTo>
                <a:lnTo>
                  <a:pt x="1005441" y="621590"/>
                </a:lnTo>
                <a:lnTo>
                  <a:pt x="1026574" y="625467"/>
                </a:lnTo>
                <a:lnTo>
                  <a:pt x="1047801" y="627843"/>
                </a:lnTo>
                <a:lnTo>
                  <a:pt x="1069129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CDAD2"/>
            </a:solidFill>
          </a:ln>
        </p:spPr>
      </p:sp>
      <p:sp>
        <p:nvSpPr>
          <p:cNvPr id="1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D5ECECAC-ADFA-4AC6-B0B5-1D5DBB3D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48" y="3314510"/>
            <a:ext cx="1069129" cy="9525"/>
          </a:xfrm>
          <a:custGeom xmlns:a="http://schemas.openxmlformats.org/drawingml/2006/main">
            <a:pathLst>
              <a:path w="1069129" h="9525">
                <a:moveTo>
                  <a:pt x="0" y="0"/>
                </a:moveTo>
                <a:lnTo>
                  <a:pt x="26563" y="0"/>
                </a:lnTo>
                <a:lnTo>
                  <a:pt x="52801" y="0"/>
                </a:lnTo>
                <a:lnTo>
                  <a:pt x="78723" y="0"/>
                </a:lnTo>
                <a:lnTo>
                  <a:pt x="104339" y="0"/>
                </a:lnTo>
                <a:lnTo>
                  <a:pt x="129658" y="0"/>
                </a:lnTo>
                <a:lnTo>
                  <a:pt x="154690" y="0"/>
                </a:lnTo>
                <a:lnTo>
                  <a:pt x="179443" y="0"/>
                </a:lnTo>
                <a:lnTo>
                  <a:pt x="203927" y="0"/>
                </a:lnTo>
                <a:lnTo>
                  <a:pt x="228151" y="0"/>
                </a:lnTo>
                <a:lnTo>
                  <a:pt x="252124" y="0"/>
                </a:lnTo>
                <a:lnTo>
                  <a:pt x="275856" y="0"/>
                </a:lnTo>
                <a:lnTo>
                  <a:pt x="299356" y="0"/>
                </a:lnTo>
                <a:lnTo>
                  <a:pt x="322634" y="0"/>
                </a:lnTo>
                <a:lnTo>
                  <a:pt x="345698" y="0"/>
                </a:lnTo>
                <a:lnTo>
                  <a:pt x="368557" y="0"/>
                </a:lnTo>
                <a:lnTo>
                  <a:pt x="391222" y="0"/>
                </a:lnTo>
                <a:lnTo>
                  <a:pt x="413701" y="0"/>
                </a:lnTo>
                <a:lnTo>
                  <a:pt x="436004" y="0"/>
                </a:lnTo>
                <a:lnTo>
                  <a:pt x="458140" y="0"/>
                </a:lnTo>
                <a:lnTo>
                  <a:pt x="480118" y="0"/>
                </a:lnTo>
                <a:lnTo>
                  <a:pt x="501948" y="0"/>
                </a:lnTo>
                <a:lnTo>
                  <a:pt x="523638" y="0"/>
                </a:lnTo>
                <a:lnTo>
                  <a:pt x="545199" y="0"/>
                </a:lnTo>
                <a:lnTo>
                  <a:pt x="566639" y="0"/>
                </a:lnTo>
                <a:lnTo>
                  <a:pt x="587967" y="0"/>
                </a:lnTo>
                <a:lnTo>
                  <a:pt x="609193" y="0"/>
                </a:lnTo>
                <a:lnTo>
                  <a:pt x="630327" y="0"/>
                </a:lnTo>
                <a:lnTo>
                  <a:pt x="651377" y="0"/>
                </a:lnTo>
                <a:lnTo>
                  <a:pt x="672353" y="0"/>
                </a:lnTo>
                <a:lnTo>
                  <a:pt x="693264" y="0"/>
                </a:lnTo>
                <a:lnTo>
                  <a:pt x="714119" y="0"/>
                </a:lnTo>
                <a:lnTo>
                  <a:pt x="734927" y="0"/>
                </a:lnTo>
                <a:lnTo>
                  <a:pt x="755699" y="0"/>
                </a:lnTo>
                <a:lnTo>
                  <a:pt x="776443" y="0"/>
                </a:lnTo>
                <a:lnTo>
                  <a:pt x="797168" y="0"/>
                </a:lnTo>
                <a:lnTo>
                  <a:pt x="817884" y="0"/>
                </a:lnTo>
                <a:lnTo>
                  <a:pt x="838600" y="0"/>
                </a:lnTo>
                <a:lnTo>
                  <a:pt x="859325" y="0"/>
                </a:lnTo>
                <a:lnTo>
                  <a:pt x="880069" y="0"/>
                </a:lnTo>
                <a:lnTo>
                  <a:pt x="900840" y="0"/>
                </a:lnTo>
                <a:lnTo>
                  <a:pt x="921649" y="0"/>
                </a:lnTo>
                <a:lnTo>
                  <a:pt x="942504" y="0"/>
                </a:lnTo>
                <a:lnTo>
                  <a:pt x="963415" y="0"/>
                </a:lnTo>
                <a:lnTo>
                  <a:pt x="984391" y="0"/>
                </a:lnTo>
                <a:lnTo>
                  <a:pt x="1005441" y="0"/>
                </a:lnTo>
                <a:lnTo>
                  <a:pt x="1026574" y="0"/>
                </a:lnTo>
                <a:lnTo>
                  <a:pt x="1047801" y="0"/>
                </a:lnTo>
                <a:lnTo>
                  <a:pt x="1069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6D5CC"/>
            </a:solidFill>
          </a:ln>
        </p:spPr>
      </p:sp>
      <p:sp>
        <p:nvSpPr>
          <p:cNvPr id="1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D5FC8F7F-B7FE-4745-A70D-7FEE04BA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48" y="3314510"/>
            <a:ext cx="1069129" cy="628650"/>
          </a:xfrm>
          <a:custGeom xmlns:a="http://schemas.openxmlformats.org/drawingml/2006/main">
            <a:pathLst>
              <a:path w="1069129" h="628650">
                <a:moveTo>
                  <a:pt x="0" y="628650"/>
                </a:moveTo>
                <a:lnTo>
                  <a:pt x="26563" y="627843"/>
                </a:lnTo>
                <a:lnTo>
                  <a:pt x="52801" y="625467"/>
                </a:lnTo>
                <a:lnTo>
                  <a:pt x="78723" y="621590"/>
                </a:lnTo>
                <a:lnTo>
                  <a:pt x="104339" y="616281"/>
                </a:lnTo>
                <a:lnTo>
                  <a:pt x="129658" y="609607"/>
                </a:lnTo>
                <a:lnTo>
                  <a:pt x="154690" y="601638"/>
                </a:lnTo>
                <a:lnTo>
                  <a:pt x="179443" y="592440"/>
                </a:lnTo>
                <a:lnTo>
                  <a:pt x="203927" y="582083"/>
                </a:lnTo>
                <a:lnTo>
                  <a:pt x="228151" y="570635"/>
                </a:lnTo>
                <a:lnTo>
                  <a:pt x="252124" y="558163"/>
                </a:lnTo>
                <a:lnTo>
                  <a:pt x="275856" y="544737"/>
                </a:lnTo>
                <a:lnTo>
                  <a:pt x="299356" y="530423"/>
                </a:lnTo>
                <a:lnTo>
                  <a:pt x="322634" y="515292"/>
                </a:lnTo>
                <a:lnTo>
                  <a:pt x="345698" y="499409"/>
                </a:lnTo>
                <a:lnTo>
                  <a:pt x="368557" y="482845"/>
                </a:lnTo>
                <a:lnTo>
                  <a:pt x="391222" y="465667"/>
                </a:lnTo>
                <a:lnTo>
                  <a:pt x="413701" y="447943"/>
                </a:lnTo>
                <a:lnTo>
                  <a:pt x="436004" y="429741"/>
                </a:lnTo>
                <a:lnTo>
                  <a:pt x="458140" y="411130"/>
                </a:lnTo>
                <a:lnTo>
                  <a:pt x="480118" y="392179"/>
                </a:lnTo>
                <a:lnTo>
                  <a:pt x="501948" y="372954"/>
                </a:lnTo>
                <a:lnTo>
                  <a:pt x="523638" y="353525"/>
                </a:lnTo>
                <a:lnTo>
                  <a:pt x="545199" y="333959"/>
                </a:lnTo>
                <a:lnTo>
                  <a:pt x="566639" y="314325"/>
                </a:lnTo>
                <a:lnTo>
                  <a:pt x="587967" y="294691"/>
                </a:lnTo>
                <a:lnTo>
                  <a:pt x="609193" y="275125"/>
                </a:lnTo>
                <a:lnTo>
                  <a:pt x="630327" y="255696"/>
                </a:lnTo>
                <a:lnTo>
                  <a:pt x="651377" y="236471"/>
                </a:lnTo>
                <a:lnTo>
                  <a:pt x="672353" y="217520"/>
                </a:lnTo>
                <a:lnTo>
                  <a:pt x="693264" y="198909"/>
                </a:lnTo>
                <a:lnTo>
                  <a:pt x="714119" y="180707"/>
                </a:lnTo>
                <a:lnTo>
                  <a:pt x="734927" y="162983"/>
                </a:lnTo>
                <a:lnTo>
                  <a:pt x="755699" y="145805"/>
                </a:lnTo>
                <a:lnTo>
                  <a:pt x="776443" y="129241"/>
                </a:lnTo>
                <a:lnTo>
                  <a:pt x="797168" y="113358"/>
                </a:lnTo>
                <a:lnTo>
                  <a:pt x="817884" y="98227"/>
                </a:lnTo>
                <a:lnTo>
                  <a:pt x="838600" y="83913"/>
                </a:lnTo>
                <a:lnTo>
                  <a:pt x="859325" y="70487"/>
                </a:lnTo>
                <a:lnTo>
                  <a:pt x="880069" y="58015"/>
                </a:lnTo>
                <a:lnTo>
                  <a:pt x="900840" y="46567"/>
                </a:lnTo>
                <a:lnTo>
                  <a:pt x="921649" y="36210"/>
                </a:lnTo>
                <a:lnTo>
                  <a:pt x="942504" y="27012"/>
                </a:lnTo>
                <a:lnTo>
                  <a:pt x="963415" y="19043"/>
                </a:lnTo>
                <a:lnTo>
                  <a:pt x="984391" y="12369"/>
                </a:lnTo>
                <a:lnTo>
                  <a:pt x="1005441" y="7060"/>
                </a:lnTo>
                <a:lnTo>
                  <a:pt x="1026574" y="3183"/>
                </a:lnTo>
                <a:lnTo>
                  <a:pt x="1047801" y="807"/>
                </a:lnTo>
                <a:lnTo>
                  <a:pt x="1069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2D0C7"/>
            </a:solidFill>
          </a:ln>
        </p:spPr>
      </p:sp>
      <p:sp>
        <p:nvSpPr>
          <p:cNvPr id="1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C6AB78E0-3A7D-4E7A-831D-BDB7436D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6203"/>
            <a:ext cx="2229248" cy="599313"/>
          </a:xfrm>
          <a:prstGeom xmlns:a="http://schemas.openxmlformats.org/drawingml/2006/main" prst="roundRect">
            <a:avLst>
              <a:gd name="adj" fmla="val 9536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14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A27DD6BB-311B-4FA6-9B0C-B05F2BD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62403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公司内部人力资源</a:t>
            </a:r>
          </a:p>
        </p:txBody>
      </p:sp>
      <p:sp>
        <p:nvSpPr>
          <p:cNvPr id="15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E55BDB1F-ECF1-49DE-87C0-FA5B0266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5859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变革氛围尚未完全形成</a:t>
            </a:r>
          </a:p>
        </p:txBody>
      </p:sp>
      <p:sp>
        <p:nvSpPr>
          <p:cNvPr id="16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AF316A52-09A2-4F25-AC55-290922A5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4853"/>
            <a:ext cx="2229248" cy="599313"/>
          </a:xfrm>
          <a:prstGeom xmlns:a="http://schemas.openxmlformats.org/drawingml/2006/main" prst="roundRect">
            <a:avLst>
              <a:gd name="adj" fmla="val 9536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17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30D6347B-66AD-468E-AD93-63E3D31C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1053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信息系统支撑</a:t>
            </a:r>
          </a:p>
        </p:txBody>
      </p:sp>
      <p:sp>
        <p:nvSpPr>
          <p:cNvPr id="18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F2D5F760-3F00-4D9A-B99F-FEADBEA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510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能力仍有差距</a:t>
            </a:r>
          </a:p>
        </p:txBody>
      </p:sp>
      <p:sp>
        <p:nvSpPr>
          <p:cNvPr id="19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7B265EB1-0730-4D84-859F-8F664F1E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560"/>
            <a:ext cx="2229248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20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E34EE78A-BAB4-4052-A1A2-2595DE40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1431"/>
            <a:ext cx="2000648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缺乏市场化管理机制</a:t>
            </a:r>
          </a:p>
        </p:txBody>
      </p:sp>
      <p:sp>
        <p:nvSpPr>
          <p:cNvPr id="21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2CCE7213-4F00-4CBD-8BD1-FC42E0A4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678" y="2819210"/>
            <a:ext cx="1251109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6C4BA"/>
          </a:solidFill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22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7B19F057-C99E-4366-BF68-4B4F67E5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978" y="3091053"/>
            <a:ext cx="1022509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变革落地</a:t>
            </a:r>
          </a:p>
        </p:txBody>
      </p:sp>
      <p:sp>
        <p:nvSpPr>
          <p:cNvPr id="23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102CF826-5E63-44D9-9F43-3F77B36F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978" y="3314510"/>
            <a:ext cx="1022509" cy="223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阻力重重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A838C-BE2E-4069-B35F-9DA2144B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360"/>
            <a:ext cx="48923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25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6DC40F94-AA48-4093-8E2A-954D45A8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0860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6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36AB5CDF-D9C7-44AD-BF1A-9634A52B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335"/>
            <a:ext cx="454948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合规管理短板亟待提升</a:t>
            </a:r>
          </a:p>
        </p:txBody>
      </p:sp>
      <p:sp>
        <p:nvSpPr>
          <p:cNvPr id="27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259C7107-8B30-4A9C-9E3D-DE7780F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094"/>
            <a:ext cx="45494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2017年巡视整改取得一定成效，也暴露人力条线基础管理</a:t>
            </a:r>
          </a:p>
        </p:txBody>
      </p:sp>
      <p:sp>
        <p:nvSpPr>
          <p:cNvPr id="28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32FE4BCA-E970-4DAB-963F-CAAB091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269"/>
            <a:ext cx="45494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薄弱：认识待提升、作风待转变、能力待增强、协同待深化。</a:t>
            </a:r>
          </a:p>
        </p:txBody>
      </p:sp>
      <p:sp>
        <p:nvSpPr>
          <p:cNvPr id="29" name="insights-0">
            <a:extLst xmlns:a="http://schemas.openxmlformats.org/drawingml/2006/main">
              <a:ext uri="{FF2B5EF4-FFF2-40B4-BE49-F238E27FC236}">
                <a16:creationId xmlns:a16="http://schemas.microsoft.com/office/drawing/2014/main" id="{733847AA-493E-47AA-819C-1011CCD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1066800"/>
            <a:ext cx="58708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四点感悟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1FB85-455B-4227-A5AA-5018A635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1428750"/>
            <a:ext cx="5870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31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45D1EED5-985B-4705-809D-C598149D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1647825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2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6C07D0FA-7205-4F6D-889F-45BBFC34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1638300"/>
            <a:ext cx="55279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统一语言，促进业务与人力协同</a:t>
            </a:r>
          </a:p>
        </p:txBody>
      </p:sp>
      <p:sp>
        <p:nvSpPr>
          <p:cNvPr id="33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9DF674A6-6AC5-4337-A1BA-4472BB20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2000060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沿BLM管理模型统一语言、目标、策略，贯通业务战略、</a:t>
            </a:r>
          </a:p>
        </p:txBody>
      </p:sp>
      <p:sp>
        <p:nvSpPr>
          <p:cNvPr id="34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6FAFC684-A1FD-4926-A42B-C82E3EE9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2257235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人力战略规划与落地方案，达成“三个市场化”转型目标。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4F55D6-AB1A-45CC-9E23-CBB32439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2657285"/>
            <a:ext cx="5870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36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844027A5-698C-4847-B984-58ECB228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2847785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7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DFEFC0D3-FFDB-4784-A476-9EEAD015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2838260"/>
            <a:ext cx="55279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解决实际问题是唯一检验标准</a:t>
            </a:r>
          </a:p>
        </p:txBody>
      </p:sp>
      <p:sp>
        <p:nvSpPr>
          <p:cNvPr id="38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FA761FEC-AEBE-487E-A143-3155DFC5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3200019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以能否解决实际问题检验变革成效，力求落地有实效。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2E956D-1007-4810-834A-71D84C79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3600069"/>
            <a:ext cx="5870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40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4A5DFFD6-4DDF-4548-A13B-A9E90A5D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3790569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1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C0FBCF45-7220-43C4-9F3A-DBF3FD49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3781044"/>
            <a:ext cx="55279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顶层设计持续迭代</a:t>
            </a:r>
          </a:p>
        </p:txBody>
      </p:sp>
      <p:sp>
        <p:nvSpPr>
          <p:cNvPr id="42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DAEFAA38-3FE1-4194-AC39-184CFEA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4142804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加速试点、小步快跑；对标行业优秀实践，结合落地成效持续优化体系。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6F5A86-56AC-4E21-A8BF-4A93E713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4542854"/>
            <a:ext cx="5870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</a:ln>
        </p:spPr>
      </p:sp>
      <p:sp>
        <p:nvSpPr>
          <p:cNvPr id="44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CBD09964-9455-4489-8A6F-475B1327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36" y="4733354"/>
            <a:ext cx="276225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5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19AC61C0-FF2D-4745-8C04-FA939756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4723829"/>
            <a:ext cx="552796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统筹变革、合规与作风</a:t>
            </a:r>
          </a:p>
        </p:txBody>
      </p:sp>
      <p:sp>
        <p:nvSpPr>
          <p:cNvPr id="46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922D125F-A025-4729-94EE-648F141E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5085588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变革是硬道理，合规是硬要求，作风是硬标准；以规范管理的</a:t>
            </a:r>
          </a:p>
        </p:txBody>
      </p:sp>
      <p:sp>
        <p:nvSpPr>
          <p:cNvPr id="47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61FA0639-1F35-4835-B58D-13FAE02E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636" y="5342763"/>
            <a:ext cx="5527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534175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2026-09-19T15:37:22.1790000Z</dcterms:created>
  <dcterms:modified xsi:type="dcterms:W3CDTF">2026-09-19T15:37:22.1790000Z</dcterms:modified>
</coreProperties>
</file>