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2fa3e45fef4d44" /><Relationship Type="http://schemas.openxmlformats.org/officeDocument/2006/relationships/extended-properties" Target="/docProps/app.xml" Id="R319ba0d6d8914c60" /><Relationship Type="http://schemas.openxmlformats.org/officeDocument/2006/relationships/officeDocument" Target="/ppt/presentation.xml" Id="R0d7748b7740c4b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935ebb3ac240c3"/>
  </p:sldMasterIdLst>
  <p:notesMasterIdLst>
    <p:notesMasterId xmlns:r="http://schemas.openxmlformats.org/officeDocument/2006/relationships" r:id="R0fe7b596cd104018"/>
  </p:notesMasterIdLst>
  <p:sldIdLst>
    <p:sldId xmlns:r="http://schemas.openxmlformats.org/officeDocument/2006/relationships" id="256" r:id="R65f5620fc4d045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785862ebd43e9" /><Relationship Type="http://schemas.openxmlformats.org/officeDocument/2006/relationships/slideMaster" Target="/ppt/slideMasters/slideMaster1.xml" Id="R10935ebb3ac240c3" /><Relationship Type="http://schemas.openxmlformats.org/officeDocument/2006/relationships/notesMaster" Target="/ppt/notesMasters/notesMaster1.xml" Id="R0fe7b596cd104018" /><Relationship Type="http://schemas.openxmlformats.org/officeDocument/2006/relationships/presProps" Target="/ppt/presProps.xml" Id="R29729ed60ce54b2f" /><Relationship Type="http://schemas.openxmlformats.org/officeDocument/2006/relationships/tableStyles" Target="/ppt/tableStyles.xml" Id="R9177f935703d419e" /><Relationship Type="http://schemas.openxmlformats.org/officeDocument/2006/relationships/slide" Target="/ppt/slides/slide1.xml" Id="R65f5620fc4d045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e26dd778f144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2ad280e28b4632" /><Relationship Type="http://schemas.openxmlformats.org/officeDocument/2006/relationships/notesMaster" Target="/ppt/notesMasters/notesMaster1.xml" Id="Re1679e6f94244c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灰稿输入：experiments/gray-checkpoint-20260916/latest/范本原稿-分区修订灰稿.pptx</a:t>
            </a:r>
          </a:p>
          <a:p xmlns:a="http://schemas.openxmlformats.org/drawingml/2006/main">
            <a:r>
              <a:t>- 计划输入：outputs/gray-block-layout-20260916/reference/state.json</a:t>
            </a:r>
          </a:p>
          <a:p xmlns:a="http://schemas.openxmlformats.org/drawingml/2006/main">
            <a:r>
              <a:t>- 灰稿定义与最新共识：origin/opencode，当前 revision 8c19064e</a:t>
            </a:r>
          </a:p>
          <a:p xmlns:a="http://schemas.openxmlformats.org/drawingml/2006/main">
            <a:r>
              <a:t>- 杂志风规则：rules/排版体系/杂志风.md；Skin：rules/skins/中性编辑排版.md</a:t>
            </a:r>
          </a:p>
          <a:p xmlns:a="http://schemas.openxmlformats.org/drawingml/2006/main">
            <a:r>
              <a:t>- 结构参考：assets/结构图/多路汇聚结果-003（本页按其视觉语法做本次原生适配）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49821a7bb4b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f519beac2c4819" /><Relationship Type="http://schemas.openxmlformats.org/officeDocument/2006/relationships/slideLayout" Target="/ppt/slideLayouts/slideLayout1.xml" Id="R06f00d18388e49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f00d18388e49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883fd54f54753" /><Relationship Type="http://schemas.openxmlformats.org/officeDocument/2006/relationships/notesSlide" Target="/ppt/notesSlides/notesSlide1.xml" Id="Rbe4cce9e0b0148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chapter">
            <a:extLst xmlns:a="http://schemas.openxmlformats.org/drawingml/2006/main">
              <a:ext uri="{FF2B5EF4-FFF2-40B4-BE49-F238E27FC236}">
                <a16:creationId xmlns:a16="http://schemas.microsoft.com/office/drawing/2014/main" id="{53C2801D-6674-4D6C-A8B5-90DDB4AE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shell-title">
            <a:extLst xmlns:a="http://schemas.openxmlformats.org/drawingml/2006/main">
              <a:ext uri="{FF2B5EF4-FFF2-40B4-BE49-F238E27FC236}">
                <a16:creationId xmlns:a16="http://schemas.microsoft.com/office/drawing/2014/main" id="{3B478D96-529B-45C0-8D85-F9D82824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从不足到感悟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DA62B364-50E0-4E38-BBEC-D4815E88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66725"/>
            <a:ext cx="813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CC2D96-5717-45C0-A809-BF77330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293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4827A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4827A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5C8CDAE-6AD6-46EE-AC3D-45A5CA0C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内容组织 → 灰稿 → 杂志风成稿</a:t>
            </a:r>
          </a:p>
        </p:txBody>
      </p:sp>
      <p:sp>
        <p:nvSpPr>
          <p:cNvPr id="6" name="page-claim">
            <a:extLst xmlns:a="http://schemas.openxmlformats.org/drawingml/2006/main">
              <a:ext uri="{FF2B5EF4-FFF2-40B4-BE49-F238E27FC236}">
                <a16:creationId xmlns:a16="http://schemas.microsoft.com/office/drawing/2014/main" id="{F51FDBA9-E3E1-4F20-B662-99979746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847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梳理两点不足，明确四点工作感悟</a:t>
            </a:r>
          </a:p>
        </p:txBody>
      </p:sp>
      <p:sp>
        <p:nvSpPr>
          <p:cNvPr id="7" name="page-support">
            <a:extLst xmlns:a="http://schemas.openxmlformats.org/drawingml/2006/main">
              <a:ext uri="{FF2B5EF4-FFF2-40B4-BE49-F238E27FC236}">
                <a16:creationId xmlns:a16="http://schemas.microsoft.com/office/drawing/2014/main" id="{A3DA2A3A-1957-43FB-BB3C-2703F4D9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问题与体会分为两类：左侧呈现落地阻力的构成，右侧展开推进变革时的四点判断。</a:t>
            </a:r>
          </a:p>
        </p:txBody>
      </p:sp>
      <p:sp>
        <p:nvSpPr>
          <p:cNvPr id="8" name="issues-heading">
            <a:extLst xmlns:a="http://schemas.openxmlformats.org/drawingml/2006/main">
              <a:ext uri="{FF2B5EF4-FFF2-40B4-BE49-F238E27FC236}">
                <a16:creationId xmlns:a16="http://schemas.microsoft.com/office/drawing/2014/main" id="{F90C5CC6-6EE9-4BB1-BAD1-812E7210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两点不足</a:t>
            </a:r>
          </a:p>
        </p:txBody>
      </p:sp>
      <p:sp>
        <p:nvSpPr>
          <p:cNvPr id="9" name="insights-heading">
            <a:extLst xmlns:a="http://schemas.openxmlformats.org/drawingml/2006/main">
              <a:ext uri="{FF2B5EF4-FFF2-40B4-BE49-F238E27FC236}">
                <a16:creationId xmlns:a16="http://schemas.microsoft.com/office/drawing/2014/main" id="{65259A57-2CBD-442D-86F8-F37AC336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四点感悟</a:t>
            </a:r>
          </a:p>
        </p:txBody>
      </p:sp>
      <p:sp>
        <p:nvSpPr>
          <p:cNvPr id="10" name="merge-lane-1">
            <a:extLst xmlns:a="http://schemas.openxmlformats.org/drawingml/2006/main">
              <a:ext uri="{FF2B5EF4-FFF2-40B4-BE49-F238E27FC236}">
                <a16:creationId xmlns:a16="http://schemas.microsoft.com/office/drawing/2014/main" id="{ECAF7C77-DB5E-4017-905A-2460B00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42210" y="2600325"/>
            <a:ext cx="125730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899A8"/>
            </a:solidFill>
            <a:prstDash val="solid"/>
          </a:ln>
        </p:spPr>
      </p:sp>
      <p:sp>
        <p:nvSpPr>
          <p:cNvPr id="11" name="merge-lane-2">
            <a:extLst xmlns:a="http://schemas.openxmlformats.org/drawingml/2006/main">
              <a:ext uri="{FF2B5EF4-FFF2-40B4-BE49-F238E27FC236}">
                <a16:creationId xmlns:a16="http://schemas.microsoft.com/office/drawing/2014/main" id="{EF35CE41-D609-44A2-9075-4A123FAC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42210" y="3076575"/>
            <a:ext cx="12573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A9B4"/>
            </a:solidFill>
            <a:prstDash val="solid"/>
          </a:ln>
        </p:spPr>
      </p:sp>
      <p:sp>
        <p:nvSpPr>
          <p:cNvPr id="12" name="merge-lane-3">
            <a:extLst xmlns:a="http://schemas.openxmlformats.org/drawingml/2006/main">
              <a:ext uri="{FF2B5EF4-FFF2-40B4-BE49-F238E27FC236}">
                <a16:creationId xmlns:a16="http://schemas.microsoft.com/office/drawing/2014/main" id="{71A3F692-9F95-4D7E-A4D8-8941DA53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42210" y="3114675"/>
            <a:ext cx="125730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BABF"/>
            </a:solidFill>
            <a:prstDash val="solid"/>
          </a:ln>
        </p:spPr>
      </p:sp>
      <p:sp>
        <p:nvSpPr>
          <p:cNvPr id="13" name="merge-lane-4">
            <a:extLst xmlns:a="http://schemas.openxmlformats.org/drawingml/2006/main">
              <a:ext uri="{FF2B5EF4-FFF2-40B4-BE49-F238E27FC236}">
                <a16:creationId xmlns:a16="http://schemas.microsoft.com/office/drawing/2014/main" id="{E9C7B017-BB6A-42DE-A29E-62028427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42210" y="3114675"/>
            <a:ext cx="125730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899A8"/>
            </a:solidFill>
            <a:prstDash val="solid"/>
          </a:ln>
        </p:spPr>
      </p:sp>
      <p:sp>
        <p:nvSpPr>
          <p:cNvPr id="14" name="merge-result-line">
            <a:extLst xmlns:a="http://schemas.openxmlformats.org/drawingml/2006/main">
              <a:ext uri="{FF2B5EF4-FFF2-40B4-BE49-F238E27FC236}">
                <a16:creationId xmlns:a16="http://schemas.microsoft.com/office/drawing/2014/main" id="{7BF368BD-E62F-48E5-83F0-70C7B928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9510" y="3114675"/>
            <a:ext cx="304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5D4F"/>
            </a:solidFill>
            <a:prstDash val="solid"/>
          </a:ln>
        </p:spPr>
      </p:sp>
      <p:sp>
        <p:nvSpPr>
          <p:cNvPr id="15" name="merge-input-1">
            <a:extLst xmlns:a="http://schemas.openxmlformats.org/drawingml/2006/main">
              <a:ext uri="{FF2B5EF4-FFF2-40B4-BE49-F238E27FC236}">
                <a16:creationId xmlns:a16="http://schemas.microsoft.com/office/drawing/2014/main" id="{0935495B-942C-4289-ABAB-15721387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326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merge-input-accent-1">
            <a:extLst xmlns:a="http://schemas.openxmlformats.org/drawingml/2006/main">
              <a:ext uri="{FF2B5EF4-FFF2-40B4-BE49-F238E27FC236}">
                <a16:creationId xmlns:a16="http://schemas.microsoft.com/office/drawing/2014/main" id="{E2032E2B-61CF-4752-BC81-AD26FEA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erge-input-1-title">
            <a:extLst xmlns:a="http://schemas.openxmlformats.org/drawingml/2006/main">
              <a:ext uri="{FF2B5EF4-FFF2-40B4-BE49-F238E27FC236}">
                <a16:creationId xmlns:a16="http://schemas.microsoft.com/office/drawing/2014/main" id="{5460E108-8D2C-4ACD-966A-1B8CE487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47925"/>
            <a:ext cx="160401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顶层设计已完成</a:t>
            </a:r>
          </a:p>
        </p:txBody>
      </p:sp>
      <p:sp>
        <p:nvSpPr>
          <p:cNvPr id="18" name="merge-input-1-body">
            <a:extLst xmlns:a="http://schemas.openxmlformats.org/drawingml/2006/main">
              <a:ext uri="{FF2B5EF4-FFF2-40B4-BE49-F238E27FC236}">
                <a16:creationId xmlns:a16="http://schemas.microsoft.com/office/drawing/2014/main" id="{700E7221-EEF4-4F3A-8F5D-C3E202EA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160401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设计已形成</a:t>
            </a:r>
          </a:p>
        </p:txBody>
      </p:sp>
      <p:sp>
        <p:nvSpPr>
          <p:cNvPr id="19" name="merge-input-2">
            <a:extLst xmlns:a="http://schemas.openxmlformats.org/drawingml/2006/main">
              <a:ext uri="{FF2B5EF4-FFF2-40B4-BE49-F238E27FC236}">
                <a16:creationId xmlns:a16="http://schemas.microsoft.com/office/drawing/2014/main" id="{BEB4B6B7-4EC8-4AC5-8F6D-F3EF6EE5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8326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0" name="merge-input-accent-2">
            <a:extLst xmlns:a="http://schemas.openxmlformats.org/drawingml/2006/main">
              <a:ext uri="{FF2B5EF4-FFF2-40B4-BE49-F238E27FC236}">
                <a16:creationId xmlns:a16="http://schemas.microsoft.com/office/drawing/2014/main" id="{220D8361-862E-4A23-8A1C-7012D79E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merge-input-2-title">
            <a:extLst xmlns:a="http://schemas.openxmlformats.org/drawingml/2006/main">
              <a:ext uri="{FF2B5EF4-FFF2-40B4-BE49-F238E27FC236}">
                <a16:creationId xmlns:a16="http://schemas.microsoft.com/office/drawing/2014/main" id="{141AB863-4465-4639-807E-673BD59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24175"/>
            <a:ext cx="160401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变革氛围未形成</a:t>
            </a:r>
          </a:p>
        </p:txBody>
      </p:sp>
      <p:sp>
        <p:nvSpPr>
          <p:cNvPr id="22" name="merge-input-2-body">
            <a:extLst xmlns:a="http://schemas.openxmlformats.org/drawingml/2006/main">
              <a:ext uri="{FF2B5EF4-FFF2-40B4-BE49-F238E27FC236}">
                <a16:creationId xmlns:a16="http://schemas.microsoft.com/office/drawing/2014/main" id="{91060B72-458C-474B-9D1C-6D7162B8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05150"/>
            <a:ext cx="160401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内部氛围不足</a:t>
            </a:r>
          </a:p>
        </p:txBody>
      </p:sp>
      <p:sp>
        <p:nvSpPr>
          <p:cNvPr id="23" name="merge-input-3">
            <a:extLst xmlns:a="http://schemas.openxmlformats.org/drawingml/2006/main">
              <a:ext uri="{FF2B5EF4-FFF2-40B4-BE49-F238E27FC236}">
                <a16:creationId xmlns:a16="http://schemas.microsoft.com/office/drawing/2014/main" id="{A5CFE786-A97D-42E9-B10F-56689CA1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8326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4" name="merge-input-accent-3">
            <a:extLst xmlns:a="http://schemas.openxmlformats.org/drawingml/2006/main">
              <a:ext uri="{FF2B5EF4-FFF2-40B4-BE49-F238E27FC236}">
                <a16:creationId xmlns:a16="http://schemas.microsoft.com/office/drawing/2014/main" id="{5350A3D5-00D3-4992-8760-F7D5613B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merge-input-3-title">
            <a:extLst xmlns:a="http://schemas.openxmlformats.org/drawingml/2006/main">
              <a:ext uri="{FF2B5EF4-FFF2-40B4-BE49-F238E27FC236}">
                <a16:creationId xmlns:a16="http://schemas.microsoft.com/office/drawing/2014/main" id="{D3012959-83C1-4BE9-AE23-DE82E8CD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00425"/>
            <a:ext cx="160401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系统支撑有差距</a:t>
            </a:r>
          </a:p>
        </p:txBody>
      </p:sp>
      <p:sp>
        <p:nvSpPr>
          <p:cNvPr id="26" name="merge-input-3-body">
            <a:extLst xmlns:a="http://schemas.openxmlformats.org/drawingml/2006/main">
              <a:ext uri="{FF2B5EF4-FFF2-40B4-BE49-F238E27FC236}">
                <a16:creationId xmlns:a16="http://schemas.microsoft.com/office/drawing/2014/main" id="{9FEFF05E-4514-4C8E-95FF-05CF613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81400"/>
            <a:ext cx="160401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信息系统不足</a:t>
            </a:r>
          </a:p>
        </p:txBody>
      </p:sp>
      <p:sp>
        <p:nvSpPr>
          <p:cNvPr id="27" name="merge-input-4">
            <a:extLst xmlns:a="http://schemas.openxmlformats.org/drawingml/2006/main">
              <a:ext uri="{FF2B5EF4-FFF2-40B4-BE49-F238E27FC236}">
                <a16:creationId xmlns:a16="http://schemas.microsoft.com/office/drawing/2014/main" id="{EDB67D60-1B50-4D34-A869-6435E965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83261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8" name="merge-input-accent-4">
            <a:extLst xmlns:a="http://schemas.openxmlformats.org/drawingml/2006/main">
              <a:ext uri="{FF2B5EF4-FFF2-40B4-BE49-F238E27FC236}">
                <a16:creationId xmlns:a16="http://schemas.microsoft.com/office/drawing/2014/main" id="{7381814C-B052-4F1E-9140-ABD10E85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7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merge-input-4-title">
            <a:extLst xmlns:a="http://schemas.openxmlformats.org/drawingml/2006/main">
              <a:ext uri="{FF2B5EF4-FFF2-40B4-BE49-F238E27FC236}">
                <a16:creationId xmlns:a16="http://schemas.microsoft.com/office/drawing/2014/main" id="{FA2A4F43-000C-4F8C-A255-BFDAC9E3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76675"/>
            <a:ext cx="160401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050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市场化机制不足</a:t>
            </a:r>
          </a:p>
        </p:txBody>
      </p:sp>
      <p:sp>
        <p:nvSpPr>
          <p:cNvPr id="30" name="merge-input-4-body">
            <a:extLst xmlns:a="http://schemas.openxmlformats.org/drawingml/2006/main">
              <a:ext uri="{FF2B5EF4-FFF2-40B4-BE49-F238E27FC236}">
                <a16:creationId xmlns:a16="http://schemas.microsoft.com/office/drawing/2014/main" id="{87BBB732-2365-476B-AD37-AA6E5A5C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57650"/>
            <a:ext cx="160401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机制仍待补齐</a:t>
            </a:r>
          </a:p>
        </p:txBody>
      </p:sp>
      <p:sp>
        <p:nvSpPr>
          <p:cNvPr id="31" name="merge-result">
            <a:extLst xmlns:a="http://schemas.openxmlformats.org/drawingml/2006/main">
              <a:ext uri="{FF2B5EF4-FFF2-40B4-BE49-F238E27FC236}">
                <a16:creationId xmlns:a16="http://schemas.microsoft.com/office/drawing/2014/main" id="{78C145FB-0566-4408-A053-7FA4D181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310" y="2486025"/>
            <a:ext cx="138684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2" name="merge-result-title">
            <a:extLst xmlns:a="http://schemas.openxmlformats.org/drawingml/2006/main">
              <a:ext uri="{FF2B5EF4-FFF2-40B4-BE49-F238E27FC236}">
                <a16:creationId xmlns:a16="http://schemas.microsoft.com/office/drawing/2014/main" id="{CF292A95-EED8-432B-9934-1018D0FA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235" y="2838450"/>
            <a:ext cx="10629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>
                <a:solidFill>
                  <a:srgbClr val="FBFAF6"/>
                </a:solidFill>
                <a:latin typeface="Noto Serif SC"/>
                <a:ea typeface="Noto Serif SC"/>
                <a:cs typeface="Noto Serif SC"/>
              </a:rPr>
              <a:t>落地阻力</a:t>
            </a:r>
          </a:p>
        </p:txBody>
      </p:sp>
      <p:sp>
        <p:nvSpPr>
          <p:cNvPr id="33" name="merge-result-body">
            <a:extLst xmlns:a="http://schemas.openxmlformats.org/drawingml/2006/main">
              <a:ext uri="{FF2B5EF4-FFF2-40B4-BE49-F238E27FC236}">
                <a16:creationId xmlns:a16="http://schemas.microsoft.com/office/drawing/2014/main" id="{B8EB0AD7-6D5B-44E9-B7D5-CF02D9E3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235" y="3219450"/>
            <a:ext cx="10629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FBFAF6"/>
                </a:solidFill>
                <a:latin typeface="Noto Sans SC"/>
                <a:ea typeface="Noto Sans SC"/>
                <a:cs typeface="Noto Sans SC"/>
              </a:rPr>
              <a:t>设计已完成，但三项障碍仍未消除</a:t>
            </a:r>
          </a:p>
        </p:txBody>
      </p:sp>
      <p:sp>
        <p:nvSpPr>
          <p:cNvPr id="34" name="compliance-title">
            <a:extLst xmlns:a="http://schemas.openxmlformats.org/drawingml/2006/main">
              <a:ext uri="{FF2B5EF4-FFF2-40B4-BE49-F238E27FC236}">
                <a16:creationId xmlns:a16="http://schemas.microsoft.com/office/drawing/2014/main" id="{E317EFCC-6433-4926-A597-A3039A2E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合规管理短板亟待提升</a:t>
            </a:r>
          </a:p>
        </p:txBody>
      </p:sp>
      <p:sp>
        <p:nvSpPr>
          <p:cNvPr id="35" name="compliance-body">
            <a:extLst xmlns:a="http://schemas.openxmlformats.org/drawingml/2006/main">
              <a:ext uri="{FF2B5EF4-FFF2-40B4-BE49-F238E27FC236}">
                <a16:creationId xmlns:a16="http://schemas.microsoft.com/office/drawing/2014/main" id="{0EE1B1B3-EAFF-45EE-AD62-9A3E1051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2017年巡视整改取得一定成效，也暴露人力条线基础管理薄弱：认识待提升、作风待转变、能力待增强、协同待深化。</a:t>
            </a:r>
          </a:p>
        </p:txBody>
      </p:sp>
      <p:sp>
        <p:nvSpPr>
          <p:cNvPr id="36" name="left-divider">
            <a:extLst xmlns:a="http://schemas.openxmlformats.org/drawingml/2006/main">
              <a:ext uri="{FF2B5EF4-FFF2-40B4-BE49-F238E27FC236}">
                <a16:creationId xmlns:a16="http://schemas.microsoft.com/office/drawing/2014/main" id="{2B11F02A-21FA-4579-BE2F-99D3D6B0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561975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7" name="insight-1-num">
            <a:extLst xmlns:a="http://schemas.openxmlformats.org/drawingml/2006/main">
              <a:ext uri="{FF2B5EF4-FFF2-40B4-BE49-F238E27FC236}">
                <a16:creationId xmlns:a16="http://schemas.microsoft.com/office/drawing/2014/main" id="{BA4EAEB2-28BE-412D-BB1A-70C1EDF9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8" name="insight-1-title">
            <a:extLst xmlns:a="http://schemas.openxmlformats.org/drawingml/2006/main">
              <a:ext uri="{FF2B5EF4-FFF2-40B4-BE49-F238E27FC236}">
                <a16:creationId xmlns:a16="http://schemas.microsoft.com/office/drawing/2014/main" id="{8D7FE983-08E6-49A7-B614-3B2C1578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统一语言，促进业务与人力协同</a:t>
            </a:r>
          </a:p>
        </p:txBody>
      </p:sp>
      <p:sp>
        <p:nvSpPr>
          <p:cNvPr id="39" name="insight-1-body">
            <a:extLst xmlns:a="http://schemas.openxmlformats.org/drawingml/2006/main">
              <a:ext uri="{FF2B5EF4-FFF2-40B4-BE49-F238E27FC236}">
                <a16:creationId xmlns:a16="http://schemas.microsoft.com/office/drawing/2014/main" id="{4C05DEED-F964-479C-825A-92C0CF46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沿BLM管理模型统一语言、目标、策略，贯通业务战略、人力战略规划与落地方案，达成“三个市场化”转型目标。</a:t>
            </a:r>
          </a:p>
        </p:txBody>
      </p:sp>
      <p:sp>
        <p:nvSpPr>
          <p:cNvPr id="40" name="insight-rule-1">
            <a:extLst xmlns:a="http://schemas.openxmlformats.org/drawingml/2006/main">
              <a:ext uri="{FF2B5EF4-FFF2-40B4-BE49-F238E27FC236}">
                <a16:creationId xmlns:a16="http://schemas.microsoft.com/office/drawing/2014/main" id="{89DC4085-92AE-4B07-B4CC-51E872A8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2790825"/>
            <a:ext cx="561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1" name="insight-2-num">
            <a:extLst xmlns:a="http://schemas.openxmlformats.org/drawingml/2006/main">
              <a:ext uri="{FF2B5EF4-FFF2-40B4-BE49-F238E27FC236}">
                <a16:creationId xmlns:a16="http://schemas.microsoft.com/office/drawing/2014/main" id="{7856FF15-A666-4C46-B424-51010CC6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42" name="insight-2-title">
            <a:extLst xmlns:a="http://schemas.openxmlformats.org/drawingml/2006/main">
              <a:ext uri="{FF2B5EF4-FFF2-40B4-BE49-F238E27FC236}">
                <a16:creationId xmlns:a16="http://schemas.microsoft.com/office/drawing/2014/main" id="{296DE894-7D54-4191-BCDF-5F904A70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0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解决实际问题是唯一检验标准</a:t>
            </a:r>
          </a:p>
        </p:txBody>
      </p:sp>
      <p:sp>
        <p:nvSpPr>
          <p:cNvPr id="43" name="insight-2-body">
            <a:extLst xmlns:a="http://schemas.openxmlformats.org/drawingml/2006/main">
              <a:ext uri="{FF2B5EF4-FFF2-40B4-BE49-F238E27FC236}">
                <a16:creationId xmlns:a16="http://schemas.microsoft.com/office/drawing/2014/main" id="{2F431D79-5FF9-4001-9AA6-6DFA8283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以能否解决实际问题检验变革成效，力求落地有实效。</a:t>
            </a:r>
          </a:p>
        </p:txBody>
      </p:sp>
      <p:sp>
        <p:nvSpPr>
          <p:cNvPr id="44" name="insight-rule-2">
            <a:extLst xmlns:a="http://schemas.openxmlformats.org/drawingml/2006/main">
              <a:ext uri="{FF2B5EF4-FFF2-40B4-BE49-F238E27FC236}">
                <a16:creationId xmlns:a16="http://schemas.microsoft.com/office/drawing/2014/main" id="{091E844F-DA3C-4E75-B8EE-982A09B3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3667125"/>
            <a:ext cx="561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5" name="insight-3-num">
            <a:extLst xmlns:a="http://schemas.openxmlformats.org/drawingml/2006/main">
              <a:ext uri="{FF2B5EF4-FFF2-40B4-BE49-F238E27FC236}">
                <a16:creationId xmlns:a16="http://schemas.microsoft.com/office/drawing/2014/main" id="{DC51AC67-7C4B-45CB-AD26-2F1982D1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243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6" name="insight-3-title">
            <a:extLst xmlns:a="http://schemas.openxmlformats.org/drawingml/2006/main">
              <a:ext uri="{FF2B5EF4-FFF2-40B4-BE49-F238E27FC236}">
                <a16:creationId xmlns:a16="http://schemas.microsoft.com/office/drawing/2014/main" id="{E7E85D0B-6935-453D-86FE-A9632AF3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顶层设计持续迭代</a:t>
            </a:r>
          </a:p>
        </p:txBody>
      </p:sp>
      <p:sp>
        <p:nvSpPr>
          <p:cNvPr id="47" name="insight-3-body">
            <a:extLst xmlns:a="http://schemas.openxmlformats.org/drawingml/2006/main">
              <a:ext uri="{FF2B5EF4-FFF2-40B4-BE49-F238E27FC236}">
                <a16:creationId xmlns:a16="http://schemas.microsoft.com/office/drawing/2014/main" id="{AAF83914-A5BE-4F72-9F17-57BB9A0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719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加速试点、小步快跑；对标行业优秀实践，结合落地成效持续优化体系。</a:t>
            </a:r>
          </a:p>
        </p:txBody>
      </p:sp>
      <p:sp>
        <p:nvSpPr>
          <p:cNvPr id="48" name="insight-rule-3">
            <a:extLst xmlns:a="http://schemas.openxmlformats.org/drawingml/2006/main">
              <a:ext uri="{FF2B5EF4-FFF2-40B4-BE49-F238E27FC236}">
                <a16:creationId xmlns:a16="http://schemas.microsoft.com/office/drawing/2014/main" id="{27AE3AF3-8343-4445-9628-054DD935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4543425"/>
            <a:ext cx="561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9" name="insight-4-num">
            <a:extLst xmlns:a="http://schemas.openxmlformats.org/drawingml/2006/main">
              <a:ext uri="{FF2B5EF4-FFF2-40B4-BE49-F238E27FC236}">
                <a16:creationId xmlns:a16="http://schemas.microsoft.com/office/drawing/2014/main" id="{60DA17E6-91D2-4E6E-B438-EB7144C0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006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50" name="insight-4-title">
            <a:extLst xmlns:a="http://schemas.openxmlformats.org/drawingml/2006/main">
              <a:ext uri="{FF2B5EF4-FFF2-40B4-BE49-F238E27FC236}">
                <a16:creationId xmlns:a16="http://schemas.microsoft.com/office/drawing/2014/main" id="{4365F7C7-7AB9-4942-941A-A53B2A94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统筹变革、合规与作风</a:t>
            </a:r>
          </a:p>
        </p:txBody>
      </p:sp>
      <p:sp>
        <p:nvSpPr>
          <p:cNvPr id="51" name="insight-4-body">
            <a:extLst xmlns:a="http://schemas.openxmlformats.org/drawingml/2006/main">
              <a:ext uri="{FF2B5EF4-FFF2-40B4-BE49-F238E27FC236}">
                <a16:creationId xmlns:a16="http://schemas.microsoft.com/office/drawing/2014/main" id="{091CAC43-3396-42D6-A6E8-DDCD6F50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482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变革是硬道理，合规是硬要求，作风是硬标准；以规范管理的效率强化转型力度，以优良的思想、工作和战斗作风加快转型。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120874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2026-09-19T14:13:07.7930000Z</dcterms:created>
  <dcterms:modified xsi:type="dcterms:W3CDTF">2026-09-19T14:13:07.7940000Z</dcterms:modified>
</coreProperties>
</file>