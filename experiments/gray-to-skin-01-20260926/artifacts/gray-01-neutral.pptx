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483cc3a8334484" /><Relationship Type="http://schemas.openxmlformats.org/officeDocument/2006/relationships/extended-properties" Target="/docProps/app.xml" Id="R1eab73d9d61845dd" /><Relationship Type="http://schemas.openxmlformats.org/officeDocument/2006/relationships/officeDocument" Target="/ppt/presentation.xml" Id="Rcdecfe377b7645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caadb44ab24fb3"/>
  </p:sldMasterIdLst>
  <p:notesMasterIdLst>
    <p:notesMasterId xmlns:r="http://schemas.openxmlformats.org/officeDocument/2006/relationships" r:id="R2897a531f9a44384"/>
  </p:notesMasterIdLst>
  <p:sldIdLst>
    <p:sldId xmlns:r="http://schemas.openxmlformats.org/officeDocument/2006/relationships" id="256" r:id="R3bbc0089c6f44f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37dc4cd75d456a" /><Relationship Type="http://schemas.openxmlformats.org/officeDocument/2006/relationships/slideMaster" Target="/ppt/slideMasters/slideMaster1.xml" Id="R59caadb44ab24fb3" /><Relationship Type="http://schemas.openxmlformats.org/officeDocument/2006/relationships/notesMaster" Target="/ppt/notesMasters/notesMaster1.xml" Id="R2897a531f9a44384" /><Relationship Type="http://schemas.openxmlformats.org/officeDocument/2006/relationships/presProps" Target="/ppt/presProps.xml" Id="Ree49f63882074ffd" /><Relationship Type="http://schemas.openxmlformats.org/officeDocument/2006/relationships/tableStyles" Target="/ppt/tableStyles.xml" Id="R0d7623c6a7ff45dc" /><Relationship Type="http://schemas.openxmlformats.org/officeDocument/2006/relationships/slide" Target="/ppt/slides/slide1.xml" Id="R3bbc0089c6f44f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d0acf7eebf4e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b846bb12434b57" /><Relationship Type="http://schemas.openxmlformats.org/officeDocument/2006/relationships/notesMaster" Target="/ppt/notesMasters/notesMaster1.xml" Id="Redb9e433c8f845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内容：experiments/gray-structure-coverage-20260926/artifacts/state.json · pageId=p1</a:t>
            </a:r>
          </a:p>
          <a:p xmlns:a="http://schemas.openxmlformats.org/drawingml/2006/main">
            <a:r>
              <a:t>- 结构：argument-evidence-conclusion-001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7294adcc2d4e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16d3dbcf104fc2" /><Relationship Type="http://schemas.openxmlformats.org/officeDocument/2006/relationships/slideLayout" Target="/ppt/slideLayouts/slideLayout1.xml" Id="Re66ae2bd36dc45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6ae2bd36dc45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a0165b4c849a1" /><Relationship Type="http://schemas.openxmlformats.org/officeDocument/2006/relationships/notesSlide" Target="/ppt/notesSlides/notesSlide1.xml" Id="Rf060a3fbd92d46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C48BFF8C-182C-46E6-8F19-8288B6AE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46E8D74F-3DD9-4374-8A06-6889E887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证据支撑判断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44AD6-1796-4CBA-848E-447AAF0E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19450" y="576263"/>
            <a:ext cx="840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F8FA2BD1-BBD8-486B-8CE2-A2BB58C4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 01 · 判断与依据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CF3EDD77-9FD0-4518-80ED-6A107395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6" name="claim-evidence-link-0">
            <a:extLst xmlns:a="http://schemas.openxmlformats.org/drawingml/2006/main">
              <a:ext uri="{FF2B5EF4-FFF2-40B4-BE49-F238E27FC236}">
                <a16:creationId xmlns:a16="http://schemas.microsoft.com/office/drawing/2014/main" id="{0E95D9F4-B397-4942-A21E-3088B5D5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25908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D9D1"/>
            </a:solidFill>
            <a:prstDash val="dash"/>
          </a:ln>
        </p:spPr>
      </p:sp>
      <p:sp>
        <p:nvSpPr>
          <p:cNvPr id="7" name="claim-evidence-anchor-0">
            <a:extLst xmlns:a="http://schemas.openxmlformats.org/drawingml/2006/main">
              <a:ext uri="{FF2B5EF4-FFF2-40B4-BE49-F238E27FC236}">
                <a16:creationId xmlns:a16="http://schemas.microsoft.com/office/drawing/2014/main" id="{87CE6264-2149-4B75-ADB4-4A6D54E7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2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AE3"/>
          </a:solidFill>
          <a:ln xmlns:a="http://schemas.openxmlformats.org/drawingml/2006/main" w="19050">
            <a:solidFill>
              <a:srgbClr val="D8D7CF"/>
            </a:solidFill>
            <a:prstDash val="solid"/>
          </a:ln>
        </p:spPr>
      </p:sp>
      <p:sp>
        <p:nvSpPr>
          <p:cNvPr id="8" name="claim-evidence-link-1">
            <a:extLst xmlns:a="http://schemas.openxmlformats.org/drawingml/2006/main">
              <a:ext uri="{FF2B5EF4-FFF2-40B4-BE49-F238E27FC236}">
                <a16:creationId xmlns:a16="http://schemas.microsoft.com/office/drawing/2014/main" id="{FAA919BC-CA41-4F25-89CC-4330D4D0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25908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D9D1"/>
            </a:solidFill>
            <a:prstDash val="dash"/>
          </a:ln>
        </p:spPr>
      </p:sp>
      <p:sp>
        <p:nvSpPr>
          <p:cNvPr id="9" name="claim-evidence-anchor-1">
            <a:extLst xmlns:a="http://schemas.openxmlformats.org/drawingml/2006/main">
              <a:ext uri="{FF2B5EF4-FFF2-40B4-BE49-F238E27FC236}">
                <a16:creationId xmlns:a16="http://schemas.microsoft.com/office/drawing/2014/main" id="{1E359FDF-95F4-417A-83C4-CD086DE4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AE3"/>
          </a:solidFill>
          <a:ln xmlns:a="http://schemas.openxmlformats.org/drawingml/2006/main" w="19050">
            <a:solidFill>
              <a:srgbClr val="D8D7CF"/>
            </a:solidFill>
            <a:prstDash val="solid"/>
          </a:ln>
        </p:spPr>
      </p:sp>
      <p:sp>
        <p:nvSpPr>
          <p:cNvPr id="10" name="claim-evidence-link-2">
            <a:extLst xmlns:a="http://schemas.openxmlformats.org/drawingml/2006/main">
              <a:ext uri="{FF2B5EF4-FFF2-40B4-BE49-F238E27FC236}">
                <a16:creationId xmlns:a16="http://schemas.microsoft.com/office/drawing/2014/main" id="{EF8585FB-1FA2-44D4-9FFE-FA8B9D27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25908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D9D1"/>
            </a:solidFill>
            <a:prstDash val="dash"/>
          </a:ln>
        </p:spPr>
      </p:sp>
      <p:sp>
        <p:nvSpPr>
          <p:cNvPr id="11" name="claim-evidence-anchor-2">
            <a:extLst xmlns:a="http://schemas.openxmlformats.org/drawingml/2006/main">
              <a:ext uri="{FF2B5EF4-FFF2-40B4-BE49-F238E27FC236}">
                <a16:creationId xmlns:a16="http://schemas.microsoft.com/office/drawing/2014/main" id="{EED8C346-C869-4605-B615-9E4677C4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AE3"/>
          </a:solidFill>
          <a:ln xmlns:a="http://schemas.openxmlformats.org/drawingml/2006/main" w="19050">
            <a:solidFill>
              <a:srgbClr val="D8D7CF"/>
            </a:solidFill>
            <a:prstDash val="solid"/>
          </a:ln>
        </p:spPr>
      </p:sp>
      <p:sp>
        <p:nvSpPr>
          <p:cNvPr id="12" name="evidence-bus-link-0">
            <a:extLst xmlns:a="http://schemas.openxmlformats.org/drawingml/2006/main">
              <a:ext uri="{FF2B5EF4-FFF2-40B4-BE49-F238E27FC236}">
                <a16:creationId xmlns:a16="http://schemas.microsoft.com/office/drawing/2014/main" id="{0542C626-A84C-4776-B6A6-B80D88AF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49434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D9D1"/>
            </a:solidFill>
            <a:prstDash val="solid"/>
          </a:ln>
        </p:spPr>
      </p:sp>
      <p:sp>
        <p:nvSpPr>
          <p:cNvPr id="13" name="evidence-bus-anchor-0">
            <a:extLst xmlns:a="http://schemas.openxmlformats.org/drawingml/2006/main">
              <a:ext uri="{FF2B5EF4-FFF2-40B4-BE49-F238E27FC236}">
                <a16:creationId xmlns:a16="http://schemas.microsoft.com/office/drawing/2014/main" id="{4D7FE272-3431-4994-9BC0-2D0FC6AE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225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AE3"/>
          </a:solidFill>
          <a:ln xmlns:a="http://schemas.openxmlformats.org/drawingml/2006/main" w="19050">
            <a:solidFill>
              <a:srgbClr val="D8D7CF"/>
            </a:solidFill>
            <a:prstDash val="solid"/>
          </a:ln>
        </p:spPr>
      </p:sp>
      <p:sp>
        <p:nvSpPr>
          <p:cNvPr id="14" name="evidence-bus-link-1">
            <a:extLst xmlns:a="http://schemas.openxmlformats.org/drawingml/2006/main">
              <a:ext uri="{FF2B5EF4-FFF2-40B4-BE49-F238E27FC236}">
                <a16:creationId xmlns:a16="http://schemas.microsoft.com/office/drawing/2014/main" id="{47C35882-E72B-45B7-8802-5B88A141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49434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D9D1"/>
            </a:solidFill>
            <a:prstDash val="solid"/>
          </a:ln>
        </p:spPr>
      </p:sp>
      <p:sp>
        <p:nvSpPr>
          <p:cNvPr id="15" name="evidence-bus-anchor-1">
            <a:extLst xmlns:a="http://schemas.openxmlformats.org/drawingml/2006/main">
              <a:ext uri="{FF2B5EF4-FFF2-40B4-BE49-F238E27FC236}">
                <a16:creationId xmlns:a16="http://schemas.microsoft.com/office/drawing/2014/main" id="{21B49CF0-5EAD-4F75-98F9-F02651B9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AE3"/>
          </a:solidFill>
          <a:ln xmlns:a="http://schemas.openxmlformats.org/drawingml/2006/main" w="19050">
            <a:solidFill>
              <a:srgbClr val="D8D7CF"/>
            </a:solidFill>
            <a:prstDash val="solid"/>
          </a:ln>
        </p:spPr>
      </p:sp>
      <p:sp>
        <p:nvSpPr>
          <p:cNvPr id="16" name="evidence-bus-link-2">
            <a:extLst xmlns:a="http://schemas.openxmlformats.org/drawingml/2006/main">
              <a:ext uri="{FF2B5EF4-FFF2-40B4-BE49-F238E27FC236}">
                <a16:creationId xmlns:a16="http://schemas.microsoft.com/office/drawing/2014/main" id="{7D109A98-47E6-48BB-8D7F-7093E46D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49434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D9D1"/>
            </a:solidFill>
            <a:prstDash val="solid"/>
          </a:ln>
        </p:spPr>
      </p:sp>
      <p:sp>
        <p:nvSpPr>
          <p:cNvPr id="17" name="evidence-bus-anchor-2">
            <a:extLst xmlns:a="http://schemas.openxmlformats.org/drawingml/2006/main">
              <a:ext uri="{FF2B5EF4-FFF2-40B4-BE49-F238E27FC236}">
                <a16:creationId xmlns:a16="http://schemas.microsoft.com/office/drawing/2014/main" id="{A90B2703-66B2-4E5A-BF69-D791465F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AE3"/>
          </a:solidFill>
          <a:ln xmlns:a="http://schemas.openxmlformats.org/drawingml/2006/main" w="19050">
            <a:solidFill>
              <a:srgbClr val="D8D7CF"/>
            </a:solidFill>
            <a:prstDash val="solid"/>
          </a:ln>
        </p:spPr>
      </p:sp>
      <p:sp>
        <p:nvSpPr>
          <p:cNvPr id="18" name="evidence-proof-bus">
            <a:extLst xmlns:a="http://schemas.openxmlformats.org/drawingml/2006/main">
              <a:ext uri="{FF2B5EF4-FFF2-40B4-BE49-F238E27FC236}">
                <a16:creationId xmlns:a16="http://schemas.microsoft.com/office/drawing/2014/main" id="{DF215DAF-D82F-4523-A295-956AF70D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5105400"/>
            <a:ext cx="632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8D7CF"/>
            </a:solidFill>
            <a:prstDash val="solid"/>
          </a:ln>
        </p:spPr>
      </p:sp>
      <p:sp>
        <p:nvSpPr>
          <p:cNvPr id="19" name="proof-conclusion-link">
            <a:extLst xmlns:a="http://schemas.openxmlformats.org/drawingml/2006/main">
              <a:ext uri="{FF2B5EF4-FFF2-40B4-BE49-F238E27FC236}">
                <a16:creationId xmlns:a16="http://schemas.microsoft.com/office/drawing/2014/main" id="{B71865BB-74AC-4249-A21B-688EF3ED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510540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BD9D1"/>
            </a:solidFill>
            <a:prstDash val="solid"/>
          </a:ln>
        </p:spPr>
      </p:sp>
      <p:sp>
        <p:nvSpPr>
          <p:cNvPr id="20" name="proof-conclusion-arrow">
            <a:extLst xmlns:a="http://schemas.openxmlformats.org/drawingml/2006/main">
              <a:ext uri="{FF2B5EF4-FFF2-40B4-BE49-F238E27FC236}">
                <a16:creationId xmlns:a16="http://schemas.microsoft.com/office/drawing/2014/main" id="{249FAD00-8FA9-485B-AD95-3B1A62F5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8893" y="5200650"/>
            <a:ext cx="131455" cy="85725"/>
          </a:xfrm>
          <a:custGeom xmlns:a="http://schemas.openxmlformats.org/drawingml/2006/main">
            <a:pathLst>
              <a:path w="131455" h="85725">
                <a:moveTo>
                  <a:pt x="65732" y="85725"/>
                </a:moveTo>
                <a:lnTo>
                  <a:pt x="59007" y="77076"/>
                </a:lnTo>
                <a:lnTo>
                  <a:pt x="52273" y="68428"/>
                </a:lnTo>
                <a:lnTo>
                  <a:pt x="45549" y="59779"/>
                </a:lnTo>
                <a:lnTo>
                  <a:pt x="38824" y="51140"/>
                </a:lnTo>
                <a:lnTo>
                  <a:pt x="32099" y="42491"/>
                </a:lnTo>
                <a:lnTo>
                  <a:pt x="25375" y="33842"/>
                </a:lnTo>
                <a:lnTo>
                  <a:pt x="18650" y="25194"/>
                </a:lnTo>
                <a:lnTo>
                  <a:pt x="11925" y="16545"/>
                </a:lnTo>
                <a:lnTo>
                  <a:pt x="5201" y="7896"/>
                </a:lnTo>
                <a:lnTo>
                  <a:pt x="0" y="0"/>
                </a:lnTo>
                <a:lnTo>
                  <a:pt x="10954" y="0"/>
                </a:lnTo>
                <a:lnTo>
                  <a:pt x="21908" y="0"/>
                </a:lnTo>
                <a:lnTo>
                  <a:pt x="32861" y="0"/>
                </a:lnTo>
                <a:lnTo>
                  <a:pt x="43815" y="0"/>
                </a:lnTo>
                <a:lnTo>
                  <a:pt x="54778" y="0"/>
                </a:lnTo>
                <a:lnTo>
                  <a:pt x="65732" y="0"/>
                </a:lnTo>
                <a:lnTo>
                  <a:pt x="76686" y="0"/>
                </a:lnTo>
                <a:lnTo>
                  <a:pt x="87640" y="0"/>
                </a:lnTo>
                <a:lnTo>
                  <a:pt x="98593" y="0"/>
                </a:lnTo>
                <a:lnTo>
                  <a:pt x="109547" y="0"/>
                </a:lnTo>
                <a:lnTo>
                  <a:pt x="120501" y="0"/>
                </a:lnTo>
                <a:lnTo>
                  <a:pt x="131455" y="0"/>
                </a:lnTo>
                <a:lnTo>
                  <a:pt x="126263" y="7896"/>
                </a:lnTo>
                <a:lnTo>
                  <a:pt x="119529" y="16545"/>
                </a:lnTo>
                <a:lnTo>
                  <a:pt x="112805" y="25194"/>
                </a:lnTo>
                <a:lnTo>
                  <a:pt x="106080" y="33842"/>
                </a:lnTo>
                <a:lnTo>
                  <a:pt x="99355" y="42491"/>
                </a:lnTo>
                <a:lnTo>
                  <a:pt x="92631" y="51140"/>
                </a:lnTo>
                <a:lnTo>
                  <a:pt x="85906" y="59779"/>
                </a:lnTo>
                <a:lnTo>
                  <a:pt x="79181" y="68428"/>
                </a:lnTo>
                <a:lnTo>
                  <a:pt x="72457" y="77076"/>
                </a:lnTo>
                <a:lnTo>
                  <a:pt x="65732" y="85725"/>
                </a:lnTo>
                <a:close/>
              </a:path>
            </a:pathLst>
          </a:custGeom>
          <a:solidFill xmlns:a="http://schemas.openxmlformats.org/drawingml/2006/main">
            <a:srgbClr val="D8D7C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phase-line">
            <a:extLst xmlns:a="http://schemas.openxmlformats.org/drawingml/2006/main">
              <a:ext uri="{FF2B5EF4-FFF2-40B4-BE49-F238E27FC236}">
                <a16:creationId xmlns:a16="http://schemas.microsoft.com/office/drawing/2014/main" id="{86486787-8A1B-4C64-B324-759AE49C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000250"/>
            <a:ext cx="19050" cy="381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hase-claim-count">
            <a:extLst xmlns:a="http://schemas.openxmlformats.org/drawingml/2006/main">
              <a:ext uri="{FF2B5EF4-FFF2-40B4-BE49-F238E27FC236}">
                <a16:creationId xmlns:a16="http://schemas.microsoft.com/office/drawing/2014/main" id="{CC3FA7F3-2C84-4E91-A77F-2633221A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C8BF"/>
          </a:solidFill>
          <a:ln xmlns:a="http://schemas.openxmlformats.org/drawingml/2006/main" w="9525">
            <a:solidFill>
              <a:srgbClr val="E0DFD7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3" name="phase-claim-label">
            <a:extLst xmlns:a="http://schemas.openxmlformats.org/drawingml/2006/main">
              <a:ext uri="{FF2B5EF4-FFF2-40B4-BE49-F238E27FC236}">
                <a16:creationId xmlns:a16="http://schemas.microsoft.com/office/drawing/2014/main" id="{56D94110-9087-4B4C-BAAD-E4A46DC4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173" y="2238375"/>
            <a:ext cx="3292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论点</a:t>
            </a:r>
          </a:p>
        </p:txBody>
      </p:sp>
      <p:sp>
        <p:nvSpPr>
          <p:cNvPr id="24" name="phase-evidence-count">
            <a:extLst xmlns:a="http://schemas.openxmlformats.org/drawingml/2006/main">
              <a:ext uri="{FF2B5EF4-FFF2-40B4-BE49-F238E27FC236}">
                <a16:creationId xmlns:a16="http://schemas.microsoft.com/office/drawing/2014/main" id="{4749F918-0916-4C8C-AF0E-B858EB2E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3657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C8BF"/>
          </a:solidFill>
          <a:ln xmlns:a="http://schemas.openxmlformats.org/drawingml/2006/main" w="9525">
            <a:solidFill>
              <a:srgbClr val="E0DFD7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25" name="phase-evidence-label">
            <a:extLst xmlns:a="http://schemas.openxmlformats.org/drawingml/2006/main">
              <a:ext uri="{FF2B5EF4-FFF2-40B4-BE49-F238E27FC236}">
                <a16:creationId xmlns:a16="http://schemas.microsoft.com/office/drawing/2014/main" id="{2913F34E-1E1E-4CCE-8259-503A743A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173" y="4086225"/>
            <a:ext cx="3292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证据</a:t>
            </a:r>
          </a:p>
        </p:txBody>
      </p:sp>
      <p:sp>
        <p:nvSpPr>
          <p:cNvPr id="26" name="phase-conclusion-count">
            <a:extLst xmlns:a="http://schemas.openxmlformats.org/drawingml/2006/main">
              <a:ext uri="{FF2B5EF4-FFF2-40B4-BE49-F238E27FC236}">
                <a16:creationId xmlns:a16="http://schemas.microsoft.com/office/drawing/2014/main" id="{1D8115A5-B644-4D3D-AAC8-660CBD7A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54387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C8BF"/>
          </a:solidFill>
          <a:ln xmlns:a="http://schemas.openxmlformats.org/drawingml/2006/main" w="9525">
            <a:solidFill>
              <a:srgbClr val="E0DFD7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phase-conclusion-label">
            <a:extLst xmlns:a="http://schemas.openxmlformats.org/drawingml/2006/main">
              <a:ext uri="{FF2B5EF4-FFF2-40B4-BE49-F238E27FC236}">
                <a16:creationId xmlns:a16="http://schemas.microsoft.com/office/drawing/2014/main" id="{111A091F-5DB2-47FF-A17A-F22E2E43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173" y="5867400"/>
            <a:ext cx="329213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结论</a:t>
            </a:r>
          </a:p>
        </p:txBody>
      </p:sp>
      <p:sp>
        <p:nvSpPr>
          <p:cNvPr id="28" name="claim-underlay">
            <a:extLst xmlns:a="http://schemas.openxmlformats.org/drawingml/2006/main">
              <a:ext uri="{FF2B5EF4-FFF2-40B4-BE49-F238E27FC236}">
                <a16:creationId xmlns:a16="http://schemas.microsoft.com/office/drawing/2014/main" id="{3203D819-CE3C-445D-A355-831E8E91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1724025"/>
            <a:ext cx="10191750" cy="866775"/>
          </a:xfrm>
          <a:prstGeom xmlns:a="http://schemas.openxmlformats.org/drawingml/2006/main" prst="roundRect">
            <a:avLst>
              <a:gd name="adj" fmla="val 24176"/>
            </a:avLst>
          </a:prstGeom>
          <a:solidFill xmlns:a="http://schemas.openxmlformats.org/drawingml/2006/main">
            <a:srgbClr val="E4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laim-card">
            <a:extLst xmlns:a="http://schemas.openxmlformats.org/drawingml/2006/main">
              <a:ext uri="{FF2B5EF4-FFF2-40B4-BE49-F238E27FC236}">
                <a16:creationId xmlns:a16="http://schemas.microsoft.com/office/drawing/2014/main" id="{D1FDF419-93C4-44CF-8606-58D290C4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1657350"/>
            <a:ext cx="10191750" cy="933450"/>
          </a:xfrm>
          <a:prstGeom xmlns:a="http://schemas.openxmlformats.org/drawingml/2006/main" prst="roundRect">
            <a:avLst>
              <a:gd name="adj" fmla="val 22449"/>
            </a:avLst>
          </a:prstGeom>
          <a:gradFill xmlns:a="http://schemas.openxmlformats.org/drawingml/2006/main">
            <a:gsLst>
              <a:gs pos="0">
                <a:srgbClr val="C9C7BE"/>
              </a:gs>
              <a:gs pos="72000">
                <a:srgbClr val="CECCC3"/>
              </a:gs>
              <a:gs pos="100000">
                <a:srgbClr val="D7D5CD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claim-label">
            <a:extLst xmlns:a="http://schemas.openxmlformats.org/drawingml/2006/main">
              <a:ext uri="{FF2B5EF4-FFF2-40B4-BE49-F238E27FC236}">
                <a16:creationId xmlns:a16="http://schemas.microsoft.com/office/drawing/2014/main" id="{CC9E5028-FBBE-421B-A883-95325A27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1885950"/>
            <a:ext cx="54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论点</a:t>
            </a:r>
          </a:p>
        </p:txBody>
      </p:sp>
      <p:sp>
        <p:nvSpPr>
          <p:cNvPr id="31" name="claim-divider">
            <a:extLst xmlns:a="http://schemas.openxmlformats.org/drawingml/2006/main">
              <a:ext uri="{FF2B5EF4-FFF2-40B4-BE49-F238E27FC236}">
                <a16:creationId xmlns:a16="http://schemas.microsoft.com/office/drawing/2014/main" id="{DF5E5791-5AB9-45A0-9F69-BC171644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1225" y="1885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AE3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EEAEB0A-C002-4AE5-BAD8-B98016E5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1904409"/>
            <a:ext cx="8401050" cy="18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201F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1F1D"/>
                </a:solidFill>
                <a:latin typeface="Noto Sans SC"/>
                <a:ea typeface="Noto Sans SC"/>
                <a:cs typeface="Noto Sans SC"/>
              </a:rPr>
              <a:t>先核验信息，再决定是否扩大试点</a:t>
            </a:r>
          </a:p>
        </p:txBody>
      </p:sp>
      <p:sp>
        <p:nvSpPr>
          <p:cNvPr id="33" name="claim-body">
            <a:extLst xmlns:a="http://schemas.openxmlformats.org/drawingml/2006/main">
              <a:ext uri="{FF2B5EF4-FFF2-40B4-BE49-F238E27FC236}">
                <a16:creationId xmlns:a16="http://schemas.microsoft.com/office/drawing/2014/main" id="{5390B05E-AEFA-4B20-9070-EAFA29A0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2149373"/>
            <a:ext cx="8401050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当前建议先改进入口，再观察是否值得扩大覆盖。</a:t>
            </a:r>
          </a:p>
        </p:txBody>
      </p:sp>
      <p:sp>
        <p:nvSpPr>
          <p:cNvPr id="34" name="evidence-card-0">
            <a:extLst xmlns:a="http://schemas.openxmlformats.org/drawingml/2006/main">
              <a:ext uri="{FF2B5EF4-FFF2-40B4-BE49-F238E27FC236}">
                <a16:creationId xmlns:a16="http://schemas.microsoft.com/office/drawing/2014/main" id="{1B200C12-106B-4C7C-8F7F-FA6948C1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2962275"/>
            <a:ext cx="2914650" cy="19812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EBEAE3"/>
              </a:gs>
              <a:gs pos="100000">
                <a:srgbClr val="E8E7E0"/>
              </a:gs>
            </a:gsLst>
            <a:lin ang="10800000"/>
          </a:gradFill>
          <a:ln xmlns:a="http://schemas.openxmlformats.org/drawingml/2006/main" w="9525">
            <a:solidFill>
              <a:srgbClr val="E3E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evidence-accent-0">
            <a:extLst xmlns:a="http://schemas.openxmlformats.org/drawingml/2006/main">
              <a:ext uri="{FF2B5EF4-FFF2-40B4-BE49-F238E27FC236}">
                <a16:creationId xmlns:a16="http://schemas.microsoft.com/office/drawing/2014/main" id="{11BE3BCB-C9D8-4408-AD55-F55D7C49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525" y="2971800"/>
            <a:ext cx="2895600" cy="76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CDCBC2"/>
              </a:gs>
              <a:gs pos="100000">
                <a:srgbClr val="D9D7C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6" name="evidence-number-0">
            <a:extLst xmlns:a="http://schemas.openxmlformats.org/drawingml/2006/main">
              <a:ext uri="{FF2B5EF4-FFF2-40B4-BE49-F238E27FC236}">
                <a16:creationId xmlns:a16="http://schemas.microsoft.com/office/drawing/2014/main" id="{D8E5433C-BB00-4987-8E41-01E00285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3324225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AC8B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7" name="evidence-title-0">
            <a:extLst xmlns:a="http://schemas.openxmlformats.org/drawingml/2006/main">
              <a:ext uri="{FF2B5EF4-FFF2-40B4-BE49-F238E27FC236}">
                <a16:creationId xmlns:a16="http://schemas.microsoft.com/office/drawing/2014/main" id="{1B6F63D4-3138-4978-914E-C0A2A1AA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31908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访谈记录</a:t>
            </a:r>
          </a:p>
        </p:txBody>
      </p:sp>
      <p:sp>
        <p:nvSpPr>
          <p:cNvPr id="38" name="evidence-body-0">
            <a:extLst xmlns:a="http://schemas.openxmlformats.org/drawingml/2006/main">
              <a:ext uri="{FF2B5EF4-FFF2-40B4-BE49-F238E27FC236}">
                <a16:creationId xmlns:a16="http://schemas.microsoft.com/office/drawing/2014/main" id="{E6199F8F-6886-436B-BE97-4651E347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3819525"/>
            <a:ext cx="2552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支持“办理入口难找”</a:t>
            </a:r>
          </a:p>
        </p:txBody>
      </p:sp>
      <p:sp>
        <p:nvSpPr>
          <p:cNvPr id="39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33A2E3F5-DE1A-4F13-905A-B9802B00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2962275"/>
            <a:ext cx="2914650" cy="19812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EBEAE3"/>
              </a:gs>
              <a:gs pos="100000">
                <a:srgbClr val="E8E7E0"/>
              </a:gs>
            </a:gsLst>
            <a:lin ang="10800000"/>
          </a:gradFill>
          <a:ln xmlns:a="http://schemas.openxmlformats.org/drawingml/2006/main" w="9525">
            <a:solidFill>
              <a:srgbClr val="E3E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evidence-accent-1">
            <a:extLst xmlns:a="http://schemas.openxmlformats.org/drawingml/2006/main">
              <a:ext uri="{FF2B5EF4-FFF2-40B4-BE49-F238E27FC236}">
                <a16:creationId xmlns:a16="http://schemas.microsoft.com/office/drawing/2014/main" id="{F190EF00-A99A-4D0B-8046-321B3C20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971800"/>
            <a:ext cx="2895600" cy="76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CDCBC2"/>
              </a:gs>
              <a:gs pos="100000">
                <a:srgbClr val="D9D7C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1" name="evidence-number-1">
            <a:extLst xmlns:a="http://schemas.openxmlformats.org/drawingml/2006/main">
              <a:ext uri="{FF2B5EF4-FFF2-40B4-BE49-F238E27FC236}">
                <a16:creationId xmlns:a16="http://schemas.microsoft.com/office/drawing/2014/main" id="{57FBD913-9905-4592-82E7-448B32DC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3324225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AC8B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42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4DF3BF33-4F15-458F-9F60-6A94BBA9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31908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流程记录</a:t>
            </a:r>
          </a:p>
        </p:txBody>
      </p:sp>
      <p:sp>
        <p:nvSpPr>
          <p:cNvPr id="43" name="evidence-body-1">
            <a:extLst xmlns:a="http://schemas.openxmlformats.org/drawingml/2006/main">
              <a:ext uri="{FF2B5EF4-FFF2-40B4-BE49-F238E27FC236}">
                <a16:creationId xmlns:a16="http://schemas.microsoft.com/office/drawing/2014/main" id="{8708703E-7C19-4663-91AD-F0236224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3819525"/>
            <a:ext cx="2552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支持“交接等待”</a:t>
            </a:r>
          </a:p>
        </p:txBody>
      </p:sp>
      <p:sp>
        <p:nvSpPr>
          <p:cNvPr id="44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D7F9FDF1-AC99-4F59-AD20-FF384AF5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2962275"/>
            <a:ext cx="2914650" cy="19812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EBEAE3"/>
              </a:gs>
              <a:gs pos="100000">
                <a:srgbClr val="E8E7E0"/>
              </a:gs>
            </a:gsLst>
            <a:lin ang="10800000"/>
          </a:gradFill>
          <a:ln xmlns:a="http://schemas.openxmlformats.org/drawingml/2006/main" w="9525">
            <a:solidFill>
              <a:srgbClr val="E3E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evidence-accent-2">
            <a:extLst xmlns:a="http://schemas.openxmlformats.org/drawingml/2006/main">
              <a:ext uri="{FF2B5EF4-FFF2-40B4-BE49-F238E27FC236}">
                <a16:creationId xmlns:a16="http://schemas.microsoft.com/office/drawing/2014/main" id="{C8188B0C-7636-45BE-A09A-55C9133A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2971800"/>
            <a:ext cx="2895600" cy="76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CDCBC2"/>
              </a:gs>
              <a:gs pos="100000">
                <a:srgbClr val="D9D7C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6" name="evidence-number-2">
            <a:extLst xmlns:a="http://schemas.openxmlformats.org/drawingml/2006/main">
              <a:ext uri="{FF2B5EF4-FFF2-40B4-BE49-F238E27FC236}">
                <a16:creationId xmlns:a16="http://schemas.microsoft.com/office/drawing/2014/main" id="{1568FA7F-8D20-4448-8BB8-6AA964A5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3324225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AC8B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7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B7A4D8B7-4E91-4627-B5CA-8F6689A0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3025" y="31908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样本边界</a:t>
            </a:r>
          </a:p>
        </p:txBody>
      </p:sp>
      <p:sp>
        <p:nvSpPr>
          <p:cNvPr id="48" name="evidence-body-2">
            <a:extLst xmlns:a="http://schemas.openxmlformats.org/drawingml/2006/main">
              <a:ext uri="{FF2B5EF4-FFF2-40B4-BE49-F238E27FC236}">
                <a16:creationId xmlns:a16="http://schemas.microsoft.com/office/drawing/2014/main" id="{E91806A8-73B9-4FDF-ABF2-F53E8F8D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3819525"/>
            <a:ext cx="2552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只覆盖试点部门，不能外推全部部门</a:t>
            </a:r>
          </a:p>
        </p:txBody>
      </p:sp>
      <p:sp>
        <p:nvSpPr>
          <p:cNvPr id="49" name="conclusion-card">
            <a:extLst xmlns:a="http://schemas.openxmlformats.org/drawingml/2006/main">
              <a:ext uri="{FF2B5EF4-FFF2-40B4-BE49-F238E27FC236}">
                <a16:creationId xmlns:a16="http://schemas.microsoft.com/office/drawing/2014/main" id="{E7FDDB7D-C2FF-4DE6-AB49-B2D27229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8325" y="5286375"/>
            <a:ext cx="9782175" cy="819150"/>
          </a:xfrm>
          <a:prstGeom xmlns:a="http://schemas.openxmlformats.org/drawingml/2006/main" prst="roundRect">
            <a:avLst>
              <a:gd name="adj" fmla="val 25581"/>
            </a:avLst>
          </a:prstGeom>
          <a:gradFill xmlns:a="http://schemas.openxmlformats.org/drawingml/2006/main">
            <a:gsLst>
              <a:gs pos="0">
                <a:srgbClr val="E7E6DE"/>
              </a:gs>
              <a:gs pos="62000">
                <a:srgbClr val="E9E8E1"/>
              </a:gs>
              <a:gs pos="100000">
                <a:srgbClr val="E8E7E0"/>
              </a:gs>
            </a:gsLst>
            <a:lin ang="5400000"/>
          </a:gradFill>
          <a:ln xmlns:a="http://schemas.openxmlformats.org/drawingml/2006/main" w="9525">
            <a:solidFill>
              <a:srgbClr val="E0DF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3E398F76-7486-4758-91E9-D4854F9A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5478809"/>
            <a:ext cx="8582025" cy="186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201F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1F1D"/>
                </a:solidFill>
                <a:latin typeface="Noto Sans SC"/>
                <a:ea typeface="Noto Sans SC"/>
                <a:cs typeface="Noto Sans SC"/>
              </a:rPr>
              <a:t>先修复试点，再评估扩大范围</a:t>
            </a:r>
          </a:p>
        </p:txBody>
      </p:sp>
      <p:sp>
        <p:nvSpPr>
          <p:cNvPr id="51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B348D82A-E776-45FC-B36F-843A6099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5722144"/>
            <a:ext cx="8582025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其他部门仍需补充记录；本轮材料不足以证明普遍存在同样问题。</a:t>
            </a:r>
          </a:p>
        </p:txBody>
      </p:sp>
      <p:sp>
        <p:nvSpPr>
          <p:cNvPr id="52" name="therefore-badge">
            <a:extLst xmlns:a="http://schemas.openxmlformats.org/drawingml/2006/main">
              <a:ext uri="{FF2B5EF4-FFF2-40B4-BE49-F238E27FC236}">
                <a16:creationId xmlns:a16="http://schemas.microsoft.com/office/drawing/2014/main" id="{05729C43-8C3F-413D-9D51-0D0B3485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0188" y="52863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C8BF"/>
          </a:solidFill>
          <a:ln xmlns:a="http://schemas.openxmlformats.org/drawingml/2006/main" w="66675">
            <a:solidFill>
              <a:srgbClr val="E6E4D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因此</a:t>
            </a:r>
          </a:p>
        </p:txBody>
      </p:sp>
    </p:spTree>
    <p:extLst>
      <p:ext uri="{BB962C8B-B14F-4D97-AF65-F5344CB8AC3E}">
        <p14:creationId xmlns:p14="http://schemas.microsoft.com/office/powerpoint/2010/main" val="1988852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2026-09-26T15:07:34.3660000Z</dcterms:created>
  <dcterms:modified xsi:type="dcterms:W3CDTF">2026-09-26T15:07:34.3660000Z</dcterms:modified>
</coreProperties>
</file>