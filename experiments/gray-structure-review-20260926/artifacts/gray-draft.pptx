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ccc467177a4e2f" /><Relationship Type="http://schemas.openxmlformats.org/officeDocument/2006/relationships/extended-properties" Target="/docProps/app.xml" Id="R75a470562caf4738" /><Relationship Type="http://schemas.openxmlformats.org/officeDocument/2006/relationships/officeDocument" Target="/ppt/presentation.xml" Id="Rabcf3978fc1042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67ca21578f4594"/>
  </p:sldMasterIdLst>
  <p:notesMasterIdLst>
    <p:notesMasterId xmlns:r="http://schemas.openxmlformats.org/officeDocument/2006/relationships" r:id="R1f766eeaff8940ca"/>
  </p:notesMasterIdLst>
  <p:sldIdLst>
    <p:sldId xmlns:r="http://schemas.openxmlformats.org/officeDocument/2006/relationships" id="256" r:id="Rc6e2dfdb50704452"/>
    <p:sldId xmlns:r="http://schemas.openxmlformats.org/officeDocument/2006/relationships" id="257" r:id="Ra3466f840bc04e28"/>
    <p:sldId xmlns:r="http://schemas.openxmlformats.org/officeDocument/2006/relationships" id="258" r:id="Rbb39b16936724f1b"/>
    <p:sldId xmlns:r="http://schemas.openxmlformats.org/officeDocument/2006/relationships" id="259" r:id="R928fd9d5918244d8"/>
    <p:sldId xmlns:r="http://schemas.openxmlformats.org/officeDocument/2006/relationships" id="260" r:id="Rfa622e667e3141ed"/>
    <p:sldId xmlns:r="http://schemas.openxmlformats.org/officeDocument/2006/relationships" id="261" r:id="Ra09d060040b44df0"/>
    <p:sldId xmlns:r="http://schemas.openxmlformats.org/officeDocument/2006/relationships" id="262" r:id="Rbc40126d51a5424e"/>
    <p:sldId xmlns:r="http://schemas.openxmlformats.org/officeDocument/2006/relationships" id="263" r:id="R87c2c24278d64dd8"/>
    <p:sldId xmlns:r="http://schemas.openxmlformats.org/officeDocument/2006/relationships" id="264" r:id="Rf60df4478ced4993"/>
    <p:sldId xmlns:r="http://schemas.openxmlformats.org/officeDocument/2006/relationships" id="265" r:id="Rceea14fbcf9a4e26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5ef628d72f41d3" /><Relationship Type="http://schemas.openxmlformats.org/officeDocument/2006/relationships/slideMaster" Target="/ppt/slideMasters/slideMaster1.xml" Id="R2267ca21578f4594" /><Relationship Type="http://schemas.openxmlformats.org/officeDocument/2006/relationships/notesMaster" Target="/ppt/notesMasters/notesMaster1.xml" Id="R1f766eeaff8940ca" /><Relationship Type="http://schemas.openxmlformats.org/officeDocument/2006/relationships/presProps" Target="/ppt/presProps.xml" Id="Re1953e39d8d74281" /><Relationship Type="http://schemas.openxmlformats.org/officeDocument/2006/relationships/tableStyles" Target="/ppt/tableStyles.xml" Id="Ra3f86e3b676c4acb" /><Relationship Type="http://schemas.openxmlformats.org/officeDocument/2006/relationships/slide" Target="/ppt/slides/slide1.xml" Id="Rc6e2dfdb50704452" /><Relationship Type="http://schemas.openxmlformats.org/officeDocument/2006/relationships/slide" Target="/ppt/slides/slide2.xml" Id="Ra3466f840bc04e28" /><Relationship Type="http://schemas.openxmlformats.org/officeDocument/2006/relationships/slide" Target="/ppt/slides/slide3.xml" Id="Rbb39b16936724f1b" /><Relationship Type="http://schemas.openxmlformats.org/officeDocument/2006/relationships/slide" Target="/ppt/slides/slide4.xml" Id="R928fd9d5918244d8" /><Relationship Type="http://schemas.openxmlformats.org/officeDocument/2006/relationships/slide" Target="/ppt/slides/slide5.xml" Id="Rfa622e667e3141ed" /><Relationship Type="http://schemas.openxmlformats.org/officeDocument/2006/relationships/slide" Target="/ppt/slides/slide6.xml" Id="Ra09d060040b44df0" /><Relationship Type="http://schemas.openxmlformats.org/officeDocument/2006/relationships/slide" Target="/ppt/slides/slide7.xml" Id="Rbc40126d51a5424e" /><Relationship Type="http://schemas.openxmlformats.org/officeDocument/2006/relationships/slide" Target="/ppt/slides/slide8.xml" Id="R87c2c24278d64dd8" /><Relationship Type="http://schemas.openxmlformats.org/officeDocument/2006/relationships/slide" Target="/ppt/slides/slide9.xml" Id="Rf60df4478ced4993" /><Relationship Type="http://schemas.openxmlformats.org/officeDocument/2006/relationships/slide" Target="/ppt/slides/slide10.xml" Id="Rceea14fbcf9a4e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c430a837fd40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f03f577792498d" /><Relationship Type="http://schemas.openxmlformats.org/officeDocument/2006/relationships/notesMaster" Target="/ppt/notesMasters/notesMaster1.xml" Id="R1086395a746d42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0d34c968d140e5" /><Relationship Type="http://schemas.openxmlformats.org/officeDocument/2006/relationships/notesMaster" Target="/ppt/notesMasters/notesMaster1.xml" Id="R7aecb34145c248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6e4de79aad40ce" /><Relationship Type="http://schemas.openxmlformats.org/officeDocument/2006/relationships/notesMaster" Target="/ppt/notesMasters/notesMaster1.xml" Id="Rc365a33f336d49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2db6dc13704be6" /><Relationship Type="http://schemas.openxmlformats.org/officeDocument/2006/relationships/notesMaster" Target="/ppt/notesMasters/notesMaster1.xml" Id="R76bcd5bc164341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ffe6b25c5a4da9" /><Relationship Type="http://schemas.openxmlformats.org/officeDocument/2006/relationships/notesMaster" Target="/ppt/notesMasters/notesMaster1.xml" Id="Rc2113f91371d4c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de31b65b9a4131" /><Relationship Type="http://schemas.openxmlformats.org/officeDocument/2006/relationships/notesMaster" Target="/ppt/notesMasters/notesMaster1.xml" Id="R9aafb469171e42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7c912a47ac4fb1" /><Relationship Type="http://schemas.openxmlformats.org/officeDocument/2006/relationships/notesMaster" Target="/ppt/notesMasters/notesMaster1.xml" Id="R14b1473718fb44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e2fec61a124fd7" /><Relationship Type="http://schemas.openxmlformats.org/officeDocument/2006/relationships/notesMaster" Target="/ppt/notesMasters/notesMaster1.xml" Id="Ra02ddfea9e4642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57065725a04c24" /><Relationship Type="http://schemas.openxmlformats.org/officeDocument/2006/relationships/notesMaster" Target="/ppt/notesMasters/notesMaster1.xml" Id="R246259b2735f48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070a0c39884b49" /><Relationship Type="http://schemas.openxmlformats.org/officeDocument/2006/relationships/notesMaster" Target="/ppt/notesMasters/notesMaster1.xml" Id="R935e30531c8144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c0ebab3fb4a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4f9832676543bd" /><Relationship Type="http://schemas.openxmlformats.org/officeDocument/2006/relationships/slideLayout" Target="/ppt/slideLayouts/slideLayout1.xml" Id="Rd237cab575ca45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37cab575ca45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9c1968a0e4b89" /><Relationship Type="http://schemas.openxmlformats.org/officeDocument/2006/relationships/notesSlide" Target="/ppt/notesSlides/notesSlide1.xml" Id="Rcf25539ec8cd4c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46a10991643ff" /><Relationship Type="http://schemas.openxmlformats.org/officeDocument/2006/relationships/notesSlide" Target="/ppt/notesSlides/notesSlide2.xml" Id="R8445e2861f5842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f8e664d51429e" /><Relationship Type="http://schemas.openxmlformats.org/officeDocument/2006/relationships/notesSlide" Target="/ppt/notesSlides/notesSlide3.xml" Id="R37a9a5b53b4a47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98109d72c4fe4" /><Relationship Type="http://schemas.openxmlformats.org/officeDocument/2006/relationships/notesSlide" Target="/ppt/notesSlides/notesSlide4.xml" Id="R2058ab88e32547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116913378481a" /><Relationship Type="http://schemas.openxmlformats.org/officeDocument/2006/relationships/notesSlide" Target="/ppt/notesSlides/notesSlide5.xml" Id="Rb9dd237555ce4f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286bdc57b4001" /><Relationship Type="http://schemas.openxmlformats.org/officeDocument/2006/relationships/notesSlide" Target="/ppt/notesSlides/notesSlide6.xml" Id="Ra92bc6c9088b4b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8691bd7504a79" /><Relationship Type="http://schemas.openxmlformats.org/officeDocument/2006/relationships/notesSlide" Target="/ppt/notesSlides/notesSlide7.xml" Id="R26464f61b2aa42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cb900192b4d49" /><Relationship Type="http://schemas.openxmlformats.org/officeDocument/2006/relationships/notesSlide" Target="/ppt/notesSlides/notesSlide8.xml" Id="R493c39b9f54646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8aa8b2514485b" /><Relationship Type="http://schemas.openxmlformats.org/officeDocument/2006/relationships/notesSlide" Target="/ppt/notesSlides/notesSlide9.xml" Id="R34fd3ccdb4ca49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1a3a0b8cd446f" /><Relationship Type="http://schemas.openxmlformats.org/officeDocument/2006/relationships/notesSlide" Target="/ppt/notesSlides/notesSlide10.xml" Id="R2e869eaf764f46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E24AE-50AB-4B99-8EDC-A52B752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模拟｜优先推进价值高、实施难度低的事项</a:t>
            </a:r>
          </a:p>
        </p:txBody>
      </p:sp>
      <p:sp>
        <p:nvSpPr>
          <p:cNvPr id="2" name="region:p1-g1">
            <a:extLst xmlns:a="http://schemas.openxmlformats.org/drawingml/2006/main">
              <a:ext uri="{FF2B5EF4-FFF2-40B4-BE49-F238E27FC236}">
                <a16:creationId xmlns:a16="http://schemas.microsoft.com/office/drawing/2014/main" id="{2CA8D5DB-E66C-43BA-8225-4E79C13C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654939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DBC62-1417-4B75-96D7-CF2890AF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24459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组合定位</a:t>
            </a:r>
          </a:p>
        </p:txBody>
      </p:sp>
      <p:sp>
        <p:nvSpPr>
          <p:cNvPr id="4" name="block:p1-g1:section-0">
            <a:extLst xmlns:a="http://schemas.openxmlformats.org/drawingml/2006/main">
              <a:ext uri="{FF2B5EF4-FFF2-40B4-BE49-F238E27FC236}">
                <a16:creationId xmlns:a16="http://schemas.microsoft.com/office/drawing/2014/main" id="{C81DB498-BB20-4D91-81D0-C8FD8261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24459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A4414-1250-42AF-8B62-90431B18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9388"/>
            <a:ext cx="6092190" cy="1697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表达作用：定位优先级。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承载内容：统一入口：高价值、低难度；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数据平台：高价值、高难度；报表美化：低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价值、低难度；全量迁移：低价值、高难度。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基本关系：业务价值与实施难度交叉。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制作要求：四象限各放一项，轴向明确。</a:t>
            </a:r>
          </a:p>
        </p:txBody>
      </p:sp>
      <p:sp>
        <p:nvSpPr>
          <p:cNvPr id="6" name="region:p1-g2">
            <a:extLst xmlns:a="http://schemas.openxmlformats.org/drawingml/2006/main">
              <a:ext uri="{FF2B5EF4-FFF2-40B4-BE49-F238E27FC236}">
                <a16:creationId xmlns:a16="http://schemas.microsoft.com/office/drawing/2014/main" id="{9350D132-9DD0-42B1-AC61-09966472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990" y="1047750"/>
            <a:ext cx="436626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57DC9-8D4F-412C-A080-0419149C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162050"/>
            <a:ext cx="40614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推进边界</a:t>
            </a:r>
          </a:p>
        </p:txBody>
      </p:sp>
      <p:sp>
        <p:nvSpPr>
          <p:cNvPr id="8" name="block:p1-g2:section-0">
            <a:extLst xmlns:a="http://schemas.openxmlformats.org/drawingml/2006/main">
              <a:ext uri="{FF2B5EF4-FFF2-40B4-BE49-F238E27FC236}">
                <a16:creationId xmlns:a16="http://schemas.microsoft.com/office/drawing/2014/main" id="{4612AE7F-60BE-41DA-A5AC-BC36CAA0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562100"/>
            <a:ext cx="406146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block:p1-g2:section-1">
            <a:extLst xmlns:a="http://schemas.openxmlformats.org/drawingml/2006/main">
              <a:ext uri="{FF2B5EF4-FFF2-40B4-BE49-F238E27FC236}">
                <a16:creationId xmlns:a16="http://schemas.microsoft.com/office/drawing/2014/main" id="{FAF3C966-C960-4879-B652-6D3A3F77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3629025"/>
            <a:ext cx="406146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7C5CA-A56A-477C-9143-1067F98B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090738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先做统一入口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AEBCE-92E1-42E4-A567-733552A8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411730"/>
            <a:ext cx="390906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模拟评估中，统一入口的业务价值高、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实施难度低，可先在单个服务场景试用。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C6440-4494-4838-8850-2BD13E4F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4157663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保留评估条件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ED67C-CFAA-4E20-A163-C03557D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4478655"/>
            <a:ext cx="390906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数据平台需先核对数据权限；全量迁移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须完成回退方案。两项均暂不进入实施。</a:t>
            </a:r>
          </a:p>
        </p:txBody>
      </p:sp>
    </p:spTree>
    <p:extLst>
      <p:ext uri="{BB962C8B-B14F-4D97-AF65-F5344CB8AC3E}">
        <p14:creationId xmlns:p14="http://schemas.microsoft.com/office/powerpoint/2010/main" val="1992690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94C29-5C8A-4944-AA8A-3685F00F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模拟｜试点通过验收后再扩大覆盖范围</a:t>
            </a:r>
          </a:p>
        </p:txBody>
      </p:sp>
      <p:sp>
        <p:nvSpPr>
          <p:cNvPr id="2" name="region:p2-g1">
            <a:extLst xmlns:a="http://schemas.openxmlformats.org/drawingml/2006/main">
              <a:ext uri="{FF2B5EF4-FFF2-40B4-BE49-F238E27FC236}">
                <a16:creationId xmlns:a16="http://schemas.microsoft.com/office/drawing/2014/main" id="{D5F9FEDD-F704-4B8D-9FB5-0BB54156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436626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97E03-9DBB-4147-B79A-C3256F06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40614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验收与责任</a:t>
            </a:r>
          </a:p>
        </p:txBody>
      </p:sp>
      <p:sp>
        <p:nvSpPr>
          <p:cNvPr id="4" name="block:p2-g1:section-0">
            <a:extLst xmlns:a="http://schemas.openxmlformats.org/drawingml/2006/main">
              <a:ext uri="{FF2B5EF4-FFF2-40B4-BE49-F238E27FC236}">
                <a16:creationId xmlns:a16="http://schemas.microsoft.com/office/drawing/2014/main" id="{A387ED59-B058-406F-A9CD-56EABA8F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4061460" cy="1725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2-g1:section-1">
            <a:extLst xmlns:a="http://schemas.openxmlformats.org/drawingml/2006/main">
              <a:ext uri="{FF2B5EF4-FFF2-40B4-BE49-F238E27FC236}">
                <a16:creationId xmlns:a16="http://schemas.microsoft.com/office/drawing/2014/main" id="{D8FAB379-F518-4E37-8A62-6C413A63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1611"/>
            <a:ext cx="4061460" cy="21800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E9149-D70F-46B2-9416-C5E3721A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7030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业务验收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AD960-5D57-4BB4-B96A-71942BB2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8023"/>
            <a:ext cx="390906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服务负责人逐项核对办理结果；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异常记录必须有对应处理人。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B20BA-576C-4A11-9BFA-38F71AB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843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扩大范围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AF795-154D-4CBA-A4F3-8B1302FE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6835"/>
            <a:ext cx="390906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试点达到验收要求后再纳入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更多部门。未通过的事项返回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整改，不能带缺陷直接推广。</a:t>
            </a:r>
          </a:p>
        </p:txBody>
      </p:sp>
      <p:sp>
        <p:nvSpPr>
          <p:cNvPr id="10" name="region:p2-g2">
            <a:extLst xmlns:a="http://schemas.openxmlformats.org/drawingml/2006/main">
              <a:ext uri="{FF2B5EF4-FFF2-40B4-BE49-F238E27FC236}">
                <a16:creationId xmlns:a16="http://schemas.microsoft.com/office/drawing/2014/main" id="{8E50AC9A-E9B1-4FDD-B9B5-2E2ED8FE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860" y="1047750"/>
            <a:ext cx="654939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ED50D-4E36-4BE4-9D17-0EF3C6A8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1162050"/>
            <a:ext cx="624459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推进与回流</a:t>
            </a:r>
          </a:p>
        </p:txBody>
      </p:sp>
      <p:sp>
        <p:nvSpPr>
          <p:cNvPr id="12" name="block:p2-g2:section-0">
            <a:extLst xmlns:a="http://schemas.openxmlformats.org/drawingml/2006/main">
              <a:ext uri="{FF2B5EF4-FFF2-40B4-BE49-F238E27FC236}">
                <a16:creationId xmlns:a16="http://schemas.microsoft.com/office/drawing/2014/main" id="{744ADC5C-75F7-4BBB-A7F0-DAC76CD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1562100"/>
            <a:ext cx="624459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638EE-58E8-4D62-AC73-A39498A7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3005138"/>
            <a:ext cx="6092190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表达作用：说明准入路径。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承载内容：准备 → 试点 → 验收 → 推广。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基本关系：验收未通过则返回试点。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制作要求：门禁条件靠近验收，回流单独标识。</a:t>
            </a:r>
          </a:p>
        </p:txBody>
      </p:sp>
    </p:spTree>
    <p:extLst>
      <p:ext uri="{BB962C8B-B14F-4D97-AF65-F5344CB8AC3E}">
        <p14:creationId xmlns:p14="http://schemas.microsoft.com/office/powerpoint/2010/main" val="1423274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08A5A-DBD1-4445-BFDE-1E6D421A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模拟｜先确认真实需求，再投入方案设计</a:t>
            </a:r>
          </a:p>
        </p:txBody>
      </p:sp>
      <p:sp>
        <p:nvSpPr>
          <p:cNvPr id="2" name="region:p3-g1">
            <a:extLst xmlns:a="http://schemas.openxmlformats.org/drawingml/2006/main">
              <a:ext uri="{FF2B5EF4-FFF2-40B4-BE49-F238E27FC236}">
                <a16:creationId xmlns:a16="http://schemas.microsoft.com/office/drawing/2014/main" id="{2A3AC7CB-9301-4F5E-A210-BAC9F0E0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18835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9B325-AA42-4895-B14A-B1371488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筛选依据</a:t>
            </a:r>
          </a:p>
        </p:txBody>
      </p:sp>
      <p:sp>
        <p:nvSpPr>
          <p:cNvPr id="4" name="block:p3-g1:section-0">
            <a:extLst xmlns:a="http://schemas.openxmlformats.org/drawingml/2006/main">
              <a:ext uri="{FF2B5EF4-FFF2-40B4-BE49-F238E27FC236}">
                <a16:creationId xmlns:a16="http://schemas.microsoft.com/office/drawing/2014/main" id="{6935302F-3BE2-4E36-8A40-F283CDF9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1216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1DE8F-D506-49DC-B7AF-3F28ACA4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569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保留的问题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10240-F6EB-45D2-A854-87C1B45A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668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用户能描述具体受阻环节，且服务记录中能找到对应案例。只有工具偏好、没有业务问题的建议先补充调研。</a:t>
            </a:r>
          </a:p>
        </p:txBody>
      </p:sp>
      <p:sp>
        <p:nvSpPr>
          <p:cNvPr id="7" name="region:p3-g2">
            <a:extLst xmlns:a="http://schemas.openxmlformats.org/drawingml/2006/main">
              <a:ext uri="{FF2B5EF4-FFF2-40B4-BE49-F238E27FC236}">
                <a16:creationId xmlns:a16="http://schemas.microsoft.com/office/drawing/2014/main" id="{C4F8A9ED-C8F9-46CD-8031-BB884F65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59885"/>
            <a:ext cx="11144250" cy="2574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F8C54-CE3F-4415-B8AD-46232813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4185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需求到试点</a:t>
            </a:r>
          </a:p>
        </p:txBody>
      </p:sp>
      <p:sp>
        <p:nvSpPr>
          <p:cNvPr id="9" name="block:p3-g2:section-0">
            <a:extLst xmlns:a="http://schemas.openxmlformats.org/drawingml/2006/main">
              <a:ext uri="{FF2B5EF4-FFF2-40B4-BE49-F238E27FC236}">
                <a16:creationId xmlns:a16="http://schemas.microsoft.com/office/drawing/2014/main" id="{15515CC6-AD9D-4D0D-921E-BD4294E0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4235"/>
            <a:ext cx="10839450" cy="1907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B046E-0F26-4C2D-9A6E-884D7B68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1205"/>
            <a:ext cx="10687050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表达作用：呈现逐阶段筛选。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承载内容：需求收集 → 场景核实 → 方案试点。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基本关系：前一阶段通过后才进入下一阶段。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制作要求：保留阶段名称，筛选条件贴近转换处。</a:t>
            </a:r>
          </a:p>
        </p:txBody>
      </p:sp>
    </p:spTree>
    <p:extLst>
      <p:ext uri="{BB962C8B-B14F-4D97-AF65-F5344CB8AC3E}">
        <p14:creationId xmlns:p14="http://schemas.microsoft.com/office/powerpoint/2010/main" val="1785784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4433F-C74C-4929-BC1A-BAD57206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模拟｜统一入口需要同时打通分派和反馈</a:t>
            </a:r>
          </a:p>
        </p:txBody>
      </p:sp>
      <p:sp>
        <p:nvSpPr>
          <p:cNvPr id="2" name="region:p4-g1">
            <a:extLst xmlns:a="http://schemas.openxmlformats.org/drawingml/2006/main">
              <a:ext uri="{FF2B5EF4-FFF2-40B4-BE49-F238E27FC236}">
                <a16:creationId xmlns:a16="http://schemas.microsoft.com/office/drawing/2014/main" id="{642704BB-AEBF-4607-A5B6-603E1A9B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654939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8B8AF-48A4-4509-919C-9B7651BC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24459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问题与措施</a:t>
            </a:r>
          </a:p>
        </p:txBody>
      </p:sp>
      <p:sp>
        <p:nvSpPr>
          <p:cNvPr id="4" name="block:p4-g1:section-0">
            <a:extLst xmlns:a="http://schemas.openxmlformats.org/drawingml/2006/main">
              <a:ext uri="{FF2B5EF4-FFF2-40B4-BE49-F238E27FC236}">
                <a16:creationId xmlns:a16="http://schemas.microsoft.com/office/drawing/2014/main" id="{4D7D94F3-C08B-43A3-8D0A-F26A7D4F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24459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041AF-963B-45EF-A3D9-E53980B8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5138"/>
            <a:ext cx="6092190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表达作用：说明改进逻辑。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承载内容：入口分散 → 统一受理；流转不明 → 明确分派。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基本关系：措施分别对应问题，结果为预期。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制作要求：按对应关系排布，不写成已实现成效。</a:t>
            </a:r>
          </a:p>
        </p:txBody>
      </p:sp>
      <p:sp>
        <p:nvSpPr>
          <p:cNvPr id="6" name="region:p4-g2">
            <a:extLst xmlns:a="http://schemas.openxmlformats.org/drawingml/2006/main">
              <a:ext uri="{FF2B5EF4-FFF2-40B4-BE49-F238E27FC236}">
                <a16:creationId xmlns:a16="http://schemas.microsoft.com/office/drawing/2014/main" id="{E5315804-20DA-4A68-B3E5-8ED261DA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990" y="1047750"/>
            <a:ext cx="436626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60EBD-EA4F-4395-A58E-A4B3BAC0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162050"/>
            <a:ext cx="40614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如何验证</a:t>
            </a:r>
          </a:p>
        </p:txBody>
      </p:sp>
      <p:sp>
        <p:nvSpPr>
          <p:cNvPr id="8" name="block:p4-g2:section-0">
            <a:extLst xmlns:a="http://schemas.openxmlformats.org/drawingml/2006/main">
              <a:ext uri="{FF2B5EF4-FFF2-40B4-BE49-F238E27FC236}">
                <a16:creationId xmlns:a16="http://schemas.microsoft.com/office/drawing/2014/main" id="{883A90E1-AB6C-433A-AF48-C97408B7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562100"/>
            <a:ext cx="4061460" cy="1725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block:p4-g2:section-1">
            <a:extLst xmlns:a="http://schemas.openxmlformats.org/drawingml/2006/main">
              <a:ext uri="{FF2B5EF4-FFF2-40B4-BE49-F238E27FC236}">
                <a16:creationId xmlns:a16="http://schemas.microsoft.com/office/drawing/2014/main" id="{49280D39-5333-4A88-BCB0-BB8A6B52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3401611"/>
            <a:ext cx="4061460" cy="21800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89DDF-BAA9-45F7-9E5B-BE70AA13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1977030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观察办理过程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72DFE-94F5-4DB6-8A7F-0A763B5E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298023"/>
            <a:ext cx="390906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试点记录从受理到分派的等待时间，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并核对跨部门事项是否有明确接收人。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65F4E-0F4D-4013-8F57-B9B754C5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3905843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确认反馈闭合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7FED7-0785-4CE9-94B9-DD4A4A0B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4226835"/>
            <a:ext cx="390906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用户能够看到当前进度和办理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结果。试点结束后再判断措施是否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有效，目前没有实际成效数据。</a:t>
            </a:r>
          </a:p>
        </p:txBody>
      </p:sp>
    </p:spTree>
    <p:extLst>
      <p:ext uri="{BB962C8B-B14F-4D97-AF65-F5344CB8AC3E}">
        <p14:creationId xmlns:p14="http://schemas.microsoft.com/office/powerpoint/2010/main" val="11180496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4CCD3-E693-4754-B583-A6D7D0C5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模拟｜每个交接点都要有明确的接收人</a:t>
            </a:r>
          </a:p>
        </p:txBody>
      </p:sp>
      <p:sp>
        <p:nvSpPr>
          <p:cNvPr id="2" name="region:p5-g1">
            <a:extLst xmlns:a="http://schemas.openxmlformats.org/drawingml/2006/main">
              <a:ext uri="{FF2B5EF4-FFF2-40B4-BE49-F238E27FC236}">
                <a16:creationId xmlns:a16="http://schemas.microsoft.com/office/drawing/2014/main" id="{5E8C9A5B-0AA1-4A62-B147-DD470FDF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436626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9364F-B013-4C70-BB2E-16590D5C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40614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交接约定</a:t>
            </a:r>
          </a:p>
        </p:txBody>
      </p:sp>
      <p:sp>
        <p:nvSpPr>
          <p:cNvPr id="4" name="block:p5-g1:section-0">
            <a:extLst xmlns:a="http://schemas.openxmlformats.org/drawingml/2006/main">
              <a:ext uri="{FF2B5EF4-FFF2-40B4-BE49-F238E27FC236}">
                <a16:creationId xmlns:a16="http://schemas.microsoft.com/office/drawing/2014/main" id="{434A2711-9CB9-4FEC-B638-766766EC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406146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5-g1:section-1">
            <a:extLst xmlns:a="http://schemas.openxmlformats.org/drawingml/2006/main">
              <a:ext uri="{FF2B5EF4-FFF2-40B4-BE49-F238E27FC236}">
                <a16:creationId xmlns:a16="http://schemas.microsoft.com/office/drawing/2014/main" id="{D31FDBF9-E1A9-486A-9BF9-A98DA59D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406146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E5A3B-1DB8-4930-8008-2F7168C0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0738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业务侧负责确认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74DDA-C9FC-413F-9D76-E24532B0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1730"/>
            <a:ext cx="390906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需求进入开发前，由业务负责人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确认范围、办理规则和验收方式。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61F7B-D6B8-46CE-80B2-AECFE225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7663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技术侧负责回传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26BB9-A2F4-4895-808D-BA4BC6E5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8655"/>
            <a:ext cx="390906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联调完成后回传测试记录与遗留问题；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业务侧确认接收后再安排上线验收。</a:t>
            </a:r>
          </a:p>
        </p:txBody>
      </p:sp>
      <p:sp>
        <p:nvSpPr>
          <p:cNvPr id="10" name="region:p5-g2">
            <a:extLst xmlns:a="http://schemas.openxmlformats.org/drawingml/2006/main">
              <a:ext uri="{FF2B5EF4-FFF2-40B4-BE49-F238E27FC236}">
                <a16:creationId xmlns:a16="http://schemas.microsoft.com/office/drawing/2014/main" id="{13549496-71F4-4168-ABF4-9EC4E775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860" y="1047750"/>
            <a:ext cx="654939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60AFB-133A-43DD-A314-EBE437A0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1162050"/>
            <a:ext cx="624459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阶段与角色</a:t>
            </a:r>
          </a:p>
        </p:txBody>
      </p:sp>
      <p:sp>
        <p:nvSpPr>
          <p:cNvPr id="12" name="block:p5-g2:section-0">
            <a:extLst xmlns:a="http://schemas.openxmlformats.org/drawingml/2006/main">
              <a:ext uri="{FF2B5EF4-FFF2-40B4-BE49-F238E27FC236}">
                <a16:creationId xmlns:a16="http://schemas.microsoft.com/office/drawing/2014/main" id="{A48616B9-985E-4D44-8827-BFD6682F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1562100"/>
            <a:ext cx="624459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BD4B5-3DD0-48CE-8E36-6E786553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862263"/>
            <a:ext cx="6092190" cy="1414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表达作用：展示分工与交接。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承载内容：业务组确认需求；技术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组开发联调；业务组验收上线。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基本关系：技术回传测试记录，由业务组接收。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制作要求：阶段横排、角色分行，突出交接点。</a:t>
            </a:r>
          </a:p>
        </p:txBody>
      </p:sp>
    </p:spTree>
    <p:extLst>
      <p:ext uri="{BB962C8B-B14F-4D97-AF65-F5344CB8AC3E}">
        <p14:creationId xmlns:p14="http://schemas.microsoft.com/office/powerpoint/2010/main" val="1565308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AA609-A3FE-455B-821E-68818D58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模拟｜异常必须回到规则修订才算闭环</a:t>
            </a:r>
          </a:p>
        </p:txBody>
      </p:sp>
      <p:sp>
        <p:nvSpPr>
          <p:cNvPr id="2" name="region:p6-g1">
            <a:extLst xmlns:a="http://schemas.openxmlformats.org/drawingml/2006/main">
              <a:ext uri="{FF2B5EF4-FFF2-40B4-BE49-F238E27FC236}">
                <a16:creationId xmlns:a16="http://schemas.microsoft.com/office/drawing/2014/main" id="{2FB7D9D3-09B0-4329-8736-53D9BB1A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72771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BB6DE-B2BF-40B8-BAA8-97315899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97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从处理到预防</a:t>
            </a:r>
          </a:p>
        </p:txBody>
      </p:sp>
      <p:sp>
        <p:nvSpPr>
          <p:cNvPr id="4" name="block:p6-g1:section-0">
            <a:extLst xmlns:a="http://schemas.openxmlformats.org/drawingml/2006/main">
              <a:ext uri="{FF2B5EF4-FFF2-40B4-BE49-F238E27FC236}">
                <a16:creationId xmlns:a16="http://schemas.microsoft.com/office/drawing/2014/main" id="{426486CD-301D-4A82-8365-356672F4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9723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6-g1:section-1">
            <a:extLst xmlns:a="http://schemas.openxmlformats.org/drawingml/2006/main">
              <a:ext uri="{FF2B5EF4-FFF2-40B4-BE49-F238E27FC236}">
                <a16:creationId xmlns:a16="http://schemas.microsoft.com/office/drawing/2014/main" id="{6F7993A0-9299-49DE-8D51-2CA28DDF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69723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2D2D6-35D5-40B8-A5B4-E9BA52BC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0738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先恢复服务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B8E11-4469-4D95-B07F-F17C347C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1730"/>
            <a:ext cx="68199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受理人记录异常场景和影响范围，责任人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采取临时措施，并向用户说明当前进展。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D1D7A-C94B-465F-9636-9E1F974E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7663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再修订规则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CDB1B-9220-4C84-AE7E-20546490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8655"/>
            <a:ext cx="68199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复盘时区分偶发操作与重复缺陷。重复缺陷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进入规则修订，下一次抽查检查是否仍然出现。</a:t>
            </a:r>
          </a:p>
        </p:txBody>
      </p:sp>
      <p:sp>
        <p:nvSpPr>
          <p:cNvPr id="10" name="region:p6-g2">
            <a:extLst xmlns:a="http://schemas.openxmlformats.org/drawingml/2006/main">
              <a:ext uri="{FF2B5EF4-FFF2-40B4-BE49-F238E27FC236}">
                <a16:creationId xmlns:a16="http://schemas.microsoft.com/office/drawing/2014/main" id="{FC12659D-31A7-44E2-988F-A745F3B9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47750"/>
            <a:ext cx="36385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0AC5F-3D10-490F-A9CD-33C1303B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62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反馈闭环</a:t>
            </a:r>
          </a:p>
        </p:txBody>
      </p:sp>
      <p:sp>
        <p:nvSpPr>
          <p:cNvPr id="12" name="block:p6-g2:section-0">
            <a:extLst xmlns:a="http://schemas.openxmlformats.org/drawingml/2006/main">
              <a:ext uri="{FF2B5EF4-FFF2-40B4-BE49-F238E27FC236}">
                <a16:creationId xmlns:a16="http://schemas.microsoft.com/office/drawing/2014/main" id="{B741DA85-37B9-4B6C-B696-6C32F0C8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3337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13AF7-D2D0-4D37-8BB2-7655287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81275"/>
            <a:ext cx="3181350" cy="1980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表达作用：追踪闭合。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承载内容：发现、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处理、复查、修订。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基本关系：修订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反馈至后续执行。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制作要求：闭环保留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方向，节点仅短标题。</a:t>
            </a:r>
          </a:p>
        </p:txBody>
      </p:sp>
    </p:spTree>
    <p:extLst>
      <p:ext uri="{BB962C8B-B14F-4D97-AF65-F5344CB8AC3E}">
        <p14:creationId xmlns:p14="http://schemas.microsoft.com/office/powerpoint/2010/main" val="16529011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CA64D-4F18-4589-A968-44D1027C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模拟｜先验证一个场景，再逐步复制经验</a:t>
            </a:r>
          </a:p>
        </p:txBody>
      </p:sp>
      <p:sp>
        <p:nvSpPr>
          <p:cNvPr id="2" name="region:p7-g1">
            <a:extLst xmlns:a="http://schemas.openxmlformats.org/drawingml/2006/main">
              <a:ext uri="{FF2B5EF4-FFF2-40B4-BE49-F238E27FC236}">
                <a16:creationId xmlns:a16="http://schemas.microsoft.com/office/drawing/2014/main" id="{55D9A5C6-4BD5-4CE3-B14B-1F469CB1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36385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FF1BE-AF5D-40EA-934D-1C5BA317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推广节奏</a:t>
            </a:r>
          </a:p>
        </p:txBody>
      </p:sp>
      <p:sp>
        <p:nvSpPr>
          <p:cNvPr id="4" name="block:p7-g1:section-0">
            <a:extLst xmlns:a="http://schemas.openxmlformats.org/drawingml/2006/main">
              <a:ext uri="{FF2B5EF4-FFF2-40B4-BE49-F238E27FC236}">
                <a16:creationId xmlns:a16="http://schemas.microsoft.com/office/drawing/2014/main" id="{BC12C786-1C91-4BC9-8037-A796CF48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3337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D9130-4787-4B5A-BEE1-D04F3DB1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3181350" cy="1980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表达作用：呈现先后。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承载内容：单点试用 →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部门扩展 → 跨部门推广。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基本关系：后一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阶段依赖前期验收。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制作要求：每阶段一个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短标题，条件外置。</a:t>
            </a:r>
          </a:p>
        </p:txBody>
      </p:sp>
      <p:sp>
        <p:nvSpPr>
          <p:cNvPr id="6" name="region:p7-g2">
            <a:extLst xmlns:a="http://schemas.openxmlformats.org/drawingml/2006/main">
              <a:ext uri="{FF2B5EF4-FFF2-40B4-BE49-F238E27FC236}">
                <a16:creationId xmlns:a16="http://schemas.microsoft.com/office/drawing/2014/main" id="{33D66F82-5C3E-4270-8D12-50E667B0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047750"/>
            <a:ext cx="72771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DA301-27F8-4435-AAFF-978FE377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62050"/>
            <a:ext cx="697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当前工作与后续条件</a:t>
            </a:r>
          </a:p>
        </p:txBody>
      </p:sp>
      <p:sp>
        <p:nvSpPr>
          <p:cNvPr id="8" name="block:p7-g2:section-0">
            <a:extLst xmlns:a="http://schemas.openxmlformats.org/drawingml/2006/main">
              <a:ext uri="{FF2B5EF4-FFF2-40B4-BE49-F238E27FC236}">
                <a16:creationId xmlns:a16="http://schemas.microsoft.com/office/drawing/2014/main" id="{EFC8C1C4-DC68-4578-9E7B-A35E172F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62100"/>
            <a:ext cx="69723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block:p7-g2:section-1">
            <a:extLst xmlns:a="http://schemas.openxmlformats.org/drawingml/2006/main">
              <a:ext uri="{FF2B5EF4-FFF2-40B4-BE49-F238E27FC236}">
                <a16:creationId xmlns:a16="http://schemas.microsoft.com/office/drawing/2014/main" id="{E7EA93E9-DAF2-4344-BECE-6766F94B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29025"/>
            <a:ext cx="69723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31546-F4B9-4E65-AF76-5C175A59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0738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本轮只验证单点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DD440-5CC5-4665-B6F7-828D7DB0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1730"/>
            <a:ext cx="68199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选择业务边界清楚的服务事项，记录入口、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处理人和反馈方式，完成一轮完整办理。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D4FBE-179C-49F5-A30B-2FCFF18B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7663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验收后再复制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4410D-6722-493F-BF54-72B78D80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8655"/>
            <a:ext cx="68199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部门扩展前补齐培训与支持渠道；跨部门推广前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确认交接规则。各阶段由对应负责人确认后启动。</a:t>
            </a:r>
          </a:p>
        </p:txBody>
      </p:sp>
    </p:spTree>
    <p:extLst>
      <p:ext uri="{BB962C8B-B14F-4D97-AF65-F5344CB8AC3E}">
        <p14:creationId xmlns:p14="http://schemas.microsoft.com/office/powerpoint/2010/main" val="17724404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72056-1CB7-4CF0-BC52-13E231D1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模拟｜基础数据可靠后，分析能力才有用</a:t>
            </a:r>
          </a:p>
        </p:txBody>
      </p:sp>
      <p:sp>
        <p:nvSpPr>
          <p:cNvPr id="2" name="region:p8-g1">
            <a:extLst xmlns:a="http://schemas.openxmlformats.org/drawingml/2006/main">
              <a:ext uri="{FF2B5EF4-FFF2-40B4-BE49-F238E27FC236}">
                <a16:creationId xmlns:a16="http://schemas.microsoft.com/office/drawing/2014/main" id="{88CBBF37-92D4-4A9E-96C5-87238A6F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4120F-FCAC-4877-8560-88BDD839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当前基础</a:t>
            </a:r>
          </a:p>
        </p:txBody>
      </p:sp>
      <p:sp>
        <p:nvSpPr>
          <p:cNvPr id="4" name="block:p8-g1:section-0">
            <a:extLst xmlns:a="http://schemas.openxmlformats.org/drawingml/2006/main">
              <a:ext uri="{FF2B5EF4-FFF2-40B4-BE49-F238E27FC236}">
                <a16:creationId xmlns:a16="http://schemas.microsoft.com/office/drawing/2014/main" id="{8C6CD15B-811A-45B2-898A-708E9753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257550" cy="21800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8-g1:section-1">
            <a:extLst xmlns:a="http://schemas.openxmlformats.org/drawingml/2006/main">
              <a:ext uri="{FF2B5EF4-FFF2-40B4-BE49-F238E27FC236}">
                <a16:creationId xmlns:a16="http://schemas.microsoft.com/office/drawing/2014/main" id="{D24C67B7-AB42-4C3A-9735-A3A99EB4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6439"/>
            <a:ext cx="3257550" cy="1725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4656C-3911-4470-9E75-A2B859E5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332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先统一口径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7B17F-DDCF-470C-9BAD-8B36E7F6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7325"/>
            <a:ext cx="310515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明确事项编码、状态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含义和责任部门，抽查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实际记录是否一致。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01F0F-C0A0-4266-AA5C-8A3C8961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1370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再补齐记录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02050-5549-4862-BFB5-EB886B57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2362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缺失信息由业务侧确认，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不能用推测值填补。</a:t>
            </a:r>
          </a:p>
        </p:txBody>
      </p:sp>
      <p:sp>
        <p:nvSpPr>
          <p:cNvPr id="10" name="region:p8-g2">
            <a:extLst xmlns:a="http://schemas.openxmlformats.org/drawingml/2006/main">
              <a:ext uri="{FF2B5EF4-FFF2-40B4-BE49-F238E27FC236}">
                <a16:creationId xmlns:a16="http://schemas.microsoft.com/office/drawing/2014/main" id="{83D9CCC5-C492-4CE1-AAAB-38F836E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8AE2A-EB4C-4534-A7E4-DC3EA688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能力层级</a:t>
            </a:r>
          </a:p>
        </p:txBody>
      </p:sp>
      <p:sp>
        <p:nvSpPr>
          <p:cNvPr id="12" name="block:p8-g2:section-0">
            <a:extLst xmlns:a="http://schemas.openxmlformats.org/drawingml/2006/main">
              <a:ext uri="{FF2B5EF4-FFF2-40B4-BE49-F238E27FC236}">
                <a16:creationId xmlns:a16="http://schemas.microsoft.com/office/drawing/2014/main" id="{5E32A9E1-5C8A-480B-95D2-04407C48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2575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4D0D1-2443-46F8-8627-54966D1D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19388"/>
            <a:ext cx="3105150" cy="1697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表达作用：表达支撑。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承载内容：数据基础 →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过程可见 → 分析辅助。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基本关系：上层依赖下层。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制作要求：三层短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标题，底层作为基础。</a:t>
            </a:r>
          </a:p>
        </p:txBody>
      </p:sp>
      <p:sp>
        <p:nvSpPr>
          <p:cNvPr id="14" name="region:p8-g3">
            <a:extLst xmlns:a="http://schemas.openxmlformats.org/drawingml/2006/main">
              <a:ext uri="{FF2B5EF4-FFF2-40B4-BE49-F238E27FC236}">
                <a16:creationId xmlns:a16="http://schemas.microsoft.com/office/drawing/2014/main" id="{6C61AE8A-FDD6-4405-A0FE-3700B28E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787C9-007E-40F1-96AF-3A8546E4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应用范围</a:t>
            </a:r>
          </a:p>
        </p:txBody>
      </p:sp>
      <p:sp>
        <p:nvSpPr>
          <p:cNvPr id="16" name="block:p8-g3:section-0">
            <a:extLst xmlns:a="http://schemas.openxmlformats.org/drawingml/2006/main">
              <a:ext uri="{FF2B5EF4-FFF2-40B4-BE49-F238E27FC236}">
                <a16:creationId xmlns:a16="http://schemas.microsoft.com/office/drawing/2014/main" id="{69868F85-EC8B-4B62-B29B-34F8A7BB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325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7" name="block:p8-g3:section-1">
            <a:extLst xmlns:a="http://schemas.openxmlformats.org/drawingml/2006/main">
              <a:ext uri="{FF2B5EF4-FFF2-40B4-BE49-F238E27FC236}">
                <a16:creationId xmlns:a16="http://schemas.microsoft.com/office/drawing/2014/main" id="{248D0ED4-DD0A-4D48-B6C0-A55D4170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29025"/>
            <a:ext cx="325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CB0AE-E85E-4C2D-A19E-50EC3860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0738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过程可见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D1897-597B-49BC-9C77-66D4C796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11730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先展示在办状态和积压位置，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帮助定位需要处理的环节。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AF4DD-70D8-4066-A806-3A6BFBE6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7663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辅助分析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05589-4026-4E27-9441-0D25B6DC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8655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口径稳定后再分析趋势；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分析提示需结合业务核查。</a:t>
            </a:r>
          </a:p>
        </p:txBody>
      </p:sp>
    </p:spTree>
    <p:extLst>
      <p:ext uri="{BB962C8B-B14F-4D97-AF65-F5344CB8AC3E}">
        <p14:creationId xmlns:p14="http://schemas.microsoft.com/office/powerpoint/2010/main" val="12698487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F1665-DDDB-45C8-81DC-5FAFCC4B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模拟｜先用轻量方案验证，保留升级条件</a:t>
            </a:r>
          </a:p>
        </p:txBody>
      </p:sp>
      <p:sp>
        <p:nvSpPr>
          <p:cNvPr id="2" name="region:p9-g1">
            <a:extLst xmlns:a="http://schemas.openxmlformats.org/drawingml/2006/main">
              <a:ext uri="{FF2B5EF4-FFF2-40B4-BE49-F238E27FC236}">
                <a16:creationId xmlns:a16="http://schemas.microsoft.com/office/drawing/2014/main" id="{D155C90F-6AB0-497E-9EAE-E320481B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72771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78744-1888-4C93-AE41-5C3FD767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97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选择及适用条件</a:t>
            </a:r>
          </a:p>
        </p:txBody>
      </p:sp>
      <p:sp>
        <p:nvSpPr>
          <p:cNvPr id="4" name="block:p9-g1:section-0">
            <a:extLst xmlns:a="http://schemas.openxmlformats.org/drawingml/2006/main">
              <a:ext uri="{FF2B5EF4-FFF2-40B4-BE49-F238E27FC236}">
                <a16:creationId xmlns:a16="http://schemas.microsoft.com/office/drawing/2014/main" id="{04722814-6216-4B67-B860-3C9EBEB9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9723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9-g1:section-1">
            <a:extLst xmlns:a="http://schemas.openxmlformats.org/drawingml/2006/main">
              <a:ext uri="{FF2B5EF4-FFF2-40B4-BE49-F238E27FC236}">
                <a16:creationId xmlns:a16="http://schemas.microsoft.com/office/drawing/2014/main" id="{76E6B69A-40B6-4252-9CEB-1EB63E64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69723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AF27C-32B6-4FF1-8F82-100001FF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0738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当前选择轻量接入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E1569-858A-425D-BC11-4ED323E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1730"/>
            <a:ext cx="68199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当试点范围较小、现有系统能提供必要接口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时，先验证业务流程，降低初期改造负担。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367B6-2823-405A-A307-2C201F33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7663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何时升级平台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A618A-0D1B-4E77-8693-18852A84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8655"/>
            <a:ext cx="68199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若试点出现持续的跨系统协作需求，再评估统一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平台。需同时核算迁移工作、维护责任与长期投入。</a:t>
            </a:r>
          </a:p>
        </p:txBody>
      </p:sp>
      <p:sp>
        <p:nvSpPr>
          <p:cNvPr id="10" name="region:p9-g2">
            <a:extLst xmlns:a="http://schemas.openxmlformats.org/drawingml/2006/main">
              <a:ext uri="{FF2B5EF4-FFF2-40B4-BE49-F238E27FC236}">
                <a16:creationId xmlns:a16="http://schemas.microsoft.com/office/drawing/2014/main" id="{338CF72F-47B0-4BF1-AF03-1D9353E8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47750"/>
            <a:ext cx="36385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13991-0411-4CC6-A489-350CEC94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62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两方案对照</a:t>
            </a:r>
          </a:p>
        </p:txBody>
      </p:sp>
      <p:sp>
        <p:nvSpPr>
          <p:cNvPr id="12" name="block:p9-g2:section-0">
            <a:extLst xmlns:a="http://schemas.openxmlformats.org/drawingml/2006/main">
              <a:ext uri="{FF2B5EF4-FFF2-40B4-BE49-F238E27FC236}">
                <a16:creationId xmlns:a16="http://schemas.microsoft.com/office/drawing/2014/main" id="{8652D2FB-22CB-4E0B-8FE6-BD16492C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3337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C6C1B-A6BF-45C4-BCAF-327B3406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38400"/>
            <a:ext cx="3181350" cy="2263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表达作用：辅助权衡。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承载内容：轻量：投入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低、扩展受限；平台：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投入高、扩展较强。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基本关系：比较启动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投入与扩展能力。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制作要求：同口径对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齐，适用条件见正文。</a:t>
            </a:r>
          </a:p>
        </p:txBody>
      </p:sp>
    </p:spTree>
    <p:extLst>
      <p:ext uri="{BB962C8B-B14F-4D97-AF65-F5344CB8AC3E}">
        <p14:creationId xmlns:p14="http://schemas.microsoft.com/office/powerpoint/2010/main" val="12866106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8C6C7-6DFB-4177-BB17-35ACEE96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模拟｜结果指标与过程记录需要一起看</a:t>
            </a:r>
          </a:p>
        </p:txBody>
      </p:sp>
      <p:sp>
        <p:nvSpPr>
          <p:cNvPr id="2" name="region:p10-g1">
            <a:extLst xmlns:a="http://schemas.openxmlformats.org/drawingml/2006/main">
              <a:ext uri="{FF2B5EF4-FFF2-40B4-BE49-F238E27FC236}">
                <a16:creationId xmlns:a16="http://schemas.microsoft.com/office/drawing/2014/main" id="{14EF78DF-02D7-4F3B-A5B8-88327778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8D5BD-E3DC-49F4-9FA0-0005FA2A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结果观察</a:t>
            </a:r>
          </a:p>
        </p:txBody>
      </p:sp>
      <p:sp>
        <p:nvSpPr>
          <p:cNvPr id="4" name="block:p10-g1:section-0">
            <a:extLst xmlns:a="http://schemas.openxmlformats.org/drawingml/2006/main">
              <a:ext uri="{FF2B5EF4-FFF2-40B4-BE49-F238E27FC236}">
                <a16:creationId xmlns:a16="http://schemas.microsoft.com/office/drawing/2014/main" id="{87736077-A8B1-4852-B46C-77A0E757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25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10-g1:section-1">
            <a:extLst xmlns:a="http://schemas.openxmlformats.org/drawingml/2006/main">
              <a:ext uri="{FF2B5EF4-FFF2-40B4-BE49-F238E27FC236}">
                <a16:creationId xmlns:a16="http://schemas.microsoft.com/office/drawing/2014/main" id="{316CB581-95FE-48EB-A404-CE466943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325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9E9D5-8F7F-418C-B418-7A09984F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0738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办理是否改善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900C4-C306-4EF8-987C-BFA1EB8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1730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比较办理时长与退回情况，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并注明观察范围和样本口径。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44B83-CA8F-4E24-A306-1F765043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7663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解释变化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5448E-C1DF-4099-8344-4787B20D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8655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业务类型变化可能影响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结果，分析时需分场景核对。</a:t>
            </a:r>
          </a:p>
        </p:txBody>
      </p:sp>
      <p:sp>
        <p:nvSpPr>
          <p:cNvPr id="10" name="region:p10-g2">
            <a:extLst xmlns:a="http://schemas.openxmlformats.org/drawingml/2006/main">
              <a:ext uri="{FF2B5EF4-FFF2-40B4-BE49-F238E27FC236}">
                <a16:creationId xmlns:a16="http://schemas.microsoft.com/office/drawing/2014/main" id="{D83651E5-1E09-4B53-A9DE-D324AD4A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22A50-1AF9-4EAB-AD72-ECF4DD91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观察框架</a:t>
            </a:r>
          </a:p>
        </p:txBody>
      </p:sp>
      <p:sp>
        <p:nvSpPr>
          <p:cNvPr id="12" name="block:p10-g2:section-0">
            <a:extLst xmlns:a="http://schemas.openxmlformats.org/drawingml/2006/main">
              <a:ext uri="{FF2B5EF4-FFF2-40B4-BE49-F238E27FC236}">
                <a16:creationId xmlns:a16="http://schemas.microsoft.com/office/drawing/2014/main" id="{94C6362D-44E0-4361-874E-D0641D17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2575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6144F-2A60-406A-A75F-AD62E35E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81275"/>
            <a:ext cx="3105150" cy="1980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表达作用：组织观察项。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承载内容：服务改善：办理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时长、退回情况、流转记录。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基本关系：结果与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过程共同围绕目标。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制作要求：区分两类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指标，不画虚假因果。</a:t>
            </a:r>
          </a:p>
        </p:txBody>
      </p:sp>
      <p:sp>
        <p:nvSpPr>
          <p:cNvPr id="14" name="region:p10-g3">
            <a:extLst xmlns:a="http://schemas.openxmlformats.org/drawingml/2006/main">
              <a:ext uri="{FF2B5EF4-FFF2-40B4-BE49-F238E27FC236}">
                <a16:creationId xmlns:a16="http://schemas.microsoft.com/office/drawing/2014/main" id="{75363FB6-79EE-4D72-9FD0-61DA4302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6AC83-F4C0-4C0E-9727-2A77EABA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过程记录</a:t>
            </a:r>
          </a:p>
        </p:txBody>
      </p:sp>
      <p:sp>
        <p:nvSpPr>
          <p:cNvPr id="16" name="block:p10-g3:section-0">
            <a:extLst xmlns:a="http://schemas.openxmlformats.org/drawingml/2006/main">
              <a:ext uri="{FF2B5EF4-FFF2-40B4-BE49-F238E27FC236}">
                <a16:creationId xmlns:a16="http://schemas.microsoft.com/office/drawing/2014/main" id="{9BD4102E-839A-4A0D-9F32-21BD6FE7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3257550" cy="17252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7" name="block:p10-g3:section-1">
            <a:extLst xmlns:a="http://schemas.openxmlformats.org/drawingml/2006/main">
              <a:ext uri="{FF2B5EF4-FFF2-40B4-BE49-F238E27FC236}">
                <a16:creationId xmlns:a16="http://schemas.microsoft.com/office/drawing/2014/main" id="{603A857A-7FFF-4A2A-806B-95B3F4C9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1611"/>
            <a:ext cx="3257550" cy="21800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7719E-09BC-4F73-A9A5-E4DD6B5D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77030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定位等待环节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ECD1A-8519-4AB3-80A5-F5D52E48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98023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记录受理、分派、处理与反馈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的时间，检查交接是否停滞。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56371-B39F-40C1-A61D-7F62D7E1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843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结合结果解释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34B3C-924F-49EF-8F37-F9EBC500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6835"/>
            <a:ext cx="310515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过程变化用于解释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结果；完成一次培训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本身不能证明服务改善。</a:t>
            </a:r>
          </a:p>
        </p:txBody>
      </p:sp>
    </p:spTree>
    <p:extLst>
      <p:ext uri="{BB962C8B-B14F-4D97-AF65-F5344CB8AC3E}">
        <p14:creationId xmlns:p14="http://schemas.microsoft.com/office/powerpoint/2010/main" val="989927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2026-09-26T11:16:46.9940000Z</dcterms:created>
  <dcterms:modified xsi:type="dcterms:W3CDTF">2026-09-26T11:16:46.9940000Z</dcterms:modified>
</coreProperties>
</file>