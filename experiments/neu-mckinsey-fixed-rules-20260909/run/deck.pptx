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d8a0e1a184ce6" /><Relationship Type="http://schemas.openxmlformats.org/officeDocument/2006/relationships/extended-properties" Target="/docProps/app.xml" Id="Ra28ad09b3d9f4b30" /><Relationship Type="http://schemas.openxmlformats.org/officeDocument/2006/relationships/officeDocument" Target="/ppt/presentation.xml" Id="Rb911488dd849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8da425c0234472"/>
    <p:sldMasterId xmlns:r="http://schemas.openxmlformats.org/officeDocument/2006/relationships" id="2147483660" r:id="R99a69296ce054557"/>
    <p:sldMasterId xmlns:r="http://schemas.openxmlformats.org/officeDocument/2006/relationships" id="2147483663" r:id="Rb270bf7140864366"/>
  </p:sldMasterIdLst>
  <p:notesMasterIdLst>
    <p:notesMasterId xmlns:r="http://schemas.openxmlformats.org/officeDocument/2006/relationships" r:id="R0c450e9209d34d9b"/>
  </p:notesMasterIdLst>
  <p:sldIdLst>
    <p:sldId xmlns:r="http://schemas.openxmlformats.org/officeDocument/2006/relationships" id="256" r:id="Rf913a3e787474be5"/>
    <p:sldId xmlns:r="http://schemas.openxmlformats.org/officeDocument/2006/relationships" id="257" r:id="Rd7f607c76e4c41f0"/>
    <p:sldId xmlns:r="http://schemas.openxmlformats.org/officeDocument/2006/relationships" id="258" r:id="Rea5008886783440f"/>
    <p:sldId xmlns:r="http://schemas.openxmlformats.org/officeDocument/2006/relationships" id="259" r:id="R90bad72ec130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e567abf084f08" /><Relationship Type="http://schemas.openxmlformats.org/officeDocument/2006/relationships/slideMaster" Target="/ppt/slideMasters/slideMaster1.xml" Id="Re28da425c0234472" /><Relationship Type="http://schemas.openxmlformats.org/officeDocument/2006/relationships/slideMaster" Target="/ppt/slideMasters/slideMaster2.xml" Id="R99a69296ce054557" /><Relationship Type="http://schemas.openxmlformats.org/officeDocument/2006/relationships/slideMaster" Target="/ppt/slideMasters/slideMaster3.xml" Id="Rb270bf7140864366" /><Relationship Type="http://schemas.openxmlformats.org/officeDocument/2006/relationships/notesMaster" Target="/ppt/notesMasters/notesMaster1.xml" Id="R0c450e9209d34d9b" /><Relationship Type="http://schemas.openxmlformats.org/officeDocument/2006/relationships/presProps" Target="/ppt/presProps.xml" Id="Rab0b73f9ad054b32" /><Relationship Type="http://schemas.openxmlformats.org/officeDocument/2006/relationships/viewProps" Target="/ppt/viewProps.xml" Id="Re03c2f2a58954a40" /><Relationship Type="http://schemas.openxmlformats.org/officeDocument/2006/relationships/tableStyles" Target="/ppt/tableStyles.xml" Id="Raf16550bb661462d" /><Relationship Type="http://schemas.openxmlformats.org/officeDocument/2006/relationships/slide" Target="/ppt/slides/slide1.xml" Id="Rf913a3e787474be5" /><Relationship Type="http://schemas.openxmlformats.org/officeDocument/2006/relationships/slide" Target="/ppt/slides/slide2.xml" Id="Rd7f607c76e4c41f0" /><Relationship Type="http://schemas.openxmlformats.org/officeDocument/2006/relationships/slide" Target="/ppt/slides/slide3.xml" Id="Rea5008886783440f" /><Relationship Type="http://schemas.openxmlformats.org/officeDocument/2006/relationships/slide" Target="/ppt/slides/slide4.xml" Id="R90bad72ec130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b68f41da45a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ebb71f3ef4741" /><Relationship Type="http://schemas.openxmlformats.org/officeDocument/2006/relationships/notesMaster" Target="/ppt/notesMasters/notesMaster1.xml" Id="R5c895387ce54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c4113f751431d" /><Relationship Type="http://schemas.openxmlformats.org/officeDocument/2006/relationships/notesMaster" Target="/ppt/notesMasters/notesMaster1.xml" Id="Rde2248e6538c4c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0770b607744de5" /><Relationship Type="http://schemas.openxmlformats.org/officeDocument/2006/relationships/notesMaster" Target="/ppt/notesMasters/notesMaster1.xml" Id="Rc798752fef70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ad2a5dba2431c" /><Relationship Type="http://schemas.openxmlformats.org/officeDocument/2006/relationships/notesMaster" Target="/ppt/notesMasters/notesMaster1.xml" Id="R9397aaa2bfc9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PPagenT：fixed-rules-p1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Supporting data（正文未完整呈现）：1月收到120、两工作日内首次可执行答复96、比例80%、中位首次响应1.3个工作日；2月150、114、76%、1.5个工作日；3月180、126、70%、1.8个工作日；4月240、144、60%、2.4个工作日。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PPagenT：fixed-rules-p2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Supporting data（正文未完整呈现）：4月请求组成中数据提取120、数据清洗72、权限开通48；4月未达标请求共96，互斥完整复核为材料不全42、权限确认30、需求反复16、其他8。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PPagenT：fixed-rules-p3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页面判断：B的作用环节与主要阻塞更对应，适合作为先行试点；A可承担短期峰值，C需等字段与机器规则稳定。投入、周期和维护数据均为内部方案估计，B尚未实施。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PPagenT：fixed-rules-p4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页面判断：试点按字段统一、单一请求类型留痕验证、负责人复核决策的顺序推进；记录不完整或出现高频规则错误时回到字段和规则修订。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545a7c3f8477c" /><Relationship Type="http://schemas.openxmlformats.org/officeDocument/2006/relationships/image" Target="/ppt/media/image.jpeg" Id="R1d0d8523e2a441f8" /><Relationship Type="http://schemas.openxmlformats.org/officeDocument/2006/relationships/image" Target="/ppt/media/image.png" Id="R100cb6457c284dd1" /><Relationship Type="http://schemas.openxmlformats.org/officeDocument/2006/relationships/image" Target="/ppt/media/image2.png" Id="R21f99ee187104f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5807b0a974f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c9f3545334de2" /><Relationship Type="http://schemas.openxmlformats.org/officeDocument/2006/relationships/image" Target="/ppt/media/image3.png" Id="Rcee4efb32f694c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8c90e177c4167" /><Relationship Type="http://schemas.openxmlformats.org/officeDocument/2006/relationships/image" Target="/ppt/media/image4.png" Id="R2df64475fd2748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84e53a1b84b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33c24b60f46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90fa06d5645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ea664d9da41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9ecb7c6144e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48ac73c5d4e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2c9d69de64bd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d5bf6edaa94a83" /><Relationship Type="http://schemas.openxmlformats.org/officeDocument/2006/relationships/image" Target="/ppt/media/image5.png" Id="R8ecc78cc20b1428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cf8def7e4d453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5c33b2251949ff" /><Relationship Type="http://schemas.openxmlformats.org/officeDocument/2006/relationships/image" Target="/ppt/media/image5.png" Id="R3900097165634f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8b8b16e62b477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8523e2a441f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cb6457c284dd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99ee187104f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4efb32f694c5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64475fd27487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c78cc20b1428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0097165634f6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ab22301e94c9b" /><Relationship Type="http://schemas.openxmlformats.org/officeDocument/2006/relationships/slideLayout" Target="/ppt/slideLayouts/slideLayout1.xml" Id="R0391dc51a0554ce8" /><Relationship Type="http://schemas.openxmlformats.org/officeDocument/2006/relationships/slideLayout" Target="/ppt/slideLayouts/slideLayout2.xml" Id="R1cff63b214764cd0" /><Relationship Type="http://schemas.openxmlformats.org/officeDocument/2006/relationships/slideLayout" Target="/ppt/slideLayouts/slideLayout3.xml" Id="R9cfec9182fd5407f" /><Relationship Type="http://schemas.openxmlformats.org/officeDocument/2006/relationships/slideLayout" Target="/ppt/slideLayouts/slideLayout4.xml" Id="R2345408ee56d4844" /><Relationship Type="http://schemas.openxmlformats.org/officeDocument/2006/relationships/slideLayout" Target="/ppt/slideLayouts/slideLayout5.xml" Id="Rb0381c597f9f4c5a" /><Relationship Type="http://schemas.openxmlformats.org/officeDocument/2006/relationships/slideLayout" Target="/ppt/slideLayouts/slideLayout6.xml" Id="R7415f3340dee479f" /><Relationship Type="http://schemas.openxmlformats.org/officeDocument/2006/relationships/slideLayout" Target="/ppt/slideLayouts/slideLayout7.xml" Id="R2152ae8df54c49ff" /><Relationship Type="http://schemas.openxmlformats.org/officeDocument/2006/relationships/slideLayout" Target="/ppt/slideLayouts/slideLayout8.xml" Id="R8b490c40880c4ecc" /><Relationship Type="http://schemas.openxmlformats.org/officeDocument/2006/relationships/slideLayout" Target="/ppt/slideLayouts/slideLayout9.xml" Id="Rc0b9712c7b964c10" /><Relationship Type="http://schemas.openxmlformats.org/officeDocument/2006/relationships/slideLayout" Target="/ppt/slideLayouts/slideLayout10.xml" Id="R1513ac5d825446f8" /><Relationship Type="http://schemas.openxmlformats.org/officeDocument/2006/relationships/slideLayout" Target="/ppt/slideLayouts/slideLayout11.xml" Id="R1d24029164c74bb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50e3cee63a6463f" /><Relationship Type="http://schemas.openxmlformats.org/officeDocument/2006/relationships/slideLayout" Target="/ppt/slideLayouts/slideLayout12.xml" Id="Rcdaa8983962c4904" /><Relationship Type="http://schemas.openxmlformats.org/officeDocument/2006/relationships/slideLayout" Target="/ppt/slideLayouts/slideLayout13.xml" Id="R0923cf8ee8c54cd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641345177e549cf" /><Relationship Type="http://schemas.openxmlformats.org/officeDocument/2006/relationships/slideLayout" Target="/ppt/slideLayouts/slideLayout14.xml" Id="R2cbea4cc42bd4572" /><Relationship Type="http://schemas.openxmlformats.org/officeDocument/2006/relationships/slideLayout" Target="/ppt/slideLayouts/slideLayout15.xml" Id="R85457df624c54f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1dc51a0554ce8"/>
    <p:sldLayoutId xmlns:r="http://schemas.openxmlformats.org/officeDocument/2006/relationships" id="2147483650" r:id="R1cff63b214764cd0"/>
    <p:sldLayoutId xmlns:r="http://schemas.openxmlformats.org/officeDocument/2006/relationships" id="2147483651" r:id="R9cfec9182fd5407f"/>
    <p:sldLayoutId xmlns:r="http://schemas.openxmlformats.org/officeDocument/2006/relationships" id="2147483652" r:id="R2345408ee56d4844"/>
    <p:sldLayoutId xmlns:r="http://schemas.openxmlformats.org/officeDocument/2006/relationships" id="2147483653" r:id="Rb0381c597f9f4c5a"/>
    <p:sldLayoutId xmlns:r="http://schemas.openxmlformats.org/officeDocument/2006/relationships" id="2147483654" r:id="R7415f3340dee479f"/>
    <p:sldLayoutId xmlns:r="http://schemas.openxmlformats.org/officeDocument/2006/relationships" id="2147483655" r:id="R2152ae8df54c49ff"/>
    <p:sldLayoutId xmlns:r="http://schemas.openxmlformats.org/officeDocument/2006/relationships" id="2147483656" r:id="R8b490c40880c4ecc"/>
    <p:sldLayoutId xmlns:r="http://schemas.openxmlformats.org/officeDocument/2006/relationships" id="2147483657" r:id="Rc0b9712c7b964c10"/>
    <p:sldLayoutId xmlns:r="http://schemas.openxmlformats.org/officeDocument/2006/relationships" id="2147483658" r:id="R1513ac5d825446f8"/>
    <p:sldLayoutId xmlns:r="http://schemas.openxmlformats.org/officeDocument/2006/relationships" id="2147483659" r:id="R1d24029164c74b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daa8983962c4904"/>
    <p:sldLayoutId xmlns:r="http://schemas.openxmlformats.org/officeDocument/2006/relationships" id="2147483662" r:id="R0923cf8ee8c54cd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cbea4cc42bd4572"/>
    <p:sldLayoutId xmlns:r="http://schemas.openxmlformats.org/officeDocument/2006/relationships" id="2147483665" r:id="R85457df624c54f0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63ee415f764229" /><Relationship Type="http://schemas.openxmlformats.org/officeDocument/2006/relationships/notesSlide" Target="/ppt/notesSlides/notesSlide1.xml" Id="Rb76d60943971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0d412287d74d38" /><Relationship Type="http://schemas.openxmlformats.org/officeDocument/2006/relationships/notesSlide" Target="/ppt/notesSlides/notesSlide2.xml" Id="R44aafe8f39c0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e11a10dd31457d" /><Relationship Type="http://schemas.openxmlformats.org/officeDocument/2006/relationships/notesSlide" Target="/ppt/notesSlides/notesSlide3.xml" Id="Raa4bc97ea6db4b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7aab0ca9964787" /><Relationship Type="http://schemas.openxmlformats.org/officeDocument/2006/relationships/notesSlide" Target="/ppt/notesSlides/notesSlide4.xml" Id="R3a0859a45f9a4d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FB668-F592-44F0-AD3C-922033F6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口径一致：从收到请求起计两个工作日，结案后回看是否给出可执行答复。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E4B3A-2927-45D6-B289-1546DD3D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D5B62-E9EB-48EF-B133-EE760E7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28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CF702-CFA5-4AFB-9BE5-0E6BD4C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33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月度工作量与及时首次响应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5A840-F916-4E07-A4EA-81D762A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F7BFA-CA18-47F8-AB97-CD9DA0F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及时响应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06EDD-5254-4A90-AE0A-C42141D2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86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A93C8-4349-4FD1-8DC5-CE1642ED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13716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330E7-16C2-43B4-95E1-B3DD22E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575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B4D52-E37D-40F6-9F63-0DD79A0B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95675"/>
            <a:ext cx="10668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2D240-82AB-4D88-B9A2-125EE08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575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3FC04-C0A9-44B3-82F0-1B59E4B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7EFEB-ABDB-427F-8F09-33F23C54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95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C1FE9-3FD0-4003-9303-4159513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81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50309-A6F7-4006-87D8-C2A35352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17145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05BC0-26DD-4864-817E-919F102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52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1B347-85A7-421D-950D-391A5D66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90975"/>
            <a:ext cx="101346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DD791-3DB7-4578-B881-A341B8D1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85" y="39528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75E60-2D81-419A-8070-E7AE1F8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F1C889-C7B8-4BC4-BE9D-D0465ABD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148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15079-36B6-40B3-AEC3-623B941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767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76DA84-7E57-4F39-BE3C-742B333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86275"/>
            <a:ext cx="20574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D08AE-2437-4A18-8C35-1986514E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48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679F7-4C7E-4700-A990-09F76FF1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86275"/>
            <a:ext cx="93345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2BB80-39B2-4077-9728-1F958DB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48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3B5C18-0125-44C4-80BD-D72FEEC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481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04035B-04DA-4CE8-BE91-679BA1F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0125"/>
            <a:ext cx="6677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A3404F-FA16-40B0-B2E5-AFCC64F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72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9DA81B-DD90-4530-9FC6-26E6CD82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81575"/>
            <a:ext cx="2743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D26292-9376-4E79-9FBA-1453572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434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8E928B-7910-4066-9EBB-EB9777AF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81575"/>
            <a:ext cx="8001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5D395A-3A9D-45BA-B1C3-8ABA97E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943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AB3D4F-D953-43B2-A810-31506015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434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2.4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94275E-BAD5-4065-B1B5-62A697E2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中位时间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831FE8-EE48-4D68-9627-27992819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单位：工作日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A03F10-715B-412C-B970-A9F71B8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571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313B0B-3A83-4BC2-85B9-3094A98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DC55C6-11E6-46E9-B97D-0BBA729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请求量从120增至240，及时首次响应比例从80%降至60%，中位时间从1.3增至2.4工作日。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41A3D1-B567-4A3C-8945-62CD67C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3019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8E6BE5-1652-4B44-A5A1-24658FE9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7C847A-03F8-4C4F-AAFE-ED4E2C54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服务人员数四个月不变；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无对照实验，不能断言工作量增长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是响应变慢的唯一原因。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2A52EC-A924-48D6-9415-CF6E0554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2573-B7D9-48D2-99F3-B9F27D10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对未达到两个工作日首次响应标准的96个请求复核；每个请求仅记一个主要阻塞原因。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ACCA-66F6-49A9-955F-711C928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0C8F7-5451-4462-A221-B0E5D2FF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7239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65D15-4C2A-4F20-A02F-3A99954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96个未达标请求的主要阻塞原因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737E2-B5D1-476A-9365-97644DD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8803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C273B-886D-484A-9655-2F7A76AD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6606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2A0ED-5BBD-413A-8B49-A3321F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10" y="3286125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76EC0-FC2E-49EA-A386-2C8BC1B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560" y="3390900"/>
            <a:ext cx="1943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51AB6-3F9C-49CF-99D8-3743EE18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0" y="3286125"/>
            <a:ext cx="10972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6F80F-A4CC-400F-92A2-94DED17D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3286125"/>
            <a:ext cx="54864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7A706-2A98-4D20-A497-E3D11FD2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B1CB-EC93-47A3-82C1-E30EC94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7667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207D3-FC67-4541-943E-FCD2259B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81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AF392-24A6-428A-8004-1D6B53C0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</a:t>
            </a:r>
          </a:p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8（8%）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B0C3D-1601-48B8-B384-699C0800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材料与权限阻塞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1B63B-5994-4AE9-8B09-501DAD4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42 + 30 = 72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1082D-25B9-4589-827B-F512AD2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占比 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28BB02-DBD0-4840-82A9-AE3A72D4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57187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0AC65-CE20-4AB0-9100-C9F0A4C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这组数据支持什么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C0ED6B-A89B-45A4-9ABE-6B8B0EC9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主要阻塞集中在材料与权限环节，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因此统一入口具有明确的对应关系。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FD99B-EC31-4438-B300-CF3382A1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3019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0951E9-F732-42B9-8006-C923404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不能直接推出什么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8D19CA-9A22-4736-BB37-E61099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复核分类不等于措施可消除的数量；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不能据此预测节省工时。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FF510-DBA9-4A20-92CB-04079CD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定义：材料不全含字段缺失或未附样本；权限确认含授权人或范围未确认。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9210D-BD53-4B71-B084-91F5C3B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投入与周期为内部方案估计；B尚未实施，人日是实施工作量，不能换算响应改善。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A0A70-4E5B-43AD-A026-CB03261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CCAF4-64E7-42A9-898E-C6399EE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D2A86-DB9B-4F09-A598-640EBC32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5F5D9-E1E8-45F4-A7C4-7A1B7CD8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8106F-C9E2-4E19-AF8B-78432AD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D9FCE-1C65-40A5-93AE-E7F4003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57D89-BD2D-4BE7-929D-6B581D87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514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2F281-B7FC-4BAC-93EA-5117D75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7C233-B34E-4779-91ED-AE08583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7C6ED-B1A5-451E-8E3F-AC892D27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82247-9165-42D8-8455-D32CE7B4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93BB4-53B2-4F45-B2B1-24ABEDAB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DE9BF-93AC-4909-A04E-E36078E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72DB7-201B-4025-A1DF-846B2164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7ACEF-FF27-4876-9A41-F8CFEBB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0E922-7586-40C4-A697-9F980BF7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242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A6CF9-B124-44C7-B7F3-F661070E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242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D5D304-2677-4B37-9273-F883FD2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242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13C535-3BCE-4F52-946E-0D86AD28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034244-F0D4-4771-811F-2CB694DE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EA6267-8DD9-4856-A0BB-036FC88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FA55C8-61B2-4D95-B72D-8EDE97C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147CC6-A1BB-47F3-AFBE-8A5D808B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660B9-64BE-4FAF-9807-86C4624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9A31D-752C-4445-9C79-051299CB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86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BE8A76-3525-44FD-A8E9-CF77284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066614-2BC9-4E81-9683-FC50FE5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576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716219-763E-4AD0-A796-9F9BFEEF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592EE8-1238-4385-B953-626F279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E439E7-AAB7-4917-B727-D04FFB50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52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2E13DD-3538-4A86-A13D-996EFD9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244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A5B256-9B2A-414A-B9A2-ABBC65E7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199439-7DDE-4411-BA91-34EB397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450EBC-585D-4E5D-915F-21662F31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14925"/>
            <a:ext cx="11144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92FC0A-9292-410E-9225-955580B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5FE632-ABA6-4F4C-A90E-566CEE9F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F66A10-D5E5-4D97-94E2-617DECD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911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4FFCE1-5276-48B7-9DD7-7FB68B2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911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A73896-39D0-4EEC-9A7B-7F929E0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578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25486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BCEFB7-2D40-4AEA-9A25-D7A171D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依据：B覆盖字段与授权校验；A只缓解排队，C需稳定规则后再评估。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8E7DD-3582-40B3-A856-22170B1B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先验证统一入口能否形成完整记录，再决定是否扩大到其他两类请求。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B082D-423F-4630-B772-FE71AF4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EEAC0-D620-4524-8800-B148FFA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EF4FC-969E-4289-A7D8-76A9420D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0FC18-C96E-41BD-A609-A10FB10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9BE27-4BF0-478C-BAB4-7C4FCD8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统一字段、授权责任与入口。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FD660-03F5-4561-AEB3-2A7769B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672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03ABF-80B1-4150-8FA1-EDC434C3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进入条件：三类请求均完成一轮实际样本填写检查，且无关键必填字段缺失。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CBAB0-613E-471F-BB59-0F3E684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D1C7D-D138-4B02-A2D9-673296B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519E7-3B8E-46FC-8A7A-659E80E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39257-6B14-4927-9F23-387E980A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不同时覆盖其他两类。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5AFB4-53C4-4961-B60A-8F524D4D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5ACD3-207C-4477-832F-7450EE0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扩大条件：记录完整，且未发现会阻断提交的高频规则错误。否则回到字段和规则修订。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74353-6991-40C2-A007-3466F11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1935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58AD2-36C2-498B-89D6-E66FABB7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09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BA3E74-C68C-44D1-BA0D-C122EC3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670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复核试点数据后再决策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FC730-CF03-4E38-B6E2-7B29A01C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242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负责人复核后，决定是否扩大到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数据清洗和权限开通。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1A9F6-79BD-4DEA-9328-8C14EFFB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6720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C937BF-DE47-4522-858C-2CE895E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38650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评估指标：两个工作日内响应比例；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材料退回比例；经办人维护时间。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目标值由试点基线确定。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BE57F4-B779-4848-B28E-2155BDE1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909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A6D2D2-2A48-4C32-AC5E-9B465FE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2869A-D85C-4460-9280-C056BA6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338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CE56D-1F1C-4450-A5C4-55E8C01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338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8C2705-C3F9-428E-8570-6D52C220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197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回到字段和规则修订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E60E0A-5624-41A5-B1E8-E685A1D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BC8F42-E57E-4D5D-97A5-B7C9636A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62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87C611-29B1-4ED5-8A28-3D8F9E32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E9BF5C-2BB7-4584-9DB1-8084305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81600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DA7EB-5DFE-4BE3-8CD0-2B4FE06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2026-09-08T23:20:12.1280000Z</dcterms:created>
  <dcterms:modified xsi:type="dcterms:W3CDTF">2026-09-08T23:20:12.1280000Z</dcterms:modified>
</coreProperties>
</file>