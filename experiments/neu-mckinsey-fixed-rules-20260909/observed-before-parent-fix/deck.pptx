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540abbaee646a1" /><Relationship Type="http://schemas.openxmlformats.org/officeDocument/2006/relationships/extended-properties" Target="/docProps/app.xml" Id="Rfef3135bfed7451b" /><Relationship Type="http://schemas.openxmlformats.org/officeDocument/2006/relationships/officeDocument" Target="/ppt/presentation.xml" Id="R03d3773309154f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f43d52cfcf40f5"/>
    <p:sldMasterId xmlns:r="http://schemas.openxmlformats.org/officeDocument/2006/relationships" id="2147483660" r:id="Ree665561f5d94efb"/>
    <p:sldMasterId xmlns:r="http://schemas.openxmlformats.org/officeDocument/2006/relationships" id="2147483663" r:id="R80383baf3e224da7"/>
  </p:sldMasterIdLst>
  <p:notesMasterIdLst>
    <p:notesMasterId xmlns:r="http://schemas.openxmlformats.org/officeDocument/2006/relationships" r:id="Rf5d1ed3acc944627"/>
  </p:notesMasterIdLst>
  <p:sldIdLst>
    <p:sldId xmlns:r="http://schemas.openxmlformats.org/officeDocument/2006/relationships" id="256" r:id="Rd870d7e37a05411e"/>
    <p:sldId xmlns:r="http://schemas.openxmlformats.org/officeDocument/2006/relationships" id="257" r:id="Rd425fe8d55744f69"/>
    <p:sldId xmlns:r="http://schemas.openxmlformats.org/officeDocument/2006/relationships" id="258" r:id="R8635b2b4f86f4ba7"/>
    <p:sldId xmlns:r="http://schemas.openxmlformats.org/officeDocument/2006/relationships" id="259" r:id="R4d392a8d6a67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feee4ac2d144a9" /><Relationship Type="http://schemas.openxmlformats.org/officeDocument/2006/relationships/slideMaster" Target="/ppt/slideMasters/slideMaster1.xml" Id="R1df43d52cfcf40f5" /><Relationship Type="http://schemas.openxmlformats.org/officeDocument/2006/relationships/slideMaster" Target="/ppt/slideMasters/slideMaster2.xml" Id="Ree665561f5d94efb" /><Relationship Type="http://schemas.openxmlformats.org/officeDocument/2006/relationships/slideMaster" Target="/ppt/slideMasters/slideMaster3.xml" Id="R80383baf3e224da7" /><Relationship Type="http://schemas.openxmlformats.org/officeDocument/2006/relationships/notesMaster" Target="/ppt/notesMasters/notesMaster1.xml" Id="Rf5d1ed3acc944627" /><Relationship Type="http://schemas.openxmlformats.org/officeDocument/2006/relationships/presProps" Target="/ppt/presProps.xml" Id="R3daeaafc5eaf4979" /><Relationship Type="http://schemas.openxmlformats.org/officeDocument/2006/relationships/viewProps" Target="/ppt/viewProps.xml" Id="Rbf13d26b0de645fe" /><Relationship Type="http://schemas.openxmlformats.org/officeDocument/2006/relationships/tableStyles" Target="/ppt/tableStyles.xml" Id="Ra46e9f88a2cd4983" /><Relationship Type="http://schemas.openxmlformats.org/officeDocument/2006/relationships/slide" Target="/ppt/slides/slide1.xml" Id="Rd870d7e37a05411e" /><Relationship Type="http://schemas.openxmlformats.org/officeDocument/2006/relationships/slide" Target="/ppt/slides/slide2.xml" Id="Rd425fe8d55744f69" /><Relationship Type="http://schemas.openxmlformats.org/officeDocument/2006/relationships/slide" Target="/ppt/slides/slide3.xml" Id="R8635b2b4f86f4ba7" /><Relationship Type="http://schemas.openxmlformats.org/officeDocument/2006/relationships/slide" Target="/ppt/slides/slide4.xml" Id="R4d392a8d6a67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266d79ca15447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46fb516d464f23" /><Relationship Type="http://schemas.openxmlformats.org/officeDocument/2006/relationships/notesMaster" Target="/ppt/notesMasters/notesMaster1.xml" Id="R7c56f2270fc547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3617d38f2e465b" /><Relationship Type="http://schemas.openxmlformats.org/officeDocument/2006/relationships/notesMaster" Target="/ppt/notesMasters/notesMaster1.xml" Id="R3b7fc94fac7541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e5ca620f2a4e27" /><Relationship Type="http://schemas.openxmlformats.org/officeDocument/2006/relationships/notesMaster" Target="/ppt/notesMasters/notesMaster1.xml" Id="R5b0110a4ab5d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e429705eed4816" /><Relationship Type="http://schemas.openxmlformats.org/officeDocument/2006/relationships/notesMaster" Target="/ppt/notesMasters/notesMaster1.xml" Id="Rad782415430849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PPagenT：fixed-rules-p1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PPagenT：fixed-rules-p2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PPagenT：fixed-rules-p3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PPagenT：fixed-rules-p4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4f1d6c382433e" /><Relationship Type="http://schemas.openxmlformats.org/officeDocument/2006/relationships/image" Target="/ppt/media/image.jpeg" Id="R86d1647cdd0747b7" /><Relationship Type="http://schemas.openxmlformats.org/officeDocument/2006/relationships/image" Target="/ppt/media/image.png" Id="R9d67ba6eb06843e0" /><Relationship Type="http://schemas.openxmlformats.org/officeDocument/2006/relationships/image" Target="/ppt/media/image2.png" Id="Ra75d312e326246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819d9e9474c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f4b2b6a3a4dc3" /><Relationship Type="http://schemas.openxmlformats.org/officeDocument/2006/relationships/image" Target="/ppt/media/image3.png" Id="R4e296452ec9241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3d84081da4521" /><Relationship Type="http://schemas.openxmlformats.org/officeDocument/2006/relationships/image" Target="/ppt/media/image4.png" Id="Rba60c5ad597d4a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967bad5ee4b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35de52c2c43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4b5fb925e47d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5b11f34514b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100b538224f1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a0dbd0fa44be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c0946965748b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6b5a6e2e064151" /><Relationship Type="http://schemas.openxmlformats.org/officeDocument/2006/relationships/image" Target="/ppt/media/image5.png" Id="R02225644d915413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c01e83faab471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f28ae3d5474799" /><Relationship Type="http://schemas.openxmlformats.org/officeDocument/2006/relationships/image" Target="/ppt/media/image5.png" Id="Rf1afd65d0eb3407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cc1d5a7458f40e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1647cdd0747b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7ba6eb06843e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d312e32624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96452ec92415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0c5ad597d4aa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25644d915413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fd65d0eb3407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d3a0d8e2d54378" /><Relationship Type="http://schemas.openxmlformats.org/officeDocument/2006/relationships/slideLayout" Target="/ppt/slideLayouts/slideLayout1.xml" Id="R251fa53ed9c64f68" /><Relationship Type="http://schemas.openxmlformats.org/officeDocument/2006/relationships/slideLayout" Target="/ppt/slideLayouts/slideLayout2.xml" Id="R21c85a083fb84fe2" /><Relationship Type="http://schemas.openxmlformats.org/officeDocument/2006/relationships/slideLayout" Target="/ppt/slideLayouts/slideLayout3.xml" Id="Rcb39d914acc84661" /><Relationship Type="http://schemas.openxmlformats.org/officeDocument/2006/relationships/slideLayout" Target="/ppt/slideLayouts/slideLayout4.xml" Id="R2871f822908a4409" /><Relationship Type="http://schemas.openxmlformats.org/officeDocument/2006/relationships/slideLayout" Target="/ppt/slideLayouts/slideLayout5.xml" Id="R267d98b2d97a4ea4" /><Relationship Type="http://schemas.openxmlformats.org/officeDocument/2006/relationships/slideLayout" Target="/ppt/slideLayouts/slideLayout6.xml" Id="R579530e9869f4100" /><Relationship Type="http://schemas.openxmlformats.org/officeDocument/2006/relationships/slideLayout" Target="/ppt/slideLayouts/slideLayout7.xml" Id="R8478f6a04d394fc3" /><Relationship Type="http://schemas.openxmlformats.org/officeDocument/2006/relationships/slideLayout" Target="/ppt/slideLayouts/slideLayout8.xml" Id="R414c8448be4c4ae5" /><Relationship Type="http://schemas.openxmlformats.org/officeDocument/2006/relationships/slideLayout" Target="/ppt/slideLayouts/slideLayout9.xml" Id="Rea0070bc368a4779" /><Relationship Type="http://schemas.openxmlformats.org/officeDocument/2006/relationships/slideLayout" Target="/ppt/slideLayouts/slideLayout10.xml" Id="R15c18c98f8e947b2" /><Relationship Type="http://schemas.openxmlformats.org/officeDocument/2006/relationships/slideLayout" Target="/ppt/slideLayouts/slideLayout11.xml" Id="R2c993a04c64c487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c6ce22e8eca4511" /><Relationship Type="http://schemas.openxmlformats.org/officeDocument/2006/relationships/slideLayout" Target="/ppt/slideLayouts/slideLayout12.xml" Id="R7fe4b1e9a8144b19" /><Relationship Type="http://schemas.openxmlformats.org/officeDocument/2006/relationships/slideLayout" Target="/ppt/slideLayouts/slideLayout13.xml" Id="R7baab6f5890b4be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39cea7e905b47c2" /><Relationship Type="http://schemas.openxmlformats.org/officeDocument/2006/relationships/slideLayout" Target="/ppt/slideLayouts/slideLayout14.xml" Id="R2ca1736ca0e64d59" /><Relationship Type="http://schemas.openxmlformats.org/officeDocument/2006/relationships/slideLayout" Target="/ppt/slideLayouts/slideLayout15.xml" Id="R6b86c0010f6a49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1fa53ed9c64f68"/>
    <p:sldLayoutId xmlns:r="http://schemas.openxmlformats.org/officeDocument/2006/relationships" id="2147483650" r:id="R21c85a083fb84fe2"/>
    <p:sldLayoutId xmlns:r="http://schemas.openxmlformats.org/officeDocument/2006/relationships" id="2147483651" r:id="Rcb39d914acc84661"/>
    <p:sldLayoutId xmlns:r="http://schemas.openxmlformats.org/officeDocument/2006/relationships" id="2147483652" r:id="R2871f822908a4409"/>
    <p:sldLayoutId xmlns:r="http://schemas.openxmlformats.org/officeDocument/2006/relationships" id="2147483653" r:id="R267d98b2d97a4ea4"/>
    <p:sldLayoutId xmlns:r="http://schemas.openxmlformats.org/officeDocument/2006/relationships" id="2147483654" r:id="R579530e9869f4100"/>
    <p:sldLayoutId xmlns:r="http://schemas.openxmlformats.org/officeDocument/2006/relationships" id="2147483655" r:id="R8478f6a04d394fc3"/>
    <p:sldLayoutId xmlns:r="http://schemas.openxmlformats.org/officeDocument/2006/relationships" id="2147483656" r:id="R414c8448be4c4ae5"/>
    <p:sldLayoutId xmlns:r="http://schemas.openxmlformats.org/officeDocument/2006/relationships" id="2147483657" r:id="Rea0070bc368a4779"/>
    <p:sldLayoutId xmlns:r="http://schemas.openxmlformats.org/officeDocument/2006/relationships" id="2147483658" r:id="R15c18c98f8e947b2"/>
    <p:sldLayoutId xmlns:r="http://schemas.openxmlformats.org/officeDocument/2006/relationships" id="2147483659" r:id="R2c993a04c64c487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fe4b1e9a8144b19"/>
    <p:sldLayoutId xmlns:r="http://schemas.openxmlformats.org/officeDocument/2006/relationships" id="2147483662" r:id="R7baab6f5890b4be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ca1736ca0e64d59"/>
    <p:sldLayoutId xmlns:r="http://schemas.openxmlformats.org/officeDocument/2006/relationships" id="2147483665" r:id="R6b86c0010f6a49c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d622f6c45b4628" /><Relationship Type="http://schemas.openxmlformats.org/officeDocument/2006/relationships/notesSlide" Target="/ppt/notesSlides/notesSlide1.xml" Id="R1b42591c023f4e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d3e424c1c24211" /><Relationship Type="http://schemas.openxmlformats.org/officeDocument/2006/relationships/notesSlide" Target="/ppt/notesSlides/notesSlide2.xml" Id="Ra9b3d90ce92b43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f7932498d4455f" /><Relationship Type="http://schemas.openxmlformats.org/officeDocument/2006/relationships/notesSlide" Target="/ppt/notesSlides/notesSlide3.xml" Id="Reca5704a85ee4b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7667be669a46f1" /><Relationship Type="http://schemas.openxmlformats.org/officeDocument/2006/relationships/notesSlide" Target="/ppt/notesSlides/notesSlide4.xml" Id="R130a853fb5e341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工作量翻倍，及时首次响应比例降至60%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历史观察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43BB0-1C1A-4BA9-9C12-340A87F5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历史观察（1—4月）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4EBA1-7B93-45CB-85A9-4692C30E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口径一致：当月收到的请求中，观察结案后是否在两个工作日内首次给出可执行答复。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639A0-D482-4AA4-B8F3-1F9D532F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E9C56-CC68-4823-A3F5-43DC9EAD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728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0758F-A83F-4E88-8745-4DE9F13C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33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月度工作量与及时首次响应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1DACF-E6C8-4F9C-B52E-31B6AC29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33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收到请求数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10668-D243-46AD-A45B-D31CBE91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两日内首次答复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0C214-C925-42AC-BAB6-3BD9761B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95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051E4-B390-411B-97F2-AE6A6307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05175"/>
            <a:ext cx="15430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48A6F-C887-42DD-9682-F274AD7F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67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42E56-0C2A-4302-9E1A-EF1B61A3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05175"/>
            <a:ext cx="123444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C98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B2304-E955-4359-BA2B-7174E8A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590" y="32670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38DC4E-AAC5-462C-953C-CB49032A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67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DF996-316D-4D50-A84B-AE9F2C02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29025"/>
            <a:ext cx="6677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08D27C-2C69-4B3C-B41B-30B1A73D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90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74327B-7195-4440-A401-E34A35CA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00475"/>
            <a:ext cx="1928813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7019D4-742B-4449-A612-3429041D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762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BE8B1-0DF3-4869-8AA6-454C5A90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00475"/>
            <a:ext cx="1465898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C98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535BB-BC31-4DC0-BCB7-DB45B322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048" y="37623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31FC4C-0494-464D-B86D-7C4C6C4E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A16371-2640-4B48-BF07-F6014B97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24325"/>
            <a:ext cx="6677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52657E-1F7F-4D03-8657-9496A31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86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08C8C5-865C-4322-A97C-71C4921D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2314575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AFFC66-4F0D-4CFB-A420-8A5F6DC6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5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EE90CA-4533-47CA-932B-3E3BA5B8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95775"/>
            <a:ext cx="1620203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C98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C17769-AF9B-43FE-B172-1F0B0ECE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42576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DD344A-6721-493E-8B8F-CC7070C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505F1E-D099-4195-A14F-5F767A23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19625"/>
            <a:ext cx="6677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D1EDAF-7CD7-4558-8EB1-749D67C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81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69FB1F-8C8E-4103-ACC8-D74802C5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91075"/>
            <a:ext cx="30861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44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DE222F-5994-4CC8-B859-94CC72D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52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961577-765B-459B-8046-2698D0E9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91075"/>
            <a:ext cx="185166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B65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FD35AD-997B-4F01-A140-C2FED93E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810" y="47529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3250BA-77AD-43B5-AA61-D2603E97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529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2.4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641942-E580-4E98-87EB-A2C2F031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3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中位时长·工作日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2CB31C-A079-4493-A9C5-C9F1B545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571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0318FA-3D56-4A0B-80D5-FA483D81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E52484-42CB-4148-8F11-B5FABC9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请求量从120增至240，</a:t>
            </a:r>
          </a:p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及时首次响应比例从80%降至60%，</a:t>
            </a:r>
          </a:p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中位时间从1.3增至2.4工作日。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03D119-EF0F-401C-8014-A6EE706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3019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A5A577-2999-4F21-9007-5B7B7391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EE9A03-6D57-413F-A52B-94904FA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24400"/>
            <a:ext cx="300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服务人员数四个月不变；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无对照实验，不能断言工作量增长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是响应变慢的唯一原因。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AC6BC7-D45B-495F-8599-9617F589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注：该指标不是结案时长；每月无缺失记录。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4月超时请求中，材料与权限阻塞占75%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4EDAA-8473-46CC-B235-2106160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原因复核（4月）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B35D7-49E5-4410-B5BE-A202DC5D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对未达到两个工作日首次响应标准的96个请求复核；每个请求仅记一个主要阻塞原因。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6B202-E823-4385-B71D-C8DDCAE8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C5A42-911A-47AD-BE38-0086466A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7239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EAF6B-8F5C-408B-9C55-00EEE3F6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96个未达标请求的主要阻塞原因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1E99B-30C8-4953-9DD7-3CCE9875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2880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ECED6-BE5D-40F9-9591-BC7CC1A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76606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42（44%）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903C0-2E06-47F2-A9AF-534D1006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410" y="3286125"/>
            <a:ext cx="205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0B3CFD-1621-4AC5-B879-8223858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560" y="3390900"/>
            <a:ext cx="1943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30（31%）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EA60A-44D9-453F-89BA-31663FD4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0" y="3286125"/>
            <a:ext cx="10972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69393-870B-412F-80D6-5E201A47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3286125"/>
            <a:ext cx="54864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3DA27-F4C5-45DB-B5D5-5059A96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需求反复 16（17%） · 其他 8（8%）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56FC9-15EE-4857-80AF-AAF32C1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材料不全 + 权限确认 = 72个，占75%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BEA51-F7BC-4ED0-B4C4-B84583EB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分类互斥且合计完整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8AB4E-9CFD-44DD-8B5F-EB3E0D9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57187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659C80-DF84-4D9B-8F79-4F728B64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这组数据支持什么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3A560E-747F-48D6-A544-CC88AD1A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主要阻塞集中在材料与权限环节，</a:t>
            </a:r>
          </a:p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因此统一入口具有明确的对应关系。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032D07-DBE0-4A8C-B22F-1F4FE4A5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3019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4A0137-699B-40D8-9FEF-0B47F5A6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不能直接推出什么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F97084-ACAD-448B-AB91-C1E79E92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复核分类不等于各措施可消除的数量，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也不能据此预测节省工时。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08E2F5-1CD2-42DF-B59C-D6313778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定义：材料不全含字段缺失或未附样本；权限确认含授权人或范围未确认。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应对措施先选B，因其直接作用于主要阻塞环节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方案比较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FBF6A-A529-4A69-BDCF-24CBAA02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方案比较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DC349-0F93-4F7E-A920-728469C7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投入与周期均为内部方案估计；人日表示实施工作量，不能与响应改善直接换算。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DBC5C-F753-4C98-826E-634482F6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F5EAD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8732"/>
                </a:solidFill>
                <a:latin typeface="Microsoft YaHei"/>
                <a:ea typeface="Microsoft YaHei"/>
                <a:cs typeface="Microsoft YaHei"/>
              </a:rPr>
              <a:t>模拟估计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52071-97A0-4DB2-86FF-73A6033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2B19F-34CC-40E1-8D75-7FC45737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43150"/>
            <a:ext cx="2781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6334F-78FF-4989-B7F1-BF956A3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524A7-F787-40E2-B1DA-BD0D023B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2781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6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D9283-8E4E-4D11-838C-03CB6AB9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196FB-C9F6-4D29-B8DF-40CD644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514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AE413-5EDC-4FAE-A527-6EB55B73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3286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45FFD-D813-4E00-9E93-3DDDAC99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060D5-5517-4C76-9F04-2B7C0E82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860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849F7-73EA-4B6C-A147-2F0A8C18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93F1E-E51B-40A0-B871-C118D410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C0DAA-ECCC-4FB9-8D41-0207EFCF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2F4CF-284C-4665-8885-42B7F47F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0218D9-725B-43E3-998F-A635E370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FE0EA-E6BB-42EA-87A1-064CA028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242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25FD0A-DB52-4AB9-A19A-4BBE19D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242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FBCF9B-AF07-4A56-9953-0A44A300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242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7E9A1E-6F2A-48FF-ACDF-39B72BD7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3792D3-7203-4851-B634-F3DFEFAD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95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8D730A-9446-429F-B3B9-4C101C17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00D917-02C2-4A75-AC1C-4A20E60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09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2D9D48-A176-4E82-B4C5-7E563786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90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B51270-5AB6-4043-8688-A6B465B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7CE184-4AD6-4C11-80D3-69A00F8B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86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344D41-11DD-4E15-89FA-96F1AFAD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B661D5-C6D4-40C2-B129-849F50B2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576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757F0F-D7E4-403E-90FA-F5557864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B95038-63AE-4B88-B9AC-5E998D8E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24AE24-9932-413D-A989-B6DEF8E4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529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EE2B30-9B42-49EA-AC4E-2FF2247E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244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CBCA70-1F38-4310-945B-798EC80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B4E497-C93B-4500-994B-9EB9C343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A6670C-A865-44C8-AB25-8147CDE0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14925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01C23D-0E8A-4FA7-BBFC-FC77F8C7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4F0134-ED1C-4BA8-9EA6-430F1DE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780AEC-EB3E-4D90-82B5-BC9EE1F0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911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3B6343-2EE4-478C-B9F2-358888EF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911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813D73-BF49-48F0-AD00-809BC6A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5785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6"/>
          </a:solidFill>
          <a:ln xmlns:a="http://schemas.openxmlformats.org/drawingml/2006/main" w="9525">
            <a:solidFill>
              <a:srgbClr val="4F79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E05E37-7263-4832-BCFD-29E652C0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判断：先试行B，保留A作为短期高峰应急；C待入口规则稳定后再评估。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先用6周验证统一入口，再决定是否扩大范围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有限试点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8D370-5A15-4F66-86F6-84706EB3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有限试点（六周）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A8EFA-AEDA-4A8E-8818-CB1B4E8A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先验证统一入口能否形成完整记录，再决定是否扩大到其他两类请求。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09631-16BD-4A58-A62A-CBF3EBA6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模拟计划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9ED6E-02DA-48C6-A3CC-6FFDC49A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3333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E5CB0-AFDB-4F07-8009-4676595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9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第1—2周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EE573-8D7B-4919-BA2D-1BC03AB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2B22B-8E1C-4B16-817F-C3BF632C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242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负责人联合三类请求经办人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形成字段字典、授权清单和统一入口。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37B27-A9CF-4BF2-9A53-85606A6B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6720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EB542-22FA-4FED-B1C8-9E1BE1B8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386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进入条件：三类请求均完成一轮实际样本填写检查，且无关键必填字段缺失。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4D4F2-026C-4CE2-AAE8-30F5F7BD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3333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6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C11E4-61A0-4D57-89E5-0AE25E3E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F7963"/>
                </a:solidFill>
                <a:latin typeface="Microsoft YaHei"/>
                <a:ea typeface="Microsoft YaHei"/>
                <a:cs typeface="Microsoft YaHei"/>
              </a:rPr>
              <a:t>第3—4周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394C17-547F-4AD1-A51D-79F413AA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只在数据提取请求试用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3641B-32CB-4391-B56F-753C2827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保存缺失字段、退回原因和首次响应记录。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不同时覆盖其他两类。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5E83D-E8E4-47F2-BE47-739D925A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7FD47-D439-4982-9DF1-2A9BCD0C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扩大条件：记录完整，且未发现会阻断提交的高频规则错误。否则回到字段和规则修订。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AF8B8-540F-4F91-83B1-3DC49514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19350"/>
            <a:ext cx="4000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D7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889BE5-953C-4404-9102-3103D037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098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568"/>
                </a:solidFill>
                <a:latin typeface="Microsoft YaHei"/>
                <a:ea typeface="Microsoft YaHei"/>
                <a:cs typeface="Microsoft YaHei"/>
              </a:rPr>
              <a:t>第5—6周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0F2DE-E23D-44E9-AAEF-28194B0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670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复核试点数据后再决策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75FD4A-5674-4085-9FF6-8447529C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242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负责人复核后，决定是否扩大到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数据清洗和权限开通。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D4B40C-75A3-4D1F-ADD1-B45699E9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67200"/>
            <a:ext cx="358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B15C32-5873-4F97-A8FA-576532F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438650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同时评估：两日内响应比例、材料退回比例、经办人维护时间。目标值由试点基线确定。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2898A0-8D90-47B7-B721-BEF1E5B0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909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5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805C0B-9B97-4842-991E-F6322CB7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909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5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91FAB2-DFC8-451C-A63B-3EEB906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3911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回到字段和规则修订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C514D6-6C6E-4CB2-A334-1B352A31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4ECCE2-3CB5-48F5-B1CF-FED32AF7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36DB51-813B-4018-815B-86D17996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816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CB29E0-7494-4BCA-96C0-69A1447E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边界：B尚未实施，不能宣称已有改善，也不能承诺消除所有材料与权限阻塞。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2026-09-08T16:37:23.5950000Z</dcterms:created>
  <dcterms:modified xsi:type="dcterms:W3CDTF">2026-09-08T16:37:23.5950000Z</dcterms:modified>
</coreProperties>
</file>