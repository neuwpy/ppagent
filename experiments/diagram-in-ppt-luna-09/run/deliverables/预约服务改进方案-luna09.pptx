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7310a6acfc44cb" /><Relationship Type="http://schemas.openxmlformats.org/officeDocument/2006/relationships/extended-properties" Target="/docProps/app.xml" Id="Rfd1eaf738e08444e" /><Relationship Type="http://schemas.openxmlformats.org/officeDocument/2006/relationships/officeDocument" Target="/ppt/presentation.xml" Id="R51a8f13e521e44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124701905c4c0d"/>
  </p:sldMasterIdLst>
  <p:notesMasterIdLst>
    <p:notesMasterId xmlns:r="http://schemas.openxmlformats.org/officeDocument/2006/relationships" r:id="R31745037222f4b25"/>
  </p:notesMasterIdLst>
  <p:sldIdLst>
    <p:sldId xmlns:r="http://schemas.openxmlformats.org/officeDocument/2006/relationships" id="256" r:id="R283a4a7ae9c24a4f"/>
    <p:sldId xmlns:r="http://schemas.openxmlformats.org/officeDocument/2006/relationships" id="257" r:id="Ra4b2e721a6d74f3a"/>
    <p:sldId xmlns:r="http://schemas.openxmlformats.org/officeDocument/2006/relationships" id="258" r:id="Reb8a90bff9df47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2a73e8b2464b8d" /><Relationship Type="http://schemas.openxmlformats.org/officeDocument/2006/relationships/slideMaster" Target="/ppt/slideMasters/slideMaster1.xml" Id="R21124701905c4c0d" /><Relationship Type="http://schemas.openxmlformats.org/officeDocument/2006/relationships/notesMaster" Target="/ppt/notesMasters/notesMaster1.xml" Id="R31745037222f4b25" /><Relationship Type="http://schemas.openxmlformats.org/officeDocument/2006/relationships/presProps" Target="/ppt/presProps.xml" Id="R19790db390904ca8" /><Relationship Type="http://schemas.openxmlformats.org/officeDocument/2006/relationships/tableStyles" Target="/ppt/tableStyles.xml" Id="R7d66bb4498de414a" /><Relationship Type="http://schemas.openxmlformats.org/officeDocument/2006/relationships/slide" Target="/ppt/slides/slide1.xml" Id="R283a4a7ae9c24a4f" /><Relationship Type="http://schemas.openxmlformats.org/officeDocument/2006/relationships/slide" Target="/ppt/slides/slide2.xml" Id="Ra4b2e721a6d74f3a" /><Relationship Type="http://schemas.openxmlformats.org/officeDocument/2006/relationships/slide" Target="/ppt/slides/slide3.xml" Id="Reb8a90bff9df47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9361b8174e49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7C473C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A35D4F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e4d9d8710c444c" /><Relationship Type="http://schemas.openxmlformats.org/officeDocument/2006/relationships/notesMaster" Target="/ppt/notesMasters/notesMaster1.xml" Id="R159bb46ec13149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6d660fad1c41e5" /><Relationship Type="http://schemas.openxmlformats.org/officeDocument/2006/relationships/notesMaster" Target="/ppt/notesMasters/notesMaster1.xml" Id="Rebac7fe8290c4e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71044c87d74c87" /><Relationship Type="http://schemas.openxmlformats.org/officeDocument/2006/relationships/notesMaster" Target="/ppt/notesMasters/notesMaster1.xml" Id="Ra7e3094c49514a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来源：experiments/diagram-in-ppt-luna-09/manuscript.md。页面关系：申请人、平台、管理员、设备负责人之间的消息方向与反馈状态。项目结构检索后，按第二顺位调用Archify sequence，实际候选为run/archify-candidate.json，validate与deliver均通过9/9 showcase检查，输出中间图run/archify-sequence-v2.html。nativeEditablePptx=true。构建脚本实际读取Archify的participants/messages（ID、from/to、label、note、y、variant），再按当前Skin的角色泳道坐标重建为原生连接和文字，模式标记为adapted-native。消息ID到PPT对象映射：submit→message-line-submit/message-label-submit；received→message-line-received/message-label-received；handoff→message-line-handoff/message-label-handoff；ask→message-line-ask/message-label-ask；reply→message-line-reply/message-label-reply；confirm→message-line-confirm/message-label-confirm；confirmed→message-line-confirmed/message-label-confirmed。Archify intermediate仍是流程语义证据，不声称存在通用转换器。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xperiments/diagram-in-ppt-luna-09/manuscript.md。结构选型：直接调用hub-directed-outcomes-002，检索记录与适配理由见structure-invocations.ndjson。上游节点/关系到PPT对象映射：hub-center*对应可追溯预约记录；hub-node-0/1/2对应申请记录、材料核对、时段记录；hub-connection-*为三类资料向中心汇入。输出类型：adapted-native；PPT对象和文字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xperiments/diagram-in-ppt-luna-09/manuscript.md。结构选型：直接调用parallel-equal-cards-001，三个观察点同级并列；“保留纸面或人工沟通渠道”是贯穿试点边界，未被编造成顺序节点。上游节点到PPT对象映射：parallel-item-0/1/2及其标题和正文对应区分状态、找到记录、明确询问，三个项目共用并列关系。输出类型：adapted-native；PPT对象和文字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8f1f437a3946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14e36f8f824de5" /><Relationship Type="http://schemas.openxmlformats.org/officeDocument/2006/relationships/slideLayout" Target="/ppt/slideLayouts/slideLayout1.xml" Id="Re8be134013074a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be134013074a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7C473C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A35D4F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18b1231e249a7" /><Relationship Type="http://schemas.openxmlformats.org/officeDocument/2006/relationships/notesSlide" Target="/ppt/notesSlides/notesSlide1.xml" Id="R3a28df24d04d4e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aa4952c0c4b85" /><Relationship Type="http://schemas.openxmlformats.org/officeDocument/2006/relationships/notesSlide" Target="/ppt/notesSlides/notesSlide2.xml" Id="Rd3cb9493995a47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ea0216c554639" /><Relationship Type="http://schemas.openxmlformats.org/officeDocument/2006/relationships/image" Target="/ppt/media/image.png" Id="R813d05c8bf344655" /><Relationship Type="http://schemas.openxmlformats.org/officeDocument/2006/relationships/image" Target="/ppt/media/image.svg" Id="R08fe51bcaa7a4838" /><Relationship Type="http://schemas.openxmlformats.org/officeDocument/2006/relationships/image" Target="/ppt/media/image2.png" Id="R78f7f5cec3d4491e" /><Relationship Type="http://schemas.openxmlformats.org/officeDocument/2006/relationships/image" Target="/ppt/media/image2.svg" Id="R5be5a626d0e74810" /><Relationship Type="http://schemas.openxmlformats.org/officeDocument/2006/relationships/image" Target="/ppt/media/image3.png" Id="Rc0b652e14d454e5a" /><Relationship Type="http://schemas.openxmlformats.org/officeDocument/2006/relationships/image" Target="/ppt/media/image3.svg" Id="R7121b319d8cf4764" /><Relationship Type="http://schemas.openxmlformats.org/officeDocument/2006/relationships/notesSlide" Target="/ppt/notesSlides/notesSlide3.xml" Id="Ra71dfecdf6c744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shell-chapter-number">
            <a:extLst xmlns:a="http://schemas.openxmlformats.org/drawingml/2006/main">
              <a:ext uri="{FF2B5EF4-FFF2-40B4-BE49-F238E27FC236}">
                <a16:creationId xmlns:a16="http://schemas.microsoft.com/office/drawing/2014/main" id="{2FA1AF1A-F5CE-4903-AF7D-DC334561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shell-page-title">
            <a:extLst xmlns:a="http://schemas.openxmlformats.org/drawingml/2006/main">
              <a:ext uri="{FF2B5EF4-FFF2-40B4-BE49-F238E27FC236}">
                <a16:creationId xmlns:a16="http://schemas.microsoft.com/office/drawing/2014/main" id="{0566B6D6-363F-4218-BD3A-8F341A9E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预约信息如何流转</a:t>
            </a:r>
          </a:p>
        </p:txBody>
      </p:sp>
      <p:sp>
        <p:nvSpPr>
          <p:cNvPr id="3" name="shell-rule">
            <a:extLst xmlns:a="http://schemas.openxmlformats.org/drawingml/2006/main">
              <a:ext uri="{FF2B5EF4-FFF2-40B4-BE49-F238E27FC236}">
                <a16:creationId xmlns:a16="http://schemas.microsoft.com/office/drawing/2014/main" id="{D3CC5BF9-D94F-40F4-8830-3BC33B54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0" y="600075"/>
            <a:ext cx="6515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shell-lead">
            <a:extLst xmlns:a="http://schemas.openxmlformats.org/drawingml/2006/main">
              <a:ext uri="{FF2B5EF4-FFF2-40B4-BE49-F238E27FC236}">
                <a16:creationId xmlns:a16="http://schemas.microsoft.com/office/drawing/2014/main" id="{E20A9A9F-2B26-474A-9ABD-51628893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四个角色分工清楚，两个反馈状态各有含义</a:t>
            </a:r>
          </a:p>
        </p:txBody>
      </p:sp>
      <p:sp>
        <p:nvSpPr>
          <p:cNvPr id="5" name="shell-kicker">
            <a:extLst xmlns:a="http://schemas.openxmlformats.org/drawingml/2006/main">
              <a:ext uri="{FF2B5EF4-FFF2-40B4-BE49-F238E27FC236}">
                <a16:creationId xmlns:a16="http://schemas.microsoft.com/office/drawing/2014/main" id="{6A45F47A-4CF9-4C5E-8B77-A747F145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“已收到”让申请人知道记录已入；“已确认”才代表可以按注意事项使用</a:t>
            </a:r>
          </a:p>
        </p:txBody>
      </p:sp>
      <p:sp>
        <p:nvSpPr>
          <p:cNvPr id="6" name="actor-band-0">
            <a:extLst xmlns:a="http://schemas.openxmlformats.org/drawingml/2006/main">
              <a:ext uri="{FF2B5EF4-FFF2-40B4-BE49-F238E27FC236}">
                <a16:creationId xmlns:a16="http://schemas.microsoft.com/office/drawing/2014/main" id="{D56E413B-BAE5-4785-A82C-05203800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114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4CE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7" name="actor-label-0">
            <a:extLst xmlns:a="http://schemas.openxmlformats.org/drawingml/2006/main">
              <a:ext uri="{FF2B5EF4-FFF2-40B4-BE49-F238E27FC236}">
                <a16:creationId xmlns:a16="http://schemas.microsoft.com/office/drawing/2014/main" id="{2BD6045F-9B28-4B6D-88FC-1A698B2C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申请人</a:t>
            </a:r>
          </a:p>
        </p:txBody>
      </p:sp>
      <p:sp>
        <p:nvSpPr>
          <p:cNvPr id="8" name="actor-sub-0">
            <a:extLst xmlns:a="http://schemas.openxmlformats.org/drawingml/2006/main">
              <a:ext uri="{FF2B5EF4-FFF2-40B4-BE49-F238E27FC236}">
                <a16:creationId xmlns:a16="http://schemas.microsoft.com/office/drawing/2014/main" id="{A725332F-367F-479A-BEE8-8C670897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05025"/>
            <a:ext cx="1885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提交与接收</a:t>
            </a:r>
          </a:p>
        </p:txBody>
      </p:sp>
      <p:sp>
        <p:nvSpPr>
          <p:cNvPr id="9" name="lane-0">
            <a:extLst xmlns:a="http://schemas.openxmlformats.org/drawingml/2006/main">
              <a:ext uri="{FF2B5EF4-FFF2-40B4-BE49-F238E27FC236}">
                <a16:creationId xmlns:a16="http://schemas.microsoft.com/office/drawing/2014/main" id="{E7F895AD-44FF-4CB5-A808-EE53C685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43075" y="2343150"/>
            <a:ext cx="9525" cy="3771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actor-band-1">
            <a:extLst xmlns:a="http://schemas.openxmlformats.org/drawingml/2006/main">
              <a:ext uri="{FF2B5EF4-FFF2-40B4-BE49-F238E27FC236}">
                <a16:creationId xmlns:a16="http://schemas.microsoft.com/office/drawing/2014/main" id="{F0FEB1A8-6E8B-40A0-8660-7EFE23D7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66900"/>
            <a:ext cx="2114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D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actor-label-1">
            <a:extLst xmlns:a="http://schemas.openxmlformats.org/drawingml/2006/main">
              <a:ext uri="{FF2B5EF4-FFF2-40B4-BE49-F238E27FC236}">
                <a16:creationId xmlns:a16="http://schemas.microsoft.com/office/drawing/2014/main" id="{5395AD6A-D1E8-42BA-A0DB-400FD1BF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050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平台</a:t>
            </a:r>
          </a:p>
        </p:txBody>
      </p:sp>
      <p:sp>
        <p:nvSpPr>
          <p:cNvPr id="12" name="actor-sub-1">
            <a:extLst xmlns:a="http://schemas.openxmlformats.org/drawingml/2006/main">
              <a:ext uri="{FF2B5EF4-FFF2-40B4-BE49-F238E27FC236}">
                <a16:creationId xmlns:a16="http://schemas.microsoft.com/office/drawing/2014/main" id="{E7D91D5E-9FF1-4EE7-9374-D53DDDEF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05025"/>
            <a:ext cx="1885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记录与传递</a:t>
            </a:r>
          </a:p>
        </p:txBody>
      </p:sp>
      <p:sp>
        <p:nvSpPr>
          <p:cNvPr id="13" name="lane-1">
            <a:extLst xmlns:a="http://schemas.openxmlformats.org/drawingml/2006/main">
              <a:ext uri="{FF2B5EF4-FFF2-40B4-BE49-F238E27FC236}">
                <a16:creationId xmlns:a16="http://schemas.microsoft.com/office/drawing/2014/main" id="{248DDE59-9140-4B51-A0C0-D3536D9D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43425" y="2343150"/>
            <a:ext cx="9525" cy="3771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actor-band-2">
            <a:extLst xmlns:a="http://schemas.openxmlformats.org/drawingml/2006/main">
              <a:ext uri="{FF2B5EF4-FFF2-40B4-BE49-F238E27FC236}">
                <a16:creationId xmlns:a16="http://schemas.microsoft.com/office/drawing/2014/main" id="{A2866A59-6707-4FF7-8D1B-40503950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66900"/>
            <a:ext cx="2114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D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actor-label-2">
            <a:extLst xmlns:a="http://schemas.openxmlformats.org/drawingml/2006/main">
              <a:ext uri="{FF2B5EF4-FFF2-40B4-BE49-F238E27FC236}">
                <a16:creationId xmlns:a16="http://schemas.microsoft.com/office/drawing/2014/main" id="{8C08FB0E-C876-4EE6-BCA3-9B751700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050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管理员</a:t>
            </a:r>
          </a:p>
        </p:txBody>
      </p:sp>
      <p:sp>
        <p:nvSpPr>
          <p:cNvPr id="16" name="actor-sub-2">
            <a:extLst xmlns:a="http://schemas.openxmlformats.org/drawingml/2006/main">
              <a:ext uri="{FF2B5EF4-FFF2-40B4-BE49-F238E27FC236}">
                <a16:creationId xmlns:a16="http://schemas.microsoft.com/office/drawing/2014/main" id="{B9218393-363F-40ED-9009-EE5630AE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05025"/>
            <a:ext cx="1885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核对与确认</a:t>
            </a:r>
          </a:p>
        </p:txBody>
      </p:sp>
      <p:sp>
        <p:nvSpPr>
          <p:cNvPr id="17" name="lane-2">
            <a:extLst xmlns:a="http://schemas.openxmlformats.org/drawingml/2006/main">
              <a:ext uri="{FF2B5EF4-FFF2-40B4-BE49-F238E27FC236}">
                <a16:creationId xmlns:a16="http://schemas.microsoft.com/office/drawing/2014/main" id="{7063AA82-EB01-4E97-BD30-41F0AB41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43775" y="2343150"/>
            <a:ext cx="9525" cy="3771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actor-band-3">
            <a:extLst xmlns:a="http://schemas.openxmlformats.org/drawingml/2006/main">
              <a:ext uri="{FF2B5EF4-FFF2-40B4-BE49-F238E27FC236}">
                <a16:creationId xmlns:a16="http://schemas.microsoft.com/office/drawing/2014/main" id="{078D56AB-97A7-44B4-BE11-42ACE398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66900"/>
            <a:ext cx="2114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5D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actor-label-3">
            <a:extLst xmlns:a="http://schemas.openxmlformats.org/drawingml/2006/main">
              <a:ext uri="{FF2B5EF4-FFF2-40B4-BE49-F238E27FC236}">
                <a16:creationId xmlns:a16="http://schemas.microsoft.com/office/drawing/2014/main" id="{8B9E2526-4133-46F2-B6CC-539C43BD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0500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设备负责人</a:t>
            </a:r>
          </a:p>
        </p:txBody>
      </p:sp>
      <p:sp>
        <p:nvSpPr>
          <p:cNvPr id="20" name="actor-sub-3">
            <a:extLst xmlns:a="http://schemas.openxmlformats.org/drawingml/2006/main">
              <a:ext uri="{FF2B5EF4-FFF2-40B4-BE49-F238E27FC236}">
                <a16:creationId xmlns:a16="http://schemas.microsoft.com/office/drawing/2014/main" id="{766FDA39-46D5-45A6-8179-31FAB0DD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05025"/>
            <a:ext cx="1885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时段与条件</a:t>
            </a:r>
          </a:p>
        </p:txBody>
      </p:sp>
      <p:sp>
        <p:nvSpPr>
          <p:cNvPr id="21" name="lane-3">
            <a:extLst xmlns:a="http://schemas.openxmlformats.org/drawingml/2006/main">
              <a:ext uri="{FF2B5EF4-FFF2-40B4-BE49-F238E27FC236}">
                <a16:creationId xmlns:a16="http://schemas.microsoft.com/office/drawing/2014/main" id="{F7170624-9CFE-4C89-80C8-8F782346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44125" y="2343150"/>
            <a:ext cx="9525" cy="3771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message-anchor-from-submit">
            <a:extLst xmlns:a="http://schemas.openxmlformats.org/drawingml/2006/main">
              <a:ext uri="{FF2B5EF4-FFF2-40B4-BE49-F238E27FC236}">
                <a16:creationId xmlns:a16="http://schemas.microsoft.com/office/drawing/2014/main" id="{13DECE7E-BF4E-4088-B937-8DDA5308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7813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message-anchor-to-submit">
            <a:extLst xmlns:a="http://schemas.openxmlformats.org/drawingml/2006/main">
              <a:ext uri="{FF2B5EF4-FFF2-40B4-BE49-F238E27FC236}">
                <a16:creationId xmlns:a16="http://schemas.microsoft.com/office/drawing/2014/main" id="{C15CFE46-CD9F-4009-9CFF-4121E7C7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813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7" name="message-line-submit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762125" y="280035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F655F"/>
            </a:solidFill>
            <a:prstDash val="solid"/>
            <a:headEnd type="triangle" w="sm" len="sm"/>
          </a:ln>
        </p:spPr>
      </p:cxnSp>
      <p:sp>
        <p:nvSpPr>
          <p:cNvPr id="25" name="message-label-submit">
            <a:extLst xmlns:a="http://schemas.openxmlformats.org/drawingml/2006/main">
              <a:ext uri="{FF2B5EF4-FFF2-40B4-BE49-F238E27FC236}">
                <a16:creationId xmlns:a16="http://schemas.microsoft.com/office/drawing/2014/main" id="{673E9714-48D2-4219-B49A-B7DFD163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24765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预约信息 + 培训证明</a:t>
            </a:r>
          </a:p>
        </p:txBody>
      </p:sp>
      <p:sp>
        <p:nvSpPr>
          <p:cNvPr id="26" name="message-anchor-from-received">
            <a:extLst xmlns:a="http://schemas.openxmlformats.org/drawingml/2006/main">
              <a:ext uri="{FF2B5EF4-FFF2-40B4-BE49-F238E27FC236}">
                <a16:creationId xmlns:a16="http://schemas.microsoft.com/office/drawing/2014/main" id="{0C8D97A5-2EBF-4E7B-90EB-3E932607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87316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message-anchor-to-received">
            <a:extLst xmlns:a="http://schemas.openxmlformats.org/drawingml/2006/main">
              <a:ext uri="{FF2B5EF4-FFF2-40B4-BE49-F238E27FC236}">
                <a16:creationId xmlns:a16="http://schemas.microsoft.com/office/drawing/2014/main" id="{C529D814-891A-4DC4-AF2A-DF12F029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287316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1" name="message-line-received"/>
          <p:cNvCxnSpPr>
            <a:stCxn xmlns:a="http://schemas.openxmlformats.org/drawingml/2006/main" id="26" idx="1"/>
            <a:endCxn xmlns:a="http://schemas.openxmlformats.org/drawingml/2006/main" id="27" idx="3"/>
          </p:cNvCxnSpPr>
          <p:nvPr/>
        </p:nvCxnSpPr>
        <p:spPr>
          <a:xfrm xmlns:a="http://schemas.openxmlformats.org/drawingml/2006/main" flipH="1">
            <a:off x="1762125" y="3306366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35D4F"/>
            </a:solidFill>
            <a:prstDash val="solid"/>
            <a:headEnd type="triangle" w="sm" len="sm"/>
          </a:ln>
        </p:spPr>
      </p:cxnSp>
      <p:sp>
        <p:nvSpPr>
          <p:cNvPr id="29" name="message-label-received">
            <a:extLst xmlns:a="http://schemas.openxmlformats.org/drawingml/2006/main">
              <a:ext uri="{FF2B5EF4-FFF2-40B4-BE49-F238E27FC236}">
                <a16:creationId xmlns:a16="http://schemas.microsoft.com/office/drawing/2014/main" id="{E6C8B4DA-33DC-4588-BE91-BD3F5094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058716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已收到</a:t>
            </a:r>
          </a:p>
        </p:txBody>
      </p:sp>
      <p:sp>
        <p:nvSpPr>
          <p:cNvPr id="30" name="received-note">
            <a:extLst xmlns:a="http://schemas.openxmlformats.org/drawingml/2006/main">
              <a:ext uri="{FF2B5EF4-FFF2-40B4-BE49-F238E27FC236}">
                <a16:creationId xmlns:a16="http://schemas.microsoft.com/office/drawing/2014/main" id="{93BBA01E-6DA7-4696-892F-84922F3F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2566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只代表平台已记录申请</a:t>
            </a:r>
          </a:p>
        </p:txBody>
      </p:sp>
      <p:sp>
        <p:nvSpPr>
          <p:cNvPr id="31" name="message-anchor-from-handoff">
            <a:extLst xmlns:a="http://schemas.openxmlformats.org/drawingml/2006/main">
              <a:ext uri="{FF2B5EF4-FFF2-40B4-BE49-F238E27FC236}">
                <a16:creationId xmlns:a16="http://schemas.microsoft.com/office/drawing/2014/main" id="{47DE22BF-CF7D-4C4B-92F9-5C2F4F35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93331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message-anchor-to-handoff">
            <a:extLst xmlns:a="http://schemas.openxmlformats.org/drawingml/2006/main">
              <a:ext uri="{FF2B5EF4-FFF2-40B4-BE49-F238E27FC236}">
                <a16:creationId xmlns:a16="http://schemas.microsoft.com/office/drawing/2014/main" id="{D61A32C6-7356-4DF8-9ED6-E10C2570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793331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6" name="message-line-handoff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4562475" y="3812381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F655F"/>
            </a:solidFill>
            <a:prstDash val="solid"/>
            <a:headEnd type="triangle" w="sm" len="sm"/>
          </a:ln>
        </p:spPr>
      </p:cxnSp>
      <p:sp>
        <p:nvSpPr>
          <p:cNvPr id="34" name="message-label-handoff">
            <a:extLst xmlns:a="http://schemas.openxmlformats.org/drawingml/2006/main">
              <a:ext uri="{FF2B5EF4-FFF2-40B4-BE49-F238E27FC236}">
                <a16:creationId xmlns:a16="http://schemas.microsoft.com/office/drawing/2014/main" id="{CBD32487-6879-4941-BA0F-01EA3736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64731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申请记录与材料</a:t>
            </a:r>
          </a:p>
        </p:txBody>
      </p:sp>
      <p:sp>
        <p:nvSpPr>
          <p:cNvPr id="35" name="message-anchor-from-ask">
            <a:extLst xmlns:a="http://schemas.openxmlformats.org/drawingml/2006/main">
              <a:ext uri="{FF2B5EF4-FFF2-40B4-BE49-F238E27FC236}">
                <a16:creationId xmlns:a16="http://schemas.microsoft.com/office/drawing/2014/main" id="{D6898EE1-4848-40D7-834E-5B21D8A4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299347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message-anchor-to-ask">
            <a:extLst xmlns:a="http://schemas.openxmlformats.org/drawingml/2006/main">
              <a:ext uri="{FF2B5EF4-FFF2-40B4-BE49-F238E27FC236}">
                <a16:creationId xmlns:a16="http://schemas.microsoft.com/office/drawing/2014/main" id="{D5AA454B-7877-4173-A242-E9CD9654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299347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0" name="message-line-ask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7362825" y="4318397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F655F"/>
            </a:solidFill>
            <a:prstDash val="solid"/>
            <a:headEnd type="triangle" w="sm" len="sm"/>
          </a:ln>
        </p:spPr>
      </p:cxnSp>
      <p:sp>
        <p:nvSpPr>
          <p:cNvPr id="38" name="message-label-ask">
            <a:extLst xmlns:a="http://schemas.openxmlformats.org/drawingml/2006/main">
              <a:ext uri="{FF2B5EF4-FFF2-40B4-BE49-F238E27FC236}">
                <a16:creationId xmlns:a16="http://schemas.microsoft.com/office/drawing/2014/main" id="{44325FCC-C578-45C2-9D86-14A2B78F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994547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询问时段与使用条件</a:t>
            </a:r>
          </a:p>
        </p:txBody>
      </p:sp>
      <p:sp>
        <p:nvSpPr>
          <p:cNvPr id="39" name="message-anchor-from-reply">
            <a:extLst xmlns:a="http://schemas.openxmlformats.org/drawingml/2006/main">
              <a:ext uri="{FF2B5EF4-FFF2-40B4-BE49-F238E27FC236}">
                <a16:creationId xmlns:a16="http://schemas.microsoft.com/office/drawing/2014/main" id="{28C8B05E-3DCC-4B50-80CC-EFDBCEE5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805363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message-anchor-to-reply">
            <a:extLst xmlns:a="http://schemas.openxmlformats.org/drawingml/2006/main">
              <a:ext uri="{FF2B5EF4-FFF2-40B4-BE49-F238E27FC236}">
                <a16:creationId xmlns:a16="http://schemas.microsoft.com/office/drawing/2014/main" id="{D6B8E60F-1005-408B-B185-9F55241B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805363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4" name="message-line-reply"/>
          <p:cNvCxnSpPr>
            <a:stCxn xmlns:a="http://schemas.openxmlformats.org/drawingml/2006/main" id="39" idx="1"/>
            <a:endCxn xmlns:a="http://schemas.openxmlformats.org/drawingml/2006/main" id="40" idx="3"/>
          </p:cNvCxnSpPr>
          <p:nvPr/>
        </p:nvCxnSpPr>
        <p:spPr>
          <a:xfrm xmlns:a="http://schemas.openxmlformats.org/drawingml/2006/main" flipH="1">
            <a:off x="7362825" y="4824413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5F655F"/>
            </a:solidFill>
            <a:prstDash val="solid"/>
            <a:headEnd type="triangle" w="sm" len="sm"/>
          </a:ln>
        </p:spPr>
      </p:cxnSp>
      <p:sp>
        <p:nvSpPr>
          <p:cNvPr id="42" name="message-label-reply">
            <a:extLst xmlns:a="http://schemas.openxmlformats.org/drawingml/2006/main">
              <a:ext uri="{FF2B5EF4-FFF2-40B4-BE49-F238E27FC236}">
                <a16:creationId xmlns:a16="http://schemas.microsoft.com/office/drawing/2014/main" id="{5C3BD764-975B-40E1-BA90-F36D2935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500563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可用时段 + 使用条件</a:t>
            </a:r>
          </a:p>
        </p:txBody>
      </p:sp>
      <p:sp>
        <p:nvSpPr>
          <p:cNvPr id="43" name="message-anchor-from-confirm">
            <a:extLst xmlns:a="http://schemas.openxmlformats.org/drawingml/2006/main">
              <a:ext uri="{FF2B5EF4-FFF2-40B4-BE49-F238E27FC236}">
                <a16:creationId xmlns:a16="http://schemas.microsoft.com/office/drawing/2014/main" id="{1F8540F9-64DC-41CF-B1BF-4ED46C23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311378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message-anchor-to-confirm">
            <a:extLst xmlns:a="http://schemas.openxmlformats.org/drawingml/2006/main">
              <a:ext uri="{FF2B5EF4-FFF2-40B4-BE49-F238E27FC236}">
                <a16:creationId xmlns:a16="http://schemas.microsoft.com/office/drawing/2014/main" id="{B6880A40-51C0-417E-A090-4D2E3067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311378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8" name="message-line-confirm"/>
          <p:cNvCxnSpPr>
            <a:stCxn xmlns:a="http://schemas.openxmlformats.org/drawingml/2006/main" id="43" idx="1"/>
            <a:endCxn xmlns:a="http://schemas.openxmlformats.org/drawingml/2006/main" id="44" idx="3"/>
          </p:cNvCxnSpPr>
          <p:nvPr/>
        </p:nvCxnSpPr>
        <p:spPr>
          <a:xfrm xmlns:a="http://schemas.openxmlformats.org/drawingml/2006/main" flipH="1">
            <a:off x="4562475" y="5330428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35D4F"/>
            </a:solidFill>
            <a:prstDash val="solid"/>
            <a:headEnd type="triangle" w="sm" len="sm"/>
          </a:ln>
        </p:spPr>
      </p:cxnSp>
      <p:sp>
        <p:nvSpPr>
          <p:cNvPr id="46" name="message-label-confirm">
            <a:extLst xmlns:a="http://schemas.openxmlformats.org/drawingml/2006/main">
              <a:ext uri="{FF2B5EF4-FFF2-40B4-BE49-F238E27FC236}">
                <a16:creationId xmlns:a16="http://schemas.microsoft.com/office/drawing/2014/main" id="{E6C72DCD-ED9C-4699-A34C-B474B6AF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082778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预约确认</a:t>
            </a:r>
          </a:p>
        </p:txBody>
      </p:sp>
      <p:sp>
        <p:nvSpPr>
          <p:cNvPr id="47" name="message-anchor-from-confirmed">
            <a:extLst xmlns:a="http://schemas.openxmlformats.org/drawingml/2006/main">
              <a:ext uri="{FF2B5EF4-FFF2-40B4-BE49-F238E27FC236}">
                <a16:creationId xmlns:a16="http://schemas.microsoft.com/office/drawing/2014/main" id="{E2B66E81-6B8F-4E5A-8711-A664AC63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0198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message-anchor-to-confirmed">
            <a:extLst xmlns:a="http://schemas.openxmlformats.org/drawingml/2006/main">
              <a:ext uri="{FF2B5EF4-FFF2-40B4-BE49-F238E27FC236}">
                <a16:creationId xmlns:a16="http://schemas.microsoft.com/office/drawing/2014/main" id="{7103166E-FD0B-41E8-B2F0-D1AB6237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60198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2" name="message-line-confirmed"/>
          <p:cNvCxnSpPr>
            <a:stCxn xmlns:a="http://schemas.openxmlformats.org/drawingml/2006/main" id="47" idx="1"/>
            <a:endCxn xmlns:a="http://schemas.openxmlformats.org/drawingml/2006/main" id="48" idx="3"/>
          </p:cNvCxnSpPr>
          <p:nvPr/>
        </p:nvCxnSpPr>
        <p:spPr>
          <a:xfrm xmlns:a="http://schemas.openxmlformats.org/drawingml/2006/main" flipH="1">
            <a:off x="1762125" y="603885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A35D4F"/>
            </a:solidFill>
            <a:prstDash val="solid"/>
            <a:headEnd type="triangle" w="sm" len="sm"/>
          </a:ln>
        </p:spPr>
      </p:cxnSp>
      <p:sp>
        <p:nvSpPr>
          <p:cNvPr id="50" name="message-label-confirmed">
            <a:extLst xmlns:a="http://schemas.openxmlformats.org/drawingml/2006/main">
              <a:ext uri="{FF2B5EF4-FFF2-40B4-BE49-F238E27FC236}">
                <a16:creationId xmlns:a16="http://schemas.microsoft.com/office/drawing/2014/main" id="{FF0C7906-10F2-42E8-A7EF-14CE5A1E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7150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已确认 + 注意事项</a:t>
            </a:r>
          </a:p>
        </p:txBody>
      </p:sp>
      <p:sp>
        <p:nvSpPr>
          <p:cNvPr id="51" name="confirmation-warning">
            <a:extLst xmlns:a="http://schemas.openxmlformats.org/drawingml/2006/main">
              <a:ext uri="{FF2B5EF4-FFF2-40B4-BE49-F238E27FC236}">
                <a16:creationId xmlns:a16="http://schemas.microsoft.com/office/drawing/2014/main" id="{4F3EECE2-7F5D-4032-A7CC-49B8FE4D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1817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确认前不能自行使用仪器</a:t>
            </a:r>
          </a:p>
        </p:txBody>
      </p:sp>
      <p:sp>
        <p:nvSpPr>
          <p:cNvPr id="52" name="shell-footer-note">
            <a:extLst xmlns:a="http://schemas.openxmlformats.org/drawingml/2006/main">
              <a:ext uri="{FF2B5EF4-FFF2-40B4-BE49-F238E27FC236}">
                <a16:creationId xmlns:a16="http://schemas.microsoft.com/office/drawing/2014/main" id="{D3EFE6C3-1606-4BF0-8392-68F188F7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流程保留人工确认；平台负责把记录与反馈送回申请人</a:t>
            </a:r>
          </a:p>
        </p:txBody>
      </p:sp>
      <p:sp>
        <p:nvSpPr>
          <p:cNvPr id="53" name="shell-folio">
            <a:extLst xmlns:a="http://schemas.openxmlformats.org/drawingml/2006/main">
              <a:ext uri="{FF2B5EF4-FFF2-40B4-BE49-F238E27FC236}">
                <a16:creationId xmlns:a16="http://schemas.microsoft.com/office/drawing/2014/main" id="{303878D3-D238-4A78-BEF7-E6B81DF5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82089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hell-chapter-number">
            <a:extLst xmlns:a="http://schemas.openxmlformats.org/drawingml/2006/main">
              <a:ext uri="{FF2B5EF4-FFF2-40B4-BE49-F238E27FC236}">
                <a16:creationId xmlns:a16="http://schemas.microsoft.com/office/drawing/2014/main" id="{E1A6E4E9-0896-429C-BB3D-4B457847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shell-page-title">
            <a:extLst xmlns:a="http://schemas.openxmlformats.org/drawingml/2006/main">
              <a:ext uri="{FF2B5EF4-FFF2-40B4-BE49-F238E27FC236}">
                <a16:creationId xmlns:a16="http://schemas.microsoft.com/office/drawing/2014/main" id="{381F94D5-0F76-4BBD-8605-C44FAE4D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一份记录需要三类资料</a:t>
            </a:r>
          </a:p>
        </p:txBody>
      </p:sp>
      <p:sp>
        <p:nvSpPr>
          <p:cNvPr id="3" name="shell-rule">
            <a:extLst xmlns:a="http://schemas.openxmlformats.org/drawingml/2006/main">
              <a:ext uri="{FF2B5EF4-FFF2-40B4-BE49-F238E27FC236}">
                <a16:creationId xmlns:a16="http://schemas.microsoft.com/office/drawing/2014/main" id="{87955118-868D-43A4-AE7A-BA011D31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0" y="600075"/>
            <a:ext cx="6515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shell-lead">
            <a:extLst xmlns:a="http://schemas.openxmlformats.org/drawingml/2006/main">
              <a:ext uri="{FF2B5EF4-FFF2-40B4-BE49-F238E27FC236}">
                <a16:creationId xmlns:a16="http://schemas.microsoft.com/office/drawing/2014/main" id="{7510CD86-BF3D-424C-993C-E389097A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三条资料线共同留下可追溯证据，彼此不是逐级筛选</a:t>
            </a:r>
          </a:p>
        </p:txBody>
      </p:sp>
      <p:sp>
        <p:nvSpPr>
          <p:cNvPr id="5" name="shell-kicker">
            <a:extLst xmlns:a="http://schemas.openxmlformats.org/drawingml/2006/main">
              <a:ext uri="{FF2B5EF4-FFF2-40B4-BE49-F238E27FC236}">
                <a16:creationId xmlns:a16="http://schemas.microsoft.com/office/drawing/2014/main" id="{41D40C33-41AF-4BCF-A1D3-27A47ACD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申请记录、材料核对记录、设备时段记录共同支撑同一份预约记录</a:t>
            </a:r>
          </a:p>
        </p:txBody>
      </p:sp>
      <p:sp>
        <p:nvSpPr>
          <p:cNvPr id="6" name="radial-guide">
            <a:extLst xmlns:a="http://schemas.openxmlformats.org/drawingml/2006/main">
              <a:ext uri="{FF2B5EF4-FFF2-40B4-BE49-F238E27FC236}">
                <a16:creationId xmlns:a16="http://schemas.microsoft.com/office/drawing/2014/main" id="{EE3811E3-2CE8-4A04-A104-B967D2B1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419350"/>
            <a:ext cx="6515100" cy="3009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ECEA"/>
            </a:solidFill>
            <a:prstDash val="dash"/>
          </a:ln>
        </p:spPr>
      </p:sp>
      <p:sp>
        <p:nvSpPr>
          <p:cNvPr id="7" name="radial-inward-spoke-1">
            <a:extLst xmlns:a="http://schemas.openxmlformats.org/drawingml/2006/main">
              <a:ext uri="{FF2B5EF4-FFF2-40B4-BE49-F238E27FC236}">
                <a16:creationId xmlns:a16="http://schemas.microsoft.com/office/drawing/2014/main" id="{433C0AE0-411A-48AA-98C3-A643E68F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6568" y="2617470"/>
            <a:ext cx="339290" cy="505854"/>
          </a:xfrm>
          <a:custGeom xmlns:a="http://schemas.openxmlformats.org/drawingml/2006/main">
            <a:pathLst>
              <a:path w="339290" h="505854">
                <a:moveTo>
                  <a:pt x="104184" y="0"/>
                </a:moveTo>
                <a:lnTo>
                  <a:pt x="101422" y="18774"/>
                </a:lnTo>
                <a:lnTo>
                  <a:pt x="98812" y="37576"/>
                </a:lnTo>
                <a:lnTo>
                  <a:pt x="96355" y="56388"/>
                </a:lnTo>
                <a:lnTo>
                  <a:pt x="94059" y="75228"/>
                </a:lnTo>
                <a:lnTo>
                  <a:pt x="91926" y="94088"/>
                </a:lnTo>
                <a:lnTo>
                  <a:pt x="89973" y="112967"/>
                </a:lnTo>
                <a:lnTo>
                  <a:pt x="88202" y="131855"/>
                </a:lnTo>
                <a:lnTo>
                  <a:pt x="86620" y="150771"/>
                </a:lnTo>
                <a:lnTo>
                  <a:pt x="85230" y="169697"/>
                </a:lnTo>
                <a:lnTo>
                  <a:pt x="84058" y="188633"/>
                </a:lnTo>
                <a:lnTo>
                  <a:pt x="83096" y="207588"/>
                </a:lnTo>
                <a:lnTo>
                  <a:pt x="82372" y="226552"/>
                </a:lnTo>
                <a:lnTo>
                  <a:pt x="81877" y="245526"/>
                </a:lnTo>
                <a:lnTo>
                  <a:pt x="81648" y="264500"/>
                </a:lnTo>
                <a:lnTo>
                  <a:pt x="81686" y="283474"/>
                </a:lnTo>
                <a:lnTo>
                  <a:pt x="82001" y="302447"/>
                </a:lnTo>
                <a:lnTo>
                  <a:pt x="82620" y="321412"/>
                </a:lnTo>
                <a:lnTo>
                  <a:pt x="83553" y="340366"/>
                </a:lnTo>
                <a:lnTo>
                  <a:pt x="84811" y="359302"/>
                </a:lnTo>
                <a:lnTo>
                  <a:pt x="86430" y="378209"/>
                </a:lnTo>
                <a:lnTo>
                  <a:pt x="88421" y="397088"/>
                </a:lnTo>
                <a:lnTo>
                  <a:pt x="90802" y="415909"/>
                </a:lnTo>
                <a:lnTo>
                  <a:pt x="93602" y="434683"/>
                </a:lnTo>
                <a:lnTo>
                  <a:pt x="75457" y="437302"/>
                </a:lnTo>
                <a:lnTo>
                  <a:pt x="56588" y="439379"/>
                </a:lnTo>
                <a:lnTo>
                  <a:pt x="37729" y="441446"/>
                </a:lnTo>
                <a:lnTo>
                  <a:pt x="18860" y="443522"/>
                </a:lnTo>
                <a:lnTo>
                  <a:pt x="0" y="445599"/>
                </a:lnTo>
                <a:lnTo>
                  <a:pt x="14964" y="451333"/>
                </a:lnTo>
                <a:lnTo>
                  <a:pt x="32947" y="457391"/>
                </a:lnTo>
                <a:lnTo>
                  <a:pt x="50930" y="463448"/>
                </a:lnTo>
                <a:lnTo>
                  <a:pt x="68913" y="469506"/>
                </a:lnTo>
                <a:lnTo>
                  <a:pt x="86897" y="475564"/>
                </a:lnTo>
                <a:lnTo>
                  <a:pt x="104880" y="481622"/>
                </a:lnTo>
                <a:lnTo>
                  <a:pt x="122873" y="487680"/>
                </a:lnTo>
                <a:lnTo>
                  <a:pt x="140856" y="493738"/>
                </a:lnTo>
                <a:lnTo>
                  <a:pt x="158839" y="499796"/>
                </a:lnTo>
                <a:lnTo>
                  <a:pt x="176822" y="505854"/>
                </a:lnTo>
                <a:lnTo>
                  <a:pt x="193300" y="498310"/>
                </a:lnTo>
                <a:lnTo>
                  <a:pt x="209521" y="488461"/>
                </a:lnTo>
                <a:lnTo>
                  <a:pt x="225743" y="478612"/>
                </a:lnTo>
                <a:lnTo>
                  <a:pt x="241964" y="468763"/>
                </a:lnTo>
                <a:lnTo>
                  <a:pt x="258185" y="458915"/>
                </a:lnTo>
                <a:lnTo>
                  <a:pt x="274406" y="449066"/>
                </a:lnTo>
                <a:lnTo>
                  <a:pt x="290627" y="439217"/>
                </a:lnTo>
                <a:lnTo>
                  <a:pt x="306848" y="429368"/>
                </a:lnTo>
                <a:lnTo>
                  <a:pt x="323069" y="419519"/>
                </a:lnTo>
                <a:lnTo>
                  <a:pt x="339290" y="409670"/>
                </a:lnTo>
                <a:lnTo>
                  <a:pt x="320745" y="411461"/>
                </a:lnTo>
                <a:lnTo>
                  <a:pt x="301866" y="413375"/>
                </a:lnTo>
                <a:lnTo>
                  <a:pt x="282978" y="415280"/>
                </a:lnTo>
                <a:lnTo>
                  <a:pt x="264100" y="417185"/>
                </a:lnTo>
                <a:lnTo>
                  <a:pt x="245221" y="419090"/>
                </a:lnTo>
                <a:lnTo>
                  <a:pt x="242192" y="400431"/>
                </a:lnTo>
                <a:lnTo>
                  <a:pt x="239697" y="381610"/>
                </a:lnTo>
                <a:lnTo>
                  <a:pt x="237658" y="362750"/>
                </a:lnTo>
                <a:lnTo>
                  <a:pt x="236049" y="343843"/>
                </a:lnTo>
                <a:lnTo>
                  <a:pt x="234839" y="324898"/>
                </a:lnTo>
                <a:lnTo>
                  <a:pt x="234001" y="305943"/>
                </a:lnTo>
                <a:lnTo>
                  <a:pt x="233524" y="286969"/>
                </a:lnTo>
                <a:lnTo>
                  <a:pt x="233372" y="267995"/>
                </a:lnTo>
                <a:lnTo>
                  <a:pt x="233543" y="249022"/>
                </a:lnTo>
                <a:lnTo>
                  <a:pt x="234001" y="230048"/>
                </a:lnTo>
                <a:lnTo>
                  <a:pt x="234744" y="211084"/>
                </a:lnTo>
                <a:lnTo>
                  <a:pt x="235753" y="192138"/>
                </a:lnTo>
                <a:lnTo>
                  <a:pt x="237011" y="173203"/>
                </a:lnTo>
                <a:lnTo>
                  <a:pt x="238506" y="154276"/>
                </a:lnTo>
                <a:lnTo>
                  <a:pt x="240230" y="135379"/>
                </a:lnTo>
                <a:lnTo>
                  <a:pt x="242164" y="116500"/>
                </a:lnTo>
                <a:lnTo>
                  <a:pt x="244316" y="97650"/>
                </a:lnTo>
                <a:lnTo>
                  <a:pt x="246650" y="78810"/>
                </a:lnTo>
                <a:lnTo>
                  <a:pt x="249174" y="60008"/>
                </a:lnTo>
                <a:lnTo>
                  <a:pt x="251870" y="41224"/>
                </a:lnTo>
                <a:lnTo>
                  <a:pt x="254279" y="22803"/>
                </a:lnTo>
                <a:lnTo>
                  <a:pt x="235515" y="19945"/>
                </a:lnTo>
                <a:lnTo>
                  <a:pt x="216751" y="17097"/>
                </a:lnTo>
                <a:lnTo>
                  <a:pt x="197987" y="14249"/>
                </a:lnTo>
                <a:lnTo>
                  <a:pt x="179232" y="11401"/>
                </a:lnTo>
                <a:lnTo>
                  <a:pt x="160468" y="8553"/>
                </a:lnTo>
                <a:lnTo>
                  <a:pt x="141703" y="5696"/>
                </a:lnTo>
                <a:lnTo>
                  <a:pt x="122939" y="2848"/>
                </a:lnTo>
                <a:lnTo>
                  <a:pt x="104184" y="0"/>
                </a:lnTo>
                <a:close/>
              </a:path>
            </a:pathLst>
          </a:custGeom>
          <a:solidFill xmlns:a="http://schemas.openxmlformats.org/drawingml/2006/main">
            <a:srgbClr val="7C473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radial-inward-spoke-2">
            <a:extLst xmlns:a="http://schemas.openxmlformats.org/drawingml/2006/main">
              <a:ext uri="{FF2B5EF4-FFF2-40B4-BE49-F238E27FC236}">
                <a16:creationId xmlns:a16="http://schemas.microsoft.com/office/drawing/2014/main" id="{D677C77D-B08B-4E57-9901-CC3347F3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6524" y="4343057"/>
            <a:ext cx="1367371" cy="885673"/>
          </a:xfrm>
          <a:custGeom xmlns:a="http://schemas.openxmlformats.org/drawingml/2006/main">
            <a:pathLst>
              <a:path w="1367371" h="885673">
                <a:moveTo>
                  <a:pt x="1367371" y="769010"/>
                </a:moveTo>
                <a:lnTo>
                  <a:pt x="1352741" y="756856"/>
                </a:lnTo>
                <a:lnTo>
                  <a:pt x="1338082" y="744741"/>
                </a:lnTo>
                <a:lnTo>
                  <a:pt x="1323394" y="732653"/>
                </a:lnTo>
                <a:lnTo>
                  <a:pt x="1308668" y="720623"/>
                </a:lnTo>
                <a:lnTo>
                  <a:pt x="1293895" y="708631"/>
                </a:lnTo>
                <a:lnTo>
                  <a:pt x="1279093" y="696687"/>
                </a:lnTo>
                <a:lnTo>
                  <a:pt x="1264253" y="684790"/>
                </a:lnTo>
                <a:lnTo>
                  <a:pt x="1249375" y="672941"/>
                </a:lnTo>
                <a:lnTo>
                  <a:pt x="1234469" y="661140"/>
                </a:lnTo>
                <a:lnTo>
                  <a:pt x="1219514" y="649386"/>
                </a:lnTo>
                <a:lnTo>
                  <a:pt x="1204522" y="637680"/>
                </a:lnTo>
                <a:lnTo>
                  <a:pt x="1189482" y="626031"/>
                </a:lnTo>
                <a:lnTo>
                  <a:pt x="1174413" y="614420"/>
                </a:lnTo>
                <a:lnTo>
                  <a:pt x="1159307" y="602866"/>
                </a:lnTo>
                <a:lnTo>
                  <a:pt x="1144162" y="591369"/>
                </a:lnTo>
                <a:lnTo>
                  <a:pt x="1128970" y="579930"/>
                </a:lnTo>
                <a:lnTo>
                  <a:pt x="1113730" y="568538"/>
                </a:lnTo>
                <a:lnTo>
                  <a:pt x="1098461" y="557203"/>
                </a:lnTo>
                <a:lnTo>
                  <a:pt x="1083145" y="545925"/>
                </a:lnTo>
                <a:lnTo>
                  <a:pt x="1067791" y="534705"/>
                </a:lnTo>
                <a:lnTo>
                  <a:pt x="1052389" y="523532"/>
                </a:lnTo>
                <a:lnTo>
                  <a:pt x="1036949" y="512435"/>
                </a:lnTo>
                <a:lnTo>
                  <a:pt x="1021461" y="501396"/>
                </a:lnTo>
                <a:lnTo>
                  <a:pt x="1005926" y="490414"/>
                </a:lnTo>
                <a:lnTo>
                  <a:pt x="990352" y="479498"/>
                </a:lnTo>
                <a:lnTo>
                  <a:pt x="974731" y="468640"/>
                </a:lnTo>
                <a:lnTo>
                  <a:pt x="959072" y="457857"/>
                </a:lnTo>
                <a:lnTo>
                  <a:pt x="943356" y="447142"/>
                </a:lnTo>
                <a:lnTo>
                  <a:pt x="927602" y="436483"/>
                </a:lnTo>
                <a:lnTo>
                  <a:pt x="911800" y="425901"/>
                </a:lnTo>
                <a:lnTo>
                  <a:pt x="895950" y="415395"/>
                </a:lnTo>
                <a:lnTo>
                  <a:pt x="880053" y="404946"/>
                </a:lnTo>
                <a:lnTo>
                  <a:pt x="864098" y="394583"/>
                </a:lnTo>
                <a:lnTo>
                  <a:pt x="848106" y="384286"/>
                </a:lnTo>
                <a:lnTo>
                  <a:pt x="832066" y="374075"/>
                </a:lnTo>
                <a:lnTo>
                  <a:pt x="815969" y="363931"/>
                </a:lnTo>
                <a:lnTo>
                  <a:pt x="799833" y="353882"/>
                </a:lnTo>
                <a:lnTo>
                  <a:pt x="783641" y="343900"/>
                </a:lnTo>
                <a:lnTo>
                  <a:pt x="767391" y="334004"/>
                </a:lnTo>
                <a:lnTo>
                  <a:pt x="751103" y="324193"/>
                </a:lnTo>
                <a:lnTo>
                  <a:pt x="734759" y="314468"/>
                </a:lnTo>
                <a:lnTo>
                  <a:pt x="718356" y="304829"/>
                </a:lnTo>
                <a:lnTo>
                  <a:pt x="701907" y="295285"/>
                </a:lnTo>
                <a:lnTo>
                  <a:pt x="685400" y="285826"/>
                </a:lnTo>
                <a:lnTo>
                  <a:pt x="668846" y="276463"/>
                </a:lnTo>
                <a:lnTo>
                  <a:pt x="652234" y="267205"/>
                </a:lnTo>
                <a:lnTo>
                  <a:pt x="635575" y="258032"/>
                </a:lnTo>
                <a:lnTo>
                  <a:pt x="618858" y="248964"/>
                </a:lnTo>
                <a:lnTo>
                  <a:pt x="602085" y="239992"/>
                </a:lnTo>
                <a:lnTo>
                  <a:pt x="585254" y="231134"/>
                </a:lnTo>
                <a:lnTo>
                  <a:pt x="568366" y="222371"/>
                </a:lnTo>
                <a:lnTo>
                  <a:pt x="551431" y="213722"/>
                </a:lnTo>
                <a:lnTo>
                  <a:pt x="534438" y="205188"/>
                </a:lnTo>
                <a:lnTo>
                  <a:pt x="517379" y="196767"/>
                </a:lnTo>
                <a:lnTo>
                  <a:pt x="500272" y="188452"/>
                </a:lnTo>
                <a:lnTo>
                  <a:pt x="483108" y="180270"/>
                </a:lnTo>
                <a:lnTo>
                  <a:pt x="465877" y="172202"/>
                </a:lnTo>
                <a:lnTo>
                  <a:pt x="448599" y="164259"/>
                </a:lnTo>
                <a:lnTo>
                  <a:pt x="431254" y="156448"/>
                </a:lnTo>
                <a:lnTo>
                  <a:pt x="413861" y="148761"/>
                </a:lnTo>
                <a:lnTo>
                  <a:pt x="396402" y="141208"/>
                </a:lnTo>
                <a:lnTo>
                  <a:pt x="378895" y="133788"/>
                </a:lnTo>
                <a:lnTo>
                  <a:pt x="361321" y="126511"/>
                </a:lnTo>
                <a:lnTo>
                  <a:pt x="343691" y="119377"/>
                </a:lnTo>
                <a:lnTo>
                  <a:pt x="325993" y="112385"/>
                </a:lnTo>
                <a:lnTo>
                  <a:pt x="308248" y="105547"/>
                </a:lnTo>
                <a:lnTo>
                  <a:pt x="290446" y="98860"/>
                </a:lnTo>
                <a:lnTo>
                  <a:pt x="272586" y="92326"/>
                </a:lnTo>
                <a:lnTo>
                  <a:pt x="258994" y="84068"/>
                </a:lnTo>
                <a:lnTo>
                  <a:pt x="266576" y="66627"/>
                </a:lnTo>
                <a:lnTo>
                  <a:pt x="274158" y="49178"/>
                </a:lnTo>
                <a:lnTo>
                  <a:pt x="281740" y="31737"/>
                </a:lnTo>
                <a:lnTo>
                  <a:pt x="289322" y="14297"/>
                </a:lnTo>
                <a:lnTo>
                  <a:pt x="293103" y="0"/>
                </a:lnTo>
                <a:lnTo>
                  <a:pt x="274539" y="4162"/>
                </a:lnTo>
                <a:lnTo>
                  <a:pt x="255984" y="8325"/>
                </a:lnTo>
                <a:lnTo>
                  <a:pt x="237430" y="12487"/>
                </a:lnTo>
                <a:lnTo>
                  <a:pt x="218865" y="16659"/>
                </a:lnTo>
                <a:lnTo>
                  <a:pt x="200311" y="20822"/>
                </a:lnTo>
                <a:lnTo>
                  <a:pt x="181747" y="24984"/>
                </a:lnTo>
                <a:lnTo>
                  <a:pt x="163192" y="29147"/>
                </a:lnTo>
                <a:lnTo>
                  <a:pt x="144637" y="33309"/>
                </a:lnTo>
                <a:lnTo>
                  <a:pt x="126073" y="37471"/>
                </a:lnTo>
                <a:lnTo>
                  <a:pt x="107518" y="41634"/>
                </a:lnTo>
                <a:lnTo>
                  <a:pt x="88954" y="45806"/>
                </a:lnTo>
                <a:lnTo>
                  <a:pt x="70399" y="49968"/>
                </a:lnTo>
                <a:lnTo>
                  <a:pt x="51845" y="54131"/>
                </a:lnTo>
                <a:lnTo>
                  <a:pt x="33280" y="58293"/>
                </a:lnTo>
                <a:lnTo>
                  <a:pt x="14726" y="62455"/>
                </a:lnTo>
                <a:lnTo>
                  <a:pt x="0" y="68180"/>
                </a:lnTo>
                <a:lnTo>
                  <a:pt x="10382" y="84115"/>
                </a:lnTo>
                <a:lnTo>
                  <a:pt x="20765" y="100060"/>
                </a:lnTo>
                <a:lnTo>
                  <a:pt x="31147" y="115995"/>
                </a:lnTo>
                <a:lnTo>
                  <a:pt x="41519" y="131931"/>
                </a:lnTo>
                <a:lnTo>
                  <a:pt x="51902" y="147866"/>
                </a:lnTo>
                <a:lnTo>
                  <a:pt x="62284" y="163801"/>
                </a:lnTo>
                <a:lnTo>
                  <a:pt x="72666" y="179746"/>
                </a:lnTo>
                <a:lnTo>
                  <a:pt x="83048" y="195682"/>
                </a:lnTo>
                <a:lnTo>
                  <a:pt x="93421" y="211617"/>
                </a:lnTo>
                <a:lnTo>
                  <a:pt x="103803" y="227552"/>
                </a:lnTo>
                <a:lnTo>
                  <a:pt x="114186" y="243488"/>
                </a:lnTo>
                <a:lnTo>
                  <a:pt x="124568" y="259432"/>
                </a:lnTo>
                <a:lnTo>
                  <a:pt x="134950" y="275368"/>
                </a:lnTo>
                <a:lnTo>
                  <a:pt x="145332" y="291303"/>
                </a:lnTo>
                <a:lnTo>
                  <a:pt x="155705" y="307238"/>
                </a:lnTo>
                <a:lnTo>
                  <a:pt x="164516" y="305324"/>
                </a:lnTo>
                <a:lnTo>
                  <a:pt x="171936" y="287817"/>
                </a:lnTo>
                <a:lnTo>
                  <a:pt x="179356" y="270300"/>
                </a:lnTo>
                <a:lnTo>
                  <a:pt x="186785" y="252794"/>
                </a:lnTo>
                <a:lnTo>
                  <a:pt x="194205" y="235277"/>
                </a:lnTo>
                <a:lnTo>
                  <a:pt x="207197" y="230381"/>
                </a:lnTo>
                <a:lnTo>
                  <a:pt x="225104" y="236811"/>
                </a:lnTo>
                <a:lnTo>
                  <a:pt x="242945" y="243402"/>
                </a:lnTo>
                <a:lnTo>
                  <a:pt x="260718" y="250165"/>
                </a:lnTo>
                <a:lnTo>
                  <a:pt x="278435" y="257080"/>
                </a:lnTo>
                <a:lnTo>
                  <a:pt x="296094" y="264147"/>
                </a:lnTo>
                <a:lnTo>
                  <a:pt x="313696" y="271358"/>
                </a:lnTo>
                <a:lnTo>
                  <a:pt x="331222" y="278730"/>
                </a:lnTo>
                <a:lnTo>
                  <a:pt x="348701" y="286245"/>
                </a:lnTo>
                <a:lnTo>
                  <a:pt x="366112" y="293894"/>
                </a:lnTo>
                <a:lnTo>
                  <a:pt x="383467" y="301676"/>
                </a:lnTo>
                <a:lnTo>
                  <a:pt x="400764" y="309601"/>
                </a:lnTo>
                <a:lnTo>
                  <a:pt x="417995" y="317649"/>
                </a:lnTo>
                <a:lnTo>
                  <a:pt x="435159" y="325831"/>
                </a:lnTo>
                <a:lnTo>
                  <a:pt x="452276" y="334137"/>
                </a:lnTo>
                <a:lnTo>
                  <a:pt x="469325" y="342567"/>
                </a:lnTo>
                <a:lnTo>
                  <a:pt x="486318" y="351111"/>
                </a:lnTo>
                <a:lnTo>
                  <a:pt x="503253" y="359769"/>
                </a:lnTo>
                <a:lnTo>
                  <a:pt x="520122" y="368541"/>
                </a:lnTo>
                <a:lnTo>
                  <a:pt x="536943" y="377428"/>
                </a:lnTo>
                <a:lnTo>
                  <a:pt x="553698" y="386429"/>
                </a:lnTo>
                <a:lnTo>
                  <a:pt x="570395" y="395535"/>
                </a:lnTo>
                <a:lnTo>
                  <a:pt x="587045" y="404736"/>
                </a:lnTo>
                <a:lnTo>
                  <a:pt x="603628" y="414052"/>
                </a:lnTo>
                <a:lnTo>
                  <a:pt x="620154" y="423453"/>
                </a:lnTo>
                <a:lnTo>
                  <a:pt x="636632" y="432959"/>
                </a:lnTo>
                <a:lnTo>
                  <a:pt x="653053" y="442560"/>
                </a:lnTo>
                <a:lnTo>
                  <a:pt x="669417" y="452257"/>
                </a:lnTo>
                <a:lnTo>
                  <a:pt x="685724" y="462048"/>
                </a:lnTo>
                <a:lnTo>
                  <a:pt x="701973" y="471916"/>
                </a:lnTo>
                <a:lnTo>
                  <a:pt x="718175" y="481879"/>
                </a:lnTo>
                <a:lnTo>
                  <a:pt x="734330" y="491928"/>
                </a:lnTo>
                <a:lnTo>
                  <a:pt x="750418" y="502063"/>
                </a:lnTo>
                <a:lnTo>
                  <a:pt x="766467" y="512283"/>
                </a:lnTo>
                <a:lnTo>
                  <a:pt x="782460" y="522580"/>
                </a:lnTo>
                <a:lnTo>
                  <a:pt x="798395" y="532952"/>
                </a:lnTo>
                <a:lnTo>
                  <a:pt x="814292" y="543411"/>
                </a:lnTo>
                <a:lnTo>
                  <a:pt x="830132" y="553936"/>
                </a:lnTo>
                <a:lnTo>
                  <a:pt x="845915" y="564537"/>
                </a:lnTo>
                <a:lnTo>
                  <a:pt x="861660" y="575215"/>
                </a:lnTo>
                <a:lnTo>
                  <a:pt x="877348" y="585959"/>
                </a:lnTo>
                <a:lnTo>
                  <a:pt x="892997" y="596779"/>
                </a:lnTo>
                <a:lnTo>
                  <a:pt x="908590" y="607666"/>
                </a:lnTo>
                <a:lnTo>
                  <a:pt x="924144" y="618620"/>
                </a:lnTo>
                <a:lnTo>
                  <a:pt x="939641" y="629641"/>
                </a:lnTo>
                <a:lnTo>
                  <a:pt x="955091" y="640728"/>
                </a:lnTo>
                <a:lnTo>
                  <a:pt x="970502" y="651872"/>
                </a:lnTo>
                <a:lnTo>
                  <a:pt x="985876" y="663083"/>
                </a:lnTo>
                <a:lnTo>
                  <a:pt x="1001192" y="674351"/>
                </a:lnTo>
                <a:lnTo>
                  <a:pt x="1016470" y="685686"/>
                </a:lnTo>
                <a:lnTo>
                  <a:pt x="1031700" y="697087"/>
                </a:lnTo>
                <a:lnTo>
                  <a:pt x="1046883" y="708536"/>
                </a:lnTo>
                <a:lnTo>
                  <a:pt x="1062028" y="720042"/>
                </a:lnTo>
                <a:lnTo>
                  <a:pt x="1077125" y="731606"/>
                </a:lnTo>
                <a:lnTo>
                  <a:pt x="1092194" y="743217"/>
                </a:lnTo>
                <a:lnTo>
                  <a:pt x="1107215" y="754885"/>
                </a:lnTo>
                <a:lnTo>
                  <a:pt x="1122188" y="766610"/>
                </a:lnTo>
                <a:lnTo>
                  <a:pt x="1137114" y="778393"/>
                </a:lnTo>
                <a:lnTo>
                  <a:pt x="1152011" y="790223"/>
                </a:lnTo>
                <a:lnTo>
                  <a:pt x="1166870" y="802100"/>
                </a:lnTo>
                <a:lnTo>
                  <a:pt x="1181681" y="814026"/>
                </a:lnTo>
                <a:lnTo>
                  <a:pt x="1196464" y="825998"/>
                </a:lnTo>
                <a:lnTo>
                  <a:pt x="1211189" y="838029"/>
                </a:lnTo>
                <a:lnTo>
                  <a:pt x="1225887" y="850106"/>
                </a:lnTo>
                <a:lnTo>
                  <a:pt x="1240546" y="862222"/>
                </a:lnTo>
                <a:lnTo>
                  <a:pt x="1255166" y="874385"/>
                </a:lnTo>
                <a:lnTo>
                  <a:pt x="1269673" y="885673"/>
                </a:lnTo>
                <a:lnTo>
                  <a:pt x="1281884" y="871090"/>
                </a:lnTo>
                <a:lnTo>
                  <a:pt x="1294105" y="856507"/>
                </a:lnTo>
                <a:lnTo>
                  <a:pt x="1306316" y="841924"/>
                </a:lnTo>
                <a:lnTo>
                  <a:pt x="1318527" y="827342"/>
                </a:lnTo>
                <a:lnTo>
                  <a:pt x="1330738" y="812759"/>
                </a:lnTo>
                <a:lnTo>
                  <a:pt x="1342949" y="798176"/>
                </a:lnTo>
                <a:lnTo>
                  <a:pt x="1355160" y="783593"/>
                </a:lnTo>
                <a:lnTo>
                  <a:pt x="1367371" y="769010"/>
                </a:lnTo>
                <a:close/>
              </a:path>
            </a:pathLst>
          </a:cu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radial-inward-spoke-3">
            <a:extLst xmlns:a="http://schemas.openxmlformats.org/drawingml/2006/main">
              <a:ext uri="{FF2B5EF4-FFF2-40B4-BE49-F238E27FC236}">
                <a16:creationId xmlns:a16="http://schemas.microsoft.com/office/drawing/2014/main" id="{4F73AE6F-9F04-441F-B90E-E91714B5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1289" y="4409294"/>
            <a:ext cx="1342263" cy="833266"/>
          </a:xfrm>
          <a:custGeom xmlns:a="http://schemas.openxmlformats.org/drawingml/2006/main">
            <a:pathLst>
              <a:path w="1342263" h="833266">
                <a:moveTo>
                  <a:pt x="52064" y="833266"/>
                </a:moveTo>
                <a:lnTo>
                  <a:pt x="69904" y="826675"/>
                </a:lnTo>
                <a:lnTo>
                  <a:pt x="87716" y="820036"/>
                </a:lnTo>
                <a:lnTo>
                  <a:pt x="105518" y="813340"/>
                </a:lnTo>
                <a:lnTo>
                  <a:pt x="123292" y="806596"/>
                </a:lnTo>
                <a:lnTo>
                  <a:pt x="141056" y="799795"/>
                </a:lnTo>
                <a:lnTo>
                  <a:pt x="158791" y="792947"/>
                </a:lnTo>
                <a:lnTo>
                  <a:pt x="176508" y="786041"/>
                </a:lnTo>
                <a:lnTo>
                  <a:pt x="194205" y="779069"/>
                </a:lnTo>
                <a:lnTo>
                  <a:pt x="211874" y="772049"/>
                </a:lnTo>
                <a:lnTo>
                  <a:pt x="229524" y="764972"/>
                </a:lnTo>
                <a:lnTo>
                  <a:pt x="247145" y="757838"/>
                </a:lnTo>
                <a:lnTo>
                  <a:pt x="264747" y="750637"/>
                </a:lnTo>
                <a:lnTo>
                  <a:pt x="282331" y="743388"/>
                </a:lnTo>
                <a:lnTo>
                  <a:pt x="299876" y="736073"/>
                </a:lnTo>
                <a:lnTo>
                  <a:pt x="317411" y="728701"/>
                </a:lnTo>
                <a:lnTo>
                  <a:pt x="334909" y="721262"/>
                </a:lnTo>
                <a:lnTo>
                  <a:pt x="352377" y="713756"/>
                </a:lnTo>
                <a:lnTo>
                  <a:pt x="369827" y="706193"/>
                </a:lnTo>
                <a:lnTo>
                  <a:pt x="387248" y="698564"/>
                </a:lnTo>
                <a:lnTo>
                  <a:pt x="404641" y="690877"/>
                </a:lnTo>
                <a:lnTo>
                  <a:pt x="421996" y="683114"/>
                </a:lnTo>
                <a:lnTo>
                  <a:pt x="439331" y="675294"/>
                </a:lnTo>
                <a:lnTo>
                  <a:pt x="456629" y="667398"/>
                </a:lnTo>
                <a:lnTo>
                  <a:pt x="473897" y="659435"/>
                </a:lnTo>
                <a:lnTo>
                  <a:pt x="491138" y="651405"/>
                </a:lnTo>
                <a:lnTo>
                  <a:pt x="508340" y="643309"/>
                </a:lnTo>
                <a:lnTo>
                  <a:pt x="525504" y="635127"/>
                </a:lnTo>
                <a:lnTo>
                  <a:pt x="542639" y="626888"/>
                </a:lnTo>
                <a:lnTo>
                  <a:pt x="559746" y="618573"/>
                </a:lnTo>
                <a:lnTo>
                  <a:pt x="576805" y="610172"/>
                </a:lnTo>
                <a:lnTo>
                  <a:pt x="593827" y="601704"/>
                </a:lnTo>
                <a:lnTo>
                  <a:pt x="610819" y="593160"/>
                </a:lnTo>
                <a:lnTo>
                  <a:pt x="627764" y="584530"/>
                </a:lnTo>
                <a:lnTo>
                  <a:pt x="644671" y="575834"/>
                </a:lnTo>
                <a:lnTo>
                  <a:pt x="661540" y="567052"/>
                </a:lnTo>
                <a:lnTo>
                  <a:pt x="678361" y="558184"/>
                </a:lnTo>
                <a:lnTo>
                  <a:pt x="695135" y="549240"/>
                </a:lnTo>
                <a:lnTo>
                  <a:pt x="711870" y="540210"/>
                </a:lnTo>
                <a:lnTo>
                  <a:pt x="728567" y="531095"/>
                </a:lnTo>
                <a:lnTo>
                  <a:pt x="745207" y="521894"/>
                </a:lnTo>
                <a:lnTo>
                  <a:pt x="761800" y="512607"/>
                </a:lnTo>
                <a:lnTo>
                  <a:pt x="778345" y="503234"/>
                </a:lnTo>
                <a:lnTo>
                  <a:pt x="794833" y="493766"/>
                </a:lnTo>
                <a:lnTo>
                  <a:pt x="811273" y="484213"/>
                </a:lnTo>
                <a:lnTo>
                  <a:pt x="827656" y="474564"/>
                </a:lnTo>
                <a:lnTo>
                  <a:pt x="843991" y="464820"/>
                </a:lnTo>
                <a:lnTo>
                  <a:pt x="860260" y="454981"/>
                </a:lnTo>
                <a:lnTo>
                  <a:pt x="876481" y="445046"/>
                </a:lnTo>
                <a:lnTo>
                  <a:pt x="892635" y="435016"/>
                </a:lnTo>
                <a:lnTo>
                  <a:pt x="908723" y="424882"/>
                </a:lnTo>
                <a:lnTo>
                  <a:pt x="924754" y="414652"/>
                </a:lnTo>
                <a:lnTo>
                  <a:pt x="940718" y="404317"/>
                </a:lnTo>
                <a:lnTo>
                  <a:pt x="956605" y="393887"/>
                </a:lnTo>
                <a:lnTo>
                  <a:pt x="972436" y="383343"/>
                </a:lnTo>
                <a:lnTo>
                  <a:pt x="988190" y="372694"/>
                </a:lnTo>
                <a:lnTo>
                  <a:pt x="1003868" y="361931"/>
                </a:lnTo>
                <a:lnTo>
                  <a:pt x="1019470" y="351063"/>
                </a:lnTo>
                <a:lnTo>
                  <a:pt x="1034996" y="340090"/>
                </a:lnTo>
                <a:lnTo>
                  <a:pt x="1050446" y="328994"/>
                </a:lnTo>
                <a:lnTo>
                  <a:pt x="1065800" y="317783"/>
                </a:lnTo>
                <a:lnTo>
                  <a:pt x="1081078" y="306467"/>
                </a:lnTo>
                <a:lnTo>
                  <a:pt x="1096270" y="295027"/>
                </a:lnTo>
                <a:lnTo>
                  <a:pt x="1111367" y="283464"/>
                </a:lnTo>
                <a:lnTo>
                  <a:pt x="1126369" y="271786"/>
                </a:lnTo>
                <a:lnTo>
                  <a:pt x="1141276" y="259975"/>
                </a:lnTo>
                <a:lnTo>
                  <a:pt x="1156087" y="248050"/>
                </a:lnTo>
                <a:lnTo>
                  <a:pt x="1170794" y="235991"/>
                </a:lnTo>
                <a:lnTo>
                  <a:pt x="1185396" y="223818"/>
                </a:lnTo>
                <a:lnTo>
                  <a:pt x="1199474" y="215265"/>
                </a:lnTo>
                <a:lnTo>
                  <a:pt x="1210885" y="230476"/>
                </a:lnTo>
                <a:lnTo>
                  <a:pt x="1222296" y="245688"/>
                </a:lnTo>
                <a:lnTo>
                  <a:pt x="1233707" y="260899"/>
                </a:lnTo>
                <a:lnTo>
                  <a:pt x="1245118" y="276111"/>
                </a:lnTo>
                <a:lnTo>
                  <a:pt x="1255795" y="287084"/>
                </a:lnTo>
                <a:lnTo>
                  <a:pt x="1261462" y="268929"/>
                </a:lnTo>
                <a:lnTo>
                  <a:pt x="1267139" y="250784"/>
                </a:lnTo>
                <a:lnTo>
                  <a:pt x="1272807" y="232629"/>
                </a:lnTo>
                <a:lnTo>
                  <a:pt x="1278484" y="214484"/>
                </a:lnTo>
                <a:lnTo>
                  <a:pt x="1284151" y="196329"/>
                </a:lnTo>
                <a:lnTo>
                  <a:pt x="1289828" y="178184"/>
                </a:lnTo>
                <a:lnTo>
                  <a:pt x="1295495" y="160030"/>
                </a:lnTo>
                <a:lnTo>
                  <a:pt x="1301172" y="141884"/>
                </a:lnTo>
                <a:lnTo>
                  <a:pt x="1306840" y="123730"/>
                </a:lnTo>
                <a:lnTo>
                  <a:pt x="1312507" y="105585"/>
                </a:lnTo>
                <a:lnTo>
                  <a:pt x="1318184" y="87430"/>
                </a:lnTo>
                <a:lnTo>
                  <a:pt x="1323851" y="69275"/>
                </a:lnTo>
                <a:lnTo>
                  <a:pt x="1329528" y="51130"/>
                </a:lnTo>
                <a:lnTo>
                  <a:pt x="1335195" y="32976"/>
                </a:lnTo>
                <a:lnTo>
                  <a:pt x="1340872" y="14830"/>
                </a:lnTo>
                <a:lnTo>
                  <a:pt x="1342263" y="0"/>
                </a:lnTo>
                <a:lnTo>
                  <a:pt x="1323270" y="981"/>
                </a:lnTo>
                <a:lnTo>
                  <a:pt x="1304277" y="1953"/>
                </a:lnTo>
                <a:lnTo>
                  <a:pt x="1285294" y="2934"/>
                </a:lnTo>
                <a:lnTo>
                  <a:pt x="1266301" y="3905"/>
                </a:lnTo>
                <a:lnTo>
                  <a:pt x="1247308" y="4886"/>
                </a:lnTo>
                <a:lnTo>
                  <a:pt x="1228315" y="5858"/>
                </a:lnTo>
                <a:lnTo>
                  <a:pt x="1209332" y="6839"/>
                </a:lnTo>
                <a:lnTo>
                  <a:pt x="1190339" y="7820"/>
                </a:lnTo>
                <a:lnTo>
                  <a:pt x="1171346" y="8792"/>
                </a:lnTo>
                <a:lnTo>
                  <a:pt x="1152354" y="9773"/>
                </a:lnTo>
                <a:lnTo>
                  <a:pt x="1133370" y="10744"/>
                </a:lnTo>
                <a:lnTo>
                  <a:pt x="1114377" y="11725"/>
                </a:lnTo>
                <a:lnTo>
                  <a:pt x="1095385" y="12697"/>
                </a:lnTo>
                <a:lnTo>
                  <a:pt x="1076392" y="13678"/>
                </a:lnTo>
                <a:lnTo>
                  <a:pt x="1057408" y="14659"/>
                </a:lnTo>
                <a:lnTo>
                  <a:pt x="1055884" y="23813"/>
                </a:lnTo>
                <a:lnTo>
                  <a:pt x="1067295" y="39024"/>
                </a:lnTo>
                <a:lnTo>
                  <a:pt x="1078706" y="54235"/>
                </a:lnTo>
                <a:lnTo>
                  <a:pt x="1090117" y="69456"/>
                </a:lnTo>
                <a:lnTo>
                  <a:pt x="1101528" y="84668"/>
                </a:lnTo>
                <a:lnTo>
                  <a:pt x="1098318" y="98279"/>
                </a:lnTo>
                <a:lnTo>
                  <a:pt x="1083802" y="110566"/>
                </a:lnTo>
                <a:lnTo>
                  <a:pt x="1069181" y="122720"/>
                </a:lnTo>
                <a:lnTo>
                  <a:pt x="1054446" y="134741"/>
                </a:lnTo>
                <a:lnTo>
                  <a:pt x="1039597" y="146618"/>
                </a:lnTo>
                <a:lnTo>
                  <a:pt x="1024652" y="158382"/>
                </a:lnTo>
                <a:lnTo>
                  <a:pt x="1009612" y="170012"/>
                </a:lnTo>
                <a:lnTo>
                  <a:pt x="994467" y="181508"/>
                </a:lnTo>
                <a:lnTo>
                  <a:pt x="979227" y="192881"/>
                </a:lnTo>
                <a:lnTo>
                  <a:pt x="963901" y="204140"/>
                </a:lnTo>
                <a:lnTo>
                  <a:pt x="948480" y="215265"/>
                </a:lnTo>
                <a:lnTo>
                  <a:pt x="932983" y="226276"/>
                </a:lnTo>
                <a:lnTo>
                  <a:pt x="917391" y="237173"/>
                </a:lnTo>
                <a:lnTo>
                  <a:pt x="901732" y="247945"/>
                </a:lnTo>
                <a:lnTo>
                  <a:pt x="885987" y="258613"/>
                </a:lnTo>
                <a:lnTo>
                  <a:pt x="870166" y="269157"/>
                </a:lnTo>
                <a:lnTo>
                  <a:pt x="854269" y="279597"/>
                </a:lnTo>
                <a:lnTo>
                  <a:pt x="838305" y="289931"/>
                </a:lnTo>
                <a:lnTo>
                  <a:pt x="822265" y="300152"/>
                </a:lnTo>
                <a:lnTo>
                  <a:pt x="806167" y="310267"/>
                </a:lnTo>
                <a:lnTo>
                  <a:pt x="789994" y="320269"/>
                </a:lnTo>
                <a:lnTo>
                  <a:pt x="773763" y="330175"/>
                </a:lnTo>
                <a:lnTo>
                  <a:pt x="757476" y="339985"/>
                </a:lnTo>
                <a:lnTo>
                  <a:pt x="741121" y="349682"/>
                </a:lnTo>
                <a:lnTo>
                  <a:pt x="724710" y="359293"/>
                </a:lnTo>
                <a:lnTo>
                  <a:pt x="708241" y="368798"/>
                </a:lnTo>
                <a:lnTo>
                  <a:pt x="691715" y="378209"/>
                </a:lnTo>
                <a:lnTo>
                  <a:pt x="675142" y="387525"/>
                </a:lnTo>
                <a:lnTo>
                  <a:pt x="658511" y="396745"/>
                </a:lnTo>
                <a:lnTo>
                  <a:pt x="641833" y="405879"/>
                </a:lnTo>
                <a:lnTo>
                  <a:pt x="625097" y="414919"/>
                </a:lnTo>
                <a:lnTo>
                  <a:pt x="608324" y="423872"/>
                </a:lnTo>
                <a:lnTo>
                  <a:pt x="591503" y="432730"/>
                </a:lnTo>
                <a:lnTo>
                  <a:pt x="574634" y="441512"/>
                </a:lnTo>
                <a:lnTo>
                  <a:pt x="557717" y="450199"/>
                </a:lnTo>
                <a:lnTo>
                  <a:pt x="540763" y="458810"/>
                </a:lnTo>
                <a:lnTo>
                  <a:pt x="523761" y="467335"/>
                </a:lnTo>
                <a:lnTo>
                  <a:pt x="506730" y="475774"/>
                </a:lnTo>
                <a:lnTo>
                  <a:pt x="489652" y="484137"/>
                </a:lnTo>
                <a:lnTo>
                  <a:pt x="472535" y="492423"/>
                </a:lnTo>
                <a:lnTo>
                  <a:pt x="455381" y="500624"/>
                </a:lnTo>
                <a:lnTo>
                  <a:pt x="438188" y="508749"/>
                </a:lnTo>
                <a:lnTo>
                  <a:pt x="420957" y="516807"/>
                </a:lnTo>
                <a:lnTo>
                  <a:pt x="403698" y="524780"/>
                </a:lnTo>
                <a:lnTo>
                  <a:pt x="386401" y="532686"/>
                </a:lnTo>
                <a:lnTo>
                  <a:pt x="369075" y="540515"/>
                </a:lnTo>
                <a:lnTo>
                  <a:pt x="351711" y="548278"/>
                </a:lnTo>
                <a:lnTo>
                  <a:pt x="334318" y="555965"/>
                </a:lnTo>
                <a:lnTo>
                  <a:pt x="316897" y="563585"/>
                </a:lnTo>
                <a:lnTo>
                  <a:pt x="299447" y="571129"/>
                </a:lnTo>
                <a:lnTo>
                  <a:pt x="281959" y="578606"/>
                </a:lnTo>
                <a:lnTo>
                  <a:pt x="264452" y="586026"/>
                </a:lnTo>
                <a:lnTo>
                  <a:pt x="246917" y="593369"/>
                </a:lnTo>
                <a:lnTo>
                  <a:pt x="229343" y="600656"/>
                </a:lnTo>
                <a:lnTo>
                  <a:pt x="211760" y="607876"/>
                </a:lnTo>
                <a:lnTo>
                  <a:pt x="194139" y="615029"/>
                </a:lnTo>
                <a:lnTo>
                  <a:pt x="176489" y="622116"/>
                </a:lnTo>
                <a:lnTo>
                  <a:pt x="158829" y="629145"/>
                </a:lnTo>
                <a:lnTo>
                  <a:pt x="141132" y="636118"/>
                </a:lnTo>
                <a:lnTo>
                  <a:pt x="123415" y="643023"/>
                </a:lnTo>
                <a:lnTo>
                  <a:pt x="105680" y="649872"/>
                </a:lnTo>
                <a:lnTo>
                  <a:pt x="87916" y="656663"/>
                </a:lnTo>
                <a:lnTo>
                  <a:pt x="70133" y="663397"/>
                </a:lnTo>
                <a:lnTo>
                  <a:pt x="52330" y="670074"/>
                </a:lnTo>
                <a:lnTo>
                  <a:pt x="34500" y="676694"/>
                </a:lnTo>
                <a:lnTo>
                  <a:pt x="16650" y="683257"/>
                </a:lnTo>
                <a:lnTo>
                  <a:pt x="0" y="690334"/>
                </a:lnTo>
                <a:lnTo>
                  <a:pt x="6506" y="708193"/>
                </a:lnTo>
                <a:lnTo>
                  <a:pt x="13011" y="726062"/>
                </a:lnTo>
                <a:lnTo>
                  <a:pt x="19526" y="743931"/>
                </a:lnTo>
                <a:lnTo>
                  <a:pt x="26032" y="761800"/>
                </a:lnTo>
                <a:lnTo>
                  <a:pt x="32537" y="779669"/>
                </a:lnTo>
                <a:lnTo>
                  <a:pt x="39043" y="797538"/>
                </a:lnTo>
                <a:lnTo>
                  <a:pt x="45558" y="815397"/>
                </a:lnTo>
                <a:lnTo>
                  <a:pt x="52064" y="833266"/>
                </a:lnTo>
                <a:close/>
              </a:path>
            </a:pathLst>
          </a:cu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radial-core-halo">
            <a:extLst xmlns:a="http://schemas.openxmlformats.org/drawingml/2006/main">
              <a:ext uri="{FF2B5EF4-FFF2-40B4-BE49-F238E27FC236}">
                <a16:creationId xmlns:a16="http://schemas.microsoft.com/office/drawing/2014/main" id="{B68074A1-BFDB-4690-BE37-AD92CB19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3067050"/>
            <a:ext cx="211455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11" name="radial-core-ring">
            <a:extLst xmlns:a="http://schemas.openxmlformats.org/drawingml/2006/main">
              <a:ext uri="{FF2B5EF4-FFF2-40B4-BE49-F238E27FC236}">
                <a16:creationId xmlns:a16="http://schemas.microsoft.com/office/drawing/2014/main" id="{66ABADF3-A84B-4AB1-AE26-83FD171C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975" y="3162300"/>
            <a:ext cx="192405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2948B"/>
            </a:solidFill>
            <a:prstDash val="solid"/>
          </a:ln>
        </p:spPr>
      </p:sp>
      <p:sp>
        <p:nvSpPr>
          <p:cNvPr id="12" name="radial-core-disc">
            <a:extLst xmlns:a="http://schemas.openxmlformats.org/drawingml/2006/main">
              <a:ext uri="{FF2B5EF4-FFF2-40B4-BE49-F238E27FC236}">
                <a16:creationId xmlns:a16="http://schemas.microsoft.com/office/drawing/2014/main" id="{BDC12E45-8291-448E-960B-406E617E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9700" y="3248025"/>
            <a:ext cx="175260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dial-center-title">
            <a:extLst xmlns:a="http://schemas.openxmlformats.org/drawingml/2006/main">
              <a:ext uri="{FF2B5EF4-FFF2-40B4-BE49-F238E27FC236}">
                <a16:creationId xmlns:a16="http://schemas.microsoft.com/office/drawing/2014/main" id="{E4D5BE6E-62FC-4D54-91FD-44C9D639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3712521"/>
            <a:ext cx="1562100" cy="187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可追溯预约记录</a:t>
            </a:r>
          </a:p>
        </p:txBody>
      </p:sp>
      <p:sp>
        <p:nvSpPr>
          <p:cNvPr id="14" name="radial-center-body">
            <a:extLst xmlns:a="http://schemas.openxmlformats.org/drawingml/2006/main">
              <a:ext uri="{FF2B5EF4-FFF2-40B4-BE49-F238E27FC236}">
                <a16:creationId xmlns:a16="http://schemas.microsoft.com/office/drawing/2014/main" id="{853C364C-0687-4B9B-B5FD-CA39A167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3957485"/>
            <a:ext cx="1562100" cy="178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 i="0">
                <a:solidFill>
                  <a:srgbClr val="F4ECE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F4ECEA"/>
                </a:solidFill>
                <a:latin typeface="Noto Sans SC"/>
                <a:ea typeface="Noto Sans SC"/>
                <a:cs typeface="Noto Sans SC"/>
              </a:rPr>
              <a:t>三类资料共同留痕</a:t>
            </a:r>
          </a:p>
        </p:txBody>
      </p:sp>
      <p:sp>
        <p:nvSpPr>
          <p:cNvPr id="15" name="radial-node-surface-1">
            <a:extLst xmlns:a="http://schemas.openxmlformats.org/drawingml/2006/main">
              <a:ext uri="{FF2B5EF4-FFF2-40B4-BE49-F238E27FC236}">
                <a16:creationId xmlns:a16="http://schemas.microsoft.com/office/drawing/2014/main" id="{B949E22B-E58B-4457-8EB4-51B76258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771650"/>
            <a:ext cx="2305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dial-node-surface-2">
            <a:extLst xmlns:a="http://schemas.openxmlformats.org/drawingml/2006/main">
              <a:ext uri="{FF2B5EF4-FFF2-40B4-BE49-F238E27FC236}">
                <a16:creationId xmlns:a16="http://schemas.microsoft.com/office/drawing/2014/main" id="{64350514-604A-4315-8765-D03F7674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4780512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adial-node-surface-3">
            <a:extLst xmlns:a="http://schemas.openxmlformats.org/drawingml/2006/main">
              <a:ext uri="{FF2B5EF4-FFF2-40B4-BE49-F238E27FC236}">
                <a16:creationId xmlns:a16="http://schemas.microsoft.com/office/drawing/2014/main" id="{27A93054-B70B-4410-9C9C-A5983708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199" y="4780512"/>
            <a:ext cx="2209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adial-node-accent-1">
            <a:extLst xmlns:a="http://schemas.openxmlformats.org/drawingml/2006/main">
              <a:ext uri="{FF2B5EF4-FFF2-40B4-BE49-F238E27FC236}">
                <a16:creationId xmlns:a16="http://schemas.microsoft.com/office/drawing/2014/main" id="{17A86EC3-BE5A-45B3-ABE4-DEEEB177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1771650"/>
            <a:ext cx="2305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47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adial-node-accent-2">
            <a:extLst xmlns:a="http://schemas.openxmlformats.org/drawingml/2006/main">
              <a:ext uri="{FF2B5EF4-FFF2-40B4-BE49-F238E27FC236}">
                <a16:creationId xmlns:a16="http://schemas.microsoft.com/office/drawing/2014/main" id="{DCC149B6-E36A-492B-9EF8-DC848770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858" y="4780512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adial-node-accent-3">
            <a:extLst xmlns:a="http://schemas.openxmlformats.org/drawingml/2006/main">
              <a:ext uri="{FF2B5EF4-FFF2-40B4-BE49-F238E27FC236}">
                <a16:creationId xmlns:a16="http://schemas.microsoft.com/office/drawing/2014/main" id="{5F772982-7710-4D24-8103-A5797E19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9899" y="4780512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adial-node-0-title">
            <a:extLst xmlns:a="http://schemas.openxmlformats.org/drawingml/2006/main">
              <a:ext uri="{FF2B5EF4-FFF2-40B4-BE49-F238E27FC236}">
                <a16:creationId xmlns:a16="http://schemas.microsoft.com/office/drawing/2014/main" id="{60570A9C-236C-4984-8F79-715B7A11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1964979"/>
            <a:ext cx="2038350" cy="162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12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申请记录</a:t>
            </a:r>
          </a:p>
        </p:txBody>
      </p:sp>
      <p:sp>
        <p:nvSpPr>
          <p:cNvPr id="22" name="radial-node-0-body">
            <a:extLst xmlns:a="http://schemas.openxmlformats.org/drawingml/2006/main">
              <a:ext uri="{FF2B5EF4-FFF2-40B4-BE49-F238E27FC236}">
                <a16:creationId xmlns:a16="http://schemas.microsoft.com/office/drawing/2014/main" id="{F01A6171-2C71-4EAD-AAA9-417983D9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184949"/>
            <a:ext cx="2038350" cy="174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预约内容与已收到时间</a:t>
            </a:r>
          </a:p>
        </p:txBody>
      </p:sp>
      <p:sp>
        <p:nvSpPr>
          <p:cNvPr id="23" name="radial-node-1-title">
            <a:extLst xmlns:a="http://schemas.openxmlformats.org/drawingml/2006/main">
              <a:ext uri="{FF2B5EF4-FFF2-40B4-BE49-F238E27FC236}">
                <a16:creationId xmlns:a16="http://schemas.microsoft.com/office/drawing/2014/main" id="{D7BDF7B8-6C1F-41CF-B3BA-1A0999EF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4973841"/>
            <a:ext cx="1981200" cy="162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材料核对</a:t>
            </a:r>
          </a:p>
        </p:txBody>
      </p:sp>
      <p:sp>
        <p:nvSpPr>
          <p:cNvPr id="24" name="radial-node-1-body">
            <a:extLst xmlns:a="http://schemas.openxmlformats.org/drawingml/2006/main">
              <a:ext uri="{FF2B5EF4-FFF2-40B4-BE49-F238E27FC236}">
                <a16:creationId xmlns:a16="http://schemas.microsoft.com/office/drawing/2014/main" id="{6B10908C-4C17-4AC5-8CC8-D249E27D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733" y="5193802"/>
            <a:ext cx="1981200" cy="174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培训证明与核对结果</a:t>
            </a:r>
          </a:p>
        </p:txBody>
      </p:sp>
      <p:sp>
        <p:nvSpPr>
          <p:cNvPr id="25" name="radial-node-2-title">
            <a:extLst xmlns:a="http://schemas.openxmlformats.org/drawingml/2006/main">
              <a:ext uri="{FF2B5EF4-FFF2-40B4-BE49-F238E27FC236}">
                <a16:creationId xmlns:a16="http://schemas.microsoft.com/office/drawing/2014/main" id="{4799821C-4D62-42FE-A709-12C75E25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4973841"/>
            <a:ext cx="1981200" cy="162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时段记录</a:t>
            </a:r>
          </a:p>
        </p:txBody>
      </p:sp>
      <p:sp>
        <p:nvSpPr>
          <p:cNvPr id="26" name="radial-node-2-body">
            <a:extLst xmlns:a="http://schemas.openxmlformats.org/drawingml/2006/main">
              <a:ext uri="{FF2B5EF4-FFF2-40B4-BE49-F238E27FC236}">
                <a16:creationId xmlns:a16="http://schemas.microsoft.com/office/drawing/2014/main" id="{62EDF78A-7FF0-4AAB-9F98-02C94BAF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924" y="5193802"/>
            <a:ext cx="1981200" cy="174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可用时段与使用条件</a:t>
            </a:r>
          </a:p>
        </p:txBody>
      </p:sp>
      <p:sp>
        <p:nvSpPr>
          <p:cNvPr id="27" name="shell-footer-note">
            <a:extLst xmlns:a="http://schemas.openxmlformats.org/drawingml/2006/main">
              <a:ext uri="{FF2B5EF4-FFF2-40B4-BE49-F238E27FC236}">
                <a16:creationId xmlns:a16="http://schemas.microsoft.com/office/drawing/2014/main" id="{799C5BAE-95DF-4011-9356-E7F21A65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管理员在记录不一致时核实，三类资料仍保留各自来源</a:t>
            </a:r>
          </a:p>
        </p:txBody>
      </p:sp>
      <p:sp>
        <p:nvSpPr>
          <p:cNvPr id="28" name="shell-folio">
            <a:extLst xmlns:a="http://schemas.openxmlformats.org/drawingml/2006/main">
              <a:ext uri="{FF2B5EF4-FFF2-40B4-BE49-F238E27FC236}">
                <a16:creationId xmlns:a16="http://schemas.microsoft.com/office/drawing/2014/main" id="{3208CC31-1713-4F59-824F-93B9BFA2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480637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hell-chapter-number">
            <a:extLst xmlns:a="http://schemas.openxmlformats.org/drawingml/2006/main">
              <a:ext uri="{FF2B5EF4-FFF2-40B4-BE49-F238E27FC236}">
                <a16:creationId xmlns:a16="http://schemas.microsoft.com/office/drawing/2014/main" id="{12FD7DF9-C62B-4565-9484-8FE389CD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shell-page-title">
            <a:extLst xmlns:a="http://schemas.openxmlformats.org/drawingml/2006/main">
              <a:ext uri="{FF2B5EF4-FFF2-40B4-BE49-F238E27FC236}">
                <a16:creationId xmlns:a16="http://schemas.microsoft.com/office/drawing/2014/main" id="{F6530496-0CF9-492C-B160-30B772FC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单仪器试点的观察重点</a:t>
            </a:r>
          </a:p>
        </p:txBody>
      </p:sp>
      <p:sp>
        <p:nvSpPr>
          <p:cNvPr id="3" name="shell-rule">
            <a:extLst xmlns:a="http://schemas.openxmlformats.org/drawingml/2006/main">
              <a:ext uri="{FF2B5EF4-FFF2-40B4-BE49-F238E27FC236}">
                <a16:creationId xmlns:a16="http://schemas.microsoft.com/office/drawing/2014/main" id="{13C5EA32-BF63-4B0F-94FF-3E190B04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0" y="600075"/>
            <a:ext cx="6515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shell-lead">
            <a:extLst xmlns:a="http://schemas.openxmlformats.org/drawingml/2006/main">
              <a:ext uri="{FF2B5EF4-FFF2-40B4-BE49-F238E27FC236}">
                <a16:creationId xmlns:a16="http://schemas.microsoft.com/office/drawing/2014/main" id="{A5BC1500-1128-41BF-85B6-1BE8D63C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先在一台仪器上跑通记录与反馈，再判断是否需要调整</a:t>
            </a:r>
          </a:p>
        </p:txBody>
      </p:sp>
      <p:sp>
        <p:nvSpPr>
          <p:cNvPr id="5" name="shell-kicker">
            <a:extLst xmlns:a="http://schemas.openxmlformats.org/drawingml/2006/main">
              <a:ext uri="{FF2B5EF4-FFF2-40B4-BE49-F238E27FC236}">
                <a16:creationId xmlns:a16="http://schemas.microsoft.com/office/drawing/2014/main" id="{EE0DD49E-A2C8-498A-861D-6FF16E8A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049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试点观察记录能否说清楚，不预设节省时间或提升满意度</a:t>
            </a:r>
          </a:p>
        </p:txBody>
      </p:sp>
      <p:sp>
        <p:nvSpPr>
          <p:cNvPr id="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178D453D-D2A5-47EE-9856-A373545A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2333625"/>
            <a:ext cx="2825648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49E248F9-614B-44F5-AC92-2DC6A4E0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2238375"/>
            <a:ext cx="2978048" cy="3352800"/>
          </a:xfrm>
          <a:prstGeom xmlns:a="http://schemas.openxmlformats.org/drawingml/2006/main" prst="roundRect">
            <a:avLst>
              <a:gd name="adj" fmla="val 8316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5CA9C36A-8D41-4CF2-AF6C-916F5854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1049" y="2238375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87286C6C-4B0D-42FD-BF21-777D3E17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4374" y="17811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1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A6832790-81AF-4837-BBCE-DB3D080D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7724" y="19145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d05c8bf344655">
            <a:extLst>
              <a:ext uri="{96DAC541-7B7A-43D3-8B79-37D633B846F1}">
                <asvg:svgBlip xmlns:asvg="http://schemas.microsoft.com/office/drawing/2016/SVG/main" r:embed="R08fe51bcaa7a48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70124" y="20669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B3184A18-9047-4282-A7D6-1E744376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3099197"/>
            <a:ext cx="2444648" cy="202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区分状态</a:t>
            </a:r>
          </a:p>
        </p:txBody>
      </p:sp>
      <p:sp>
        <p:nvSpPr>
          <p:cNvPr id="1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4257FD9A-ACAB-4978-BA9C-A7CDD076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84399" y="3590925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F6BF9718-7A47-4C3B-B8D4-303A3F83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0" y="4284316"/>
            <a:ext cx="2444648" cy="194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申请人区分已收到与已确认</a:t>
            </a:r>
          </a:p>
        </p:txBody>
      </p:sp>
      <p:sp>
        <p:nvSpPr>
          <p:cNvPr id="1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AB0DF5E9-D221-4DAC-80BD-5A87D785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648" y="2333625"/>
            <a:ext cx="2825801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1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9D7615AC-2DD6-40C9-B595-0FC33B3C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4448" y="2238375"/>
            <a:ext cx="2978201" cy="3352800"/>
          </a:xfrm>
          <a:prstGeom xmlns:a="http://schemas.openxmlformats.org/drawingml/2006/main" prst="roundRect">
            <a:avLst>
              <a:gd name="adj" fmla="val 8315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F4823E8E-898C-4F6A-A02E-7C14C59D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2948" y="2238375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F4C993AE-C4FC-46AD-ABAF-7D05E87D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273" y="17811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1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B6300138-6BEE-4ECD-B883-7C8BB253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9623" y="19145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7f5cec3d4491e">
            <a:extLst>
              <a:ext uri="{96DAC541-7B7A-43D3-8B79-37D633B846F1}">
                <asvg:svgBlip xmlns:asvg="http://schemas.microsoft.com/office/drawing/2016/SVG/main" r:embed="R5be5a626d0e748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72023" y="20669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35A1D960-367E-473E-831C-793B4C8F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1148" y="3099197"/>
            <a:ext cx="2444801" cy="202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找到记录</a:t>
            </a:r>
          </a:p>
        </p:txBody>
      </p:sp>
      <p:sp>
        <p:nvSpPr>
          <p:cNvPr id="2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49C70CFA-3C51-4EF6-867B-F4D2F31C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298" y="3590925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921B84C0-7893-4094-ABC3-0E8DB774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1148" y="4284316"/>
            <a:ext cx="2444801" cy="194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管理员找到完整预约记录</a:t>
            </a:r>
          </a:p>
        </p:txBody>
      </p:sp>
      <p:sp>
        <p:nvSpPr>
          <p:cNvPr id="2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18451581-5708-4353-839A-433E1302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2699" y="2333625"/>
            <a:ext cx="2825648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2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A82F6BE5-2710-4CC0-87D6-E8B86043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6499" y="2238375"/>
            <a:ext cx="2978048" cy="3352800"/>
          </a:xfrm>
          <a:prstGeom xmlns:a="http://schemas.openxmlformats.org/drawingml/2006/main" prst="roundRect">
            <a:avLst>
              <a:gd name="adj" fmla="val 8316"/>
            </a:avLst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35065AD7-8CEE-4B0E-B0E3-D643029B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998" y="2238375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CCC7B0E4-06C0-4DD8-BBE1-AFF3269E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8323" y="17811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CEA"/>
          </a:solidFill>
          <a:ln xmlns:a="http://schemas.openxmlformats.org/drawingml/2006/main" w="9525">
            <a:solidFill>
              <a:srgbClr val="F4ECEA"/>
            </a:solidFill>
            <a:prstDash val="solid"/>
          </a:ln>
        </p:spPr>
      </p:sp>
      <p:sp>
        <p:nvSpPr>
          <p:cNvPr id="2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F4318650-C8E4-4DAA-8FB0-8B87CED8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1673" y="1914525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652e14d454e5a">
            <a:extLst>
              <a:ext uri="{96DAC541-7B7A-43D3-8B79-37D633B846F1}">
                <asvg:svgBlip xmlns:asvg="http://schemas.microsoft.com/office/drawing/2016/SVG/main" r:embed="R7121b319d8cf476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74073" y="206692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B33B2FDA-4278-44CC-B1DF-D8AD076B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3199" y="3099197"/>
            <a:ext cx="2444648" cy="202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7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明确询问</a:t>
            </a:r>
          </a:p>
        </p:txBody>
      </p:sp>
      <p:sp>
        <p:nvSpPr>
          <p:cNvPr id="3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7F9BDC30-5520-4CF2-B0C6-57A52888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8348" y="3590925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9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D5D87C82-BE75-4C2C-AB6F-A29B83D6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3199" y="4284316"/>
            <a:ext cx="2444648" cy="194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7C473C"/>
                </a:solidFill>
                <a:latin typeface="Noto Sans SC"/>
                <a:ea typeface="Noto Sans SC"/>
                <a:cs typeface="Noto Sans SC"/>
              </a:rPr>
              <a:t>设备负责人收到时段询问</a:t>
            </a:r>
          </a:p>
        </p:txBody>
      </p:sp>
      <p:sp>
        <p:nvSpPr>
          <p:cNvPr id="33" name="pilot-boundary-strip">
            <a:extLst xmlns:a="http://schemas.openxmlformats.org/drawingml/2006/main">
              <a:ext uri="{FF2B5EF4-FFF2-40B4-BE49-F238E27FC236}">
                <a16:creationId xmlns:a16="http://schemas.microsoft.com/office/drawing/2014/main" id="{69A81EF7-C53B-49A7-BFD2-78EC9687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0572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4" name="pilot-boundary-title">
            <a:extLst xmlns:a="http://schemas.openxmlformats.org/drawingml/2006/main">
              <a:ext uri="{FF2B5EF4-FFF2-40B4-BE49-F238E27FC236}">
                <a16:creationId xmlns:a16="http://schemas.microsoft.com/office/drawing/2014/main" id="{BCA30EF4-0008-4BE8-B6DA-37FA24C0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055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试点边界</a:t>
            </a:r>
          </a:p>
        </p:txBody>
      </p:sp>
      <p:sp>
        <p:nvSpPr>
          <p:cNvPr id="35" name="pilot-boundary-items">
            <a:extLst xmlns:a="http://schemas.openxmlformats.org/drawingml/2006/main">
              <a:ext uri="{FF2B5EF4-FFF2-40B4-BE49-F238E27FC236}">
                <a16:creationId xmlns:a16="http://schemas.microsoft.com/office/drawing/2014/main" id="{8A455564-EDCB-4CA6-825D-7ECC0071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9055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一台仪器   ·   保留纸面或人工沟通   ·   记录不一致时由管理员核实</a:t>
            </a:r>
          </a:p>
        </p:txBody>
      </p:sp>
      <p:sp>
        <p:nvSpPr>
          <p:cNvPr id="36" name="shell-footer-note">
            <a:extLst xmlns:a="http://schemas.openxmlformats.org/drawingml/2006/main">
              <a:ext uri="{FF2B5EF4-FFF2-40B4-BE49-F238E27FC236}">
                <a16:creationId xmlns:a16="http://schemas.microsoft.com/office/drawing/2014/main" id="{5F877EB5-8813-41C5-B436-A4A8CCD8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观察结果用于修正记录与沟通方式，不生成自动审批承诺</a:t>
            </a:r>
          </a:p>
        </p:txBody>
      </p:sp>
      <p:sp>
        <p:nvSpPr>
          <p:cNvPr id="37" name="shell-folio">
            <a:extLst xmlns:a="http://schemas.openxmlformats.org/drawingml/2006/main">
              <a:ext uri="{FF2B5EF4-FFF2-40B4-BE49-F238E27FC236}">
                <a16:creationId xmlns:a16="http://schemas.microsoft.com/office/drawing/2014/main" id="{540EB139-4009-4CD0-B477-7AB50BF4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00744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7C473C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A35D4F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2026-09-06T23:10:47.4280000Z</dcterms:created>
  <dcterms:modified xsi:type="dcterms:W3CDTF">2026-09-06T23:10:47.4290000Z</dcterms:modified>
</coreProperties>
</file>