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fbe1ee68c49b3" /><Relationship Type="http://schemas.openxmlformats.org/officeDocument/2006/relationships/extended-properties" Target="/docProps/app.xml" Id="R3787014067a147a8" /><Relationship Type="http://schemas.openxmlformats.org/officeDocument/2006/relationships/officeDocument" Target="/ppt/presentation.xml" Id="Rcf6640e35bca47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3a515bf2b4f8b"/>
  </p:sldMasterIdLst>
  <p:notesMasterIdLst>
    <p:notesMasterId xmlns:r="http://schemas.openxmlformats.org/officeDocument/2006/relationships" r:id="R21eca48d304f4ee3"/>
  </p:notesMasterIdLst>
  <p:sldIdLst>
    <p:sldId xmlns:r="http://schemas.openxmlformats.org/officeDocument/2006/relationships" id="256" r:id="Rda0cc9b738c34dd2"/>
    <p:sldId xmlns:r="http://schemas.openxmlformats.org/officeDocument/2006/relationships" id="257" r:id="R61e6733819114c85"/>
    <p:sldId xmlns:r="http://schemas.openxmlformats.org/officeDocument/2006/relationships" id="258" r:id="R9c57a2cfb625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2f59ae28354ce7" /><Relationship Type="http://schemas.openxmlformats.org/officeDocument/2006/relationships/slideMaster" Target="/ppt/slideMasters/slideMaster1.xml" Id="R65f3a515bf2b4f8b" /><Relationship Type="http://schemas.openxmlformats.org/officeDocument/2006/relationships/notesMaster" Target="/ppt/notesMasters/notesMaster1.xml" Id="R21eca48d304f4ee3" /><Relationship Type="http://schemas.openxmlformats.org/officeDocument/2006/relationships/presProps" Target="/ppt/presProps.xml" Id="Rf9c412c62d9b4ea8" /><Relationship Type="http://schemas.openxmlformats.org/officeDocument/2006/relationships/tableStyles" Target="/ppt/tableStyles.xml" Id="Rc48164656eb84a64" /><Relationship Type="http://schemas.openxmlformats.org/officeDocument/2006/relationships/slide" Target="/ppt/slides/slide1.xml" Id="Rda0cc9b738c34dd2" /><Relationship Type="http://schemas.openxmlformats.org/officeDocument/2006/relationships/slide" Target="/ppt/slides/slide2.xml" Id="R61e6733819114c85" /><Relationship Type="http://schemas.openxmlformats.org/officeDocument/2006/relationships/slide" Target="/ppt/slides/slide3.xml" Id="R9c57a2cfb625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64cd307884e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c92fc66144ad2" /><Relationship Type="http://schemas.openxmlformats.org/officeDocument/2006/relationships/notesMaster" Target="/ppt/notesMasters/notesMaster1.xml" Id="R7a479fc9ba6845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652f574be4e1c" /><Relationship Type="http://schemas.openxmlformats.org/officeDocument/2006/relationships/notesMaster" Target="/ppt/notesMasters/notesMaster1.xml" Id="R34fae9f0d9b4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20158d38f492a" /><Relationship Type="http://schemas.openxmlformats.org/officeDocument/2006/relationships/notesMaster" Target="/ppt/notesMasters/notesMaster1.xml" Id="Rd4cc81b33c8d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来源：experiments/diagram-in-ppt-luna-09/manuscript.md。页面关系：申请人、平台、管理员、设备负责人之间的消息方向与反馈状态。项目结构检索后，按第二顺位调用Archify sequence，实际候选为run/archify-candidate.json，validate与deliver均通过9/9 showcase检查，输出中间图run/archify-sequence-v2.html。nativeEditablePptx=true。构建脚本实际读取Archify的participants/messages（ID、from/to、label、note、y、variant），再按当前Skin的角色泳道坐标重建为原生连接和文字，模式标记为adapted-native。消息ID到PPT对象映射：submit→message-line-submit/message-label-submit；received→message-line-received/message-label-received；handoff→message-line-handoff/message-label-handoff；ask→message-line-ask/message-label-ask；reply→message-line-reply/message-label-reply；confirm→message-line-confirm/message-label-confirm；confirmed→message-line-confirmed/message-label-confirmed。Archify intermediate仍是流程语义证据，不声称存在通用转换器。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hub-directed-outcomes-002，检索记录与适配理由见structure-invocations.ndjson。上游节点/关系到PPT对象映射：hub-center*对应可追溯预约记录；hub-node-0/1/2对应申请记录、材料核对、时段记录；hub-connection-*为三类资料向中心汇入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parallel-equal-cards-001，三个观察点同级并列；“保留纸面或人工沟通渠道”是贯穿试点边界，未被编造成顺序节点。上游节点到PPT对象映射：parallel-item-0/1/2及其标题和正文对应区分状态、找到记录、明确询问，三个项目共用并列关系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da236114c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ef9ff38bb479b" /><Relationship Type="http://schemas.openxmlformats.org/officeDocument/2006/relationships/slideLayout" Target="/ppt/slideLayouts/slideLayout1.xml" Id="R849a375b275b49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a375b275b49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d7ea595424383" /><Relationship Type="http://schemas.openxmlformats.org/officeDocument/2006/relationships/notesSlide" Target="/ppt/notesSlides/notesSlide1.xml" Id="R47b640204745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b679d79334c03" /><Relationship Type="http://schemas.openxmlformats.org/officeDocument/2006/relationships/notesSlide" Target="/ppt/notesSlides/notesSlide2.xml" Id="R9d2de87dbcc04e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bd19064f94a2b" /><Relationship Type="http://schemas.openxmlformats.org/officeDocument/2006/relationships/image" Target="/ppt/media/image.png" Id="Rba73830056374c56" /><Relationship Type="http://schemas.openxmlformats.org/officeDocument/2006/relationships/image" Target="/ppt/media/image.svg" Id="Ra156b68cff0748d8" /><Relationship Type="http://schemas.openxmlformats.org/officeDocument/2006/relationships/image" Target="/ppt/media/image2.png" Id="Rb204553183204043" /><Relationship Type="http://schemas.openxmlformats.org/officeDocument/2006/relationships/image" Target="/ppt/media/image2.svg" Id="Rea18ff91b3904e85" /><Relationship Type="http://schemas.openxmlformats.org/officeDocument/2006/relationships/image" Target="/ppt/media/image3.png" Id="R1a82c205fa2a4113" /><Relationship Type="http://schemas.openxmlformats.org/officeDocument/2006/relationships/image" Target="/ppt/media/image3.svg" Id="R3c1408bc771e40c8" /><Relationship Type="http://schemas.openxmlformats.org/officeDocument/2006/relationships/notesSlide" Target="/ppt/notesSlides/notesSlide3.xml" Id="R0d84f62ecf1140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9254E97B-4C81-4CD0-BA2D-EF77602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5E3CB2AB-30FC-496C-8777-B537EE5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预约信息如何流转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F97B06D6-C598-4D69-B3B3-98A1C0D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E0721795-5186-45B6-AE57-72336C1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四个角色分工清楚，两个反馈状态各有含义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98F59E92-C95F-46ED-A137-6D7B06B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“已收到”让申请人知道记录已入；“已确认”才代表可以按注意事项使用</a:t>
            </a:r>
          </a:p>
        </p:txBody>
      </p:sp>
      <p:sp>
        <p:nvSpPr>
          <p:cNvPr id="6" name="actor-band-0">
            <a:extLst xmlns:a="http://schemas.openxmlformats.org/drawingml/2006/main">
              <a:ext uri="{FF2B5EF4-FFF2-40B4-BE49-F238E27FC236}">
                <a16:creationId xmlns:a16="http://schemas.microsoft.com/office/drawing/2014/main" id="{AB8D87EB-AEBB-4824-810D-36149503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C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ctor-label-0">
            <a:extLst xmlns:a="http://schemas.openxmlformats.org/drawingml/2006/main">
              <a:ext uri="{FF2B5EF4-FFF2-40B4-BE49-F238E27FC236}">
                <a16:creationId xmlns:a16="http://schemas.microsoft.com/office/drawing/2014/main" id="{6960F1EF-A509-4897-8AFC-54B2C50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申请人</a:t>
            </a:r>
          </a:p>
        </p:txBody>
      </p:sp>
      <p:sp>
        <p:nvSpPr>
          <p:cNvPr id="8" name="actor-sub-0">
            <a:extLst xmlns:a="http://schemas.openxmlformats.org/drawingml/2006/main">
              <a:ext uri="{FF2B5EF4-FFF2-40B4-BE49-F238E27FC236}">
                <a16:creationId xmlns:a16="http://schemas.microsoft.com/office/drawing/2014/main" id="{F8B8F4BA-0A95-4957-94FC-76BFBB3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提交与接收</a:t>
            </a:r>
          </a:p>
        </p:txBody>
      </p:sp>
      <p:sp>
        <p:nvSpPr>
          <p:cNvPr id="9" name="lane-0">
            <a:extLst xmlns:a="http://schemas.openxmlformats.org/drawingml/2006/main">
              <a:ext uri="{FF2B5EF4-FFF2-40B4-BE49-F238E27FC236}">
                <a16:creationId xmlns:a16="http://schemas.microsoft.com/office/drawing/2014/main" id="{0FB402C5-C7B4-4F3C-941F-DAC7EFC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430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actor-band-1">
            <a:extLst xmlns:a="http://schemas.openxmlformats.org/drawingml/2006/main">
              <a:ext uri="{FF2B5EF4-FFF2-40B4-BE49-F238E27FC236}">
                <a16:creationId xmlns:a16="http://schemas.microsoft.com/office/drawing/2014/main" id="{65F33341-55DA-4D91-90C1-C3C44326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ctor-label-1">
            <a:extLst xmlns:a="http://schemas.openxmlformats.org/drawingml/2006/main">
              <a:ext uri="{FF2B5EF4-FFF2-40B4-BE49-F238E27FC236}">
                <a16:creationId xmlns:a16="http://schemas.microsoft.com/office/drawing/2014/main" id="{A8A382B0-A22A-4BF5-9A10-5C87B0C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平台</a:t>
            </a:r>
          </a:p>
        </p:txBody>
      </p:sp>
      <p:sp>
        <p:nvSpPr>
          <p:cNvPr id="12" name="actor-sub-1">
            <a:extLst xmlns:a="http://schemas.openxmlformats.org/drawingml/2006/main">
              <a:ext uri="{FF2B5EF4-FFF2-40B4-BE49-F238E27FC236}">
                <a16:creationId xmlns:a16="http://schemas.microsoft.com/office/drawing/2014/main" id="{C9F7A62A-728E-419C-89FA-E348FD0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记录与传递</a:t>
            </a:r>
          </a:p>
        </p:txBody>
      </p:sp>
      <p:sp>
        <p:nvSpPr>
          <p:cNvPr id="13" name="lane-1">
            <a:extLst xmlns:a="http://schemas.openxmlformats.org/drawingml/2006/main">
              <a:ext uri="{FF2B5EF4-FFF2-40B4-BE49-F238E27FC236}">
                <a16:creationId xmlns:a16="http://schemas.microsoft.com/office/drawing/2014/main" id="{366F0ED6-73E2-41CE-AD61-6062D83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actor-band-2">
            <a:extLst xmlns:a="http://schemas.openxmlformats.org/drawingml/2006/main">
              <a:ext uri="{FF2B5EF4-FFF2-40B4-BE49-F238E27FC236}">
                <a16:creationId xmlns:a16="http://schemas.microsoft.com/office/drawing/2014/main" id="{41583ECB-FD4A-44DA-97A5-D629C64C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ctor-label-2">
            <a:extLst xmlns:a="http://schemas.openxmlformats.org/drawingml/2006/main">
              <a:ext uri="{FF2B5EF4-FFF2-40B4-BE49-F238E27FC236}">
                <a16:creationId xmlns:a16="http://schemas.microsoft.com/office/drawing/2014/main" id="{E0E37E35-36FD-492A-B9C9-6E54CEA4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管理员</a:t>
            </a:r>
          </a:p>
        </p:txBody>
      </p:sp>
      <p:sp>
        <p:nvSpPr>
          <p:cNvPr id="16" name="actor-sub-2">
            <a:extLst xmlns:a="http://schemas.openxmlformats.org/drawingml/2006/main">
              <a:ext uri="{FF2B5EF4-FFF2-40B4-BE49-F238E27FC236}">
                <a16:creationId xmlns:a16="http://schemas.microsoft.com/office/drawing/2014/main" id="{D4542B8E-79ED-49D1-B2CD-C233B559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核对与确认</a:t>
            </a:r>
          </a:p>
        </p:txBody>
      </p:sp>
      <p:sp>
        <p:nvSpPr>
          <p:cNvPr id="17" name="lane-2">
            <a:extLst xmlns:a="http://schemas.openxmlformats.org/drawingml/2006/main">
              <a:ext uri="{FF2B5EF4-FFF2-40B4-BE49-F238E27FC236}">
                <a16:creationId xmlns:a16="http://schemas.microsoft.com/office/drawing/2014/main" id="{A7DB9820-719C-43AF-84E6-CD368240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37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actor-band-3">
            <a:extLst xmlns:a="http://schemas.openxmlformats.org/drawingml/2006/main">
              <a:ext uri="{FF2B5EF4-FFF2-40B4-BE49-F238E27FC236}">
                <a16:creationId xmlns:a16="http://schemas.microsoft.com/office/drawing/2014/main" id="{5ADABD04-8883-41AA-8E6C-C00408D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ctor-label-3">
            <a:extLst xmlns:a="http://schemas.openxmlformats.org/drawingml/2006/main">
              <a:ext uri="{FF2B5EF4-FFF2-40B4-BE49-F238E27FC236}">
                <a16:creationId xmlns:a16="http://schemas.microsoft.com/office/drawing/2014/main" id="{836E59DC-86EC-44F9-BE7D-05FC4DA8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设备负责人</a:t>
            </a:r>
          </a:p>
        </p:txBody>
      </p:sp>
      <p:sp>
        <p:nvSpPr>
          <p:cNvPr id="20" name="actor-sub-3">
            <a:extLst xmlns:a="http://schemas.openxmlformats.org/drawingml/2006/main">
              <a:ext uri="{FF2B5EF4-FFF2-40B4-BE49-F238E27FC236}">
                <a16:creationId xmlns:a16="http://schemas.microsoft.com/office/drawing/2014/main" id="{5A4D9750-6DB0-4034-81F4-3C432F0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时段与条件</a:t>
            </a:r>
          </a:p>
        </p:txBody>
      </p:sp>
      <p:sp>
        <p:nvSpPr>
          <p:cNvPr id="21" name="lane-3">
            <a:extLst xmlns:a="http://schemas.openxmlformats.org/drawingml/2006/main">
              <a:ext uri="{FF2B5EF4-FFF2-40B4-BE49-F238E27FC236}">
                <a16:creationId xmlns:a16="http://schemas.microsoft.com/office/drawing/2014/main" id="{CC556A3F-4FD7-426A-8161-F50DB91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441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essage-anchor-from-submit">
            <a:extLst xmlns:a="http://schemas.openxmlformats.org/drawingml/2006/main">
              <a:ext uri="{FF2B5EF4-FFF2-40B4-BE49-F238E27FC236}">
                <a16:creationId xmlns:a16="http://schemas.microsoft.com/office/drawing/2014/main" id="{2AB7592A-7261-4452-AE0E-378F484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message-anchor-to-submit">
            <a:extLst xmlns:a="http://schemas.openxmlformats.org/drawingml/2006/main">
              <a:ext uri="{FF2B5EF4-FFF2-40B4-BE49-F238E27FC236}">
                <a16:creationId xmlns:a16="http://schemas.microsoft.com/office/drawing/2014/main" id="{07AFECF8-0ADB-456D-9072-0B6A069E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message-line-submit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762125" y="28003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25" name="message-label-submit">
            <a:extLst xmlns:a="http://schemas.openxmlformats.org/drawingml/2006/main">
              <a:ext uri="{FF2B5EF4-FFF2-40B4-BE49-F238E27FC236}">
                <a16:creationId xmlns:a16="http://schemas.microsoft.com/office/drawing/2014/main" id="{645C23C5-3D81-4585-A6D8-6D67885D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765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预约信息 + 培训证明</a:t>
            </a:r>
          </a:p>
        </p:txBody>
      </p:sp>
      <p:sp>
        <p:nvSpPr>
          <p:cNvPr id="26" name="message-anchor-from-received">
            <a:extLst xmlns:a="http://schemas.openxmlformats.org/drawingml/2006/main">
              <a:ext uri="{FF2B5EF4-FFF2-40B4-BE49-F238E27FC236}">
                <a16:creationId xmlns:a16="http://schemas.microsoft.com/office/drawing/2014/main" id="{15BC0593-8586-49C5-9A8B-E0A65D6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message-anchor-to-received">
            <a:extLst xmlns:a="http://schemas.openxmlformats.org/drawingml/2006/main">
              <a:ext uri="{FF2B5EF4-FFF2-40B4-BE49-F238E27FC236}">
                <a16:creationId xmlns:a16="http://schemas.microsoft.com/office/drawing/2014/main" id="{28668DB6-21CA-44FF-AEDF-60A65A3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message-line-received"/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1762125" y="3306366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29" name="message-label-received">
            <a:extLst xmlns:a="http://schemas.openxmlformats.org/drawingml/2006/main">
              <a:ext uri="{FF2B5EF4-FFF2-40B4-BE49-F238E27FC236}">
                <a16:creationId xmlns:a16="http://schemas.microsoft.com/office/drawing/2014/main" id="{5DD539D9-062D-44F6-85BA-157FEF8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58716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已收到</a:t>
            </a:r>
          </a:p>
        </p:txBody>
      </p:sp>
      <p:sp>
        <p:nvSpPr>
          <p:cNvPr id="30" name="received-note">
            <a:extLst xmlns:a="http://schemas.openxmlformats.org/drawingml/2006/main">
              <a:ext uri="{FF2B5EF4-FFF2-40B4-BE49-F238E27FC236}">
                <a16:creationId xmlns:a16="http://schemas.microsoft.com/office/drawing/2014/main" id="{6F912D4F-186D-49FD-AD1F-94516D5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2566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只代表平台已记录申请</a:t>
            </a:r>
          </a:p>
        </p:txBody>
      </p:sp>
      <p:sp>
        <p:nvSpPr>
          <p:cNvPr id="31" name="message-anchor-from-handoff">
            <a:extLst xmlns:a="http://schemas.openxmlformats.org/drawingml/2006/main">
              <a:ext uri="{FF2B5EF4-FFF2-40B4-BE49-F238E27FC236}">
                <a16:creationId xmlns:a16="http://schemas.microsoft.com/office/drawing/2014/main" id="{B2CAB6A8-806E-4F98-8C00-0E47101C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message-anchor-to-handoff">
            <a:extLst xmlns:a="http://schemas.openxmlformats.org/drawingml/2006/main">
              <a:ext uri="{FF2B5EF4-FFF2-40B4-BE49-F238E27FC236}">
                <a16:creationId xmlns:a16="http://schemas.microsoft.com/office/drawing/2014/main" id="{1A69E100-0262-43D1-A59F-F924BD5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6" name="message-line-handoff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562475" y="3812381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34" name="message-label-handoff">
            <a:extLst xmlns:a="http://schemas.openxmlformats.org/drawingml/2006/main">
              <a:ext uri="{FF2B5EF4-FFF2-40B4-BE49-F238E27FC236}">
                <a16:creationId xmlns:a16="http://schemas.microsoft.com/office/drawing/2014/main" id="{C988C098-DC1A-4D70-B60B-C450FB0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4731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申请记录与材料</a:t>
            </a:r>
          </a:p>
        </p:txBody>
      </p:sp>
      <p:sp>
        <p:nvSpPr>
          <p:cNvPr id="35" name="message-anchor-from-ask">
            <a:extLst xmlns:a="http://schemas.openxmlformats.org/drawingml/2006/main">
              <a:ext uri="{FF2B5EF4-FFF2-40B4-BE49-F238E27FC236}">
                <a16:creationId xmlns:a16="http://schemas.microsoft.com/office/drawing/2014/main" id="{F9242AF7-0A69-4822-A82F-A864EA8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message-anchor-to-ask">
            <a:extLst xmlns:a="http://schemas.openxmlformats.org/drawingml/2006/main">
              <a:ext uri="{FF2B5EF4-FFF2-40B4-BE49-F238E27FC236}">
                <a16:creationId xmlns:a16="http://schemas.microsoft.com/office/drawing/2014/main" id="{3676E958-F127-4A37-8090-CA24641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0" name="message-line-ask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362825" y="4318397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38" name="message-label-ask">
            <a:extLst xmlns:a="http://schemas.openxmlformats.org/drawingml/2006/main">
              <a:ext uri="{FF2B5EF4-FFF2-40B4-BE49-F238E27FC236}">
                <a16:creationId xmlns:a16="http://schemas.microsoft.com/office/drawing/2014/main" id="{32B463AC-13C4-464B-A891-3029EEBE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94547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询问时段与使用条件</a:t>
            </a:r>
          </a:p>
        </p:txBody>
      </p:sp>
      <p:sp>
        <p:nvSpPr>
          <p:cNvPr id="39" name="message-anchor-from-reply">
            <a:extLst xmlns:a="http://schemas.openxmlformats.org/drawingml/2006/main">
              <a:ext uri="{FF2B5EF4-FFF2-40B4-BE49-F238E27FC236}">
                <a16:creationId xmlns:a16="http://schemas.microsoft.com/office/drawing/2014/main" id="{886EC67B-0973-4C17-B74D-A25D981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message-anchor-to-reply">
            <a:extLst xmlns:a="http://schemas.openxmlformats.org/drawingml/2006/main">
              <a:ext uri="{FF2B5EF4-FFF2-40B4-BE49-F238E27FC236}">
                <a16:creationId xmlns:a16="http://schemas.microsoft.com/office/drawing/2014/main" id="{E67D63D8-A8C8-4426-ACEA-6A4D1FA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4" name="message-line-reply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7362825" y="48244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tailEnd type="triangle" w="sm" len="sm"/>
          </a:ln>
        </p:spPr>
      </p:cxnSp>
      <p:sp>
        <p:nvSpPr>
          <p:cNvPr id="42" name="message-label-reply">
            <a:extLst xmlns:a="http://schemas.openxmlformats.org/drawingml/2006/main">
              <a:ext uri="{FF2B5EF4-FFF2-40B4-BE49-F238E27FC236}">
                <a16:creationId xmlns:a16="http://schemas.microsoft.com/office/drawing/2014/main" id="{FBFE6BBD-D11F-4EEA-A799-861E26B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00563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可用时段 + 使用条件</a:t>
            </a:r>
          </a:p>
        </p:txBody>
      </p:sp>
      <p:sp>
        <p:nvSpPr>
          <p:cNvPr id="43" name="message-anchor-from-confirm">
            <a:extLst xmlns:a="http://schemas.openxmlformats.org/drawingml/2006/main">
              <a:ext uri="{FF2B5EF4-FFF2-40B4-BE49-F238E27FC236}">
                <a16:creationId xmlns:a16="http://schemas.microsoft.com/office/drawing/2014/main" id="{D11A6BBF-DA39-4475-A23A-9943B28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message-anchor-to-confirm">
            <a:extLst xmlns:a="http://schemas.openxmlformats.org/drawingml/2006/main">
              <a:ext uri="{FF2B5EF4-FFF2-40B4-BE49-F238E27FC236}">
                <a16:creationId xmlns:a16="http://schemas.microsoft.com/office/drawing/2014/main" id="{692E4EDB-010E-466F-A7B3-1A56A1B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message-line-confirm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4562475" y="5330428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46" name="message-label-confirm">
            <a:extLst xmlns:a="http://schemas.openxmlformats.org/drawingml/2006/main">
              <a:ext uri="{FF2B5EF4-FFF2-40B4-BE49-F238E27FC236}">
                <a16:creationId xmlns:a16="http://schemas.microsoft.com/office/drawing/2014/main" id="{385F7986-BB12-48C8-9470-AC21849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82778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预约确认</a:t>
            </a:r>
          </a:p>
        </p:txBody>
      </p:sp>
      <p:sp>
        <p:nvSpPr>
          <p:cNvPr id="47" name="message-anchor-from-confirmed">
            <a:extLst xmlns:a="http://schemas.openxmlformats.org/drawingml/2006/main">
              <a:ext uri="{FF2B5EF4-FFF2-40B4-BE49-F238E27FC236}">
                <a16:creationId xmlns:a16="http://schemas.microsoft.com/office/drawing/2014/main" id="{4F394E5C-D5B9-49D8-8F7B-3F86A9D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message-anchor-to-confirmed">
            <a:extLst xmlns:a="http://schemas.openxmlformats.org/drawingml/2006/main">
              <a:ext uri="{FF2B5EF4-FFF2-40B4-BE49-F238E27FC236}">
                <a16:creationId xmlns:a16="http://schemas.microsoft.com/office/drawing/2014/main" id="{65418B66-930A-45D9-BFAE-5EA5F22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message-line-confirmed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762125" y="60388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tailEnd type="triangle" w="sm" len="sm"/>
          </a:ln>
        </p:spPr>
      </p:cxnSp>
      <p:sp>
        <p:nvSpPr>
          <p:cNvPr id="50" name="message-label-confirmed">
            <a:extLst xmlns:a="http://schemas.openxmlformats.org/drawingml/2006/main">
              <a:ext uri="{FF2B5EF4-FFF2-40B4-BE49-F238E27FC236}">
                <a16:creationId xmlns:a16="http://schemas.microsoft.com/office/drawing/2014/main" id="{684758A7-4A06-4E15-87B6-27858AA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150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已确认 + 注意事项</a:t>
            </a:r>
          </a:p>
        </p:txBody>
      </p:sp>
      <p:sp>
        <p:nvSpPr>
          <p:cNvPr id="51" name="confirmation-warning">
            <a:extLst xmlns:a="http://schemas.openxmlformats.org/drawingml/2006/main">
              <a:ext uri="{FF2B5EF4-FFF2-40B4-BE49-F238E27FC236}">
                <a16:creationId xmlns:a16="http://schemas.microsoft.com/office/drawing/2014/main" id="{150046CE-D5D9-4C19-BBE9-6B4CB111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81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确认前不能自行使用仪器</a:t>
            </a:r>
          </a:p>
        </p:txBody>
      </p:sp>
      <p:sp>
        <p:nvSpPr>
          <p:cNvPr id="52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A49666D-22BB-4766-B71B-17E7B9C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流程保留人工确认；平台负责把记录与反馈送回申请人</a:t>
            </a:r>
          </a:p>
        </p:txBody>
      </p:sp>
      <p:sp>
        <p:nvSpPr>
          <p:cNvPr id="53" name="shell-folio">
            <a:extLst xmlns:a="http://schemas.openxmlformats.org/drawingml/2006/main">
              <a:ext uri="{FF2B5EF4-FFF2-40B4-BE49-F238E27FC236}">
                <a16:creationId xmlns:a16="http://schemas.microsoft.com/office/drawing/2014/main" id="{26E1397F-C994-4157-B268-6CDA4C6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081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15542F17-93DE-4072-A4D1-5D929E2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A876D3D1-BD0D-4DEE-A45B-E2BDA50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一份记录需要三类资料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D9CE9836-95CC-45C9-A0B0-45BD84A4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89CAC105-99CB-4BE1-8E0F-7C3381AA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三条资料线共同留下可追溯证据，彼此不是逐级筛选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95763C33-18A1-4226-8EB4-962DA45D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申请记录、材料核对记录、设备时段记录共同支撑同一份预约记录</a:t>
            </a:r>
          </a:p>
        </p:txBody>
      </p:sp>
      <p:sp>
        <p:nvSpPr>
          <p:cNvPr id="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39109B9A-83B3-453F-927C-45A602AB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ECEA"/>
            </a:solidFill>
            <a:prstDash val="dash"/>
          </a:ln>
        </p:spPr>
      </p:sp>
      <p:sp>
        <p:nvSpPr>
          <p:cNvPr id="7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D1704EDD-881F-412F-9623-6DF3A04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7C4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127023AD-62D1-40CF-B12A-8CA08AD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4419DAC1-6216-41EC-8637-706BB7C2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06C9A3DB-51C7-4298-8B75-4206468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1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8F1DCB81-61D0-49B4-8BF6-C136EFF4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948B"/>
            </a:solidFill>
            <a:prstDash val="solid"/>
          </a:ln>
        </p:spPr>
      </p:sp>
      <p:sp>
        <p:nvSpPr>
          <p:cNvPr id="12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12565766-5BE9-4D43-9068-F500009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B9AD5DCF-54E9-4840-8C60-2A1D7B1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712521"/>
            <a:ext cx="15621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可追溯预约记录</a:t>
            </a:r>
          </a:p>
        </p:txBody>
      </p:sp>
      <p:sp>
        <p:nvSpPr>
          <p:cNvPr id="14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7583D6DF-1F8E-4EB0-921B-CC28A88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957485"/>
            <a:ext cx="1562100" cy="178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三类资料共同留痕</a:t>
            </a:r>
          </a:p>
        </p:txBody>
      </p:sp>
      <p:sp>
        <p:nvSpPr>
          <p:cNvPr id="15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53E6735A-B4FB-4A9A-B7BD-A1337C9B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44C901CE-9AAD-4350-835C-95D04AE3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5E93EF90-B17E-4A6D-BA4C-67E1F32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D0F03A08-660E-4567-91D8-BBA4C42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5CEA46E3-6396-43F9-9442-27A59A8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B21DFC05-7848-4FEF-BAAE-4103CD1F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6032BED9-878A-4747-904E-C6356ED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64979"/>
            <a:ext cx="203835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申请记录</a:t>
            </a:r>
          </a:p>
        </p:txBody>
      </p:sp>
      <p:sp>
        <p:nvSpPr>
          <p:cNvPr id="2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E309556D-52CF-4991-BB6A-84FDAC5A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84949"/>
            <a:ext cx="203835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预约内容与已收到时间</a:t>
            </a:r>
          </a:p>
        </p:txBody>
      </p:sp>
      <p:sp>
        <p:nvSpPr>
          <p:cNvPr id="2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865355F9-1246-4665-BF8C-924E9C9D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材料核对</a:t>
            </a:r>
          </a:p>
        </p:txBody>
      </p:sp>
      <p:sp>
        <p:nvSpPr>
          <p:cNvPr id="2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AC77289A-6251-43E6-A6A3-3D4AE40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培训证明与核对结果</a:t>
            </a:r>
          </a:p>
        </p:txBody>
      </p:sp>
      <p:sp>
        <p:nvSpPr>
          <p:cNvPr id="2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398CFD4F-394B-4CF1-B999-EF9B6862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时段记录</a:t>
            </a:r>
          </a:p>
        </p:txBody>
      </p:sp>
      <p:sp>
        <p:nvSpPr>
          <p:cNvPr id="2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6710FF7D-8E25-41C7-877F-9F06D72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可用时段与使用条件</a:t>
            </a:r>
          </a:p>
        </p:txBody>
      </p:sp>
      <p:sp>
        <p:nvSpPr>
          <p:cNvPr id="27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413FA05B-87FA-42C3-AECC-BAA40F5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管理员在记录不一致时核实，三类资料仍保留各自来源</a:t>
            </a:r>
          </a:p>
        </p:txBody>
      </p:sp>
      <p:sp>
        <p:nvSpPr>
          <p:cNvPr id="28" name="shell-folio">
            <a:extLst xmlns:a="http://schemas.openxmlformats.org/drawingml/2006/main">
              <a:ext uri="{FF2B5EF4-FFF2-40B4-BE49-F238E27FC236}">
                <a16:creationId xmlns:a16="http://schemas.microsoft.com/office/drawing/2014/main" id="{B24A316A-FD42-4D50-A915-243BAE0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9258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CAECA297-4F06-4373-BD07-9F4A36AD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7E864034-CE60-4E92-8D77-7451D47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单仪器试点的观察重点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C7122AAD-EEB3-4F9B-82BB-12172D7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2732A158-74BB-4683-B010-D3334BA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先在一台仪器上跑通记录与反馈，再判断是否需要调整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3E2FA5D0-6BD5-4C03-8561-FB291C6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试点观察记录能否说清楚，不预设节省时间或提升满意度</a:t>
            </a:r>
          </a:p>
        </p:txBody>
      </p:sp>
      <p:sp>
        <p:nvSpPr>
          <p:cNvPr id="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D78197CF-C88F-47CE-8DFD-EC6E6E3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ACCAB1F8-2778-46E2-B8EB-F39DDDB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BC75DB8D-CFC1-4B41-8ADA-B2ECE4F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1049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71C9E139-7A98-43F7-B9A1-4B524EF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74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3214D9F6-7039-4836-B8F2-53EACCD2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724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3830056374c56">
            <a:extLst>
              <a:ext uri="{96DAC541-7B7A-43D3-8B79-37D633B846F1}">
                <asvg:svgBlip xmlns:asvg="http://schemas.microsoft.com/office/drawing/2016/SVG/main" r:embed="Ra156b68cff0748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70124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24C97759-EF9C-4756-9F03-21F3679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区分状态</a:t>
            </a:r>
          </a:p>
        </p:txBody>
      </p:sp>
      <p:sp>
        <p:nvSpPr>
          <p:cNvPr id="1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3FE6AF75-D082-4426-B991-9879710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4399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7CC79CA4-E148-415C-82EB-9CA8D65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申请人区分已收到与已确认</a:t>
            </a:r>
          </a:p>
        </p:txBody>
      </p:sp>
      <p:sp>
        <p:nvSpPr>
          <p:cNvPr id="1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87214DF5-D0D3-466B-A0C0-7A07163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648" y="2333625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33B35B5F-CEEE-47B2-9188-FF72EBA9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4448" y="2238375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2A715269-9C93-4550-AFD4-44DDAE89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94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E668A84E-DEA8-4A79-914A-5052E190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27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9D9AF98B-385C-4383-A957-CDAF7A2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62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4553183204043">
            <a:extLst>
              <a:ext uri="{96DAC541-7B7A-43D3-8B79-37D633B846F1}">
                <asvg:svgBlip xmlns:asvg="http://schemas.microsoft.com/office/drawing/2016/SVG/main" r:embed="Rea18ff91b3904e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02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75F6FC3B-6E1A-4706-91EB-C8B5284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3099197"/>
            <a:ext cx="2444801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找到记录</a:t>
            </a:r>
          </a:p>
        </p:txBody>
      </p:sp>
      <p:sp>
        <p:nvSpPr>
          <p:cNvPr id="2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D1EA5025-5AB2-4173-A3AD-605125EB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29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08B10D52-3185-4762-99DD-364A229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4284316"/>
            <a:ext cx="2444801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管理员找到完整预约记录</a:t>
            </a:r>
          </a:p>
        </p:txBody>
      </p:sp>
      <p:sp>
        <p:nvSpPr>
          <p:cNvPr id="2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156480FB-BCD2-4604-A83F-71A96A9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699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E8B4607E-C0BC-46CB-9DEC-50D1566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499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3E55B91B-86BA-459B-A4F8-B48A1FB9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ACD93BDB-06FA-4FE4-91A0-889A6869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832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446DF7B3-5AA4-4CAD-804F-DC33F891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67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2c205fa2a4113">
            <a:extLst>
              <a:ext uri="{96DAC541-7B7A-43D3-8B79-37D633B846F1}">
                <asvg:svgBlip xmlns:asvg="http://schemas.microsoft.com/office/drawing/2016/SVG/main" r:embed="R3c1408bc771e40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407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43FE2033-4487-4E6E-82FE-6AC51E8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明确询问</a:t>
            </a:r>
          </a:p>
        </p:txBody>
      </p:sp>
      <p:sp>
        <p:nvSpPr>
          <p:cNvPr id="3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95819E96-2C06-43B0-BB5C-387BB64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834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F2B66D7D-C5DF-4D6A-87BB-E07BCC50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设备负责人收到时段询问</a:t>
            </a:r>
          </a:p>
        </p:txBody>
      </p:sp>
      <p:sp>
        <p:nvSpPr>
          <p:cNvPr id="33" name="pilot-boundary-strip">
            <a:extLst xmlns:a="http://schemas.openxmlformats.org/drawingml/2006/main">
              <a:ext uri="{FF2B5EF4-FFF2-40B4-BE49-F238E27FC236}">
                <a16:creationId xmlns:a16="http://schemas.microsoft.com/office/drawing/2014/main" id="{8D527EC0-3AB6-4B1D-A6D4-169314F3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pilot-boundary-title">
            <a:extLst xmlns:a="http://schemas.openxmlformats.org/drawingml/2006/main">
              <a:ext uri="{FF2B5EF4-FFF2-40B4-BE49-F238E27FC236}">
                <a16:creationId xmlns:a16="http://schemas.microsoft.com/office/drawing/2014/main" id="{2130CD55-A644-4717-9C17-5256EEB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试点边界</a:t>
            </a:r>
          </a:p>
        </p:txBody>
      </p:sp>
      <p:sp>
        <p:nvSpPr>
          <p:cNvPr id="35" name="pilot-boundary-items">
            <a:extLst xmlns:a="http://schemas.openxmlformats.org/drawingml/2006/main">
              <a:ext uri="{FF2B5EF4-FFF2-40B4-BE49-F238E27FC236}">
                <a16:creationId xmlns:a16="http://schemas.microsoft.com/office/drawing/2014/main" id="{06BA32CB-554C-40A9-9633-FC00D8A0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055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一台仪器   ·   保留纸面或人工沟通   ·   记录不一致时由管理员核实</a:t>
            </a:r>
          </a:p>
        </p:txBody>
      </p:sp>
      <p:sp>
        <p:nvSpPr>
          <p:cNvPr id="36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1EC48AF-5395-4AD7-94E8-571930BB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观察结果用于修正记录与沟通方式，不生成自动审批承诺</a:t>
            </a:r>
          </a:p>
        </p:txBody>
      </p:sp>
      <p:sp>
        <p:nvSpPr>
          <p:cNvPr id="37" name="shell-folio">
            <a:extLst xmlns:a="http://schemas.openxmlformats.org/drawingml/2006/main">
              <a:ext uri="{FF2B5EF4-FFF2-40B4-BE49-F238E27FC236}">
                <a16:creationId xmlns:a16="http://schemas.microsoft.com/office/drawing/2014/main" id="{8B098FAF-BB9D-45E5-A81B-26457C6E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9887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2026-09-06T23:12:05.3730000Z</dcterms:created>
  <dcterms:modified xsi:type="dcterms:W3CDTF">2026-09-06T23:12:05.3730000Z</dcterms:modified>
</coreProperties>
</file>