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26bb4ff8b848fb" /><Relationship Type="http://schemas.openxmlformats.org/officeDocument/2006/relationships/extended-properties" Target="/docProps/app.xml" Id="R8d79a3da16434455" /><Relationship Type="http://schemas.openxmlformats.org/officeDocument/2006/relationships/officeDocument" Target="/ppt/presentation.xml" Id="R7d12ac0b4d1542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f2979436054c74"/>
  </p:sldMasterIdLst>
  <p:notesMasterIdLst>
    <p:notesMasterId xmlns:r="http://schemas.openxmlformats.org/officeDocument/2006/relationships" r:id="R1a1d8ae51a2d46dc"/>
  </p:notesMasterIdLst>
  <p:sldIdLst>
    <p:sldId xmlns:r="http://schemas.openxmlformats.org/officeDocument/2006/relationships" id="256" r:id="Re9069b4e13474295"/>
    <p:sldId xmlns:r="http://schemas.openxmlformats.org/officeDocument/2006/relationships" id="257" r:id="Rcd4f98bef73343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2fd7ddafc34ee4" /><Relationship Type="http://schemas.openxmlformats.org/officeDocument/2006/relationships/slideMaster" Target="/ppt/slideMasters/slideMaster1.xml" Id="R16f2979436054c74" /><Relationship Type="http://schemas.openxmlformats.org/officeDocument/2006/relationships/notesMaster" Target="/ppt/notesMasters/notesMaster1.xml" Id="R1a1d8ae51a2d46dc" /><Relationship Type="http://schemas.openxmlformats.org/officeDocument/2006/relationships/presProps" Target="/ppt/presProps.xml" Id="R20bd2c2f4d00433f" /><Relationship Type="http://schemas.openxmlformats.org/officeDocument/2006/relationships/tableStyles" Target="/ppt/tableStyles.xml" Id="R8531be2103f44cff" /><Relationship Type="http://schemas.openxmlformats.org/officeDocument/2006/relationships/slide" Target="/ppt/slides/slide1.xml" Id="Re9069b4e13474295" /><Relationship Type="http://schemas.openxmlformats.org/officeDocument/2006/relationships/slide" Target="/ppt/slides/slide2.xml" Id="Rcd4f98bef73343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6a997443c146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eb28cd3def467d" /><Relationship Type="http://schemas.openxmlformats.org/officeDocument/2006/relationships/notesMaster" Target="/ppt/notesMasters/notesMaster1.xml" Id="R62ebcbf72bf544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537875641848c3" /><Relationship Type="http://schemas.openxmlformats.org/officeDocument/2006/relationships/notesMaster" Target="/ppt/notesMasters/notesMaster1.xml" Id="R9d0fb29b108a4e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内部提供：experiments/mckinsey-prompt-study/refined-fields/manuscript.md（全为虚构模拟材料）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内部提供：experiments/mckinsey-prompt-study/refined-fields/manuscript.md（全为虚构模拟材料）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14fc604794b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d9f7a21cb14634" /><Relationship Type="http://schemas.openxmlformats.org/officeDocument/2006/relationships/slideLayout" Target="/ppt/slideLayouts/slideLayout1.xml" Id="Rf17bd1bbdd7244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7bd1bbdd7244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00b43c2f7482f" /><Relationship Type="http://schemas.openxmlformats.org/officeDocument/2006/relationships/notesSlide" Target="/ppt/notesSlides/notesSlide1.xml" Id="R68c6e232914348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7a804ca1745db" /><Relationship Type="http://schemas.openxmlformats.org/officeDocument/2006/relationships/notesSlide" Target="/ppt/notesSlides/notesSlide2.xml" Id="R9c3dc4792b0a43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eyebrow-1">
            <a:extLst xmlns:a="http://schemas.openxmlformats.org/drawingml/2006/main">
              <a:ext uri="{FF2B5EF4-FFF2-40B4-BE49-F238E27FC236}">
                <a16:creationId xmlns:a16="http://schemas.microsoft.com/office/drawing/2014/main" id="{2ED4B42B-817D-4451-9355-156912E7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大学实验平台改进讨论  |  模拟材料</a:t>
            </a:r>
          </a:p>
        </p:txBody>
      </p:sp>
      <p:sp>
        <p:nvSpPr>
          <p:cNvPr id="2" name="page-marker-1">
            <a:extLst xmlns:a="http://schemas.openxmlformats.org/drawingml/2006/main">
              <a:ext uri="{FF2B5EF4-FFF2-40B4-BE49-F238E27FC236}">
                <a16:creationId xmlns:a16="http://schemas.microsoft.com/office/drawing/2014/main" id="{88392001-EDE5-4E9E-978D-B9A8A0BC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ANALYSIS  01</a:t>
            </a:r>
          </a:p>
        </p:txBody>
      </p:sp>
      <p:sp>
        <p:nvSpPr>
          <p:cNvPr id="3" name="title-1">
            <a:extLst xmlns:a="http://schemas.openxmlformats.org/drawingml/2006/main">
              <a:ext uri="{FF2B5EF4-FFF2-40B4-BE49-F238E27FC236}">
                <a16:creationId xmlns:a16="http://schemas.microsoft.com/office/drawing/2014/main" id="{758D241E-A7E5-4450-AC1F-AC2208A4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预约障碍决定服务改进的先后</a:t>
            </a:r>
          </a:p>
        </p:txBody>
      </p:sp>
      <p:sp>
        <p:nvSpPr>
          <p:cNvPr id="4" name="top-rule-1">
            <a:extLst xmlns:a="http://schemas.openxmlformats.org/drawingml/2006/main">
              <a:ext uri="{FF2B5EF4-FFF2-40B4-BE49-F238E27FC236}">
                <a16:creationId xmlns:a16="http://schemas.microsoft.com/office/drawing/2014/main" id="{2BBFFDE8-1650-468A-9FA9-166F54B1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5" name="claim-1">
            <a:extLst xmlns:a="http://schemas.openxmlformats.org/drawingml/2006/main">
              <a:ext uri="{FF2B5EF4-FFF2-40B4-BE49-F238E27FC236}">
                <a16:creationId xmlns:a16="http://schemas.microsoft.com/office/drawing/2014/main" id="{10F08AC6-DBAA-413A-A27C-FC55B703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96F"/>
                </a:solidFill>
                <a:latin typeface="Microsoft YaHei"/>
                <a:ea typeface="Microsoft YaHei"/>
                <a:cs typeface="Microsoft YaHei"/>
              </a:rPr>
              <a:t>校内先看时段供给；校外先厘清审批责任与费用说明</a:t>
            </a:r>
          </a:p>
        </p:txBody>
      </p:sp>
      <p:sp>
        <p:nvSpPr>
          <p:cNvPr id="6" name="chart-caption-1">
            <a:extLst xmlns:a="http://schemas.openxmlformats.org/drawingml/2006/main">
              <a:ext uri="{FF2B5EF4-FFF2-40B4-BE49-F238E27FC236}">
                <a16:creationId xmlns:a16="http://schemas.microsoft.com/office/drawing/2014/main" id="{98DA5C75-BD07-4AAF-8CE2-79F52CD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48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预约中遇到的主要障碍（多选，比例）</a:t>
            </a:r>
          </a:p>
        </p:txBody>
      </p:sp>
      <p:sp>
        <p:nvSpPr>
          <p:cNvPr id="7" name="chart-subnote-1">
            <a:extLst xmlns:a="http://schemas.openxmlformats.org/drawingml/2006/main">
              <a:ext uri="{FF2B5EF4-FFF2-40B4-BE49-F238E27FC236}">
                <a16:creationId xmlns:a16="http://schemas.microsoft.com/office/drawing/2014/main" id="{A8417BA3-10B5-4CEF-9BED-D3AECECA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7486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两组各100人；多选题，比例不能相加到100%</a:t>
            </a:r>
          </a:p>
        </p:txBody>
      </p:sp>
      <p:sp>
        <p:nvSpPr>
          <p:cNvPr id="8" name="series-in-1">
            <a:extLst xmlns:a="http://schemas.openxmlformats.org/drawingml/2006/main">
              <a:ext uri="{FF2B5EF4-FFF2-40B4-BE49-F238E27FC236}">
                <a16:creationId xmlns:a16="http://schemas.microsoft.com/office/drawing/2014/main" id="{3CDE62B7-09D9-4F09-A46F-E5961647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860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校内</a:t>
            </a:r>
          </a:p>
        </p:txBody>
      </p:sp>
      <p:sp>
        <p:nvSpPr>
          <p:cNvPr id="9" name="series-out-1">
            <a:extLst xmlns:a="http://schemas.openxmlformats.org/drawingml/2006/main">
              <a:ext uri="{FF2B5EF4-FFF2-40B4-BE49-F238E27FC236}">
                <a16:creationId xmlns:a16="http://schemas.microsoft.com/office/drawing/2014/main" id="{515B65DB-EA8A-4B9A-83FB-21C54585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860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1A9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1A9BE"/>
                </a:solidFill>
                <a:latin typeface="Microsoft YaHei"/>
                <a:ea typeface="Microsoft YaHei"/>
                <a:cs typeface="Microsoft YaHei"/>
              </a:rPr>
              <a:t>校外</a:t>
            </a:r>
          </a:p>
        </p:txBody>
      </p:sp>
      <p:sp>
        <p:nvSpPr>
          <p:cNvPr id="10" name="axis-1">
            <a:extLst xmlns:a="http://schemas.openxmlformats.org/drawingml/2006/main">
              <a:ext uri="{FF2B5EF4-FFF2-40B4-BE49-F238E27FC236}">
                <a16:creationId xmlns:a16="http://schemas.microsoft.com/office/drawing/2014/main" id="{3CA1C14C-67D6-454D-B15F-F31D655B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336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A"/>
            </a:solidFill>
            <a:prstDash val="solid"/>
          </a:ln>
        </p:spPr>
      </p:sp>
      <p:sp>
        <p:nvSpPr>
          <p:cNvPr id="11" name="cat-0">
            <a:extLst xmlns:a="http://schemas.openxmlformats.org/drawingml/2006/main">
              <a:ext uri="{FF2B5EF4-FFF2-40B4-BE49-F238E27FC236}">
                <a16:creationId xmlns:a16="http://schemas.microsoft.com/office/drawing/2014/main" id="{70CC1CAB-A3E9-47C2-8C5B-752E4EC4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时段难匹配</a:t>
            </a:r>
          </a:p>
        </p:txBody>
      </p:sp>
      <p:sp>
        <p:nvSpPr>
          <p:cNvPr id="12" name="bar-in-0">
            <a:extLst xmlns:a="http://schemas.openxmlformats.org/drawingml/2006/main">
              <a:ext uri="{FF2B5EF4-FFF2-40B4-BE49-F238E27FC236}">
                <a16:creationId xmlns:a16="http://schemas.microsoft.com/office/drawing/2014/main" id="{E33F5CB9-4029-49F6-BE0E-3322B298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19400"/>
            <a:ext cx="212598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13" name="val-in-0">
            <a:extLst xmlns:a="http://schemas.openxmlformats.org/drawingml/2006/main">
              <a:ext uri="{FF2B5EF4-FFF2-40B4-BE49-F238E27FC236}">
                <a16:creationId xmlns:a16="http://schemas.microsoft.com/office/drawing/2014/main" id="{1C4F6F78-5DD2-4FD4-A34B-964DFDA7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279082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62%</a:t>
            </a:r>
          </a:p>
        </p:txBody>
      </p:sp>
      <p:sp>
        <p:nvSpPr>
          <p:cNvPr id="14" name="bar-out-0">
            <a:extLst xmlns:a="http://schemas.openxmlformats.org/drawingml/2006/main">
              <a:ext uri="{FF2B5EF4-FFF2-40B4-BE49-F238E27FC236}">
                <a16:creationId xmlns:a16="http://schemas.microsoft.com/office/drawing/2014/main" id="{FA7C55B5-8501-4B9C-9FB5-90B8BBFD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8610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9BE"/>
          </a:solidFill>
          <a:ln xmlns:a="http://schemas.openxmlformats.org/drawingml/2006/main" w="0">
            <a:solidFill>
              <a:srgbClr val="91A9BE"/>
            </a:solidFill>
            <a:prstDash val="solid"/>
          </a:ln>
        </p:spPr>
      </p:sp>
      <p:sp>
        <p:nvSpPr>
          <p:cNvPr id="15" name="val-out-0">
            <a:extLst xmlns:a="http://schemas.openxmlformats.org/drawingml/2006/main">
              <a:ext uri="{FF2B5EF4-FFF2-40B4-BE49-F238E27FC236}">
                <a16:creationId xmlns:a16="http://schemas.microsoft.com/office/drawing/2014/main" id="{273F2D8D-7BAB-4BCC-8630-C0F9BA51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5752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1A9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1A9BE"/>
                </a:solidFill>
                <a:latin typeface="Microsoft YaHei"/>
                <a:ea typeface="Microsoft YaHei"/>
                <a:cs typeface="Microsoft YaHei"/>
              </a:rPr>
              <a:t>45%</a:t>
            </a:r>
          </a:p>
        </p:txBody>
      </p:sp>
      <p:sp>
        <p:nvSpPr>
          <p:cNvPr id="16" name="row-rule-0">
            <a:extLst xmlns:a="http://schemas.openxmlformats.org/drawingml/2006/main">
              <a:ext uri="{FF2B5EF4-FFF2-40B4-BE49-F238E27FC236}">
                <a16:creationId xmlns:a16="http://schemas.microsoft.com/office/drawing/2014/main" id="{852F2ABB-6DA3-40CA-BC60-BA74C04A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7" name="cat-1">
            <a:extLst xmlns:a="http://schemas.openxmlformats.org/drawingml/2006/main">
              <a:ext uri="{FF2B5EF4-FFF2-40B4-BE49-F238E27FC236}">
                <a16:creationId xmlns:a16="http://schemas.microsoft.com/office/drawing/2014/main" id="{93FB9B68-233D-4229-8DD2-B8B7118A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审批慢</a:t>
            </a:r>
          </a:p>
        </p:txBody>
      </p:sp>
      <p:sp>
        <p:nvSpPr>
          <p:cNvPr id="18" name="bar-in-1">
            <a:extLst xmlns:a="http://schemas.openxmlformats.org/drawingml/2006/main">
              <a:ext uri="{FF2B5EF4-FFF2-40B4-BE49-F238E27FC236}">
                <a16:creationId xmlns:a16="http://schemas.microsoft.com/office/drawing/2014/main" id="{FDFA19D2-8B7C-4819-946B-36BDDF78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19475"/>
            <a:ext cx="16459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19" name="val-in-1">
            <a:extLst xmlns:a="http://schemas.openxmlformats.org/drawingml/2006/main">
              <a:ext uri="{FF2B5EF4-FFF2-40B4-BE49-F238E27FC236}">
                <a16:creationId xmlns:a16="http://schemas.microsoft.com/office/drawing/2014/main" id="{A796A35F-3A9D-4C1D-9A63-712CBB0A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670" y="33909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48%</a:t>
            </a:r>
          </a:p>
        </p:txBody>
      </p:sp>
      <p:sp>
        <p:nvSpPr>
          <p:cNvPr id="20" name="bar-out-1">
            <a:extLst xmlns:a="http://schemas.openxmlformats.org/drawingml/2006/main">
              <a:ext uri="{FF2B5EF4-FFF2-40B4-BE49-F238E27FC236}">
                <a16:creationId xmlns:a16="http://schemas.microsoft.com/office/drawing/2014/main" id="{D885A76D-0CF1-4475-BBC7-EB6EF107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86175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9BE"/>
          </a:solidFill>
          <a:ln xmlns:a="http://schemas.openxmlformats.org/drawingml/2006/main" w="0">
            <a:solidFill>
              <a:srgbClr val="91A9BE"/>
            </a:solidFill>
            <a:prstDash val="solid"/>
          </a:ln>
        </p:spPr>
      </p:sp>
      <p:sp>
        <p:nvSpPr>
          <p:cNvPr id="21" name="val-out-1">
            <a:extLst xmlns:a="http://schemas.openxmlformats.org/drawingml/2006/main">
              <a:ext uri="{FF2B5EF4-FFF2-40B4-BE49-F238E27FC236}">
                <a16:creationId xmlns:a16="http://schemas.microsoft.com/office/drawing/2014/main" id="{FC99AFCB-2703-47A3-8EAF-B5CB3179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576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1A9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1A9BE"/>
                </a:solidFill>
                <a:latin typeface="Microsoft YaHei"/>
                <a:ea typeface="Microsoft YaHei"/>
                <a:cs typeface="Microsoft YaHei"/>
              </a:rPr>
              <a:t>65%</a:t>
            </a:r>
          </a:p>
        </p:txBody>
      </p:sp>
      <p:sp>
        <p:nvSpPr>
          <p:cNvPr id="22" name="row-rule-1">
            <a:extLst xmlns:a="http://schemas.openxmlformats.org/drawingml/2006/main">
              <a:ext uri="{FF2B5EF4-FFF2-40B4-BE49-F238E27FC236}">
                <a16:creationId xmlns:a16="http://schemas.microsoft.com/office/drawing/2014/main" id="{3FD9351D-4C7A-4C49-B74F-E9203AB8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3" name="cat-2">
            <a:extLst xmlns:a="http://schemas.openxmlformats.org/drawingml/2006/main">
              <a:ext uri="{FF2B5EF4-FFF2-40B4-BE49-F238E27FC236}">
                <a16:creationId xmlns:a16="http://schemas.microsoft.com/office/drawing/2014/main" id="{7370B966-857F-47B6-B884-D30292B0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费用不清</a:t>
            </a:r>
          </a:p>
        </p:txBody>
      </p:sp>
      <p:sp>
        <p:nvSpPr>
          <p:cNvPr id="24" name="bar-in-2">
            <a:extLst xmlns:a="http://schemas.openxmlformats.org/drawingml/2006/main">
              <a:ext uri="{FF2B5EF4-FFF2-40B4-BE49-F238E27FC236}">
                <a16:creationId xmlns:a16="http://schemas.microsoft.com/office/drawing/2014/main" id="{90A57308-06A1-48FF-81B0-38E0EBCE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19550"/>
            <a:ext cx="9601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5" name="val-in-2">
            <a:extLst xmlns:a="http://schemas.openxmlformats.org/drawingml/2006/main">
              <a:ext uri="{FF2B5EF4-FFF2-40B4-BE49-F238E27FC236}">
                <a16:creationId xmlns:a16="http://schemas.microsoft.com/office/drawing/2014/main" id="{A150B6D3-5622-418A-A03E-CB3DDD1D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870" y="39909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28%</a:t>
            </a:r>
          </a:p>
        </p:txBody>
      </p:sp>
      <p:sp>
        <p:nvSpPr>
          <p:cNvPr id="26" name="bar-out-2">
            <a:extLst xmlns:a="http://schemas.openxmlformats.org/drawingml/2006/main">
              <a:ext uri="{FF2B5EF4-FFF2-40B4-BE49-F238E27FC236}">
                <a16:creationId xmlns:a16="http://schemas.microsoft.com/office/drawing/2014/main" id="{E4EF2CE5-F39D-429D-AAD6-C5A847AE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6250"/>
            <a:ext cx="198882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9BE"/>
          </a:solidFill>
          <a:ln xmlns:a="http://schemas.openxmlformats.org/drawingml/2006/main" w="0">
            <a:solidFill>
              <a:srgbClr val="91A9BE"/>
            </a:solidFill>
            <a:prstDash val="solid"/>
          </a:ln>
        </p:spPr>
      </p:sp>
      <p:sp>
        <p:nvSpPr>
          <p:cNvPr id="27" name="val-out-2">
            <a:extLst xmlns:a="http://schemas.openxmlformats.org/drawingml/2006/main">
              <a:ext uri="{FF2B5EF4-FFF2-40B4-BE49-F238E27FC236}">
                <a16:creationId xmlns:a16="http://schemas.microsoft.com/office/drawing/2014/main" id="{DAE4A80E-FDDC-4E48-8CCD-D52EC2D5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4257675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1A9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1A9BE"/>
                </a:solidFill>
                <a:latin typeface="Microsoft YaHei"/>
                <a:ea typeface="Microsoft YaHei"/>
                <a:cs typeface="Microsoft YaHei"/>
              </a:rPr>
              <a:t>58%</a:t>
            </a:r>
          </a:p>
        </p:txBody>
      </p:sp>
      <p:sp>
        <p:nvSpPr>
          <p:cNvPr id="28" name="row-rule-2">
            <a:extLst xmlns:a="http://schemas.openxmlformats.org/drawingml/2006/main">
              <a:ext uri="{FF2B5EF4-FFF2-40B4-BE49-F238E27FC236}">
                <a16:creationId xmlns:a16="http://schemas.microsoft.com/office/drawing/2014/main" id="{F3CB0F47-D4E0-4C34-AC8E-F0A9D469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9" name="cat-3">
            <a:extLst xmlns:a="http://schemas.openxmlformats.org/drawingml/2006/main">
              <a:ext uri="{FF2B5EF4-FFF2-40B4-BE49-F238E27FC236}">
                <a16:creationId xmlns:a16="http://schemas.microsoft.com/office/drawing/2014/main" id="{D8343E85-6CC3-452D-9B27-3B4AA58F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培训不足</a:t>
            </a:r>
          </a:p>
        </p:txBody>
      </p:sp>
      <p:sp>
        <p:nvSpPr>
          <p:cNvPr id="30" name="bar-in-3">
            <a:extLst xmlns:a="http://schemas.openxmlformats.org/drawingml/2006/main">
              <a:ext uri="{FF2B5EF4-FFF2-40B4-BE49-F238E27FC236}">
                <a16:creationId xmlns:a16="http://schemas.microsoft.com/office/drawing/2014/main" id="{881FB452-923E-43CD-BE78-00BEA163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19625"/>
            <a:ext cx="150876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1" name="val-in-3">
            <a:extLst xmlns:a="http://schemas.openxmlformats.org/drawingml/2006/main">
              <a:ext uri="{FF2B5EF4-FFF2-40B4-BE49-F238E27FC236}">
                <a16:creationId xmlns:a16="http://schemas.microsoft.com/office/drawing/2014/main" id="{E7AB91E8-685F-4211-B458-A066CCC8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4591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44%</a:t>
            </a:r>
          </a:p>
        </p:txBody>
      </p:sp>
      <p:sp>
        <p:nvSpPr>
          <p:cNvPr id="32" name="bar-out-3">
            <a:extLst xmlns:a="http://schemas.openxmlformats.org/drawingml/2006/main">
              <a:ext uri="{FF2B5EF4-FFF2-40B4-BE49-F238E27FC236}">
                <a16:creationId xmlns:a16="http://schemas.microsoft.com/office/drawing/2014/main" id="{3B8718D4-1251-422F-85F4-D622693B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86325"/>
            <a:ext cx="109728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9BE"/>
          </a:solidFill>
          <a:ln xmlns:a="http://schemas.openxmlformats.org/drawingml/2006/main" w="0">
            <a:solidFill>
              <a:srgbClr val="91A9BE"/>
            </a:solidFill>
            <a:prstDash val="solid"/>
          </a:ln>
        </p:spPr>
      </p:sp>
      <p:sp>
        <p:nvSpPr>
          <p:cNvPr id="33" name="val-out-3">
            <a:extLst xmlns:a="http://schemas.openxmlformats.org/drawingml/2006/main">
              <a:ext uri="{FF2B5EF4-FFF2-40B4-BE49-F238E27FC236}">
                <a16:creationId xmlns:a16="http://schemas.microsoft.com/office/drawing/2014/main" id="{9DDC00BD-9325-4408-A6C0-A7F10264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530" y="48577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1A9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1A9BE"/>
                </a:solidFill>
                <a:latin typeface="Microsoft YaHei"/>
                <a:ea typeface="Microsoft YaHei"/>
                <a:cs typeface="Microsoft YaHei"/>
              </a:rPr>
              <a:t>32%</a:t>
            </a:r>
          </a:p>
        </p:txBody>
      </p:sp>
      <p:sp>
        <p:nvSpPr>
          <p:cNvPr id="34" name="row-rule-3">
            <a:extLst xmlns:a="http://schemas.openxmlformats.org/drawingml/2006/main">
              <a:ext uri="{FF2B5EF4-FFF2-40B4-BE49-F238E27FC236}">
                <a16:creationId xmlns:a16="http://schemas.microsoft.com/office/drawing/2014/main" id="{8BFA6008-7ED2-4CEC-A86E-9E208B3E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7486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5" name="chart-axis-note-1">
            <a:extLst xmlns:a="http://schemas.openxmlformats.org/drawingml/2006/main">
              <a:ext uri="{FF2B5EF4-FFF2-40B4-BE49-F238E27FC236}">
                <a16:creationId xmlns:a16="http://schemas.microsoft.com/office/drawing/2014/main" id="{CAB3E534-37CC-4DCF-A0A0-6F50F7AA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2578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6" name="chart-axis-note-2">
            <a:extLst xmlns:a="http://schemas.openxmlformats.org/drawingml/2006/main">
              <a:ext uri="{FF2B5EF4-FFF2-40B4-BE49-F238E27FC236}">
                <a16:creationId xmlns:a16="http://schemas.microsoft.com/office/drawing/2014/main" id="{50010BDC-19F4-427A-ACE8-B76E4B31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578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37" name="insight-divider-1">
            <a:extLst xmlns:a="http://schemas.openxmlformats.org/drawingml/2006/main">
              <a:ext uri="{FF2B5EF4-FFF2-40B4-BE49-F238E27FC236}">
                <a16:creationId xmlns:a16="http://schemas.microsoft.com/office/drawing/2014/main" id="{06490CD3-B8A4-4805-BA4C-29D06671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0" cy="369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38" name="insight-head-1">
            <a:extLst xmlns:a="http://schemas.openxmlformats.org/drawingml/2006/main">
              <a:ext uri="{FF2B5EF4-FFF2-40B4-BE49-F238E27FC236}">
                <a16:creationId xmlns:a16="http://schemas.microsoft.com/office/drawing/2014/main" id="{C782E7A0-6702-4BE9-B9A0-03E59B1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95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讨论优先级</a:t>
            </a:r>
          </a:p>
        </p:txBody>
      </p:sp>
      <p:sp>
        <p:nvSpPr>
          <p:cNvPr id="39" name="insight-in-head-1">
            <a:extLst xmlns:a="http://schemas.openxmlformats.org/drawingml/2006/main">
              <a:ext uri="{FF2B5EF4-FFF2-40B4-BE49-F238E27FC236}">
                <a16:creationId xmlns:a16="http://schemas.microsoft.com/office/drawing/2014/main" id="{27FB937C-78E2-48A8-B865-9DF0BBF6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71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96F"/>
                </a:solidFill>
                <a:latin typeface="Microsoft YaHei"/>
                <a:ea typeface="Microsoft YaHei"/>
                <a:cs typeface="Microsoft YaHei"/>
              </a:rPr>
              <a:t>校内</a:t>
            </a:r>
          </a:p>
        </p:txBody>
      </p:sp>
      <p:sp>
        <p:nvSpPr>
          <p:cNvPr id="40" name="insight-in-body-1">
            <a:extLst xmlns:a="http://schemas.openxmlformats.org/drawingml/2006/main">
              <a:ext uri="{FF2B5EF4-FFF2-40B4-BE49-F238E27FC236}">
                <a16:creationId xmlns:a16="http://schemas.microsoft.com/office/drawing/2014/main" id="{A67A922D-64CB-4A05-8AE3-35139DCB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时段难匹配为最高比例（62%）。先检查时段供给是否能覆盖预约需求。</a:t>
            </a:r>
          </a:p>
        </p:txBody>
      </p:sp>
      <p:sp>
        <p:nvSpPr>
          <p:cNvPr id="41" name="insight-rule-1">
            <a:extLst xmlns:a="http://schemas.openxmlformats.org/drawingml/2006/main">
              <a:ext uri="{FF2B5EF4-FFF2-40B4-BE49-F238E27FC236}">
                <a16:creationId xmlns:a16="http://schemas.microsoft.com/office/drawing/2014/main" id="{C7C99CAF-8ECE-45ED-B4AD-7E5504A5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528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A"/>
            </a:solidFill>
            <a:prstDash val="solid"/>
          </a:ln>
        </p:spPr>
      </p:sp>
      <p:sp>
        <p:nvSpPr>
          <p:cNvPr id="42" name="insight-out-head-1">
            <a:extLst xmlns:a="http://schemas.openxmlformats.org/drawingml/2006/main">
              <a:ext uri="{FF2B5EF4-FFF2-40B4-BE49-F238E27FC236}">
                <a16:creationId xmlns:a16="http://schemas.microsoft.com/office/drawing/2014/main" id="{C04B4948-05DC-4F4D-BBE1-176C83AC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242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96F"/>
                </a:solidFill>
                <a:latin typeface="Microsoft YaHei"/>
                <a:ea typeface="Microsoft YaHei"/>
                <a:cs typeface="Microsoft YaHei"/>
              </a:rPr>
              <a:t>校外</a:t>
            </a:r>
          </a:p>
        </p:txBody>
      </p:sp>
      <p:sp>
        <p:nvSpPr>
          <p:cNvPr id="43" name="insight-out-body-1">
            <a:extLst xmlns:a="http://schemas.openxmlformats.org/drawingml/2006/main">
              <a:ext uri="{FF2B5EF4-FFF2-40B4-BE49-F238E27FC236}">
                <a16:creationId xmlns:a16="http://schemas.microsoft.com/office/drawing/2014/main" id="{14C8F88E-158C-4879-9B91-DA524402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100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审批慢65%、费用不清58%突出。</a:t>
            </a:r>
          </a:p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先厘清审批责任与费用说明。</a:t>
            </a:r>
          </a:p>
        </p:txBody>
      </p:sp>
      <p:sp>
        <p:nvSpPr>
          <p:cNvPr id="44" name="insight-limit-1">
            <a:extLst xmlns:a="http://schemas.openxmlformats.org/drawingml/2006/main">
              <a:ext uri="{FF2B5EF4-FFF2-40B4-BE49-F238E27FC236}">
                <a16:creationId xmlns:a16="http://schemas.microsoft.com/office/drawing/2014/main" id="{33C3924D-7E84-4F19-9E1F-F64F2BEE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2917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这是本材料内的讨论优先级，不代表措施已有效；结果不能推广。</a:t>
            </a:r>
          </a:p>
        </p:txBody>
      </p:sp>
      <p:sp>
        <p:nvSpPr>
          <p:cNvPr id="45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6FB587CF-447D-4868-A2A0-A37E1E2C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A"/>
            </a:solidFill>
            <a:prstDash val="solid"/>
          </a:ln>
        </p:spPr>
      </p:sp>
      <p:sp>
        <p:nvSpPr>
          <p:cNvPr id="46" name="footer-note-1">
            <a:extLst xmlns:a="http://schemas.openxmlformats.org/drawingml/2006/main">
              <a:ext uri="{FF2B5EF4-FFF2-40B4-BE49-F238E27FC236}">
                <a16:creationId xmlns:a16="http://schemas.microsoft.com/office/drawing/2014/main" id="{B771E86E-C19E-402A-BD47-44B1252D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模拟材料，仅用于方案讨论</a:t>
            </a:r>
          </a:p>
        </p:txBody>
      </p:sp>
      <p:sp>
        <p:nvSpPr>
          <p:cNvPr id="47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D3274EB4-6B2E-4178-99B5-6E29D85E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01 / 02</a:t>
            </a:r>
          </a:p>
        </p:txBody>
      </p:sp>
    </p:spTree>
    <p:extLst>
      <p:ext uri="{BB962C8B-B14F-4D97-AF65-F5344CB8AC3E}">
        <p14:creationId xmlns:p14="http://schemas.microsoft.com/office/powerpoint/2010/main" val="111351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yebrow-2">
            <a:extLst xmlns:a="http://schemas.openxmlformats.org/drawingml/2006/main">
              <a:ext uri="{FF2B5EF4-FFF2-40B4-BE49-F238E27FC236}">
                <a16:creationId xmlns:a16="http://schemas.microsoft.com/office/drawing/2014/main" id="{5E30FD05-183C-4D3E-83EA-E472E315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大学实验平台改进讨论  |  模拟材料</a:t>
            </a:r>
          </a:p>
        </p:txBody>
      </p:sp>
      <p:sp>
        <p:nvSpPr>
          <p:cNvPr id="2" name="page-marker-2">
            <a:extLst xmlns:a="http://schemas.openxmlformats.org/drawingml/2006/main">
              <a:ext uri="{FF2B5EF4-FFF2-40B4-BE49-F238E27FC236}">
                <a16:creationId xmlns:a16="http://schemas.microsoft.com/office/drawing/2014/main" id="{13B95088-65FE-41C3-8B6F-85039FBD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ANALYSIS  02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2E484714-7F83-4BC3-AAA1-692FF20F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先试新增记录，历史记录按需求补齐</a:t>
            </a:r>
          </a:p>
        </p:txBody>
      </p:sp>
      <p:sp>
        <p:nvSpPr>
          <p:cNvPr id="4" name="top-rule-2">
            <a:extLst xmlns:a="http://schemas.openxmlformats.org/drawingml/2006/main">
              <a:ext uri="{FF2B5EF4-FFF2-40B4-BE49-F238E27FC236}">
                <a16:creationId xmlns:a16="http://schemas.microsoft.com/office/drawing/2014/main" id="{94CE2B02-1BA9-4F78-9122-3738E3FB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5" name="claim-2">
            <a:extLst xmlns:a="http://schemas.openxmlformats.org/drawingml/2006/main">
              <a:ext uri="{FF2B5EF4-FFF2-40B4-BE49-F238E27FC236}">
                <a16:creationId xmlns:a16="http://schemas.microsoft.com/office/drawing/2014/main" id="{D5692317-FCB2-4B7C-841A-8419951E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96F"/>
                </a:solidFill>
                <a:latin typeface="Microsoft YaHei"/>
                <a:ea typeface="Microsoft YaHei"/>
                <a:cs typeface="Microsoft YaHei"/>
              </a:rPr>
              <a:t>先建立可持续的最小记录链，再对明确需要的历史结果定向追溯</a:t>
            </a:r>
          </a:p>
        </p:txBody>
      </p:sp>
      <p:sp>
        <p:nvSpPr>
          <p:cNvPr id="6" name="table-head-label">
            <a:extLst xmlns:a="http://schemas.openxmlformats.org/drawingml/2006/main">
              <a:ext uri="{FF2B5EF4-FFF2-40B4-BE49-F238E27FC236}">
                <a16:creationId xmlns:a16="http://schemas.microsoft.com/office/drawing/2014/main" id="{13405BF2-77B6-46A9-9435-22021F14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96F"/>
          </a:solidFill>
          <a:ln xmlns:a="http://schemas.openxmlformats.org/drawingml/2006/main" w="0">
            <a:solidFill>
              <a:srgbClr val="25496F"/>
            </a:solidFill>
            <a:prstDash val="solid"/>
          </a:ln>
        </p:spPr>
      </p:sp>
      <p:sp>
        <p:nvSpPr>
          <p:cNvPr id="7" name="table-head-full">
            <a:extLst xmlns:a="http://schemas.openxmlformats.org/drawingml/2006/main">
              <a:ext uri="{FF2B5EF4-FFF2-40B4-BE49-F238E27FC236}">
                <a16:creationId xmlns:a16="http://schemas.microsoft.com/office/drawing/2014/main" id="{197CFDB0-F8DE-433B-8849-064134A9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95450"/>
            <a:ext cx="4552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96F"/>
          </a:solidFill>
          <a:ln xmlns:a="http://schemas.openxmlformats.org/drawingml/2006/main" w="0">
            <a:solidFill>
              <a:srgbClr val="25496F"/>
            </a:solidFill>
            <a:prstDash val="solid"/>
          </a:ln>
        </p:spPr>
      </p:sp>
      <p:sp>
        <p:nvSpPr>
          <p:cNvPr id="8" name="table-head-new">
            <a:extLst xmlns:a="http://schemas.openxmlformats.org/drawingml/2006/main">
              <a:ext uri="{FF2B5EF4-FFF2-40B4-BE49-F238E27FC236}">
                <a16:creationId xmlns:a16="http://schemas.microsoft.com/office/drawing/2014/main" id="{EEC486C2-F8EB-4079-B64E-F042C079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95450"/>
            <a:ext cx="4552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9" name="table-head-label-text">
            <a:extLst xmlns:a="http://schemas.openxmlformats.org/drawingml/2006/main">
              <a:ext uri="{FF2B5EF4-FFF2-40B4-BE49-F238E27FC236}">
                <a16:creationId xmlns:a16="http://schemas.microsoft.com/office/drawing/2014/main" id="{7EFAC8B7-102A-4733-B28D-31F791B0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3832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评价维度</a:t>
            </a:r>
          </a:p>
        </p:txBody>
      </p:sp>
      <p:sp>
        <p:nvSpPr>
          <p:cNvPr id="10" name="table-head-full-text">
            <a:extLst xmlns:a="http://schemas.openxmlformats.org/drawingml/2006/main">
              <a:ext uri="{FF2B5EF4-FFF2-40B4-BE49-F238E27FC236}">
                <a16:creationId xmlns:a16="http://schemas.microsoft.com/office/drawing/2014/main" id="{FE79FC37-7620-4581-80CE-55225532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38325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全面补历史记录</a:t>
            </a:r>
          </a:p>
        </p:txBody>
      </p:sp>
      <p:sp>
        <p:nvSpPr>
          <p:cNvPr id="11" name="table-head-new-text">
            <a:extLst xmlns:a="http://schemas.openxmlformats.org/drawingml/2006/main">
              <a:ext uri="{FF2B5EF4-FFF2-40B4-BE49-F238E27FC236}">
                <a16:creationId xmlns:a16="http://schemas.microsoft.com/office/drawing/2014/main" id="{11BD96F0-266D-4D6C-B003-ABCAB8AC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38325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先规范新增记录  ·  建议先试</a:t>
            </a:r>
          </a:p>
        </p:txBody>
      </p:sp>
      <p:sp>
        <p:nvSpPr>
          <p:cNvPr id="12" name="row-label-0">
            <a:extLst xmlns:a="http://schemas.openxmlformats.org/drawingml/2006/main">
              <a:ext uri="{FF2B5EF4-FFF2-40B4-BE49-F238E27FC236}">
                <a16:creationId xmlns:a16="http://schemas.microsoft.com/office/drawing/2014/main" id="{55AF15BA-81C7-474D-B457-3053BD4D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866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9D2DA"/>
            </a:solidFill>
            <a:prstDash val="solid"/>
          </a:ln>
        </p:spPr>
      </p:sp>
      <p:sp>
        <p:nvSpPr>
          <p:cNvPr id="13" name="row-full-0">
            <a:extLst xmlns:a="http://schemas.openxmlformats.org/drawingml/2006/main">
              <a:ext uri="{FF2B5EF4-FFF2-40B4-BE49-F238E27FC236}">
                <a16:creationId xmlns:a16="http://schemas.microsoft.com/office/drawing/2014/main" id="{AA23A709-6568-49A9-9F12-813C6C75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09800"/>
            <a:ext cx="4552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A"/>
            </a:solidFill>
            <a:prstDash val="solid"/>
          </a:ln>
        </p:spPr>
      </p:sp>
      <p:sp>
        <p:nvSpPr>
          <p:cNvPr id="14" name="row-new-0">
            <a:extLst xmlns:a="http://schemas.openxmlformats.org/drawingml/2006/main">
              <a:ext uri="{FF2B5EF4-FFF2-40B4-BE49-F238E27FC236}">
                <a16:creationId xmlns:a16="http://schemas.microsoft.com/office/drawing/2014/main" id="{74A66EDF-3E40-4323-89A7-090697F7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09800"/>
            <a:ext cx="4552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9D2DA"/>
            </a:solidFill>
            <a:prstDash val="solid"/>
          </a:ln>
        </p:spPr>
      </p:sp>
      <p:sp>
        <p:nvSpPr>
          <p:cNvPr id="15" name="row-label-text-0">
            <a:extLst xmlns:a="http://schemas.openxmlformats.org/drawingml/2006/main">
              <a:ext uri="{FF2B5EF4-FFF2-40B4-BE49-F238E27FC236}">
                <a16:creationId xmlns:a16="http://schemas.microsoft.com/office/drawing/2014/main" id="{CCE514D0-B80B-4448-8D48-5E7A6EA2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96F"/>
                </a:solidFill>
                <a:latin typeface="Microsoft YaHei"/>
                <a:ea typeface="Microsoft YaHei"/>
                <a:cs typeface="Microsoft YaHei"/>
              </a:rPr>
              <a:t>投入</a:t>
            </a:r>
          </a:p>
        </p:txBody>
      </p:sp>
      <p:sp>
        <p:nvSpPr>
          <p:cNvPr id="16" name="row-full-text-0">
            <a:extLst xmlns:a="http://schemas.openxmlformats.org/drawingml/2006/main">
              <a:ext uri="{FF2B5EF4-FFF2-40B4-BE49-F238E27FC236}">
                <a16:creationId xmlns:a16="http://schemas.microsoft.com/office/drawing/2014/main" id="{044D8581-21F4-41E9-8CA0-970EABD4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62200"/>
            <a:ext cx="4248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需追查旧文件和人员记忆。</a:t>
            </a:r>
          </a:p>
        </p:txBody>
      </p:sp>
      <p:sp>
        <p:nvSpPr>
          <p:cNvPr id="17" name="row-new-text-0">
            <a:extLst xmlns:a="http://schemas.openxmlformats.org/drawingml/2006/main">
              <a:ext uri="{FF2B5EF4-FFF2-40B4-BE49-F238E27FC236}">
                <a16:creationId xmlns:a16="http://schemas.microsoft.com/office/drawing/2014/main" id="{24A919E0-8F45-48D8-B385-A954C11D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4248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从每次新增结果登记，投入随新增任务发生。</a:t>
            </a:r>
          </a:p>
        </p:txBody>
      </p:sp>
      <p:sp>
        <p:nvSpPr>
          <p:cNvPr id="18" name="row-label-1">
            <a:extLst xmlns:a="http://schemas.openxmlformats.org/drawingml/2006/main">
              <a:ext uri="{FF2B5EF4-FFF2-40B4-BE49-F238E27FC236}">
                <a16:creationId xmlns:a16="http://schemas.microsoft.com/office/drawing/2014/main" id="{161863D5-22E5-4BCE-86EB-6CE65F07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866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A"/>
            </a:solidFill>
            <a:prstDash val="solid"/>
          </a:ln>
        </p:spPr>
      </p:sp>
      <p:sp>
        <p:nvSpPr>
          <p:cNvPr id="19" name="row-full-1">
            <a:extLst xmlns:a="http://schemas.openxmlformats.org/drawingml/2006/main">
              <a:ext uri="{FF2B5EF4-FFF2-40B4-BE49-F238E27FC236}">
                <a16:creationId xmlns:a16="http://schemas.microsoft.com/office/drawing/2014/main" id="{363D4EB2-28EC-4119-885D-7526318F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90850"/>
            <a:ext cx="4552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9D2DA"/>
            </a:solidFill>
            <a:prstDash val="solid"/>
          </a:ln>
        </p:spPr>
      </p:sp>
      <p:sp>
        <p:nvSpPr>
          <p:cNvPr id="20" name="row-new-1">
            <a:extLst xmlns:a="http://schemas.openxmlformats.org/drawingml/2006/main">
              <a:ext uri="{FF2B5EF4-FFF2-40B4-BE49-F238E27FC236}">
                <a16:creationId xmlns:a16="http://schemas.microsoft.com/office/drawing/2014/main" id="{8E734EF7-FC77-4264-96E1-8B09FB10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45529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9525">
            <a:solidFill>
              <a:srgbClr val="C9D2DA"/>
            </a:solidFill>
            <a:prstDash val="solid"/>
          </a:ln>
        </p:spPr>
      </p:sp>
      <p:sp>
        <p:nvSpPr>
          <p:cNvPr id="21" name="row-label-text-1">
            <a:extLst xmlns:a="http://schemas.openxmlformats.org/drawingml/2006/main">
              <a:ext uri="{FF2B5EF4-FFF2-40B4-BE49-F238E27FC236}">
                <a16:creationId xmlns:a16="http://schemas.microsoft.com/office/drawing/2014/main" id="{530C9518-821C-45FE-BBF2-C23F365B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96F"/>
                </a:solidFill>
                <a:latin typeface="Microsoft YaHei"/>
                <a:ea typeface="Microsoft YaHei"/>
                <a:cs typeface="Microsoft YaHei"/>
              </a:rPr>
              <a:t>可追溯性</a:t>
            </a:r>
          </a:p>
        </p:txBody>
      </p:sp>
      <p:sp>
        <p:nvSpPr>
          <p:cNvPr id="22" name="row-full-text-1">
            <a:extLst xmlns:a="http://schemas.openxmlformats.org/drawingml/2006/main">
              <a:ext uri="{FF2B5EF4-FFF2-40B4-BE49-F238E27FC236}">
                <a16:creationId xmlns:a16="http://schemas.microsoft.com/office/drawing/2014/main" id="{79389F74-697D-404C-8489-3C8BD9DF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43250"/>
            <a:ext cx="4248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可覆盖旧结果，但缺失上下文难补。</a:t>
            </a:r>
          </a:p>
        </p:txBody>
      </p:sp>
      <p:sp>
        <p:nvSpPr>
          <p:cNvPr id="23" name="row-new-text-1">
            <a:extLst xmlns:a="http://schemas.openxmlformats.org/drawingml/2006/main">
              <a:ext uri="{FF2B5EF4-FFF2-40B4-BE49-F238E27FC236}">
                <a16:creationId xmlns:a16="http://schemas.microsoft.com/office/drawing/2014/main" id="{70436922-24FA-4475-968E-675E31CB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43250"/>
            <a:ext cx="4248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能从生成时保留来源、脚本、参数与输出。</a:t>
            </a:r>
          </a:p>
        </p:txBody>
      </p:sp>
      <p:sp>
        <p:nvSpPr>
          <p:cNvPr id="24" name="row-label-2">
            <a:extLst xmlns:a="http://schemas.openxmlformats.org/drawingml/2006/main">
              <a:ext uri="{FF2B5EF4-FFF2-40B4-BE49-F238E27FC236}">
                <a16:creationId xmlns:a16="http://schemas.microsoft.com/office/drawing/2014/main" id="{34D2B117-8AA3-4588-A7F8-7F345D6C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866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C9D2DA"/>
            </a:solidFill>
            <a:prstDash val="solid"/>
          </a:ln>
        </p:spPr>
      </p:sp>
      <p:sp>
        <p:nvSpPr>
          <p:cNvPr id="25" name="row-full-2">
            <a:extLst xmlns:a="http://schemas.openxmlformats.org/drawingml/2006/main">
              <a:ext uri="{FF2B5EF4-FFF2-40B4-BE49-F238E27FC236}">
                <a16:creationId xmlns:a16="http://schemas.microsoft.com/office/drawing/2014/main" id="{281E2905-E3C0-4BB8-AFC2-30937A3C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4552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A"/>
            </a:solidFill>
            <a:prstDash val="solid"/>
          </a:ln>
        </p:spPr>
      </p:sp>
      <p:sp>
        <p:nvSpPr>
          <p:cNvPr id="26" name="row-new-2">
            <a:extLst xmlns:a="http://schemas.openxmlformats.org/drawingml/2006/main">
              <a:ext uri="{FF2B5EF4-FFF2-40B4-BE49-F238E27FC236}">
                <a16:creationId xmlns:a16="http://schemas.microsoft.com/office/drawing/2014/main" id="{F2BB4FAA-41E5-4A24-BA24-6B8325D3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95750"/>
            <a:ext cx="4552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C9D2DA"/>
            </a:solidFill>
            <a:prstDash val="solid"/>
          </a:ln>
        </p:spPr>
      </p:sp>
      <p:sp>
        <p:nvSpPr>
          <p:cNvPr id="27" name="row-label-text-2">
            <a:extLst xmlns:a="http://schemas.openxmlformats.org/drawingml/2006/main">
              <a:ext uri="{FF2B5EF4-FFF2-40B4-BE49-F238E27FC236}">
                <a16:creationId xmlns:a16="http://schemas.microsoft.com/office/drawing/2014/main" id="{21D7B714-80F6-4A50-8B59-0960597B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96F"/>
                </a:solidFill>
                <a:latin typeface="Microsoft YaHei"/>
                <a:ea typeface="Microsoft YaHei"/>
                <a:cs typeface="Microsoft YaHei"/>
              </a:rPr>
              <a:t>启动条件</a:t>
            </a:r>
          </a:p>
        </p:txBody>
      </p:sp>
      <p:sp>
        <p:nvSpPr>
          <p:cNvPr id="28" name="row-full-text-2">
            <a:extLst xmlns:a="http://schemas.openxmlformats.org/drawingml/2006/main">
              <a:ext uri="{FF2B5EF4-FFF2-40B4-BE49-F238E27FC236}">
                <a16:creationId xmlns:a16="http://schemas.microsoft.com/office/drawing/2014/main" id="{04F0DE04-0A12-4031-8A59-B8CE3C80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48150"/>
            <a:ext cx="4248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需要明确追溯对象和可用资料。</a:t>
            </a:r>
          </a:p>
        </p:txBody>
      </p:sp>
      <p:sp>
        <p:nvSpPr>
          <p:cNvPr id="29" name="row-new-text-2">
            <a:extLst xmlns:a="http://schemas.openxmlformats.org/drawingml/2006/main">
              <a:ext uri="{FF2B5EF4-FFF2-40B4-BE49-F238E27FC236}">
                <a16:creationId xmlns:a16="http://schemas.microsoft.com/office/drawing/2014/main" id="{1FAA30E1-94D2-4523-BDA7-9A803B55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48150"/>
            <a:ext cx="4248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需约定责任人及最小记录清单。</a:t>
            </a:r>
          </a:p>
        </p:txBody>
      </p:sp>
      <p:sp>
        <p:nvSpPr>
          <p:cNvPr id="30" name="matrix-footnote-2">
            <a:extLst xmlns:a="http://schemas.openxmlformats.org/drawingml/2006/main">
              <a:ext uri="{FF2B5EF4-FFF2-40B4-BE49-F238E27FC236}">
                <a16:creationId xmlns:a16="http://schemas.microsoft.com/office/drawing/2014/main" id="{C712EC5B-8927-49BD-B170-CFB727BF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两种范围都需要明确责任与资料边界；本材料没有投入金额、工时或成功率，因此不做量化优劣。</a:t>
            </a:r>
          </a:p>
        </p:txBody>
      </p:sp>
      <p:sp>
        <p:nvSpPr>
          <p:cNvPr id="31" name="recommendation-strip-2">
            <a:extLst xmlns:a="http://schemas.openxmlformats.org/drawingml/2006/main">
              <a:ext uri="{FF2B5EF4-FFF2-40B4-BE49-F238E27FC236}">
                <a16:creationId xmlns:a16="http://schemas.microsoft.com/office/drawing/2014/main" id="{18747DD7-1A64-4FD7-B15E-3C7A0D4A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solidFill>
              <a:srgbClr val="EAF1F7"/>
            </a:solidFill>
            <a:prstDash val="solid"/>
          </a:ln>
        </p:spPr>
      </p:sp>
      <p:sp>
        <p:nvSpPr>
          <p:cNvPr id="32" name="recommendation-accent-2">
            <a:extLst xmlns:a="http://schemas.openxmlformats.org/drawingml/2006/main">
              <a:ext uri="{FF2B5EF4-FFF2-40B4-BE49-F238E27FC236}">
                <a16:creationId xmlns:a16="http://schemas.microsoft.com/office/drawing/2014/main" id="{8DE79767-C345-4CE6-8747-B5E4F099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95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3" name="recommendation-label-2">
            <a:extLst xmlns:a="http://schemas.openxmlformats.org/drawingml/2006/main">
              <a:ext uri="{FF2B5EF4-FFF2-40B4-BE49-F238E27FC236}">
                <a16:creationId xmlns:a16="http://schemas.microsoft.com/office/drawing/2014/main" id="{11D9B556-1D02-487F-AFEE-66DDDADD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4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496F"/>
                </a:solidFill>
                <a:latin typeface="Microsoft YaHei"/>
                <a:ea typeface="Microsoft YaHei"/>
                <a:cs typeface="Microsoft YaHei"/>
              </a:rPr>
              <a:t>建议</a:t>
            </a:r>
          </a:p>
        </p:txBody>
      </p:sp>
      <p:sp>
        <p:nvSpPr>
          <p:cNvPr id="34" name="recommendation-body-2">
            <a:extLst xmlns:a="http://schemas.openxmlformats.org/drawingml/2006/main">
              <a:ext uri="{FF2B5EF4-FFF2-40B4-BE49-F238E27FC236}">
                <a16:creationId xmlns:a16="http://schemas.microsoft.com/office/drawing/2014/main" id="{CED9A59D-27B5-43CA-ABD2-87FF6C86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24475"/>
            <a:ext cx="937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F2933"/>
                </a:solidFill>
                <a:latin typeface="Microsoft YaHei"/>
                <a:ea typeface="Microsoft YaHei"/>
                <a:cs typeface="Microsoft YaHei"/>
              </a:rPr>
              <a:t>先试新增记录；对已有明确追溯需求的历史结果定向补齐。代价是历史覆盖仍不完整。</a:t>
            </a:r>
          </a:p>
        </p:txBody>
      </p:sp>
      <p:sp>
        <p:nvSpPr>
          <p:cNvPr id="35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5A475339-40B8-417C-A578-CEC731D6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2DA"/>
            </a:solidFill>
            <a:prstDash val="solid"/>
          </a:ln>
        </p:spPr>
      </p:sp>
      <p:sp>
        <p:nvSpPr>
          <p:cNvPr id="36" name="footer-note-2">
            <a:extLst xmlns:a="http://schemas.openxmlformats.org/drawingml/2006/main">
              <a:ext uri="{FF2B5EF4-FFF2-40B4-BE49-F238E27FC236}">
                <a16:creationId xmlns:a16="http://schemas.microsoft.com/office/drawing/2014/main" id="{E96CEFE1-7DAB-4BBF-884C-E16B88BC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模拟材料，仅用于方案讨论</a:t>
            </a:r>
          </a:p>
        </p:txBody>
      </p:sp>
      <p:sp>
        <p:nvSpPr>
          <p:cNvPr id="37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538E8925-B8CA-491D-9DDC-148F75EE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66717D"/>
                </a:solidFill>
                <a:latin typeface="Microsoft YaHei"/>
                <a:ea typeface="Microsoft YaHei"/>
                <a:cs typeface="Microsoft YaHei"/>
              </a:rPr>
              <a:t>02 / 02</a:t>
            </a:r>
          </a:p>
        </p:txBody>
      </p:sp>
    </p:spTree>
    <p:extLst>
      <p:ext uri="{BB962C8B-B14F-4D97-AF65-F5344CB8AC3E}">
        <p14:creationId xmlns:p14="http://schemas.microsoft.com/office/powerpoint/2010/main" val="20025344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2026-09-07T23:30:21.9970000Z</dcterms:created>
  <dcterms:modified xsi:type="dcterms:W3CDTF">2026-09-07T23:30:21.9980000Z</dcterms:modified>
</coreProperties>
</file>