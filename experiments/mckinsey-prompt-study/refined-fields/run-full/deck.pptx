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a521e8976b4aee" /><Relationship Type="http://schemas.openxmlformats.org/officeDocument/2006/relationships/extended-properties" Target="/docProps/app.xml" Id="R2ce8b7ff77234ba0" /><Relationship Type="http://schemas.openxmlformats.org/officeDocument/2006/relationships/officeDocument" Target="/ppt/presentation.xml" Id="Rcda494ee961445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cc465b78784c8f"/>
  </p:sldMasterIdLst>
  <p:notesMasterIdLst>
    <p:notesMasterId xmlns:r="http://schemas.openxmlformats.org/officeDocument/2006/relationships" r:id="R7e13cf06688c4c8a"/>
  </p:notesMasterIdLst>
  <p:sldIdLst>
    <p:sldId xmlns:r="http://schemas.openxmlformats.org/officeDocument/2006/relationships" id="256" r:id="Rf4b7a328d51b4221"/>
    <p:sldId xmlns:r="http://schemas.openxmlformats.org/officeDocument/2006/relationships" id="257" r:id="R253952aa806546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12bf88b0984c46" /><Relationship Type="http://schemas.openxmlformats.org/officeDocument/2006/relationships/slideMaster" Target="/ppt/slideMasters/slideMaster1.xml" Id="R6bcc465b78784c8f" /><Relationship Type="http://schemas.openxmlformats.org/officeDocument/2006/relationships/notesMaster" Target="/ppt/notesMasters/notesMaster1.xml" Id="R7e13cf06688c4c8a" /><Relationship Type="http://schemas.openxmlformats.org/officeDocument/2006/relationships/presProps" Target="/ppt/presProps.xml" Id="Rf5ddacd1e21a4182" /><Relationship Type="http://schemas.openxmlformats.org/officeDocument/2006/relationships/tableStyles" Target="/ppt/tableStyles.xml" Id="Ra296bf76fe0045c5" /><Relationship Type="http://schemas.openxmlformats.org/officeDocument/2006/relationships/slide" Target="/ppt/slides/slide1.xml" Id="Rf4b7a328d51b4221" /><Relationship Type="http://schemas.openxmlformats.org/officeDocument/2006/relationships/slide" Target="/ppt/slides/slide2.xml" Id="R253952aa8065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c0c4a401bd4d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b92aa4522e4dd5" /><Relationship Type="http://schemas.openxmlformats.org/officeDocument/2006/relationships/notesMaster" Target="/ppt/notesMasters/notesMaster1.xml" Id="Re602baaefe3548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99abc60f3d4499" /><Relationship Type="http://schemas.openxmlformats.org/officeDocument/2006/relationships/notesMaster" Target="/ppt/notesMasters/notesMaster1.xml" Id="Rd66bcd92bf8642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稿件事实与数值：experiments/mckinsey-prompt-study/refined-fields/manuscript.md（全为虚构模拟材料）。</a:t>
            </a:r>
          </a:p>
          <a:p xmlns:a="http://schemas.openxmlformats.org/drawingml/2006/main">
            <a:r>
              <a:t>图形为本页原生可编辑形状，无外部资产。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稿件事实与定性权衡：experiments/mckinsey-prompt-study/refined-fields/manuscript.md（全为虚构模拟材料）。</a:t>
            </a:r>
          </a:p>
          <a:p xmlns:a="http://schemas.openxmlformats.org/drawingml/2006/main">
            <a:r>
              <a:t>未使用外部资产或外部数值。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60f27e0494b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c6a57d815a42bc" /><Relationship Type="http://schemas.openxmlformats.org/officeDocument/2006/relationships/slideLayout" Target="/ppt/slideLayouts/slideLayout1.xml" Id="Rb4946ce70a9344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946ce70a9344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413c6b2ef4eba" /><Relationship Type="http://schemas.openxmlformats.org/officeDocument/2006/relationships/notesSlide" Target="/ppt/notesSlides/notesSlide1.xml" Id="R19cb124ac53b4d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a6b850d074027" /><Relationship Type="http://schemas.openxmlformats.org/officeDocument/2006/relationships/notesSlide" Target="/ppt/notesSlides/notesSlide2.xml" Id="Ra59e1a705ead4a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s1-title">
            <a:extLst xmlns:a="http://schemas.openxmlformats.org/drawingml/2006/main">
              <a:ext uri="{FF2B5EF4-FFF2-40B4-BE49-F238E27FC236}">
                <a16:creationId xmlns:a16="http://schemas.microsoft.com/office/drawing/2014/main" id="{032FD20C-18AD-409B-8F8D-3AB29BF2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预约障碍呈现分化：校内先看时段，校外先看审批与费用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9C729-5FC1-4E58-92F9-61571A03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两组模拟多选问卷，各100人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2BD9E-265A-45CD-A009-6D4D9877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38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A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6B24"/>
                </a:solidFill>
                <a:latin typeface="Microsoft YaHei"/>
                <a:ea typeface="Microsoft YaHei"/>
                <a:cs typeface="Microsoft YaHei"/>
              </a:rPr>
              <a:t>比例不可相加到100%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4968C-14A6-421C-B36D-38593D06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7AD54-ABC5-4C6D-B4C2-ED649903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障碍维度（选择比例）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3488B-C13B-4496-9926-E5AC53DB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76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765A0-3E72-4AF3-8E7A-D47AEE31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09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6781B-A5CB-4BF7-9397-F4ADC602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2"/>
          </a:solidFill>
          <a:ln xmlns:a="http://schemas.openxmlformats.org/drawingml/2006/main" w="0">
            <a:solidFill>
              <a:srgbClr val="DDE8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AB5AE-90B3-4619-B74A-BE3F71BD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9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CF411-B00B-4432-BE10-746FF0A6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时段难匹配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93A48-6A39-4EE8-86F2-9ACC7CB0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81200"/>
            <a:ext cx="42386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5251B-98B9-4A79-9473-E685F0C1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81200"/>
            <a:ext cx="2627948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9DD3F-4B72-46FF-BE7A-7E4EA406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823" y="1933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62%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19B7D-F5AA-45C3-836D-7A1D86E8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66950"/>
            <a:ext cx="42386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C0448-BB31-43D1-BF9C-E254EC1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66950"/>
            <a:ext cx="1907381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F2"/>
          </a:solidFill>
          <a:ln xmlns:a="http://schemas.openxmlformats.org/drawingml/2006/main" w="0">
            <a:solidFill>
              <a:srgbClr val="DDE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EB50C-43F3-4A4C-9130-98C14B95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256" y="2219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E4266-7EC8-426F-8EB0-DCDAB315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24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F51B5-9E7E-4BDB-9A52-7D75F2D3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9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FDF79-2636-4040-A987-92BF9BE1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769BD-898B-46BA-8CC9-C625B1AE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审批慢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44867-0A79-49B6-B3E3-7FA65851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62250"/>
            <a:ext cx="42386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2DD73-C7F6-4A34-87FC-F438B08C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62250"/>
            <a:ext cx="203454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4EFC8-5F54-4FBF-9440-10989130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15" y="27146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48%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E2421-5A02-4DA9-989B-91D1C3A5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48000"/>
            <a:ext cx="42386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E4C07-AF9F-4C06-992E-2274DAA7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48000"/>
            <a:ext cx="2755106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F2"/>
          </a:solidFill>
          <a:ln xmlns:a="http://schemas.openxmlformats.org/drawingml/2006/main" w="0">
            <a:solidFill>
              <a:srgbClr val="DDE8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B96A0-7DC8-4895-AA6B-C2C5E3CA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981" y="30003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E63B2-02CA-449D-8C6A-DFB440B4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051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5146F7-C534-433E-87B9-4165227A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05E87-8333-4B34-AAD6-E3E1D652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4327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1B9888-BD73-4C80-910F-0991DF82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费用不清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2D45F-F89E-46D4-9ED7-76AE7E11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43300"/>
            <a:ext cx="42386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36A54F-9AA6-40B8-99C3-F3478F99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43300"/>
            <a:ext cx="118681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AD51A0-2E36-4E06-93F1-365E1E40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690" y="34956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28%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5119E7-AF38-4299-B5BD-4D177137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29050"/>
            <a:ext cx="42386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0BEC2E-CF5C-4255-AB2C-D0449DCC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29050"/>
            <a:ext cx="2458403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F2"/>
          </a:solidFill>
          <a:ln xmlns:a="http://schemas.openxmlformats.org/drawingml/2006/main" w="0">
            <a:solidFill>
              <a:srgbClr val="DDE8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BEB3E5-7A73-42D0-AF5E-96B985F2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278" y="37814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58%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D02DCF-FD57-4173-8E10-88AA1016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861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4E1FD0-2339-4A9F-A41F-90A004DC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71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184982-7B36-47FB-A781-B18C718A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25E791-8C88-4E4F-9C40-AB14754B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培训不足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E67B47-2EDE-4B68-A566-E86A8B0C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24350"/>
            <a:ext cx="42386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88745C-2A81-4C9E-A755-FA0DF98A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24350"/>
            <a:ext cx="186499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648944-4038-490B-9566-1B01B3A0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870" y="42767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44%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234BD4-D097-4BA0-BBE9-5BD46364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10100"/>
            <a:ext cx="423862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AA9A36-608F-4827-9937-84DA35A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10100"/>
            <a:ext cx="135636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F2"/>
          </a:solidFill>
          <a:ln xmlns:a="http://schemas.openxmlformats.org/drawingml/2006/main" w="0">
            <a:solidFill>
              <a:srgbClr val="DDE8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D565CC-93CC-4DB4-8D7C-03538897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235" y="45624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32%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70B907-479A-4FD9-BD26-054E375F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9B30EA-9AE6-4F37-8E26-CB69EF76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0AD2B3-7361-4853-A53B-CE1C2B29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CAE400-7261-47DD-B2F9-D95E86F9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863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2442C0-CAAA-466D-9224-7DAACADD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88" y="52863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A2F640-75A0-4CC1-89B1-47CD6C1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86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328AB8-4445-4E15-846D-95B27893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09700"/>
            <a:ext cx="42862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50C3A0-5346-4829-883F-14BAB2D9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0970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2AC212-143C-408C-BC05-3918AA2B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097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校内优先检查时段供给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3A21EC-B695-4024-854C-B2F13977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478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“时段难匹配”是校内最高项（62%）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高于审批慢（48%），先看供给侧。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C2EACA-DE30-4179-B546-474F942A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本材料内的讨论优先级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1BF894-F463-4C15-AFD2-A420C17B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42862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9C593F-534A-4ABD-AFA5-E3819EA3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6B24"/>
          </a:solidFill>
          <a:ln xmlns:a="http://schemas.openxmlformats.org/drawingml/2006/main" w="0">
            <a:solidFill>
              <a:srgbClr val="A96B2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02D10B-2522-404A-8EA7-E55CDDEE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337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校外优先检查审批责任和费用说明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23B651-E600-4BC8-8486-E98D5AD4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719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审批慢（65%）与费用不清（58%）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高于时段难匹配（45%），先看规则与说明。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3EFD0C-4684-46CA-BB87-028DA786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482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不代表措施已有效；比例不能推广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C9F3BC-3836-40CE-A191-FEC46722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模拟材料，仅用于方案讨论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D91565-F33F-4E18-8888-6CCAD300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大学实验平台改进讨论  ·  1/2</a:t>
            </a:r>
          </a:p>
        </p:txBody>
      </p:sp>
    </p:spTree>
    <p:extLst>
      <p:ext uri="{BB962C8B-B14F-4D97-AF65-F5344CB8AC3E}">
        <p14:creationId xmlns:p14="http://schemas.microsoft.com/office/powerpoint/2010/main" val="1694099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2-title">
            <a:extLst xmlns:a="http://schemas.openxmlformats.org/drawingml/2006/main">
              <a:ext uri="{FF2B5EF4-FFF2-40B4-BE49-F238E27FC236}">
                <a16:creationId xmlns:a16="http://schemas.microsoft.com/office/drawing/2014/main" id="{E44F20A5-8F8E-49F7-A27E-42EC7930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归档建议先规范新增记录，再按需求补齐历史记录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68A16-FFAA-4985-9EE2-CDA461A6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两种归档范围的定性权衡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768BC-ED6E-4F91-97F4-C1A73557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8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共同评价维度：投入 · 可追溯性 · 启动条件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C3B8C-ED54-4215-9572-8C4B6F10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5C89F-B786-47AC-80DF-EA2AE16C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8076B-2A90-474D-B93A-4FB0626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DC6CD-37AB-4412-B660-CD51AC65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52575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全面补历史记录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32080-8888-4CE2-8363-8C2CC220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52575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先规范新增记录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2577D-ED4C-484E-899F-0ABCFE60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1028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A8F5B-CECB-4C49-AD0A-36E447A2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43100"/>
            <a:ext cx="4400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8B8B3-5F22-4B37-AD61-A569E8EF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1028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6CEF9-058A-4DDA-881C-51D52F41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43100"/>
            <a:ext cx="4400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67958-031F-4B5B-B3A3-906889CB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BCB11-7740-4AA2-8C92-70B67FB8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投入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BD015-A45E-4A0A-AA1E-696F0971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62175"/>
            <a:ext cx="3943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需追查旧文件和人员记忆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04661-2FFD-40C4-917E-A766DDDA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62175"/>
            <a:ext cx="3943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从每次新增结果登记；投入随新增任务发生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04332-7AD1-49CC-800E-7F84A103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028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E582E-5424-46C6-AB90-0FA34D6D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76550"/>
            <a:ext cx="4400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43CD1-750C-42D9-8D8D-5E6A6E2F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1028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50350-D73C-4A72-B2DE-B97A6F70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76550"/>
            <a:ext cx="4400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7DF5E-69DC-4FDD-9755-FFAC7DE4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可追溯性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A2BDF-0C35-49B3-8974-AEAE5657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可追溯性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BC7F4-0684-4667-8073-E054ADAA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95625"/>
            <a:ext cx="3943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可覆盖旧结果，但缺失上下文难补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4822A-4104-49CA-BA81-2BFEF5AD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95625"/>
            <a:ext cx="3943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从生成时保留来源、脚本、参数与输出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936ED-06FF-4864-BFC5-3C0D29C2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028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4F2E8B-C114-49B8-9031-6002F63F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4400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F7898-A8E0-482D-897E-417DD7B0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1028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B8EC68-4748-46B4-B397-730C96C3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10000"/>
            <a:ext cx="4400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D6391A-2459-485A-A90B-1E096C51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启动条件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431EC-8127-45C3-868C-259B40A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启动条件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1A178-1423-43E9-9B0C-D1954439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29075"/>
            <a:ext cx="3943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需明确追溯对象和可用资料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E16633-9C7C-45EA-ADF0-35F48245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943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需约定责任人及最小记录清单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14C557-D4F5-456F-9220-85ED75C3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1049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611497-EBD4-49A2-9E35-3A40932D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07D3C4-A870-4A61-A3DD-DFE78390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97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AF8DC7-3279-42A6-A27E-5E9D58D1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96F"/>
                </a:solidFill>
                <a:latin typeface="Microsoft YaHei"/>
                <a:ea typeface="Microsoft YaHei"/>
                <a:cs typeface="Microsoft YaHei"/>
              </a:rPr>
              <a:t>先试新增；对已有明确追溯需求的历史结果定向补齐。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4673F0-EDEE-4738-BF7F-7795FA08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959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边界：历史记录的覆盖仍不完整。材料未提供投入金额、工时或成功率，不能据此量化优劣。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DED871-5F3F-4C43-80A8-F3718C5F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模拟材料，仅用于方案讨论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9DC6F6-F14E-460F-B7EB-CF2D95C2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3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大学实验平台改进讨论  ·  2/2</a:t>
            </a:r>
          </a:p>
        </p:txBody>
      </p:sp>
    </p:spTree>
    <p:extLst>
      <p:ext uri="{BB962C8B-B14F-4D97-AF65-F5344CB8AC3E}">
        <p14:creationId xmlns:p14="http://schemas.microsoft.com/office/powerpoint/2010/main" val="1324506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2026-09-07T23:28:36.9870000Z</dcterms:created>
  <dcterms:modified xsi:type="dcterms:W3CDTF">2026-09-07T23:28:36.9870000Z</dcterms:modified>
</coreProperties>
</file>