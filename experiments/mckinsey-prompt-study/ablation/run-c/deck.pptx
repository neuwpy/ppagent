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cefe3fe08842b0" /><Relationship Type="http://schemas.openxmlformats.org/officeDocument/2006/relationships/extended-properties" Target="/docProps/app.xml" Id="R14de28cb1e52476b" /><Relationship Type="http://schemas.openxmlformats.org/officeDocument/2006/relationships/officeDocument" Target="/ppt/presentation.xml" Id="Rafc1049fe1ab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0f4ba90b542b2"/>
  </p:sldMasterIdLst>
  <p:notesMasterIdLst>
    <p:notesMasterId xmlns:r="http://schemas.openxmlformats.org/officeDocument/2006/relationships" r:id="R5b699671628a40e1"/>
  </p:notesMasterIdLst>
  <p:sldIdLst>
    <p:sldId xmlns:r="http://schemas.openxmlformats.org/officeDocument/2006/relationships" id="256" r:id="R98ee3a7336dd4bec"/>
    <p:sldId xmlns:r="http://schemas.openxmlformats.org/officeDocument/2006/relationships" id="257" r:id="R522636af0f1d49f5"/>
    <p:sldId xmlns:r="http://schemas.openxmlformats.org/officeDocument/2006/relationships" id="258" r:id="R1236a409691b4c63"/>
    <p:sldId xmlns:r="http://schemas.openxmlformats.org/officeDocument/2006/relationships" id="259" r:id="R0c643704f17743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b73020f2e46c0" /><Relationship Type="http://schemas.openxmlformats.org/officeDocument/2006/relationships/slideMaster" Target="/ppt/slideMasters/slideMaster1.xml" Id="R2300f4ba90b542b2" /><Relationship Type="http://schemas.openxmlformats.org/officeDocument/2006/relationships/notesMaster" Target="/ppt/notesMasters/notesMaster1.xml" Id="R5b699671628a40e1" /><Relationship Type="http://schemas.openxmlformats.org/officeDocument/2006/relationships/presProps" Target="/ppt/presProps.xml" Id="R69fb68d56125465c" /><Relationship Type="http://schemas.openxmlformats.org/officeDocument/2006/relationships/tableStyles" Target="/ppt/tableStyles.xml" Id="Rb61cad9620e74b22" /><Relationship Type="http://schemas.openxmlformats.org/officeDocument/2006/relationships/slide" Target="/ppt/slides/slide1.xml" Id="R98ee3a7336dd4bec" /><Relationship Type="http://schemas.openxmlformats.org/officeDocument/2006/relationships/slide" Target="/ppt/slides/slide2.xml" Id="R522636af0f1d49f5" /><Relationship Type="http://schemas.openxmlformats.org/officeDocument/2006/relationships/slide" Target="/ppt/slides/slide3.xml" Id="R1236a409691b4c63" /><Relationship Type="http://schemas.openxmlformats.org/officeDocument/2006/relationships/slide" Target="/ppt/slides/slide4.xml" Id="R0c643704f177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3a9171fc64a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e1cdb3e064b66" /><Relationship Type="http://schemas.openxmlformats.org/officeDocument/2006/relationships/notesMaster" Target="/ppt/notesMasters/notesMaster1.xml" Id="R8893280f8b4442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f2ae7d3744ef7" /><Relationship Type="http://schemas.openxmlformats.org/officeDocument/2006/relationships/notesMaster" Target="/ppt/notesMasters/notesMaster1.xml" Id="Ra4797e4aba8740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e16a0b43ec4db4" /><Relationship Type="http://schemas.openxmlformats.org/officeDocument/2006/relationships/notesMaster" Target="/ppt/notesMasters/notesMaster1.xml" Id="R3ae0c149e42f4b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9fc1fc3834676" /><Relationship Type="http://schemas.openxmlformats.org/officeDocument/2006/relationships/notesMaster" Target="/ppt/notesMasters/notesMaster1.xml" Id="Rb672db14642c40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数据与判断均来自用户提供的 manuscript.md 第 1 节；所有数字为模拟构造数据。未使用外部资产。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数据与判断均来自用户提供的 manuscript.md 第 2 节；校内与校外各 100 人，多选比例不相加为 100%。所有数字为模拟构造数据。未使用外部资产。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流程、指标与暂停条件均来自用户提供的 manuscript.md 第 3 节。阶段先后与门禁为拟议方案；指标没有预设数值，所有内容用于方案讨论。未使用外部资产。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设备名称与坐标来自用户提供的 manuscript.md 第 4 节；横纵轴均为 0–100，50 为本次讨论分界，无外部行业含义。气泡大小仅服务排版，不表达第三维数据。未使用外部资产。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7861c66a941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79a3057fc442c6" /><Relationship Type="http://schemas.openxmlformats.org/officeDocument/2006/relationships/slideLayout" Target="/ppt/slideLayouts/slideLayout1.xml" Id="Re8278b3cd8e3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278b3cd8e348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eff3522a54e46" /><Relationship Type="http://schemas.openxmlformats.org/officeDocument/2006/relationships/notesSlide" Target="/ppt/notesSlides/notesSlide1.xml" Id="R767860911b404f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3e3127deb4239" /><Relationship Type="http://schemas.openxmlformats.org/officeDocument/2006/relationships/notesSlide" Target="/ppt/notesSlides/notesSlide2.xml" Id="R3672df6db2524a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94dda8e1348cc" /><Relationship Type="http://schemas.openxmlformats.org/officeDocument/2006/relationships/notesSlide" Target="/ppt/notesSlides/notesSlide3.xml" Id="Rc33d1350be8e4b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5ce7fcaa1457e" /><Relationship Type="http://schemas.openxmlformats.org/officeDocument/2006/relationships/notesSlide" Target="/ppt/notesSlides/notesSlide4.xml" Id="R81a00348aea349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6DB3D7C-0322-4EA9-ACD9-169E72A3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</a:defRPr>
            </a:pPr>
            <a:r>
              <a:rPr sz="2400" b="1" i="0">
                <a:solidFill>
                  <a:srgbClr val="2B2B2B"/>
                </a:solidFill>
              </a:rPr>
              <a:t>预约量上升与等待下降同时出现，仍需拆分高峰与设备差异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E0C53D-8ECA-49F3-8C21-F6E9A40A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BBD10-AFD9-436C-B662-E52174A1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大学共享仪器服务改进｜模拟分析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4D767-FD5C-42DB-91F9-27747BA1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3D719-FCD7-4F2D-862E-921EBD40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90FAC-FCB7-4BC1-AF1C-4E239AF8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2023–2025 年观察到的方向一致，但不构成因果证据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A4AB1-A625-4A2B-8FE3-61F2C476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40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7517A-64AB-40ED-8251-FF30AF4F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2768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8B3D0-CBA3-4151-A0A6-5A6A4E54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16A97-24AE-4206-9330-46DD355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719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B1249-2D2D-4006-88DC-40694789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9F929-E822-403E-A98F-6B2E4F1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467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1000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8A412-FCB8-48EC-AE9B-E3F5E5AE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F24EF-3456-4903-8BC4-88A5D106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5622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1500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A53C6-1E5E-478D-8A38-3111E2D1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9765F-FB5E-4508-90F7-3078C20A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6573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2000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C186C-F003-4038-A3DA-EEC4D137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预约完成量（单）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3FAB4-7B14-41F7-9A2D-A7F4EF86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09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F6F6F"/>
                </a:solidFill>
              </a:defRPr>
            </a:pPr>
            <a:r>
              <a:rPr sz="1200" b="1" i="0">
                <a:solidFill>
                  <a:srgbClr val="6F6F6F"/>
                </a:solidFill>
              </a:rPr>
              <a:t>中位等待时间（天）</a:t>
            </a:r>
          </a:p>
        </p:txBody>
      </p:sp>
      <p:sp>
        <p:nvSpPr>
          <p:cNvPr id="19" name="volume-bar-0">
            <a:extLst xmlns:a="http://schemas.openxmlformats.org/drawingml/2006/main">
              <a:ext uri="{FF2B5EF4-FFF2-40B4-BE49-F238E27FC236}">
                <a16:creationId xmlns:a16="http://schemas.microsoft.com/office/drawing/2014/main" id="{CEC3692A-5850-4FE7-9C1E-663140FD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952500" cy="21717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A7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6ADE4-CDEE-4F51-BDB1-F5CE01D0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57B8"/>
                </a:solidFill>
              </a:defRPr>
            </a:pPr>
            <a:r>
              <a:rPr sz="1350" b="1" i="0">
                <a:solidFill>
                  <a:srgbClr val="0057B8"/>
                </a:solidFill>
              </a:rPr>
              <a:t>1200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08619-13BA-4148-B7C5-2AFCF14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2023</a:t>
            </a:r>
          </a:p>
        </p:txBody>
      </p:sp>
      <p:sp>
        <p:nvSpPr>
          <p:cNvPr id="22" name="volume-bar-1">
            <a:extLst xmlns:a="http://schemas.openxmlformats.org/drawingml/2006/main">
              <a:ext uri="{FF2B5EF4-FFF2-40B4-BE49-F238E27FC236}">
                <a16:creationId xmlns:a16="http://schemas.microsoft.com/office/drawing/2014/main" id="{9761488F-9443-43CE-92A5-A7B1498F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8890"/>
            <a:ext cx="952500" cy="282321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A7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00F34-B085-4A4F-8ACD-1C2B2864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314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57B8"/>
                </a:solidFill>
              </a:defRPr>
            </a:pPr>
            <a:r>
              <a:rPr sz="1350" b="1" i="0">
                <a:solidFill>
                  <a:srgbClr val="0057B8"/>
                </a:solidFill>
              </a:rPr>
              <a:t>1560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764BC-0B36-4E4B-AB49-134BF672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2024</a:t>
            </a:r>
          </a:p>
        </p:txBody>
      </p:sp>
      <p:sp>
        <p:nvSpPr>
          <p:cNvPr id="25" name="volume-bar-2">
            <a:extLst xmlns:a="http://schemas.openxmlformats.org/drawingml/2006/main">
              <a:ext uri="{FF2B5EF4-FFF2-40B4-BE49-F238E27FC236}">
                <a16:creationId xmlns:a16="http://schemas.microsoft.com/office/drawing/2014/main" id="{DA8E48D9-4F8E-4AE7-A664-D0FED40E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7380"/>
            <a:ext cx="952500" cy="34747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18F1C-FB2D-41D4-958A-08EAC0A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163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57B8"/>
                </a:solidFill>
              </a:defRPr>
            </a:pPr>
            <a:r>
              <a:rPr sz="1350" b="1" i="0">
                <a:solidFill>
                  <a:srgbClr val="0057B8"/>
                </a:solidFill>
              </a:rPr>
              <a:t>1920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F3331-6B05-4F53-8EA2-56FD149F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2025</a:t>
            </a:r>
          </a:p>
        </p:txBody>
      </p:sp>
      <p:sp>
        <p:nvSpPr>
          <p:cNvPr id="28" name="wait-line-1">
            <a:extLst xmlns:a="http://schemas.openxmlformats.org/drawingml/2006/main">
              <a:ext uri="{FF2B5EF4-FFF2-40B4-BE49-F238E27FC236}">
                <a16:creationId xmlns:a16="http://schemas.microsoft.com/office/drawing/2014/main" id="{B2619B09-A4F9-4E4F-89BA-27251223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28850"/>
            <a:ext cx="228600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B2B"/>
            </a:solidFill>
            <a:prstDash val="solid"/>
          </a:ln>
        </p:spPr>
      </p:sp>
      <p:sp>
        <p:nvSpPr>
          <p:cNvPr id="29" name="wait-line-2">
            <a:extLst xmlns:a="http://schemas.openxmlformats.org/drawingml/2006/main">
              <a:ext uri="{FF2B5EF4-FFF2-40B4-BE49-F238E27FC236}">
                <a16:creationId xmlns:a16="http://schemas.microsoft.com/office/drawing/2014/main" id="{B345EBF2-D14E-4D70-9AF9-1B8E21B0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228600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B2B"/>
            </a:solidFill>
            <a:prstDash val="solid"/>
          </a:ln>
        </p:spPr>
      </p:sp>
      <p:sp>
        <p:nvSpPr>
          <p:cNvPr id="30" name="wait-point-0">
            <a:extLst xmlns:a="http://schemas.openxmlformats.org/drawingml/2006/main">
              <a:ext uri="{FF2B5EF4-FFF2-40B4-BE49-F238E27FC236}">
                <a16:creationId xmlns:a16="http://schemas.microsoft.com/office/drawing/2014/main" id="{BF2A8D58-2B74-478D-B4D5-2CADB32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162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8619B-B49C-4258-AB81-8B7AAE0B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05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8 天</a:t>
            </a:r>
          </a:p>
        </p:txBody>
      </p:sp>
      <p:sp>
        <p:nvSpPr>
          <p:cNvPr id="32" name="wait-point-1">
            <a:extLst xmlns:a="http://schemas.openxmlformats.org/drawingml/2006/main">
              <a:ext uri="{FF2B5EF4-FFF2-40B4-BE49-F238E27FC236}">
                <a16:creationId xmlns:a16="http://schemas.microsoft.com/office/drawing/2014/main" id="{D4567F3F-B785-4E7A-BD46-862D7354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71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F62116-308A-4C09-A68A-51E93932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7 天</a:t>
            </a:r>
          </a:p>
        </p:txBody>
      </p:sp>
      <p:sp>
        <p:nvSpPr>
          <p:cNvPr id="34" name="wait-point-2">
            <a:extLst xmlns:a="http://schemas.openxmlformats.org/drawingml/2006/main">
              <a:ext uri="{FF2B5EF4-FFF2-40B4-BE49-F238E27FC236}">
                <a16:creationId xmlns:a16="http://schemas.microsoft.com/office/drawing/2014/main" id="{DDC353F6-55EF-4C76-A390-04137C2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03EE5-D45A-43AD-AE26-E1F2F5B5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6 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516804-D95E-4240-9477-F0664D5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读法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048205-004F-4D11-AC9E-D8903DCD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7167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D8FCE1-1673-4A6D-AF4E-CE9187DB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使用增长与等待下降是同时观察到的现象。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11E437-B5D0-483E-91CA-FA745114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拟议下一步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88C908-D2DB-4EDC-960A-BD4CAE9E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242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232E5A-8895-43E5-8BC8-693FBBD5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继续观察高峰时段及分设备等待，避免平均改善掩盖局部拥堵。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7F43F3-FAC2-4E70-B98D-43161F95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注：预约量与等待时间使用不同量纲；图中并列展示，不进行合并评分。</a:t>
            </a:r>
          </a:p>
        </p:txBody>
      </p:sp>
    </p:spTree>
    <p:extLst>
      <p:ext uri="{BB962C8B-B14F-4D97-AF65-F5344CB8AC3E}">
        <p14:creationId xmlns:p14="http://schemas.microsoft.com/office/powerpoint/2010/main" val="2025665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age-title">
            <a:extLst xmlns:a="http://schemas.openxmlformats.org/drawingml/2006/main">
              <a:ext uri="{FF2B5EF4-FFF2-40B4-BE49-F238E27FC236}">
                <a16:creationId xmlns:a16="http://schemas.microsoft.com/office/drawing/2014/main" id="{03AB918A-F5EC-44BC-9667-3211C11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</a:defRPr>
            </a:pPr>
            <a:r>
              <a:rPr sz="2400" b="1" i="0">
                <a:solidFill>
                  <a:srgbClr val="2B2B2B"/>
                </a:solidFill>
              </a:rPr>
              <a:t>校内先解决时段供给，校外先解决审批与费用说明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052BFF-20A9-4BB7-AD63-801E435C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B5E1F-9E37-49CF-AFE7-4556E8D5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大学共享仪器服务改进｜模拟分析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2AD0B-F3B4-4B3D-97BF-667D6DA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239C5-F747-4CE3-B9E2-5186D0C1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270BF-16E3-4B7B-9F24-CF9B66C2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模拟多选问卷：两组各 100 人，四个维度可同时被选择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A67B5-DCF5-45B4-9488-EF006C69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6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</a:defRPr>
            </a:pPr>
            <a:r>
              <a:rPr sz="1200" b="1" i="0">
                <a:solidFill>
                  <a:srgbClr val="6F6F6F"/>
                </a:solidFill>
              </a:rPr>
              <a:t>选择比例（%）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DC79F-7420-4F7A-B1DF-60A2EDE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校内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3C57A-EF53-48EE-98FB-01076056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F8A9C"/>
                </a:solidFill>
              </a:defRPr>
            </a:pPr>
            <a:r>
              <a:rPr sz="1200" b="1" i="0">
                <a:solidFill>
                  <a:srgbClr val="4F8A9C"/>
                </a:solidFill>
              </a:rPr>
              <a:t>校外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28BF4-7BC5-45AC-8A79-269CCF20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4785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6FEBC-83E4-4967-8E4E-FEAAE44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时段难匹配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4E38D-23E5-4A7C-AA60-7F2F5E1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812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62%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7069C-55C2-4FAD-8DC4-A88BA89C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0980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0C3DA-DF80-4E6F-8A86-0C37D43D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09800"/>
            <a:ext cx="248031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E3A49-2DFF-416C-80FF-773ADDA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F8A9C"/>
                </a:solidFill>
              </a:defRPr>
            </a:pPr>
            <a:r>
              <a:rPr sz="1200" b="1" i="0">
                <a:solidFill>
                  <a:srgbClr val="4F8A9C"/>
                </a:solidFill>
              </a:rPr>
              <a:t>45%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D452C-922C-4332-9147-B9F23438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E45AC-2618-4D12-8556-F15D4C86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18002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293DE-8FA8-4437-B95B-515A6F1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2890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A89FC-BE1E-4331-AC2A-370D26D3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审批慢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4F1A6-16E4-4AF2-8D8B-757494FC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86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48%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6595E-CFC3-46E8-B47B-BC2A5F5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CC0CB-2BF6-4449-AC7D-2AE96080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192024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67F9C-C4F4-4665-9CF3-02DE9098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86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F8A9C"/>
                </a:solidFill>
              </a:defRPr>
            </a:pPr>
            <a:r>
              <a:rPr sz="1200" b="1" i="0">
                <a:solidFill>
                  <a:srgbClr val="4F8A9C"/>
                </a:solidFill>
              </a:rPr>
              <a:t>65%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FDF2A-2379-4E6A-8197-3EB2664E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0313F-0ABC-4722-97BE-4A55788A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26003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D3BA5-FDA9-47AD-AD03-D30BD7BD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184AF-C5F1-4CD4-9057-94444F29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费用不清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661801-C8F9-4B0E-8FFE-A9674F7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90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28%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9B43B2-97E7-47AA-845E-1ECC9FBE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1950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D6963-E7EF-4C5F-8599-47D53436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19500"/>
            <a:ext cx="112014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BB6795-B374-4C05-946D-70B07113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90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F8A9C"/>
                </a:solidFill>
              </a:defRPr>
            </a:pPr>
            <a:r>
              <a:rPr sz="1200" b="1" i="0">
                <a:solidFill>
                  <a:srgbClr val="4F8A9C"/>
                </a:solidFill>
              </a:rPr>
              <a:t>58%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F9E51-88EE-4ACC-BC17-5B6AF329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AD8461-616B-44A0-9A22-5ACE6BB2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232029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076C2-D803-49B4-8655-4B5A500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3860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2AD7F-7C74-4A09-84D1-746899EC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57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操作培训不足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17DBB7-5CE3-4ED3-85B0-C09D106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957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44%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717611-D630-4D46-9040-43CD04AE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2435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DF967C-4F39-493B-8A72-2CED5FF7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24350"/>
            <a:ext cx="176022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B72FF8-6925-4672-A405-AA748EE3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957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F8A9C"/>
                </a:solidFill>
              </a:defRPr>
            </a:pPr>
            <a:r>
              <a:rPr sz="1200" b="1" i="0">
                <a:solidFill>
                  <a:srgbClr val="4F8A9C"/>
                </a:solidFill>
              </a:rPr>
              <a:t>32%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3CE9A9-8ABF-4937-A878-F69C127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24350"/>
            <a:ext cx="2190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A464A2-C9C6-4A89-89D9-0D8DFA2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24350"/>
            <a:ext cx="128016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E91A43-7EF2-4C5E-80A2-BA75BB5F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43450"/>
            <a:ext cx="630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4C102E-B13C-487C-A6D0-591BC6BB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7B8"/>
                </a:solidFill>
              </a:defRPr>
            </a:pPr>
            <a:r>
              <a:rPr sz="1575" b="1" i="0">
                <a:solidFill>
                  <a:srgbClr val="0057B8"/>
                </a:solidFill>
              </a:rPr>
              <a:t>校内优先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25D873-114F-4280-821E-D1DA19DD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B2B2B"/>
                </a:solidFill>
              </a:defRPr>
            </a:pPr>
            <a:r>
              <a:rPr sz="2100" b="1" i="0">
                <a:solidFill>
                  <a:srgbClr val="2B2B2B"/>
                </a:solidFill>
              </a:rPr>
              <a:t>时段供给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09C792-9C13-4D82-9DF7-001F9642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ABB44D-E202-46F3-AC1B-67FFF95B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F8A9C"/>
                </a:solidFill>
              </a:defRPr>
            </a:pPr>
            <a:r>
              <a:rPr sz="1575" b="1" i="0">
                <a:solidFill>
                  <a:srgbClr val="4F8A9C"/>
                </a:solidFill>
              </a:rPr>
              <a:t>校外优先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F4589E-4460-499B-B677-91C5FAF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2B2B"/>
                </a:solidFill>
              </a:defRPr>
            </a:pPr>
            <a:r>
              <a:rPr sz="1875" b="1" i="0">
                <a:solidFill>
                  <a:srgbClr val="2B2B2B"/>
                </a:solidFill>
              </a:rPr>
              <a:t>审批 + 费用说明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6F28FF-47B6-49F3-8819-6A2D4E89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3E0723-895D-44A3-B3A4-9A90489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</a:defRPr>
            </a:pPr>
            <a:r>
              <a:rPr sz="1200" b="1" i="0">
                <a:solidFill>
                  <a:srgbClr val="6F6F6F"/>
                </a:solidFill>
              </a:rPr>
              <a:t>口径提醒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B5F7AB-9175-48F4-A033-05CC154A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291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</a:defRPr>
            </a:pPr>
            <a:r>
              <a:rPr sz="1200" b="0" i="0">
                <a:solidFill>
                  <a:srgbClr val="404040"/>
                </a:solidFill>
              </a:rPr>
              <a:t>多选比例不相加为 100%；样本仅用于本次讨论，不能推广。</a:t>
            </a:r>
          </a:p>
        </p:txBody>
      </p:sp>
    </p:spTree>
    <p:extLst>
      <p:ext uri="{BB962C8B-B14F-4D97-AF65-F5344CB8AC3E}">
        <p14:creationId xmlns:p14="http://schemas.microsoft.com/office/powerpoint/2010/main" val="1029926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age-title">
            <a:extLst xmlns:a="http://schemas.openxmlformats.org/drawingml/2006/main">
              <a:ext uri="{FF2B5EF4-FFF2-40B4-BE49-F238E27FC236}">
                <a16:creationId xmlns:a16="http://schemas.microsoft.com/office/drawing/2014/main" id="{B2C668D2-AA91-437D-B138-FE05950B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</a:defRPr>
            </a:pPr>
            <a:r>
              <a:rPr sz="2400" b="1" i="0">
                <a:solidFill>
                  <a:srgbClr val="2B2B2B"/>
                </a:solidFill>
              </a:rPr>
              <a:t>三阶段试点按记录完整、责任明确逐步推进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36F8D2-B7CF-4CDD-9174-08763702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2EC1B-75F7-457E-9910-450AA66E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大学共享仪器服务改进｜模拟分析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61604-FA6F-4A28-B1C1-19AF89A2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EAE7A-6422-4CD5-B824-A1141DDD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6682B-11CC-4A48-841D-065A810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每一阶段先交付可检查的基础，再观察对应指标；未设定量化改善目标</a:t>
            </a:r>
          </a:p>
        </p:txBody>
      </p:sp>
      <p:sp>
        <p:nvSpPr>
          <p:cNvPr id="7" name="stage-rail-1">
            <a:extLst xmlns:a="http://schemas.openxmlformats.org/drawingml/2006/main">
              <a:ext uri="{FF2B5EF4-FFF2-40B4-BE49-F238E27FC236}">
                <a16:creationId xmlns:a16="http://schemas.microsoft.com/office/drawing/2014/main" id="{382778C1-B179-4E4D-896E-F07CF816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4800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rail-2">
            <a:extLst xmlns:a="http://schemas.openxmlformats.org/drawingml/2006/main">
              <a:ext uri="{FF2B5EF4-FFF2-40B4-BE49-F238E27FC236}">
                <a16:creationId xmlns:a16="http://schemas.microsoft.com/office/drawing/2014/main" id="{D61B340D-E44E-4F71-BE78-D497D54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304800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rail-3">
            <a:extLst xmlns:a="http://schemas.openxmlformats.org/drawingml/2006/main">
              <a:ext uri="{FF2B5EF4-FFF2-40B4-BE49-F238E27FC236}">
                <a16:creationId xmlns:a16="http://schemas.microsoft.com/office/drawing/2014/main" id="{AB7DB3DE-2ADE-40D7-A1E1-191E9C31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3048000" cy="647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ate-1">
            <a:extLst xmlns:a="http://schemas.openxmlformats.org/drawingml/2006/main">
              <a:ext uri="{FF2B5EF4-FFF2-40B4-BE49-F238E27FC236}">
                <a16:creationId xmlns:a16="http://schemas.microsoft.com/office/drawing/2014/main" id="{FF394419-6E41-4D06-8CF1-0FF3A38B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171450" cy="9525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ate-2">
            <a:extLst xmlns:a="http://schemas.openxmlformats.org/drawingml/2006/main">
              <a:ext uri="{FF2B5EF4-FFF2-40B4-BE49-F238E27FC236}">
                <a16:creationId xmlns:a16="http://schemas.microsoft.com/office/drawing/2014/main" id="{9AA1B5DF-65FF-4DFF-B91D-3267C81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171450" cy="9525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1C9DE-DE24-4E80-ADD1-D8DAFEE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2B2B"/>
                </a:solidFill>
              </a:defRPr>
            </a:pPr>
            <a:r>
              <a:rPr sz="1575" b="1" i="0">
                <a:solidFill>
                  <a:srgbClr val="2B2B2B"/>
                </a:solidFill>
              </a:rPr>
              <a:t>阶段 1｜统一入口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E20C9-21C6-498A-97A1-DA0CDCE3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1926F-2AD7-46CF-ABF3-510C5B1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统一设备与时段目录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1C26F-8560-4380-94E4-11F0F3AC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观察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F2A3A-4A19-42A9-BC05-3C118ED9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信息完整率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7A6EB-32DA-40AD-ACDE-FC66633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716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2B2B"/>
                </a:solidFill>
              </a:defRPr>
            </a:pPr>
            <a:r>
              <a:rPr sz="1575" b="1" i="0">
                <a:solidFill>
                  <a:srgbClr val="2B2B2B"/>
                </a:solidFill>
              </a:rPr>
              <a:t>阶段 2｜明确责任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3D4ED-F1C0-4978-AB80-5B4A0F7E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8395A-856A-4BF7-8FCC-4A208247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责任人与时限表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E30B4-E459-4D58-9459-99AE729C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观察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46D86-AE14-4CF2-AEB0-F0B28E5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审批时长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FA603-5A2B-44F8-AC47-0EB9C0C0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716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7B8"/>
                </a:solidFill>
              </a:defRPr>
            </a:pPr>
            <a:r>
              <a:rPr sz="1575" b="1" i="0">
                <a:solidFill>
                  <a:srgbClr val="0057B8"/>
                </a:solidFill>
              </a:rPr>
              <a:t>阶段 3｜发布说明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172E8-17A8-4809-BFCF-0A58A21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B5D16-551A-4AE9-AC7C-8563136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费用清单及培训入口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AA440-5544-498E-8A50-9D0436B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5744A-5367-4225-B26E-AFAA111E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重复咨询量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2C28C-53F4-402C-9A71-6EF5F0E0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52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记录完整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FAF9F-1014-4D89-B216-7159898E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责任明确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2822C-663D-4369-BE8A-4DF11E3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D07A0-E23F-4538-964D-639F0A9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1" name="access-note">
            <a:extLst xmlns:a="http://schemas.openxmlformats.org/drawingml/2006/main">
              <a:ext uri="{FF2B5EF4-FFF2-40B4-BE49-F238E27FC236}">
                <a16:creationId xmlns:a16="http://schemas.microsoft.com/office/drawing/2014/main" id="{DDBEFC8B-FE36-4E9D-A655-7D918708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324100" cy="2724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6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B4209-AFAE-444F-9902-1EE6FA59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2B2B"/>
                </a:solidFill>
              </a:defRPr>
            </a:pPr>
            <a:r>
              <a:rPr sz="1575" b="1" i="0">
                <a:solidFill>
                  <a:srgbClr val="2B2B2B"/>
                </a:solidFill>
              </a:rPr>
              <a:t>暂停条件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7018E5-CCCD-4DF4-887C-FCEA3163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860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74BE9-95E5-4E06-889D-75486E33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146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涉及新访问授权时暂停共享；授权处理后恢复。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5C945-8302-4BA5-821D-B5A4328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86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57B8"/>
                </a:solidFill>
              </a:defRPr>
            </a:pPr>
            <a:r>
              <a:rPr sz="1200" b="1" i="0">
                <a:solidFill>
                  <a:srgbClr val="0057B8"/>
                </a:solidFill>
              </a:rPr>
              <a:t>预期用途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07838F-8722-45E4-98AA-F875717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719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更早判断可用性，并定位问题落在哪个环节。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E55E52-BE73-4AA2-8A97-A1AF089C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这是假设中的管理用途，不是已验证收益。</a:t>
            </a:r>
          </a:p>
        </p:txBody>
      </p:sp>
    </p:spTree>
    <p:extLst>
      <p:ext uri="{BB962C8B-B14F-4D97-AF65-F5344CB8AC3E}">
        <p14:creationId xmlns:p14="http://schemas.microsoft.com/office/powerpoint/2010/main" val="1779746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title">
            <a:extLst xmlns:a="http://schemas.openxmlformats.org/drawingml/2006/main">
              <a:ext uri="{FF2B5EF4-FFF2-40B4-BE49-F238E27FC236}">
                <a16:creationId xmlns:a16="http://schemas.microsoft.com/office/drawing/2014/main" id="{AE8F1BAA-E4CC-46AF-89C7-EDFFF5C3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B2B2B"/>
                </a:solidFill>
              </a:defRPr>
            </a:pPr>
            <a:r>
              <a:rPr sz="2400" b="1" i="0">
                <a:solidFill>
                  <a:srgbClr val="2B2B2B"/>
                </a:solidFill>
              </a:rPr>
              <a:t>支持优先级由预约频次与操作支持需求共同定位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4F407D-A06D-4ED4-BA30-9B7E4A63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F54EC-E363-4EE5-8988-13B87B8D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大学共享仪器服务改进｜模拟分析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17C82-6F9F-452C-9137-3C53E460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A1A8B-D09C-41A1-875C-2F0F1336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2AE59-3EAE-4C75-BF13-906B95E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4040"/>
                </a:solidFill>
              </a:defRPr>
            </a:pPr>
            <a:r>
              <a:rPr sz="1350" b="0" i="0">
                <a:solidFill>
                  <a:srgbClr val="404040"/>
                </a:solidFill>
              </a:rPr>
              <a:t>二维诊断用于本次讨论：50 为分界，不代表行业标准或统计分类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74238-999D-47BE-B280-09FCA412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9F614-7CDA-4FEB-914D-A8CFDCCA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EC9CD-1473-4BAA-92AA-3D96E01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80C69-8C48-403D-8030-78D02FD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y-axis">
            <a:extLst xmlns:a="http://schemas.openxmlformats.org/drawingml/2006/main">
              <a:ext uri="{FF2B5EF4-FFF2-40B4-BE49-F238E27FC236}">
                <a16:creationId xmlns:a16="http://schemas.microsoft.com/office/drawing/2014/main" id="{5376C391-C9A4-41F5-AD23-FEDF5E7B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4040"/>
            </a:solidFill>
            <a:prstDash val="solid"/>
          </a:ln>
        </p:spPr>
      </p:sp>
      <p:sp>
        <p:nvSpPr>
          <p:cNvPr id="12" name="x-axis">
            <a:extLst xmlns:a="http://schemas.openxmlformats.org/drawingml/2006/main">
              <a:ext uri="{FF2B5EF4-FFF2-40B4-BE49-F238E27FC236}">
                <a16:creationId xmlns:a16="http://schemas.microsoft.com/office/drawing/2014/main" id="{4BA87FF6-1251-4399-BA0E-0B6B5A7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40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37D08-6C48-4A67-9CE4-734A2BD0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66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操作支持需求高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68CFF-61DD-4F48-8DA1-C16FF5EC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</a:defRPr>
            </a:pPr>
            <a:r>
              <a:rPr sz="1200" b="1" i="0">
                <a:solidFill>
                  <a:srgbClr val="6F6F6F"/>
                </a:solidFill>
              </a:rPr>
              <a:t>操作支持需求低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A1054-361B-45AA-B41A-3564EAD4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F6F6F"/>
                </a:solidFill>
              </a:defRPr>
            </a:pPr>
            <a:r>
              <a:rPr sz="1200" b="1" i="0">
                <a:solidFill>
                  <a:srgbClr val="6F6F6F"/>
                </a:solidFill>
              </a:rPr>
              <a:t>预约频次低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4FA8C-8553-4D90-81BF-4743E1C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95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预约频次高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A54B9-B42C-41AF-AF9F-F203F3E7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91C53-8033-4187-96F5-6BF72A05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F6F6F"/>
                </a:solidFill>
              </a:defRPr>
            </a:pPr>
            <a:r>
              <a:rPr sz="1050" b="1" i="0">
                <a:solidFill>
                  <a:srgbClr val="6F6F6F"/>
                </a:solidFill>
              </a:rPr>
              <a:t>50</a:t>
            </a:r>
          </a:p>
        </p:txBody>
      </p:sp>
      <p:sp>
        <p:nvSpPr>
          <p:cNvPr id="19" name="bubble-0">
            <a:extLst xmlns:a="http://schemas.openxmlformats.org/drawingml/2006/main">
              <a:ext uri="{FF2B5EF4-FFF2-40B4-BE49-F238E27FC236}">
                <a16:creationId xmlns:a16="http://schemas.microsoft.com/office/drawing/2014/main" id="{0A066E59-45A9-482F-8340-0299661F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0193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CB13F-D971-4173-A569-F7E15506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81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显微成像</a:t>
            </a:r>
          </a:p>
        </p:txBody>
      </p:sp>
      <p:sp>
        <p:nvSpPr>
          <p:cNvPr id="21" name="bubble-1">
            <a:extLst xmlns:a="http://schemas.openxmlformats.org/drawingml/2006/main">
              <a:ext uri="{FF2B5EF4-FFF2-40B4-BE49-F238E27FC236}">
                <a16:creationId xmlns:a16="http://schemas.microsoft.com/office/drawing/2014/main" id="{6996428A-1617-4B64-840C-5FE89B6A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52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2A08E-9660-48D6-9A34-04BFFE4B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672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基础检测</a:t>
            </a:r>
          </a:p>
        </p:txBody>
      </p:sp>
      <p:sp>
        <p:nvSpPr>
          <p:cNvPr id="23" name="bubble-2">
            <a:extLst xmlns:a="http://schemas.openxmlformats.org/drawingml/2006/main">
              <a:ext uri="{FF2B5EF4-FFF2-40B4-BE49-F238E27FC236}">
                <a16:creationId xmlns:a16="http://schemas.microsoft.com/office/drawing/2014/main" id="{EC2C5CF1-91A6-4ECC-BD0B-2E6E2FC7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9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7A4EE-7794-48C5-BB68-540FC58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527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材料制备</a:t>
            </a:r>
          </a:p>
        </p:txBody>
      </p:sp>
      <p:sp>
        <p:nvSpPr>
          <p:cNvPr id="25" name="bubble-3">
            <a:extLst xmlns:a="http://schemas.openxmlformats.org/drawingml/2006/main">
              <a:ext uri="{FF2B5EF4-FFF2-40B4-BE49-F238E27FC236}">
                <a16:creationId xmlns:a16="http://schemas.microsoft.com/office/drawing/2014/main" id="{B1D03B03-8734-43D1-9AD8-E91C3806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909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71B06-164B-477A-858D-219DBA22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B2B2B"/>
                </a:solidFill>
              </a:defRPr>
            </a:pPr>
            <a:r>
              <a:rPr sz="1200" b="1" i="0">
                <a:solidFill>
                  <a:srgbClr val="2B2B2B"/>
                </a:solidFill>
              </a:rPr>
              <a:t>常规加工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18959-CD43-423F-B61F-964C1778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57B8"/>
                </a:solidFill>
              </a:defRPr>
            </a:pPr>
            <a:r>
              <a:rPr sz="1350" b="1" i="0">
                <a:solidFill>
                  <a:srgbClr val="0057B8"/>
                </a:solidFill>
              </a:rPr>
              <a:t>优先增设辅导时段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F183F-297F-486E-AE91-BCC3084D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</a:defRPr>
            </a:pPr>
            <a:r>
              <a:rPr sz="1200" b="0" i="0">
                <a:solidFill>
                  <a:srgbClr val="404040"/>
                </a:solidFill>
              </a:rPr>
              <a:t>高频 × 高支持｜显微成像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2D9E83-691F-48FA-A0D4-91D791A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1E77B-4C02-44BB-B4BE-90C772B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2B2B"/>
                </a:solidFill>
              </a:defRPr>
            </a:pPr>
            <a:r>
              <a:rPr sz="1350" b="1" i="0">
                <a:solidFill>
                  <a:srgbClr val="2B2B2B"/>
                </a:solidFill>
              </a:rPr>
              <a:t>优先完善自助说明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C0D8F5-6547-4765-B8CB-FD8FE1A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</a:defRPr>
            </a:pPr>
            <a:r>
              <a:rPr sz="1200" b="0" i="0">
                <a:solidFill>
                  <a:srgbClr val="404040"/>
                </a:solidFill>
              </a:rPr>
              <a:t>高频 × 低支持｜基础检测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5407D-5E92-4799-B1A4-E33E14A8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DE50A7-444A-4F51-8908-1647FAD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F8A9C"/>
                </a:solidFill>
              </a:defRPr>
            </a:pPr>
            <a:r>
              <a:rPr sz="1350" b="1" i="0">
                <a:solidFill>
                  <a:srgbClr val="4F8A9C"/>
                </a:solidFill>
              </a:rPr>
              <a:t>预约辅导 / 维持基础服务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E1515-D57B-4731-936A-FCD863B4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4040"/>
                </a:solidFill>
              </a:defRPr>
            </a:pPr>
            <a:r>
              <a:rPr sz="1200" b="0" i="0">
                <a:solidFill>
                  <a:srgbClr val="404040"/>
                </a:solidFill>
              </a:rPr>
              <a:t>低频 × 高支持：材料制备；低频 × 低支持：常规加工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1B6485-3872-4A3B-B969-03AFBE65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817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F6F6F"/>
                </a:solidFill>
              </a:defRPr>
            </a:pPr>
            <a:r>
              <a:rPr sz="1050" b="0" i="0">
                <a:solidFill>
                  <a:srgbClr val="6F6F6F"/>
                </a:solidFill>
              </a:rPr>
              <a:t>点的位置不表示成本、设备价值或真实利用率。</a:t>
            </a:r>
          </a:p>
        </p:txBody>
      </p:sp>
    </p:spTree>
    <p:extLst>
      <p:ext uri="{BB962C8B-B14F-4D97-AF65-F5344CB8AC3E}">
        <p14:creationId xmlns:p14="http://schemas.microsoft.com/office/powerpoint/2010/main" val="1596898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2026-09-07T14:02:11.5180000Z</dcterms:created>
  <dcterms:modified xsi:type="dcterms:W3CDTF">2026-09-07T14:02:11.5180000Z</dcterms:modified>
</coreProperties>
</file>