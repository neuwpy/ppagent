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2b5154cdce4717" /><Relationship Type="http://schemas.openxmlformats.org/officeDocument/2006/relationships/extended-properties" Target="/docProps/app.xml" Id="R28b7589edd774cda" /><Relationship Type="http://schemas.openxmlformats.org/officeDocument/2006/relationships/officeDocument" Target="/ppt/presentation.xml" Id="R2224cfea884d4a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a9acab75c4563"/>
  </p:sldMasterIdLst>
  <p:notesMasterIdLst>
    <p:notesMasterId xmlns:r="http://schemas.openxmlformats.org/officeDocument/2006/relationships" r:id="Re9e1e86569b64685"/>
  </p:notesMasterIdLst>
  <p:sldIdLst>
    <p:sldId xmlns:r="http://schemas.openxmlformats.org/officeDocument/2006/relationships" id="256" r:id="R380ed6a87f1a4343"/>
    <p:sldId xmlns:r="http://schemas.openxmlformats.org/officeDocument/2006/relationships" id="257" r:id="Rbfae39fad8834e7f"/>
    <p:sldId xmlns:r="http://schemas.openxmlformats.org/officeDocument/2006/relationships" id="258" r:id="Rd6985af08d284924"/>
    <p:sldId xmlns:r="http://schemas.openxmlformats.org/officeDocument/2006/relationships" id="259" r:id="R5050eecf24f6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cee62036943ef" /><Relationship Type="http://schemas.openxmlformats.org/officeDocument/2006/relationships/slideMaster" Target="/ppt/slideMasters/slideMaster1.xml" Id="Rea9a9acab75c4563" /><Relationship Type="http://schemas.openxmlformats.org/officeDocument/2006/relationships/notesMaster" Target="/ppt/notesMasters/notesMaster1.xml" Id="Re9e1e86569b64685" /><Relationship Type="http://schemas.openxmlformats.org/officeDocument/2006/relationships/presProps" Target="/ppt/presProps.xml" Id="R8c7f8787355c4e84" /><Relationship Type="http://schemas.openxmlformats.org/officeDocument/2006/relationships/tableStyles" Target="/ppt/tableStyles.xml" Id="R99f04d56d0484196" /><Relationship Type="http://schemas.openxmlformats.org/officeDocument/2006/relationships/slide" Target="/ppt/slides/slide1.xml" Id="R380ed6a87f1a4343" /><Relationship Type="http://schemas.openxmlformats.org/officeDocument/2006/relationships/slide" Target="/ppt/slides/slide2.xml" Id="Rbfae39fad8834e7f" /><Relationship Type="http://schemas.openxmlformats.org/officeDocument/2006/relationships/slide" Target="/ppt/slides/slide3.xml" Id="Rd6985af08d284924" /><Relationship Type="http://schemas.openxmlformats.org/officeDocument/2006/relationships/slide" Target="/ppt/slides/slide4.xml" Id="R5050eecf24f6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8a2aac68e349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9f8ed922d242e4" /><Relationship Type="http://schemas.openxmlformats.org/officeDocument/2006/relationships/notesMaster" Target="/ppt/notesMasters/notesMaster1.xml" Id="R37d130640fe7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d4e61007b4a2e" /><Relationship Type="http://schemas.openxmlformats.org/officeDocument/2006/relationships/notesMaster" Target="/ppt/notesMasters/notesMaster1.xml" Id="Rc63e99e1fba944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4e0a52b844e53" /><Relationship Type="http://schemas.openxmlformats.org/officeDocument/2006/relationships/notesMaster" Target="/ppt/notesMasters/notesMaster1.xml" Id="R45816968314a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ec81176e0c4abe" /><Relationship Type="http://schemas.openxmlformats.org/officeDocument/2006/relationships/notesMaster" Target="/ppt/notesMasters/notesMaster1.xml" Id="R784a16fcc8d2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内容：experiments/mckinsey-prompt-study/manuscript.md（第1节；模拟数据）</a:t>
            </a:r>
          </a:p>
          <a:p xmlns:a="http://schemas.openxmlformats.org/drawingml/2006/main">
            <a:r>
              <a:t>- 视觉：东北大学 Skin 主题契约（Microsoft YaHei 正文；HYWenRunSongYun U 标题；主题蓝 #315F91）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内容：experiments/mckinsey-prompt-study/manuscript.md（第2节；模拟数据）</a:t>
            </a:r>
          </a:p>
          <a:p xmlns:a="http://schemas.openxmlformats.org/drawingml/2006/main">
            <a:r>
              <a:t>- 视觉：东北大学 Skin 主题契约（Microsoft YaHei 正文；HYWenRunSongYun U 标题；主题蓝 #315F91）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内容：experiments/mckinsey-prompt-study/manuscript.md（第3节；模拟数据）</a:t>
            </a:r>
          </a:p>
          <a:p xmlns:a="http://schemas.openxmlformats.org/drawingml/2006/main">
            <a:r>
              <a:t>- 视觉：东北大学 Skin 主题契约（Microsoft YaHei 正文；HYWenRunSongYun U 标题；主题蓝 #315F91）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内容：experiments/mckinsey-prompt-study/manuscript.md（第4节；模拟数据）</a:t>
            </a:r>
          </a:p>
          <a:p xmlns:a="http://schemas.openxmlformats.org/drawingml/2006/main">
            <a:r>
              <a:t>- 视觉：东北大学 Skin 主题契约（Microsoft YaHei 正文；HYWenRunSongYun U 标题；主题蓝 #315F91）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e9d17cf14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f73a2d44364f6c" /><Relationship Type="http://schemas.openxmlformats.org/officeDocument/2006/relationships/slideLayout" Target="/ppt/slideLayouts/slideLayout1.xml" Id="Re4e279d86fed4c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e279d86fed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a746e6044bce" /><Relationship Type="http://schemas.openxmlformats.org/officeDocument/2006/relationships/notesSlide" Target="/ppt/notesSlides/notesSlide1.xml" Id="R902f3a6f358a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2777b37a94069" /><Relationship Type="http://schemas.openxmlformats.org/officeDocument/2006/relationships/notesSlide" Target="/ppt/notesSlides/notesSlide2.xml" Id="R35a44f01f70044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313ef38024bf0" /><Relationship Type="http://schemas.openxmlformats.org/officeDocument/2006/relationships/notesSlide" Target="/ppt/notesSlides/notesSlide3.xml" Id="Rc6a33e58026b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94769c8824f48" /><Relationship Type="http://schemas.openxmlformats.org/officeDocument/2006/relationships/notesSlide" Target="/ppt/notesSlides/notesSlide4.xml" Id="R83f38461fe75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-1">
            <a:extLst xmlns:a="http://schemas.openxmlformats.org/drawingml/2006/main">
              <a:ext uri="{FF2B5EF4-FFF2-40B4-BE49-F238E27FC236}">
                <a16:creationId xmlns:a16="http://schemas.microsoft.com/office/drawing/2014/main" id="{5BDBBC32-E123-4934-91D2-1C53DE51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 /  模拟分析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48F364EA-E4CC-4055-878E-5EA00D4A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 / 04</a:t>
            </a:r>
          </a:p>
        </p:txBody>
      </p:sp>
      <p:sp>
        <p:nvSpPr>
          <p:cNvPr id="3" name="title-rule-1">
            <a:extLst xmlns:a="http://schemas.openxmlformats.org/drawingml/2006/main">
              <a:ext uri="{FF2B5EF4-FFF2-40B4-BE49-F238E27FC236}">
                <a16:creationId xmlns:a16="http://schemas.microsoft.com/office/drawing/2014/main" id="{0D2E8E5A-4E87-4596-8032-FACE948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3679F32E-78BB-42F4-BEAD-2965855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094FD43C-9915-4D6E-9EFC-96D980E0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大学平台管理团队  ·  01</a:t>
            </a:r>
          </a:p>
        </p:txBody>
      </p:sp>
      <p:sp>
        <p:nvSpPr>
          <p:cNvPr id="6" name="title-1">
            <a:extLst xmlns:a="http://schemas.openxmlformats.org/drawingml/2006/main">
              <a:ext uri="{FF2B5EF4-FFF2-40B4-BE49-F238E27FC236}">
                <a16:creationId xmlns:a16="http://schemas.microsoft.com/office/drawing/2014/main" id="{5286125D-CF31-4AB7-9145-57708B91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使用量上升与等待下降同时出现，仍需拆分高峰拥堵</a:t>
            </a:r>
          </a:p>
        </p:txBody>
      </p:sp>
      <p:sp>
        <p:nvSpPr>
          <p:cNvPr id="7" name="sub-1">
            <a:extLst xmlns:a="http://schemas.openxmlformats.org/drawingml/2006/main">
              <a:ext uri="{FF2B5EF4-FFF2-40B4-BE49-F238E27FC236}">
                <a16:creationId xmlns:a16="http://schemas.microsoft.com/office/drawing/2014/main" id="{161041B1-477F-40B0-8421-69122C0B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预约完成量（单）与中位等待时间（天）</a:t>
            </a:r>
          </a:p>
        </p:txBody>
      </p:sp>
      <p:sp>
        <p:nvSpPr>
          <p:cNvPr id="8" name="vol-y-0">
            <a:extLst xmlns:a="http://schemas.openxmlformats.org/drawingml/2006/main">
              <a:ext uri="{FF2B5EF4-FFF2-40B4-BE49-F238E27FC236}">
                <a16:creationId xmlns:a16="http://schemas.microsoft.com/office/drawing/2014/main" id="{385F06AA-D1C5-4BE1-8EAD-D324AE76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9" name="vol-label-0">
            <a:extLst xmlns:a="http://schemas.openxmlformats.org/drawingml/2006/main">
              <a:ext uri="{FF2B5EF4-FFF2-40B4-BE49-F238E27FC236}">
                <a16:creationId xmlns:a16="http://schemas.microsoft.com/office/drawing/2014/main" id="{DC64A0D8-2889-44AC-8427-9E6A359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149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vol-y-700">
            <a:extLst xmlns:a="http://schemas.openxmlformats.org/drawingml/2006/main">
              <a:ext uri="{FF2B5EF4-FFF2-40B4-BE49-F238E27FC236}">
                <a16:creationId xmlns:a16="http://schemas.microsoft.com/office/drawing/2014/main" id="{7AB3185F-88D8-48F4-96FD-7D37DCA3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46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11" name="vol-label-700">
            <a:extLst xmlns:a="http://schemas.openxmlformats.org/drawingml/2006/main">
              <a:ext uri="{FF2B5EF4-FFF2-40B4-BE49-F238E27FC236}">
                <a16:creationId xmlns:a16="http://schemas.microsoft.com/office/drawing/2014/main" id="{43042CF6-1DF5-42C1-8ACE-15DBC61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989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700</a:t>
            </a:r>
          </a:p>
        </p:txBody>
      </p:sp>
      <p:sp>
        <p:nvSpPr>
          <p:cNvPr id="12" name="vol-y-1400">
            <a:extLst xmlns:a="http://schemas.openxmlformats.org/drawingml/2006/main">
              <a:ext uri="{FF2B5EF4-FFF2-40B4-BE49-F238E27FC236}">
                <a16:creationId xmlns:a16="http://schemas.microsoft.com/office/drawing/2014/main" id="{FF66E52D-5657-4A7B-B899-F315EEAC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86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13" name="vol-label-1400">
            <a:extLst xmlns:a="http://schemas.openxmlformats.org/drawingml/2006/main">
              <a:ext uri="{FF2B5EF4-FFF2-40B4-BE49-F238E27FC236}">
                <a16:creationId xmlns:a16="http://schemas.microsoft.com/office/drawing/2014/main" id="{552CE43D-B8CF-4A29-A474-254562F9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829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1,400</a:t>
            </a:r>
          </a:p>
        </p:txBody>
      </p:sp>
      <p:sp>
        <p:nvSpPr>
          <p:cNvPr id="14" name="vol-y-2100">
            <a:extLst xmlns:a="http://schemas.openxmlformats.org/drawingml/2006/main">
              <a:ext uri="{FF2B5EF4-FFF2-40B4-BE49-F238E27FC236}">
                <a16:creationId xmlns:a16="http://schemas.microsoft.com/office/drawing/2014/main" id="{8A0EBCC2-7B1C-4B5B-947D-E1F67772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15" name="vol-label-2100">
            <a:extLst xmlns:a="http://schemas.openxmlformats.org/drawingml/2006/main">
              <a:ext uri="{FF2B5EF4-FFF2-40B4-BE49-F238E27FC236}">
                <a16:creationId xmlns:a16="http://schemas.microsoft.com/office/drawing/2014/main" id="{66F9962C-8312-4856-A356-02D46B5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8669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2,100</a:t>
            </a:r>
          </a:p>
        </p:txBody>
      </p:sp>
      <p:sp>
        <p:nvSpPr>
          <p:cNvPr id="16" name="vol-axis">
            <a:extLst xmlns:a="http://schemas.openxmlformats.org/drawingml/2006/main">
              <a:ext uri="{FF2B5EF4-FFF2-40B4-BE49-F238E27FC236}">
                <a16:creationId xmlns:a16="http://schemas.microsoft.com/office/drawing/2014/main" id="{BC8252F1-48DF-4CBE-9995-EEA0489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预约完成量（单）</a:t>
            </a:r>
          </a:p>
        </p:txBody>
      </p:sp>
      <p:sp>
        <p:nvSpPr>
          <p:cNvPr id="17" name="vol-bar-0">
            <a:extLst xmlns:a="http://schemas.openxmlformats.org/drawingml/2006/main">
              <a:ext uri="{FF2B5EF4-FFF2-40B4-BE49-F238E27FC236}">
                <a16:creationId xmlns:a16="http://schemas.microsoft.com/office/drawing/2014/main" id="{4932969F-48D3-419B-9BE2-6C4625C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58911"/>
            <a:ext cx="685800" cy="1741714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ol-value-0">
            <a:extLst xmlns:a="http://schemas.openxmlformats.org/drawingml/2006/main">
              <a:ext uri="{FF2B5EF4-FFF2-40B4-BE49-F238E27FC236}">
                <a16:creationId xmlns:a16="http://schemas.microsoft.com/office/drawing/2014/main" id="{04AC6DAE-3164-4529-90BC-C685E471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92211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1,200</a:t>
            </a:r>
          </a:p>
        </p:txBody>
      </p:sp>
      <p:sp>
        <p:nvSpPr>
          <p:cNvPr id="19" name="vol-year-0">
            <a:extLst xmlns:a="http://schemas.openxmlformats.org/drawingml/2006/main">
              <a:ext uri="{FF2B5EF4-FFF2-40B4-BE49-F238E27FC236}">
                <a16:creationId xmlns:a16="http://schemas.microsoft.com/office/drawing/2014/main" id="{8E6C317E-0E73-40A3-AC5D-1130793C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20" name="vol-bar-1">
            <a:extLst xmlns:a="http://schemas.openxmlformats.org/drawingml/2006/main">
              <a:ext uri="{FF2B5EF4-FFF2-40B4-BE49-F238E27FC236}">
                <a16:creationId xmlns:a16="http://schemas.microsoft.com/office/drawing/2014/main" id="{3F93F2C0-09EA-4835-B9F7-88E1702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36396"/>
            <a:ext cx="685800" cy="2264229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ol-value-1">
            <a:extLst xmlns:a="http://schemas.openxmlformats.org/drawingml/2006/main">
              <a:ext uri="{FF2B5EF4-FFF2-40B4-BE49-F238E27FC236}">
                <a16:creationId xmlns:a16="http://schemas.microsoft.com/office/drawing/2014/main" id="{E9245AE7-CC70-44A0-8217-C659E5C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69696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1,560</a:t>
            </a:r>
          </a:p>
        </p:txBody>
      </p:sp>
      <p:sp>
        <p:nvSpPr>
          <p:cNvPr id="22" name="vol-year-1">
            <a:extLst xmlns:a="http://schemas.openxmlformats.org/drawingml/2006/main">
              <a:ext uri="{FF2B5EF4-FFF2-40B4-BE49-F238E27FC236}">
                <a16:creationId xmlns:a16="http://schemas.microsoft.com/office/drawing/2014/main" id="{0C7B1F21-8FED-4B7F-B1C1-5C3219C3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33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23" name="vol-bar-2">
            <a:extLst xmlns:a="http://schemas.openxmlformats.org/drawingml/2006/main">
              <a:ext uri="{FF2B5EF4-FFF2-40B4-BE49-F238E27FC236}">
                <a16:creationId xmlns:a16="http://schemas.microsoft.com/office/drawing/2014/main" id="{9BF68A2F-82B8-45F6-97E4-936CD4A0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13882"/>
            <a:ext cx="685800" cy="2786743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ol-value-2">
            <a:extLst xmlns:a="http://schemas.openxmlformats.org/drawingml/2006/main">
              <a:ext uri="{FF2B5EF4-FFF2-40B4-BE49-F238E27FC236}">
                <a16:creationId xmlns:a16="http://schemas.microsoft.com/office/drawing/2014/main" id="{3824C004-3518-4106-8536-76C5FD6E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47182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1,920</a:t>
            </a:r>
          </a:p>
        </p:txBody>
      </p:sp>
      <p:sp>
        <p:nvSpPr>
          <p:cNvPr id="25" name="vol-year-2">
            <a:extLst xmlns:a="http://schemas.openxmlformats.org/drawingml/2006/main">
              <a:ext uri="{FF2B5EF4-FFF2-40B4-BE49-F238E27FC236}">
                <a16:creationId xmlns:a16="http://schemas.microsoft.com/office/drawing/2014/main" id="{523BCCC1-7F4B-49E1-A18D-8FB7BEA0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339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6" name="vol-source">
            <a:extLst xmlns:a="http://schemas.openxmlformats.org/drawingml/2006/main">
              <a:ext uri="{FF2B5EF4-FFF2-40B4-BE49-F238E27FC236}">
                <a16:creationId xmlns:a16="http://schemas.microsoft.com/office/drawing/2014/main" id="{DB4AC293-60C1-462D-B731-162D48E7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观察量：完成量逐年增加</a:t>
            </a:r>
          </a:p>
        </p:txBody>
      </p:sp>
      <p:sp>
        <p:nvSpPr>
          <p:cNvPr id="27" name="wait-axis">
            <a:extLst xmlns:a="http://schemas.openxmlformats.org/drawingml/2006/main">
              <a:ext uri="{FF2B5EF4-FFF2-40B4-BE49-F238E27FC236}">
                <a16:creationId xmlns:a16="http://schemas.microsoft.com/office/drawing/2014/main" id="{EF3F44FD-A590-4BFD-A6CA-6A45D800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430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中位等待时间（天）</a:t>
            </a:r>
          </a:p>
        </p:txBody>
      </p:sp>
      <p:sp>
        <p:nvSpPr>
          <p:cNvPr id="28" name="wait-y-0">
            <a:extLst xmlns:a="http://schemas.openxmlformats.org/drawingml/2006/main">
              <a:ext uri="{FF2B5EF4-FFF2-40B4-BE49-F238E27FC236}">
                <a16:creationId xmlns:a16="http://schemas.microsoft.com/office/drawing/2014/main" id="{AD4DAB3D-931B-4BE7-AAB2-BC07E7E8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00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29" name="wait-label-0">
            <a:extLst xmlns:a="http://schemas.openxmlformats.org/drawingml/2006/main">
              <a:ext uri="{FF2B5EF4-FFF2-40B4-BE49-F238E27FC236}">
                <a16:creationId xmlns:a16="http://schemas.microsoft.com/office/drawing/2014/main" id="{4675328E-5796-4B7C-9C73-B53B8FAB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14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wait-y-2">
            <a:extLst xmlns:a="http://schemas.openxmlformats.org/drawingml/2006/main">
              <a:ext uri="{FF2B5EF4-FFF2-40B4-BE49-F238E27FC236}">
                <a16:creationId xmlns:a16="http://schemas.microsoft.com/office/drawing/2014/main" id="{61901FF8-3733-48C8-B9A6-85E37FD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38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1" name="wait-label-2">
            <a:extLst xmlns:a="http://schemas.openxmlformats.org/drawingml/2006/main">
              <a:ext uri="{FF2B5EF4-FFF2-40B4-BE49-F238E27FC236}">
                <a16:creationId xmlns:a16="http://schemas.microsoft.com/office/drawing/2014/main" id="{C8437CEF-7DE9-4BF4-A98A-0B9223B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52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wait-y-4">
            <a:extLst xmlns:a="http://schemas.openxmlformats.org/drawingml/2006/main">
              <a:ext uri="{FF2B5EF4-FFF2-40B4-BE49-F238E27FC236}">
                <a16:creationId xmlns:a16="http://schemas.microsoft.com/office/drawing/2014/main" id="{2B95BCCF-04AC-44E8-86CA-0F9AA6A2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3" name="wait-label-4">
            <a:extLst xmlns:a="http://schemas.openxmlformats.org/drawingml/2006/main">
              <a:ext uri="{FF2B5EF4-FFF2-40B4-BE49-F238E27FC236}">
                <a16:creationId xmlns:a16="http://schemas.microsoft.com/office/drawing/2014/main" id="{E2A6C3AE-C81F-4688-957C-23A714F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90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wait-y-6">
            <a:extLst xmlns:a="http://schemas.openxmlformats.org/drawingml/2006/main">
              <a:ext uri="{FF2B5EF4-FFF2-40B4-BE49-F238E27FC236}">
                <a16:creationId xmlns:a16="http://schemas.microsoft.com/office/drawing/2014/main" id="{244E2A9F-E13D-4BA6-841D-009C8208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14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5" name="wait-label-6">
            <a:extLst xmlns:a="http://schemas.openxmlformats.org/drawingml/2006/main">
              <a:ext uri="{FF2B5EF4-FFF2-40B4-BE49-F238E27FC236}">
                <a16:creationId xmlns:a16="http://schemas.microsoft.com/office/drawing/2014/main" id="{15183F22-29A0-4A91-95F7-93BE5E8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6" name="wait-y-8">
            <a:extLst xmlns:a="http://schemas.openxmlformats.org/drawingml/2006/main">
              <a:ext uri="{FF2B5EF4-FFF2-40B4-BE49-F238E27FC236}">
                <a16:creationId xmlns:a16="http://schemas.microsoft.com/office/drawing/2014/main" id="{2DBB5D0B-F8AE-4438-B3FA-9696656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7" name="wait-label-8">
            <a:extLst xmlns:a="http://schemas.openxmlformats.org/drawingml/2006/main">
              <a:ext uri="{FF2B5EF4-FFF2-40B4-BE49-F238E27FC236}">
                <a16:creationId xmlns:a16="http://schemas.microsoft.com/office/drawing/2014/main" id="{66075C4B-6CEC-41B6-B21B-14533157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8" name="wait-line-1">
            <a:extLst xmlns:a="http://schemas.openxmlformats.org/drawingml/2006/main">
              <a:ext uri="{FF2B5EF4-FFF2-40B4-BE49-F238E27FC236}">
                <a16:creationId xmlns:a16="http://schemas.microsoft.com/office/drawing/2014/main" id="{42698C22-CE7F-485C-86F8-16B911D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1143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86D"/>
            </a:solidFill>
            <a:prstDash val="solid"/>
          </a:ln>
        </p:spPr>
      </p:sp>
      <p:sp>
        <p:nvSpPr>
          <p:cNvPr id="39" name="wait-line-2">
            <a:extLst xmlns:a="http://schemas.openxmlformats.org/drawingml/2006/main">
              <a:ext uri="{FF2B5EF4-FFF2-40B4-BE49-F238E27FC236}">
                <a16:creationId xmlns:a16="http://schemas.microsoft.com/office/drawing/2014/main" id="{F03080BE-3997-4C9B-8C12-2297C3D7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1143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486D"/>
            </a:solidFill>
            <a:prstDash val="solid"/>
          </a:ln>
        </p:spPr>
      </p:sp>
      <p:sp>
        <p:nvSpPr>
          <p:cNvPr id="40" name="wait-dot-0">
            <a:extLst xmlns:a="http://schemas.openxmlformats.org/drawingml/2006/main">
              <a:ext uri="{FF2B5EF4-FFF2-40B4-BE49-F238E27FC236}">
                <a16:creationId xmlns:a16="http://schemas.microsoft.com/office/drawing/2014/main" id="{40C471E5-F345-40B7-BC1D-BBF60F5F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76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86D"/>
            </a:solidFill>
            <a:prstDash val="solid"/>
          </a:ln>
        </p:spPr>
      </p:sp>
      <p:sp>
        <p:nvSpPr>
          <p:cNvPr id="41" name="wait-value-0">
            <a:extLst xmlns:a="http://schemas.openxmlformats.org/drawingml/2006/main">
              <a:ext uri="{FF2B5EF4-FFF2-40B4-BE49-F238E27FC236}">
                <a16:creationId xmlns:a16="http://schemas.microsoft.com/office/drawing/2014/main" id="{0BABD93F-6D85-45E6-A1B1-9C14491F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287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8天</a:t>
            </a:r>
          </a:p>
        </p:txBody>
      </p:sp>
      <p:sp>
        <p:nvSpPr>
          <p:cNvPr id="42" name="wait-year-0">
            <a:extLst xmlns:a="http://schemas.openxmlformats.org/drawingml/2006/main">
              <a:ext uri="{FF2B5EF4-FFF2-40B4-BE49-F238E27FC236}">
                <a16:creationId xmlns:a16="http://schemas.microsoft.com/office/drawing/2014/main" id="{A4ABA23D-E061-4559-90D2-91B5D570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339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43" name="wait-dot-1">
            <a:extLst xmlns:a="http://schemas.openxmlformats.org/drawingml/2006/main">
              <a:ext uri="{FF2B5EF4-FFF2-40B4-BE49-F238E27FC236}">
                <a16:creationId xmlns:a16="http://schemas.microsoft.com/office/drawing/2014/main" id="{CC11DD63-9C2D-48B9-A458-302F8FDD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57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86D"/>
            </a:solidFill>
            <a:prstDash val="solid"/>
          </a:ln>
        </p:spPr>
      </p:sp>
      <p:sp>
        <p:nvSpPr>
          <p:cNvPr id="44" name="wait-value-1">
            <a:extLst xmlns:a="http://schemas.openxmlformats.org/drawingml/2006/main">
              <a:ext uri="{FF2B5EF4-FFF2-40B4-BE49-F238E27FC236}">
                <a16:creationId xmlns:a16="http://schemas.microsoft.com/office/drawing/2014/main" id="{80B55CDF-0F88-410B-8F43-D6F0DEC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097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45" name="wait-year-1">
            <a:extLst xmlns:a="http://schemas.openxmlformats.org/drawingml/2006/main">
              <a:ext uri="{FF2B5EF4-FFF2-40B4-BE49-F238E27FC236}">
                <a16:creationId xmlns:a16="http://schemas.microsoft.com/office/drawing/2014/main" id="{8BE04D06-D42A-4AE7-8655-D07C6D4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339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2024</a:t>
            </a:r>
          </a:p>
        </p:txBody>
      </p:sp>
      <p:sp>
        <p:nvSpPr>
          <p:cNvPr id="46" name="wait-dot-2">
            <a:extLst xmlns:a="http://schemas.openxmlformats.org/drawingml/2006/main">
              <a:ext uri="{FF2B5EF4-FFF2-40B4-BE49-F238E27FC236}">
                <a16:creationId xmlns:a16="http://schemas.microsoft.com/office/drawing/2014/main" id="{EFA91518-743A-419F-9F82-BB36529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86D"/>
            </a:solidFill>
            <a:prstDash val="solid"/>
          </a:ln>
        </p:spPr>
      </p:sp>
      <p:sp>
        <p:nvSpPr>
          <p:cNvPr id="47" name="wait-value-2">
            <a:extLst xmlns:a="http://schemas.openxmlformats.org/drawingml/2006/main">
              <a:ext uri="{FF2B5EF4-FFF2-40B4-BE49-F238E27FC236}">
                <a16:creationId xmlns:a16="http://schemas.microsoft.com/office/drawing/2014/main" id="{44D756FE-D2C8-46CD-96AA-3202C175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9077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6天</a:t>
            </a:r>
          </a:p>
        </p:txBody>
      </p:sp>
      <p:sp>
        <p:nvSpPr>
          <p:cNvPr id="48" name="wait-year-2">
            <a:extLst xmlns:a="http://schemas.openxmlformats.org/drawingml/2006/main">
              <a:ext uri="{FF2B5EF4-FFF2-40B4-BE49-F238E27FC236}">
                <a16:creationId xmlns:a16="http://schemas.microsoft.com/office/drawing/2014/main" id="{B20221DB-BF17-4ADB-9BA4-1589909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339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49" name="wait-source">
            <a:extLst xmlns:a="http://schemas.openxmlformats.org/drawingml/2006/main">
              <a:ext uri="{FF2B5EF4-FFF2-40B4-BE49-F238E27FC236}">
                <a16:creationId xmlns:a16="http://schemas.microsoft.com/office/drawing/2014/main" id="{CEBF076F-FC4C-4EB7-BA9C-7E2A72F5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观察量：中位等待同步下降</a:t>
            </a:r>
          </a:p>
        </p:txBody>
      </p:sp>
      <p:sp>
        <p:nvSpPr>
          <p:cNvPr id="50" name="boundary-1">
            <a:extLst xmlns:a="http://schemas.openxmlformats.org/drawingml/2006/main">
              <a:ext uri="{FF2B5EF4-FFF2-40B4-BE49-F238E27FC236}">
                <a16:creationId xmlns:a16="http://schemas.microsoft.com/office/drawing/2014/main" id="{2A77D1DA-05B5-4AAA-BCA8-F36661D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1" name="boundary-1-text">
            <a:extLst xmlns:a="http://schemas.openxmlformats.org/drawingml/2006/main">
              <a:ext uri="{FF2B5EF4-FFF2-40B4-BE49-F238E27FC236}">
                <a16:creationId xmlns:a16="http://schemas.microsoft.com/office/drawing/2014/main" id="{263AF66E-17B9-45BA-8503-8980F80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如何解读：两项指标同时改善，但不证明任何单一措施造成改善。下一步按高峰时段与分设备等待拆分，避免平均值掩盖局部拥堵。</a:t>
            </a:r>
          </a:p>
        </p:txBody>
      </p:sp>
    </p:spTree>
    <p:extLst>
      <p:ext uri="{BB962C8B-B14F-4D97-AF65-F5344CB8AC3E}">
        <p14:creationId xmlns:p14="http://schemas.microsoft.com/office/powerpoint/2010/main" val="1502965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2">
            <a:extLst xmlns:a="http://schemas.openxmlformats.org/drawingml/2006/main">
              <a:ext uri="{FF2B5EF4-FFF2-40B4-BE49-F238E27FC236}">
                <a16:creationId xmlns:a16="http://schemas.microsoft.com/office/drawing/2014/main" id="{1BF45792-CACC-45DC-B68F-8D72FBF2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 /  模拟分析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29DC839-13E8-497C-A44B-28037F7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 / 04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FACE6AC8-123D-43B7-83B8-27D3F26B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53E446E7-9AF6-435A-A0C1-2B79B90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9B78DE26-DF4C-4AB9-B3F6-B487782B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大学平台管理团队  ·  02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9CBD779A-44DB-4313-9ECD-DD2E649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校内与校外的主要障碍不同，应分别设定优先顺序</a:t>
            </a:r>
          </a:p>
        </p:txBody>
      </p:sp>
      <p:sp>
        <p:nvSpPr>
          <p:cNvPr id="7" name="sub-2">
            <a:extLst xmlns:a="http://schemas.openxmlformats.org/drawingml/2006/main">
              <a:ext uri="{FF2B5EF4-FFF2-40B4-BE49-F238E27FC236}">
                <a16:creationId xmlns:a16="http://schemas.microsoft.com/office/drawing/2014/main" id="{1BB03B4B-5E68-462C-86F5-0CB2A86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模拟问卷多选：每组 n=100；百分比不相加为 100%</a:t>
            </a:r>
          </a:p>
        </p:txBody>
      </p:sp>
      <p:sp>
        <p:nvSpPr>
          <p:cNvPr id="8" name="legend-in">
            <a:extLst xmlns:a="http://schemas.openxmlformats.org/drawingml/2006/main">
              <a:ext uri="{FF2B5EF4-FFF2-40B4-BE49-F238E27FC236}">
                <a16:creationId xmlns:a16="http://schemas.microsoft.com/office/drawing/2014/main" id="{AF6DA630-7052-4DD0-9607-5A0F933D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校内用户</a:t>
            </a:r>
          </a:p>
        </p:txBody>
      </p:sp>
      <p:sp>
        <p:nvSpPr>
          <p:cNvPr id="9" name="legend-in-dot">
            <a:extLst xmlns:a="http://schemas.openxmlformats.org/drawingml/2006/main">
              <a:ext uri="{FF2B5EF4-FFF2-40B4-BE49-F238E27FC236}">
                <a16:creationId xmlns:a16="http://schemas.microsoft.com/office/drawing/2014/main" id="{2BA41D1E-CAB6-4FFE-9813-7BD95BA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1714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gend-out">
            <a:extLst xmlns:a="http://schemas.openxmlformats.org/drawingml/2006/main">
              <a:ext uri="{FF2B5EF4-FFF2-40B4-BE49-F238E27FC236}">
                <a16:creationId xmlns:a16="http://schemas.microsoft.com/office/drawing/2014/main" id="{BAA62DED-10FE-47D9-BA89-9A6B103F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校外用户</a:t>
            </a:r>
          </a:p>
        </p:txBody>
      </p:sp>
      <p:sp>
        <p:nvSpPr>
          <p:cNvPr id="11" name="legend-out-dot">
            <a:extLst xmlns:a="http://schemas.openxmlformats.org/drawingml/2006/main">
              <a:ext uri="{FF2B5EF4-FFF2-40B4-BE49-F238E27FC236}">
                <a16:creationId xmlns:a16="http://schemas.microsoft.com/office/drawing/2014/main" id="{5921BBC7-96B8-43B3-A765-96D754B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714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44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are-axis">
            <a:extLst xmlns:a="http://schemas.openxmlformats.org/drawingml/2006/main">
              <a:ext uri="{FF2B5EF4-FFF2-40B4-BE49-F238E27FC236}">
                <a16:creationId xmlns:a16="http://schemas.microsoft.com/office/drawing/2014/main" id="{587C36DC-3623-4B45-9E60-52E03C9D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13" name="left-scale">
            <a:extLst xmlns:a="http://schemas.openxmlformats.org/drawingml/2006/main">
              <a:ext uri="{FF2B5EF4-FFF2-40B4-BE49-F238E27FC236}">
                <a16:creationId xmlns:a16="http://schemas.microsoft.com/office/drawing/2014/main" id="{1FE3DEF1-A99A-41DB-888B-093DC27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19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14" name="left-scale-0">
            <a:extLst xmlns:a="http://schemas.openxmlformats.org/drawingml/2006/main">
              <a:ext uri="{FF2B5EF4-FFF2-40B4-BE49-F238E27FC236}">
                <a16:creationId xmlns:a16="http://schemas.microsoft.com/office/drawing/2014/main" id="{1644E639-A843-49EF-8D91-1FF3AAF3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right-scale-0">
            <a:extLst xmlns:a="http://schemas.openxmlformats.org/drawingml/2006/main">
              <a:ext uri="{FF2B5EF4-FFF2-40B4-BE49-F238E27FC236}">
                <a16:creationId xmlns:a16="http://schemas.microsoft.com/office/drawing/2014/main" id="{E88F901B-4998-4721-9D6C-D79112CD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right-scale">
            <a:extLst xmlns:a="http://schemas.openxmlformats.org/drawingml/2006/main">
              <a:ext uri="{FF2B5EF4-FFF2-40B4-BE49-F238E27FC236}">
                <a16:creationId xmlns:a16="http://schemas.microsoft.com/office/drawing/2014/main" id="{5B636450-D743-4A48-A901-664D1C2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193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17" name="row-line-0">
            <a:extLst xmlns:a="http://schemas.openxmlformats.org/drawingml/2006/main">
              <a:ext uri="{FF2B5EF4-FFF2-40B4-BE49-F238E27FC236}">
                <a16:creationId xmlns:a16="http://schemas.microsoft.com/office/drawing/2014/main" id="{5C0B5D75-A0F0-4F58-AC1B-1072C2BE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18" name="in-bar-0">
            <a:extLst xmlns:a="http://schemas.openxmlformats.org/drawingml/2006/main">
              <a:ext uri="{FF2B5EF4-FFF2-40B4-BE49-F238E27FC236}">
                <a16:creationId xmlns:a16="http://schemas.microsoft.com/office/drawing/2014/main" id="{98A12807-C709-446D-A0B5-458F049E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79" y="2438400"/>
            <a:ext cx="396512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4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ut-bar-0">
            <a:extLst xmlns:a="http://schemas.openxmlformats.org/drawingml/2006/main">
              <a:ext uri="{FF2B5EF4-FFF2-40B4-BE49-F238E27FC236}">
                <a16:creationId xmlns:a16="http://schemas.microsoft.com/office/drawing/2014/main" id="{F905EE87-9FC4-4FCC-9193-E3EA0F96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287791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-value-0">
            <a:extLst xmlns:a="http://schemas.openxmlformats.org/drawingml/2006/main">
              <a:ext uri="{FF2B5EF4-FFF2-40B4-BE49-F238E27FC236}">
                <a16:creationId xmlns:a16="http://schemas.microsoft.com/office/drawing/2014/main" id="{27E1912C-CC62-4269-BBAD-CBECC4B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429" y="24098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21" name="out-value-0">
            <a:extLst xmlns:a="http://schemas.openxmlformats.org/drawingml/2006/main">
              <a:ext uri="{FF2B5EF4-FFF2-40B4-BE49-F238E27FC236}">
                <a16:creationId xmlns:a16="http://schemas.microsoft.com/office/drawing/2014/main" id="{5518D52B-7035-4669-ADA0-D1D36969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111" y="24098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2" name="row-label-bg-0">
            <a:extLst xmlns:a="http://schemas.openxmlformats.org/drawingml/2006/main">
              <a:ext uri="{FF2B5EF4-FFF2-40B4-BE49-F238E27FC236}">
                <a16:creationId xmlns:a16="http://schemas.microsoft.com/office/drawing/2014/main" id="{A0DD45F9-1730-4699-B892-74C8AE5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71725"/>
            <a:ext cx="23812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ow-label-0">
            <a:extLst xmlns:a="http://schemas.openxmlformats.org/drawingml/2006/main">
              <a:ext uri="{FF2B5EF4-FFF2-40B4-BE49-F238E27FC236}">
                <a16:creationId xmlns:a16="http://schemas.microsoft.com/office/drawing/2014/main" id="{C982B7B8-72A8-42C4-8826-D3DEDE83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24" name="row-line-1">
            <a:extLst xmlns:a="http://schemas.openxmlformats.org/drawingml/2006/main">
              <a:ext uri="{FF2B5EF4-FFF2-40B4-BE49-F238E27FC236}">
                <a16:creationId xmlns:a16="http://schemas.microsoft.com/office/drawing/2014/main" id="{FE54CD23-E986-4852-83C9-6C35E0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25" name="in-bar-1">
            <a:extLst xmlns:a="http://schemas.openxmlformats.org/drawingml/2006/main">
              <a:ext uri="{FF2B5EF4-FFF2-40B4-BE49-F238E27FC236}">
                <a16:creationId xmlns:a16="http://schemas.microsoft.com/office/drawing/2014/main" id="{1EE3D07E-4F54-4FE7-826D-B0DEE778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229" y="3248025"/>
            <a:ext cx="3069771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ut-bar-1">
            <a:extLst xmlns:a="http://schemas.openxmlformats.org/drawingml/2006/main">
              <a:ext uri="{FF2B5EF4-FFF2-40B4-BE49-F238E27FC236}">
                <a16:creationId xmlns:a16="http://schemas.microsoft.com/office/drawing/2014/main" id="{2628DB08-A49E-451F-B95A-28EEFA25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48025"/>
            <a:ext cx="4156982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4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n-value-1">
            <a:extLst xmlns:a="http://schemas.openxmlformats.org/drawingml/2006/main">
              <a:ext uri="{FF2B5EF4-FFF2-40B4-BE49-F238E27FC236}">
                <a16:creationId xmlns:a16="http://schemas.microsoft.com/office/drawing/2014/main" id="{6E37379C-9834-4922-AB28-0D18DA5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779" y="3219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28" name="out-value-1">
            <a:extLst xmlns:a="http://schemas.openxmlformats.org/drawingml/2006/main">
              <a:ext uri="{FF2B5EF4-FFF2-40B4-BE49-F238E27FC236}">
                <a16:creationId xmlns:a16="http://schemas.microsoft.com/office/drawing/2014/main" id="{E27967EF-263D-49F1-B88B-356242C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182" y="32194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29" name="row-label-bg-1">
            <a:extLst xmlns:a="http://schemas.openxmlformats.org/drawingml/2006/main">
              <a:ext uri="{FF2B5EF4-FFF2-40B4-BE49-F238E27FC236}">
                <a16:creationId xmlns:a16="http://schemas.microsoft.com/office/drawing/2014/main" id="{9E8CDAAE-14E4-4AB9-94B8-BF38F69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81350"/>
            <a:ext cx="23812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ow-label-1">
            <a:extLst xmlns:a="http://schemas.openxmlformats.org/drawingml/2006/main">
              <a:ext uri="{FF2B5EF4-FFF2-40B4-BE49-F238E27FC236}">
                <a16:creationId xmlns:a16="http://schemas.microsoft.com/office/drawing/2014/main" id="{FE390476-CDF3-4D14-87F9-5DCF1DE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90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31" name="row-line-2">
            <a:extLst xmlns:a="http://schemas.openxmlformats.org/drawingml/2006/main">
              <a:ext uri="{FF2B5EF4-FFF2-40B4-BE49-F238E27FC236}">
                <a16:creationId xmlns:a16="http://schemas.microsoft.com/office/drawing/2014/main" id="{76E253B2-813F-4BE3-A4E7-7808AFA8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2" name="in-bar-2">
            <a:extLst xmlns:a="http://schemas.openxmlformats.org/drawingml/2006/main">
              <a:ext uri="{FF2B5EF4-FFF2-40B4-BE49-F238E27FC236}">
                <a16:creationId xmlns:a16="http://schemas.microsoft.com/office/drawing/2014/main" id="{45E79D46-BAA4-417D-B294-1553B9EB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17907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out-bar-2">
            <a:extLst xmlns:a="http://schemas.openxmlformats.org/drawingml/2006/main">
              <a:ext uri="{FF2B5EF4-FFF2-40B4-BE49-F238E27FC236}">
                <a16:creationId xmlns:a16="http://schemas.microsoft.com/office/drawing/2014/main" id="{7DE2E03A-8769-4D00-AAC9-C166AED9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3709307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48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-value-2">
            <a:extLst xmlns:a="http://schemas.openxmlformats.org/drawingml/2006/main">
              <a:ext uri="{FF2B5EF4-FFF2-40B4-BE49-F238E27FC236}">
                <a16:creationId xmlns:a16="http://schemas.microsoft.com/office/drawing/2014/main" id="{2738CF2A-B7CC-463B-A7B9-CCBCE37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290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35" name="out-value-2">
            <a:extLst xmlns:a="http://schemas.openxmlformats.org/drawingml/2006/main">
              <a:ext uri="{FF2B5EF4-FFF2-40B4-BE49-F238E27FC236}">
                <a16:creationId xmlns:a16="http://schemas.microsoft.com/office/drawing/2014/main" id="{CDB4D817-4649-4D25-9A9F-1A8825B1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507" y="40290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36" name="row-label-bg-2">
            <a:extLst xmlns:a="http://schemas.openxmlformats.org/drawingml/2006/main">
              <a:ext uri="{FF2B5EF4-FFF2-40B4-BE49-F238E27FC236}">
                <a16:creationId xmlns:a16="http://schemas.microsoft.com/office/drawing/2014/main" id="{1D774160-967C-43E2-B23E-1DE53DBD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90975"/>
            <a:ext cx="23812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583BAEF-3F69-4808-BF79-6CAC0D94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38" name="row-line-3">
            <a:extLst xmlns:a="http://schemas.openxmlformats.org/drawingml/2006/main">
              <a:ext uri="{FF2B5EF4-FFF2-40B4-BE49-F238E27FC236}">
                <a16:creationId xmlns:a16="http://schemas.microsoft.com/office/drawing/2014/main" id="{2F643B10-5CB5-4D77-A2F7-8E7DDAE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9" name="in-bar-3">
            <a:extLst xmlns:a="http://schemas.openxmlformats.org/drawingml/2006/main">
              <a:ext uri="{FF2B5EF4-FFF2-40B4-BE49-F238E27FC236}">
                <a16:creationId xmlns:a16="http://schemas.microsoft.com/office/drawing/2014/main" id="{9C1BAD30-FE28-4164-810E-EF657F9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043" y="4867275"/>
            <a:ext cx="2813957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ut-bar-3">
            <a:extLst xmlns:a="http://schemas.openxmlformats.org/drawingml/2006/main">
              <a:ext uri="{FF2B5EF4-FFF2-40B4-BE49-F238E27FC236}">
                <a16:creationId xmlns:a16="http://schemas.microsoft.com/office/drawing/2014/main" id="{C82975B4-512F-4150-8D72-ED7A1893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2046514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n-value-3">
            <a:extLst xmlns:a="http://schemas.openxmlformats.org/drawingml/2006/main">
              <a:ext uri="{FF2B5EF4-FFF2-40B4-BE49-F238E27FC236}">
                <a16:creationId xmlns:a16="http://schemas.microsoft.com/office/drawing/2014/main" id="{155A6EB9-EF15-4CFD-AC37-1FAC45C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593" y="4838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42" name="out-value-3">
            <a:extLst xmlns:a="http://schemas.openxmlformats.org/drawingml/2006/main">
              <a:ext uri="{FF2B5EF4-FFF2-40B4-BE49-F238E27FC236}">
                <a16:creationId xmlns:a16="http://schemas.microsoft.com/office/drawing/2014/main" id="{C09D7E50-E57C-41A3-A4CE-199012BA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14" y="4838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43" name="row-label-bg-3">
            <a:extLst xmlns:a="http://schemas.openxmlformats.org/drawingml/2006/main">
              <a:ext uri="{FF2B5EF4-FFF2-40B4-BE49-F238E27FC236}">
                <a16:creationId xmlns:a16="http://schemas.microsoft.com/office/drawing/2014/main" id="{20AA43B5-DB0A-4F1A-9DFB-D249637F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23812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row-label-3">
            <a:extLst xmlns:a="http://schemas.openxmlformats.org/drawingml/2006/main">
              <a:ext uri="{FF2B5EF4-FFF2-40B4-BE49-F238E27FC236}">
                <a16:creationId xmlns:a16="http://schemas.microsoft.com/office/drawing/2014/main" id="{9DEABD3F-45C9-47F2-9716-F50BAFA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10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操作培训不足</a:t>
            </a:r>
          </a:p>
        </p:txBody>
      </p:sp>
      <p:sp>
        <p:nvSpPr>
          <p:cNvPr id="45" name="judgment-2">
            <a:extLst xmlns:a="http://schemas.openxmlformats.org/drawingml/2006/main">
              <a:ext uri="{FF2B5EF4-FFF2-40B4-BE49-F238E27FC236}">
                <a16:creationId xmlns:a16="http://schemas.microsoft.com/office/drawing/2014/main" id="{6872EC16-D37B-4852-86AC-D1D8D944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6" name="judgment-2-text">
            <a:extLst xmlns:a="http://schemas.openxmlformats.org/drawingml/2006/main">
              <a:ext uri="{FF2B5EF4-FFF2-40B4-BE49-F238E27FC236}">
                <a16:creationId xmlns:a16="http://schemas.microsoft.com/office/drawing/2014/main" id="{296B8BAF-2751-47BF-B46E-F127ABC3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8167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判断：校内优先关注时段供给；校外优先关注审批与费用说明。</a:t>
            </a:r>
          </a:p>
        </p:txBody>
      </p:sp>
    </p:spTree>
    <p:extLst>
      <p:ext uri="{BB962C8B-B14F-4D97-AF65-F5344CB8AC3E}">
        <p14:creationId xmlns:p14="http://schemas.microsoft.com/office/powerpoint/2010/main" val="756497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-3">
            <a:extLst xmlns:a="http://schemas.openxmlformats.org/drawingml/2006/main">
              <a:ext uri="{FF2B5EF4-FFF2-40B4-BE49-F238E27FC236}">
                <a16:creationId xmlns:a16="http://schemas.microsoft.com/office/drawing/2014/main" id="{7BED15F5-14E4-47AA-A001-DDC23BBD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 /  模拟分析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FB73E2A9-83F7-4839-AF07-A324C08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 / 04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FF5F71C-0DD5-4462-8B5B-2BC4CD7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F112DDCD-1FF8-41EC-927E-41ED2F1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CE2676C-0784-44B5-943D-3DEA05F2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大学平台管理团队  ·  03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4721F46A-5AFE-468E-82FB-239A382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三阶段试点按可观察的管理动作推进，不预设改善曲线</a:t>
            </a:r>
          </a:p>
        </p:txBody>
      </p:sp>
      <p:sp>
        <p:nvSpPr>
          <p:cNvPr id="7" name="sub-3">
            <a:extLst xmlns:a="http://schemas.openxmlformats.org/drawingml/2006/main">
              <a:ext uri="{FF2B5EF4-FFF2-40B4-BE49-F238E27FC236}">
                <a16:creationId xmlns:a16="http://schemas.microsoft.com/office/drawing/2014/main" id="{B091ED90-2C8C-429F-9629-CDBFF4F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阶段有先后；指标用于观察，不写入预设数值目标</a:t>
            </a:r>
          </a:p>
        </p:txBody>
      </p:sp>
      <p:sp>
        <p:nvSpPr>
          <p:cNvPr id="8" name="flow-1">
            <a:extLst xmlns:a="http://schemas.openxmlformats.org/drawingml/2006/main">
              <a:ext uri="{FF2B5EF4-FFF2-40B4-BE49-F238E27FC236}">
                <a16:creationId xmlns:a16="http://schemas.microsoft.com/office/drawing/2014/main" id="{80CCF08F-5BB3-4D09-ADE7-E2F25A4E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672C16CD-4A57-458B-BE41-E9DFD5E0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F91"/>
            </a:solidFill>
            <a:prstDash val="solid"/>
          </a:ln>
        </p:spPr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195AB3CE-2124-482A-A897-48044A10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24765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72C49455-C579-4AD5-96E3-78733000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24765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0">
            <a:extLst xmlns:a="http://schemas.openxmlformats.org/drawingml/2006/main">
              <a:ext uri="{FF2B5EF4-FFF2-40B4-BE49-F238E27FC236}">
                <a16:creationId xmlns:a16="http://schemas.microsoft.com/office/drawing/2014/main" id="{35B866E1-D197-4C7D-9F6A-67EA21E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24150" cy="29527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3" name="stage-top-0">
            <a:extLst xmlns:a="http://schemas.openxmlformats.org/drawingml/2006/main">
              <a:ext uri="{FF2B5EF4-FFF2-40B4-BE49-F238E27FC236}">
                <a16:creationId xmlns:a16="http://schemas.microsoft.com/office/drawing/2014/main" id="{DBEF86A3-680F-40D7-9A4D-A3287ABE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724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809DD7D2-31B4-448E-B8E8-3373A66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28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stage-number-text-0">
            <a:extLst xmlns:a="http://schemas.openxmlformats.org/drawingml/2006/main">
              <a:ext uri="{FF2B5EF4-FFF2-40B4-BE49-F238E27FC236}">
                <a16:creationId xmlns:a16="http://schemas.microsoft.com/office/drawing/2014/main" id="{4CB8165A-7296-409E-8C4B-2526BAB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76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59069374-5BC0-4600-B666-D27FA755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17" name="stage-divider-0">
            <a:extLst xmlns:a="http://schemas.openxmlformats.org/drawingml/2006/main">
              <a:ext uri="{FF2B5EF4-FFF2-40B4-BE49-F238E27FC236}">
                <a16:creationId xmlns:a16="http://schemas.microsoft.com/office/drawing/2014/main" id="{1D06443A-66BA-4E5B-863D-31135BC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18" name="stage-action-label-0">
            <a:extLst xmlns:a="http://schemas.openxmlformats.org/drawingml/2006/main">
              <a:ext uri="{FF2B5EF4-FFF2-40B4-BE49-F238E27FC236}">
                <a16:creationId xmlns:a16="http://schemas.microsoft.com/office/drawing/2014/main" id="{A4BE73EE-ED47-47F9-A307-435F178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9" name="stage-action-0">
            <a:extLst xmlns:a="http://schemas.openxmlformats.org/drawingml/2006/main">
              <a:ext uri="{FF2B5EF4-FFF2-40B4-BE49-F238E27FC236}">
                <a16:creationId xmlns:a16="http://schemas.microsoft.com/office/drawing/2014/main" id="{BD80E2F3-5D22-40F6-825E-19679770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统一设备与时段目录</a:t>
            </a:r>
          </a:p>
        </p:txBody>
      </p:sp>
      <p:sp>
        <p:nvSpPr>
          <p:cNvPr id="20" name="stage-ind-label-0">
            <a:extLst xmlns:a="http://schemas.openxmlformats.org/drawingml/2006/main">
              <a:ext uri="{FF2B5EF4-FFF2-40B4-BE49-F238E27FC236}">
                <a16:creationId xmlns:a16="http://schemas.microsoft.com/office/drawing/2014/main" id="{36D6E3D1-011C-4100-A914-87AC7E1A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1" name="stage-ind-0">
            <a:extLst xmlns:a="http://schemas.openxmlformats.org/drawingml/2006/main">
              <a:ext uri="{FF2B5EF4-FFF2-40B4-BE49-F238E27FC236}">
                <a16:creationId xmlns:a16="http://schemas.microsoft.com/office/drawing/2014/main" id="{934A3AE1-A103-40B5-B898-8EA6364B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观察：信息完整率</a:t>
            </a:r>
          </a:p>
        </p:txBody>
      </p:sp>
      <p:sp>
        <p:nvSpPr>
          <p:cNvPr id="22" name="stage-1">
            <a:extLst xmlns:a="http://schemas.openxmlformats.org/drawingml/2006/main">
              <a:ext uri="{FF2B5EF4-FFF2-40B4-BE49-F238E27FC236}">
                <a16:creationId xmlns:a16="http://schemas.microsoft.com/office/drawing/2014/main" id="{D95592C1-8EBD-4900-A962-8530A26F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2724150" cy="29527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3" name="stage-top-1">
            <a:extLst xmlns:a="http://schemas.openxmlformats.org/drawingml/2006/main">
              <a:ext uri="{FF2B5EF4-FFF2-40B4-BE49-F238E27FC236}">
                <a16:creationId xmlns:a16="http://schemas.microsoft.com/office/drawing/2014/main" id="{84EB8FFB-59E6-4943-81AC-E18A966F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95500"/>
            <a:ext cx="2724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F7E6EEC0-11FF-49D6-94B1-391A9CFF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28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stage-number-text-1">
            <a:extLst xmlns:a="http://schemas.openxmlformats.org/drawingml/2006/main">
              <a:ext uri="{FF2B5EF4-FFF2-40B4-BE49-F238E27FC236}">
                <a16:creationId xmlns:a16="http://schemas.microsoft.com/office/drawing/2014/main" id="{F93B4100-18F5-48CA-B0DF-4A7C3896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76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6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42A64BC-815F-49A9-92C7-54D93FF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明确审批责任</a:t>
            </a:r>
          </a:p>
        </p:txBody>
      </p:sp>
      <p:sp>
        <p:nvSpPr>
          <p:cNvPr id="27" name="stage-divider-1">
            <a:extLst xmlns:a="http://schemas.openxmlformats.org/drawingml/2006/main">
              <a:ext uri="{FF2B5EF4-FFF2-40B4-BE49-F238E27FC236}">
                <a16:creationId xmlns:a16="http://schemas.microsoft.com/office/drawing/2014/main" id="{2F96EA33-9012-4A00-B9F0-AA3C0CEF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9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28" name="stage-action-label-1">
            <a:extLst xmlns:a="http://schemas.openxmlformats.org/drawingml/2006/main">
              <a:ext uri="{FF2B5EF4-FFF2-40B4-BE49-F238E27FC236}">
                <a16:creationId xmlns:a16="http://schemas.microsoft.com/office/drawing/2014/main" id="{DD985A88-9A0A-4D4A-A47E-1AF879A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38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9" name="stage-action-1">
            <a:extLst xmlns:a="http://schemas.openxmlformats.org/drawingml/2006/main">
              <a:ext uri="{FF2B5EF4-FFF2-40B4-BE49-F238E27FC236}">
                <a16:creationId xmlns:a16="http://schemas.microsoft.com/office/drawing/2014/main" id="{87F43970-E869-4C67-8919-AE3A5615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147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责任人与时限表</a:t>
            </a:r>
          </a:p>
        </p:txBody>
      </p:sp>
      <p:sp>
        <p:nvSpPr>
          <p:cNvPr id="30" name="stage-ind-label-1">
            <a:extLst xmlns:a="http://schemas.openxmlformats.org/drawingml/2006/main">
              <a:ext uri="{FF2B5EF4-FFF2-40B4-BE49-F238E27FC236}">
                <a16:creationId xmlns:a16="http://schemas.microsoft.com/office/drawing/2014/main" id="{E29E81D7-90B9-49FD-AF60-6BB946B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31" name="stage-ind-1">
            <a:extLst xmlns:a="http://schemas.openxmlformats.org/drawingml/2006/main">
              <a:ext uri="{FF2B5EF4-FFF2-40B4-BE49-F238E27FC236}">
                <a16:creationId xmlns:a16="http://schemas.microsoft.com/office/drawing/2014/main" id="{EE63A41E-E72B-4668-9953-355666A1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243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观察：审批时长</a:t>
            </a:r>
          </a:p>
        </p:txBody>
      </p:sp>
      <p:sp>
        <p:nvSpPr>
          <p:cNvPr id="32" name="stage-2">
            <a:extLst xmlns:a="http://schemas.openxmlformats.org/drawingml/2006/main">
              <a:ext uri="{FF2B5EF4-FFF2-40B4-BE49-F238E27FC236}">
                <a16:creationId xmlns:a16="http://schemas.microsoft.com/office/drawing/2014/main" id="{4313B3D4-CB09-4835-BD08-AA4A99D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2724150" cy="2952750"/>
          </a:xfrm>
          <a:prstGeom xmlns:a="http://schemas.openxmlformats.org/drawingml/2006/main" prst="roundRect">
            <a:avLst>
              <a:gd name="adj" fmla="val 34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3" name="stage-top-2">
            <a:extLst xmlns:a="http://schemas.openxmlformats.org/drawingml/2006/main">
              <a:ext uri="{FF2B5EF4-FFF2-40B4-BE49-F238E27FC236}">
                <a16:creationId xmlns:a16="http://schemas.microsoft.com/office/drawing/2014/main" id="{D2456046-B56F-4EFB-8008-18A1D99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27241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F74E9F45-E813-46FE-8D17-82B7F82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stage-number-text-2">
            <a:extLst xmlns:a="http://schemas.openxmlformats.org/drawingml/2006/main">
              <a:ext uri="{FF2B5EF4-FFF2-40B4-BE49-F238E27FC236}">
                <a16:creationId xmlns:a16="http://schemas.microsoft.com/office/drawing/2014/main" id="{93454E18-3EE8-4486-A232-80AFD432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765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C63169E-3A42-4449-8581-44DC8CD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发布说明</a:t>
            </a:r>
          </a:p>
        </p:txBody>
      </p:sp>
      <p:sp>
        <p:nvSpPr>
          <p:cNvPr id="37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8D8C6AB9-4F41-4598-BE9D-FC498F87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8" name="stage-action-label-2">
            <a:extLst xmlns:a="http://schemas.openxmlformats.org/drawingml/2006/main">
              <a:ext uri="{FF2B5EF4-FFF2-40B4-BE49-F238E27FC236}">
                <a16:creationId xmlns:a16="http://schemas.microsoft.com/office/drawing/2014/main" id="{B1CEBF9F-6F44-49E0-9389-EF2B7E07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9" name="stage-action-2">
            <a:extLst xmlns:a="http://schemas.openxmlformats.org/drawingml/2006/main">
              <a:ext uri="{FF2B5EF4-FFF2-40B4-BE49-F238E27FC236}">
                <a16:creationId xmlns:a16="http://schemas.microsoft.com/office/drawing/2014/main" id="{A53D8B3E-9228-45C7-BD76-D5B0E0E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费用清单及培训入口</a:t>
            </a:r>
          </a:p>
        </p:txBody>
      </p:sp>
      <p:sp>
        <p:nvSpPr>
          <p:cNvPr id="40" name="stage-ind-label-2">
            <a:extLst xmlns:a="http://schemas.openxmlformats.org/drawingml/2006/main">
              <a:ext uri="{FF2B5EF4-FFF2-40B4-BE49-F238E27FC236}">
                <a16:creationId xmlns:a16="http://schemas.microsoft.com/office/drawing/2014/main" id="{49425A7D-FD2A-4BDA-B9DC-4AD432A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41" name="stage-ind-2">
            <a:extLst xmlns:a="http://schemas.openxmlformats.org/drawingml/2006/main">
              <a:ext uri="{FF2B5EF4-FFF2-40B4-BE49-F238E27FC236}">
                <a16:creationId xmlns:a16="http://schemas.microsoft.com/office/drawing/2014/main" id="{8E6F3082-AF52-49B8-9CE1-51C80F4B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观察：重复咨询量</a:t>
            </a:r>
          </a:p>
        </p:txBody>
      </p:sp>
      <p:sp>
        <p:nvSpPr>
          <p:cNvPr id="42" name="condition-3">
            <a:extLst xmlns:a="http://schemas.openxmlformats.org/drawingml/2006/main">
              <a:ext uri="{FF2B5EF4-FFF2-40B4-BE49-F238E27FC236}">
                <a16:creationId xmlns:a16="http://schemas.microsoft.com/office/drawing/2014/main" id="{8133C797-1E73-4459-A98F-79767A0C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112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3" name="condition-3">
            <a:extLst xmlns:a="http://schemas.openxmlformats.org/drawingml/2006/main">
              <a:ext uri="{FF2B5EF4-FFF2-40B4-BE49-F238E27FC236}">
                <a16:creationId xmlns:a16="http://schemas.microsoft.com/office/drawing/2014/main" id="{9C599D9A-C811-4DE4-8422-A7FAACB4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推进门槛：每阶段仅在记录完整、责任明确后推进，由平台负责人确认。</a:t>
            </a:r>
          </a:p>
        </p:txBody>
      </p:sp>
      <p:sp>
        <p:nvSpPr>
          <p:cNvPr id="44" name="exception-3">
            <a:extLst xmlns:a="http://schemas.openxmlformats.org/drawingml/2006/main">
              <a:ext uri="{FF2B5EF4-FFF2-40B4-BE49-F238E27FC236}">
                <a16:creationId xmlns:a16="http://schemas.microsoft.com/office/drawing/2014/main" id="{CF4DE058-A465-4445-9BBF-DE6B00A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授权例外：涉及新访问授权时暂停共享；授权处理后恢复。</a:t>
            </a:r>
          </a:p>
        </p:txBody>
      </p:sp>
    </p:spTree>
    <p:extLst>
      <p:ext uri="{BB962C8B-B14F-4D97-AF65-F5344CB8AC3E}">
        <p14:creationId xmlns:p14="http://schemas.microsoft.com/office/powerpoint/2010/main" val="1271179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-4">
            <a:extLst xmlns:a="http://schemas.openxmlformats.org/drawingml/2006/main">
              <a:ext uri="{FF2B5EF4-FFF2-40B4-BE49-F238E27FC236}">
                <a16:creationId xmlns:a16="http://schemas.microsoft.com/office/drawing/2014/main" id="{A0C5307B-4E06-4FDD-A4CC-17BB7F2D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大学共享仪器服务改进  /  模拟分析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5AF4D29-185A-44F4-9FB6-5957107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 / 04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DF5C8100-D968-48C5-8FAC-E826DA96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27F7B5CF-2ED6-4B0A-9772-924FE64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模拟数据，仅用于方案讨论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1F73250-27AF-4A78-B9F0-F5A81A4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大学平台管理团队  ·  04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692D3915-2A09-406A-8399-2ABCB24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400" b="1">
                <a:solidFill>
                  <a:srgbClr val="2B2B2B"/>
                </a:solidFill>
                <a:latin typeface="HYWenRunSongYun U"/>
                <a:ea typeface="HYWenRunSongYun U"/>
                <a:cs typeface="HYWenRunSongYun U"/>
              </a:rPr>
              <a:t>诊断矩阵把辅导投入引向高频高支持场景</a:t>
            </a:r>
          </a:p>
        </p:txBody>
      </p:sp>
      <p:sp>
        <p:nvSpPr>
          <p:cNvPr id="7" name="sub-4">
            <a:extLst xmlns:a="http://schemas.openxmlformats.org/drawingml/2006/main">
              <a:ext uri="{FF2B5EF4-FFF2-40B4-BE49-F238E27FC236}">
                <a16:creationId xmlns:a16="http://schemas.microsoft.com/office/drawing/2014/main" id="{0F3B9637-8DF9-4BBC-8656-39E3683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预约频次指数 × 操作支持需求指数（均为 0—100；50 为本次讨论分界）</a:t>
            </a:r>
          </a:p>
        </p:txBody>
      </p:sp>
      <p:sp>
        <p:nvSpPr>
          <p:cNvPr id="8" name="plot-bg">
            <a:extLst xmlns:a="http://schemas.openxmlformats.org/drawingml/2006/main">
              <a:ext uri="{FF2B5EF4-FFF2-40B4-BE49-F238E27FC236}">
                <a16:creationId xmlns:a16="http://schemas.microsoft.com/office/drawing/2014/main" id="{1A716B36-B252-41DC-B7A0-7B9F9DF5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5905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9" name="matrix-mid-x">
            <a:extLst xmlns:a="http://schemas.openxmlformats.org/drawingml/2006/main">
              <a:ext uri="{FF2B5EF4-FFF2-40B4-BE49-F238E27FC236}">
                <a16:creationId xmlns:a16="http://schemas.microsoft.com/office/drawing/2014/main" id="{877C8F2E-D7ED-4BF8-BF81-2BEA0F0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matrix-mid-y">
            <a:extLst xmlns:a="http://schemas.openxmlformats.org/drawingml/2006/main">
              <a:ext uri="{FF2B5EF4-FFF2-40B4-BE49-F238E27FC236}">
                <a16:creationId xmlns:a16="http://schemas.microsoft.com/office/drawing/2014/main" id="{7D329E1D-F55C-4F80-86E9-76C7FB88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x-axis">
            <a:extLst xmlns:a="http://schemas.openxmlformats.org/drawingml/2006/main">
              <a:ext uri="{FF2B5EF4-FFF2-40B4-BE49-F238E27FC236}">
                <a16:creationId xmlns:a16="http://schemas.microsoft.com/office/drawing/2014/main" id="{28A5C430-E55A-49CE-A8E9-80F0DB2F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12" name="y-axis">
            <a:extLst xmlns:a="http://schemas.openxmlformats.org/drawingml/2006/main">
              <a:ext uri="{FF2B5EF4-FFF2-40B4-BE49-F238E27FC236}">
                <a16:creationId xmlns:a16="http://schemas.microsoft.com/office/drawing/2014/main" id="{A4011B5A-0A41-48B8-AAB2-85E0CF7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2B2B"/>
            </a:solidFill>
            <a:prstDash val="solid"/>
          </a:ln>
        </p:spPr>
      </p:sp>
      <p:sp>
        <p:nvSpPr>
          <p:cNvPr id="13" name="x-label-0">
            <a:extLst xmlns:a="http://schemas.openxmlformats.org/drawingml/2006/main">
              <a:ext uri="{FF2B5EF4-FFF2-40B4-BE49-F238E27FC236}">
                <a16:creationId xmlns:a16="http://schemas.microsoft.com/office/drawing/2014/main" id="{5373285D-709B-4B0F-A8C5-4EF97897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53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" name="y-label-0">
            <a:extLst xmlns:a="http://schemas.openxmlformats.org/drawingml/2006/main">
              <a:ext uri="{FF2B5EF4-FFF2-40B4-BE49-F238E27FC236}">
                <a16:creationId xmlns:a16="http://schemas.microsoft.com/office/drawing/2014/main" id="{177730CA-AB12-4BC1-93E2-1E281DD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x-label-50">
            <a:extLst xmlns:a="http://schemas.openxmlformats.org/drawingml/2006/main">
              <a:ext uri="{FF2B5EF4-FFF2-40B4-BE49-F238E27FC236}">
                <a16:creationId xmlns:a16="http://schemas.microsoft.com/office/drawing/2014/main" id="{7D41D1D8-F48B-46B4-A52A-09B5B91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53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6" name="y-label-50">
            <a:extLst xmlns:a="http://schemas.openxmlformats.org/drawingml/2006/main">
              <a:ext uri="{FF2B5EF4-FFF2-40B4-BE49-F238E27FC236}">
                <a16:creationId xmlns:a16="http://schemas.microsoft.com/office/drawing/2014/main" id="{0BE8C380-FFEA-47DB-B085-1F29EBD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17" name="x-label-100">
            <a:extLst xmlns:a="http://schemas.openxmlformats.org/drawingml/2006/main">
              <a:ext uri="{FF2B5EF4-FFF2-40B4-BE49-F238E27FC236}">
                <a16:creationId xmlns:a16="http://schemas.microsoft.com/office/drawing/2014/main" id="{7391C8B8-AB47-45CD-A321-179D9AE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53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8" name="y-label-100">
            <a:extLst xmlns:a="http://schemas.openxmlformats.org/drawingml/2006/main">
              <a:ext uri="{FF2B5EF4-FFF2-40B4-BE49-F238E27FC236}">
                <a16:creationId xmlns:a16="http://schemas.microsoft.com/office/drawing/2014/main" id="{96C5BCA4-7798-4582-861A-A510939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9" name="x-title">
            <a:extLst xmlns:a="http://schemas.openxmlformats.org/drawingml/2006/main">
              <a:ext uri="{FF2B5EF4-FFF2-40B4-BE49-F238E27FC236}">
                <a16:creationId xmlns:a16="http://schemas.microsoft.com/office/drawing/2014/main" id="{281B1C0A-62BE-457F-8CC1-42BEF278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67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预约频次指数</a:t>
            </a:r>
          </a:p>
        </p:txBody>
      </p:sp>
      <p:sp>
        <p:nvSpPr>
          <p:cNvPr id="20" name="y-title">
            <a:extLst xmlns:a="http://schemas.openxmlformats.org/drawingml/2006/main">
              <a:ext uri="{FF2B5EF4-FFF2-40B4-BE49-F238E27FC236}">
                <a16:creationId xmlns:a16="http://schemas.microsoft.com/office/drawing/2014/main" id="{6CA9D77C-9637-4A67-A46D-32CA9532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76550"/>
            <a:ext cx="2286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操作支持需求指数</a:t>
            </a:r>
          </a:p>
        </p:txBody>
      </p:sp>
      <p:sp>
        <p:nvSpPr>
          <p:cNvPr id="21" name="q-hh">
            <a:extLst xmlns:a="http://schemas.openxmlformats.org/drawingml/2006/main">
              <a:ext uri="{FF2B5EF4-FFF2-40B4-BE49-F238E27FC236}">
                <a16:creationId xmlns:a16="http://schemas.microsoft.com/office/drawing/2014/main" id="{E53E7DD2-98AF-41F8-AC22-976D881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高频 / 高支持</a:t>
            </a:r>
          </a:p>
        </p:txBody>
      </p:sp>
      <p:sp>
        <p:nvSpPr>
          <p:cNvPr id="22" name="q-hl">
            <a:extLst xmlns:a="http://schemas.openxmlformats.org/drawingml/2006/main">
              <a:ext uri="{FF2B5EF4-FFF2-40B4-BE49-F238E27FC236}">
                <a16:creationId xmlns:a16="http://schemas.microsoft.com/office/drawing/2014/main" id="{229BF1EC-70D7-4DCA-B16D-2CF6646A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81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高频 / 低支持</a:t>
            </a:r>
          </a:p>
        </p:txBody>
      </p:sp>
      <p:sp>
        <p:nvSpPr>
          <p:cNvPr id="23" name="q-lh">
            <a:extLst xmlns:a="http://schemas.openxmlformats.org/drawingml/2006/main">
              <a:ext uri="{FF2B5EF4-FFF2-40B4-BE49-F238E27FC236}">
                <a16:creationId xmlns:a16="http://schemas.microsoft.com/office/drawing/2014/main" id="{F2AFB483-1297-4028-B0D1-0AF3872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9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低频 / 高支持</a:t>
            </a:r>
          </a:p>
        </p:txBody>
      </p:sp>
      <p:sp>
        <p:nvSpPr>
          <p:cNvPr id="24" name="q-ll">
            <a:extLst xmlns:a="http://schemas.openxmlformats.org/drawingml/2006/main">
              <a:ext uri="{FF2B5EF4-FFF2-40B4-BE49-F238E27FC236}">
                <a16:creationId xmlns:a16="http://schemas.microsoft.com/office/drawing/2014/main" id="{22C99BB1-0567-488D-A79D-F1B20D6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81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低频 / 低支持</a:t>
            </a:r>
          </a:p>
        </p:txBody>
      </p:sp>
      <p:sp>
        <p:nvSpPr>
          <p:cNvPr id="25" name="device-0">
            <a:extLst xmlns:a="http://schemas.openxmlformats.org/drawingml/2006/main">
              <a:ext uri="{FF2B5EF4-FFF2-40B4-BE49-F238E27FC236}">
                <a16:creationId xmlns:a16="http://schemas.microsoft.com/office/drawing/2014/main" id="{3F8CB05E-F091-40D4-B15D-F2A5777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19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86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device-label-0">
            <a:extLst xmlns:a="http://schemas.openxmlformats.org/drawingml/2006/main">
              <a:ext uri="{FF2B5EF4-FFF2-40B4-BE49-F238E27FC236}">
                <a16:creationId xmlns:a16="http://schemas.microsoft.com/office/drawing/2014/main" id="{140BF3D0-C83C-4656-9B91-98057320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57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显微成像</a:t>
            </a:r>
          </a:p>
        </p:txBody>
      </p:sp>
      <p:sp>
        <p:nvSpPr>
          <p:cNvPr id="27" name="device-value-0">
            <a:extLst xmlns:a="http://schemas.openxmlformats.org/drawingml/2006/main">
              <a:ext uri="{FF2B5EF4-FFF2-40B4-BE49-F238E27FC236}">
                <a16:creationId xmlns:a16="http://schemas.microsoft.com/office/drawing/2014/main" id="{8E947822-7A26-49DA-90B9-BDFE8072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67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(85, 80)</a:t>
            </a:r>
          </a:p>
        </p:txBody>
      </p:sp>
      <p:sp>
        <p:nvSpPr>
          <p:cNvPr id="28" name="device-1">
            <a:extLst xmlns:a="http://schemas.openxmlformats.org/drawingml/2006/main">
              <a:ext uri="{FF2B5EF4-FFF2-40B4-BE49-F238E27FC236}">
                <a16:creationId xmlns:a16="http://schemas.microsoft.com/office/drawing/2014/main" id="{C5A5A9E5-1D00-486D-B0EB-8C98F763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4816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device-label-1">
            <a:extLst xmlns:a="http://schemas.openxmlformats.org/drawingml/2006/main">
              <a:ext uri="{FF2B5EF4-FFF2-40B4-BE49-F238E27FC236}">
                <a16:creationId xmlns:a16="http://schemas.microsoft.com/office/drawing/2014/main" id="{CA35F48C-6A50-4FBB-8BAA-7DD3A5F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67238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基础检测</a:t>
            </a:r>
          </a:p>
        </p:txBody>
      </p:sp>
      <p:sp>
        <p:nvSpPr>
          <p:cNvPr id="30" name="device-value-1">
            <a:extLst xmlns:a="http://schemas.openxmlformats.org/drawingml/2006/main">
              <a:ext uri="{FF2B5EF4-FFF2-40B4-BE49-F238E27FC236}">
                <a16:creationId xmlns:a16="http://schemas.microsoft.com/office/drawing/2014/main" id="{42B1F86F-0515-4213-B2C6-D996FD8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76788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(80, 25)</a:t>
            </a:r>
          </a:p>
        </p:txBody>
      </p:sp>
      <p:sp>
        <p:nvSpPr>
          <p:cNvPr id="31" name="device-2">
            <a:extLst xmlns:a="http://schemas.openxmlformats.org/drawingml/2006/main">
              <a:ext uri="{FF2B5EF4-FFF2-40B4-BE49-F238E27FC236}">
                <a16:creationId xmlns:a16="http://schemas.microsoft.com/office/drawing/2014/main" id="{E43418C8-5D2C-4877-8DA8-717A389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653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device-label-2">
            <a:extLst xmlns:a="http://schemas.openxmlformats.org/drawingml/2006/main">
              <a:ext uri="{FF2B5EF4-FFF2-40B4-BE49-F238E27FC236}">
                <a16:creationId xmlns:a16="http://schemas.microsoft.com/office/drawing/2014/main" id="{2000A58B-431A-48E9-BED7-54A4EB36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67013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材料制备</a:t>
            </a:r>
          </a:p>
        </p:txBody>
      </p:sp>
      <p:sp>
        <p:nvSpPr>
          <p:cNvPr id="33" name="device-value-2">
            <a:extLst xmlns:a="http://schemas.openxmlformats.org/drawingml/2006/main">
              <a:ext uri="{FF2B5EF4-FFF2-40B4-BE49-F238E27FC236}">
                <a16:creationId xmlns:a16="http://schemas.microsoft.com/office/drawing/2014/main" id="{3FF8CCC3-66CE-4F33-8902-5F457FE7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76563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(35, 75)</a:t>
            </a:r>
          </a:p>
        </p:txBody>
      </p:sp>
      <p:sp>
        <p:nvSpPr>
          <p:cNvPr id="34" name="device-3">
            <a:extLst xmlns:a="http://schemas.openxmlformats.org/drawingml/2006/main">
              <a:ext uri="{FF2B5EF4-FFF2-40B4-BE49-F238E27FC236}">
                <a16:creationId xmlns:a16="http://schemas.microsoft.com/office/drawing/2014/main" id="{F256F86D-27AC-45C5-9425-22BA764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91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device-label-3">
            <a:extLst xmlns:a="http://schemas.openxmlformats.org/drawingml/2006/main">
              <a:ext uri="{FF2B5EF4-FFF2-40B4-BE49-F238E27FC236}">
                <a16:creationId xmlns:a16="http://schemas.microsoft.com/office/drawing/2014/main" id="{37576D41-DC07-43FC-88FA-7A5FEC24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0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常规加工</a:t>
            </a:r>
          </a:p>
        </p:txBody>
      </p:sp>
      <p:sp>
        <p:nvSpPr>
          <p:cNvPr id="36" name="device-value-3">
            <a:extLst xmlns:a="http://schemas.openxmlformats.org/drawingml/2006/main">
              <a:ext uri="{FF2B5EF4-FFF2-40B4-BE49-F238E27FC236}">
                <a16:creationId xmlns:a16="http://schemas.microsoft.com/office/drawing/2014/main" id="{08ED73C1-1130-46E3-A807-6A68476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19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(30, 30)</a:t>
            </a:r>
          </a:p>
        </p:txBody>
      </p:sp>
      <p:sp>
        <p:nvSpPr>
          <p:cNvPr id="37" name="matrix-action-title">
            <a:extLst xmlns:a="http://schemas.openxmlformats.org/drawingml/2006/main">
              <a:ext uri="{FF2B5EF4-FFF2-40B4-BE49-F238E27FC236}">
                <a16:creationId xmlns:a16="http://schemas.microsoft.com/office/drawing/2014/main" id="{68F1A723-43B6-4E35-91F8-97195840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按象限安排支持</a:t>
            </a:r>
          </a:p>
        </p:txBody>
      </p:sp>
      <p:sp>
        <p:nvSpPr>
          <p:cNvPr id="38" name="action-line-0">
            <a:extLst xmlns:a="http://schemas.openxmlformats.org/drawingml/2006/main">
              <a:ext uri="{FF2B5EF4-FFF2-40B4-BE49-F238E27FC236}">
                <a16:creationId xmlns:a16="http://schemas.microsoft.com/office/drawing/2014/main" id="{94C5178D-A8FE-43AF-8E04-22AF57F7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9900"/>
            <a:ext cx="340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39" name="action-q-0">
            <a:extLst xmlns:a="http://schemas.openxmlformats.org/drawingml/2006/main">
              <a:ext uri="{FF2B5EF4-FFF2-40B4-BE49-F238E27FC236}">
                <a16:creationId xmlns:a16="http://schemas.microsoft.com/office/drawing/2014/main" id="{37167EAC-1D1E-4322-815A-CED4C70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486D"/>
                </a:solidFill>
                <a:latin typeface="Microsoft YaHei"/>
                <a:ea typeface="Microsoft YaHei"/>
                <a:cs typeface="Microsoft YaHei"/>
              </a:rPr>
              <a:t>高频 × 高支持</a:t>
            </a:r>
          </a:p>
        </p:txBody>
      </p:sp>
      <p:sp>
        <p:nvSpPr>
          <p:cNvPr id="40" name="action-a-0">
            <a:extLst xmlns:a="http://schemas.openxmlformats.org/drawingml/2006/main">
              <a:ext uri="{FF2B5EF4-FFF2-40B4-BE49-F238E27FC236}">
                <a16:creationId xmlns:a16="http://schemas.microsoft.com/office/drawing/2014/main" id="{386A48D5-B369-4066-B589-B425103A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增设辅导时段</a:t>
            </a:r>
          </a:p>
        </p:txBody>
      </p:sp>
      <p:sp>
        <p:nvSpPr>
          <p:cNvPr id="41" name="action-line-1">
            <a:extLst xmlns:a="http://schemas.openxmlformats.org/drawingml/2006/main">
              <a:ext uri="{FF2B5EF4-FFF2-40B4-BE49-F238E27FC236}">
                <a16:creationId xmlns:a16="http://schemas.microsoft.com/office/drawing/2014/main" id="{CC3B7B62-232C-454A-A006-7E2814B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40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42" name="action-q-1">
            <a:extLst xmlns:a="http://schemas.openxmlformats.org/drawingml/2006/main">
              <a:ext uri="{FF2B5EF4-FFF2-40B4-BE49-F238E27FC236}">
                <a16:creationId xmlns:a16="http://schemas.microsoft.com/office/drawing/2014/main" id="{BA6ADFB1-F70B-4062-BA28-03D8F7A6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高频 × 低支持</a:t>
            </a:r>
          </a:p>
        </p:txBody>
      </p:sp>
      <p:sp>
        <p:nvSpPr>
          <p:cNvPr id="43" name="action-a-1">
            <a:extLst xmlns:a="http://schemas.openxmlformats.org/drawingml/2006/main">
              <a:ext uri="{FF2B5EF4-FFF2-40B4-BE49-F238E27FC236}">
                <a16:creationId xmlns:a16="http://schemas.microsoft.com/office/drawing/2014/main" id="{0D6A95F9-1D62-4A32-A0A1-4A9C24A3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完善自助说明</a:t>
            </a:r>
          </a:p>
        </p:txBody>
      </p:sp>
      <p:sp>
        <p:nvSpPr>
          <p:cNvPr id="44" name="action-line-2">
            <a:extLst xmlns:a="http://schemas.openxmlformats.org/drawingml/2006/main">
              <a:ext uri="{FF2B5EF4-FFF2-40B4-BE49-F238E27FC236}">
                <a16:creationId xmlns:a16="http://schemas.microsoft.com/office/drawing/2014/main" id="{835F407D-AA56-433B-A654-D16DD0ED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67200"/>
            <a:ext cx="340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45" name="action-q-2">
            <a:extLst xmlns:a="http://schemas.openxmlformats.org/drawingml/2006/main">
              <a:ext uri="{FF2B5EF4-FFF2-40B4-BE49-F238E27FC236}">
                <a16:creationId xmlns:a16="http://schemas.microsoft.com/office/drawing/2014/main" id="{F8EDD2AA-AD8E-486F-9A8E-CD13C59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低频 × 高支持</a:t>
            </a:r>
          </a:p>
        </p:txBody>
      </p:sp>
      <p:sp>
        <p:nvSpPr>
          <p:cNvPr id="46" name="action-a-2">
            <a:extLst xmlns:a="http://schemas.openxmlformats.org/drawingml/2006/main">
              <a:ext uri="{FF2B5EF4-FFF2-40B4-BE49-F238E27FC236}">
                <a16:creationId xmlns:a16="http://schemas.microsoft.com/office/drawing/2014/main" id="{707792B9-51A9-4CA2-BECA-97BAF2CF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采用预约辅导</a:t>
            </a:r>
          </a:p>
        </p:txBody>
      </p:sp>
      <p:sp>
        <p:nvSpPr>
          <p:cNvPr id="47" name="action-line-3">
            <a:extLst xmlns:a="http://schemas.openxmlformats.org/drawingml/2006/main">
              <a:ext uri="{FF2B5EF4-FFF2-40B4-BE49-F238E27FC236}">
                <a16:creationId xmlns:a16="http://schemas.microsoft.com/office/drawing/2014/main" id="{F63AAFCF-59F5-413A-917C-B2E6C46A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340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F"/>
            </a:solidFill>
            <a:prstDash val="solid"/>
          </a:ln>
        </p:spPr>
      </p:sp>
      <p:sp>
        <p:nvSpPr>
          <p:cNvPr id="48" name="action-q-3">
            <a:extLst xmlns:a="http://schemas.openxmlformats.org/drawingml/2006/main">
              <a:ext uri="{FF2B5EF4-FFF2-40B4-BE49-F238E27FC236}">
                <a16:creationId xmlns:a16="http://schemas.microsoft.com/office/drawing/2014/main" id="{03387851-537E-4C30-81D2-0D0FC57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低频 × 低支持</a:t>
            </a:r>
          </a:p>
        </p:txBody>
      </p:sp>
      <p:sp>
        <p:nvSpPr>
          <p:cNvPr id="49" name="action-a-3">
            <a:extLst xmlns:a="http://schemas.openxmlformats.org/drawingml/2006/main">
              <a:ext uri="{FF2B5EF4-FFF2-40B4-BE49-F238E27FC236}">
                <a16:creationId xmlns:a16="http://schemas.microsoft.com/office/drawing/2014/main" id="{304D7622-CCBF-48EA-8FC8-2A107399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57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维持基础服务</a:t>
            </a:r>
          </a:p>
        </p:txBody>
      </p:sp>
      <p:sp>
        <p:nvSpPr>
          <p:cNvPr id="50" name="matrix-boundary">
            <a:extLst xmlns:a="http://schemas.openxmlformats.org/drawingml/2006/main">
              <a:ext uri="{FF2B5EF4-FFF2-40B4-BE49-F238E27FC236}">
                <a16:creationId xmlns:a16="http://schemas.microsoft.com/office/drawing/2014/main" id="{5CC76E66-D5A4-48BE-BC40-9F87A90B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409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1" name="matrix-boundary-text">
            <a:extLst xmlns:a="http://schemas.openxmlformats.org/drawingml/2006/main">
              <a:ext uri="{FF2B5EF4-FFF2-40B4-BE49-F238E27FC236}">
                <a16:creationId xmlns:a16="http://schemas.microsoft.com/office/drawing/2014/main" id="{2B2C6A8C-E9F4-4FFA-A54E-409B5D9A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340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边界：分界只帮助本次讨论；点位不表示成本、设备价值或真实利用率。</a:t>
            </a:r>
          </a:p>
        </p:txBody>
      </p:sp>
    </p:spTree>
    <p:extLst>
      <p:ext uri="{BB962C8B-B14F-4D97-AF65-F5344CB8AC3E}">
        <p14:creationId xmlns:p14="http://schemas.microsoft.com/office/powerpoint/2010/main" val="1516147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2026-09-07T14:03:29.8280000Z</dcterms:created>
  <dcterms:modified xsi:type="dcterms:W3CDTF">2026-09-07T14:03:29.8290000Z</dcterms:modified>
</coreProperties>
</file>