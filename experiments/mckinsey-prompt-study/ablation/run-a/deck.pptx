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da7101f4c59e4aa2" /><Relationship Type="http://schemas.openxmlformats.org/officeDocument/2006/relationships/extended-properties" Target="/docProps/app.xml" Id="Rc31b739daeff4db8" /><Relationship Type="http://schemas.openxmlformats.org/officeDocument/2006/relationships/officeDocument" Target="/ppt/presentation.xml" Id="R155c09458f3945c6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b188111d4f9f4ac6"/>
  </p:sldMasterIdLst>
  <p:notesMasterIdLst>
    <p:notesMasterId xmlns:r="http://schemas.openxmlformats.org/officeDocument/2006/relationships" r:id="Re48ee91084b540ce"/>
  </p:notesMasterIdLst>
  <p:sldIdLst>
    <p:sldId xmlns:r="http://schemas.openxmlformats.org/officeDocument/2006/relationships" id="256" r:id="R5fca2a2235b94a32"/>
    <p:sldId xmlns:r="http://schemas.openxmlformats.org/officeDocument/2006/relationships" id="257" r:id="R6c0946c1c46c45bd"/>
    <p:sldId xmlns:r="http://schemas.openxmlformats.org/officeDocument/2006/relationships" id="258" r:id="Rf3e1403ac81a4437"/>
    <p:sldId xmlns:r="http://schemas.openxmlformats.org/officeDocument/2006/relationships" id="259" r:id="R2b5f92fdba9949ce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c790f7b097f34ecb" /><Relationship Type="http://schemas.openxmlformats.org/officeDocument/2006/relationships/slideMaster" Target="/ppt/slideMasters/slideMaster1.xml" Id="Rb188111d4f9f4ac6" /><Relationship Type="http://schemas.openxmlformats.org/officeDocument/2006/relationships/notesMaster" Target="/ppt/notesMasters/notesMaster1.xml" Id="Re48ee91084b540ce" /><Relationship Type="http://schemas.openxmlformats.org/officeDocument/2006/relationships/presProps" Target="/ppt/presProps.xml" Id="R5fb75395db1948a0" /><Relationship Type="http://schemas.openxmlformats.org/officeDocument/2006/relationships/tableStyles" Target="/ppt/tableStyles.xml" Id="R5d27c094a6294496" /><Relationship Type="http://schemas.openxmlformats.org/officeDocument/2006/relationships/slide" Target="/ppt/slides/slide1.xml" Id="R5fca2a2235b94a32" /><Relationship Type="http://schemas.openxmlformats.org/officeDocument/2006/relationships/slide" Target="/ppt/slides/slide2.xml" Id="R6c0946c1c46c45bd" /><Relationship Type="http://schemas.openxmlformats.org/officeDocument/2006/relationships/slide" Target="/ppt/slides/slide3.xml" Id="Rf3e1403ac81a4437" /><Relationship Type="http://schemas.openxmlformats.org/officeDocument/2006/relationships/slide" Target="/ppt/slides/slide4.xml" Id="R2b5f92fdba9949ce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b9f9fb3087c34f1c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0e3438590b594595" /><Relationship Type="http://schemas.openxmlformats.org/officeDocument/2006/relationships/notesMaster" Target="/ppt/notesMasters/notesMaster1.xml" Id="Ra595e2df8c7c40b8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6bb2f428455d45bc" /><Relationship Type="http://schemas.openxmlformats.org/officeDocument/2006/relationships/notesMaster" Target="/ppt/notesMasters/notesMaster1.xml" Id="R143f1206ef354b0b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8b3b2f38b4f5491a" /><Relationship Type="http://schemas.openxmlformats.org/officeDocument/2006/relationships/notesMaster" Target="/ppt/notesMasters/notesMaster1.xml" Id="Ra164344a39474d3c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6adab97d37694794" /><Relationship Type="http://schemas.openxmlformats.org/officeDocument/2006/relationships/notesMaster" Target="/ppt/notesMasters/notesMaster1.xml" Id="Re8163616c83d465f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内容：experiments/mckinsey-prompt-study/manuscript.md</a:t>
            </a:r>
          </a:p>
          <a:p xmlns:a="http://schemas.openxmlformats.org/drawingml/2006/main">
            <a:r>
              <a:t>- 视觉：大学 Skin（northeastern-university-001）</a:t>
            </a:r>
          </a:p>
          <a:p xmlns:a="http://schemas.openxmlformats.org/drawingml/2006/main">
            <a:r>
              <a:t>- 趋势图为原生形状：柱体表示预约完成量，橙色折线表示中位等待时间；单位与条件按原稿保留。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内容：experiments/mckinsey-prompt-study/manuscript.md</a:t>
            </a:r>
          </a:p>
          <a:p xmlns:a="http://schemas.openxmlformats.org/drawingml/2006/main">
            <a:r>
              <a:t>- 视觉：大学 Skin（northeastern-university-001）</a:t>
            </a:r>
          </a:p>
          <a:p xmlns:a="http://schemas.openxmlformats.org/drawingml/2006/main">
            <a:r>
              <a:t>- 横向条形比较使用原生形状，四个障碍维度对齐；两组共享 0—100% 比例尺度，模拟样本不作推广。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内容：experiments/mckinsey-prompt-study/manuscript.md</a:t>
            </a:r>
          </a:p>
          <a:p xmlns:a="http://schemas.openxmlformats.org/drawingml/2006/main">
            <a:r>
              <a:t>- 视觉：大学 Skin（northeastern-university-001）</a:t>
            </a:r>
          </a:p>
          <a:p xmlns:a="http://schemas.openxmlformats.org/drawingml/2006/main">
            <a:r>
              <a:t>- 阶段顺序、交付、观察指标均按原稿保留；指标无预设数值，不绘制量化改善曲线。授权处理规则作为底部决策门槛呈现。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内容：experiments/mckinsey-prompt-study/manuscript.md</a:t>
            </a:r>
          </a:p>
          <a:p xmlns:a="http://schemas.openxmlformats.org/drawingml/2006/main">
            <a:r>
              <a:t>- 视觉：大学 Skin（northeastern-university-001）</a:t>
            </a:r>
          </a:p>
          <a:p xmlns:a="http://schemas.openxmlformats.org/drawingml/2006/main">
            <a:r>
              <a:t>- 二维诊断使用原生形状：横纵轴均为 0—100，50 为本次讨论分界；点位与四种动作严格对应原稿，不作统计分类结论。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5c913967c2da412e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90ba483506144c45" /><Relationship Type="http://schemas.openxmlformats.org/officeDocument/2006/relationships/slideLayout" Target="/ppt/slideLayouts/slideLayout1.xml" Id="R6609ceef27684578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6609ceef27684578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a36dbaf2fbb412e" /><Relationship Type="http://schemas.openxmlformats.org/officeDocument/2006/relationships/notesSlide" Target="/ppt/notesSlides/notesSlide1.xml" Id="Rd5a88b3d3dea401b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b8a4650740842e0" /><Relationship Type="http://schemas.openxmlformats.org/officeDocument/2006/relationships/notesSlide" Target="/ppt/notesSlides/notesSlide2.xml" Id="R8050f654a2c44e40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2790c88dd9f4218" /><Relationship Type="http://schemas.openxmlformats.org/officeDocument/2006/relationships/notesSlide" Target="/ppt/notesSlides/notesSlide3.xml" Id="R2482cada83a4454f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457adb6088344d7" /><Relationship Type="http://schemas.openxmlformats.org/officeDocument/2006/relationships/notesSlide" Target="/ppt/notesSlides/notesSlide4.xml" Id="Rfcc02f397b4e44d3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D7247D45-F8D9-473C-87E9-42D04F0C1B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66700"/>
            <a:ext cx="3905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1" i="0">
                <a:solidFill>
                  <a:srgbClr val="315F9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 i="0">
                <a:solidFill>
                  <a:srgbClr val="315F91"/>
                </a:solidFill>
                <a:latin typeface="Microsoft YaHei"/>
                <a:ea typeface="Microsoft YaHei"/>
                <a:cs typeface="Microsoft YaHei"/>
              </a:rPr>
              <a:t>东北大学｜大学共享仪器服务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8871F08-EEA1-4495-BD30-103FD364BE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266700"/>
            <a:ext cx="20383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1050" b="0" i="0">
                <a:solidFill>
                  <a:srgbClr val="6F6F6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 i="0">
                <a:solidFill>
                  <a:srgbClr val="6F6F6F"/>
                </a:solidFill>
                <a:latin typeface="Microsoft YaHei"/>
                <a:ea typeface="Microsoft YaHei"/>
                <a:cs typeface="Microsoft YaHei"/>
              </a:rPr>
              <a:t>现象｜2023—2025</a:t>
            </a:r>
          </a:p>
        </p:txBody>
      </p:sp>
      <p:sp>
        <p:nvSpPr>
          <p:cNvPr id="3" name="title-1">
            <a:extLst xmlns:a="http://schemas.openxmlformats.org/drawingml/2006/main">
              <a:ext uri="{FF2B5EF4-FFF2-40B4-BE49-F238E27FC236}">
                <a16:creationId xmlns:a16="http://schemas.microsoft.com/office/drawing/2014/main" id="{7A84249F-2039-4998-B932-E1E3CFEF51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7700"/>
            <a:ext cx="111252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400" b="1" i="0">
                <a:solidFill>
                  <a:srgbClr val="0B2239"/>
                </a:solidFill>
                <a:latin typeface="HYWenRunSongYun U"/>
                <a:ea typeface="HYWenRunSongYun U"/>
                <a:cs typeface="HYWenRunSongYun U"/>
              </a:defRPr>
            </a:pPr>
            <a:r>
              <a:rPr sz="2400" b="1" i="0">
                <a:solidFill>
                  <a:srgbClr val="0B2239"/>
                </a:solidFill>
                <a:latin typeface="HYWenRunSongYun U"/>
                <a:ea typeface="HYWenRunSongYun U"/>
                <a:cs typeface="HYWenRunSongYun U"/>
              </a:rPr>
              <a:t>使用增长与等待下降同时出现，原因仍需继续观察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7093D0F-9B7A-4B95-B374-3666637785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333500"/>
            <a:ext cx="111252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315F91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C76A521-3000-4D84-8977-7450FD923E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267450"/>
            <a:ext cx="5143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1050" b="1" i="0">
                <a:solidFill>
                  <a:srgbClr val="315F9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 i="0">
                <a:solidFill>
                  <a:srgbClr val="315F91"/>
                </a:solidFill>
                <a:latin typeface="Microsoft YaHei"/>
                <a:ea typeface="Microsoft YaHei"/>
                <a:cs typeface="Microsoft YaHei"/>
              </a:rPr>
              <a:t>01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A34CF6A-8E77-477D-A16E-B65FD94974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267450"/>
            <a:ext cx="400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975" b="0" i="0">
                <a:solidFill>
                  <a:srgbClr val="6F6F6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 i="0">
                <a:solidFill>
                  <a:srgbClr val="6F6F6F"/>
                </a:solidFill>
                <a:latin typeface="Microsoft YaHei"/>
                <a:ea typeface="Microsoft YaHei"/>
                <a:cs typeface="Microsoft YaHei"/>
              </a:rPr>
              <a:t>模拟数据，仅用于方案讨论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6D9625D-21C9-4751-989B-6A45B1DAB7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581150"/>
            <a:ext cx="1619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1" i="0">
                <a:solidFill>
                  <a:srgbClr val="0B223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 i="0">
                <a:solidFill>
                  <a:srgbClr val="0B2239"/>
                </a:solidFill>
                <a:latin typeface="Microsoft YaHei"/>
                <a:ea typeface="Microsoft YaHei"/>
                <a:cs typeface="Microsoft YaHei"/>
              </a:rPr>
              <a:t>预约完成量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BA2DB94-E083-4073-9AF5-38EA8A8929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1581150"/>
            <a:ext cx="381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0" i="0">
                <a:solidFill>
                  <a:srgbClr val="6F6F6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 i="0">
                <a:solidFill>
                  <a:srgbClr val="6F6F6F"/>
                </a:solidFill>
                <a:latin typeface="Microsoft YaHei"/>
                <a:ea typeface="Microsoft YaHei"/>
                <a:cs typeface="Microsoft YaHei"/>
              </a:rPr>
              <a:t>单</a:t>
            </a:r>
          </a:p>
        </p:txBody>
      </p:sp>
      <p:sp>
        <p:nvSpPr>
          <p:cNvPr id="9" name="trend-frame">
            <a:extLst xmlns:a="http://schemas.openxmlformats.org/drawingml/2006/main">
              <a:ext uri="{FF2B5EF4-FFF2-40B4-BE49-F238E27FC236}">
                <a16:creationId xmlns:a16="http://schemas.microsoft.com/office/drawing/2014/main" id="{48408CBB-ABB4-4D41-BFCA-6A5DE0D3DB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962150"/>
            <a:ext cx="6705600" cy="3429000"/>
          </a:xfrm>
          <a:prstGeom xmlns:a="http://schemas.openxmlformats.org/drawingml/2006/main" prst="roundRect">
            <a:avLst>
              <a:gd name="adj" fmla="val 3333"/>
            </a:avLst>
          </a:prstGeom>
          <a:solidFill xmlns:a="http://schemas.openxmlformats.org/drawingml/2006/main">
            <a:srgbClr val="F5F7F9"/>
          </a:solidFill>
          <a:ln xmlns:a="http://schemas.openxmlformats.org/drawingml/2006/main" w="9525">
            <a:solidFill>
              <a:srgbClr val="D7DDE3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06B598F-625B-4465-865B-1AE3BC51B4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4857750"/>
            <a:ext cx="55054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7DDE3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F3119E4-4AB1-4432-B392-6B2379C273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752975"/>
            <a:ext cx="5524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975" b="0" i="0">
                <a:solidFill>
                  <a:srgbClr val="6F6F6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 i="0">
                <a:solidFill>
                  <a:srgbClr val="6F6F6F"/>
                </a:solidFill>
                <a:latin typeface="Microsoft YaHei"/>
                <a:ea typeface="Microsoft YaHei"/>
                <a:cs typeface="Microsoft YaHei"/>
              </a:rPr>
              <a:t>0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2D53048-2978-45A4-B313-E8492AACE7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4310063"/>
            <a:ext cx="55054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7DDE3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2064A0B-01DC-4DFD-867C-8BCBBEA913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205288"/>
            <a:ext cx="5524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975" b="0" i="0">
                <a:solidFill>
                  <a:srgbClr val="6F6F6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 i="0">
                <a:solidFill>
                  <a:srgbClr val="6F6F6F"/>
                </a:solidFill>
                <a:latin typeface="Microsoft YaHei"/>
                <a:ea typeface="Microsoft YaHei"/>
                <a:cs typeface="Microsoft YaHei"/>
              </a:rPr>
              <a:t>500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DC34969-8A03-49A7-9DE3-B8E70BD600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3762375"/>
            <a:ext cx="55054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7DDE3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77E4E7A-7149-483C-9939-4032789E31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657600"/>
            <a:ext cx="5524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975" b="0" i="0">
                <a:solidFill>
                  <a:srgbClr val="6F6F6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 i="0">
                <a:solidFill>
                  <a:srgbClr val="6F6F6F"/>
                </a:solidFill>
                <a:latin typeface="Microsoft YaHei"/>
                <a:ea typeface="Microsoft YaHei"/>
                <a:cs typeface="Microsoft YaHei"/>
              </a:rPr>
              <a:t>1000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EBAEB48-CBA6-4F35-A7A4-5D6EFA90EF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3214688"/>
            <a:ext cx="55054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7DDE3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4000F10-8C05-491A-A262-7C0D357BF6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109913"/>
            <a:ext cx="5524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975" b="0" i="0">
                <a:solidFill>
                  <a:srgbClr val="6F6F6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 i="0">
                <a:solidFill>
                  <a:srgbClr val="6F6F6F"/>
                </a:solidFill>
                <a:latin typeface="Microsoft YaHei"/>
                <a:ea typeface="Microsoft YaHei"/>
                <a:cs typeface="Microsoft YaHei"/>
              </a:rPr>
              <a:t>1500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67C60A3-C252-4425-A99C-DDD69FDC74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2667000"/>
            <a:ext cx="55054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7DDE3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60A66EB2-BBD7-4D1C-BD3E-30C53F8889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562225"/>
            <a:ext cx="5524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975" b="0" i="0">
                <a:solidFill>
                  <a:srgbClr val="6F6F6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 i="0">
                <a:solidFill>
                  <a:srgbClr val="6F6F6F"/>
                </a:solidFill>
                <a:latin typeface="Microsoft YaHei"/>
                <a:ea typeface="Microsoft YaHei"/>
                <a:cs typeface="Microsoft YaHei"/>
              </a:rPr>
              <a:t>2000</a:t>
            </a:r>
          </a:p>
        </p:txBody>
      </p:sp>
      <p:sp>
        <p:nvSpPr>
          <p:cNvPr id="20" name="bar-2023">
            <a:extLst xmlns:a="http://schemas.openxmlformats.org/drawingml/2006/main">
              <a:ext uri="{FF2B5EF4-FFF2-40B4-BE49-F238E27FC236}">
                <a16:creationId xmlns:a16="http://schemas.microsoft.com/office/drawing/2014/main" id="{734B3D54-E922-49F1-B750-C5D2C27864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19300" y="3543300"/>
            <a:ext cx="647700" cy="1314450"/>
          </a:xfrm>
          <a:prstGeom xmlns:a="http://schemas.openxmlformats.org/drawingml/2006/main" prst="roundRect">
            <a:avLst>
              <a:gd name="adj" fmla="val 2941"/>
            </a:avLst>
          </a:prstGeom>
          <a:solidFill xmlns:a="http://schemas.openxmlformats.org/drawingml/2006/main">
            <a:srgbClr val="6D94B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73BFF1C8-6DA3-4757-B45C-C797FC4605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47850" y="3276600"/>
            <a:ext cx="9906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200" b="1" i="0">
                <a:solidFill>
                  <a:srgbClr val="0B223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 i="0">
                <a:solidFill>
                  <a:srgbClr val="0B2239"/>
                </a:solidFill>
                <a:latin typeface="Microsoft YaHei"/>
                <a:ea typeface="Microsoft YaHei"/>
                <a:cs typeface="Microsoft YaHei"/>
              </a:rPr>
              <a:t>1200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B2EEEBA1-4A75-4D1F-9BA1-18AC81433D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4972050"/>
            <a:ext cx="838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200" b="0" i="0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 i="0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rPr>
              <a:t>2023</a:t>
            </a:r>
          </a:p>
        </p:txBody>
      </p:sp>
      <p:sp>
        <p:nvSpPr>
          <p:cNvPr id="23" name="wait-dot-2023">
            <a:extLst xmlns:a="http://schemas.openxmlformats.org/drawingml/2006/main">
              <a:ext uri="{FF2B5EF4-FFF2-40B4-BE49-F238E27FC236}">
                <a16:creationId xmlns:a16="http://schemas.microsoft.com/office/drawing/2014/main" id="{36C3BE1F-CFE9-48A8-9FCE-B9A12B74B8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76475" y="3457575"/>
            <a:ext cx="133350" cy="133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9822B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4989C707-307F-446D-A750-32F881C399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0250" y="3238500"/>
            <a:ext cx="6858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125" b="1" i="0">
                <a:solidFill>
                  <a:srgbClr val="D982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 i="0">
                <a:solidFill>
                  <a:srgbClr val="D9822B"/>
                </a:solidFill>
                <a:latin typeface="Microsoft YaHei"/>
                <a:ea typeface="Microsoft YaHei"/>
                <a:cs typeface="Microsoft YaHei"/>
              </a:rPr>
              <a:t>8天</a:t>
            </a:r>
          </a:p>
        </p:txBody>
      </p:sp>
      <p:sp>
        <p:nvSpPr>
          <p:cNvPr id="25" name="bar-2024">
            <a:extLst xmlns:a="http://schemas.openxmlformats.org/drawingml/2006/main">
              <a:ext uri="{FF2B5EF4-FFF2-40B4-BE49-F238E27FC236}">
                <a16:creationId xmlns:a16="http://schemas.microsoft.com/office/drawing/2014/main" id="{B3B19B26-5035-4945-8235-C0985904AF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95700" y="3148965"/>
            <a:ext cx="647700" cy="1708785"/>
          </a:xfrm>
          <a:prstGeom xmlns:a="http://schemas.openxmlformats.org/drawingml/2006/main" prst="roundRect">
            <a:avLst>
              <a:gd name="adj" fmla="val 2941"/>
            </a:avLst>
          </a:prstGeom>
          <a:solidFill xmlns:a="http://schemas.openxmlformats.org/drawingml/2006/main">
            <a:srgbClr val="6D94B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74ECFCCF-4E50-4A68-B0B2-168A48B5DD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2882265"/>
            <a:ext cx="9906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200" b="1" i="0">
                <a:solidFill>
                  <a:srgbClr val="0B223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 i="0">
                <a:solidFill>
                  <a:srgbClr val="0B2239"/>
                </a:solidFill>
                <a:latin typeface="Microsoft YaHei"/>
                <a:ea typeface="Microsoft YaHei"/>
                <a:cs typeface="Microsoft YaHei"/>
              </a:rPr>
              <a:t>1560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16E8F896-DC89-4DF9-986F-57D72BA7F4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00450" y="4972050"/>
            <a:ext cx="838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200" b="0" i="0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 i="0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rPr>
              <a:t>2024</a:t>
            </a:r>
          </a:p>
        </p:txBody>
      </p:sp>
      <p:sp>
        <p:nvSpPr>
          <p:cNvPr id="28" name="wait-line-1">
            <a:extLst xmlns:a="http://schemas.openxmlformats.org/drawingml/2006/main">
              <a:ext uri="{FF2B5EF4-FFF2-40B4-BE49-F238E27FC236}">
                <a16:creationId xmlns:a16="http://schemas.microsoft.com/office/drawing/2014/main" id="{A91E8AAF-ACC0-4ABB-AE2F-62888A9AEC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43150" y="3124200"/>
            <a:ext cx="1676400" cy="4000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D9822B"/>
            </a:solidFill>
            <a:prstDash val="solid"/>
          </a:ln>
        </p:spPr>
      </p:sp>
      <p:sp>
        <p:nvSpPr>
          <p:cNvPr id="29" name="wait-dot-2024">
            <a:extLst xmlns:a="http://schemas.openxmlformats.org/drawingml/2006/main">
              <a:ext uri="{FF2B5EF4-FFF2-40B4-BE49-F238E27FC236}">
                <a16:creationId xmlns:a16="http://schemas.microsoft.com/office/drawing/2014/main" id="{E6047012-23C9-4F11-841F-B58CDFE0A2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52875" y="3057525"/>
            <a:ext cx="133350" cy="133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9822B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8F0C2206-98AA-43A6-B50D-4055A269FF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76650" y="2838450"/>
            <a:ext cx="6858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125" b="1" i="0">
                <a:solidFill>
                  <a:srgbClr val="D982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 i="0">
                <a:solidFill>
                  <a:srgbClr val="D9822B"/>
                </a:solidFill>
                <a:latin typeface="Microsoft YaHei"/>
                <a:ea typeface="Microsoft YaHei"/>
                <a:cs typeface="Microsoft YaHei"/>
              </a:rPr>
              <a:t>7天</a:t>
            </a:r>
          </a:p>
        </p:txBody>
      </p:sp>
      <p:sp>
        <p:nvSpPr>
          <p:cNvPr id="31" name="bar-2025">
            <a:extLst xmlns:a="http://schemas.openxmlformats.org/drawingml/2006/main">
              <a:ext uri="{FF2B5EF4-FFF2-40B4-BE49-F238E27FC236}">
                <a16:creationId xmlns:a16="http://schemas.microsoft.com/office/drawing/2014/main" id="{F7A9EF6E-D75D-4E69-8DAC-9D93C2F16E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72100" y="2754630"/>
            <a:ext cx="647700" cy="2103120"/>
          </a:xfrm>
          <a:prstGeom xmlns:a="http://schemas.openxmlformats.org/drawingml/2006/main" prst="roundRect">
            <a:avLst>
              <a:gd name="adj" fmla="val 2941"/>
            </a:avLst>
          </a:prstGeom>
          <a:solidFill xmlns:a="http://schemas.openxmlformats.org/drawingml/2006/main">
            <a:srgbClr val="315F9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C44CDE79-BEAC-4306-9168-B726587B2A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00650" y="2487930"/>
            <a:ext cx="9906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200" b="1" i="0">
                <a:solidFill>
                  <a:srgbClr val="0B223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 i="0">
                <a:solidFill>
                  <a:srgbClr val="0B2239"/>
                </a:solidFill>
                <a:latin typeface="Microsoft YaHei"/>
                <a:ea typeface="Microsoft YaHei"/>
                <a:cs typeface="Microsoft YaHei"/>
              </a:rPr>
              <a:t>1920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B4803951-9E58-4D24-9928-38F2AF7C6C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76850" y="4972050"/>
            <a:ext cx="838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200" b="0" i="0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 i="0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rPr>
              <a:t>2025</a:t>
            </a:r>
          </a:p>
        </p:txBody>
      </p:sp>
      <p:sp>
        <p:nvSpPr>
          <p:cNvPr id="34" name="wait-line-2">
            <a:extLst xmlns:a="http://schemas.openxmlformats.org/drawingml/2006/main">
              <a:ext uri="{FF2B5EF4-FFF2-40B4-BE49-F238E27FC236}">
                <a16:creationId xmlns:a16="http://schemas.microsoft.com/office/drawing/2014/main" id="{5984CC5C-DB5F-4983-BA6D-F47779A789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19550" y="2724150"/>
            <a:ext cx="1676400" cy="4000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D9822B"/>
            </a:solidFill>
            <a:prstDash val="solid"/>
          </a:ln>
        </p:spPr>
      </p:sp>
      <p:sp>
        <p:nvSpPr>
          <p:cNvPr id="35" name="wait-dot-2025">
            <a:extLst xmlns:a="http://schemas.openxmlformats.org/drawingml/2006/main">
              <a:ext uri="{FF2B5EF4-FFF2-40B4-BE49-F238E27FC236}">
                <a16:creationId xmlns:a16="http://schemas.microsoft.com/office/drawing/2014/main" id="{488BB237-CB7B-4502-9196-A1F6AB9E75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29275" y="2657475"/>
            <a:ext cx="133350" cy="133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9822B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2E420C71-C25F-4D84-A25E-4E2A2A6559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53050" y="2438400"/>
            <a:ext cx="6858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125" b="1" i="0">
                <a:solidFill>
                  <a:srgbClr val="D982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 i="0">
                <a:solidFill>
                  <a:srgbClr val="D9822B"/>
                </a:solidFill>
                <a:latin typeface="Microsoft YaHei"/>
                <a:ea typeface="Microsoft YaHei"/>
                <a:cs typeface="Microsoft YaHei"/>
              </a:rPr>
              <a:t>6天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CA370ABB-0468-4331-9EC0-A4ED705DEC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67300" y="2095500"/>
            <a:ext cx="1524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1050" b="1" i="0">
                <a:solidFill>
                  <a:srgbClr val="D982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 i="0">
                <a:solidFill>
                  <a:srgbClr val="D9822B"/>
                </a:solidFill>
                <a:latin typeface="Microsoft YaHei"/>
                <a:ea typeface="Microsoft YaHei"/>
                <a:cs typeface="Microsoft YaHei"/>
              </a:rPr>
              <a:t>中位等待时间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6EC79611-F8F9-45BF-90DE-70CCB4A185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5124450"/>
            <a:ext cx="57531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0" i="1">
                <a:solidFill>
                  <a:srgbClr val="6F6F6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 i="1">
                <a:solidFill>
                  <a:srgbClr val="6F6F6F"/>
                </a:solidFill>
                <a:latin typeface="Microsoft YaHei"/>
                <a:ea typeface="Microsoft YaHei"/>
                <a:cs typeface="Microsoft YaHei"/>
              </a:rPr>
              <a:t>预约完成量与等待时间共享年份，便于直接对照；两条序列仅呈现同时观察到的变化。</a:t>
            </a:r>
          </a:p>
        </p:txBody>
      </p:sp>
      <p:sp>
        <p:nvSpPr>
          <p:cNvPr id="39" name="interpretation">
            <a:extLst xmlns:a="http://schemas.openxmlformats.org/drawingml/2006/main">
              <a:ext uri="{FF2B5EF4-FFF2-40B4-BE49-F238E27FC236}">
                <a16:creationId xmlns:a16="http://schemas.microsoft.com/office/drawing/2014/main" id="{696BC3E6-4CCB-4185-925F-89B818DC7A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1962150"/>
            <a:ext cx="3695700" cy="3429000"/>
          </a:xfrm>
          <a:prstGeom xmlns:a="http://schemas.openxmlformats.org/drawingml/2006/main" prst="roundRect">
            <a:avLst>
              <a:gd name="adj" fmla="val 3333"/>
            </a:avLst>
          </a:prstGeom>
          <a:solidFill xmlns:a="http://schemas.openxmlformats.org/drawingml/2006/main">
            <a:srgbClr val="EAF1F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E2055EB9-BADA-4801-96A1-3AACD168E5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67700" y="2209800"/>
            <a:ext cx="2857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1" i="0">
                <a:solidFill>
                  <a:srgbClr val="0B223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 i="0">
                <a:solidFill>
                  <a:srgbClr val="0B2239"/>
                </a:solidFill>
                <a:latin typeface="Microsoft YaHei"/>
                <a:ea typeface="Microsoft YaHei"/>
                <a:cs typeface="Microsoft YaHei"/>
              </a:rPr>
              <a:t>这组现象说明什么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AF315B95-0640-4A0D-AFCE-949151C8A4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67700" y="2781300"/>
            <a:ext cx="3238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1" i="0">
                <a:solidFill>
                  <a:srgbClr val="315F9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 i="0">
                <a:solidFill>
                  <a:srgbClr val="315F91"/>
                </a:solidFill>
                <a:latin typeface="Microsoft YaHei"/>
                <a:ea typeface="Microsoft YaHei"/>
                <a:cs typeface="Microsoft YaHei"/>
              </a:rPr>
              <a:t>01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EB87643F-3BB7-46B3-B5BB-299D3C76E1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24900" y="2743200"/>
            <a:ext cx="2381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1" i="0">
                <a:solidFill>
                  <a:srgbClr val="2B2B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 i="0">
                <a:solidFill>
                  <a:srgbClr val="2B2B2B"/>
                </a:solidFill>
                <a:latin typeface="Microsoft YaHei"/>
                <a:ea typeface="Microsoft YaHei"/>
                <a:cs typeface="Microsoft YaHei"/>
              </a:rPr>
              <a:t>使用量持续上升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35BADB01-E9AD-451D-9E1E-83A776A166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24900" y="3048000"/>
            <a:ext cx="25527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0" i="0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 i="0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rPr>
              <a:t>三年完成量从 1,200 单增至 1,920 单。</a:t>
            </a:r>
          </a:p>
        </p:txBody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C3119071-61DA-4E2D-8DE6-F30BE59ABE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67700" y="3676650"/>
            <a:ext cx="2971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7DDE3"/>
            </a:solidFill>
            <a:prstDash val="solid"/>
          </a:ln>
        </p:spPr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4654574C-6D03-4E51-B855-AF03BBD9B2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67700" y="3943350"/>
            <a:ext cx="3238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1" i="0">
                <a:solidFill>
                  <a:srgbClr val="315F9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 i="0">
                <a:solidFill>
                  <a:srgbClr val="315F91"/>
                </a:solidFill>
                <a:latin typeface="Microsoft YaHei"/>
                <a:ea typeface="Microsoft YaHei"/>
                <a:cs typeface="Microsoft YaHei"/>
              </a:rPr>
              <a:t>02</a:t>
            </a:r>
          </a:p>
        </p:txBody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9D747C49-0368-4FC1-8EB4-507B53C34D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24900" y="3905250"/>
            <a:ext cx="24765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1" i="0">
                <a:solidFill>
                  <a:srgbClr val="2B2B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 i="0">
                <a:solidFill>
                  <a:srgbClr val="2B2B2B"/>
                </a:solidFill>
                <a:latin typeface="Microsoft YaHei"/>
                <a:ea typeface="Microsoft YaHei"/>
                <a:cs typeface="Microsoft YaHei"/>
              </a:rPr>
              <a:t>平均改善可能掩盖局部拥堵</a:t>
            </a:r>
          </a:p>
        </p:txBody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98C53D0F-FB90-425A-836D-0191B425CE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24900" y="4476750"/>
            <a:ext cx="25336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0" i="0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 i="0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rPr>
              <a:t>继续观察高峰时段及分设备等待，避免把总体均值当作完整答案。</a:t>
            </a:r>
          </a:p>
        </p:txBody>
      </p:sp>
    </p:spTree>
    <p:extLst>
      <p:ext uri="{BB962C8B-B14F-4D97-AF65-F5344CB8AC3E}">
        <p14:creationId xmlns:p14="http://schemas.microsoft.com/office/powerpoint/2010/main" val="227888893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3A0C15B0-2831-4153-9190-A4CBCD4A14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66700"/>
            <a:ext cx="3905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1" i="0">
                <a:solidFill>
                  <a:srgbClr val="315F9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 i="0">
                <a:solidFill>
                  <a:srgbClr val="315F91"/>
                </a:solidFill>
                <a:latin typeface="Microsoft YaHei"/>
                <a:ea typeface="Microsoft YaHei"/>
                <a:cs typeface="Microsoft YaHei"/>
              </a:rPr>
              <a:t>东北大学｜大学共享仪器服务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DA65237-2BB6-4296-BBC9-2B68748096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266700"/>
            <a:ext cx="20383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1050" b="0" i="0">
                <a:solidFill>
                  <a:srgbClr val="6F6F6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 i="0">
                <a:solidFill>
                  <a:srgbClr val="6F6F6F"/>
                </a:solidFill>
                <a:latin typeface="Microsoft YaHei"/>
                <a:ea typeface="Microsoft YaHei"/>
                <a:cs typeface="Microsoft YaHei"/>
              </a:rPr>
              <a:t>对照｜模拟问卷 n=100/组</a:t>
            </a:r>
          </a:p>
        </p:txBody>
      </p:sp>
      <p:sp>
        <p:nvSpPr>
          <p:cNvPr id="3" name="title-2">
            <a:extLst xmlns:a="http://schemas.openxmlformats.org/drawingml/2006/main">
              <a:ext uri="{FF2B5EF4-FFF2-40B4-BE49-F238E27FC236}">
                <a16:creationId xmlns:a16="http://schemas.microsoft.com/office/drawing/2014/main" id="{C450A36B-46FB-4DB7-9CB0-0AE7E08C88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7700"/>
            <a:ext cx="111252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400" b="1" i="0">
                <a:solidFill>
                  <a:srgbClr val="0B2239"/>
                </a:solidFill>
                <a:latin typeface="HYWenRunSongYun U"/>
                <a:ea typeface="HYWenRunSongYun U"/>
                <a:cs typeface="HYWenRunSongYun U"/>
              </a:defRPr>
            </a:pPr>
            <a:r>
              <a:rPr sz="2400" b="1" i="0">
                <a:solidFill>
                  <a:srgbClr val="0B2239"/>
                </a:solidFill>
                <a:latin typeface="HYWenRunSongYun U"/>
                <a:ea typeface="HYWenRunSongYun U"/>
                <a:cs typeface="HYWenRunSongYun U"/>
              </a:rPr>
              <a:t>预约障碍在两类用户之间分化：供给与流程是不同优先项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4AD9D7F-508E-4765-A338-C0BF0DC5E4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333500"/>
            <a:ext cx="111252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315F91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35929C2-8200-40B7-B746-A12FD38B6B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267450"/>
            <a:ext cx="5143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1050" b="1" i="0">
                <a:solidFill>
                  <a:srgbClr val="315F9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 i="0">
                <a:solidFill>
                  <a:srgbClr val="315F91"/>
                </a:solidFill>
                <a:latin typeface="Microsoft YaHei"/>
                <a:ea typeface="Microsoft YaHei"/>
                <a:cs typeface="Microsoft YaHei"/>
              </a:rPr>
              <a:t>02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719E790-7B7F-47A1-96CD-39C1F682F0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267450"/>
            <a:ext cx="400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975" b="0" i="0">
                <a:solidFill>
                  <a:srgbClr val="6F6F6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 i="0">
                <a:solidFill>
                  <a:srgbClr val="6F6F6F"/>
                </a:solidFill>
                <a:latin typeface="Microsoft YaHei"/>
                <a:ea typeface="Microsoft YaHei"/>
                <a:cs typeface="Microsoft YaHei"/>
              </a:rPr>
              <a:t>模拟数据，仅用于方案讨论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D47DF3E-EFA8-48F3-B246-8F18543C8E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581150"/>
            <a:ext cx="2190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1" i="0">
                <a:solidFill>
                  <a:srgbClr val="0B223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 i="0">
                <a:solidFill>
                  <a:srgbClr val="0B2239"/>
                </a:solidFill>
                <a:latin typeface="Microsoft YaHei"/>
                <a:ea typeface="Microsoft YaHei"/>
                <a:cs typeface="Microsoft YaHei"/>
              </a:rPr>
              <a:t>选择比例（多选）</a:t>
            </a:r>
          </a:p>
        </p:txBody>
      </p:sp>
      <p:sp>
        <p:nvSpPr>
          <p:cNvPr id="8" name="bar-frame">
            <a:extLst xmlns:a="http://schemas.openxmlformats.org/drawingml/2006/main">
              <a:ext uri="{FF2B5EF4-FFF2-40B4-BE49-F238E27FC236}">
                <a16:creationId xmlns:a16="http://schemas.microsoft.com/office/drawing/2014/main" id="{B3DED6CF-2A12-4101-ACAE-F02F827359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943100"/>
            <a:ext cx="7200900" cy="3409950"/>
          </a:xfrm>
          <a:prstGeom xmlns:a="http://schemas.openxmlformats.org/drawingml/2006/main" prst="roundRect">
            <a:avLst>
              <a:gd name="adj" fmla="val 3352"/>
            </a:avLst>
          </a:prstGeom>
          <a:solidFill xmlns:a="http://schemas.openxmlformats.org/drawingml/2006/main">
            <a:srgbClr val="F5F7F9"/>
          </a:solidFill>
          <a:ln xmlns:a="http://schemas.openxmlformats.org/drawingml/2006/main" w="9525">
            <a:solidFill>
              <a:srgbClr val="D7DDE3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7B9B880-DC31-4FC1-AC26-44954A1F00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2400300"/>
            <a:ext cx="0" cy="26098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7DDE3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75F936F-F4EC-4676-9BD0-163E3E745F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33700" y="2171700"/>
            <a:ext cx="4191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975" b="0" i="0">
                <a:solidFill>
                  <a:srgbClr val="6F6F6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 i="0">
                <a:solidFill>
                  <a:srgbClr val="6F6F6F"/>
                </a:solidFill>
                <a:latin typeface="Microsoft YaHei"/>
                <a:ea typeface="Microsoft YaHei"/>
                <a:cs typeface="Microsoft YaHei"/>
              </a:rPr>
              <a:t>0%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4C54FF8-70EB-448E-82EF-DF70B37EF5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67188" y="2400300"/>
            <a:ext cx="0" cy="26098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7DDE3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DEBDB7A-6F1D-470E-B905-9843D9B6E1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57638" y="2171700"/>
            <a:ext cx="4191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975" b="0" i="0">
                <a:solidFill>
                  <a:srgbClr val="6F6F6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 i="0">
                <a:solidFill>
                  <a:srgbClr val="6F6F6F"/>
                </a:solidFill>
                <a:latin typeface="Microsoft YaHei"/>
                <a:ea typeface="Microsoft YaHei"/>
                <a:cs typeface="Microsoft YaHei"/>
              </a:rPr>
              <a:t>25%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5605219-7CDC-4A50-A6D4-BCD5D2FD96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91125" y="2400300"/>
            <a:ext cx="0" cy="26098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7DDE3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3A8A5FC-51A8-4189-92D3-3376969B17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81575" y="2171700"/>
            <a:ext cx="4191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975" b="0" i="0">
                <a:solidFill>
                  <a:srgbClr val="6F6F6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 i="0">
                <a:solidFill>
                  <a:srgbClr val="6F6F6F"/>
                </a:solidFill>
                <a:latin typeface="Microsoft YaHei"/>
                <a:ea typeface="Microsoft YaHei"/>
                <a:cs typeface="Microsoft YaHei"/>
              </a:rPr>
              <a:t>50%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07D94C0-8303-4BC2-9DB8-2EB3E4C90A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5063" y="2400300"/>
            <a:ext cx="0" cy="26098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7DDE3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C73EF10-F1DD-4A26-9325-69E09F7830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5513" y="2171700"/>
            <a:ext cx="4191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975" b="0" i="0">
                <a:solidFill>
                  <a:srgbClr val="6F6F6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 i="0">
                <a:solidFill>
                  <a:srgbClr val="6F6F6F"/>
                </a:solidFill>
                <a:latin typeface="Microsoft YaHei"/>
                <a:ea typeface="Microsoft YaHei"/>
                <a:cs typeface="Microsoft YaHei"/>
              </a:rPr>
              <a:t>75%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2A0353E-3BF7-4BB3-980E-2773C41CA4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2400300"/>
            <a:ext cx="0" cy="26098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7DDE3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AE95F9B-6BAC-43C8-AD6C-9EEA62E10F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9450" y="2171700"/>
            <a:ext cx="4191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975" b="0" i="0">
                <a:solidFill>
                  <a:srgbClr val="6F6F6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 i="0">
                <a:solidFill>
                  <a:srgbClr val="6F6F6F"/>
                </a:solidFill>
                <a:latin typeface="Microsoft YaHei"/>
                <a:ea typeface="Microsoft YaHei"/>
                <a:cs typeface="Microsoft YaHei"/>
              </a:rPr>
              <a:t>100%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B82D7956-4B4B-4A96-89C8-8A34E9F807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81700" y="1600200"/>
            <a:ext cx="152400" cy="152400"/>
          </a:xfrm>
          <a:prstGeom xmlns:a="http://schemas.openxmlformats.org/drawingml/2006/main" prst="roundRect">
            <a:avLst>
              <a:gd name="adj" fmla="val 12500"/>
            </a:avLst>
          </a:prstGeom>
          <a:solidFill xmlns:a="http://schemas.openxmlformats.org/drawingml/2006/main">
            <a:srgbClr val="315F9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E83D419D-1D2C-4638-95C9-FD0D7D0DCC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1543050"/>
            <a:ext cx="5524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0" i="0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 i="0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rPr>
              <a:t>校内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3812FD1C-B2B1-487D-867D-45DB92891D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77050" y="1600200"/>
            <a:ext cx="152400" cy="152400"/>
          </a:xfrm>
          <a:prstGeom xmlns:a="http://schemas.openxmlformats.org/drawingml/2006/main" prst="roundRect">
            <a:avLst>
              <a:gd name="adj" fmla="val 12500"/>
            </a:avLst>
          </a:prstGeom>
          <a:solidFill xmlns:a="http://schemas.openxmlformats.org/drawingml/2006/main">
            <a:srgbClr val="D9822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09725059-81C4-4169-8C4F-CFBCBA46F3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86600" y="1543050"/>
            <a:ext cx="5524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0" i="0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 i="0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rPr>
              <a:t>校外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E01AE703-6C6A-4DE8-B9C7-EAA52DE894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647950"/>
            <a:ext cx="2000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1" i="0">
                <a:solidFill>
                  <a:srgbClr val="2B2B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 i="0">
                <a:solidFill>
                  <a:srgbClr val="2B2B2B"/>
                </a:solidFill>
                <a:latin typeface="Microsoft YaHei"/>
                <a:ea typeface="Microsoft YaHei"/>
                <a:cs typeface="Microsoft YaHei"/>
              </a:rPr>
              <a:t>时段难匹配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14461372-8840-43FC-BBFE-3E40E29087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2667000"/>
            <a:ext cx="2539365" cy="152400"/>
          </a:xfrm>
          <a:prstGeom xmlns:a="http://schemas.openxmlformats.org/drawingml/2006/main" prst="roundRect">
            <a:avLst>
              <a:gd name="adj" fmla="val 12500"/>
            </a:avLst>
          </a:prstGeom>
          <a:solidFill xmlns:a="http://schemas.openxmlformats.org/drawingml/2006/main">
            <a:srgbClr val="315F9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1D121596-AA54-4213-9681-ACC5EF156C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2886075"/>
            <a:ext cx="1843088" cy="152400"/>
          </a:xfrm>
          <a:prstGeom xmlns:a="http://schemas.openxmlformats.org/drawingml/2006/main" prst="roundRect">
            <a:avLst>
              <a:gd name="adj" fmla="val 12500"/>
            </a:avLst>
          </a:prstGeom>
          <a:solidFill xmlns:a="http://schemas.openxmlformats.org/drawingml/2006/main">
            <a:srgbClr val="D9822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CE824649-5ED3-47B5-B98E-9639A2B7DF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58815" y="2619375"/>
            <a:ext cx="4191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1" i="0">
                <a:solidFill>
                  <a:srgbClr val="315F9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 i="0">
                <a:solidFill>
                  <a:srgbClr val="315F91"/>
                </a:solidFill>
                <a:latin typeface="Microsoft YaHei"/>
                <a:ea typeface="Microsoft YaHei"/>
                <a:cs typeface="Microsoft YaHei"/>
              </a:rPr>
              <a:t>62%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1C60EFE7-D322-407B-8AA1-962DCF925F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62538" y="2838450"/>
            <a:ext cx="4191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1" i="0">
                <a:solidFill>
                  <a:srgbClr val="D982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 i="0">
                <a:solidFill>
                  <a:srgbClr val="D9822B"/>
                </a:solidFill>
                <a:latin typeface="Microsoft YaHei"/>
                <a:ea typeface="Microsoft YaHei"/>
                <a:cs typeface="Microsoft YaHei"/>
              </a:rPr>
              <a:t>45%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8ECAC498-313C-47EB-92AD-B44EEE3E32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219450"/>
            <a:ext cx="2000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1" i="0">
                <a:solidFill>
                  <a:srgbClr val="2B2B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 i="0">
                <a:solidFill>
                  <a:srgbClr val="2B2B2B"/>
                </a:solidFill>
                <a:latin typeface="Microsoft YaHei"/>
                <a:ea typeface="Microsoft YaHei"/>
                <a:cs typeface="Microsoft YaHei"/>
              </a:rPr>
              <a:t>审批慢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25E918E5-87EC-42BE-B090-1D058B1486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3238500"/>
            <a:ext cx="1965960" cy="152400"/>
          </a:xfrm>
          <a:prstGeom xmlns:a="http://schemas.openxmlformats.org/drawingml/2006/main" prst="roundRect">
            <a:avLst>
              <a:gd name="adj" fmla="val 12500"/>
            </a:avLst>
          </a:prstGeom>
          <a:solidFill xmlns:a="http://schemas.openxmlformats.org/drawingml/2006/main">
            <a:srgbClr val="315F9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0E2D4E7B-1303-4E4B-860B-AA8C678353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3457575"/>
            <a:ext cx="2662238" cy="152400"/>
          </a:xfrm>
          <a:prstGeom xmlns:a="http://schemas.openxmlformats.org/drawingml/2006/main" prst="roundRect">
            <a:avLst>
              <a:gd name="adj" fmla="val 12500"/>
            </a:avLst>
          </a:prstGeom>
          <a:solidFill xmlns:a="http://schemas.openxmlformats.org/drawingml/2006/main">
            <a:srgbClr val="D9822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E3AA4087-4867-4451-A147-B5EE56D4BF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5410" y="3190875"/>
            <a:ext cx="4191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1" i="0">
                <a:solidFill>
                  <a:srgbClr val="315F9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 i="0">
                <a:solidFill>
                  <a:srgbClr val="315F91"/>
                </a:solidFill>
                <a:latin typeface="Microsoft YaHei"/>
                <a:ea typeface="Microsoft YaHei"/>
                <a:cs typeface="Microsoft YaHei"/>
              </a:rPr>
              <a:t>48%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6761FB70-1940-4D22-B393-585EF8AB22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81688" y="3409950"/>
            <a:ext cx="4191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1" i="0">
                <a:solidFill>
                  <a:srgbClr val="D982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 i="0">
                <a:solidFill>
                  <a:srgbClr val="D9822B"/>
                </a:solidFill>
                <a:latin typeface="Microsoft YaHei"/>
                <a:ea typeface="Microsoft YaHei"/>
                <a:cs typeface="Microsoft YaHei"/>
              </a:rPr>
              <a:t>65%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C6E91221-7243-44D5-ABD7-1E2AD36270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790950"/>
            <a:ext cx="2000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1" i="0">
                <a:solidFill>
                  <a:srgbClr val="2B2B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 i="0">
                <a:solidFill>
                  <a:srgbClr val="2B2B2B"/>
                </a:solidFill>
                <a:latin typeface="Microsoft YaHei"/>
                <a:ea typeface="Microsoft YaHei"/>
                <a:cs typeface="Microsoft YaHei"/>
              </a:rPr>
              <a:t>费用不清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8E8D7B9C-6B81-4FAF-A2E3-A8B5760958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3810000"/>
            <a:ext cx="1146810" cy="152400"/>
          </a:xfrm>
          <a:prstGeom xmlns:a="http://schemas.openxmlformats.org/drawingml/2006/main" prst="roundRect">
            <a:avLst>
              <a:gd name="adj" fmla="val 12500"/>
            </a:avLst>
          </a:prstGeom>
          <a:solidFill xmlns:a="http://schemas.openxmlformats.org/drawingml/2006/main">
            <a:srgbClr val="315F9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A55A4C33-6189-49DA-99CC-24F0DEA22C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4029075"/>
            <a:ext cx="2375535" cy="152400"/>
          </a:xfrm>
          <a:prstGeom xmlns:a="http://schemas.openxmlformats.org/drawingml/2006/main" prst="roundRect">
            <a:avLst>
              <a:gd name="adj" fmla="val 12500"/>
            </a:avLst>
          </a:prstGeom>
          <a:solidFill xmlns:a="http://schemas.openxmlformats.org/drawingml/2006/main">
            <a:srgbClr val="D9822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BF0DFF1B-1905-435C-AF9C-B739AD6206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66260" y="3762375"/>
            <a:ext cx="4191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1" i="0">
                <a:solidFill>
                  <a:srgbClr val="315F9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 i="0">
                <a:solidFill>
                  <a:srgbClr val="315F91"/>
                </a:solidFill>
                <a:latin typeface="Microsoft YaHei"/>
                <a:ea typeface="Microsoft YaHei"/>
                <a:cs typeface="Microsoft YaHei"/>
              </a:rPr>
              <a:t>28%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4EDA8B44-9F7A-4103-A7B3-6A3C961DD8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94985" y="3981450"/>
            <a:ext cx="4191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1" i="0">
                <a:solidFill>
                  <a:srgbClr val="D982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 i="0">
                <a:solidFill>
                  <a:srgbClr val="D9822B"/>
                </a:solidFill>
                <a:latin typeface="Microsoft YaHei"/>
                <a:ea typeface="Microsoft YaHei"/>
                <a:cs typeface="Microsoft YaHei"/>
              </a:rPr>
              <a:t>58%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AFA54AA2-48F6-41CE-B780-E0C106BE3D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4362450"/>
            <a:ext cx="2000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1" i="0">
                <a:solidFill>
                  <a:srgbClr val="2B2B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 i="0">
                <a:solidFill>
                  <a:srgbClr val="2B2B2B"/>
                </a:solidFill>
                <a:latin typeface="Microsoft YaHei"/>
                <a:ea typeface="Microsoft YaHei"/>
                <a:cs typeface="Microsoft YaHei"/>
              </a:rPr>
              <a:t>操作培训不足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8776BF8F-6AED-480B-AC1B-93BC87AD1C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4381500"/>
            <a:ext cx="1802130" cy="152400"/>
          </a:xfrm>
          <a:prstGeom xmlns:a="http://schemas.openxmlformats.org/drawingml/2006/main" prst="roundRect">
            <a:avLst>
              <a:gd name="adj" fmla="val 12500"/>
            </a:avLst>
          </a:prstGeom>
          <a:solidFill xmlns:a="http://schemas.openxmlformats.org/drawingml/2006/main">
            <a:srgbClr val="315F9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99F48A8C-CBA9-4A49-B4DD-666A5A3464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4600575"/>
            <a:ext cx="1310640" cy="152400"/>
          </a:xfrm>
          <a:prstGeom xmlns:a="http://schemas.openxmlformats.org/drawingml/2006/main" prst="roundRect">
            <a:avLst>
              <a:gd name="adj" fmla="val 12500"/>
            </a:avLst>
          </a:prstGeom>
          <a:solidFill xmlns:a="http://schemas.openxmlformats.org/drawingml/2006/main">
            <a:srgbClr val="D9822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88680752-A585-4565-8F52-AB4C2B74BD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1580" y="4333875"/>
            <a:ext cx="4191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1" i="0">
                <a:solidFill>
                  <a:srgbClr val="315F9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 i="0">
                <a:solidFill>
                  <a:srgbClr val="315F91"/>
                </a:solidFill>
                <a:latin typeface="Microsoft YaHei"/>
                <a:ea typeface="Microsoft YaHei"/>
                <a:cs typeface="Microsoft YaHei"/>
              </a:rPr>
              <a:t>44%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95993B38-90A7-4C53-B88A-4061638ABB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30090" y="4552950"/>
            <a:ext cx="4191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1" i="0">
                <a:solidFill>
                  <a:srgbClr val="D982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 i="0">
                <a:solidFill>
                  <a:srgbClr val="D9822B"/>
                </a:solidFill>
                <a:latin typeface="Microsoft YaHei"/>
                <a:ea typeface="Microsoft YaHei"/>
                <a:cs typeface="Microsoft YaHei"/>
              </a:rPr>
              <a:t>32%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E29EE6CD-1F26-42B5-8D4D-67F5C6F665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5086350"/>
            <a:ext cx="5334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0" i="1">
                <a:solidFill>
                  <a:srgbClr val="6F6F6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 i="1">
                <a:solidFill>
                  <a:srgbClr val="6F6F6F"/>
                </a:solidFill>
                <a:latin typeface="Microsoft YaHei"/>
                <a:ea typeface="Microsoft YaHei"/>
                <a:cs typeface="Microsoft YaHei"/>
              </a:rPr>
              <a:t>每组各 100 人；多选比例不相加为 100%。</a:t>
            </a:r>
          </a:p>
        </p:txBody>
      </p:sp>
      <p:sp>
        <p:nvSpPr>
          <p:cNvPr id="44" name="priority">
            <a:extLst xmlns:a="http://schemas.openxmlformats.org/drawingml/2006/main">
              <a:ext uri="{FF2B5EF4-FFF2-40B4-BE49-F238E27FC236}">
                <a16:creationId xmlns:a16="http://schemas.microsoft.com/office/drawing/2014/main" id="{FF65A25D-C6A9-4F40-BE8B-B9A5F67138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62950" y="1943100"/>
            <a:ext cx="3295650" cy="3409950"/>
          </a:xfrm>
          <a:prstGeom xmlns:a="http://schemas.openxmlformats.org/drawingml/2006/main" prst="roundRect">
            <a:avLst>
              <a:gd name="adj" fmla="val 346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DE3"/>
            </a:solidFill>
            <a:prstDash val="solid"/>
          </a:ln>
        </p:spPr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CBFC0EA9-1A13-403C-B0ED-F0AE444D32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2209800"/>
            <a:ext cx="2476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1" i="0">
                <a:solidFill>
                  <a:srgbClr val="0B223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 i="0">
                <a:solidFill>
                  <a:srgbClr val="0B2239"/>
                </a:solidFill>
                <a:latin typeface="Microsoft YaHei"/>
                <a:ea typeface="Microsoft YaHei"/>
                <a:cs typeface="Microsoft YaHei"/>
              </a:rPr>
              <a:t>管理含义</a:t>
            </a:r>
          </a:p>
        </p:txBody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78B31077-C3C3-4AA5-8720-310358FC02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2781300"/>
            <a:ext cx="76200" cy="742950"/>
          </a:xfrm>
          <a:prstGeom xmlns:a="http://schemas.openxmlformats.org/drawingml/2006/main" prst="roundRect">
            <a:avLst>
              <a:gd name="adj" fmla="val 25000"/>
            </a:avLst>
          </a:prstGeom>
          <a:solidFill xmlns:a="http://schemas.openxmlformats.org/drawingml/2006/main">
            <a:srgbClr val="315F9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F9B4EC85-30B9-4939-ADB4-8E5AC585B2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15400" y="2743200"/>
            <a:ext cx="2286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1" i="0">
                <a:solidFill>
                  <a:srgbClr val="315F9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 i="0">
                <a:solidFill>
                  <a:srgbClr val="315F91"/>
                </a:solidFill>
                <a:latin typeface="Microsoft YaHei"/>
                <a:ea typeface="Microsoft YaHei"/>
                <a:cs typeface="Microsoft YaHei"/>
              </a:rPr>
              <a:t>校内用户</a:t>
            </a:r>
          </a:p>
        </p:txBody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192E8F73-8874-4636-9514-B9E7A8B062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15400" y="3067050"/>
            <a:ext cx="23622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0" i="0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 i="0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rPr>
              <a:t>优先看时段供给：62% 的人反馈时段难匹配。</a:t>
            </a:r>
          </a:p>
        </p:txBody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C5ACD6C3-453B-4B6D-B661-6121DF2F60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3924300"/>
            <a:ext cx="76200" cy="742950"/>
          </a:xfrm>
          <a:prstGeom xmlns:a="http://schemas.openxmlformats.org/drawingml/2006/main" prst="roundRect">
            <a:avLst>
              <a:gd name="adj" fmla="val 25000"/>
            </a:avLst>
          </a:prstGeom>
          <a:solidFill xmlns:a="http://schemas.openxmlformats.org/drawingml/2006/main">
            <a:srgbClr val="D9822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2433CB05-B22C-404C-9B8E-45A7A5496B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15400" y="3886200"/>
            <a:ext cx="2286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1" i="0">
                <a:solidFill>
                  <a:srgbClr val="D982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 i="0">
                <a:solidFill>
                  <a:srgbClr val="D9822B"/>
                </a:solidFill>
                <a:latin typeface="Microsoft YaHei"/>
                <a:ea typeface="Microsoft YaHei"/>
                <a:cs typeface="Microsoft YaHei"/>
              </a:rPr>
              <a:t>校外用户</a:t>
            </a:r>
          </a:p>
        </p:txBody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B013F39D-5FB6-4814-AED3-A5C9F5EF10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15400" y="4210050"/>
            <a:ext cx="23622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0" i="0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 i="0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rPr>
              <a:t>优先看流程透明度：审批慢与费用不清分别为 65%、58%。</a:t>
            </a:r>
          </a:p>
        </p:txBody>
      </p:sp>
    </p:spTree>
    <p:extLst>
      <p:ext uri="{BB962C8B-B14F-4D97-AF65-F5344CB8AC3E}">
        <p14:creationId xmlns:p14="http://schemas.microsoft.com/office/powerpoint/2010/main" val="282205346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377878AD-AFB4-4D67-A0BD-27CD773844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66700"/>
            <a:ext cx="3905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1" i="0">
                <a:solidFill>
                  <a:srgbClr val="315F9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 i="0">
                <a:solidFill>
                  <a:srgbClr val="315F91"/>
                </a:solidFill>
                <a:latin typeface="Microsoft YaHei"/>
                <a:ea typeface="Microsoft YaHei"/>
                <a:cs typeface="Microsoft YaHei"/>
              </a:rPr>
              <a:t>东北大学｜大学共享仪器服务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2E270FE-E360-4F4F-AA6A-26AA463BED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266700"/>
            <a:ext cx="20383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1050" b="0" i="0">
                <a:solidFill>
                  <a:srgbClr val="6F6F6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 i="0">
                <a:solidFill>
                  <a:srgbClr val="6F6F6F"/>
                </a:solidFill>
                <a:latin typeface="Microsoft YaHei"/>
                <a:ea typeface="Microsoft YaHei"/>
                <a:cs typeface="Microsoft YaHei"/>
              </a:rPr>
              <a:t>试点｜三阶段拟议路径</a:t>
            </a:r>
          </a:p>
        </p:txBody>
      </p:sp>
      <p:sp>
        <p:nvSpPr>
          <p:cNvPr id="3" name="title-3">
            <a:extLst xmlns:a="http://schemas.openxmlformats.org/drawingml/2006/main">
              <a:ext uri="{FF2B5EF4-FFF2-40B4-BE49-F238E27FC236}">
                <a16:creationId xmlns:a16="http://schemas.microsoft.com/office/drawing/2014/main" id="{43BD5447-53DD-4198-9122-4958CC0246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7700"/>
            <a:ext cx="111252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400" b="1" i="0">
                <a:solidFill>
                  <a:srgbClr val="0B2239"/>
                </a:solidFill>
                <a:latin typeface="HYWenRunSongYun U"/>
                <a:ea typeface="HYWenRunSongYun U"/>
                <a:cs typeface="HYWenRunSongYun U"/>
              </a:defRPr>
            </a:pPr>
            <a:r>
              <a:rPr sz="2400" b="1" i="0">
                <a:solidFill>
                  <a:srgbClr val="0B2239"/>
                </a:solidFill>
                <a:latin typeface="HYWenRunSongYun U"/>
                <a:ea typeface="HYWenRunSongYun U"/>
                <a:cs typeface="HYWenRunSongYun U"/>
              </a:rPr>
              <a:t>分阶段试点把问题定位到入口、审批、说明三个环节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BF8A459-6D43-4FEC-B087-F30B60081D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333500"/>
            <a:ext cx="111252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315F91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A61B0F9-B4F3-4579-8658-88CAFEF169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267450"/>
            <a:ext cx="5143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1050" b="1" i="0">
                <a:solidFill>
                  <a:srgbClr val="315F9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 i="0">
                <a:solidFill>
                  <a:srgbClr val="315F91"/>
                </a:solidFill>
                <a:latin typeface="Microsoft YaHei"/>
                <a:ea typeface="Microsoft YaHei"/>
                <a:cs typeface="Microsoft YaHei"/>
              </a:rPr>
              <a:t>03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71042CA-B2E5-4E3F-9ED9-E87F36616C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267450"/>
            <a:ext cx="400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975" b="0" i="0">
                <a:solidFill>
                  <a:srgbClr val="6F6F6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 i="0">
                <a:solidFill>
                  <a:srgbClr val="6F6F6F"/>
                </a:solidFill>
                <a:latin typeface="Microsoft YaHei"/>
                <a:ea typeface="Microsoft YaHei"/>
                <a:cs typeface="Microsoft YaHei"/>
              </a:rPr>
              <a:t>模拟数据，仅用于方案讨论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345C03A-DB5F-414F-8B28-BDB1DBB70B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581150"/>
            <a:ext cx="6762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0" i="0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 i="0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rPr>
              <a:t>每一步先形成可记录的交付，再观察对应指标；不预设改善数值。</a:t>
            </a:r>
          </a:p>
        </p:txBody>
      </p:sp>
      <p:sp>
        <p:nvSpPr>
          <p:cNvPr id="8" name="stage-1">
            <a:extLst xmlns:a="http://schemas.openxmlformats.org/drawingml/2006/main">
              <a:ext uri="{FF2B5EF4-FFF2-40B4-BE49-F238E27FC236}">
                <a16:creationId xmlns:a16="http://schemas.microsoft.com/office/drawing/2014/main" id="{51F00C74-5801-46C5-BB7D-11DF4549F0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133600"/>
            <a:ext cx="2800350" cy="2628900"/>
          </a:xfrm>
          <a:prstGeom xmlns:a="http://schemas.openxmlformats.org/drawingml/2006/main" prst="roundRect">
            <a:avLst>
              <a:gd name="adj" fmla="val 4348"/>
            </a:avLst>
          </a:prstGeom>
          <a:solidFill xmlns:a="http://schemas.openxmlformats.org/drawingml/2006/main">
            <a:srgbClr val="F5F7F9"/>
          </a:solidFill>
          <a:ln xmlns:a="http://schemas.openxmlformats.org/drawingml/2006/main" w="9525">
            <a:solidFill>
              <a:srgbClr val="D7DDE3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6C5A1E1-0879-4DE6-AFE5-1F0113A29D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133600"/>
            <a:ext cx="2800350" cy="514350"/>
          </a:xfrm>
          <a:prstGeom xmlns:a="http://schemas.openxmlformats.org/drawingml/2006/main" prst="roundRect">
            <a:avLst>
              <a:gd name="adj" fmla="val 22222"/>
            </a:avLst>
          </a:prstGeom>
          <a:solidFill xmlns:a="http://schemas.openxmlformats.org/drawingml/2006/main">
            <a:srgbClr val="315F9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FFDC968-83AD-4488-BE81-C9A975B1CB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476500"/>
            <a:ext cx="28003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15F9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8EA2878-F9FF-4817-94F1-A8E6AEA438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257425"/>
            <a:ext cx="381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01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97BA4F4-A826-4D07-A5CE-6B7B07E54E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2219325"/>
            <a:ext cx="20383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统一预约入口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30AF5BB-C3F5-4DD1-86BA-39EB1859FE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914650"/>
            <a:ext cx="571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1" i="0">
                <a:solidFill>
                  <a:srgbClr val="6F6F6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 i="0">
                <a:solidFill>
                  <a:srgbClr val="6F6F6F"/>
                </a:solidFill>
                <a:latin typeface="Microsoft YaHei"/>
                <a:ea typeface="Microsoft YaHei"/>
                <a:cs typeface="Microsoft YaHei"/>
              </a:rPr>
              <a:t>交付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B1B3409-C8B2-49D6-B1C8-8C9111C441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162300"/>
            <a:ext cx="23431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1" i="0">
                <a:solidFill>
                  <a:srgbClr val="2B2B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 i="0">
                <a:solidFill>
                  <a:srgbClr val="2B2B2B"/>
                </a:solidFill>
                <a:latin typeface="Microsoft YaHei"/>
                <a:ea typeface="Microsoft YaHei"/>
                <a:cs typeface="Microsoft YaHei"/>
              </a:rPr>
              <a:t>统一设备与时段目录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DDB12FD-BA36-4CCE-84B3-CCC8B2CCC7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657600"/>
            <a:ext cx="23431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7DDE3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9FFE98C-B8AD-43D7-9D8F-A3DEFF6764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829050"/>
            <a:ext cx="571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1" i="0">
                <a:solidFill>
                  <a:srgbClr val="6F6F6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 i="0">
                <a:solidFill>
                  <a:srgbClr val="6F6F6F"/>
                </a:solidFill>
                <a:latin typeface="Microsoft YaHei"/>
                <a:ea typeface="Microsoft YaHei"/>
                <a:cs typeface="Microsoft YaHei"/>
              </a:rPr>
              <a:t>观察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21EF713-781C-43CB-83C0-8FD756EF54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4076700"/>
            <a:ext cx="23431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1" i="0">
                <a:solidFill>
                  <a:srgbClr val="315F9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 i="0">
                <a:solidFill>
                  <a:srgbClr val="315F91"/>
                </a:solidFill>
                <a:latin typeface="Microsoft YaHei"/>
                <a:ea typeface="Microsoft YaHei"/>
                <a:cs typeface="Microsoft YaHei"/>
              </a:rPr>
              <a:t>信息完整率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774CD94-955A-4C6F-BD12-8D2570D515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0" y="3200400"/>
            <a:ext cx="247650" cy="95250"/>
          </a:xfrm>
          <a:prstGeom xmlns:a="http://schemas.openxmlformats.org/drawingml/2006/main" prst="roundRect">
            <a:avLst>
              <a:gd name="adj" fmla="val 20000"/>
            </a:avLst>
          </a:prstGeom>
          <a:solidFill xmlns:a="http://schemas.openxmlformats.org/drawingml/2006/main">
            <a:srgbClr val="D7DDE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8404F3D6-3CA0-425E-BDE8-F8AAA7C255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29050" y="3124200"/>
            <a:ext cx="152400" cy="247650"/>
          </a:xfrm>
          <a:prstGeom xmlns:a="http://schemas.openxmlformats.org/drawingml/2006/main" prst="roundRect">
            <a:avLst>
              <a:gd name="adj" fmla="val 12500"/>
            </a:avLst>
          </a:prstGeom>
          <a:solidFill xmlns:a="http://schemas.openxmlformats.org/drawingml/2006/main">
            <a:srgbClr val="D7DDE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stage-2">
            <a:extLst xmlns:a="http://schemas.openxmlformats.org/drawingml/2006/main">
              <a:ext uri="{FF2B5EF4-FFF2-40B4-BE49-F238E27FC236}">
                <a16:creationId xmlns:a16="http://schemas.microsoft.com/office/drawing/2014/main" id="{0B4B90D5-04FC-4F45-A8F0-6190A5B3C4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62400" y="2133600"/>
            <a:ext cx="2800350" cy="2628900"/>
          </a:xfrm>
          <a:prstGeom xmlns:a="http://schemas.openxmlformats.org/drawingml/2006/main" prst="roundRect">
            <a:avLst>
              <a:gd name="adj" fmla="val 4348"/>
            </a:avLst>
          </a:prstGeom>
          <a:solidFill xmlns:a="http://schemas.openxmlformats.org/drawingml/2006/main">
            <a:srgbClr val="F5F7F9"/>
          </a:solidFill>
          <a:ln xmlns:a="http://schemas.openxmlformats.org/drawingml/2006/main" w="9525">
            <a:solidFill>
              <a:srgbClr val="D7DDE3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E3DF53DF-212D-4295-9C95-EEC6AA1BEE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62400" y="2133600"/>
            <a:ext cx="2800350" cy="514350"/>
          </a:xfrm>
          <a:prstGeom xmlns:a="http://schemas.openxmlformats.org/drawingml/2006/main" prst="roundRect">
            <a:avLst>
              <a:gd name="adj" fmla="val 22222"/>
            </a:avLst>
          </a:prstGeom>
          <a:solidFill xmlns:a="http://schemas.openxmlformats.org/drawingml/2006/main">
            <a:srgbClr val="6D94B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2E6C7107-2B71-471D-AE46-F69CA97F07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62400" y="2476500"/>
            <a:ext cx="28003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D94B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A8E00806-3706-4BE8-8FC5-2EC9791B7B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33850" y="2257425"/>
            <a:ext cx="381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02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2587170E-C671-4460-8735-7389A5F6CD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91050" y="2219325"/>
            <a:ext cx="20383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明确审批责任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658EF53C-DF3A-4DA0-ACC6-250BC65B89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0" y="2914650"/>
            <a:ext cx="571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1" i="0">
                <a:solidFill>
                  <a:srgbClr val="6F6F6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 i="0">
                <a:solidFill>
                  <a:srgbClr val="6F6F6F"/>
                </a:solidFill>
                <a:latin typeface="Microsoft YaHei"/>
                <a:ea typeface="Microsoft YaHei"/>
                <a:cs typeface="Microsoft YaHei"/>
              </a:rPr>
              <a:t>交付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AAA35C19-9699-42EC-87AF-109344443F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0" y="3162300"/>
            <a:ext cx="23431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1" i="0">
                <a:solidFill>
                  <a:srgbClr val="2B2B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 i="0">
                <a:solidFill>
                  <a:srgbClr val="2B2B2B"/>
                </a:solidFill>
                <a:latin typeface="Microsoft YaHei"/>
                <a:ea typeface="Microsoft YaHei"/>
                <a:cs typeface="Microsoft YaHei"/>
              </a:rPr>
              <a:t>责任人与时限表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3C47D67B-D73F-40FC-975C-C262D397B0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0" y="3657600"/>
            <a:ext cx="23431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7DDE3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84E4B717-98D6-424D-A0B9-0B1E84E5DE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0" y="3829050"/>
            <a:ext cx="571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1" i="0">
                <a:solidFill>
                  <a:srgbClr val="6F6F6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 i="0">
                <a:solidFill>
                  <a:srgbClr val="6F6F6F"/>
                </a:solidFill>
                <a:latin typeface="Microsoft YaHei"/>
                <a:ea typeface="Microsoft YaHei"/>
                <a:cs typeface="Microsoft YaHei"/>
              </a:rPr>
              <a:t>观察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2F64D0F1-214F-4A3C-9581-DE38EA9C84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0" y="4076700"/>
            <a:ext cx="23431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1" i="0">
                <a:solidFill>
                  <a:srgbClr val="6D94B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 i="0">
                <a:solidFill>
                  <a:srgbClr val="6D94B8"/>
                </a:solidFill>
                <a:latin typeface="Microsoft YaHei"/>
                <a:ea typeface="Microsoft YaHei"/>
                <a:cs typeface="Microsoft YaHei"/>
              </a:rPr>
              <a:t>审批时长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A9889F4A-6231-4689-91C5-8CE020B69F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77050" y="3200400"/>
            <a:ext cx="247650" cy="95250"/>
          </a:xfrm>
          <a:prstGeom xmlns:a="http://schemas.openxmlformats.org/drawingml/2006/main" prst="roundRect">
            <a:avLst>
              <a:gd name="adj" fmla="val 20000"/>
            </a:avLst>
          </a:prstGeom>
          <a:solidFill xmlns:a="http://schemas.openxmlformats.org/drawingml/2006/main">
            <a:srgbClr val="D7DDE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9714B6D7-8181-4C00-B346-A8877B3C3F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86600" y="3124200"/>
            <a:ext cx="152400" cy="247650"/>
          </a:xfrm>
          <a:prstGeom xmlns:a="http://schemas.openxmlformats.org/drawingml/2006/main" prst="roundRect">
            <a:avLst>
              <a:gd name="adj" fmla="val 12500"/>
            </a:avLst>
          </a:prstGeom>
          <a:solidFill xmlns:a="http://schemas.openxmlformats.org/drawingml/2006/main">
            <a:srgbClr val="D7DDE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2" name="stage-3">
            <a:extLst xmlns:a="http://schemas.openxmlformats.org/drawingml/2006/main">
              <a:ext uri="{FF2B5EF4-FFF2-40B4-BE49-F238E27FC236}">
                <a16:creationId xmlns:a16="http://schemas.microsoft.com/office/drawing/2014/main" id="{CCA66006-4B68-44B4-86E6-E9C90DD75A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19950" y="2133600"/>
            <a:ext cx="2800350" cy="2628900"/>
          </a:xfrm>
          <a:prstGeom xmlns:a="http://schemas.openxmlformats.org/drawingml/2006/main" prst="roundRect">
            <a:avLst>
              <a:gd name="adj" fmla="val 4348"/>
            </a:avLst>
          </a:prstGeom>
          <a:solidFill xmlns:a="http://schemas.openxmlformats.org/drawingml/2006/main">
            <a:srgbClr val="F5F7F9"/>
          </a:solidFill>
          <a:ln xmlns:a="http://schemas.openxmlformats.org/drawingml/2006/main" w="9525">
            <a:solidFill>
              <a:srgbClr val="D7DDE3"/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E3076FDD-237C-40BF-B281-C0C095A8F2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19950" y="2133600"/>
            <a:ext cx="2800350" cy="514350"/>
          </a:xfrm>
          <a:prstGeom xmlns:a="http://schemas.openxmlformats.org/drawingml/2006/main" prst="roundRect">
            <a:avLst>
              <a:gd name="adj" fmla="val 22222"/>
            </a:avLst>
          </a:prstGeom>
          <a:solidFill xmlns:a="http://schemas.openxmlformats.org/drawingml/2006/main">
            <a:srgbClr val="D9822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4A5F37E8-A4CE-4738-BD35-40318716D6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19950" y="2476500"/>
            <a:ext cx="28003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822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5049B452-679E-44BB-A8EF-30442CF6E4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91400" y="2257425"/>
            <a:ext cx="381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03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EC53BD58-E805-454D-86FB-21C3C9B331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48600" y="2219325"/>
            <a:ext cx="20383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发布费用与培训说明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F7D769A2-10FB-4680-A68E-C21B02BF08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48550" y="2914650"/>
            <a:ext cx="571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1" i="0">
                <a:solidFill>
                  <a:srgbClr val="6F6F6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 i="0">
                <a:solidFill>
                  <a:srgbClr val="6F6F6F"/>
                </a:solidFill>
                <a:latin typeface="Microsoft YaHei"/>
                <a:ea typeface="Microsoft YaHei"/>
                <a:cs typeface="Microsoft YaHei"/>
              </a:rPr>
              <a:t>交付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EDDE819A-D2EC-48DE-9FA0-126A5F7D75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48550" y="3162300"/>
            <a:ext cx="23431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1" i="0">
                <a:solidFill>
                  <a:srgbClr val="2B2B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 i="0">
                <a:solidFill>
                  <a:srgbClr val="2B2B2B"/>
                </a:solidFill>
                <a:latin typeface="Microsoft YaHei"/>
                <a:ea typeface="Microsoft YaHei"/>
                <a:cs typeface="Microsoft YaHei"/>
              </a:rPr>
              <a:t>费用清单及培训入口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8ED107AD-7405-441A-ADC1-47EF043B71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48550" y="3657600"/>
            <a:ext cx="23431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7DDE3"/>
            </a:solidFill>
            <a:prstDash val="solid"/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AB3AA271-A983-43DF-A270-5D34A62EA8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48550" y="3829050"/>
            <a:ext cx="571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1" i="0">
                <a:solidFill>
                  <a:srgbClr val="6F6F6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 i="0">
                <a:solidFill>
                  <a:srgbClr val="6F6F6F"/>
                </a:solidFill>
                <a:latin typeface="Microsoft YaHei"/>
                <a:ea typeface="Microsoft YaHei"/>
                <a:cs typeface="Microsoft YaHei"/>
              </a:rPr>
              <a:t>观察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B7C766DC-B3B9-4ED2-BCDB-50B5385004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48550" y="4076700"/>
            <a:ext cx="23431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1" i="0">
                <a:solidFill>
                  <a:srgbClr val="D982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 i="0">
                <a:solidFill>
                  <a:srgbClr val="D9822B"/>
                </a:solidFill>
                <a:latin typeface="Microsoft YaHei"/>
                <a:ea typeface="Microsoft YaHei"/>
                <a:cs typeface="Microsoft YaHei"/>
              </a:rPr>
              <a:t>重复咨询量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4B79D212-5F6F-489B-BA17-35262570A9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5086350"/>
            <a:ext cx="95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1" i="0">
                <a:solidFill>
                  <a:srgbClr val="0B223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 i="0">
                <a:solidFill>
                  <a:srgbClr val="0B2239"/>
                </a:solidFill>
                <a:latin typeface="Microsoft YaHei"/>
                <a:ea typeface="Microsoft YaHei"/>
                <a:cs typeface="Microsoft YaHei"/>
              </a:rPr>
              <a:t>推进门槛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FE9117A6-FFBD-4A36-89A7-9885EAA7DF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85950" y="5067300"/>
            <a:ext cx="228600" cy="2286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15F91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12059F02-398B-4BAA-BB7A-A8F9074F55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09800" y="5067300"/>
            <a:ext cx="10668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1" i="0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 i="0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rPr>
              <a:t>记录完整</a:t>
            </a: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5C760C1F-C865-47AF-8AAE-96F7F59B79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43150" y="5181600"/>
            <a:ext cx="17335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D7DDE3"/>
            </a:solidFill>
            <a:prstDash val="solid"/>
          </a:ln>
        </p:spPr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B4FDED58-0CF3-46A8-A638-33428F893F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71950" y="5067300"/>
            <a:ext cx="228600" cy="2286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15F91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32C1663F-D465-4AAE-9DF0-48D113D996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95800" y="5067300"/>
            <a:ext cx="10668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1" i="0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 i="0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rPr>
              <a:t>责任明确</a:t>
            </a:r>
          </a:p>
        </p:txBody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8D2549D8-1C97-4ECE-AFFD-5BEEF5FBC8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29150" y="5181600"/>
            <a:ext cx="17335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D7DDE3"/>
            </a:solidFill>
            <a:prstDash val="solid"/>
          </a:ln>
        </p:spPr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29850E54-E886-49D5-9453-3420645DBF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5067300"/>
            <a:ext cx="228600" cy="2286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9822B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B8B5A226-8E90-4F5B-A321-D6F3111F18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81800" y="5067300"/>
            <a:ext cx="10668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1" i="0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 i="0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rPr>
              <a:t>负责人确认</a:t>
            </a:r>
          </a:p>
        </p:txBody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ACC2D00B-3467-4F8E-B3EE-07A71B0EC2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48600" y="5067300"/>
            <a:ext cx="3810000" cy="609600"/>
          </a:xfrm>
          <a:prstGeom xmlns:a="http://schemas.openxmlformats.org/drawingml/2006/main" prst="roundRect">
            <a:avLst>
              <a:gd name="adj" fmla="val 18750"/>
            </a:avLst>
          </a:prstGeom>
          <a:solidFill xmlns:a="http://schemas.openxmlformats.org/drawingml/2006/main">
            <a:srgbClr val="F8EBD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96AC4083-59FC-4770-995E-FCE19B54D7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5219700"/>
            <a:ext cx="3333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200" b="1" i="0">
                <a:solidFill>
                  <a:srgbClr val="D982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 i="0">
                <a:solidFill>
                  <a:srgbClr val="D9822B"/>
                </a:solidFill>
                <a:latin typeface="Microsoft YaHei"/>
                <a:ea typeface="Microsoft YaHei"/>
                <a:cs typeface="Microsoft YaHei"/>
              </a:rPr>
              <a:t>新访问授权：暂停共享 → 授权处理后恢复</a:t>
            </a:r>
          </a:p>
        </p:txBody>
      </p:sp>
    </p:spTree>
    <p:extLst>
      <p:ext uri="{BB962C8B-B14F-4D97-AF65-F5344CB8AC3E}">
        <p14:creationId xmlns:p14="http://schemas.microsoft.com/office/powerpoint/2010/main" val="1679612401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720A4691-EE6C-4030-87AF-55CF5FDCAE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66700"/>
            <a:ext cx="3905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1" i="0">
                <a:solidFill>
                  <a:srgbClr val="315F9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 i="0">
                <a:solidFill>
                  <a:srgbClr val="315F91"/>
                </a:solidFill>
                <a:latin typeface="Microsoft YaHei"/>
                <a:ea typeface="Microsoft YaHei"/>
                <a:cs typeface="Microsoft YaHei"/>
              </a:rPr>
              <a:t>东北大学｜大学共享仪器服务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1AE72D4-A0E7-4F28-A88F-C9FCD66171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266700"/>
            <a:ext cx="20383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1050" b="0" i="0">
                <a:solidFill>
                  <a:srgbClr val="6F6F6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 i="0">
                <a:solidFill>
                  <a:srgbClr val="6F6F6F"/>
                </a:solidFill>
                <a:latin typeface="Microsoft YaHei"/>
                <a:ea typeface="Microsoft YaHei"/>
                <a:cs typeface="Microsoft YaHei"/>
              </a:rPr>
              <a:t>诊断｜模拟二维分界</a:t>
            </a:r>
          </a:p>
        </p:txBody>
      </p:sp>
      <p:sp>
        <p:nvSpPr>
          <p:cNvPr id="3" name="title-4">
            <a:extLst xmlns:a="http://schemas.openxmlformats.org/drawingml/2006/main">
              <a:ext uri="{FF2B5EF4-FFF2-40B4-BE49-F238E27FC236}">
                <a16:creationId xmlns:a16="http://schemas.microsoft.com/office/drawing/2014/main" id="{8457DA80-8FC2-4D01-A543-636C5D11B9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7700"/>
            <a:ext cx="111252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400" b="1" i="0">
                <a:solidFill>
                  <a:srgbClr val="0B2239"/>
                </a:solidFill>
                <a:latin typeface="HYWenRunSongYun U"/>
                <a:ea typeface="HYWenRunSongYun U"/>
                <a:cs typeface="HYWenRunSongYun U"/>
              </a:defRPr>
            </a:pPr>
            <a:r>
              <a:rPr sz="2400" b="1" i="0">
                <a:solidFill>
                  <a:srgbClr val="0B2239"/>
                </a:solidFill>
                <a:latin typeface="HYWenRunSongYun U"/>
                <a:ea typeface="HYWenRunSongYun U"/>
                <a:cs typeface="HYWenRunSongYun U"/>
              </a:rPr>
              <a:t>支持优先级由频次与支持需求共同决定，四类设备落入四种动作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4985129-3C1C-4375-A60E-151894A511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333500"/>
            <a:ext cx="111252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315F91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F8CB8BE-363D-4A50-A17E-74377377A9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267450"/>
            <a:ext cx="5143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1050" b="1" i="0">
                <a:solidFill>
                  <a:srgbClr val="315F9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 i="0">
                <a:solidFill>
                  <a:srgbClr val="315F91"/>
                </a:solidFill>
                <a:latin typeface="Microsoft YaHei"/>
                <a:ea typeface="Microsoft YaHei"/>
                <a:cs typeface="Microsoft YaHei"/>
              </a:rPr>
              <a:t>04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1F0B3CF-EA48-47DE-BD2A-65E56D8CAD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267450"/>
            <a:ext cx="400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975" b="0" i="0">
                <a:solidFill>
                  <a:srgbClr val="6F6F6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 i="0">
                <a:solidFill>
                  <a:srgbClr val="6F6F6F"/>
                </a:solidFill>
                <a:latin typeface="Microsoft YaHei"/>
                <a:ea typeface="Microsoft YaHei"/>
                <a:cs typeface="Microsoft YaHei"/>
              </a:rPr>
              <a:t>模拟数据，仅用于方案讨论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94AF6C5-7523-48D5-97F4-BB015C2F52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581150"/>
            <a:ext cx="2095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1" i="0">
                <a:solidFill>
                  <a:srgbClr val="0B223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 i="0">
                <a:solidFill>
                  <a:srgbClr val="0B2239"/>
                </a:solidFill>
                <a:latin typeface="Microsoft YaHei"/>
                <a:ea typeface="Microsoft YaHei"/>
                <a:cs typeface="Microsoft YaHei"/>
              </a:rPr>
              <a:t>操作支持需求指数</a:t>
            </a:r>
          </a:p>
        </p:txBody>
      </p:sp>
      <p:sp>
        <p:nvSpPr>
          <p:cNvPr id="8" name="scatter-frame">
            <a:extLst xmlns:a="http://schemas.openxmlformats.org/drawingml/2006/main">
              <a:ext uri="{FF2B5EF4-FFF2-40B4-BE49-F238E27FC236}">
                <a16:creationId xmlns:a16="http://schemas.microsoft.com/office/drawing/2014/main" id="{C2C92411-3F6B-4E04-8CE5-DB0A4657F7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2095500"/>
            <a:ext cx="5715000" cy="3143250"/>
          </a:xfrm>
          <a:prstGeom xmlns:a="http://schemas.openxmlformats.org/drawingml/2006/main" prst="roundRect">
            <a:avLst>
              <a:gd name="adj" fmla="val 3636"/>
            </a:avLst>
          </a:prstGeom>
          <a:solidFill xmlns:a="http://schemas.openxmlformats.org/drawingml/2006/main">
            <a:srgbClr val="F5F7F9"/>
          </a:solidFill>
          <a:ln xmlns:a="http://schemas.openxmlformats.org/drawingml/2006/main" w="9525">
            <a:solidFill>
              <a:srgbClr val="D7DDE3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D9BDC6C-D87E-4B1C-BDEA-434F1F006B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62400" y="2095500"/>
            <a:ext cx="2857500" cy="1571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1F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DB9D23F-CFB9-4962-8E95-49BD730943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3667125"/>
            <a:ext cx="2857500" cy="1571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EBD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ADE261D-0826-43CF-8C22-8FB56069AB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62400" y="2095500"/>
            <a:ext cx="0" cy="31432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6F6F6F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E657FF7-0CE5-4678-9E4A-CFA64C0AD7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3667125"/>
            <a:ext cx="5715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6F6F6F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2253185-8208-4988-8769-CD212A873F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" y="5334000"/>
            <a:ext cx="476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900" b="0" i="0">
                <a:solidFill>
                  <a:srgbClr val="6F6F6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 i="0">
                <a:solidFill>
                  <a:srgbClr val="6F6F6F"/>
                </a:solidFill>
                <a:latin typeface="Microsoft YaHei"/>
                <a:ea typeface="Microsoft YaHei"/>
                <a:cs typeface="Microsoft YaHei"/>
              </a:rPr>
              <a:t>0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E01A5D3-FC81-4886-B1F2-2243514E64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5143500"/>
            <a:ext cx="4000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900" b="0" i="0">
                <a:solidFill>
                  <a:srgbClr val="6F6F6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 i="0">
                <a:solidFill>
                  <a:srgbClr val="6F6F6F"/>
                </a:solidFill>
                <a:latin typeface="Microsoft YaHei"/>
                <a:ea typeface="Microsoft YaHei"/>
                <a:cs typeface="Microsoft YaHei"/>
              </a:rPr>
              <a:t>0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C081612-39B6-448D-B4C9-6E1B121DA1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24275" y="5334000"/>
            <a:ext cx="476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900" b="0" i="0">
                <a:solidFill>
                  <a:srgbClr val="6F6F6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 i="0">
                <a:solidFill>
                  <a:srgbClr val="6F6F6F"/>
                </a:solidFill>
                <a:latin typeface="Microsoft YaHei"/>
                <a:ea typeface="Microsoft YaHei"/>
                <a:cs typeface="Microsoft YaHei"/>
              </a:rPr>
              <a:t>50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BD3F964-6644-43AB-A934-4F1EE7592B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3571875"/>
            <a:ext cx="4000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900" b="0" i="0">
                <a:solidFill>
                  <a:srgbClr val="6F6F6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 i="0">
                <a:solidFill>
                  <a:srgbClr val="6F6F6F"/>
                </a:solidFill>
                <a:latin typeface="Microsoft YaHei"/>
                <a:ea typeface="Microsoft YaHei"/>
                <a:cs typeface="Microsoft YaHei"/>
              </a:rPr>
              <a:t>50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9456964-45D7-45E2-BD14-A2BA4F99B9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81775" y="5334000"/>
            <a:ext cx="476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900" b="0" i="0">
                <a:solidFill>
                  <a:srgbClr val="6F6F6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 i="0">
                <a:solidFill>
                  <a:srgbClr val="6F6F6F"/>
                </a:solidFill>
                <a:latin typeface="Microsoft YaHei"/>
                <a:ea typeface="Microsoft YaHei"/>
                <a:cs typeface="Microsoft YaHei"/>
              </a:rPr>
              <a:t>100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0C53289-C4FE-47F6-AFE4-1C0547C726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000250"/>
            <a:ext cx="4000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900" b="0" i="0">
                <a:solidFill>
                  <a:srgbClr val="6F6F6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 i="0">
                <a:solidFill>
                  <a:srgbClr val="6F6F6F"/>
                </a:solidFill>
                <a:latin typeface="Microsoft YaHei"/>
                <a:ea typeface="Microsoft YaHei"/>
                <a:cs typeface="Microsoft YaHei"/>
              </a:rPr>
              <a:t>100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50EC6D81-0B59-454B-B1A9-2539C84A6F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33700" y="5505450"/>
            <a:ext cx="209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200" b="1" i="0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 i="0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rPr>
              <a:t>预约频次指数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C25356E7-BE8F-4727-8245-39394FA344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00600" y="2247900"/>
            <a:ext cx="1619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1050" b="1" i="0">
                <a:solidFill>
                  <a:srgbClr val="315F9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 i="0">
                <a:solidFill>
                  <a:srgbClr val="315F91"/>
                </a:solidFill>
                <a:latin typeface="Microsoft YaHei"/>
                <a:ea typeface="Microsoft YaHei"/>
                <a:cs typeface="Microsoft YaHei"/>
              </a:rPr>
              <a:t>高频 / 高支持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9C14F04D-FA44-405E-AA29-1599F26FC7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2247900"/>
            <a:ext cx="1619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1" i="0">
                <a:solidFill>
                  <a:srgbClr val="D982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 i="0">
                <a:solidFill>
                  <a:srgbClr val="D9822B"/>
                </a:solidFill>
                <a:latin typeface="Microsoft YaHei"/>
                <a:ea typeface="Microsoft YaHei"/>
                <a:cs typeface="Microsoft YaHei"/>
              </a:rPr>
              <a:t>低频 / 高支持</a:t>
            </a:r>
          </a:p>
        </p:txBody>
      </p:sp>
      <p:sp>
        <p:nvSpPr>
          <p:cNvPr id="22" name="point-显微成像">
            <a:extLst xmlns:a="http://schemas.openxmlformats.org/drawingml/2006/main">
              <a:ext uri="{FF2B5EF4-FFF2-40B4-BE49-F238E27FC236}">
                <a16:creationId xmlns:a16="http://schemas.microsoft.com/office/drawing/2014/main" id="{447ED119-5F79-456C-B02D-6112FD5134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48350" y="2609850"/>
            <a:ext cx="228600" cy="2286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15F91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7A1BB347-F497-4E88-8A93-8EB70239EC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2438400"/>
            <a:ext cx="10287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1125" b="1" i="0">
                <a:solidFill>
                  <a:srgbClr val="315F9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 i="0">
                <a:solidFill>
                  <a:srgbClr val="315F91"/>
                </a:solidFill>
                <a:latin typeface="Microsoft YaHei"/>
                <a:ea typeface="Microsoft YaHei"/>
                <a:cs typeface="Microsoft YaHei"/>
              </a:rPr>
              <a:t>显微成像 85,80</a:t>
            </a:r>
          </a:p>
        </p:txBody>
      </p:sp>
      <p:sp>
        <p:nvSpPr>
          <p:cNvPr id="24" name="point-基础检测">
            <a:extLst xmlns:a="http://schemas.openxmlformats.org/drawingml/2006/main">
              <a:ext uri="{FF2B5EF4-FFF2-40B4-BE49-F238E27FC236}">
                <a16:creationId xmlns:a16="http://schemas.microsoft.com/office/drawing/2014/main" id="{37F9D1A1-C622-4068-A408-4D7474DE8C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62600" y="4338638"/>
            <a:ext cx="228600" cy="2286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6D94B8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0DB526A8-B8CD-4795-84D7-DD8F91F055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91200" y="4357688"/>
            <a:ext cx="10287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1" i="0">
                <a:solidFill>
                  <a:srgbClr val="6D94B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 i="0">
                <a:solidFill>
                  <a:srgbClr val="6D94B8"/>
                </a:solidFill>
                <a:latin typeface="Microsoft YaHei"/>
                <a:ea typeface="Microsoft YaHei"/>
                <a:cs typeface="Microsoft YaHei"/>
              </a:rPr>
              <a:t>基础检测 80,25</a:t>
            </a:r>
          </a:p>
        </p:txBody>
      </p:sp>
      <p:sp>
        <p:nvSpPr>
          <p:cNvPr id="26" name="point-材料制备">
            <a:extLst xmlns:a="http://schemas.openxmlformats.org/drawingml/2006/main">
              <a:ext uri="{FF2B5EF4-FFF2-40B4-BE49-F238E27FC236}">
                <a16:creationId xmlns:a16="http://schemas.microsoft.com/office/drawing/2014/main" id="{A6D974F6-D988-45F8-B545-513EB29B85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90850" y="2767013"/>
            <a:ext cx="228600" cy="2286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9822B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D8ADC628-C200-4962-91A3-E97C8032E1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57400" y="2843213"/>
            <a:ext cx="10287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1125" b="1" i="0">
                <a:solidFill>
                  <a:srgbClr val="D982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 i="0">
                <a:solidFill>
                  <a:srgbClr val="D9822B"/>
                </a:solidFill>
                <a:latin typeface="Microsoft YaHei"/>
                <a:ea typeface="Microsoft YaHei"/>
                <a:cs typeface="Microsoft YaHei"/>
              </a:rPr>
              <a:t>材料制备 35,75</a:t>
            </a:r>
          </a:p>
        </p:txBody>
      </p:sp>
      <p:sp>
        <p:nvSpPr>
          <p:cNvPr id="28" name="point-常规加工">
            <a:extLst xmlns:a="http://schemas.openxmlformats.org/drawingml/2006/main">
              <a:ext uri="{FF2B5EF4-FFF2-40B4-BE49-F238E27FC236}">
                <a16:creationId xmlns:a16="http://schemas.microsoft.com/office/drawing/2014/main" id="{DB4EBA59-1809-4D4A-951B-D0014D1B90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05100" y="4181475"/>
            <a:ext cx="228600" cy="2286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6F6F6F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71F64341-4F68-448F-85FA-C7576DFBFF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71650" y="4352925"/>
            <a:ext cx="10287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1125" b="1" i="0">
                <a:solidFill>
                  <a:srgbClr val="6F6F6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 i="0">
                <a:solidFill>
                  <a:srgbClr val="6F6F6F"/>
                </a:solidFill>
                <a:latin typeface="Microsoft YaHei"/>
                <a:ea typeface="Microsoft YaHei"/>
                <a:cs typeface="Microsoft YaHei"/>
              </a:rPr>
              <a:t>常规加工 30,30</a:t>
            </a:r>
          </a:p>
        </p:txBody>
      </p:sp>
      <p:sp>
        <p:nvSpPr>
          <p:cNvPr id="30" name="action-map">
            <a:extLst xmlns:a="http://schemas.openxmlformats.org/drawingml/2006/main">
              <a:ext uri="{FF2B5EF4-FFF2-40B4-BE49-F238E27FC236}">
                <a16:creationId xmlns:a16="http://schemas.microsoft.com/office/drawing/2014/main" id="{DBD837A2-B392-429E-9118-424CADBFE1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1943100"/>
            <a:ext cx="4133850" cy="3409950"/>
          </a:xfrm>
          <a:prstGeom xmlns:a="http://schemas.openxmlformats.org/drawingml/2006/main" prst="roundRect">
            <a:avLst>
              <a:gd name="adj" fmla="val 335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DE3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758A66BF-766D-4AF1-8C7C-1E33FBAC93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48600" y="2209800"/>
            <a:ext cx="2571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1" i="0">
                <a:solidFill>
                  <a:srgbClr val="0B223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 i="0">
                <a:solidFill>
                  <a:srgbClr val="0B2239"/>
                </a:solidFill>
                <a:latin typeface="Microsoft YaHei"/>
                <a:ea typeface="Microsoft YaHei"/>
                <a:cs typeface="Microsoft YaHei"/>
              </a:rPr>
              <a:t>四种动作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B4F63E71-5697-4920-B75D-DA28CCA4BF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48600" y="2781300"/>
            <a:ext cx="76200" cy="361950"/>
          </a:xfrm>
          <a:prstGeom xmlns:a="http://schemas.openxmlformats.org/drawingml/2006/main" prst="roundRect">
            <a:avLst>
              <a:gd name="adj" fmla="val 25000"/>
            </a:avLst>
          </a:prstGeom>
          <a:solidFill xmlns:a="http://schemas.openxmlformats.org/drawingml/2006/main">
            <a:srgbClr val="315F9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CDCDFCE9-FE62-4E54-BD29-5ECD9CD853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2724150"/>
            <a:ext cx="16002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1" i="0">
                <a:solidFill>
                  <a:srgbClr val="6F6F6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 i="0">
                <a:solidFill>
                  <a:srgbClr val="6F6F6F"/>
                </a:solidFill>
                <a:latin typeface="Microsoft YaHei"/>
                <a:ea typeface="Microsoft YaHei"/>
                <a:cs typeface="Microsoft YaHei"/>
              </a:rPr>
              <a:t>高频 × 高支持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59EF143D-912F-4F3B-AC21-27CD6084F7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0" y="2724150"/>
            <a:ext cx="16573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1350" b="1" i="0">
                <a:solidFill>
                  <a:srgbClr val="2B2B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 i="0">
                <a:solidFill>
                  <a:srgbClr val="2B2B2B"/>
                </a:solidFill>
                <a:latin typeface="Microsoft YaHei"/>
                <a:ea typeface="Microsoft YaHei"/>
                <a:cs typeface="Microsoft YaHei"/>
              </a:rPr>
              <a:t>增设辅导时段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340CC838-FA76-45E7-9243-A011E4DBFF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48600" y="3362325"/>
            <a:ext cx="76200" cy="361950"/>
          </a:xfrm>
          <a:prstGeom xmlns:a="http://schemas.openxmlformats.org/drawingml/2006/main" prst="roundRect">
            <a:avLst>
              <a:gd name="adj" fmla="val 25000"/>
            </a:avLst>
          </a:prstGeom>
          <a:solidFill xmlns:a="http://schemas.openxmlformats.org/drawingml/2006/main">
            <a:srgbClr val="6D94B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C36346BB-F99C-4002-B67D-CA61C789D0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3305175"/>
            <a:ext cx="16002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1" i="0">
                <a:solidFill>
                  <a:srgbClr val="6F6F6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 i="0">
                <a:solidFill>
                  <a:srgbClr val="6F6F6F"/>
                </a:solidFill>
                <a:latin typeface="Microsoft YaHei"/>
                <a:ea typeface="Microsoft YaHei"/>
                <a:cs typeface="Microsoft YaHei"/>
              </a:rPr>
              <a:t>高频 × 低支持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BC1C9430-ADF8-4F67-9647-4892D9486F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0" y="3305175"/>
            <a:ext cx="16573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1350" b="1" i="0">
                <a:solidFill>
                  <a:srgbClr val="2B2B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 i="0">
                <a:solidFill>
                  <a:srgbClr val="2B2B2B"/>
                </a:solidFill>
                <a:latin typeface="Microsoft YaHei"/>
                <a:ea typeface="Microsoft YaHei"/>
                <a:cs typeface="Microsoft YaHei"/>
              </a:rPr>
              <a:t>完善自助说明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646E256A-4692-4D17-A132-25BB33429E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48600" y="3943350"/>
            <a:ext cx="76200" cy="361950"/>
          </a:xfrm>
          <a:prstGeom xmlns:a="http://schemas.openxmlformats.org/drawingml/2006/main" prst="roundRect">
            <a:avLst>
              <a:gd name="adj" fmla="val 25000"/>
            </a:avLst>
          </a:prstGeom>
          <a:solidFill xmlns:a="http://schemas.openxmlformats.org/drawingml/2006/main">
            <a:srgbClr val="D9822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2E38ABB4-0078-4350-88A4-EC942EB731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3886200"/>
            <a:ext cx="16002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1" i="0">
                <a:solidFill>
                  <a:srgbClr val="6F6F6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 i="0">
                <a:solidFill>
                  <a:srgbClr val="6F6F6F"/>
                </a:solidFill>
                <a:latin typeface="Microsoft YaHei"/>
                <a:ea typeface="Microsoft YaHei"/>
                <a:cs typeface="Microsoft YaHei"/>
              </a:rPr>
              <a:t>低频 × 高支持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2D510E29-8C07-49EA-BEB4-D8006A9833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0" y="3886200"/>
            <a:ext cx="16573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1350" b="1" i="0">
                <a:solidFill>
                  <a:srgbClr val="2B2B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 i="0">
                <a:solidFill>
                  <a:srgbClr val="2B2B2B"/>
                </a:solidFill>
                <a:latin typeface="Microsoft YaHei"/>
                <a:ea typeface="Microsoft YaHei"/>
                <a:cs typeface="Microsoft YaHei"/>
              </a:rPr>
              <a:t>采用预约辅导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59DADD15-F760-49A3-B5CE-FC6149C6E5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48600" y="4524375"/>
            <a:ext cx="76200" cy="361950"/>
          </a:xfrm>
          <a:prstGeom xmlns:a="http://schemas.openxmlformats.org/drawingml/2006/main" prst="roundRect">
            <a:avLst>
              <a:gd name="adj" fmla="val 25000"/>
            </a:avLst>
          </a:prstGeom>
          <a:solidFill xmlns:a="http://schemas.openxmlformats.org/drawingml/2006/main">
            <a:srgbClr val="6F6F6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A584A900-2A6F-44E2-BC21-71819805DB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4467225"/>
            <a:ext cx="16002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1" i="0">
                <a:solidFill>
                  <a:srgbClr val="6F6F6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 i="0">
                <a:solidFill>
                  <a:srgbClr val="6F6F6F"/>
                </a:solidFill>
                <a:latin typeface="Microsoft YaHei"/>
                <a:ea typeface="Microsoft YaHei"/>
                <a:cs typeface="Microsoft YaHei"/>
              </a:rPr>
              <a:t>低频 × 低支持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C79D2B6A-D7FE-4CCC-B089-9F4BDBE90D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0" y="4467225"/>
            <a:ext cx="16573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1350" b="1" i="0">
                <a:solidFill>
                  <a:srgbClr val="2B2B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 i="0">
                <a:solidFill>
                  <a:srgbClr val="2B2B2B"/>
                </a:solidFill>
                <a:latin typeface="Microsoft YaHei"/>
                <a:ea typeface="Microsoft YaHei"/>
                <a:cs typeface="Microsoft YaHei"/>
              </a:rPr>
              <a:t>维持基础服务</a:t>
            </a:r>
          </a:p>
        </p:txBody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DA577E0C-4AC9-4EC6-B994-DF240E8B7E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48600" y="4800600"/>
            <a:ext cx="34671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975" b="0" i="1">
                <a:solidFill>
                  <a:srgbClr val="6F6F6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 i="1">
                <a:solidFill>
                  <a:srgbClr val="6F6F6F"/>
                </a:solidFill>
                <a:latin typeface="Microsoft YaHei"/>
                <a:ea typeface="Microsoft YaHei"/>
                <a:cs typeface="Microsoft YaHei"/>
              </a:rPr>
              <a:t>50 为本次讨论分界，无外部行业含义；点位不表示成本、设备价值或真实利用率。</a:t>
            </a:r>
          </a:p>
        </p:txBody>
      </p:sp>
    </p:spTree>
    <p:extLst>
      <p:ext uri="{BB962C8B-B14F-4D97-AF65-F5344CB8AC3E}">
        <p14:creationId xmlns:p14="http://schemas.microsoft.com/office/powerpoint/2010/main" val="1282530416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2026-09-07T14:02:24.4980000Z</dcterms:created>
  <dcterms:modified xsi:type="dcterms:W3CDTF">2026-09-07T14:02:24.4980000Z</dcterms:modified>
</coreProperties>
</file>