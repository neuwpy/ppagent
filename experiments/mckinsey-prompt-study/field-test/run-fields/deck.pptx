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0d8fa424dc467d" /><Relationship Type="http://schemas.openxmlformats.org/officeDocument/2006/relationships/extended-properties" Target="/docProps/app.xml" Id="R384d82e2c35e484e" /><Relationship Type="http://schemas.openxmlformats.org/officeDocument/2006/relationships/officeDocument" Target="/ppt/presentation.xml" Id="R702ffc4d491d48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a78d72f829425e"/>
  </p:sldMasterIdLst>
  <p:notesMasterIdLst>
    <p:notesMasterId xmlns:r="http://schemas.openxmlformats.org/officeDocument/2006/relationships" r:id="Rc1c584e01ed24457"/>
  </p:notesMasterIdLst>
  <p:sldIdLst>
    <p:sldId xmlns:r="http://schemas.openxmlformats.org/officeDocument/2006/relationships" id="256" r:id="Re3becf519ef04a20"/>
    <p:sldId xmlns:r="http://schemas.openxmlformats.org/officeDocument/2006/relationships" id="257" r:id="R3f5aa00ad9774c24"/>
    <p:sldId xmlns:r="http://schemas.openxmlformats.org/officeDocument/2006/relationships" id="258" r:id="R7869876f36e243f8"/>
    <p:sldId xmlns:r="http://schemas.openxmlformats.org/officeDocument/2006/relationships" id="259" r:id="R151603b4a9134f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50fa76d96f4814" /><Relationship Type="http://schemas.openxmlformats.org/officeDocument/2006/relationships/slideMaster" Target="/ppt/slideMasters/slideMaster1.xml" Id="Rfea78d72f829425e" /><Relationship Type="http://schemas.openxmlformats.org/officeDocument/2006/relationships/notesMaster" Target="/ppt/notesMasters/notesMaster1.xml" Id="Rc1c584e01ed24457" /><Relationship Type="http://schemas.openxmlformats.org/officeDocument/2006/relationships/presProps" Target="/ppt/presProps.xml" Id="R199f8fffd419433d" /><Relationship Type="http://schemas.openxmlformats.org/officeDocument/2006/relationships/tableStyles" Target="/ppt/tableStyles.xml" Id="R9fa9618d996644c3" /><Relationship Type="http://schemas.openxmlformats.org/officeDocument/2006/relationships/slide" Target="/ppt/slides/slide1.xml" Id="Re3becf519ef04a20" /><Relationship Type="http://schemas.openxmlformats.org/officeDocument/2006/relationships/slide" Target="/ppt/slides/slide2.xml" Id="R3f5aa00ad9774c24" /><Relationship Type="http://schemas.openxmlformats.org/officeDocument/2006/relationships/slide" Target="/ppt/slides/slide3.xml" Id="R7869876f36e243f8" /><Relationship Type="http://schemas.openxmlformats.org/officeDocument/2006/relationships/slide" Target="/ppt/slides/slide4.xml" Id="R151603b4a9134f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fd14ee481f47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7c2cdd742546a3" /><Relationship Type="http://schemas.openxmlformats.org/officeDocument/2006/relationships/notesMaster" Target="/ppt/notesMasters/notesMaster1.xml" Id="Rfe26f28d21164c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4ca4e310db40f8" /><Relationship Type="http://schemas.openxmlformats.org/officeDocument/2006/relationships/notesMaster" Target="/ppt/notesMasters/notesMaster1.xml" Id="Rb999d689db5045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795e1d7b4547d3" /><Relationship Type="http://schemas.openxmlformats.org/officeDocument/2006/relationships/notesMaster" Target="/ppt/notesMasters/notesMaster1.xml" Id="R986eaffcd6864a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c408905b0d470c" /><Relationship Type="http://schemas.openxmlformats.org/officeDocument/2006/relationships/notesMaster" Target="/ppt/notesMasters/notesMaster1.xml" Id="R9d5f9b359b564c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用户提供稿件：experiments/mckinsey-prompt-study/manuscript.md（模拟数据，无外部来源）。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用户提供稿件：experiments/mckinsey-prompt-study/manuscript.md（模拟数据，无外部来源）。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用户提供稿件：experiments/mckinsey-prompt-study/manuscript.md（模拟数据，无外部来源）。</a:t>
            </a:r>
          </a:p>
          <a:p xmlns:a="http://schemas.openxmlformats.org/drawingml/2006/main">
            <a:r>
              <a:t>结构选择：sequence-phase-gates-004（阶段门禁流程）；本页保留分段推进、横跨门闸、阅读方向，按本页文字重算几何。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用户提供稿件：experiments/mckinsey-prompt-study/manuscript.md（模拟数据，无外部来源）。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fd780bdf94e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74c4efa60741ec" /><Relationship Type="http://schemas.openxmlformats.org/officeDocument/2006/relationships/slideLayout" Target="/ppt/slideLayouts/slideLayout1.xml" Id="Rc92114a9d40948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2114a9d40948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02f6ffdd249d5" /><Relationship Type="http://schemas.openxmlformats.org/officeDocument/2006/relationships/notesSlide" Target="/ppt/notesSlides/notesSlide1.xml" Id="R93f68f0eaac743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433ded6eb4531" /><Relationship Type="http://schemas.openxmlformats.org/officeDocument/2006/relationships/notesSlide" Target="/ppt/notesSlides/notesSlide2.xml" Id="R8a76bd45b76249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e645941364ea3" /><Relationship Type="http://schemas.openxmlformats.org/officeDocument/2006/relationships/notesSlide" Target="/ppt/notesSlides/notesSlide3.xml" Id="Rbc63d4f92da74c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5820eb8a84f4d" /><Relationship Type="http://schemas.openxmlformats.org/officeDocument/2006/relationships/notesSlide" Target="/ppt/notesSlides/notesSlide4.xml" Id="R0d22b2bfa54642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age-title">
            <a:extLst xmlns:a="http://schemas.openxmlformats.org/drawingml/2006/main">
              <a:ext uri="{FF2B5EF4-FFF2-40B4-BE49-F238E27FC236}">
                <a16:creationId xmlns:a16="http://schemas.microsoft.com/office/drawing/2014/main" id="{451D04EA-FFBF-48AE-B27A-D1C1B4A9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 i="0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预约完成量增长与等待下降同时发生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45803E2-851A-499E-91B1-7D16E647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6BB265B-D421-4531-946C-8315BCE0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大学共享仪器服务改进 · 模拟分析材料</a:t>
            </a:r>
          </a:p>
        </p:txBody>
      </p:sp>
      <p:sp>
        <p:nvSpPr>
          <p:cNvPr id="4" name="simulation-note">
            <a:extLst xmlns:a="http://schemas.openxmlformats.org/drawingml/2006/main">
              <a:ext uri="{FF2B5EF4-FFF2-40B4-BE49-F238E27FC236}">
                <a16:creationId xmlns:a16="http://schemas.microsoft.com/office/drawing/2014/main" id="{B5714382-2C13-486A-B4FF-5D88ADF9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CD4479-0A37-4D91-86F2-CF888E6A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1E6B7-1603-40CB-8AAC-75861395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2023—2025 年，两项指标朝有利方向变化，但不能归因于单一措施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27485-B22C-4568-9616-1DAB5454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预约完成量（单）</a:t>
            </a:r>
          </a:p>
        </p:txBody>
      </p:sp>
      <p:sp>
        <p:nvSpPr>
          <p:cNvPr id="8" name="orders-0">
            <a:extLst xmlns:a="http://schemas.openxmlformats.org/drawingml/2006/main">
              <a:ext uri="{FF2B5EF4-FFF2-40B4-BE49-F238E27FC236}">
                <a16:creationId xmlns:a16="http://schemas.microsoft.com/office/drawing/2014/main" id="{2746491F-63F2-47B5-9F8C-D4428222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14600"/>
            <a:ext cx="781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B1E39-AF4E-4A6B-A3DD-DAB6D83F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479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1200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EA67E-DBCD-4160-89E5-3CE5C08A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11" name="orders-1">
            <a:extLst xmlns:a="http://schemas.openxmlformats.org/drawingml/2006/main">
              <a:ext uri="{FF2B5EF4-FFF2-40B4-BE49-F238E27FC236}">
                <a16:creationId xmlns:a16="http://schemas.microsoft.com/office/drawing/2014/main" id="{F455EC2A-FA1E-4810-90A9-FD2F3081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154555"/>
            <a:ext cx="781050" cy="1560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2AEA1-D89A-4A5F-A64E-213AD59C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8785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1560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80B89-6F68-4331-8D8F-B99AEFAB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100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14" name="orders-2">
            <a:extLst xmlns:a="http://schemas.openxmlformats.org/drawingml/2006/main">
              <a:ext uri="{FF2B5EF4-FFF2-40B4-BE49-F238E27FC236}">
                <a16:creationId xmlns:a16="http://schemas.microsoft.com/office/drawing/2014/main" id="{3A924E22-45E5-44F9-B333-071FE553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94510"/>
            <a:ext cx="781050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09E2E-5213-4979-A288-FD5846D1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2781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1920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C74F3-CEA5-43FA-B864-C2FB8DF8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100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A8920-904F-4692-AA37-6154187B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1475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59AE51-4ACA-419C-8493-DDC408DB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1475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4C64E-A2F2-4060-A350-F558965A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7D63D-A663-42DD-86CC-711DEE1B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714625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85CD9-5F86-4A42-9038-AB702841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F68EB-71E1-4136-A52C-7FD9765E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71450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243693-51C3-46C5-9E83-EC512515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287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1A3643-2384-4038-92F3-E133D3BD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中位等待时间（天）</a:t>
            </a:r>
          </a:p>
        </p:txBody>
      </p:sp>
      <p:sp>
        <p:nvSpPr>
          <p:cNvPr id="25" name="wait-0">
            <a:extLst xmlns:a="http://schemas.openxmlformats.org/drawingml/2006/main">
              <a:ext uri="{FF2B5EF4-FFF2-40B4-BE49-F238E27FC236}">
                <a16:creationId xmlns:a16="http://schemas.microsoft.com/office/drawing/2014/main" id="{EB1CDD14-D3F3-4562-AE4F-510D36F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33950"/>
            <a:ext cx="781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B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6E4AE6-AD65-4DE4-AA1E-A726B0AD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958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7" name="wait-1">
            <a:extLst xmlns:a="http://schemas.openxmlformats.org/drawingml/2006/main">
              <a:ext uri="{FF2B5EF4-FFF2-40B4-BE49-F238E27FC236}">
                <a16:creationId xmlns:a16="http://schemas.microsoft.com/office/drawing/2014/main" id="{54C55BAD-D5B5-4F64-8F1F-FBB9292C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053013"/>
            <a:ext cx="781050" cy="833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B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751C73-16CE-49FD-8C00-CBBE044F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14888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9" name="wait-2">
            <a:extLst xmlns:a="http://schemas.openxmlformats.org/drawingml/2006/main">
              <a:ext uri="{FF2B5EF4-FFF2-40B4-BE49-F238E27FC236}">
                <a16:creationId xmlns:a16="http://schemas.microsoft.com/office/drawing/2014/main" id="{1965C35D-59F8-45A3-AE6B-981704DE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72075"/>
            <a:ext cx="781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B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0D76F8-FF03-485A-8AC5-321C4CD2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339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38AF3C-616A-466D-A07D-38E2B37B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88645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8D7BE7-5660-4F22-984F-50D86CEA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88645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681555-D1A4-47A6-9930-73141674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007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73927B-DBBF-4A7E-AA28-BCA9AC17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291138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C2B5D2-7726-404E-941A-6409487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5413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232CF5-7479-447C-B15C-9CFC3064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695825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212A77-56A9-4112-A0EC-7B6F878E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C5D647-89CE-49F0-BAC6-7D658B1A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626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B8E38D-A436-4597-95E5-DD274073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9626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B05F29-7E12-47AB-9B2C-52CE9320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9626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41" name="interpretation-box">
            <a:extLst xmlns:a="http://schemas.openxmlformats.org/drawingml/2006/main">
              <a:ext uri="{FF2B5EF4-FFF2-40B4-BE49-F238E27FC236}">
                <a16:creationId xmlns:a16="http://schemas.microsoft.com/office/drawing/2014/main" id="{226386B5-83D9-4B90-910B-2BDF4D32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04950"/>
            <a:ext cx="2857500" cy="42481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A79867-90B2-4684-B3F4-D181A9A3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读法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C84B80-9421-4BA2-8067-94E751D6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同时观察到：</a:t>
            </a:r>
          </a:p>
          <a:p xmlns:a="http://schemas.openxmlformats.org/drawingml/2006/main">
            <a:pPr algn="l">
              <a:defRPr sz="18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使用量 ↑</a:t>
            </a:r>
          </a:p>
          <a:p xmlns:a="http://schemas.openxmlformats.org/drawingml/2006/main">
            <a:pPr algn="l">
              <a:defRPr sz="18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等待时间 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CB2A8A-C780-42EB-8301-9F4C0CCF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433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DDA3E8-2E74-48E6-9B98-687C5753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90950"/>
            <a:ext cx="2228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这组趋势不能证明任何单一措施造成改善。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3E0EAB-19BF-42B4-BBD1-7FBA4E78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67250"/>
            <a:ext cx="224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建议继续观察高峰时段及分设备等待，避免平均改善掩盖局部拥堵。</a:t>
            </a:r>
          </a:p>
        </p:txBody>
      </p:sp>
    </p:spTree>
    <p:extLst>
      <p:ext uri="{BB962C8B-B14F-4D97-AF65-F5344CB8AC3E}">
        <p14:creationId xmlns:p14="http://schemas.microsoft.com/office/powerpoint/2010/main" val="1509146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ge-title">
            <a:extLst xmlns:a="http://schemas.openxmlformats.org/drawingml/2006/main">
              <a:ext uri="{FF2B5EF4-FFF2-40B4-BE49-F238E27FC236}">
                <a16:creationId xmlns:a16="http://schemas.microsoft.com/office/drawing/2014/main" id="{5DA90093-06DD-41F8-A80D-262A1501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 i="0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障碍结构不同：校内受时段约束，校外更受审批与费用影响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AEBDDB-9FB2-4620-935E-E4961240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B9E510C-273B-4F9B-A726-4EE1884D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大学共享仪器服务改进 · 模拟分析材料</a:t>
            </a:r>
          </a:p>
        </p:txBody>
      </p:sp>
      <p:sp>
        <p:nvSpPr>
          <p:cNvPr id="4" name="simulation-note">
            <a:extLst xmlns:a="http://schemas.openxmlformats.org/drawingml/2006/main">
              <a:ext uri="{FF2B5EF4-FFF2-40B4-BE49-F238E27FC236}">
                <a16:creationId xmlns:a16="http://schemas.microsoft.com/office/drawing/2014/main" id="{401E596D-9841-414F-BC83-FBC329FD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B64AEC-4CEB-4A71-BC71-F9FE9CAD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C66B5-CB85-4B1B-899D-75ED7FC9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模拟问卷多选（校内 n=100；校外 n=100）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C3544-8328-453F-A502-22581665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14500"/>
            <a:ext cx="0" cy="3314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A53B5-8576-433B-AEA7-8E9173FC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435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13498-07B4-4FB3-9B65-4FDF0530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714500"/>
            <a:ext cx="0" cy="3314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7ABEE-0C76-49D8-BCE5-15244653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1435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93D02-6EBB-408F-B2AF-91079862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0" cy="3314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AF8DA-47B1-4F13-95CA-1DA08731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435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9C42A-EC5D-49D3-A980-5373A177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14500"/>
            <a:ext cx="0" cy="3314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F0BC2-BE68-4386-ACFC-C8870A8B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1435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443FB-C396-41EF-97BB-F9401734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0" cy="3314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71E43-836A-4188-9F9F-198D222B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435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34F2B-8829-4195-8351-A4BE5EA0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时段难匹配</a:t>
            </a:r>
          </a:p>
        </p:txBody>
      </p:sp>
      <p:sp>
        <p:nvSpPr>
          <p:cNvPr id="18" name="row-bg-0">
            <a:extLst xmlns:a="http://schemas.openxmlformats.org/drawingml/2006/main">
              <a:ext uri="{FF2B5EF4-FFF2-40B4-BE49-F238E27FC236}">
                <a16:creationId xmlns:a16="http://schemas.microsoft.com/office/drawing/2014/main" id="{C58BED1F-3D74-405B-A5DA-816EE54A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09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side-0">
            <a:extLst xmlns:a="http://schemas.openxmlformats.org/drawingml/2006/main">
              <a:ext uri="{FF2B5EF4-FFF2-40B4-BE49-F238E27FC236}">
                <a16:creationId xmlns:a16="http://schemas.microsoft.com/office/drawing/2014/main" id="{75BDB141-3D4A-437A-BEAC-26AF7F4F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09750"/>
            <a:ext cx="413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utside-0">
            <a:extLst xmlns:a="http://schemas.openxmlformats.org/drawingml/2006/main">
              <a:ext uri="{FF2B5EF4-FFF2-40B4-BE49-F238E27FC236}">
                <a16:creationId xmlns:a16="http://schemas.microsoft.com/office/drawing/2014/main" id="{1F1236E3-5CF1-4A4D-8F6F-EE5A08B9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52650"/>
            <a:ext cx="3000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3D294-8E45-4F7B-AADA-B0CFF70F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90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62%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D2E1C7-06D8-40D0-A2BD-4A11985D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33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45%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9DAED-7FF2-42B9-A653-62A60A7B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审批慢</a:t>
            </a:r>
          </a:p>
        </p:txBody>
      </p:sp>
      <p:sp>
        <p:nvSpPr>
          <p:cNvPr id="24" name="row-bg-1">
            <a:extLst xmlns:a="http://schemas.openxmlformats.org/drawingml/2006/main">
              <a:ext uri="{FF2B5EF4-FFF2-40B4-BE49-F238E27FC236}">
                <a16:creationId xmlns:a16="http://schemas.microsoft.com/office/drawing/2014/main" id="{6FCEDD16-69AD-4DBA-9118-C56578D9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098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inside-1">
            <a:extLst xmlns:a="http://schemas.openxmlformats.org/drawingml/2006/main">
              <a:ext uri="{FF2B5EF4-FFF2-40B4-BE49-F238E27FC236}">
                <a16:creationId xmlns:a16="http://schemas.microsoft.com/office/drawing/2014/main" id="{5949C991-62DD-4FFE-812B-84D3F090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09850"/>
            <a:ext cx="320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utside-1">
            <a:extLst xmlns:a="http://schemas.openxmlformats.org/drawingml/2006/main">
              <a:ext uri="{FF2B5EF4-FFF2-40B4-BE49-F238E27FC236}">
                <a16:creationId xmlns:a16="http://schemas.microsoft.com/office/drawing/2014/main" id="{79E0B3B2-8408-48FE-843C-4C307D81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52750"/>
            <a:ext cx="4333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72B9E7-40CD-4435-B447-4DFFEA2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9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48%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D0979F-0442-4EA8-AFAC-4FAACB43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33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65%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682ED4-AA04-4F92-A2D3-592C2D5E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费用不清</a:t>
            </a:r>
          </a:p>
        </p:txBody>
      </p:sp>
      <p:sp>
        <p:nvSpPr>
          <p:cNvPr id="30" name="row-bg-2">
            <a:extLst xmlns:a="http://schemas.openxmlformats.org/drawingml/2006/main">
              <a:ext uri="{FF2B5EF4-FFF2-40B4-BE49-F238E27FC236}">
                <a16:creationId xmlns:a16="http://schemas.microsoft.com/office/drawing/2014/main" id="{D0BF07DC-E867-49C6-BF65-97FAC511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099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inside-2">
            <a:extLst xmlns:a="http://schemas.openxmlformats.org/drawingml/2006/main">
              <a:ext uri="{FF2B5EF4-FFF2-40B4-BE49-F238E27FC236}">
                <a16:creationId xmlns:a16="http://schemas.microsoft.com/office/drawing/2014/main" id="{CA3488C6-FE02-45CD-9501-78FDF578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099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outside-2">
            <a:extLst xmlns:a="http://schemas.openxmlformats.org/drawingml/2006/main">
              <a:ext uri="{FF2B5EF4-FFF2-40B4-BE49-F238E27FC236}">
                <a16:creationId xmlns:a16="http://schemas.microsoft.com/office/drawing/2014/main" id="{1485A33C-10DC-4E09-AD2A-8425B19D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52850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95CB5B-E0CC-4FD9-9D5B-759E3F33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28%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28EB27-0D91-4285-8CE9-B919A1AC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58%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9E1175-A58A-4C91-A02C-27CB3AFE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操作培训不足</a:t>
            </a:r>
          </a:p>
        </p:txBody>
      </p:sp>
      <p:sp>
        <p:nvSpPr>
          <p:cNvPr id="36" name="row-bg-3">
            <a:extLst xmlns:a="http://schemas.openxmlformats.org/drawingml/2006/main">
              <a:ext uri="{FF2B5EF4-FFF2-40B4-BE49-F238E27FC236}">
                <a16:creationId xmlns:a16="http://schemas.microsoft.com/office/drawing/2014/main" id="{13A69336-0630-4C8F-A9DA-2037CEA5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100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inside-3">
            <a:extLst xmlns:a="http://schemas.openxmlformats.org/drawingml/2006/main">
              <a:ext uri="{FF2B5EF4-FFF2-40B4-BE49-F238E27FC236}">
                <a16:creationId xmlns:a16="http://schemas.microsoft.com/office/drawing/2014/main" id="{0EBAFECE-E882-4B1A-8E8E-693743A5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10050"/>
            <a:ext cx="293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outside-3">
            <a:extLst xmlns:a="http://schemas.openxmlformats.org/drawingml/2006/main">
              <a:ext uri="{FF2B5EF4-FFF2-40B4-BE49-F238E27FC236}">
                <a16:creationId xmlns:a16="http://schemas.microsoft.com/office/drawing/2014/main" id="{E3AED5C8-9456-49EA-8A09-6E2BDA05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5295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85871A-800A-4640-9521-A936B5D7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91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44%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71AEEA-37A5-442F-89E1-3EEE99A1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D63BDD-F7C2-4DA5-8BAE-0ABDF9C4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409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AE2317-C2FA-45D2-A987-F7378C44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620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校内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63E8FC-2221-4888-B556-917D88EC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09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C0D747-C8FD-4BC9-8A8A-0E5B1931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620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校外</a:t>
            </a:r>
          </a:p>
        </p:txBody>
      </p:sp>
      <p:sp>
        <p:nvSpPr>
          <p:cNvPr id="45" name="takeaway-box">
            <a:extLst xmlns:a="http://schemas.openxmlformats.org/drawingml/2006/main">
              <a:ext uri="{FF2B5EF4-FFF2-40B4-BE49-F238E27FC236}">
                <a16:creationId xmlns:a16="http://schemas.microsoft.com/office/drawing/2014/main" id="{27C649B9-4E1E-4800-998B-693608CF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14500"/>
            <a:ext cx="2057400" cy="3314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BE3F40-BAC3-4FF9-A6F0-2168DEB0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62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讨论重点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6800CE-5139-45A9-A144-05839925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765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校内</a:t>
            </a:r>
          </a:p>
          <a:p xmlns:a="http://schemas.openxmlformats.org/drawingml/2006/main">
            <a:pPr algn="l">
              <a:defRPr sz="15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优先看时段供给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E89A6D-16BF-4840-AE78-09481290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194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D8744D-B56D-45DC-AD60-5084CD33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480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校外</a:t>
            </a:r>
          </a:p>
          <a:p xmlns:a="http://schemas.openxmlformats.org/drawingml/2006/main">
            <a:pPr algn="l">
              <a:defRPr sz="15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优先看审批与费用说明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43C232-3DCD-46E2-A397-4F8BA02C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各项比例可加总超过 100%，因为问卷为多选。样本为模拟，不能推广。</a:t>
            </a:r>
          </a:p>
        </p:txBody>
      </p:sp>
    </p:spTree>
    <p:extLst>
      <p:ext uri="{BB962C8B-B14F-4D97-AF65-F5344CB8AC3E}">
        <p14:creationId xmlns:p14="http://schemas.microsoft.com/office/powerpoint/2010/main" val="789785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age-title">
            <a:extLst xmlns:a="http://schemas.openxmlformats.org/drawingml/2006/main">
              <a:ext uri="{FF2B5EF4-FFF2-40B4-BE49-F238E27FC236}">
                <a16:creationId xmlns:a16="http://schemas.microsoft.com/office/drawing/2014/main" id="{FD1336E7-B8A6-4557-B6C8-AB24D512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 i="0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试点按责任可观察性推进，不预设改善曲线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81BF36-7BB2-4C49-950E-00F3DA20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" name="source-note">
            <a:extLst xmlns:a="http://schemas.openxmlformats.org/drawingml/2006/main">
              <a:ext uri="{FF2B5EF4-FFF2-40B4-BE49-F238E27FC236}">
                <a16:creationId xmlns:a16="http://schemas.microsoft.com/office/drawing/2014/main" id="{7D53A175-14F5-423C-BE0A-7FF01261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大学共享仪器服务改进 · 模拟分析材料</a:t>
            </a:r>
          </a:p>
        </p:txBody>
      </p:sp>
      <p:sp>
        <p:nvSpPr>
          <p:cNvPr id="4" name="simulation-note">
            <a:extLst xmlns:a="http://schemas.openxmlformats.org/drawingml/2006/main">
              <a:ext uri="{FF2B5EF4-FFF2-40B4-BE49-F238E27FC236}">
                <a16:creationId xmlns:a16="http://schemas.microsoft.com/office/drawing/2014/main" id="{B629DDCD-C09F-457F-BDCD-00F12A0F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F98A76-20CF-4AB9-97A4-3E907CF6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5B259-46A2-46A0-8AC3-DDFCBA3A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每阶段先完成记录与责任条件，再进入下一阶段；指标只作为观察项</a:t>
            </a:r>
          </a:p>
        </p:txBody>
      </p:sp>
      <p:sp>
        <p:nvSpPr>
          <p:cNvPr id="7" name="phase-0">
            <a:extLst xmlns:a="http://schemas.openxmlformats.org/drawingml/2006/main">
              <a:ext uri="{FF2B5EF4-FFF2-40B4-BE49-F238E27FC236}">
                <a16:creationId xmlns:a16="http://schemas.microsoft.com/office/drawing/2014/main" id="{F6D0FD24-4388-463E-8214-C733AE75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E747B-E37D-4A86-8BC2-2E7E5F9D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统一预约入口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2269A-CA79-44EF-9080-B361358B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2438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交付：设备与时段目录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观察：信息完整率</a:t>
            </a:r>
          </a:p>
        </p:txBody>
      </p:sp>
      <p:sp>
        <p:nvSpPr>
          <p:cNvPr id="10" name="phase-1">
            <a:extLst xmlns:a="http://schemas.openxmlformats.org/drawingml/2006/main">
              <a:ext uri="{FF2B5EF4-FFF2-40B4-BE49-F238E27FC236}">
                <a16:creationId xmlns:a16="http://schemas.microsoft.com/office/drawing/2014/main" id="{2039658A-361E-478B-B6E4-99CBADD7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2857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6C8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2AD11-023D-4021-B2AC-2D63B977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193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明确审批责任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CF0AF-218F-42B9-81F7-349F60D8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765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交付：责任人与时限表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观察：审批时长</a:t>
            </a:r>
          </a:p>
        </p:txBody>
      </p:sp>
      <p:sp>
        <p:nvSpPr>
          <p:cNvPr id="13" name="phase-2">
            <a:extLst xmlns:a="http://schemas.openxmlformats.org/drawingml/2006/main">
              <a:ext uri="{FF2B5EF4-FFF2-40B4-BE49-F238E27FC236}">
                <a16:creationId xmlns:a16="http://schemas.microsoft.com/office/drawing/2014/main" id="{28315C29-36D5-4013-A5D8-90F60680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85950"/>
            <a:ext cx="2857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234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87064-86F3-4A6D-B506-9757C918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发布费用与培训说明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8EF09-06E2-4426-8F02-CE072889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交付：费用清单＋培训入口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观察：重复咨询量</a:t>
            </a:r>
          </a:p>
        </p:txBody>
      </p:sp>
      <p:sp>
        <p:nvSpPr>
          <p:cNvPr id="16" name="gate-0">
            <a:extLst xmlns:a="http://schemas.openxmlformats.org/drawingml/2006/main">
              <a:ext uri="{FF2B5EF4-FFF2-40B4-BE49-F238E27FC236}">
                <a16:creationId xmlns:a16="http://schemas.microsoft.com/office/drawing/2014/main" id="{5AB7B50B-87E4-463D-97D7-D6A840F9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24100"/>
            <a:ext cx="171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0799C-F89C-446A-AAAC-776B17C3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0574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E5D36-468D-4523-9339-58C6572A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716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19" name="gate-1">
            <a:extLst xmlns:a="http://schemas.openxmlformats.org/drawingml/2006/main">
              <a:ext uri="{FF2B5EF4-FFF2-40B4-BE49-F238E27FC236}">
                <a16:creationId xmlns:a16="http://schemas.microsoft.com/office/drawing/2014/main" id="{2621D0B9-D435-4603-9B1B-8E968358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171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817B8-A1DC-42C5-B2F4-4665834A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716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D78B8-1758-4F0B-8E7D-AD6DF298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859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22" name="advance-1">
            <a:extLst xmlns:a="http://schemas.openxmlformats.org/drawingml/2006/main">
              <a:ext uri="{FF2B5EF4-FFF2-40B4-BE49-F238E27FC236}">
                <a16:creationId xmlns:a16="http://schemas.microsoft.com/office/drawing/2014/main" id="{2D161CAF-802A-4F8D-BCB2-C5E5BA07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81325"/>
            <a:ext cx="4762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CE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dvance-2">
            <a:extLst xmlns:a="http://schemas.openxmlformats.org/drawingml/2006/main">
              <a:ext uri="{FF2B5EF4-FFF2-40B4-BE49-F238E27FC236}">
                <a16:creationId xmlns:a16="http://schemas.microsoft.com/office/drawing/2014/main" id="{F66E7D3E-E534-458E-AEF5-35018A22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600325"/>
            <a:ext cx="4762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CE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nd-arrow">
            <a:extLst xmlns:a="http://schemas.openxmlformats.org/drawingml/2006/main">
              <a:ext uri="{FF2B5EF4-FFF2-40B4-BE49-F238E27FC236}">
                <a16:creationId xmlns:a16="http://schemas.microsoft.com/office/drawing/2014/main" id="{3297F467-8D1B-4787-B81F-57030049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66925"/>
            <a:ext cx="400050" cy="4000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4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97067B-FE5B-479D-A66B-3965EA93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阶段指标没有预设数值目标；推进依据是信息记录与责任条件是否具备。</a:t>
            </a:r>
          </a:p>
        </p:txBody>
      </p:sp>
      <p:sp>
        <p:nvSpPr>
          <p:cNvPr id="26" name="pause-strip">
            <a:extLst xmlns:a="http://schemas.openxmlformats.org/drawingml/2006/main">
              <a:ext uri="{FF2B5EF4-FFF2-40B4-BE49-F238E27FC236}">
                <a16:creationId xmlns:a16="http://schemas.microsoft.com/office/drawing/2014/main" id="{C7170D6F-B044-4D3F-A6AA-75852587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971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8B456-3979-4191-ACC6-6544704F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访问授权条件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D7949B-DE6A-4429-8AB2-6F6191C5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19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涉及新访问授权时暂停共享；授权处理后恢复。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67F9D0-8F8A-46A0-8A80-5A4699DC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预期用途：让用户更早判断可用性，工作人员定位问题所在环节。仍属预期，不是已验证收益。</a:t>
            </a:r>
          </a:p>
        </p:txBody>
      </p:sp>
    </p:spTree>
    <p:extLst>
      <p:ext uri="{BB962C8B-B14F-4D97-AF65-F5344CB8AC3E}">
        <p14:creationId xmlns:p14="http://schemas.microsoft.com/office/powerpoint/2010/main" val="1642891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age-title">
            <a:extLst xmlns:a="http://schemas.openxmlformats.org/drawingml/2006/main">
              <a:ext uri="{FF2B5EF4-FFF2-40B4-BE49-F238E27FC236}">
                <a16:creationId xmlns:a16="http://schemas.microsoft.com/office/drawing/2014/main" id="{D2F39E8D-5AE0-40A9-B244-48C40C61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 i="0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支持优先级取决于预约频次与操作支持需求的组合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756B8EC-21B2-4B82-BB5C-5149CB55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4B817A5-4B1F-4776-A512-85B8088F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大学共享仪器服务改进 · 模拟分析材料</a:t>
            </a:r>
          </a:p>
        </p:txBody>
      </p:sp>
      <p:sp>
        <p:nvSpPr>
          <p:cNvPr id="4" name="simulation-note">
            <a:extLst xmlns:a="http://schemas.openxmlformats.org/drawingml/2006/main">
              <a:ext uri="{FF2B5EF4-FFF2-40B4-BE49-F238E27FC236}">
                <a16:creationId xmlns:a16="http://schemas.microsoft.com/office/drawing/2014/main" id="{44F6175B-7AD1-404C-A62C-05F3C11E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C24B75-08E0-4D7F-817E-BF4C4CE8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19289-C3E6-4F8A-B0DF-690D98DF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二维诊断：两条 50 分界线仅用于本次讨论，不代表外部行业标准</a:t>
            </a:r>
          </a:p>
        </p:txBody>
      </p:sp>
      <p:sp>
        <p:nvSpPr>
          <p:cNvPr id="7" name="plot-frame">
            <a:extLst xmlns:a="http://schemas.openxmlformats.org/drawingml/2006/main">
              <a:ext uri="{FF2B5EF4-FFF2-40B4-BE49-F238E27FC236}">
                <a16:creationId xmlns:a16="http://schemas.microsoft.com/office/drawing/2014/main" id="{699E7B16-976B-43E7-B547-F7434A31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6858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7C300-4F66-4CF2-8227-7615222C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6066F-C89F-4747-942E-244D2F4B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92107-F098-44E0-8C60-1DEC5E3F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B8D8F-7A7F-4ABE-B13A-3F570B39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BB0AC-4EB5-4B1E-A6A9-2B4BAEDE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5260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B7BB8-03D7-47A1-A625-2E89B4A9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17F43-11B1-4A0D-8317-C7D7412D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57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4AADD-CB52-4871-A29C-5A699394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0A805-274E-473E-A726-90D54B17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5260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6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907B3-B735-4B7B-9C48-0D5C5317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6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D1FCF-0C7F-4C21-8145-83218F28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57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08D99-DAE2-4647-9491-5EE2F7A8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AFCBFE-FA53-4FC5-8FF5-A273A4F1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04F52-3CD4-451A-A102-CE6D4016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EF233-FA18-48AB-A735-B1F31E30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57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FE7BD8-3ADD-4C21-A46C-93AC8771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1941BE-AF94-40DD-824B-C15073E8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FDDE52-7BD7-4E3E-9B73-F95BA842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5F4939-9B8A-4060-A3A8-68FB7F14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57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75EB45-44FB-44C5-A913-917B3DA1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025915-4928-450B-994A-D002D4F1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905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预约频次指数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3258C4-16D2-49CE-921F-8D106DCC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操作支持需求指数</a:t>
            </a:r>
          </a:p>
        </p:txBody>
      </p:sp>
      <p:sp>
        <p:nvSpPr>
          <p:cNvPr id="30" name="point-0">
            <a:extLst xmlns:a="http://schemas.openxmlformats.org/drawingml/2006/main">
              <a:ext uri="{FF2B5EF4-FFF2-40B4-BE49-F238E27FC236}">
                <a16:creationId xmlns:a16="http://schemas.microsoft.com/office/drawing/2014/main" id="{A0E0FFF6-E6B2-412D-936C-D5403FEF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90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66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0FA8F5-8794-4210-841C-AD148AA2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显微成像  (85,80)</a:t>
            </a:r>
          </a:p>
        </p:txBody>
      </p:sp>
      <p:sp>
        <p:nvSpPr>
          <p:cNvPr id="32" name="point-1">
            <a:extLst xmlns:a="http://schemas.openxmlformats.org/drawingml/2006/main">
              <a:ext uri="{FF2B5EF4-FFF2-40B4-BE49-F238E27FC236}">
                <a16:creationId xmlns:a16="http://schemas.microsoft.com/office/drawing/2014/main" id="{7438F8DC-BF9B-4968-B3F2-EB009FDB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86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2F4849-A87E-465B-B9A0-C4D0BE79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62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基础检测  (80,25)</a:t>
            </a:r>
          </a:p>
        </p:txBody>
      </p:sp>
      <p:sp>
        <p:nvSpPr>
          <p:cNvPr id="34" name="point-2">
            <a:extLst xmlns:a="http://schemas.openxmlformats.org/drawingml/2006/main">
              <a:ext uri="{FF2B5EF4-FFF2-40B4-BE49-F238E27FC236}">
                <a16:creationId xmlns:a16="http://schemas.microsoft.com/office/drawing/2014/main" id="{477EA9C5-76DA-4EF5-AC86-82D5985D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81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A0F09A-A165-4AA3-8CED-6A5E9F19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81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材料制备  (35,75)</a:t>
            </a:r>
          </a:p>
        </p:txBody>
      </p:sp>
      <p:sp>
        <p:nvSpPr>
          <p:cNvPr id="36" name="point-3">
            <a:extLst xmlns:a="http://schemas.openxmlformats.org/drawingml/2006/main">
              <a:ext uri="{FF2B5EF4-FFF2-40B4-BE49-F238E27FC236}">
                <a16:creationId xmlns:a16="http://schemas.microsoft.com/office/drawing/2014/main" id="{3BC1F416-E4FA-4CF0-9EA2-481EDEE5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95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87CEDF-B344-4927-8E1F-CEBAB88A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常规加工  (30,30)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0AA884-D016-4331-BFC9-036A7566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高频 × 高支持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AADC23-DCB4-42F0-A349-4A714004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24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低频 × 高支持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54E33F-70BE-4A36-80BD-E05AB04B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38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高频 × 低支持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A7B3FC-32DE-46A7-913E-AE16B2EE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38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低频 × 低支持</a:t>
            </a:r>
          </a:p>
        </p:txBody>
      </p:sp>
      <p:sp>
        <p:nvSpPr>
          <p:cNvPr id="42" name="priority-box">
            <a:extLst xmlns:a="http://schemas.openxmlformats.org/drawingml/2006/main">
              <a:ext uri="{FF2B5EF4-FFF2-40B4-BE49-F238E27FC236}">
                <a16:creationId xmlns:a16="http://schemas.microsoft.com/office/drawing/2014/main" id="{202596C5-DEB0-4F29-B36C-1B42C439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38100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B1B22F-27C6-4CF3-898E-129B95F9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00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讨论建议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55B18A-DA49-499C-BAB2-D1518D8F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1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高频高支持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6BD22F-2E02-4E20-BA76-34AD865C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43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增设辅导时段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0F406E-D7BC-4110-8861-52433C6B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480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1AE479-67B2-4B5F-9945-84899E3B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高频低支持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24E608-2A40-40FC-8DB9-9A986368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9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完善自助说明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CF93F9-F534-44C8-9165-6A1014D0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E7435A-972A-48DB-96FC-834D49BA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48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低频高支持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16986D-1574-4CCB-A788-24290AE4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76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采用预约辅导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BFD4AB-8B0F-47E3-99A6-696ADF7A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815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501EAB-814A-4028-9CA0-CBA5A910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14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低频低支持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DCE892-1B31-443C-85DD-3FDF49A7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43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3466D"/>
                </a:solidFill>
                <a:latin typeface="Microsoft YaHei"/>
                <a:ea typeface="Microsoft YaHei"/>
                <a:cs typeface="Microsoft YaHei"/>
              </a:rPr>
              <a:t>维持基础服务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5AEE79-31A4-4CD1-9D6F-4FBCBEB2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72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点的位置不表示成本、设备价值或真实利用率。</a:t>
            </a:r>
          </a:p>
        </p:txBody>
      </p:sp>
    </p:spTree>
    <p:extLst>
      <p:ext uri="{BB962C8B-B14F-4D97-AF65-F5344CB8AC3E}">
        <p14:creationId xmlns:p14="http://schemas.microsoft.com/office/powerpoint/2010/main" val="394323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2026-09-07T15:07:06.1110000Z</dcterms:created>
  <dcterms:modified xsi:type="dcterms:W3CDTF">2026-09-07T15:07:06.1110000Z</dcterms:modified>
</coreProperties>
</file>