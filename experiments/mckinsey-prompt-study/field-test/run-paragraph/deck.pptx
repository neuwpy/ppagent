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e289e970d5425d" /><Relationship Type="http://schemas.openxmlformats.org/officeDocument/2006/relationships/extended-properties" Target="/docProps/app.xml" Id="R9e4c5cbff275431a" /><Relationship Type="http://schemas.openxmlformats.org/officeDocument/2006/relationships/officeDocument" Target="/ppt/presentation.xml" Id="R3bb60f5ac52a4f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e0573b3c644cf1"/>
  </p:sldMasterIdLst>
  <p:notesMasterIdLst>
    <p:notesMasterId xmlns:r="http://schemas.openxmlformats.org/officeDocument/2006/relationships" r:id="R054d672845324f57"/>
  </p:notesMasterIdLst>
  <p:sldIdLst>
    <p:sldId xmlns:r="http://schemas.openxmlformats.org/officeDocument/2006/relationships" id="256" r:id="Rab719295fa2a4303"/>
    <p:sldId xmlns:r="http://schemas.openxmlformats.org/officeDocument/2006/relationships" id="257" r:id="R71d21e2f8be148dd"/>
    <p:sldId xmlns:r="http://schemas.openxmlformats.org/officeDocument/2006/relationships" id="258" r:id="R82005c97a40b41e2"/>
    <p:sldId xmlns:r="http://schemas.openxmlformats.org/officeDocument/2006/relationships" id="259" r:id="R1a185ba8b5e64b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5c2e244da4c30" /><Relationship Type="http://schemas.openxmlformats.org/officeDocument/2006/relationships/slideMaster" Target="/ppt/slideMasters/slideMaster1.xml" Id="R04e0573b3c644cf1" /><Relationship Type="http://schemas.openxmlformats.org/officeDocument/2006/relationships/notesMaster" Target="/ppt/notesMasters/notesMaster1.xml" Id="R054d672845324f57" /><Relationship Type="http://schemas.openxmlformats.org/officeDocument/2006/relationships/presProps" Target="/ppt/presProps.xml" Id="R30a0b2aa188248c6" /><Relationship Type="http://schemas.openxmlformats.org/officeDocument/2006/relationships/tableStyles" Target="/ppt/tableStyles.xml" Id="Rea5d3716a8644b15" /><Relationship Type="http://schemas.openxmlformats.org/officeDocument/2006/relationships/slide" Target="/ppt/slides/slide1.xml" Id="Rab719295fa2a4303" /><Relationship Type="http://schemas.openxmlformats.org/officeDocument/2006/relationships/slide" Target="/ppt/slides/slide2.xml" Id="R71d21e2f8be148dd" /><Relationship Type="http://schemas.openxmlformats.org/officeDocument/2006/relationships/slide" Target="/ppt/slides/slide3.xml" Id="R82005c97a40b41e2" /><Relationship Type="http://schemas.openxmlformats.org/officeDocument/2006/relationships/slide" Target="/ppt/slides/slide4.xml" Id="R1a185ba8b5e64b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022fbfa77640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57f697e1c7451d" /><Relationship Type="http://schemas.openxmlformats.org/officeDocument/2006/relationships/notesMaster" Target="/ppt/notesMasters/notesMaster1.xml" Id="R6cffc100f7794d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a76baa9314c28" /><Relationship Type="http://schemas.openxmlformats.org/officeDocument/2006/relationships/notesMaster" Target="/ppt/notesMasters/notesMaster1.xml" Id="R1dee136a01f347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05be2c40c44927" /><Relationship Type="http://schemas.openxmlformats.org/officeDocument/2006/relationships/notesMaster" Target="/ppt/notesMasters/notesMaster1.xml" Id="Rabb75302572d41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8e59366ce54c0a" /><Relationship Type="http://schemas.openxmlformats.org/officeDocument/2006/relationships/notesMaster" Target="/ppt/notesMasters/notesMaster1.xml" Id="R8b6c649cce7f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f84eef8a949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0ce32ca2074485" /><Relationship Type="http://schemas.openxmlformats.org/officeDocument/2006/relationships/slideLayout" Target="/ppt/slideLayouts/slideLayout1.xml" Id="Rebcb0b76c66f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cb0b76c66f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edfb811f441cd" /><Relationship Type="http://schemas.openxmlformats.org/officeDocument/2006/relationships/notesSlide" Target="/ppt/notesSlides/notesSlide1.xml" Id="Rf1863d3b9be14b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c0852cc294270" /><Relationship Type="http://schemas.openxmlformats.org/officeDocument/2006/relationships/notesSlide" Target="/ppt/notesSlides/notesSlide2.xml" Id="Rd39206144dee45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176fc38884ab5" /><Relationship Type="http://schemas.openxmlformats.org/officeDocument/2006/relationships/notesSlide" Target="/ppt/notesSlides/notesSlide3.xml" Id="Rafd8a68479f046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70af32a3749e7" /><Relationship Type="http://schemas.openxmlformats.org/officeDocument/2006/relationships/notesSlide" Target="/ppt/notesSlides/notesSlide4.xml" Id="R4a60be95d4e342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507241-9D44-406A-B93A-E2E1A14F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 / 使用增长与等待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4FA07-6DF7-4A2D-8853-9B4A711B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使用量上升与等待下降同时出现，仍需拆分高峰拥堵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5E5C3-E9DB-4F48-AAC5-F2A453D5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001EA-EC8B-4931-A423-0F778FB7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预约完成量增加的同时，中位等待时间缩短；这组趋势描述现象，不足以归因于单一措施。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2D77B-B461-4A76-83A2-2CFC4C29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BB6D5-B479-4EAD-BB7A-263F6850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43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预约完成量（单）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9E93E-D732-40E3-934A-E13AC0B9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AE"/>
          </a:solidFill>
          <a:ln xmlns:a="http://schemas.openxmlformats.org/drawingml/2006/main" w="0">
            <a:solidFill>
              <a:srgbClr val="5A84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BC39D-B19F-4165-9CBD-305DE558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43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中位等待（天）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8DBA3-5ECD-460A-A32F-A3C07AE3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预约完成量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D8410-E9BE-4EB6-BC18-D6BFA49C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B296D-42B2-481E-BABF-F2E08EC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D401D-E0E0-4D09-AAF8-6CDE9C6B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9B684-7239-4DFE-B40A-596528FE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9FF32-453B-49A2-8061-5EF8EE64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BA2B3-50FF-44D9-ADD5-5B242F7D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81513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09350-23FD-4B55-8BA2-1303839C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6263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600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AA032-B99A-4801-8E5D-9FFFC35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433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F9A8D-03E0-4F3A-A696-8DAC4718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0278A-8995-42EB-A3FF-8031A74E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5138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D8F78-3EDE-4BD6-953E-E8E5FDF1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9888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1800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4CE5A-F074-46D3-AF58-231EB5DD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F0484-8A40-44AE-B110-4CBC2A18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2400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569BE-A488-4E52-B1DE-CFE79B1E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43325"/>
            <a:ext cx="685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A82534-21C5-4E2C-85D7-DB9B3942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956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6ACF5-C6CD-43E8-A355-28E33D3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530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A09F5-DCBC-4B05-B2E1-A2DFF1B1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00413"/>
            <a:ext cx="685800" cy="1919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39895-2BE5-4D70-9914-A865178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52763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1560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41D47-869B-4118-94B4-CF1D2440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530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550FB-52ED-42C9-B889-4F196E04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685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875E7-EC85-4C32-AC73-A3923FA4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1920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02A184-0A27-4FE6-9FEA-2DD4AB0E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30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437DE5-3BA8-4957-A5CF-D471D68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+60%（2023→2025）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C59F7-283F-4452-9323-CB46ABE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中位等待时间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73832E-E461-48F0-A093-D8ABD162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29FA7A-F15B-474A-A283-FCD225F4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6B2E98-1F32-43C6-954B-12DFCFA5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ECC73D-B188-4700-9785-360B033D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7AD915-9F93-4F2C-9BFC-E17F6CC2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24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3815CF-49B2-4CCE-BB3F-BB68465C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43BCB5-C737-4BF7-B700-687377CF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91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168C3C-381E-40D3-81EA-725C04B9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B5EDA0-04FC-4E80-818E-1463F73B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47E193-0A92-4F4B-B793-928A6707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7916F5-703F-4D73-B698-1DE15022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ECB45A-913F-4D4D-993C-622C6CE0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63994B-FE1B-4038-8CE0-0A9B5308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90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70A23C-D2C0-4951-AC2D-73205A1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5621A5-30FB-4529-9066-AC7957E3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9E5F79-0216-4C61-BE37-141D2D6C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0477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A84A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997B26-D606-4776-B958-5A930DF4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10477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A84A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D6F724-F0EE-478E-9598-7E067281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9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A84A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E8FD46-0A82-41A7-B853-AF71A39C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E9D187-C435-4FED-AEA9-BBF71EB4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353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40B358-A33E-47F1-8D25-180BB3A0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A84A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DB5D74-22A1-40A6-8F66-FE5A4D11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BCD5CD-33A5-4E9E-85FA-5660472B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353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0CA869-CFC5-4864-B57F-DF32CAA8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A84A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29865F-13BA-4607-A3BE-84C4F486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95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AF51DC-0F1F-46F1-B40A-677F79AC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353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CF9645-CDE2-40B6-86B5-228F05E7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0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rPr>
              <a:t>-2天（2023→2025）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9D3FCC-AE24-46C8-9E39-14E0147F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001EDE-51C0-4BFD-89C7-F0E06EA4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F52212-69D7-447C-B5AB-D87AAF6F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151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· 讨论稿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BBD5FD-9862-4E2C-B0F9-62E33D81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6925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F2F30A-007C-46D4-A040-7E8E8EDC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 / 两类用户的预约障碍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5BB4F-4ED6-432F-BCCA-752679E7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校内与校外的首要障碍不同，供给与规则应分开处理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C695C-D402-46E5-AFF8-362CBB22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201F1-AFEB-47C0-A2D9-14E4616C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模拟问卷为多选题，各项比例不相加为100%；两组各100人，仅用于讨论优先级。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D4BA3-90A7-40C7-9363-3DCB83DB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90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A29DB-700A-4D85-8AA6-FDC8B322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43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DA986-391C-4966-8651-3303D59C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AE"/>
          </a:solidFill>
          <a:ln xmlns:a="http://schemas.openxmlformats.org/drawingml/2006/main" w="0">
            <a:solidFill>
              <a:srgbClr val="5A84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64A27-CBF4-4B07-A5AB-DB6C8552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43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04E70-2BC7-41C1-A0A7-6EDC28A8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335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选择比例（%）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12BA7-B857-46C5-B4F6-3930A085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07ED8-175F-42E4-A14B-1BFB090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0" cy="3162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71DC4-0431-49ED-B681-102DF8CD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43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7E1BE-E996-4D74-9D85-DE568BBD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0" cy="3162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FE27B-DA2C-4339-905E-BBF4E2B4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43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3C613-96E7-4DE1-8518-76D9B0B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0" cy="3162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5F823-882B-4C59-BD1C-AA92E041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9D701-54AE-4A10-BEC2-46FA5914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71700"/>
            <a:ext cx="0" cy="3162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4640B-B93E-4937-A572-99651AC4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43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A5B5B-ECF3-4CFF-A83B-CAB84656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0" cy="3162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7FF17-6B6D-4B27-944A-79060330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259CC-C8D3-49CB-9FDC-1325FFB4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时段难匹配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5AF84-FA37-4D78-B3BE-B216C9EC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48425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E4E73-48AC-400E-AF4A-3255EF52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3514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AE"/>
          </a:solidFill>
          <a:ln xmlns:a="http://schemas.openxmlformats.org/drawingml/2006/main" w="0">
            <a:solidFill>
              <a:srgbClr val="5A84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F1B2A-9DBA-40E9-8582-D6310946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510" y="2324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2F1F2-556B-4E30-AE63-C271AF9D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0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D2DBD-C5CF-4EBA-9E93-B25BF735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28201-317D-44FA-BF64-7E7BA9A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37490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5D807A-F6B9-4AE9-B410-CEE58437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5076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AE"/>
          </a:solidFill>
          <a:ln xmlns:a="http://schemas.openxmlformats.org/drawingml/2006/main" w="0">
            <a:solidFill>
              <a:srgbClr val="5A84A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8C8FB-C4A9-494B-B719-60C5E135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040" y="31242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CF6BF9-78D6-43AD-AB4E-5753BB23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09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DBD44-B1D8-4ACE-ABB0-A7884C37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费用不清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00D84F-8803-41B8-851F-3A7EC495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21869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7D71C-0A5F-44E4-8999-322522F4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45300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AE"/>
          </a:solidFill>
          <a:ln xmlns:a="http://schemas.openxmlformats.org/drawingml/2006/main" w="0">
            <a:solidFill>
              <a:srgbClr val="5A84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AC89D1-69D8-495A-A355-C80520F3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9243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4606FD-33B2-490E-BA53-A001B0CE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421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rPr>
              <a:t>58%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9136A7-5443-4ECC-A6C9-A27C8226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操作培训不足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1E43B8-D5C3-47D7-A313-FD0D3179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34366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510275-8839-4FCA-B23C-8DB7EB99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29200"/>
            <a:ext cx="24993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AE"/>
          </a:solidFill>
          <a:ln xmlns:a="http://schemas.openxmlformats.org/drawingml/2006/main" w="0">
            <a:solidFill>
              <a:srgbClr val="5A84A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E71F8B-DA82-4A44-BAD6-4E99C790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620" y="47244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9002B2-CF13-4FA3-89D9-84E3ACEB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50101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A84AE"/>
                </a:solidFill>
                <a:latin typeface="Microsoft YaHei"/>
                <a:ea typeface="Microsoft YaHei"/>
                <a:cs typeface="Microsoft YaHei"/>
              </a:rPr>
              <a:t>32%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CCA9D8-6346-47B8-9792-512AEA21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CDD610-F241-46EF-A241-A43C845F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讨论判断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DEBCC4-353D-42FA-8CBF-2F73E70E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340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校内先看时段供给；校外先看审批与费用说明。两组共享四个维度，样本不支持推广。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E1F40D-1228-4653-970C-8C2CB891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49BF86-641B-4144-8537-A80F9BDC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84ED21-447C-478B-992F-20C39CB4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151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· 讨论稿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2F994A-DE10-4770-981C-4125F80F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829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D3AC97-237F-461A-BA24-10BF6E47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 / 分阶段试点与可观察指标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EB74C-8F4A-46BD-920A-F720BDA0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试点按入口、责任、说明依次推进，每阶段先完成记录再进入下一步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4A36C-E402-44D9-B565-5E263B2A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DA5D6-4E4E-4B02-B5ED-52A9FBBF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阶段有先后，但指标不预设改善数值；平台负责人在记录完整、责任明确后确认推进。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CC618-3A77-4F09-B45B-444FD041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9DDFD-72D7-4283-81E6-D1669F34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75217-9245-4449-88DE-B6EF3DC1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9085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AE9F5-F146-433E-8835-58625379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732B0-72AD-4382-96D4-369F8ECA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D2A41-1C1E-48E1-8331-772A0B05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51241-54AA-410C-9D40-814235A6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C99FC-7B37-440F-B3B7-A1F7F9C9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统一预约入口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75BA7-D60F-4B65-A794-27463A71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1F4EA-E418-4B6F-B247-0602BB1B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统一设备与时段目录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7A28D-367D-40C5-AE6E-A28B601A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8586E-6D52-495A-A10F-86B5A8C4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信息完整率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505AD-603D-4CD7-B3E7-25B19228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AE"/>
          </a:solidFill>
          <a:ln xmlns:a="http://schemas.openxmlformats.org/drawingml/2006/main" w="0">
            <a:solidFill>
              <a:srgbClr val="5A84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44280-D9D7-41F9-A62B-3D62210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90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70F650-9290-4772-BB65-1649308B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4320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BF1AC-8ED6-4CB0-84BB-D016AF3B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明确审批责任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E840A-97CC-48CE-A02C-46B0B6FB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D069B-131B-4D5B-8FF9-6AA4AFAD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责任人与时限表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39F04-04DD-42D3-A81C-A066B65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24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E6237-B62A-4A3B-B9C1-BCB7F027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720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审批时长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B5F34-526F-43D3-A279-9B356CE7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84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2B5D8-5882-48E4-BFE9-27DE9FD8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FAF2C-46AF-48D0-A86D-6A95A42F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D9324-48D5-43B7-AF53-50E83C12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发布费用与培训说明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C5C23F-CCA0-4194-B297-214FF811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57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DEF38-872A-449F-82E7-36F419A6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费用清单及培训入口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56C198-C232-4942-8476-F9CF2BB6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24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F36F50-D953-4FFD-A458-03DCF58E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重复咨询量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6538A6-3A2F-44F5-B31B-C530171C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53E4F2-F923-4E2B-BEAF-E5E2352F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控制点：涉及新访问授权时暂停共享，授权处理后恢复。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B8C280-B83C-4973-B339-D9B4CB84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27D770-1037-4C57-9D15-65342DAD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70ADDD-10E4-4AFB-820C-602E2B38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151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· 讨论稿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B56A94-AABF-4782-96B8-C998385B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0211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81ED12E-E7F0-477C-956D-ABA547B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 / 四类设备的支持优先级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2A2C4-E7E5-4936-8FEB-F37CBCCA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支持优先级由频次与支持需求共同定位，四类设备落在四个讨论象限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5D4A6-C69B-4B69-AFA0-C4C816D3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11CCE-1179-4332-ACB1-4890A801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横纵轴均为0—100指数，50为本次讨论分界；点的位置不表示成本、设备价值或真实利用率。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887A9-FD70-4731-BEEC-1177750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526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8B630-33B8-43F0-91C5-A5905E4D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00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B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7354A-3AAF-4131-BEA8-2948BD1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526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1D75D-0FC3-4C9A-93F9-B0650842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76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A6B18-E0A4-4F58-A231-39D4E5A3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006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05A88-6ABD-4A53-A1C1-AE87D8F3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313B6-B5F8-4CF4-A298-9797F9AA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34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3531B-7FAF-4454-AB06-4A97D5D8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EB451-2874-4DA1-B005-73530BBE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006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34278-58B1-4EB6-B1F1-72A11E1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6D018-B6A9-4149-A3A0-926A9F8C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1C712-C9C1-4120-8014-46630E65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9C6AA-0FAB-408E-9D4D-E023431B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006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3A38A-FE9B-4FBE-AC83-EE2D28FB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7665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5BF59-92AF-46C6-90F8-C4734B8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34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4B364-E4B7-423D-9E2D-8A8DD89F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46E9C-7664-4C8A-9170-B1EC1EA4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006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BB3C5-D764-4BE6-8049-9EEB083A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96A9C-BE69-46C4-8263-D5642055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34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98C4F-40AC-4DAE-ACBD-8A3096F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21295-788A-400B-8857-91787180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006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B933AE-49BF-46A0-9C4D-A7BAAC47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90699-C66D-484F-AA91-A110738D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3F223-E6EB-40B1-9A36-50A866F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C848E-4ACA-4E5D-A5E9-D2C8F174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预约频次指数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2AE3B2-14DD-442C-AF5B-9080DED1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操作支持需求指数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1AC70F-3B5C-44BE-BA9E-FFB2E0C4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385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E19B7E-EA6F-43E0-87C0-AA6FFB92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206E32-3301-4B26-B029-3AB76CAB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76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A366B-129A-44FD-BA11-3C6CE9B1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显微成像  (85,80)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E2A3B8-E7C6-4D96-A81A-42B0AA41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0D8710-211B-4A07-9DAB-62C8736D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33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基础检测  (80,25)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EBF1B7-4E2D-4AB4-B0B8-9FC7391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28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941A77-12E6-4A99-B3EF-532BF93F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47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材料制备  (35,75)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D72171-EA88-4494-A5FD-416D19DD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00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309745-B27C-41AF-9ED0-54A8ADB1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常规加工  (30,30)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FDF103-6A48-41D4-863A-626FDC98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讨论动作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794363-3AB2-458B-B591-EE0954FA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EAB556-E29D-4EBB-AF40-9D4AA371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高频 × 高支持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5B0E5F-7627-4077-B3A6-76A81CF3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显微成像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4794F0-C971-4AFF-8B5B-450129A7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优先增设辅导时段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91B2D2-A9A1-4EC4-B8CF-AECB03D1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633DD4-DC18-4995-9CA0-035D0989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高频 × 低支持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46525D-5682-4DEE-839A-5FE6C7E3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基础检测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D261A4-A3EA-44C6-8316-B067BEB2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优先完善自助说明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9C4C6F-935A-430C-899F-FE34793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2D66C8-B948-40E6-8300-AF5C8F2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低频 × 高支持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8508E0-3A45-4F94-AC45-14B649CB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材料制备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D1B3B9-C12C-488D-B386-EECDEB3D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采用预约辅导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3F8309-CFA1-45C5-8D53-407D42B8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FFBBF7-1B1B-4059-A746-160B9A83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低频 × 低支持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6EFAFA-4CA9-42C1-86DD-49A694E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常规加工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889158-E205-40B4-A87E-F1EA4059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维持基础服务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5E87CC-3AB8-404D-842C-FE4C2FD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分界仅帮助讨论，不构成统计分类结论。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AD91EF-9FDB-4DCC-BD19-BE5EBC55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7B61C3-A9EC-4F06-94FA-8F087CA7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85AFD5-E5C8-446E-A676-F1E4325F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151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· 讨论稿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274FA5-3C16-461D-A447-34E198B8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6201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2026-09-07T15:07:06.1140000Z</dcterms:created>
  <dcterms:modified xsi:type="dcterms:W3CDTF">2026-09-07T15:07:06.1140000Z</dcterms:modified>
</coreProperties>
</file>