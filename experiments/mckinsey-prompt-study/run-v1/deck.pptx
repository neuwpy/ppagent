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1fcd424413444d" /><Relationship Type="http://schemas.openxmlformats.org/officeDocument/2006/relationships/extended-properties" Target="/docProps/app.xml" Id="Rd53a38d4ea744e9c" /><Relationship Type="http://schemas.openxmlformats.org/officeDocument/2006/relationships/officeDocument" Target="/ppt/presentation.xml" Id="R4dbb91db7a814b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50aba74315457f"/>
  </p:sldMasterIdLst>
  <p:notesMasterIdLst>
    <p:notesMasterId xmlns:r="http://schemas.openxmlformats.org/officeDocument/2006/relationships" r:id="R9765698214b0402b"/>
  </p:notesMasterIdLst>
  <p:sldIdLst>
    <p:sldId xmlns:r="http://schemas.openxmlformats.org/officeDocument/2006/relationships" id="256" r:id="R8b054cc4758c4a50"/>
    <p:sldId xmlns:r="http://schemas.openxmlformats.org/officeDocument/2006/relationships" id="257" r:id="R56636225635048f5"/>
    <p:sldId xmlns:r="http://schemas.openxmlformats.org/officeDocument/2006/relationships" id="258" r:id="R186fc04dc72a48b2"/>
    <p:sldId xmlns:r="http://schemas.openxmlformats.org/officeDocument/2006/relationships" id="259" r:id="Rddb3b8e5ae594f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8fd5a10f694942" /><Relationship Type="http://schemas.openxmlformats.org/officeDocument/2006/relationships/slideMaster" Target="/ppt/slideMasters/slideMaster1.xml" Id="R2f50aba74315457f" /><Relationship Type="http://schemas.openxmlformats.org/officeDocument/2006/relationships/notesMaster" Target="/ppt/notesMasters/notesMaster1.xml" Id="R9765698214b0402b" /><Relationship Type="http://schemas.openxmlformats.org/officeDocument/2006/relationships/presProps" Target="/ppt/presProps.xml" Id="R2e791c61da34464b" /><Relationship Type="http://schemas.openxmlformats.org/officeDocument/2006/relationships/tableStyles" Target="/ppt/tableStyles.xml" Id="R0567c789d0f749ea" /><Relationship Type="http://schemas.openxmlformats.org/officeDocument/2006/relationships/slide" Target="/ppt/slides/slide1.xml" Id="R8b054cc4758c4a50" /><Relationship Type="http://schemas.openxmlformats.org/officeDocument/2006/relationships/slide" Target="/ppt/slides/slide2.xml" Id="R56636225635048f5" /><Relationship Type="http://schemas.openxmlformats.org/officeDocument/2006/relationships/slide" Target="/ppt/slides/slide3.xml" Id="R186fc04dc72a48b2" /><Relationship Type="http://schemas.openxmlformats.org/officeDocument/2006/relationships/slide" Target="/ppt/slides/slide4.xml" Id="Rddb3b8e5ae594f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e64ea9e7f547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b830d2e73344c3" /><Relationship Type="http://schemas.openxmlformats.org/officeDocument/2006/relationships/notesMaster" Target="/ppt/notesMasters/notesMaster1.xml" Id="R1db5690119e845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2d165df42b4be3" /><Relationship Type="http://schemas.openxmlformats.org/officeDocument/2006/relationships/notesMaster" Target="/ppt/notesMasters/notesMaster1.xml" Id="R77108a9de9f24b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6fb928e6a54e98" /><Relationship Type="http://schemas.openxmlformats.org/officeDocument/2006/relationships/notesMaster" Target="/ppt/notesMasters/notesMaster1.xml" Id="R780212fa20a547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9a41639aa447b5" /><Relationship Type="http://schemas.openxmlformats.org/officeDocument/2006/relationships/notesMaster" Target="/ppt/notesMasters/notesMaster1.xml" Id="R6e76ecd5ff5a4a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本轮原稿 experiments/mckinsey-prompt-study/manuscript.md，第 1 节；数字为风格测试构造的模拟数据。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本轮原稿 experiments/mckinsey-prompt-study/manuscript.md，第 2 节；模拟多选问卷，校内 100 人、校外 100 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本轮原稿 experiments/mckinsey-prompt-study/manuscript.md，第 3 节；三阶段为拟议试点，指标无预设数值。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本轮原稿 experiments/mckinsey-prompt-study/manuscript.md，第 4 节；二维点位为模拟诊断数据，0—100 仅为本次讨论尺度。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0ec7a4384744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b00e2e69b84449" /><Relationship Type="http://schemas.openxmlformats.org/officeDocument/2006/relationships/slideLayout" Target="/ppt/slideLayouts/slideLayout1.xml" Id="R56657b8710a249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657b8710a249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688c7afdc4e63" /><Relationship Type="http://schemas.openxmlformats.org/officeDocument/2006/relationships/notesSlide" Target="/ppt/notesSlides/notesSlide1.xml" Id="R717f74eae14c4f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6c8b73f72477e" /><Relationship Type="http://schemas.openxmlformats.org/officeDocument/2006/relationships/notesSlide" Target="/ppt/notesSlides/notesSlide2.xml" Id="Re17f618cbf194e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c03d951094577" /><Relationship Type="http://schemas.openxmlformats.org/officeDocument/2006/relationships/notesSlide" Target="/ppt/notesSlides/notesSlide3.xml" Id="R3b8337c1b2ee4c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241a6b6d449af" /><Relationship Type="http://schemas.openxmlformats.org/officeDocument/2006/relationships/notesSlide" Target="/ppt/notesSlides/notesSlide4.xml" Id="R86bdd25e10aa45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kicker-1">
            <a:extLst xmlns:a="http://schemas.openxmlformats.org/drawingml/2006/main">
              <a:ext uri="{FF2B5EF4-FFF2-40B4-BE49-F238E27FC236}">
                <a16:creationId xmlns:a16="http://schemas.microsoft.com/office/drawing/2014/main" id="{C642C4BE-A32E-41AB-80E0-EEE14447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F91"/>
                </a:solidFill>
              </a:defRPr>
            </a:pPr>
            <a:r>
              <a:rPr sz="1125" b="1">
                <a:solidFill>
                  <a:srgbClr val="315F91"/>
                </a:solidFill>
              </a:rPr>
              <a:t>大学共享仪器服务改进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133188DE-F9D5-413F-9A76-7F6D58A2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B2B2B"/>
                </a:solidFill>
              </a:defRPr>
            </a:pPr>
            <a:r>
              <a:rPr sz="2850" b="1">
                <a:solidFill>
                  <a:srgbClr val="2B2B2B"/>
                </a:solidFill>
              </a:rPr>
              <a:t>预约量持续增长，但中位等待下降仍需拆分观察</a:t>
            </a:r>
          </a:p>
        </p:txBody>
      </p:sp>
      <p:sp>
        <p:nvSpPr>
          <p:cNvPr id="3" name="rule-1">
            <a:extLst xmlns:a="http://schemas.openxmlformats.org/drawingml/2006/main">
              <a:ext uri="{FF2B5EF4-FFF2-40B4-BE49-F238E27FC236}">
                <a16:creationId xmlns:a16="http://schemas.microsoft.com/office/drawing/2014/main" id="{B3E5E0C1-4851-424E-88DE-9FE50AB1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7EF57605-F575-4648-A582-280E0472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F6F6F"/>
                </a:solidFill>
              </a:defRPr>
            </a:pPr>
            <a:r>
              <a:rPr sz="1050">
                <a:solidFill>
                  <a:srgbClr val="6F6F6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B5E17-1929-4858-A5ED-91A9D457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04040"/>
                </a:solidFill>
              </a:defRPr>
            </a:pPr>
            <a:r>
              <a:rPr sz="1650">
                <a:solidFill>
                  <a:srgbClr val="404040"/>
                </a:solidFill>
              </a:rPr>
              <a:t>2023—2025 同时观察到：完成量 +60%，中位等待 8→6 天</a:t>
            </a:r>
          </a:p>
        </p:txBody>
      </p:sp>
      <p:sp>
        <p:nvSpPr>
          <p:cNvPr id="6" name="trend-frame">
            <a:extLst xmlns:a="http://schemas.openxmlformats.org/drawingml/2006/main">
              <a:ext uri="{FF2B5EF4-FFF2-40B4-BE49-F238E27FC236}">
                <a16:creationId xmlns:a16="http://schemas.microsoft.com/office/drawing/2014/main" id="{48FAD229-F9BB-4971-B8F0-EFCA9D1E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6858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7" name="trend-title">
            <a:extLst xmlns:a="http://schemas.openxmlformats.org/drawingml/2006/main">
              <a:ext uri="{FF2B5EF4-FFF2-40B4-BE49-F238E27FC236}">
                <a16:creationId xmlns:a16="http://schemas.microsoft.com/office/drawing/2014/main" id="{8A74946B-9E3E-4212-85EB-0B40697D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2B2B"/>
                </a:solidFill>
              </a:defRPr>
            </a:pPr>
            <a:r>
              <a:rPr sz="1725" b="1">
                <a:solidFill>
                  <a:srgbClr val="2B2B2B"/>
                </a:solidFill>
              </a:rPr>
              <a:t>完成量与等待时间的同向变化</a:t>
            </a:r>
          </a:p>
        </p:txBody>
      </p:sp>
      <p:sp>
        <p:nvSpPr>
          <p:cNvPr id="8" name="trend-subtitle">
            <a:extLst xmlns:a="http://schemas.openxmlformats.org/drawingml/2006/main">
              <a:ext uri="{FF2B5EF4-FFF2-40B4-BE49-F238E27FC236}">
                <a16:creationId xmlns:a16="http://schemas.microsoft.com/office/drawing/2014/main" id="{F696D491-BE99-4C46-A337-BF0C7A4E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6F6F"/>
                </a:solidFill>
              </a:defRPr>
            </a:pPr>
            <a:r>
              <a:rPr sz="1200">
                <a:solidFill>
                  <a:srgbClr val="6F6F6F"/>
                </a:solidFill>
              </a:rPr>
              <a:t>柱 = 预约完成量（单）  ·  线 = 中位等待（天）</a:t>
            </a:r>
          </a:p>
        </p:txBody>
      </p:sp>
      <p:sp>
        <p:nvSpPr>
          <p:cNvPr id="9" name="trend-grid-0">
            <a:extLst xmlns:a="http://schemas.openxmlformats.org/drawingml/2006/main">
              <a:ext uri="{FF2B5EF4-FFF2-40B4-BE49-F238E27FC236}">
                <a16:creationId xmlns:a16="http://schemas.microsoft.com/office/drawing/2014/main" id="{D8D1973B-5BC6-4261-9417-B525D8C7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956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0" name="trend-left-0">
            <a:extLst xmlns:a="http://schemas.openxmlformats.org/drawingml/2006/main">
              <a:ext uri="{FF2B5EF4-FFF2-40B4-BE49-F238E27FC236}">
                <a16:creationId xmlns:a16="http://schemas.microsoft.com/office/drawing/2014/main" id="{C132F4CE-2C35-4B4E-BD75-08F5DBDD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2200</a:t>
            </a:r>
          </a:p>
        </p:txBody>
      </p:sp>
      <p:sp>
        <p:nvSpPr>
          <p:cNvPr id="11" name="trend-right-0">
            <a:extLst xmlns:a="http://schemas.openxmlformats.org/drawingml/2006/main">
              <a:ext uri="{FF2B5EF4-FFF2-40B4-BE49-F238E27FC236}">
                <a16:creationId xmlns:a16="http://schemas.microsoft.com/office/drawing/2014/main" id="{72EBF29C-F490-4617-AE01-9D9B86F4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00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10</a:t>
            </a:r>
          </a:p>
        </p:txBody>
      </p:sp>
      <p:sp>
        <p:nvSpPr>
          <p:cNvPr id="12" name="trend-grid-1">
            <a:extLst xmlns:a="http://schemas.openxmlformats.org/drawingml/2006/main">
              <a:ext uri="{FF2B5EF4-FFF2-40B4-BE49-F238E27FC236}">
                <a16:creationId xmlns:a16="http://schemas.microsoft.com/office/drawing/2014/main" id="{62C81979-FAFC-43CE-A52D-20F3DA1D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71863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3" name="trend-left-1">
            <a:extLst xmlns:a="http://schemas.openxmlformats.org/drawingml/2006/main">
              <a:ext uri="{FF2B5EF4-FFF2-40B4-BE49-F238E27FC236}">
                <a16:creationId xmlns:a16="http://schemas.microsoft.com/office/drawing/2014/main" id="{54CCAC0C-2E0D-4CA5-B155-E10786A9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6613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1650</a:t>
            </a:r>
          </a:p>
        </p:txBody>
      </p:sp>
      <p:sp>
        <p:nvSpPr>
          <p:cNvPr id="14" name="trend-right-1">
            <a:extLst xmlns:a="http://schemas.openxmlformats.org/drawingml/2006/main">
              <a:ext uri="{FF2B5EF4-FFF2-40B4-BE49-F238E27FC236}">
                <a16:creationId xmlns:a16="http://schemas.microsoft.com/office/drawing/2014/main" id="{A0E9E204-E80D-4A44-9779-37BAD92F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76613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8</a:t>
            </a:r>
          </a:p>
        </p:txBody>
      </p:sp>
      <p:sp>
        <p:nvSpPr>
          <p:cNvPr id="15" name="trend-grid-2">
            <a:extLst xmlns:a="http://schemas.openxmlformats.org/drawingml/2006/main">
              <a:ext uri="{FF2B5EF4-FFF2-40B4-BE49-F238E27FC236}">
                <a16:creationId xmlns:a16="http://schemas.microsoft.com/office/drawing/2014/main" id="{E9AF8036-19A7-4EEF-8C81-E040B424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48125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6" name="trend-left-2">
            <a:extLst xmlns:a="http://schemas.openxmlformats.org/drawingml/2006/main">
              <a:ext uri="{FF2B5EF4-FFF2-40B4-BE49-F238E27FC236}">
                <a16:creationId xmlns:a16="http://schemas.microsoft.com/office/drawing/2014/main" id="{1BAA6924-A2B2-425F-AFA2-127A0F17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1100</a:t>
            </a:r>
          </a:p>
        </p:txBody>
      </p:sp>
      <p:sp>
        <p:nvSpPr>
          <p:cNvPr id="17" name="trend-right-2">
            <a:extLst xmlns:a="http://schemas.openxmlformats.org/drawingml/2006/main">
              <a:ext uri="{FF2B5EF4-FFF2-40B4-BE49-F238E27FC236}">
                <a16:creationId xmlns:a16="http://schemas.microsoft.com/office/drawing/2014/main" id="{B0240C5A-DFB9-4D20-B29B-3F1B22E1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52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5</a:t>
            </a:r>
          </a:p>
        </p:txBody>
      </p:sp>
      <p:sp>
        <p:nvSpPr>
          <p:cNvPr id="18" name="trend-grid-3">
            <a:extLst xmlns:a="http://schemas.openxmlformats.org/drawingml/2006/main">
              <a:ext uri="{FF2B5EF4-FFF2-40B4-BE49-F238E27FC236}">
                <a16:creationId xmlns:a16="http://schemas.microsoft.com/office/drawing/2014/main" id="{9081A5EF-0D28-40B4-99A1-1B61DEA6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4388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9" name="trend-left-3">
            <a:extLst xmlns:a="http://schemas.openxmlformats.org/drawingml/2006/main">
              <a:ext uri="{FF2B5EF4-FFF2-40B4-BE49-F238E27FC236}">
                <a16:creationId xmlns:a16="http://schemas.microsoft.com/office/drawing/2014/main" id="{FF54770D-2EA1-4AEE-9A39-260BEF80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9138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550</a:t>
            </a:r>
          </a:p>
        </p:txBody>
      </p:sp>
      <p:sp>
        <p:nvSpPr>
          <p:cNvPr id="20" name="trend-right-3">
            <a:extLst xmlns:a="http://schemas.openxmlformats.org/drawingml/2006/main">
              <a:ext uri="{FF2B5EF4-FFF2-40B4-BE49-F238E27FC236}">
                <a16:creationId xmlns:a16="http://schemas.microsoft.com/office/drawing/2014/main" id="{4AB30196-B937-46A1-946B-FD513E57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29138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3</a:t>
            </a:r>
          </a:p>
        </p:txBody>
      </p:sp>
      <p:sp>
        <p:nvSpPr>
          <p:cNvPr id="21" name="trend-grid-4">
            <a:extLst xmlns:a="http://schemas.openxmlformats.org/drawingml/2006/main">
              <a:ext uri="{FF2B5EF4-FFF2-40B4-BE49-F238E27FC236}">
                <a16:creationId xmlns:a16="http://schemas.microsoft.com/office/drawing/2014/main" id="{D2BCEFBB-FA29-4427-8B19-DA98C2AB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22" name="trend-left-4">
            <a:extLst xmlns:a="http://schemas.openxmlformats.org/drawingml/2006/main">
              <a:ext uri="{FF2B5EF4-FFF2-40B4-BE49-F238E27FC236}">
                <a16:creationId xmlns:a16="http://schemas.microsoft.com/office/drawing/2014/main" id="{47E21832-3E28-4BBF-8587-3C022D71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0</a:t>
            </a:r>
          </a:p>
        </p:txBody>
      </p:sp>
      <p:sp>
        <p:nvSpPr>
          <p:cNvPr id="23" name="trend-right-4">
            <a:extLst xmlns:a="http://schemas.openxmlformats.org/drawingml/2006/main">
              <a:ext uri="{FF2B5EF4-FFF2-40B4-BE49-F238E27FC236}">
                <a16:creationId xmlns:a16="http://schemas.microsoft.com/office/drawing/2014/main" id="{1ED4B98D-3203-4C8D-9385-FF8E7B56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054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0</a:t>
            </a:r>
          </a:p>
        </p:txBody>
      </p:sp>
      <p:sp>
        <p:nvSpPr>
          <p:cNvPr id="24" name="trend-axis-y">
            <a:extLst xmlns:a="http://schemas.openxmlformats.org/drawingml/2006/main">
              <a:ext uri="{FF2B5EF4-FFF2-40B4-BE49-F238E27FC236}">
                <a16:creationId xmlns:a16="http://schemas.microsoft.com/office/drawing/2014/main" id="{C0010759-8A65-4B3A-B4FF-833E9E3B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95600"/>
            <a:ext cx="0" cy="2305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A8C9E"/>
            </a:solidFill>
            <a:prstDash val="solid"/>
          </a:ln>
        </p:spPr>
      </p:sp>
      <p:sp>
        <p:nvSpPr>
          <p:cNvPr id="25" name="trend-axis-x">
            <a:extLst xmlns:a="http://schemas.openxmlformats.org/drawingml/2006/main">
              <a:ext uri="{FF2B5EF4-FFF2-40B4-BE49-F238E27FC236}">
                <a16:creationId xmlns:a16="http://schemas.microsoft.com/office/drawing/2014/main" id="{816A9AAE-97AC-423C-B5C4-D5931DEF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A8C9E"/>
            </a:solidFill>
            <a:prstDash val="solid"/>
          </a:ln>
        </p:spPr>
      </p:sp>
      <p:sp>
        <p:nvSpPr>
          <p:cNvPr id="26" name="bar-2023">
            <a:extLst xmlns:a="http://schemas.openxmlformats.org/drawingml/2006/main">
              <a:ext uri="{FF2B5EF4-FFF2-40B4-BE49-F238E27FC236}">
                <a16:creationId xmlns:a16="http://schemas.microsoft.com/office/drawing/2014/main" id="{86C0A0E9-D548-448C-9E9C-3F29FD93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943350"/>
            <a:ext cx="609600" cy="12573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7" name="bar-label-2023">
            <a:extLst xmlns:a="http://schemas.openxmlformats.org/drawingml/2006/main">
              <a:ext uri="{FF2B5EF4-FFF2-40B4-BE49-F238E27FC236}">
                <a16:creationId xmlns:a16="http://schemas.microsoft.com/office/drawing/2014/main" id="{AFF55A93-E4B9-4962-8842-AB57BE82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3856"/>
                </a:solidFill>
              </a:defRPr>
            </a:pPr>
            <a:r>
              <a:rPr sz="1125" b="1">
                <a:solidFill>
                  <a:srgbClr val="1D3856"/>
                </a:solidFill>
              </a:rPr>
              <a:t>1,200</a:t>
            </a:r>
          </a:p>
        </p:txBody>
      </p:sp>
      <p:sp>
        <p:nvSpPr>
          <p:cNvPr id="28" name="point-2023">
            <a:extLst xmlns:a="http://schemas.openxmlformats.org/drawingml/2006/main">
              <a:ext uri="{FF2B5EF4-FFF2-40B4-BE49-F238E27FC236}">
                <a16:creationId xmlns:a16="http://schemas.microsoft.com/office/drawing/2014/main" id="{0C1EC6B2-1DBA-44F6-932B-B9DB7D65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8041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6B3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point-label-2023">
            <a:extLst xmlns:a="http://schemas.openxmlformats.org/drawingml/2006/main">
              <a:ext uri="{FF2B5EF4-FFF2-40B4-BE49-F238E27FC236}">
                <a16:creationId xmlns:a16="http://schemas.microsoft.com/office/drawing/2014/main" id="{5F13E60E-4067-4316-9F59-4B94922A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276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36B32"/>
                </a:solidFill>
              </a:defRPr>
            </a:pPr>
            <a:r>
              <a:rPr sz="1125" b="1">
                <a:solidFill>
                  <a:srgbClr val="B36B32"/>
                </a:solidFill>
              </a:rPr>
              <a:t>8天</a:t>
            </a:r>
          </a:p>
        </p:txBody>
      </p:sp>
      <p:sp>
        <p:nvSpPr>
          <p:cNvPr id="30" name="year-2023">
            <a:extLst xmlns:a="http://schemas.openxmlformats.org/drawingml/2006/main">
              <a:ext uri="{FF2B5EF4-FFF2-40B4-BE49-F238E27FC236}">
                <a16:creationId xmlns:a16="http://schemas.microsoft.com/office/drawing/2014/main" id="{5CA78D57-E2EE-4EDC-8420-CA1F7817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353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04040"/>
                </a:solidFill>
              </a:defRPr>
            </a:pPr>
            <a:r>
              <a:rPr sz="1125">
                <a:solidFill>
                  <a:srgbClr val="404040"/>
                </a:solidFill>
              </a:rPr>
              <a:t>2023</a:t>
            </a:r>
          </a:p>
        </p:txBody>
      </p:sp>
      <p:sp>
        <p:nvSpPr>
          <p:cNvPr id="31" name="bar-2024">
            <a:extLst xmlns:a="http://schemas.openxmlformats.org/drawingml/2006/main">
              <a:ext uri="{FF2B5EF4-FFF2-40B4-BE49-F238E27FC236}">
                <a16:creationId xmlns:a16="http://schemas.microsoft.com/office/drawing/2014/main" id="{7B9BAAEE-D81C-4FC3-A310-A50710D9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566160"/>
            <a:ext cx="609600" cy="163449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2" name="bar-label-2024">
            <a:extLst xmlns:a="http://schemas.openxmlformats.org/drawingml/2006/main">
              <a:ext uri="{FF2B5EF4-FFF2-40B4-BE49-F238E27FC236}">
                <a16:creationId xmlns:a16="http://schemas.microsoft.com/office/drawing/2014/main" id="{5F8B8750-019C-4544-BCE3-042F3DF1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1851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3856"/>
                </a:solidFill>
              </a:defRPr>
            </a:pPr>
            <a:r>
              <a:rPr sz="1125" b="1">
                <a:solidFill>
                  <a:srgbClr val="1D3856"/>
                </a:solidFill>
              </a:rPr>
              <a:t>1,560</a:t>
            </a:r>
          </a:p>
        </p:txBody>
      </p:sp>
      <p:sp>
        <p:nvSpPr>
          <p:cNvPr id="33" name="point-2024">
            <a:extLst xmlns:a="http://schemas.openxmlformats.org/drawingml/2006/main">
              <a:ext uri="{FF2B5EF4-FFF2-40B4-BE49-F238E27FC236}">
                <a16:creationId xmlns:a16="http://schemas.microsoft.com/office/drawing/2014/main" id="{2B8787C7-F6E3-40FB-8622-4E8E206F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51091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6B3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point-label-2024">
            <a:extLst xmlns:a="http://schemas.openxmlformats.org/drawingml/2006/main">
              <a:ext uri="{FF2B5EF4-FFF2-40B4-BE49-F238E27FC236}">
                <a16:creationId xmlns:a16="http://schemas.microsoft.com/office/drawing/2014/main" id="{43638FDD-730A-4754-A7C6-6E7348BC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26326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36B32"/>
                </a:solidFill>
              </a:defRPr>
            </a:pPr>
            <a:r>
              <a:rPr sz="1125" b="1">
                <a:solidFill>
                  <a:srgbClr val="B36B32"/>
                </a:solidFill>
              </a:rPr>
              <a:t>7天</a:t>
            </a:r>
          </a:p>
        </p:txBody>
      </p:sp>
      <p:sp>
        <p:nvSpPr>
          <p:cNvPr id="35" name="year-2024">
            <a:extLst xmlns:a="http://schemas.openxmlformats.org/drawingml/2006/main">
              <a:ext uri="{FF2B5EF4-FFF2-40B4-BE49-F238E27FC236}">
                <a16:creationId xmlns:a16="http://schemas.microsoft.com/office/drawing/2014/main" id="{8A4D64C7-6A93-42A5-8399-AD23493B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53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04040"/>
                </a:solidFill>
              </a:defRPr>
            </a:pPr>
            <a:r>
              <a:rPr sz="1125">
                <a:solidFill>
                  <a:srgbClr val="404040"/>
                </a:solidFill>
              </a:rPr>
              <a:t>2024</a:t>
            </a:r>
          </a:p>
        </p:txBody>
      </p:sp>
      <p:sp>
        <p:nvSpPr>
          <p:cNvPr id="36" name="bar-2025">
            <a:extLst xmlns:a="http://schemas.openxmlformats.org/drawingml/2006/main">
              <a:ext uri="{FF2B5EF4-FFF2-40B4-BE49-F238E27FC236}">
                <a16:creationId xmlns:a16="http://schemas.microsoft.com/office/drawing/2014/main" id="{78D03EAA-C6AD-46FE-858C-D08FADCC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188970"/>
            <a:ext cx="609600" cy="201168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7" name="bar-label-2025">
            <a:extLst xmlns:a="http://schemas.openxmlformats.org/drawingml/2006/main">
              <a:ext uri="{FF2B5EF4-FFF2-40B4-BE49-F238E27FC236}">
                <a16:creationId xmlns:a16="http://schemas.microsoft.com/office/drawing/2014/main" id="{31448E4D-C509-4C91-9758-A4C25266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4132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3856"/>
                </a:solidFill>
              </a:defRPr>
            </a:pPr>
            <a:r>
              <a:rPr sz="1125" b="1">
                <a:solidFill>
                  <a:srgbClr val="1D3856"/>
                </a:solidFill>
              </a:rPr>
              <a:t>1,920</a:t>
            </a:r>
          </a:p>
        </p:txBody>
      </p:sp>
      <p:sp>
        <p:nvSpPr>
          <p:cNvPr id="38" name="point-2025">
            <a:extLst xmlns:a="http://schemas.openxmlformats.org/drawingml/2006/main">
              <a:ext uri="{FF2B5EF4-FFF2-40B4-BE49-F238E27FC236}">
                <a16:creationId xmlns:a16="http://schemas.microsoft.com/office/drawing/2014/main" id="{9B56F68A-4534-4EEB-A53C-472454EB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74142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6B3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9" name="point-label-2025">
            <a:extLst xmlns:a="http://schemas.openxmlformats.org/drawingml/2006/main">
              <a:ext uri="{FF2B5EF4-FFF2-40B4-BE49-F238E27FC236}">
                <a16:creationId xmlns:a16="http://schemas.microsoft.com/office/drawing/2014/main" id="{C5C37249-2B18-4867-A440-B0CCBDB4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9377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36B32"/>
                </a:solidFill>
              </a:defRPr>
            </a:pPr>
            <a:r>
              <a:rPr sz="1125" b="1">
                <a:solidFill>
                  <a:srgbClr val="B36B32"/>
                </a:solidFill>
              </a:rPr>
              <a:t>6天</a:t>
            </a:r>
          </a:p>
        </p:txBody>
      </p:sp>
      <p:sp>
        <p:nvSpPr>
          <p:cNvPr id="40" name="year-2025">
            <a:extLst xmlns:a="http://schemas.openxmlformats.org/drawingml/2006/main">
              <a:ext uri="{FF2B5EF4-FFF2-40B4-BE49-F238E27FC236}">
                <a16:creationId xmlns:a16="http://schemas.microsoft.com/office/drawing/2014/main" id="{3B02F42E-7967-4CDE-9419-CB8EA691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353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04040"/>
                </a:solidFill>
              </a:defRPr>
            </a:pPr>
            <a:r>
              <a:rPr sz="1125">
                <a:solidFill>
                  <a:srgbClr val="404040"/>
                </a:solidFill>
              </a:rPr>
              <a:t>2025</a:t>
            </a:r>
          </a:p>
        </p:txBody>
      </p:sp>
      <p:sp>
        <p:nvSpPr>
          <p:cNvPr id="41" name="wait-line-1">
            <a:extLst xmlns:a="http://schemas.openxmlformats.org/drawingml/2006/main">
              <a:ext uri="{FF2B5EF4-FFF2-40B4-BE49-F238E27FC236}">
                <a16:creationId xmlns:a16="http://schemas.microsoft.com/office/drawing/2014/main" id="{45CDAF3C-1ED7-43E1-ACA1-457B5CB7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56610"/>
            <a:ext cx="1714500" cy="2305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36B32"/>
            </a:solidFill>
            <a:prstDash val="solid"/>
          </a:ln>
        </p:spPr>
      </p:sp>
      <p:sp>
        <p:nvSpPr>
          <p:cNvPr id="42" name="wait-line-2">
            <a:extLst xmlns:a="http://schemas.openxmlformats.org/drawingml/2006/main">
              <a:ext uri="{FF2B5EF4-FFF2-40B4-BE49-F238E27FC236}">
                <a16:creationId xmlns:a16="http://schemas.microsoft.com/office/drawing/2014/main" id="{1344EA94-C341-478C-B27E-AFE6B9DB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87115"/>
            <a:ext cx="1714500" cy="2305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36B32"/>
            </a:solidFill>
            <a:prstDash val="solid"/>
          </a:ln>
        </p:spPr>
      </p:sp>
      <p:sp>
        <p:nvSpPr>
          <p:cNvPr id="43" name="trend-axis-left-label">
            <a:extLst xmlns:a="http://schemas.openxmlformats.org/drawingml/2006/main">
              <a:ext uri="{FF2B5EF4-FFF2-40B4-BE49-F238E27FC236}">
                <a16:creationId xmlns:a16="http://schemas.microsoft.com/office/drawing/2014/main" id="{6D86CCAC-D578-4CF4-8DBA-36307D62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15F91"/>
                </a:solidFill>
              </a:defRPr>
            </a:pPr>
            <a:r>
              <a:rPr sz="1050">
                <a:solidFill>
                  <a:srgbClr val="315F91"/>
                </a:solidFill>
              </a:rPr>
              <a:t>预约完成量（单）</a:t>
            </a:r>
          </a:p>
        </p:txBody>
      </p:sp>
      <p:sp>
        <p:nvSpPr>
          <p:cNvPr id="44" name="trend-axis-right-label">
            <a:extLst xmlns:a="http://schemas.openxmlformats.org/drawingml/2006/main">
              <a:ext uri="{FF2B5EF4-FFF2-40B4-BE49-F238E27FC236}">
                <a16:creationId xmlns:a16="http://schemas.microsoft.com/office/drawing/2014/main" id="{694604EE-FA1A-4654-B81B-1C1B4758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863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B36B32"/>
                </a:solidFill>
              </a:defRPr>
            </a:pPr>
            <a:r>
              <a:rPr sz="1050">
                <a:solidFill>
                  <a:srgbClr val="B36B32"/>
                </a:solidFill>
              </a:rPr>
              <a:t>中位等待（天）</a:t>
            </a:r>
          </a:p>
        </p:txBody>
      </p:sp>
      <p:sp>
        <p:nvSpPr>
          <p:cNvPr id="45" name="trend-aside">
            <a:extLst xmlns:a="http://schemas.openxmlformats.org/drawingml/2006/main">
              <a:ext uri="{FF2B5EF4-FFF2-40B4-BE49-F238E27FC236}">
                <a16:creationId xmlns:a16="http://schemas.microsoft.com/office/drawing/2014/main" id="{5CCB9F84-678F-46C2-B897-4CBBBE0F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90700"/>
            <a:ext cx="3886200" cy="40005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46" name="trend-aside-title">
            <a:extLst xmlns:a="http://schemas.openxmlformats.org/drawingml/2006/main">
              <a:ext uri="{FF2B5EF4-FFF2-40B4-BE49-F238E27FC236}">
                <a16:creationId xmlns:a16="http://schemas.microsoft.com/office/drawing/2014/main" id="{B5067DBD-D265-485C-A193-314E5E14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3856"/>
                </a:solidFill>
              </a:defRPr>
            </a:pPr>
            <a:r>
              <a:rPr sz="1800" b="1">
                <a:solidFill>
                  <a:srgbClr val="1D3856"/>
                </a:solidFill>
              </a:rPr>
              <a:t>这组变化说明什么</a:t>
            </a:r>
          </a:p>
        </p:txBody>
      </p:sp>
      <p:sp>
        <p:nvSpPr>
          <p:cNvPr id="47" name="bullet-282">
            <a:extLst xmlns:a="http://schemas.openxmlformats.org/drawingml/2006/main">
              <a:ext uri="{FF2B5EF4-FFF2-40B4-BE49-F238E27FC236}">
                <a16:creationId xmlns:a16="http://schemas.microsoft.com/office/drawing/2014/main" id="{25140E2C-D318-4841-A4A0-8E4DC6AF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33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8" name="bullet-label-282">
            <a:extLst xmlns:a="http://schemas.openxmlformats.org/drawingml/2006/main">
              <a:ext uri="{FF2B5EF4-FFF2-40B4-BE49-F238E27FC236}">
                <a16:creationId xmlns:a16="http://schemas.microsoft.com/office/drawing/2014/main" id="{E2FDAC6E-97A5-4204-BE07-83265237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670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F6F6F"/>
                </a:solidFill>
              </a:defRPr>
            </a:pPr>
            <a:r>
              <a:rPr sz="1350" b="1">
                <a:solidFill>
                  <a:srgbClr val="6F6F6F"/>
                </a:solidFill>
              </a:rPr>
              <a:t>完成量</a:t>
            </a:r>
          </a:p>
        </p:txBody>
      </p:sp>
      <p:sp>
        <p:nvSpPr>
          <p:cNvPr id="49" name="bullet-value-282">
            <a:extLst xmlns:a="http://schemas.openxmlformats.org/drawingml/2006/main">
              <a:ext uri="{FF2B5EF4-FFF2-40B4-BE49-F238E27FC236}">
                <a16:creationId xmlns:a16="http://schemas.microsoft.com/office/drawing/2014/main" id="{24B40A09-82DB-40DD-BF81-13A4618E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B2B2B"/>
                </a:solidFill>
              </a:defRPr>
            </a:pPr>
            <a:r>
              <a:rPr sz="1350">
                <a:solidFill>
                  <a:srgbClr val="2B2B2B"/>
                </a:solidFill>
              </a:rPr>
              <a:t>1,200 → 1,920 单</a:t>
            </a:r>
          </a:p>
        </p:txBody>
      </p:sp>
      <p:sp>
        <p:nvSpPr>
          <p:cNvPr id="50" name="bullet-342">
            <a:extLst xmlns:a="http://schemas.openxmlformats.org/drawingml/2006/main">
              <a:ext uri="{FF2B5EF4-FFF2-40B4-BE49-F238E27FC236}">
                <a16:creationId xmlns:a16="http://schemas.microsoft.com/office/drawing/2014/main" id="{4A24155E-B6BD-4E95-B02D-30DEC6EB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05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6B32"/>
          </a:solidFill>
          <a:ln xmlns:a="http://schemas.openxmlformats.org/drawingml/2006/main" w="0">
            <a:solidFill>
              <a:srgbClr val="B36B32"/>
            </a:solidFill>
            <a:prstDash val="solid"/>
          </a:ln>
        </p:spPr>
      </p:sp>
      <p:sp>
        <p:nvSpPr>
          <p:cNvPr id="51" name="bullet-label-342">
            <a:extLst xmlns:a="http://schemas.openxmlformats.org/drawingml/2006/main">
              <a:ext uri="{FF2B5EF4-FFF2-40B4-BE49-F238E27FC236}">
                <a16:creationId xmlns:a16="http://schemas.microsoft.com/office/drawing/2014/main" id="{D29C5F67-D38C-4924-8F01-F2051EF4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F6F6F"/>
                </a:solidFill>
              </a:defRPr>
            </a:pPr>
            <a:r>
              <a:rPr sz="1350" b="1">
                <a:solidFill>
                  <a:srgbClr val="6F6F6F"/>
                </a:solidFill>
              </a:rPr>
              <a:t>等待</a:t>
            </a:r>
          </a:p>
        </p:txBody>
      </p:sp>
      <p:sp>
        <p:nvSpPr>
          <p:cNvPr id="52" name="bullet-value-342">
            <a:extLst xmlns:a="http://schemas.openxmlformats.org/drawingml/2006/main">
              <a:ext uri="{FF2B5EF4-FFF2-40B4-BE49-F238E27FC236}">
                <a16:creationId xmlns:a16="http://schemas.microsoft.com/office/drawing/2014/main" id="{F833984D-7E35-44E5-908C-8731007D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B2B2B"/>
                </a:solidFill>
              </a:defRPr>
            </a:pPr>
            <a:r>
              <a:rPr sz="1350">
                <a:solidFill>
                  <a:srgbClr val="2B2B2B"/>
                </a:solidFill>
              </a:rPr>
              <a:t>8 → 6 天</a:t>
            </a:r>
          </a:p>
        </p:txBody>
      </p:sp>
      <p:sp>
        <p:nvSpPr>
          <p:cNvPr id="53" name="aside-divider">
            <a:extLst xmlns:a="http://schemas.openxmlformats.org/drawingml/2006/main">
              <a:ext uri="{FF2B5EF4-FFF2-40B4-BE49-F238E27FC236}">
                <a16:creationId xmlns:a16="http://schemas.microsoft.com/office/drawing/2014/main" id="{8FA57E9C-39CA-4EEE-BFA9-1C74E8A2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290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54" name="trend-boundary-label">
            <a:extLst xmlns:a="http://schemas.openxmlformats.org/drawingml/2006/main">
              <a:ext uri="{FF2B5EF4-FFF2-40B4-BE49-F238E27FC236}">
                <a16:creationId xmlns:a16="http://schemas.microsoft.com/office/drawing/2014/main" id="{689CCFDA-B877-41FD-8613-B4561F14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3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3856"/>
                </a:solidFill>
              </a:defRPr>
            </a:pPr>
            <a:r>
              <a:rPr sz="1350" b="1">
                <a:solidFill>
                  <a:srgbClr val="1D3856"/>
                </a:solidFill>
              </a:rPr>
              <a:t>边界</a:t>
            </a:r>
          </a:p>
        </p:txBody>
      </p:sp>
      <p:sp>
        <p:nvSpPr>
          <p:cNvPr id="55" name="trend-boundary-text">
            <a:extLst xmlns:a="http://schemas.openxmlformats.org/drawingml/2006/main">
              <a:ext uri="{FF2B5EF4-FFF2-40B4-BE49-F238E27FC236}">
                <a16:creationId xmlns:a16="http://schemas.microsoft.com/office/drawing/2014/main" id="{B0B7000A-22B0-4552-8871-1C4A1368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053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04040"/>
                </a:solidFill>
              </a:defRPr>
            </a:pPr>
            <a:r>
              <a:rPr sz="1350">
                <a:solidFill>
                  <a:srgbClr val="404040"/>
                </a:solidFill>
              </a:rPr>
              <a:t>两项指标是同时观察到的现象，不能据此证明任何单一措施造成改善。</a:t>
            </a:r>
          </a:p>
        </p:txBody>
      </p:sp>
      <p:sp>
        <p:nvSpPr>
          <p:cNvPr id="56" name="trend-proposal-label">
            <a:extLst xmlns:a="http://schemas.openxmlformats.org/drawingml/2006/main">
              <a:ext uri="{FF2B5EF4-FFF2-40B4-BE49-F238E27FC236}">
                <a16:creationId xmlns:a16="http://schemas.microsoft.com/office/drawing/2014/main" id="{98603E2B-1239-4AEB-A2EA-0C0E5556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863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3856"/>
                </a:solidFill>
              </a:defRPr>
            </a:pPr>
            <a:r>
              <a:rPr sz="1350" b="1">
                <a:solidFill>
                  <a:srgbClr val="1D3856"/>
                </a:solidFill>
              </a:rPr>
              <a:t>拟议观察</a:t>
            </a:r>
          </a:p>
        </p:txBody>
      </p:sp>
      <p:sp>
        <p:nvSpPr>
          <p:cNvPr id="57" name="trend-proposal-text">
            <a:extLst xmlns:a="http://schemas.openxmlformats.org/drawingml/2006/main">
              <a:ext uri="{FF2B5EF4-FFF2-40B4-BE49-F238E27FC236}">
                <a16:creationId xmlns:a16="http://schemas.microsoft.com/office/drawing/2014/main" id="{EA6D0CF6-6FBE-41E1-BD8C-A047F7A2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86350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</a:defRPr>
            </a:pPr>
            <a:r>
              <a:rPr sz="1275">
                <a:solidFill>
                  <a:srgbClr val="404040"/>
                </a:solidFill>
              </a:rPr>
              <a:t>继续按高峰时段、分设备拆分等待，避免平均改善掩盖局部拥堵。</a:t>
            </a:r>
          </a:p>
        </p:txBody>
      </p:sp>
      <p:sp>
        <p:nvSpPr>
          <p:cNvPr id="58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E8A21053-5D18-4DB4-BB3A-9DDC2C1E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59" name="footer-note-1">
            <a:extLst xmlns:a="http://schemas.openxmlformats.org/drawingml/2006/main">
              <a:ext uri="{FF2B5EF4-FFF2-40B4-BE49-F238E27FC236}">
                <a16:creationId xmlns:a16="http://schemas.microsoft.com/office/drawing/2014/main" id="{320575DD-DE67-4FCB-9626-8C648453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模拟数据，仅用于方案讨论</a:t>
            </a:r>
          </a:p>
        </p:txBody>
      </p:sp>
      <p:sp>
        <p:nvSpPr>
          <p:cNvPr id="60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34B7ABF8-73FD-492D-88F5-564008C1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62725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大学共享仪器服务改进  ·  01</a:t>
            </a:r>
          </a:p>
        </p:txBody>
      </p:sp>
    </p:spTree>
    <p:extLst>
      <p:ext uri="{BB962C8B-B14F-4D97-AF65-F5344CB8AC3E}">
        <p14:creationId xmlns:p14="http://schemas.microsoft.com/office/powerpoint/2010/main" val="354135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kicker-2">
            <a:extLst xmlns:a="http://schemas.openxmlformats.org/drawingml/2006/main">
              <a:ext uri="{FF2B5EF4-FFF2-40B4-BE49-F238E27FC236}">
                <a16:creationId xmlns:a16="http://schemas.microsoft.com/office/drawing/2014/main" id="{1AFD8D1C-E45B-4F17-BF1B-7485C3BE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F91"/>
                </a:solidFill>
              </a:defRPr>
            </a:pPr>
            <a:r>
              <a:rPr sz="1125" b="1">
                <a:solidFill>
                  <a:srgbClr val="315F91"/>
                </a:solidFill>
              </a:rPr>
              <a:t>大学共享仪器服务改进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A66A7E1-5133-4F88-9DB7-37D9FCC7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B2B2B"/>
                </a:solidFill>
              </a:defRPr>
            </a:pPr>
            <a:r>
              <a:rPr sz="2850" b="1">
                <a:solidFill>
                  <a:srgbClr val="2B2B2B"/>
                </a:solidFill>
              </a:rPr>
              <a:t>两类用户的障碍不同，入口设计需要分别回应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9E720C8C-E5FE-4EE7-AB11-81E5A90C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D3FB6146-2048-48AF-BB37-042D1B7B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F6F6F"/>
                </a:solidFill>
              </a:defRPr>
            </a:pPr>
            <a:r>
              <a:rPr sz="1050">
                <a:solidFill>
                  <a:srgbClr val="6F6F6F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A9D0D-4A2C-47AC-816E-44222487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04040"/>
                </a:solidFill>
              </a:defRPr>
            </a:pPr>
            <a:r>
              <a:rPr sz="1575">
                <a:solidFill>
                  <a:srgbClr val="404040"/>
                </a:solidFill>
              </a:rPr>
              <a:t>同一组四个维度下，校内用户更受时段影响，校外用户更受审批与费用影响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63522-BC4F-49D1-97A0-F8151DDB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F6F6F"/>
                </a:solidFill>
              </a:defRPr>
            </a:pPr>
            <a:r>
              <a:rPr sz="1125">
                <a:solidFill>
                  <a:srgbClr val="6F6F6F"/>
                </a:solidFill>
              </a:rPr>
              <a:t>模拟多选问卷 · 各组 n=100 · 比例不相加为 100%</a:t>
            </a:r>
          </a:p>
        </p:txBody>
      </p:sp>
      <p:sp>
        <p:nvSpPr>
          <p:cNvPr id="7" name="inside-column">
            <a:extLst xmlns:a="http://schemas.openxmlformats.org/drawingml/2006/main">
              <a:ext uri="{FF2B5EF4-FFF2-40B4-BE49-F238E27FC236}">
                <a16:creationId xmlns:a16="http://schemas.microsoft.com/office/drawing/2014/main" id="{CABEA56C-ED11-48CD-8AC9-21ACA487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8" name="outside-column">
            <a:extLst xmlns:a="http://schemas.openxmlformats.org/drawingml/2006/main">
              <a:ext uri="{FF2B5EF4-FFF2-40B4-BE49-F238E27FC236}">
                <a16:creationId xmlns:a16="http://schemas.microsoft.com/office/drawing/2014/main" id="{8DFBC906-3B9B-4B18-A807-82198720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4000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9" name="inside-head">
            <a:extLst xmlns:a="http://schemas.openxmlformats.org/drawingml/2006/main">
              <a:ext uri="{FF2B5EF4-FFF2-40B4-BE49-F238E27FC236}">
                <a16:creationId xmlns:a16="http://schemas.microsoft.com/office/drawing/2014/main" id="{A1218012-3F5D-4236-985A-065CF471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10" name="outside-head">
            <a:extLst xmlns:a="http://schemas.openxmlformats.org/drawingml/2006/main">
              <a:ext uri="{FF2B5EF4-FFF2-40B4-BE49-F238E27FC236}">
                <a16:creationId xmlns:a16="http://schemas.microsoft.com/office/drawing/2014/main" id="{B0AA6F8A-958D-4BFF-B552-2D17DD42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241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3856"/>
          </a:solidFill>
          <a:ln xmlns:a="http://schemas.openxmlformats.org/drawingml/2006/main" w="0">
            <a:solidFill>
              <a:srgbClr val="1D3856"/>
            </a:solidFill>
            <a:prstDash val="solid"/>
          </a:ln>
        </p:spPr>
      </p:sp>
      <p:sp>
        <p:nvSpPr>
          <p:cNvPr id="11" name="inside-title">
            <a:extLst xmlns:a="http://schemas.openxmlformats.org/drawingml/2006/main">
              <a:ext uri="{FF2B5EF4-FFF2-40B4-BE49-F238E27FC236}">
                <a16:creationId xmlns:a16="http://schemas.microsoft.com/office/drawing/2014/main" id="{F11934BE-C86A-4632-A953-A220996F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28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校内用户</a:t>
            </a:r>
          </a:p>
        </p:txBody>
      </p:sp>
      <p:sp>
        <p:nvSpPr>
          <p:cNvPr id="12" name="outside-title">
            <a:extLst xmlns:a="http://schemas.openxmlformats.org/drawingml/2006/main">
              <a:ext uri="{FF2B5EF4-FFF2-40B4-BE49-F238E27FC236}">
                <a16:creationId xmlns:a16="http://schemas.microsoft.com/office/drawing/2014/main" id="{74402692-96FF-417D-A4D3-2EBE422D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28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校外用户</a:t>
            </a:r>
          </a:p>
        </p:txBody>
      </p:sp>
      <p:sp>
        <p:nvSpPr>
          <p:cNvPr id="13" name="left-row-312">
            <a:extLst xmlns:a="http://schemas.openxmlformats.org/drawingml/2006/main">
              <a:ext uri="{FF2B5EF4-FFF2-40B4-BE49-F238E27FC236}">
                <a16:creationId xmlns:a16="http://schemas.microsoft.com/office/drawing/2014/main" id="{9EE4E498-B37F-468A-A721-64D2E801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14" name="right-row-312">
            <a:extLst xmlns:a="http://schemas.openxmlformats.org/drawingml/2006/main">
              <a:ext uri="{FF2B5EF4-FFF2-40B4-BE49-F238E27FC236}">
                <a16:creationId xmlns:a16="http://schemas.microsoft.com/office/drawing/2014/main" id="{C3B16E2A-A7D6-41F1-B9D0-2D25BACE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718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15" name="row-label-312">
            <a:extLst xmlns:a="http://schemas.openxmlformats.org/drawingml/2006/main">
              <a:ext uri="{FF2B5EF4-FFF2-40B4-BE49-F238E27FC236}">
                <a16:creationId xmlns:a16="http://schemas.microsoft.com/office/drawing/2014/main" id="{05B93BDE-9132-4F1B-AA8F-28F10F9E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86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6F"/>
                </a:solidFill>
              </a:defRPr>
            </a:pPr>
            <a:r>
              <a:rPr sz="1275">
                <a:solidFill>
                  <a:srgbClr val="6F6F6F"/>
                </a:solidFill>
              </a:rPr>
              <a:t>时段难匹配</a:t>
            </a:r>
          </a:p>
        </p:txBody>
      </p:sp>
      <p:sp>
        <p:nvSpPr>
          <p:cNvPr id="16" name="left-value-312">
            <a:extLst xmlns:a="http://schemas.openxmlformats.org/drawingml/2006/main">
              <a:ext uri="{FF2B5EF4-FFF2-40B4-BE49-F238E27FC236}">
                <a16:creationId xmlns:a16="http://schemas.microsoft.com/office/drawing/2014/main" id="{A93C11FD-670C-432B-9C73-C4F88765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D3856"/>
                </a:solidFill>
              </a:defRPr>
            </a:pPr>
            <a:r>
              <a:rPr sz="1425" b="1">
                <a:solidFill>
                  <a:srgbClr val="1D3856"/>
                </a:solidFill>
              </a:rPr>
              <a:t>62%</a:t>
            </a:r>
          </a:p>
        </p:txBody>
      </p:sp>
      <p:sp>
        <p:nvSpPr>
          <p:cNvPr id="17" name="row-label-r-312">
            <a:extLst xmlns:a="http://schemas.openxmlformats.org/drawingml/2006/main">
              <a:ext uri="{FF2B5EF4-FFF2-40B4-BE49-F238E27FC236}">
                <a16:creationId xmlns:a16="http://schemas.microsoft.com/office/drawing/2014/main" id="{E53B3F4E-0750-4E7D-BAD8-818BA120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86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6F"/>
                </a:solidFill>
              </a:defRPr>
            </a:pPr>
            <a:r>
              <a:rPr sz="1275">
                <a:solidFill>
                  <a:srgbClr val="6F6F6F"/>
                </a:solidFill>
              </a:rPr>
              <a:t>时段难匹配</a:t>
            </a:r>
          </a:p>
        </p:txBody>
      </p:sp>
      <p:sp>
        <p:nvSpPr>
          <p:cNvPr id="18" name="right-value-312">
            <a:extLst xmlns:a="http://schemas.openxmlformats.org/drawingml/2006/main">
              <a:ext uri="{FF2B5EF4-FFF2-40B4-BE49-F238E27FC236}">
                <a16:creationId xmlns:a16="http://schemas.microsoft.com/office/drawing/2014/main" id="{303F56C3-451F-4104-9A9F-2D366781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670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D3856"/>
                </a:solidFill>
              </a:defRPr>
            </a:pPr>
            <a:r>
              <a:rPr sz="1425" b="1">
                <a:solidFill>
                  <a:srgbClr val="1D3856"/>
                </a:solidFill>
              </a:rPr>
              <a:t>45%</a:t>
            </a:r>
          </a:p>
        </p:txBody>
      </p:sp>
      <p:sp>
        <p:nvSpPr>
          <p:cNvPr id="19" name="left-row-374">
            <a:extLst xmlns:a="http://schemas.openxmlformats.org/drawingml/2006/main">
              <a:ext uri="{FF2B5EF4-FFF2-40B4-BE49-F238E27FC236}">
                <a16:creationId xmlns:a16="http://schemas.microsoft.com/office/drawing/2014/main" id="{07C8EFEB-4E9B-44B1-B800-B5E0EF05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20" name="right-row-374">
            <a:extLst xmlns:a="http://schemas.openxmlformats.org/drawingml/2006/main">
              <a:ext uri="{FF2B5EF4-FFF2-40B4-BE49-F238E27FC236}">
                <a16:creationId xmlns:a16="http://schemas.microsoft.com/office/drawing/2014/main" id="{0D0B01F3-929C-44C4-999B-19FCC104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21" name="row-label-374">
            <a:extLst xmlns:a="http://schemas.openxmlformats.org/drawingml/2006/main">
              <a:ext uri="{FF2B5EF4-FFF2-40B4-BE49-F238E27FC236}">
                <a16:creationId xmlns:a16="http://schemas.microsoft.com/office/drawing/2014/main" id="{8D1BFE24-144C-4CF2-BE31-BD1CC49E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6F"/>
                </a:solidFill>
              </a:defRPr>
            </a:pPr>
            <a:r>
              <a:rPr sz="1275">
                <a:solidFill>
                  <a:srgbClr val="6F6F6F"/>
                </a:solidFill>
              </a:rPr>
              <a:t>审批慢</a:t>
            </a:r>
          </a:p>
        </p:txBody>
      </p:sp>
      <p:sp>
        <p:nvSpPr>
          <p:cNvPr id="22" name="left-value-374">
            <a:extLst xmlns:a="http://schemas.openxmlformats.org/drawingml/2006/main">
              <a:ext uri="{FF2B5EF4-FFF2-40B4-BE49-F238E27FC236}">
                <a16:creationId xmlns:a16="http://schemas.microsoft.com/office/drawing/2014/main" id="{42C93C20-EA44-4BD9-A62E-0378F4EE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D3856"/>
                </a:solidFill>
              </a:defRPr>
            </a:pPr>
            <a:r>
              <a:rPr sz="1425" b="1">
                <a:solidFill>
                  <a:srgbClr val="1D3856"/>
                </a:solidFill>
              </a:rPr>
              <a:t>48%</a:t>
            </a:r>
          </a:p>
        </p:txBody>
      </p:sp>
      <p:sp>
        <p:nvSpPr>
          <p:cNvPr id="23" name="row-label-r-374">
            <a:extLst xmlns:a="http://schemas.openxmlformats.org/drawingml/2006/main">
              <a:ext uri="{FF2B5EF4-FFF2-40B4-BE49-F238E27FC236}">
                <a16:creationId xmlns:a16="http://schemas.microsoft.com/office/drawing/2014/main" id="{7A8A22B9-0F8A-45E7-88CE-4646AAC7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76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6F"/>
                </a:solidFill>
              </a:defRPr>
            </a:pPr>
            <a:r>
              <a:rPr sz="1275">
                <a:solidFill>
                  <a:srgbClr val="6F6F6F"/>
                </a:solidFill>
              </a:rPr>
              <a:t>审批慢</a:t>
            </a:r>
          </a:p>
        </p:txBody>
      </p:sp>
      <p:sp>
        <p:nvSpPr>
          <p:cNvPr id="24" name="right-value-374">
            <a:extLst xmlns:a="http://schemas.openxmlformats.org/drawingml/2006/main">
              <a:ext uri="{FF2B5EF4-FFF2-40B4-BE49-F238E27FC236}">
                <a16:creationId xmlns:a16="http://schemas.microsoft.com/office/drawing/2014/main" id="{D1516034-F578-4A9C-ABDB-7DBA34A5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576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D3856"/>
                </a:solidFill>
              </a:defRPr>
            </a:pPr>
            <a:r>
              <a:rPr sz="1425" b="1">
                <a:solidFill>
                  <a:srgbClr val="1D3856"/>
                </a:solidFill>
              </a:rPr>
              <a:t>65%</a:t>
            </a:r>
          </a:p>
        </p:txBody>
      </p:sp>
      <p:sp>
        <p:nvSpPr>
          <p:cNvPr id="25" name="left-row-436">
            <a:extLst xmlns:a="http://schemas.openxmlformats.org/drawingml/2006/main">
              <a:ext uri="{FF2B5EF4-FFF2-40B4-BE49-F238E27FC236}">
                <a16:creationId xmlns:a16="http://schemas.microsoft.com/office/drawing/2014/main" id="{618B6057-C33B-4E2B-9899-15454C55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26" name="right-row-436">
            <a:extLst xmlns:a="http://schemas.openxmlformats.org/drawingml/2006/main">
              <a:ext uri="{FF2B5EF4-FFF2-40B4-BE49-F238E27FC236}">
                <a16:creationId xmlns:a16="http://schemas.microsoft.com/office/drawing/2014/main" id="{E3D8AB5A-2379-43EF-B993-B66348AE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529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27" name="row-label-436">
            <a:extLst xmlns:a="http://schemas.openxmlformats.org/drawingml/2006/main">
              <a:ext uri="{FF2B5EF4-FFF2-40B4-BE49-F238E27FC236}">
                <a16:creationId xmlns:a16="http://schemas.microsoft.com/office/drawing/2014/main" id="{2F05365E-96BF-426D-BFBB-1A832E2B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6F"/>
                </a:solidFill>
              </a:defRPr>
            </a:pPr>
            <a:r>
              <a:rPr sz="1275">
                <a:solidFill>
                  <a:srgbClr val="6F6F6F"/>
                </a:solidFill>
              </a:rPr>
              <a:t>费用不清</a:t>
            </a:r>
          </a:p>
        </p:txBody>
      </p:sp>
      <p:sp>
        <p:nvSpPr>
          <p:cNvPr id="28" name="left-value-436">
            <a:extLst xmlns:a="http://schemas.openxmlformats.org/drawingml/2006/main">
              <a:ext uri="{FF2B5EF4-FFF2-40B4-BE49-F238E27FC236}">
                <a16:creationId xmlns:a16="http://schemas.microsoft.com/office/drawing/2014/main" id="{5EE25BE2-58E1-4B38-94F2-9B5F3745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D3856"/>
                </a:solidFill>
              </a:defRPr>
            </a:pPr>
            <a:r>
              <a:rPr sz="1425" b="1">
                <a:solidFill>
                  <a:srgbClr val="1D3856"/>
                </a:solidFill>
              </a:rPr>
              <a:t>28%</a:t>
            </a:r>
          </a:p>
        </p:txBody>
      </p:sp>
      <p:sp>
        <p:nvSpPr>
          <p:cNvPr id="29" name="row-label-r-436">
            <a:extLst xmlns:a="http://schemas.openxmlformats.org/drawingml/2006/main">
              <a:ext uri="{FF2B5EF4-FFF2-40B4-BE49-F238E27FC236}">
                <a16:creationId xmlns:a16="http://schemas.microsoft.com/office/drawing/2014/main" id="{91B571C7-FB1D-445E-9D31-750FB823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6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6F"/>
                </a:solidFill>
              </a:defRPr>
            </a:pPr>
            <a:r>
              <a:rPr sz="1275">
                <a:solidFill>
                  <a:srgbClr val="6F6F6F"/>
                </a:solidFill>
              </a:rPr>
              <a:t>费用不清</a:t>
            </a:r>
          </a:p>
        </p:txBody>
      </p:sp>
      <p:sp>
        <p:nvSpPr>
          <p:cNvPr id="30" name="right-value-436">
            <a:extLst xmlns:a="http://schemas.openxmlformats.org/drawingml/2006/main">
              <a:ext uri="{FF2B5EF4-FFF2-40B4-BE49-F238E27FC236}">
                <a16:creationId xmlns:a16="http://schemas.microsoft.com/office/drawing/2014/main" id="{A9786417-2474-41DC-AEE3-11E89F11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2481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D3856"/>
                </a:solidFill>
              </a:defRPr>
            </a:pPr>
            <a:r>
              <a:rPr sz="1425" b="1">
                <a:solidFill>
                  <a:srgbClr val="1D3856"/>
                </a:solidFill>
              </a:rPr>
              <a:t>58%</a:t>
            </a:r>
          </a:p>
        </p:txBody>
      </p:sp>
      <p:sp>
        <p:nvSpPr>
          <p:cNvPr id="31" name="left-row-498">
            <a:extLst xmlns:a="http://schemas.openxmlformats.org/drawingml/2006/main">
              <a:ext uri="{FF2B5EF4-FFF2-40B4-BE49-F238E27FC236}">
                <a16:creationId xmlns:a16="http://schemas.microsoft.com/office/drawing/2014/main" id="{F38F0A32-7A1F-4F04-8FFE-AF18BB82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32" name="right-row-498">
            <a:extLst xmlns:a="http://schemas.openxmlformats.org/drawingml/2006/main">
              <a:ext uri="{FF2B5EF4-FFF2-40B4-BE49-F238E27FC236}">
                <a16:creationId xmlns:a16="http://schemas.microsoft.com/office/drawing/2014/main" id="{1DEB4C8D-84C6-407C-A47A-B01A6F3D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4345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33" name="row-label-498">
            <a:extLst xmlns:a="http://schemas.openxmlformats.org/drawingml/2006/main">
              <a:ext uri="{FF2B5EF4-FFF2-40B4-BE49-F238E27FC236}">
                <a16:creationId xmlns:a16="http://schemas.microsoft.com/office/drawing/2014/main" id="{9AFBCDEF-665B-46A1-B5A7-3D903F12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6F"/>
                </a:solidFill>
              </a:defRPr>
            </a:pPr>
            <a:r>
              <a:rPr sz="1275">
                <a:solidFill>
                  <a:srgbClr val="6F6F6F"/>
                </a:solidFill>
              </a:rPr>
              <a:t>操作培训不足</a:t>
            </a:r>
          </a:p>
        </p:txBody>
      </p:sp>
      <p:sp>
        <p:nvSpPr>
          <p:cNvPr id="34" name="left-value-498">
            <a:extLst xmlns:a="http://schemas.openxmlformats.org/drawingml/2006/main">
              <a:ext uri="{FF2B5EF4-FFF2-40B4-BE49-F238E27FC236}">
                <a16:creationId xmlns:a16="http://schemas.microsoft.com/office/drawing/2014/main" id="{01E61FA0-8817-40CC-82AC-82D8777D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B2B2B"/>
                </a:solidFill>
              </a:defRPr>
            </a:pPr>
            <a:r>
              <a:rPr sz="1425" b="1">
                <a:solidFill>
                  <a:srgbClr val="2B2B2B"/>
                </a:solidFill>
              </a:rPr>
              <a:t>44%</a:t>
            </a:r>
          </a:p>
        </p:txBody>
      </p:sp>
      <p:sp>
        <p:nvSpPr>
          <p:cNvPr id="35" name="row-label-r-498">
            <a:extLst xmlns:a="http://schemas.openxmlformats.org/drawingml/2006/main">
              <a:ext uri="{FF2B5EF4-FFF2-40B4-BE49-F238E27FC236}">
                <a16:creationId xmlns:a16="http://schemas.microsoft.com/office/drawing/2014/main" id="{8252368D-AA67-4B47-A7FB-A572FA1B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577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6F"/>
                </a:solidFill>
              </a:defRPr>
            </a:pPr>
            <a:r>
              <a:rPr sz="1275">
                <a:solidFill>
                  <a:srgbClr val="6F6F6F"/>
                </a:solidFill>
              </a:rPr>
              <a:t>操作培训不足</a:t>
            </a:r>
          </a:p>
        </p:txBody>
      </p:sp>
      <p:sp>
        <p:nvSpPr>
          <p:cNvPr id="36" name="right-value-498">
            <a:extLst xmlns:a="http://schemas.openxmlformats.org/drawingml/2006/main">
              <a:ext uri="{FF2B5EF4-FFF2-40B4-BE49-F238E27FC236}">
                <a16:creationId xmlns:a16="http://schemas.microsoft.com/office/drawing/2014/main" id="{8F056975-DD15-44D2-BBE2-2A78D854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387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B2B2B"/>
                </a:solidFill>
              </a:defRPr>
            </a:pPr>
            <a:r>
              <a:rPr sz="1425" b="1">
                <a:solidFill>
                  <a:srgbClr val="2B2B2B"/>
                </a:solidFill>
              </a:rPr>
              <a:t>32%</a:t>
            </a:r>
          </a:p>
        </p:txBody>
      </p:sp>
      <p:sp>
        <p:nvSpPr>
          <p:cNvPr id="37" name="vs-ring">
            <a:extLst xmlns:a="http://schemas.openxmlformats.org/drawingml/2006/main">
              <a:ext uri="{FF2B5EF4-FFF2-40B4-BE49-F238E27FC236}">
                <a16:creationId xmlns:a16="http://schemas.microsoft.com/office/drawing/2014/main" id="{E0315BF8-7896-4892-810C-0B57E45E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623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38" name="vs-label">
            <a:extLst xmlns:a="http://schemas.openxmlformats.org/drawingml/2006/main">
              <a:ext uri="{FF2B5EF4-FFF2-40B4-BE49-F238E27FC236}">
                <a16:creationId xmlns:a16="http://schemas.microsoft.com/office/drawing/2014/main" id="{FD6C40EB-3FB6-4BE3-B64F-FA1F4425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909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3856"/>
                </a:solidFill>
              </a:defRPr>
            </a:pPr>
            <a:r>
              <a:rPr sz="1200" b="1">
                <a:solidFill>
                  <a:srgbClr val="1D3856"/>
                </a:solidFill>
              </a:rPr>
              <a:t>对照</a:t>
            </a:r>
          </a:p>
        </p:txBody>
      </p:sp>
      <p:sp>
        <p:nvSpPr>
          <p:cNvPr id="39" name="vs-sub">
            <a:extLst xmlns:a="http://schemas.openxmlformats.org/drawingml/2006/main">
              <a:ext uri="{FF2B5EF4-FFF2-40B4-BE49-F238E27FC236}">
                <a16:creationId xmlns:a16="http://schemas.microsoft.com/office/drawing/2014/main" id="{30338A3E-F8CE-4676-A2DA-2FE2B9E7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4812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F6F6F"/>
                </a:solidFill>
              </a:defRPr>
            </a:pPr>
            <a:r>
              <a:rPr sz="1200">
                <a:solidFill>
                  <a:srgbClr val="6F6F6F"/>
                </a:solidFill>
              </a:rPr>
              <a:t>同四维</a:t>
            </a:r>
          </a:p>
        </p:txBody>
      </p:sp>
      <p:sp>
        <p:nvSpPr>
          <p:cNvPr id="40" name="vs-left">
            <a:extLst xmlns:a="http://schemas.openxmlformats.org/drawingml/2006/main">
              <a:ext uri="{FF2B5EF4-FFF2-40B4-BE49-F238E27FC236}">
                <a16:creationId xmlns:a16="http://schemas.microsoft.com/office/drawing/2014/main" id="{63911EA1-A031-4D8F-8104-92983F14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767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AF5"/>
            </a:solidFill>
            <a:prstDash val="solid"/>
          </a:ln>
        </p:spPr>
      </p:sp>
      <p:sp>
        <p:nvSpPr>
          <p:cNvPr id="41" name="vs-right">
            <a:extLst xmlns:a="http://schemas.openxmlformats.org/drawingml/2006/main">
              <a:ext uri="{FF2B5EF4-FFF2-40B4-BE49-F238E27FC236}">
                <a16:creationId xmlns:a16="http://schemas.microsoft.com/office/drawing/2014/main" id="{6C4A093B-75FD-4922-8B41-44F2C61A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767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AF5"/>
            </a:solidFill>
            <a:prstDash val="solid"/>
          </a:ln>
        </p:spPr>
      </p:sp>
      <p:sp>
        <p:nvSpPr>
          <p:cNvPr id="42" name="priority-strip">
            <a:extLst xmlns:a="http://schemas.openxmlformats.org/drawingml/2006/main">
              <a:ext uri="{FF2B5EF4-FFF2-40B4-BE49-F238E27FC236}">
                <a16:creationId xmlns:a16="http://schemas.microsoft.com/office/drawing/2014/main" id="{4B46A275-6EDA-4D9A-9084-BF34C8DF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0668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43" name="priority-text">
            <a:extLst xmlns:a="http://schemas.openxmlformats.org/drawingml/2006/main">
              <a:ext uri="{FF2B5EF4-FFF2-40B4-BE49-F238E27FC236}">
                <a16:creationId xmlns:a16="http://schemas.microsoft.com/office/drawing/2014/main" id="{20C598ED-4E2E-4239-B7B2-F283138B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67425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D3856"/>
                </a:solidFill>
              </a:defRPr>
            </a:pPr>
            <a:r>
              <a:rPr sz="1200">
                <a:solidFill>
                  <a:srgbClr val="1D3856"/>
                </a:solidFill>
              </a:rPr>
              <a:t>讨论优先级：校内先看时段供给；校外先看审批责任与费用说明。样本仅为模拟，不能直接推广。</a:t>
            </a:r>
          </a:p>
        </p:txBody>
      </p:sp>
      <p:sp>
        <p:nvSpPr>
          <p:cNvPr id="4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A97EC7D6-B0AA-4424-B135-DC486CE9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5" name="footer-note-2">
            <a:extLst xmlns:a="http://schemas.openxmlformats.org/drawingml/2006/main">
              <a:ext uri="{FF2B5EF4-FFF2-40B4-BE49-F238E27FC236}">
                <a16:creationId xmlns:a16="http://schemas.microsoft.com/office/drawing/2014/main" id="{0E328301-EF58-48E2-BA78-6987D6E2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模拟数据，仅用于方案讨论</a:t>
            </a:r>
          </a:p>
        </p:txBody>
      </p:sp>
      <p:sp>
        <p:nvSpPr>
          <p:cNvPr id="4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1775DB3B-7D8B-41E8-BCD6-13C4995B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62725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大学共享仪器服务改进  ·  02</a:t>
            </a:r>
          </a:p>
        </p:txBody>
      </p:sp>
    </p:spTree>
    <p:extLst>
      <p:ext uri="{BB962C8B-B14F-4D97-AF65-F5344CB8AC3E}">
        <p14:creationId xmlns:p14="http://schemas.microsoft.com/office/powerpoint/2010/main" val="8500501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3">
            <a:extLst xmlns:a="http://schemas.openxmlformats.org/drawingml/2006/main">
              <a:ext uri="{FF2B5EF4-FFF2-40B4-BE49-F238E27FC236}">
                <a16:creationId xmlns:a16="http://schemas.microsoft.com/office/drawing/2014/main" id="{0B0629F2-5D24-4FEE-A114-3000EE22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F91"/>
                </a:solidFill>
              </a:defRPr>
            </a:pPr>
            <a:r>
              <a:rPr sz="1125" b="1">
                <a:solidFill>
                  <a:srgbClr val="315F91"/>
                </a:solidFill>
              </a:rPr>
              <a:t>大学共享仪器服务改进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3B249C1-7F7E-41ED-BE88-34361CA2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B2B2B"/>
                </a:solidFill>
              </a:defRPr>
            </a:pPr>
            <a:r>
              <a:rPr sz="2850" b="1">
                <a:solidFill>
                  <a:srgbClr val="2B2B2B"/>
                </a:solidFill>
              </a:rPr>
              <a:t>三阶段试点先补齐入口、责任与说明，再观察问题落点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96A84BE7-3631-4099-908B-04FA1D6D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1EC6BE8A-0F15-4619-AC0E-C04F53B0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F6F6F"/>
                </a:solidFill>
              </a:defRPr>
            </a:pPr>
            <a:r>
              <a:rPr sz="1050">
                <a:solidFill>
                  <a:srgbClr val="6F6F6F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7D63D-CE31-42EA-930C-A99B821A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04040"/>
                </a:solidFill>
              </a:defRPr>
            </a:pPr>
            <a:r>
              <a:rPr sz="1575">
                <a:solidFill>
                  <a:srgbClr val="404040"/>
                </a:solidFill>
              </a:rPr>
              <a:t>每一阶段先完成交付并记录，再跨过门禁推进；指标只观察，不预设改善幅度</a:t>
            </a:r>
          </a:p>
        </p:txBody>
      </p:sp>
      <p:sp>
        <p:nvSpPr>
          <p:cNvPr id="6" name="stage-river-0">
            <a:extLst xmlns:a="http://schemas.openxmlformats.org/drawingml/2006/main">
              <a:ext uri="{FF2B5EF4-FFF2-40B4-BE49-F238E27FC236}">
                <a16:creationId xmlns:a16="http://schemas.microsoft.com/office/drawing/2014/main" id="{6C7BBAD3-6A47-40FE-AD56-0D54A129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143250" cy="1638300"/>
          </a:xfrm>
          <a:custGeom xmlns:a="http://schemas.openxmlformats.org/drawingml/2006/main">
            <a:pathLst>
              <a:path w="3143250" h="1638300">
                <a:moveTo>
                  <a:pt x="0" y="209550"/>
                </a:moveTo>
                <a:lnTo>
                  <a:pt x="2819400" y="209550"/>
                </a:lnTo>
                <a:lnTo>
                  <a:pt x="3143250" y="819150"/>
                </a:lnTo>
                <a:lnTo>
                  <a:pt x="2819400" y="1428750"/>
                </a:lnTo>
                <a:lnTo>
                  <a:pt x="0" y="1428750"/>
                </a:lnTo>
                <a:close/>
              </a:path>
            </a:pathLst>
          </a:cu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7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67D7ABC8-0AF3-435C-8CA1-DFC1934C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3856"/>
                </a:solidFill>
              </a:defRPr>
            </a:pPr>
            <a:r>
              <a:rPr sz="1650" b="1">
                <a:solidFill>
                  <a:srgbClr val="1D3856"/>
                </a:solidFill>
              </a:rPr>
              <a:t>第一阶段 统一入口</a:t>
            </a:r>
          </a:p>
        </p:txBody>
      </p:sp>
      <p:sp>
        <p:nvSpPr>
          <p:cNvPr id="8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245DF057-35D3-4544-9C78-A0E4A847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04040"/>
                </a:solidFill>
              </a:defRPr>
            </a:pPr>
            <a:r>
              <a:rPr sz="1350">
                <a:solidFill>
                  <a:srgbClr val="404040"/>
                </a:solidFill>
              </a:rPr>
              <a:t>交付：设备与时段目录</a:t>
            </a:r>
          </a:p>
          <a:p xmlns:a="http://schemas.openxmlformats.org/drawingml/2006/main">
            <a:pPr>
              <a:defRPr sz="1350">
                <a:solidFill>
                  <a:srgbClr val="404040"/>
                </a:solidFill>
              </a:defRPr>
            </a:pPr>
            <a:r>
              <a:rPr sz="1350">
                <a:solidFill>
                  <a:srgbClr val="404040"/>
                </a:solidFill>
              </a:rPr>
              <a:t>观察：信息完整率</a:t>
            </a:r>
          </a:p>
        </p:txBody>
      </p:sp>
      <p:sp>
        <p:nvSpPr>
          <p:cNvPr id="9" name="gate-0">
            <a:extLst xmlns:a="http://schemas.openxmlformats.org/drawingml/2006/main">
              <a:ext uri="{FF2B5EF4-FFF2-40B4-BE49-F238E27FC236}">
                <a16:creationId xmlns:a16="http://schemas.microsoft.com/office/drawing/2014/main" id="{3FCE37E2-C5C2-4D1F-9A1B-5B08673D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52700"/>
            <a:ext cx="171450" cy="12954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D3856"/>
          </a:solidFill>
          <a:ln xmlns:a="http://schemas.openxmlformats.org/drawingml/2006/main" w="0">
            <a:solidFill>
              <a:srgbClr val="1D3856"/>
            </a:solidFill>
            <a:prstDash val="solid"/>
          </a:ln>
        </p:spPr>
      </p:sp>
      <p:sp>
        <p:nvSpPr>
          <p:cNvPr id="10" name="gate-label-0">
            <a:extLst xmlns:a="http://schemas.openxmlformats.org/drawingml/2006/main">
              <a:ext uri="{FF2B5EF4-FFF2-40B4-BE49-F238E27FC236}">
                <a16:creationId xmlns:a16="http://schemas.microsoft.com/office/drawing/2014/main" id="{D8946A0C-0FD6-46D4-9C3F-2B8D8EC6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1" name="gate-text-0">
            <a:extLst xmlns:a="http://schemas.openxmlformats.org/drawingml/2006/main">
              <a:ext uri="{FF2B5EF4-FFF2-40B4-BE49-F238E27FC236}">
                <a16:creationId xmlns:a16="http://schemas.microsoft.com/office/drawing/2014/main" id="{87ED8AC9-1AD1-4F56-A962-D1F1A8CB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288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D3856"/>
                </a:solidFill>
              </a:defRPr>
            </a:pPr>
            <a:r>
              <a:rPr sz="975">
                <a:solidFill>
                  <a:srgbClr val="1D3856"/>
                </a:solidFill>
              </a:rPr>
              <a:t>门禁 1  ·  目录与记录完整</a:t>
            </a:r>
          </a:p>
        </p:txBody>
      </p:sp>
      <p:sp>
        <p:nvSpPr>
          <p:cNvPr id="12" name="stage-river-1">
            <a:extLst xmlns:a="http://schemas.openxmlformats.org/drawingml/2006/main">
              <a:ext uri="{FF2B5EF4-FFF2-40B4-BE49-F238E27FC236}">
                <a16:creationId xmlns:a16="http://schemas.microsoft.com/office/drawing/2014/main" id="{4B68F850-483C-49FB-8693-BB738263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3143250" cy="1638300"/>
          </a:xfrm>
          <a:custGeom xmlns:a="http://schemas.openxmlformats.org/drawingml/2006/main">
            <a:pathLst>
              <a:path w="3143250" h="1638300">
                <a:moveTo>
                  <a:pt x="0" y="209550"/>
                </a:moveTo>
                <a:lnTo>
                  <a:pt x="2819400" y="209550"/>
                </a:lnTo>
                <a:lnTo>
                  <a:pt x="3143250" y="819150"/>
                </a:lnTo>
                <a:lnTo>
                  <a:pt x="2819400" y="1428750"/>
                </a:lnTo>
                <a:lnTo>
                  <a:pt x="0" y="1428750"/>
                </a:lnTo>
                <a:close/>
              </a:path>
            </a:pathLst>
          </a:custGeom>
          <a:solidFill xmlns:a="http://schemas.openxmlformats.org/drawingml/2006/main">
            <a:srgbClr val="E7EFF6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13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19DB879B-4717-4784-9690-DD6A9AEB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3856"/>
                </a:solidFill>
              </a:defRPr>
            </a:pPr>
            <a:r>
              <a:rPr sz="1650" b="1">
                <a:solidFill>
                  <a:srgbClr val="1D3856"/>
                </a:solidFill>
              </a:rPr>
              <a:t>第二阶段 明确责任</a:t>
            </a:r>
          </a:p>
        </p:txBody>
      </p:sp>
      <p:sp>
        <p:nvSpPr>
          <p:cNvPr id="14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88F3E763-97B4-434B-B23C-C3E49ED7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81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04040"/>
                </a:solidFill>
              </a:defRPr>
            </a:pPr>
            <a:r>
              <a:rPr sz="1350">
                <a:solidFill>
                  <a:srgbClr val="404040"/>
                </a:solidFill>
              </a:rPr>
              <a:t>交付：责任人与时限表</a:t>
            </a:r>
          </a:p>
          <a:p xmlns:a="http://schemas.openxmlformats.org/drawingml/2006/main">
            <a:pPr>
              <a:defRPr sz="1350">
                <a:solidFill>
                  <a:srgbClr val="404040"/>
                </a:solidFill>
              </a:defRPr>
            </a:pPr>
            <a:r>
              <a:rPr sz="1350">
                <a:solidFill>
                  <a:srgbClr val="404040"/>
                </a:solidFill>
              </a:rPr>
              <a:t>观察：审批时长</a:t>
            </a:r>
          </a:p>
        </p:txBody>
      </p:sp>
      <p:sp>
        <p:nvSpPr>
          <p:cNvPr id="15" name="gate-1">
            <a:extLst xmlns:a="http://schemas.openxmlformats.org/drawingml/2006/main">
              <a:ext uri="{FF2B5EF4-FFF2-40B4-BE49-F238E27FC236}">
                <a16:creationId xmlns:a16="http://schemas.microsoft.com/office/drawing/2014/main" id="{4B002F04-F81E-4EE3-8028-004583D0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52700"/>
            <a:ext cx="171450" cy="12954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D3856"/>
          </a:solidFill>
          <a:ln xmlns:a="http://schemas.openxmlformats.org/drawingml/2006/main" w="0">
            <a:solidFill>
              <a:srgbClr val="1D3856"/>
            </a:solidFill>
            <a:prstDash val="solid"/>
          </a:ln>
        </p:spPr>
      </p:sp>
      <p:sp>
        <p:nvSpPr>
          <p:cNvPr id="16" name="gate-label-1">
            <a:extLst xmlns:a="http://schemas.openxmlformats.org/drawingml/2006/main">
              <a:ext uri="{FF2B5EF4-FFF2-40B4-BE49-F238E27FC236}">
                <a16:creationId xmlns:a16="http://schemas.microsoft.com/office/drawing/2014/main" id="{327FF9E0-99F2-4B34-A02D-04B1D5F4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6215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7" name="gate-text-1">
            <a:extLst xmlns:a="http://schemas.openxmlformats.org/drawingml/2006/main">
              <a:ext uri="{FF2B5EF4-FFF2-40B4-BE49-F238E27FC236}">
                <a16:creationId xmlns:a16="http://schemas.microsoft.com/office/drawing/2014/main" id="{4B2F92B2-339A-43C6-891D-BB8EAA17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288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D3856"/>
                </a:solidFill>
              </a:defRPr>
            </a:pPr>
            <a:r>
              <a:rPr sz="975">
                <a:solidFill>
                  <a:srgbClr val="1D3856"/>
                </a:solidFill>
              </a:rPr>
              <a:t>门禁 2  ·  责任人与时限明确</a:t>
            </a:r>
          </a:p>
        </p:txBody>
      </p:sp>
      <p:sp>
        <p:nvSpPr>
          <p:cNvPr id="18" name="stage-river-2">
            <a:extLst xmlns:a="http://schemas.openxmlformats.org/drawingml/2006/main">
              <a:ext uri="{FF2B5EF4-FFF2-40B4-BE49-F238E27FC236}">
                <a16:creationId xmlns:a16="http://schemas.microsoft.com/office/drawing/2014/main" id="{7DA4EC63-51E8-4480-9995-F02E3FD2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81250"/>
            <a:ext cx="3143250" cy="1638300"/>
          </a:xfrm>
          <a:custGeom xmlns:a="http://schemas.openxmlformats.org/drawingml/2006/main">
            <a:pathLst>
              <a:path w="3143250" h="1638300">
                <a:moveTo>
                  <a:pt x="0" y="209550"/>
                </a:moveTo>
                <a:lnTo>
                  <a:pt x="2819400" y="209550"/>
                </a:lnTo>
                <a:lnTo>
                  <a:pt x="3143250" y="819150"/>
                </a:lnTo>
                <a:lnTo>
                  <a:pt x="2819400" y="1428750"/>
                </a:lnTo>
                <a:lnTo>
                  <a:pt x="0" y="1428750"/>
                </a:lnTo>
                <a:close/>
              </a:path>
            </a:pathLst>
          </a:custGeom>
          <a:solidFill xmlns:a="http://schemas.openxmlformats.org/drawingml/2006/main">
            <a:srgbClr val="DDEAF5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19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C075D72-B278-4D70-9202-D8A91316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3856"/>
                </a:solidFill>
              </a:defRPr>
            </a:pPr>
            <a:r>
              <a:rPr sz="1650" b="1">
                <a:solidFill>
                  <a:srgbClr val="1D3856"/>
                </a:solidFill>
              </a:rPr>
              <a:t>第三阶段 发布说明</a:t>
            </a:r>
          </a:p>
        </p:txBody>
      </p:sp>
      <p:sp>
        <p:nvSpPr>
          <p:cNvPr id="20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4F03DA98-52D8-4CFF-9391-E47B8218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04040"/>
                </a:solidFill>
              </a:defRPr>
            </a:pPr>
            <a:r>
              <a:rPr sz="1350">
                <a:solidFill>
                  <a:srgbClr val="404040"/>
                </a:solidFill>
              </a:rPr>
              <a:t>交付：费用清单及培训入口</a:t>
            </a:r>
          </a:p>
          <a:p xmlns:a="http://schemas.openxmlformats.org/drawingml/2006/main">
            <a:pPr>
              <a:defRPr sz="1350">
                <a:solidFill>
                  <a:srgbClr val="404040"/>
                </a:solidFill>
              </a:defRPr>
            </a:pPr>
            <a:r>
              <a:rPr sz="1350">
                <a:solidFill>
                  <a:srgbClr val="404040"/>
                </a:solidFill>
              </a:rPr>
              <a:t>观察：重复咨询量</a:t>
            </a:r>
          </a:p>
        </p:txBody>
      </p:sp>
      <p:sp>
        <p:nvSpPr>
          <p:cNvPr id="21" name="flow-arrow">
            <a:extLst xmlns:a="http://schemas.openxmlformats.org/drawingml/2006/main">
              <a:ext uri="{FF2B5EF4-FFF2-40B4-BE49-F238E27FC236}">
                <a16:creationId xmlns:a16="http://schemas.microsoft.com/office/drawing/2014/main" id="{813D7987-3DE0-4ADD-A220-03744CE5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33700"/>
            <a:ext cx="685800" cy="552450"/>
          </a:xfrm>
          <a:custGeom xmlns:a="http://schemas.openxmlformats.org/drawingml/2006/main">
            <a:pathLst>
              <a:path w="685800" h="552450">
                <a:moveTo>
                  <a:pt x="0" y="171450"/>
                </a:moveTo>
                <a:lnTo>
                  <a:pt x="381000" y="171450"/>
                </a:lnTo>
                <a:lnTo>
                  <a:pt x="381000" y="0"/>
                </a:lnTo>
                <a:lnTo>
                  <a:pt x="685800" y="276225"/>
                </a:lnTo>
                <a:lnTo>
                  <a:pt x="381000" y="552450"/>
                </a:ln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2" name="flow-arrow-label">
            <a:extLst xmlns:a="http://schemas.openxmlformats.org/drawingml/2006/main">
              <a:ext uri="{FF2B5EF4-FFF2-40B4-BE49-F238E27FC236}">
                <a16:creationId xmlns:a16="http://schemas.microsoft.com/office/drawing/2014/main" id="{8D3AA66B-CDA0-4A37-999D-2C4BDCD6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004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推进方向</a:t>
            </a:r>
          </a:p>
        </p:txBody>
      </p:sp>
      <p:sp>
        <p:nvSpPr>
          <p:cNvPr id="23" name="global-rule">
            <a:extLst xmlns:a="http://schemas.openxmlformats.org/drawingml/2006/main">
              <a:ext uri="{FF2B5EF4-FFF2-40B4-BE49-F238E27FC236}">
                <a16:creationId xmlns:a16="http://schemas.microsoft.com/office/drawing/2014/main" id="{51C6FEDA-390C-4890-8056-298921BA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106489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4" name="rule-title">
            <a:extLst xmlns:a="http://schemas.openxmlformats.org/drawingml/2006/main">
              <a:ext uri="{FF2B5EF4-FFF2-40B4-BE49-F238E27FC236}">
                <a16:creationId xmlns:a16="http://schemas.microsoft.com/office/drawing/2014/main" id="{DC4BA34D-B111-49C9-8AC7-3D1AE0CA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3856"/>
                </a:solidFill>
              </a:defRPr>
            </a:pPr>
            <a:r>
              <a:rPr sz="1425" b="1">
                <a:solidFill>
                  <a:srgbClr val="1D3856"/>
                </a:solidFill>
              </a:rPr>
              <a:t>贯穿三阶段的规则</a:t>
            </a:r>
          </a:p>
        </p:txBody>
      </p:sp>
      <p:sp>
        <p:nvSpPr>
          <p:cNvPr id="25" name="rule-body">
            <a:extLst xmlns:a="http://schemas.openxmlformats.org/drawingml/2006/main">
              <a:ext uri="{FF2B5EF4-FFF2-40B4-BE49-F238E27FC236}">
                <a16:creationId xmlns:a16="http://schemas.microsoft.com/office/drawing/2014/main" id="{CC208EAF-7A23-4687-B3F8-85A03FA9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04040"/>
                </a:solidFill>
              </a:defRPr>
            </a:pPr>
            <a:r>
              <a:rPr sz="1350">
                <a:solidFill>
                  <a:srgbClr val="404040"/>
                </a:solidFill>
              </a:rPr>
              <a:t>每阶段在记录完整、责任明确后再推进；平台负责人确认。涉及新访问授权时暂停共享，授权处理后恢复。</a:t>
            </a:r>
          </a:p>
        </p:txBody>
      </p:sp>
      <p:sp>
        <p:nvSpPr>
          <p:cNvPr id="26" name="rule-limit">
            <a:extLst xmlns:a="http://schemas.openxmlformats.org/drawingml/2006/main">
              <a:ext uri="{FF2B5EF4-FFF2-40B4-BE49-F238E27FC236}">
                <a16:creationId xmlns:a16="http://schemas.microsoft.com/office/drawing/2014/main" id="{BA49B3F7-E38E-4732-858E-0B7D8F72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979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6F6F"/>
                </a:solidFill>
              </a:defRPr>
            </a:pPr>
            <a:r>
              <a:rPr sz="1200">
                <a:solidFill>
                  <a:srgbClr val="6F6F6F"/>
                </a:solidFill>
              </a:rPr>
              <a:t>预期用途：用户更早判断可用性，工作人员更快定位问题环节。该收益尚未验证。</a:t>
            </a:r>
          </a:p>
        </p:txBody>
      </p:sp>
      <p:sp>
        <p:nvSpPr>
          <p:cNvPr id="2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3BEF6390-9380-4C0E-A75D-F9585EC3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8" name="footer-note-3">
            <a:extLst xmlns:a="http://schemas.openxmlformats.org/drawingml/2006/main">
              <a:ext uri="{FF2B5EF4-FFF2-40B4-BE49-F238E27FC236}">
                <a16:creationId xmlns:a16="http://schemas.microsoft.com/office/drawing/2014/main" id="{B0BC27D1-A05D-436D-AC7F-50DAE844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模拟数据，仅用于方案讨论</a:t>
            </a:r>
          </a:p>
        </p:txBody>
      </p:sp>
      <p:sp>
        <p:nvSpPr>
          <p:cNvPr id="29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9E999B11-82E8-47CA-99D5-A2060BE1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62725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大学共享仪器服务改进  ·  03</a:t>
            </a:r>
          </a:p>
        </p:txBody>
      </p:sp>
    </p:spTree>
    <p:extLst>
      <p:ext uri="{BB962C8B-B14F-4D97-AF65-F5344CB8AC3E}">
        <p14:creationId xmlns:p14="http://schemas.microsoft.com/office/powerpoint/2010/main" val="667798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kicker-4">
            <a:extLst xmlns:a="http://schemas.openxmlformats.org/drawingml/2006/main">
              <a:ext uri="{FF2B5EF4-FFF2-40B4-BE49-F238E27FC236}">
                <a16:creationId xmlns:a16="http://schemas.microsoft.com/office/drawing/2014/main" id="{953C6485-0811-47D6-8F49-94FA5379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F91"/>
                </a:solidFill>
              </a:defRPr>
            </a:pPr>
            <a:r>
              <a:rPr sz="1125" b="1">
                <a:solidFill>
                  <a:srgbClr val="315F91"/>
                </a:solidFill>
              </a:rPr>
              <a:t>大学共享仪器服务改进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6F832A9-C47D-4EAC-87D9-F9673AF0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B2B2B"/>
                </a:solidFill>
              </a:defRPr>
            </a:pPr>
            <a:r>
              <a:rPr sz="2850" b="1">
                <a:solidFill>
                  <a:srgbClr val="2B2B2B"/>
                </a:solidFill>
              </a:rPr>
              <a:t>设备支持优先级取决于频次与支持需求的组合位置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C3B4E971-A846-42D2-8AF8-5CD15E6C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350F6EFF-CF20-4005-A843-3F767477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F6F6F"/>
                </a:solidFill>
              </a:defRPr>
            </a:pPr>
            <a:r>
              <a:rPr sz="1050">
                <a:solidFill>
                  <a:srgbClr val="6F6F6F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697C4-2744-4563-99A7-D9B1FAB6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04040"/>
                </a:solidFill>
              </a:defRPr>
            </a:pPr>
            <a:r>
              <a:rPr sz="1500">
                <a:solidFill>
                  <a:srgbClr val="404040"/>
                </a:solidFill>
              </a:rPr>
              <a:t>二维诊断只用于本次讨论：横轴预约频次指数，纵轴操作支持需求指数，50 为讨论分界</a:t>
            </a:r>
          </a:p>
        </p:txBody>
      </p:sp>
      <p:sp>
        <p:nvSpPr>
          <p:cNvPr id="6" name="matrix-frame">
            <a:extLst xmlns:a="http://schemas.openxmlformats.org/drawingml/2006/main">
              <a:ext uri="{FF2B5EF4-FFF2-40B4-BE49-F238E27FC236}">
                <a16:creationId xmlns:a16="http://schemas.microsoft.com/office/drawing/2014/main" id="{FFF2E500-B640-4D65-AD43-DEDB0DFB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7" name="q-high-high">
            <a:extLst xmlns:a="http://schemas.openxmlformats.org/drawingml/2006/main">
              <a:ext uri="{FF2B5EF4-FFF2-40B4-BE49-F238E27FC236}">
                <a16:creationId xmlns:a16="http://schemas.microsoft.com/office/drawing/2014/main" id="{0D391DB0-5380-4B6A-ADC0-852AB446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86000"/>
            <a:ext cx="2714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q-low-high">
            <a:extLst xmlns:a="http://schemas.openxmlformats.org/drawingml/2006/main">
              <a:ext uri="{FF2B5EF4-FFF2-40B4-BE49-F238E27FC236}">
                <a16:creationId xmlns:a16="http://schemas.microsoft.com/office/drawing/2014/main" id="{32A0D915-2DAD-463E-9D34-92545364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2714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high-low">
            <a:extLst xmlns:a="http://schemas.openxmlformats.org/drawingml/2006/main">
              <a:ext uri="{FF2B5EF4-FFF2-40B4-BE49-F238E27FC236}">
                <a16:creationId xmlns:a16="http://schemas.microsoft.com/office/drawing/2014/main" id="{87F851D6-341E-4808-9521-3FDA3D1B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14750"/>
            <a:ext cx="2714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-low-low">
            <a:extLst xmlns:a="http://schemas.openxmlformats.org/drawingml/2006/main">
              <a:ext uri="{FF2B5EF4-FFF2-40B4-BE49-F238E27FC236}">
                <a16:creationId xmlns:a16="http://schemas.microsoft.com/office/drawing/2014/main" id="{3A6FB600-EF7A-40C1-9FA7-8875BEEE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2714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trix-x">
            <a:extLst xmlns:a="http://schemas.openxmlformats.org/drawingml/2006/main">
              <a:ext uri="{FF2B5EF4-FFF2-40B4-BE49-F238E27FC236}">
                <a16:creationId xmlns:a16="http://schemas.microsoft.com/office/drawing/2014/main" id="{37CA045F-2D7B-4397-86A1-E28B9B4E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A8C9E"/>
            </a:solidFill>
            <a:prstDash val="solid"/>
          </a:ln>
        </p:spPr>
      </p:sp>
      <p:sp>
        <p:nvSpPr>
          <p:cNvPr id="12" name="matrix-y">
            <a:extLst xmlns:a="http://schemas.openxmlformats.org/drawingml/2006/main">
              <a:ext uri="{FF2B5EF4-FFF2-40B4-BE49-F238E27FC236}">
                <a16:creationId xmlns:a16="http://schemas.microsoft.com/office/drawing/2014/main" id="{78FFD9E9-896F-4F0B-8043-18DAB6DE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A8C9E"/>
            </a:solidFill>
            <a:prstDash val="solid"/>
          </a:ln>
        </p:spPr>
      </p:sp>
      <p:sp>
        <p:nvSpPr>
          <p:cNvPr id="13" name="matrix-mid-v">
            <a:extLst xmlns:a="http://schemas.openxmlformats.org/drawingml/2006/main">
              <a:ext uri="{FF2B5EF4-FFF2-40B4-BE49-F238E27FC236}">
                <a16:creationId xmlns:a16="http://schemas.microsoft.com/office/drawing/2014/main" id="{820C49A2-96FA-49C0-963D-1CB697EC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8600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DEAF5"/>
            </a:solidFill>
            <a:prstDash val="solid"/>
          </a:ln>
        </p:spPr>
      </p:sp>
      <p:sp>
        <p:nvSpPr>
          <p:cNvPr id="14" name="matrix-mid-h">
            <a:extLst xmlns:a="http://schemas.openxmlformats.org/drawingml/2006/main">
              <a:ext uri="{FF2B5EF4-FFF2-40B4-BE49-F238E27FC236}">
                <a16:creationId xmlns:a16="http://schemas.microsoft.com/office/drawing/2014/main" id="{5EED5BD9-43CA-40F5-976D-BB58DEFD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DEAF5"/>
            </a:solidFill>
            <a:prstDash val="solid"/>
          </a:ln>
        </p:spPr>
      </p:sp>
      <p:sp>
        <p:nvSpPr>
          <p:cNvPr id="15" name="mx-0">
            <a:extLst xmlns:a="http://schemas.openxmlformats.org/drawingml/2006/main">
              <a:ext uri="{FF2B5EF4-FFF2-40B4-BE49-F238E27FC236}">
                <a16:creationId xmlns:a16="http://schemas.microsoft.com/office/drawing/2014/main" id="{A2B2AD0F-86A4-4BC6-B98F-8CEFAA1A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0</a:t>
            </a:r>
          </a:p>
        </p:txBody>
      </p:sp>
      <p:sp>
        <p:nvSpPr>
          <p:cNvPr id="16" name="my-0">
            <a:extLst xmlns:a="http://schemas.openxmlformats.org/drawingml/2006/main">
              <a:ext uri="{FF2B5EF4-FFF2-40B4-BE49-F238E27FC236}">
                <a16:creationId xmlns:a16="http://schemas.microsoft.com/office/drawing/2014/main" id="{A30A5C0F-1BB6-442F-8D1E-B70ADB30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0</a:t>
            </a:r>
          </a:p>
        </p:txBody>
      </p:sp>
      <p:sp>
        <p:nvSpPr>
          <p:cNvPr id="17" name="mx-50">
            <a:extLst xmlns:a="http://schemas.openxmlformats.org/drawingml/2006/main">
              <a:ext uri="{FF2B5EF4-FFF2-40B4-BE49-F238E27FC236}">
                <a16:creationId xmlns:a16="http://schemas.microsoft.com/office/drawing/2014/main" id="{842A8DA6-139B-45C1-9029-F301B7A5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257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50</a:t>
            </a:r>
          </a:p>
        </p:txBody>
      </p:sp>
      <p:sp>
        <p:nvSpPr>
          <p:cNvPr id="18" name="my-50">
            <a:extLst xmlns:a="http://schemas.openxmlformats.org/drawingml/2006/main">
              <a:ext uri="{FF2B5EF4-FFF2-40B4-BE49-F238E27FC236}">
                <a16:creationId xmlns:a16="http://schemas.microsoft.com/office/drawing/2014/main" id="{F153FF62-C429-4744-8963-CA133CA1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50</a:t>
            </a:r>
          </a:p>
        </p:txBody>
      </p:sp>
      <p:sp>
        <p:nvSpPr>
          <p:cNvPr id="19" name="mx-100">
            <a:extLst xmlns:a="http://schemas.openxmlformats.org/drawingml/2006/main">
              <a:ext uri="{FF2B5EF4-FFF2-40B4-BE49-F238E27FC236}">
                <a16:creationId xmlns:a16="http://schemas.microsoft.com/office/drawing/2014/main" id="{D61516E5-CFD9-4C1D-8DCA-73954D7D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57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100</a:t>
            </a:r>
          </a:p>
        </p:txBody>
      </p:sp>
      <p:sp>
        <p:nvSpPr>
          <p:cNvPr id="20" name="my-100">
            <a:extLst xmlns:a="http://schemas.openxmlformats.org/drawingml/2006/main">
              <a:ext uri="{FF2B5EF4-FFF2-40B4-BE49-F238E27FC236}">
                <a16:creationId xmlns:a16="http://schemas.microsoft.com/office/drawing/2014/main" id="{C08A2DAB-D1DD-4BCF-8CC6-D6E24033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100</a:t>
            </a:r>
          </a:p>
        </p:txBody>
      </p:sp>
      <p:sp>
        <p:nvSpPr>
          <p:cNvPr id="21" name="matrix-x-title">
            <a:extLst xmlns:a="http://schemas.openxmlformats.org/drawingml/2006/main">
              <a:ext uri="{FF2B5EF4-FFF2-40B4-BE49-F238E27FC236}">
                <a16:creationId xmlns:a16="http://schemas.microsoft.com/office/drawing/2014/main" id="{01902236-9014-4F8E-90C8-49BC7B7A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86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04040"/>
                </a:solidFill>
              </a:defRPr>
            </a:pPr>
            <a:r>
              <a:rPr sz="1200">
                <a:solidFill>
                  <a:srgbClr val="404040"/>
                </a:solidFill>
              </a:rPr>
              <a:t>预约频次指数 →</a:t>
            </a:r>
          </a:p>
        </p:txBody>
      </p:sp>
      <p:sp>
        <p:nvSpPr>
          <p:cNvPr id="22" name="matrix-y-title">
            <a:extLst xmlns:a="http://schemas.openxmlformats.org/drawingml/2006/main">
              <a:ext uri="{FF2B5EF4-FFF2-40B4-BE49-F238E27FC236}">
                <a16:creationId xmlns:a16="http://schemas.microsoft.com/office/drawing/2014/main" id="{D0F7AE0E-B58F-4E86-9594-4D5D8749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66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16200000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04040"/>
                </a:solidFill>
              </a:defRPr>
            </a:pPr>
            <a:r>
              <a:rPr sz="1200">
                <a:solidFill>
                  <a:srgbClr val="404040"/>
                </a:solidFill>
              </a:rPr>
              <a:t>操作支持需求指数</a:t>
            </a:r>
          </a:p>
        </p:txBody>
      </p:sp>
      <p:sp>
        <p:nvSpPr>
          <p:cNvPr id="23" name="q1-label">
            <a:extLst xmlns:a="http://schemas.openxmlformats.org/drawingml/2006/main">
              <a:ext uri="{FF2B5EF4-FFF2-40B4-BE49-F238E27FC236}">
                <a16:creationId xmlns:a16="http://schemas.microsoft.com/office/drawing/2014/main" id="{81138FA8-BCE4-40D6-81AE-0473A9B6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003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3856"/>
                </a:solidFill>
              </a:defRPr>
            </a:pPr>
            <a:r>
              <a:rPr sz="1125" b="1">
                <a:solidFill>
                  <a:srgbClr val="1D3856"/>
                </a:solidFill>
              </a:rPr>
              <a:t>高频 · 高支持</a:t>
            </a:r>
          </a:p>
          <a:p xmlns:a="http://schemas.openxmlformats.org/drawingml/2006/main">
            <a:pPr>
              <a:defRPr sz="1125" b="1">
                <a:solidFill>
                  <a:srgbClr val="1D3856"/>
                </a:solidFill>
              </a:defRPr>
            </a:pPr>
            <a:r>
              <a:rPr sz="1125" b="1">
                <a:solidFill>
                  <a:srgbClr val="1D3856"/>
                </a:solidFill>
              </a:rPr>
              <a:t>优先增设辅导时段</a:t>
            </a:r>
          </a:p>
        </p:txBody>
      </p:sp>
      <p:sp>
        <p:nvSpPr>
          <p:cNvPr id="24" name="q2-label">
            <a:extLst xmlns:a="http://schemas.openxmlformats.org/drawingml/2006/main">
              <a:ext uri="{FF2B5EF4-FFF2-40B4-BE49-F238E27FC236}">
                <a16:creationId xmlns:a16="http://schemas.microsoft.com/office/drawing/2014/main" id="{6DA32E30-5AC8-4D8C-81E7-E4C691E9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003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4040"/>
                </a:solidFill>
              </a:defRPr>
            </a:pPr>
            <a:r>
              <a:rPr sz="1125" b="1">
                <a:solidFill>
                  <a:srgbClr val="404040"/>
                </a:solidFill>
              </a:rPr>
              <a:t>低频 · 高支持</a:t>
            </a:r>
          </a:p>
          <a:p xmlns:a="http://schemas.openxmlformats.org/drawingml/2006/main">
            <a:pPr>
              <a:defRPr sz="1125" b="1">
                <a:solidFill>
                  <a:srgbClr val="404040"/>
                </a:solidFill>
              </a:defRPr>
            </a:pPr>
            <a:r>
              <a:rPr sz="1125" b="1">
                <a:solidFill>
                  <a:srgbClr val="404040"/>
                </a:solidFill>
              </a:rPr>
              <a:t>采用预约辅导</a:t>
            </a:r>
          </a:p>
        </p:txBody>
      </p:sp>
      <p:sp>
        <p:nvSpPr>
          <p:cNvPr id="25" name="q3-label">
            <a:extLst xmlns:a="http://schemas.openxmlformats.org/drawingml/2006/main">
              <a:ext uri="{FF2B5EF4-FFF2-40B4-BE49-F238E27FC236}">
                <a16:creationId xmlns:a16="http://schemas.microsoft.com/office/drawing/2014/main" id="{47C6A261-1490-41F7-9298-B1901DE7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290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4040"/>
                </a:solidFill>
              </a:defRPr>
            </a:pPr>
            <a:r>
              <a:rPr sz="1125" b="1">
                <a:solidFill>
                  <a:srgbClr val="404040"/>
                </a:solidFill>
              </a:rPr>
              <a:t>高频 · 低支持</a:t>
            </a:r>
          </a:p>
          <a:p xmlns:a="http://schemas.openxmlformats.org/drawingml/2006/main">
            <a:pPr>
              <a:defRPr sz="1125" b="1">
                <a:solidFill>
                  <a:srgbClr val="404040"/>
                </a:solidFill>
              </a:defRPr>
            </a:pPr>
            <a:r>
              <a:rPr sz="1125" b="1">
                <a:solidFill>
                  <a:srgbClr val="404040"/>
                </a:solidFill>
              </a:rPr>
              <a:t>优先完善自助说明</a:t>
            </a:r>
          </a:p>
        </p:txBody>
      </p:sp>
      <p:sp>
        <p:nvSpPr>
          <p:cNvPr id="26" name="q4-label">
            <a:extLst xmlns:a="http://schemas.openxmlformats.org/drawingml/2006/main">
              <a:ext uri="{FF2B5EF4-FFF2-40B4-BE49-F238E27FC236}">
                <a16:creationId xmlns:a16="http://schemas.microsoft.com/office/drawing/2014/main" id="{D5952A5D-711B-4B75-8537-D3C19A36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低频 · 低支持</a:t>
            </a:r>
          </a:p>
          <a:p xmlns:a="http://schemas.openxmlformats.org/drawingml/2006/main">
            <a:pPr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维持基础服务</a:t>
            </a:r>
          </a:p>
        </p:txBody>
      </p:sp>
      <p:sp>
        <p:nvSpPr>
          <p:cNvPr id="27" name="matrix-point-0">
            <a:extLst xmlns:a="http://schemas.openxmlformats.org/drawingml/2006/main">
              <a:ext uri="{FF2B5EF4-FFF2-40B4-BE49-F238E27FC236}">
                <a16:creationId xmlns:a16="http://schemas.microsoft.com/office/drawing/2014/main" id="{38814093-8C53-437F-9A48-2CB8A9A3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2762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matrix-point-label-0">
            <a:extLst xmlns:a="http://schemas.openxmlformats.org/drawingml/2006/main">
              <a:ext uri="{FF2B5EF4-FFF2-40B4-BE49-F238E27FC236}">
                <a16:creationId xmlns:a16="http://schemas.microsoft.com/office/drawing/2014/main" id="{8EEDA765-D404-42A4-8902-02816C81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363" y="25336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3856"/>
                </a:solidFill>
              </a:defRPr>
            </a:pPr>
            <a:r>
              <a:rPr sz="1050" b="1">
                <a:solidFill>
                  <a:srgbClr val="1D3856"/>
                </a:solidFill>
              </a:rPr>
              <a:t>显微成像  (85,80)</a:t>
            </a:r>
          </a:p>
        </p:txBody>
      </p:sp>
      <p:sp>
        <p:nvSpPr>
          <p:cNvPr id="29" name="matrix-point-1">
            <a:extLst xmlns:a="http://schemas.openxmlformats.org/drawingml/2006/main">
              <a:ext uri="{FF2B5EF4-FFF2-40B4-BE49-F238E27FC236}">
                <a16:creationId xmlns:a16="http://schemas.microsoft.com/office/drawing/2014/main" id="{0DDB8E9B-0758-4663-B39B-3D40C18D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33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85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matrix-point-label-1">
            <a:extLst xmlns:a="http://schemas.openxmlformats.org/drawingml/2006/main">
              <a:ext uri="{FF2B5EF4-FFF2-40B4-BE49-F238E27FC236}">
                <a16:creationId xmlns:a16="http://schemas.microsoft.com/office/drawing/2014/main" id="{BE3413C9-7062-4CA6-9724-FF6DC0C7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8152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04040"/>
                </a:solidFill>
              </a:defRPr>
            </a:pPr>
            <a:r>
              <a:rPr sz="1050" b="1">
                <a:solidFill>
                  <a:srgbClr val="404040"/>
                </a:solidFill>
              </a:rPr>
              <a:t>基础检测  (80,25)</a:t>
            </a:r>
          </a:p>
        </p:txBody>
      </p:sp>
      <p:sp>
        <p:nvSpPr>
          <p:cNvPr id="31" name="matrix-point-2">
            <a:extLst xmlns:a="http://schemas.openxmlformats.org/drawingml/2006/main">
              <a:ext uri="{FF2B5EF4-FFF2-40B4-BE49-F238E27FC236}">
                <a16:creationId xmlns:a16="http://schemas.microsoft.com/office/drawing/2014/main" id="{575BFF0F-B51A-4472-B020-C90452CC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05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9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matrix-point-label-2">
            <a:extLst xmlns:a="http://schemas.openxmlformats.org/drawingml/2006/main">
              <a:ext uri="{FF2B5EF4-FFF2-40B4-BE49-F238E27FC236}">
                <a16:creationId xmlns:a16="http://schemas.microsoft.com/office/drawing/2014/main" id="{047720F4-7E9B-4AA4-8573-ADE30B01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638" y="267652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04040"/>
                </a:solidFill>
              </a:defRPr>
            </a:pPr>
            <a:r>
              <a:rPr sz="1050" b="1">
                <a:solidFill>
                  <a:srgbClr val="404040"/>
                </a:solidFill>
              </a:rPr>
              <a:t>材料制备  (35,75)</a:t>
            </a:r>
          </a:p>
        </p:txBody>
      </p:sp>
      <p:sp>
        <p:nvSpPr>
          <p:cNvPr id="33" name="matrix-point-3">
            <a:extLst xmlns:a="http://schemas.openxmlformats.org/drawingml/2006/main">
              <a:ext uri="{FF2B5EF4-FFF2-40B4-BE49-F238E27FC236}">
                <a16:creationId xmlns:a16="http://schemas.microsoft.com/office/drawing/2014/main" id="{4DC3AFCA-C60B-43D4-84D7-B2592ED4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191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9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matrix-point-label-3">
            <a:extLst xmlns:a="http://schemas.openxmlformats.org/drawingml/2006/main">
              <a:ext uri="{FF2B5EF4-FFF2-40B4-BE49-F238E27FC236}">
                <a16:creationId xmlns:a16="http://schemas.microsoft.com/office/drawing/2014/main" id="{C9140BC4-8309-4461-924A-77636877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4386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04040"/>
                </a:solidFill>
              </a:defRPr>
            </a:pPr>
            <a:r>
              <a:rPr sz="1050" b="1">
                <a:solidFill>
                  <a:srgbClr val="404040"/>
                </a:solidFill>
              </a:rPr>
              <a:t>常规加工  (30,30)</a:t>
            </a:r>
          </a:p>
        </p:txBody>
      </p:sp>
      <p:sp>
        <p:nvSpPr>
          <p:cNvPr id="35" name="matrix-aside">
            <a:extLst xmlns:a="http://schemas.openxmlformats.org/drawingml/2006/main">
              <a:ext uri="{FF2B5EF4-FFF2-40B4-BE49-F238E27FC236}">
                <a16:creationId xmlns:a16="http://schemas.microsoft.com/office/drawing/2014/main" id="{75A7EFEB-8A48-4FF7-A2F7-7DE0F682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3505200" cy="40957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36" name="matrix-aside-title">
            <a:extLst xmlns:a="http://schemas.openxmlformats.org/drawingml/2006/main">
              <a:ext uri="{FF2B5EF4-FFF2-40B4-BE49-F238E27FC236}">
                <a16:creationId xmlns:a16="http://schemas.microsoft.com/office/drawing/2014/main" id="{5620139F-2011-43F3-BEC2-306F67BD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3856"/>
                </a:solidFill>
              </a:defRPr>
            </a:pPr>
            <a:r>
              <a:rPr sz="1800" b="1">
                <a:solidFill>
                  <a:srgbClr val="1D3856"/>
                </a:solidFill>
              </a:rPr>
              <a:t>如何使用这张图</a:t>
            </a:r>
          </a:p>
        </p:txBody>
      </p:sp>
      <p:sp>
        <p:nvSpPr>
          <p:cNvPr id="37" name="matrix-aside-lead">
            <a:extLst xmlns:a="http://schemas.openxmlformats.org/drawingml/2006/main">
              <a:ext uri="{FF2B5EF4-FFF2-40B4-BE49-F238E27FC236}">
                <a16:creationId xmlns:a16="http://schemas.microsoft.com/office/drawing/2014/main" id="{4C93893E-4116-444E-988C-5470404E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33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4040"/>
                </a:solidFill>
              </a:defRPr>
            </a:pPr>
            <a:r>
              <a:rPr sz="1350" b="1">
                <a:solidFill>
                  <a:srgbClr val="404040"/>
                </a:solidFill>
              </a:rPr>
              <a:t>先看位置，再看行动</a:t>
            </a:r>
          </a:p>
        </p:txBody>
      </p:sp>
      <p:sp>
        <p:nvSpPr>
          <p:cNvPr id="38" name="matrix-aside-rule">
            <a:extLst xmlns:a="http://schemas.openxmlformats.org/drawingml/2006/main">
              <a:ext uri="{FF2B5EF4-FFF2-40B4-BE49-F238E27FC236}">
                <a16:creationId xmlns:a16="http://schemas.microsoft.com/office/drawing/2014/main" id="{67F6A15E-92D0-4DD0-A033-C0978BA4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14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39" name="matrix-step1">
            <a:extLst xmlns:a="http://schemas.openxmlformats.org/drawingml/2006/main">
              <a:ext uri="{FF2B5EF4-FFF2-40B4-BE49-F238E27FC236}">
                <a16:creationId xmlns:a16="http://schemas.microsoft.com/office/drawing/2014/main" id="{3C287B94-53B7-4036-9C88-B504259E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F91"/>
                </a:solidFill>
              </a:defRPr>
            </a:pPr>
            <a:r>
              <a:rPr sz="1500" b="1">
                <a:solidFill>
                  <a:srgbClr val="315F91"/>
                </a:solidFill>
              </a:rPr>
              <a:t>1</a:t>
            </a:r>
          </a:p>
        </p:txBody>
      </p:sp>
      <p:sp>
        <p:nvSpPr>
          <p:cNvPr id="40" name="matrix-step1-text">
            <a:extLst xmlns:a="http://schemas.openxmlformats.org/drawingml/2006/main">
              <a:ext uri="{FF2B5EF4-FFF2-40B4-BE49-F238E27FC236}">
                <a16:creationId xmlns:a16="http://schemas.microsoft.com/office/drawing/2014/main" id="{B8AE60F2-3297-42A1-8D05-C497B0C7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813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</a:defRPr>
            </a:pPr>
            <a:r>
              <a:rPr sz="1275">
                <a:solidFill>
                  <a:srgbClr val="404040"/>
                </a:solidFill>
              </a:rPr>
              <a:t>高频高支持：先增设辅导时段。</a:t>
            </a:r>
          </a:p>
        </p:txBody>
      </p:sp>
      <p:sp>
        <p:nvSpPr>
          <p:cNvPr id="41" name="matrix-step2">
            <a:extLst xmlns:a="http://schemas.openxmlformats.org/drawingml/2006/main">
              <a:ext uri="{FF2B5EF4-FFF2-40B4-BE49-F238E27FC236}">
                <a16:creationId xmlns:a16="http://schemas.microsoft.com/office/drawing/2014/main" id="{78C4FF26-29C0-4692-9E07-9E73F8A0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52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F91"/>
                </a:solidFill>
              </a:defRPr>
            </a:pPr>
            <a:r>
              <a:rPr sz="1500" b="1">
                <a:solidFill>
                  <a:srgbClr val="315F91"/>
                </a:solidFill>
              </a:rPr>
              <a:t>2</a:t>
            </a:r>
          </a:p>
        </p:txBody>
      </p:sp>
      <p:sp>
        <p:nvSpPr>
          <p:cNvPr id="42" name="matrix-step2-text">
            <a:extLst xmlns:a="http://schemas.openxmlformats.org/drawingml/2006/main">
              <a:ext uri="{FF2B5EF4-FFF2-40B4-BE49-F238E27FC236}">
                <a16:creationId xmlns:a16="http://schemas.microsoft.com/office/drawing/2014/main" id="{13922957-BC03-47A0-BA0E-25146C21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528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</a:defRPr>
            </a:pPr>
            <a:r>
              <a:rPr sz="1275">
                <a:solidFill>
                  <a:srgbClr val="404040"/>
                </a:solidFill>
              </a:rPr>
              <a:t>高频低支持：先完善自助说明。</a:t>
            </a:r>
          </a:p>
        </p:txBody>
      </p:sp>
      <p:sp>
        <p:nvSpPr>
          <p:cNvPr id="43" name="matrix-step3">
            <a:extLst xmlns:a="http://schemas.openxmlformats.org/drawingml/2006/main">
              <a:ext uri="{FF2B5EF4-FFF2-40B4-BE49-F238E27FC236}">
                <a16:creationId xmlns:a16="http://schemas.microsoft.com/office/drawing/2014/main" id="{8D6919C6-3497-4471-82B1-F133B7C1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24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F91"/>
                </a:solidFill>
              </a:defRPr>
            </a:pPr>
            <a:r>
              <a:rPr sz="1500" b="1">
                <a:solidFill>
                  <a:srgbClr val="315F91"/>
                </a:solidFill>
              </a:rPr>
              <a:t>3</a:t>
            </a:r>
          </a:p>
        </p:txBody>
      </p:sp>
      <p:sp>
        <p:nvSpPr>
          <p:cNvPr id="44" name="matrix-step3-text">
            <a:extLst xmlns:a="http://schemas.openxmlformats.org/drawingml/2006/main">
              <a:ext uri="{FF2B5EF4-FFF2-40B4-BE49-F238E27FC236}">
                <a16:creationId xmlns:a16="http://schemas.microsoft.com/office/drawing/2014/main" id="{D917AD37-D448-4BC2-A418-06A8551E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243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</a:defRPr>
            </a:pPr>
            <a:r>
              <a:rPr sz="1275">
                <a:solidFill>
                  <a:srgbClr val="404040"/>
                </a:solidFill>
              </a:rPr>
              <a:t>低频高支持：采用预约辅导。</a:t>
            </a:r>
          </a:p>
        </p:txBody>
      </p:sp>
      <p:sp>
        <p:nvSpPr>
          <p:cNvPr id="45" name="matrix-limit-rule">
            <a:extLst xmlns:a="http://schemas.openxmlformats.org/drawingml/2006/main">
              <a:ext uri="{FF2B5EF4-FFF2-40B4-BE49-F238E27FC236}">
                <a16:creationId xmlns:a16="http://schemas.microsoft.com/office/drawing/2014/main" id="{130A1973-17DD-4F12-A82F-7F38F810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53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46" name="matrix-limit-label">
            <a:extLst xmlns:a="http://schemas.openxmlformats.org/drawingml/2006/main">
              <a:ext uri="{FF2B5EF4-FFF2-40B4-BE49-F238E27FC236}">
                <a16:creationId xmlns:a16="http://schemas.microsoft.com/office/drawing/2014/main" id="{7A9A3EAD-F72E-4E2A-BCD3-1C9D08F9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435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3856"/>
                </a:solidFill>
              </a:defRPr>
            </a:pPr>
            <a:r>
              <a:rPr sz="1275" b="1">
                <a:solidFill>
                  <a:srgbClr val="1D3856"/>
                </a:solidFill>
              </a:rPr>
              <a:t>边界</a:t>
            </a:r>
          </a:p>
        </p:txBody>
      </p:sp>
      <p:sp>
        <p:nvSpPr>
          <p:cNvPr id="47" name="matrix-limit-text">
            <a:extLst xmlns:a="http://schemas.openxmlformats.org/drawingml/2006/main">
              <a:ext uri="{FF2B5EF4-FFF2-40B4-BE49-F238E27FC236}">
                <a16:creationId xmlns:a16="http://schemas.microsoft.com/office/drawing/2014/main" id="{AA6222FE-6E52-4432-9A0C-F9DA0091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054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04040"/>
                </a:solidFill>
              </a:defRPr>
            </a:pPr>
            <a:r>
              <a:rPr sz="1125">
                <a:solidFill>
                  <a:srgbClr val="404040"/>
                </a:solidFill>
              </a:rPr>
              <a:t>50 为本次讨论分界；点位不表示成本、设备价值或真实利用率。</a:t>
            </a:r>
          </a:p>
        </p:txBody>
      </p:sp>
      <p:sp>
        <p:nvSpPr>
          <p:cNvPr id="48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1A99BC44-8371-4A5B-8B43-48851DA5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9" name="footer-note-4">
            <a:extLst xmlns:a="http://schemas.openxmlformats.org/drawingml/2006/main">
              <a:ext uri="{FF2B5EF4-FFF2-40B4-BE49-F238E27FC236}">
                <a16:creationId xmlns:a16="http://schemas.microsoft.com/office/drawing/2014/main" id="{0E377F19-42E6-406B-9BCE-1708CD69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模拟数据，仅用于方案讨论</a:t>
            </a:r>
          </a:p>
        </p:txBody>
      </p:sp>
      <p:sp>
        <p:nvSpPr>
          <p:cNvPr id="50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0F1F1DC4-1791-42FD-9B6E-2FDAAC08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62725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大学共享仪器服务改进  ·  04</a:t>
            </a:r>
          </a:p>
        </p:txBody>
      </p:sp>
    </p:spTree>
    <p:extLst>
      <p:ext uri="{BB962C8B-B14F-4D97-AF65-F5344CB8AC3E}">
        <p14:creationId xmlns:p14="http://schemas.microsoft.com/office/powerpoint/2010/main" val="338561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2026-09-07T05:34:36.1610000Z</dcterms:created>
  <dcterms:modified xsi:type="dcterms:W3CDTF">2026-09-07T05:34:36.1610000Z</dcterms:modified>
</coreProperties>
</file>