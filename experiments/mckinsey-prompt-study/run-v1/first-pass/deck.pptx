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93622d7fa94009" /><Relationship Type="http://schemas.openxmlformats.org/officeDocument/2006/relationships/extended-properties" Target="/docProps/app.xml" Id="R451a235f01394365" /><Relationship Type="http://schemas.openxmlformats.org/officeDocument/2006/relationships/officeDocument" Target="/ppt/presentation.xml" Id="Rdd6ed443badc4d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bcf9a88861484f"/>
  </p:sldMasterIdLst>
  <p:notesMasterIdLst>
    <p:notesMasterId xmlns:r="http://schemas.openxmlformats.org/officeDocument/2006/relationships" r:id="Ra5aa5ed201be4897"/>
  </p:notesMasterIdLst>
  <p:sldIdLst>
    <p:sldId xmlns:r="http://schemas.openxmlformats.org/officeDocument/2006/relationships" id="256" r:id="R8a434f28d9214082"/>
    <p:sldId xmlns:r="http://schemas.openxmlformats.org/officeDocument/2006/relationships" id="257" r:id="R593f92bd4e2c4689"/>
    <p:sldId xmlns:r="http://schemas.openxmlformats.org/officeDocument/2006/relationships" id="258" r:id="Rbefde2e925754929"/>
    <p:sldId xmlns:r="http://schemas.openxmlformats.org/officeDocument/2006/relationships" id="259" r:id="R5f8496edf06844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3a6c1725ba4def" /><Relationship Type="http://schemas.openxmlformats.org/officeDocument/2006/relationships/slideMaster" Target="/ppt/slideMasters/slideMaster1.xml" Id="R7cbcf9a88861484f" /><Relationship Type="http://schemas.openxmlformats.org/officeDocument/2006/relationships/notesMaster" Target="/ppt/notesMasters/notesMaster1.xml" Id="Ra5aa5ed201be4897" /><Relationship Type="http://schemas.openxmlformats.org/officeDocument/2006/relationships/presProps" Target="/ppt/presProps.xml" Id="Rd4a701d980074c63" /><Relationship Type="http://schemas.openxmlformats.org/officeDocument/2006/relationships/tableStyles" Target="/ppt/tableStyles.xml" Id="Reb7a90c8ad2849a5" /><Relationship Type="http://schemas.openxmlformats.org/officeDocument/2006/relationships/slide" Target="/ppt/slides/slide1.xml" Id="R8a434f28d9214082" /><Relationship Type="http://schemas.openxmlformats.org/officeDocument/2006/relationships/slide" Target="/ppt/slides/slide2.xml" Id="R593f92bd4e2c4689" /><Relationship Type="http://schemas.openxmlformats.org/officeDocument/2006/relationships/slide" Target="/ppt/slides/slide3.xml" Id="Rbefde2e925754929" /><Relationship Type="http://schemas.openxmlformats.org/officeDocument/2006/relationships/slide" Target="/ppt/slides/slide4.xml" Id="R5f8496edf06844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ed568c63ab4c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c3e656e477488f" /><Relationship Type="http://schemas.openxmlformats.org/officeDocument/2006/relationships/notesMaster" Target="/ppt/notesMasters/notesMaster1.xml" Id="Rcad06c9adf7b40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12f952ec534cf3" /><Relationship Type="http://schemas.openxmlformats.org/officeDocument/2006/relationships/notesMaster" Target="/ppt/notesMasters/notesMaster1.xml" Id="Ra0d828cf20974b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86070132704617" /><Relationship Type="http://schemas.openxmlformats.org/officeDocument/2006/relationships/notesMaster" Target="/ppt/notesMasters/notesMaster1.xml" Id="R359d30aa53ca4f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765fada5c943d0" /><Relationship Type="http://schemas.openxmlformats.org/officeDocument/2006/relationships/notesMaster" Target="/ppt/notesMasters/notesMaster1.xml" Id="R16f81c62b13241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本轮原稿 experiments/mckinsey-prompt-study/manuscript.md，第 1 节；数字为风格测试构造的模拟数据。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本轮原稿 experiments/mckinsey-prompt-study/manuscript.md，第 2 节；模拟多选问卷，校内 100 人、校外 100 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本轮原稿 experiments/mckinsey-prompt-study/manuscript.md，第 3 节；三阶段为拟议试点，指标无预设数值。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本轮原稿 experiments/mckinsey-prompt-study/manuscript.md，第 4 节；二维点位为模拟诊断数据，0—100 仅为本次讨论尺度。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4f00b588e142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740a3374d5408d" /><Relationship Type="http://schemas.openxmlformats.org/officeDocument/2006/relationships/slideLayout" Target="/ppt/slideLayouts/slideLayout1.xml" Id="Rb787e38320a34d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87e38320a34d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2c119126a4d76" /><Relationship Type="http://schemas.openxmlformats.org/officeDocument/2006/relationships/notesSlide" Target="/ppt/notesSlides/notesSlide1.xml" Id="R2a9cb7e395c14b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4b137d6cf4da1" /><Relationship Type="http://schemas.openxmlformats.org/officeDocument/2006/relationships/notesSlide" Target="/ppt/notesSlides/notesSlide2.xml" Id="R9910b38fb97548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33a627c7e46d2" /><Relationship Type="http://schemas.openxmlformats.org/officeDocument/2006/relationships/notesSlide" Target="/ppt/notesSlides/notesSlide3.xml" Id="Rdf40bee9636a45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d9cfe4f7349ec" /><Relationship Type="http://schemas.openxmlformats.org/officeDocument/2006/relationships/notesSlide" Target="/ppt/notesSlides/notesSlide4.xml" Id="Rc14fb842a8cc4f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kicker-1">
            <a:extLst xmlns:a="http://schemas.openxmlformats.org/drawingml/2006/main">
              <a:ext uri="{FF2B5EF4-FFF2-40B4-BE49-F238E27FC236}">
                <a16:creationId xmlns:a16="http://schemas.microsoft.com/office/drawing/2014/main" id="{0D4FDEED-6FD7-4B6C-AB63-96DD4457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F91"/>
                </a:solidFill>
              </a:defRPr>
            </a:pPr>
            <a:r>
              <a:rPr sz="1125" b="1">
                <a:solidFill>
                  <a:srgbClr val="315F91"/>
                </a:solidFill>
              </a:rPr>
              <a:t>大学共享仪器服务改进</a:t>
            </a:r>
          </a:p>
        </p:txBody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B1083678-8E49-47F0-9381-F3449C98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B2B2B"/>
                </a:solidFill>
              </a:defRPr>
            </a:pPr>
            <a:r>
              <a:rPr sz="2850" b="1">
                <a:solidFill>
                  <a:srgbClr val="2B2B2B"/>
                </a:solidFill>
              </a:rPr>
              <a:t>预约量持续增长，但平均等待下降仍需拆分观察</a:t>
            </a:r>
          </a:p>
        </p:txBody>
      </p:sp>
      <p:sp>
        <p:nvSpPr>
          <p:cNvPr id="3" name="rule-1">
            <a:extLst xmlns:a="http://schemas.openxmlformats.org/drawingml/2006/main">
              <a:ext uri="{FF2B5EF4-FFF2-40B4-BE49-F238E27FC236}">
                <a16:creationId xmlns:a16="http://schemas.microsoft.com/office/drawing/2014/main" id="{71A6E3B7-2DD3-48C9-9EB1-EE32D87C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3981EB7E-B5C9-4CA3-AD1D-333503C9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F6F6F"/>
                </a:solidFill>
              </a:defRPr>
            </a:pPr>
            <a:r>
              <a:rPr sz="1050">
                <a:solidFill>
                  <a:srgbClr val="6F6F6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0D29F-1BD5-4702-8924-75266D3A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04040"/>
                </a:solidFill>
              </a:defRPr>
            </a:pPr>
            <a:r>
              <a:rPr sz="1650">
                <a:solidFill>
                  <a:srgbClr val="404040"/>
                </a:solidFill>
              </a:rPr>
              <a:t>2023—2025 同时观察到：完成量 +60%，中位等待 8→6 天</a:t>
            </a:r>
          </a:p>
        </p:txBody>
      </p:sp>
      <p:sp>
        <p:nvSpPr>
          <p:cNvPr id="6" name="trend-frame">
            <a:extLst xmlns:a="http://schemas.openxmlformats.org/drawingml/2006/main">
              <a:ext uri="{FF2B5EF4-FFF2-40B4-BE49-F238E27FC236}">
                <a16:creationId xmlns:a16="http://schemas.microsoft.com/office/drawing/2014/main" id="{48A3D22A-B99F-47D2-97B4-D7151A0F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6858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7" name="trend-title">
            <a:extLst xmlns:a="http://schemas.openxmlformats.org/drawingml/2006/main">
              <a:ext uri="{FF2B5EF4-FFF2-40B4-BE49-F238E27FC236}">
                <a16:creationId xmlns:a16="http://schemas.microsoft.com/office/drawing/2014/main" id="{CEB37CCB-2B05-4806-AFA0-BD0897B0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B2B2B"/>
                </a:solidFill>
              </a:defRPr>
            </a:pPr>
            <a:r>
              <a:rPr sz="1725" b="1">
                <a:solidFill>
                  <a:srgbClr val="2B2B2B"/>
                </a:solidFill>
              </a:rPr>
              <a:t>完成量与等待时间的同向变化</a:t>
            </a:r>
          </a:p>
        </p:txBody>
      </p:sp>
      <p:sp>
        <p:nvSpPr>
          <p:cNvPr id="8" name="trend-subtitle">
            <a:extLst xmlns:a="http://schemas.openxmlformats.org/drawingml/2006/main">
              <a:ext uri="{FF2B5EF4-FFF2-40B4-BE49-F238E27FC236}">
                <a16:creationId xmlns:a16="http://schemas.microsoft.com/office/drawing/2014/main" id="{4D787A0B-175C-46F0-A023-E6126B33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F6F6F"/>
                </a:solidFill>
              </a:defRPr>
            </a:pPr>
            <a:r>
              <a:rPr sz="1200">
                <a:solidFill>
                  <a:srgbClr val="6F6F6F"/>
                </a:solidFill>
              </a:rPr>
              <a:t>柱 = 预约完成量（单）  ·  线 = 中位等待（天）</a:t>
            </a:r>
          </a:p>
        </p:txBody>
      </p:sp>
      <p:sp>
        <p:nvSpPr>
          <p:cNvPr id="9" name="trend-grid-0">
            <a:extLst xmlns:a="http://schemas.openxmlformats.org/drawingml/2006/main">
              <a:ext uri="{FF2B5EF4-FFF2-40B4-BE49-F238E27FC236}">
                <a16:creationId xmlns:a16="http://schemas.microsoft.com/office/drawing/2014/main" id="{F27016BC-703C-4496-A9CC-9EA5F517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956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10" name="trend-left-0">
            <a:extLst xmlns:a="http://schemas.openxmlformats.org/drawingml/2006/main">
              <a:ext uri="{FF2B5EF4-FFF2-40B4-BE49-F238E27FC236}">
                <a16:creationId xmlns:a16="http://schemas.microsoft.com/office/drawing/2014/main" id="{E7388F7C-8750-40B5-BEA3-D73CBC3C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2200</a:t>
            </a:r>
          </a:p>
        </p:txBody>
      </p:sp>
      <p:sp>
        <p:nvSpPr>
          <p:cNvPr id="11" name="trend-right-0">
            <a:extLst xmlns:a="http://schemas.openxmlformats.org/drawingml/2006/main">
              <a:ext uri="{FF2B5EF4-FFF2-40B4-BE49-F238E27FC236}">
                <a16:creationId xmlns:a16="http://schemas.microsoft.com/office/drawing/2014/main" id="{FB7FE660-EA30-42A9-974A-D4CB2C46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003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10</a:t>
            </a:r>
          </a:p>
        </p:txBody>
      </p:sp>
      <p:sp>
        <p:nvSpPr>
          <p:cNvPr id="12" name="trend-grid-1">
            <a:extLst xmlns:a="http://schemas.openxmlformats.org/drawingml/2006/main">
              <a:ext uri="{FF2B5EF4-FFF2-40B4-BE49-F238E27FC236}">
                <a16:creationId xmlns:a16="http://schemas.microsoft.com/office/drawing/2014/main" id="{5EEA5C05-50DD-496F-B8E2-0C2B7789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71863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13" name="trend-left-1">
            <a:extLst xmlns:a="http://schemas.openxmlformats.org/drawingml/2006/main">
              <a:ext uri="{FF2B5EF4-FFF2-40B4-BE49-F238E27FC236}">
                <a16:creationId xmlns:a16="http://schemas.microsoft.com/office/drawing/2014/main" id="{B0423CB5-4BD4-450B-A8FE-490EA8A9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6613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1650</a:t>
            </a:r>
          </a:p>
        </p:txBody>
      </p:sp>
      <p:sp>
        <p:nvSpPr>
          <p:cNvPr id="14" name="trend-right-1">
            <a:extLst xmlns:a="http://schemas.openxmlformats.org/drawingml/2006/main">
              <a:ext uri="{FF2B5EF4-FFF2-40B4-BE49-F238E27FC236}">
                <a16:creationId xmlns:a16="http://schemas.microsoft.com/office/drawing/2014/main" id="{C2B9A054-3602-46DA-BCFC-F34D4F70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76613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8</a:t>
            </a:r>
          </a:p>
        </p:txBody>
      </p:sp>
      <p:sp>
        <p:nvSpPr>
          <p:cNvPr id="15" name="trend-grid-2">
            <a:extLst xmlns:a="http://schemas.openxmlformats.org/drawingml/2006/main">
              <a:ext uri="{FF2B5EF4-FFF2-40B4-BE49-F238E27FC236}">
                <a16:creationId xmlns:a16="http://schemas.microsoft.com/office/drawing/2014/main" id="{CE008AC4-F75C-4902-BC48-5E1C959A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48125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16" name="trend-left-2">
            <a:extLst xmlns:a="http://schemas.openxmlformats.org/drawingml/2006/main">
              <a:ext uri="{FF2B5EF4-FFF2-40B4-BE49-F238E27FC236}">
                <a16:creationId xmlns:a16="http://schemas.microsoft.com/office/drawing/2014/main" id="{E3836FFF-D942-4B2B-92F2-FABDA34A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1100</a:t>
            </a:r>
          </a:p>
        </p:txBody>
      </p:sp>
      <p:sp>
        <p:nvSpPr>
          <p:cNvPr id="17" name="trend-right-2">
            <a:extLst xmlns:a="http://schemas.openxmlformats.org/drawingml/2006/main">
              <a:ext uri="{FF2B5EF4-FFF2-40B4-BE49-F238E27FC236}">
                <a16:creationId xmlns:a16="http://schemas.microsoft.com/office/drawing/2014/main" id="{6B6DB2F0-3981-429E-AC46-97BD7E18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528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5</a:t>
            </a:r>
          </a:p>
        </p:txBody>
      </p:sp>
      <p:sp>
        <p:nvSpPr>
          <p:cNvPr id="18" name="trend-grid-3">
            <a:extLst xmlns:a="http://schemas.openxmlformats.org/drawingml/2006/main">
              <a:ext uri="{FF2B5EF4-FFF2-40B4-BE49-F238E27FC236}">
                <a16:creationId xmlns:a16="http://schemas.microsoft.com/office/drawing/2014/main" id="{A5F63F82-1E59-460A-BD50-7D690D70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24388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19" name="trend-left-3">
            <a:extLst xmlns:a="http://schemas.openxmlformats.org/drawingml/2006/main">
              <a:ext uri="{FF2B5EF4-FFF2-40B4-BE49-F238E27FC236}">
                <a16:creationId xmlns:a16="http://schemas.microsoft.com/office/drawing/2014/main" id="{4582FA8C-B414-4104-A9D0-74E4138A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29138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550</a:t>
            </a:r>
          </a:p>
        </p:txBody>
      </p:sp>
      <p:sp>
        <p:nvSpPr>
          <p:cNvPr id="20" name="trend-right-3">
            <a:extLst xmlns:a="http://schemas.openxmlformats.org/drawingml/2006/main">
              <a:ext uri="{FF2B5EF4-FFF2-40B4-BE49-F238E27FC236}">
                <a16:creationId xmlns:a16="http://schemas.microsoft.com/office/drawing/2014/main" id="{C88BB337-03BB-43EF-BBBC-FAC7BD7B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29138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3</a:t>
            </a:r>
          </a:p>
        </p:txBody>
      </p:sp>
      <p:sp>
        <p:nvSpPr>
          <p:cNvPr id="21" name="trend-grid-4">
            <a:extLst xmlns:a="http://schemas.openxmlformats.org/drawingml/2006/main">
              <a:ext uri="{FF2B5EF4-FFF2-40B4-BE49-F238E27FC236}">
                <a16:creationId xmlns:a16="http://schemas.microsoft.com/office/drawing/2014/main" id="{80E00AFD-D286-4677-B88E-CDEBC036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0065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DF2"/>
            </a:solidFill>
            <a:prstDash val="solid"/>
          </a:ln>
        </p:spPr>
      </p:sp>
      <p:sp>
        <p:nvSpPr>
          <p:cNvPr id="22" name="trend-left-4">
            <a:extLst xmlns:a="http://schemas.openxmlformats.org/drawingml/2006/main">
              <a:ext uri="{FF2B5EF4-FFF2-40B4-BE49-F238E27FC236}">
                <a16:creationId xmlns:a16="http://schemas.microsoft.com/office/drawing/2014/main" id="{1708B820-74ED-4C65-A6CA-52BA55BB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0</a:t>
            </a:r>
          </a:p>
        </p:txBody>
      </p:sp>
      <p:sp>
        <p:nvSpPr>
          <p:cNvPr id="23" name="trend-right-4">
            <a:extLst xmlns:a="http://schemas.openxmlformats.org/drawingml/2006/main">
              <a:ext uri="{FF2B5EF4-FFF2-40B4-BE49-F238E27FC236}">
                <a16:creationId xmlns:a16="http://schemas.microsoft.com/office/drawing/2014/main" id="{1F0CE907-1289-438B-A4D2-799ECFBC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054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0</a:t>
            </a:r>
          </a:p>
        </p:txBody>
      </p:sp>
      <p:sp>
        <p:nvSpPr>
          <p:cNvPr id="24" name="trend-axis-y">
            <a:extLst xmlns:a="http://schemas.openxmlformats.org/drawingml/2006/main">
              <a:ext uri="{FF2B5EF4-FFF2-40B4-BE49-F238E27FC236}">
                <a16:creationId xmlns:a16="http://schemas.microsoft.com/office/drawing/2014/main" id="{8BC69665-A6E4-441E-AB40-849CD97D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95600"/>
            <a:ext cx="0" cy="2305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7A8C9E"/>
            </a:solidFill>
            <a:prstDash val="solid"/>
          </a:ln>
        </p:spPr>
      </p:sp>
      <p:sp>
        <p:nvSpPr>
          <p:cNvPr id="25" name="trend-axis-x">
            <a:extLst xmlns:a="http://schemas.openxmlformats.org/drawingml/2006/main">
              <a:ext uri="{FF2B5EF4-FFF2-40B4-BE49-F238E27FC236}">
                <a16:creationId xmlns:a16="http://schemas.microsoft.com/office/drawing/2014/main" id="{F90288F4-1B14-44FF-862C-BB219971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0065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7A8C9E"/>
            </a:solidFill>
            <a:prstDash val="solid"/>
          </a:ln>
        </p:spPr>
      </p:sp>
      <p:sp>
        <p:nvSpPr>
          <p:cNvPr id="26" name="bar-2023">
            <a:extLst xmlns:a="http://schemas.openxmlformats.org/drawingml/2006/main">
              <a:ext uri="{FF2B5EF4-FFF2-40B4-BE49-F238E27FC236}">
                <a16:creationId xmlns:a16="http://schemas.microsoft.com/office/drawing/2014/main" id="{94A34941-A3DE-437F-99D7-C745E751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943350"/>
            <a:ext cx="609600" cy="12573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7" name="bar-label-2023">
            <a:extLst xmlns:a="http://schemas.openxmlformats.org/drawingml/2006/main">
              <a:ext uri="{FF2B5EF4-FFF2-40B4-BE49-F238E27FC236}">
                <a16:creationId xmlns:a16="http://schemas.microsoft.com/office/drawing/2014/main" id="{C68B14AB-5D40-4906-B957-C555EBEF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957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3856"/>
                </a:solidFill>
              </a:defRPr>
            </a:pPr>
            <a:r>
              <a:rPr sz="1125" b="1">
                <a:solidFill>
                  <a:srgbClr val="1D3856"/>
                </a:solidFill>
              </a:rPr>
              <a:t>1,200</a:t>
            </a:r>
          </a:p>
        </p:txBody>
      </p:sp>
      <p:sp>
        <p:nvSpPr>
          <p:cNvPr id="28" name="point-2023">
            <a:extLst xmlns:a="http://schemas.openxmlformats.org/drawingml/2006/main">
              <a:ext uri="{FF2B5EF4-FFF2-40B4-BE49-F238E27FC236}">
                <a16:creationId xmlns:a16="http://schemas.microsoft.com/office/drawing/2014/main" id="{608C654D-13A8-4941-8939-692534CA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28041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6B3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point-label-2023">
            <a:extLst xmlns:a="http://schemas.openxmlformats.org/drawingml/2006/main">
              <a:ext uri="{FF2B5EF4-FFF2-40B4-BE49-F238E27FC236}">
                <a16:creationId xmlns:a16="http://schemas.microsoft.com/office/drawing/2014/main" id="{19E788D5-EC9D-4CD2-9E4E-232AEC8C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03276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36B32"/>
                </a:solidFill>
              </a:defRPr>
            </a:pPr>
            <a:r>
              <a:rPr sz="1125" b="1">
                <a:solidFill>
                  <a:srgbClr val="B36B32"/>
                </a:solidFill>
              </a:rPr>
              <a:t>8天</a:t>
            </a:r>
          </a:p>
        </p:txBody>
      </p:sp>
      <p:sp>
        <p:nvSpPr>
          <p:cNvPr id="30" name="year-2023">
            <a:extLst xmlns:a="http://schemas.openxmlformats.org/drawingml/2006/main">
              <a:ext uri="{FF2B5EF4-FFF2-40B4-BE49-F238E27FC236}">
                <a16:creationId xmlns:a16="http://schemas.microsoft.com/office/drawing/2014/main" id="{1D4BECBE-45A4-4B8E-A268-463302A7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353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404040"/>
                </a:solidFill>
              </a:defRPr>
            </a:pPr>
            <a:r>
              <a:rPr sz="1125">
                <a:solidFill>
                  <a:srgbClr val="404040"/>
                </a:solidFill>
              </a:rPr>
              <a:t>2023</a:t>
            </a:r>
          </a:p>
        </p:txBody>
      </p:sp>
      <p:sp>
        <p:nvSpPr>
          <p:cNvPr id="31" name="bar-2024">
            <a:extLst xmlns:a="http://schemas.openxmlformats.org/drawingml/2006/main">
              <a:ext uri="{FF2B5EF4-FFF2-40B4-BE49-F238E27FC236}">
                <a16:creationId xmlns:a16="http://schemas.microsoft.com/office/drawing/2014/main" id="{A0410F9F-09B3-4F82-AE14-CA93AFCC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566160"/>
            <a:ext cx="609600" cy="163449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2" name="bar-label-2024">
            <a:extLst xmlns:a="http://schemas.openxmlformats.org/drawingml/2006/main">
              <a:ext uri="{FF2B5EF4-FFF2-40B4-BE49-F238E27FC236}">
                <a16:creationId xmlns:a16="http://schemas.microsoft.com/office/drawing/2014/main" id="{A2E0D112-F968-4B5A-9938-1BD8D8CC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1851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3856"/>
                </a:solidFill>
              </a:defRPr>
            </a:pPr>
            <a:r>
              <a:rPr sz="1125" b="1">
                <a:solidFill>
                  <a:srgbClr val="1D3856"/>
                </a:solidFill>
              </a:rPr>
              <a:t>1,560</a:t>
            </a:r>
          </a:p>
        </p:txBody>
      </p:sp>
      <p:sp>
        <p:nvSpPr>
          <p:cNvPr id="33" name="point-2024">
            <a:extLst xmlns:a="http://schemas.openxmlformats.org/drawingml/2006/main">
              <a:ext uri="{FF2B5EF4-FFF2-40B4-BE49-F238E27FC236}">
                <a16:creationId xmlns:a16="http://schemas.microsoft.com/office/drawing/2014/main" id="{981E25E2-2FB8-4DB2-9F30-90D7043C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51091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6B3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point-label-2024">
            <a:extLst xmlns:a="http://schemas.openxmlformats.org/drawingml/2006/main">
              <a:ext uri="{FF2B5EF4-FFF2-40B4-BE49-F238E27FC236}">
                <a16:creationId xmlns:a16="http://schemas.microsoft.com/office/drawing/2014/main" id="{9FD32623-BD96-4543-800A-344CD570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263265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36B32"/>
                </a:solidFill>
              </a:defRPr>
            </a:pPr>
            <a:r>
              <a:rPr sz="1125" b="1">
                <a:solidFill>
                  <a:srgbClr val="B36B32"/>
                </a:solidFill>
              </a:rPr>
              <a:t>7天</a:t>
            </a:r>
          </a:p>
        </p:txBody>
      </p:sp>
      <p:sp>
        <p:nvSpPr>
          <p:cNvPr id="35" name="year-2024">
            <a:extLst xmlns:a="http://schemas.openxmlformats.org/drawingml/2006/main">
              <a:ext uri="{FF2B5EF4-FFF2-40B4-BE49-F238E27FC236}">
                <a16:creationId xmlns:a16="http://schemas.microsoft.com/office/drawing/2014/main" id="{D2119B08-49B0-4875-9F8A-90EB06C8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353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404040"/>
                </a:solidFill>
              </a:defRPr>
            </a:pPr>
            <a:r>
              <a:rPr sz="1125">
                <a:solidFill>
                  <a:srgbClr val="404040"/>
                </a:solidFill>
              </a:rPr>
              <a:t>2024</a:t>
            </a:r>
          </a:p>
        </p:txBody>
      </p:sp>
      <p:sp>
        <p:nvSpPr>
          <p:cNvPr id="36" name="bar-2025">
            <a:extLst xmlns:a="http://schemas.openxmlformats.org/drawingml/2006/main">
              <a:ext uri="{FF2B5EF4-FFF2-40B4-BE49-F238E27FC236}">
                <a16:creationId xmlns:a16="http://schemas.microsoft.com/office/drawing/2014/main" id="{B8E2FE16-5E08-4AE9-9A4A-8B04F527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188970"/>
            <a:ext cx="609600" cy="201168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7" name="bar-label-2025">
            <a:extLst xmlns:a="http://schemas.openxmlformats.org/drawingml/2006/main">
              <a:ext uri="{FF2B5EF4-FFF2-40B4-BE49-F238E27FC236}">
                <a16:creationId xmlns:a16="http://schemas.microsoft.com/office/drawing/2014/main" id="{D3C66E05-2C0E-43B4-90FC-E4E8AEF5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4132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3856"/>
                </a:solidFill>
              </a:defRPr>
            </a:pPr>
            <a:r>
              <a:rPr sz="1125" b="1">
                <a:solidFill>
                  <a:srgbClr val="1D3856"/>
                </a:solidFill>
              </a:rPr>
              <a:t>1,920</a:t>
            </a:r>
          </a:p>
        </p:txBody>
      </p:sp>
      <p:sp>
        <p:nvSpPr>
          <p:cNvPr id="38" name="point-2025">
            <a:extLst xmlns:a="http://schemas.openxmlformats.org/drawingml/2006/main">
              <a:ext uri="{FF2B5EF4-FFF2-40B4-BE49-F238E27FC236}">
                <a16:creationId xmlns:a16="http://schemas.microsoft.com/office/drawing/2014/main" id="{CAFD8842-EBB4-496F-AF09-C092CDF5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74142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6B3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9" name="point-label-2025">
            <a:extLst xmlns:a="http://schemas.openxmlformats.org/drawingml/2006/main">
              <a:ext uri="{FF2B5EF4-FFF2-40B4-BE49-F238E27FC236}">
                <a16:creationId xmlns:a16="http://schemas.microsoft.com/office/drawing/2014/main" id="{5EE0C292-12E5-452D-BB18-CDCA3BF1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49377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36B32"/>
                </a:solidFill>
              </a:defRPr>
            </a:pPr>
            <a:r>
              <a:rPr sz="1125" b="1">
                <a:solidFill>
                  <a:srgbClr val="B36B32"/>
                </a:solidFill>
              </a:rPr>
              <a:t>6天</a:t>
            </a:r>
          </a:p>
        </p:txBody>
      </p:sp>
      <p:sp>
        <p:nvSpPr>
          <p:cNvPr id="40" name="year-2025">
            <a:extLst xmlns:a="http://schemas.openxmlformats.org/drawingml/2006/main">
              <a:ext uri="{FF2B5EF4-FFF2-40B4-BE49-F238E27FC236}">
                <a16:creationId xmlns:a16="http://schemas.microsoft.com/office/drawing/2014/main" id="{F7B14B16-2B8F-4831-91D5-2BDBA543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3530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404040"/>
                </a:solidFill>
              </a:defRPr>
            </a:pPr>
            <a:r>
              <a:rPr sz="1125">
                <a:solidFill>
                  <a:srgbClr val="404040"/>
                </a:solidFill>
              </a:rPr>
              <a:t>2025</a:t>
            </a:r>
          </a:p>
        </p:txBody>
      </p:sp>
      <p:sp>
        <p:nvSpPr>
          <p:cNvPr id="41" name="wait-line-1">
            <a:extLst xmlns:a="http://schemas.openxmlformats.org/drawingml/2006/main">
              <a:ext uri="{FF2B5EF4-FFF2-40B4-BE49-F238E27FC236}">
                <a16:creationId xmlns:a16="http://schemas.microsoft.com/office/drawing/2014/main" id="{32155825-18E2-4FDD-8BA5-5407B897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356610"/>
            <a:ext cx="1714500" cy="2305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36B32"/>
            </a:solidFill>
            <a:prstDash val="solid"/>
          </a:ln>
        </p:spPr>
      </p:sp>
      <p:sp>
        <p:nvSpPr>
          <p:cNvPr id="42" name="wait-line-2">
            <a:extLst xmlns:a="http://schemas.openxmlformats.org/drawingml/2006/main">
              <a:ext uri="{FF2B5EF4-FFF2-40B4-BE49-F238E27FC236}">
                <a16:creationId xmlns:a16="http://schemas.microsoft.com/office/drawing/2014/main" id="{CF4F5101-E82B-4F01-9053-0CF6CF58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587115"/>
            <a:ext cx="1714500" cy="2305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36B32"/>
            </a:solidFill>
            <a:prstDash val="solid"/>
          </a:ln>
        </p:spPr>
      </p:sp>
      <p:sp>
        <p:nvSpPr>
          <p:cNvPr id="43" name="trend-axis-left-label">
            <a:extLst xmlns:a="http://schemas.openxmlformats.org/drawingml/2006/main">
              <a:ext uri="{FF2B5EF4-FFF2-40B4-BE49-F238E27FC236}">
                <a16:creationId xmlns:a16="http://schemas.microsoft.com/office/drawing/2014/main" id="{C6F21D84-501A-4DAF-AE91-55C62BE9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15F91"/>
                </a:solidFill>
              </a:defRPr>
            </a:pPr>
            <a:r>
              <a:rPr sz="1050">
                <a:solidFill>
                  <a:srgbClr val="315F91"/>
                </a:solidFill>
              </a:rPr>
              <a:t>预约完成量（单）</a:t>
            </a:r>
          </a:p>
        </p:txBody>
      </p:sp>
      <p:sp>
        <p:nvSpPr>
          <p:cNvPr id="44" name="trend-axis-right-label">
            <a:extLst xmlns:a="http://schemas.openxmlformats.org/drawingml/2006/main">
              <a:ext uri="{FF2B5EF4-FFF2-40B4-BE49-F238E27FC236}">
                <a16:creationId xmlns:a16="http://schemas.microsoft.com/office/drawing/2014/main" id="{0D4385AF-775C-4A22-8440-FBD79E10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863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B36B32"/>
                </a:solidFill>
              </a:defRPr>
            </a:pPr>
            <a:r>
              <a:rPr sz="1050">
                <a:solidFill>
                  <a:srgbClr val="B36B32"/>
                </a:solidFill>
              </a:rPr>
              <a:t>中位等待（天）</a:t>
            </a:r>
          </a:p>
        </p:txBody>
      </p:sp>
      <p:sp>
        <p:nvSpPr>
          <p:cNvPr id="45" name="trend-aside">
            <a:extLst xmlns:a="http://schemas.openxmlformats.org/drawingml/2006/main">
              <a:ext uri="{FF2B5EF4-FFF2-40B4-BE49-F238E27FC236}">
                <a16:creationId xmlns:a16="http://schemas.microsoft.com/office/drawing/2014/main" id="{1D2F0BAC-E75A-4950-B1AB-EE340CD5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90700"/>
            <a:ext cx="3886200" cy="400050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46" name="trend-aside-title">
            <a:extLst xmlns:a="http://schemas.openxmlformats.org/drawingml/2006/main">
              <a:ext uri="{FF2B5EF4-FFF2-40B4-BE49-F238E27FC236}">
                <a16:creationId xmlns:a16="http://schemas.microsoft.com/office/drawing/2014/main" id="{D1366B56-919D-4569-9AFB-52F1EE5D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764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3856"/>
                </a:solidFill>
              </a:defRPr>
            </a:pPr>
            <a:r>
              <a:rPr sz="1800" b="1">
                <a:solidFill>
                  <a:srgbClr val="1D3856"/>
                </a:solidFill>
              </a:rPr>
              <a:t>这组变化说明什么</a:t>
            </a:r>
          </a:p>
        </p:txBody>
      </p:sp>
      <p:sp>
        <p:nvSpPr>
          <p:cNvPr id="47" name="bullet-282">
            <a:extLst xmlns:a="http://schemas.openxmlformats.org/drawingml/2006/main">
              <a:ext uri="{FF2B5EF4-FFF2-40B4-BE49-F238E27FC236}">
                <a16:creationId xmlns:a16="http://schemas.microsoft.com/office/drawing/2014/main" id="{D48CFB04-0C72-4E95-A739-D2C66C80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33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8" name="bullet-label-282">
            <a:extLst xmlns:a="http://schemas.openxmlformats.org/drawingml/2006/main">
              <a:ext uri="{FF2B5EF4-FFF2-40B4-BE49-F238E27FC236}">
                <a16:creationId xmlns:a16="http://schemas.microsoft.com/office/drawing/2014/main" id="{1777A97E-5473-4F5B-8078-1FB1C460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670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F6F6F"/>
                </a:solidFill>
              </a:defRPr>
            </a:pPr>
            <a:r>
              <a:rPr sz="1350" b="1">
                <a:solidFill>
                  <a:srgbClr val="6F6F6F"/>
                </a:solidFill>
              </a:rPr>
              <a:t>完成量</a:t>
            </a:r>
          </a:p>
        </p:txBody>
      </p:sp>
      <p:sp>
        <p:nvSpPr>
          <p:cNvPr id="49" name="bullet-value-282">
            <a:extLst xmlns:a="http://schemas.openxmlformats.org/drawingml/2006/main">
              <a:ext uri="{FF2B5EF4-FFF2-40B4-BE49-F238E27FC236}">
                <a16:creationId xmlns:a16="http://schemas.microsoft.com/office/drawing/2014/main" id="{D297E5E5-CC2F-4D69-882B-73191679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670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B2B2B"/>
                </a:solidFill>
              </a:defRPr>
            </a:pPr>
            <a:r>
              <a:rPr sz="1350">
                <a:solidFill>
                  <a:srgbClr val="2B2B2B"/>
                </a:solidFill>
              </a:rPr>
              <a:t>1,200 → 1,920 单</a:t>
            </a:r>
          </a:p>
        </p:txBody>
      </p:sp>
      <p:sp>
        <p:nvSpPr>
          <p:cNvPr id="50" name="bullet-342">
            <a:extLst xmlns:a="http://schemas.openxmlformats.org/drawingml/2006/main">
              <a:ext uri="{FF2B5EF4-FFF2-40B4-BE49-F238E27FC236}">
                <a16:creationId xmlns:a16="http://schemas.microsoft.com/office/drawing/2014/main" id="{0594BAF8-1DB2-4CAA-A697-7993B5C7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05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6B32"/>
          </a:solidFill>
          <a:ln xmlns:a="http://schemas.openxmlformats.org/drawingml/2006/main" w="0">
            <a:solidFill>
              <a:srgbClr val="B36B32"/>
            </a:solidFill>
            <a:prstDash val="solid"/>
          </a:ln>
        </p:spPr>
      </p:sp>
      <p:sp>
        <p:nvSpPr>
          <p:cNvPr id="51" name="bullet-label-342">
            <a:extLst xmlns:a="http://schemas.openxmlformats.org/drawingml/2006/main">
              <a:ext uri="{FF2B5EF4-FFF2-40B4-BE49-F238E27FC236}">
                <a16:creationId xmlns:a16="http://schemas.microsoft.com/office/drawing/2014/main" id="{21AE2DF9-8974-4587-91FF-82F6BBAB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3850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F6F6F"/>
                </a:solidFill>
              </a:defRPr>
            </a:pPr>
            <a:r>
              <a:rPr sz="1350" b="1">
                <a:solidFill>
                  <a:srgbClr val="6F6F6F"/>
                </a:solidFill>
              </a:rPr>
              <a:t>等待</a:t>
            </a:r>
          </a:p>
        </p:txBody>
      </p:sp>
      <p:sp>
        <p:nvSpPr>
          <p:cNvPr id="52" name="bullet-value-342">
            <a:extLst xmlns:a="http://schemas.openxmlformats.org/drawingml/2006/main">
              <a:ext uri="{FF2B5EF4-FFF2-40B4-BE49-F238E27FC236}">
                <a16:creationId xmlns:a16="http://schemas.microsoft.com/office/drawing/2014/main" id="{F247D665-4005-41A0-9BCF-F8C090FE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38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B2B2B"/>
                </a:solidFill>
              </a:defRPr>
            </a:pPr>
            <a:r>
              <a:rPr sz="1350">
                <a:solidFill>
                  <a:srgbClr val="2B2B2B"/>
                </a:solidFill>
              </a:rPr>
              <a:t>8 → 6 天</a:t>
            </a:r>
          </a:p>
        </p:txBody>
      </p:sp>
      <p:sp>
        <p:nvSpPr>
          <p:cNvPr id="53" name="aside-divider">
            <a:extLst xmlns:a="http://schemas.openxmlformats.org/drawingml/2006/main">
              <a:ext uri="{FF2B5EF4-FFF2-40B4-BE49-F238E27FC236}">
                <a16:creationId xmlns:a16="http://schemas.microsoft.com/office/drawing/2014/main" id="{85972B3B-334D-4933-819E-EEE1B1FB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2905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54" name="trend-boundary-label">
            <a:extLst xmlns:a="http://schemas.openxmlformats.org/drawingml/2006/main">
              <a:ext uri="{FF2B5EF4-FFF2-40B4-BE49-F238E27FC236}">
                <a16:creationId xmlns:a16="http://schemas.microsoft.com/office/drawing/2014/main" id="{E026B720-CCC7-4E11-8DA3-748086B4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386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3856"/>
                </a:solidFill>
              </a:defRPr>
            </a:pPr>
            <a:r>
              <a:rPr sz="1350" b="1">
                <a:solidFill>
                  <a:srgbClr val="1D3856"/>
                </a:solidFill>
              </a:rPr>
              <a:t>边界</a:t>
            </a:r>
          </a:p>
        </p:txBody>
      </p:sp>
      <p:sp>
        <p:nvSpPr>
          <p:cNvPr id="55" name="trend-boundary-text">
            <a:extLst xmlns:a="http://schemas.openxmlformats.org/drawingml/2006/main">
              <a:ext uri="{FF2B5EF4-FFF2-40B4-BE49-F238E27FC236}">
                <a16:creationId xmlns:a16="http://schemas.microsoft.com/office/drawing/2014/main" id="{752CBA25-78AF-442A-A148-9BB40A88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053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04040"/>
                </a:solidFill>
              </a:defRPr>
            </a:pPr>
            <a:r>
              <a:rPr sz="1350">
                <a:solidFill>
                  <a:srgbClr val="404040"/>
                </a:solidFill>
              </a:rPr>
              <a:t>两项指标是同时观察到的现象，不能据此证明任何单一措施造成改善。</a:t>
            </a:r>
          </a:p>
        </p:txBody>
      </p:sp>
      <p:sp>
        <p:nvSpPr>
          <p:cNvPr id="56" name="trend-proposal-label">
            <a:extLst xmlns:a="http://schemas.openxmlformats.org/drawingml/2006/main">
              <a:ext uri="{FF2B5EF4-FFF2-40B4-BE49-F238E27FC236}">
                <a16:creationId xmlns:a16="http://schemas.microsoft.com/office/drawing/2014/main" id="{311AC494-F7D8-4593-BFB0-61C5F682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863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3856"/>
                </a:solidFill>
              </a:defRPr>
            </a:pPr>
            <a:r>
              <a:rPr sz="1350" b="1">
                <a:solidFill>
                  <a:srgbClr val="1D3856"/>
                </a:solidFill>
              </a:rPr>
              <a:t>拟议观察</a:t>
            </a:r>
          </a:p>
        </p:txBody>
      </p:sp>
      <p:sp>
        <p:nvSpPr>
          <p:cNvPr id="57" name="trend-proposal-text">
            <a:extLst xmlns:a="http://schemas.openxmlformats.org/drawingml/2006/main">
              <a:ext uri="{FF2B5EF4-FFF2-40B4-BE49-F238E27FC236}">
                <a16:creationId xmlns:a16="http://schemas.microsoft.com/office/drawing/2014/main" id="{9620DFD8-239C-46B5-AF26-264B96BA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86350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4040"/>
                </a:solidFill>
              </a:defRPr>
            </a:pPr>
            <a:r>
              <a:rPr sz="1275">
                <a:solidFill>
                  <a:srgbClr val="404040"/>
                </a:solidFill>
              </a:rPr>
              <a:t>继续按高峰时段、分设备拆分等待，避免平均改善掩盖局部拥堵。</a:t>
            </a:r>
          </a:p>
        </p:txBody>
      </p:sp>
      <p:sp>
        <p:nvSpPr>
          <p:cNvPr id="58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ECD4D290-B87A-4A83-A6BA-E1263A6B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59" name="footer-note-1">
            <a:extLst xmlns:a="http://schemas.openxmlformats.org/drawingml/2006/main">
              <a:ext uri="{FF2B5EF4-FFF2-40B4-BE49-F238E27FC236}">
                <a16:creationId xmlns:a16="http://schemas.microsoft.com/office/drawing/2014/main" id="{6F7C70A4-12EB-4D62-847A-1C413908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模拟数据，仅用于方案讨论</a:t>
            </a:r>
          </a:p>
        </p:txBody>
      </p:sp>
      <p:sp>
        <p:nvSpPr>
          <p:cNvPr id="60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6A84F12E-143A-4D1E-B49E-2C86A375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62725"/>
            <a:ext cx="260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大学共享仪器服务改进  ·  01</a:t>
            </a:r>
          </a:p>
        </p:txBody>
      </p:sp>
    </p:spTree>
    <p:extLst>
      <p:ext uri="{BB962C8B-B14F-4D97-AF65-F5344CB8AC3E}">
        <p14:creationId xmlns:p14="http://schemas.microsoft.com/office/powerpoint/2010/main" val="5240440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kicker-2">
            <a:extLst xmlns:a="http://schemas.openxmlformats.org/drawingml/2006/main">
              <a:ext uri="{FF2B5EF4-FFF2-40B4-BE49-F238E27FC236}">
                <a16:creationId xmlns:a16="http://schemas.microsoft.com/office/drawing/2014/main" id="{0EE19325-FE20-45F2-905B-4892B063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F91"/>
                </a:solidFill>
              </a:defRPr>
            </a:pPr>
            <a:r>
              <a:rPr sz="1125" b="1">
                <a:solidFill>
                  <a:srgbClr val="315F91"/>
                </a:solidFill>
              </a:rPr>
              <a:t>大学共享仪器服务改进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52F85FC6-4D74-4620-9EE4-53A42F6A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B2B2B"/>
                </a:solidFill>
              </a:defRPr>
            </a:pPr>
            <a:r>
              <a:rPr sz="2850" b="1">
                <a:solidFill>
                  <a:srgbClr val="2B2B2B"/>
                </a:solidFill>
              </a:rPr>
              <a:t>两类用户的障碍不同，入口设计需要分别回应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2E0FD6BA-374D-4334-B9F8-7615F8D3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D55FF0A3-AB34-48A2-BE90-C4A5EF97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F6F6F"/>
                </a:solidFill>
              </a:defRPr>
            </a:pPr>
            <a:r>
              <a:rPr sz="1050">
                <a:solidFill>
                  <a:srgbClr val="6F6F6F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43046-6895-4F8E-9AFE-3D466A75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923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04040"/>
                </a:solidFill>
              </a:defRPr>
            </a:pPr>
            <a:r>
              <a:rPr sz="1575">
                <a:solidFill>
                  <a:srgbClr val="404040"/>
                </a:solidFill>
              </a:rPr>
              <a:t>同一组四个维度下，校内用户更受时段影响，校外用户更受审批与费用影响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6D81D-FB65-495F-B623-3FEB84B3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F6F6F"/>
                </a:solidFill>
              </a:defRPr>
            </a:pPr>
            <a:r>
              <a:rPr sz="1125">
                <a:solidFill>
                  <a:srgbClr val="6F6F6F"/>
                </a:solidFill>
              </a:rPr>
              <a:t>模拟多选问卷 · 各组 n=100 · 比例不相加为 100%</a:t>
            </a:r>
          </a:p>
        </p:txBody>
      </p:sp>
      <p:sp>
        <p:nvSpPr>
          <p:cNvPr id="7" name="inside-column">
            <a:extLst xmlns:a="http://schemas.openxmlformats.org/drawingml/2006/main">
              <a:ext uri="{FF2B5EF4-FFF2-40B4-BE49-F238E27FC236}">
                <a16:creationId xmlns:a16="http://schemas.microsoft.com/office/drawing/2014/main" id="{DA6122BA-2464-476C-A183-744E1448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000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8" name="outside-column">
            <a:extLst xmlns:a="http://schemas.openxmlformats.org/drawingml/2006/main">
              <a:ext uri="{FF2B5EF4-FFF2-40B4-BE49-F238E27FC236}">
                <a16:creationId xmlns:a16="http://schemas.microsoft.com/office/drawing/2014/main" id="{C1280CBC-A8D5-4F35-B212-12781003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4000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9" name="inside-head">
            <a:extLst xmlns:a="http://schemas.openxmlformats.org/drawingml/2006/main">
              <a:ext uri="{FF2B5EF4-FFF2-40B4-BE49-F238E27FC236}">
                <a16:creationId xmlns:a16="http://schemas.microsoft.com/office/drawing/2014/main" id="{28F8F6B4-F886-41A6-8C4D-C0F7D682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10" name="outside-head">
            <a:extLst xmlns:a="http://schemas.openxmlformats.org/drawingml/2006/main">
              <a:ext uri="{FF2B5EF4-FFF2-40B4-BE49-F238E27FC236}">
                <a16:creationId xmlns:a16="http://schemas.microsoft.com/office/drawing/2014/main" id="{B2A64C6F-4C87-43F5-8117-882EE5C9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241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D3856"/>
          </a:solidFill>
          <a:ln xmlns:a="http://schemas.openxmlformats.org/drawingml/2006/main" w="0">
            <a:solidFill>
              <a:srgbClr val="1D3856"/>
            </a:solidFill>
            <a:prstDash val="solid"/>
          </a:ln>
        </p:spPr>
      </p:sp>
      <p:sp>
        <p:nvSpPr>
          <p:cNvPr id="11" name="inside-title">
            <a:extLst xmlns:a="http://schemas.openxmlformats.org/drawingml/2006/main">
              <a:ext uri="{FF2B5EF4-FFF2-40B4-BE49-F238E27FC236}">
                <a16:creationId xmlns:a16="http://schemas.microsoft.com/office/drawing/2014/main" id="{97FF364A-49D9-461B-BF9D-14089EC4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288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校内用户</a:t>
            </a:r>
          </a:p>
        </p:txBody>
      </p:sp>
      <p:sp>
        <p:nvSpPr>
          <p:cNvPr id="12" name="outside-title">
            <a:extLst xmlns:a="http://schemas.openxmlformats.org/drawingml/2006/main">
              <a:ext uri="{FF2B5EF4-FFF2-40B4-BE49-F238E27FC236}">
                <a16:creationId xmlns:a16="http://schemas.microsoft.com/office/drawing/2014/main" id="{3A58BBF8-55D5-40A6-B21F-2D9DF218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288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校外用户</a:t>
            </a:r>
          </a:p>
        </p:txBody>
      </p:sp>
      <p:sp>
        <p:nvSpPr>
          <p:cNvPr id="13" name="left-row-312">
            <a:extLst xmlns:a="http://schemas.openxmlformats.org/drawingml/2006/main">
              <a:ext uri="{FF2B5EF4-FFF2-40B4-BE49-F238E27FC236}">
                <a16:creationId xmlns:a16="http://schemas.microsoft.com/office/drawing/2014/main" id="{FF991FFE-570B-4E58-85AB-91B38518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14" name="right-row-312">
            <a:extLst xmlns:a="http://schemas.openxmlformats.org/drawingml/2006/main">
              <a:ext uri="{FF2B5EF4-FFF2-40B4-BE49-F238E27FC236}">
                <a16:creationId xmlns:a16="http://schemas.microsoft.com/office/drawing/2014/main" id="{DB1746BF-8729-4D8A-B453-4503EBE8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718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15" name="row-label-312">
            <a:extLst xmlns:a="http://schemas.openxmlformats.org/drawingml/2006/main">
              <a:ext uri="{FF2B5EF4-FFF2-40B4-BE49-F238E27FC236}">
                <a16:creationId xmlns:a16="http://schemas.microsoft.com/office/drawing/2014/main" id="{40B64CAD-160A-4D86-8678-84D23FF0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86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F6F6F"/>
                </a:solidFill>
              </a:defRPr>
            </a:pPr>
            <a:r>
              <a:rPr sz="1275">
                <a:solidFill>
                  <a:srgbClr val="6F6F6F"/>
                </a:solidFill>
              </a:rPr>
              <a:t>时段难匹配</a:t>
            </a:r>
          </a:p>
        </p:txBody>
      </p:sp>
      <p:sp>
        <p:nvSpPr>
          <p:cNvPr id="16" name="left-value-312">
            <a:extLst xmlns:a="http://schemas.openxmlformats.org/drawingml/2006/main">
              <a:ext uri="{FF2B5EF4-FFF2-40B4-BE49-F238E27FC236}">
                <a16:creationId xmlns:a16="http://schemas.microsoft.com/office/drawing/2014/main" id="{94B4A4C5-0859-452C-B166-1F7B4128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670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D3856"/>
                </a:solidFill>
              </a:defRPr>
            </a:pPr>
            <a:r>
              <a:rPr sz="1425" b="1">
                <a:solidFill>
                  <a:srgbClr val="1D3856"/>
                </a:solidFill>
              </a:rPr>
              <a:t>62%</a:t>
            </a:r>
          </a:p>
        </p:txBody>
      </p:sp>
      <p:sp>
        <p:nvSpPr>
          <p:cNvPr id="17" name="row-label-r-312">
            <a:extLst xmlns:a="http://schemas.openxmlformats.org/drawingml/2006/main">
              <a:ext uri="{FF2B5EF4-FFF2-40B4-BE49-F238E27FC236}">
                <a16:creationId xmlns:a16="http://schemas.microsoft.com/office/drawing/2014/main" id="{AA55DD4C-BAF8-4EFB-8F07-E924EA3B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86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F6F6F"/>
                </a:solidFill>
              </a:defRPr>
            </a:pPr>
            <a:r>
              <a:rPr sz="1275">
                <a:solidFill>
                  <a:srgbClr val="6F6F6F"/>
                </a:solidFill>
              </a:rPr>
              <a:t>时段难匹配</a:t>
            </a:r>
          </a:p>
        </p:txBody>
      </p:sp>
      <p:sp>
        <p:nvSpPr>
          <p:cNvPr id="18" name="right-value-312">
            <a:extLst xmlns:a="http://schemas.openxmlformats.org/drawingml/2006/main">
              <a:ext uri="{FF2B5EF4-FFF2-40B4-BE49-F238E27FC236}">
                <a16:creationId xmlns:a16="http://schemas.microsoft.com/office/drawing/2014/main" id="{F0F284AC-A500-4D32-8FB6-6BDAE220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670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D3856"/>
                </a:solidFill>
              </a:defRPr>
            </a:pPr>
            <a:r>
              <a:rPr sz="1425" b="1">
                <a:solidFill>
                  <a:srgbClr val="1D3856"/>
                </a:solidFill>
              </a:rPr>
              <a:t>45%</a:t>
            </a:r>
          </a:p>
        </p:txBody>
      </p:sp>
      <p:sp>
        <p:nvSpPr>
          <p:cNvPr id="19" name="left-row-374">
            <a:extLst xmlns:a="http://schemas.openxmlformats.org/drawingml/2006/main">
              <a:ext uri="{FF2B5EF4-FFF2-40B4-BE49-F238E27FC236}">
                <a16:creationId xmlns:a16="http://schemas.microsoft.com/office/drawing/2014/main" id="{9E4D716D-8CC6-4056-84B3-90DD59FF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20" name="right-row-374">
            <a:extLst xmlns:a="http://schemas.openxmlformats.org/drawingml/2006/main">
              <a:ext uri="{FF2B5EF4-FFF2-40B4-BE49-F238E27FC236}">
                <a16:creationId xmlns:a16="http://schemas.microsoft.com/office/drawing/2014/main" id="{3B365FBE-F75C-455C-8111-B0C57A86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6235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21" name="row-label-374">
            <a:extLst xmlns:a="http://schemas.openxmlformats.org/drawingml/2006/main">
              <a:ext uri="{FF2B5EF4-FFF2-40B4-BE49-F238E27FC236}">
                <a16:creationId xmlns:a16="http://schemas.microsoft.com/office/drawing/2014/main" id="{F694D2E4-4477-4930-9AEA-D5755B66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F6F6F"/>
                </a:solidFill>
              </a:defRPr>
            </a:pPr>
            <a:r>
              <a:rPr sz="1275">
                <a:solidFill>
                  <a:srgbClr val="6F6F6F"/>
                </a:solidFill>
              </a:rPr>
              <a:t>审批慢</a:t>
            </a:r>
          </a:p>
        </p:txBody>
      </p:sp>
      <p:sp>
        <p:nvSpPr>
          <p:cNvPr id="22" name="left-value-374">
            <a:extLst xmlns:a="http://schemas.openxmlformats.org/drawingml/2006/main">
              <a:ext uri="{FF2B5EF4-FFF2-40B4-BE49-F238E27FC236}">
                <a16:creationId xmlns:a16="http://schemas.microsoft.com/office/drawing/2014/main" id="{EFAC14C9-F657-4D58-BAF6-A7D80762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576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D3856"/>
                </a:solidFill>
              </a:defRPr>
            </a:pPr>
            <a:r>
              <a:rPr sz="1425" b="1">
                <a:solidFill>
                  <a:srgbClr val="1D3856"/>
                </a:solidFill>
              </a:rPr>
              <a:t>48%</a:t>
            </a:r>
          </a:p>
        </p:txBody>
      </p:sp>
      <p:sp>
        <p:nvSpPr>
          <p:cNvPr id="23" name="row-label-r-374">
            <a:extLst xmlns:a="http://schemas.openxmlformats.org/drawingml/2006/main">
              <a:ext uri="{FF2B5EF4-FFF2-40B4-BE49-F238E27FC236}">
                <a16:creationId xmlns:a16="http://schemas.microsoft.com/office/drawing/2014/main" id="{932A2E9F-2D94-4CF8-B3F5-77F35431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766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F6F6F"/>
                </a:solidFill>
              </a:defRPr>
            </a:pPr>
            <a:r>
              <a:rPr sz="1275">
                <a:solidFill>
                  <a:srgbClr val="6F6F6F"/>
                </a:solidFill>
              </a:rPr>
              <a:t>审批慢</a:t>
            </a:r>
          </a:p>
        </p:txBody>
      </p:sp>
      <p:sp>
        <p:nvSpPr>
          <p:cNvPr id="24" name="right-value-374">
            <a:extLst xmlns:a="http://schemas.openxmlformats.org/drawingml/2006/main">
              <a:ext uri="{FF2B5EF4-FFF2-40B4-BE49-F238E27FC236}">
                <a16:creationId xmlns:a16="http://schemas.microsoft.com/office/drawing/2014/main" id="{F3E66684-F04B-4958-A6CA-5CEFC67A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576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D3856"/>
                </a:solidFill>
              </a:defRPr>
            </a:pPr>
            <a:r>
              <a:rPr sz="1425" b="1">
                <a:solidFill>
                  <a:srgbClr val="1D3856"/>
                </a:solidFill>
              </a:rPr>
              <a:t>65%</a:t>
            </a:r>
          </a:p>
        </p:txBody>
      </p:sp>
      <p:sp>
        <p:nvSpPr>
          <p:cNvPr id="25" name="left-row-436">
            <a:extLst xmlns:a="http://schemas.openxmlformats.org/drawingml/2006/main">
              <a:ext uri="{FF2B5EF4-FFF2-40B4-BE49-F238E27FC236}">
                <a16:creationId xmlns:a16="http://schemas.microsoft.com/office/drawing/2014/main" id="{9F6D5B6A-93E4-47ED-BEAE-CB17594C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529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26" name="right-row-436">
            <a:extLst xmlns:a="http://schemas.openxmlformats.org/drawingml/2006/main">
              <a:ext uri="{FF2B5EF4-FFF2-40B4-BE49-F238E27FC236}">
                <a16:creationId xmlns:a16="http://schemas.microsoft.com/office/drawing/2014/main" id="{FE916580-BB4C-4BAB-B357-B813550D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5290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27" name="row-label-436">
            <a:extLst xmlns:a="http://schemas.openxmlformats.org/drawingml/2006/main">
              <a:ext uri="{FF2B5EF4-FFF2-40B4-BE49-F238E27FC236}">
                <a16:creationId xmlns:a16="http://schemas.microsoft.com/office/drawing/2014/main" id="{B909AC47-8C59-45E3-9216-2EF43C5D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6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F6F6F"/>
                </a:solidFill>
              </a:defRPr>
            </a:pPr>
            <a:r>
              <a:rPr sz="1275">
                <a:solidFill>
                  <a:srgbClr val="6F6F6F"/>
                </a:solidFill>
              </a:rPr>
              <a:t>费用不清</a:t>
            </a:r>
          </a:p>
        </p:txBody>
      </p:sp>
      <p:sp>
        <p:nvSpPr>
          <p:cNvPr id="28" name="left-value-436">
            <a:extLst xmlns:a="http://schemas.openxmlformats.org/drawingml/2006/main">
              <a:ext uri="{FF2B5EF4-FFF2-40B4-BE49-F238E27FC236}">
                <a16:creationId xmlns:a16="http://schemas.microsoft.com/office/drawing/2014/main" id="{11BCD641-6C84-4793-8830-9E8C7A47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481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D3856"/>
                </a:solidFill>
              </a:defRPr>
            </a:pPr>
            <a:r>
              <a:rPr sz="1425" b="1">
                <a:solidFill>
                  <a:srgbClr val="1D3856"/>
                </a:solidFill>
              </a:rPr>
              <a:t>28%</a:t>
            </a:r>
          </a:p>
        </p:txBody>
      </p:sp>
      <p:sp>
        <p:nvSpPr>
          <p:cNvPr id="29" name="row-label-r-436">
            <a:extLst xmlns:a="http://schemas.openxmlformats.org/drawingml/2006/main">
              <a:ext uri="{FF2B5EF4-FFF2-40B4-BE49-F238E27FC236}">
                <a16:creationId xmlns:a16="http://schemas.microsoft.com/office/drawing/2014/main" id="{CC82CC36-7502-492C-A534-7611E3F3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67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F6F6F"/>
                </a:solidFill>
              </a:defRPr>
            </a:pPr>
            <a:r>
              <a:rPr sz="1275">
                <a:solidFill>
                  <a:srgbClr val="6F6F6F"/>
                </a:solidFill>
              </a:rPr>
              <a:t>费用不清</a:t>
            </a:r>
          </a:p>
        </p:txBody>
      </p:sp>
      <p:sp>
        <p:nvSpPr>
          <p:cNvPr id="30" name="right-value-436">
            <a:extLst xmlns:a="http://schemas.openxmlformats.org/drawingml/2006/main">
              <a:ext uri="{FF2B5EF4-FFF2-40B4-BE49-F238E27FC236}">
                <a16:creationId xmlns:a16="http://schemas.microsoft.com/office/drawing/2014/main" id="{E74D434F-8183-4583-BA7A-86698959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2481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1D3856"/>
                </a:solidFill>
              </a:defRPr>
            </a:pPr>
            <a:r>
              <a:rPr sz="1425" b="1">
                <a:solidFill>
                  <a:srgbClr val="1D3856"/>
                </a:solidFill>
              </a:rPr>
              <a:t>58%</a:t>
            </a:r>
          </a:p>
        </p:txBody>
      </p:sp>
      <p:sp>
        <p:nvSpPr>
          <p:cNvPr id="31" name="left-row-498">
            <a:extLst xmlns:a="http://schemas.openxmlformats.org/drawingml/2006/main">
              <a:ext uri="{FF2B5EF4-FFF2-40B4-BE49-F238E27FC236}">
                <a16:creationId xmlns:a16="http://schemas.microsoft.com/office/drawing/2014/main" id="{ADAFB882-96A3-4E94-9C3B-A109FDCA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4345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32" name="right-row-498">
            <a:extLst xmlns:a="http://schemas.openxmlformats.org/drawingml/2006/main">
              <a:ext uri="{FF2B5EF4-FFF2-40B4-BE49-F238E27FC236}">
                <a16:creationId xmlns:a16="http://schemas.microsoft.com/office/drawing/2014/main" id="{F3A2C9FE-1EA7-4FDC-B95D-BBDF6016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43450"/>
            <a:ext cx="3143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33" name="row-label-498">
            <a:extLst xmlns:a="http://schemas.openxmlformats.org/drawingml/2006/main">
              <a:ext uri="{FF2B5EF4-FFF2-40B4-BE49-F238E27FC236}">
                <a16:creationId xmlns:a16="http://schemas.microsoft.com/office/drawing/2014/main" id="{A9520CCA-65F5-4958-AB67-377D3679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F6F6F"/>
                </a:solidFill>
              </a:defRPr>
            </a:pPr>
            <a:r>
              <a:rPr sz="1275">
                <a:solidFill>
                  <a:srgbClr val="6F6F6F"/>
                </a:solidFill>
              </a:rPr>
              <a:t>操作培训不足</a:t>
            </a:r>
          </a:p>
        </p:txBody>
      </p:sp>
      <p:sp>
        <p:nvSpPr>
          <p:cNvPr id="34" name="left-value-498">
            <a:extLst xmlns:a="http://schemas.openxmlformats.org/drawingml/2006/main">
              <a:ext uri="{FF2B5EF4-FFF2-40B4-BE49-F238E27FC236}">
                <a16:creationId xmlns:a16="http://schemas.microsoft.com/office/drawing/2014/main" id="{0337085A-3310-4624-927E-F792A03B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387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B2B2B"/>
                </a:solidFill>
              </a:defRPr>
            </a:pPr>
            <a:r>
              <a:rPr sz="1425" b="1">
                <a:solidFill>
                  <a:srgbClr val="2B2B2B"/>
                </a:solidFill>
              </a:rPr>
              <a:t>44%</a:t>
            </a:r>
          </a:p>
        </p:txBody>
      </p:sp>
      <p:sp>
        <p:nvSpPr>
          <p:cNvPr id="35" name="row-label-r-498">
            <a:extLst xmlns:a="http://schemas.openxmlformats.org/drawingml/2006/main">
              <a:ext uri="{FF2B5EF4-FFF2-40B4-BE49-F238E27FC236}">
                <a16:creationId xmlns:a16="http://schemas.microsoft.com/office/drawing/2014/main" id="{F2748DDE-F9D2-44CE-B7BA-4056B718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577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F6F6F"/>
                </a:solidFill>
              </a:defRPr>
            </a:pPr>
            <a:r>
              <a:rPr sz="1275">
                <a:solidFill>
                  <a:srgbClr val="6F6F6F"/>
                </a:solidFill>
              </a:rPr>
              <a:t>操作培训不足</a:t>
            </a:r>
          </a:p>
        </p:txBody>
      </p:sp>
      <p:sp>
        <p:nvSpPr>
          <p:cNvPr id="36" name="right-value-498">
            <a:extLst xmlns:a="http://schemas.openxmlformats.org/drawingml/2006/main">
              <a:ext uri="{FF2B5EF4-FFF2-40B4-BE49-F238E27FC236}">
                <a16:creationId xmlns:a16="http://schemas.microsoft.com/office/drawing/2014/main" id="{30FE4A25-DCA3-46D4-84B0-8B66253D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8387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B2B2B"/>
                </a:solidFill>
              </a:defRPr>
            </a:pPr>
            <a:r>
              <a:rPr sz="1425" b="1">
                <a:solidFill>
                  <a:srgbClr val="2B2B2B"/>
                </a:solidFill>
              </a:rPr>
              <a:t>32%</a:t>
            </a:r>
          </a:p>
        </p:txBody>
      </p:sp>
      <p:sp>
        <p:nvSpPr>
          <p:cNvPr id="37" name="vs-ring">
            <a:extLst xmlns:a="http://schemas.openxmlformats.org/drawingml/2006/main">
              <a:ext uri="{FF2B5EF4-FFF2-40B4-BE49-F238E27FC236}">
                <a16:creationId xmlns:a16="http://schemas.microsoft.com/office/drawing/2014/main" id="{3088E8BE-7560-4A57-9CF0-373F714B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623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38" name="vs-label">
            <a:extLst xmlns:a="http://schemas.openxmlformats.org/drawingml/2006/main">
              <a:ext uri="{FF2B5EF4-FFF2-40B4-BE49-F238E27FC236}">
                <a16:creationId xmlns:a16="http://schemas.microsoft.com/office/drawing/2014/main" id="{2E36326C-0C29-4B28-B20E-62C7BD54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9095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D3856"/>
                </a:solidFill>
              </a:defRPr>
            </a:pPr>
            <a:r>
              <a:rPr sz="1200" b="1">
                <a:solidFill>
                  <a:srgbClr val="1D3856"/>
                </a:solidFill>
              </a:rPr>
              <a:t>对照</a:t>
            </a:r>
          </a:p>
        </p:txBody>
      </p:sp>
      <p:sp>
        <p:nvSpPr>
          <p:cNvPr id="39" name="vs-sub">
            <a:extLst xmlns:a="http://schemas.openxmlformats.org/drawingml/2006/main">
              <a:ext uri="{FF2B5EF4-FFF2-40B4-BE49-F238E27FC236}">
                <a16:creationId xmlns:a16="http://schemas.microsoft.com/office/drawing/2014/main" id="{5389600B-8D59-4500-8D07-D1B034A5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48125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6F6F6F"/>
                </a:solidFill>
              </a:defRPr>
            </a:pPr>
            <a:r>
              <a:rPr sz="1200">
                <a:solidFill>
                  <a:srgbClr val="6F6F6F"/>
                </a:solidFill>
              </a:rPr>
              <a:t>同四维</a:t>
            </a:r>
          </a:p>
        </p:txBody>
      </p:sp>
      <p:sp>
        <p:nvSpPr>
          <p:cNvPr id="40" name="vs-left">
            <a:extLst xmlns:a="http://schemas.openxmlformats.org/drawingml/2006/main">
              <a:ext uri="{FF2B5EF4-FFF2-40B4-BE49-F238E27FC236}">
                <a16:creationId xmlns:a16="http://schemas.microsoft.com/office/drawing/2014/main" id="{E11CB1A6-A21B-4C63-A331-0C265751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767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AF5"/>
            </a:solidFill>
            <a:prstDash val="solid"/>
          </a:ln>
        </p:spPr>
      </p:sp>
      <p:sp>
        <p:nvSpPr>
          <p:cNvPr id="41" name="vs-right">
            <a:extLst xmlns:a="http://schemas.openxmlformats.org/drawingml/2006/main">
              <a:ext uri="{FF2B5EF4-FFF2-40B4-BE49-F238E27FC236}">
                <a16:creationId xmlns:a16="http://schemas.microsoft.com/office/drawing/2014/main" id="{20D5CC6B-CA6F-4059-99BD-6C635B3C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767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AF5"/>
            </a:solidFill>
            <a:prstDash val="solid"/>
          </a:ln>
        </p:spPr>
      </p:sp>
      <p:sp>
        <p:nvSpPr>
          <p:cNvPr id="42" name="priority-strip">
            <a:extLst xmlns:a="http://schemas.openxmlformats.org/drawingml/2006/main">
              <a:ext uri="{FF2B5EF4-FFF2-40B4-BE49-F238E27FC236}">
                <a16:creationId xmlns:a16="http://schemas.microsoft.com/office/drawing/2014/main" id="{ECFD18A5-2340-4315-8050-1E5212E7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10668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43" name="priority-text">
            <a:extLst xmlns:a="http://schemas.openxmlformats.org/drawingml/2006/main">
              <a:ext uri="{FF2B5EF4-FFF2-40B4-BE49-F238E27FC236}">
                <a16:creationId xmlns:a16="http://schemas.microsoft.com/office/drawing/2014/main" id="{7968D76E-090C-4EE7-9F9D-BAE2E8EB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67425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D3856"/>
                </a:solidFill>
              </a:defRPr>
            </a:pPr>
            <a:r>
              <a:rPr sz="1200">
                <a:solidFill>
                  <a:srgbClr val="1D3856"/>
                </a:solidFill>
              </a:rPr>
              <a:t>讨论优先级：校内先看时段供给；校外先看审批责任与费用说明。样本仅为模拟，不能直接推广。</a:t>
            </a:r>
          </a:p>
        </p:txBody>
      </p:sp>
      <p:sp>
        <p:nvSpPr>
          <p:cNvPr id="44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AB9F1699-0DB8-4889-B1AE-3F4BB00F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45" name="footer-note-2">
            <a:extLst xmlns:a="http://schemas.openxmlformats.org/drawingml/2006/main">
              <a:ext uri="{FF2B5EF4-FFF2-40B4-BE49-F238E27FC236}">
                <a16:creationId xmlns:a16="http://schemas.microsoft.com/office/drawing/2014/main" id="{61F32597-F690-429C-9C38-A2E0AE32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模拟数据，仅用于方案讨论</a:t>
            </a:r>
          </a:p>
        </p:txBody>
      </p:sp>
      <p:sp>
        <p:nvSpPr>
          <p:cNvPr id="46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1EE97ABC-8B70-4BDF-B792-47905455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62725"/>
            <a:ext cx="260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大学共享仪器服务改进  ·  02</a:t>
            </a:r>
          </a:p>
        </p:txBody>
      </p:sp>
    </p:spTree>
    <p:extLst>
      <p:ext uri="{BB962C8B-B14F-4D97-AF65-F5344CB8AC3E}">
        <p14:creationId xmlns:p14="http://schemas.microsoft.com/office/powerpoint/2010/main" val="3235584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kicker-3">
            <a:extLst xmlns:a="http://schemas.openxmlformats.org/drawingml/2006/main">
              <a:ext uri="{FF2B5EF4-FFF2-40B4-BE49-F238E27FC236}">
                <a16:creationId xmlns:a16="http://schemas.microsoft.com/office/drawing/2014/main" id="{6170B9BA-FBB6-49EF-B9BA-9A678953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F91"/>
                </a:solidFill>
              </a:defRPr>
            </a:pPr>
            <a:r>
              <a:rPr sz="1125" b="1">
                <a:solidFill>
                  <a:srgbClr val="315F91"/>
                </a:solidFill>
              </a:rPr>
              <a:t>大学共享仪器服务改进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44A43A12-7290-4EB2-855E-0844B532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B2B2B"/>
                </a:solidFill>
              </a:defRPr>
            </a:pPr>
            <a:r>
              <a:rPr sz="2850" b="1">
                <a:solidFill>
                  <a:srgbClr val="2B2B2B"/>
                </a:solidFill>
              </a:rPr>
              <a:t>三阶段试点先补齐入口、责任与说明，再观察问题落点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ADEAD1B4-A90B-4C99-9366-8A17DAEC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6841D880-DB41-473A-9BEE-E12EF77B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F6F6F"/>
                </a:solidFill>
              </a:defRPr>
            </a:pPr>
            <a:r>
              <a:rPr sz="1050">
                <a:solidFill>
                  <a:srgbClr val="6F6F6F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56A1D-E0DF-4CED-8AB9-8DBA536D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04040"/>
                </a:solidFill>
              </a:defRPr>
            </a:pPr>
            <a:r>
              <a:rPr sz="1575">
                <a:solidFill>
                  <a:srgbClr val="404040"/>
                </a:solidFill>
              </a:rPr>
              <a:t>每一阶段先完成交付并记录，再跨过门禁推进；指标只观察，不预设改善幅度</a:t>
            </a:r>
          </a:p>
        </p:txBody>
      </p:sp>
      <p:sp>
        <p:nvSpPr>
          <p:cNvPr id="6" name="stage-river-0">
            <a:extLst xmlns:a="http://schemas.openxmlformats.org/drawingml/2006/main">
              <a:ext uri="{FF2B5EF4-FFF2-40B4-BE49-F238E27FC236}">
                <a16:creationId xmlns:a16="http://schemas.microsoft.com/office/drawing/2014/main" id="{D762963F-B704-4EEA-ADF3-5D400EC7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3143250" cy="1638300"/>
          </a:xfrm>
          <a:custGeom xmlns:a="http://schemas.openxmlformats.org/drawingml/2006/main">
            <a:pathLst>
              <a:path w="3143250" h="1638300">
                <a:moveTo>
                  <a:pt x="0" y="209550"/>
                </a:moveTo>
                <a:lnTo>
                  <a:pt x="2819400" y="209550"/>
                </a:lnTo>
                <a:lnTo>
                  <a:pt x="3143250" y="819150"/>
                </a:lnTo>
                <a:lnTo>
                  <a:pt x="2819400" y="1428750"/>
                </a:lnTo>
                <a:lnTo>
                  <a:pt x="0" y="1428750"/>
                </a:lnTo>
                <a:close/>
              </a:path>
            </a:pathLst>
          </a:cu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7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B85B73DA-B71D-4815-BC70-DE7339B6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3856"/>
                </a:solidFill>
              </a:defRPr>
            </a:pPr>
            <a:r>
              <a:rPr sz="1650" b="1">
                <a:solidFill>
                  <a:srgbClr val="1D3856"/>
                </a:solidFill>
              </a:rPr>
              <a:t>第一阶段 统一入口</a:t>
            </a:r>
          </a:p>
        </p:txBody>
      </p:sp>
      <p:sp>
        <p:nvSpPr>
          <p:cNvPr id="8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C2941BEE-7E27-4200-B113-22A6D6BC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04040"/>
                </a:solidFill>
              </a:defRPr>
            </a:pPr>
            <a:r>
              <a:rPr sz="1350">
                <a:solidFill>
                  <a:srgbClr val="404040"/>
                </a:solidFill>
              </a:rPr>
              <a:t>交付：设备与时段目录</a:t>
            </a:r>
          </a:p>
          <a:p xmlns:a="http://schemas.openxmlformats.org/drawingml/2006/main">
            <a:pPr>
              <a:defRPr sz="1350">
                <a:solidFill>
                  <a:srgbClr val="404040"/>
                </a:solidFill>
              </a:defRPr>
            </a:pPr>
            <a:r>
              <a:rPr sz="1350">
                <a:solidFill>
                  <a:srgbClr val="404040"/>
                </a:solidFill>
              </a:rPr>
              <a:t>观察：信息完整率</a:t>
            </a:r>
          </a:p>
        </p:txBody>
      </p:sp>
      <p:sp>
        <p:nvSpPr>
          <p:cNvPr id="9" name="gate-0">
            <a:extLst xmlns:a="http://schemas.openxmlformats.org/drawingml/2006/main">
              <a:ext uri="{FF2B5EF4-FFF2-40B4-BE49-F238E27FC236}">
                <a16:creationId xmlns:a16="http://schemas.microsoft.com/office/drawing/2014/main" id="{3F9B612C-DC08-4926-8291-2134D9A3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52700"/>
            <a:ext cx="171450" cy="12954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D3856"/>
          </a:solidFill>
          <a:ln xmlns:a="http://schemas.openxmlformats.org/drawingml/2006/main" w="0">
            <a:solidFill>
              <a:srgbClr val="1D3856"/>
            </a:solidFill>
            <a:prstDash val="solid"/>
          </a:ln>
        </p:spPr>
      </p:sp>
      <p:sp>
        <p:nvSpPr>
          <p:cNvPr id="10" name="gate-label-0">
            <a:extLst xmlns:a="http://schemas.openxmlformats.org/drawingml/2006/main">
              <a:ext uri="{FF2B5EF4-FFF2-40B4-BE49-F238E27FC236}">
                <a16:creationId xmlns:a16="http://schemas.microsoft.com/office/drawing/2014/main" id="{994632C1-F561-4A08-8628-EF7F4EC8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66950"/>
            <a:ext cx="1790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1" name="gate-text-0">
            <a:extLst xmlns:a="http://schemas.openxmlformats.org/drawingml/2006/main">
              <a:ext uri="{FF2B5EF4-FFF2-40B4-BE49-F238E27FC236}">
                <a16:creationId xmlns:a16="http://schemas.microsoft.com/office/drawing/2014/main" id="{4AFE4696-8440-4F5F-8713-5B302EAE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33625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D3856"/>
                </a:solidFill>
              </a:defRPr>
            </a:pPr>
            <a:r>
              <a:rPr sz="975">
                <a:solidFill>
                  <a:srgbClr val="1D3856"/>
                </a:solidFill>
              </a:rPr>
              <a:t>门禁 1  ·  目录与记录完整</a:t>
            </a:r>
          </a:p>
        </p:txBody>
      </p:sp>
      <p:sp>
        <p:nvSpPr>
          <p:cNvPr id="12" name="stage-river-1">
            <a:extLst xmlns:a="http://schemas.openxmlformats.org/drawingml/2006/main">
              <a:ext uri="{FF2B5EF4-FFF2-40B4-BE49-F238E27FC236}">
                <a16:creationId xmlns:a16="http://schemas.microsoft.com/office/drawing/2014/main" id="{51B70B37-B2E9-4CE7-8371-554BC9EA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81250"/>
            <a:ext cx="3143250" cy="1638300"/>
          </a:xfrm>
          <a:custGeom xmlns:a="http://schemas.openxmlformats.org/drawingml/2006/main">
            <a:pathLst>
              <a:path w="3143250" h="1638300">
                <a:moveTo>
                  <a:pt x="0" y="209550"/>
                </a:moveTo>
                <a:lnTo>
                  <a:pt x="2819400" y="209550"/>
                </a:lnTo>
                <a:lnTo>
                  <a:pt x="3143250" y="819150"/>
                </a:lnTo>
                <a:lnTo>
                  <a:pt x="2819400" y="1428750"/>
                </a:lnTo>
                <a:lnTo>
                  <a:pt x="0" y="1428750"/>
                </a:lnTo>
                <a:close/>
              </a:path>
            </a:pathLst>
          </a:custGeom>
          <a:solidFill xmlns:a="http://schemas.openxmlformats.org/drawingml/2006/main">
            <a:srgbClr val="E7EFF6"/>
          </a:solidFill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13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4FD99DB4-10A0-4A4F-955A-CDFFDCB8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3856"/>
                </a:solidFill>
              </a:defRPr>
            </a:pPr>
            <a:r>
              <a:rPr sz="1650" b="1">
                <a:solidFill>
                  <a:srgbClr val="1D3856"/>
                </a:solidFill>
              </a:rPr>
              <a:t>第二阶段 明确责任</a:t>
            </a:r>
          </a:p>
        </p:txBody>
      </p:sp>
      <p:sp>
        <p:nvSpPr>
          <p:cNvPr id="14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DEA302EE-C834-4144-A59A-D00BA7AC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813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04040"/>
                </a:solidFill>
              </a:defRPr>
            </a:pPr>
            <a:r>
              <a:rPr sz="1350">
                <a:solidFill>
                  <a:srgbClr val="404040"/>
                </a:solidFill>
              </a:rPr>
              <a:t>交付：责任人与时限表</a:t>
            </a:r>
          </a:p>
          <a:p xmlns:a="http://schemas.openxmlformats.org/drawingml/2006/main">
            <a:pPr>
              <a:defRPr sz="1350">
                <a:solidFill>
                  <a:srgbClr val="404040"/>
                </a:solidFill>
              </a:defRPr>
            </a:pPr>
            <a:r>
              <a:rPr sz="1350">
                <a:solidFill>
                  <a:srgbClr val="404040"/>
                </a:solidFill>
              </a:rPr>
              <a:t>观察：审批时长</a:t>
            </a:r>
          </a:p>
        </p:txBody>
      </p:sp>
      <p:sp>
        <p:nvSpPr>
          <p:cNvPr id="15" name="gate-1">
            <a:extLst xmlns:a="http://schemas.openxmlformats.org/drawingml/2006/main">
              <a:ext uri="{FF2B5EF4-FFF2-40B4-BE49-F238E27FC236}">
                <a16:creationId xmlns:a16="http://schemas.microsoft.com/office/drawing/2014/main" id="{1D58E722-929C-41AC-A4F6-1A61F7D0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52700"/>
            <a:ext cx="171450" cy="12954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D3856"/>
          </a:solidFill>
          <a:ln xmlns:a="http://schemas.openxmlformats.org/drawingml/2006/main" w="0">
            <a:solidFill>
              <a:srgbClr val="1D3856"/>
            </a:solidFill>
            <a:prstDash val="solid"/>
          </a:ln>
        </p:spPr>
      </p:sp>
      <p:sp>
        <p:nvSpPr>
          <p:cNvPr id="16" name="gate-label-1">
            <a:extLst xmlns:a="http://schemas.openxmlformats.org/drawingml/2006/main">
              <a:ext uri="{FF2B5EF4-FFF2-40B4-BE49-F238E27FC236}">
                <a16:creationId xmlns:a16="http://schemas.microsoft.com/office/drawing/2014/main" id="{6D23FFFD-A283-47C9-A355-2D8D54D3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17907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7" name="gate-text-1">
            <a:extLst xmlns:a="http://schemas.openxmlformats.org/drawingml/2006/main">
              <a:ext uri="{FF2B5EF4-FFF2-40B4-BE49-F238E27FC236}">
                <a16:creationId xmlns:a16="http://schemas.microsoft.com/office/drawing/2014/main" id="{75CE8238-3791-4575-8267-C6D20276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33625"/>
            <a:ext cx="160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1D3856"/>
                </a:solidFill>
              </a:defRPr>
            </a:pPr>
            <a:r>
              <a:rPr sz="975">
                <a:solidFill>
                  <a:srgbClr val="1D3856"/>
                </a:solidFill>
              </a:rPr>
              <a:t>门禁 2  ·  责任人与时限明确</a:t>
            </a:r>
          </a:p>
        </p:txBody>
      </p:sp>
      <p:sp>
        <p:nvSpPr>
          <p:cNvPr id="18" name="stage-river-2">
            <a:extLst xmlns:a="http://schemas.openxmlformats.org/drawingml/2006/main">
              <a:ext uri="{FF2B5EF4-FFF2-40B4-BE49-F238E27FC236}">
                <a16:creationId xmlns:a16="http://schemas.microsoft.com/office/drawing/2014/main" id="{734945A1-BE27-406C-ACE1-535986AE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81250"/>
            <a:ext cx="3143250" cy="1638300"/>
          </a:xfrm>
          <a:custGeom xmlns:a="http://schemas.openxmlformats.org/drawingml/2006/main">
            <a:pathLst>
              <a:path w="3143250" h="1638300">
                <a:moveTo>
                  <a:pt x="0" y="209550"/>
                </a:moveTo>
                <a:lnTo>
                  <a:pt x="2819400" y="209550"/>
                </a:lnTo>
                <a:lnTo>
                  <a:pt x="3143250" y="819150"/>
                </a:lnTo>
                <a:lnTo>
                  <a:pt x="2819400" y="1428750"/>
                </a:lnTo>
                <a:lnTo>
                  <a:pt x="0" y="1428750"/>
                </a:lnTo>
                <a:close/>
              </a:path>
            </a:pathLst>
          </a:custGeom>
          <a:solidFill xmlns:a="http://schemas.openxmlformats.org/drawingml/2006/main">
            <a:srgbClr val="DDEAF5"/>
          </a:solidFill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19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4233F1A3-2E39-4BC7-989F-E9D3290C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3856"/>
                </a:solidFill>
              </a:defRPr>
            </a:pPr>
            <a:r>
              <a:rPr sz="1650" b="1">
                <a:solidFill>
                  <a:srgbClr val="1D3856"/>
                </a:solidFill>
              </a:rPr>
              <a:t>第三阶段 发布说明</a:t>
            </a:r>
          </a:p>
        </p:txBody>
      </p:sp>
      <p:sp>
        <p:nvSpPr>
          <p:cNvPr id="20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E8818AD2-9D17-42C5-9365-F99B04E7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813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04040"/>
                </a:solidFill>
              </a:defRPr>
            </a:pPr>
            <a:r>
              <a:rPr sz="1350">
                <a:solidFill>
                  <a:srgbClr val="404040"/>
                </a:solidFill>
              </a:rPr>
              <a:t>交付：费用清单及培训入口</a:t>
            </a:r>
          </a:p>
          <a:p xmlns:a="http://schemas.openxmlformats.org/drawingml/2006/main">
            <a:pPr>
              <a:defRPr sz="1350">
                <a:solidFill>
                  <a:srgbClr val="404040"/>
                </a:solidFill>
              </a:defRPr>
            </a:pPr>
            <a:r>
              <a:rPr sz="1350">
                <a:solidFill>
                  <a:srgbClr val="404040"/>
                </a:solidFill>
              </a:rPr>
              <a:t>观察：重复咨询量</a:t>
            </a:r>
          </a:p>
        </p:txBody>
      </p:sp>
      <p:sp>
        <p:nvSpPr>
          <p:cNvPr id="21" name="flow-arrow">
            <a:extLst xmlns:a="http://schemas.openxmlformats.org/drawingml/2006/main">
              <a:ext uri="{FF2B5EF4-FFF2-40B4-BE49-F238E27FC236}">
                <a16:creationId xmlns:a16="http://schemas.microsoft.com/office/drawing/2014/main" id="{76A6BAF1-F3AC-4BDD-9272-88F5ADAB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933700"/>
            <a:ext cx="685800" cy="552450"/>
          </a:xfrm>
          <a:custGeom xmlns:a="http://schemas.openxmlformats.org/drawingml/2006/main">
            <a:pathLst>
              <a:path w="685800" h="552450">
                <a:moveTo>
                  <a:pt x="0" y="171450"/>
                </a:moveTo>
                <a:lnTo>
                  <a:pt x="381000" y="171450"/>
                </a:lnTo>
                <a:lnTo>
                  <a:pt x="381000" y="0"/>
                </a:lnTo>
                <a:lnTo>
                  <a:pt x="685800" y="276225"/>
                </a:lnTo>
                <a:lnTo>
                  <a:pt x="381000" y="552450"/>
                </a:lnTo>
                <a:lnTo>
                  <a:pt x="381000" y="381000"/>
                </a:lnTo>
                <a:lnTo>
                  <a:pt x="0" y="381000"/>
                </a:lnTo>
                <a:close/>
              </a:path>
            </a:pathLst>
          </a:cu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2" name="flow-arrow-label">
            <a:extLst xmlns:a="http://schemas.openxmlformats.org/drawingml/2006/main">
              <a:ext uri="{FF2B5EF4-FFF2-40B4-BE49-F238E27FC236}">
                <a16:creationId xmlns:a16="http://schemas.microsoft.com/office/drawing/2014/main" id="{F9D1F7CF-56E4-476C-B5E1-2051F9F0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6004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推进方向</a:t>
            </a:r>
          </a:p>
        </p:txBody>
      </p:sp>
      <p:sp>
        <p:nvSpPr>
          <p:cNvPr id="23" name="global-rule">
            <a:extLst xmlns:a="http://schemas.openxmlformats.org/drawingml/2006/main">
              <a:ext uri="{FF2B5EF4-FFF2-40B4-BE49-F238E27FC236}">
                <a16:creationId xmlns:a16="http://schemas.microsoft.com/office/drawing/2014/main" id="{900859C8-D4B2-42EA-A1E6-6D90685B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106489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24" name="rule-title">
            <a:extLst xmlns:a="http://schemas.openxmlformats.org/drawingml/2006/main">
              <a:ext uri="{FF2B5EF4-FFF2-40B4-BE49-F238E27FC236}">
                <a16:creationId xmlns:a16="http://schemas.microsoft.com/office/drawing/2014/main" id="{86ABB259-C6C9-4047-B34D-D1AB249B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D3856"/>
                </a:solidFill>
              </a:defRPr>
            </a:pPr>
            <a:r>
              <a:rPr sz="1425" b="1">
                <a:solidFill>
                  <a:srgbClr val="1D3856"/>
                </a:solidFill>
              </a:rPr>
              <a:t>贯穿三阶段的规则</a:t>
            </a:r>
          </a:p>
        </p:txBody>
      </p:sp>
      <p:sp>
        <p:nvSpPr>
          <p:cNvPr id="25" name="rule-body">
            <a:extLst xmlns:a="http://schemas.openxmlformats.org/drawingml/2006/main">
              <a:ext uri="{FF2B5EF4-FFF2-40B4-BE49-F238E27FC236}">
                <a16:creationId xmlns:a16="http://schemas.microsoft.com/office/drawing/2014/main" id="{35C0410A-416C-4E36-91FF-C27CF66E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0"/>
            <a:ext cx="979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04040"/>
                </a:solidFill>
              </a:defRPr>
            </a:pPr>
            <a:r>
              <a:rPr sz="1350">
                <a:solidFill>
                  <a:srgbClr val="404040"/>
                </a:solidFill>
              </a:rPr>
              <a:t>每阶段在记录完整、责任明确后再推进；平台负责人确认。涉及新访问授权时暂停共享，授权处理后恢复。</a:t>
            </a:r>
          </a:p>
        </p:txBody>
      </p:sp>
      <p:sp>
        <p:nvSpPr>
          <p:cNvPr id="26" name="rule-limit">
            <a:extLst xmlns:a="http://schemas.openxmlformats.org/drawingml/2006/main">
              <a:ext uri="{FF2B5EF4-FFF2-40B4-BE49-F238E27FC236}">
                <a16:creationId xmlns:a16="http://schemas.microsoft.com/office/drawing/2014/main" id="{447B0C5F-3FFA-4462-AFA1-42FED497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43550"/>
            <a:ext cx="979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F6F6F"/>
                </a:solidFill>
              </a:defRPr>
            </a:pPr>
            <a:r>
              <a:rPr sz="1200">
                <a:solidFill>
                  <a:srgbClr val="6F6F6F"/>
                </a:solidFill>
              </a:rPr>
              <a:t>预期用途：用户更早判断可用性，工作人员更快定位问题环节。该收益尚未验证。</a:t>
            </a:r>
          </a:p>
        </p:txBody>
      </p:sp>
      <p:sp>
        <p:nvSpPr>
          <p:cNvPr id="27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E2F49A0A-B338-40D4-8E9A-D60B3F52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28" name="footer-note-3">
            <a:extLst xmlns:a="http://schemas.openxmlformats.org/drawingml/2006/main">
              <a:ext uri="{FF2B5EF4-FFF2-40B4-BE49-F238E27FC236}">
                <a16:creationId xmlns:a16="http://schemas.microsoft.com/office/drawing/2014/main" id="{6CBC432C-75B9-4722-AA52-CE2918B5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模拟数据，仅用于方案讨论</a:t>
            </a:r>
          </a:p>
        </p:txBody>
      </p:sp>
      <p:sp>
        <p:nvSpPr>
          <p:cNvPr id="29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F93F7735-B606-42D0-B4F6-FE434B55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62725"/>
            <a:ext cx="260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大学共享仪器服务改进  ·  03</a:t>
            </a:r>
          </a:p>
        </p:txBody>
      </p:sp>
    </p:spTree>
    <p:extLst>
      <p:ext uri="{BB962C8B-B14F-4D97-AF65-F5344CB8AC3E}">
        <p14:creationId xmlns:p14="http://schemas.microsoft.com/office/powerpoint/2010/main" val="19614645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kicker-4">
            <a:extLst xmlns:a="http://schemas.openxmlformats.org/drawingml/2006/main">
              <a:ext uri="{FF2B5EF4-FFF2-40B4-BE49-F238E27FC236}">
                <a16:creationId xmlns:a16="http://schemas.microsoft.com/office/drawing/2014/main" id="{97776CC0-27EE-4F85-AA0F-05E41C15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F91"/>
                </a:solidFill>
              </a:defRPr>
            </a:pPr>
            <a:r>
              <a:rPr sz="1125" b="1">
                <a:solidFill>
                  <a:srgbClr val="315F91"/>
                </a:solidFill>
              </a:rPr>
              <a:t>大学共享仪器服务改进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E2E93706-98F9-452E-909A-87EEE2E3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B2B2B"/>
                </a:solidFill>
              </a:defRPr>
            </a:pPr>
            <a:r>
              <a:rPr sz="2850" b="1">
                <a:solidFill>
                  <a:srgbClr val="2B2B2B"/>
                </a:solidFill>
              </a:rPr>
              <a:t>设备支持优先级取决于频次与支持需求的组合位置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56651137-9537-4ED2-ADCC-E9BD7CCE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38341405-475B-4D91-823E-716B0CBF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F6F6F"/>
                </a:solidFill>
              </a:defRPr>
            </a:pPr>
            <a:r>
              <a:rPr sz="1050">
                <a:solidFill>
                  <a:srgbClr val="6F6F6F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DE703-FA13-4CD9-AB6C-19696969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716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04040"/>
                </a:solidFill>
              </a:defRPr>
            </a:pPr>
            <a:r>
              <a:rPr sz="1500">
                <a:solidFill>
                  <a:srgbClr val="404040"/>
                </a:solidFill>
              </a:rPr>
              <a:t>二维诊断只用于本次讨论：横轴预约频次指数，纵轴操作支持需求指数，50 为讨论分界</a:t>
            </a:r>
          </a:p>
        </p:txBody>
      </p:sp>
      <p:sp>
        <p:nvSpPr>
          <p:cNvPr id="6" name="matrix-frame">
            <a:extLst xmlns:a="http://schemas.openxmlformats.org/drawingml/2006/main">
              <a:ext uri="{FF2B5EF4-FFF2-40B4-BE49-F238E27FC236}">
                <a16:creationId xmlns:a16="http://schemas.microsoft.com/office/drawing/2014/main" id="{F0D2F44E-AE3F-4DA6-9D51-72B61D91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7239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7" name="q-high-high">
            <a:extLst xmlns:a="http://schemas.openxmlformats.org/drawingml/2006/main">
              <a:ext uri="{FF2B5EF4-FFF2-40B4-BE49-F238E27FC236}">
                <a16:creationId xmlns:a16="http://schemas.microsoft.com/office/drawing/2014/main" id="{9A32A1A8-A574-44F5-B571-B079BF10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286000"/>
            <a:ext cx="2714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q-low-high">
            <a:extLst xmlns:a="http://schemas.openxmlformats.org/drawingml/2006/main">
              <a:ext uri="{FF2B5EF4-FFF2-40B4-BE49-F238E27FC236}">
                <a16:creationId xmlns:a16="http://schemas.microsoft.com/office/drawing/2014/main" id="{C4B69825-AAE0-4A06-A6D4-C57AC040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86000"/>
            <a:ext cx="2714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-high-low">
            <a:extLst xmlns:a="http://schemas.openxmlformats.org/drawingml/2006/main">
              <a:ext uri="{FF2B5EF4-FFF2-40B4-BE49-F238E27FC236}">
                <a16:creationId xmlns:a16="http://schemas.microsoft.com/office/drawing/2014/main" id="{493463E8-5EFA-4346-940A-B8054D03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714750"/>
            <a:ext cx="2714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q-low-low">
            <a:extLst xmlns:a="http://schemas.openxmlformats.org/drawingml/2006/main">
              <a:ext uri="{FF2B5EF4-FFF2-40B4-BE49-F238E27FC236}">
                <a16:creationId xmlns:a16="http://schemas.microsoft.com/office/drawing/2014/main" id="{10EC1598-5156-4F88-86C6-6DD200D9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2714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atrix-x">
            <a:extLst xmlns:a="http://schemas.openxmlformats.org/drawingml/2006/main">
              <a:ext uri="{FF2B5EF4-FFF2-40B4-BE49-F238E27FC236}">
                <a16:creationId xmlns:a16="http://schemas.microsoft.com/office/drawing/2014/main" id="{6B37D808-A1D9-46E6-B053-E319ACFD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A8C9E"/>
            </a:solidFill>
            <a:prstDash val="solid"/>
          </a:ln>
        </p:spPr>
      </p:sp>
      <p:sp>
        <p:nvSpPr>
          <p:cNvPr id="12" name="matrix-y">
            <a:extLst xmlns:a="http://schemas.openxmlformats.org/drawingml/2006/main">
              <a:ext uri="{FF2B5EF4-FFF2-40B4-BE49-F238E27FC236}">
                <a16:creationId xmlns:a16="http://schemas.microsoft.com/office/drawing/2014/main" id="{AA2655E0-130C-431B-B181-75380707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86000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A8C9E"/>
            </a:solidFill>
            <a:prstDash val="solid"/>
          </a:ln>
        </p:spPr>
      </p:sp>
      <p:sp>
        <p:nvSpPr>
          <p:cNvPr id="13" name="matrix-mid-v">
            <a:extLst xmlns:a="http://schemas.openxmlformats.org/drawingml/2006/main">
              <a:ext uri="{FF2B5EF4-FFF2-40B4-BE49-F238E27FC236}">
                <a16:creationId xmlns:a16="http://schemas.microsoft.com/office/drawing/2014/main" id="{C2C16C1F-CDAE-4D81-807C-0F46C293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286000"/>
            <a:ext cx="0" cy="2857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DEAF5"/>
            </a:solidFill>
            <a:prstDash val="solid"/>
          </a:ln>
        </p:spPr>
      </p:sp>
      <p:sp>
        <p:nvSpPr>
          <p:cNvPr id="14" name="matrix-mid-h">
            <a:extLst xmlns:a="http://schemas.openxmlformats.org/drawingml/2006/main">
              <a:ext uri="{FF2B5EF4-FFF2-40B4-BE49-F238E27FC236}">
                <a16:creationId xmlns:a16="http://schemas.microsoft.com/office/drawing/2014/main" id="{C800AF05-3D1C-4DF2-8817-123050CC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DEAF5"/>
            </a:solidFill>
            <a:prstDash val="solid"/>
          </a:ln>
        </p:spPr>
      </p:sp>
      <p:sp>
        <p:nvSpPr>
          <p:cNvPr id="15" name="mx-0">
            <a:extLst xmlns:a="http://schemas.openxmlformats.org/drawingml/2006/main">
              <a:ext uri="{FF2B5EF4-FFF2-40B4-BE49-F238E27FC236}">
                <a16:creationId xmlns:a16="http://schemas.microsoft.com/office/drawing/2014/main" id="{E448D371-372F-4E78-A020-54C27AF2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578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0</a:t>
            </a:r>
          </a:p>
        </p:txBody>
      </p:sp>
      <p:sp>
        <p:nvSpPr>
          <p:cNvPr id="16" name="my-0">
            <a:extLst xmlns:a="http://schemas.openxmlformats.org/drawingml/2006/main">
              <a:ext uri="{FF2B5EF4-FFF2-40B4-BE49-F238E27FC236}">
                <a16:creationId xmlns:a16="http://schemas.microsoft.com/office/drawing/2014/main" id="{96720FC7-B124-443C-9419-F80DFC56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482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0</a:t>
            </a:r>
          </a:p>
        </p:txBody>
      </p:sp>
      <p:sp>
        <p:nvSpPr>
          <p:cNvPr id="17" name="mx-50">
            <a:extLst xmlns:a="http://schemas.openxmlformats.org/drawingml/2006/main">
              <a:ext uri="{FF2B5EF4-FFF2-40B4-BE49-F238E27FC236}">
                <a16:creationId xmlns:a16="http://schemas.microsoft.com/office/drawing/2014/main" id="{87A96239-E62A-44C4-A5F4-BD7D87E1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2578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50</a:t>
            </a:r>
          </a:p>
        </p:txBody>
      </p:sp>
      <p:sp>
        <p:nvSpPr>
          <p:cNvPr id="18" name="my-50">
            <a:extLst xmlns:a="http://schemas.openxmlformats.org/drawingml/2006/main">
              <a:ext uri="{FF2B5EF4-FFF2-40B4-BE49-F238E27FC236}">
                <a16:creationId xmlns:a16="http://schemas.microsoft.com/office/drawing/2014/main" id="{B0EBA76F-A025-4819-A739-905A2D40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95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50</a:t>
            </a:r>
          </a:p>
        </p:txBody>
      </p:sp>
      <p:sp>
        <p:nvSpPr>
          <p:cNvPr id="19" name="mx-100">
            <a:extLst xmlns:a="http://schemas.openxmlformats.org/drawingml/2006/main">
              <a:ext uri="{FF2B5EF4-FFF2-40B4-BE49-F238E27FC236}">
                <a16:creationId xmlns:a16="http://schemas.microsoft.com/office/drawing/2014/main" id="{5886D1ED-0838-4EE7-A0DB-89287FD8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25780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100</a:t>
            </a:r>
          </a:p>
        </p:txBody>
      </p:sp>
      <p:sp>
        <p:nvSpPr>
          <p:cNvPr id="20" name="my-100">
            <a:extLst xmlns:a="http://schemas.openxmlformats.org/drawingml/2006/main">
              <a:ext uri="{FF2B5EF4-FFF2-40B4-BE49-F238E27FC236}">
                <a16:creationId xmlns:a16="http://schemas.microsoft.com/office/drawing/2014/main" id="{F9EC491E-ABEB-499D-A511-4467353E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304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100</a:t>
            </a:r>
          </a:p>
        </p:txBody>
      </p:sp>
      <p:sp>
        <p:nvSpPr>
          <p:cNvPr id="21" name="matrix-x-title">
            <a:extLst xmlns:a="http://schemas.openxmlformats.org/drawingml/2006/main">
              <a:ext uri="{FF2B5EF4-FFF2-40B4-BE49-F238E27FC236}">
                <a16:creationId xmlns:a16="http://schemas.microsoft.com/office/drawing/2014/main" id="{D5B7133B-99AF-4478-B442-39D877DF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864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04040"/>
                </a:solidFill>
              </a:defRPr>
            </a:pPr>
            <a:r>
              <a:rPr sz="1200">
                <a:solidFill>
                  <a:srgbClr val="404040"/>
                </a:solidFill>
              </a:rPr>
              <a:t>预约频次指数 →</a:t>
            </a:r>
          </a:p>
        </p:txBody>
      </p:sp>
      <p:sp>
        <p:nvSpPr>
          <p:cNvPr id="22" name="matrix-y-title">
            <a:extLst xmlns:a="http://schemas.openxmlformats.org/drawingml/2006/main">
              <a:ext uri="{FF2B5EF4-FFF2-40B4-BE49-F238E27FC236}">
                <a16:creationId xmlns:a16="http://schemas.microsoft.com/office/drawing/2014/main" id="{980376EB-6314-4B0B-A1D3-4FD873E6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66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rot="16200000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04040"/>
                </a:solidFill>
              </a:defRPr>
            </a:pPr>
            <a:r>
              <a:rPr sz="1200">
                <a:solidFill>
                  <a:srgbClr val="404040"/>
                </a:solidFill>
              </a:rPr>
              <a:t>操作支持需求指数</a:t>
            </a:r>
          </a:p>
        </p:txBody>
      </p:sp>
      <p:sp>
        <p:nvSpPr>
          <p:cNvPr id="23" name="q1-label">
            <a:extLst xmlns:a="http://schemas.openxmlformats.org/drawingml/2006/main">
              <a:ext uri="{FF2B5EF4-FFF2-40B4-BE49-F238E27FC236}">
                <a16:creationId xmlns:a16="http://schemas.microsoft.com/office/drawing/2014/main" id="{50D4A38A-89C7-4D6B-A80B-68EBEFA2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003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D3856"/>
                </a:solidFill>
              </a:defRPr>
            </a:pPr>
            <a:r>
              <a:rPr sz="1125" b="1">
                <a:solidFill>
                  <a:srgbClr val="1D3856"/>
                </a:solidFill>
              </a:rPr>
              <a:t>高频 · 高支持</a:t>
            </a:r>
          </a:p>
          <a:p xmlns:a="http://schemas.openxmlformats.org/drawingml/2006/main">
            <a:pPr>
              <a:defRPr sz="1125" b="1">
                <a:solidFill>
                  <a:srgbClr val="1D3856"/>
                </a:solidFill>
              </a:defRPr>
            </a:pPr>
            <a:r>
              <a:rPr sz="1125" b="1">
                <a:solidFill>
                  <a:srgbClr val="1D3856"/>
                </a:solidFill>
              </a:rPr>
              <a:t>优先增设辅导时段</a:t>
            </a:r>
          </a:p>
        </p:txBody>
      </p:sp>
      <p:sp>
        <p:nvSpPr>
          <p:cNvPr id="24" name="q2-label">
            <a:extLst xmlns:a="http://schemas.openxmlformats.org/drawingml/2006/main">
              <a:ext uri="{FF2B5EF4-FFF2-40B4-BE49-F238E27FC236}">
                <a16:creationId xmlns:a16="http://schemas.microsoft.com/office/drawing/2014/main" id="{8E004E08-E109-4B87-8477-B861531F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0030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04040"/>
                </a:solidFill>
              </a:defRPr>
            </a:pPr>
            <a:r>
              <a:rPr sz="1125" b="1">
                <a:solidFill>
                  <a:srgbClr val="404040"/>
                </a:solidFill>
              </a:rPr>
              <a:t>低频 · 高支持</a:t>
            </a:r>
          </a:p>
          <a:p xmlns:a="http://schemas.openxmlformats.org/drawingml/2006/main">
            <a:pPr>
              <a:defRPr sz="1125" b="1">
                <a:solidFill>
                  <a:srgbClr val="404040"/>
                </a:solidFill>
              </a:defRPr>
            </a:pPr>
            <a:r>
              <a:rPr sz="1125" b="1">
                <a:solidFill>
                  <a:srgbClr val="404040"/>
                </a:solidFill>
              </a:rPr>
              <a:t>采用预约辅导</a:t>
            </a:r>
          </a:p>
        </p:txBody>
      </p:sp>
      <p:sp>
        <p:nvSpPr>
          <p:cNvPr id="25" name="q3-label">
            <a:extLst xmlns:a="http://schemas.openxmlformats.org/drawingml/2006/main">
              <a:ext uri="{FF2B5EF4-FFF2-40B4-BE49-F238E27FC236}">
                <a16:creationId xmlns:a16="http://schemas.microsoft.com/office/drawing/2014/main" id="{A5B66F19-4CA8-470A-B49E-16A12E4B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8290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04040"/>
                </a:solidFill>
              </a:defRPr>
            </a:pPr>
            <a:r>
              <a:rPr sz="1125" b="1">
                <a:solidFill>
                  <a:srgbClr val="404040"/>
                </a:solidFill>
              </a:rPr>
              <a:t>高频 · 低支持</a:t>
            </a:r>
          </a:p>
          <a:p xmlns:a="http://schemas.openxmlformats.org/drawingml/2006/main">
            <a:pPr>
              <a:defRPr sz="1125" b="1">
                <a:solidFill>
                  <a:srgbClr val="404040"/>
                </a:solidFill>
              </a:defRPr>
            </a:pPr>
            <a:r>
              <a:rPr sz="1125" b="1">
                <a:solidFill>
                  <a:srgbClr val="404040"/>
                </a:solidFill>
              </a:rPr>
              <a:t>优先完善自助说明</a:t>
            </a:r>
          </a:p>
        </p:txBody>
      </p:sp>
      <p:sp>
        <p:nvSpPr>
          <p:cNvPr id="26" name="q4-label">
            <a:extLst xmlns:a="http://schemas.openxmlformats.org/drawingml/2006/main">
              <a:ext uri="{FF2B5EF4-FFF2-40B4-BE49-F238E27FC236}">
                <a16:creationId xmlns:a16="http://schemas.microsoft.com/office/drawing/2014/main" id="{3F3F9658-859E-4778-89F4-76C9EBC9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2905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低频 · 低支持</a:t>
            </a:r>
          </a:p>
          <a:p xmlns:a="http://schemas.openxmlformats.org/drawingml/2006/main">
            <a:pPr>
              <a:defRPr sz="1125" b="1">
                <a:solidFill>
                  <a:srgbClr val="6F6F6F"/>
                </a:solidFill>
              </a:defRPr>
            </a:pPr>
            <a:r>
              <a:rPr sz="1125" b="1">
                <a:solidFill>
                  <a:srgbClr val="6F6F6F"/>
                </a:solidFill>
              </a:rPr>
              <a:t>维持基础服务</a:t>
            </a:r>
          </a:p>
        </p:txBody>
      </p:sp>
      <p:sp>
        <p:nvSpPr>
          <p:cNvPr id="27" name="matrix-point-0">
            <a:extLst xmlns:a="http://schemas.openxmlformats.org/drawingml/2006/main">
              <a:ext uri="{FF2B5EF4-FFF2-40B4-BE49-F238E27FC236}">
                <a16:creationId xmlns:a16="http://schemas.microsoft.com/office/drawing/2014/main" id="{1D5237FB-784B-41D6-850D-4F7167B2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363" y="2762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8" name="matrix-point-label-0">
            <a:extLst xmlns:a="http://schemas.openxmlformats.org/drawingml/2006/main">
              <a:ext uri="{FF2B5EF4-FFF2-40B4-BE49-F238E27FC236}">
                <a16:creationId xmlns:a16="http://schemas.microsoft.com/office/drawing/2014/main" id="{54BA6135-251F-4D94-B02B-1A652469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363" y="25336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3856"/>
                </a:solidFill>
              </a:defRPr>
            </a:pPr>
            <a:r>
              <a:rPr sz="1050" b="1">
                <a:solidFill>
                  <a:srgbClr val="1D3856"/>
                </a:solidFill>
              </a:rPr>
              <a:t>显微成像  (85,80)</a:t>
            </a:r>
          </a:p>
        </p:txBody>
      </p:sp>
      <p:sp>
        <p:nvSpPr>
          <p:cNvPr id="29" name="matrix-point-1">
            <a:extLst xmlns:a="http://schemas.openxmlformats.org/drawingml/2006/main">
              <a:ext uri="{FF2B5EF4-FFF2-40B4-BE49-F238E27FC236}">
                <a16:creationId xmlns:a16="http://schemas.microsoft.com/office/drawing/2014/main" id="{A19AD281-4AD3-4E1B-8DA0-2C5592DF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338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385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0" name="matrix-point-label-1">
            <a:extLst xmlns:a="http://schemas.openxmlformats.org/drawingml/2006/main">
              <a:ext uri="{FF2B5EF4-FFF2-40B4-BE49-F238E27FC236}">
                <a16:creationId xmlns:a16="http://schemas.microsoft.com/office/drawing/2014/main" id="{E018C7D9-5D58-4F3D-A5FB-476E1121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58152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04040"/>
                </a:solidFill>
              </a:defRPr>
            </a:pPr>
            <a:r>
              <a:rPr sz="1050" b="1">
                <a:solidFill>
                  <a:srgbClr val="404040"/>
                </a:solidFill>
              </a:rPr>
              <a:t>基础检测  (80,25)</a:t>
            </a:r>
          </a:p>
        </p:txBody>
      </p:sp>
      <p:sp>
        <p:nvSpPr>
          <p:cNvPr id="31" name="matrix-point-2">
            <a:extLst xmlns:a="http://schemas.openxmlformats.org/drawingml/2006/main">
              <a:ext uri="{FF2B5EF4-FFF2-40B4-BE49-F238E27FC236}">
                <a16:creationId xmlns:a16="http://schemas.microsoft.com/office/drawing/2014/main" id="{6FF03889-FCC0-463A-8603-DFEED291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05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C9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matrix-point-label-2">
            <a:extLst xmlns:a="http://schemas.openxmlformats.org/drawingml/2006/main">
              <a:ext uri="{FF2B5EF4-FFF2-40B4-BE49-F238E27FC236}">
                <a16:creationId xmlns:a16="http://schemas.microsoft.com/office/drawing/2014/main" id="{2A0E22B9-AD3C-4E82-92EA-3943F6AD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3638" y="267652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04040"/>
                </a:solidFill>
              </a:defRPr>
            </a:pPr>
            <a:r>
              <a:rPr sz="1050" b="1">
                <a:solidFill>
                  <a:srgbClr val="404040"/>
                </a:solidFill>
              </a:rPr>
              <a:t>材料制备  (35,75)</a:t>
            </a:r>
          </a:p>
        </p:txBody>
      </p:sp>
      <p:sp>
        <p:nvSpPr>
          <p:cNvPr id="33" name="matrix-point-3">
            <a:extLst xmlns:a="http://schemas.openxmlformats.org/drawingml/2006/main">
              <a:ext uri="{FF2B5EF4-FFF2-40B4-BE49-F238E27FC236}">
                <a16:creationId xmlns:a16="http://schemas.microsoft.com/office/drawing/2014/main" id="{FE08DAF8-A267-43C5-B5C5-46C24B09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4191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C9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4" name="matrix-point-label-3">
            <a:extLst xmlns:a="http://schemas.openxmlformats.org/drawingml/2006/main">
              <a:ext uri="{FF2B5EF4-FFF2-40B4-BE49-F238E27FC236}">
                <a16:creationId xmlns:a16="http://schemas.microsoft.com/office/drawing/2014/main" id="{9346F416-016C-4BFA-BFEE-303B9631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44386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04040"/>
                </a:solidFill>
              </a:defRPr>
            </a:pPr>
            <a:r>
              <a:rPr sz="1050" b="1">
                <a:solidFill>
                  <a:srgbClr val="404040"/>
                </a:solidFill>
              </a:rPr>
              <a:t>常规加工  (30,30)</a:t>
            </a:r>
          </a:p>
        </p:txBody>
      </p:sp>
      <p:sp>
        <p:nvSpPr>
          <p:cNvPr id="35" name="matrix-aside">
            <a:extLst xmlns:a="http://schemas.openxmlformats.org/drawingml/2006/main">
              <a:ext uri="{FF2B5EF4-FFF2-40B4-BE49-F238E27FC236}">
                <a16:creationId xmlns:a16="http://schemas.microsoft.com/office/drawing/2014/main" id="{E32CEFA8-CC05-498B-9028-D5E5E600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90700"/>
            <a:ext cx="3505200" cy="409575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36" name="matrix-aside-title">
            <a:extLst xmlns:a="http://schemas.openxmlformats.org/drawingml/2006/main">
              <a:ext uri="{FF2B5EF4-FFF2-40B4-BE49-F238E27FC236}">
                <a16:creationId xmlns:a16="http://schemas.microsoft.com/office/drawing/2014/main" id="{0879A2F7-5ECB-4803-B77A-1584CD8C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95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3856"/>
                </a:solidFill>
              </a:defRPr>
            </a:pPr>
            <a:r>
              <a:rPr sz="1800" b="1">
                <a:solidFill>
                  <a:srgbClr val="1D3856"/>
                </a:solidFill>
              </a:rPr>
              <a:t>如何使用这张图</a:t>
            </a:r>
          </a:p>
        </p:txBody>
      </p:sp>
      <p:sp>
        <p:nvSpPr>
          <p:cNvPr id="37" name="matrix-aside-lead">
            <a:extLst xmlns:a="http://schemas.openxmlformats.org/drawingml/2006/main">
              <a:ext uri="{FF2B5EF4-FFF2-40B4-BE49-F238E27FC236}">
                <a16:creationId xmlns:a16="http://schemas.microsoft.com/office/drawing/2014/main" id="{B67A9D95-208B-43EC-8B4C-AB979C03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33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04040"/>
                </a:solidFill>
              </a:defRPr>
            </a:pPr>
            <a:r>
              <a:rPr sz="1350" b="1">
                <a:solidFill>
                  <a:srgbClr val="404040"/>
                </a:solidFill>
              </a:rPr>
              <a:t>先看位置，再看行动</a:t>
            </a:r>
          </a:p>
        </p:txBody>
      </p:sp>
      <p:sp>
        <p:nvSpPr>
          <p:cNvPr id="38" name="matrix-aside-rule">
            <a:extLst xmlns:a="http://schemas.openxmlformats.org/drawingml/2006/main">
              <a:ext uri="{FF2B5EF4-FFF2-40B4-BE49-F238E27FC236}">
                <a16:creationId xmlns:a16="http://schemas.microsoft.com/office/drawing/2014/main" id="{ADBF7449-A89A-46C9-9093-9F92AF09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146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39" name="matrix-step1">
            <a:extLst xmlns:a="http://schemas.openxmlformats.org/drawingml/2006/main">
              <a:ext uri="{FF2B5EF4-FFF2-40B4-BE49-F238E27FC236}">
                <a16:creationId xmlns:a16="http://schemas.microsoft.com/office/drawing/2014/main" id="{048218CB-5DD9-4248-88AF-CFAB3181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81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F91"/>
                </a:solidFill>
              </a:defRPr>
            </a:pPr>
            <a:r>
              <a:rPr sz="1500" b="1">
                <a:solidFill>
                  <a:srgbClr val="315F91"/>
                </a:solidFill>
              </a:rPr>
              <a:t>1</a:t>
            </a:r>
          </a:p>
        </p:txBody>
      </p:sp>
      <p:sp>
        <p:nvSpPr>
          <p:cNvPr id="40" name="matrix-step1-text">
            <a:extLst xmlns:a="http://schemas.openxmlformats.org/drawingml/2006/main">
              <a:ext uri="{FF2B5EF4-FFF2-40B4-BE49-F238E27FC236}">
                <a16:creationId xmlns:a16="http://schemas.microsoft.com/office/drawing/2014/main" id="{64578AA5-79A4-474F-85ED-D02C9CD7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813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4040"/>
                </a:solidFill>
              </a:defRPr>
            </a:pPr>
            <a:r>
              <a:rPr sz="1275">
                <a:solidFill>
                  <a:srgbClr val="404040"/>
                </a:solidFill>
              </a:rPr>
              <a:t>高频高支持：先增设辅导时段。</a:t>
            </a:r>
          </a:p>
        </p:txBody>
      </p:sp>
      <p:sp>
        <p:nvSpPr>
          <p:cNvPr id="41" name="matrix-step2">
            <a:extLst xmlns:a="http://schemas.openxmlformats.org/drawingml/2006/main">
              <a:ext uri="{FF2B5EF4-FFF2-40B4-BE49-F238E27FC236}">
                <a16:creationId xmlns:a16="http://schemas.microsoft.com/office/drawing/2014/main" id="{D126D882-7634-4B8A-8A89-4F578055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528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F91"/>
                </a:solidFill>
              </a:defRPr>
            </a:pPr>
            <a:r>
              <a:rPr sz="1500" b="1">
                <a:solidFill>
                  <a:srgbClr val="315F91"/>
                </a:solidFill>
              </a:rPr>
              <a:t>2</a:t>
            </a:r>
          </a:p>
        </p:txBody>
      </p:sp>
      <p:sp>
        <p:nvSpPr>
          <p:cNvPr id="42" name="matrix-step2-text">
            <a:extLst xmlns:a="http://schemas.openxmlformats.org/drawingml/2006/main">
              <a:ext uri="{FF2B5EF4-FFF2-40B4-BE49-F238E27FC236}">
                <a16:creationId xmlns:a16="http://schemas.microsoft.com/office/drawing/2014/main" id="{6069FF7A-5FD6-4E8B-A6A4-7A51CF24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528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4040"/>
                </a:solidFill>
              </a:defRPr>
            </a:pPr>
            <a:r>
              <a:rPr sz="1275">
                <a:solidFill>
                  <a:srgbClr val="404040"/>
                </a:solidFill>
              </a:rPr>
              <a:t>高频低支持：先完善自助说明。</a:t>
            </a:r>
          </a:p>
        </p:txBody>
      </p:sp>
      <p:sp>
        <p:nvSpPr>
          <p:cNvPr id="43" name="matrix-step3">
            <a:extLst xmlns:a="http://schemas.openxmlformats.org/drawingml/2006/main">
              <a:ext uri="{FF2B5EF4-FFF2-40B4-BE49-F238E27FC236}">
                <a16:creationId xmlns:a16="http://schemas.microsoft.com/office/drawing/2014/main" id="{A68C4CE2-6A0A-40F3-A7B4-2F1DCD5F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24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F91"/>
                </a:solidFill>
              </a:defRPr>
            </a:pPr>
            <a:r>
              <a:rPr sz="1500" b="1">
                <a:solidFill>
                  <a:srgbClr val="315F91"/>
                </a:solidFill>
              </a:rPr>
              <a:t>3</a:t>
            </a:r>
          </a:p>
        </p:txBody>
      </p:sp>
      <p:sp>
        <p:nvSpPr>
          <p:cNvPr id="44" name="matrix-step3-text">
            <a:extLst xmlns:a="http://schemas.openxmlformats.org/drawingml/2006/main">
              <a:ext uri="{FF2B5EF4-FFF2-40B4-BE49-F238E27FC236}">
                <a16:creationId xmlns:a16="http://schemas.microsoft.com/office/drawing/2014/main" id="{266C7D7A-3F3C-4C68-A8CC-4CEE8213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243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04040"/>
                </a:solidFill>
              </a:defRPr>
            </a:pPr>
            <a:r>
              <a:rPr sz="1275">
                <a:solidFill>
                  <a:srgbClr val="404040"/>
                </a:solidFill>
              </a:rPr>
              <a:t>低频高支持：采用预约辅导。</a:t>
            </a:r>
          </a:p>
        </p:txBody>
      </p:sp>
      <p:sp>
        <p:nvSpPr>
          <p:cNvPr id="45" name="matrix-limit-rule">
            <a:extLst xmlns:a="http://schemas.openxmlformats.org/drawingml/2006/main">
              <a:ext uri="{FF2B5EF4-FFF2-40B4-BE49-F238E27FC236}">
                <a16:creationId xmlns:a16="http://schemas.microsoft.com/office/drawing/2014/main" id="{001F8A71-7F8A-49EC-BC5E-FFCE6F3B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530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AF5"/>
            </a:solidFill>
            <a:prstDash val="solid"/>
          </a:ln>
        </p:spPr>
      </p:sp>
      <p:sp>
        <p:nvSpPr>
          <p:cNvPr id="46" name="matrix-limit-label">
            <a:extLst xmlns:a="http://schemas.openxmlformats.org/drawingml/2006/main">
              <a:ext uri="{FF2B5EF4-FFF2-40B4-BE49-F238E27FC236}">
                <a16:creationId xmlns:a16="http://schemas.microsoft.com/office/drawing/2014/main" id="{3FE90972-F4CE-4271-9514-67A4C27A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1435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D3856"/>
                </a:solidFill>
              </a:defRPr>
            </a:pPr>
            <a:r>
              <a:rPr sz="1275" b="1">
                <a:solidFill>
                  <a:srgbClr val="1D3856"/>
                </a:solidFill>
              </a:rPr>
              <a:t>边界</a:t>
            </a:r>
          </a:p>
        </p:txBody>
      </p:sp>
      <p:sp>
        <p:nvSpPr>
          <p:cNvPr id="47" name="matrix-limit-text">
            <a:extLst xmlns:a="http://schemas.openxmlformats.org/drawingml/2006/main">
              <a:ext uri="{FF2B5EF4-FFF2-40B4-BE49-F238E27FC236}">
                <a16:creationId xmlns:a16="http://schemas.microsoft.com/office/drawing/2014/main" id="{883E0B0C-859C-4E17-A079-4E91D05C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04040"/>
                </a:solidFill>
              </a:defRPr>
            </a:pPr>
            <a:r>
              <a:rPr sz="1200">
                <a:solidFill>
                  <a:srgbClr val="404040"/>
                </a:solidFill>
              </a:rPr>
              <a:t>50 为本次讨论分界；点位不表示成本、设备价值或真实利用率。</a:t>
            </a:r>
          </a:p>
        </p:txBody>
      </p:sp>
      <p:sp>
        <p:nvSpPr>
          <p:cNvPr id="48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6465D8E5-6AEA-4CBE-80DA-720C3C6B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49" name="footer-note-4">
            <a:extLst xmlns:a="http://schemas.openxmlformats.org/drawingml/2006/main">
              <a:ext uri="{FF2B5EF4-FFF2-40B4-BE49-F238E27FC236}">
                <a16:creationId xmlns:a16="http://schemas.microsoft.com/office/drawing/2014/main" id="{3CA1C223-B145-44FE-A15D-C3F66809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62725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模拟数据，仅用于方案讨论</a:t>
            </a:r>
          </a:p>
        </p:txBody>
      </p:sp>
      <p:sp>
        <p:nvSpPr>
          <p:cNvPr id="50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4F457A98-236B-41D7-8E80-A07DC47F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562725"/>
            <a:ext cx="260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F6F6F"/>
                </a:solidFill>
              </a:defRPr>
            </a:pPr>
            <a:r>
              <a:rPr sz="975">
                <a:solidFill>
                  <a:srgbClr val="6F6F6F"/>
                </a:solidFill>
              </a:rPr>
              <a:t>大学共享仪器服务改进  ·  04</a:t>
            </a:r>
          </a:p>
        </p:txBody>
      </p:sp>
    </p:spTree>
    <p:extLst>
      <p:ext uri="{BB962C8B-B14F-4D97-AF65-F5344CB8AC3E}">
        <p14:creationId xmlns:p14="http://schemas.microsoft.com/office/powerpoint/2010/main" val="19491479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2026-09-07T05:31:49.7990000Z</dcterms:created>
  <dcterms:modified xsi:type="dcterms:W3CDTF">2026-09-07T05:31:49.7990000Z</dcterms:modified>
</coreProperties>
</file>