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32165511594550" /><Relationship Type="http://schemas.openxmlformats.org/officeDocument/2006/relationships/extended-properties" Target="/docProps/app.xml" Id="R4157f2e32a664a10" /><Relationship Type="http://schemas.openxmlformats.org/officeDocument/2006/relationships/officeDocument" Target="/ppt/presentation.xml" Id="R4d64e97ffe5247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f78eb5a5ca44a9"/>
  </p:sldMasterIdLst>
  <p:notesMasterIdLst>
    <p:notesMasterId xmlns:r="http://schemas.openxmlformats.org/officeDocument/2006/relationships" r:id="Rcfe74324d27b4b90"/>
  </p:notesMasterIdLst>
  <p:sldIdLst>
    <p:sldId xmlns:r="http://schemas.openxmlformats.org/officeDocument/2006/relationships" id="256" r:id="Re295b2051f834b60"/>
    <p:sldId xmlns:r="http://schemas.openxmlformats.org/officeDocument/2006/relationships" id="257" r:id="R15a72058b3704a0c"/>
    <p:sldId xmlns:r="http://schemas.openxmlformats.org/officeDocument/2006/relationships" id="258" r:id="R7da85ef0dbe844b6"/>
    <p:sldId xmlns:r="http://schemas.openxmlformats.org/officeDocument/2006/relationships" id="259" r:id="R99afeabb54324947"/>
    <p:sldId xmlns:r="http://schemas.openxmlformats.org/officeDocument/2006/relationships" id="260" r:id="R7df6f83ada2041aa"/>
    <p:sldId xmlns:r="http://schemas.openxmlformats.org/officeDocument/2006/relationships" id="261" r:id="Rac70162cb4884648"/>
    <p:sldId xmlns:r="http://schemas.openxmlformats.org/officeDocument/2006/relationships" id="262" r:id="R2b09674814314e87"/>
    <p:sldId xmlns:r="http://schemas.openxmlformats.org/officeDocument/2006/relationships" id="263" r:id="R0521c958fcc740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e2e1bf44f94db2" /><Relationship Type="http://schemas.openxmlformats.org/officeDocument/2006/relationships/slideMaster" Target="/ppt/slideMasters/slideMaster1.xml" Id="Ra1f78eb5a5ca44a9" /><Relationship Type="http://schemas.openxmlformats.org/officeDocument/2006/relationships/notesMaster" Target="/ppt/notesMasters/notesMaster1.xml" Id="Rcfe74324d27b4b90" /><Relationship Type="http://schemas.openxmlformats.org/officeDocument/2006/relationships/presProps" Target="/ppt/presProps.xml" Id="R1a68b2280b884636" /><Relationship Type="http://schemas.openxmlformats.org/officeDocument/2006/relationships/tableStyles" Target="/ppt/tableStyles.xml" Id="Ra26bd713750848da" /><Relationship Type="http://schemas.openxmlformats.org/officeDocument/2006/relationships/slide" Target="/ppt/slides/slide1.xml" Id="Re295b2051f834b60" /><Relationship Type="http://schemas.openxmlformats.org/officeDocument/2006/relationships/slide" Target="/ppt/slides/slide2.xml" Id="R15a72058b3704a0c" /><Relationship Type="http://schemas.openxmlformats.org/officeDocument/2006/relationships/slide" Target="/ppt/slides/slide3.xml" Id="R7da85ef0dbe844b6" /><Relationship Type="http://schemas.openxmlformats.org/officeDocument/2006/relationships/slide" Target="/ppt/slides/slide4.xml" Id="R99afeabb54324947" /><Relationship Type="http://schemas.openxmlformats.org/officeDocument/2006/relationships/slide" Target="/ppt/slides/slide5.xml" Id="R7df6f83ada2041aa" /><Relationship Type="http://schemas.openxmlformats.org/officeDocument/2006/relationships/slide" Target="/ppt/slides/slide6.xml" Id="Rac70162cb4884648" /><Relationship Type="http://schemas.openxmlformats.org/officeDocument/2006/relationships/slide" Target="/ppt/slides/slide7.xml" Id="R2b09674814314e87" /><Relationship Type="http://schemas.openxmlformats.org/officeDocument/2006/relationships/slide" Target="/ppt/slides/slide8.xml" Id="R0521c958fcc740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aaf0ab645f40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c0ef433adb41b4" /><Relationship Type="http://schemas.openxmlformats.org/officeDocument/2006/relationships/notesMaster" Target="/ppt/notesMasters/notesMaster1.xml" Id="Rdfb49eb8c94743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08a8aacd034137" /><Relationship Type="http://schemas.openxmlformats.org/officeDocument/2006/relationships/notesMaster" Target="/ppt/notesMasters/notesMaster1.xml" Id="R78d85d0b8fe646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bf231544efe42ea" /><Relationship Type="http://schemas.openxmlformats.org/officeDocument/2006/relationships/notesMaster" Target="/ppt/notesMasters/notesMaster1.xml" Id="Rf79e16db6f5345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8b979c6a38451d" /><Relationship Type="http://schemas.openxmlformats.org/officeDocument/2006/relationships/notesMaster" Target="/ppt/notesMasters/notesMaster1.xml" Id="R2129595d006347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e2c01926e4c0d" /><Relationship Type="http://schemas.openxmlformats.org/officeDocument/2006/relationships/notesMaster" Target="/ppt/notesMasters/notesMaster1.xml" Id="Rf5f534bae7614f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b0bebf8fa74aca" /><Relationship Type="http://schemas.openxmlformats.org/officeDocument/2006/relationships/notesMaster" Target="/ppt/notesMasters/notesMaster1.xml" Id="R3c0ed444166548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33aff8331e549de" /><Relationship Type="http://schemas.openxmlformats.org/officeDocument/2006/relationships/notesMaster" Target="/ppt/notesMasters/notesMaster1.xml" Id="R39cbc6ba025a42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2ef99fe5b24882" /><Relationship Type="http://schemas.openxmlformats.org/officeDocument/2006/relationships/notesMaster" Target="/ppt/notesMasters/notesMaster1.xml" Id="Rb998a481e1ae48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来源：inputs/manuscript.md。虚构大学场景，仅用于排版验证与方案讨论，不代表已实施项目或真实成效。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1、5、6、8、9 段。页内三项是叙事章节，不是新增事实。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2 段。页面将“可找到结果”和“可解释依据”作概念对照，未引入数量或效果数据。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3 段。关系图采用原生椭圆与连接线，表达共同解释关系，不表达顺序或数量比例。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4 段。页面用左右边界和受控引用表示访问关系，未暗示任何授权已发生。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6 段。流程保留提交、定位、补充、确认四个阶段，并保留新的授权分支与暂停条件。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5、7 段。四周、一个方向、两名成员及周次安排均保持拟定口径，未添加测量数字。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来源：inputs/manuscript.md 第 8、9 段。收束保留三项评估问题、停止信号和有限尝试的结论，未把方案写成已验证结果。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c858839b144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b1963b96b7464b" /><Relationship Type="http://schemas.openxmlformats.org/officeDocument/2006/relationships/slideLayout" Target="/ppt/slideLayouts/slideLayout1.xml" Id="R4691c6842b6247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91c6842b6247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b6a8ae0c04373" /><Relationship Type="http://schemas.openxmlformats.org/officeDocument/2006/relationships/notesSlide" Target="/ppt/notesSlides/notesSlide1.xml" Id="Ree4df5a048934d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b3d834c344303" /><Relationship Type="http://schemas.openxmlformats.org/officeDocument/2006/relationships/notesSlide" Target="/ppt/notesSlides/notesSlide2.xml" Id="R129ae5b54c514d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82812d86c441a1" /><Relationship Type="http://schemas.openxmlformats.org/officeDocument/2006/relationships/notesSlide" Target="/ppt/notesSlides/notesSlide3.xml" Id="R5e5b1b985ef5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25b124eff433e" /><Relationship Type="http://schemas.openxmlformats.org/officeDocument/2006/relationships/notesSlide" Target="/ppt/notesSlides/notesSlide4.xml" Id="R94303924b1634a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ffbb9bace47d2" /><Relationship Type="http://schemas.openxmlformats.org/officeDocument/2006/relationships/notesSlide" Target="/ppt/notesSlides/notesSlide5.xml" Id="R6486fbab14dc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8bd5fcbc042e3" /><Relationship Type="http://schemas.openxmlformats.org/officeDocument/2006/relationships/notesSlide" Target="/ppt/notesSlides/notesSlide6.xml" Id="R495c615d4b8f4ab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6ceb9f7604a4f" /><Relationship Type="http://schemas.openxmlformats.org/officeDocument/2006/relationships/notesSlide" Target="/ppt/notesSlides/notesSlide7.xml" Id="R7a84b6c4e71141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2c2c973a7949a8" /><Relationship Type="http://schemas.openxmlformats.org/officeDocument/2006/relationships/notesSlide" Target="/ppt/notesSlides/notesSlide8.xml" Id="Ra2d9605ad7ab4c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9875C2-C5B5-46A5-B451-4D42F595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94D00-AEC6-4D2A-AFBB-7DAED8AB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讨论稿  /  四周小范围试点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3FA5B-3DA8-4E56-9BC7-57BA08D7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9700"/>
            <a:ext cx="561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实验数据</a:t>
            </a:r>
          </a:p>
          <a:p xmlns:a="http://schemas.openxmlformats.org/drawingml/2006/main">
            <a:pPr algn="l">
              <a:def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归档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3EC43A-8DA3-481D-A0E1-C7480A1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81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先把一次结果说明白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E715A-FA78-47ED-A693-375FEC86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29050"/>
            <a:ext cx="495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面向课题组教师与研究生的方案讨论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把结果、依据与责任边界放回同一个记录单元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061AB6-0D4D-42CE-8961-B8B1D75A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24450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ADD968-4A32-4C87-AD58-F2116094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530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这是一项有限尝试：先让一次结果可以被理解，</a:t>
            </a:r>
          </a:p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再决定哪些记录值得长期保存。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0108FB-0875-4C6F-A63D-58ACB328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0970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71C5D-1E29-403E-AC99-D01D2357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762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5400" b="0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CF9AA-C56F-4F3E-B189-6949001B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</a:t>
            </a:r>
          </a:p>
          <a:p xmlns:a="http://schemas.openxmlformats.org/drawingml/2006/main">
            <a:pPr algn="l">
              <a:def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不等于结果可以解释。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976D1-A46B-4DD3-85DB-EEB869DD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讨论重点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299321-7792-4FE2-BE1F-018702F7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试点范围、复核方式、停止信号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4DEE1-3388-4653-9FCA-D6587AE3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479660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hapter-2">
            <a:extLst xmlns:a="http://schemas.openxmlformats.org/drawingml/2006/main">
              <a:ext uri="{FF2B5EF4-FFF2-40B4-BE49-F238E27FC236}">
                <a16:creationId xmlns:a16="http://schemas.microsoft.com/office/drawing/2014/main" id="{F32E45AC-62A7-4536-B654-254239DB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00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CF88A6B-6669-4D99-8A11-51E45CE6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讨论框架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B29EFB91-A520-4560-996C-975AA8F9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67A7360-E962-418D-A626-C96BC911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000F6-7C26-4F93-915E-EC70E3C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09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讨论只确认一个有限尝试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57554-9192-4F37-8892-4A5291E8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先建立共同问题，再把试点的边界与退出条件说清楚。</a:t>
            </a:r>
          </a:p>
        </p:txBody>
      </p:sp>
      <p:sp>
        <p:nvSpPr>
          <p:cNvPr id="7" name="agenda-dot-01">
            <a:extLst xmlns:a="http://schemas.openxmlformats.org/drawingml/2006/main">
              <a:ext uri="{FF2B5EF4-FFF2-40B4-BE49-F238E27FC236}">
                <a16:creationId xmlns:a16="http://schemas.microsoft.com/office/drawing/2014/main" id="{7142E5EA-82CF-4EC0-AEEF-30184DE6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BE290-DF56-453C-B62B-24D92C66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051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84892-6057-4E4E-A0A9-5BD0F680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27569-CF51-4893-8B15-D4BF89DC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找到图片，却说不清来源与依据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CAC4E-2228-4EC4-A32B-829BBEFD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为什么需要记录单元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509154-9427-4E15-9697-1BFF7A19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956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3" name="agenda-dot-02">
            <a:extLst xmlns:a="http://schemas.openxmlformats.org/drawingml/2006/main">
              <a:ext uri="{FF2B5EF4-FFF2-40B4-BE49-F238E27FC236}">
                <a16:creationId xmlns:a16="http://schemas.microsoft.com/office/drawing/2014/main" id="{DC75724E-DA5C-4D18-9E93-49B02FDB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C186B-0F0B-4940-A72A-16EE792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528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8C4F1-E273-49FD-A689-E0DB5663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D0076-0680-4736-A7F2-E863AC69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619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把结果与依据放在同一个关系里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4665E-21F3-408B-894B-023340E1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433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哪些内容要保留，哪些访问仍受限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BD2A9-F160-47FC-895B-85D5038F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4340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agenda-dot-03">
            <a:extLst xmlns:a="http://schemas.openxmlformats.org/drawingml/2006/main">
              <a:ext uri="{FF2B5EF4-FFF2-40B4-BE49-F238E27FC236}">
                <a16:creationId xmlns:a16="http://schemas.microsoft.com/office/drawing/2014/main" id="{D949B340-8973-422D-9C3D-AAB0B14F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C3EDCB-D846-403E-9BC2-E8B37084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53E6A-8D86-40CE-B947-F7159E14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CE8A8-FFF4-424A-85C9-4521B990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6672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四周、一个方向、两名自愿成员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440137-ACCB-46ED-90CD-8D8810CC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9110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如何复核，何时缩小或停止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7F525-AFC4-47E7-8A66-0ECC5E8F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A17EA-F043-487A-9494-7416571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14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确认范围，而不是承诺效率提升</a:t>
            </a:r>
          </a:p>
        </p:txBody>
      </p:sp>
    </p:spTree>
    <p:extLst>
      <p:ext uri="{BB962C8B-B14F-4D97-AF65-F5344CB8AC3E}">
        <p14:creationId xmlns:p14="http://schemas.microsoft.com/office/powerpoint/2010/main" val="911651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hapter-3">
            <a:extLst xmlns:a="http://schemas.openxmlformats.org/drawingml/2006/main">
              <a:ext uri="{FF2B5EF4-FFF2-40B4-BE49-F238E27FC236}">
                <a16:creationId xmlns:a16="http://schemas.microsoft.com/office/drawing/2014/main" id="{D396CA49-3966-4356-BB7A-B0B536AD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2C1DFC9-2097-4AD2-AA15-C7A2E8EA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问题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AF08C7CE-897F-4155-956C-DF49AD7C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3B61670E-D598-4B50-81ED-89810E57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1BB10-B36D-4E44-A393-14931DB5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文件存在，不等于结果可解释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4E13E-E3F4-4231-8B53-07C96121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同名文件和个人目录让重复检索变难，但真正的缺口在于关系没有被保留下来。</a:t>
            </a:r>
          </a:p>
        </p:txBody>
      </p:sp>
      <p:sp>
        <p:nvSpPr>
          <p:cNvPr id="7" name="problem-left">
            <a:extLst xmlns:a="http://schemas.openxmlformats.org/drawingml/2006/main">
              <a:ext uri="{FF2B5EF4-FFF2-40B4-BE49-F238E27FC236}">
                <a16:creationId xmlns:a16="http://schemas.microsoft.com/office/drawing/2014/main" id="{56937234-46F2-4D4A-B685-4E95D954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0"/>
            <a:ext cx="457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F810B4-A6F7-43BE-9BF2-75C66309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能找到什么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15CF3-7A54-41E2-856F-BF518DAB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最终图片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某个结果文件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一条看似明确的结论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21934-A972-4332-B270-1832619F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718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文件位置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F1C3ED-45DE-4C6A-AE52-B1DA61C9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0" cy="2038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problem-right">
            <a:extLst xmlns:a="http://schemas.openxmlformats.org/drawingml/2006/main">
              <a:ext uri="{FF2B5EF4-FFF2-40B4-BE49-F238E27FC236}">
                <a16:creationId xmlns:a16="http://schemas.microsoft.com/office/drawing/2014/main" id="{D157369E-0E8D-432F-80FF-2161473A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667000"/>
            <a:ext cx="5238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28CE4-1C7F-4512-8356-B2DBAF81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971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仍说不清什么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EB108-53A6-41E3-A0C1-87F9E04A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290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来自哪批样本？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用了哪版脚本？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哪些数据被排除，依据是什么？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74131-1036-4D76-AC1F-76D2B411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8B0036-228B-4E72-B4D3-1F4BCB82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归档首先要保存结果和依据之间的关系，随后才讨论扩大共享范围。</a:t>
            </a:r>
          </a:p>
        </p:txBody>
      </p:sp>
    </p:spTree>
    <p:extLst>
      <p:ext uri="{BB962C8B-B14F-4D97-AF65-F5344CB8AC3E}">
        <p14:creationId xmlns:p14="http://schemas.microsoft.com/office/powerpoint/2010/main" val="12662840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4">
            <a:extLst xmlns:a="http://schemas.openxmlformats.org/drawingml/2006/main">
              <a:ext uri="{FF2B5EF4-FFF2-40B4-BE49-F238E27FC236}">
                <a16:creationId xmlns:a16="http://schemas.microsoft.com/office/drawing/2014/main" id="{F7F118FE-1452-4DA5-A8D9-7B22B3AA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0AFA06B2-18CC-4F80-861E-7579679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记录单元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ED8E33F2-C320-4F75-B8D8-7C74534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8FA9193-0273-47F5-9A23-4C15BAEB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6935F2-5ED8-4B4A-AFAC-CB80CF04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一个结果需要一组相互关联的依据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DEE26-FE24-4A0C-AE10-DC7E05BC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五项内容共同解释一个结果；它们不是必须依次执行的五个步骤。</a:t>
            </a:r>
          </a:p>
        </p:txBody>
      </p:sp>
      <p:sp>
        <p:nvSpPr>
          <p:cNvPr id="7" name="record-center">
            <a:extLst xmlns:a="http://schemas.openxmlformats.org/drawingml/2006/main">
              <a:ext uri="{FF2B5EF4-FFF2-40B4-BE49-F238E27FC236}">
                <a16:creationId xmlns:a16="http://schemas.microsoft.com/office/drawing/2014/main" id="{CC07B839-2E72-47D7-864C-96423CAF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43250"/>
            <a:ext cx="20955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F6F65-8B41-43C9-B00A-E30CF82C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432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可讨论</a:t>
            </a:r>
          </a:p>
          <a:p xmlns:a="http://schemas.openxmlformats.org/drawingml/2006/main">
            <a:pPr algn="ctr">
              <a:def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结果</a:t>
            </a:r>
          </a:p>
        </p:txBody>
      </p:sp>
      <p:sp>
        <p:nvSpPr>
          <p:cNvPr id="9" name="record-原始数据">
            <a:extLst xmlns:a="http://schemas.openxmlformats.org/drawingml/2006/main">
              <a:ext uri="{FF2B5EF4-FFF2-40B4-BE49-F238E27FC236}">
                <a16:creationId xmlns:a16="http://schemas.microsoft.com/office/drawing/2014/main" id="{7FE72A4D-D59A-42D0-8D16-4EE09747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11D94-8B34-4F76-967A-08E89938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原始数据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9767BA-E2B4-4890-AE8B-4AE092FEE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保持原貌</a:t>
            </a:r>
          </a:p>
        </p:txBody>
      </p:sp>
      <p:cxnSp>
        <p:nvCxnSpPr>
          <p:cNvPr id="42" name=""/>
          <p:cNvCxnSpPr>
            <a:stCxn xmlns:a="http://schemas.openxmlformats.org/drawingml/2006/main" id="9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3810000" y="2743200"/>
            <a:ext cx="1238250" cy="895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13" name="record-样本与条件">
            <a:extLst xmlns:a="http://schemas.openxmlformats.org/drawingml/2006/main">
              <a:ext uri="{FF2B5EF4-FFF2-40B4-BE49-F238E27FC236}">
                <a16:creationId xmlns:a16="http://schemas.microsoft.com/office/drawing/2014/main" id="{CB2202EF-5952-43D1-960D-A389D730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4437B3-7039-4DB8-8AE7-6CC67CB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336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样本与条件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1E384A-45BA-49AD-BD16-7225B39B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采集上下文</a:t>
            </a:r>
          </a:p>
        </p:txBody>
      </p:sp>
      <p:cxnSp>
        <p:nvCxnSpPr>
          <p:cNvPr id="46" name=""/>
          <p:cNvCxnSpPr>
            <a:stCxn xmlns:a="http://schemas.openxmlformats.org/drawingml/2006/main" id="13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4819650" y="2743200"/>
            <a:ext cx="5334000" cy="15049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17" name="record-处理脚本">
            <a:extLst xmlns:a="http://schemas.openxmlformats.org/drawingml/2006/main">
              <a:ext uri="{FF2B5EF4-FFF2-40B4-BE49-F238E27FC236}">
                <a16:creationId xmlns:a16="http://schemas.microsoft.com/office/drawing/2014/main" id="{4B8F7EBC-68E9-4E7D-8DFB-58E508F7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86FD1A-DB96-45DF-B6DA-AD1AE235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处理脚本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EC5ECF-E7C9-4425-9BBD-7848174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定位实际运行版本</a:t>
            </a:r>
          </a:p>
        </p:txBody>
      </p:sp>
      <p:cxnSp>
        <p:nvCxnSpPr>
          <p:cNvPr id="50" name=""/>
          <p:cNvCxnSpPr>
            <a:stCxn xmlns:a="http://schemas.openxmlformats.org/drawingml/2006/main" id="17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848100" y="3638550"/>
            <a:ext cx="120015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21" name="record-结果文件">
            <a:extLst xmlns:a="http://schemas.openxmlformats.org/drawingml/2006/main">
              <a:ext uri="{FF2B5EF4-FFF2-40B4-BE49-F238E27FC236}">
                <a16:creationId xmlns:a16="http://schemas.microsoft.com/office/drawing/2014/main" id="{7F358C67-ABC9-4C44-8759-CCDBF148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2915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4096C-15C2-4B6F-AB08-0647CA73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7625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A42078-C987-4791-BA0E-CD229C19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2920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对应图与输出</a:t>
            </a:r>
          </a:p>
        </p:txBody>
      </p:sp>
      <p:cxnSp>
        <p:nvCxnSpPr>
          <p:cNvPr id="54" name=""/>
          <p:cNvCxnSpPr>
            <a:stCxn xmlns:a="http://schemas.openxmlformats.org/drawingml/2006/main" id="21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19650" y="3638550"/>
            <a:ext cx="5276850" cy="133350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25" name="record-异常与排除">
            <a:extLst xmlns:a="http://schemas.openxmlformats.org/drawingml/2006/main">
              <a:ext uri="{FF2B5EF4-FFF2-40B4-BE49-F238E27FC236}">
                <a16:creationId xmlns:a16="http://schemas.microsoft.com/office/drawing/2014/main" id="{B0E1A67D-AE59-4615-BA27-6E10909C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19700"/>
            <a:ext cx="180975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DC8112-FBBA-40B6-A2E6-0E3EF4E3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53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异常与排除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6003C6-8C91-4377-8FE9-1C090F8D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6197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保留判断依据</a:t>
            </a:r>
          </a:p>
        </p:txBody>
      </p:sp>
      <p:cxnSp>
        <p:nvCxnSpPr>
          <p:cNvPr id="58" name=""/>
          <p:cNvCxnSpPr>
            <a:stCxn xmlns:a="http://schemas.openxmlformats.org/drawingml/2006/main" id="25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 flipV="1">
            <a:off x="4819650" y="3638550"/>
            <a:ext cx="2247900" cy="1924050"/>
          </a:xfrm>
          <a:prstGeom xmlns:a="http://schemas.openxmlformats.org/drawingml/2006/main" prst="bentConnector4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AC13D3-172C-4350-99AF-157991E8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记录单元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78294-86ED-4BA2-8E06-82C0C2A1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19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结果 + 依据 + 责任边界</a:t>
            </a:r>
          </a:p>
        </p:txBody>
      </p:sp>
    </p:spTree>
    <p:extLst>
      <p:ext uri="{BB962C8B-B14F-4D97-AF65-F5344CB8AC3E}">
        <p14:creationId xmlns:p14="http://schemas.microsoft.com/office/powerpoint/2010/main" val="118490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hapter-5">
            <a:extLst xmlns:a="http://schemas.openxmlformats.org/drawingml/2006/main">
              <a:ext uri="{FF2B5EF4-FFF2-40B4-BE49-F238E27FC236}">
                <a16:creationId xmlns:a16="http://schemas.microsoft.com/office/drawing/2014/main" id="{6DFE9AF9-60C7-4D38-8D1B-DA69C64AF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F570455-1E80-4094-B32A-5DF57CD5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访问边界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4A10E329-AA3D-4F71-9D22-1C1E7316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FB85EB85-FAF3-4F45-A303-6F9E24B5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7809AC-CA21-4D1C-825C-E8F06FA4D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记录完整，不等于文件开放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C523B-BD5E-47D8-919B-A660BAFD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记录可以让讨论更清楚，同时保留原始数据的授权边界。</a:t>
            </a:r>
          </a:p>
        </p:txBody>
      </p:sp>
      <p:sp>
        <p:nvSpPr>
          <p:cNvPr id="7" name="access-public">
            <a:extLst xmlns:a="http://schemas.openxmlformats.org/drawingml/2006/main">
              <a:ext uri="{FF2B5EF4-FFF2-40B4-BE49-F238E27FC236}">
                <a16:creationId xmlns:a16="http://schemas.microsoft.com/office/drawing/2014/main" id="{FB19E0CA-02BF-4575-A650-477EF6EA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47950"/>
            <a:ext cx="4000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1CABFD-EBD6-4E70-861E-7FB8B9CE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讨论材料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C0B8E-863E-47A0-9E73-7C6FDEAE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476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结果图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可公开的解释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受控引用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B323C-3C1F-42CF-83CF-469621E0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910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可以进入讨论材料</a:t>
            </a:r>
          </a:p>
        </p:txBody>
      </p:sp>
      <p:sp>
        <p:nvSpPr>
          <p:cNvPr id="11" name="access-restricted">
            <a:extLst xmlns:a="http://schemas.openxmlformats.org/drawingml/2006/main">
              <a:ext uri="{FF2B5EF4-FFF2-40B4-BE49-F238E27FC236}">
                <a16:creationId xmlns:a16="http://schemas.microsoft.com/office/drawing/2014/main" id="{65C9558C-5EA0-4217-AE48-E2515BD6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4000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8421B-D523-4824-8B45-D88927B8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受限原始数据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0615F0-463C-46E6-842A-9C8933DD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86150"/>
            <a:ext cx="2857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仍放在原授权位置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记录访问条件</a:t>
            </a:r>
          </a:p>
          <a:p xmlns:a="http://schemas.openxmlformats.org/drawingml/2006/main">
            <a:pPr algn="l">
              <a:def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个人信息与合作限制不变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B5553-251E-45FD-BC2F-57F20312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91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授权未确认时暂停共享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03D0D-C608-4210-8F5B-CAC8F881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B4A4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3862D-16B3-408D-B807-B5561369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受控引用</a:t>
            </a:r>
          </a:p>
          <a:p xmlns:a="http://schemas.openxmlformats.org/drawingml/2006/main">
            <a:pPr algn="ctr">
              <a:def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+ 访问条件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3C95FD-5362-4719-A785-FDD68D6C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67350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9860E-356D-4FEC-81A3-58050554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记录表中出现一个路径，也不代表其他成员已经取得访问权。</a:t>
            </a:r>
          </a:p>
        </p:txBody>
      </p:sp>
    </p:spTree>
    <p:extLst>
      <p:ext uri="{BB962C8B-B14F-4D97-AF65-F5344CB8AC3E}">
        <p14:creationId xmlns:p14="http://schemas.microsoft.com/office/powerpoint/2010/main" val="1029331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chapter-6">
            <a:extLst xmlns:a="http://schemas.openxmlformats.org/drawingml/2006/main">
              <a:ext uri="{FF2B5EF4-FFF2-40B4-BE49-F238E27FC236}">
                <a16:creationId xmlns:a16="http://schemas.microsoft.com/office/drawing/2014/main" id="{7C2511DD-DF36-41B2-BCF1-9E446C88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C8F08E5-C10F-48FA-99EF-6DBB2839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复核流程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FDDD4A68-E5EB-4C26-A942-BE863FDF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4897F709-133A-4D8E-905E-ADA12B41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9F355-AABA-427A-8CBD-2FAE501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复核先检查可理解性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F948B-D2BE-454E-8FBD-75D08AC4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609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先确认别人能否理解结果如何产生，再进入可讨论版本。</a:t>
            </a:r>
          </a:p>
        </p:txBody>
      </p:sp>
      <p:sp>
        <p:nvSpPr>
          <p:cNvPr id="7" name="flow-01">
            <a:extLst xmlns:a="http://schemas.openxmlformats.org/drawingml/2006/main">
              <a:ext uri="{FF2B5EF4-FFF2-40B4-BE49-F238E27FC236}">
                <a16:creationId xmlns:a16="http://schemas.microsoft.com/office/drawing/2014/main" id="{EBE49588-AC7D-4EEC-AA58-25D4F667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DD327-F1B2-4865-9EEA-F58E990C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8D77A-BBA5-4B95-8C4A-367490C7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提交记录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5474A-BD1A-4C28-A921-56A3CC4A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执行者提交结果记录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及受控引用</a:t>
            </a:r>
          </a:p>
        </p:txBody>
      </p:sp>
      <p:sp>
        <p:nvSpPr>
          <p:cNvPr id="11" name="flow-02">
            <a:extLst xmlns:a="http://schemas.openxmlformats.org/drawingml/2006/main">
              <a:ext uri="{FF2B5EF4-FFF2-40B4-BE49-F238E27FC236}">
                <a16:creationId xmlns:a16="http://schemas.microsoft.com/office/drawing/2014/main" id="{3D034CAD-49D9-4F2C-A541-4162BE10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77C2A3-2D2D-4682-8DD8-5CE4D0CD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376228-F42C-462B-ABAA-AEC2A459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尝试定位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FF2D97-369D-45B8-B0D8-87B9FB9D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另一位成员定位数据、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脚本与条件并提出缺项</a:t>
            </a:r>
          </a:p>
        </p:txBody>
      </p:sp>
      <p:sp>
        <p:nvSpPr>
          <p:cNvPr id="15" name="flow-03">
            <a:extLst xmlns:a="http://schemas.openxmlformats.org/drawingml/2006/main">
              <a:ext uri="{FF2B5EF4-FFF2-40B4-BE49-F238E27FC236}">
                <a16:creationId xmlns:a16="http://schemas.microsoft.com/office/drawing/2014/main" id="{9422ECC6-5BDC-443A-BB50-BE99E254C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ADC15-05F2-42A9-A7D5-BB1DFCAD6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743B6-95DB-4B5A-936F-2E1A4F29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补充缺项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480DE7-248C-4E41-8711-BC8AFAA5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执行者补充说明，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保留异常与排除依据</a:t>
            </a:r>
          </a:p>
        </p:txBody>
      </p:sp>
      <p:sp>
        <p:nvSpPr>
          <p:cNvPr id="19" name="flow-04">
            <a:extLst xmlns:a="http://schemas.openxmlformats.org/drawingml/2006/main">
              <a:ext uri="{FF2B5EF4-FFF2-40B4-BE49-F238E27FC236}">
                <a16:creationId xmlns:a16="http://schemas.microsoft.com/office/drawing/2014/main" id="{8DF47169-C392-4F32-91A8-1C5C41AD7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24150"/>
            <a:ext cx="23241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CA5C3-6331-4AE9-8369-32BAE86D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956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97472A-5D9B-4F96-89F5-C353E500E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194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负责人确认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173C8-602B-4B2D-8233-19746021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00450"/>
            <a:ext cx="1981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负责人确认后，</a:t>
            </a:r>
          </a:p>
          <a:p xmlns:a="http://schemas.openxmlformats.org/drawingml/2006/main">
            <a:pPr algn="l">
              <a:def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记录进入可讨论版本</a:t>
            </a:r>
          </a:p>
        </p:txBody>
      </p:sp>
      <p:cxnSp>
        <p:nvCxnSpPr>
          <p:cNvPr id="53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765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5054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cxnSp>
        <p:nvCxnSpPr>
          <p:cNvPr id="55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134350" y="3409950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4B4A4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DC4237-0C5C-4595-83ED-CB0BE76B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29125"/>
            <a:ext cx="0" cy="590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14307-C0C8-4D92-9C9D-2C7A89C5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196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8" name="authorization-branch">
            <a:extLst xmlns:a="http://schemas.openxmlformats.org/drawingml/2006/main">
              <a:ext uri="{FF2B5EF4-FFF2-40B4-BE49-F238E27FC236}">
                <a16:creationId xmlns:a16="http://schemas.microsoft.com/office/drawing/2014/main" id="{78787E78-9272-446A-B3E3-EAF830AD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95825"/>
            <a:ext cx="333375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E3EF9A-58D7-42AC-80B6-38122783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如果涉及新的访问授权：暂停共享，由负责人处理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105F3-FB45-4A08-AAE5-221B104E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864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复核不要求复做整项实验，也不代替科学结论审查。</a:t>
            </a:r>
          </a:p>
        </p:txBody>
      </p:sp>
    </p:spTree>
    <p:extLst>
      <p:ext uri="{BB962C8B-B14F-4D97-AF65-F5344CB8AC3E}">
        <p14:creationId xmlns:p14="http://schemas.microsoft.com/office/powerpoint/2010/main" val="841967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chapter-7">
            <a:extLst xmlns:a="http://schemas.openxmlformats.org/drawingml/2006/main">
              <a:ext uri="{FF2B5EF4-FFF2-40B4-BE49-F238E27FC236}">
                <a16:creationId xmlns:a16="http://schemas.microsoft.com/office/drawing/2014/main" id="{2730D041-1A77-44F9-8378-856E4125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59B0F150-EDAA-45C7-A689-DF40A0B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试点范围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473DC5DF-1276-4171-825F-69ED6E79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85020A82-6A18-4331-9387-22C3D2B9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5EEDB-12F4-4033-B107-F6438D8D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四周试点只测试一件事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DACF3-1463-4F4F-8E6D-39C53F75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范围是拟定安排，不代表已经测得效率提升或完成率。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9B22A-9A1F-4D71-BC44-4DEB8B8E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FBFFB6-96E3-4B6F-901E-50228D3ED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AF63BC-FDB8-4F0C-A599-6DDD7D60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3948C-E73D-4299-A45B-6390DA1D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个课题方向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B86A9D-C6AB-4643-9D9B-98D907A3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38400"/>
            <a:ext cx="85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3600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C6E04-D587-48C1-887B-AF844695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05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 i="0">
                <a:solidFill>
                  <a:srgbClr val="20201D"/>
                </a:solidFill>
                <a:latin typeface="Noto Sans SC"/>
                <a:ea typeface="Noto Sans SC"/>
                <a:cs typeface="Noto Sans SC"/>
              </a:rPr>
              <a:t>名自愿成员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B4B5B6-000D-4C55-9563-1852FA5C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week-1">
            <a:extLst xmlns:a="http://schemas.openxmlformats.org/drawingml/2006/main">
              <a:ext uri="{FF2B5EF4-FFF2-40B4-BE49-F238E27FC236}">
                <a16:creationId xmlns:a16="http://schemas.microsoft.com/office/drawing/2014/main" id="{BF320EAC-0983-4C7B-AC1C-BB06DAB6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83C75-A19D-41D8-A841-77F457D0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4D9C1-7DF4-49E3-98DA-C2A5697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1 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7BF33-9576-4310-99E3-3CE267B5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明确最少字段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用一个结果试填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D1424-BD4C-446F-B87C-B6EED2B1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week-2">
            <a:extLst xmlns:a="http://schemas.openxmlformats.org/drawingml/2006/main">
              <a:ext uri="{FF2B5EF4-FFF2-40B4-BE49-F238E27FC236}">
                <a16:creationId xmlns:a16="http://schemas.microsoft.com/office/drawing/2014/main" id="{EB86CCD4-6E72-4807-98D2-527B1FDA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F607A1-9A04-4AFB-A14E-809197D49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EFDB8B-C114-4431-96F5-27601B9B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2 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5D379B-903C-4675-80FE-D9BAEC13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在实际工作中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记录缺项与负担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E0E71-CB82-4DE1-8434-6EEB9500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4" name="week-3">
            <a:extLst xmlns:a="http://schemas.openxmlformats.org/drawingml/2006/main">
              <a:ext uri="{FF2B5EF4-FFF2-40B4-BE49-F238E27FC236}">
                <a16:creationId xmlns:a16="http://schemas.microsoft.com/office/drawing/2014/main" id="{D9A4DD49-3911-4CDD-88AD-2B0362DD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9261AA-CA2D-40D9-BAF1-013C7F45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0DF704-85AD-4088-B9C8-DC24D8D8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3 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BA9C12-6115-4D4C-9504-B63B3265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继续记录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观察填写负担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265E9-B98B-415E-8597-B67A2D0A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9" name="week-4">
            <a:extLst xmlns:a="http://schemas.openxmlformats.org/drawingml/2006/main">
              <a:ext uri="{FF2B5EF4-FFF2-40B4-BE49-F238E27FC236}">
                <a16:creationId xmlns:a16="http://schemas.microsoft.com/office/drawing/2014/main" id="{25189F07-64A3-44E7-A8B9-878CB69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147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9525">
            <a:solidFill>
              <a:srgbClr val="A35D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DAE194-DB99-49B1-AE53-B49E4370A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304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 i="0">
                <a:solidFill>
                  <a:srgbClr val="F5F4E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F2DE47-1087-44B3-B0E6-4EF49DBA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33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第 4 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A42925-DDF2-4670-8509-13B0C51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讨论保留、修改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或停止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03CCD9-1489-4B62-9C06-DEF95A7F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E27F9A-A565-4770-801D-9698998A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6260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先从新增实验开始；真正需要复核的历史结果逐项补充。</a:t>
            </a:r>
          </a:p>
        </p:txBody>
      </p:sp>
    </p:spTree>
    <p:extLst>
      <p:ext uri="{BB962C8B-B14F-4D97-AF65-F5344CB8AC3E}">
        <p14:creationId xmlns:p14="http://schemas.microsoft.com/office/powerpoint/2010/main" val="1105091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chapter-8">
            <a:extLst xmlns:a="http://schemas.openxmlformats.org/drawingml/2006/main">
              <a:ext uri="{FF2B5EF4-FFF2-40B4-BE49-F238E27FC236}">
                <a16:creationId xmlns:a16="http://schemas.microsoft.com/office/drawing/2014/main" id="{8BB04D25-6885-4ED7-804D-202060BD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397EB08-6FFA-4F1E-B31A-B799BB91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评估与收束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B2313350-158E-4CE4-B0CD-1C788C54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52450"/>
            <a:ext cx="7067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81F432B9-F1B6-44DA-A193-E234D54C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579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D295A7-D4E3-4A22-B678-FA110025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是否继续，由复核证据与成员负担决定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EEAA2A-FAEE-4917-B71D-5C32ABB4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0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试点评估先收集具体复核过程和当事人反馈，不预设统一“合格分数”。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E0AFE-76A7-4699-AE88-15DA67FF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F2FE5-8D37-402B-9B6E-FB00DE02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来源可定位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06333E-251F-4E66-A137-638C3844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其他成员能否沿记录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定位结果的来源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65CA5-5510-4C8F-B7C4-F86C9DC5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4A9F1D-C6CE-4783-8CF6-D46E7270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05DEDD-AE1C-497C-9892-26C5099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依据可理解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4B3A8-BB68-4D9F-B4FB-37C300AB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关键处理与排除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是否有可理解的依据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B6464-7595-4907-918E-7541A62E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241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59A97-03ED-4FD6-8BFE-6955BADC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62890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FBCCA-D886-455A-9E76-8402DAB2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负担可持续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46337-1A04-4CB2-AF8B-8EA21DD1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433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填写负担是否在成员</a:t>
            </a:r>
          </a:p>
          <a:p xmlns:a="http://schemas.openxmlformats.org/drawingml/2006/main">
            <a:pPr algn="l"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愿意持续承担的范围内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10DDE-5E8B-41BA-8661-F8ABBB0D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6725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D0E484-B02D-4682-ACFD-8B223E10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10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停止或修改的信号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D756BD-8F17-480D-BF46-2D6C84D5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3524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挤占必要实验时间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权限边界无法说明</a:t>
            </a:r>
          </a:p>
          <a:p xmlns:a="http://schemas.openxmlformats.org/drawingml/2006/main">
            <a:pPr algn="l"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只增加抄写，没有帮助解释结果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C75FF-FF18-4B46-8F87-A9ACA9E3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10150"/>
            <a:ext cx="0" cy="1181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8149F5-EDFC-4F52-A3E1-7CBF594E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219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先让一次结果可以被理解，再决定哪些记录值得长期保存。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525DD-B577-4F84-9503-B412E731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00075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归档工具只是承载方式；要验证的是结果、依据和责任边界的联系。</a:t>
            </a:r>
          </a:p>
        </p:txBody>
      </p:sp>
    </p:spTree>
    <p:extLst>
      <p:ext uri="{BB962C8B-B14F-4D97-AF65-F5344CB8AC3E}">
        <p14:creationId xmlns:p14="http://schemas.microsoft.com/office/powerpoint/2010/main" val="750602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2026-09-06T05:18:24.6670000Z</dcterms:created>
  <dcterms:modified xsi:type="dcterms:W3CDTF">2026-09-06T05:18:24.6670000Z</dcterms:modified>
</coreProperties>
</file>