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3cc2ae4294d81" /><Relationship Type="http://schemas.openxmlformats.org/officeDocument/2006/relationships/extended-properties" Target="/docProps/app.xml" Id="R9a0a0e4b9d2c42fb" /><Relationship Type="http://schemas.openxmlformats.org/officeDocument/2006/relationships/officeDocument" Target="/ppt/presentation.xml" Id="R3a8160b61509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5d6315bc00475f"/>
  </p:sldMasterIdLst>
  <p:notesMasterIdLst>
    <p:notesMasterId xmlns:r="http://schemas.openxmlformats.org/officeDocument/2006/relationships" r:id="Rd7d4483f26424b08"/>
  </p:notesMasterIdLst>
  <p:sldIdLst>
    <p:sldId xmlns:r="http://schemas.openxmlformats.org/officeDocument/2006/relationships" id="256" r:id="R948e567aca474d36"/>
    <p:sldId xmlns:r="http://schemas.openxmlformats.org/officeDocument/2006/relationships" id="257" r:id="Rbcd6f723da9e4f71"/>
    <p:sldId xmlns:r="http://schemas.openxmlformats.org/officeDocument/2006/relationships" id="258" r:id="R894ff4c603eb4b6e"/>
    <p:sldId xmlns:r="http://schemas.openxmlformats.org/officeDocument/2006/relationships" id="259" r:id="Rbd7c17d4b24a4f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b377ad3d444b22" /><Relationship Type="http://schemas.openxmlformats.org/officeDocument/2006/relationships/slideMaster" Target="/ppt/slideMasters/slideMaster1.xml" Id="R955d6315bc00475f" /><Relationship Type="http://schemas.openxmlformats.org/officeDocument/2006/relationships/notesMaster" Target="/ppt/notesMasters/notesMaster1.xml" Id="Rd7d4483f26424b08" /><Relationship Type="http://schemas.openxmlformats.org/officeDocument/2006/relationships/presProps" Target="/ppt/presProps.xml" Id="Rf38fcb13a4214883" /><Relationship Type="http://schemas.openxmlformats.org/officeDocument/2006/relationships/tableStyles" Target="/ppt/tableStyles.xml" Id="R3355672491904f3e" /><Relationship Type="http://schemas.openxmlformats.org/officeDocument/2006/relationships/slide" Target="/ppt/slides/slide1.xml" Id="R948e567aca474d36" /><Relationship Type="http://schemas.openxmlformats.org/officeDocument/2006/relationships/slide" Target="/ppt/slides/slide2.xml" Id="Rbcd6f723da9e4f71" /><Relationship Type="http://schemas.openxmlformats.org/officeDocument/2006/relationships/slide" Target="/ppt/slides/slide3.xml" Id="R894ff4c603eb4b6e" /><Relationship Type="http://schemas.openxmlformats.org/officeDocument/2006/relationships/slide" Target="/ppt/slides/slide4.xml" Id="Rbd7c17d4b24a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2e1bfb30dc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c712a297f4791" /><Relationship Type="http://schemas.openxmlformats.org/officeDocument/2006/relationships/notesMaster" Target="/ppt/notesMasters/notesMaster1.xml" Id="Rd6092d501950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267d63f794762" /><Relationship Type="http://schemas.openxmlformats.org/officeDocument/2006/relationships/notesMaster" Target="/ppt/notesMasters/notesMaster1.xml" Id="Raecb450eadc648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1b42b1ab94d7c" /><Relationship Type="http://schemas.openxmlformats.org/officeDocument/2006/relationships/notesMaster" Target="/ppt/notesMasters/notesMaster1.xml" Id="R4e4182b798d8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0e707781948ac" /><Relationship Type="http://schemas.openxmlformats.org/officeDocument/2006/relationships/notesMaster" Target="/ppt/notesMasters/notesMaster1.xml" Id="Raacdbc3e6297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内容来源：input-manuscript.txt（模拟稿件；单位、数据及情境全部为排版验证而虚构）。</a:t>
            </a:r>
          </a:p>
          <a:p xmlns:a="http://schemas.openxmlformats.org/drawingml/2006/main">
            <a:r>
              <a:t>- 外部素材：无；本页仅使用可编辑原生文字与形状。</a:t>
            </a:r>
          </a:p>
          <a:p xmlns:a="http://schemas.openxmlformats.org/drawingml/2006/main">
            <a:r>
              <a:t>- 页面职责：历史观察与指标口径，明确可见趋势及因果边界。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内容来源：input-manuscript.txt（模拟稿件；单位、数据及情境全部为排版验证而虚构）。</a:t>
            </a:r>
          </a:p>
          <a:p xmlns:a="http://schemas.openxmlformats.org/drawingml/2006/main">
            <a:r>
              <a:t>- 外部素材：无；本页仅使用可编辑原生文字与形状。</a:t>
            </a:r>
          </a:p>
          <a:p xmlns:a="http://schemas.openxmlformats.org/drawingml/2006/main">
            <a:r>
              <a:t>- 页面职责：原因复核与分类边界，支撑下一页的方案对应关系。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内容来源：input-manuscript.txt（模拟稿件；单位、数据及情境全部为排版验证而虚构）。</a:t>
            </a:r>
          </a:p>
          <a:p xmlns:a="http://schemas.openxmlformats.org/drawingml/2006/main">
            <a:r>
              <a:t>- 外部素材：无；本页仅使用可编辑原生文字与形状。</a:t>
            </a:r>
          </a:p>
          <a:p xmlns:a="http://schemas.openxmlformats.org/drawingml/2006/main">
            <a:r>
              <a:t>- 页面职责：对三种应对措施做同口径比较，给出有条件的优先级判断。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内容来源：input-manuscript.txt（模拟稿件；单位、数据及情境全部为排版验证而虚构）。</a:t>
            </a:r>
          </a:p>
          <a:p xmlns:a="http://schemas.openxmlformats.org/drawingml/2006/main">
            <a:r>
              <a:t>- 外部素材：无；本页仅使用可编辑原生文字与形状。</a:t>
            </a:r>
          </a:p>
          <a:p xmlns:a="http://schemas.openxmlformats.org/drawingml/2006/main">
            <a:r>
              <a:t>- 页面职责：六周有限试点计划，明确阶段依赖、回退条件和评估口径。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0d3c241a148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e58b9c3c094615" /><Relationship Type="http://schemas.openxmlformats.org/officeDocument/2006/relationships/slideLayout" Target="/ppt/slideLayouts/slideLayout1.xml" Id="R4d5a614bc5db43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a614bc5db43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bd640ea54e08" /><Relationship Type="http://schemas.openxmlformats.org/officeDocument/2006/relationships/notesSlide" Target="/ppt/notesSlides/notesSlide1.xml" Id="R571822f43650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59035ca484f68" /><Relationship Type="http://schemas.openxmlformats.org/officeDocument/2006/relationships/notesSlide" Target="/ppt/notesSlides/notesSlide2.xml" Id="R6ffd22911dd4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7bb369eb84e89" /><Relationship Type="http://schemas.openxmlformats.org/officeDocument/2006/relationships/notesSlide" Target="/ppt/notesSlides/notesSlide3.xml" Id="R975fe88dfd2943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50ead8973401d" /><Relationship Type="http://schemas.openxmlformats.org/officeDocument/2006/relationships/notesSlide" Target="/ppt/notesSlides/notesSlide4.xml" Id="Re4b808c96b2343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chapter-01">
            <a:extLst xmlns:a="http://schemas.openxmlformats.org/drawingml/2006/main">
              <a:ext uri="{FF2B5EF4-FFF2-40B4-BE49-F238E27FC236}">
                <a16:creationId xmlns:a16="http://schemas.microsoft.com/office/drawing/2014/main" id="{0B23951B-AF37-4F9E-976A-C1E63525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page-title-01">
            <a:extLst xmlns:a="http://schemas.openxmlformats.org/drawingml/2006/main">
              <a:ext uri="{FF2B5EF4-FFF2-40B4-BE49-F238E27FC236}">
                <a16:creationId xmlns:a16="http://schemas.microsoft.com/office/drawing/2014/main" id="{9EA73D5F-0252-4D6C-9D81-875F04E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1—4月观察：响应压力随请求量上升</a:t>
            </a:r>
          </a:p>
        </p:txBody>
      </p:sp>
      <p:sp>
        <p:nvSpPr>
          <p:cNvPr id="3" name="title-rule-01">
            <a:extLst xmlns:a="http://schemas.openxmlformats.org/drawingml/2006/main">
              <a:ext uri="{FF2B5EF4-FFF2-40B4-BE49-F238E27FC236}">
                <a16:creationId xmlns:a16="http://schemas.microsoft.com/office/drawing/2014/main" id="{824E207D-A47C-4106-9592-197EAB24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67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-1">
            <a:extLst xmlns:a="http://schemas.openxmlformats.org/drawingml/2006/main">
              <a:ext uri="{FF2B5EF4-FFF2-40B4-BE49-F238E27FC236}">
                <a16:creationId xmlns:a16="http://schemas.microsoft.com/office/drawing/2014/main" id="{2C40FD9A-F88E-4B70-A246-0B691C8E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 / 4</a:t>
            </a:r>
          </a:p>
        </p:txBody>
      </p:sp>
      <p:sp>
        <p:nvSpPr>
          <p:cNvPr id="5" name="simulated-1">
            <a:extLst xmlns:a="http://schemas.openxmlformats.org/drawingml/2006/main">
              <a:ext uri="{FF2B5EF4-FFF2-40B4-BE49-F238E27FC236}">
                <a16:creationId xmlns:a16="http://schemas.microsoft.com/office/drawing/2014/main" id="{341DFD23-8527-47FF-8A07-30674ED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模拟数据｜排版验证用</a:t>
            </a:r>
          </a:p>
        </p:txBody>
      </p:sp>
      <p:sp>
        <p:nvSpPr>
          <p:cNvPr id="6" name="lead-1">
            <a:extLst xmlns:a="http://schemas.openxmlformats.org/drawingml/2006/main">
              <a:ext uri="{FF2B5EF4-FFF2-40B4-BE49-F238E27FC236}">
                <a16:creationId xmlns:a16="http://schemas.microsoft.com/office/drawing/2014/main" id="{8CCF3A91-3D56-4512-A698-E9A2708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统一口径下，需求量翻倍，两个工作日内首次可执行答复比例从 80% 降至 60%。</a:t>
            </a:r>
          </a:p>
        </p:txBody>
      </p:sp>
      <p:sp>
        <p:nvSpPr>
          <p:cNvPr id="7" name="requests-value">
            <a:extLst xmlns:a="http://schemas.openxmlformats.org/drawingml/2006/main">
              <a:ext uri="{FF2B5EF4-FFF2-40B4-BE49-F238E27FC236}">
                <a16:creationId xmlns:a16="http://schemas.microsoft.com/office/drawing/2014/main" id="{DFD20435-6BB0-4953-B6A1-41CFCAF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120 → 240</a:t>
            </a:r>
          </a:p>
        </p:txBody>
      </p:sp>
      <p:sp>
        <p:nvSpPr>
          <p:cNvPr id="8" name="requests-delta">
            <a:extLst xmlns:a="http://schemas.openxmlformats.org/drawingml/2006/main">
              <a:ext uri="{FF2B5EF4-FFF2-40B4-BE49-F238E27FC236}">
                <a16:creationId xmlns:a16="http://schemas.microsoft.com/office/drawing/2014/main" id="{E1A26D2D-9F2D-4E93-AD6E-2EEA5AFF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0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+100%</a:t>
            </a:r>
          </a:p>
        </p:txBody>
      </p:sp>
      <p:sp>
        <p:nvSpPr>
          <p:cNvPr id="9" name="requests-line">
            <a:extLst xmlns:a="http://schemas.openxmlformats.org/drawingml/2006/main">
              <a:ext uri="{FF2B5EF4-FFF2-40B4-BE49-F238E27FC236}">
                <a16:creationId xmlns:a16="http://schemas.microsoft.com/office/drawing/2014/main" id="{EF7D0C0D-F1F3-4BDC-8C6F-59AB58A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quests-label">
            <a:extLst xmlns:a="http://schemas.openxmlformats.org/drawingml/2006/main">
              <a:ext uri="{FF2B5EF4-FFF2-40B4-BE49-F238E27FC236}">
                <a16:creationId xmlns:a16="http://schemas.microsoft.com/office/drawing/2014/main" id="{17AE7520-DB97-4385-A52D-43F727DC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月收到请求数</a:t>
            </a:r>
          </a:p>
        </p:txBody>
      </p:sp>
      <p:sp>
        <p:nvSpPr>
          <p:cNvPr id="11" name="rate-value">
            <a:extLst xmlns:a="http://schemas.openxmlformats.org/drawingml/2006/main">
              <a:ext uri="{FF2B5EF4-FFF2-40B4-BE49-F238E27FC236}">
                <a16:creationId xmlns:a16="http://schemas.microsoft.com/office/drawing/2014/main" id="{61B3C3F2-D953-4D1F-8E00-0DFA084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57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80% → 60%</a:t>
            </a:r>
          </a:p>
        </p:txBody>
      </p:sp>
      <p:sp>
        <p:nvSpPr>
          <p:cNvPr id="12" name="rate-delta">
            <a:extLst xmlns:a="http://schemas.openxmlformats.org/drawingml/2006/main">
              <a:ext uri="{FF2B5EF4-FFF2-40B4-BE49-F238E27FC236}">
                <a16:creationId xmlns:a16="http://schemas.microsoft.com/office/drawing/2014/main" id="{02623A9B-A0B4-4948-A2A9-CE2C915B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0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−20 个百分点</a:t>
            </a:r>
          </a:p>
        </p:txBody>
      </p:sp>
      <p:sp>
        <p:nvSpPr>
          <p:cNvPr id="13" name="rate-line">
            <a:extLst xmlns:a="http://schemas.openxmlformats.org/drawingml/2006/main">
              <a:ext uri="{FF2B5EF4-FFF2-40B4-BE49-F238E27FC236}">
                <a16:creationId xmlns:a16="http://schemas.microsoft.com/office/drawing/2014/main" id="{AF3552C1-488D-4000-B5BA-F9BC61CD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14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te-label">
            <a:extLst xmlns:a="http://schemas.openxmlformats.org/drawingml/2006/main">
              <a:ext uri="{FF2B5EF4-FFF2-40B4-BE49-F238E27FC236}">
                <a16:creationId xmlns:a16="http://schemas.microsoft.com/office/drawing/2014/main" id="{83139B6D-27C7-4BC9-9A05-E4AFE95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两个工作日内首次可执行答复</a:t>
            </a:r>
          </a:p>
        </p:txBody>
      </p:sp>
      <p:sp>
        <p:nvSpPr>
          <p:cNvPr id="15" name="median-value">
            <a:extLst xmlns:a="http://schemas.openxmlformats.org/drawingml/2006/main">
              <a:ext uri="{FF2B5EF4-FFF2-40B4-BE49-F238E27FC236}">
                <a16:creationId xmlns:a16="http://schemas.microsoft.com/office/drawing/2014/main" id="{CA864CF7-D51F-4E64-B105-A3584C94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1.3 → 2.4</a:t>
            </a:r>
          </a:p>
        </p:txBody>
      </p:sp>
      <p:sp>
        <p:nvSpPr>
          <p:cNvPr id="16" name="median-delta">
            <a:extLst xmlns:a="http://schemas.openxmlformats.org/drawingml/2006/main">
              <a:ext uri="{FF2B5EF4-FFF2-40B4-BE49-F238E27FC236}">
                <a16:creationId xmlns:a16="http://schemas.microsoft.com/office/drawing/2014/main" id="{272F63FC-127A-49B0-9636-2737CE13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0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+1.1 工作日</a:t>
            </a:r>
          </a:p>
        </p:txBody>
      </p:sp>
      <p:sp>
        <p:nvSpPr>
          <p:cNvPr id="17" name="median-line">
            <a:extLst xmlns:a="http://schemas.openxmlformats.org/drawingml/2006/main">
              <a:ext uri="{FF2B5EF4-FFF2-40B4-BE49-F238E27FC236}">
                <a16:creationId xmlns:a16="http://schemas.microsoft.com/office/drawing/2014/main" id="{7123488B-7C6C-449B-A4F1-4C38B40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dian-label">
            <a:extLst xmlns:a="http://schemas.openxmlformats.org/drawingml/2006/main">
              <a:ext uri="{FF2B5EF4-FFF2-40B4-BE49-F238E27FC236}">
                <a16:creationId xmlns:a16="http://schemas.microsoft.com/office/drawing/2014/main" id="{D71E0395-312A-45A9-96C7-5DB50E8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193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首次响应中位时间（工作日）</a:t>
            </a:r>
          </a:p>
        </p:txBody>
      </p:sp>
      <p:sp>
        <p:nvSpPr>
          <p:cNvPr id="19" name="table-1-header">
            <a:extLst xmlns:a="http://schemas.openxmlformats.org/drawingml/2006/main">
              <a:ext uri="{FF2B5EF4-FFF2-40B4-BE49-F238E27FC236}">
                <a16:creationId xmlns:a16="http://schemas.microsoft.com/office/drawing/2014/main" id="{7A70D5AD-FE97-4343-8188-00DD555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676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1-h-0">
            <a:extLst xmlns:a="http://schemas.openxmlformats.org/drawingml/2006/main">
              <a:ext uri="{FF2B5EF4-FFF2-40B4-BE49-F238E27FC236}">
                <a16:creationId xmlns:a16="http://schemas.microsoft.com/office/drawing/2014/main" id="{52FC2811-78C7-4558-B045-F15B84D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月份</a:t>
            </a:r>
          </a:p>
        </p:txBody>
      </p:sp>
      <p:sp>
        <p:nvSpPr>
          <p:cNvPr id="21" name="table-1-h-1">
            <a:extLst xmlns:a="http://schemas.openxmlformats.org/drawingml/2006/main">
              <a:ext uri="{FF2B5EF4-FFF2-40B4-BE49-F238E27FC236}">
                <a16:creationId xmlns:a16="http://schemas.microsoft.com/office/drawing/2014/main" id="{8B7EF9F5-E38C-4AB7-852D-EFF389E6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收到请求数</a:t>
            </a:r>
          </a:p>
        </p:txBody>
      </p:sp>
      <p:sp>
        <p:nvSpPr>
          <p:cNvPr id="22" name="table-1-h-2">
            <a:extLst xmlns:a="http://schemas.openxmlformats.org/drawingml/2006/main">
              <a:ext uri="{FF2B5EF4-FFF2-40B4-BE49-F238E27FC236}">
                <a16:creationId xmlns:a16="http://schemas.microsoft.com/office/drawing/2014/main" id="{59E9C633-D054-4CBC-9725-4BB07E20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3850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两个工作日内首次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可执行答复数</a:t>
            </a:r>
          </a:p>
        </p:txBody>
      </p:sp>
      <p:sp>
        <p:nvSpPr>
          <p:cNvPr id="23" name="table-1-h-3">
            <a:extLst xmlns:a="http://schemas.openxmlformats.org/drawingml/2006/main">
              <a:ext uri="{FF2B5EF4-FFF2-40B4-BE49-F238E27FC236}">
                <a16:creationId xmlns:a16="http://schemas.microsoft.com/office/drawing/2014/main" id="{B4C40E88-59CA-41D6-988F-7E01A66E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首次响应中位时间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（工作日）</a:t>
            </a:r>
          </a:p>
        </p:txBody>
      </p:sp>
      <p:sp>
        <p:nvSpPr>
          <p:cNvPr id="24" name="table-1-0-0">
            <a:extLst xmlns:a="http://schemas.openxmlformats.org/drawingml/2006/main">
              <a:ext uri="{FF2B5EF4-FFF2-40B4-BE49-F238E27FC236}">
                <a16:creationId xmlns:a16="http://schemas.microsoft.com/office/drawing/2014/main" id="{DDD0B701-67C5-44CB-B753-9553DD7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1月</a:t>
            </a:r>
          </a:p>
        </p:txBody>
      </p:sp>
      <p:sp>
        <p:nvSpPr>
          <p:cNvPr id="25" name="table-1-0-1">
            <a:extLst xmlns:a="http://schemas.openxmlformats.org/drawingml/2006/main">
              <a:ext uri="{FF2B5EF4-FFF2-40B4-BE49-F238E27FC236}">
                <a16:creationId xmlns:a16="http://schemas.microsoft.com/office/drawing/2014/main" id="{5811799F-2143-48FE-A744-B3FC7D2E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120</a:t>
            </a:r>
          </a:p>
        </p:txBody>
      </p:sp>
      <p:sp>
        <p:nvSpPr>
          <p:cNvPr id="26" name="table-1-0-2">
            <a:extLst xmlns:a="http://schemas.openxmlformats.org/drawingml/2006/main">
              <a:ext uri="{FF2B5EF4-FFF2-40B4-BE49-F238E27FC236}">
                <a16:creationId xmlns:a16="http://schemas.microsoft.com/office/drawing/2014/main" id="{A9AEC88C-18D5-4797-8C75-8F535116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249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96</a:t>
            </a:r>
          </a:p>
        </p:txBody>
      </p:sp>
      <p:sp>
        <p:nvSpPr>
          <p:cNvPr id="27" name="table-1-0-3">
            <a:extLst xmlns:a="http://schemas.openxmlformats.org/drawingml/2006/main">
              <a:ext uri="{FF2B5EF4-FFF2-40B4-BE49-F238E27FC236}">
                <a16:creationId xmlns:a16="http://schemas.microsoft.com/office/drawing/2014/main" id="{3CE0792B-7C96-480D-AD34-ACB55EAA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1.3</a:t>
            </a:r>
          </a:p>
        </p:txBody>
      </p:sp>
      <p:sp>
        <p:nvSpPr>
          <p:cNvPr id="28" name="table-1-rowfill-1">
            <a:extLst xmlns:a="http://schemas.openxmlformats.org/drawingml/2006/main">
              <a:ext uri="{FF2B5EF4-FFF2-40B4-BE49-F238E27FC236}">
                <a16:creationId xmlns:a16="http://schemas.microsoft.com/office/drawing/2014/main" id="{62DC933C-3EC4-454C-982E-453A97C6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6762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1-1-0">
            <a:extLst xmlns:a="http://schemas.openxmlformats.org/drawingml/2006/main">
              <a:ext uri="{FF2B5EF4-FFF2-40B4-BE49-F238E27FC236}">
                <a16:creationId xmlns:a16="http://schemas.microsoft.com/office/drawing/2014/main" id="{06DC1AD0-5D26-4174-8F78-B8E1F5B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2月</a:t>
            </a:r>
          </a:p>
        </p:txBody>
      </p:sp>
      <p:sp>
        <p:nvSpPr>
          <p:cNvPr id="30" name="table-1-1-1">
            <a:extLst xmlns:a="http://schemas.openxmlformats.org/drawingml/2006/main">
              <a:ext uri="{FF2B5EF4-FFF2-40B4-BE49-F238E27FC236}">
                <a16:creationId xmlns:a16="http://schemas.microsoft.com/office/drawing/2014/main" id="{7D03A0B2-58A3-4034-B217-6CF1D8A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8147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150</a:t>
            </a:r>
          </a:p>
        </p:txBody>
      </p:sp>
      <p:sp>
        <p:nvSpPr>
          <p:cNvPr id="31" name="table-1-1-2">
            <a:extLst xmlns:a="http://schemas.openxmlformats.org/drawingml/2006/main">
              <a:ext uri="{FF2B5EF4-FFF2-40B4-BE49-F238E27FC236}">
                <a16:creationId xmlns:a16="http://schemas.microsoft.com/office/drawing/2014/main" id="{4E99C630-46D7-49C1-A243-8EB7E2F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81475"/>
            <a:ext cx="249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114</a:t>
            </a:r>
          </a:p>
        </p:txBody>
      </p:sp>
      <p:sp>
        <p:nvSpPr>
          <p:cNvPr id="32" name="table-1-1-3">
            <a:extLst xmlns:a="http://schemas.openxmlformats.org/drawingml/2006/main">
              <a:ext uri="{FF2B5EF4-FFF2-40B4-BE49-F238E27FC236}">
                <a16:creationId xmlns:a16="http://schemas.microsoft.com/office/drawing/2014/main" id="{553FDE58-B2B6-4C5B-B452-A4D3228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814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1.5</a:t>
            </a:r>
          </a:p>
        </p:txBody>
      </p:sp>
      <p:sp>
        <p:nvSpPr>
          <p:cNvPr id="33" name="table-1-2-0">
            <a:extLst xmlns:a="http://schemas.openxmlformats.org/drawingml/2006/main">
              <a:ext uri="{FF2B5EF4-FFF2-40B4-BE49-F238E27FC236}">
                <a16:creationId xmlns:a16="http://schemas.microsoft.com/office/drawing/2014/main" id="{E0E559A3-AA3F-4B3B-9975-9C403540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3月</a:t>
            </a:r>
          </a:p>
        </p:txBody>
      </p:sp>
      <p:sp>
        <p:nvSpPr>
          <p:cNvPr id="34" name="table-1-2-1">
            <a:extLst xmlns:a="http://schemas.openxmlformats.org/drawingml/2006/main">
              <a:ext uri="{FF2B5EF4-FFF2-40B4-BE49-F238E27FC236}">
                <a16:creationId xmlns:a16="http://schemas.microsoft.com/office/drawing/2014/main" id="{2AEBF431-64CF-4992-B302-EA027C0A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180</a:t>
            </a:r>
          </a:p>
        </p:txBody>
      </p:sp>
      <p:sp>
        <p:nvSpPr>
          <p:cNvPr id="35" name="table-1-2-2">
            <a:extLst xmlns:a="http://schemas.openxmlformats.org/drawingml/2006/main">
              <a:ext uri="{FF2B5EF4-FFF2-40B4-BE49-F238E27FC236}">
                <a16:creationId xmlns:a16="http://schemas.microsoft.com/office/drawing/2014/main" id="{0F0713C9-F064-485A-8C6C-1FF240B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0100"/>
            <a:ext cx="249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126</a:t>
            </a:r>
          </a:p>
        </p:txBody>
      </p:sp>
      <p:sp>
        <p:nvSpPr>
          <p:cNvPr id="36" name="table-1-2-3">
            <a:extLst xmlns:a="http://schemas.openxmlformats.org/drawingml/2006/main">
              <a:ext uri="{FF2B5EF4-FFF2-40B4-BE49-F238E27FC236}">
                <a16:creationId xmlns:a16="http://schemas.microsoft.com/office/drawing/2014/main" id="{88AA65FB-A418-47B7-965B-50D8670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101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1.8</a:t>
            </a:r>
          </a:p>
        </p:txBody>
      </p:sp>
      <p:sp>
        <p:nvSpPr>
          <p:cNvPr id="37" name="table-1-rowfill-3">
            <a:extLst xmlns:a="http://schemas.openxmlformats.org/drawingml/2006/main">
              <a:ext uri="{FF2B5EF4-FFF2-40B4-BE49-F238E27FC236}">
                <a16:creationId xmlns:a16="http://schemas.microsoft.com/office/drawing/2014/main" id="{A72E860A-03E2-425C-8F7C-B9318776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6762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able-1-3-0">
            <a:extLst xmlns:a="http://schemas.openxmlformats.org/drawingml/2006/main">
              <a:ext uri="{FF2B5EF4-FFF2-40B4-BE49-F238E27FC236}">
                <a16:creationId xmlns:a16="http://schemas.microsoft.com/office/drawing/2014/main" id="{5DB5A0E6-3D32-4C87-B457-77B45813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685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4月</a:t>
            </a:r>
          </a:p>
        </p:txBody>
      </p:sp>
      <p:sp>
        <p:nvSpPr>
          <p:cNvPr id="39" name="table-1-3-1">
            <a:extLst xmlns:a="http://schemas.openxmlformats.org/drawingml/2006/main">
              <a:ext uri="{FF2B5EF4-FFF2-40B4-BE49-F238E27FC236}">
                <a16:creationId xmlns:a16="http://schemas.microsoft.com/office/drawing/2014/main" id="{CCE44BD8-90EA-494F-BDC5-D765A328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38725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240</a:t>
            </a:r>
          </a:p>
        </p:txBody>
      </p:sp>
      <p:sp>
        <p:nvSpPr>
          <p:cNvPr id="40" name="table-1-3-2">
            <a:extLst xmlns:a="http://schemas.openxmlformats.org/drawingml/2006/main">
              <a:ext uri="{FF2B5EF4-FFF2-40B4-BE49-F238E27FC236}">
                <a16:creationId xmlns:a16="http://schemas.microsoft.com/office/drawing/2014/main" id="{E7C30F4E-10DF-4F64-9B26-E839F4C9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38725"/>
            <a:ext cx="249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144</a:t>
            </a:r>
          </a:p>
        </p:txBody>
      </p:sp>
      <p:sp>
        <p:nvSpPr>
          <p:cNvPr id="41" name="table-1-3-3">
            <a:extLst xmlns:a="http://schemas.openxmlformats.org/drawingml/2006/main">
              <a:ext uri="{FF2B5EF4-FFF2-40B4-BE49-F238E27FC236}">
                <a16:creationId xmlns:a16="http://schemas.microsoft.com/office/drawing/2014/main" id="{608F231B-4770-44FF-B665-0B8E5D57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3872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2.4</a:t>
            </a:r>
          </a:p>
        </p:txBody>
      </p:sp>
      <p:sp>
        <p:nvSpPr>
          <p:cNvPr id="42" name="table-1-v-0">
            <a:extLst xmlns:a="http://schemas.openxmlformats.org/drawingml/2006/main">
              <a:ext uri="{FF2B5EF4-FFF2-40B4-BE49-F238E27FC236}">
                <a16:creationId xmlns:a16="http://schemas.microsoft.com/office/drawing/2014/main" id="{404B66E5-53BF-493D-A40E-D050415D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623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able-1-v-1">
            <a:extLst xmlns:a="http://schemas.openxmlformats.org/drawingml/2006/main">
              <a:ext uri="{FF2B5EF4-FFF2-40B4-BE49-F238E27FC236}">
                <a16:creationId xmlns:a16="http://schemas.microsoft.com/office/drawing/2014/main" id="{27A4F861-1115-4685-843C-CA8AB26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623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able-1-v-2">
            <a:extLst xmlns:a="http://schemas.openxmlformats.org/drawingml/2006/main">
              <a:ext uri="{FF2B5EF4-FFF2-40B4-BE49-F238E27FC236}">
                <a16:creationId xmlns:a16="http://schemas.microsoft.com/office/drawing/2014/main" id="{185CB732-70FD-4315-844F-A228562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623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able-1-hline-0">
            <a:extLst xmlns:a="http://schemas.openxmlformats.org/drawingml/2006/main">
              <a:ext uri="{FF2B5EF4-FFF2-40B4-BE49-F238E27FC236}">
                <a16:creationId xmlns:a16="http://schemas.microsoft.com/office/drawing/2014/main" id="{AB921F4A-5A6C-4FD6-872D-0D44EAE0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able-1-hline-1">
            <a:extLst xmlns:a="http://schemas.openxmlformats.org/drawingml/2006/main">
              <a:ext uri="{FF2B5EF4-FFF2-40B4-BE49-F238E27FC236}">
                <a16:creationId xmlns:a16="http://schemas.microsoft.com/office/drawing/2014/main" id="{37E4579C-599F-4A0E-BF0A-600518B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able-1-hline-2">
            <a:extLst xmlns:a="http://schemas.openxmlformats.org/drawingml/2006/main">
              <a:ext uri="{FF2B5EF4-FFF2-40B4-BE49-F238E27FC236}">
                <a16:creationId xmlns:a16="http://schemas.microsoft.com/office/drawing/2014/main" id="{9A8908A6-BF32-4EBF-8BE3-CC9937F4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ble-1-hline-3">
            <a:extLst xmlns:a="http://schemas.openxmlformats.org/drawingml/2006/main">
              <a:ext uri="{FF2B5EF4-FFF2-40B4-BE49-F238E27FC236}">
                <a16:creationId xmlns:a16="http://schemas.microsoft.com/office/drawing/2014/main" id="{3EF387E5-ABB2-499B-A5D9-AFF03A2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ble-1-hline-4">
            <a:extLst xmlns:a="http://schemas.openxmlformats.org/drawingml/2006/main">
              <a:ext uri="{FF2B5EF4-FFF2-40B4-BE49-F238E27FC236}">
                <a16:creationId xmlns:a16="http://schemas.microsoft.com/office/drawing/2014/main" id="{0CC40B8A-F9AD-4590-B813-ED43D8E9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able-1-caption">
            <a:extLst xmlns:a="http://schemas.openxmlformats.org/drawingml/2006/main">
              <a:ext uri="{FF2B5EF4-FFF2-40B4-BE49-F238E27FC236}">
                <a16:creationId xmlns:a16="http://schemas.microsoft.com/office/drawing/2014/main" id="{85ABC9FD-2CD8-42ED-B6FC-2901C28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观察口径：统计当月收到的请求，从收到起观察是否在两个工作日内首次给出可执行答复，结案后回看统计；该指标不是结案时长。每月无缺失记录。</a:t>
            </a:r>
          </a:p>
        </p:txBody>
      </p:sp>
      <p:sp>
        <p:nvSpPr>
          <p:cNvPr id="51" name="boundary-1">
            <a:extLst xmlns:a="http://schemas.openxmlformats.org/drawingml/2006/main">
              <a:ext uri="{FF2B5EF4-FFF2-40B4-BE49-F238E27FC236}">
                <a16:creationId xmlns:a16="http://schemas.microsoft.com/office/drawing/2014/main" id="{280F5A4B-E68A-463D-A39F-6675720E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36957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oundary-1-head">
            <a:extLst xmlns:a="http://schemas.openxmlformats.org/drawingml/2006/main">
              <a:ext uri="{FF2B5EF4-FFF2-40B4-BE49-F238E27FC236}">
                <a16:creationId xmlns:a16="http://schemas.microsoft.com/office/drawing/2014/main" id="{AF28C85B-AC4B-4FEE-AF59-A08B6B8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4月请求量构成</a:t>
            </a:r>
          </a:p>
        </p:txBody>
      </p:sp>
      <p:sp>
        <p:nvSpPr>
          <p:cNvPr id="53" name="boundary-1-body">
            <a:extLst xmlns:a="http://schemas.openxmlformats.org/drawingml/2006/main">
              <a:ext uri="{FF2B5EF4-FFF2-40B4-BE49-F238E27FC236}">
                <a16:creationId xmlns:a16="http://schemas.microsoft.com/office/drawing/2014/main" id="{C570E69E-B129-4FDE-9229-C2BB28B8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00475"/>
            <a:ext cx="3086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数据提取 120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数据清洗 72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权限开通 48</a:t>
            </a:r>
          </a:p>
        </p:txBody>
      </p:sp>
      <p:sp>
        <p:nvSpPr>
          <p:cNvPr id="54" name="boundary-1-divider">
            <a:extLst xmlns:a="http://schemas.openxmlformats.org/drawingml/2006/main">
              <a:ext uri="{FF2B5EF4-FFF2-40B4-BE49-F238E27FC236}">
                <a16:creationId xmlns:a16="http://schemas.microsoft.com/office/drawing/2014/main" id="{7C706AFA-6C7C-4630-88D1-A444CE53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undary-1-subhead">
            <a:extLst xmlns:a="http://schemas.openxmlformats.org/drawingml/2006/main">
              <a:ext uri="{FF2B5EF4-FFF2-40B4-BE49-F238E27FC236}">
                <a16:creationId xmlns:a16="http://schemas.microsoft.com/office/drawing/2014/main" id="{4DD58049-D700-43AE-81E3-14F546F3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解读边界</a:t>
            </a:r>
          </a:p>
        </p:txBody>
      </p:sp>
      <p:sp>
        <p:nvSpPr>
          <p:cNvPr id="56" name="boundary-1-note">
            <a:extLst xmlns:a="http://schemas.openxmlformats.org/drawingml/2006/main">
              <a:ext uri="{FF2B5EF4-FFF2-40B4-BE49-F238E27FC236}">
                <a16:creationId xmlns:a16="http://schemas.microsoft.com/office/drawing/2014/main" id="{96F6DB60-C7C6-463F-A537-0915757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43500"/>
            <a:ext cx="308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工作量和响应压力同时上升，但没有对照实验，不能断言工作量增长是响应变慢的唯一原因。四个月服务人员数量保持不变。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2112683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hapter-02">
            <a:extLst xmlns:a="http://schemas.openxmlformats.org/drawingml/2006/main">
              <a:ext uri="{FF2B5EF4-FFF2-40B4-BE49-F238E27FC236}">
                <a16:creationId xmlns:a16="http://schemas.microsoft.com/office/drawing/2014/main" id="{E1ED91EB-AE8E-4F57-8DDF-D4AE32B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page-title-02">
            <a:extLst xmlns:a="http://schemas.openxmlformats.org/drawingml/2006/main">
              <a:ext uri="{FF2B5EF4-FFF2-40B4-BE49-F238E27FC236}">
                <a16:creationId xmlns:a16="http://schemas.microsoft.com/office/drawing/2014/main" id="{33BE13B0-1061-4258-98CE-D718634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4月复核：材料与权限类占未达标请求的 75%</a:t>
            </a:r>
          </a:p>
        </p:txBody>
      </p:sp>
      <p:sp>
        <p:nvSpPr>
          <p:cNvPr id="3" name="title-rule-02">
            <a:extLst xmlns:a="http://schemas.openxmlformats.org/drawingml/2006/main">
              <a:ext uri="{FF2B5EF4-FFF2-40B4-BE49-F238E27FC236}">
                <a16:creationId xmlns:a16="http://schemas.microsoft.com/office/drawing/2014/main" id="{23009586-F6B3-48AD-9C55-8A63A144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-2">
            <a:extLst xmlns:a="http://schemas.openxmlformats.org/drawingml/2006/main">
              <a:ext uri="{FF2B5EF4-FFF2-40B4-BE49-F238E27FC236}">
                <a16:creationId xmlns:a16="http://schemas.microsoft.com/office/drawing/2014/main" id="{1C7C4D99-033D-4A59-90B7-FE8D883F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2 / 4</a:t>
            </a:r>
          </a:p>
        </p:txBody>
      </p:sp>
      <p:sp>
        <p:nvSpPr>
          <p:cNvPr id="5" name="simulated-2">
            <a:extLst xmlns:a="http://schemas.openxmlformats.org/drawingml/2006/main">
              <a:ext uri="{FF2B5EF4-FFF2-40B4-BE49-F238E27FC236}">
                <a16:creationId xmlns:a16="http://schemas.microsoft.com/office/drawing/2014/main" id="{AF478515-C1F4-4E4A-B858-EECA276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模拟数据｜排版验证用</a:t>
            </a:r>
          </a:p>
        </p:txBody>
      </p:sp>
      <p:sp>
        <p:nvSpPr>
          <p:cNvPr id="6" name="lead-2">
            <a:extLst xmlns:a="http://schemas.openxmlformats.org/drawingml/2006/main">
              <a:ext uri="{FF2B5EF4-FFF2-40B4-BE49-F238E27FC236}">
                <a16:creationId xmlns:a16="http://schemas.microsoft.com/office/drawing/2014/main" id="{68517B15-5903-4D9C-A292-78328EB3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对4月未达到两个工作日响应标准的 96 个请求逐件复核；每个请求只记一个主要阻塞原因。</a:t>
            </a:r>
          </a:p>
        </p:txBody>
      </p:sp>
      <p:sp>
        <p:nvSpPr>
          <p:cNvPr id="7" name="bar-title">
            <a:extLst xmlns:a="http://schemas.openxmlformats.org/drawingml/2006/main">
              <a:ext uri="{FF2B5EF4-FFF2-40B4-BE49-F238E27FC236}">
                <a16:creationId xmlns:a16="http://schemas.microsoft.com/office/drawing/2014/main" id="{C45F17F9-ECBF-429D-988D-C2E7130C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主要阻塞原因（互斥且合计完整）</a:t>
            </a:r>
          </a:p>
        </p:txBody>
      </p:sp>
      <p:sp>
        <p:nvSpPr>
          <p:cNvPr id="8" name="segment-0">
            <a:extLst xmlns:a="http://schemas.openxmlformats.org/drawingml/2006/main">
              <a:ext uri="{FF2B5EF4-FFF2-40B4-BE49-F238E27FC236}">
                <a16:creationId xmlns:a16="http://schemas.microsoft.com/office/drawing/2014/main" id="{44F7D94D-B9E9-4814-B34B-E748F78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316706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gment-label-0">
            <a:extLst xmlns:a="http://schemas.openxmlformats.org/drawingml/2006/main">
              <a:ext uri="{FF2B5EF4-FFF2-40B4-BE49-F238E27FC236}">
                <a16:creationId xmlns:a16="http://schemas.microsoft.com/office/drawing/2014/main" id="{250B87B7-88E5-479F-A43D-CDE9B7F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31670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42</a:t>
            </a:r>
          </a:p>
        </p:txBody>
      </p:sp>
      <p:sp>
        <p:nvSpPr>
          <p:cNvPr id="10" name="segment-divider-0">
            <a:extLst xmlns:a="http://schemas.openxmlformats.org/drawingml/2006/main">
              <a:ext uri="{FF2B5EF4-FFF2-40B4-BE49-F238E27FC236}">
                <a16:creationId xmlns:a16="http://schemas.microsoft.com/office/drawing/2014/main" id="{8896F43F-CC35-4E94-A066-F9A9CF74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19812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gment-1">
            <a:extLst xmlns:a="http://schemas.openxmlformats.org/drawingml/2006/main">
              <a:ext uri="{FF2B5EF4-FFF2-40B4-BE49-F238E27FC236}">
                <a16:creationId xmlns:a16="http://schemas.microsoft.com/office/drawing/2014/main" id="{15BDBAA3-46A7-4493-95CF-AFEDDC1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1981200"/>
            <a:ext cx="226218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gment-label-1">
            <a:extLst xmlns:a="http://schemas.openxmlformats.org/drawingml/2006/main">
              <a:ext uri="{FF2B5EF4-FFF2-40B4-BE49-F238E27FC236}">
                <a16:creationId xmlns:a16="http://schemas.microsoft.com/office/drawing/2014/main" id="{242C92B5-3384-4930-9861-659E3DB3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463" y="2105025"/>
            <a:ext cx="22621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30</a:t>
            </a:r>
          </a:p>
        </p:txBody>
      </p:sp>
      <p:sp>
        <p:nvSpPr>
          <p:cNvPr id="13" name="segment-divider-1">
            <a:extLst xmlns:a="http://schemas.openxmlformats.org/drawingml/2006/main">
              <a:ext uri="{FF2B5EF4-FFF2-40B4-BE49-F238E27FC236}">
                <a16:creationId xmlns:a16="http://schemas.microsoft.com/office/drawing/2014/main" id="{37457B08-40E2-49A8-ABB2-1D058AB6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812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gment-2">
            <a:extLst xmlns:a="http://schemas.openxmlformats.org/drawingml/2006/main">
              <a:ext uri="{FF2B5EF4-FFF2-40B4-BE49-F238E27FC236}">
                <a16:creationId xmlns:a16="http://schemas.microsoft.com/office/drawing/2014/main" id="{1A79E79A-7888-479C-90DF-01C879CA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120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gment-label-2">
            <a:extLst xmlns:a="http://schemas.openxmlformats.org/drawingml/2006/main">
              <a:ext uri="{FF2B5EF4-FFF2-40B4-BE49-F238E27FC236}">
                <a16:creationId xmlns:a16="http://schemas.microsoft.com/office/drawing/2014/main" id="{9B19A51A-CB26-44E2-B68B-2259E25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05025"/>
            <a:ext cx="12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16" name="segment-divider-2">
            <a:extLst xmlns:a="http://schemas.openxmlformats.org/drawingml/2006/main">
              <a:ext uri="{FF2B5EF4-FFF2-40B4-BE49-F238E27FC236}">
                <a16:creationId xmlns:a16="http://schemas.microsoft.com/office/drawing/2014/main" id="{77DB5D9F-7564-4D6F-B6B0-2BC2A8F5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25" y="19812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gment-3">
            <a:extLst xmlns:a="http://schemas.openxmlformats.org/drawingml/2006/main">
              <a:ext uri="{FF2B5EF4-FFF2-40B4-BE49-F238E27FC236}">
                <a16:creationId xmlns:a16="http://schemas.microsoft.com/office/drawing/2014/main" id="{12149731-909F-4649-9A21-DCFAAE62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50" y="1981200"/>
            <a:ext cx="60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8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gment-label-3">
            <a:extLst xmlns:a="http://schemas.openxmlformats.org/drawingml/2006/main">
              <a:ext uri="{FF2B5EF4-FFF2-40B4-BE49-F238E27FC236}">
                <a16:creationId xmlns:a16="http://schemas.microsoft.com/office/drawing/2014/main" id="{6C6D3BD6-A99E-4DEF-9373-7AD15D56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50" y="2105025"/>
            <a:ext cx="60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9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06EB14FE-CA16-413E-B623-A00BD81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egend-0">
            <a:extLst xmlns:a="http://schemas.openxmlformats.org/drawingml/2006/main">
              <a:ext uri="{FF2B5EF4-FFF2-40B4-BE49-F238E27FC236}">
                <a16:creationId xmlns:a16="http://schemas.microsoft.com/office/drawing/2014/main" id="{7CF4FB36-9FBA-4611-897B-DEF1613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材料不全｜42 个（43.8%）</a:t>
            </a:r>
          </a:p>
        </p:txBody>
      </p:sp>
      <p:sp>
        <p:nvSpPr>
          <p:cNvPr id="21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32D38895-B7C0-4D65-BF05-9009167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egend-1">
            <a:extLst xmlns:a="http://schemas.openxmlformats.org/drawingml/2006/main">
              <a:ext uri="{FF2B5EF4-FFF2-40B4-BE49-F238E27FC236}">
                <a16:creationId xmlns:a16="http://schemas.microsoft.com/office/drawing/2014/main" id="{21386F0C-946B-4EBD-9192-9A55BF02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权限确认｜30 个（31.3%）</a:t>
            </a:r>
          </a:p>
        </p:txBody>
      </p:sp>
      <p:sp>
        <p:nvSpPr>
          <p:cNvPr id="23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461B67DE-3107-4637-8C80-AF13C64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egend-2">
            <a:extLst xmlns:a="http://schemas.openxmlformats.org/drawingml/2006/main">
              <a:ext uri="{FF2B5EF4-FFF2-40B4-BE49-F238E27FC236}">
                <a16:creationId xmlns:a16="http://schemas.microsoft.com/office/drawing/2014/main" id="{2E35E191-05A4-4470-82D7-6222EFC4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需求反复｜16 个（16.7%）</a:t>
            </a:r>
          </a:p>
        </p:txBody>
      </p:sp>
      <p:sp>
        <p:nvSpPr>
          <p:cNvPr id="25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7413E860-7772-43C4-9322-846094CA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8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egend-3">
            <a:extLst xmlns:a="http://schemas.openxmlformats.org/drawingml/2006/main">
              <a:ext uri="{FF2B5EF4-FFF2-40B4-BE49-F238E27FC236}">
                <a16:creationId xmlns:a16="http://schemas.microsoft.com/office/drawing/2014/main" id="{76D3265E-7A9B-4455-A095-BC5B179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其他｜8 个（8.3%）</a:t>
            </a:r>
          </a:p>
        </p:txBody>
      </p:sp>
      <p:sp>
        <p:nvSpPr>
          <p:cNvPr id="27" name="combined-stat">
            <a:extLst xmlns:a="http://schemas.openxmlformats.org/drawingml/2006/main">
              <a:ext uri="{FF2B5EF4-FFF2-40B4-BE49-F238E27FC236}">
                <a16:creationId xmlns:a16="http://schemas.microsoft.com/office/drawing/2014/main" id="{D67FA9D7-B023-4939-8650-25E6773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72 / 96</a:t>
            </a:r>
          </a:p>
        </p:txBody>
      </p:sp>
      <p:sp>
        <p:nvSpPr>
          <p:cNvPr id="28" name="combined-label">
            <a:extLst xmlns:a="http://schemas.openxmlformats.org/drawingml/2006/main">
              <a:ext uri="{FF2B5EF4-FFF2-40B4-BE49-F238E27FC236}">
                <a16:creationId xmlns:a16="http://schemas.microsoft.com/office/drawing/2014/main" id="{B4A1D5EE-491F-46A1-BF86-2A366D5A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材料与权限类合计 75.0%</a:t>
            </a:r>
          </a:p>
        </p:txBody>
      </p:sp>
      <p:sp>
        <p:nvSpPr>
          <p:cNvPr id="29" name="combined-sub">
            <a:extLst xmlns:a="http://schemas.openxmlformats.org/drawingml/2006/main">
              <a:ext uri="{FF2B5EF4-FFF2-40B4-BE49-F238E27FC236}">
                <a16:creationId xmlns:a16="http://schemas.microsoft.com/office/drawing/2014/main" id="{092B8973-F293-4E5E-B88D-F12512F2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这是复核分类占比，不是可由某一措施消除的数量。</a:t>
            </a:r>
          </a:p>
        </p:txBody>
      </p:sp>
      <p:sp>
        <p:nvSpPr>
          <p:cNvPr id="30" name="definitions-2">
            <a:extLst xmlns:a="http://schemas.openxmlformats.org/drawingml/2006/main">
              <a:ext uri="{FF2B5EF4-FFF2-40B4-BE49-F238E27FC236}">
                <a16:creationId xmlns:a16="http://schemas.microsoft.com/office/drawing/2014/main" id="{EDA0D1C3-CB8D-4FEF-BC79-FD5B88B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71625"/>
            <a:ext cx="36957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finitions-head">
            <a:extLst xmlns:a="http://schemas.openxmlformats.org/drawingml/2006/main">
              <a:ext uri="{FF2B5EF4-FFF2-40B4-BE49-F238E27FC236}">
                <a16:creationId xmlns:a16="http://schemas.microsoft.com/office/drawing/2014/main" id="{76EC3C5A-8566-40F7-8B52-E6595E2C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分类说明</a:t>
            </a:r>
          </a:p>
        </p:txBody>
      </p:sp>
      <p:sp>
        <p:nvSpPr>
          <p:cNvPr id="32" name="definitions-body">
            <a:extLst xmlns:a="http://schemas.openxmlformats.org/drawingml/2006/main">
              <a:ext uri="{FF2B5EF4-FFF2-40B4-BE49-F238E27FC236}">
                <a16:creationId xmlns:a16="http://schemas.microsoft.com/office/drawing/2014/main" id="{41E319EE-60FC-4D51-897F-24DA0B6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086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材料不全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字段缺失或样本文件未附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权限确认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授权人不明确或授权范围未确认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需求反复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同一请求的需求多次变化</a:t>
            </a:r>
          </a:p>
        </p:txBody>
      </p:sp>
      <p:sp>
        <p:nvSpPr>
          <p:cNvPr id="33" name="definitions-divider">
            <a:extLst xmlns:a="http://schemas.openxmlformats.org/drawingml/2006/main">
              <a:ext uri="{FF2B5EF4-FFF2-40B4-BE49-F238E27FC236}">
                <a16:creationId xmlns:a16="http://schemas.microsoft.com/office/drawing/2014/main" id="{56382434-E00C-4331-982D-A87CD64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291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efinitions-limit">
            <a:extLst xmlns:a="http://schemas.openxmlformats.org/drawingml/2006/main">
              <a:ext uri="{FF2B5EF4-FFF2-40B4-BE49-F238E27FC236}">
                <a16:creationId xmlns:a16="http://schemas.microsoft.com/office/drawing/2014/main" id="{C6C6370C-997E-4D94-8D8D-BF5BBCD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48225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分类彼此互斥且合计完整；不能据此预测节省工时，也不等于各措施可以消除的数量。</a:t>
            </a:r>
          </a:p>
        </p:txBody>
      </p:sp>
    </p:spTree>
    <p:extLst>
      <p:ext uri="{BB962C8B-B14F-4D97-AF65-F5344CB8AC3E}">
        <p14:creationId xmlns:p14="http://schemas.microsoft.com/office/powerpoint/2010/main" val="469425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chapter-03">
            <a:extLst xmlns:a="http://schemas.openxmlformats.org/drawingml/2006/main">
              <a:ext uri="{FF2B5EF4-FFF2-40B4-BE49-F238E27FC236}">
                <a16:creationId xmlns:a16="http://schemas.microsoft.com/office/drawing/2014/main" id="{D330C15D-4DA9-48CA-99B1-64152BB8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page-title-03">
            <a:extLst xmlns:a="http://schemas.openxmlformats.org/drawingml/2006/main">
              <a:ext uri="{FF2B5EF4-FFF2-40B4-BE49-F238E27FC236}">
                <a16:creationId xmlns:a16="http://schemas.microsoft.com/office/drawing/2014/main" id="{BDACE19F-0DFF-4B24-96F2-D981D4EC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方案比较：先试行 B，A 保留作高峰应急</a:t>
            </a:r>
          </a:p>
        </p:txBody>
      </p:sp>
      <p:sp>
        <p:nvSpPr>
          <p:cNvPr id="3" name="title-rule-03">
            <a:extLst xmlns:a="http://schemas.openxmlformats.org/drawingml/2006/main">
              <a:ext uri="{FF2B5EF4-FFF2-40B4-BE49-F238E27FC236}">
                <a16:creationId xmlns:a16="http://schemas.microsoft.com/office/drawing/2014/main" id="{04B882B9-09EC-40D7-8A43-F6B2413C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"/>
            <a:ext cx="366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-3">
            <a:extLst xmlns:a="http://schemas.openxmlformats.org/drawingml/2006/main">
              <a:ext uri="{FF2B5EF4-FFF2-40B4-BE49-F238E27FC236}">
                <a16:creationId xmlns:a16="http://schemas.microsoft.com/office/drawing/2014/main" id="{984D4645-C9CA-4832-A740-D522A96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3 / 4</a:t>
            </a:r>
          </a:p>
        </p:txBody>
      </p:sp>
      <p:sp>
        <p:nvSpPr>
          <p:cNvPr id="5" name="simulated-3">
            <a:extLst xmlns:a="http://schemas.openxmlformats.org/drawingml/2006/main">
              <a:ext uri="{FF2B5EF4-FFF2-40B4-BE49-F238E27FC236}">
                <a16:creationId xmlns:a16="http://schemas.microsoft.com/office/drawing/2014/main" id="{F0AA0CBA-0685-4B9D-8984-AD6984B9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模拟数据｜排版验证用</a:t>
            </a:r>
          </a:p>
        </p:txBody>
      </p:sp>
      <p:sp>
        <p:nvSpPr>
          <p:cNvPr id="6" name="lead-3">
            <a:extLst xmlns:a="http://schemas.openxmlformats.org/drawingml/2006/main">
              <a:ext uri="{FF2B5EF4-FFF2-40B4-BE49-F238E27FC236}">
                <a16:creationId xmlns:a16="http://schemas.microsoft.com/office/drawing/2014/main" id="{64533CF9-C937-4FD7-BBBB-04B4F61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以下投入与周期均为内部方案估计；人日表示实施工作量，不能与后续响应改善直接换算。</a:t>
            </a:r>
          </a:p>
        </p:txBody>
      </p:sp>
      <p:sp>
        <p:nvSpPr>
          <p:cNvPr id="7" name="compare-header">
            <a:extLst xmlns:a="http://schemas.openxmlformats.org/drawingml/2006/main">
              <a:ext uri="{FF2B5EF4-FFF2-40B4-BE49-F238E27FC236}">
                <a16:creationId xmlns:a16="http://schemas.microsoft.com/office/drawing/2014/main" id="{6CA1CF1E-5F73-4A14-AF02-D777A1AB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07DD9FEA-C272-4D5C-8A1D-3545D54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比较项</a:t>
            </a:r>
          </a:p>
        </p:txBody>
      </p:sp>
      <p:sp>
        <p:nvSpPr>
          <p:cNvPr id="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DEC99B64-9FF2-4D57-931B-00EDDFD0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621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A｜临时增加值班</a:t>
            </a:r>
          </a:p>
        </p:txBody>
      </p:sp>
      <p:sp>
        <p:nvSpPr>
          <p:cNvPr id="10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E5713E46-04C6-48B6-9386-D099CA32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621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B｜统一申请入口</a:t>
            </a:r>
          </a:p>
        </p:txBody>
      </p:sp>
      <p:sp>
        <p:nvSpPr>
          <p:cNvPr id="11" name="compare-head-3">
            <a:extLst xmlns:a="http://schemas.openxmlformats.org/drawingml/2006/main">
              <a:ext uri="{FF2B5EF4-FFF2-40B4-BE49-F238E27FC236}">
                <a16:creationId xmlns:a16="http://schemas.microsoft.com/office/drawing/2014/main" id="{A0EFDC1A-2060-456F-9258-6AC4A6E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621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C｜批量自动预检</a:t>
            </a:r>
          </a:p>
        </p:txBody>
      </p:sp>
      <p:sp>
        <p:nvSpPr>
          <p:cNvPr id="12" name="compare-0-0">
            <a:extLst xmlns:a="http://schemas.openxmlformats.org/drawingml/2006/main">
              <a:ext uri="{FF2B5EF4-FFF2-40B4-BE49-F238E27FC236}">
                <a16:creationId xmlns:a16="http://schemas.microsoft.com/office/drawing/2014/main" id="{0DF01E96-FC9A-437C-B64D-7535AE2D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直接作用环节</a:t>
            </a:r>
          </a:p>
        </p:txBody>
      </p:sp>
      <p:sp>
        <p:nvSpPr>
          <p:cNvPr id="13" name="compare-0-1">
            <a:extLst xmlns:a="http://schemas.openxmlformats.org/drawingml/2006/main">
              <a:ext uri="{FF2B5EF4-FFF2-40B4-BE49-F238E27FC236}">
                <a16:creationId xmlns:a16="http://schemas.microsoft.com/office/drawing/2014/main" id="{115C88CE-11DF-421C-9192-A6C2A496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6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人工响应排队</a:t>
            </a:r>
          </a:p>
        </p:txBody>
      </p:sp>
      <p:sp>
        <p:nvSpPr>
          <p:cNvPr id="14" name="compare-0-2">
            <a:extLst xmlns:a="http://schemas.openxmlformats.org/drawingml/2006/main">
              <a:ext uri="{FF2B5EF4-FFF2-40B4-BE49-F238E27FC236}">
                <a16:creationId xmlns:a16="http://schemas.microsoft.com/office/drawing/2014/main" id="{6207D15B-E478-4C4B-B9F9-A8EDA3A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76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提交时字段与授权校验</a:t>
            </a:r>
          </a:p>
        </p:txBody>
      </p:sp>
      <p:sp>
        <p:nvSpPr>
          <p:cNvPr id="15" name="compare-0-3">
            <a:extLst xmlns:a="http://schemas.openxmlformats.org/drawingml/2006/main">
              <a:ext uri="{FF2B5EF4-FFF2-40B4-BE49-F238E27FC236}">
                <a16:creationId xmlns:a16="http://schemas.microsoft.com/office/drawing/2014/main" id="{E30A8A84-EE60-424F-B56C-CD34E24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重复性材料格式检查</a:t>
            </a:r>
          </a:p>
        </p:txBody>
      </p:sp>
      <p:sp>
        <p:nvSpPr>
          <p:cNvPr id="16" name="compare-rowline-0">
            <a:extLst xmlns:a="http://schemas.openxmlformats.org/drawingml/2006/main">
              <a:ext uri="{FF2B5EF4-FFF2-40B4-BE49-F238E27FC236}">
                <a16:creationId xmlns:a16="http://schemas.microsoft.com/office/drawing/2014/main" id="{DD6EBD68-6E77-4653-8F4C-C264E7BA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e-fill-1">
            <a:extLst xmlns:a="http://schemas.openxmlformats.org/drawingml/2006/main">
              <a:ext uri="{FF2B5EF4-FFF2-40B4-BE49-F238E27FC236}">
                <a16:creationId xmlns:a16="http://schemas.microsoft.com/office/drawing/2014/main" id="{8343FFFC-3ACE-4933-9286-C3D3885E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e-1-0">
            <a:extLst xmlns:a="http://schemas.openxmlformats.org/drawingml/2006/main">
              <a:ext uri="{FF2B5EF4-FFF2-40B4-BE49-F238E27FC236}">
                <a16:creationId xmlns:a16="http://schemas.microsoft.com/office/drawing/2014/main" id="{2E45192F-DD24-4C28-924D-411A2E48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初期投入</a:t>
            </a:r>
          </a:p>
        </p:txBody>
      </p:sp>
      <p:sp>
        <p:nvSpPr>
          <p:cNvPr id="19" name="compare-1-1">
            <a:extLst xmlns:a="http://schemas.openxmlformats.org/drawingml/2006/main">
              <a:ext uri="{FF2B5EF4-FFF2-40B4-BE49-F238E27FC236}">
                <a16:creationId xmlns:a16="http://schemas.microsoft.com/office/drawing/2014/main" id="{E4BC2633-010C-4245-AD2F-CE61F13B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908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8人日</a:t>
            </a:r>
          </a:p>
        </p:txBody>
      </p:sp>
      <p:sp>
        <p:nvSpPr>
          <p:cNvPr id="20" name="compare-1-2">
            <a:extLst xmlns:a="http://schemas.openxmlformats.org/drawingml/2006/main">
              <a:ext uri="{FF2B5EF4-FFF2-40B4-BE49-F238E27FC236}">
                <a16:creationId xmlns:a16="http://schemas.microsoft.com/office/drawing/2014/main" id="{AD45FB69-A283-4D04-9EC6-B75B36E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908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12人日</a:t>
            </a:r>
          </a:p>
        </p:txBody>
      </p:sp>
      <p:sp>
        <p:nvSpPr>
          <p:cNvPr id="21" name="compare-1-3">
            <a:extLst xmlns:a="http://schemas.openxmlformats.org/drawingml/2006/main">
              <a:ext uri="{FF2B5EF4-FFF2-40B4-BE49-F238E27FC236}">
                <a16:creationId xmlns:a16="http://schemas.microsoft.com/office/drawing/2014/main" id="{0DCDA2C8-A63C-4CAE-9EFC-791CBF05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30人日</a:t>
            </a:r>
          </a:p>
        </p:txBody>
      </p:sp>
      <p:sp>
        <p:nvSpPr>
          <p:cNvPr id="22" name="compare-rowline-1">
            <a:extLst xmlns:a="http://schemas.openxmlformats.org/drawingml/2006/main">
              <a:ext uri="{FF2B5EF4-FFF2-40B4-BE49-F238E27FC236}">
                <a16:creationId xmlns:a16="http://schemas.microsoft.com/office/drawing/2014/main" id="{D7A58CB1-0A56-423D-8AC8-1AA71487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are-2-0">
            <a:extLst xmlns:a="http://schemas.openxmlformats.org/drawingml/2006/main">
              <a:ext uri="{FF2B5EF4-FFF2-40B4-BE49-F238E27FC236}">
                <a16:creationId xmlns:a16="http://schemas.microsoft.com/office/drawing/2014/main" id="{4B150B18-6726-4A1D-A701-BA4AC3B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预计上线周期</a:t>
            </a:r>
          </a:p>
        </p:txBody>
      </p:sp>
      <p:sp>
        <p:nvSpPr>
          <p:cNvPr id="24" name="compare-2-1">
            <a:extLst xmlns:a="http://schemas.openxmlformats.org/drawingml/2006/main">
              <a:ext uri="{FF2B5EF4-FFF2-40B4-BE49-F238E27FC236}">
                <a16:creationId xmlns:a16="http://schemas.microsoft.com/office/drawing/2014/main" id="{3EA4EECA-1D89-45DE-BFC0-12D185E0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1周</a:t>
            </a:r>
          </a:p>
        </p:txBody>
      </p:sp>
      <p:sp>
        <p:nvSpPr>
          <p:cNvPr id="25" name="compare-2-2">
            <a:extLst xmlns:a="http://schemas.openxmlformats.org/drawingml/2006/main">
              <a:ext uri="{FF2B5EF4-FFF2-40B4-BE49-F238E27FC236}">
                <a16:creationId xmlns:a16="http://schemas.microsoft.com/office/drawing/2014/main" id="{2BFCD350-DED7-4D82-BF40-EC37D1E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480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2周</a:t>
            </a:r>
          </a:p>
        </p:txBody>
      </p:sp>
      <p:sp>
        <p:nvSpPr>
          <p:cNvPr id="26" name="compare-2-3">
            <a:extLst xmlns:a="http://schemas.openxmlformats.org/drawingml/2006/main">
              <a:ext uri="{FF2B5EF4-FFF2-40B4-BE49-F238E27FC236}">
                <a16:creationId xmlns:a16="http://schemas.microsoft.com/office/drawing/2014/main" id="{EAAC292C-9012-4889-AD1B-081F1F3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6周</a:t>
            </a:r>
          </a:p>
        </p:txBody>
      </p:sp>
      <p:sp>
        <p:nvSpPr>
          <p:cNvPr id="27" name="compare-rowline-2">
            <a:extLst xmlns:a="http://schemas.openxmlformats.org/drawingml/2006/main">
              <a:ext uri="{FF2B5EF4-FFF2-40B4-BE49-F238E27FC236}">
                <a16:creationId xmlns:a16="http://schemas.microsoft.com/office/drawing/2014/main" id="{02E093DD-F499-4FE5-B711-0E1D48C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re-fill-3">
            <a:extLst xmlns:a="http://schemas.openxmlformats.org/drawingml/2006/main">
              <a:ext uri="{FF2B5EF4-FFF2-40B4-BE49-F238E27FC236}">
                <a16:creationId xmlns:a16="http://schemas.microsoft.com/office/drawing/2014/main" id="{5CCAE919-E382-4C2F-9B36-DE65016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e-3-0">
            <a:extLst xmlns:a="http://schemas.openxmlformats.org/drawingml/2006/main">
              <a:ext uri="{FF2B5EF4-FFF2-40B4-BE49-F238E27FC236}">
                <a16:creationId xmlns:a16="http://schemas.microsoft.com/office/drawing/2014/main" id="{50507574-CB9F-43F5-8FEA-BC7B9AE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持续维护</a:t>
            </a:r>
          </a:p>
        </p:txBody>
      </p:sp>
      <p:sp>
        <p:nvSpPr>
          <p:cNvPr id="30" name="compare-3-1">
            <a:extLst xmlns:a="http://schemas.openxmlformats.org/drawingml/2006/main">
              <a:ext uri="{FF2B5EF4-FFF2-40B4-BE49-F238E27FC236}">
                <a16:creationId xmlns:a16="http://schemas.microsoft.com/office/drawing/2014/main" id="{C415B23E-05B0-4FD7-B906-B8B26795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05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每周2人日值班</a:t>
            </a:r>
          </a:p>
        </p:txBody>
      </p:sp>
      <p:sp>
        <p:nvSpPr>
          <p:cNvPr id="31" name="compare-3-2">
            <a:extLst xmlns:a="http://schemas.openxmlformats.org/drawingml/2006/main">
              <a:ext uri="{FF2B5EF4-FFF2-40B4-BE49-F238E27FC236}">
                <a16:creationId xmlns:a16="http://schemas.microsoft.com/office/drawing/2014/main" id="{C00DB47A-6099-404C-BAF8-71A79EAD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05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每周0.5人日规则维护</a:t>
            </a:r>
          </a:p>
        </p:txBody>
      </p:sp>
      <p:sp>
        <p:nvSpPr>
          <p:cNvPr id="32" name="compare-3-3">
            <a:extLst xmlns:a="http://schemas.openxmlformats.org/drawingml/2006/main">
              <a:ext uri="{FF2B5EF4-FFF2-40B4-BE49-F238E27FC236}">
                <a16:creationId xmlns:a16="http://schemas.microsoft.com/office/drawing/2014/main" id="{9318773F-84B7-41F1-AAD7-6E76FC6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每周1人日规则维护</a:t>
            </a:r>
          </a:p>
        </p:txBody>
      </p:sp>
      <p:sp>
        <p:nvSpPr>
          <p:cNvPr id="33" name="compare-rowline-3">
            <a:extLst xmlns:a="http://schemas.openxmlformats.org/drawingml/2006/main">
              <a:ext uri="{FF2B5EF4-FFF2-40B4-BE49-F238E27FC236}">
                <a16:creationId xmlns:a16="http://schemas.microsoft.com/office/drawing/2014/main" id="{41C90BDE-CB9F-4C14-ABC8-10BBB34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are-4-0">
            <a:extLst xmlns:a="http://schemas.openxmlformats.org/drawingml/2006/main">
              <a:ext uri="{FF2B5EF4-FFF2-40B4-BE49-F238E27FC236}">
                <a16:creationId xmlns:a16="http://schemas.microsoft.com/office/drawing/2014/main" id="{3D4F579D-722C-44EE-AEEE-7A3355CD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当前依赖</a:t>
            </a:r>
          </a:p>
        </p:txBody>
      </p:sp>
      <p:sp>
        <p:nvSpPr>
          <p:cNvPr id="35" name="compare-4-1">
            <a:extLst xmlns:a="http://schemas.openxmlformats.org/drawingml/2006/main">
              <a:ext uri="{FF2B5EF4-FFF2-40B4-BE49-F238E27FC236}">
                <a16:creationId xmlns:a16="http://schemas.microsoft.com/office/drawing/2014/main" id="{C749A60C-BD8E-4FAD-AB4A-3611AFB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576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可调配值班人员</a:t>
            </a:r>
          </a:p>
        </p:txBody>
      </p:sp>
      <p:sp>
        <p:nvSpPr>
          <p:cNvPr id="36" name="compare-4-2">
            <a:extLst xmlns:a="http://schemas.openxmlformats.org/drawingml/2006/main">
              <a:ext uri="{FF2B5EF4-FFF2-40B4-BE49-F238E27FC236}">
                <a16:creationId xmlns:a16="http://schemas.microsoft.com/office/drawing/2014/main" id="{CB6F33A2-F99C-49D8-9E66-3AD7A2C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三类请求字段达成一致</a:t>
            </a:r>
          </a:p>
        </p:txBody>
      </p:sp>
      <p:sp>
        <p:nvSpPr>
          <p:cNvPr id="37" name="compare-4-3">
            <a:extLst xmlns:a="http://schemas.openxmlformats.org/drawingml/2006/main">
              <a:ext uri="{FF2B5EF4-FFF2-40B4-BE49-F238E27FC236}">
                <a16:creationId xmlns:a16="http://schemas.microsoft.com/office/drawing/2014/main" id="{CB6C5366-FCB9-4ECD-8ACC-BB7858A3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稳定字段及可机器判断的规则</a:t>
            </a:r>
          </a:p>
        </p:txBody>
      </p:sp>
      <p:sp>
        <p:nvSpPr>
          <p:cNvPr id="38" name="compare-rowline-4">
            <a:extLst xmlns:a="http://schemas.openxmlformats.org/drawingml/2006/main">
              <a:ext uri="{FF2B5EF4-FFF2-40B4-BE49-F238E27FC236}">
                <a16:creationId xmlns:a16="http://schemas.microsoft.com/office/drawing/2014/main" id="{EDDF1B54-AB16-47D1-8986-8DA346C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re-fill-5">
            <a:extLst xmlns:a="http://schemas.openxmlformats.org/drawingml/2006/main">
              <a:ext uri="{FF2B5EF4-FFF2-40B4-BE49-F238E27FC236}">
                <a16:creationId xmlns:a16="http://schemas.microsoft.com/office/drawing/2014/main" id="{67FAC5B9-51F3-47D7-83AA-54E4B40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are-5-0">
            <a:extLst xmlns:a="http://schemas.openxmlformats.org/drawingml/2006/main">
              <a:ext uri="{FF2B5EF4-FFF2-40B4-BE49-F238E27FC236}">
                <a16:creationId xmlns:a16="http://schemas.microsoft.com/office/drawing/2014/main" id="{94D0CCC5-1E9B-47B0-9B7D-A02D6A4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主要限制</a:t>
            </a:r>
          </a:p>
        </p:txBody>
      </p:sp>
      <p:sp>
        <p:nvSpPr>
          <p:cNvPr id="41" name="compare-5-1">
            <a:extLst xmlns:a="http://schemas.openxmlformats.org/drawingml/2006/main">
              <a:ext uri="{FF2B5EF4-FFF2-40B4-BE49-F238E27FC236}">
                <a16:creationId xmlns:a16="http://schemas.microsoft.com/office/drawing/2014/main" id="{98107365-591A-4B33-A2C7-C3A2CB51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434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不直接解决材料缺失</a:t>
            </a:r>
          </a:p>
        </p:txBody>
      </p:sp>
      <p:sp>
        <p:nvSpPr>
          <p:cNvPr id="42" name="compare-5-2">
            <a:extLst xmlns:a="http://schemas.openxmlformats.org/drawingml/2006/main">
              <a:ext uri="{FF2B5EF4-FFF2-40B4-BE49-F238E27FC236}">
                <a16:creationId xmlns:a16="http://schemas.microsoft.com/office/drawing/2014/main" id="{3188D05A-34FF-41C2-9522-25C4990E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434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不消除复杂需求沟通</a:t>
            </a:r>
          </a:p>
        </p:txBody>
      </p:sp>
      <p:sp>
        <p:nvSpPr>
          <p:cNvPr id="43" name="compare-5-3">
            <a:extLst xmlns:a="http://schemas.openxmlformats.org/drawingml/2006/main">
              <a:ext uri="{FF2B5EF4-FFF2-40B4-BE49-F238E27FC236}">
                <a16:creationId xmlns:a16="http://schemas.microsoft.com/office/drawing/2014/main" id="{EFD26A1F-3BDE-4CFD-AB3E-11239740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434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不替代人工授权判断</a:t>
            </a:r>
          </a:p>
        </p:txBody>
      </p:sp>
      <p:sp>
        <p:nvSpPr>
          <p:cNvPr id="44" name="compare-rowline-5">
            <a:extLst xmlns:a="http://schemas.openxmlformats.org/drawingml/2006/main">
              <a:ext uri="{FF2B5EF4-FFF2-40B4-BE49-F238E27FC236}">
                <a16:creationId xmlns:a16="http://schemas.microsoft.com/office/drawing/2014/main" id="{4D010212-EF20-4C3B-A84A-56D4D30C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re-v-0">
            <a:extLst xmlns:a="http://schemas.openxmlformats.org/drawingml/2006/main">
              <a:ext uri="{FF2B5EF4-FFF2-40B4-BE49-F238E27FC236}">
                <a16:creationId xmlns:a16="http://schemas.microsoft.com/office/drawing/2014/main" id="{59375A9F-64E6-4CAD-88CF-6E6F797C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9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e-v-1">
            <a:extLst xmlns:a="http://schemas.openxmlformats.org/drawingml/2006/main">
              <a:ext uri="{FF2B5EF4-FFF2-40B4-BE49-F238E27FC236}">
                <a16:creationId xmlns:a16="http://schemas.microsoft.com/office/drawing/2014/main" id="{BA31EDAD-E765-49E5-8F92-842E63D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9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re-v-2">
            <a:extLst xmlns:a="http://schemas.openxmlformats.org/drawingml/2006/main">
              <a:ext uri="{FF2B5EF4-FFF2-40B4-BE49-F238E27FC236}">
                <a16:creationId xmlns:a16="http://schemas.microsoft.com/office/drawing/2014/main" id="{73E6F1DF-AA83-46FC-A31D-CBBC9A6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485900"/>
            <a:ext cx="9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are-bottom">
            <a:extLst xmlns:a="http://schemas.openxmlformats.org/drawingml/2006/main">
              <a:ext uri="{FF2B5EF4-FFF2-40B4-BE49-F238E27FC236}">
                <a16:creationId xmlns:a16="http://schemas.microsoft.com/office/drawing/2014/main" id="{A76FB811-6EB3-4F9E-A2CA-15EB4617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ommendation-3">
            <a:extLst xmlns:a="http://schemas.openxmlformats.org/drawingml/2006/main">
              <a:ext uri="{FF2B5EF4-FFF2-40B4-BE49-F238E27FC236}">
                <a16:creationId xmlns:a16="http://schemas.microsoft.com/office/drawing/2014/main" id="{9AD9397E-17DC-47A4-81EE-6F38AC21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依据：4月复核中的材料与权限类阻塞占主要部分，B的作用环节与其对应；C依赖稳定字段，适合在入口规则稳定后再评估。</a:t>
            </a:r>
          </a:p>
        </p:txBody>
      </p:sp>
      <p:sp>
        <p:nvSpPr>
          <p:cNvPr id="50" name="recommendation-3-limit">
            <a:extLst xmlns:a="http://schemas.openxmlformats.org/drawingml/2006/main">
              <a:ext uri="{FF2B5EF4-FFF2-40B4-BE49-F238E27FC236}">
                <a16:creationId xmlns:a16="http://schemas.microsoft.com/office/drawing/2014/main" id="{6765C3BC-1F67-4E2C-A70A-711D869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B 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792842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hapter-04">
            <a:extLst xmlns:a="http://schemas.openxmlformats.org/drawingml/2006/main">
              <a:ext uri="{FF2B5EF4-FFF2-40B4-BE49-F238E27FC236}">
                <a16:creationId xmlns:a16="http://schemas.microsoft.com/office/drawing/2014/main" id="{EEA5FA0A-D0FB-4334-BA03-9E7444F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page-title-04">
            <a:extLst xmlns:a="http://schemas.openxmlformats.org/drawingml/2006/main">
              <a:ext uri="{FF2B5EF4-FFF2-40B4-BE49-F238E27FC236}">
                <a16:creationId xmlns:a16="http://schemas.microsoft.com/office/drawing/2014/main" id="{92DECEE8-2638-4E73-9B19-578E4B0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六周试点：先验证入口规则，再决定是否扩围</a:t>
            </a:r>
          </a:p>
        </p:txBody>
      </p:sp>
      <p:sp>
        <p:nvSpPr>
          <p:cNvPr id="3" name="title-rule-04">
            <a:extLst xmlns:a="http://schemas.openxmlformats.org/drawingml/2006/main">
              <a:ext uri="{FF2B5EF4-FFF2-40B4-BE49-F238E27FC236}">
                <a16:creationId xmlns:a16="http://schemas.microsoft.com/office/drawing/2014/main" id="{329A136D-751F-4793-8C2F-B6BE928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-4">
            <a:extLst xmlns:a="http://schemas.openxmlformats.org/drawingml/2006/main">
              <a:ext uri="{FF2B5EF4-FFF2-40B4-BE49-F238E27FC236}">
                <a16:creationId xmlns:a16="http://schemas.microsoft.com/office/drawing/2014/main" id="{8697DFA6-E4E4-4EC1-AC23-6FF524CD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4 / 4</a:t>
            </a:r>
          </a:p>
        </p:txBody>
      </p:sp>
      <p:sp>
        <p:nvSpPr>
          <p:cNvPr id="5" name="simulated-4">
            <a:extLst xmlns:a="http://schemas.openxmlformats.org/drawingml/2006/main">
              <a:ext uri="{FF2B5EF4-FFF2-40B4-BE49-F238E27FC236}">
                <a16:creationId xmlns:a16="http://schemas.microsoft.com/office/drawing/2014/main" id="{F5960717-978D-4BFE-99DE-1D1123C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模拟数据｜排版验证用</a:t>
            </a:r>
          </a:p>
        </p:txBody>
      </p:sp>
      <p:sp>
        <p:nvSpPr>
          <p:cNvPr id="6" name="lead-4">
            <a:extLst xmlns:a="http://schemas.openxmlformats.org/drawingml/2006/main">
              <a:ext uri="{FF2B5EF4-FFF2-40B4-BE49-F238E27FC236}">
                <a16:creationId xmlns:a16="http://schemas.microsoft.com/office/drawing/2014/main" id="{5B75FFB1-4377-4383-A3AE-FEDC58D8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B 尚未实施；以下是有限试点计划，不是已有改善承诺。</a:t>
            </a:r>
          </a:p>
        </p:txBody>
      </p:sp>
      <p:sp>
        <p:nvSpPr>
          <p:cNvPr id="7" name="phase-circle-1—2">
            <a:extLst xmlns:a="http://schemas.openxmlformats.org/drawingml/2006/main">
              <a:ext uri="{FF2B5EF4-FFF2-40B4-BE49-F238E27FC236}">
                <a16:creationId xmlns:a16="http://schemas.microsoft.com/office/drawing/2014/main" id="{FC50D47F-1685-44DC-BB08-130E627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phase-number-1—2">
            <a:extLst xmlns:a="http://schemas.openxmlformats.org/drawingml/2006/main">
              <a:ext uri="{FF2B5EF4-FFF2-40B4-BE49-F238E27FC236}">
                <a16:creationId xmlns:a16="http://schemas.microsoft.com/office/drawing/2014/main" id="{02AC9FEE-5008-4F9F-9A43-378AF203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1—2</a:t>
            </a:r>
          </a:p>
        </p:txBody>
      </p:sp>
      <p:sp>
        <p:nvSpPr>
          <p:cNvPr id="9" name="phase-title-1—2">
            <a:extLst xmlns:a="http://schemas.openxmlformats.org/drawingml/2006/main">
              <a:ext uri="{FF2B5EF4-FFF2-40B4-BE49-F238E27FC236}">
                <a16:creationId xmlns:a16="http://schemas.microsoft.com/office/drawing/2014/main" id="{29F30202-DE30-441D-8A47-65AC1FF7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统一字段与责任</a:t>
            </a:r>
          </a:p>
        </p:txBody>
      </p:sp>
      <p:sp>
        <p:nvSpPr>
          <p:cNvPr id="10" name="phase-rule-1—2">
            <a:extLst xmlns:a="http://schemas.openxmlformats.org/drawingml/2006/main">
              <a:ext uri="{FF2B5EF4-FFF2-40B4-BE49-F238E27FC236}">
                <a16:creationId xmlns:a16="http://schemas.microsoft.com/office/drawing/2014/main" id="{938A615B-7188-421C-BBE9-02439705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669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ase-body-1—2">
            <a:extLst xmlns:a="http://schemas.openxmlformats.org/drawingml/2006/main">
              <a:ext uri="{FF2B5EF4-FFF2-40B4-BE49-F238E27FC236}">
                <a16:creationId xmlns:a16="http://schemas.microsoft.com/office/drawing/2014/main" id="{6DBDDD00-6C34-4F83-94F6-D029928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331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负责人联合三类请求经办人，形成字段字典、授权清单和统一入口。</a:t>
            </a:r>
          </a:p>
        </p:txBody>
      </p:sp>
      <p:sp>
        <p:nvSpPr>
          <p:cNvPr id="12" name="phase-condition-label-1—2">
            <a:extLst xmlns:a="http://schemas.openxmlformats.org/drawingml/2006/main">
              <a:ext uri="{FF2B5EF4-FFF2-40B4-BE49-F238E27FC236}">
                <a16:creationId xmlns:a16="http://schemas.microsoft.com/office/drawing/2014/main" id="{537FE2E0-82F5-4BA1-90C7-8E87E32F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进入条件</a:t>
            </a:r>
          </a:p>
        </p:txBody>
      </p:sp>
      <p:sp>
        <p:nvSpPr>
          <p:cNvPr id="13" name="phase-condition-1—2">
            <a:extLst xmlns:a="http://schemas.openxmlformats.org/drawingml/2006/main">
              <a:ext uri="{FF2B5EF4-FFF2-40B4-BE49-F238E27FC236}">
                <a16:creationId xmlns:a16="http://schemas.microsoft.com/office/drawing/2014/main" id="{CC757AE9-14AB-4DA0-B6C3-A6BBA412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331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三类请求均完成一轮实际样本填写检查，且无关键必填字段缺失。</a:t>
            </a:r>
          </a:p>
        </p:txBody>
      </p:sp>
      <p:sp>
        <p:nvSpPr>
          <p:cNvPr id="14" name="phase-connector-1">
            <a:extLst xmlns:a="http://schemas.openxmlformats.org/drawingml/2006/main">
              <a:ext uri="{FF2B5EF4-FFF2-40B4-BE49-F238E27FC236}">
                <a16:creationId xmlns:a16="http://schemas.microsoft.com/office/drawing/2014/main" id="{3CFA4A62-335C-4BBD-92DB-19D8CEB7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431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ase-circle-3—4">
            <a:extLst xmlns:a="http://schemas.openxmlformats.org/drawingml/2006/main">
              <a:ext uri="{FF2B5EF4-FFF2-40B4-BE49-F238E27FC236}">
                <a16:creationId xmlns:a16="http://schemas.microsoft.com/office/drawing/2014/main" id="{F8522545-5ED3-48DA-A066-C68D124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phase-number-3—4">
            <a:extLst xmlns:a="http://schemas.openxmlformats.org/drawingml/2006/main">
              <a:ext uri="{FF2B5EF4-FFF2-40B4-BE49-F238E27FC236}">
                <a16:creationId xmlns:a16="http://schemas.microsoft.com/office/drawing/2014/main" id="{EE4D3022-F89E-4E50-982B-918372B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81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3—4</a:t>
            </a:r>
          </a:p>
        </p:txBody>
      </p:sp>
      <p:sp>
        <p:nvSpPr>
          <p:cNvPr id="17" name="phase-title-3—4">
            <a:extLst xmlns:a="http://schemas.openxmlformats.org/drawingml/2006/main">
              <a:ext uri="{FF2B5EF4-FFF2-40B4-BE49-F238E27FC236}">
                <a16:creationId xmlns:a16="http://schemas.microsoft.com/office/drawing/2014/main" id="{005A2271-726D-4E52-9C8E-7FC4E05C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先在数据提取试用</a:t>
            </a:r>
          </a:p>
        </p:txBody>
      </p:sp>
      <p:sp>
        <p:nvSpPr>
          <p:cNvPr id="18" name="phase-rule-3—4">
            <a:extLst xmlns:a="http://schemas.openxmlformats.org/drawingml/2006/main">
              <a:ext uri="{FF2B5EF4-FFF2-40B4-BE49-F238E27FC236}">
                <a16:creationId xmlns:a16="http://schemas.microsoft.com/office/drawing/2014/main" id="{14AD58F3-7467-4921-8222-4DB26D5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669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hase-body-3—4">
            <a:extLst xmlns:a="http://schemas.openxmlformats.org/drawingml/2006/main">
              <a:ext uri="{FF2B5EF4-FFF2-40B4-BE49-F238E27FC236}">
                <a16:creationId xmlns:a16="http://schemas.microsoft.com/office/drawing/2014/main" id="{EECBB8BD-9C14-4B54-995B-4060E4C6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331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只覆盖数据提取请求；保存缺失字段、退回原因和首次响应记录。</a:t>
            </a:r>
          </a:p>
        </p:txBody>
      </p:sp>
      <p:sp>
        <p:nvSpPr>
          <p:cNvPr id="20" name="phase-condition-label-3—4">
            <a:extLst xmlns:a="http://schemas.openxmlformats.org/drawingml/2006/main">
              <a:ext uri="{FF2B5EF4-FFF2-40B4-BE49-F238E27FC236}">
                <a16:creationId xmlns:a16="http://schemas.microsoft.com/office/drawing/2014/main" id="{19C6C512-E429-4B96-9CCB-245FA422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进入条件</a:t>
            </a:r>
          </a:p>
        </p:txBody>
      </p:sp>
      <p:sp>
        <p:nvSpPr>
          <p:cNvPr id="21" name="phase-condition-3—4">
            <a:extLst xmlns:a="http://schemas.openxmlformats.org/drawingml/2006/main">
              <a:ext uri="{FF2B5EF4-FFF2-40B4-BE49-F238E27FC236}">
                <a16:creationId xmlns:a16="http://schemas.microsoft.com/office/drawing/2014/main" id="{C5B5539D-FDA1-4DB7-8511-58D86E7C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331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记录完整，且未发现会阻断提交的高频规则错误；否则回到字段和规则修订。</a:t>
            </a:r>
          </a:p>
        </p:txBody>
      </p:sp>
      <p:sp>
        <p:nvSpPr>
          <p:cNvPr id="22" name="phase-connector-2">
            <a:extLst xmlns:a="http://schemas.openxmlformats.org/drawingml/2006/main">
              <a:ext uri="{FF2B5EF4-FFF2-40B4-BE49-F238E27FC236}">
                <a16:creationId xmlns:a16="http://schemas.microsoft.com/office/drawing/2014/main" id="{86725BF2-1CBE-44C4-AE48-F94F73C2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hase-circle-5—6">
            <a:extLst xmlns:a="http://schemas.openxmlformats.org/drawingml/2006/main">
              <a:ext uri="{FF2B5EF4-FFF2-40B4-BE49-F238E27FC236}">
                <a16:creationId xmlns:a16="http://schemas.microsoft.com/office/drawing/2014/main" id="{9FEB9EF5-0E78-4EC7-AF7E-20C50731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4" name="phase-number-5—6">
            <a:extLst xmlns:a="http://schemas.openxmlformats.org/drawingml/2006/main">
              <a:ext uri="{FF2B5EF4-FFF2-40B4-BE49-F238E27FC236}">
                <a16:creationId xmlns:a16="http://schemas.microsoft.com/office/drawing/2014/main" id="{B4DAA2DC-F4C3-4492-83F9-1D6F0C4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81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5—6</a:t>
            </a:r>
          </a:p>
        </p:txBody>
      </p:sp>
      <p:sp>
        <p:nvSpPr>
          <p:cNvPr id="25" name="phase-title-5—6">
            <a:extLst xmlns:a="http://schemas.openxmlformats.org/drawingml/2006/main">
              <a:ext uri="{FF2B5EF4-FFF2-40B4-BE49-F238E27FC236}">
                <a16:creationId xmlns:a16="http://schemas.microsoft.com/office/drawing/2014/main" id="{527FE0B5-8DA6-4DED-A9CA-DA277C1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95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复核后决定扩围</a:t>
            </a:r>
          </a:p>
        </p:txBody>
      </p:sp>
      <p:sp>
        <p:nvSpPr>
          <p:cNvPr id="26" name="phase-rule-5—6">
            <a:extLst xmlns:a="http://schemas.openxmlformats.org/drawingml/2006/main">
              <a:ext uri="{FF2B5EF4-FFF2-40B4-BE49-F238E27FC236}">
                <a16:creationId xmlns:a16="http://schemas.microsoft.com/office/drawing/2014/main" id="{0CC8C74B-03BE-4868-B777-960FCA58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669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hase-body-5—6">
            <a:extLst xmlns:a="http://schemas.openxmlformats.org/drawingml/2006/main">
              <a:ext uri="{FF2B5EF4-FFF2-40B4-BE49-F238E27FC236}">
                <a16:creationId xmlns:a16="http://schemas.microsoft.com/office/drawing/2014/main" id="{85851125-A4FA-42AE-8A88-89E33A3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52675"/>
            <a:ext cx="3314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负责人复核试点数据，再决定是否扩大到数据清洗和权限开通。</a:t>
            </a:r>
          </a:p>
        </p:txBody>
      </p:sp>
      <p:sp>
        <p:nvSpPr>
          <p:cNvPr id="28" name="phase-condition-label-5—6">
            <a:extLst xmlns:a="http://schemas.openxmlformats.org/drawingml/2006/main">
              <a:ext uri="{FF2B5EF4-FFF2-40B4-BE49-F238E27FC236}">
                <a16:creationId xmlns:a16="http://schemas.microsoft.com/office/drawing/2014/main" id="{AC10E996-C802-4AA3-96AD-6DF64A9A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评估口径</a:t>
            </a:r>
          </a:p>
        </p:txBody>
      </p:sp>
      <p:sp>
        <p:nvSpPr>
          <p:cNvPr id="29" name="phase-condition-5—6">
            <a:extLst xmlns:a="http://schemas.openxmlformats.org/drawingml/2006/main">
              <a:ext uri="{FF2B5EF4-FFF2-40B4-BE49-F238E27FC236}">
                <a16:creationId xmlns:a16="http://schemas.microsoft.com/office/drawing/2014/main" id="{C6211E36-5946-42E2-9A31-D8A56411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331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同时看两个工作日内响应比例、材料退回比例、经办人维护时间；目标值根据试点基线确定。</a:t>
            </a:r>
          </a:p>
        </p:txBody>
      </p:sp>
      <p:sp>
        <p:nvSpPr>
          <p:cNvPr id="30" name="evaluation-band">
            <a:extLst xmlns:a="http://schemas.openxmlformats.org/drawingml/2006/main">
              <a:ext uri="{FF2B5EF4-FFF2-40B4-BE49-F238E27FC236}">
                <a16:creationId xmlns:a16="http://schemas.microsoft.com/office/drawing/2014/main" id="{39E3A32E-8244-4609-9C2F-FA31722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valuation-head">
            <a:extLst xmlns:a="http://schemas.openxmlformats.org/drawingml/2006/main">
              <a:ext uri="{FF2B5EF4-FFF2-40B4-BE49-F238E27FC236}">
                <a16:creationId xmlns:a16="http://schemas.microsoft.com/office/drawing/2014/main" id="{1F9ED5CF-089F-470D-B0EC-E63F1860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决策条件</a:t>
            </a:r>
          </a:p>
        </p:txBody>
      </p:sp>
      <p:sp>
        <p:nvSpPr>
          <p:cNvPr id="32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9D4FD695-DA6B-4B16-9140-40394228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先完成规则可用性验证，再判断扩围；本稿不设未经论证的百分比目标。</a:t>
            </a:r>
          </a:p>
        </p:txBody>
      </p:sp>
    </p:spTree>
    <p:extLst>
      <p:ext uri="{BB962C8B-B14F-4D97-AF65-F5344CB8AC3E}">
        <p14:creationId xmlns:p14="http://schemas.microsoft.com/office/powerpoint/2010/main" val="1556694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2026-09-08T16:15:37.9920000Z</dcterms:created>
  <dcterms:modified xsi:type="dcterms:W3CDTF">2026-09-08T16:15:37.9920000Z</dcterms:modified>
</coreProperties>
</file>