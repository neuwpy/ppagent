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7162aeea394122" /><Relationship Type="http://schemas.openxmlformats.org/officeDocument/2006/relationships/extended-properties" Target="/docProps/app.xml" Id="Rc77439f6e0454778" /><Relationship Type="http://schemas.openxmlformats.org/officeDocument/2006/relationships/officeDocument" Target="/ppt/presentation.xml" Id="R93c64453871f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e7977406264e50"/>
    <p:sldMasterId xmlns:r="http://schemas.openxmlformats.org/officeDocument/2006/relationships" id="2147483660" r:id="R8f1c90fc3d124844"/>
    <p:sldMasterId xmlns:r="http://schemas.openxmlformats.org/officeDocument/2006/relationships" id="2147483663" r:id="R5f468b735dcf4db4"/>
  </p:sldMasterIdLst>
  <p:notesMasterIdLst>
    <p:notesMasterId xmlns:r="http://schemas.openxmlformats.org/officeDocument/2006/relationships" r:id="R5c66e47aa18040b5"/>
  </p:notesMasterIdLst>
  <p:sldIdLst>
    <p:sldId xmlns:r="http://schemas.openxmlformats.org/officeDocument/2006/relationships" id="256" r:id="Raefbef97c03e4c31"/>
    <p:sldId xmlns:r="http://schemas.openxmlformats.org/officeDocument/2006/relationships" id="257" r:id="Rb37157dcf0d04299"/>
    <p:sldId xmlns:r="http://schemas.openxmlformats.org/officeDocument/2006/relationships" id="258" r:id="Racdc26562ac947b7"/>
    <p:sldId xmlns:r="http://schemas.openxmlformats.org/officeDocument/2006/relationships" id="259" r:id="R3ad843d718344a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610b194f142d0" /><Relationship Type="http://schemas.openxmlformats.org/officeDocument/2006/relationships/slideMaster" Target="/ppt/slideMasters/slideMaster1.xml" Id="R88e7977406264e50" /><Relationship Type="http://schemas.openxmlformats.org/officeDocument/2006/relationships/slideMaster" Target="/ppt/slideMasters/slideMaster2.xml" Id="R8f1c90fc3d124844" /><Relationship Type="http://schemas.openxmlformats.org/officeDocument/2006/relationships/slideMaster" Target="/ppt/slideMasters/slideMaster3.xml" Id="R5f468b735dcf4db4" /><Relationship Type="http://schemas.openxmlformats.org/officeDocument/2006/relationships/notesMaster" Target="/ppt/notesMasters/notesMaster1.xml" Id="R5c66e47aa18040b5" /><Relationship Type="http://schemas.openxmlformats.org/officeDocument/2006/relationships/presProps" Target="/ppt/presProps.xml" Id="R8b37950c166d4559" /><Relationship Type="http://schemas.openxmlformats.org/officeDocument/2006/relationships/viewProps" Target="/ppt/viewProps.xml" Id="Rc7bf961273af4809" /><Relationship Type="http://schemas.openxmlformats.org/officeDocument/2006/relationships/tableStyles" Target="/ppt/tableStyles.xml" Id="Ra7ad97a314654efa" /><Relationship Type="http://schemas.openxmlformats.org/officeDocument/2006/relationships/slide" Target="/ppt/slides/slide1.xml" Id="Raefbef97c03e4c31" /><Relationship Type="http://schemas.openxmlformats.org/officeDocument/2006/relationships/slide" Target="/ppt/slides/slide2.xml" Id="Rb37157dcf0d04299" /><Relationship Type="http://schemas.openxmlformats.org/officeDocument/2006/relationships/slide" Target="/ppt/slides/slide3.xml" Id="Racdc26562ac947b7" /><Relationship Type="http://schemas.openxmlformats.org/officeDocument/2006/relationships/slide" Target="/ppt/slides/slide4.xml" Id="R3ad843d71834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51a91209dff4d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62e00ba06479b" /><Relationship Type="http://schemas.openxmlformats.org/officeDocument/2006/relationships/notesMaster" Target="/ppt/notesMasters/notesMaster1.xml" Id="R6148e51700ad4a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a7a81926cb41b0" /><Relationship Type="http://schemas.openxmlformats.org/officeDocument/2006/relationships/notesMaster" Target="/ppt/notesMasters/notesMaster1.xml" Id="Re7bb3fe9e91940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69a830257e4344" /><Relationship Type="http://schemas.openxmlformats.org/officeDocument/2006/relationships/notesMaster" Target="/ppt/notesMasters/notesMaster1.xml" Id="R9f850e605c144a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de9d2ae09b4214" /><Relationship Type="http://schemas.openxmlformats.org/officeDocument/2006/relationships/notesMaster" Target="/ppt/notesMasters/notesMaster1.xml" Id="Re7f99d892a8242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图内保留原始月度计数：1月120/96，2月150/114，3月180/126，4月240/144。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图内保留互斥完整分类：材料不全42、权限确认30、需求反复16、其他8；4月请求构成为120/72/48。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B尚未实施；三种方案的投入、周期和维护均为内部估计。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阶段推进和回退条件均来自原稿；目标值需根据试点基线确定。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bce250fe44ff1" /><Relationship Type="http://schemas.openxmlformats.org/officeDocument/2006/relationships/image" Target="/ppt/media/image.jpeg" Id="R9a118d1fa8784c78" /><Relationship Type="http://schemas.openxmlformats.org/officeDocument/2006/relationships/image" Target="/ppt/media/image.png" Id="R991a8a1dfbd44910" /><Relationship Type="http://schemas.openxmlformats.org/officeDocument/2006/relationships/image" Target="/ppt/media/image2.png" Id="R5a66b425edbb4f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f4e2f86dc4a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5437058434c21" /><Relationship Type="http://schemas.openxmlformats.org/officeDocument/2006/relationships/image" Target="/ppt/media/image3.png" Id="R178a24eb28d840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ac47f5ca1425a" /><Relationship Type="http://schemas.openxmlformats.org/officeDocument/2006/relationships/image" Target="/ppt/media/image4.png" Id="R94e2cb449d6341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27b1d691a4b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fcd28cc5f42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d23142f9d41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75b50f00c4a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3c388c7d74e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4ff06546e41d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9b628e6d2473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4f642ce7d243a3" /><Relationship Type="http://schemas.openxmlformats.org/officeDocument/2006/relationships/image" Target="/ppt/media/image5.png" Id="R7537771701ea456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f5b7deac3e4ef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d7e0f6b12f41fc" /><Relationship Type="http://schemas.openxmlformats.org/officeDocument/2006/relationships/image" Target="/ppt/media/image5.png" Id="R7b603c3f8b274f9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c2044aa6d204a8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18d1fa8784c7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a8a1dfbd4491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6b425edbb4f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a24eb28d8402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2cb449d6341e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7771701ea456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03c3f8b274f9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1aa73117ce4248" /><Relationship Type="http://schemas.openxmlformats.org/officeDocument/2006/relationships/slideLayout" Target="/ppt/slideLayouts/slideLayout1.xml" Id="R2ba0ae2495ba4cbd" /><Relationship Type="http://schemas.openxmlformats.org/officeDocument/2006/relationships/slideLayout" Target="/ppt/slideLayouts/slideLayout2.xml" Id="R3a9c2c8d37b947d3" /><Relationship Type="http://schemas.openxmlformats.org/officeDocument/2006/relationships/slideLayout" Target="/ppt/slideLayouts/slideLayout3.xml" Id="R54af4a47f02c4229" /><Relationship Type="http://schemas.openxmlformats.org/officeDocument/2006/relationships/slideLayout" Target="/ppt/slideLayouts/slideLayout4.xml" Id="Re72c47a282e24bb6" /><Relationship Type="http://schemas.openxmlformats.org/officeDocument/2006/relationships/slideLayout" Target="/ppt/slideLayouts/slideLayout5.xml" Id="R74d62c6a1efa4c6d" /><Relationship Type="http://schemas.openxmlformats.org/officeDocument/2006/relationships/slideLayout" Target="/ppt/slideLayouts/slideLayout6.xml" Id="Re174d7eb7350495b" /><Relationship Type="http://schemas.openxmlformats.org/officeDocument/2006/relationships/slideLayout" Target="/ppt/slideLayouts/slideLayout7.xml" Id="R12de491ad2e8466a" /><Relationship Type="http://schemas.openxmlformats.org/officeDocument/2006/relationships/slideLayout" Target="/ppt/slideLayouts/slideLayout8.xml" Id="R6d6b5a3acee44b9d" /><Relationship Type="http://schemas.openxmlformats.org/officeDocument/2006/relationships/slideLayout" Target="/ppt/slideLayouts/slideLayout9.xml" Id="Rbaf5c7cc9e174c69" /><Relationship Type="http://schemas.openxmlformats.org/officeDocument/2006/relationships/slideLayout" Target="/ppt/slideLayouts/slideLayout10.xml" Id="Ra98d504d96384422" /><Relationship Type="http://schemas.openxmlformats.org/officeDocument/2006/relationships/slideLayout" Target="/ppt/slideLayouts/slideLayout11.xml" Id="Rade734a22cb04db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18fecaa2a794038" /><Relationship Type="http://schemas.openxmlformats.org/officeDocument/2006/relationships/slideLayout" Target="/ppt/slideLayouts/slideLayout12.xml" Id="Rbebb7e4be2334326" /><Relationship Type="http://schemas.openxmlformats.org/officeDocument/2006/relationships/slideLayout" Target="/ppt/slideLayouts/slideLayout13.xml" Id="R26d0ec429f9e40a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14927e085c14ca0" /><Relationship Type="http://schemas.openxmlformats.org/officeDocument/2006/relationships/slideLayout" Target="/ppt/slideLayouts/slideLayout14.xml" Id="R040105f82f054b6f" /><Relationship Type="http://schemas.openxmlformats.org/officeDocument/2006/relationships/slideLayout" Target="/ppt/slideLayouts/slideLayout15.xml" Id="R099c19753aa2467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a0ae2495ba4cbd"/>
    <p:sldLayoutId xmlns:r="http://schemas.openxmlformats.org/officeDocument/2006/relationships" id="2147483650" r:id="R3a9c2c8d37b947d3"/>
    <p:sldLayoutId xmlns:r="http://schemas.openxmlformats.org/officeDocument/2006/relationships" id="2147483651" r:id="R54af4a47f02c4229"/>
    <p:sldLayoutId xmlns:r="http://schemas.openxmlformats.org/officeDocument/2006/relationships" id="2147483652" r:id="Re72c47a282e24bb6"/>
    <p:sldLayoutId xmlns:r="http://schemas.openxmlformats.org/officeDocument/2006/relationships" id="2147483653" r:id="R74d62c6a1efa4c6d"/>
    <p:sldLayoutId xmlns:r="http://schemas.openxmlformats.org/officeDocument/2006/relationships" id="2147483654" r:id="Re174d7eb7350495b"/>
    <p:sldLayoutId xmlns:r="http://schemas.openxmlformats.org/officeDocument/2006/relationships" id="2147483655" r:id="R12de491ad2e8466a"/>
    <p:sldLayoutId xmlns:r="http://schemas.openxmlformats.org/officeDocument/2006/relationships" id="2147483656" r:id="R6d6b5a3acee44b9d"/>
    <p:sldLayoutId xmlns:r="http://schemas.openxmlformats.org/officeDocument/2006/relationships" id="2147483657" r:id="Rbaf5c7cc9e174c69"/>
    <p:sldLayoutId xmlns:r="http://schemas.openxmlformats.org/officeDocument/2006/relationships" id="2147483658" r:id="Ra98d504d96384422"/>
    <p:sldLayoutId xmlns:r="http://schemas.openxmlformats.org/officeDocument/2006/relationships" id="2147483659" r:id="Rade734a22cb04db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ebb7e4be2334326"/>
    <p:sldLayoutId xmlns:r="http://schemas.openxmlformats.org/officeDocument/2006/relationships" id="2147483662" r:id="R26d0ec429f9e40a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40105f82f054b6f"/>
    <p:sldLayoutId xmlns:r="http://schemas.openxmlformats.org/officeDocument/2006/relationships" id="2147483665" r:id="R099c19753aa2467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09063032c64e09" /><Relationship Type="http://schemas.openxmlformats.org/officeDocument/2006/relationships/notesSlide" Target="/ppt/notesSlides/notesSlide1.xml" Id="Recc6404984b443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21e702ac654b3c" /><Relationship Type="http://schemas.openxmlformats.org/officeDocument/2006/relationships/notesSlide" Target="/ppt/notesSlides/notesSlide2.xml" Id="Rdd2e8f7a595e41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faadd4402349d0" /><Relationship Type="http://schemas.openxmlformats.org/officeDocument/2006/relationships/notesSlide" Target="/ppt/notesSlides/notesSlide3.xml" Id="Re5a8f7966d37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919bef442a4e4d" /><Relationship Type="http://schemas.openxmlformats.org/officeDocument/2006/relationships/notesSlide" Target="/ppt/notesSlides/notesSlide4.xml" Id="Rc1b89986fcba40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工作量翻倍，及时首次响应比例降至60%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38327-CEFB-4968-A80D-4F369CF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口径：每月当月收到的请求，观察结案后是否在两个工作日内首次给出可执行答复。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55201-492B-432E-859D-5632C940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16A49-3FD5-48F9-9601-1321F6C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7524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62ECD-B2BE-437E-88F1-A236C15F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月度工作量与及时首次响应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50EB6-800E-463E-887A-7310E28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24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请求量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E1213-D0F6-4B93-BB65-2BB8F1CC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24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及时首次响应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A7110-B052-4201-B244-908A84F6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241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中位时间（工作日）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2774D-54DB-48DC-8E5A-FF6B8DF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FD41B-CCE3-48B7-A6FC-C002571A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01FE6-0C83-4A4A-AA42-0BA7914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623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AC24BE-21A7-49CD-A4A7-45AE184B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06CDD-CCDD-4916-85A5-03D8DAAD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23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11BBA-B562-4ECF-A853-43D78D5F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623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DAB6D-7D07-45FB-8DFC-EA5866C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BAA6E-2D82-480C-84CA-E7A172ED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8BD24-8921-4A25-8A59-E935FFCF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26431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DCD9A-57CA-48D8-A0B9-06D502BB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3857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B5AD0-8E30-4BBF-AFF6-DFC1683E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9572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2F8641-C204-4CFF-8499-BE2E7ADA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5A4053-06A2-44CD-8014-67D2ACA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880408-137E-446B-AA72-46F65190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161988-F379-4FB6-A988-4FFE968C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28F8D8-1B26-4D21-9362-7D4FDA98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91025"/>
            <a:ext cx="3171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DAC5F0-5A54-437F-B143-3F584EF3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529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4CB070-FE53-4C65-AACD-2C8FD81C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5F7FE9-43A9-4403-8126-B999339C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529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37BB77-9BC5-42B1-9FC9-BDBAB4B9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529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52C94C-7AB4-4967-9FF8-4085B7AA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ED5157-EFE1-4065-BAB4-ECD0351D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5DD3CA-56E5-4EFC-849B-D7B6E55D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86325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8A73CA-BE7E-4EB9-AA25-246FB218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482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BD671F-1343-4745-8E16-9DCDB82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86325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520122-8351-482D-B168-7A55F219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80F165-AC14-47CC-BEBF-2883F983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48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2.4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BA32F8-8790-41D2-A801-75BEC87D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431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97918F-868B-4C1E-AA2A-0754EC9E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C0D488-4A3F-4885-870B-51E0DD84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请求量翻倍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120 → 240 个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F43F4F-3A17-4560-B93C-BA6EB205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1FE79C-8D23-4F7D-96A2-799B83E3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及时比例下降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80% → 60%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9C5034-0167-4D42-896B-467DBBB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人员数四个月保持不变。两项变化同时出现，但无对照实验，不能断言工作量增长是响应变慢的唯一原因。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594100-3800-4AF7-BA3B-7E7B79F1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注：该指标不是结案时长；每月无缺失记录。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4月超时请求中，材料与权限阻塞占75%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FAB28-B1B2-46C4-B548-DD8DDCAE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对象：4月未达到两个工作日响应标准的96个请求；每个请求只记一个主要阻塞原因。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A2E09-E91B-4CBB-9E93-450E59D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47E84-2B0F-45DC-A2C2-9F01DE1C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1114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D4827-A93D-4A95-911E-1F64B954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主要阻塞原因构成（96个未达标请求）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BB613-2061-41D3-B426-4B762107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08051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F80D6-A177-42B3-AFA6-3280D8C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9662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42（44%）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831E5-70A3-4B0D-B947-57A273A4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321945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E5787-B725-4BFA-8757-24F0E8E8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33051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30（31%）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9CDD6-FF7A-47EC-A758-581A1BD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3219450"/>
            <a:ext cx="1554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E4E207-E558-4ED4-AAD5-9BBAB27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3305175"/>
            <a:ext cx="1440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需求反复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16（17%）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985CB-9E29-4685-96D0-80D8B6B3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3219450"/>
            <a:ext cx="7772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19459-04AF-468A-9BE9-E9B3C5F2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3829050"/>
            <a:ext cx="7772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 8（8%）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B8B61-DE79-40D9-AA20-9EF6355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材料与权限合计 72 个，占 75%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FC607-8D48-4530-A419-D5CDE494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16DE71-DCED-488C-A5AA-4E49677A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总体背景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182DE-53A9-4866-A255-998F83D3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4月共收到240个请求：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数据提取120，数据清洗72，权限开通48。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D4C1A-9B85-4CDD-B2A7-00496E64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476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818D4-2FC7-4E7E-A47A-87FCFC71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这组数据支持的判断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CF808-B9B1-4E1E-BB60-F41DBFC7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材料与权限是主要阻塞环节，统一入口与其有直接对应关系。分类不等于措施可消除的数量，也不能据此预测节省工时。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1C5F7-949D-4B66-967E-7B2A021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定义：材料不全含字段缺失或未附样本；权限确认含授权人不明确或授权范围未确认。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应对措施先选B，因其直接作用于主要阻塞环节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245A1-ED80-4DB8-8610-B0B6F269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投入与周期为内部方案估计；B尚未实施，人日表示实施工作量，不能换算响应改善。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CCDB0-ADEF-4D80-B206-E5B9FCD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模拟估计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DBEFB-0C81-4C0D-AB4A-89934C0C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2D9D1-7ECE-456A-B5F0-C7D7D3D2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76EA6-E05B-4515-A1BF-BBA6949D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178F4-24D4-4E84-8D84-93FE99D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BCFE6-7F3C-42E9-BAEE-610EAE00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7FDF8-BCE1-4D13-8581-F240CB1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381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9ABDC-B566-4B12-8598-32B7990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90DAA-13FE-4982-A772-5B783CFF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F0FAF-9BFF-478B-A0DD-C8E1BD4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EB25FB-8185-40CA-83B9-83BFCF71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860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1E437-9E13-42A2-BDB3-63CDC579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860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B81DC-8A8C-4173-9B11-F8215380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86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A47CD-C34F-405B-8A5A-FAC672AE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EA976-DBC1-4ADD-9351-0DBEFED5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43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4E46E-3B52-4259-BC93-8EC6E548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6B24E9-7F31-4261-8C5A-3AA537B0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C4B4A-247E-44D7-8816-0A3E5E22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74397-081F-4186-A6DB-55906D1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9570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FB39B9-BAA8-49D8-AB93-1199A3CB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E2025C-1F0C-452D-B7FE-A5D4A76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814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70F40D-05F4-4E53-AA93-C82625B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4B7F85-D269-403A-96E1-823639EE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861096-9E0E-4151-A72C-8A1DD258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66608-FD1C-44CB-96A2-7BA709A0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38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ECC956-9051-4084-9727-EF6C204E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29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3FC7F6-D9B3-4A14-A632-50A2336C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29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3FE254-8872-4AB0-A564-FA20469C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6E75DC-B31F-41B2-850E-ADA6004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B7FD93-9F6C-4BB4-8F55-C8DECBA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8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9EA80E-FE34-4F70-8870-B5399BD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76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03C77B-845C-4797-BC2E-87D8AD34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76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D81CA-86E5-4DBE-AAE4-4105E794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76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1EB88A-4EF1-4358-8806-BD00793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3872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B08562-0E5F-45D1-9828-2571E771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33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BAE53D-563D-4169-BE37-7A2466E5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24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EE3B3F-8B35-456C-B828-56569901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24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013AED-85AA-496A-B95B-1AE9317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24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31182A-CCAA-43C0-8D21-1393C7A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75EF34-865D-4635-8477-07C6F7B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决策依据：B覆盖材料与权限校验；A保留为短期高峰应急，C待入口规则稳定后再评估。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先用6周验证统一入口，再决定是否扩大范围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有限试点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4E59F-956F-4ABD-B57D-FE20B31E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六周试点按先统一字段、再单类试用、后负责人复核推进；每阶段都有进入条件。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80DAE-96CA-4A4C-953A-2F78564C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C01B5-7EEF-4571-A8E5-8FD542C8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4744C-6295-4057-BA2B-EEF2076F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第1—2周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0D11E-E6C4-49A0-B360-DCAB915F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480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51EE8-4346-4025-8105-C28EDE1A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5200"/>
            <a:ext cx="2962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负责人联合三类请求经办人，形成字段字典、授权清单和统一入口。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ECD65-2473-4C5B-8CE4-031A5B35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F0C08-0649-4F8B-9650-FC860BC6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进入条件：三类请求均完成一轮实际样本填写检查，无关键必填字段缺失。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2E68F-74F1-4FD2-8394-1043B15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290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7491B-63CD-43EE-8F04-60519571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7190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712D9-89A7-4936-ACF4-991FDCB5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72DA2-E04D-4AE8-AC8B-EF8BF088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第3—4周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73361-F7BD-4D6B-A096-A7403498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480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E86574-C65D-49D6-8D07-053AEBF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05200"/>
            <a:ext cx="2962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保存缺失字段、退回原因和首次响应记录，不同时覆盖其他两类。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3DB6C-FAA5-486E-AFBF-EC2E9FE1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862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87B9B-C050-4D6B-9E56-B80E17C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扩大条件：记录完整，且未发现会阻断提交的高频规则错误。否则回到字段和规则修订。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4DFF29-1A58-4F50-AA94-E7E6C8D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322668-97BA-4A4B-BA13-B83BA39F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7190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3EF62F-643F-4365-9AEF-75A27B5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0300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08A4B-4FCD-4F4C-BCAE-CE123952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908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第5—6周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B0B4BB-79DF-4C44-BE22-5219D477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480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负责人复核后决定扩围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7783B1-C6AB-4B80-8235-6ECF559C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505200"/>
            <a:ext cx="3486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复核试点数据，再决定是否扩大到数据清洗和权限开通。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7ADDB4-9F60-4A9A-84E5-FC95BC1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862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6F8A6B-A83B-438F-B95F-2BAE712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38650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评估指标：两个工作日内响应比例、材料退回比例、经办人维护时间。目标值根据试点基线确定。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B156BF-946C-4DAD-9E2E-5345AE0D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006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高频规则错误时回到字段和规则修订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F42623-FB28-4E86-9351-99974490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AFC009-723C-4F09-AEA6-006185C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EE6B6-CD3B-4A8F-9B82-803303A0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2786F8-55AF-4A36-8880-111DC3D6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57800"/>
            <a:ext cx="1143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A2387A-A718-41BD-8C49-DFFB19D3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边界：B尚未实施，不能宣称已有改善，也不能承诺消除所有材料与权限阻塞。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2026-09-09T04:50:20.7240000Z</dcterms:created>
  <dcterms:modified xsi:type="dcterms:W3CDTF">2026-09-09T04:50:20.7240000Z</dcterms:modified>
</coreProperties>
</file>