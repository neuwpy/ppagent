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47b4b274364134" /><Relationship Type="http://schemas.openxmlformats.org/officeDocument/2006/relationships/extended-properties" Target="/docProps/app.xml" Id="R61387ec45ef74e71" /><Relationship Type="http://schemas.openxmlformats.org/officeDocument/2006/relationships/officeDocument" Target="/ppt/presentation.xml" Id="R22e41ef9415e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7555c4f97143b1"/>
    <p:sldMasterId xmlns:r="http://schemas.openxmlformats.org/officeDocument/2006/relationships" id="2147483660" r:id="R75e5d658909d4cdd"/>
    <p:sldMasterId xmlns:r="http://schemas.openxmlformats.org/officeDocument/2006/relationships" id="2147483663" r:id="R4b3ba06d888546d1"/>
  </p:sldMasterIdLst>
  <p:notesMasterIdLst>
    <p:notesMasterId xmlns:r="http://schemas.openxmlformats.org/officeDocument/2006/relationships" r:id="R98d0d6cda8b643d8"/>
  </p:notesMasterIdLst>
  <p:sldIdLst>
    <p:sldId xmlns:r="http://schemas.openxmlformats.org/officeDocument/2006/relationships" id="256" r:id="R45b306933d8149a2"/>
    <p:sldId xmlns:r="http://schemas.openxmlformats.org/officeDocument/2006/relationships" id="257" r:id="Rc0fd1a5f4da64b32"/>
    <p:sldId xmlns:r="http://schemas.openxmlformats.org/officeDocument/2006/relationships" id="258" r:id="R7b38f78979424a55"/>
    <p:sldId xmlns:r="http://schemas.openxmlformats.org/officeDocument/2006/relationships" id="259" r:id="R0774dcd678ee4b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1e9404656741ab" /><Relationship Type="http://schemas.openxmlformats.org/officeDocument/2006/relationships/slideMaster" Target="/ppt/slideMasters/slideMaster1.xml" Id="R287555c4f97143b1" /><Relationship Type="http://schemas.openxmlformats.org/officeDocument/2006/relationships/slideMaster" Target="/ppt/slideMasters/slideMaster2.xml" Id="R75e5d658909d4cdd" /><Relationship Type="http://schemas.openxmlformats.org/officeDocument/2006/relationships/slideMaster" Target="/ppt/slideMasters/slideMaster3.xml" Id="R4b3ba06d888546d1" /><Relationship Type="http://schemas.openxmlformats.org/officeDocument/2006/relationships/notesMaster" Target="/ppt/notesMasters/notesMaster1.xml" Id="R98d0d6cda8b643d8" /><Relationship Type="http://schemas.openxmlformats.org/officeDocument/2006/relationships/presProps" Target="/ppt/presProps.xml" Id="Re88243cf1d9e45a0" /><Relationship Type="http://schemas.openxmlformats.org/officeDocument/2006/relationships/viewProps" Target="/ppt/viewProps.xml" Id="Rafaca8f7607c4102" /><Relationship Type="http://schemas.openxmlformats.org/officeDocument/2006/relationships/tableStyles" Target="/ppt/tableStyles.xml" Id="R659dff81fda1416a" /><Relationship Type="http://schemas.openxmlformats.org/officeDocument/2006/relationships/slide" Target="/ppt/slides/slide1.xml" Id="R45b306933d8149a2" /><Relationship Type="http://schemas.openxmlformats.org/officeDocument/2006/relationships/slide" Target="/ppt/slides/slide2.xml" Id="Rc0fd1a5f4da64b32" /><Relationship Type="http://schemas.openxmlformats.org/officeDocument/2006/relationships/slide" Target="/ppt/slides/slide3.xml" Id="R7b38f78979424a55" /><Relationship Type="http://schemas.openxmlformats.org/officeDocument/2006/relationships/slide" Target="/ppt/slides/slide4.xml" Id="R0774dcd678ee4b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1378945e95c4b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b9646de5e497e" /><Relationship Type="http://schemas.openxmlformats.org/officeDocument/2006/relationships/notesMaster" Target="/ppt/notesMasters/notesMaster1.xml" Id="R8d771a7b0c5449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78a348d4f74e96" /><Relationship Type="http://schemas.openxmlformats.org/officeDocument/2006/relationships/notesMaster" Target="/ppt/notesMasters/notesMaster1.xml" Id="R4477bd0450af4d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d6dd7d5024207" /><Relationship Type="http://schemas.openxmlformats.org/officeDocument/2006/relationships/notesMaster" Target="/ppt/notesMasters/notesMaster1.xml" Id="R2faea444f836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d1a68ce834b38" /><Relationship Type="http://schemas.openxmlformats.org/officeDocument/2006/relationships/notesMaster" Target="/ppt/notesMasters/notesMaster1.xml" Id="R3ee453e0228d46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图内保留原始月度计数：1月120/96，2月150/114，3月180/126，4月240/144。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图内保留互斥完整分类：材料不全42、权限确认30、需求反复16、其他8；4月请求构成为120/72/48。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B尚未实施；三种方案的投入、周期和维护均为内部估计。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阶段推进和回退条件均来自原稿；目标值需根据试点基线确定。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6f70fbcb945b6" /><Relationship Type="http://schemas.openxmlformats.org/officeDocument/2006/relationships/image" Target="/ppt/media/image.jpeg" Id="R3c723e716d7849d5" /><Relationship Type="http://schemas.openxmlformats.org/officeDocument/2006/relationships/image" Target="/ppt/media/image.png" Id="R469c016427d74b0e" /><Relationship Type="http://schemas.openxmlformats.org/officeDocument/2006/relationships/image" Target="/ppt/media/image2.png" Id="Rbdd2da3fe9fe4c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e28947f0146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b17b0f09842f3" /><Relationship Type="http://schemas.openxmlformats.org/officeDocument/2006/relationships/image" Target="/ppt/media/image3.png" Id="R88e94d7982914e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5f9fb4f264f3b" /><Relationship Type="http://schemas.openxmlformats.org/officeDocument/2006/relationships/image" Target="/ppt/media/image4.png" Id="Rd7b43a8654564f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eb7b958f64d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a6dacee87411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c0c00fa564c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8d451f65c43e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4e87986ae4f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c16a4747742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8f29211cc409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da52274e69456c" /><Relationship Type="http://schemas.openxmlformats.org/officeDocument/2006/relationships/image" Target="/ppt/media/image5.png" Id="R31ec17e0439c45d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34b82b0a684c3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169b9a89ebc403c" /><Relationship Type="http://schemas.openxmlformats.org/officeDocument/2006/relationships/image" Target="/ppt/media/image5.png" Id="R66166a31179648e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64cdcba8140469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23e716d7849d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c016427d74b0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2da3fe9fe4c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94d7982914ef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43a8654564f2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c17e0439c45d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66a31179648e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3ec7b242a64d71" /><Relationship Type="http://schemas.openxmlformats.org/officeDocument/2006/relationships/slideLayout" Target="/ppt/slideLayouts/slideLayout1.xml" Id="R9303816b92094870" /><Relationship Type="http://schemas.openxmlformats.org/officeDocument/2006/relationships/slideLayout" Target="/ppt/slideLayouts/slideLayout2.xml" Id="R601410ed68384d34" /><Relationship Type="http://schemas.openxmlformats.org/officeDocument/2006/relationships/slideLayout" Target="/ppt/slideLayouts/slideLayout3.xml" Id="R335fd07bf6ef4912" /><Relationship Type="http://schemas.openxmlformats.org/officeDocument/2006/relationships/slideLayout" Target="/ppt/slideLayouts/slideLayout4.xml" Id="R5b7094e241cd4817" /><Relationship Type="http://schemas.openxmlformats.org/officeDocument/2006/relationships/slideLayout" Target="/ppt/slideLayouts/slideLayout5.xml" Id="R32517f76c4c545f4" /><Relationship Type="http://schemas.openxmlformats.org/officeDocument/2006/relationships/slideLayout" Target="/ppt/slideLayouts/slideLayout6.xml" Id="R0bd96f9af4164971" /><Relationship Type="http://schemas.openxmlformats.org/officeDocument/2006/relationships/slideLayout" Target="/ppt/slideLayouts/slideLayout7.xml" Id="R6b4faaab49334f93" /><Relationship Type="http://schemas.openxmlformats.org/officeDocument/2006/relationships/slideLayout" Target="/ppt/slideLayouts/slideLayout8.xml" Id="R730e08b2ceeb4b46" /><Relationship Type="http://schemas.openxmlformats.org/officeDocument/2006/relationships/slideLayout" Target="/ppt/slideLayouts/slideLayout9.xml" Id="R0afa2b9780e24fe2" /><Relationship Type="http://schemas.openxmlformats.org/officeDocument/2006/relationships/slideLayout" Target="/ppt/slideLayouts/slideLayout10.xml" Id="R3340e18f74944cba" /><Relationship Type="http://schemas.openxmlformats.org/officeDocument/2006/relationships/slideLayout" Target="/ppt/slideLayouts/slideLayout11.xml" Id="Re897bc3682a8466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93264587efd445a" /><Relationship Type="http://schemas.openxmlformats.org/officeDocument/2006/relationships/slideLayout" Target="/ppt/slideLayouts/slideLayout12.xml" Id="Re63409a3291042c4" /><Relationship Type="http://schemas.openxmlformats.org/officeDocument/2006/relationships/slideLayout" Target="/ppt/slideLayouts/slideLayout13.xml" Id="Ra20423c6cdc14ae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09764d1131d431a" /><Relationship Type="http://schemas.openxmlformats.org/officeDocument/2006/relationships/slideLayout" Target="/ppt/slideLayouts/slideLayout14.xml" Id="R48ae4855e5f74117" /><Relationship Type="http://schemas.openxmlformats.org/officeDocument/2006/relationships/slideLayout" Target="/ppt/slideLayouts/slideLayout15.xml" Id="Rc001ae7dba1748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03816b92094870"/>
    <p:sldLayoutId xmlns:r="http://schemas.openxmlformats.org/officeDocument/2006/relationships" id="2147483650" r:id="R601410ed68384d34"/>
    <p:sldLayoutId xmlns:r="http://schemas.openxmlformats.org/officeDocument/2006/relationships" id="2147483651" r:id="R335fd07bf6ef4912"/>
    <p:sldLayoutId xmlns:r="http://schemas.openxmlformats.org/officeDocument/2006/relationships" id="2147483652" r:id="R5b7094e241cd4817"/>
    <p:sldLayoutId xmlns:r="http://schemas.openxmlformats.org/officeDocument/2006/relationships" id="2147483653" r:id="R32517f76c4c545f4"/>
    <p:sldLayoutId xmlns:r="http://schemas.openxmlformats.org/officeDocument/2006/relationships" id="2147483654" r:id="R0bd96f9af4164971"/>
    <p:sldLayoutId xmlns:r="http://schemas.openxmlformats.org/officeDocument/2006/relationships" id="2147483655" r:id="R6b4faaab49334f93"/>
    <p:sldLayoutId xmlns:r="http://schemas.openxmlformats.org/officeDocument/2006/relationships" id="2147483656" r:id="R730e08b2ceeb4b46"/>
    <p:sldLayoutId xmlns:r="http://schemas.openxmlformats.org/officeDocument/2006/relationships" id="2147483657" r:id="R0afa2b9780e24fe2"/>
    <p:sldLayoutId xmlns:r="http://schemas.openxmlformats.org/officeDocument/2006/relationships" id="2147483658" r:id="R3340e18f74944cba"/>
    <p:sldLayoutId xmlns:r="http://schemas.openxmlformats.org/officeDocument/2006/relationships" id="2147483659" r:id="Re897bc3682a8466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63409a3291042c4"/>
    <p:sldLayoutId xmlns:r="http://schemas.openxmlformats.org/officeDocument/2006/relationships" id="2147483662" r:id="Ra20423c6cdc14ae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8ae4855e5f74117"/>
    <p:sldLayoutId xmlns:r="http://schemas.openxmlformats.org/officeDocument/2006/relationships" id="2147483665" r:id="Rc001ae7dba1748a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0e9bf13439407b" /><Relationship Type="http://schemas.openxmlformats.org/officeDocument/2006/relationships/notesSlide" Target="/ppt/notesSlides/notesSlide1.xml" Id="R08babf23a08d49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e12796d5ab4924" /><Relationship Type="http://schemas.openxmlformats.org/officeDocument/2006/relationships/notesSlide" Target="/ppt/notesSlides/notesSlide2.xml" Id="Rd2cee4c87f1c48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1bd31494534ab8" /><Relationship Type="http://schemas.openxmlformats.org/officeDocument/2006/relationships/notesSlide" Target="/ppt/notesSlides/notesSlide3.xml" Id="R26ff571e462644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8330467e074804" /><Relationship Type="http://schemas.openxmlformats.org/officeDocument/2006/relationships/notesSlide" Target="/ppt/notesSlides/notesSlide4.xml" Id="Re17d07f8ac8c41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工作量翻倍，及时首次响应比例降至60%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历史观察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0FCE8-94CC-4929-952B-16F812E1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口径：每月当月收到的请求，观察结案后是否在两个工作日内首次给出可执行答复。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2F314-E03A-47D1-A85A-3B04067E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B06AD-5E60-4415-910D-D17235C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7524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A86EB-4DC0-4A2F-8E55-33AA18C3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月度工作量与及时首次响应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F3C4C-BA60-43B0-8EBE-910DED98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24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请求量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D020F-9930-4C50-98FE-DB0CDF22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24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及时首次响应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F25F1-2757-4CB3-B10B-566125E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241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中位时间（工作日）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8F4A1-0A34-4018-A92E-EC8174F1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152EF-F955-45FD-85B1-6E172092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F56C7-1D0F-4981-97C5-FE91EE60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623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7A48A-70BE-4E29-ACA9-2A755D6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0425"/>
            <a:ext cx="12344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96DA9-318E-4D3B-9B97-1A776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315" y="3362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7A46F6-F7E1-4C26-98FB-4532950F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623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E0D575-91CE-48F7-AEAC-63BD3F72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13489F-FD9E-4845-BF83-EAACB630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9DAC75-4861-4036-AA2A-120CA07F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95725"/>
            <a:ext cx="26431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C8218E-97E4-4068-977D-A73F30D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3857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16E1D9-C11C-4781-9B0A-FD66DCF4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95725"/>
            <a:ext cx="146589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17C991-B16D-4FDA-BCF8-16620118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773" y="38576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F193DA-E302-4554-84B0-1C4CEE3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576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3207AE-5D31-4DF4-A0CD-6034A40B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D2220A-4CB0-4629-8580-E896EA62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C6E177-7B8A-4542-B7A4-3287DBCF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91025"/>
            <a:ext cx="3171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278B36-DDB1-40EB-9928-CF4BA51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529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A21E15-2CAC-43FF-90DA-75F9762A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16202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9A5E48-5FA1-4108-B187-B9855E9B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78" y="43529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7858F4-E5CD-4323-A568-3CC5E0C7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52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D67598-242E-4595-960A-B00CBECE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BE30F4-68BA-40E8-A7D3-82DF8C89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22DEA5-93CC-4CBB-BBF2-22E54C5F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86325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B477F1-9940-48FB-ACC5-9EE20A43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482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2D9A06-7004-4937-AA86-6F9BAD6B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86325"/>
            <a:ext cx="18516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8332E0-3334-4617-8FFD-2E9F35E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48482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50F840-B56D-419E-8CE1-D5A2FEDE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482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2.4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4F593B-E726-4681-9E14-101CE5DE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431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5CFD36-3B40-466E-A587-1D1352FA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E6595A-A84F-4BFF-BC92-08F02DA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请求量翻倍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120 → 240 个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9B79EC-69FE-4E58-BC7A-C4D89067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D47B38-3E4C-4AB2-9C83-4929B60B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及时比例下降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80% → 60%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7FC116-F0A2-44DA-B8DF-5FFE9B83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人员数四个月保持不变。两项变化同时出现，但无对照实验，不能断言工作量增长是响应变慢的唯一原因。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8A2F39-E151-42ED-B9DC-416875F3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注：该指标不是结案时长；每月无缺失记录。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4月超时请求中，材料与权限阻塞占75%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A7C2E-6188-434C-85F4-373D9AA1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对象：4月未达到两个工作日响应标准的96个请求；每个请求只记一个主要阻塞原因。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FC373-9977-4228-8F36-3573D1B5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EC1B2-1563-488F-A7C4-210FB95A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1114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EB0BB-9526-47A7-A4F4-5E7C1579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主要阻塞原因构成（96个未达标请求）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9C4B5-4FB6-4922-8208-4DC5D9E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08051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937C8-28F0-4F95-B2A9-614F91EC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9662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42（44%）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B0677-F7A7-4809-9CA9-DF539674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321945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70572-03D6-471A-9361-E63F8EB4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3305175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30（31%）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9BB1E-55A7-4D7D-9490-98C7C420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3219450"/>
            <a:ext cx="1554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28BC6-C90F-45E9-9534-718426DD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3305175"/>
            <a:ext cx="14401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需求反复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16（17%）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A13B5-7A24-4DD9-8C31-EE3ECBF2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3219450"/>
            <a:ext cx="7772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F9C94-FC18-48D4-8F83-D94C4256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3829050"/>
            <a:ext cx="7772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其他 8（8%）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DD997-41D3-4D5F-806C-C89932AB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材料与权限合计 72 个，占 75%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8E58B-D62A-40F1-A8B6-B6A5055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4C80A8-D423-40B1-A3C7-349AF3A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总体背景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7EF4FD-AEE3-4011-AE67-B4366B41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4月共收到240个请求：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数据提取120，数据清洗72，权限开通48。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22AF54-4098-4578-BD16-55B028C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476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C32A32-F03B-4110-AF35-2D942C02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这组数据支持的判断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B5AB23-CCB4-4BE7-816E-FEE78D99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材料与权限是主要阻塞环节，统一入口与其有直接对应关系。分类不等于措施可消除的数量，也不能据此预测节省工时。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C6483E-94A4-4360-90B3-BA4E1631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定义：材料不全含字段缺失或未附样本；权限确认含授权人不明确或授权范围未确认。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应对措施先选B，因其直接作用于主要阻塞环节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方案比较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D3301-9255-435F-BEA2-0D04B0F4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投入与周期为内部方案估计；B尚未实施，人日表示实施工作量，不能换算响应改善。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7D7AD-432E-45CF-AB1C-916D9C2E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模拟估计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A254E-6A1F-4745-B90C-D5914178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BBBCA-E97F-4675-8016-0C2C7DFA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43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C8BC1-87CF-4BFC-8C94-04D63146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2F290-1BB0-4FC9-8048-A05555B2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CE6D0-57A3-4AD1-9624-79ABEAA7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F8AE0-754F-4E45-95A0-778101E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381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C5F32-FC05-4F2C-BEF9-A7503408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CA09F-B1B8-4917-9B06-A7D25A21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93703-53DF-4D55-94C7-A5E0FC94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95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60D126-FDDB-442D-88C5-003D3C42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860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BB2F3-E386-4DA6-872F-B2357E4F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860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3FFDDE-E44A-4EB5-8418-A7577E86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86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3BC3A5-FAC7-4BD0-9624-D23C6E4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496F87-F094-4C81-8E12-07EC1995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43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5C0F4B-5479-4617-8DE8-E5F4BE4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96665-6BA6-4208-B449-8559356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B9E46D-BC7B-4DD8-AECA-BE3F1977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6977F8-5289-4117-AD2C-766714D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9570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AEDD8E-1A2D-4F8B-AFC9-337D250A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182948-E255-4B72-946D-F153C8B3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814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0D41C1-1E19-4B3D-88C2-2178047F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814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9C6466-36CF-495B-8777-CEE23CB9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F675EB-2B2E-455C-B0AC-B87CA6D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26F7BE-192A-4407-BB05-ABBAC8E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38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3C7C16-F472-4AF2-BD3C-36B1A90E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291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5E1F40-19AB-42EC-A162-5E9F31E5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291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176E4B-EDF3-4174-943C-27BA0F46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BB50B7-0A70-40EF-99F3-10CE284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149EB0-6C0A-4CD9-981A-5D59A72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8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E6E336-BF39-4ADB-AC46-C1FAF36D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767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915126-814D-473E-8B53-27A4A62C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767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5EF37B-4AC2-431D-9F35-C0EDE35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76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526011-EFA6-4F5C-B763-0F9AD53F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3872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60D0E0-3A5D-42D1-8715-6D6AC914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33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8BF868-343E-44FE-A23B-6FA958AF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24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40F01B-482A-4AB5-BD7E-A921611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24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8FCD59-CB38-40BB-89D2-AE31879F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24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2B9F64-3407-46D1-B12E-8EF817D8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C91712-9C73-4083-83B3-8E7AA9B6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决策依据：B覆盖材料与权限校验；A保留为短期高峰应急，C待入口规则稳定后再评估。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先用6周验证统一入口，再决定是否扩大范围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有限试点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09FF9-4C85-49C7-A2C6-5B4EAB00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六周试点按先统一字段、再单类试用、后负责人复核推进；每阶段都有进入条件。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6EA0D-4EB3-48ED-9EB2-3CAFD1C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10398-25ED-4886-98EA-A31C09D9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0026F-63CF-4080-97F5-918BF36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90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第1—2周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5B81F-8FB9-4186-A3B6-E9FB7BF1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4800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649E8-3B2F-420D-A269-1639A638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5200"/>
            <a:ext cx="2962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负责人联合三类请求经办人，形成字段字典、授权清单和统一入口。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8FBA0-3441-42D3-9499-6B6ED6A8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86250"/>
            <a:ext cx="296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298CB-A9ED-4E79-8750-085738F7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3865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进入条件：三类请求均完成一轮实际样本填写检查，无关键必填字段缺失。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3D8B5-11CF-4E2F-8EE5-23F9978A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290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8340E-E937-4ABB-96AF-BDF110F2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71900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AB68F-18A3-4C2A-84EC-2822977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B465F-43F4-423D-828E-AD286EA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90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第3—4周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173E8-D2D9-4F77-A9E2-9FC41F6A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4800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只在数据提取请求试用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C5AF7-1F27-44B1-AEAD-16E73014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05200"/>
            <a:ext cx="29622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保存缺失字段、退回原因和首次响应记录，不同时覆盖其他两类。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DF0402-092F-4571-A082-5A5FFB5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86250"/>
            <a:ext cx="296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F170A-6276-4933-89A8-2D5A9F2D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38650"/>
            <a:ext cx="2962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扩大条件：记录完整，且未发现会阻断提交的高频规则错误。否则回到字段和规则修订。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2FD39-6E0B-4B14-BECC-4220454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BEA54-8174-4977-9DD2-7806916F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71900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00D90-E1DB-468D-A05C-5872D51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0300"/>
            <a:ext cx="390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36F0E3-20FE-4C33-9BA8-F1676137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908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第5—6周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045C6-BF24-44E0-9EA8-7748ADD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480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负责人复核后决定扩围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412071-D2D8-46E2-8759-9D68A252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505200"/>
            <a:ext cx="3486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复核试点数据，再决定是否扩大到数据清洗和权限开通。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8E5CD8-76FD-47B6-85E0-DB71C680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862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DAF94E-3EDA-414B-93D4-1241C544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38650"/>
            <a:ext cx="348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评估指标：两个工作日内响应比例、材料退回比例、经办人维护时间。目标值根据试点基线确定。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9D92CA-65A2-4E45-8896-52295748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006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高频规则错误时回到字段和规则修订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B077C5-2EE7-4FE3-B22F-ADFD3B89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B02983-212C-4F02-AEC3-4A22CB56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72125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5B2945-5F3F-4C79-9199-3282702E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ACA665-16C1-4188-BE8E-DE343307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57800"/>
            <a:ext cx="1143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264306-2105-4F2A-B3B4-40842E18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边界：B尚未实施，不能宣称已有改善，也不能承诺消除所有材料与权限阻塞。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2026-09-09T04:44:47.5290000Z</dcterms:created>
  <dcterms:modified xsi:type="dcterms:W3CDTF">2026-09-09T04:44:47.5290000Z</dcterms:modified>
</coreProperties>
</file>