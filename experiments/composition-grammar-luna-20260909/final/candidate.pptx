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9845c938064f44" /><Relationship Type="http://schemas.openxmlformats.org/officeDocument/2006/relationships/extended-properties" Target="/docProps/app.xml" Id="R6c4b543ed4e74517" /><Relationship Type="http://schemas.openxmlformats.org/officeDocument/2006/relationships/officeDocument" Target="/ppt/presentation.xml" Id="R9854aadc8efa45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9776a43a784d57"/>
    <p:sldMasterId xmlns:r="http://schemas.openxmlformats.org/officeDocument/2006/relationships" id="2147483660" r:id="R8cb02c7d328047c7"/>
    <p:sldMasterId xmlns:r="http://schemas.openxmlformats.org/officeDocument/2006/relationships" id="2147483663" r:id="R9e16f83bac164ae7"/>
  </p:sldMasterIdLst>
  <p:notesMasterIdLst>
    <p:notesMasterId xmlns:r="http://schemas.openxmlformats.org/officeDocument/2006/relationships" r:id="Rd36f443e2b034bba"/>
  </p:notesMasterIdLst>
  <p:sldIdLst>
    <p:sldId xmlns:r="http://schemas.openxmlformats.org/officeDocument/2006/relationships" id="256" r:id="Rc1332866e72d4cf3"/>
    <p:sldId xmlns:r="http://schemas.openxmlformats.org/officeDocument/2006/relationships" id="257" r:id="R5d5714a20d964c9c"/>
    <p:sldId xmlns:r="http://schemas.openxmlformats.org/officeDocument/2006/relationships" id="258" r:id="R75f35259735e466e"/>
    <p:sldId xmlns:r="http://schemas.openxmlformats.org/officeDocument/2006/relationships" id="259" r:id="R1ad37c642a7243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61df94d3f748ef" /><Relationship Type="http://schemas.openxmlformats.org/officeDocument/2006/relationships/slideMaster" Target="/ppt/slideMasters/slideMaster1.xml" Id="R5c9776a43a784d57" /><Relationship Type="http://schemas.openxmlformats.org/officeDocument/2006/relationships/slideMaster" Target="/ppt/slideMasters/slideMaster2.xml" Id="R8cb02c7d328047c7" /><Relationship Type="http://schemas.openxmlformats.org/officeDocument/2006/relationships/slideMaster" Target="/ppt/slideMasters/slideMaster3.xml" Id="R9e16f83bac164ae7" /><Relationship Type="http://schemas.openxmlformats.org/officeDocument/2006/relationships/notesMaster" Target="/ppt/notesMasters/notesMaster1.xml" Id="Rd36f443e2b034bba" /><Relationship Type="http://schemas.openxmlformats.org/officeDocument/2006/relationships/presProps" Target="/ppt/presProps.xml" Id="Re894c77f6da44c82" /><Relationship Type="http://schemas.openxmlformats.org/officeDocument/2006/relationships/viewProps" Target="/ppt/viewProps.xml" Id="R2d32ff2fa6da45c5" /><Relationship Type="http://schemas.openxmlformats.org/officeDocument/2006/relationships/tableStyles" Target="/ppt/tableStyles.xml" Id="R66a657a7e6f1443d" /><Relationship Type="http://schemas.openxmlformats.org/officeDocument/2006/relationships/slide" Target="/ppt/slides/slide1.xml" Id="Rc1332866e72d4cf3" /><Relationship Type="http://schemas.openxmlformats.org/officeDocument/2006/relationships/slide" Target="/ppt/slides/slide2.xml" Id="R5d5714a20d964c9c" /><Relationship Type="http://schemas.openxmlformats.org/officeDocument/2006/relationships/slide" Target="/ppt/slides/slide3.xml" Id="R75f35259735e466e" /><Relationship Type="http://schemas.openxmlformats.org/officeDocument/2006/relationships/slide" Target="/ppt/slides/slide4.xml" Id="R1ad37c642a7243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57157827861f42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cd2dcb79e24e1e" /><Relationship Type="http://schemas.openxmlformats.org/officeDocument/2006/relationships/notesMaster" Target="/ppt/notesMasters/notesMaster1.xml" Id="Rdd47bd6cae424e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e1388bb507429e" /><Relationship Type="http://schemas.openxmlformats.org/officeDocument/2006/relationships/notesMaster" Target="/ppt/notesMasters/notesMaster1.xml" Id="R0c4921ac7a4441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85954261c24dda" /><Relationship Type="http://schemas.openxmlformats.org/officeDocument/2006/relationships/notesMaster" Target="/ppt/notesMasters/notesMaster1.xml" Id="R48733341543144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57227726d64c81" /><Relationship Type="http://schemas.openxmlformats.org/officeDocument/2006/relationships/notesMaster" Target="/ppt/notesMasters/notesMaster1.xml" Id="R35e03cd86db242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规则：docs/工作流/正式生成/生成任务提示词.md；rules/页面组合.md；rules/排版体系/麦肯锡式.md；rules/skins/东北大学.md</a:t>
            </a:r>
            <a:endParaRPr/>
          </a:p>
          <a:p xmlns:a="http://schemas.openxmlformats.org/drawingml/2006/main">
            <a:r>
              <a:t>- Skin：northeastern-university-001，绑定 mckinsey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图内保留原始月度计数：1月120/96，2月150/114，3月180/126，4月240/144。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规则：docs/工作流/正式生成/生成任务提示词.md；rules/页面组合.md；rules/排版体系/麦肯锡式.md；rules/skins/东北大学.md</a:t>
            </a:r>
            <a:endParaRPr/>
          </a:p>
          <a:p xmlns:a="http://schemas.openxmlformats.org/drawingml/2006/main">
            <a:r>
              <a:t>- Skin：northeastern-university-001，绑定 mckinsey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图内保留互斥完整分类：材料不全42、权限确认30、需求反复16、其他8；4月请求构成为120/72/48。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规则：docs/工作流/正式生成/生成任务提示词.md；rules/页面组合.md；rules/排版体系/麦肯锡式.md；rules/skins/东北大学.md</a:t>
            </a:r>
            <a:endParaRPr/>
          </a:p>
          <a:p xmlns:a="http://schemas.openxmlformats.org/drawingml/2006/main">
            <a:r>
              <a:t>- Skin：northeastern-university-001，绑定 mckinsey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B尚未实施；三种方案的投入、周期和维护均为内部估计。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内容：experiments/neu-mckinsey-fixed-rules-20260909/inputs/manuscript.txt</a:t>
            </a:r>
            <a:endParaRPr/>
          </a:p>
          <a:p xmlns:a="http://schemas.openxmlformats.org/drawingml/2006/main">
            <a:r>
              <a:t>- 规则：docs/工作流/正式生成/生成任务提示词.md；rules/页面组合.md；rules/排版体系/麦肯锡式.md；rules/skins/东北大学.md</a:t>
            </a:r>
            <a:endParaRPr/>
          </a:p>
          <a:p xmlns:a="http://schemas.openxmlformats.org/drawingml/2006/main">
            <a:r>
              <a:t>- Skin：northeastern-university-001，绑定 mckinsey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阶段推进和回退条件均来自原稿；目标值需根据试点基线确定。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a0cdfd4d0e41de" /><Relationship Type="http://schemas.openxmlformats.org/officeDocument/2006/relationships/image" Target="/ppt/media/image.jpeg" Id="R92450def3d2841e1" /><Relationship Type="http://schemas.openxmlformats.org/officeDocument/2006/relationships/image" Target="/ppt/media/image.png" Id="R8dd5aa3ce7af44fe" /><Relationship Type="http://schemas.openxmlformats.org/officeDocument/2006/relationships/image" Target="/ppt/media/image2.png" Id="R7ff7ad2d35e444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1b13e6de940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01b16039da4e8f" /><Relationship Type="http://schemas.openxmlformats.org/officeDocument/2006/relationships/image" Target="/ppt/media/image3.png" Id="R7ff6f8bfca5343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cb3be3619644bb" /><Relationship Type="http://schemas.openxmlformats.org/officeDocument/2006/relationships/image" Target="/ppt/media/image4.png" Id="Rdb36a91fb7c241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0baafbeb5a4a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19ad03b0d6477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f5e808643945d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544f9408e4ef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7fc6d612584ac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99b774f06e4a0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9b89a0747b408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f53999785a94cef" /><Relationship Type="http://schemas.openxmlformats.org/officeDocument/2006/relationships/image" Target="/ppt/media/image5.png" Id="Rf6c434daa1974e7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82fd21cbf90477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6a557afaba24fa0" /><Relationship Type="http://schemas.openxmlformats.org/officeDocument/2006/relationships/image" Target="/ppt/media/image5.png" Id="Rf3cd68e8b9f2408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d212d00f1e14448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50def3d2841e1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5aa3ce7af44fe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7ad2d35e444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6f8bfca5343e9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6a91fb7c2410d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434daa1974e7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d68e8b9f2408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94bdd17ad244d3" /><Relationship Type="http://schemas.openxmlformats.org/officeDocument/2006/relationships/slideLayout" Target="/ppt/slideLayouts/slideLayout1.xml" Id="R332953d883e24b0e" /><Relationship Type="http://schemas.openxmlformats.org/officeDocument/2006/relationships/slideLayout" Target="/ppt/slideLayouts/slideLayout2.xml" Id="Rc5d208202c444bb9" /><Relationship Type="http://schemas.openxmlformats.org/officeDocument/2006/relationships/slideLayout" Target="/ppt/slideLayouts/slideLayout3.xml" Id="R3264cd687d714a22" /><Relationship Type="http://schemas.openxmlformats.org/officeDocument/2006/relationships/slideLayout" Target="/ppt/slideLayouts/slideLayout4.xml" Id="R8ad733353d7e4be8" /><Relationship Type="http://schemas.openxmlformats.org/officeDocument/2006/relationships/slideLayout" Target="/ppt/slideLayouts/slideLayout5.xml" Id="R66ff3d7838124de3" /><Relationship Type="http://schemas.openxmlformats.org/officeDocument/2006/relationships/slideLayout" Target="/ppt/slideLayouts/slideLayout6.xml" Id="R920abacbbd0c4fa2" /><Relationship Type="http://schemas.openxmlformats.org/officeDocument/2006/relationships/slideLayout" Target="/ppt/slideLayouts/slideLayout7.xml" Id="Rc509250f85e94cf6" /><Relationship Type="http://schemas.openxmlformats.org/officeDocument/2006/relationships/slideLayout" Target="/ppt/slideLayouts/slideLayout8.xml" Id="R2fdf5ad2bef14317" /><Relationship Type="http://schemas.openxmlformats.org/officeDocument/2006/relationships/slideLayout" Target="/ppt/slideLayouts/slideLayout9.xml" Id="R172a67de755046a3" /><Relationship Type="http://schemas.openxmlformats.org/officeDocument/2006/relationships/slideLayout" Target="/ppt/slideLayouts/slideLayout10.xml" Id="R4ee65b5b791f4c44" /><Relationship Type="http://schemas.openxmlformats.org/officeDocument/2006/relationships/slideLayout" Target="/ppt/slideLayouts/slideLayout11.xml" Id="R9328b1f3bf70499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e676c4a117a47d7" /><Relationship Type="http://schemas.openxmlformats.org/officeDocument/2006/relationships/slideLayout" Target="/ppt/slideLayouts/slideLayout12.xml" Id="Racbf3b7739e046b3" /><Relationship Type="http://schemas.openxmlformats.org/officeDocument/2006/relationships/slideLayout" Target="/ppt/slideLayouts/slideLayout13.xml" Id="R0c9925240f4a4f20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e38a15bd2bc47ac" /><Relationship Type="http://schemas.openxmlformats.org/officeDocument/2006/relationships/slideLayout" Target="/ppt/slideLayouts/slideLayout14.xml" Id="R862b498614c34bf9" /><Relationship Type="http://schemas.openxmlformats.org/officeDocument/2006/relationships/slideLayout" Target="/ppt/slideLayouts/slideLayout15.xml" Id="R68cb2af73430424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2953d883e24b0e"/>
    <p:sldLayoutId xmlns:r="http://schemas.openxmlformats.org/officeDocument/2006/relationships" id="2147483650" r:id="Rc5d208202c444bb9"/>
    <p:sldLayoutId xmlns:r="http://schemas.openxmlformats.org/officeDocument/2006/relationships" id="2147483651" r:id="R3264cd687d714a22"/>
    <p:sldLayoutId xmlns:r="http://schemas.openxmlformats.org/officeDocument/2006/relationships" id="2147483652" r:id="R8ad733353d7e4be8"/>
    <p:sldLayoutId xmlns:r="http://schemas.openxmlformats.org/officeDocument/2006/relationships" id="2147483653" r:id="R66ff3d7838124de3"/>
    <p:sldLayoutId xmlns:r="http://schemas.openxmlformats.org/officeDocument/2006/relationships" id="2147483654" r:id="R920abacbbd0c4fa2"/>
    <p:sldLayoutId xmlns:r="http://schemas.openxmlformats.org/officeDocument/2006/relationships" id="2147483655" r:id="Rc509250f85e94cf6"/>
    <p:sldLayoutId xmlns:r="http://schemas.openxmlformats.org/officeDocument/2006/relationships" id="2147483656" r:id="R2fdf5ad2bef14317"/>
    <p:sldLayoutId xmlns:r="http://schemas.openxmlformats.org/officeDocument/2006/relationships" id="2147483657" r:id="R172a67de755046a3"/>
    <p:sldLayoutId xmlns:r="http://schemas.openxmlformats.org/officeDocument/2006/relationships" id="2147483658" r:id="R4ee65b5b791f4c44"/>
    <p:sldLayoutId xmlns:r="http://schemas.openxmlformats.org/officeDocument/2006/relationships" id="2147483659" r:id="R9328b1f3bf70499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cbf3b7739e046b3"/>
    <p:sldLayoutId xmlns:r="http://schemas.openxmlformats.org/officeDocument/2006/relationships" id="2147483662" r:id="R0c9925240f4a4f20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862b498614c34bf9"/>
    <p:sldLayoutId xmlns:r="http://schemas.openxmlformats.org/officeDocument/2006/relationships" id="2147483665" r:id="R68cb2af73430424c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2be562be7034d32" /><Relationship Type="http://schemas.openxmlformats.org/officeDocument/2006/relationships/notesSlide" Target="/ppt/notesSlides/notesSlide1.xml" Id="R74e2c759f3a143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b212b54efeb4b92" /><Relationship Type="http://schemas.openxmlformats.org/officeDocument/2006/relationships/notesSlide" Target="/ppt/notesSlides/notesSlide2.xml" Id="R58e6c7e62f0547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7001aae54a04622" /><Relationship Type="http://schemas.openxmlformats.org/officeDocument/2006/relationships/notesSlide" Target="/ppt/notesSlides/notesSlide3.xml" Id="R99059add60e34c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72d2361c09d4e75" /><Relationship Type="http://schemas.openxmlformats.org/officeDocument/2006/relationships/notesSlide" Target="/ppt/notesSlides/notesSlide4.xml" Id="Rf0a418c12904474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工作量翻倍，及时首次响应比例降至60%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历史观察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D43CD-3866-470E-8B33-34DDB8D1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口径：每月当月收到的请求，观察结案后是否在两个工作日内首次给出可执行答复。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58FA9-48A0-4D59-AE92-C3547DDF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模拟数据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B7278-A7A7-4C74-BC11-1AA10E8E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43150"/>
            <a:ext cx="7524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254E5-60BA-455E-91EC-D99C0398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月度工作量与及时首次响应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1D96AD-B441-4DBE-A7FD-46EACEFC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24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收到请求数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611846-84DE-438D-AAD2-A01099CA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241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及时答复数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F7CEB-ED9D-4740-87C3-919D377A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2417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及时比例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D2ACAC-1155-4D43-840F-3C2D403C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3C8B50-8A5D-4426-917B-30093C57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94898-DF5E-4837-87B3-48ACA4B5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623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9967CD-594A-4E4C-A7AF-D95A7405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623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96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60DED0-C371-44CA-84E0-6BC3BA81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40042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FD2AE9-8A3C-49F9-9D13-63DE9766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623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406583-FF87-4E9B-BE6A-6EAD396F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702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680C68-DB75-4176-A7EE-FBE88FED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39BA09-5381-4C74-B665-7C43094B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95725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4CFC87-AC6E-4D4A-9D2E-62A2EFFD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576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150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80B691-6B89-4045-96C1-047AE75C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576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1A9817-D341-46F7-A808-1AD02800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95725"/>
            <a:ext cx="123063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E08E64-2CDC-42B3-81DA-FB950576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576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76%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9A17E9-13EC-43E5-87DB-6C66E4D1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702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4F1C2F-977F-4631-B7B9-69AEBF21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3月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C60CFF-78DA-4C05-AF22-461A8FE5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91025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3E983E-A2A7-4D6C-8AA1-F6E0D1C0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529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180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E0A614-2A34-42A9-8AB2-3B9F8D78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529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126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8D6B89-D89C-49B8-9FD8-2F47F741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91025"/>
            <a:ext cx="1133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20683F-A425-49D4-AB0F-E475FD61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529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70%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94EFA7-B928-4B48-B794-D39219C2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702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CAFAEE-9236-46AD-BC8E-50F3E79B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18E1DC-5188-4D00-B3AD-14437933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86325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3DAB86-2058-47E3-869B-F77C865B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482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240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487D05-1ED0-40E4-84EA-25C4F3A7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48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144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55BC3D-AE84-491C-B92E-A39517E7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86325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9BDEE3-7A1C-4D98-BD39-76DE99EA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48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758CEF-33C1-40F7-A6D9-63A5CBA0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43150"/>
            <a:ext cx="3333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4151FC-443A-4248-BD03-5B3D9A7B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中位首次响应时间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AFCE767-D5EB-4715-85ED-337DC9F1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670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1月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2196EE-235C-41F6-B1FD-5539946B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670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1.3 工作日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C6EC09-148A-4F63-81E3-0CC159D8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528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D680AB-ED10-4262-BA97-F3D36A17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290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2月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268AB3-3394-4B27-B1C1-B5ADBD14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1.5 工作日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2C216EF-550C-4EF5-8BFF-9AF2A400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BAAD979-6AE1-46EB-A847-055B8FC8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909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3月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461ECE-9E51-4E5F-94BD-B0AD8474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90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1.8 工作日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0341C1-CC62-4930-BAEA-99424D79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767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F400E6F-C37A-4311-BFB6-A9294683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5290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22B3D3D-EBBA-4247-BF7A-CCC00CF9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52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2.4 工作日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27FA75D-30F1-4312-8C85-023450C7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76750"/>
            <a:ext cx="281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654B53E-A30D-41D9-86EE-CFCBA5B4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720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人员数不变，工作量与响应压力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同时上升；无对照实验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无法断言工作量增长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是响应变慢的唯一原因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B1AE613-8408-4861-A9F9-E84FC54A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注：该指标不是结案时长；每月无缺失记录。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4月超时请求中，材料与权限阻塞占75%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原因复核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4EC3B-4FCA-4DC4-8B90-4BCD6B80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对象：4月未达到两个工作日响应标准的96个请求；每个请求只记一个主要阻塞原因。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C6F7A-E5B3-4522-8C40-574FC317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模拟数据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28FCB-E49D-44E1-9DB3-E38C22F7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43150"/>
            <a:ext cx="11144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2072B-ECBF-434D-B600-AB91F36C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主要阻塞原因构成（96个未达标请求）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C2368A-1B47-4B75-9062-38B4A96A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材料与权限合计 72 个，占 75%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06E16-E367-4F30-898E-8CDF9AC9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08051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699C9-2727-44D6-B35D-FED06668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3219450"/>
            <a:ext cx="2914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11019E-C0D0-4259-9BA3-7AE2140B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210" y="3219450"/>
            <a:ext cx="155448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4E229F-6922-43E9-9F4B-E4D6962F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690" y="3219450"/>
            <a:ext cx="7772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D0E56D-8AF7-4F1C-BEB4-58FD7783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226336-58BF-4A00-9CB7-ADD0EAB5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材料不全 42（44%）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C576B1-3656-43AE-8466-6DCB4C81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29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1F6C4F-0A80-4151-817D-60F52F46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90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权限确认 30（31%）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B56E29-0A65-4351-BCA2-D9D32B73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29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D7EC20-6227-4CEB-B39C-6AC081D8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90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需求反复 16（17%）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ABC999-37CE-41E0-8F15-1AC816A4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29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B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A50A73-473B-4645-B553-4964AD46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90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其他 8（8%）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5F15BA-B43B-4E68-A724-91061A1D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0"/>
            <a:ext cx="533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CD947F-7143-4EDE-A794-D47C05FA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总体背景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01B709-B781-4C50-9645-932DF6E8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4月共收到240个请求：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数据提取120，数据清洗72，权限开通48。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780575-ADE3-4554-98ED-AAE6FAAB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476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6FFFDE-2C93-470A-A28B-EC5BE9B6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这组数据支持的判断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8F20B8-9E21-434C-9A01-94783871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530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材料与权限是主要阻塞环节，统一入口与其有直接对应关系。分类不等于措施可消除的数量，也不能据此预测节省工时。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575153-8AC8-4DC4-9FB7-69B669B6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定义：材料不全含字段缺失或未附样本；权限确认含授权人不明确或授权范围未确认。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应对措施先选B，因其直接作用于主要阻塞环节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方案比较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02B61-6D5C-4A71-A2C5-96217C1B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投入与周期为内部方案估计；B尚未实施，人日表示实施工作量，不能换算响应改善。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58AE6-C0BF-4ABF-9D59-8AE145E2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模拟估计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4CD06-BC46-409E-80B9-FF4BF298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57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比较项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25237-9422-49FC-91BB-C2EE2468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4315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7F3A9-FEBF-4AAB-AC98-745728DD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47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A 临时增加值班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3F823-DBE8-451B-92CF-01F2791E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02DBCC-5ACA-4D25-989F-E1F54B6E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479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B 统一申请入口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F2D035-7DFC-491F-9FC9-3B42D9E0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3381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DE0A0B-7F34-4ED3-8544-9B2F50C7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4792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C 批量自动预检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457847-D829-41F3-AAB2-D5C4413F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0350"/>
            <a:ext cx="11144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BF8823-8FCD-4D3B-AB33-AF306CB5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95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直接作用环节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D96CB7-3B77-4581-9A91-B76BA725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860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人工响应排队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030430-EAD0-4769-9444-63CAB760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860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提交时字段与授权校验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99D44-4F8A-4140-A3FD-7D7C4B62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860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重复性材料格式检查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F508DD-5D7B-4850-8D95-0446D0CE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48025"/>
            <a:ext cx="11144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2B4496-3F38-4FF5-91E9-CE99E514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432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初期投入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44435E-D6F3-4B22-9E52-2903015A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337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8人日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D1C7ED-6EFE-4B54-9C70-C4EBAF73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337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12人日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68CC82-0DEB-4B57-B512-EF3DB359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30人日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9C8C82-1DB8-4A01-8DDB-E1FED2FE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95700"/>
            <a:ext cx="11144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DB74EC-A76A-4F27-8A2E-0B352CAE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90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预计上线周期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850CBB-55E7-42B9-9405-B4184406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8142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1568AD-10F6-461A-905C-0A143BB5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8142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2周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AC3577-BB27-4CB3-915C-BA057FFE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814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6周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152346-ECB9-4C6B-85E5-6566E71E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43375"/>
            <a:ext cx="11144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038415-4497-41DD-B5B6-638048CB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38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持续维护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231DE9-214E-4E63-A9A8-9486CDC7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2910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每周2人日值班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BCE8F6-8073-40E5-99AC-B1BCC2B3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2910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每周0.5人日规则维护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B8B6EE-EF4D-4295-AB0D-F3A4809E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29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每周1人日规则维护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228F67-92EE-4549-A3D2-613F62CB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91050"/>
            <a:ext cx="11144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BB98C5-7CC2-43DD-A2DC-F4B10F5F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86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当前依赖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B7413E-5BD6-4434-B8B1-915DC07A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767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可调配值班人员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0C576E-46AA-4C23-8E66-B05978C2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76775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三类请求字段达成一致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8FDF91-73FF-4FCC-8652-87D01ECD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767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稳定字段及可机器判断的规则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7F4629-64DE-4000-B340-69FDFFD3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38725"/>
            <a:ext cx="11144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A335F2-A74B-43AE-8580-ED8E9C40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339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主要限制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734475-658C-4AC0-9CCD-C1AA5D37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244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不直接解决材料缺失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205543-3701-4B4A-A062-FB0E533D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1244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不消除复杂需求沟通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4C90AD0-E315-49D3-AE32-C9972664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24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不替代人工授权判断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450436-A771-4A2A-AAE7-3844CBE7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114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170B0D-D9C9-4052-89F9-7124A2AB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决策依据：B覆盖材料与权限校验；A保留为短期高峰应急，C待入口规则稳定后再评估。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先用6周验证统一入口，再决定是否扩大范围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有限试点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16920-52B2-474E-99E6-039B2888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4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六周试点按先统一字段、再单类试用、后负责人复核推进；每阶段都有进入条件。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DB0F2-EB04-41FA-BC06-718BDA22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573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模拟计划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0199A-4E01-458D-8410-C211AE64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338137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90853-F762-4C6F-BC45-7E815113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90800"/>
            <a:ext cx="2962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第1—2周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3DCA3F-B13F-4CBF-9070-50BEDF5D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09900"/>
            <a:ext cx="2962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统一字段与授权责任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E96447-EC7E-417C-A06C-3D21AD7C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48050"/>
            <a:ext cx="2962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负责人联合三类请求经办人，形成字段字典、授权清单和统一入口。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9364C6-5254-43F6-AFED-2CA2A4C3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95750"/>
            <a:ext cx="296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7C4ADA-DCA6-42E4-938E-2560387A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48150"/>
            <a:ext cx="29622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进入条件：三类请求完成一轮实际样本检查；关键必填字段无缺失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4F8190-AFC6-4E6A-99FF-01127631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338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F036AE-632B-465F-8DB2-3B3E43D7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76650"/>
            <a:ext cx="1143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solidFill>
              <a:srgbClr val="2548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98CF6B-7031-4F3A-92B5-25B03EA9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00300"/>
            <a:ext cx="338137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A8E951-83C5-4129-BD47-0322ED60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590800"/>
            <a:ext cx="2962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第3—4周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E36439-7F84-4B9E-803C-D0B05D76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09900"/>
            <a:ext cx="2962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只在数据提取请求试用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C49B4E-E039-4F01-B2EB-161D0313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448050"/>
            <a:ext cx="2962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保存缺失字段、退回原因和首次响应记录，不同时覆盖其他两类。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909B21-1A3A-4373-895F-E4352AE1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095750"/>
            <a:ext cx="2962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50A0FF-1882-4871-BEAC-609CEB4C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248150"/>
            <a:ext cx="29622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扩大条件：记录完整，且无阻断提交的高频规则错误；否则回到字段和规则修订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DBB335-2968-43F8-824F-A2B53561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14C1E0-D86D-498A-9992-C3B57294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76650"/>
            <a:ext cx="1143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solidFill>
              <a:srgbClr val="25486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3FC7BB-FA07-488C-9A28-7CD8E284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00300"/>
            <a:ext cx="39052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87E668-A4AE-4F80-A012-857AFA40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5908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第5—6周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6694EF-4D36-410F-8200-26882BB4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009900"/>
            <a:ext cx="348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负责人复核后决定扩围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FF7537-8AD1-4D91-BA77-6BE2698E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448050"/>
            <a:ext cx="3486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复核试点数据，再决定是否扩大到数据清洗和权限开通。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5757F8-4EB8-4F1A-9250-6D788FFE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095750"/>
            <a:ext cx="348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C51EE3-0F9A-4172-A4F9-BD25B889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248150"/>
            <a:ext cx="3486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评估指标：两个工作日内响应比例、材料退回比例、经办人维护时间；目标值根据试点基线确定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9C134A-DB90-49A7-A42E-2FE2A06A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387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高频规则错误时回到字段和规则修订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9E3C81-7B82-443C-B9CD-9B5B952D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482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E2A22E-891E-49A4-89DB-858568A0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625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BBA8CD-3D74-4FE7-BF00-404095D0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625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3FAF8E-31B3-4873-99D6-00F49B32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150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D4F92C-A53F-4859-BE28-E0FAD438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482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86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60F7E3-DE23-46AE-A739-B334F6FD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91100"/>
            <a:ext cx="11430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0">
            <a:solidFill>
              <a:srgbClr val="25486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641569-7B98-4EC5-B624-C1B5ED2B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05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边界：B尚未实施，不能宣称已有改善，也不能承诺消除所有材料与权限阻塞。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2026-09-09T05:14:06.9060000Z</dcterms:created>
  <dcterms:modified xsi:type="dcterms:W3CDTF">2026-09-09T05:14:06.9060000Z</dcterms:modified>
</coreProperties>
</file>