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2e6c9f12f148cf" /><Relationship Type="http://schemas.openxmlformats.org/officeDocument/2006/relationships/extended-properties" Target="/docProps/app.xml" Id="R4fd8214e00de4e16" /><Relationship Type="http://schemas.openxmlformats.org/officeDocument/2006/relationships/officeDocument" Target="/ppt/presentation.xml" Id="R880b753e21c641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a18ca430134c2a"/>
  </p:sldMasterIdLst>
  <p:notesMasterIdLst>
    <p:notesMasterId xmlns:r="http://schemas.openxmlformats.org/officeDocument/2006/relationships" r:id="R9a679daa05684065"/>
  </p:notesMasterIdLst>
  <p:sldIdLst>
    <p:sldId xmlns:r="http://schemas.openxmlformats.org/officeDocument/2006/relationships" id="256" r:id="Re059c9fcd6294469"/>
    <p:sldId xmlns:r="http://schemas.openxmlformats.org/officeDocument/2006/relationships" id="257" r:id="Rf536bdca2d094467"/>
    <p:sldId xmlns:r="http://schemas.openxmlformats.org/officeDocument/2006/relationships" id="258" r:id="Red357842004144d4"/>
  </p:sldIdLst>
  <p:sldSz cx="11906250" cy="6115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7496fafea24758" /><Relationship Type="http://schemas.openxmlformats.org/officeDocument/2006/relationships/slideMaster" Target="/ppt/slideMasters/slideMaster1.xml" Id="R09a18ca430134c2a" /><Relationship Type="http://schemas.openxmlformats.org/officeDocument/2006/relationships/notesMaster" Target="/ppt/notesMasters/notesMaster1.xml" Id="R9a679daa05684065" /><Relationship Type="http://schemas.openxmlformats.org/officeDocument/2006/relationships/presProps" Target="/ppt/presProps.xml" Id="R4c38109802174098" /><Relationship Type="http://schemas.openxmlformats.org/officeDocument/2006/relationships/tableStyles" Target="/ppt/tableStyles.xml" Id="Rff3a910a1d9245cc" /><Relationship Type="http://schemas.openxmlformats.org/officeDocument/2006/relationships/slide" Target="/ppt/slides/slide1.xml" Id="Re059c9fcd6294469" /><Relationship Type="http://schemas.openxmlformats.org/officeDocument/2006/relationships/slide" Target="/ppt/slides/slide2.xml" Id="Rf536bdca2d094467" /><Relationship Type="http://schemas.openxmlformats.org/officeDocument/2006/relationships/slide" Target="/ppt/slides/slide3.xml" Id="Red357842004144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0c467fbf4a40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e05cff18944b37" /><Relationship Type="http://schemas.openxmlformats.org/officeDocument/2006/relationships/notesMaster" Target="/ppt/notesMasters/notesMaster1.xml" Id="Rb0f4ea9850fa45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c05fa6b1e448b2" /><Relationship Type="http://schemas.openxmlformats.org/officeDocument/2006/relationships/notesMaster" Target="/ppt/notesMasters/notesMaster1.xml" Id="Rfa281d0275774c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6e1bf03efc49f6" /><Relationship Type="http://schemas.openxmlformats.org/officeDocument/2006/relationships/notesMaster" Target="/ppt/notesMasters/notesMaster1.xml" Id="Rc35d62987e164e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3bbc2859e48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03c3e0a9424dde" /><Relationship Type="http://schemas.openxmlformats.org/officeDocument/2006/relationships/slideLayout" Target="/ppt/slideLayouts/slideLayout1.xml" Id="Rf81e2ae221154d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1e2ae221154d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f69cab2794dee" /><Relationship Type="http://schemas.openxmlformats.org/officeDocument/2006/relationships/notesSlide" Target="/ppt/notesSlides/notesSlide1.xml" Id="R3fa21308c9ee4e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6f729e7114434" /><Relationship Type="http://schemas.openxmlformats.org/officeDocument/2006/relationships/notesSlide" Target="/ppt/notesSlides/notesSlide2.xml" Id="R7510210e99384f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607a36e19451e" /><Relationship Type="http://schemas.openxmlformats.org/officeDocument/2006/relationships/notesSlide" Target="/ppt/notesSlides/notesSlide3.xml" Id="Rfe959418fe3241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79F4C-4316-41B6-AAF2-3DC687C9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预约提示、咨询口径与夜间承接的现状</a:t>
            </a:r>
          </a:p>
        </p:txBody>
      </p:sp>
      <p:sp>
        <p:nvSpPr>
          <p:cNvPr id="2" name="region:g1">
            <a:extLst xmlns:a="http://schemas.openxmlformats.org/drawingml/2006/main">
              <a:ext uri="{FF2B5EF4-FFF2-40B4-BE49-F238E27FC236}">
                <a16:creationId xmlns:a16="http://schemas.microsoft.com/office/drawing/2014/main" id="{E18FA71C-747A-45AB-B671-75252A7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B079F-36C0-4836-B652-D79C992D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读者服务：三项发现</a:t>
            </a:r>
          </a:p>
        </p:txBody>
      </p:sp>
      <p:sp>
        <p:nvSpPr>
          <p:cNvPr id="4" name="block:g1:section-0">
            <a:extLst xmlns:a="http://schemas.openxmlformats.org/drawingml/2006/main">
              <a:ext uri="{FF2B5EF4-FFF2-40B4-BE49-F238E27FC236}">
                <a16:creationId xmlns:a16="http://schemas.microsoft.com/office/drawing/2014/main" id="{8EB82CBD-12C1-408B-8C7F-76F40F24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126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1:section-1">
            <a:extLst xmlns:a="http://schemas.openxmlformats.org/drawingml/2006/main">
              <a:ext uri="{FF2B5EF4-FFF2-40B4-BE49-F238E27FC236}">
                <a16:creationId xmlns:a16="http://schemas.microsoft.com/office/drawing/2014/main" id="{8031247D-458C-4B00-854B-29C416F9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0050"/>
            <a:ext cx="10839450" cy="126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g1:section-2">
            <a:extLst xmlns:a="http://schemas.openxmlformats.org/drawingml/2006/main">
              <a:ext uri="{FF2B5EF4-FFF2-40B4-BE49-F238E27FC236}">
                <a16:creationId xmlns:a16="http://schemas.microsoft.com/office/drawing/2014/main" id="{5C411C41-676B-43C9-B897-974F0E7C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18000"/>
            <a:ext cx="10839450" cy="126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4CA5D-CB43-4727-B2BD-AE872CBA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912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预约取书提示不清（待解决）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04CC5-18D7-40C7-81EF-826B252C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0118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读者常把到馆通知理解为已完成借阅。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46104-EE39-48FF-A8D6-2D821569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咨询台已统一回答口径（已处理）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DC96D-545F-4F6C-8282-3750DE4B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8068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咨询台已统一回答口径。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651B5-0DD7-4014-A197-F5DA96D8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502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夜间咨询尚无固定承接人（待处理）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C8A42-1499-4965-8B83-D1B6BC91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6017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遇到跨部门问题只能留单，第二天再转交。</a:t>
            </a:r>
          </a:p>
        </p:txBody>
      </p:sp>
    </p:spTree>
    <p:extLst>
      <p:ext uri="{BB962C8B-B14F-4D97-AF65-F5344CB8AC3E}">
        <p14:creationId xmlns:p14="http://schemas.microsoft.com/office/powerpoint/2010/main" val="15206283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9B023-B716-421F-9C13-4853ADA0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登记已完成，修复仍待排期</a:t>
            </a:r>
          </a:p>
        </p:txBody>
      </p:sp>
      <p:sp>
        <p:nvSpPr>
          <p:cNvPr id="2" name="region:g1">
            <a:extLst xmlns:a="http://schemas.openxmlformats.org/drawingml/2006/main">
              <a:ext uri="{FF2B5EF4-FFF2-40B4-BE49-F238E27FC236}">
                <a16:creationId xmlns:a16="http://schemas.microsoft.com/office/drawing/2014/main" id="{2FA1F420-FBDD-458E-87B8-8C673368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DB709-9771-40F1-817D-BBFDA7C9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馆藏维护：两项进展</a:t>
            </a:r>
          </a:p>
        </p:txBody>
      </p:sp>
      <p:sp>
        <p:nvSpPr>
          <p:cNvPr id="4" name="block:g1:section-0">
            <a:extLst xmlns:a="http://schemas.openxmlformats.org/drawingml/2006/main">
              <a:ext uri="{FF2B5EF4-FFF2-40B4-BE49-F238E27FC236}">
                <a16:creationId xmlns:a16="http://schemas.microsoft.com/office/drawing/2014/main" id="{20E6FA45-003C-4B34-9E3F-B2FF29A2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g1:section-1">
            <a:extLst xmlns:a="http://schemas.openxmlformats.org/drawingml/2006/main">
              <a:ext uri="{FF2B5EF4-FFF2-40B4-BE49-F238E27FC236}">
                <a16:creationId xmlns:a16="http://schemas.microsoft.com/office/drawing/2014/main" id="{BA6EFD9E-2AE7-475F-B5CA-73837846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108394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4E78D-9A99-4785-8DA0-3E3C7BFC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361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破损书目登记已完成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9E899-78D7-40D1-AAD6-F48A35AA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460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完成破损书目登记。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74B1B-1E45-422F-88BB-F47BEC9B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0538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修复工作仍需按损坏程度排队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25585-95F8-4819-BAE1-113C11CE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153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修复工作仍需按损坏程度排队；登记完成不等于修复完成。</a:t>
            </a:r>
          </a:p>
        </p:txBody>
      </p:sp>
    </p:spTree>
    <p:extLst>
      <p:ext uri="{BB962C8B-B14F-4D97-AF65-F5344CB8AC3E}">
        <p14:creationId xmlns:p14="http://schemas.microsoft.com/office/powerpoint/2010/main" val="9748406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9A0B7-147E-4630-B94C-52217C42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未结工单每周核对，原接单人员持续跟踪</a:t>
            </a:r>
          </a:p>
        </p:txBody>
      </p:sp>
      <p:sp>
        <p:nvSpPr>
          <p:cNvPr id="2" name="region:g1">
            <a:extLst xmlns:a="http://schemas.openxmlformats.org/drawingml/2006/main">
              <a:ext uri="{FF2B5EF4-FFF2-40B4-BE49-F238E27FC236}">
                <a16:creationId xmlns:a16="http://schemas.microsoft.com/office/drawing/2014/main" id="{E8FF172D-D2FC-495B-8009-9C73445C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75A99-3911-44BA-93E2-80D36D6D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内部协作安排</a:t>
            </a:r>
          </a:p>
        </p:txBody>
      </p:sp>
      <p:sp>
        <p:nvSpPr>
          <p:cNvPr id="4" name="block:g1:section-0">
            <a:extLst xmlns:a="http://schemas.openxmlformats.org/drawingml/2006/main">
              <a:ext uri="{FF2B5EF4-FFF2-40B4-BE49-F238E27FC236}">
                <a16:creationId xmlns:a16="http://schemas.microsoft.com/office/drawing/2014/main" id="{15409048-8A0E-4368-A24C-9DAD3784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20084-E354-45BD-A721-B2D961B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每周集中核对未结工单，由原接单人员持续跟踪，直到接收部门确认处理结果。</a:t>
            </a:r>
          </a:p>
        </p:txBody>
      </p:sp>
    </p:spTree>
    <p:extLst>
      <p:ext uri="{BB962C8B-B14F-4D97-AF65-F5344CB8AC3E}">
        <p14:creationId xmlns:p14="http://schemas.microsoft.com/office/powerpoint/2010/main" val="839763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2026-09-17T00:24:26.3440000Z</dcterms:created>
  <dcterms:modified xsi:type="dcterms:W3CDTF">2026-09-17T00:24:26.3450000Z</dcterms:modified>
</coreProperties>
</file>