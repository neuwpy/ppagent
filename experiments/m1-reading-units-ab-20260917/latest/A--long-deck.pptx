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3c8f0b1b34075" /><Relationship Type="http://schemas.openxmlformats.org/officeDocument/2006/relationships/extended-properties" Target="/docProps/app.xml" Id="R88f061af88c9474e" /><Relationship Type="http://schemas.openxmlformats.org/officeDocument/2006/relationships/officeDocument" Target="/ppt/presentation.xml" Id="Rc79cc5acaf1645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691b427374672"/>
  </p:sldMasterIdLst>
  <p:notesMasterIdLst>
    <p:notesMasterId xmlns:r="http://schemas.openxmlformats.org/officeDocument/2006/relationships" r:id="R8d5a0205b600400b"/>
  </p:notesMasterIdLst>
  <p:sldIdLst>
    <p:sldId xmlns:r="http://schemas.openxmlformats.org/officeDocument/2006/relationships" id="256" r:id="Rf72e4608c75648c5"/>
    <p:sldId xmlns:r="http://schemas.openxmlformats.org/officeDocument/2006/relationships" id="257" r:id="Rb2cf31768fe447a1"/>
    <p:sldId xmlns:r="http://schemas.openxmlformats.org/officeDocument/2006/relationships" id="258" r:id="Rc8381a7eef4445e7"/>
    <p:sldId xmlns:r="http://schemas.openxmlformats.org/officeDocument/2006/relationships" id="259" r:id="R6521f266c8e04ba5"/>
    <p:sldId xmlns:r="http://schemas.openxmlformats.org/officeDocument/2006/relationships" id="260" r:id="R15ac794eecb5477b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ec819d65d4f7e" /><Relationship Type="http://schemas.openxmlformats.org/officeDocument/2006/relationships/slideMaster" Target="/ppt/slideMasters/slideMaster1.xml" Id="R18f691b427374672" /><Relationship Type="http://schemas.openxmlformats.org/officeDocument/2006/relationships/notesMaster" Target="/ppt/notesMasters/notesMaster1.xml" Id="R8d5a0205b600400b" /><Relationship Type="http://schemas.openxmlformats.org/officeDocument/2006/relationships/presProps" Target="/ppt/presProps.xml" Id="R3d5db31d93514aa9" /><Relationship Type="http://schemas.openxmlformats.org/officeDocument/2006/relationships/tableStyles" Target="/ppt/tableStyles.xml" Id="Rfac72c8cbbe7433a" /><Relationship Type="http://schemas.openxmlformats.org/officeDocument/2006/relationships/slide" Target="/ppt/slides/slide1.xml" Id="Rf72e4608c75648c5" /><Relationship Type="http://schemas.openxmlformats.org/officeDocument/2006/relationships/slide" Target="/ppt/slides/slide2.xml" Id="Rb2cf31768fe447a1" /><Relationship Type="http://schemas.openxmlformats.org/officeDocument/2006/relationships/slide" Target="/ppt/slides/slide3.xml" Id="Rc8381a7eef4445e7" /><Relationship Type="http://schemas.openxmlformats.org/officeDocument/2006/relationships/slide" Target="/ppt/slides/slide4.xml" Id="R6521f266c8e04ba5" /><Relationship Type="http://schemas.openxmlformats.org/officeDocument/2006/relationships/slide" Target="/ppt/slides/slide5.xml" Id="R15ac794eecb5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8c6eb0ffdc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89f7b7c63423d" /><Relationship Type="http://schemas.openxmlformats.org/officeDocument/2006/relationships/notesMaster" Target="/ppt/notesMasters/notesMaster1.xml" Id="Rf31529fc75c045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d6eafbd1344cf" /><Relationship Type="http://schemas.openxmlformats.org/officeDocument/2006/relationships/notesMaster" Target="/ppt/notesMasters/notesMaster1.xml" Id="Rbfdc4e6e428343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bcd381436423a" /><Relationship Type="http://schemas.openxmlformats.org/officeDocument/2006/relationships/notesMaster" Target="/ppt/notesMasters/notesMaster1.xml" Id="R79e2c12cdc5143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8da897249c4027" /><Relationship Type="http://schemas.openxmlformats.org/officeDocument/2006/relationships/notesMaster" Target="/ppt/notesMasters/notesMaster1.xml" Id="R10141cc18f3b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d1885ef9594606" /><Relationship Type="http://schemas.openxmlformats.org/officeDocument/2006/relationships/notesMaster" Target="/ppt/notesMasters/notesMaster1.xml" Id="R58acd4ed7d60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4c6979b7a45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acf5a2315349ea" /><Relationship Type="http://schemas.openxmlformats.org/officeDocument/2006/relationships/slideLayout" Target="/ppt/slideLayouts/slideLayout1.xml" Id="Rc0c4c4ad9336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c4c4ad9336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1be8604274a30" /><Relationship Type="http://schemas.openxmlformats.org/officeDocument/2006/relationships/notesSlide" Target="/ppt/notesSlides/notesSlide1.xml" Id="R44bee5d49be5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c0c8b0524ed6" /><Relationship Type="http://schemas.openxmlformats.org/officeDocument/2006/relationships/notesSlide" Target="/ppt/notesSlides/notesSlide2.xml" Id="Rfbe40a1529374d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6cca00e654c6f" /><Relationship Type="http://schemas.openxmlformats.org/officeDocument/2006/relationships/notesSlide" Target="/ppt/notesSlides/notesSlide3.xml" Id="R71b9d3747f48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42aa084f948c0" /><Relationship Type="http://schemas.openxmlformats.org/officeDocument/2006/relationships/notesSlide" Target="/ppt/notesSlides/notesSlide4.xml" Id="R26206aad39db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8f4cbd8194185" /><Relationship Type="http://schemas.openxmlformats.org/officeDocument/2006/relationships/notesSlide" Target="/ppt/notesSlides/notesSlide5.xml" Id="R948e52059a8c4f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7C788-2B3A-4CD7-8B2A-FEDD438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东区固定值班、西区预约交接，高峰都缺工具，尚无工时数据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63B386D0-BAC9-46F7-B033-D091028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6385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4B76C-4C1B-4E4A-956E-44803EF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试点范围与目标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41ECA599-03D7-4698-9416-930EBDF1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333750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B3435AD9-37D8-4E63-8FAE-EF6E6B6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0886"/>
            <a:ext cx="3333750" cy="163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CAC41-266A-4698-813C-881B781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0718"/>
            <a:ext cx="31813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覆盖东区与西区，持续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六周，只包含普通手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工具，不包含电动工具。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E4E5-1C79-4134-B1C9-7D642A2A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0518"/>
            <a:ext cx="31813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试点目标是记录需求和归还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问题，不是证明服务已经成熟。</a:t>
            </a:r>
          </a:p>
        </p:txBody>
      </p:sp>
      <p:sp>
        <p:nvSpPr>
          <p:cNvPr id="8" name="region:g2">
            <a:extLst xmlns:a="http://schemas.openxmlformats.org/drawingml/2006/main">
              <a:ext uri="{FF2B5EF4-FFF2-40B4-BE49-F238E27FC236}">
                <a16:creationId xmlns:a16="http://schemas.microsoft.com/office/drawing/2014/main" id="{5A5B8B53-C6BB-449B-934C-CB9652DE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47750"/>
            <a:ext cx="7277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01C43-E4B0-4470-892D-8E2B349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两区交接方式与现场差异</a:t>
            </a:r>
          </a:p>
        </p:txBody>
      </p:sp>
      <p:sp>
        <p:nvSpPr>
          <p:cNvPr id="10" name="block:g2:section-0">
            <a:extLst xmlns:a="http://schemas.openxmlformats.org/drawingml/2006/main">
              <a:ext uri="{FF2B5EF4-FFF2-40B4-BE49-F238E27FC236}">
                <a16:creationId xmlns:a16="http://schemas.microsoft.com/office/drawing/2014/main" id="{C37E83F1-CD55-4D29-A429-BA13B01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697230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block:g2:section-1">
            <a:extLst xmlns:a="http://schemas.openxmlformats.org/drawingml/2006/main">
              <a:ext uri="{FF2B5EF4-FFF2-40B4-BE49-F238E27FC236}">
                <a16:creationId xmlns:a16="http://schemas.microsoft.com/office/drawing/2014/main" id="{E782C6F0-297C-46D6-A2A5-2227F9E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5563"/>
            <a:ext cx="697230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2" name="block:g2:section-2">
            <a:extLst xmlns:a="http://schemas.openxmlformats.org/drawingml/2006/main">
              <a:ext uri="{FF2B5EF4-FFF2-40B4-BE49-F238E27FC236}">
                <a16:creationId xmlns:a16="http://schemas.microsoft.com/office/drawing/2014/main" id="{59CD19C6-3A00-495A-8B2C-DC42BEC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29025"/>
            <a:ext cx="697230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g2:section-3">
            <a:extLst xmlns:a="http://schemas.openxmlformats.org/drawingml/2006/main">
              <a:ext uri="{FF2B5EF4-FFF2-40B4-BE49-F238E27FC236}">
                <a16:creationId xmlns:a16="http://schemas.microsoft.com/office/drawing/2014/main" id="{D5B9B027-F816-440C-9EA3-F9A7CC4D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2488"/>
            <a:ext cx="697230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BB89A-D7CC-4F23-BBDE-AB57C568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6881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东区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1722D-1AD3-4A57-BA6D-ECC904D6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7874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固定值班点；现场问题能当面确认，但值班人力投入较多。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86E93-0354-4DD1-A120-FB89BBF9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50344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西区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ECD32-DCE6-4BCC-B73A-82C1764E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71336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预约交接；现场值班时间较少，但临时改约需要反复联系。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5540B-6D16-48E6-B525-68737681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3806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共同情况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65318-7127-48F0-8D9B-5AD20F27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04799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两区都出现高峰时段工具不足。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DF974-2CFE-4E8A-9AA6-E636494C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7269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工时记录限制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77BFC-DDA5-48A8-9832-581107FE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38261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没有完整工时记录，不能据此断言西区总体更省人力。</a:t>
            </a:r>
          </a:p>
        </p:txBody>
      </p:sp>
    </p:spTree>
    <p:extLst>
      <p:ext uri="{BB962C8B-B14F-4D97-AF65-F5344CB8AC3E}">
        <p14:creationId xmlns:p14="http://schemas.microsoft.com/office/powerpoint/2010/main" val="7555676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163AB-382A-49A1-AE46-86498C4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借还可追溯但缺件描述不统一，用户需求尚无人数统计</a:t>
            </a:r>
          </a:p>
        </p:txBody>
      </p:sp>
      <p:sp>
        <p:nvSpPr>
          <p:cNvPr id="2" name="region:g3">
            <a:extLst xmlns:a="http://schemas.openxmlformats.org/drawingml/2006/main">
              <a:ext uri="{FF2B5EF4-FFF2-40B4-BE49-F238E27FC236}">
                <a16:creationId xmlns:a16="http://schemas.microsoft.com/office/drawing/2014/main" id="{C3E860CB-40A6-4833-8F1F-CB159F2A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1E808-560A-4283-B407-807DDD1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物资登记</a:t>
            </a:r>
          </a:p>
        </p:txBody>
      </p:sp>
      <p:sp>
        <p:nvSpPr>
          <p:cNvPr id="4" name="block:g3:section-0">
            <a:extLst xmlns:a="http://schemas.openxmlformats.org/drawingml/2006/main">
              <a:ext uri="{FF2B5EF4-FFF2-40B4-BE49-F238E27FC236}">
                <a16:creationId xmlns:a16="http://schemas.microsoft.com/office/drawing/2014/main" id="{2FBB0DC5-F80E-42ED-800E-614F0F0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73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3:section-1">
            <a:extLst xmlns:a="http://schemas.openxmlformats.org/drawingml/2006/main">
              <a:ext uri="{FF2B5EF4-FFF2-40B4-BE49-F238E27FC236}">
                <a16:creationId xmlns:a16="http://schemas.microsoft.com/office/drawing/2014/main" id="{0587EF75-68A5-4B27-9ECC-5DADF27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5314"/>
            <a:ext cx="5153025" cy="176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3:section-2">
            <a:extLst xmlns:a="http://schemas.openxmlformats.org/drawingml/2006/main">
              <a:ext uri="{FF2B5EF4-FFF2-40B4-BE49-F238E27FC236}">
                <a16:creationId xmlns:a16="http://schemas.microsoft.com/office/drawing/2014/main" id="{53D5B98C-A609-45C8-BB6C-C925D1E6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6582"/>
            <a:ext cx="5153025" cy="1285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8CDE5-3AE4-42E5-86BD-AB480D94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8682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借出和归还已经登记。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82A1F-D796-4A2A-BC7D-4C2905C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1123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描述不统一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428FB-9EA9-4477-B838-F22F6B8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2116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缺件描述不统一，同一种情况有时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写成附件缺失，有时写成包装不完整。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6CCB4-2D24-405E-AABA-1A6642D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4316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B8D41-5F9B-428F-AB1F-5945C01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5309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当前清单能追溯借还，尚不能可靠统计缺件率。</a:t>
            </a:r>
          </a:p>
        </p:txBody>
      </p:sp>
      <p:sp>
        <p:nvSpPr>
          <p:cNvPr id="12" name="region:g4">
            <a:extLst xmlns:a="http://schemas.openxmlformats.org/drawingml/2006/main">
              <a:ext uri="{FF2B5EF4-FFF2-40B4-BE49-F238E27FC236}">
                <a16:creationId xmlns:a16="http://schemas.microsoft.com/office/drawing/2014/main" id="{C39428A1-5A42-4628-90A6-599F490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F1E8B-3259-4DB4-9B69-24F27DE9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4" name="block:g4:section-0">
            <a:extLst xmlns:a="http://schemas.openxmlformats.org/drawingml/2006/main">
              <a:ext uri="{FF2B5EF4-FFF2-40B4-BE49-F238E27FC236}">
                <a16:creationId xmlns:a16="http://schemas.microsoft.com/office/drawing/2014/main" id="{7119E118-3D73-4FF9-BA56-6C389CC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0831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5" name="block:g4:section-1">
            <a:extLst xmlns:a="http://schemas.openxmlformats.org/drawingml/2006/main">
              <a:ext uri="{FF2B5EF4-FFF2-40B4-BE49-F238E27FC236}">
                <a16:creationId xmlns:a16="http://schemas.microsoft.com/office/drawing/2014/main" id="{A671250E-02AE-4D2F-BF3A-6B24B83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59529"/>
            <a:ext cx="5153025" cy="1567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6" name="block:g4:section-2">
            <a:extLst xmlns:a="http://schemas.openxmlformats.org/drawingml/2006/main">
              <a:ext uri="{FF2B5EF4-FFF2-40B4-BE49-F238E27FC236}">
                <a16:creationId xmlns:a16="http://schemas.microsoft.com/office/drawing/2014/main" id="{F77AEB30-CD8F-4D71-A46F-B57367B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41515"/>
            <a:ext cx="5153025" cy="1140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C90AA-6D4B-4B37-8591-6FE7649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17914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部分使用者希望延长晚间交接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时间，也有使用者希望周末开放。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C0BBA-5D93-4A93-B948-392B944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95697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8294D-5493-4937-B85D-03B90354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16689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没有统计各项建议人数，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不能判断哪一项需求更普遍。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B1ECA-B28B-4662-A681-1AB5E852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06782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未覆盖人群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383B3-79BB-48E3-B7E5-7825CD41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27775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尚未收集未使用服务人员的意见。</a:t>
            </a:r>
          </a:p>
        </p:txBody>
      </p:sp>
    </p:spTree>
    <p:extLst>
      <p:ext uri="{BB962C8B-B14F-4D97-AF65-F5344CB8AC3E}">
        <p14:creationId xmlns:p14="http://schemas.microsoft.com/office/powerpoint/2010/main" val="446283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5CD2-A00E-4EF2-984F-0500671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逾期先联系借用人，状态争议先暂停借出并保存照片</a:t>
            </a:r>
          </a:p>
        </p:txBody>
      </p:sp>
      <p:sp>
        <p:nvSpPr>
          <p:cNvPr id="2" name="region:g5">
            <a:extLst xmlns:a="http://schemas.openxmlformats.org/drawingml/2006/main">
              <a:ext uri="{FF2B5EF4-FFF2-40B4-BE49-F238E27FC236}">
                <a16:creationId xmlns:a16="http://schemas.microsoft.com/office/drawing/2014/main" id="{D0460BB2-BFDD-4E51-8C52-64AAA1EE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42CC4-238E-42AE-821D-897C3679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处置路径</a:t>
            </a:r>
          </a:p>
        </p:txBody>
      </p:sp>
      <p:sp>
        <p:nvSpPr>
          <p:cNvPr id="4" name="block:g5:section-0">
            <a:extLst xmlns:a="http://schemas.openxmlformats.org/drawingml/2006/main">
              <a:ext uri="{FF2B5EF4-FFF2-40B4-BE49-F238E27FC236}">
                <a16:creationId xmlns:a16="http://schemas.microsoft.com/office/drawing/2014/main" id="{048D9366-074D-4A19-BBE0-612AF52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A8C45-A7FB-4853-909C-53462FF2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7413"/>
            <a:ext cx="10687050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表达作用：用两条并行处置路径展示异常发生时的先后与分支，限定句紧随状态争议路径。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承载内容：逾期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先联系借用人；无法联系时转协调员处理。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状态争议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先暂停再次借出并保存照片，核实后决定维修还是恢复使用。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暂停借出不等于认定借用人承担责任。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基本关系：逾期路径与状态争议路径并行；各自内部按先—后顺序；限定归属状态争议路径。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制作要求：两条路径并排或上下排列，节点仅保留关键动作：联系借用人／转协调员；暂停借出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并保存照片／核实后决定维修还是恢复使用。限定句以区别于动作的文字置于状态争议路径末端。</a:t>
            </a:r>
          </a:p>
        </p:txBody>
      </p:sp>
    </p:spTree>
    <p:extLst>
      <p:ext uri="{BB962C8B-B14F-4D97-AF65-F5344CB8AC3E}">
        <p14:creationId xmlns:p14="http://schemas.microsoft.com/office/powerpoint/2010/main" val="331078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0181A-2E2B-4968-9F7B-C56FA668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保留两区交接各点记工时并统一描述；晚间与周末暂不同时试行</a:t>
            </a:r>
          </a:p>
        </p:txBody>
      </p:sp>
      <p:sp>
        <p:nvSpPr>
          <p:cNvPr id="2" name="region:g6">
            <a:extLst xmlns:a="http://schemas.openxmlformats.org/drawingml/2006/main">
              <a:ext uri="{FF2B5EF4-FFF2-40B4-BE49-F238E27FC236}">
                <a16:creationId xmlns:a16="http://schemas.microsoft.com/office/drawing/2014/main" id="{743E2AFB-0534-4183-BCAA-971A2A6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7277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663B4-B256-4211-8BF1-794B930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下一轮建议</a:t>
            </a:r>
          </a:p>
        </p:txBody>
      </p:sp>
      <p:sp>
        <p:nvSpPr>
          <p:cNvPr id="4" name="block:g6:section-0">
            <a:extLst xmlns:a="http://schemas.openxmlformats.org/drawingml/2006/main">
              <a:ext uri="{FF2B5EF4-FFF2-40B4-BE49-F238E27FC236}">
                <a16:creationId xmlns:a16="http://schemas.microsoft.com/office/drawing/2014/main" id="{BB4F5F55-639C-4734-ADA3-458F2E0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972300" cy="1241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6:section-1">
            <a:extLst xmlns:a="http://schemas.openxmlformats.org/drawingml/2006/main">
              <a:ext uri="{FF2B5EF4-FFF2-40B4-BE49-F238E27FC236}">
                <a16:creationId xmlns:a16="http://schemas.microsoft.com/office/drawing/2014/main" id="{B59D462D-531A-4E20-9DD1-92B3554F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8263"/>
            <a:ext cx="6972300" cy="1241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6:section-2">
            <a:extLst xmlns:a="http://schemas.openxmlformats.org/drawingml/2006/main">
              <a:ext uri="{FF2B5EF4-FFF2-40B4-BE49-F238E27FC236}">
                <a16:creationId xmlns:a16="http://schemas.microsoft.com/office/drawing/2014/main" id="{5CFEF389-D9E2-4DAE-BBCB-BEED6C18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4426"/>
            <a:ext cx="6972300" cy="1307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E52B5-8CD4-4E29-8394-E836EC73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7281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继续保留两个交接方式；各选一个服务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点记录完整工时，同时统一缺件描述。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143F8-82E1-485E-A065-2DF1CC7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3444"/>
            <a:ext cx="681990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晚间延长与周末开放暂不同时试行，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先根据值班可用时间选择其中一种。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8C71C-81B2-4005-9941-0E3CD34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3238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15277-0DC8-4AFC-AD27-8A9DD38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4230"/>
            <a:ext cx="68199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所有改动仅为建议，尚未批准。</a:t>
            </a:r>
          </a:p>
        </p:txBody>
      </p:sp>
      <p:sp>
        <p:nvSpPr>
          <p:cNvPr id="11" name="region:g7">
            <a:extLst xmlns:a="http://schemas.openxmlformats.org/drawingml/2006/main">
              <a:ext uri="{FF2B5EF4-FFF2-40B4-BE49-F238E27FC236}">
                <a16:creationId xmlns:a16="http://schemas.microsoft.com/office/drawing/2014/main" id="{D4E7A8A9-4E81-45BE-A668-1DCD2BA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47750"/>
            <a:ext cx="36385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0694F-44C3-4943-8F8C-70FFDCD4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62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分工设想</a:t>
            </a:r>
          </a:p>
        </p:txBody>
      </p:sp>
      <p:sp>
        <p:nvSpPr>
          <p:cNvPr id="13" name="block:g7:section-0">
            <a:extLst xmlns:a="http://schemas.openxmlformats.org/drawingml/2006/main">
              <a:ext uri="{FF2B5EF4-FFF2-40B4-BE49-F238E27FC236}">
                <a16:creationId xmlns:a16="http://schemas.microsoft.com/office/drawing/2014/main" id="{316198FA-1FC8-4703-BC6D-E2A5D2A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333750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block:g7:section-1">
            <a:extLst xmlns:a="http://schemas.openxmlformats.org/drawingml/2006/main">
              <a:ext uri="{FF2B5EF4-FFF2-40B4-BE49-F238E27FC236}">
                <a16:creationId xmlns:a16="http://schemas.microsoft.com/office/drawing/2014/main" id="{BB44AF57-E83E-483C-8EF0-466EC78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50886"/>
            <a:ext cx="3333750" cy="163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BB9B7-2E89-48AA-B887-DA82B79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70718"/>
            <a:ext cx="3181350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服务点记录交接和工时；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物资管理员维护状态清单；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协调员每周汇总未结异常。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C25EC-CDDB-4BE1-98C5-376C944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80518"/>
            <a:ext cx="31813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三类职责持续开展，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不是三个先后阶段。</a:t>
            </a:r>
          </a:p>
        </p:txBody>
      </p:sp>
    </p:spTree>
    <p:extLst>
      <p:ext uri="{BB962C8B-B14F-4D97-AF65-F5344CB8AC3E}">
        <p14:creationId xmlns:p14="http://schemas.microsoft.com/office/powerpoint/2010/main" val="4707172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05E47-2702-4606-B78B-FFF9E83D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继续试点需满足三项条件；本次只请求确认下一轮与可投入值班时间</a:t>
            </a:r>
          </a:p>
        </p:txBody>
      </p:sp>
      <p:sp>
        <p:nvSpPr>
          <p:cNvPr id="2" name="region:g8">
            <a:extLst xmlns:a="http://schemas.openxmlformats.org/drawingml/2006/main">
              <a:ext uri="{FF2B5EF4-FFF2-40B4-BE49-F238E27FC236}">
                <a16:creationId xmlns:a16="http://schemas.microsoft.com/office/drawing/2014/main" id="{2346C08D-D1B9-4D11-813E-281AEEE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160B8-8C16-41DD-A2CA-45E2D34B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继续试点的条件</a:t>
            </a:r>
          </a:p>
        </p:txBody>
      </p:sp>
      <p:sp>
        <p:nvSpPr>
          <p:cNvPr id="4" name="block:g8:section-0">
            <a:extLst xmlns:a="http://schemas.openxmlformats.org/drawingml/2006/main">
              <a:ext uri="{FF2B5EF4-FFF2-40B4-BE49-F238E27FC236}">
                <a16:creationId xmlns:a16="http://schemas.microsoft.com/office/drawing/2014/main" id="{F8E39127-4CC3-4EDB-9540-3F4FFF5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8:section-1">
            <a:extLst xmlns:a="http://schemas.openxmlformats.org/drawingml/2006/main">
              <a:ext uri="{FF2B5EF4-FFF2-40B4-BE49-F238E27FC236}">
                <a16:creationId xmlns:a16="http://schemas.microsoft.com/office/drawing/2014/main" id="{0D6E47CB-9EFB-4B6C-A712-1FC5C8E9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51530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BA6AC-D03D-40E5-B9D0-C88067F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2663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必须有明确值班责任人、可追溯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的借还记录及异常接手机制。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05ED3-7647-46CA-B5D7-6E6AD67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9588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具备条件也不等于批准扩大覆盖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范围，扩大前仍需单独评估人力。</a:t>
            </a:r>
          </a:p>
        </p:txBody>
      </p:sp>
      <p:sp>
        <p:nvSpPr>
          <p:cNvPr id="8" name="region:g9">
            <a:extLst xmlns:a="http://schemas.openxmlformats.org/drawingml/2006/main">
              <a:ext uri="{FF2B5EF4-FFF2-40B4-BE49-F238E27FC236}">
                <a16:creationId xmlns:a16="http://schemas.microsoft.com/office/drawing/2014/main" id="{CA1103B8-05FF-433D-9E43-315A346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7FE85-03CE-40AF-9492-623F5B13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决策节点与请求</a:t>
            </a:r>
          </a:p>
        </p:txBody>
      </p:sp>
      <p:sp>
        <p:nvSpPr>
          <p:cNvPr id="10" name="block:g9:section-0">
            <a:extLst xmlns:a="http://schemas.openxmlformats.org/drawingml/2006/main">
              <a:ext uri="{FF2B5EF4-FFF2-40B4-BE49-F238E27FC236}">
                <a16:creationId xmlns:a16="http://schemas.microsoft.com/office/drawing/2014/main" id="{702CD339-3FC7-49E5-9DAA-274CE44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151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block:g9:section-1">
            <a:extLst xmlns:a="http://schemas.openxmlformats.org/drawingml/2006/main">
              <a:ext uri="{FF2B5EF4-FFF2-40B4-BE49-F238E27FC236}">
                <a16:creationId xmlns:a16="http://schemas.microsoft.com/office/drawing/2014/main" id="{87C539E7-611F-4BEF-8F5B-67640EA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27948"/>
            <a:ext cx="5153025" cy="2753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10E24-9D25-4629-BB61-CB4AD17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94999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下一轮结束时根据记录决定继续、调整或暂停。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EF7ED-9C49-4D8F-9E52-5DA214D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57124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本次请求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44CD8-F0D5-42C9-92E2-F953145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78117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请协调会确认是否开展下一轮，以及可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投入的值班时间；不请求立即全校推广。</a:t>
            </a:r>
          </a:p>
        </p:txBody>
      </p:sp>
    </p:spTree>
    <p:extLst>
      <p:ext uri="{BB962C8B-B14F-4D97-AF65-F5344CB8AC3E}">
        <p14:creationId xmlns:p14="http://schemas.microsoft.com/office/powerpoint/2010/main" val="697643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2026-09-17T00:24:54.1330000Z</dcterms:created>
  <dcterms:modified xsi:type="dcterms:W3CDTF">2026-09-17T00:24:54.1330000Z</dcterms:modified>
</coreProperties>
</file>