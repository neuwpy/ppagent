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cd70da4be4b0c" /><Relationship Type="http://schemas.openxmlformats.org/officeDocument/2006/relationships/extended-properties" Target="/docProps/app.xml" Id="R1e5d5773cabd4f53" /><Relationship Type="http://schemas.openxmlformats.org/officeDocument/2006/relationships/officeDocument" Target="/ppt/presentation.xml" Id="R9d956b6af861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cc11081074cc3"/>
  </p:sldMasterIdLst>
  <p:notesMasterIdLst>
    <p:notesMasterId xmlns:r="http://schemas.openxmlformats.org/officeDocument/2006/relationships" r:id="Re5adc32303d24201"/>
  </p:notesMasterIdLst>
  <p:sldIdLst>
    <p:sldId xmlns:r="http://schemas.openxmlformats.org/officeDocument/2006/relationships" id="256" r:id="R2174411f2d1f4559"/>
    <p:sldId xmlns:r="http://schemas.openxmlformats.org/officeDocument/2006/relationships" id="257" r:id="R9a460ce0672d4564"/>
    <p:sldId xmlns:r="http://schemas.openxmlformats.org/officeDocument/2006/relationships" id="258" r:id="R0435fbe5c3704f1c"/>
    <p:sldId xmlns:r="http://schemas.openxmlformats.org/officeDocument/2006/relationships" id="259" r:id="R73b00787c6834a79"/>
    <p:sldId xmlns:r="http://schemas.openxmlformats.org/officeDocument/2006/relationships" id="260" r:id="Rff14efae482c4528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8496773bee44e2" /><Relationship Type="http://schemas.openxmlformats.org/officeDocument/2006/relationships/slideMaster" Target="/ppt/slideMasters/slideMaster1.xml" Id="R341cc11081074cc3" /><Relationship Type="http://schemas.openxmlformats.org/officeDocument/2006/relationships/notesMaster" Target="/ppt/notesMasters/notesMaster1.xml" Id="Re5adc32303d24201" /><Relationship Type="http://schemas.openxmlformats.org/officeDocument/2006/relationships/presProps" Target="/ppt/presProps.xml" Id="Ra236fc79050f4c66" /><Relationship Type="http://schemas.openxmlformats.org/officeDocument/2006/relationships/tableStyles" Target="/ppt/tableStyles.xml" Id="R3f330106a8284335" /><Relationship Type="http://schemas.openxmlformats.org/officeDocument/2006/relationships/slide" Target="/ppt/slides/slide1.xml" Id="R2174411f2d1f4559" /><Relationship Type="http://schemas.openxmlformats.org/officeDocument/2006/relationships/slide" Target="/ppt/slides/slide2.xml" Id="R9a460ce0672d4564" /><Relationship Type="http://schemas.openxmlformats.org/officeDocument/2006/relationships/slide" Target="/ppt/slides/slide3.xml" Id="R0435fbe5c3704f1c" /><Relationship Type="http://schemas.openxmlformats.org/officeDocument/2006/relationships/slide" Target="/ppt/slides/slide4.xml" Id="R73b00787c6834a79" /><Relationship Type="http://schemas.openxmlformats.org/officeDocument/2006/relationships/slide" Target="/ppt/slides/slide5.xml" Id="Rff14efae482c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649db0d02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f0812c8ae3499c" /><Relationship Type="http://schemas.openxmlformats.org/officeDocument/2006/relationships/notesMaster" Target="/ppt/notesMasters/notesMaster1.xml" Id="R30d88f18f0ce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59c764aa8e4f4c" /><Relationship Type="http://schemas.openxmlformats.org/officeDocument/2006/relationships/notesMaster" Target="/ppt/notesMasters/notesMaster1.xml" Id="R724d9ddf7de8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7e756bc274443" /><Relationship Type="http://schemas.openxmlformats.org/officeDocument/2006/relationships/notesMaster" Target="/ppt/notesMasters/notesMaster1.xml" Id="R521ec02aa2ac42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17b36a9c54384" /><Relationship Type="http://schemas.openxmlformats.org/officeDocument/2006/relationships/notesMaster" Target="/ppt/notesMasters/notesMaster1.xml" Id="R12de9c0d887345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d2414886a4e7d" /><Relationship Type="http://schemas.openxmlformats.org/officeDocument/2006/relationships/notesMaster" Target="/ppt/notesMasters/notesMaster1.xml" Id="R6997747d7853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034a75fa647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4ca38ea4b4caf" /><Relationship Type="http://schemas.openxmlformats.org/officeDocument/2006/relationships/slideLayout" Target="/ppt/slideLayouts/slideLayout1.xml" Id="R25f72403556c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72403556c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8f83a1b6e4acb" /><Relationship Type="http://schemas.openxmlformats.org/officeDocument/2006/relationships/notesSlide" Target="/ppt/notesSlides/notesSlide1.xml" Id="R3a47deafa27e43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0f4cf27f4ee3" /><Relationship Type="http://schemas.openxmlformats.org/officeDocument/2006/relationships/notesSlide" Target="/ppt/notesSlides/notesSlide2.xml" Id="Rc76e52a7359e46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b1d9e5c53468b" /><Relationship Type="http://schemas.openxmlformats.org/officeDocument/2006/relationships/notesSlide" Target="/ppt/notesSlides/notesSlide3.xml" Id="R97fe634ac7ac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96c5b7c2a4480" /><Relationship Type="http://schemas.openxmlformats.org/officeDocument/2006/relationships/notesSlide" Target="/ppt/notesSlides/notesSlide4.xml" Id="R98f13a0ee52a47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07b55c075450c" /><Relationship Type="http://schemas.openxmlformats.org/officeDocument/2006/relationships/notesSlide" Target="/ppt/notesSlides/notesSlide5.xml" Id="R77a1330e2e8746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1E83D-6BEF-49AB-89D7-181D102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六周双区试点记录了需求，但两区各有代价，尚不能比较总体人力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E4A245B3-2B8C-4A9D-B0F9-4588AA1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198327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FBF81-9B25-4F4B-ADE1-9511B863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8935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试点范围与目标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BD3450E8-3818-46BD-ADE2-517F927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893527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183A4585-8C10-4066-A8D0-1895B157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3893527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A8B96-C013-4BFE-BC58-9936985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2663"/>
            <a:ext cx="3741127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覆盖东区和西区，持续六周，只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包含普通手工具，不包含电动工具。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F24DF-71D7-413D-ADEA-9D49201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9588"/>
            <a:ext cx="3741127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试点目标是记录需求和归还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问题，不是证明服务已经成熟。</a:t>
            </a:r>
          </a:p>
        </p:txBody>
      </p:sp>
      <p:sp>
        <p:nvSpPr>
          <p:cNvPr id="8" name="region:g2">
            <a:extLst xmlns:a="http://schemas.openxmlformats.org/drawingml/2006/main">
              <a:ext uri="{FF2B5EF4-FFF2-40B4-BE49-F238E27FC236}">
                <a16:creationId xmlns:a16="http://schemas.microsoft.com/office/drawing/2014/main" id="{38210069-96B6-4EB6-8F0B-87F9F69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927" y="1047750"/>
            <a:ext cx="6717323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3D4FC-EB98-455F-8958-C99C533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1162050"/>
            <a:ext cx="641252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两区运行方式与代价</a:t>
            </a:r>
          </a:p>
        </p:txBody>
      </p:sp>
      <p:sp>
        <p:nvSpPr>
          <p:cNvPr id="10" name="block:g2:section-0">
            <a:extLst xmlns:a="http://schemas.openxmlformats.org/drawingml/2006/main">
              <a:ext uri="{FF2B5EF4-FFF2-40B4-BE49-F238E27FC236}">
                <a16:creationId xmlns:a16="http://schemas.microsoft.com/office/drawing/2014/main" id="{2982170B-81D3-4D9F-9F85-8CB6693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1562100"/>
            <a:ext cx="6412523" cy="116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block:g2:section-1">
            <a:extLst xmlns:a="http://schemas.openxmlformats.org/drawingml/2006/main">
              <a:ext uri="{FF2B5EF4-FFF2-40B4-BE49-F238E27FC236}">
                <a16:creationId xmlns:a16="http://schemas.microsoft.com/office/drawing/2014/main" id="{A614E002-5AAB-4CDF-800C-4C64A8E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2843590"/>
            <a:ext cx="6412523" cy="116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2" name="block:g2:section-2">
            <a:extLst xmlns:a="http://schemas.openxmlformats.org/drawingml/2006/main">
              <a:ext uri="{FF2B5EF4-FFF2-40B4-BE49-F238E27FC236}">
                <a16:creationId xmlns:a16="http://schemas.microsoft.com/office/drawing/2014/main" id="{1D97B587-7740-422D-B016-BC41B04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4125081"/>
            <a:ext cx="6412523" cy="671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g2:section-3">
            <a:extLst xmlns:a="http://schemas.openxmlformats.org/drawingml/2006/main">
              <a:ext uri="{FF2B5EF4-FFF2-40B4-BE49-F238E27FC236}">
                <a16:creationId xmlns:a16="http://schemas.microsoft.com/office/drawing/2014/main" id="{17354166-5012-44C2-9715-66C4601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4910515"/>
            <a:ext cx="6412523" cy="671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0F73D-21BF-41DF-B277-20CE08B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1840895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东区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1975B-3DE9-4D5C-8D5E-D4D3BA45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2161888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设固定值班点，现场问题能当面确认，但值班人力投入较多。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BB6F7-3B77-4D53-AAE0-00F0E729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3122386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西区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D4B58-3CA0-417F-9104-75FC392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3443378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采用预约交接，现场值班时间较少，但临时改约需要反复联系。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CB485-5102-4DAF-90AA-18595E5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4317773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两区都出现高峰时段工具不足。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8CE5D-59A6-4764-BFDB-124A556E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5103208"/>
            <a:ext cx="6260123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没有完整工时记录，不能据此断言西区总体更省人力。</a:t>
            </a:r>
          </a:p>
        </p:txBody>
      </p:sp>
    </p:spTree>
    <p:extLst>
      <p:ext uri="{BB962C8B-B14F-4D97-AF65-F5344CB8AC3E}">
        <p14:creationId xmlns:p14="http://schemas.microsoft.com/office/powerpoint/2010/main" val="2956946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941B4-09CF-42F2-A334-FE80AFB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借还已可追溯，但缺件率与需求优先级均无法判断</a:t>
            </a:r>
          </a:p>
        </p:txBody>
      </p:sp>
      <p:sp>
        <p:nvSpPr>
          <p:cNvPr id="2" name="region:g3">
            <a:extLst xmlns:a="http://schemas.openxmlformats.org/drawingml/2006/main">
              <a:ext uri="{FF2B5EF4-FFF2-40B4-BE49-F238E27FC236}">
                <a16:creationId xmlns:a16="http://schemas.microsoft.com/office/drawing/2014/main" id="{CE401F1F-47E7-4F91-B06D-C637677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953991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23706-0BA2-4CBA-83C4-B6C1177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64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物资记录：能追溯，不能统计缺件率</a:t>
            </a:r>
          </a:p>
        </p:txBody>
      </p:sp>
      <p:sp>
        <p:nvSpPr>
          <p:cNvPr id="4" name="block:g3:section-0">
            <a:extLst xmlns:a="http://schemas.openxmlformats.org/drawingml/2006/main">
              <a:ext uri="{FF2B5EF4-FFF2-40B4-BE49-F238E27FC236}">
                <a16:creationId xmlns:a16="http://schemas.microsoft.com/office/drawing/2014/main" id="{258688E6-866F-4DD4-9990-170195F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49191" cy="10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3:section-1">
            <a:extLst xmlns:a="http://schemas.openxmlformats.org/drawingml/2006/main">
              <a:ext uri="{FF2B5EF4-FFF2-40B4-BE49-F238E27FC236}">
                <a16:creationId xmlns:a16="http://schemas.microsoft.com/office/drawing/2014/main" id="{5E7C7FE1-0301-4D3E-80DA-DE938D40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398"/>
            <a:ext cx="5649191" cy="17149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3:section-2">
            <a:extLst xmlns:a="http://schemas.openxmlformats.org/drawingml/2006/main">
              <a:ext uri="{FF2B5EF4-FFF2-40B4-BE49-F238E27FC236}">
                <a16:creationId xmlns:a16="http://schemas.microsoft.com/office/drawing/2014/main" id="{479F537E-C582-425B-A9D7-5ECAC98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652"/>
            <a:ext cx="5649191" cy="103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54C33-E0B8-4691-A0FC-83661639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8224"/>
            <a:ext cx="5496791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借出和归还已经登记。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037F7-B3CC-4C27-8E47-47336DAD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496791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缺件描述不统一，同一种情况有时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写成附件缺失，有时写成包装不完整。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71CE-6813-4AC4-B7C9-2A393F63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9776"/>
            <a:ext cx="5496791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当前清单能追溯借还，尚不能可靠统计缺件率。</a:t>
            </a:r>
          </a:p>
        </p:txBody>
      </p:sp>
      <p:sp>
        <p:nvSpPr>
          <p:cNvPr id="10" name="region:g4">
            <a:extLst xmlns:a="http://schemas.openxmlformats.org/drawingml/2006/main">
              <a:ext uri="{FF2B5EF4-FFF2-40B4-BE49-F238E27FC236}">
                <a16:creationId xmlns:a16="http://schemas.microsoft.com/office/drawing/2014/main" id="{E395FED6-DEE4-4BE1-8B51-25B454A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91" y="1047750"/>
            <a:ext cx="4961659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DAF1B-C2ED-4027-92CF-019752D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1162050"/>
            <a:ext cx="46568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用户反馈：有建议，难判断优先级</a:t>
            </a:r>
          </a:p>
        </p:txBody>
      </p:sp>
      <p:sp>
        <p:nvSpPr>
          <p:cNvPr id="12" name="block:g4:section-0">
            <a:extLst xmlns:a="http://schemas.openxmlformats.org/drawingml/2006/main">
              <a:ext uri="{FF2B5EF4-FFF2-40B4-BE49-F238E27FC236}">
                <a16:creationId xmlns:a16="http://schemas.microsoft.com/office/drawing/2014/main" id="{2F9C8329-0CBB-4002-BE8E-6EF64E3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1562100"/>
            <a:ext cx="4656859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g4:section-1">
            <a:extLst xmlns:a="http://schemas.openxmlformats.org/drawingml/2006/main">
              <a:ext uri="{FF2B5EF4-FFF2-40B4-BE49-F238E27FC236}">
                <a16:creationId xmlns:a16="http://schemas.microsoft.com/office/drawing/2014/main" id="{EB9A128D-050C-4383-B42E-86FFBA43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3131512"/>
            <a:ext cx="4656859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block:g4:section-2">
            <a:extLst xmlns:a="http://schemas.openxmlformats.org/drawingml/2006/main">
              <a:ext uri="{FF2B5EF4-FFF2-40B4-BE49-F238E27FC236}">
                <a16:creationId xmlns:a16="http://schemas.microsoft.com/office/drawing/2014/main" id="{B5EA9BFD-574B-405F-A6A2-49EDE20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4700924"/>
            <a:ext cx="4656859" cy="880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2AD59-B900-48A4-9BDD-8E06478B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2003906"/>
            <a:ext cx="450445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部分使用者希望延长晚间交接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时间，也有使用者希望周末开放。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5244-CDD2-4AC0-B779-630A05C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3573318"/>
            <a:ext cx="450445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没有统计各项建议人数，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不能判断哪一项需求更普遍。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9060-F2B3-4B8E-93FF-9AE387F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4998412"/>
            <a:ext cx="4504459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尚未收集未使用服务人员的意见。</a:t>
            </a:r>
          </a:p>
        </p:txBody>
      </p:sp>
    </p:spTree>
    <p:extLst>
      <p:ext uri="{BB962C8B-B14F-4D97-AF65-F5344CB8AC3E}">
        <p14:creationId xmlns:p14="http://schemas.microsoft.com/office/powerpoint/2010/main" val="680243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C6142-F013-4A45-B1E3-8A7F148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逾期先联系本人、无法联系转协调员；状态争议先暂停借出并保存照片</a:t>
            </a:r>
          </a:p>
        </p:txBody>
      </p:sp>
      <p:sp>
        <p:nvSpPr>
          <p:cNvPr id="2" name="region:g5">
            <a:extLst xmlns:a="http://schemas.openxmlformats.org/drawingml/2006/main">
              <a:ext uri="{FF2B5EF4-FFF2-40B4-BE49-F238E27FC236}">
                <a16:creationId xmlns:a16="http://schemas.microsoft.com/office/drawing/2014/main" id="{41DE4767-9B2E-4C52-90A0-EB69B605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4198327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9CD6D-0FC2-4EC8-BB15-F33967A0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8935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逾期处理</a:t>
            </a:r>
          </a:p>
        </p:txBody>
      </p:sp>
      <p:sp>
        <p:nvSpPr>
          <p:cNvPr id="4" name="block:g5:section-0">
            <a:extLst xmlns:a="http://schemas.openxmlformats.org/drawingml/2006/main">
              <a:ext uri="{FF2B5EF4-FFF2-40B4-BE49-F238E27FC236}">
                <a16:creationId xmlns:a16="http://schemas.microsoft.com/office/drawing/2014/main" id="{CCD585B9-A3F2-498B-9B3C-E61F9337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893527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5EDAB-7CD2-4F5D-B4FA-FC778277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741127" cy="2263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表达作用：用一条简短流程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呈现逾期处理的先后分支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承载内容：逾期时先联系借用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人，无法联系时转协调员处理。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基本关系：联系借用人为主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路径，无法联系时转入协调员处理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制作要求：两节点一分支，末端为协调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员处理；箭头指向目标边界并留净距</a:t>
            </a:r>
          </a:p>
        </p:txBody>
      </p:sp>
      <p:sp>
        <p:nvSpPr>
          <p:cNvPr id="6" name="region:g6">
            <a:extLst xmlns:a="http://schemas.openxmlformats.org/drawingml/2006/main">
              <a:ext uri="{FF2B5EF4-FFF2-40B4-BE49-F238E27FC236}">
                <a16:creationId xmlns:a16="http://schemas.microsoft.com/office/drawing/2014/main" id="{851B8186-B47A-499B-B283-DEE5C85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927" y="1047750"/>
            <a:ext cx="6717323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A948D-FFF2-409A-90F7-BAEE87F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1162050"/>
            <a:ext cx="641252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状态争议处理</a:t>
            </a:r>
          </a:p>
        </p:txBody>
      </p:sp>
      <p:sp>
        <p:nvSpPr>
          <p:cNvPr id="8" name="block:g6:section-0">
            <a:extLst xmlns:a="http://schemas.openxmlformats.org/drawingml/2006/main">
              <a:ext uri="{FF2B5EF4-FFF2-40B4-BE49-F238E27FC236}">
                <a16:creationId xmlns:a16="http://schemas.microsoft.com/office/drawing/2014/main" id="{DD768E1E-B98D-49CE-920E-100FE8F6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27" y="1562100"/>
            <a:ext cx="6412523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FAF24-CB86-45B1-989E-46B1171F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27" y="2295525"/>
            <a:ext cx="6260123" cy="2546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表达作用：用流程呈现暂停、保存照片、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核实、分流的处理顺序，并就近注明责任界定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承载内容：工具状态有争议时先暂停再次借出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并保存照片，核实后决定维修还是恢复使用。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暂停借出不等于认定借用人承担责任。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基本关系：核实后的结果分为维修或恢复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使用两条分支，责任说明附着于暂停环节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制作要求：核实节点后分两支；责任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说明紧邻暂停节点，避免与分支线交叠</a:t>
            </a:r>
          </a:p>
        </p:txBody>
      </p:sp>
    </p:spTree>
    <p:extLst>
      <p:ext uri="{BB962C8B-B14F-4D97-AF65-F5344CB8AC3E}">
        <p14:creationId xmlns:p14="http://schemas.microsoft.com/office/powerpoint/2010/main" val="298245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4CFB4-C65B-47B1-81F9-410C59B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保留两种交接方式，只先试行一种需求扩展，职责持续并行</a:t>
            </a:r>
          </a:p>
        </p:txBody>
      </p:sp>
      <p:sp>
        <p:nvSpPr>
          <p:cNvPr id="2" name="region:g7">
            <a:extLst xmlns:a="http://schemas.openxmlformats.org/drawingml/2006/main">
              <a:ext uri="{FF2B5EF4-FFF2-40B4-BE49-F238E27FC236}">
                <a16:creationId xmlns:a16="http://schemas.microsoft.com/office/drawing/2014/main" id="{7A10ED8C-1CB0-4853-A434-535DF98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54939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899BE-E0C1-4101-B5A3-1FD06CD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244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下一轮建议（均未批准）</a:t>
            </a:r>
          </a:p>
        </p:txBody>
      </p:sp>
      <p:sp>
        <p:nvSpPr>
          <p:cNvPr id="4" name="block:g7:section-0">
            <a:extLst xmlns:a="http://schemas.openxmlformats.org/drawingml/2006/main">
              <a:ext uri="{FF2B5EF4-FFF2-40B4-BE49-F238E27FC236}">
                <a16:creationId xmlns:a16="http://schemas.microsoft.com/office/drawing/2014/main" id="{D8962FB4-9ED8-4BBF-AF0C-D1FAE97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244590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7:section-1">
            <a:extLst xmlns:a="http://schemas.openxmlformats.org/drawingml/2006/main">
              <a:ext uri="{FF2B5EF4-FFF2-40B4-BE49-F238E27FC236}">
                <a16:creationId xmlns:a16="http://schemas.microsoft.com/office/drawing/2014/main" id="{60E9D382-A059-4C51-BFFD-2A1DD6E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1512"/>
            <a:ext cx="6244590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7:section-2">
            <a:extLst xmlns:a="http://schemas.openxmlformats.org/drawingml/2006/main">
              <a:ext uri="{FF2B5EF4-FFF2-40B4-BE49-F238E27FC236}">
                <a16:creationId xmlns:a16="http://schemas.microsoft.com/office/drawing/2014/main" id="{2BF373AF-584F-4476-BCDB-71533AD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0924"/>
            <a:ext cx="6244590" cy="880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4D764-7F7E-4D62-B771-91B26E8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906"/>
            <a:ext cx="609219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继续保留两个交接方式，各选一个服务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点记录完整工时，同时统一缺件描述。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BA715-20E5-4552-9F2C-03FF5415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3318"/>
            <a:ext cx="609219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晚间延长与周末开放暂不同时试行，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先根据值班可用时间选择其中一种。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0EEB0-EF88-40B9-8177-2668DB68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8412"/>
            <a:ext cx="609219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所有改动仅为建议，尚未批准。</a:t>
            </a:r>
          </a:p>
        </p:txBody>
      </p:sp>
      <p:sp>
        <p:nvSpPr>
          <p:cNvPr id="10" name="region:g8">
            <a:extLst xmlns:a="http://schemas.openxmlformats.org/drawingml/2006/main">
              <a:ext uri="{FF2B5EF4-FFF2-40B4-BE49-F238E27FC236}">
                <a16:creationId xmlns:a16="http://schemas.microsoft.com/office/drawing/2014/main" id="{4B3F16E7-796F-4ABD-92E5-D814855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1047750"/>
            <a:ext cx="436626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0B350-C41F-46BD-B658-6E42B6D9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162050"/>
            <a:ext cx="4061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分工设想：三类职责并行开展</a:t>
            </a:r>
          </a:p>
        </p:txBody>
      </p:sp>
      <p:sp>
        <p:nvSpPr>
          <p:cNvPr id="12" name="block:g8:section-0">
            <a:extLst xmlns:a="http://schemas.openxmlformats.org/drawingml/2006/main">
              <a:ext uri="{FF2B5EF4-FFF2-40B4-BE49-F238E27FC236}">
                <a16:creationId xmlns:a16="http://schemas.microsoft.com/office/drawing/2014/main" id="{E1B1237E-9F1C-45A0-8206-AF0AA5B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562100"/>
            <a:ext cx="4061460" cy="930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g8:section-1">
            <a:extLst xmlns:a="http://schemas.openxmlformats.org/drawingml/2006/main">
              <a:ext uri="{FF2B5EF4-FFF2-40B4-BE49-F238E27FC236}">
                <a16:creationId xmlns:a16="http://schemas.microsoft.com/office/drawing/2014/main" id="{62F3899C-D598-40D0-95C9-84455A0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2607197"/>
            <a:ext cx="4061460" cy="930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block:g8:section-2">
            <a:extLst xmlns:a="http://schemas.openxmlformats.org/drawingml/2006/main">
              <a:ext uri="{FF2B5EF4-FFF2-40B4-BE49-F238E27FC236}">
                <a16:creationId xmlns:a16="http://schemas.microsoft.com/office/drawing/2014/main" id="{9AFD8228-0424-4A16-80F0-CBC4D46A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3652295"/>
            <a:ext cx="4061460" cy="930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5" name="block:g8:section-3">
            <a:extLst xmlns:a="http://schemas.openxmlformats.org/drawingml/2006/main">
              <a:ext uri="{FF2B5EF4-FFF2-40B4-BE49-F238E27FC236}">
                <a16:creationId xmlns:a16="http://schemas.microsoft.com/office/drawing/2014/main" id="{4C73C918-D67B-4957-87EC-19AB6F4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4697392"/>
            <a:ext cx="4061460" cy="884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7FAF1-862E-49E0-AA23-8BBF420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1722699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4D50E-B28A-4606-903C-45987DAF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043691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记录交接和工时。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25BD2-980B-4544-ACD1-E0BD16A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767796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物资管理员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D4217-D4B4-4E47-811B-23C6F32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3088789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维护状态清单。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CB261-82E1-4050-8DDD-E7B7F85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3812894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协调员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C1A4F-CB18-4A58-A5CC-803B0E67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4133886"/>
            <a:ext cx="390906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每周汇总未结异常。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C2304-4F4B-407A-ACEE-77D133D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4853771"/>
            <a:ext cx="3909060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三类职责持续开展，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不是三个先后阶段。</a:t>
            </a:r>
          </a:p>
        </p:txBody>
      </p:sp>
    </p:spTree>
    <p:extLst>
      <p:ext uri="{BB962C8B-B14F-4D97-AF65-F5344CB8AC3E}">
        <p14:creationId xmlns:p14="http://schemas.microsoft.com/office/powerpoint/2010/main" val="7391960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0AB68-859B-4A44-834C-6B0BA1E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先确认值班责任与记录机制，本次请协调会确认是否开展及可投入值班时间</a:t>
            </a:r>
          </a:p>
        </p:txBody>
      </p:sp>
      <p:sp>
        <p:nvSpPr>
          <p:cNvPr id="2" name="region:g9">
            <a:extLst xmlns:a="http://schemas.openxmlformats.org/drawingml/2006/main">
              <a:ext uri="{FF2B5EF4-FFF2-40B4-BE49-F238E27FC236}">
                <a16:creationId xmlns:a16="http://schemas.microsoft.com/office/drawing/2014/main" id="{89568EA3-A9B2-4D5A-902A-BCCD70E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953991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FFC2D-30C9-44F3-8A89-96591A29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6491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继续试点的条件</a:t>
            </a:r>
          </a:p>
        </p:txBody>
      </p:sp>
      <p:sp>
        <p:nvSpPr>
          <p:cNvPr id="4" name="block:g9:section-0">
            <a:extLst xmlns:a="http://schemas.openxmlformats.org/drawingml/2006/main">
              <a:ext uri="{FF2B5EF4-FFF2-40B4-BE49-F238E27FC236}">
                <a16:creationId xmlns:a16="http://schemas.microsoft.com/office/drawing/2014/main" id="{25136E6F-FEB1-47D1-96D0-5F38B64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49191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9:section-1">
            <a:extLst xmlns:a="http://schemas.openxmlformats.org/drawingml/2006/main">
              <a:ext uri="{FF2B5EF4-FFF2-40B4-BE49-F238E27FC236}">
                <a16:creationId xmlns:a16="http://schemas.microsoft.com/office/drawing/2014/main" id="{269A93D3-4626-4720-8BCC-AC48D616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1512"/>
            <a:ext cx="5649191" cy="1455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9:section-2">
            <a:extLst xmlns:a="http://schemas.openxmlformats.org/drawingml/2006/main">
              <a:ext uri="{FF2B5EF4-FFF2-40B4-BE49-F238E27FC236}">
                <a16:creationId xmlns:a16="http://schemas.microsoft.com/office/drawing/2014/main" id="{56895D2D-5DD8-419D-8C12-47D383B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0924"/>
            <a:ext cx="5649191" cy="880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5B453-6D85-4C65-A67F-1B7582DC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906"/>
            <a:ext cx="5496791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必须有明确值班责任人、可追溯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的借还记录及异常接手机制。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52D98-D9E3-4649-B637-0B5890A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3318"/>
            <a:ext cx="5496791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具备条件也不等于批准扩大覆盖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范围，扩大前仍需单独评估人力。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6EA0C-F4B7-4300-BF54-3E2883A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8412"/>
            <a:ext cx="5496791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下一轮结束时根据记录决定继续、调整或暂停。</a:t>
            </a:r>
          </a:p>
        </p:txBody>
      </p:sp>
      <p:sp>
        <p:nvSpPr>
          <p:cNvPr id="10" name="region:g10">
            <a:extLst xmlns:a="http://schemas.openxmlformats.org/drawingml/2006/main">
              <a:ext uri="{FF2B5EF4-FFF2-40B4-BE49-F238E27FC236}">
                <a16:creationId xmlns:a16="http://schemas.microsoft.com/office/drawing/2014/main" id="{3FE2576E-14AF-460D-BB44-8E73039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91" y="1047750"/>
            <a:ext cx="4961659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6AE0-2028-4450-A7B0-A45B177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1162050"/>
            <a:ext cx="46568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本次请求</a:t>
            </a:r>
          </a:p>
        </p:txBody>
      </p:sp>
      <p:sp>
        <p:nvSpPr>
          <p:cNvPr id="12" name="block:g10:section-0">
            <a:extLst xmlns:a="http://schemas.openxmlformats.org/drawingml/2006/main">
              <a:ext uri="{FF2B5EF4-FFF2-40B4-BE49-F238E27FC236}">
                <a16:creationId xmlns:a16="http://schemas.microsoft.com/office/drawing/2014/main" id="{FE3CF582-ABFA-4C71-BB86-A998019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1562100"/>
            <a:ext cx="4656859" cy="2432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block:g10:section-1">
            <a:extLst xmlns:a="http://schemas.openxmlformats.org/drawingml/2006/main">
              <a:ext uri="{FF2B5EF4-FFF2-40B4-BE49-F238E27FC236}">
                <a16:creationId xmlns:a16="http://schemas.microsoft.com/office/drawing/2014/main" id="{E5F11866-BC99-4E4D-8FEB-39E23CC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991" y="4109179"/>
            <a:ext cx="4656859" cy="14724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A446-A3A1-42B1-8CCB-1AD1BD4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2492739"/>
            <a:ext cx="4504459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请求协调会确认是否开展下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一轮，以及可投入的值班时间。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0B5FD-17A1-44CB-BFD8-A80AD1C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191" y="4702539"/>
            <a:ext cx="4504459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不请求立即全校推广。</a:t>
            </a:r>
          </a:p>
        </p:txBody>
      </p:sp>
    </p:spTree>
    <p:extLst>
      <p:ext uri="{BB962C8B-B14F-4D97-AF65-F5344CB8AC3E}">
        <p14:creationId xmlns:p14="http://schemas.microsoft.com/office/powerpoint/2010/main" val="531821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2026-09-17T00:24:49.0700000Z</dcterms:created>
  <dcterms:modified xsi:type="dcterms:W3CDTF">2026-09-17T00:24:49.0700000Z</dcterms:modified>
</coreProperties>
</file>