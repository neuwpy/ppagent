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352b5f4a4542f3" /><Relationship Type="http://schemas.openxmlformats.org/officeDocument/2006/relationships/extended-properties" Target="/docProps/app.xml" Id="Rbe73e99def5541a1" /><Relationship Type="http://schemas.openxmlformats.org/officeDocument/2006/relationships/officeDocument" Target="/ppt/presentation.xml" Id="R02f554e8490649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86eb4337104bce"/>
  </p:sldMasterIdLst>
  <p:notesMasterIdLst>
    <p:notesMasterId xmlns:r="http://schemas.openxmlformats.org/officeDocument/2006/relationships" r:id="R81f9bed9ab9f4190"/>
  </p:notesMasterIdLst>
  <p:sldIdLst>
    <p:sldId xmlns:r="http://schemas.openxmlformats.org/officeDocument/2006/relationships" id="256" r:id="Re346d25ea4d84b7a"/>
    <p:sldId xmlns:r="http://schemas.openxmlformats.org/officeDocument/2006/relationships" id="257" r:id="Rb65d8674e08f474b"/>
    <p:sldId xmlns:r="http://schemas.openxmlformats.org/officeDocument/2006/relationships" id="258" r:id="Rd37273f34a3949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bc0c1b3d0e45a6" /><Relationship Type="http://schemas.openxmlformats.org/officeDocument/2006/relationships/slideMaster" Target="/ppt/slideMasters/slideMaster1.xml" Id="R4986eb4337104bce" /><Relationship Type="http://schemas.openxmlformats.org/officeDocument/2006/relationships/notesMaster" Target="/ppt/notesMasters/notesMaster1.xml" Id="R81f9bed9ab9f4190" /><Relationship Type="http://schemas.openxmlformats.org/officeDocument/2006/relationships/presProps" Target="/ppt/presProps.xml" Id="Re9731bd8c7614b56" /><Relationship Type="http://schemas.openxmlformats.org/officeDocument/2006/relationships/tableStyles" Target="/ppt/tableStyles.xml" Id="R787b2639dfed4f46" /><Relationship Type="http://schemas.openxmlformats.org/officeDocument/2006/relationships/slide" Target="/ppt/slides/slide1.xml" Id="Re346d25ea4d84b7a" /><Relationship Type="http://schemas.openxmlformats.org/officeDocument/2006/relationships/slide" Target="/ppt/slides/slide2.xml" Id="Rb65d8674e08f474b" /><Relationship Type="http://schemas.openxmlformats.org/officeDocument/2006/relationships/slide" Target="/ppt/slides/slide3.xml" Id="Rd37273f34a3949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ca0a1fdaee4a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70970e14ea44a0" /><Relationship Type="http://schemas.openxmlformats.org/officeDocument/2006/relationships/notesMaster" Target="/ppt/notesMasters/notesMaster1.xml" Id="R481f59fc50d849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4eb9893cf443d0" /><Relationship Type="http://schemas.openxmlformats.org/officeDocument/2006/relationships/notesMaster" Target="/ppt/notesMasters/notesMaster1.xml" Id="R6e4a2d1227d64e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f3cedf66a944cf" /><Relationship Type="http://schemas.openxmlformats.org/officeDocument/2006/relationships/notesMaster" Target="/ppt/notesMasters/notesMaster1.xml" Id="R59a854d14a5647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模拟稿：大学共享实验平台预约改进试点（本页内容与数字均为虚构测试材料）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第一页保留阶段顺序、门禁条件、20 笔抽查的重叠限制及授权暂停边界。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模拟稿：大学共享实验平台预约改进试点（本页内容与数字均为虚构测试材料）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第二页区分申请字段机制假设、设备时段独立路径与访谈线索，保留可验证台账字段。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模拟稿：大学共享实验平台预约改进试点（本页内容与数字均为虚构测试材料）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第三页保持投入方式、可追溯性、启动条件三维对应，并明确职责不是先后审批三级。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871429de14f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d64a5a99f644c9" /><Relationship Type="http://schemas.openxmlformats.org/officeDocument/2006/relationships/slideLayout" Target="/ppt/slideLayouts/slideLayout1.xml" Id="R43719fbe5f42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719fbe5f42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9ca0c0ce54f6a" /><Relationship Type="http://schemas.openxmlformats.org/officeDocument/2006/relationships/notesSlide" Target="/ppt/notesSlides/notesSlide1.xml" Id="R54f120005dfb43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41f7c9d7f451e" /><Relationship Type="http://schemas.openxmlformats.org/officeDocument/2006/relationships/notesSlide" Target="/ppt/notesSlides/notesSlide2.xml" Id="Rfc0c33210d0e4e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5359f5dd64e80" /><Relationship Type="http://schemas.openxmlformats.org/officeDocument/2006/relationships/notesSlide" Target="/ppt/notesSlides/notesSlide3.xml" Id="Rf1192a85b1524b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ge-1">
            <a:extLst xmlns:a="http://schemas.openxmlformats.org/drawingml/2006/main">
              <a:ext uri="{FF2B5EF4-FFF2-40B4-BE49-F238E27FC236}">
                <a16:creationId xmlns:a16="http://schemas.microsoft.com/office/drawing/2014/main" id="{DBEF4D19-86E7-4F3B-9DFD-8FF03E33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kicker-1">
            <a:extLst xmlns:a="http://schemas.openxmlformats.org/drawingml/2006/main">
              <a:ext uri="{FF2B5EF4-FFF2-40B4-BE49-F238E27FC236}">
                <a16:creationId xmlns:a16="http://schemas.microsoft.com/office/drawing/2014/main" id="{28F61827-4A0B-4795-AB26-D66869B1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预约试点｜推进边界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37DDE972-9F24-4F9B-B580-41C5A952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858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试点应分阶段推进，扩围以记录完整和责任确认为条件</a:t>
            </a:r>
          </a:p>
        </p:txBody>
      </p:sp>
      <p:sp>
        <p:nvSpPr>
          <p:cNvPr id="4" name="title-rule-1">
            <a:extLst xmlns:a="http://schemas.openxmlformats.org/drawingml/2006/main">
              <a:ext uri="{FF2B5EF4-FFF2-40B4-BE49-F238E27FC236}">
                <a16:creationId xmlns:a16="http://schemas.microsoft.com/office/drawing/2014/main" id="{79B6A150-9E8C-40AD-9551-D7C55E90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lead-1">
            <a:extLst xmlns:a="http://schemas.openxmlformats.org/drawingml/2006/main">
              <a:ext uri="{FF2B5EF4-FFF2-40B4-BE49-F238E27FC236}">
                <a16:creationId xmlns:a16="http://schemas.microsoft.com/office/drawing/2014/main" id="{CA14A49A-0BA6-444B-AAB2-F93AA9E2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首轮先验证记录和责任能否执行；目前没有等待时间改善的证据。</a:t>
            </a:r>
          </a:p>
        </p:txBody>
      </p:sp>
      <p:sp>
        <p:nvSpPr>
          <p:cNvPr id="6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AB37836D-A0AC-4B17-93DB-CDEA5FB7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1"/>
            </a:solidFill>
            <a:prstDash val="solid"/>
          </a:ln>
        </p:spPr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07B97E59-E5B1-4E19-BFFB-8EA5A8C5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436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模拟测试材料｜不代表东北大学实际情况</a:t>
            </a:r>
          </a:p>
        </p:txBody>
      </p:sp>
      <p:sp>
        <p:nvSpPr>
          <p:cNvPr id="8" name="footer-no-1">
            <a:extLst xmlns:a="http://schemas.openxmlformats.org/drawingml/2006/main">
              <a:ext uri="{FF2B5EF4-FFF2-40B4-BE49-F238E27FC236}">
                <a16:creationId xmlns:a16="http://schemas.microsoft.com/office/drawing/2014/main" id="{67B38015-4F66-4856-941C-8B2047E3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evidence-box-1">
            <a:extLst xmlns:a="http://schemas.openxmlformats.org/drawingml/2006/main">
              <a:ext uri="{FF2B5EF4-FFF2-40B4-BE49-F238E27FC236}">
                <a16:creationId xmlns:a16="http://schemas.microsoft.com/office/drawing/2014/main" id="{8713819E-4F7B-4E29-8E1B-D535EA18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3000375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5E1"/>
            </a:solidFill>
            <a:prstDash val="solid"/>
          </a:ln>
        </p:spPr>
      </p:sp>
      <p:sp>
        <p:nvSpPr>
          <p:cNvPr id="10" name="evidence-head-1">
            <a:extLst xmlns:a="http://schemas.openxmlformats.org/drawingml/2006/main">
              <a:ext uri="{FF2B5EF4-FFF2-40B4-BE49-F238E27FC236}">
                <a16:creationId xmlns:a16="http://schemas.microsoft.com/office/drawing/2014/main" id="{5DB1821D-4439-4435-B7F2-52629CDD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81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旧预约抽查｜仅说明记录缺口</a:t>
            </a:r>
          </a:p>
        </p:txBody>
      </p:sp>
      <p:sp>
        <p:nvSpPr>
          <p:cNvPr id="11" name="evidence-big-1">
            <a:extLst xmlns:a="http://schemas.openxmlformats.org/drawingml/2006/main">
              <a:ext uri="{FF2B5EF4-FFF2-40B4-BE49-F238E27FC236}">
                <a16:creationId xmlns:a16="http://schemas.microsoft.com/office/drawing/2014/main" id="{014E828E-B059-4A8A-A1EB-17BC06B0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2" name="evidence-big-2">
            <a:extLst xmlns:a="http://schemas.openxmlformats.org/drawingml/2006/main">
              <a:ext uri="{FF2B5EF4-FFF2-40B4-BE49-F238E27FC236}">
                <a16:creationId xmlns:a16="http://schemas.microsoft.com/office/drawing/2014/main" id="{BD6F742B-41DA-4ACA-B785-917F9EDA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3850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3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1BF51EB0-5714-40D9-99E6-B2DF0D80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8142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缺审批时间</a:t>
            </a:r>
          </a:p>
        </p:txBody>
      </p:sp>
      <p:sp>
        <p:nvSpPr>
          <p:cNvPr id="14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3BF4BCBE-3EF4-45DA-82D9-1F1632E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8142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缺执行记录</a:t>
            </a:r>
          </a:p>
        </p:txBody>
      </p:sp>
      <p:sp>
        <p:nvSpPr>
          <p:cNvPr id="15" name="evidence-note-1">
            <a:extLst xmlns:a="http://schemas.openxmlformats.org/drawingml/2006/main">
              <a:ext uri="{FF2B5EF4-FFF2-40B4-BE49-F238E27FC236}">
                <a16:creationId xmlns:a16="http://schemas.microsoft.com/office/drawing/2014/main" id="{F047E0E7-C5D2-4571-A185-BB834F7A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两类可能重叠，不能相加为 12 笔问题预约。</a:t>
            </a:r>
          </a:p>
        </p:txBody>
      </p:sp>
      <p:sp>
        <p:nvSpPr>
          <p:cNvPr id="16" name="pause-box-1">
            <a:extLst xmlns:a="http://schemas.openxmlformats.org/drawingml/2006/main">
              <a:ext uri="{FF2B5EF4-FFF2-40B4-BE49-F238E27FC236}">
                <a16:creationId xmlns:a16="http://schemas.microsoft.com/office/drawing/2014/main" id="{79D14EE8-2AED-4E5B-A36F-9D34FCFC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3000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7C997"/>
            </a:solidFill>
            <a:prstDash val="solid"/>
          </a:ln>
        </p:spPr>
      </p:sp>
      <p:sp>
        <p:nvSpPr>
          <p:cNvPr id="17" name="pause-head-1">
            <a:extLst xmlns:a="http://schemas.openxmlformats.org/drawingml/2006/main">
              <a:ext uri="{FF2B5EF4-FFF2-40B4-BE49-F238E27FC236}">
                <a16:creationId xmlns:a16="http://schemas.microsoft.com/office/drawing/2014/main" id="{AEE4F20C-A52A-40B6-AF83-45D16414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24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7A2A"/>
                </a:solidFill>
                <a:latin typeface="Microsoft YaHei"/>
                <a:ea typeface="Microsoft YaHei"/>
                <a:cs typeface="Microsoft YaHei"/>
              </a:rPr>
              <a:t>授权问题出现时</a:t>
            </a:r>
          </a:p>
        </p:txBody>
      </p:sp>
      <p:sp>
        <p:nvSpPr>
          <p:cNvPr id="18" name="pause-body-1">
            <a:extLst xmlns:a="http://schemas.openxmlformats.org/drawingml/2006/main">
              <a:ext uri="{FF2B5EF4-FFF2-40B4-BE49-F238E27FC236}">
                <a16:creationId xmlns:a16="http://schemas.microsoft.com/office/drawing/2014/main" id="{A53E622E-D0EC-4797-AEDF-F97CE219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9115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暂停相关预约；授权确认后恢复，不停止全部试点。</a:t>
            </a:r>
          </a:p>
        </p:txBody>
      </p:sp>
      <p:sp>
        <p:nvSpPr>
          <p:cNvPr id="19" name="river-1">
            <a:extLst xmlns:a="http://schemas.openxmlformats.org/drawingml/2006/main">
              <a:ext uri="{FF2B5EF4-FFF2-40B4-BE49-F238E27FC236}">
                <a16:creationId xmlns:a16="http://schemas.microsoft.com/office/drawing/2014/main" id="{E98A71A9-E7C1-459B-94E8-DFB9D0CD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14600"/>
            <a:ext cx="2190750" cy="1257300"/>
          </a:xfrm>
          <a:custGeom xmlns:a="http://schemas.openxmlformats.org/drawingml/2006/main">
            <a:pathLst>
              <a:path w="2190750" h="1257300">
                <a:moveTo>
                  <a:pt x="0" y="228600"/>
                </a:moveTo>
                <a:lnTo>
                  <a:pt x="1962150" y="228600"/>
                </a:lnTo>
                <a:lnTo>
                  <a:pt x="2476500" y="1028700"/>
                </a:lnTo>
                <a:lnTo>
                  <a:pt x="228600" y="1028700"/>
                </a:lnTo>
                <a:close/>
              </a:path>
            </a:pathLst>
          </a:custGeom>
          <a:solidFill xmlns:a="http://schemas.openxmlformats.org/drawingml/2006/main">
            <a:srgbClr val="DDE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iver-title-1">
            <a:extLst xmlns:a="http://schemas.openxmlformats.org/drawingml/2006/main">
              <a:ext uri="{FF2B5EF4-FFF2-40B4-BE49-F238E27FC236}">
                <a16:creationId xmlns:a16="http://schemas.microsoft.com/office/drawing/2014/main" id="{1F8E07A0-24F2-4EBC-9A7A-4DBBE9EB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21" name="river-body-1">
            <a:extLst xmlns:a="http://schemas.openxmlformats.org/drawingml/2006/main">
              <a:ext uri="{FF2B5EF4-FFF2-40B4-BE49-F238E27FC236}">
                <a16:creationId xmlns:a16="http://schemas.microsoft.com/office/drawing/2014/main" id="{8AA1F54F-F252-4EB1-A627-65A8F842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责任名单</a:t>
            </a:r>
          </a:p>
          <a:p xmlns:a="http://schemas.openxmlformats.org/drawingml/2006/main">
            <a:pPr algn="ctr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记录清单</a:t>
            </a:r>
          </a:p>
        </p:txBody>
      </p:sp>
      <p:sp>
        <p:nvSpPr>
          <p:cNvPr id="22" name="river-2">
            <a:extLst xmlns:a="http://schemas.openxmlformats.org/drawingml/2006/main">
              <a:ext uri="{FF2B5EF4-FFF2-40B4-BE49-F238E27FC236}">
                <a16:creationId xmlns:a16="http://schemas.microsoft.com/office/drawing/2014/main" id="{36C79541-2C44-4B1C-8F1D-D4049AEF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514600"/>
            <a:ext cx="2476500" cy="1257300"/>
          </a:xfrm>
          <a:custGeom xmlns:a="http://schemas.openxmlformats.org/drawingml/2006/main">
            <a:pathLst>
              <a:path w="2476500" h="1257300">
                <a:moveTo>
                  <a:pt x="0" y="228600"/>
                </a:moveTo>
                <a:lnTo>
                  <a:pt x="2247900" y="228600"/>
                </a:lnTo>
                <a:lnTo>
                  <a:pt x="2714625" y="1028700"/>
                </a:lnTo>
                <a:lnTo>
                  <a:pt x="228600" y="1028700"/>
                </a:lnTo>
                <a:close/>
              </a:path>
            </a:pathLst>
          </a:custGeom>
          <a:solidFill xmlns:a="http://schemas.openxmlformats.org/drawingml/2006/main">
            <a:srgbClr val="B9D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iver-title-2">
            <a:extLst xmlns:a="http://schemas.openxmlformats.org/drawingml/2006/main">
              <a:ext uri="{FF2B5EF4-FFF2-40B4-BE49-F238E27FC236}">
                <a16:creationId xmlns:a16="http://schemas.microsoft.com/office/drawing/2014/main" id="{245484C6-E0B7-4120-999B-B673F19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146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小范围试行</a:t>
            </a:r>
          </a:p>
        </p:txBody>
      </p:sp>
      <p:sp>
        <p:nvSpPr>
          <p:cNvPr id="24" name="river-body-2">
            <a:extLst xmlns:a="http://schemas.openxmlformats.org/drawingml/2006/main">
              <a:ext uri="{FF2B5EF4-FFF2-40B4-BE49-F238E27FC236}">
                <a16:creationId xmlns:a16="http://schemas.microsoft.com/office/drawing/2014/main" id="{B9E900E9-FF51-4369-90D1-A874E564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908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两间自愿实验室</a:t>
            </a:r>
          </a:p>
          <a:p xmlns:a="http://schemas.openxmlformats.org/drawingml/2006/main">
            <a:pPr algn="ctr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预约台账可追溯</a:t>
            </a:r>
          </a:p>
        </p:txBody>
      </p:sp>
      <p:sp>
        <p:nvSpPr>
          <p:cNvPr id="25" name="river-3">
            <a:extLst xmlns:a="http://schemas.openxmlformats.org/drawingml/2006/main">
              <a:ext uri="{FF2B5EF4-FFF2-40B4-BE49-F238E27FC236}">
                <a16:creationId xmlns:a16="http://schemas.microsoft.com/office/drawing/2014/main" id="{E6255F04-3A27-4CAD-9A6D-0A3B9E4A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514600"/>
            <a:ext cx="2714625" cy="1257300"/>
          </a:xfrm>
          <a:custGeom xmlns:a="http://schemas.openxmlformats.org/drawingml/2006/main">
            <a:pathLst>
              <a:path w="2714625" h="1257300">
                <a:moveTo>
                  <a:pt x="0" y="228600"/>
                </a:moveTo>
                <a:lnTo>
                  <a:pt x="2486025" y="228600"/>
                </a:lnTo>
                <a:lnTo>
                  <a:pt x="1809750" y="1028700"/>
                </a:lnTo>
                <a:lnTo>
                  <a:pt x="228600" y="1028700"/>
                </a:lnTo>
                <a:close/>
              </a:path>
            </a:pathLst>
          </a:custGeom>
          <a:solidFill xmlns:a="http://schemas.openxmlformats.org/drawingml/2006/main">
            <a:srgbClr val="86A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iver-title-3">
            <a:extLst xmlns:a="http://schemas.openxmlformats.org/drawingml/2006/main">
              <a:ext uri="{FF2B5EF4-FFF2-40B4-BE49-F238E27FC236}">
                <a16:creationId xmlns:a16="http://schemas.microsoft.com/office/drawing/2014/main" id="{863BD931-2AF1-478E-B71C-4A8B088D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27" name="river-body-3">
            <a:extLst xmlns:a="http://schemas.openxmlformats.org/drawingml/2006/main">
              <a:ext uri="{FF2B5EF4-FFF2-40B4-BE49-F238E27FC236}">
                <a16:creationId xmlns:a16="http://schemas.microsoft.com/office/drawing/2014/main" id="{FDAECF55-12B8-4FCC-B394-620E7558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9087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完整性＋责任确认</a:t>
            </a:r>
          </a:p>
          <a:p xmlns:a="http://schemas.openxmlformats.org/drawingml/2006/main">
            <a:pPr algn="ctr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满足后才讨论扩围</a:t>
            </a:r>
          </a:p>
        </p:txBody>
      </p:sp>
      <p:sp>
        <p:nvSpPr>
          <p:cNvPr id="28" name="gate-1">
            <a:extLst xmlns:a="http://schemas.openxmlformats.org/drawingml/2006/main">
              <a:ext uri="{FF2B5EF4-FFF2-40B4-BE49-F238E27FC236}">
                <a16:creationId xmlns:a16="http://schemas.microsoft.com/office/drawing/2014/main" id="{A612985B-8715-4883-A637-6C1C1EC9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847975"/>
            <a:ext cx="133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7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gate-label-1">
            <a:extLst xmlns:a="http://schemas.openxmlformats.org/drawingml/2006/main">
              <a:ext uri="{FF2B5EF4-FFF2-40B4-BE49-F238E27FC236}">
                <a16:creationId xmlns:a16="http://schemas.microsoft.com/office/drawing/2014/main" id="{82A4B21F-5CE9-43A0-A8BB-B75C698B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71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30" name="gate-sub-1">
            <a:extLst xmlns:a="http://schemas.openxmlformats.org/drawingml/2006/main">
              <a:ext uri="{FF2B5EF4-FFF2-40B4-BE49-F238E27FC236}">
                <a16:creationId xmlns:a16="http://schemas.microsoft.com/office/drawing/2014/main" id="{0340DAEA-5A54-4E3E-AAFE-BE48D9A7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8195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未满足→补责任→复核</a:t>
            </a:r>
          </a:p>
        </p:txBody>
      </p:sp>
      <p:sp>
        <p:nvSpPr>
          <p:cNvPr id="31" name="gate-2">
            <a:extLst xmlns:a="http://schemas.openxmlformats.org/drawingml/2006/main">
              <a:ext uri="{FF2B5EF4-FFF2-40B4-BE49-F238E27FC236}">
                <a16:creationId xmlns:a16="http://schemas.microsoft.com/office/drawing/2014/main" id="{0AD5821E-A384-415E-ABD8-ABE409A2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2525" y="2847975"/>
            <a:ext cx="133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7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gate-label-2">
            <a:extLst xmlns:a="http://schemas.openxmlformats.org/drawingml/2006/main">
              <a:ext uri="{FF2B5EF4-FFF2-40B4-BE49-F238E27FC236}">
                <a16:creationId xmlns:a16="http://schemas.microsoft.com/office/drawing/2014/main" id="{96DE1292-3BF3-49F0-8358-D7E02820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3" name="gate-sub-2">
            <a:extLst xmlns:a="http://schemas.openxmlformats.org/drawingml/2006/main">
              <a:ext uri="{FF2B5EF4-FFF2-40B4-BE49-F238E27FC236}">
                <a16:creationId xmlns:a16="http://schemas.microsoft.com/office/drawing/2014/main" id="{B0BEDA0B-4D47-4FAC-850B-1AB87399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195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未满足→补记录→复核</a:t>
            </a:r>
          </a:p>
        </p:txBody>
      </p:sp>
      <p:sp>
        <p:nvSpPr>
          <p:cNvPr id="34" name="river-direction">
            <a:extLst xmlns:a="http://schemas.openxmlformats.org/drawingml/2006/main">
              <a:ext uri="{FF2B5EF4-FFF2-40B4-BE49-F238E27FC236}">
                <a16:creationId xmlns:a16="http://schemas.microsoft.com/office/drawing/2014/main" id="{7653FEEE-B46A-4EA2-A0F5-8FC46412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576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满足条件才向右推进</a:t>
            </a:r>
          </a:p>
        </p:txBody>
      </p:sp>
    </p:spTree>
    <p:extLst>
      <p:ext uri="{BB962C8B-B14F-4D97-AF65-F5344CB8AC3E}">
        <p14:creationId xmlns:p14="http://schemas.microsoft.com/office/powerpoint/2010/main" val="302172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3D4C8625-E056-4F06-BE61-001C83BC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649647BA-1B5D-4DA0-AE4E-85422723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预约试点｜机制与证据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12BCD014-393C-47C1-8126-063CB3DC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858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信息缺口可能拉长等待，试点需要保留验证链条</a:t>
            </a:r>
          </a:p>
        </p:txBody>
      </p:sp>
      <p:sp>
        <p:nvSpPr>
          <p:cNvPr id="4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BEB72F49-8D1E-4B65-BEEC-A5D5B0EF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lead-2">
            <a:extLst xmlns:a="http://schemas.openxmlformats.org/drawingml/2006/main">
              <a:ext uri="{FF2B5EF4-FFF2-40B4-BE49-F238E27FC236}">
                <a16:creationId xmlns:a16="http://schemas.microsoft.com/office/drawing/2014/main" id="{89461DF9-35F4-4F06-B8F2-D44A770D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待检验机制：申请字段不全 → 反复补充材料 → 审批等待增加。</a:t>
            </a:r>
          </a:p>
        </p:txBody>
      </p:sp>
      <p:sp>
        <p:nvSpPr>
          <p:cNvPr id="6" name="hypothesis-2">
            <a:extLst xmlns:a="http://schemas.openxmlformats.org/drawingml/2006/main">
              <a:ext uri="{FF2B5EF4-FFF2-40B4-BE49-F238E27FC236}">
                <a16:creationId xmlns:a16="http://schemas.microsoft.com/office/drawing/2014/main" id="{C957EF66-40CA-4FA6-BB93-DC7B3F7A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A2A"/>
                </a:solidFill>
                <a:latin typeface="Microsoft YaHei"/>
                <a:ea typeface="Microsoft YaHei"/>
                <a:cs typeface="Microsoft YaHei"/>
              </a:rPr>
              <a:t>这是机制假设，不是已证实因果。</a:t>
            </a:r>
          </a:p>
        </p:txBody>
      </p:sp>
      <p:sp>
        <p:nvSpPr>
          <p:cNvPr id="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2FDABF11-EAD5-4801-99DA-CEEF3377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1"/>
            </a:solidFill>
            <a:prstDash val="solid"/>
          </a:ln>
        </p:spPr>
      </p:sp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EBBCF350-262E-45C7-A327-05E4A24D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436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模拟测试材料｜不代表东北大学实际情况</a:t>
            </a:r>
          </a:p>
        </p:txBody>
      </p:sp>
      <p:sp>
        <p:nvSpPr>
          <p:cNvPr id="9" name="footer-no-2">
            <a:extLst xmlns:a="http://schemas.openxmlformats.org/drawingml/2006/main">
              <a:ext uri="{FF2B5EF4-FFF2-40B4-BE49-F238E27FC236}">
                <a16:creationId xmlns:a16="http://schemas.microsoft.com/office/drawing/2014/main" id="{5445CAB8-E75E-426C-BAD2-41114ACD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device-path">
            <a:extLst xmlns:a="http://schemas.openxmlformats.org/drawingml/2006/main">
              <a:ext uri="{FF2B5EF4-FFF2-40B4-BE49-F238E27FC236}">
                <a16:creationId xmlns:a16="http://schemas.microsoft.com/office/drawing/2014/main" id="{A7B47D14-FC22-4D47-968C-4E85A08D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476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7C997"/>
            </a:solidFill>
            <a:prstDash val="solid"/>
          </a:ln>
        </p:spPr>
      </p:sp>
      <p:sp>
        <p:nvSpPr>
          <p:cNvPr id="11" name="device-path-head">
            <a:extLst xmlns:a="http://schemas.openxmlformats.org/drawingml/2006/main">
              <a:ext uri="{FF2B5EF4-FFF2-40B4-BE49-F238E27FC236}">
                <a16:creationId xmlns:a16="http://schemas.microsoft.com/office/drawing/2014/main" id="{45C75CDC-FC3E-44E1-B311-274F8362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62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7A2A"/>
                </a:solidFill>
                <a:latin typeface="Microsoft YaHei"/>
                <a:ea typeface="Microsoft YaHei"/>
                <a:cs typeface="Microsoft YaHei"/>
              </a:rPr>
              <a:t>另一条路径：设备时段不足</a:t>
            </a:r>
          </a:p>
        </p:txBody>
      </p:sp>
      <p:sp>
        <p:nvSpPr>
          <p:cNvPr id="12" name="device-path-body">
            <a:extLst xmlns:a="http://schemas.openxmlformats.org/drawingml/2006/main">
              <a:ext uri="{FF2B5EF4-FFF2-40B4-BE49-F238E27FC236}">
                <a16:creationId xmlns:a16="http://schemas.microsoft.com/office/drawing/2014/main" id="{D9A7F6E6-4550-4385-ABC7-87E07D9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147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即使材料完整，也可能直接增加等待。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不归为申请字段问题。</a:t>
            </a:r>
          </a:p>
        </p:txBody>
      </p:sp>
      <p:sp>
        <p:nvSpPr>
          <p:cNvPr id="13" name="device-path-tag">
            <a:extLst xmlns:a="http://schemas.openxmlformats.org/drawingml/2006/main">
              <a:ext uri="{FF2B5EF4-FFF2-40B4-BE49-F238E27FC236}">
                <a16:creationId xmlns:a16="http://schemas.microsoft.com/office/drawing/2014/main" id="{5716446A-B57E-4F3A-B9DC-A0E41BAF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4672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7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7A2A"/>
                </a:solidFill>
                <a:latin typeface="Microsoft YaHei"/>
                <a:ea typeface="Microsoft YaHei"/>
                <a:cs typeface="Microsoft YaHei"/>
              </a:rPr>
              <a:t>独立路径</a:t>
            </a:r>
          </a:p>
        </p:txBody>
      </p:sp>
      <p:sp>
        <p:nvSpPr>
          <p:cNvPr id="14" name="validation-box-2">
            <a:extLst xmlns:a="http://schemas.openxmlformats.org/drawingml/2006/main">
              <a:ext uri="{FF2B5EF4-FFF2-40B4-BE49-F238E27FC236}">
                <a16:creationId xmlns:a16="http://schemas.microsoft.com/office/drawing/2014/main" id="{0A26616B-3D96-4A6A-AFCF-4267866B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00650"/>
            <a:ext cx="1076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5E1"/>
            </a:solidFill>
            <a:prstDash val="solid"/>
          </a:ln>
        </p:spPr>
      </p:sp>
      <p:sp>
        <p:nvSpPr>
          <p:cNvPr id="15" name="validation-head-2">
            <a:extLst xmlns:a="http://schemas.openxmlformats.org/drawingml/2006/main">
              <a:ext uri="{FF2B5EF4-FFF2-40B4-BE49-F238E27FC236}">
                <a16:creationId xmlns:a16="http://schemas.microsoft.com/office/drawing/2014/main" id="{3CBE049D-6D4D-471E-8CDC-B4D9A330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验证链条</a:t>
            </a:r>
          </a:p>
        </p:txBody>
      </p:sp>
      <p:sp>
        <p:nvSpPr>
          <p:cNvPr id="16" name="validation-body-2">
            <a:extLst xmlns:a="http://schemas.openxmlformats.org/drawingml/2006/main">
              <a:ext uri="{FF2B5EF4-FFF2-40B4-BE49-F238E27FC236}">
                <a16:creationId xmlns:a16="http://schemas.microsoft.com/office/drawing/2014/main" id="{FB2D4006-384E-4D90-8CAF-91D0E5E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台账分别记录首次提交、材料补齐、审批完成、执行时间，并记录设备等待；复盘时区分两种等待。访谈 4/6 与 3/6 只能作为观察线索，不能推出总体发生率。</a:t>
            </a:r>
          </a:p>
        </p:txBody>
      </p:sp>
      <p:sp>
        <p:nvSpPr>
          <p:cNvPr id="17" name="causal-ribbon">
            <a:extLst xmlns:a="http://schemas.openxmlformats.org/drawingml/2006/main">
              <a:ext uri="{FF2B5EF4-FFF2-40B4-BE49-F238E27FC236}">
                <a16:creationId xmlns:a16="http://schemas.microsoft.com/office/drawing/2014/main" id="{8A46627A-EF9E-4A66-8007-24C6C8E5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90850"/>
            <a:ext cx="7239000" cy="1638300"/>
          </a:xfrm>
          <a:custGeom xmlns:a="http://schemas.openxmlformats.org/drawingml/2006/main">
            <a:pathLst>
              <a:path w="7239000" h="1638300">
                <a:moveTo>
                  <a:pt x="0" y="1162050"/>
                </a:moveTo>
                <a:lnTo>
                  <a:pt x="6286500" y="0"/>
                </a:lnTo>
                <a:lnTo>
                  <a:pt x="7239000" y="342900"/>
                </a:lnTo>
                <a:lnTo>
                  <a:pt x="857250" y="1638300"/>
                </a:lnTo>
                <a:close/>
              </a:path>
            </a:pathLst>
          </a:custGeom>
          <a:solidFill xmlns:a="http://schemas.openxmlformats.org/drawingml/2006/main">
            <a:srgbClr val="D8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usal-ribbon-top">
            <a:extLst xmlns:a="http://schemas.openxmlformats.org/drawingml/2006/main">
              <a:ext uri="{FF2B5EF4-FFF2-40B4-BE49-F238E27FC236}">
                <a16:creationId xmlns:a16="http://schemas.microsoft.com/office/drawing/2014/main" id="{6E24FCFD-BF30-4B6C-AEB0-6921DD68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90850"/>
            <a:ext cx="7239000" cy="1638300"/>
          </a:xfrm>
          <a:custGeom xmlns:a="http://schemas.openxmlformats.org/drawingml/2006/main">
            <a:pathLst>
              <a:path w="7239000" h="1638300">
                <a:moveTo>
                  <a:pt x="0" y="1162050"/>
                </a:moveTo>
                <a:lnTo>
                  <a:pt x="6286500" y="0"/>
                </a:lnTo>
                <a:lnTo>
                  <a:pt x="6648450" y="171450"/>
                </a:lnTo>
                <a:lnTo>
                  <a:pt x="342900" y="1352550"/>
                </a:lnTo>
                <a:close/>
              </a:path>
            </a:pathLst>
          </a:custGeom>
          <a:solidFill xmlns:a="http://schemas.openxmlformats.org/drawingml/2006/main">
            <a:srgbClr val="93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sal-node-1">
            <a:extLst xmlns:a="http://schemas.openxmlformats.org/drawingml/2006/main">
              <a:ext uri="{FF2B5EF4-FFF2-40B4-BE49-F238E27FC236}">
                <a16:creationId xmlns:a16="http://schemas.microsoft.com/office/drawing/2014/main" id="{D6FD7402-8A15-407A-B792-32492473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24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315F9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causal-node-title-1">
            <a:extLst xmlns:a="http://schemas.openxmlformats.org/drawingml/2006/main">
              <a:ext uri="{FF2B5EF4-FFF2-40B4-BE49-F238E27FC236}">
                <a16:creationId xmlns:a16="http://schemas.microsoft.com/office/drawing/2014/main" id="{25234B76-8975-41C3-9474-B2895B71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386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反复追问</a:t>
            </a:r>
          </a:p>
        </p:txBody>
      </p:sp>
      <p:sp>
        <p:nvSpPr>
          <p:cNvPr id="21" name="causal-node-body-1">
            <a:extLst xmlns:a="http://schemas.openxmlformats.org/drawingml/2006/main">
              <a:ext uri="{FF2B5EF4-FFF2-40B4-BE49-F238E27FC236}">
                <a16:creationId xmlns:a16="http://schemas.microsoft.com/office/drawing/2014/main" id="{A0A3CB93-E9B4-4538-A6B4-D587F9A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862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管理员补充样品条件</a:t>
            </a:r>
          </a:p>
        </p:txBody>
      </p:sp>
      <p:sp>
        <p:nvSpPr>
          <p:cNvPr id="22" name="causal-link-1">
            <a:extLst xmlns:a="http://schemas.openxmlformats.org/drawingml/2006/main">
              <a:ext uri="{FF2B5EF4-FFF2-40B4-BE49-F238E27FC236}">
                <a16:creationId xmlns:a16="http://schemas.microsoft.com/office/drawing/2014/main" id="{441AC97D-0B2C-498D-B0AA-D9E945FF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467100"/>
            <a:ext cx="11906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A73"/>
            </a:solidFill>
            <a:prstDash val="solid"/>
          </a:ln>
        </p:spPr>
      </p:sp>
      <p:sp>
        <p:nvSpPr>
          <p:cNvPr id="23" name="causal-node-2">
            <a:extLst xmlns:a="http://schemas.openxmlformats.org/drawingml/2006/main">
              <a:ext uri="{FF2B5EF4-FFF2-40B4-BE49-F238E27FC236}">
                <a16:creationId xmlns:a16="http://schemas.microsoft.com/office/drawing/2014/main" id="{F9A1E94E-EFC1-4330-B2F8-2EE53DD3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194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315F9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usal-node-title-2">
            <a:extLst xmlns:a="http://schemas.openxmlformats.org/drawingml/2006/main">
              <a:ext uri="{FF2B5EF4-FFF2-40B4-BE49-F238E27FC236}">
                <a16:creationId xmlns:a16="http://schemas.microsoft.com/office/drawing/2014/main" id="{AD380D4D-D931-4D88-88F2-1AE315A6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338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材料补齐</a:t>
            </a:r>
          </a:p>
        </p:txBody>
      </p:sp>
      <p:sp>
        <p:nvSpPr>
          <p:cNvPr id="25" name="causal-node-body-2">
            <a:extLst xmlns:a="http://schemas.openxmlformats.org/drawingml/2006/main">
              <a:ext uri="{FF2B5EF4-FFF2-40B4-BE49-F238E27FC236}">
                <a16:creationId xmlns:a16="http://schemas.microsoft.com/office/drawing/2014/main" id="{1F7799E9-CB63-46C9-BA55-0E716CA1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814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补齐后才能进入审批</a:t>
            </a:r>
          </a:p>
        </p:txBody>
      </p:sp>
      <p:sp>
        <p:nvSpPr>
          <p:cNvPr id="26" name="causal-link-2">
            <a:extLst xmlns:a="http://schemas.openxmlformats.org/drawingml/2006/main">
              <a:ext uri="{FF2B5EF4-FFF2-40B4-BE49-F238E27FC236}">
                <a16:creationId xmlns:a16="http://schemas.microsoft.com/office/drawing/2014/main" id="{BF4230ED-8C78-4597-AEAF-13330148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11906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A73"/>
            </a:solidFill>
            <a:prstDash val="solid"/>
          </a:ln>
        </p:spPr>
      </p:sp>
      <p:sp>
        <p:nvSpPr>
          <p:cNvPr id="27" name="causal-node-3">
            <a:extLst xmlns:a="http://schemas.openxmlformats.org/drawingml/2006/main">
              <a:ext uri="{FF2B5EF4-FFF2-40B4-BE49-F238E27FC236}">
                <a16:creationId xmlns:a16="http://schemas.microsoft.com/office/drawing/2014/main" id="{DA87D2B3-F2AD-46C3-9277-57732ED2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956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315F9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causal-node-title-3">
            <a:extLst xmlns:a="http://schemas.openxmlformats.org/drawingml/2006/main">
              <a:ext uri="{FF2B5EF4-FFF2-40B4-BE49-F238E27FC236}">
                <a16:creationId xmlns:a16="http://schemas.microsoft.com/office/drawing/2014/main" id="{401CF073-FDB9-4ADC-8843-C84B135F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099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等待增加</a:t>
            </a:r>
          </a:p>
        </p:txBody>
      </p:sp>
      <p:sp>
        <p:nvSpPr>
          <p:cNvPr id="29" name="causal-node-body-3">
            <a:extLst xmlns:a="http://schemas.openxmlformats.org/drawingml/2006/main">
              <a:ext uri="{FF2B5EF4-FFF2-40B4-BE49-F238E27FC236}">
                <a16:creationId xmlns:a16="http://schemas.microsoft.com/office/drawing/2014/main" id="{67564E34-25C8-489F-A71E-CF4E1064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5762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待检验机制假设</a:t>
            </a:r>
          </a:p>
        </p:txBody>
      </p:sp>
      <p:sp>
        <p:nvSpPr>
          <p:cNvPr id="30" name="causal-start">
            <a:extLst xmlns:a="http://schemas.openxmlformats.org/drawingml/2006/main">
              <a:ext uri="{FF2B5EF4-FFF2-40B4-BE49-F238E27FC236}">
                <a16:creationId xmlns:a16="http://schemas.microsoft.com/office/drawing/2014/main" id="{0A668A58-5D8E-4216-8405-4DA700DF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57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申请字段不全</a:t>
            </a:r>
          </a:p>
        </p:txBody>
      </p:sp>
      <p:sp>
        <p:nvSpPr>
          <p:cNvPr id="31" name="causal-start-note">
            <a:extLst xmlns:a="http://schemas.openxmlformats.org/drawingml/2006/main">
              <a:ext uri="{FF2B5EF4-FFF2-40B4-BE49-F238E27FC236}">
                <a16:creationId xmlns:a16="http://schemas.microsoft.com/office/drawing/2014/main" id="{0646B6A1-8AA1-4D19-B218-2EBAA30B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705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机制假设起点</a:t>
            </a:r>
          </a:p>
        </p:txBody>
      </p:sp>
    </p:spTree>
    <p:extLst>
      <p:ext uri="{BB962C8B-B14F-4D97-AF65-F5344CB8AC3E}">
        <p14:creationId xmlns:p14="http://schemas.microsoft.com/office/powerpoint/2010/main" val="1431376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age-3">
            <a:extLst xmlns:a="http://schemas.openxmlformats.org/drawingml/2006/main">
              <a:ext uri="{FF2B5EF4-FFF2-40B4-BE49-F238E27FC236}">
                <a16:creationId xmlns:a16="http://schemas.microsoft.com/office/drawing/2014/main" id="{CED88E98-EE03-48DC-88CC-E76EA9C4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8FBABB3E-FD8C-42B2-A9A4-31181F06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预约试点｜方案取舍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1167BEC-AFE9-42D8-8F5E-56BC9B78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858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先规范新增记录更易启动，但必须接受历史覆盖不完整</a:t>
            </a:r>
          </a:p>
        </p:txBody>
      </p:sp>
      <p:sp>
        <p:nvSpPr>
          <p:cNvPr id="4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7D016B4E-3049-4A88-B9D0-BA0C35C1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lead-3">
            <a:extLst xmlns:a="http://schemas.openxmlformats.org/drawingml/2006/main">
              <a:ext uri="{FF2B5EF4-FFF2-40B4-BE49-F238E27FC236}">
                <a16:creationId xmlns:a16="http://schemas.microsoft.com/office/drawing/2014/main" id="{CEC5E195-7C7A-44A3-AD30-29585C92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两方案按同一三个维度比较，再把建议、代价和职责落到执行。</a:t>
            </a:r>
          </a:p>
        </p:txBody>
      </p:sp>
      <p:sp>
        <p:nvSpPr>
          <p:cNvPr id="6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6C6E8EE-B440-4C78-AF20-3ADDA6F6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1"/>
            </a:solidFill>
            <a:prstDash val="solid"/>
          </a:ln>
        </p:spPr>
      </p:sp>
      <p:sp>
        <p:nvSpPr>
          <p:cNvPr id="7" name="footer-3">
            <a:extLst xmlns:a="http://schemas.openxmlformats.org/drawingml/2006/main">
              <a:ext uri="{FF2B5EF4-FFF2-40B4-BE49-F238E27FC236}">
                <a16:creationId xmlns:a16="http://schemas.microsoft.com/office/drawing/2014/main" id="{D0DD200E-0A8B-4ACE-94AB-8290951B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436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模拟测试材料｜不代表东北大学实际情况</a:t>
            </a:r>
          </a:p>
        </p:txBody>
      </p:sp>
      <p:sp>
        <p:nvSpPr>
          <p:cNvPr id="8" name="footer-no-3">
            <a:extLst xmlns:a="http://schemas.openxmlformats.org/drawingml/2006/main">
              <a:ext uri="{FF2B5EF4-FFF2-40B4-BE49-F238E27FC236}">
                <a16:creationId xmlns:a16="http://schemas.microsoft.com/office/drawing/2014/main" id="{44D5EC02-F870-4106-88F9-C9D59514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compare-platform">
            <a:extLst xmlns:a="http://schemas.openxmlformats.org/drawingml/2006/main">
              <a:ext uri="{FF2B5EF4-FFF2-40B4-BE49-F238E27FC236}">
                <a16:creationId xmlns:a16="http://schemas.microsoft.com/office/drawing/2014/main" id="{ECE6A564-9652-4695-805A-3DBD1FD3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89535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e-left-shell">
            <a:extLst xmlns:a="http://schemas.openxmlformats.org/drawingml/2006/main">
              <a:ext uri="{FF2B5EF4-FFF2-40B4-BE49-F238E27FC236}">
                <a16:creationId xmlns:a16="http://schemas.microsoft.com/office/drawing/2014/main" id="{AA147D84-931C-4D63-9B7E-E326173D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524375" cy="276225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5E1"/>
            </a:solidFill>
            <a:prstDash val="solid"/>
          </a:ln>
        </p:spPr>
      </p:sp>
      <p:sp>
        <p:nvSpPr>
          <p:cNvPr id="11" name="compare-right-shell">
            <a:extLst xmlns:a="http://schemas.openxmlformats.org/drawingml/2006/main">
              <a:ext uri="{FF2B5EF4-FFF2-40B4-BE49-F238E27FC236}">
                <a16:creationId xmlns:a16="http://schemas.microsoft.com/office/drawing/2014/main" id="{25430E84-0EA7-43DE-8B20-7E941A1E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71750"/>
            <a:ext cx="4524375" cy="276225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EDF5EF"/>
          </a:solidFill>
          <a:ln xmlns:a="http://schemas.openxmlformats.org/drawingml/2006/main" w="9525">
            <a:solidFill>
              <a:srgbClr val="B7D5C1"/>
            </a:solidFill>
            <a:prstDash val="solid"/>
          </a:ln>
        </p:spPr>
      </p:sp>
      <p:sp>
        <p:nvSpPr>
          <p:cNvPr id="12" name="compare-left-head">
            <a:extLst xmlns:a="http://schemas.openxmlformats.org/drawingml/2006/main">
              <a:ext uri="{FF2B5EF4-FFF2-40B4-BE49-F238E27FC236}">
                <a16:creationId xmlns:a16="http://schemas.microsoft.com/office/drawing/2014/main" id="{98C720D3-89C6-4EC0-8AD0-8199E160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524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compare-right-head">
            <a:extLst xmlns:a="http://schemas.openxmlformats.org/drawingml/2006/main">
              <a:ext uri="{FF2B5EF4-FFF2-40B4-BE49-F238E27FC236}">
                <a16:creationId xmlns:a16="http://schemas.microsoft.com/office/drawing/2014/main" id="{71E986C0-C061-4FFE-9907-6C19EDC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71750"/>
            <a:ext cx="45243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3F7656"/>
          </a:solidFill>
          <a:ln xmlns:a="http://schemas.openxmlformats.org/drawingml/2006/main" w="9525">
            <a:solidFill>
              <a:srgbClr val="3F7656"/>
            </a:solidFill>
            <a:prstDash val="solid"/>
          </a:ln>
        </p:spPr>
      </p:sp>
      <p:sp>
        <p:nvSpPr>
          <p:cNvPr id="14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3F52882B-D455-42D5-B53A-D79BEB2F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4067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全面补历史记录</a:t>
            </a:r>
          </a:p>
        </p:txBody>
      </p:sp>
      <p:sp>
        <p:nvSpPr>
          <p:cNvPr id="15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1B370C96-A386-425B-953E-25BF9579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05100"/>
            <a:ext cx="4067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先规范新增记录</a:t>
            </a:r>
          </a:p>
        </p:txBody>
      </p:sp>
      <p:sp>
        <p:nvSpPr>
          <p:cNvPr id="16" name="vs-ring">
            <a:extLst xmlns:a="http://schemas.openxmlformats.org/drawingml/2006/main">
              <a:ext uri="{FF2B5EF4-FFF2-40B4-BE49-F238E27FC236}">
                <a16:creationId xmlns:a16="http://schemas.microsoft.com/office/drawing/2014/main" id="{3B191EEE-949C-4119-9F16-90B99C67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575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vs-label">
            <a:extLst xmlns:a="http://schemas.openxmlformats.org/drawingml/2006/main">
              <a:ext uri="{FF2B5EF4-FFF2-40B4-BE49-F238E27FC236}">
                <a16:creationId xmlns:a16="http://schemas.microsoft.com/office/drawing/2014/main" id="{E5E4B5E7-DDD0-4B50-B2C3-07C636C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19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8" name="compare-dim-1">
            <a:extLst xmlns:a="http://schemas.openxmlformats.org/drawingml/2006/main">
              <a:ext uri="{FF2B5EF4-FFF2-40B4-BE49-F238E27FC236}">
                <a16:creationId xmlns:a16="http://schemas.microsoft.com/office/drawing/2014/main" id="{7C4B0C76-A822-4141-BEEC-E307797B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05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投入方式</a:t>
            </a:r>
          </a:p>
        </p:txBody>
      </p:sp>
      <p:sp>
        <p:nvSpPr>
          <p:cNvPr id="19" name="compare-row-1">
            <a:extLst xmlns:a="http://schemas.openxmlformats.org/drawingml/2006/main">
              <a:ext uri="{FF2B5EF4-FFF2-40B4-BE49-F238E27FC236}">
                <a16:creationId xmlns:a16="http://schemas.microsoft.com/office/drawing/2014/main" id="{72BEAFF1-80B1-4E08-A668-3C569484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1"/>
            </a:solidFill>
            <a:prstDash val="solid"/>
          </a:ln>
        </p:spPr>
      </p:sp>
      <p:sp>
        <p:nvSpPr>
          <p:cNvPr id="20" name="compare-l-1">
            <a:extLst xmlns:a="http://schemas.openxmlformats.org/drawingml/2006/main">
              <a:ext uri="{FF2B5EF4-FFF2-40B4-BE49-F238E27FC236}">
                <a16:creationId xmlns:a16="http://schemas.microsoft.com/office/drawing/2014/main" id="{BDCD3E01-B291-47B9-8212-C7F3792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766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追查旧文件与人员记忆</a:t>
            </a:r>
          </a:p>
        </p:txBody>
      </p:sp>
      <p:sp>
        <p:nvSpPr>
          <p:cNvPr id="21" name="compare-r-1">
            <a:extLst xmlns:a="http://schemas.openxmlformats.org/drawingml/2006/main">
              <a:ext uri="{FF2B5EF4-FFF2-40B4-BE49-F238E27FC236}">
                <a16:creationId xmlns:a16="http://schemas.microsoft.com/office/drawing/2014/main" id="{C30F6D0F-6A51-49CF-9BDA-DF4F217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66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随新增任务发生</a:t>
            </a:r>
          </a:p>
        </p:txBody>
      </p:sp>
      <p:sp>
        <p:nvSpPr>
          <p:cNvPr id="22" name="compare-dim-2">
            <a:extLst xmlns:a="http://schemas.openxmlformats.org/drawingml/2006/main">
              <a:ext uri="{FF2B5EF4-FFF2-40B4-BE49-F238E27FC236}">
                <a16:creationId xmlns:a16="http://schemas.microsoft.com/office/drawing/2014/main" id="{68A73AEA-92B5-4D8F-8F2F-22114AEE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33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可追溯性</a:t>
            </a:r>
          </a:p>
        </p:txBody>
      </p:sp>
      <p:sp>
        <p:nvSpPr>
          <p:cNvPr id="23" name="compare-row-2">
            <a:extLst xmlns:a="http://schemas.openxmlformats.org/drawingml/2006/main">
              <a:ext uri="{FF2B5EF4-FFF2-40B4-BE49-F238E27FC236}">
                <a16:creationId xmlns:a16="http://schemas.microsoft.com/office/drawing/2014/main" id="{A1171A4B-6DD4-4A63-9885-7E3EA2AF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434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1"/>
            </a:solidFill>
            <a:prstDash val="solid"/>
          </a:ln>
        </p:spPr>
      </p:sp>
      <p:sp>
        <p:nvSpPr>
          <p:cNvPr id="24" name="compare-l-2">
            <a:extLst xmlns:a="http://schemas.openxmlformats.org/drawingml/2006/main">
              <a:ext uri="{FF2B5EF4-FFF2-40B4-BE49-F238E27FC236}">
                <a16:creationId xmlns:a16="http://schemas.microsoft.com/office/drawing/2014/main" id="{67053D9B-62E4-4E71-AD66-A0481A28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052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可覆盖旧结果；缺上下文难补</a:t>
            </a:r>
          </a:p>
        </p:txBody>
      </p:sp>
      <p:sp>
        <p:nvSpPr>
          <p:cNvPr id="25" name="compare-r-2">
            <a:extLst xmlns:a="http://schemas.openxmlformats.org/drawingml/2006/main">
              <a:ext uri="{FF2B5EF4-FFF2-40B4-BE49-F238E27FC236}">
                <a16:creationId xmlns:a16="http://schemas.microsoft.com/office/drawing/2014/main" id="{F258DD10-BADE-4047-B5C2-0FDCDCC5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052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生成时保留来源、脚本、参数、输出</a:t>
            </a:r>
          </a:p>
        </p:txBody>
      </p:sp>
      <p:sp>
        <p:nvSpPr>
          <p:cNvPr id="26" name="compare-dim-3">
            <a:extLst xmlns:a="http://schemas.openxmlformats.org/drawingml/2006/main">
              <a:ext uri="{FF2B5EF4-FFF2-40B4-BE49-F238E27FC236}">
                <a16:creationId xmlns:a16="http://schemas.microsoft.com/office/drawing/2014/main" id="{8A8611C1-19CB-4FAA-AFDE-E3221F03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62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启动条件</a:t>
            </a:r>
          </a:p>
        </p:txBody>
      </p:sp>
      <p:sp>
        <p:nvSpPr>
          <p:cNvPr id="27" name="compare-row-3">
            <a:extLst xmlns:a="http://schemas.openxmlformats.org/drawingml/2006/main">
              <a:ext uri="{FF2B5EF4-FFF2-40B4-BE49-F238E27FC236}">
                <a16:creationId xmlns:a16="http://schemas.microsoft.com/office/drawing/2014/main" id="{FFB43833-9D4A-4F3A-9304-95FDFAAA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720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1"/>
            </a:solidFill>
            <a:prstDash val="solid"/>
          </a:ln>
        </p:spPr>
      </p:sp>
      <p:sp>
        <p:nvSpPr>
          <p:cNvPr id="28" name="compare-l-3">
            <a:extLst xmlns:a="http://schemas.openxmlformats.org/drawingml/2006/main">
              <a:ext uri="{FF2B5EF4-FFF2-40B4-BE49-F238E27FC236}">
                <a16:creationId xmlns:a16="http://schemas.microsoft.com/office/drawing/2014/main" id="{4302B6C4-3879-4E11-8288-E3E87025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339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先明确追溯对象与可用资料</a:t>
            </a:r>
          </a:p>
        </p:txBody>
      </p:sp>
      <p:sp>
        <p:nvSpPr>
          <p:cNvPr id="29" name="compare-r-3">
            <a:extLst xmlns:a="http://schemas.openxmlformats.org/drawingml/2006/main">
              <a:ext uri="{FF2B5EF4-FFF2-40B4-BE49-F238E27FC236}">
                <a16:creationId xmlns:a16="http://schemas.microsoft.com/office/drawing/2014/main" id="{A15E5225-CF48-447E-9ACB-4AA420BA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339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先约定责任人和最小清单</a:t>
            </a:r>
          </a:p>
        </p:txBody>
      </p:sp>
      <p:sp>
        <p:nvSpPr>
          <p:cNvPr id="30" name="recommendation-3">
            <a:extLst xmlns:a="http://schemas.openxmlformats.org/drawingml/2006/main">
              <a:ext uri="{FF2B5EF4-FFF2-40B4-BE49-F238E27FC236}">
                <a16:creationId xmlns:a16="http://schemas.microsoft.com/office/drawing/2014/main" id="{B5A2EB08-A499-40D6-A571-00A908AF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3822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1" name="recommendation-head-3">
            <a:extLst xmlns:a="http://schemas.openxmlformats.org/drawingml/2006/main">
              <a:ext uri="{FF2B5EF4-FFF2-40B4-BE49-F238E27FC236}">
                <a16:creationId xmlns:a16="http://schemas.microsoft.com/office/drawing/2014/main" id="{ACAD7AB9-2A01-46A4-846E-E01909D1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建议先试新增记录</a:t>
            </a:r>
          </a:p>
        </p:txBody>
      </p:sp>
      <p:sp>
        <p:nvSpPr>
          <p:cNvPr id="32" name="recommendation-body-3">
            <a:extLst xmlns:a="http://schemas.openxmlformats.org/drawingml/2006/main">
              <a:ext uri="{FF2B5EF4-FFF2-40B4-BE49-F238E27FC236}">
                <a16:creationId xmlns:a16="http://schemas.microsoft.com/office/drawing/2014/main" id="{01B808F1-44A9-4A28-A866-BE202477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对已有明确追溯需求的历史结果定向补齐；代价是历史覆盖仍不完整。</a:t>
            </a:r>
          </a:p>
        </p:txBody>
      </p:sp>
      <p:sp>
        <p:nvSpPr>
          <p:cNvPr id="33" name="roles-3">
            <a:extLst xmlns:a="http://schemas.openxmlformats.org/drawingml/2006/main">
              <a:ext uri="{FF2B5EF4-FFF2-40B4-BE49-F238E27FC236}">
                <a16:creationId xmlns:a16="http://schemas.microsoft.com/office/drawing/2014/main" id="{B5EEC4A5-1481-4EC6-8EDC-4A3FF09E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分工：研究人员提交｜管理员核对清单｜平台负责人处理跨实验室责任争议</a:t>
            </a:r>
          </a:p>
        </p:txBody>
      </p:sp>
    </p:spTree>
    <p:extLst>
      <p:ext uri="{BB962C8B-B14F-4D97-AF65-F5344CB8AC3E}">
        <p14:creationId xmlns:p14="http://schemas.microsoft.com/office/powerpoint/2010/main" val="635978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2026-09-08T05:18:34.7930000Z</dcterms:created>
  <dcterms:modified xsi:type="dcterms:W3CDTF">2026-09-08T05:18:34.7930000Z</dcterms:modified>
</coreProperties>
</file>