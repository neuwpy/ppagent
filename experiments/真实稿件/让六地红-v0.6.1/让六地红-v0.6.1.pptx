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e47accfe794b63" /><Relationship Type="http://schemas.openxmlformats.org/officeDocument/2006/relationships/extended-properties" Target="/docProps/app.xml" Id="Rbc14aec4576041c8" /><Relationship Type="http://schemas.openxmlformats.org/officeDocument/2006/relationships/officeDocument" Target="/ppt/presentation.xml" Id="Rda3e1d3832c444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7ccd1e345f492a"/>
    <p:sldMasterId xmlns:r="http://schemas.openxmlformats.org/officeDocument/2006/relationships" id="2147483660" r:id="Red96f92b5beb4ca4"/>
    <p:sldMasterId xmlns:r="http://schemas.openxmlformats.org/officeDocument/2006/relationships" id="2147483663" r:id="R1d967a32ac1a4523"/>
  </p:sldMasterIdLst>
  <p:notesMasterIdLst>
    <p:notesMasterId xmlns:r="http://schemas.openxmlformats.org/officeDocument/2006/relationships" r:id="Rf95927cf29654841"/>
  </p:notesMasterIdLst>
  <p:sldIdLst>
    <p:sldId xmlns:r="http://schemas.openxmlformats.org/officeDocument/2006/relationships" id="256" r:id="Rf27ca03161f0498d"/>
    <p:sldId xmlns:r="http://schemas.openxmlformats.org/officeDocument/2006/relationships" id="257" r:id="R0c9c354a7c9d4c29"/>
    <p:sldId xmlns:r="http://schemas.openxmlformats.org/officeDocument/2006/relationships" id="258" r:id="Rc0e1783f9f904ef4"/>
    <p:sldId xmlns:r="http://schemas.openxmlformats.org/officeDocument/2006/relationships" id="259" r:id="R271291e825e54bb4"/>
    <p:sldId xmlns:r="http://schemas.openxmlformats.org/officeDocument/2006/relationships" id="260" r:id="R72a91e760d024b91"/>
    <p:sldId xmlns:r="http://schemas.openxmlformats.org/officeDocument/2006/relationships" id="261" r:id="Re9c6973eef6d4e2b"/>
    <p:sldId xmlns:r="http://schemas.openxmlformats.org/officeDocument/2006/relationships" id="262" r:id="R5dc863c4c97244d0"/>
    <p:sldId xmlns:r="http://schemas.openxmlformats.org/officeDocument/2006/relationships" id="263" r:id="R2f1598db7e1a4a0c"/>
    <p:sldId xmlns:r="http://schemas.openxmlformats.org/officeDocument/2006/relationships" id="264" r:id="R0d56f8593c0c4123"/>
    <p:sldId xmlns:r="http://schemas.openxmlformats.org/officeDocument/2006/relationships" id="265" r:id="R176d553bcdcf4569"/>
    <p:sldId xmlns:r="http://schemas.openxmlformats.org/officeDocument/2006/relationships" id="266" r:id="R6de65f825b2f4c77"/>
    <p:sldId xmlns:r="http://schemas.openxmlformats.org/officeDocument/2006/relationships" id="267" r:id="R9e429976a65c4d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7a701757814147" /><Relationship Type="http://schemas.openxmlformats.org/officeDocument/2006/relationships/slideMaster" Target="/ppt/slideMasters/slideMaster1.xml" Id="R837ccd1e345f492a" /><Relationship Type="http://schemas.openxmlformats.org/officeDocument/2006/relationships/slideMaster" Target="/ppt/slideMasters/slideMaster2.xml" Id="Red96f92b5beb4ca4" /><Relationship Type="http://schemas.openxmlformats.org/officeDocument/2006/relationships/slideMaster" Target="/ppt/slideMasters/slideMaster3.xml" Id="R1d967a32ac1a4523" /><Relationship Type="http://schemas.openxmlformats.org/officeDocument/2006/relationships/notesMaster" Target="/ppt/notesMasters/notesMaster1.xml" Id="Rf95927cf29654841" /><Relationship Type="http://schemas.openxmlformats.org/officeDocument/2006/relationships/presProps" Target="/ppt/presProps.xml" Id="Rb353cec67e2242c9" /><Relationship Type="http://schemas.openxmlformats.org/officeDocument/2006/relationships/viewProps" Target="/ppt/viewProps.xml" Id="R03e6b91f3bf245d9" /><Relationship Type="http://schemas.openxmlformats.org/officeDocument/2006/relationships/tableStyles" Target="/ppt/tableStyles.xml" Id="R125e51ecc11e45d3" /><Relationship Type="http://schemas.openxmlformats.org/officeDocument/2006/relationships/slide" Target="/ppt/slides/slide1.xml" Id="Rf27ca03161f0498d" /><Relationship Type="http://schemas.openxmlformats.org/officeDocument/2006/relationships/slide" Target="/ppt/slides/slide2.xml" Id="R0c9c354a7c9d4c29" /><Relationship Type="http://schemas.openxmlformats.org/officeDocument/2006/relationships/slide" Target="/ppt/slides/slide3.xml" Id="Rc0e1783f9f904ef4" /><Relationship Type="http://schemas.openxmlformats.org/officeDocument/2006/relationships/slide" Target="/ppt/slides/slide4.xml" Id="R271291e825e54bb4" /><Relationship Type="http://schemas.openxmlformats.org/officeDocument/2006/relationships/slide" Target="/ppt/slides/slide5.xml" Id="R72a91e760d024b91" /><Relationship Type="http://schemas.openxmlformats.org/officeDocument/2006/relationships/slide" Target="/ppt/slides/slide6.xml" Id="Re9c6973eef6d4e2b" /><Relationship Type="http://schemas.openxmlformats.org/officeDocument/2006/relationships/slide" Target="/ppt/slides/slide7.xml" Id="R5dc863c4c97244d0" /><Relationship Type="http://schemas.openxmlformats.org/officeDocument/2006/relationships/slide" Target="/ppt/slides/slide8.xml" Id="R2f1598db7e1a4a0c" /><Relationship Type="http://schemas.openxmlformats.org/officeDocument/2006/relationships/slide" Target="/ppt/slides/slide9.xml" Id="R0d56f8593c0c4123" /><Relationship Type="http://schemas.openxmlformats.org/officeDocument/2006/relationships/slide" Target="/ppt/slides/slide10.xml" Id="R176d553bcdcf4569" /><Relationship Type="http://schemas.openxmlformats.org/officeDocument/2006/relationships/slide" Target="/ppt/slides/slide11.xml" Id="R6de65f825b2f4c77" /><Relationship Type="http://schemas.openxmlformats.org/officeDocument/2006/relationships/slide" Target="/ppt/slides/slide12.xml" Id="R9e429976a65c4d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c355108fd0841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7ed7731251439c" /><Relationship Type="http://schemas.openxmlformats.org/officeDocument/2006/relationships/notesMaster" Target="/ppt/notesMasters/notesMaster1.xml" Id="R57ae97ccd8d946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6d70305695450e" /><Relationship Type="http://schemas.openxmlformats.org/officeDocument/2006/relationships/notesMaster" Target="/ppt/notesMasters/notesMaster1.xml" Id="R22b2fe23f52c44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2e0322d14343c1" /><Relationship Type="http://schemas.openxmlformats.org/officeDocument/2006/relationships/notesMaster" Target="/ppt/notesMasters/notesMaster1.xml" Id="R1f5f31a612ad47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c1761f46264d65" /><Relationship Type="http://schemas.openxmlformats.org/officeDocument/2006/relationships/notesMaster" Target="/ppt/notesMasters/notesMaster1.xml" Id="R210d3f353fea4e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5daa3a88de4e0b" /><Relationship Type="http://schemas.openxmlformats.org/officeDocument/2006/relationships/notesMaster" Target="/ppt/notesMasters/notesMaster1.xml" Id="Rfbae167059c84c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c0db1888c9413a" /><Relationship Type="http://schemas.openxmlformats.org/officeDocument/2006/relationships/notesMaster" Target="/ppt/notesMasters/notesMaster1.xml" Id="Rfedab2764b8d41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be86079ce54f22" /><Relationship Type="http://schemas.openxmlformats.org/officeDocument/2006/relationships/notesMaster" Target="/ppt/notesMasters/notesMaster1.xml" Id="Rc39a5c4ec9214e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1f33986fa242dc" /><Relationship Type="http://schemas.openxmlformats.org/officeDocument/2006/relationships/notesMaster" Target="/ppt/notesMasters/notesMaster1.xml" Id="Rfce02316aaae4e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3dd50d434447bd" /><Relationship Type="http://schemas.openxmlformats.org/officeDocument/2006/relationships/notesMaster" Target="/ppt/notesMasters/notesMaster1.xml" Id="R2f4aa724333e40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7ff85000144e79" /><Relationship Type="http://schemas.openxmlformats.org/officeDocument/2006/relationships/notesMaster" Target="/ppt/notesMasters/notesMaster1.xml" Id="Rb92ac4baf2ba4b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a3c18bb88f447a" /><Relationship Type="http://schemas.openxmlformats.org/officeDocument/2006/relationships/notesMaster" Target="/ppt/notesMasters/notesMaster1.xml" Id="R827151c3a0c94f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efa4c3acbd4640" /><Relationship Type="http://schemas.openxmlformats.org/officeDocument/2006/relationships/notesMaster" Target="/ppt/notesMasters/notesMaster1.xml" Id="R3c4064c64cae48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内容：workbench/manuscripts/让六地红-v1.md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PPagenT：i01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PPagenT：i02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PPagenT：i03 → radial-hub-001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PPagenT：i04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PPagenT：i05 → sequential-process-001</a:t>
            </a:r>
            <a:endParaRPr/>
          </a:p>
          <a:p xmlns:a="http://schemas.openxmlformats.org/drawingml/2006/main">
            <a:r>
              <a:t>- 整页编排：component-aside-right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PPagenT：i06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PPagenT：i07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PPagenT：i08 → radial-hub-001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PPagenT：i09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PPagenT：i10 → framework-matrix-001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PPagenT：i11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内容：workbench/manuscripts/让六地红-v1.md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PPagenT：i12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cdd92d0394711" /><Relationship Type="http://schemas.openxmlformats.org/officeDocument/2006/relationships/image" Target="/ppt/media/image.jpeg" Id="Rc74bd79a5aea41c9" /><Relationship Type="http://schemas.openxmlformats.org/officeDocument/2006/relationships/image" Target="/ppt/media/image.png" Id="R17cf976eb7ee47b9" /><Relationship Type="http://schemas.openxmlformats.org/officeDocument/2006/relationships/image" Target="/ppt/media/image2.png" Id="Rf4bfdc402d1a4a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c669df9a34c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a928abc29468f" /><Relationship Type="http://schemas.openxmlformats.org/officeDocument/2006/relationships/image" Target="/ppt/media/image3.png" Id="R636c3c059de348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9444d9eaf4eba" /><Relationship Type="http://schemas.openxmlformats.org/officeDocument/2006/relationships/image" Target="/ppt/media/image4.png" Id="Rbd7b73a4efec4c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9386bd4c944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783c4a38f49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6ff7685484d1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83e5a268b4a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9f81ab6c3426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50f82a9674bf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8451687cc42e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59487098aa430a" /><Relationship Type="http://schemas.openxmlformats.org/officeDocument/2006/relationships/image" Target="/ppt/media/image5.png" Id="R22b13b4bdb8f459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24d9e2d77b4ea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121a0044f884437" /><Relationship Type="http://schemas.openxmlformats.org/officeDocument/2006/relationships/image" Target="/ppt/media/image5.png" Id="R230cd7341f5f475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a97368072984c0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bd79a5aea41c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f976eb7ee47b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fdc402d1a4a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C57B620B-3E8E-42B0-8418-6A0AD301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c3c059de3484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4A10D47-3E17-4571-969B-4C83047C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92D6398-B91B-4D3E-AD70-3EC64AE0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D671A17F-AB74-4EF2-A73C-E2BC2494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6F1BC43A-9225-4ED7-8B00-6ED853FA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b73a4efec4c48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05DAC120-0888-4567-9BDC-116D9E10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9942E792-5608-41C3-80A7-2C071CF1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79A30C-69FA-4221-BA0E-348EB1286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5BCD6CD-CD52-487F-AEBE-52A125743A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1186B35-38B0-4F47-867E-7D55B266A3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DD2FE67-7778-4D7F-B518-D409C9D2B7A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790BC7F-B4F3-4945-9A9C-1A569A421A1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676789E-AAEC-4C69-95F4-1670460563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98C5F36-9F39-473C-BA74-4A5414096B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6D3DE44-0A9F-4DB9-A3FA-FF03D86290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DF3DCAF-882F-4199-AD7F-336F025A5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2B1D4B4-36BF-40E7-8334-DE9958953B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F9A56A0-2FAB-4565-BBCF-0D84A5B447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2BEEDF0-CAFA-4428-B127-3F697B0EC2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0E3F7CF-3576-48D3-9871-E720183DFC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3CA251-A8B5-4BA3-ACD5-43668514E0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0D883D0-F9E3-45FB-9AD0-6A22AE5CB1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B9C92CE-7569-4504-B6D6-AFFBCE4FF5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F188F18-55B2-401F-83C4-39060B4CB6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CF446F0-AE22-4C22-9DB8-186707B250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71B3C7B-F5D2-491B-824B-3294058152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5396AA7-413E-4A51-BD8B-39008963C2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466843E-85E0-4546-9061-639D7BBCB2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D4CBD7-9C5D-4AFF-8FA7-1A5DAE89F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0525170-499B-4D7F-904D-2B152CF4DCD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FC8D1B9-2187-45FD-9234-316194B6BB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60F913D-3037-4AC1-A3BE-C5A5BEFCE2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2D53563-45D3-4746-B424-A20077166C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B94548B-654E-4E30-B236-B09A4FC09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F6B826-05CD-4766-8DE3-71308A539D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AFD7537-F21F-4867-917B-B5953865D1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34DDB9-451F-4FB3-8E38-26C736C305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4E08D75-C91B-410E-A1F1-101BA55A1D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057E09-1BE8-46F0-A6E3-0560FE240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DB3BB2E-61A5-4D21-8FC5-6017BEB69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9F0BA22-FB5A-46BE-B923-BC3AC01F41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0C1F02-D42D-40C2-9073-5D088AFCFB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A479041-4B7B-4339-B029-98FC97BB1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116373E-632C-46F0-A765-8CC4EC1B80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13b4bdb8f459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498C002-037F-4BEC-ADCD-09230C49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4B59EB3-8EBE-4714-B06F-39B737BF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7242B74-6A0F-4D01-B73A-C90C47B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9413AE1-C6D0-4E6A-8CED-2E857D5D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cd7341f5f475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892F65E-3A38-4F71-98C8-FB86FF66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D40DA7-6B6D-4A0B-A483-7697DF3C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ABA2D6E-4BC1-44A9-8F65-62A34B41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A5906D3-3012-4279-865D-6AF4717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91f1ed5bee4212" /><Relationship Type="http://schemas.openxmlformats.org/officeDocument/2006/relationships/slideLayout" Target="/ppt/slideLayouts/slideLayout1.xml" Id="R103c7db830b84b02" /><Relationship Type="http://schemas.openxmlformats.org/officeDocument/2006/relationships/slideLayout" Target="/ppt/slideLayouts/slideLayout2.xml" Id="R83d32dae73da40d2" /><Relationship Type="http://schemas.openxmlformats.org/officeDocument/2006/relationships/slideLayout" Target="/ppt/slideLayouts/slideLayout3.xml" Id="Rcf97153b180f49e6" /><Relationship Type="http://schemas.openxmlformats.org/officeDocument/2006/relationships/slideLayout" Target="/ppt/slideLayouts/slideLayout4.xml" Id="Rc1abb09e99a64185" /><Relationship Type="http://schemas.openxmlformats.org/officeDocument/2006/relationships/slideLayout" Target="/ppt/slideLayouts/slideLayout5.xml" Id="R4bd4a650b83346a0" /><Relationship Type="http://schemas.openxmlformats.org/officeDocument/2006/relationships/slideLayout" Target="/ppt/slideLayouts/slideLayout6.xml" Id="Rd4a4665c71a24329" /><Relationship Type="http://schemas.openxmlformats.org/officeDocument/2006/relationships/slideLayout" Target="/ppt/slideLayouts/slideLayout7.xml" Id="R5d3b99235a964371" /><Relationship Type="http://schemas.openxmlformats.org/officeDocument/2006/relationships/slideLayout" Target="/ppt/slideLayouts/slideLayout8.xml" Id="R86febc3edc994872" /><Relationship Type="http://schemas.openxmlformats.org/officeDocument/2006/relationships/slideLayout" Target="/ppt/slideLayouts/slideLayout9.xml" Id="Rb19a40fd15ed4d21" /><Relationship Type="http://schemas.openxmlformats.org/officeDocument/2006/relationships/slideLayout" Target="/ppt/slideLayouts/slideLayout10.xml" Id="Rb9e8737cd2b94a6e" /><Relationship Type="http://schemas.openxmlformats.org/officeDocument/2006/relationships/slideLayout" Target="/ppt/slideLayouts/slideLayout11.xml" Id="R4820dd3705284bb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95672c764c041a8" /><Relationship Type="http://schemas.openxmlformats.org/officeDocument/2006/relationships/slideLayout" Target="/ppt/slideLayouts/slideLayout12.xml" Id="Rd59932deb8f1465b" /><Relationship Type="http://schemas.openxmlformats.org/officeDocument/2006/relationships/slideLayout" Target="/ppt/slideLayouts/slideLayout13.xml" Id="Rf5df46468e554e5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6ebe9bf30c440f6" /><Relationship Type="http://schemas.openxmlformats.org/officeDocument/2006/relationships/slideLayout" Target="/ppt/slideLayouts/slideLayout14.xml" Id="R30b3dd904b50496e" /><Relationship Type="http://schemas.openxmlformats.org/officeDocument/2006/relationships/slideLayout" Target="/ppt/slideLayouts/slideLayout15.xml" Id="R6f44404db4cc4a5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E9362FC-9EAF-4099-BC02-417D3F719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CD5F4A7-9E75-4D43-A8B5-165E41459F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95B3064-2F4F-4631-B28E-E9DB0A7C330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D6BC5B-C30A-4622-8E72-29101FED7B5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E432101-C68D-4CCD-9DB3-89EC8C2AC2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3c7db830b84b02"/>
    <p:sldLayoutId xmlns:r="http://schemas.openxmlformats.org/officeDocument/2006/relationships" id="2147483650" r:id="R83d32dae73da40d2"/>
    <p:sldLayoutId xmlns:r="http://schemas.openxmlformats.org/officeDocument/2006/relationships" id="2147483651" r:id="Rcf97153b180f49e6"/>
    <p:sldLayoutId xmlns:r="http://schemas.openxmlformats.org/officeDocument/2006/relationships" id="2147483652" r:id="Rc1abb09e99a64185"/>
    <p:sldLayoutId xmlns:r="http://schemas.openxmlformats.org/officeDocument/2006/relationships" id="2147483653" r:id="R4bd4a650b83346a0"/>
    <p:sldLayoutId xmlns:r="http://schemas.openxmlformats.org/officeDocument/2006/relationships" id="2147483654" r:id="Rd4a4665c71a24329"/>
    <p:sldLayoutId xmlns:r="http://schemas.openxmlformats.org/officeDocument/2006/relationships" id="2147483655" r:id="R5d3b99235a964371"/>
    <p:sldLayoutId xmlns:r="http://schemas.openxmlformats.org/officeDocument/2006/relationships" id="2147483656" r:id="R86febc3edc994872"/>
    <p:sldLayoutId xmlns:r="http://schemas.openxmlformats.org/officeDocument/2006/relationships" id="2147483657" r:id="Rb19a40fd15ed4d21"/>
    <p:sldLayoutId xmlns:r="http://schemas.openxmlformats.org/officeDocument/2006/relationships" id="2147483658" r:id="Rb9e8737cd2b94a6e"/>
    <p:sldLayoutId xmlns:r="http://schemas.openxmlformats.org/officeDocument/2006/relationships" id="2147483659" r:id="R4820dd3705284bb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381D23E-8A20-4E56-9053-25A2164C5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4BAA07C-EE45-4155-91F0-F81F633E50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3E60FE9-108C-4BE4-8F3B-9A1A82222CB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B23F14B-8065-4C5D-8B81-3C87B57CF81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6F7C14-FB04-4381-838F-AB4F94330B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59932deb8f1465b"/>
    <p:sldLayoutId xmlns:r="http://schemas.openxmlformats.org/officeDocument/2006/relationships" id="2147483662" r:id="Rf5df46468e554e5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88697E3-AB33-48DF-AAF9-49EE92FBB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29E1243-6CB9-4633-9F04-880F3ABF8B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4E875E2-751F-433F-8EA1-4947A7F11B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6B2EFCA-3F67-4A2D-A20E-ABFF461249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0BD414-7E20-4B51-B98E-78B84B89B05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0b3dd904b50496e"/>
    <p:sldLayoutId xmlns:r="http://schemas.openxmlformats.org/officeDocument/2006/relationships" id="2147483665" r:id="R6f44404db4cc4a5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58ad9517c4f3d" /><Relationship Type="http://schemas.openxmlformats.org/officeDocument/2006/relationships/notesSlide" Target="/ppt/notesSlides/notesSlide1.xml" Id="R4d315f0ef38a45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d658a432ef49e7" /><Relationship Type="http://schemas.openxmlformats.org/officeDocument/2006/relationships/notesSlide" Target="/ppt/notesSlides/notesSlide2.xml" Id="R9ed60356ebc347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a31fdc0ab0440f" /><Relationship Type="http://schemas.openxmlformats.org/officeDocument/2006/relationships/notesSlide" Target="/ppt/notesSlides/notesSlide3.xml" Id="Rf8b043568b7f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a7400c6a184bb0" /><Relationship Type="http://schemas.openxmlformats.org/officeDocument/2006/relationships/notesSlide" Target="/ppt/notesSlides/notesSlide4.xml" Id="Rf8f6d84c5a2749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61fd4b94f74c27" /><Relationship Type="http://schemas.openxmlformats.org/officeDocument/2006/relationships/notesSlide" Target="/ppt/notesSlides/notesSlide5.xml" Id="Rb59bcc05ac314d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fdb991b43346fa" /><Relationship Type="http://schemas.openxmlformats.org/officeDocument/2006/relationships/notesSlide" Target="/ppt/notesSlides/notesSlide6.xml" Id="R22672ad76ccf44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b7e9e792e64dd3" /><Relationship Type="http://schemas.openxmlformats.org/officeDocument/2006/relationships/notesSlide" Target="/ppt/notesSlides/notesSlide7.xml" Id="R07cef6f469f74d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206082bb624031" /><Relationship Type="http://schemas.openxmlformats.org/officeDocument/2006/relationships/notesSlide" Target="/ppt/notesSlides/notesSlide8.xml" Id="Rc9ecdbdd20c045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08581cf31f4487" /><Relationship Type="http://schemas.openxmlformats.org/officeDocument/2006/relationships/notesSlide" Target="/ppt/notesSlides/notesSlide9.xml" Id="R2182fc18eb3d41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c3258148e94d31" /><Relationship Type="http://schemas.openxmlformats.org/officeDocument/2006/relationships/notesSlide" Target="/ppt/notesSlides/notesSlide10.xml" Id="R56504a3cf18441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bf8f2e083f410e" /><Relationship Type="http://schemas.openxmlformats.org/officeDocument/2006/relationships/notesSlide" Target="/ppt/notesSlides/notesSlide11.xml" Id="Rfe886e4346cc47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35f8d10bc4d63" /><Relationship Type="http://schemas.openxmlformats.org/officeDocument/2006/relationships/notesSlide" Target="/ppt/notesSlides/notesSlide12.xml" Id="R2f3ee4b770c848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5CDD142E-708C-4770-851A-E6220451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F2C4F849-0AB0-469B-B49D-D9181C7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476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1950"/>
            </a:pPr>
            <a:r>
              <a:rPr sz="195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辽宁“六地”红色文化标识
融入党员教育的创新实践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0B42BF1C-338C-4F8A-8D2B-27F6BB73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948DA35-9288-47C0-997D-710961DD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BE6C80AF-429B-4EE9-99DF-D9529973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让“六地”红，成为理工青年最鲜亮的青春底色</a:t>
            </a:r>
          </a:p>
        </p:txBody>
      </p:sp>
    </p:spTree>
    <p:extLst>
      <p:ext uri="{BB962C8B-B14F-4D97-AF65-F5344CB8AC3E}">
        <p14:creationId xmlns:p14="http://schemas.microsoft.com/office/powerpoint/2010/main" val="5477794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“三高三低”困境同时存在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9DD7FA4-55D5-44AA-A9B4-CB1401F1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FCE33-21D9-4EB9-8284-281862E7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3E71B1A8-9109-415F-A4F7-A275CD1F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D78E78FB-9775-4E6F-A326-A4A44A10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1543E6FD-C90B-4F48-B86E-E5FD0E13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三高</a:t>
            </a:r>
          </a:p>
        </p:txBody>
      </p:sp>
      <p:sp>
        <p:nvSpPr>
          <p:cNvPr id="20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E902ADA2-7BB1-40DA-9425-AAEF2C08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9525">
            <a:solidFill>
              <a:srgbClr val="6B76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E72F1BC4-F518-4575-BB62-853B7FA9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2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0961F80D-A945-4CAC-9771-D9A92F2D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高学分</a:t>
            </a:r>
          </a:p>
        </p:txBody>
      </p:sp>
      <p:sp>
        <p:nvSpPr>
          <p:cNvPr id="23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66E8290C-4827-43AF-B94E-FE720573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9525">
            <a:solidFill>
              <a:srgbClr val="6B76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9E3247B6-1DA7-4321-9AD1-71E0C6F3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5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C935730B-2170-4D9B-8CB2-B6EB1993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高竞赛</a:t>
            </a:r>
          </a:p>
        </p:txBody>
      </p:sp>
      <p:sp>
        <p:nvSpPr>
          <p:cNvPr id="26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5834DFFE-BA6C-42B2-8604-021F6929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9525">
            <a:solidFill>
              <a:srgbClr val="6B76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434EB1C8-C4CB-479F-B1F6-A192A61B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8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98E510BC-E40C-4839-A5A4-03EB334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高科研</a:t>
            </a:r>
          </a:p>
        </p:txBody>
      </p:sp>
      <p:sp>
        <p:nvSpPr>
          <p:cNvPr id="29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8AE77078-E948-443E-82E3-229519DB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93D44881-CA37-4406-AFA7-8A81A10A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ABD0F455-E52C-446E-8778-AB9E1057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三低</a:t>
            </a:r>
          </a:p>
        </p:txBody>
      </p:sp>
      <p:sp>
        <p:nvSpPr>
          <p:cNvPr id="32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BD1CA4C8-085F-4054-9A6F-4DF1CB1C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AC317715-FD9A-4B28-95CB-B7DB5750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315EEBBC-6534-43D0-A286-A75D1017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理论情感浓度低</a:t>
            </a:r>
          </a:p>
        </p:txBody>
      </p:sp>
      <p:sp>
        <p:nvSpPr>
          <p:cNvPr id="35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C18203AC-98B0-44C7-924D-7B5ADF68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AFE5F06B-C2BC-4269-86F8-6D0E84CE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7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5BAB4ECF-3C47-4B1D-92DE-B22B450E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身份认同声量低</a:t>
            </a:r>
          </a:p>
        </p:txBody>
      </p:sp>
      <p:sp>
        <p:nvSpPr>
          <p:cNvPr id="38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4066FB65-DF01-4F65-AF94-6810FA4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1C1E28AA-D818-4703-AD32-8FE871A4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0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C19B7557-4EDD-481E-893F-674C90F2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知行合一燃值低</a:t>
            </a:r>
          </a:p>
        </p:txBody>
      </p:sp>
      <p:sp>
        <p:nvSpPr>
          <p:cNvPr id="41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9CE686E3-3177-4630-93FE-0A5D227E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2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35AD015D-3402-456B-8A40-8C982F30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2796FE-0CF8-4039-95BC-35C41D6C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D3C185-23AF-4587-84B8-BC3A1808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从“走遍全国”转向“深耕辽宁”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C15A448-B32F-414B-BAE5-90F9DA52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6CAB5-3C7D-4162-B58E-F805CCF6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230022"/>
            <a:ext cx="3208313" cy="32083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C642D-EE50-4EED-8113-B15208A0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34" y="2446313"/>
            <a:ext cx="2775732" cy="2775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radial-center|domains=radial-shape,radial-content">
            <a:extLst xmlns:a="http://schemas.openxmlformats.org/drawingml/2006/main">
              <a:ext uri="{FF2B5EF4-FFF2-40B4-BE49-F238E27FC236}">
                <a16:creationId xmlns:a16="http://schemas.microsoft.com/office/drawing/2014/main" id="{69EF2BDD-6FC1-4CB6-8440-85EAFFFD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62604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深耕辽宁</a:t>
            </a:r>
          </a:p>
        </p:txBody>
      </p:sp>
      <p:sp>
        <p:nvSpPr>
          <p:cNvPr id="19" name="PPAGENT_QA|parent=radial-node-0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70D12A83-AD15-45A3-A22C-4F4E2CF7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PPAGENT_QA|parent=radial-card-0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72E5C469-E293-4DC3-9455-2EAED254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radial-card-0|role=title">
            <a:extLst xmlns:a="http://schemas.openxmlformats.org/drawingml/2006/main">
              <a:ext uri="{FF2B5EF4-FFF2-40B4-BE49-F238E27FC236}">
                <a16:creationId xmlns:a16="http://schemas.microsoft.com/office/drawing/2014/main" id="{C96FF2EB-5808-4A20-9E75-80BB2E05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抗日战争起始地</a:t>
            </a:r>
          </a:p>
        </p:txBody>
      </p:sp>
      <p:sp>
        <p:nvSpPr>
          <p:cNvPr id="22" name="PPAGENT_CONNECTOR|from=radial-center|fromSide=left|to=radial-node-0|toSide=right">
            <a:extLst xmlns:a="http://schemas.openxmlformats.org/drawingml/2006/main">
              <a:ext uri="{FF2B5EF4-FFF2-40B4-BE49-F238E27FC236}">
                <a16:creationId xmlns:a16="http://schemas.microsoft.com/office/drawing/2014/main" id="{511D1284-79CD-4214-A13B-8B186A90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85432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3" name="PPAGENT_QA|parent=radial-node-1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1A681280-AC36-4CAD-B5A9-07FB48B4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parent=radial-card-1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491D2F80-0A60-49AC-8DAD-D3FC7C60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radial-card-1|role=title">
            <a:extLst xmlns:a="http://schemas.openxmlformats.org/drawingml/2006/main">
              <a:ext uri="{FF2B5EF4-FFF2-40B4-BE49-F238E27FC236}">
                <a16:creationId xmlns:a16="http://schemas.microsoft.com/office/drawing/2014/main" id="{4969B6EA-6EF9-4A03-85A8-42BFB290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解放战争转折地</a:t>
            </a:r>
          </a:p>
        </p:txBody>
      </p:sp>
      <p:sp>
        <p:nvSpPr>
          <p:cNvPr id="26" name="PPAGENT_CONNECTOR|from=radial-center|fromSide=right|to=radial-node-1|toSide=left">
            <a:extLst xmlns:a="http://schemas.openxmlformats.org/drawingml/2006/main">
              <a:ext uri="{FF2B5EF4-FFF2-40B4-BE49-F238E27FC236}">
                <a16:creationId xmlns:a16="http://schemas.microsoft.com/office/drawing/2014/main" id="{FA09CFFE-2A72-46EE-B549-90C107BB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67575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7" name="PPAGENT_QA|parent=radial-node-2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09096DFF-65EE-4C84-80CE-A705411C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parent=radial-card-2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86309EAD-FAF1-4AD9-9480-0C858A3D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radial-card-2|role=title">
            <a:extLst xmlns:a="http://schemas.openxmlformats.org/drawingml/2006/main">
              <a:ext uri="{FF2B5EF4-FFF2-40B4-BE49-F238E27FC236}">
                <a16:creationId xmlns:a16="http://schemas.microsoft.com/office/drawing/2014/main" id="{A682A0A1-87F3-4912-8D27-E0F64D36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新中国国歌素材地</a:t>
            </a:r>
          </a:p>
        </p:txBody>
      </p:sp>
      <p:sp>
        <p:nvSpPr>
          <p:cNvPr id="30" name="PPAGENT_CONNECTOR|from=radial-center|fromSide=left|to=radial-node-2|toSide=right">
            <a:extLst xmlns:a="http://schemas.openxmlformats.org/drawingml/2006/main">
              <a:ext uri="{FF2B5EF4-FFF2-40B4-BE49-F238E27FC236}">
                <a16:creationId xmlns:a16="http://schemas.microsoft.com/office/drawing/2014/main" id="{A78DA7CB-E99F-43D4-9354-97436FBD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1" name="PPAGENT_QA|parent=radial-node-3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9B1BEBDE-E1E9-4D64-9079-17A03390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PPAGENT_QA|parent=radial-card-3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95B54C87-5CC5-4F1B-8552-77A3FE67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radial-card-3|role=title">
            <a:extLst xmlns:a="http://schemas.openxmlformats.org/drawingml/2006/main">
              <a:ext uri="{FF2B5EF4-FFF2-40B4-BE49-F238E27FC236}">
                <a16:creationId xmlns:a16="http://schemas.microsoft.com/office/drawing/2014/main" id="{078C6F43-A454-47B7-A582-0A072A94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抗美援朝出征地</a:t>
            </a:r>
          </a:p>
        </p:txBody>
      </p:sp>
      <p:sp>
        <p:nvSpPr>
          <p:cNvPr id="34" name="PPAGENT_CONNECTOR|from=radial-center|fromSide=right|to=radial-node-3|toSide=left">
            <a:extLst xmlns:a="http://schemas.openxmlformats.org/drawingml/2006/main">
              <a:ext uri="{FF2B5EF4-FFF2-40B4-BE49-F238E27FC236}">
                <a16:creationId xmlns:a16="http://schemas.microsoft.com/office/drawing/2014/main" id="{546E6627-E92F-4829-91F8-AC23257C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5" name="PPAGENT_QA|parent=radial-node-4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9B6F5492-1B13-4899-8754-8323666E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PPAGENT_QA|parent=radial-card-4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98FA6300-1E5D-4A57-96F1-9A6EAFAB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radial-card-4|role=title">
            <a:extLst xmlns:a="http://schemas.openxmlformats.org/drawingml/2006/main">
              <a:ext uri="{FF2B5EF4-FFF2-40B4-BE49-F238E27FC236}">
                <a16:creationId xmlns:a16="http://schemas.microsoft.com/office/drawing/2014/main" id="{93E3086E-4391-45F1-9B13-1FD0D19E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共和国工业奠基地</a:t>
            </a:r>
          </a:p>
        </p:txBody>
      </p:sp>
      <p:sp>
        <p:nvSpPr>
          <p:cNvPr id="38" name="PPAGENT_CONNECTOR|from=radial-center|fromSide=left|to=radial-node-4|toSide=right">
            <a:extLst xmlns:a="http://schemas.openxmlformats.org/drawingml/2006/main">
              <a:ext uri="{FF2B5EF4-FFF2-40B4-BE49-F238E27FC236}">
                <a16:creationId xmlns:a16="http://schemas.microsoft.com/office/drawing/2014/main" id="{BEF73AB1-23DF-47AC-8E6B-16739578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9" name="PPAGENT_QA|parent=radial-node-5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2F704310-D113-4FC3-8C39-68E7258D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0" name="PPAGENT_QA|parent=radial-card-5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0A590F65-FA2F-4058-A3BD-7A0FCD9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PPAGENT_QA|within=radial-card-5|role=title">
            <a:extLst xmlns:a="http://schemas.openxmlformats.org/drawingml/2006/main">
              <a:ext uri="{FF2B5EF4-FFF2-40B4-BE49-F238E27FC236}">
                <a16:creationId xmlns:a16="http://schemas.microsoft.com/office/drawing/2014/main" id="{B97706E4-1BDF-48FB-B0AC-5575BDF5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雷锋精神发祥地</a:t>
            </a:r>
          </a:p>
        </p:txBody>
      </p:sp>
      <p:sp>
        <p:nvSpPr>
          <p:cNvPr id="42" name="PPAGENT_CONNECTOR|from=radial-center|fromSide=right|to=radial-node-5|toSide=left">
            <a:extLst xmlns:a="http://schemas.openxmlformats.org/drawingml/2006/main">
              <a:ext uri="{FF2B5EF4-FFF2-40B4-BE49-F238E27FC236}">
                <a16:creationId xmlns:a16="http://schemas.microsoft.com/office/drawing/2014/main" id="{10A7ECE3-36EB-4F5B-97B6-77968594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“1+3+N”新矩阵连接全时全域育人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6C7C843-67E7-4710-850B-5558A1DD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55D3F68-DF91-4161-9C0D-5624451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C0C10085-BF95-4D68-A2CE-513F7A51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FED7C88D-086D-4BE5-8B05-3AF410C3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A09B0926-3C9A-4957-A699-8D21E6B0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1+6+N研学链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A60DE3E2-DEF7-4236-B8D6-EE1DC893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1个校﻿本基﻿地﻿、﻿6处核﻿心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场馆﻿、﻿N个配﻿套教﻿学点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A8CE6E58-D35E-444E-9B45-6B526914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6792A463-F5D5-401B-BB70-470EAB9D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3类青春课堂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EDB36727-DB74-4D57-801B-7EEC33C3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行走课堂·沉浸课堂·互动课堂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0ACE1-C0D5-464C-9717-9DCA39A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14909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3ADA1BA1-445B-4DEB-9874-8C8673E2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23481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35BE22DB-44AF-4F53-88FD-05B5F215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22529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N个教育场景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163D4C5A-7D4B-4D0C-A4BC-F66465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64439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校地、校企、校校党建联建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E3EF9-230C-4EB1-9D47-9D3FD01F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0578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body|role=index-2">
            <a:extLst xmlns:a="http://schemas.openxmlformats.org/drawingml/2006/main">
              <a:ext uri="{FF2B5EF4-FFF2-40B4-BE49-F238E27FC236}">
                <a16:creationId xmlns:a16="http://schemas.microsoft.com/office/drawing/2014/main" id="{D2365F04-EA10-48BF-A747-FAFB25A3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69150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body|role=title-2">
            <a:extLst xmlns:a="http://schemas.openxmlformats.org/drawingml/2006/main">
              <a:ext uri="{FF2B5EF4-FFF2-40B4-BE49-F238E27FC236}">
                <a16:creationId xmlns:a16="http://schemas.microsoft.com/office/drawing/2014/main" id="{65808643-2F4D-4EE9-9551-A65EE122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8198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五位一体育人生态</a:t>
            </a:r>
          </a:p>
        </p:txBody>
      </p:sp>
      <p:sp>
        <p:nvSpPr>
          <p:cNvPr id="31" name="PPAGENT_QA|within=composition-body|role=body-2">
            <a:extLst xmlns:a="http://schemas.openxmlformats.org/drawingml/2006/main">
              <a:ext uri="{FF2B5EF4-FFF2-40B4-BE49-F238E27FC236}">
                <a16:creationId xmlns:a16="http://schemas.microsoft.com/office/drawing/2014/main" id="{D3619ECE-EF06-488E-BF78-826236EE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0108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从“一时一地”走向“全时全域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一张任务单，把参观变成解决真实问题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EE5EF86-22D0-4079-A117-61A3E4B8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8602"/>
            <a:ext cx="7578090" cy="431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aside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81B6012-0BD8-411C-A9EE-CEEB6993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178" y="1956054"/>
            <a:ext cx="3008948" cy="3936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aside|role=accent">
            <a:extLst xmlns:a="http://schemas.openxmlformats.org/drawingml/2006/main">
              <a:ext uri="{FF2B5EF4-FFF2-40B4-BE49-F238E27FC236}">
                <a16:creationId xmlns:a16="http://schemas.microsoft.com/office/drawing/2014/main" id="{3D7681C8-6242-49FA-8D22-5178DBE4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178" y="1956054"/>
            <a:ext cx="66675" cy="3936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aside|role=eyebrow">
            <a:extLst xmlns:a="http://schemas.openxmlformats.org/drawingml/2006/main">
              <a:ext uri="{FF2B5EF4-FFF2-40B4-BE49-F238E27FC236}">
                <a16:creationId xmlns:a16="http://schemas.microsoft.com/office/drawing/2014/main" id="{A62AD172-6C7D-463F-BAC2-35B636DB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2013204"/>
            <a:ext cx="274224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9" name="PPAGENT_QA|within=composition-aside|role=title">
            <a:extLst xmlns:a="http://schemas.openxmlformats.org/drawingml/2006/main">
              <a:ext uri="{FF2B5EF4-FFF2-40B4-BE49-F238E27FC236}">
                <a16:creationId xmlns:a16="http://schemas.microsoft.com/office/drawing/2014/main" id="{C37C6480-5DAB-4E8C-9FD5-0A01247F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2413254"/>
            <a:ext cx="274224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时代订单</a:t>
            </a:r>
          </a:p>
        </p:txBody>
      </p:sp>
      <p:sp>
        <p:nvSpPr>
          <p:cNvPr id="20" name="PPAGENT_QA|within=composition-aside|role=body">
            <a:extLst xmlns:a="http://schemas.openxmlformats.org/drawingml/2006/main">
              <a:ext uri="{FF2B5EF4-FFF2-40B4-BE49-F238E27FC236}">
                <a16:creationId xmlns:a16="http://schemas.microsoft.com/office/drawing/2014/main" id="{BCD76307-E05F-446D-BAA0-651F4E05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3784854"/>
            <a:ext cx="2742248" cy="2050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振兴辽宁不是口号，而是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算法、图纸、代码，是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必须扛起的时代订单。</a:t>
            </a:r>
          </a:p>
        </p:txBody>
      </p:sp>
      <p:sp>
        <p:nvSpPr>
          <p:cNvPr id="21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426ECB10-4558-42DF-9012-58CBBDDB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48" y="2882313"/>
            <a:ext cx="2248167" cy="1705070"/>
          </a:xfrm>
          <a:prstGeom xmlns:a="http://schemas.openxmlformats.org/drawingml/2006/main" prst="roundRect">
            <a:avLst>
              <a:gd name="adj" fmla="val 670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6BB04AA-5C32-4ACB-B7DE-6F0670F6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837" y="2882313"/>
            <a:ext cx="2248167" cy="1705070"/>
          </a:xfrm>
          <a:prstGeom xmlns:a="http://schemas.openxmlformats.org/drawingml/2006/main" prst="roundRect">
            <a:avLst>
              <a:gd name="adj" fmla="val 6704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B7CE42D0-ED2F-4D57-829E-9071C6F3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825" y="2882313"/>
            <a:ext cx="2248167" cy="1705070"/>
          </a:xfrm>
          <a:prstGeom xmlns:a="http://schemas.openxmlformats.org/drawingml/2006/main" prst="roundRect">
            <a:avLst>
              <a:gd name="adj" fmla="val 670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49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012015" y="3734848"/>
            <a:ext cx="1768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437004" y="3734848"/>
            <a:ext cx="176821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AA11B-6137-4B23-9574-B1A97E9D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19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38EF4826-01A1-4C49-891B-E841A739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0" y="3488560"/>
            <a:ext cx="1970303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拍一段</a:t>
            </a:r>
          </a:p>
        </p:txBody>
      </p:sp>
      <p:sp>
        <p:nvSpPr>
          <p:cNvPr id="28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85CE3063-64FF-486C-A126-067EFCBD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0" y="3917985"/>
            <a:ext cx="1970303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“青声说史”短视频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A17ECA-F598-43CD-B5FE-B6FBA985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508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27C3DF44-8E4B-4C81-8ACF-547FACCA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768" y="3488560"/>
            <a:ext cx="1970303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解决一个</a:t>
            </a:r>
          </a:p>
        </p:txBody>
      </p:sp>
      <p:sp>
        <p:nvSpPr>
          <p:cNvPr id="31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7DD025E0-7D72-45B8-974C-8BCD4647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768" y="3917985"/>
            <a:ext cx="1970303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场馆或教学点“微难题”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FC4A5-97DF-4E13-8AA1-78E941C8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497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2E100C76-59FF-4825-BC0E-C9E4CBAF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757" y="3488560"/>
            <a:ext cx="1970303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带回一个</a:t>
            </a:r>
          </a:p>
        </p:txBody>
      </p:sp>
      <p:sp>
        <p:nvSpPr>
          <p:cNvPr id="34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3D2584A2-9F44-447F-A445-A2B4B71C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757" y="3917985"/>
            <a:ext cx="1970303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“振兴微课题”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22处旧址进入全景数据，7门党课实现“一键穿越”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A52144F-1FF8-441F-A5C5-0274EC6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3EB7F59-7C98-417F-B67A-4814A6E1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544DC1E1-987A-47E9-8B8E-2D943138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6F6B1B33-9B3B-4C3A-BD67-D34CC07A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0D1D0146-A6BD-43A6-BD8C-B9DDAD2E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A4E36D65-652D-491A-877D-78CACFB0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把22处“六地”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旧﻿址拍﻿成全﻿景数﻿据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5062EA61-9824-4E27-B176-CC1FA237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02878BDB-B4F3-4983-9814-BB5B98C5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课程供给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E3826F46-86C2-4F2A-9B31-19E462FF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开发7门“红色VR党课”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9CD68-7449-470D-B74F-6F93AE40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14909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D28E4584-E03A-437B-B776-C530DB53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23481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05A5BCDB-B78D-4E3E-B54B-A5276D0A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22529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服务覆盖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CAD18C3F-6F22-43B4-A2E7-05848C15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64439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170个支部、2400余名党员预约体验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0495B-3063-41A8-97F9-CE8D23A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0578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body|role=index-2">
            <a:extLst xmlns:a="http://schemas.openxmlformats.org/drawingml/2006/main">
              <a:ext uri="{FF2B5EF4-FFF2-40B4-BE49-F238E27FC236}">
                <a16:creationId xmlns:a16="http://schemas.microsoft.com/office/drawing/2014/main" id="{A5336F2B-9389-41B6-9162-6B826882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69150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body|role=title-2">
            <a:extLst xmlns:a="http://schemas.openxmlformats.org/drawingml/2006/main">
              <a:ext uri="{FF2B5EF4-FFF2-40B4-BE49-F238E27FC236}">
                <a16:creationId xmlns:a16="http://schemas.microsoft.com/office/drawing/2014/main" id="{45FFD6AA-15B4-45CA-BF48-1F057EDE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8198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示范认可</a:t>
            </a:r>
          </a:p>
        </p:txBody>
      </p:sp>
      <p:sp>
        <p:nvSpPr>
          <p:cNvPr id="31" name="PPAGENT_QA|within=composition-body|role=body-2">
            <a:extLst xmlns:a="http://schemas.openxmlformats.org/drawingml/2006/main">
              <a:ext uri="{FF2B5EF4-FFF2-40B4-BE49-F238E27FC236}">
                <a16:creationId xmlns:a16="http://schemas.microsoft.com/office/drawing/2014/main" id="{78A215E9-89FE-41BF-9DA9-C26487EB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0108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省级示范基地、高校基层党建创新一等奖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青年讲、青年听、青年信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807FACA-A057-44D8-AEB6-42EBEE1E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3ED5A34E-67EE-4D9B-9FC0-545A4381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74420EF-58A6-40BB-9596-1B1DE199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8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E880103A-23B0-4D1D-8CF0-BD01239F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17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parent=sequential-step-3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15CB2578-2CEA-43CD-8532-882B8410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59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38100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74341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69830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565320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D7DE0-9FE4-4B9F-8B23-DF0FF063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2D67330D-876E-4A6A-9FC2-03648125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32人混编</a:t>
            </a:r>
          </a:p>
        </p:txBody>
      </p:sp>
      <p:sp>
        <p:nvSpPr>
          <p:cNvPr id="25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3706897F-09EC-4EBA-9476-6889C960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博士、硕士、本科梯队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41F86-19A2-4D37-B41C-4CACA123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89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38621CD2-E10C-4492-AB14-E4E0D823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10类课件</a:t>
            </a:r>
          </a:p>
        </p:txBody>
      </p:sp>
      <p:sp>
        <p:nvSpPr>
          <p:cNvPr id="28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A16A5256-1D54-465B-BD3F-6D87ED6F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故事、短剧、红色闯关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4E023B-02B6-4592-8A56-386D36C7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38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619B0E7F-7141-4783-B4AD-57B6D5A4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36场宣讲</a:t>
            </a:r>
          </a:p>
        </p:txBody>
      </p:sp>
      <p:sp>
        <p:nvSpPr>
          <p:cNvPr id="31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1289EBF6-45B2-4DD4-9FB1-5FE8AEA4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进校园、进社区、进企业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6B00EB-5DDE-4A6F-8FA0-9B9BC9E2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877" y="2617543"/>
            <a:ext cx="100935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 / 结果</a:t>
            </a:r>
          </a:p>
        </p:txBody>
      </p:sp>
      <p:sp>
        <p:nvSpPr>
          <p:cNvPr id="33" name="PPAGENT_QA|within=sequential-step-3|role=title">
            <a:extLst xmlns:a="http://schemas.openxmlformats.org/drawingml/2006/main">
              <a:ext uri="{FF2B5EF4-FFF2-40B4-BE49-F238E27FC236}">
                <a16:creationId xmlns:a16="http://schemas.microsoft.com/office/drawing/2014/main" id="{C13253F3-3E3E-4C63-AF0B-0D7A4889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3800多人</a:t>
            </a:r>
          </a:p>
        </p:txBody>
      </p:sp>
      <p:sp>
        <p:nvSpPr>
          <p:cNvPr id="34" name="PPAGENT_QA|within=sequential-step-3|role=body">
            <a:extLst xmlns:a="http://schemas.openxmlformats.org/drawingml/2006/main">
              <a:ext uri="{FF2B5EF4-FFF2-40B4-BE49-F238E27FC236}">
                <a16:creationId xmlns:a16="http://schemas.microsoft.com/office/drawing/2014/main" id="{52D69294-21A3-4D9A-9132-D560CB45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覆盖师生群众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“红色朋友圈”把校园小盆景变成区域大风景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CAE99F3-CFF9-4D57-834F-C400EF2B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F93C0-9B12-44FD-B6BF-F5231434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230022"/>
            <a:ext cx="3208313" cy="32083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92F43-0F98-43F3-A819-AE6F99B9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34" y="2446313"/>
            <a:ext cx="2775732" cy="2775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radial-center|domains=radial-shape,radial-content">
            <a:extLst xmlns:a="http://schemas.openxmlformats.org/drawingml/2006/main">
              <a:ext uri="{FF2B5EF4-FFF2-40B4-BE49-F238E27FC236}">
                <a16:creationId xmlns:a16="http://schemas.microsoft.com/office/drawing/2014/main" id="{27EDB59E-B4EA-4DC1-B218-7615B456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62604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红色朋友圈</a:t>
            </a:r>
          </a:p>
        </p:txBody>
      </p:sp>
      <p:sp>
        <p:nvSpPr>
          <p:cNvPr id="19" name="PPAGENT_QA|parent=radial-node-0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63778287-038C-4B07-9A59-0F50CC37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PPAGENT_QA|parent=radial-card-0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168658DA-B7FB-4073-8999-FFCB9346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radial-card-0|role=title">
            <a:extLst xmlns:a="http://schemas.openxmlformats.org/drawingml/2006/main">
              <a:ext uri="{FF2B5EF4-FFF2-40B4-BE49-F238E27FC236}">
                <a16:creationId xmlns:a16="http://schemas.microsoft.com/office/drawing/2014/main" id="{24559ACE-1E2B-41CC-82E0-1513A26F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VR党课共享</a:t>
            </a:r>
          </a:p>
        </p:txBody>
      </p:sp>
      <p:sp>
        <p:nvSpPr>
          <p:cNvPr id="22" name="PPAGENT_CONNECTOR|from=radial-center|fromSide=left|to=radial-node-0|toSide=right">
            <a:extLst xmlns:a="http://schemas.openxmlformats.org/drawingml/2006/main">
              <a:ext uri="{FF2B5EF4-FFF2-40B4-BE49-F238E27FC236}">
                <a16:creationId xmlns:a16="http://schemas.microsoft.com/office/drawing/2014/main" id="{93D674E1-1E7A-49CF-91F3-4086B31C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85432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3" name="PPAGENT_QA|parent=radial-node-1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D2961077-9554-47D8-B9A6-8813BCE3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parent=radial-card-1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E6BD8BEA-D2A3-40F6-ACD2-8890A8F5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radial-card-1|role=title">
            <a:extLst xmlns:a="http://schemas.openxmlformats.org/drawingml/2006/main">
              <a:ext uri="{FF2B5EF4-FFF2-40B4-BE49-F238E27FC236}">
                <a16:creationId xmlns:a16="http://schemas.microsoft.com/office/drawing/2014/main" id="{692954CA-9B34-4429-90DE-BD594D7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主题党日联办</a:t>
            </a:r>
          </a:p>
        </p:txBody>
      </p:sp>
      <p:sp>
        <p:nvSpPr>
          <p:cNvPr id="26" name="PPAGENT_CONNECTOR|from=radial-center|fromSide=right|to=radial-node-1|toSide=left">
            <a:extLst xmlns:a="http://schemas.openxmlformats.org/drawingml/2006/main">
              <a:ext uri="{FF2B5EF4-FFF2-40B4-BE49-F238E27FC236}">
                <a16:creationId xmlns:a16="http://schemas.microsoft.com/office/drawing/2014/main" id="{AFFD99F2-EE54-4379-940A-2DEE95E3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67575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7" name="PPAGENT_QA|parent=radial-node-2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925CE4A5-127A-4C4D-88CF-E9F749C5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parent=radial-card-2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85725082-1EA4-4385-98F6-65CE3FA1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radial-card-2|role=title">
            <a:extLst xmlns:a="http://schemas.openxmlformats.org/drawingml/2006/main">
              <a:ext uri="{FF2B5EF4-FFF2-40B4-BE49-F238E27FC236}">
                <a16:creationId xmlns:a16="http://schemas.microsoft.com/office/drawing/2014/main" id="{FE7D758D-9884-413A-9B1B-5C3EAB2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红色资源联用</a:t>
            </a:r>
          </a:p>
        </p:txBody>
      </p:sp>
      <p:sp>
        <p:nvSpPr>
          <p:cNvPr id="30" name="PPAGENT_CONNECTOR|from=radial-center|fromSide=left|to=radial-node-2|toSide=right">
            <a:extLst xmlns:a="http://schemas.openxmlformats.org/drawingml/2006/main">
              <a:ext uri="{FF2B5EF4-FFF2-40B4-BE49-F238E27FC236}">
                <a16:creationId xmlns:a16="http://schemas.microsoft.com/office/drawing/2014/main" id="{BDC8A461-5152-4E28-8F7E-2B710205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1" name="PPAGENT_QA|parent=radial-node-3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B0DF2A70-6067-4BE6-9A49-341C81FA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PPAGENT_QA|parent=radial-card-3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5E64AC50-EA5A-47F2-B785-02FBC320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radial-card-3|role=title">
            <a:extLst xmlns:a="http://schemas.openxmlformats.org/drawingml/2006/main">
              <a:ext uri="{FF2B5EF4-FFF2-40B4-BE49-F238E27FC236}">
                <a16:creationId xmlns:a16="http://schemas.microsoft.com/office/drawing/2014/main" id="{C725A711-9D7F-4B95-988E-57E735B7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志愿服务联动</a:t>
            </a:r>
          </a:p>
        </p:txBody>
      </p:sp>
      <p:sp>
        <p:nvSpPr>
          <p:cNvPr id="34" name="PPAGENT_CONNECTOR|from=radial-center|fromSide=right|to=radial-node-3|toSide=left">
            <a:extLst xmlns:a="http://schemas.openxmlformats.org/drawingml/2006/main">
              <a:ext uri="{FF2B5EF4-FFF2-40B4-BE49-F238E27FC236}">
                <a16:creationId xmlns:a16="http://schemas.microsoft.com/office/drawing/2014/main" id="{FDFEE1F8-F3C3-4562-87DB-373C520B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5" name="PPAGENT_QA|parent=radial-node-4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A1562DB4-C646-4D25-8AEB-16CF58ED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PPAGENT_QA|parent=radial-card-4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13875F8F-556B-44E7-AB45-E069C6AE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radial-card-4|role=title">
            <a:extLst xmlns:a="http://schemas.openxmlformats.org/drawingml/2006/main">
              <a:ext uri="{FF2B5EF4-FFF2-40B4-BE49-F238E27FC236}">
                <a16:creationId xmlns:a16="http://schemas.microsoft.com/office/drawing/2014/main" id="{9BB81873-9F3F-4EEB-A7C9-34B6D97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组织资源经验互鉴</a:t>
            </a:r>
          </a:p>
        </p:txBody>
      </p:sp>
      <p:sp>
        <p:nvSpPr>
          <p:cNvPr id="38" name="PPAGENT_CONNECTOR|from=radial-center|fromSide=left|to=radial-node-4|toSide=right">
            <a:extLst xmlns:a="http://schemas.openxmlformats.org/drawingml/2006/main">
              <a:ext uri="{FF2B5EF4-FFF2-40B4-BE49-F238E27FC236}">
                <a16:creationId xmlns:a16="http://schemas.microsoft.com/office/drawing/2014/main" id="{6292B5CF-D73E-4DEC-812D-40347757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9" name="PPAGENT_QA|parent=radial-node-5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DB19482C-34A3-4248-BAC5-6F01D230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0" name="PPAGENT_QA|parent=radial-card-5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E2BD0FF0-A50C-4C56-BFA3-03B4E905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PPAGENT_QA|within=radial-card-5|role=title">
            <a:extLst xmlns:a="http://schemas.openxmlformats.org/drawingml/2006/main">
              <a:ext uri="{FF2B5EF4-FFF2-40B4-BE49-F238E27FC236}">
                <a16:creationId xmlns:a16="http://schemas.microsoft.com/office/drawing/2014/main" id="{601A8E13-84AE-47FB-8C9B-E1E02F73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“六地精神西部行”</a:t>
            </a:r>
          </a:p>
        </p:txBody>
      </p:sp>
      <p:sp>
        <p:nvSpPr>
          <p:cNvPr id="42" name="PPAGENT_CONNECTOR|from=radial-center|fromSide=right|to=radial-node-5|toSide=left">
            <a:extLst xmlns:a="http://schemas.openxmlformats.org/drawingml/2006/main">
              <a:ext uri="{FF2B5EF4-FFF2-40B4-BE49-F238E27FC236}">
                <a16:creationId xmlns:a16="http://schemas.microsoft.com/office/drawing/2014/main" id="{038702E8-EB39-4F32-BFE2-B68C6693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把“六地”教育嵌入党员成长全周期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5DEC26C-C76F-439D-9B18-8BF9D307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279BE5F-274D-48BB-A5A9-556066EE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961B1E97-C25E-4076-989D-008968D8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9C94124E-00C2-429B-A97A-C127FCE4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44DD6211-670F-4A6F-87E3-CC3FFA52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四阶培养链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28269846-4B8C-4E0A-96EF-216FEF7A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入﻿学—入﻿党—转正—毕﻿业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70BDA5E9-B742-41B4-9F45-3A51724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E38BDFD7-4E09-47FA-9396-717ECA2D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制度嵌入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B04C336D-D186-445C-B942-1CE8C8EC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红色实践计入学分；VR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党课写进“三会一课”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6E4BC-809A-4EBC-A82D-B56E2151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6A834D09-5383-49DB-86A7-4030311D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0BB79070-3131-4F3B-92FF-9F626F2A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导师接力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C9C0C406-B853-40CF-8C0D-BCE49400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32587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36位纪念馆专家、抗美援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朝老战士担任“红色导师”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五年深耕，让“学霸”有了新标签：红色先锋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EC0ED67-0307-4473-A8B2-B57214E0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matrix-petal-0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8CC557A7-2619-4870-ACAB-9EDE8662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3819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within=matrix-petal-0|role=initial">
            <a:extLst xmlns:a="http://schemas.openxmlformats.org/drawingml/2006/main">
              <a:ext uri="{FF2B5EF4-FFF2-40B4-BE49-F238E27FC236}">
                <a16:creationId xmlns:a16="http://schemas.microsoft.com/office/drawing/2014/main" id="{CDB0C69D-8DF2-4066-ADE1-D8AECE52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</a:t>
            </a:r>
          </a:p>
        </p:txBody>
      </p:sp>
      <p:sp>
        <p:nvSpPr>
          <p:cNvPr id="18" name="PPAGENT_QA|within=matrix-petal-0|role=title">
            <a:extLst xmlns:a="http://schemas.openxmlformats.org/drawingml/2006/main">
              <a:ext uri="{FF2B5EF4-FFF2-40B4-BE49-F238E27FC236}">
                <a16:creationId xmlns:a16="http://schemas.microsoft.com/office/drawing/2014/main" id="{0AB0A9F1-FA8B-4FB7-8CB3-3DF9CCDD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19" name="PPAGENT_QA|parent=matrix-quadrant-0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AFAE137F-C5F4-43A4-BBEE-4CC9472B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PPAGENT_QA|within=matrix-quadrant-0|role=title">
            <a:extLst xmlns:a="http://schemas.openxmlformats.org/drawingml/2006/main">
              <a:ext uri="{FF2B5EF4-FFF2-40B4-BE49-F238E27FC236}">
                <a16:creationId xmlns:a16="http://schemas.microsoft.com/office/drawing/2014/main" id="{C60BAECD-1580-4CBD-BEDC-501AF3ED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9892E-9685-49FB-9B59-861FF9BD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matrix-quadrant-0|role=body">
            <a:extLst xmlns:a="http://schemas.openxmlformats.org/drawingml/2006/main">
              <a:ext uri="{FF2B5EF4-FFF2-40B4-BE49-F238E27FC236}">
                <a16:creationId xmlns:a16="http://schemas.microsoft.com/office/drawing/2014/main" id="{B571BA05-A9B0-44D1-8A2C-9A99F97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毕业后留辽意愿：58%→87%</a:t>
            </a:r>
          </a:p>
        </p:txBody>
      </p:sp>
      <p:sp>
        <p:nvSpPr>
          <p:cNvPr id="23" name="PPAGENT_CONNECTOR|from=matrix-quadrant-0|fromSide=right|to=matrix-petal-0|toSide=left">
            <a:extLst xmlns:a="http://schemas.openxmlformats.org/drawingml/2006/main">
              <a:ext uri="{FF2B5EF4-FFF2-40B4-BE49-F238E27FC236}">
                <a16:creationId xmlns:a16="http://schemas.microsoft.com/office/drawing/2014/main" id="{5063293C-40CC-494F-9454-ACE12B74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4947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  <p:sp>
        <p:nvSpPr>
          <p:cNvPr id="24" name="PPAGENT_QA|parent=matrix-petal-1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71BDD684-F853-4796-BB20-69B07368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0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PPAGENT_QA|within=matrix-petal-1|role=initial">
            <a:extLst xmlns:a="http://schemas.openxmlformats.org/drawingml/2006/main">
              <a:ext uri="{FF2B5EF4-FFF2-40B4-BE49-F238E27FC236}">
                <a16:creationId xmlns:a16="http://schemas.microsoft.com/office/drawing/2014/main" id="{A86CA5B0-927C-4F9C-9DCF-C30D3E2F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</a:t>
            </a:r>
          </a:p>
        </p:txBody>
      </p:sp>
      <p:sp>
        <p:nvSpPr>
          <p:cNvPr id="26" name="PPAGENT_QA|within=matrix-petal-1|role=title">
            <a:extLst xmlns:a="http://schemas.openxmlformats.org/drawingml/2006/main">
              <a:ext uri="{FF2B5EF4-FFF2-40B4-BE49-F238E27FC236}">
                <a16:creationId xmlns:a16="http://schemas.microsoft.com/office/drawing/2014/main" id="{06CFB243-6415-45B5-BCF4-8DFB20E0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27" name="PPAGENT_QA|parent=matrix-quadrant-1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F421EA0D-D351-4573-B520-B7262DC5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PPAGENT_QA|within=matrix-quadrant-1|role=title">
            <a:extLst xmlns:a="http://schemas.openxmlformats.org/drawingml/2006/main">
              <a:ext uri="{FF2B5EF4-FFF2-40B4-BE49-F238E27FC236}">
                <a16:creationId xmlns:a16="http://schemas.microsoft.com/office/drawing/2014/main" id="{06557AB1-3F98-4516-82B6-FB1F05A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8D2D23-8975-4640-825E-C5A18241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matrix-quadrant-1|role=body">
            <a:extLst xmlns:a="http://schemas.openxmlformats.org/drawingml/2006/main">
              <a:ext uri="{FF2B5EF4-FFF2-40B4-BE49-F238E27FC236}">
                <a16:creationId xmlns:a16="http://schemas.microsoft.com/office/drawing/2014/main" id="{9E07ED3C-2C95-41E6-968F-F4C496B8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26份微课题，8家企业当场“收货”</a:t>
            </a:r>
          </a:p>
        </p:txBody>
      </p:sp>
      <p:sp>
        <p:nvSpPr>
          <p:cNvPr id="31" name="PPAGENT_CONNECTOR|from=matrix-quadrant-1|fromSide=left|to=matrix-petal-1|toSide=right">
            <a:extLst xmlns:a="http://schemas.openxmlformats.org/drawingml/2006/main">
              <a:ext uri="{FF2B5EF4-FFF2-40B4-BE49-F238E27FC236}">
                <a16:creationId xmlns:a16="http://schemas.microsoft.com/office/drawing/2014/main" id="{C50A8A34-4D6D-4695-B294-8FB218EB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718181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AEEF"/>
            </a:solidFill>
            <a:prstDash val="solid"/>
          </a:ln>
        </p:spPr>
      </p:sp>
      <p:sp>
        <p:nvSpPr>
          <p:cNvPr id="32" name="PPAGENT_QA|parent=matrix-petal-2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6545EFD9-3FB6-4F18-AA6C-E2C65EAC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3819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matrix-petal-2|role=initial">
            <a:extLst xmlns:a="http://schemas.openxmlformats.org/drawingml/2006/main">
              <a:ext uri="{FF2B5EF4-FFF2-40B4-BE49-F238E27FC236}">
                <a16:creationId xmlns:a16="http://schemas.microsoft.com/office/drawing/2014/main" id="{2043FE38-F163-4664-A8EB-31F8414F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声</a:t>
            </a:r>
          </a:p>
        </p:txBody>
      </p:sp>
      <p:sp>
        <p:nvSpPr>
          <p:cNvPr id="34" name="PPAGENT_QA|within=matrix-petal-2|role=title">
            <a:extLst xmlns:a="http://schemas.openxmlformats.org/drawingml/2006/main">
              <a:ext uri="{FF2B5EF4-FFF2-40B4-BE49-F238E27FC236}">
                <a16:creationId xmlns:a16="http://schemas.microsoft.com/office/drawing/2014/main" id="{D26313B0-4115-4BE8-B380-A2864B1B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35" name="PPAGENT_QA|parent=matrix-quadrant-2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F1F11659-AEAA-43EC-81DA-B12F3BDA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PAGENT_QA|within=matrix-quadrant-2|role=title">
            <a:extLst xmlns:a="http://schemas.openxmlformats.org/drawingml/2006/main">
              <a:ext uri="{FF2B5EF4-FFF2-40B4-BE49-F238E27FC236}">
                <a16:creationId xmlns:a16="http://schemas.microsoft.com/office/drawing/2014/main" id="{112759DF-9B6B-4B75-9DE9-37265F8F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34A3D3-AF90-45E8-9A24-E2ED3C3E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matrix-quadrant-2|role=body">
            <a:extLst xmlns:a="http://schemas.openxmlformats.org/drawingml/2006/main">
              <a:ext uri="{FF2B5EF4-FFF2-40B4-BE49-F238E27FC236}">
                <a16:creationId xmlns:a16="http://schemas.microsoft.com/office/drawing/2014/main" id="{E1150516-BC45-4F72-ADA7-DB131ABE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理论飞入社区、课堂和生产一线</a:t>
            </a:r>
          </a:p>
        </p:txBody>
      </p:sp>
      <p:sp>
        <p:nvSpPr>
          <p:cNvPr id="39" name="PPAGENT_CONNECTOR|from=matrix-quadrant-2|fromSide=right|to=matrix-petal-2|toSide=left">
            <a:extLst xmlns:a="http://schemas.openxmlformats.org/drawingml/2006/main">
              <a:ext uri="{FF2B5EF4-FFF2-40B4-BE49-F238E27FC236}">
                <a16:creationId xmlns:a16="http://schemas.microsoft.com/office/drawing/2014/main" id="{70EBD6D6-19A8-45C9-954C-51B7D820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4947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AEEF"/>
            </a:solidFill>
            <a:prstDash val="solid"/>
          </a:ln>
        </p:spPr>
      </p:sp>
      <p:sp>
        <p:nvSpPr>
          <p:cNvPr id="40" name="PPAGENT_QA|parent=matrix-petal-3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F047BBB9-41EA-47FA-AF91-BA48645A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96000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PPAGENT_QA|within=matrix-petal-3|role=initial">
            <a:extLst xmlns:a="http://schemas.openxmlformats.org/drawingml/2006/main">
              <a:ext uri="{FF2B5EF4-FFF2-40B4-BE49-F238E27FC236}">
                <a16:creationId xmlns:a16="http://schemas.microsoft.com/office/drawing/2014/main" id="{F386F764-DCC0-4ACA-A6C2-5614349C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</a:t>
            </a:r>
          </a:p>
        </p:txBody>
      </p:sp>
      <p:sp>
        <p:nvSpPr>
          <p:cNvPr id="42" name="PPAGENT_QA|within=matrix-petal-3|role=title">
            <a:extLst xmlns:a="http://schemas.openxmlformats.org/drawingml/2006/main">
              <a:ext uri="{FF2B5EF4-FFF2-40B4-BE49-F238E27FC236}">
                <a16:creationId xmlns:a16="http://schemas.microsoft.com/office/drawing/2014/main" id="{4B243F00-0F23-408B-A975-F6119B2D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43" name="PPAGENT_QA|parent=matrix-quadrant-3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E3A14B24-8511-47F6-B6F4-2BC9C696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PPAGENT_QA|within=matrix-quadrant-3|role=title">
            <a:extLst xmlns:a="http://schemas.openxmlformats.org/drawingml/2006/main">
              <a:ext uri="{FF2B5EF4-FFF2-40B4-BE49-F238E27FC236}">
                <a16:creationId xmlns:a16="http://schemas.microsoft.com/office/drawing/2014/main" id="{70AAB793-7527-47AD-B476-1E887F85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5873A6-9573-41A9-906D-EFF9FDED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PAGENT_QA|within=matrix-quadrant-3|role=body">
            <a:extLst xmlns:a="http://schemas.openxmlformats.org/drawingml/2006/main">
              <a:ext uri="{FF2B5EF4-FFF2-40B4-BE49-F238E27FC236}">
                <a16:creationId xmlns:a16="http://schemas.microsoft.com/office/drawing/2014/main" id="{EA641E83-3F46-4D8E-B664-466C1343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选调生/重大装备研发：+40%</a:t>
            </a:r>
          </a:p>
        </p:txBody>
      </p:sp>
      <p:sp>
        <p:nvSpPr>
          <p:cNvPr id="47" name="PPAGENT_CONNECTOR|from=matrix-quadrant-3|fromSide=left|to=matrix-petal-3|toSide=right">
            <a:extLst xmlns:a="http://schemas.openxmlformats.org/drawingml/2006/main">
              <a:ext uri="{FF2B5EF4-FFF2-40B4-BE49-F238E27FC236}">
                <a16:creationId xmlns:a16="http://schemas.microsoft.com/office/drawing/2014/main" id="{A9A64839-19CA-43FD-B540-2E02400F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718181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十年探路、五年深耕，把红色基因熔铸进青春年轮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392797C-025E-4F51-956E-4F72F803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6E5E1D6-C253-4FFC-81C7-5F68CD84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2B94F511-11E7-4D9A-AA01-A746CE96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7A3DE0B3-6405-44A1-8C57-9EA0FEA5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DB096BB4-F2E7-4BCB-9EF5-946D89BF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五个抓手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B3AEDADE-D00A-4FF5-8978-FF58FD40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研﻿学链贯﻿通血脉﻿，﻿任﻿务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单激﻿发担﻿当﻿，﻿VR跨﻿越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时﻿空﻿，﻿宣﻿讲团传﻿递信﻿仰，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育人机﻿制夯实成﻿长。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323A5DCB-AFF8-4A01-9EF9-F70B71C8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4CBCC9C5-A322-4C98-B63E-7A204066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总书记嘱托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B869506D-7397-4702-A650-31823F7C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讲好党的故事、革命的故事、英雄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的故事，把红色基因传承下去。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05C2D705-3F3C-44B3-A4A3-0BC6C05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“六地”红：成为理工青年最鲜亮的青春底色
我的汇报完毕，谢谢大家！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2026-08-11T23:02:02.6480000Z</dcterms:created>
  <dcterms:modified xsi:type="dcterms:W3CDTF">2026-08-11T23:02:02.6480000Z</dcterms:modified>
</coreProperties>
</file>