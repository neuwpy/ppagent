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c310db2d8640bc" /><Relationship Type="http://schemas.openxmlformats.org/officeDocument/2006/relationships/extended-properties" Target="/docProps/app.xml" Id="Rf58c164ff5fc4493" /><Relationship Type="http://schemas.openxmlformats.org/officeDocument/2006/relationships/officeDocument" Target="/ppt/presentation.xml" Id="R9464b24023c44a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d686e4b10f4c49"/>
    <p:sldMasterId xmlns:r="http://schemas.openxmlformats.org/officeDocument/2006/relationships" id="2147483660" r:id="R49645ff448d94fb7"/>
    <p:sldMasterId xmlns:r="http://schemas.openxmlformats.org/officeDocument/2006/relationships" id="2147483663" r:id="R84bf2712ceb049d1"/>
  </p:sldMasterIdLst>
  <p:notesMasterIdLst>
    <p:notesMasterId xmlns:r="http://schemas.openxmlformats.org/officeDocument/2006/relationships" r:id="R4811672663a842c7"/>
  </p:notesMasterIdLst>
  <p:sldIdLst>
    <p:sldId xmlns:r="http://schemas.openxmlformats.org/officeDocument/2006/relationships" id="256" r:id="R99a824601e2e4445"/>
    <p:sldId xmlns:r="http://schemas.openxmlformats.org/officeDocument/2006/relationships" id="257" r:id="Re19e5d9ba6cb4781"/>
    <p:sldId xmlns:r="http://schemas.openxmlformats.org/officeDocument/2006/relationships" id="258" r:id="R0a0e9c49893f492a"/>
    <p:sldId xmlns:r="http://schemas.openxmlformats.org/officeDocument/2006/relationships" id="259" r:id="Rf08fad41a2144c48"/>
    <p:sldId xmlns:r="http://schemas.openxmlformats.org/officeDocument/2006/relationships" id="260" r:id="R7985b08de5084a73"/>
    <p:sldId xmlns:r="http://schemas.openxmlformats.org/officeDocument/2006/relationships" id="261" r:id="R004834acce714ca1"/>
    <p:sldId xmlns:r="http://schemas.openxmlformats.org/officeDocument/2006/relationships" id="262" r:id="R00c95f1e306746ff"/>
    <p:sldId xmlns:r="http://schemas.openxmlformats.org/officeDocument/2006/relationships" id="263" r:id="Rd7b6aeb18f204659"/>
    <p:sldId xmlns:r="http://schemas.openxmlformats.org/officeDocument/2006/relationships" id="264" r:id="R7b245ea38ad046fe"/>
    <p:sldId xmlns:r="http://schemas.openxmlformats.org/officeDocument/2006/relationships" id="265" r:id="Rd0f37ab5fe1e44d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3a03d243e8491e" /><Relationship Type="http://schemas.openxmlformats.org/officeDocument/2006/relationships/slideMaster" Target="/ppt/slideMasters/slideMaster1.xml" Id="R00d686e4b10f4c49" /><Relationship Type="http://schemas.openxmlformats.org/officeDocument/2006/relationships/slideMaster" Target="/ppt/slideMasters/slideMaster2.xml" Id="R49645ff448d94fb7" /><Relationship Type="http://schemas.openxmlformats.org/officeDocument/2006/relationships/slideMaster" Target="/ppt/slideMasters/slideMaster3.xml" Id="R84bf2712ceb049d1" /><Relationship Type="http://schemas.openxmlformats.org/officeDocument/2006/relationships/notesMaster" Target="/ppt/notesMasters/notesMaster1.xml" Id="R4811672663a842c7" /><Relationship Type="http://schemas.openxmlformats.org/officeDocument/2006/relationships/presProps" Target="/ppt/presProps.xml" Id="Ra715ab3c5e7348eb" /><Relationship Type="http://schemas.openxmlformats.org/officeDocument/2006/relationships/viewProps" Target="/ppt/viewProps.xml" Id="Rc7d567319b8b4df6" /><Relationship Type="http://schemas.openxmlformats.org/officeDocument/2006/relationships/tableStyles" Target="/ppt/tableStyles.xml" Id="Rdb8b7488a43b4762" /><Relationship Type="http://schemas.openxmlformats.org/officeDocument/2006/relationships/slide" Target="/ppt/slides/slide1.xml" Id="R99a824601e2e4445" /><Relationship Type="http://schemas.openxmlformats.org/officeDocument/2006/relationships/slide" Target="/ppt/slides/slide2.xml" Id="Re19e5d9ba6cb4781" /><Relationship Type="http://schemas.openxmlformats.org/officeDocument/2006/relationships/slide" Target="/ppt/slides/slide3.xml" Id="R0a0e9c49893f492a" /><Relationship Type="http://schemas.openxmlformats.org/officeDocument/2006/relationships/slide" Target="/ppt/slides/slide4.xml" Id="Rf08fad41a2144c48" /><Relationship Type="http://schemas.openxmlformats.org/officeDocument/2006/relationships/slide" Target="/ppt/slides/slide5.xml" Id="R7985b08de5084a73" /><Relationship Type="http://schemas.openxmlformats.org/officeDocument/2006/relationships/slide" Target="/ppt/slides/slide6.xml" Id="R004834acce714ca1" /><Relationship Type="http://schemas.openxmlformats.org/officeDocument/2006/relationships/slide" Target="/ppt/slides/slide7.xml" Id="R00c95f1e306746ff" /><Relationship Type="http://schemas.openxmlformats.org/officeDocument/2006/relationships/slide" Target="/ppt/slides/slide8.xml" Id="Rd7b6aeb18f204659" /><Relationship Type="http://schemas.openxmlformats.org/officeDocument/2006/relationships/slide" Target="/ppt/slides/slide9.xml" Id="R7b245ea38ad046fe" /><Relationship Type="http://schemas.openxmlformats.org/officeDocument/2006/relationships/slide" Target="/ppt/slides/slide10.xml" Id="Rd0f37ab5fe1e44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4bee1af1d81b4e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7d97dbb6554456" /><Relationship Type="http://schemas.openxmlformats.org/officeDocument/2006/relationships/notesMaster" Target="/ppt/notesMasters/notesMaster1.xml" Id="R7ac4d2c57f4944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0175bff204f44de" /><Relationship Type="http://schemas.openxmlformats.org/officeDocument/2006/relationships/notesMaster" Target="/ppt/notesMasters/notesMaster1.xml" Id="R783971f2399a43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fc4a12b5a6408b" /><Relationship Type="http://schemas.openxmlformats.org/officeDocument/2006/relationships/notesMaster" Target="/ppt/notesMasters/notesMaster1.xml" Id="R10cf835f64604c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e7142fa8364c31" /><Relationship Type="http://schemas.openxmlformats.org/officeDocument/2006/relationships/notesMaster" Target="/ppt/notesMasters/notesMaster1.xml" Id="Rec889685bb124b7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e09273b0604426" /><Relationship Type="http://schemas.openxmlformats.org/officeDocument/2006/relationships/notesMaster" Target="/ppt/notesMasters/notesMaster1.xml" Id="Re333a6a71a154b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e32bfec0ded4b0a" /><Relationship Type="http://schemas.openxmlformats.org/officeDocument/2006/relationships/notesMaster" Target="/ppt/notesMasters/notesMaster1.xml" Id="R80982ca0b0e04f8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91389d4e3874e4b" /><Relationship Type="http://schemas.openxmlformats.org/officeDocument/2006/relationships/notesMaster" Target="/ppt/notesMasters/notesMaster1.xml" Id="R9dbbf35ac27c471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0b600b33ce94443" /><Relationship Type="http://schemas.openxmlformats.org/officeDocument/2006/relationships/notesMaster" Target="/ppt/notesMasters/notesMaster1.xml" Id="R52dd8247f00644d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81ebff06eec4220" /><Relationship Type="http://schemas.openxmlformats.org/officeDocument/2006/relationships/notesMaster" Target="/ppt/notesMasters/notesMaster1.xml" Id="Rc9e4c3c064ac4be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98dd2716feb42d2" /><Relationship Type="http://schemas.openxmlformats.org/officeDocument/2006/relationships/notesMaster" Target="/ppt/notesMasters/notesMaster1.xml" Id="Rfa782b130c3f4e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内容：稿件/为什么做PPagenT-v1.md</a:t>
            </a:r>
          </a:p>
          <a:p xmlns:a="http://schemas.openxmlformats.org/drawingml/2006/main">
            <a:r>
              <a:t>- 视觉：PPT模板-封面正文尾页.pptx（用户提供的东北大学模板）</a:t>
            </a:r>
          </a:p>
          <a:p xmlns:a="http://schemas.openxmlformats.org/drawingml/2006/main">
            <a:r>
              <a:t>- PPagenT：shell-cover-intent → northeastern-university-cover-001</a:t>
            </a:r>
          </a:p>
          <a:p xmlns:a="http://schemas.openxmlformats.org/drawingml/2006/main">
            <a:r>
              <a:t>- 整页编排：fixed-cover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PPagenT：shell-agenda-intent → northeastern-university-agenda-001</a:t>
            </a:r>
            <a:endParaRPr/>
          </a:p>
          <a:p xmlns:a="http://schemas.openxmlformats.org/drawingml/2006/main">
            <a:r>
              <a:t>- 整页编排：fixed-agenda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PPagenT：p1-intent → parallel-cards-001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PPagenT：p2-intent → northeastern-university-body-001</a:t>
            </a:r>
            <a:endParaRPr/>
          </a:p>
          <a:p xmlns:a="http://schemas.openxmlformats.org/drawingml/2006/main">
            <a:r>
              <a:t>- 整页编排：editorial-single-focus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PPagenT：p3-intent → sequential-process-001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PPagenT：p4-intent → comparison-structure-001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PPagenT：p5-intent → northeastern-university-body-001</a:t>
            </a:r>
            <a:endParaRPr/>
          </a:p>
          <a:p xmlns:a="http://schemas.openxmlformats.org/drawingml/2006/main">
            <a:r>
              <a:t>- 整页编排：editorial-dual-statement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PPagenT：p6-intent → sequential-process-001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PPagenT：p7-intent → parallel-cards-001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内容：稿件/为什么做PPagenT-v1.md</a:t>
            </a:r>
          </a:p>
          <a:p xmlns:a="http://schemas.openxmlformats.org/drawingml/2006/main">
            <a:r>
              <a:t>- 视觉：PPT模板-封面正文尾页.pptx（用户提供的东北大学模板）</a:t>
            </a:r>
          </a:p>
          <a:p xmlns:a="http://schemas.openxmlformats.org/drawingml/2006/main">
            <a:r>
              <a:t>- PPagenT：shell-closing-intent → northeastern-university-closing-001</a:t>
            </a:r>
          </a:p>
          <a:p xmlns:a="http://schemas.openxmlformats.org/drawingml/2006/main">
            <a:r>
              <a:t>- 整页编排：fixed-closing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b77135822648e5" /><Relationship Type="http://schemas.openxmlformats.org/officeDocument/2006/relationships/image" Target="/ppt/media/image.jpeg" Id="R520f7d6411774ad5" /><Relationship Type="http://schemas.openxmlformats.org/officeDocument/2006/relationships/image" Target="/ppt/media/image.png" Id="Rdf5ea8b5dbe447a6" /><Relationship Type="http://schemas.openxmlformats.org/officeDocument/2006/relationships/image" Target="/ppt/media/image2.png" Id="R21be0e30e2be47f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0dcabbbbdc47a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77798345b347af" /><Relationship Type="http://schemas.openxmlformats.org/officeDocument/2006/relationships/image" Target="/ppt/media/image3.png" Id="Re138635458bc496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6d500ef90d4d97" /><Relationship Type="http://schemas.openxmlformats.org/officeDocument/2006/relationships/image" Target="/ppt/media/image4.png" Id="R3ee624734cc0406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14f5af1650481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331d50cc9a462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53ea195cb649e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d44ee37e1d420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2827b794f349d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2dfbf26cd8463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a2589c33844a90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e170c1ec3ca4fe4" /><Relationship Type="http://schemas.openxmlformats.org/officeDocument/2006/relationships/image" Target="/ppt/media/image5.png" Id="R7b878083a7314dab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d1c3feb430a47ea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4c2e85d0150e46a0" /><Relationship Type="http://schemas.openxmlformats.org/officeDocument/2006/relationships/image" Target="/ppt/media/image5.png" Id="Ra0192453f15042c5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7ee20d8a500b4416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0f7d6411774ad5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5ea8b5dbe447a6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be0e30e2be47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1D617257-557A-4380-A4B8-B06A1C04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38635458bc4961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D929B9D7-9D18-4DFA-A13F-614AD1ED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BC30530B-9639-4697-B7C8-14DF49F1C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3495A4CD-59FB-426A-9908-F4D99149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B1D7B27A-90DA-495E-9DA9-9D61FC56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e624734cc0406e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44095DF7-69D3-4059-A4D3-86699ACD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92F07FAE-A077-4D83-873C-53800D2C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D6DB9F2-1298-4DFA-8AF6-BED010487A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DDDCF1-B46D-4523-8FC4-4ABD785912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82236D18-EF6F-4174-8CB9-B42424090CB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2C1B6AF6-8C0A-4836-AAA1-2D512BB7F4C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79D70B36-026F-4FB5-99DF-801896CF9653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EF8AFD3-B564-43FE-9E21-0D54677A72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048F6690-C7D1-4AA9-812F-5754872DD74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A7844BD-689D-411A-AD8D-BE0F529D05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EA3A677-B1F9-4CF1-8F60-12A8B0F741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35E86CDC-A69B-4AD8-8831-804A647BB7D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3154088D-D30F-474E-B6BD-11DD170335A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6544304E-EADC-4ABE-BF35-9EFF978B6E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7F3E73FA-D348-4FB1-A460-06B377B29B9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8A0A4C18-D0A5-484B-9F88-18027D34672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51DFC1E6-AD88-4C75-B453-A77A6EF4AD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39D9423-63D6-41F0-B68D-5AD6E8BE36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3A254C17-983F-47B7-92A1-64E4EECE9A8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47C40F5B-50C6-403F-B88B-EBE92C4048F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909B8C01-6961-4615-A081-3CB1B883453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C7B27F9-D6A9-40EC-AA37-37390DD52F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D9182169-0572-42B3-8ED4-FFCFBC648A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1B3D575-FEFB-4EC5-BE06-5E8ECCF8D7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9227FAFA-9DEE-4C6E-AA88-D1149075C792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DA10BEB4-5089-4355-B1C9-2E2D1789F80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60960941-E1BB-4ABF-B203-03307FAF5A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B25F32C2-9B11-47E6-8870-5E5B06FCDE8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C839DE3-85C8-4A20-AA52-145D4B117D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01652D3-D407-4EA8-B048-FBB80DE8FC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EF463BDC-12B6-4D66-A98E-C435FD7418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1B7C8B9-4148-4601-AFCA-5DF274D1022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2C99F39-9F52-4CC6-A9C7-57C2B0E3200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0C25FEB-D455-4BF8-BDCF-B9B80D9E771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AF67945-6868-4E4A-853A-050DF98874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BA91B514-00A3-41AA-84ED-C3BF844394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DF89EFB-7CF4-45C4-9A10-4194A5B596E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653F522-88C9-4C67-A126-0E73B8D2F9F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6902C8A-AF36-4355-A932-A42A11A9BFF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878083a7314dab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64B32D41-2C06-468A-9994-19869A4E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4AFF18E-A598-4D7D-8257-980BFB15B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325E22BE-B4A8-4FBF-BF15-487F24E14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61EB7F8C-CF4A-4D77-B510-F93BC57D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192453f15042c5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699C5DFE-FF5B-4BD1-B939-CA04D699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61D87CDA-0EF6-44FB-86CF-08C361D2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3109939-0E16-442D-94E0-C44A12EB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79D70769-1119-46EF-AB2F-9692E29AC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80ecbb337b468f" /><Relationship Type="http://schemas.openxmlformats.org/officeDocument/2006/relationships/slideLayout" Target="/ppt/slideLayouts/slideLayout1.xml" Id="R0f6ba6887f0247ff" /><Relationship Type="http://schemas.openxmlformats.org/officeDocument/2006/relationships/slideLayout" Target="/ppt/slideLayouts/slideLayout2.xml" Id="R77af3d83933c4901" /><Relationship Type="http://schemas.openxmlformats.org/officeDocument/2006/relationships/slideLayout" Target="/ppt/slideLayouts/slideLayout3.xml" Id="Reca3c07cbc244304" /><Relationship Type="http://schemas.openxmlformats.org/officeDocument/2006/relationships/slideLayout" Target="/ppt/slideLayouts/slideLayout4.xml" Id="R7cc823a0435741a4" /><Relationship Type="http://schemas.openxmlformats.org/officeDocument/2006/relationships/slideLayout" Target="/ppt/slideLayouts/slideLayout5.xml" Id="Rd9a684633efb4212" /><Relationship Type="http://schemas.openxmlformats.org/officeDocument/2006/relationships/slideLayout" Target="/ppt/slideLayouts/slideLayout6.xml" Id="Rd4e1142dcc154002" /><Relationship Type="http://schemas.openxmlformats.org/officeDocument/2006/relationships/slideLayout" Target="/ppt/slideLayouts/slideLayout7.xml" Id="Rca72dddbfa9d4e6b" /><Relationship Type="http://schemas.openxmlformats.org/officeDocument/2006/relationships/slideLayout" Target="/ppt/slideLayouts/slideLayout8.xml" Id="R5e8b6a8f2c034a78" /><Relationship Type="http://schemas.openxmlformats.org/officeDocument/2006/relationships/slideLayout" Target="/ppt/slideLayouts/slideLayout9.xml" Id="Rbecf9e8311444757" /><Relationship Type="http://schemas.openxmlformats.org/officeDocument/2006/relationships/slideLayout" Target="/ppt/slideLayouts/slideLayout10.xml" Id="Rf59511ac04b1493d" /><Relationship Type="http://schemas.openxmlformats.org/officeDocument/2006/relationships/slideLayout" Target="/ppt/slideLayouts/slideLayout11.xml" Id="Rd6e83b9cba764da2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b7cc05461271419b" /><Relationship Type="http://schemas.openxmlformats.org/officeDocument/2006/relationships/slideLayout" Target="/ppt/slideLayouts/slideLayout12.xml" Id="R72b1e6ce89e544b3" /><Relationship Type="http://schemas.openxmlformats.org/officeDocument/2006/relationships/slideLayout" Target="/ppt/slideLayouts/slideLayout13.xml" Id="R2e1c94c79b6441f3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086e9e10572748a7" /><Relationship Type="http://schemas.openxmlformats.org/officeDocument/2006/relationships/slideLayout" Target="/ppt/slideLayouts/slideLayout14.xml" Id="R1667cd48b7a9438f" /><Relationship Type="http://schemas.openxmlformats.org/officeDocument/2006/relationships/slideLayout" Target="/ppt/slideLayouts/slideLayout15.xml" Id="Ra640d9fa635d414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288CA77C-6103-4729-B3CD-10DA63AC30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EBDBF2FC-433E-4820-B3A7-0A29D8FE47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D706441-E38E-43E9-BB4A-AB06A0F0353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CC1012D-15D6-4DF3-BC46-78DA3627145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71B1D4F-16C7-4AC6-BD08-88BD0FAA74E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6ba6887f0247ff"/>
    <p:sldLayoutId xmlns:r="http://schemas.openxmlformats.org/officeDocument/2006/relationships" id="2147483650" r:id="R77af3d83933c4901"/>
    <p:sldLayoutId xmlns:r="http://schemas.openxmlformats.org/officeDocument/2006/relationships" id="2147483651" r:id="Reca3c07cbc244304"/>
    <p:sldLayoutId xmlns:r="http://schemas.openxmlformats.org/officeDocument/2006/relationships" id="2147483652" r:id="R7cc823a0435741a4"/>
    <p:sldLayoutId xmlns:r="http://schemas.openxmlformats.org/officeDocument/2006/relationships" id="2147483653" r:id="Rd9a684633efb4212"/>
    <p:sldLayoutId xmlns:r="http://schemas.openxmlformats.org/officeDocument/2006/relationships" id="2147483654" r:id="Rd4e1142dcc154002"/>
    <p:sldLayoutId xmlns:r="http://schemas.openxmlformats.org/officeDocument/2006/relationships" id="2147483655" r:id="Rca72dddbfa9d4e6b"/>
    <p:sldLayoutId xmlns:r="http://schemas.openxmlformats.org/officeDocument/2006/relationships" id="2147483656" r:id="R5e8b6a8f2c034a78"/>
    <p:sldLayoutId xmlns:r="http://schemas.openxmlformats.org/officeDocument/2006/relationships" id="2147483657" r:id="Rbecf9e8311444757"/>
    <p:sldLayoutId xmlns:r="http://schemas.openxmlformats.org/officeDocument/2006/relationships" id="2147483658" r:id="Rf59511ac04b1493d"/>
    <p:sldLayoutId xmlns:r="http://schemas.openxmlformats.org/officeDocument/2006/relationships" id="2147483659" r:id="Rd6e83b9cba764da2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7680952A-8F87-41DF-A7B4-2C4A271E82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1B85A1E-8D60-4D66-8A49-1ADB7BF5D25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6131314-5446-4F2D-AD6A-0516FD3BAF4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633F4E2-70EB-4A57-9E74-CE0E63051C4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98F2E32-75E4-4641-BD4C-EA2D99DB732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72b1e6ce89e544b3"/>
    <p:sldLayoutId xmlns:r="http://schemas.openxmlformats.org/officeDocument/2006/relationships" id="2147483662" r:id="R2e1c94c79b6441f3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D3A09EC9-352E-4B6D-AC98-96D2D73E39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6463358-4897-4734-B0AB-2CD39232F0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AF78219-684C-4AC6-B493-9095BE1EFC9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A074856-F45F-48BA-BA8C-A5F03A88F10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70DFD3F-FC09-4DB9-8B90-22EB22D1942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1667cd48b7a9438f"/>
    <p:sldLayoutId xmlns:r="http://schemas.openxmlformats.org/officeDocument/2006/relationships" id="2147483665" r:id="Ra640d9fa635d4145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346080b44c4e9d" /><Relationship Type="http://schemas.openxmlformats.org/officeDocument/2006/relationships/notesSlide" Target="/ppt/notesSlides/notesSlide1.xml" Id="R89ed2365364846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e7c9704c1044f0e" /><Relationship Type="http://schemas.openxmlformats.org/officeDocument/2006/relationships/notesSlide" Target="/ppt/notesSlides/notesSlide2.xml" Id="R8864ef9a6c7c4f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c1e0b75b29b4a07" /><Relationship Type="http://schemas.openxmlformats.org/officeDocument/2006/relationships/notesSlide" Target="/ppt/notesSlides/notesSlide3.xml" Id="Rdaa1ee63b9ef46d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36287b2216f4aab" /><Relationship Type="http://schemas.openxmlformats.org/officeDocument/2006/relationships/notesSlide" Target="/ppt/notesSlides/notesSlide4.xml" Id="R479f14acbeb041d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1317637f7544b9c" /><Relationship Type="http://schemas.openxmlformats.org/officeDocument/2006/relationships/notesSlide" Target="/ppt/notesSlides/notesSlide5.xml" Id="Ra28ccf1fae3746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b8085b57ce34010" /><Relationship Type="http://schemas.openxmlformats.org/officeDocument/2006/relationships/notesSlide" Target="/ppt/notesSlides/notesSlide6.xml" Id="R7c9cf4a0e135404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06115114fb544d8" /><Relationship Type="http://schemas.openxmlformats.org/officeDocument/2006/relationships/notesSlide" Target="/ppt/notesSlides/notesSlide7.xml" Id="R06bb10c3c088441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595be1fb9d04d2b" /><Relationship Type="http://schemas.openxmlformats.org/officeDocument/2006/relationships/notesSlide" Target="/ppt/notesSlides/notesSlide8.xml" Id="R738f358c7c54497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56f552b53634f57" /><Relationship Type="http://schemas.openxmlformats.org/officeDocument/2006/relationships/notesSlide" Target="/ppt/notesSlides/notesSlide9.xml" Id="R99021cb656cb46e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4826be5e904e48" /><Relationship Type="http://schemas.openxmlformats.org/officeDocument/2006/relationships/notesSlide" Target="/ppt/notesSlides/notesSlide10.xml" Id="R7233b726831d427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03A7BB48-5C3E-4700-9326-C4D67F7F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47FA5A35-4AFE-40D7-9240-5A3CD524B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10000"/>
            <a:ext cx="7620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10000"/>
              </a:lnSpc>
              <a:spcBef>
                <a:spcPts val="0"/>
              </a:spcBef>
              <a:buNone/>
              <a:defRPr sz="2250">
                <a:latin typeface="HYWenRunSongYun U"/>
                <a:ea typeface="HYWenRunSongYun U"/>
                <a:cs typeface="HYWenRunSongYun U"/>
              </a:defRPr>
            </a:pPr>
            <a:r>
              <a:rPr sz="280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汇报人：魏鹏宇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DA07A461-5897-4105-A037-283C43FE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19700"/>
            <a:ext cx="4762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2400" spc="3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2026.07.20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04E3729E-EBC1-4D20-9EC0-02C823B1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16F999E4-0A11-4C13-B933-CB2BE8AC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5" y="1887474"/>
            <a:ext cx="11932063" cy="1613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4800">
                <a:latin typeface="HYWenRunSongYun U"/>
                <a:ea typeface="HYWenRunSongYun U"/>
                <a:cs typeface="HYWenRunSongYun U"/>
              </a:defRPr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为什么做 PPagenT</a:t>
            </a:r>
          </a:p>
        </p:txBody>
      </p:sp>
    </p:spTree>
    <p:extLst>
      <p:ext uri="{BB962C8B-B14F-4D97-AF65-F5344CB8AC3E}">
        <p14:creationId xmlns:p14="http://schemas.microsoft.com/office/powerpoint/2010/main" val="62189034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52625"/>
            <a:ext cx="9620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1. 痛点与反复劳动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2. 稳定胜过自由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3. 分工与价值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4. 能力积累与普通愿景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做 PPT，真正费时间的不是“画”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要点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FEAD49F1-88CF-47BE-B54B-215758FC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8E9BE051-DB60-4BD7-82CA-4A23C99D3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parallel-card-0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D9FA721C-3AF6-48DA-9697-FCF6A50BB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988820" cy="3714750"/>
          </a:xfrm>
          <a:prstGeom xmlns:a="http://schemas.openxmlformats.org/drawingml/2006/main" prst="roundRect">
            <a:avLst>
              <a:gd name="adj" fmla="val 5747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PPAGENT_QA|within=parallel-card-0|role=accent-rail">
            <a:extLst xmlns:a="http://schemas.openxmlformats.org/drawingml/2006/main">
              <a:ext uri="{FF2B5EF4-FFF2-40B4-BE49-F238E27FC236}">
                <a16:creationId xmlns:a16="http://schemas.microsoft.com/office/drawing/2014/main" id="{2D4F8FBA-F4D9-4A14-90F3-5AA7C15E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98882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parallel-card-0|role=index">
            <a:extLst xmlns:a="http://schemas.openxmlformats.org/drawingml/2006/main">
              <a:ext uri="{FF2B5EF4-FFF2-40B4-BE49-F238E27FC236}">
                <a16:creationId xmlns:a16="http://schemas.microsoft.com/office/drawing/2014/main" id="{BBACE236-8498-4E3A-8385-22EB39DD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9" name="PPAGENT_QA|within=parallel-card-0|role=title">
            <a:extLst xmlns:a="http://schemas.openxmlformats.org/drawingml/2006/main">
              <a:ext uri="{FF2B5EF4-FFF2-40B4-BE49-F238E27FC236}">
                <a16:creationId xmlns:a16="http://schemas.microsoft.com/office/drawing/2014/main" id="{1828B74C-330E-48C3-A05A-FC387ACA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160782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汇报策略判断</a:t>
            </a:r>
          </a:p>
        </p:txBody>
      </p:sp>
      <p:sp>
        <p:nvSpPr>
          <p:cNvPr id="20" name="PPAGENT_QA|within=parallel-card-0|role=body">
            <a:extLst xmlns:a="http://schemas.openxmlformats.org/drawingml/2006/main">
              <a:ext uri="{FF2B5EF4-FFF2-40B4-BE49-F238E27FC236}">
                <a16:creationId xmlns:a16="http://schemas.microsoft.com/office/drawing/2014/main" id="{AD1DB379-0593-4288-A0A3-D084B813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156972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决定这场汇报的整体讲法、目标与主线。</a:t>
            </a:r>
          </a:p>
        </p:txBody>
      </p:sp>
      <p:sp>
        <p:nvSpPr>
          <p:cNvPr id="21" name="PPAGENT_QA|parent=parallel-card-1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E15AD883-470D-49D7-8D35-FDF4E69A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270" y="1809750"/>
            <a:ext cx="1988820" cy="3714750"/>
          </a:xfrm>
          <a:prstGeom xmlns:a="http://schemas.openxmlformats.org/drawingml/2006/main" prst="roundRect">
            <a:avLst>
              <a:gd name="adj" fmla="val 5747"/>
            </a:avLst>
          </a:prstGeom>
          <a:solidFill xmlns:a="http://schemas.openxmlformats.org/drawingml/2006/main">
            <a:srgbClr val="F1F8FF"/>
          </a:solidFill>
          <a:ln xmlns:a="http://schemas.openxmlformats.org/drawingml/2006/main" w="13335">
            <a:solidFill>
              <a:srgbClr val="7EB7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PPAGENT_QA|within=parallel-card-1|role=accent-rail">
            <a:extLst xmlns:a="http://schemas.openxmlformats.org/drawingml/2006/main">
              <a:ext uri="{FF2B5EF4-FFF2-40B4-BE49-F238E27FC236}">
                <a16:creationId xmlns:a16="http://schemas.microsoft.com/office/drawing/2014/main" id="{CA78E131-26B8-4997-AC79-6CD57F494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270" y="1809750"/>
            <a:ext cx="198882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PAGENT_QA|within=parallel-card-1|role=index">
            <a:extLst xmlns:a="http://schemas.openxmlformats.org/drawingml/2006/main">
              <a:ext uri="{FF2B5EF4-FFF2-40B4-BE49-F238E27FC236}">
                <a16:creationId xmlns:a16="http://schemas.microsoft.com/office/drawing/2014/main" id="{CD804702-DC63-4CC7-8975-4F9F7C34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277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4" name="PPAGENT_QA|within=parallel-card-1|role=title">
            <a:extLst xmlns:a="http://schemas.openxmlformats.org/drawingml/2006/main">
              <a:ext uri="{FF2B5EF4-FFF2-40B4-BE49-F238E27FC236}">
                <a16:creationId xmlns:a16="http://schemas.microsoft.com/office/drawing/2014/main" id="{C4ECCF41-9D95-4034-9F01-355841BF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2770" y="2952750"/>
            <a:ext cx="160782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页面拆分规划</a:t>
            </a:r>
          </a:p>
        </p:txBody>
      </p:sp>
      <p:sp>
        <p:nvSpPr>
          <p:cNvPr id="25" name="PPAGENT_QA|within=parallel-card-1|role=body">
            <a:extLst xmlns:a="http://schemas.openxmlformats.org/drawingml/2006/main">
              <a:ext uri="{FF2B5EF4-FFF2-40B4-BE49-F238E27FC236}">
                <a16:creationId xmlns:a16="http://schemas.microsoft.com/office/drawing/2014/main" id="{6E2F7E04-6091-459F-8EE8-F5F0AC6B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820" y="3638550"/>
            <a:ext cx="156972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将长稿内容合理拆分为多页，并明确每页核心主题。</a:t>
            </a:r>
          </a:p>
        </p:txBody>
      </p:sp>
      <p:sp>
        <p:nvSpPr>
          <p:cNvPr id="26" name="PPAGENT_QA|parent=parallel-card-2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AC50C30F-2DE5-43FC-978B-0B6807306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1590" y="1809750"/>
            <a:ext cx="1988820" cy="3714750"/>
          </a:xfrm>
          <a:prstGeom xmlns:a="http://schemas.openxmlformats.org/drawingml/2006/main" prst="roundRect">
            <a:avLst>
              <a:gd name="adj" fmla="val 5747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PPAGENT_QA|within=parallel-card-2|role=accent-rail">
            <a:extLst xmlns:a="http://schemas.openxmlformats.org/drawingml/2006/main">
              <a:ext uri="{FF2B5EF4-FFF2-40B4-BE49-F238E27FC236}">
                <a16:creationId xmlns:a16="http://schemas.microsoft.com/office/drawing/2014/main" id="{98CAC2DC-38E0-4828-8033-734709B83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1590" y="1809750"/>
            <a:ext cx="198882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PAGENT_QA|within=parallel-card-2|role=index">
            <a:extLst xmlns:a="http://schemas.openxmlformats.org/drawingml/2006/main">
              <a:ext uri="{FF2B5EF4-FFF2-40B4-BE49-F238E27FC236}">
                <a16:creationId xmlns:a16="http://schemas.microsoft.com/office/drawing/2014/main" id="{B9AA65BA-A7FD-4339-8E8A-E731E256D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209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9" name="PPAGENT_QA|within=parallel-card-2|role=title">
            <a:extLst xmlns:a="http://schemas.openxmlformats.org/drawingml/2006/main">
              <a:ext uri="{FF2B5EF4-FFF2-40B4-BE49-F238E27FC236}">
                <a16:creationId xmlns:a16="http://schemas.microsoft.com/office/drawing/2014/main" id="{49E2CE3A-4914-4F22-B681-7A76D348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2090" y="2952750"/>
            <a:ext cx="160782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观点关系梳理</a:t>
            </a:r>
          </a:p>
        </p:txBody>
      </p:sp>
      <p:sp>
        <p:nvSpPr>
          <p:cNvPr id="30" name="PPAGENT_QA|within=parallel-card-2|role=body">
            <a:extLst xmlns:a="http://schemas.openxmlformats.org/drawingml/2006/main">
              <a:ext uri="{FF2B5EF4-FFF2-40B4-BE49-F238E27FC236}">
                <a16:creationId xmlns:a16="http://schemas.microsoft.com/office/drawing/2014/main" id="{35CE1CFE-18B9-46E9-8985-98AA217E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1140" y="3638550"/>
            <a:ext cx="156972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判断多个观点之间的逻辑关系（并列、递进、因果或流程）。</a:t>
            </a:r>
          </a:p>
        </p:txBody>
      </p:sp>
      <p:sp>
        <p:nvSpPr>
          <p:cNvPr id="31" name="PPAGENT_QA|parent=parallel-card-3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4E9CBFF4-DD83-46AC-9D2D-F2EA06665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910" y="1809750"/>
            <a:ext cx="1988820" cy="3714750"/>
          </a:xfrm>
          <a:prstGeom xmlns:a="http://schemas.openxmlformats.org/drawingml/2006/main" prst="roundRect">
            <a:avLst>
              <a:gd name="adj" fmla="val 5747"/>
            </a:avLst>
          </a:prstGeom>
          <a:solidFill xmlns:a="http://schemas.openxmlformats.org/drawingml/2006/main">
            <a:srgbClr val="F1F8FF"/>
          </a:solidFill>
          <a:ln xmlns:a="http://schemas.openxmlformats.org/drawingml/2006/main" w="13335">
            <a:solidFill>
              <a:srgbClr val="7EB7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PPAGENT_QA|within=parallel-card-3|role=accent-rail">
            <a:extLst xmlns:a="http://schemas.openxmlformats.org/drawingml/2006/main">
              <a:ext uri="{FF2B5EF4-FFF2-40B4-BE49-F238E27FC236}">
                <a16:creationId xmlns:a16="http://schemas.microsoft.com/office/drawing/2014/main" id="{91C64A74-3351-4529-8EB3-9474E34E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910" y="1809750"/>
            <a:ext cx="198882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PAGENT_QA|within=parallel-card-3|role=index">
            <a:extLst xmlns:a="http://schemas.openxmlformats.org/drawingml/2006/main">
              <a:ext uri="{FF2B5EF4-FFF2-40B4-BE49-F238E27FC236}">
                <a16:creationId xmlns:a16="http://schemas.microsoft.com/office/drawing/2014/main" id="{AC761083-16E8-4863-BD60-796B7D73F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141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4" name="PPAGENT_QA|within=parallel-card-3|role=title">
            <a:extLst xmlns:a="http://schemas.openxmlformats.org/drawingml/2006/main">
              <a:ext uri="{FF2B5EF4-FFF2-40B4-BE49-F238E27FC236}">
                <a16:creationId xmlns:a16="http://schemas.microsoft.com/office/drawing/2014/main" id="{BDDEE846-5F6B-4295-B311-B5D615C0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1410" y="2952750"/>
            <a:ext cx="160782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视觉突出决策</a:t>
            </a:r>
          </a:p>
        </p:txBody>
      </p:sp>
      <p:sp>
        <p:nvSpPr>
          <p:cNvPr id="35" name="PPAGENT_QA|within=parallel-card-3|role=body">
            <a:extLst xmlns:a="http://schemas.openxmlformats.org/drawingml/2006/main">
              <a:ext uri="{FF2B5EF4-FFF2-40B4-BE49-F238E27FC236}">
                <a16:creationId xmlns:a16="http://schemas.microsoft.com/office/drawing/2014/main" id="{E5EAD87D-8D88-446F-8380-EF5634F1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0460" y="3638550"/>
            <a:ext cx="156972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确定哪些内容需要突出强调。</a:t>
            </a:r>
          </a:p>
        </p:txBody>
      </p:sp>
      <p:sp>
        <p:nvSpPr>
          <p:cNvPr id="36" name="PPAGENT_QA|parent=parallel-card-4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C2764919-1C90-4070-9B4C-0FCF99EB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0230" y="1809750"/>
            <a:ext cx="1988820" cy="3714750"/>
          </a:xfrm>
          <a:prstGeom xmlns:a="http://schemas.openxmlformats.org/drawingml/2006/main" prst="roundRect">
            <a:avLst>
              <a:gd name="adj" fmla="val 5747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PPAGENT_QA|within=parallel-card-4|role=accent-rail">
            <a:extLst xmlns:a="http://schemas.openxmlformats.org/drawingml/2006/main">
              <a:ext uri="{FF2B5EF4-FFF2-40B4-BE49-F238E27FC236}">
                <a16:creationId xmlns:a16="http://schemas.microsoft.com/office/drawing/2014/main" id="{FE1CE98F-4EBD-46C7-967A-2CCE5DA1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0230" y="1809750"/>
            <a:ext cx="198882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PAGENT_QA|within=parallel-card-4|role=index">
            <a:extLst xmlns:a="http://schemas.openxmlformats.org/drawingml/2006/main">
              <a:ext uri="{FF2B5EF4-FFF2-40B4-BE49-F238E27FC236}">
                <a16:creationId xmlns:a16="http://schemas.microsoft.com/office/drawing/2014/main" id="{F7B71EFF-9DF8-40BB-B160-A5A75C285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73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9" name="PPAGENT_QA|within=parallel-card-4|role=title">
            <a:extLst xmlns:a="http://schemas.openxmlformats.org/drawingml/2006/main">
              <a:ext uri="{FF2B5EF4-FFF2-40B4-BE49-F238E27FC236}">
                <a16:creationId xmlns:a16="http://schemas.microsoft.com/office/drawing/2014/main" id="{587DACDF-5A12-4B54-9E2B-54503DC8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730" y="2952750"/>
            <a:ext cx="160782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图表文字取舍</a:t>
            </a:r>
          </a:p>
        </p:txBody>
      </p:sp>
      <p:sp>
        <p:nvSpPr>
          <p:cNvPr id="40" name="PPAGENT_QA|within=parallel-card-4|role=body">
            <a:extLst xmlns:a="http://schemas.openxmlformats.org/drawingml/2006/main">
              <a:ext uri="{FF2B5EF4-FFF2-40B4-BE49-F238E27FC236}">
                <a16:creationId xmlns:a16="http://schemas.microsoft.com/office/drawing/2014/main" id="{03D595BF-EF05-4244-B239-05C5E015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9780" y="3638550"/>
            <a:ext cx="156972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判断何时使用图表，何时使用简洁文字更能达意。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工作里的 PPT，不需要每次重新发明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问题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FEAD49F1-88CF-47BE-B54B-215758FC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single-focus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37D930BA-20CF-42EF-ADA4-F884431CC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049780"/>
            <a:ext cx="8915400" cy="36553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within=composition-single-focus|role=accent">
            <a:extLst xmlns:a="http://schemas.openxmlformats.org/drawingml/2006/main">
              <a:ext uri="{FF2B5EF4-FFF2-40B4-BE49-F238E27FC236}">
                <a16:creationId xmlns:a16="http://schemas.microsoft.com/office/drawing/2014/main" id="{CFE9B3B0-649E-4BA2-BF37-CC49C1D8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148" y="2125980"/>
            <a:ext cx="6775704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single-focus|role=title">
            <a:extLst xmlns:a="http://schemas.openxmlformats.org/drawingml/2006/main">
              <a:ext uri="{FF2B5EF4-FFF2-40B4-BE49-F238E27FC236}">
                <a16:creationId xmlns:a16="http://schemas.microsoft.com/office/drawing/2014/main" id="{2625BCEB-ECD3-4E85-A9C1-E397D6FF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602230"/>
            <a:ext cx="8001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稳定胜于自由</a:t>
            </a:r>
          </a:p>
        </p:txBody>
      </p:sp>
      <p:sp>
        <p:nvSpPr>
          <p:cNvPr id="18" name="PPAGENT_QA|within=composition-single-focus|role=body">
            <a:extLst xmlns:a="http://schemas.openxmlformats.org/drawingml/2006/main">
              <a:ext uri="{FF2B5EF4-FFF2-40B4-BE49-F238E27FC236}">
                <a16:creationId xmlns:a16="http://schemas.microsoft.com/office/drawing/2014/main" id="{EE1DEB98-DF34-4E01-99AB-9C09DB8F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430905"/>
            <a:ext cx="74676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工作PPT应保持固定风格，无需每次重新</a:t>
            </a:r>
          </a:p>
          <a:p xmlns:a="http://schemas.openxmlformats.org/drawingml/2006/main">
            <a:pPr algn="ctr">
              <a:def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设计，固定意味着经过验证的可靠与效率。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AI 负责理解，规则负责决定，代码负责执行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积累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FEAD49F1-88CF-47BE-B54B-215758FC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AC9DDCE4-5BB2-4A87-8299-02C17E30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sequential-step-0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E537EC94-B7E2-4EC3-A724-72B8CB74C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191" y="2437301"/>
            <a:ext cx="3208313" cy="2433271"/>
          </a:xfrm>
          <a:prstGeom xmlns:a="http://schemas.openxmlformats.org/drawingml/2006/main" prst="roundRect">
            <a:avLst>
              <a:gd name="adj" fmla="val 4697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7" name="PPAGENT_QA|parent=sequential-step-1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9877420D-2153-472C-9FD6-A2CDF0EE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843" y="2437301"/>
            <a:ext cx="3208313" cy="2433271"/>
          </a:xfrm>
          <a:prstGeom xmlns:a="http://schemas.openxmlformats.org/drawingml/2006/main" prst="roundRect">
            <a:avLst>
              <a:gd name="adj" fmla="val 4697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8" name="PPAGENT_QA|parent=sequential-step-2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C6B37DE6-C3C3-4BBA-932E-E886E229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2496" y="2437301"/>
            <a:ext cx="3208313" cy="2433271"/>
          </a:xfrm>
          <a:prstGeom xmlns:a="http://schemas.openxmlformats.org/drawingml/2006/main" prst="roundRect">
            <a:avLst>
              <a:gd name="adj" fmla="val 4697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cxnSp>
        <p:nvCxnSpPr>
          <p:cNvPr id="39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4239504" y="3653937"/>
            <a:ext cx="252339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5EA8"/>
            </a:solidFill>
            <a:prstDash val="solid"/>
            <a:tailEnd type="triangle" w="med" len="med"/>
          </a:ln>
        </p:spPr>
      </p:cxnSp>
      <p:cxnSp>
        <p:nvCxnSpPr>
          <p:cNvPr id="40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700156" y="3653937"/>
            <a:ext cx="25234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5EA8"/>
            </a:solidFill>
            <a:prstDash val="solid"/>
            <a:tailEnd type="triangle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E1D6DA-1F3C-4C24-A116-03ECB60D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409" y="2617543"/>
            <a:ext cx="468630" cy="468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sequential-step-0|role=title">
            <a:extLst xmlns:a="http://schemas.openxmlformats.org/drawingml/2006/main">
              <a:ext uri="{FF2B5EF4-FFF2-40B4-BE49-F238E27FC236}">
                <a16:creationId xmlns:a16="http://schemas.microsoft.com/office/drawing/2014/main" id="{E90BD005-2E03-405C-A37B-C3C2DE32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458" y="3302464"/>
            <a:ext cx="2811780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AI理解</a:t>
            </a:r>
          </a:p>
        </p:txBody>
      </p:sp>
      <p:sp>
        <p:nvSpPr>
          <p:cNvPr id="23" name="PPAGENT_QA|within=sequential-step-0|role=body">
            <a:extLst xmlns:a="http://schemas.openxmlformats.org/drawingml/2006/main">
              <a:ext uri="{FF2B5EF4-FFF2-40B4-BE49-F238E27FC236}">
                <a16:creationId xmlns:a16="http://schemas.microsoft.com/office/drawing/2014/main" id="{79AB1ED2-F662-4538-B2DC-E90C4FA4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458" y="3915288"/>
            <a:ext cx="2811780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读取稿件，判断重点、关系、拆页和表达目的。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F5B948-72A5-4C10-AA18-8364D528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062" y="2617543"/>
            <a:ext cx="468630" cy="468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5" name="PPAGENT_QA|within=sequential-step-1|role=title">
            <a:extLst xmlns:a="http://schemas.openxmlformats.org/drawingml/2006/main">
              <a:ext uri="{FF2B5EF4-FFF2-40B4-BE49-F238E27FC236}">
                <a16:creationId xmlns:a16="http://schemas.microsoft.com/office/drawing/2014/main" id="{A0963D39-240A-455F-BE97-79FF2E4E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110" y="3302464"/>
            <a:ext cx="2811780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规则决定</a:t>
            </a:r>
          </a:p>
        </p:txBody>
      </p:sp>
      <p:sp>
        <p:nvSpPr>
          <p:cNvPr id="26" name="PPAGENT_QA|within=sequential-step-1|role=body">
            <a:extLst xmlns:a="http://schemas.openxmlformats.org/drawingml/2006/main">
              <a:ext uri="{FF2B5EF4-FFF2-40B4-BE49-F238E27FC236}">
                <a16:creationId xmlns:a16="http://schemas.microsoft.com/office/drawing/2014/main" id="{5594CF85-4F43-43AE-B22A-9BF11C7E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110" y="3915288"/>
            <a:ext cx="2811780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判断可用版式、内容是否装得下、何时换版式或拆页。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B81D6E-FE41-469B-8B5B-D9D73348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4714" y="2617543"/>
            <a:ext cx="468630" cy="468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8" name="PPAGENT_QA|within=sequential-step-2|role=title">
            <a:extLst xmlns:a="http://schemas.openxmlformats.org/drawingml/2006/main">
              <a:ext uri="{FF2B5EF4-FFF2-40B4-BE49-F238E27FC236}">
                <a16:creationId xmlns:a16="http://schemas.microsoft.com/office/drawing/2014/main" id="{DCA7E7B0-34F5-4A27-83A7-B7A915AF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762" y="3302464"/>
            <a:ext cx="2811780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代码执行</a:t>
            </a:r>
          </a:p>
        </p:txBody>
      </p:sp>
      <p:sp>
        <p:nvSpPr>
          <p:cNvPr id="29" name="PPAGENT_QA|within=sequential-step-2|role=body">
            <a:extLst xmlns:a="http://schemas.openxmlformats.org/drawingml/2006/main">
              <a:ext uri="{FF2B5EF4-FFF2-40B4-BE49-F238E27FC236}">
                <a16:creationId xmlns:a16="http://schemas.microsoft.com/office/drawing/2014/main" id="{EC24F7E6-9773-4C0B-B1DB-5BE5E43C4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762" y="3915288"/>
            <a:ext cx="2811780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按已确认坐标、字号、颜色和间距，稳定生成原生可编辑PPT。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稳定的 80 分，比随机的 95 分更值钱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对比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FEAD49F1-88CF-47BE-B54B-215758FC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04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8A3F421A-FD4C-40AE-9E72-B929E526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0D00EF-43FE-4EAA-94E4-5D11F0E2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731" y="1581150"/>
            <a:ext cx="10814538" cy="4686300"/>
          </a:xfrm>
          <a:prstGeom xmlns:a="http://schemas.openxmlformats.org/drawingml/2006/main" prst="roundRect">
            <a:avLst>
              <a:gd name="adj" fmla="val 0"/>
            </a:avLst>
          </a:prstGeom>
          <a:gradFill xmlns:a="http://schemas.openxmlformats.org/drawingml/2006/main">
            <a:gsLst>
              <a:gs pos="0">
                <a:srgbClr val="FFFFFF"/>
              </a:gs>
              <a:gs pos="52000">
                <a:srgbClr val="EEF6FC"/>
              </a:gs>
              <a:gs pos="100000">
                <a:srgbClr val="FFFFFF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A42C1D-E39A-4A0E-AC25-E2A42897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97" y="5816844"/>
            <a:ext cx="10418005" cy="37850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8AEEF"/>
            </a:solidFill>
            <a:prstDash val="dash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1B48F5-70B4-4FF0-8265-6ACC065B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361" y="5870917"/>
            <a:ext cx="9877278" cy="28838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5EA8"/>
            </a:solidFill>
            <a:prstDash val="solid"/>
          </a:ln>
        </p:spPr>
      </p:sp>
      <p:sp>
        <p:nvSpPr>
          <p:cNvPr id="19" name="PPAGENT_QA|parent=comparison-left-panel|domains=comparison-panels">
            <a:extLst xmlns:a="http://schemas.openxmlformats.org/drawingml/2006/main">
              <a:ext uri="{FF2B5EF4-FFF2-40B4-BE49-F238E27FC236}">
                <a16:creationId xmlns:a16="http://schemas.microsoft.com/office/drawing/2014/main" id="{B4FCE320-774A-488E-8D41-7214C463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337" y="1770404"/>
            <a:ext cx="3965331" cy="4163597"/>
          </a:xfrm>
          <a:prstGeom xmlns:a="http://schemas.openxmlformats.org/drawingml/2006/main" prst="roundRect">
            <a:avLst>
              <a:gd name="adj" fmla="val 2882"/>
            </a:avLst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14288">
            <a:solidFill>
              <a:srgbClr val="A7B4C4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0" name="PPAGENT_QA|within=comparison-left-panel|role=header-surface">
            <a:extLst xmlns:a="http://schemas.openxmlformats.org/drawingml/2006/main">
              <a:ext uri="{FF2B5EF4-FFF2-40B4-BE49-F238E27FC236}">
                <a16:creationId xmlns:a16="http://schemas.microsoft.com/office/drawing/2014/main" id="{DD7C8657-C8CD-444D-A079-63B4033AA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337" y="1770404"/>
            <a:ext cx="3965331" cy="648872"/>
          </a:xfrm>
          <a:prstGeom xmlns:a="http://schemas.openxmlformats.org/drawingml/2006/main" prst="roundRect">
            <a:avLst>
              <a:gd name="adj" fmla="val 17615"/>
            </a:avLst>
          </a:prstGeom>
          <a:gradFill xmlns:a="http://schemas.openxmlformats.org/drawingml/2006/main">
            <a:gsLst>
              <a:gs pos="0">
                <a:srgbClr val="2F5EA8"/>
              </a:gs>
              <a:gs pos="100000">
                <a:srgbClr val="379BEF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1" name="PPAGENT_QA|within=comparison-left-panel|role=header-title">
            <a:extLst xmlns:a="http://schemas.openxmlformats.org/drawingml/2006/main">
              <a:ext uri="{FF2B5EF4-FFF2-40B4-BE49-F238E27FC236}">
                <a16:creationId xmlns:a16="http://schemas.microsoft.com/office/drawing/2014/main" id="{FEAE7AA9-DEDC-492B-B08A-C9B21FBCE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748" y="1860526"/>
            <a:ext cx="3352507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稳定 80 分</a:t>
            </a:r>
          </a:p>
        </p:txBody>
      </p:sp>
      <p:sp>
        <p:nvSpPr>
          <p:cNvPr id="22" name="PPAGENT_QA|parent=comparison-left-row-0|domains=comparison-left-rows">
            <a:extLst xmlns:a="http://schemas.openxmlformats.org/drawingml/2006/main">
              <a:ext uri="{FF2B5EF4-FFF2-40B4-BE49-F238E27FC236}">
                <a16:creationId xmlns:a16="http://schemas.microsoft.com/office/drawing/2014/main" id="{8363739D-3F9B-4480-B6BD-A69EE846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797" y="3158270"/>
            <a:ext cx="3280410" cy="1189599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2F5EA8"/>
              </a:gs>
              <a:gs pos="100000">
                <a:srgbClr val="379BEF"/>
              </a:gs>
            </a:gsLst>
            <a:lin ang="0"/>
          </a:gradFill>
          <a:ln xmlns:a="http://schemas.openxmlformats.org/drawingml/2006/main" w="9525">
            <a:solidFill>
              <a:srgbClr val="78AE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3" name="PPAGENT_QA|within=comparison-left-row-0|role=status-marker">
            <a:extLst xmlns:a="http://schemas.openxmlformats.org/drawingml/2006/main">
              <a:ext uri="{FF2B5EF4-FFF2-40B4-BE49-F238E27FC236}">
                <a16:creationId xmlns:a16="http://schemas.microsoft.com/office/drawing/2014/main" id="{A4EE0E3A-C220-441A-9B38-4ACF679D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967" y="3617888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4" name="PPAGENT_QA|within=comparison-left-row-0|role=item-text">
            <a:extLst xmlns:a="http://schemas.openxmlformats.org/drawingml/2006/main">
              <a:ext uri="{FF2B5EF4-FFF2-40B4-BE49-F238E27FC236}">
                <a16:creationId xmlns:a16="http://schemas.microsoft.com/office/drawing/2014/main" id="{C43D1347-B47E-4E7E-ACDB-D17B3FC6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451" y="3212343"/>
            <a:ext cx="2577465" cy="1081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稳定产出结构清楚、视觉规范、符合</a:t>
            </a:r>
          </a:p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组织风格，可修改的 80 分初稿，</a:t>
            </a:r>
          </a:p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节省大量时间，对工作更有效。</a:t>
            </a:r>
          </a:p>
        </p:txBody>
      </p:sp>
      <p:sp>
        <p:nvSpPr>
          <p:cNvPr id="25" name="PPAGENT_QA|parent=comparison-right-panel|domains=comparison-panels">
            <a:extLst xmlns:a="http://schemas.openxmlformats.org/drawingml/2006/main">
              <a:ext uri="{FF2B5EF4-FFF2-40B4-BE49-F238E27FC236}">
                <a16:creationId xmlns:a16="http://schemas.microsoft.com/office/drawing/2014/main" id="{EA632830-429E-4B40-92E3-0F498AFC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7333" y="1770404"/>
            <a:ext cx="3965331" cy="4163597"/>
          </a:xfrm>
          <a:prstGeom xmlns:a="http://schemas.openxmlformats.org/drawingml/2006/main" prst="roundRect">
            <a:avLst>
              <a:gd name="adj" fmla="val 2882"/>
            </a:avLst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14288">
            <a:solidFill>
              <a:srgbClr val="A7B4C4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6" name="PPAGENT_QA|within=comparison-right-panel|role=header-surface">
            <a:extLst xmlns:a="http://schemas.openxmlformats.org/drawingml/2006/main">
              <a:ext uri="{FF2B5EF4-FFF2-40B4-BE49-F238E27FC236}">
                <a16:creationId xmlns:a16="http://schemas.microsoft.com/office/drawing/2014/main" id="{59B1A7E2-78EC-442C-AAB5-D8669CDC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7333" y="1770404"/>
            <a:ext cx="3965331" cy="648872"/>
          </a:xfrm>
          <a:prstGeom xmlns:a="http://schemas.openxmlformats.org/drawingml/2006/main" prst="roundRect">
            <a:avLst>
              <a:gd name="adj" fmla="val 17615"/>
            </a:avLst>
          </a:prstGeom>
          <a:gradFill xmlns:a="http://schemas.openxmlformats.org/drawingml/2006/main">
            <a:gsLst>
              <a:gs pos="0">
                <a:srgbClr val="4C88E8"/>
              </a:gs>
              <a:gs pos="100000">
                <a:srgbClr val="379BEF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7" name="PPAGENT_QA|within=comparison-right-panel|role=header-title">
            <a:extLst xmlns:a="http://schemas.openxmlformats.org/drawingml/2006/main">
              <a:ext uri="{FF2B5EF4-FFF2-40B4-BE49-F238E27FC236}">
                <a16:creationId xmlns:a16="http://schemas.microsoft.com/office/drawing/2014/main" id="{7EFE3EFE-AA19-4666-B019-9F35AE53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3745" y="1860526"/>
            <a:ext cx="3352507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随机 95 分</a:t>
            </a:r>
          </a:p>
        </p:txBody>
      </p:sp>
      <p:sp>
        <p:nvSpPr>
          <p:cNvPr id="28" name="PPAGENT_QA|parent=comparison-right-row-0|domains=comparison-right-rows">
            <a:extLst xmlns:a="http://schemas.openxmlformats.org/drawingml/2006/main">
              <a:ext uri="{FF2B5EF4-FFF2-40B4-BE49-F238E27FC236}">
                <a16:creationId xmlns:a16="http://schemas.microsoft.com/office/drawing/2014/main" id="{5AF30D25-B739-432D-BF44-4814FCF21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793" y="3158270"/>
            <a:ext cx="3280410" cy="1189599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4C88E8"/>
              </a:gs>
              <a:gs pos="100000">
                <a:srgbClr val="379BEF"/>
              </a:gs>
            </a:gsLst>
            <a:lin ang="0"/>
          </a:gra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9" name="PPAGENT_QA|within=comparison-right-row-0|role=status-marker">
            <a:extLst xmlns:a="http://schemas.openxmlformats.org/drawingml/2006/main">
              <a:ext uri="{FF2B5EF4-FFF2-40B4-BE49-F238E27FC236}">
                <a16:creationId xmlns:a16="http://schemas.microsoft.com/office/drawing/2014/main" id="{B756E922-D591-4A2E-860E-80085AD6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963" y="3617888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30" name="PPAGENT_QA|within=comparison-right-row-0|role=item-text">
            <a:extLst xmlns:a="http://schemas.openxmlformats.org/drawingml/2006/main">
              <a:ext uri="{FF2B5EF4-FFF2-40B4-BE49-F238E27FC236}">
                <a16:creationId xmlns:a16="http://schemas.microsoft.com/office/drawing/2014/main" id="{D623A895-1923-4042-849C-A22B0F06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6447" y="3212343"/>
            <a:ext cx="2577465" cy="1081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随机产出令人惊叹的 95 分作品，</a:t>
            </a:r>
          </a:p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但可能不稳定，且不能保证满足</a:t>
            </a:r>
          </a:p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实际使用场景，价值相对较低。</a:t>
            </a:r>
          </a:p>
        </p:txBody>
      </p:sp>
      <p:sp>
        <p:nvSpPr>
          <p:cNvPr id="31" name="PPAGENT_QA|parent=comparison-center|domains=comparison-panels">
            <a:extLst xmlns:a="http://schemas.openxmlformats.org/drawingml/2006/main">
              <a:ext uri="{FF2B5EF4-FFF2-40B4-BE49-F238E27FC236}">
                <a16:creationId xmlns:a16="http://schemas.microsoft.com/office/drawing/2014/main" id="{D2DC2E54-A12C-4A89-B9A0-7F38CCAE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5152" y="3068149"/>
            <a:ext cx="1261696" cy="126169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AB8C7"/>
            </a:solidFill>
            <a:prstDash val="dash"/>
          </a:ln>
        </p:spPr>
      </p:sp>
      <p:sp>
        <p:nvSpPr>
          <p:cNvPr id="32" name="PPAGENT_QA|within=comparison-center|role=center-disc">
            <a:extLst xmlns:a="http://schemas.openxmlformats.org/drawingml/2006/main">
              <a:ext uri="{FF2B5EF4-FFF2-40B4-BE49-F238E27FC236}">
                <a16:creationId xmlns:a16="http://schemas.microsoft.com/office/drawing/2014/main" id="{649291C4-6AF7-46EF-9AA3-BF4FB010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9346" y="3212343"/>
            <a:ext cx="973308" cy="973308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F5EA8"/>
              </a:gs>
              <a:gs pos="100000">
                <a:srgbClr val="4C88E8"/>
              </a:gs>
            </a:gsLst>
            <a:lin ang="8100000"/>
          </a:gra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对比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不只服务最会做 PPT 的那 1%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要点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FEAD49F1-88CF-47BE-B54B-215758FC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05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composition-dual-divider">
            <a:extLst xmlns:a="http://schemas.openxmlformats.org/drawingml/2006/main">
              <a:ext uri="{FF2B5EF4-FFF2-40B4-BE49-F238E27FC236}">
                <a16:creationId xmlns:a16="http://schemas.microsoft.com/office/drawing/2014/main" id="{FC7F1200-542E-4DAC-9DE6-E9F7C1837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190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dual-0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C056F348-C219-43BE-B278-64D78E6F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dual-0|role=index">
            <a:extLst xmlns:a="http://schemas.openxmlformats.org/drawingml/2006/main">
              <a:ext uri="{FF2B5EF4-FFF2-40B4-BE49-F238E27FC236}">
                <a16:creationId xmlns:a16="http://schemas.microsoft.com/office/drawing/2014/main" id="{407EF17F-F359-4D03-BE86-10567507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8" name="PPAGENT_QA|within=composition-dual-0|role=title">
            <a:extLst xmlns:a="http://schemas.openxmlformats.org/drawingml/2006/main">
              <a:ext uri="{FF2B5EF4-FFF2-40B4-BE49-F238E27FC236}">
                <a16:creationId xmlns:a16="http://schemas.microsoft.com/office/drawing/2014/main" id="{A76D324D-B683-42F2-B679-A959579C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熟练制作者</a:t>
            </a:r>
          </a:p>
        </p:txBody>
      </p:sp>
      <p:sp>
        <p:nvSpPr>
          <p:cNvPr id="19" name="PPAGENT_QA|within=composition-dual-0|role=accent">
            <a:extLst xmlns:a="http://schemas.openxmlformats.org/drawingml/2006/main">
              <a:ext uri="{FF2B5EF4-FFF2-40B4-BE49-F238E27FC236}">
                <a16:creationId xmlns:a16="http://schemas.microsoft.com/office/drawing/2014/main" id="{EF514874-C15D-4A10-99C7-72A0ED01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480054"/>
            <a:ext cx="169392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PAGENT_QA|within=composition-dual-0|role=body">
            <a:extLst xmlns:a="http://schemas.openxmlformats.org/drawingml/2006/main">
              <a:ext uri="{FF2B5EF4-FFF2-40B4-BE49-F238E27FC236}">
                <a16:creationId xmlns:a16="http://schemas.microsoft.com/office/drawing/2014/main" id="{989A58EA-39B3-4D46-9AD4-B2AF96198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自己就能做得更好，不需要工具，属于少数。</a:t>
            </a:r>
          </a:p>
        </p:txBody>
      </p:sp>
      <p:sp>
        <p:nvSpPr>
          <p:cNvPr id="21" name="PPAGENT_QA|parent=composition-dual-1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BCDA3CD3-BD2D-43F1-9301-E86D392D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PPAGENT_QA|within=composition-dual-1|role=index">
            <a:extLst xmlns:a="http://schemas.openxmlformats.org/drawingml/2006/main">
              <a:ext uri="{FF2B5EF4-FFF2-40B4-BE49-F238E27FC236}">
                <a16:creationId xmlns:a16="http://schemas.microsoft.com/office/drawing/2014/main" id="{55F78912-9FF9-4D44-8234-9C74D250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3" name="PPAGENT_QA|within=composition-dual-1|role=title">
            <a:extLst xmlns:a="http://schemas.openxmlformats.org/drawingml/2006/main">
              <a:ext uri="{FF2B5EF4-FFF2-40B4-BE49-F238E27FC236}">
                <a16:creationId xmlns:a16="http://schemas.microsoft.com/office/drawing/2014/main" id="{49AAEAD8-82BE-44E7-A7C7-241F0B3B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多数有内容者</a:t>
            </a:r>
          </a:p>
        </p:txBody>
      </p:sp>
      <p:sp>
        <p:nvSpPr>
          <p:cNvPr id="24" name="PPAGENT_QA|within=composition-dual-1|role=accent">
            <a:extLst xmlns:a="http://schemas.openxmlformats.org/drawingml/2006/main">
              <a:ext uri="{FF2B5EF4-FFF2-40B4-BE49-F238E27FC236}">
                <a16:creationId xmlns:a16="http://schemas.microsoft.com/office/drawing/2014/main" id="{F8E4DC44-A1D7-458D-BFB8-D0172CA7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480054"/>
            <a:ext cx="169392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dual-1|role=body">
            <a:extLst xmlns:a="http://schemas.openxmlformats.org/drawingml/2006/main">
              <a:ext uri="{FF2B5EF4-FFF2-40B4-BE49-F238E27FC236}">
                <a16:creationId xmlns:a16="http://schemas.microsoft.com/office/drawing/2014/main" id="{5313A847-25A6-4EA4-87C8-6C878154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有内容、有专业知识、有汇报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任务，但不擅长拆页与排版。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真正积累的不是一万个模板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问题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FEAD49F1-88CF-47BE-B54B-215758FC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06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1F51F94B-C988-4862-B867-CFD2AC62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sequential-step-0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2E15AE4B-5B3A-4688-ACAB-2AC781BE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191" y="2437301"/>
            <a:ext cx="2343150" cy="2433271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7" name="PPAGENT_QA|parent=sequential-step-1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A8A62263-D511-4297-8ECF-027120E5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680" y="2437301"/>
            <a:ext cx="2343150" cy="2433271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8" name="PPAGENT_QA|parent=sequential-step-2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4F1CE8CB-3512-4539-B98D-64D5D543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2170" y="2437301"/>
            <a:ext cx="2343150" cy="2433271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9" name="PPAGENT_QA|parent=sequential-step-3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0D448271-8C40-44D7-B098-6DD0B392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7659" y="2437301"/>
            <a:ext cx="2343150" cy="2433271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17406D"/>
          </a:solidFill>
          <a:ln xmlns:a="http://schemas.openxmlformats.org/drawingml/2006/main" w="38100">
            <a:solidFill>
              <a:srgbClr val="78AE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cxnSp>
        <p:nvCxnSpPr>
          <p:cNvPr id="45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3374341" y="3653937"/>
            <a:ext cx="252339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5EA8"/>
            </a:solidFill>
            <a:prstDash val="solid"/>
            <a:tailEnd type="triangle" w="med" len="med"/>
          </a:ln>
        </p:spPr>
      </p:cxnSp>
      <p:cxnSp>
        <p:nvCxnSpPr>
          <p:cNvPr id="46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969830" y="3653937"/>
            <a:ext cx="25234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5EA8"/>
            </a:solidFill>
            <a:prstDash val="solid"/>
            <a:tailEnd type="triangle" w="med" len="med"/>
          </a:ln>
        </p:spPr>
      </p:cxnSp>
      <p:cxnSp>
        <p:nvCxnSpPr>
          <p:cNvPr id="47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8565320" y="3653937"/>
            <a:ext cx="252339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5EA8"/>
            </a:solidFill>
            <a:prstDash val="solid"/>
            <a:tailEnd type="triangle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31F05F-B92B-4E41-8A2F-A77593EAB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409" y="2617543"/>
            <a:ext cx="468630" cy="468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4" name="PPAGENT_QA|within=sequential-step-0|role=title">
            <a:extLst xmlns:a="http://schemas.openxmlformats.org/drawingml/2006/main">
              <a:ext uri="{FF2B5EF4-FFF2-40B4-BE49-F238E27FC236}">
                <a16:creationId xmlns:a16="http://schemas.microsoft.com/office/drawing/2014/main" id="{394A15B2-3DF1-4529-A861-ACCB19E5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458" y="3302464"/>
            <a:ext cx="1946617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经验提炼</a:t>
            </a:r>
          </a:p>
        </p:txBody>
      </p:sp>
      <p:sp>
        <p:nvSpPr>
          <p:cNvPr id="25" name="PPAGENT_QA|within=sequential-step-0|role=body">
            <a:extLst xmlns:a="http://schemas.openxmlformats.org/drawingml/2006/main">
              <a:ext uri="{FF2B5EF4-FFF2-40B4-BE49-F238E27FC236}">
                <a16:creationId xmlns:a16="http://schemas.microsoft.com/office/drawing/2014/main" id="{C3CABD3E-8B90-48BC-82D5-1831956A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458" y="3915288"/>
            <a:ext cx="1946617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从页面产出中沉淀内容与版式规律。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756911-E071-4A59-9E65-DA3D9E1B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898" y="2617543"/>
            <a:ext cx="468630" cy="468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7" name="PPAGENT_QA|within=sequential-step-1|role=title">
            <a:extLst xmlns:a="http://schemas.openxmlformats.org/drawingml/2006/main">
              <a:ext uri="{FF2B5EF4-FFF2-40B4-BE49-F238E27FC236}">
                <a16:creationId xmlns:a16="http://schemas.microsoft.com/office/drawing/2014/main" id="{A2928D58-3D57-4C39-81E7-EA2C5D74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4947" y="3302464"/>
            <a:ext cx="1946617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边界验证</a:t>
            </a:r>
          </a:p>
        </p:txBody>
      </p:sp>
      <p:sp>
        <p:nvSpPr>
          <p:cNvPr id="28" name="PPAGENT_QA|within=sequential-step-1|role=body">
            <a:extLst xmlns:a="http://schemas.openxmlformats.org/drawingml/2006/main">
              <a:ext uri="{FF2B5EF4-FFF2-40B4-BE49-F238E27FC236}">
                <a16:creationId xmlns:a16="http://schemas.microsoft.com/office/drawing/2014/main" id="{65CFE6B7-A28B-417F-A15E-5F2D10DF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4947" y="3915288"/>
            <a:ext cx="1946617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测试容量边界，明确超限变化规则。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E17FCF-0348-4416-8620-C8BA71FF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4388" y="2617543"/>
            <a:ext cx="468630" cy="468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0" name="PPAGENT_QA|within=sequential-step-2|role=title">
            <a:extLst xmlns:a="http://schemas.openxmlformats.org/drawingml/2006/main">
              <a:ext uri="{FF2B5EF4-FFF2-40B4-BE49-F238E27FC236}">
                <a16:creationId xmlns:a16="http://schemas.microsoft.com/office/drawing/2014/main" id="{20B246E4-D464-4013-B279-C647514C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0436" y="3302464"/>
            <a:ext cx="1946617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能力转化</a:t>
            </a:r>
          </a:p>
        </p:txBody>
      </p:sp>
      <p:sp>
        <p:nvSpPr>
          <p:cNvPr id="31" name="PPAGENT_QA|within=sequential-step-2|role=body">
            <a:extLst xmlns:a="http://schemas.openxmlformats.org/drawingml/2006/main">
              <a:ext uri="{FF2B5EF4-FFF2-40B4-BE49-F238E27FC236}">
                <a16:creationId xmlns:a16="http://schemas.microsoft.com/office/drawing/2014/main" id="{BB8E6D00-D8F3-4545-8C17-87EB5040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0436" y="3915288"/>
            <a:ext cx="1946617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将规律内化为可复用的生成能力。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317DB9-86B3-4C4F-92D1-1F98658F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877" y="2617543"/>
            <a:ext cx="1009357" cy="342460"/>
          </a:xfrm>
          <a:prstGeom xmlns:a="http://schemas.openxmlformats.org/drawingml/2006/main" prst="roundRect">
            <a:avLst>
              <a:gd name="adj" fmla="val 33376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 / 结果</a:t>
            </a:r>
          </a:p>
        </p:txBody>
      </p:sp>
      <p:sp>
        <p:nvSpPr>
          <p:cNvPr id="33" name="PPAGENT_QA|within=sequential-step-3|role=title">
            <a:extLst xmlns:a="http://schemas.openxmlformats.org/drawingml/2006/main">
              <a:ext uri="{FF2B5EF4-FFF2-40B4-BE49-F238E27FC236}">
                <a16:creationId xmlns:a16="http://schemas.microsoft.com/office/drawing/2014/main" id="{7263A689-98E9-4E70-AE72-082BAE05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925" y="3302464"/>
            <a:ext cx="1946617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约束判断</a:t>
            </a:r>
          </a:p>
        </p:txBody>
      </p:sp>
      <p:sp>
        <p:nvSpPr>
          <p:cNvPr id="34" name="PPAGENT_QA|within=sequential-step-3|role=body">
            <a:extLst xmlns:a="http://schemas.openxmlformats.org/drawingml/2006/main">
              <a:ext uri="{FF2B5EF4-FFF2-40B4-BE49-F238E27FC236}">
                <a16:creationId xmlns:a16="http://schemas.microsoft.com/office/drawing/2014/main" id="{CA391650-B2C3-4F71-94EA-EF7358E9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925" y="3915288"/>
            <a:ext cx="1946617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识别不宜使用场景，形成设计禁区。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最后，它想解决的是一件很普通的事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要点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FEAD49F1-88CF-47BE-B54B-215758FC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07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1809F033-7FA6-48C6-A9E8-B649F0200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parallel-card-0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AEA9EFDE-F13F-4E9B-88DB-93C669C3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3441700" cy="3714750"/>
          </a:xfrm>
          <a:prstGeom xmlns:a="http://schemas.openxmlformats.org/drawingml/2006/main" prst="roundRect">
            <a:avLst>
              <a:gd name="adj" fmla="val 3321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PPAGENT_QA|within=parallel-card-0|role=accent-rail">
            <a:extLst xmlns:a="http://schemas.openxmlformats.org/drawingml/2006/main">
              <a:ext uri="{FF2B5EF4-FFF2-40B4-BE49-F238E27FC236}">
                <a16:creationId xmlns:a16="http://schemas.microsoft.com/office/drawing/2014/main" id="{6373B923-9C6A-4668-A8FF-3C87D154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3441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parallel-card-0|role=index">
            <a:extLst xmlns:a="http://schemas.openxmlformats.org/drawingml/2006/main">
              <a:ext uri="{FF2B5EF4-FFF2-40B4-BE49-F238E27FC236}">
                <a16:creationId xmlns:a16="http://schemas.microsoft.com/office/drawing/2014/main" id="{6BDF1546-0315-4559-B6A5-D64A00933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9" name="PPAGENT_QA|within=parallel-card-0|role=title">
            <a:extLst xmlns:a="http://schemas.openxmlformats.org/drawingml/2006/main">
              <a:ext uri="{FF2B5EF4-FFF2-40B4-BE49-F238E27FC236}">
                <a16:creationId xmlns:a16="http://schemas.microsoft.com/office/drawing/2014/main" id="{2A888CC2-472D-4D20-A111-80F03A2C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3060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靠谱非惊艳</a:t>
            </a:r>
          </a:p>
        </p:txBody>
      </p:sp>
      <p:sp>
        <p:nvSpPr>
          <p:cNvPr id="20" name="PPAGENT_QA|within=parallel-card-0|role=body">
            <a:extLst xmlns:a="http://schemas.openxmlformats.org/drawingml/2006/main">
              <a:ext uri="{FF2B5EF4-FFF2-40B4-BE49-F238E27FC236}">
                <a16:creationId xmlns:a16="http://schemas.microsoft.com/office/drawing/2014/main" id="{F6161227-0528-4E7B-A938-40AD2169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3022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不一定惊艳，但靠谱，强调可靠性与实用性。</a:t>
            </a:r>
          </a:p>
        </p:txBody>
      </p:sp>
      <p:sp>
        <p:nvSpPr>
          <p:cNvPr id="21" name="PPAGENT_QA|parent=parallel-card-1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C24D1994-707D-4094-BBAF-AFEDD1D1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1809750"/>
            <a:ext cx="3441700" cy="3714750"/>
          </a:xfrm>
          <a:prstGeom xmlns:a="http://schemas.openxmlformats.org/drawingml/2006/main" prst="roundRect">
            <a:avLst>
              <a:gd name="adj" fmla="val 3321"/>
            </a:avLst>
          </a:prstGeom>
          <a:solidFill xmlns:a="http://schemas.openxmlformats.org/drawingml/2006/main">
            <a:srgbClr val="F1F8FF"/>
          </a:solidFill>
          <a:ln xmlns:a="http://schemas.openxmlformats.org/drawingml/2006/main" w="13335">
            <a:solidFill>
              <a:srgbClr val="7EB7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PPAGENT_QA|within=parallel-card-1|role=accent-rail">
            <a:extLst xmlns:a="http://schemas.openxmlformats.org/drawingml/2006/main">
              <a:ext uri="{FF2B5EF4-FFF2-40B4-BE49-F238E27FC236}">
                <a16:creationId xmlns:a16="http://schemas.microsoft.com/office/drawing/2014/main" id="{98E3EA97-2A1E-4FF7-BAEA-E0421C7D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1809750"/>
            <a:ext cx="3441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PAGENT_QA|within=parallel-card-1|role=index">
            <a:extLst xmlns:a="http://schemas.openxmlformats.org/drawingml/2006/main">
              <a:ext uri="{FF2B5EF4-FFF2-40B4-BE49-F238E27FC236}">
                <a16:creationId xmlns:a16="http://schemas.microsoft.com/office/drawing/2014/main" id="{ABA13093-C036-4F9B-8678-FC0ABE799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4" name="PPAGENT_QA|within=parallel-card-1|role=title">
            <a:extLst xmlns:a="http://schemas.openxmlformats.org/drawingml/2006/main">
              <a:ext uri="{FF2B5EF4-FFF2-40B4-BE49-F238E27FC236}">
                <a16:creationId xmlns:a16="http://schemas.microsoft.com/office/drawing/2014/main" id="{9EFA2236-FA50-485E-A6D5-61252C2C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2952750"/>
            <a:ext cx="3060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好用非独特</a:t>
            </a:r>
          </a:p>
        </p:txBody>
      </p:sp>
      <p:sp>
        <p:nvSpPr>
          <p:cNvPr id="25" name="PPAGENT_QA|within=parallel-card-1|role=body">
            <a:extLst xmlns:a="http://schemas.openxmlformats.org/drawingml/2006/main">
              <a:ext uri="{FF2B5EF4-FFF2-40B4-BE49-F238E27FC236}">
                <a16:creationId xmlns:a16="http://schemas.microsoft.com/office/drawing/2014/main" id="{258FFF41-B983-4AFB-BFC0-0977635C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3638550"/>
            <a:ext cx="3022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不一定独一无二，但真的好用，强调有效性胜过独特性。</a:t>
            </a:r>
          </a:p>
        </p:txBody>
      </p:sp>
      <p:sp>
        <p:nvSpPr>
          <p:cNvPr id="26" name="PPAGENT_QA|parent=parallel-card-2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63213D9B-32E4-4DCB-B38E-38090905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1809750"/>
            <a:ext cx="3441700" cy="3714750"/>
          </a:xfrm>
          <a:prstGeom xmlns:a="http://schemas.openxmlformats.org/drawingml/2006/main" prst="roundRect">
            <a:avLst>
              <a:gd name="adj" fmla="val 3321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PPAGENT_QA|within=parallel-card-2|role=accent-rail">
            <a:extLst xmlns:a="http://schemas.openxmlformats.org/drawingml/2006/main">
              <a:ext uri="{FF2B5EF4-FFF2-40B4-BE49-F238E27FC236}">
                <a16:creationId xmlns:a16="http://schemas.microsoft.com/office/drawing/2014/main" id="{706EE1A6-C2F4-4E37-9FA5-A75B281B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1809750"/>
            <a:ext cx="3441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PAGENT_QA|within=parallel-card-2|role=index">
            <a:extLst xmlns:a="http://schemas.openxmlformats.org/drawingml/2006/main">
              <a:ext uri="{FF2B5EF4-FFF2-40B4-BE49-F238E27FC236}">
                <a16:creationId xmlns:a16="http://schemas.microsoft.com/office/drawing/2014/main" id="{37A37C27-2E32-4921-835F-BFD12FF4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78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9" name="PPAGENT_QA|within=parallel-card-2|role=title">
            <a:extLst xmlns:a="http://schemas.openxmlformats.org/drawingml/2006/main">
              <a:ext uri="{FF2B5EF4-FFF2-40B4-BE49-F238E27FC236}">
                <a16:creationId xmlns:a16="http://schemas.microsoft.com/office/drawing/2014/main" id="{D721BE1E-4223-400C-A3F2-05D83EF1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7850" y="2952750"/>
            <a:ext cx="3060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可持续修改</a:t>
            </a:r>
          </a:p>
        </p:txBody>
      </p:sp>
      <p:sp>
        <p:nvSpPr>
          <p:cNvPr id="30" name="PPAGENT_QA|within=parallel-card-2|role=body">
            <a:extLst xmlns:a="http://schemas.openxmlformats.org/drawingml/2006/main">
              <a:ext uri="{FF2B5EF4-FFF2-40B4-BE49-F238E27FC236}">
                <a16:creationId xmlns:a16="http://schemas.microsoft.com/office/drawing/2014/main" id="{8E6F378A-0AF3-4A22-8030-5B4FBE76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3638550"/>
            <a:ext cx="3022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第二天还可以继续修改，强调可迭代性与灵活性。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7535778-7BC5-C537-427C-FEF98ED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EC52759D-0EA5-447D-B58D-9A49C0C0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DA4F7B36-DC52-716A-DEF7-753169A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5" y="1887474"/>
            <a:ext cx="11932063" cy="1613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3600">
                <a:latin typeface="HYWenRunSongYun U"/>
                <a:ea typeface="HYWenRunSongYun U"/>
                <a:cs typeface="HYWenRunSongYun U"/>
              </a:defRPr>
            </a:pPr>
            <a:r>
              <a:rPr sz="36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PPagenT 将熟练制作者的经验系统化，通过
AI 理解、规则决定、代码执行，稳定交付可靠
实用的 PPT，解决内容与形式脱节的核心问题。</a:t>
            </a:r>
          </a:p>
        </p:txBody>
      </p:sp>
    </p:spTree>
    <p:extLst>
      <p:ext uri="{BB962C8B-B14F-4D97-AF65-F5344CB8AC3E}">
        <p14:creationId xmlns:p14="http://schemas.microsoft.com/office/powerpoint/2010/main" val="120291939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2026-08-13T11:38:50.7590000Z</dcterms:created>
  <dcterms:modified xsi:type="dcterms:W3CDTF">2026-08-13T11:38:50.7590000Z</dcterms:modified>
</coreProperties>
</file>