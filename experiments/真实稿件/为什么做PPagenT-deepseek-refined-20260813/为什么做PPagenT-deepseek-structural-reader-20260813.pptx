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f51b25fc8374406" /><Relationship Type="http://schemas.openxmlformats.org/officeDocument/2006/relationships/extended-properties" Target="/docProps/app.xml" Id="R73de7fdf5f6343a7" /><Relationship Type="http://schemas.openxmlformats.org/officeDocument/2006/relationships/officeDocument" Target="/ppt/presentation.xml" Id="Rbefe73192b6c44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aa7bf35712746c7"/>
    <p:sldMasterId xmlns:r="http://schemas.openxmlformats.org/officeDocument/2006/relationships" id="2147483660" r:id="R804fa6fb7cfe4755"/>
    <p:sldMasterId xmlns:r="http://schemas.openxmlformats.org/officeDocument/2006/relationships" id="2147483663" r:id="Rd91e34497f394d21"/>
  </p:sldMasterIdLst>
  <p:notesMasterIdLst>
    <p:notesMasterId xmlns:r="http://schemas.openxmlformats.org/officeDocument/2006/relationships" r:id="Reb64d8d023a64472"/>
  </p:notesMasterIdLst>
  <p:sldIdLst>
    <p:sldId xmlns:r="http://schemas.openxmlformats.org/officeDocument/2006/relationships" id="256" r:id="R9f78955391854839"/>
    <p:sldId xmlns:r="http://schemas.openxmlformats.org/officeDocument/2006/relationships" id="257" r:id="R7462db854d7f4420"/>
    <p:sldId xmlns:r="http://schemas.openxmlformats.org/officeDocument/2006/relationships" id="258" r:id="Raba0619d8fae4fc4"/>
    <p:sldId xmlns:r="http://schemas.openxmlformats.org/officeDocument/2006/relationships" id="259" r:id="Rbe95de73a5af4340"/>
    <p:sldId xmlns:r="http://schemas.openxmlformats.org/officeDocument/2006/relationships" id="260" r:id="Rd77a0282f1d945e0"/>
    <p:sldId xmlns:r="http://schemas.openxmlformats.org/officeDocument/2006/relationships" id="261" r:id="R63a452c7a5094f49"/>
    <p:sldId xmlns:r="http://schemas.openxmlformats.org/officeDocument/2006/relationships" id="262" r:id="R41a3fbe8f5c646e4"/>
    <p:sldId xmlns:r="http://schemas.openxmlformats.org/officeDocument/2006/relationships" id="263" r:id="Rf07f95e8f8814a8f"/>
    <p:sldId xmlns:r="http://schemas.openxmlformats.org/officeDocument/2006/relationships" id="264" r:id="R6e9b7a52011046b1"/>
    <p:sldId xmlns:r="http://schemas.openxmlformats.org/officeDocument/2006/relationships" id="265" r:id="Rdc9f4967c95e4e7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05a01a39c34416b" /><Relationship Type="http://schemas.openxmlformats.org/officeDocument/2006/relationships/slideMaster" Target="/ppt/slideMasters/slideMaster1.xml" Id="R1aa7bf35712746c7" /><Relationship Type="http://schemas.openxmlformats.org/officeDocument/2006/relationships/slideMaster" Target="/ppt/slideMasters/slideMaster2.xml" Id="R804fa6fb7cfe4755" /><Relationship Type="http://schemas.openxmlformats.org/officeDocument/2006/relationships/slideMaster" Target="/ppt/slideMasters/slideMaster3.xml" Id="Rd91e34497f394d21" /><Relationship Type="http://schemas.openxmlformats.org/officeDocument/2006/relationships/notesMaster" Target="/ppt/notesMasters/notesMaster1.xml" Id="Reb64d8d023a64472" /><Relationship Type="http://schemas.openxmlformats.org/officeDocument/2006/relationships/presProps" Target="/ppt/presProps.xml" Id="R2afb9faaadcf4151" /><Relationship Type="http://schemas.openxmlformats.org/officeDocument/2006/relationships/viewProps" Target="/ppt/viewProps.xml" Id="R33ae62f05aa140ec" /><Relationship Type="http://schemas.openxmlformats.org/officeDocument/2006/relationships/tableStyles" Target="/ppt/tableStyles.xml" Id="Re6e97d2eb83f4656" /><Relationship Type="http://schemas.openxmlformats.org/officeDocument/2006/relationships/slide" Target="/ppt/slides/slide1.xml" Id="R9f78955391854839" /><Relationship Type="http://schemas.openxmlformats.org/officeDocument/2006/relationships/slide" Target="/ppt/slides/slide2.xml" Id="R7462db854d7f4420" /><Relationship Type="http://schemas.openxmlformats.org/officeDocument/2006/relationships/slide" Target="/ppt/slides/slide3.xml" Id="Raba0619d8fae4fc4" /><Relationship Type="http://schemas.openxmlformats.org/officeDocument/2006/relationships/slide" Target="/ppt/slides/slide4.xml" Id="Rbe95de73a5af4340" /><Relationship Type="http://schemas.openxmlformats.org/officeDocument/2006/relationships/slide" Target="/ppt/slides/slide5.xml" Id="Rd77a0282f1d945e0" /><Relationship Type="http://schemas.openxmlformats.org/officeDocument/2006/relationships/slide" Target="/ppt/slides/slide6.xml" Id="R63a452c7a5094f49" /><Relationship Type="http://schemas.openxmlformats.org/officeDocument/2006/relationships/slide" Target="/ppt/slides/slide7.xml" Id="R41a3fbe8f5c646e4" /><Relationship Type="http://schemas.openxmlformats.org/officeDocument/2006/relationships/slide" Target="/ppt/slides/slide8.xml" Id="Rf07f95e8f8814a8f" /><Relationship Type="http://schemas.openxmlformats.org/officeDocument/2006/relationships/slide" Target="/ppt/slides/slide9.xml" Id="R6e9b7a52011046b1" /><Relationship Type="http://schemas.openxmlformats.org/officeDocument/2006/relationships/slide" Target="/ppt/slides/slide10.xml" Id="Rdc9f4967c95e4e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df4dcbf6e553490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dbb2e19737d4c3e" /><Relationship Type="http://schemas.openxmlformats.org/officeDocument/2006/relationships/notesMaster" Target="/ppt/notesMasters/notesMaster1.xml" Id="R78213ce3096c4ca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68991544cb34f12" /><Relationship Type="http://schemas.openxmlformats.org/officeDocument/2006/relationships/notesMaster" Target="/ppt/notesMasters/notesMaster1.xml" Id="Re7e3388bdd02429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4114f49030d4cea" /><Relationship Type="http://schemas.openxmlformats.org/officeDocument/2006/relationships/notesMaster" Target="/ppt/notesMasters/notesMaster1.xml" Id="Rdbd73ade81b64ec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6f03dae9c0a4d88" /><Relationship Type="http://schemas.openxmlformats.org/officeDocument/2006/relationships/notesMaster" Target="/ppt/notesMasters/notesMaster1.xml" Id="R9b726c91eb1f425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dc9804f330b4959" /><Relationship Type="http://schemas.openxmlformats.org/officeDocument/2006/relationships/notesMaster" Target="/ppt/notesMasters/notesMaster1.xml" Id="R1f918d7208e44b2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20f4745066648a7" /><Relationship Type="http://schemas.openxmlformats.org/officeDocument/2006/relationships/notesMaster" Target="/ppt/notesMasters/notesMaster1.xml" Id="R96b3e3f28244471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737cf58660c4f0b" /><Relationship Type="http://schemas.openxmlformats.org/officeDocument/2006/relationships/notesMaster" Target="/ppt/notesMasters/notesMaster1.xml" Id="Rc026b72c8967467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2466eae96a1471f" /><Relationship Type="http://schemas.openxmlformats.org/officeDocument/2006/relationships/notesMaster" Target="/ppt/notesMasters/notesMaster1.xml" Id="Rb9637c1f6ab84d4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8da90bc93b042cd" /><Relationship Type="http://schemas.openxmlformats.org/officeDocument/2006/relationships/notesMaster" Target="/ppt/notesMasters/notesMaster1.xml" Id="Recd742ea3c374ed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b87aadf899d48b8" /><Relationship Type="http://schemas.openxmlformats.org/officeDocument/2006/relationships/notesMaster" Target="/ppt/notesMasters/notesMaster1.xml" Id="R088b4e4de85c49e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内容：稿件/为什么做PPagenT-v1.md</a:t>
            </a:r>
          </a:p>
          <a:p xmlns:a="http://schemas.openxmlformats.org/drawingml/2006/main">
            <a:r>
              <a:t>- 视觉：PPT模板-封面正文尾页.pptx（用户提供的东北大学模板）</a:t>
            </a:r>
          </a:p>
          <a:p xmlns:a="http://schemas.openxmlformats.org/drawingml/2006/main">
            <a:r>
              <a:t>- PPagenT：shell-cover-intent → northeastern-university-cover-001</a:t>
            </a:r>
          </a:p>
          <a:p xmlns:a="http://schemas.openxmlformats.org/drawingml/2006/main">
            <a:r>
              <a:t>- 整页编排：fixed-cover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PPagenT：shell-agenda-intent → northeastern-university-agenda-001</a:t>
            </a:r>
            <a:endParaRPr/>
          </a:p>
          <a:p xmlns:a="http://schemas.openxmlformats.org/drawingml/2006/main">
            <a:r>
              <a:t>- 整页编排：fixed-agenda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PPagenT：p1-intent → parallel-cards-001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PPagenT：p2-intent → northeastern-university-body-001</a:t>
            </a:r>
            <a:endParaRPr/>
          </a:p>
          <a:p xmlns:a="http://schemas.openxmlformats.org/drawingml/2006/main">
            <a:r>
              <a:t>- 整页编排：editorial-single-focus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PPagenT：p3-intent → timeline-roadmap-001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PPagenT：p4-intent → comparison-structure-001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PPagenT：p5-intent → northeastern-university-body-001</a:t>
            </a:r>
            <a:endParaRPr/>
          </a:p>
          <a:p xmlns:a="http://schemas.openxmlformats.org/drawingml/2006/main">
            <a:r>
              <a:t>- 整页编排：editorial-dual-statement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PPagenT：p6-intent → sequential-process-001</a:t>
            </a:r>
            <a:endParaRPr/>
          </a:p>
          <a:p xmlns:a="http://schemas.openxmlformats.org/drawingml/2006/main">
            <a:r>
              <a:t>- 整页编排：component-aside-right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PPagenT：p7-intent → parallel-cards-001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内容：稿件/为什么做PPagenT-v1.md</a:t>
            </a:r>
          </a:p>
          <a:p xmlns:a="http://schemas.openxmlformats.org/drawingml/2006/main">
            <a:r>
              <a:t>- 视觉：PPT模板-封面正文尾页.pptx（用户提供的东北大学模板）</a:t>
            </a:r>
          </a:p>
          <a:p xmlns:a="http://schemas.openxmlformats.org/drawingml/2006/main">
            <a:r>
              <a:t>- PPagenT：shell-closing-intent → northeastern-university-closing-001</a:t>
            </a:r>
          </a:p>
          <a:p xmlns:a="http://schemas.openxmlformats.org/drawingml/2006/main">
            <a:r>
              <a:t>- 整页编排：fixed-closing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bb002d1bf94221" /><Relationship Type="http://schemas.openxmlformats.org/officeDocument/2006/relationships/image" Target="/ppt/media/image.jpeg" Id="R8daf8b7a60f344dd" /><Relationship Type="http://schemas.openxmlformats.org/officeDocument/2006/relationships/image" Target="/ppt/media/image.png" Id="Re78c005a5f8241de" /><Relationship Type="http://schemas.openxmlformats.org/officeDocument/2006/relationships/image" Target="/ppt/media/image2.png" Id="Ra71a5e1f0979410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df47485ce744f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4278e702944037" /><Relationship Type="http://schemas.openxmlformats.org/officeDocument/2006/relationships/image" Target="/ppt/media/image3.png" Id="R2c1c3f42d008466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e152253247486d" /><Relationship Type="http://schemas.openxmlformats.org/officeDocument/2006/relationships/image" Target="/ppt/media/image4.png" Id="R3796772442d845a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131276b285497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0d55b8d469466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bfd3608e5a444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de0eef79c54be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e799b2065b4cc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ec364c9ae94dc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f054df8c8a45d3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90e887a629947cd" /><Relationship Type="http://schemas.openxmlformats.org/officeDocument/2006/relationships/image" Target="/ppt/media/image5.png" Id="R57b84897f7424176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4054ebe0f304417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abfeafe0051e4e59" /><Relationship Type="http://schemas.openxmlformats.org/officeDocument/2006/relationships/image" Target="/ppt/media/image5.png" Id="R57f17c77e3c84e18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fdc59d47a2fd412c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af8b7a60f344dd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8c005a5f8241de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1a5e1f09794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026E95BC-2679-4BEE-B7CA-8EA66A37C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1c3f42d0084665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E7ED48A2-85E1-4DC6-8A43-85EEE4223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BF6A2354-3A77-4190-86AE-FF347A10E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70F2B69A-E454-4D2B-BF1B-5A1531C4C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AAE7442B-6F11-4D26-A47B-7C628465F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96772442d845ab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28C0ADC0-B61D-49F4-8DC1-29EBCA851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7ACE90C0-8823-4FA6-9667-396AF8328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82B6F78-88B1-47C4-8F4B-11BEE649DB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D3518FA-4B0D-44EF-89DF-BFA92D6FD02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ED608220-8F02-4AC5-BE07-AB5FA31D487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19591FAE-07D8-4640-9732-389EBB979347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2F31F2C7-9D26-458E-A4FF-DA1AF6551C6A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ADEB6E17-7676-4B3C-AA70-F5C58FFA37C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78A928C-1744-42E1-80F8-A6F08900CF9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92A5C64F-9400-46D4-9C5B-483AFB8716E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76387BF-9863-4538-B723-E111A98795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F105520B-3AD3-4D87-A4A6-C21E57BA95D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E6A578A3-F6A6-4D56-8376-29C646BCBF2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46D77D2C-5E67-4A6C-A2B2-82838A11291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17675487-E440-482E-AD07-6DEA122D30A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FAD1F9C1-B96D-47A8-9F2B-90E0ABA1DD6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A499B50B-9268-4704-A07E-38ACCFD9BA7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225C08F-FE1C-4599-B7A0-3C62D2BB1B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1BC47576-C7B2-4E9D-85E0-D55B7402519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303DA461-0183-4D63-B06C-0564A851A41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3716BB88-326D-432F-B750-2AC8834F2E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97004C0F-EDBE-4EF6-A431-CF93A0A3243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2B3B1D3E-BC40-43BB-86DE-12FB485C0B7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0D172DA-F27B-4055-ACC9-E2EDCBA53C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B22DF66-ABF5-4AF0-87FD-E1EDFB9E3CC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D4BE8CF0-68E7-4B09-A967-FCF5D264494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F2D2DB2B-4219-4E4D-A014-D573252B75C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620C19E6-5074-4BFE-BA4C-DC6149F80C7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4495ACB8-EC6C-499C-A19E-75D25BD480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14E539B-2942-4F30-8A5B-DAD38E7343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C17591EA-8104-4565-B820-B6F050FBCAB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373EA30-111D-46A0-BF5A-210755D0AC2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6634D79-9FE2-4E3E-B199-BB3073C5328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57B26FD-A68A-4C96-8B29-30E265E65FC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F3A87FD4-5197-44C0-A2FD-CA9D6A71D4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42B1B59C-A206-4A92-B846-53725A70218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6E2AF6B-D1C5-48BB-A682-116D9B5B109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7941E10-1C3F-490D-8311-9C435A32BBE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62FE6EE-88B5-4457-ACC3-51715557B7C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b84897f7424176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B6190D1D-3D5A-405F-A8A5-C73AAD9E0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A79E2012-8C10-4741-9F7E-51368AA81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FB00AB15-DCD3-4589-8F48-5B2394A8A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4A7BD4AE-A998-493F-BD68-AEAA9F47C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f17c77e3c84e18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006BD275-C540-4B7F-8C26-B1DE16F16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413F24D5-F3D6-4024-ABFA-640B5A167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DD8549A-53D0-4854-A4AB-9ABD6E6AB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85B36EF0-CADE-4BB7-92CD-CF092904C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8ca100ccbe4438f" /><Relationship Type="http://schemas.openxmlformats.org/officeDocument/2006/relationships/slideLayout" Target="/ppt/slideLayouts/slideLayout1.xml" Id="Rbde0798e05b2424c" /><Relationship Type="http://schemas.openxmlformats.org/officeDocument/2006/relationships/slideLayout" Target="/ppt/slideLayouts/slideLayout2.xml" Id="Ree4d88ba00a6423a" /><Relationship Type="http://schemas.openxmlformats.org/officeDocument/2006/relationships/slideLayout" Target="/ppt/slideLayouts/slideLayout3.xml" Id="R08ea9be7c0894c3c" /><Relationship Type="http://schemas.openxmlformats.org/officeDocument/2006/relationships/slideLayout" Target="/ppt/slideLayouts/slideLayout4.xml" Id="Rece05626c0f0489d" /><Relationship Type="http://schemas.openxmlformats.org/officeDocument/2006/relationships/slideLayout" Target="/ppt/slideLayouts/slideLayout5.xml" Id="R768fe67b69584f53" /><Relationship Type="http://schemas.openxmlformats.org/officeDocument/2006/relationships/slideLayout" Target="/ppt/slideLayouts/slideLayout6.xml" Id="Rc5c6a485fe2b40ca" /><Relationship Type="http://schemas.openxmlformats.org/officeDocument/2006/relationships/slideLayout" Target="/ppt/slideLayouts/slideLayout7.xml" Id="R08aabea05b1a4c4d" /><Relationship Type="http://schemas.openxmlformats.org/officeDocument/2006/relationships/slideLayout" Target="/ppt/slideLayouts/slideLayout8.xml" Id="R44435d324ba04bdf" /><Relationship Type="http://schemas.openxmlformats.org/officeDocument/2006/relationships/slideLayout" Target="/ppt/slideLayouts/slideLayout9.xml" Id="Rcd649b8da6274f34" /><Relationship Type="http://schemas.openxmlformats.org/officeDocument/2006/relationships/slideLayout" Target="/ppt/slideLayouts/slideLayout10.xml" Id="R9aee73f4965f450e" /><Relationship Type="http://schemas.openxmlformats.org/officeDocument/2006/relationships/slideLayout" Target="/ppt/slideLayouts/slideLayout11.xml" Id="R9c50a9960a4b4fbb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5466226f12974938" /><Relationship Type="http://schemas.openxmlformats.org/officeDocument/2006/relationships/slideLayout" Target="/ppt/slideLayouts/slideLayout12.xml" Id="R27ee3afed55b473c" /><Relationship Type="http://schemas.openxmlformats.org/officeDocument/2006/relationships/slideLayout" Target="/ppt/slideLayouts/slideLayout13.xml" Id="R7140db2ad99f4684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d137ac064cdb4842" /><Relationship Type="http://schemas.openxmlformats.org/officeDocument/2006/relationships/slideLayout" Target="/ppt/slideLayouts/slideLayout14.xml" Id="Rfe9e872d22534a76" /><Relationship Type="http://schemas.openxmlformats.org/officeDocument/2006/relationships/slideLayout" Target="/ppt/slideLayouts/slideLayout15.xml" Id="R5ade9cf6bd0a448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22BD9CC6-7D03-4722-A1C3-0C0AF7DDD2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DB51A772-74BA-4FAB-804A-7E4476A0A5F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D83176F-AF45-4BA3-8136-579E16BFF35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C33E150-118C-4D79-AFAB-122D47545F8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0ECD621-A541-4B9D-B5CD-7A580C2377B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e0798e05b2424c"/>
    <p:sldLayoutId xmlns:r="http://schemas.openxmlformats.org/officeDocument/2006/relationships" id="2147483650" r:id="Ree4d88ba00a6423a"/>
    <p:sldLayoutId xmlns:r="http://schemas.openxmlformats.org/officeDocument/2006/relationships" id="2147483651" r:id="R08ea9be7c0894c3c"/>
    <p:sldLayoutId xmlns:r="http://schemas.openxmlformats.org/officeDocument/2006/relationships" id="2147483652" r:id="Rece05626c0f0489d"/>
    <p:sldLayoutId xmlns:r="http://schemas.openxmlformats.org/officeDocument/2006/relationships" id="2147483653" r:id="R768fe67b69584f53"/>
    <p:sldLayoutId xmlns:r="http://schemas.openxmlformats.org/officeDocument/2006/relationships" id="2147483654" r:id="Rc5c6a485fe2b40ca"/>
    <p:sldLayoutId xmlns:r="http://schemas.openxmlformats.org/officeDocument/2006/relationships" id="2147483655" r:id="R08aabea05b1a4c4d"/>
    <p:sldLayoutId xmlns:r="http://schemas.openxmlformats.org/officeDocument/2006/relationships" id="2147483656" r:id="R44435d324ba04bdf"/>
    <p:sldLayoutId xmlns:r="http://schemas.openxmlformats.org/officeDocument/2006/relationships" id="2147483657" r:id="Rcd649b8da6274f34"/>
    <p:sldLayoutId xmlns:r="http://schemas.openxmlformats.org/officeDocument/2006/relationships" id="2147483658" r:id="R9aee73f4965f450e"/>
    <p:sldLayoutId xmlns:r="http://schemas.openxmlformats.org/officeDocument/2006/relationships" id="2147483659" r:id="R9c50a9960a4b4fbb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0513D266-BD62-4E2F-AE15-53BD88D0EB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04E237A-DC75-4D04-AD5F-248316BFA0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234F8C4-1185-4E5A-B449-4EF5DF18E2CD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ED31D6D-8D8D-4E36-9407-8CF5A8B454B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707F551-4ABA-484F-BC80-F48417C3591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27ee3afed55b473c"/>
    <p:sldLayoutId xmlns:r="http://schemas.openxmlformats.org/officeDocument/2006/relationships" id="2147483662" r:id="R7140db2ad99f4684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620BA6A8-7580-4EDD-BE63-59804F580A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B67E4EF-125B-428E-8AC1-FAB6E75DAD8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32340E1-279F-4DE5-98FE-C30F4D5B571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0DE0EE0-52BD-4682-BE1E-14180CAEFA4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6E97ACB-0DFB-49FF-9CB6-D069C928D24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fe9e872d22534a76"/>
    <p:sldLayoutId xmlns:r="http://schemas.openxmlformats.org/officeDocument/2006/relationships" id="2147483665" r:id="R5ade9cf6bd0a448a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162435b7514f42" /><Relationship Type="http://schemas.openxmlformats.org/officeDocument/2006/relationships/notesSlide" Target="/ppt/notesSlides/notesSlide1.xml" Id="R37553f2dc629458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2f1c050c70e4785" /><Relationship Type="http://schemas.openxmlformats.org/officeDocument/2006/relationships/notesSlide" Target="/ppt/notesSlides/notesSlide2.xml" Id="R4d40498f6bd54b6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9679b72a2c44ae6" /><Relationship Type="http://schemas.openxmlformats.org/officeDocument/2006/relationships/notesSlide" Target="/ppt/notesSlides/notesSlide3.xml" Id="R028ede4cd36c4be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f9c173af3844e6f" /><Relationship Type="http://schemas.openxmlformats.org/officeDocument/2006/relationships/notesSlide" Target="/ppt/notesSlides/notesSlide4.xml" Id="R816ae0e059ff448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87b4080d67b4a54" /><Relationship Type="http://schemas.openxmlformats.org/officeDocument/2006/relationships/notesSlide" Target="/ppt/notesSlides/notesSlide5.xml" Id="R4c90e2f65f64439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f2ec57be91343ad" /><Relationship Type="http://schemas.openxmlformats.org/officeDocument/2006/relationships/notesSlide" Target="/ppt/notesSlides/notesSlide6.xml" Id="R92ce8228b19c47d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0686436491542cf" /><Relationship Type="http://schemas.openxmlformats.org/officeDocument/2006/relationships/notesSlide" Target="/ppt/notesSlides/notesSlide7.xml" Id="R0ed3064575c745d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0abe7bbc68d4d9b" /><Relationship Type="http://schemas.openxmlformats.org/officeDocument/2006/relationships/notesSlide" Target="/ppt/notesSlides/notesSlide8.xml" Id="R64b6cbff735440f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ad3111028904499" /><Relationship Type="http://schemas.openxmlformats.org/officeDocument/2006/relationships/notesSlide" Target="/ppt/notesSlides/notesSlide9.xml" Id="Rcd638c907da741b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2a82f2c56b4da1" /><Relationship Type="http://schemas.openxmlformats.org/officeDocument/2006/relationships/notesSlide" Target="/ppt/notesSlides/notesSlide10.xml" Id="R33c7603d510d473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BF78887F-302D-4248-B663-97260B1C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5" name="标题 8">
            <a:extLst xmlns:a="http://schemas.openxmlformats.org/drawingml/2006/main">
              <a:ext uri="{FF2B5EF4-FFF2-40B4-BE49-F238E27FC236}">
                <a16:creationId xmlns:a16="http://schemas.microsoft.com/office/drawing/2014/main" id="{B9092533-DD6C-4B7B-AC89-E8A3DEE9C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810000"/>
            <a:ext cx="7620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10000"/>
              </a:lnSpc>
              <a:spcBef>
                <a:spcPts val="0"/>
              </a:spcBef>
              <a:buNone/>
              <a:defRPr sz="2250">
                <a:latin typeface="HYWenRunSongYun U"/>
                <a:ea typeface="HYWenRunSongYun U"/>
                <a:cs typeface="HYWenRunSongYun U"/>
              </a:defRPr>
            </a:pPr>
            <a:r>
              <a:rPr sz="2800" i="0" u="none" cap="none">
                <a:ln>
                  <a:noFill/>
                </a:ln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汇报人：魏鹏宇</a:t>
            </a:r>
          </a:p>
        </p:txBody>
      </p:sp>
      <p:sp>
        <p:nvSpPr>
          <p:cNvPr id="17" name="标题 8">
            <a:extLst xmlns:a="http://schemas.openxmlformats.org/drawingml/2006/main">
              <a:ext uri="{FF2B5EF4-FFF2-40B4-BE49-F238E27FC236}">
                <a16:creationId xmlns:a16="http://schemas.microsoft.com/office/drawing/2014/main" id="{0C9CD07F-CD78-413D-9459-A537A7806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19700"/>
            <a:ext cx="4762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2400" spc="300"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2026.07.20</a:t>
            </a:r>
            <a:endParaRPr sz="2400" spc="300">
              <a:solidFill>
                <a:schemeClr val="tx1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848A6EF7-4F4C-4840-AED3-6C65FC019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A387CBB9-B026-4DC6-A702-EF751F21F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5" y="1887474"/>
            <a:ext cx="11932063" cy="16135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25000"/>
              </a:lnSpc>
              <a:spcBef>
                <a:spcPts val="0"/>
              </a:spcBef>
              <a:buNone/>
              <a:defRPr sz="4800">
                <a:latin typeface="HYWenRunSongYun U"/>
                <a:ea typeface="HYWenRunSongYun U"/>
                <a:cs typeface="HYWenRunSongYun U"/>
              </a:defRPr>
            </a:pP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为什么做 PPagenT</a:t>
            </a:r>
          </a:p>
        </p:txBody>
      </p:sp>
    </p:spTree>
    <p:extLst>
      <p:ext uri="{BB962C8B-B14F-4D97-AF65-F5344CB8AC3E}">
        <p14:creationId xmlns:p14="http://schemas.microsoft.com/office/powerpoint/2010/main" val="174291429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542399B-F72C-D38B-F936-651F052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目录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C3B1095-FE94-AC4D-7BAA-B4E2992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952625"/>
            <a:ext cx="9620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1. 痛点与反复劳动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2. 稳定胜过自由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3. 分工与价值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4. 能力积累与普通愿景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320892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做 PPT，真正费时间的不是“画”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要点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BE08F5F-51F8-48E9-AC7C-EA542A2B0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0CEF5D31-21AB-4D77-AD1C-A68F190DF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parallel-card-0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8477A221-EADD-4BF3-BAD0-739FF290B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1988820" cy="3714750"/>
          </a:xfrm>
          <a:prstGeom xmlns:a="http://schemas.openxmlformats.org/drawingml/2006/main" prst="roundRect">
            <a:avLst>
              <a:gd name="adj" fmla="val 5747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3335">
            <a:solidFill>
              <a:srgbClr val="A8CB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PPAGENT_QA|within=parallel-card-0|role=accent-rail">
            <a:extLst xmlns:a="http://schemas.openxmlformats.org/drawingml/2006/main">
              <a:ext uri="{FF2B5EF4-FFF2-40B4-BE49-F238E27FC236}">
                <a16:creationId xmlns:a16="http://schemas.microsoft.com/office/drawing/2014/main" id="{0828DBFF-9143-4301-AA59-310AC54EC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198882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parallel-card-0|role=index">
            <a:extLst xmlns:a="http://schemas.openxmlformats.org/drawingml/2006/main">
              <a:ext uri="{FF2B5EF4-FFF2-40B4-BE49-F238E27FC236}">
                <a16:creationId xmlns:a16="http://schemas.microsoft.com/office/drawing/2014/main" id="{0F8A3DD7-3D4C-43F7-9BDE-0FFAE361C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9" name="PPAGENT_QA|within=parallel-card-0|role=title">
            <a:extLst xmlns:a="http://schemas.openxmlformats.org/drawingml/2006/main">
              <a:ext uri="{FF2B5EF4-FFF2-40B4-BE49-F238E27FC236}">
                <a16:creationId xmlns:a16="http://schemas.microsoft.com/office/drawing/2014/main" id="{9E718F55-88C4-4BCE-AD14-13E772D95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0"/>
            <a:ext cx="160782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汇报策略判断</a:t>
            </a:r>
          </a:p>
        </p:txBody>
      </p:sp>
      <p:sp>
        <p:nvSpPr>
          <p:cNvPr id="20" name="PPAGENT_QA|within=parallel-card-0|role=body">
            <a:extLst xmlns:a="http://schemas.openxmlformats.org/drawingml/2006/main">
              <a:ext uri="{FF2B5EF4-FFF2-40B4-BE49-F238E27FC236}">
                <a16:creationId xmlns:a16="http://schemas.microsoft.com/office/drawing/2014/main" id="{F726536E-781C-4380-9B29-4E50E75F3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156972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决定这场汇报的整体讲法、目标与主线。</a:t>
            </a:r>
          </a:p>
        </p:txBody>
      </p:sp>
      <p:sp>
        <p:nvSpPr>
          <p:cNvPr id="21" name="PPAGENT_QA|parent=parallel-card-1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69A5C4F2-1FDC-4467-9547-00E4A166B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270" y="1809750"/>
            <a:ext cx="1988820" cy="3714750"/>
          </a:xfrm>
          <a:prstGeom xmlns:a="http://schemas.openxmlformats.org/drawingml/2006/main" prst="roundRect">
            <a:avLst>
              <a:gd name="adj" fmla="val 5747"/>
            </a:avLst>
          </a:prstGeom>
          <a:solidFill xmlns:a="http://schemas.openxmlformats.org/drawingml/2006/main">
            <a:srgbClr val="F1F8FF"/>
          </a:solidFill>
          <a:ln xmlns:a="http://schemas.openxmlformats.org/drawingml/2006/main" w="13335">
            <a:solidFill>
              <a:srgbClr val="7EB7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PPAGENT_QA|within=parallel-card-1|role=accent-rail">
            <a:extLst xmlns:a="http://schemas.openxmlformats.org/drawingml/2006/main">
              <a:ext uri="{FF2B5EF4-FFF2-40B4-BE49-F238E27FC236}">
                <a16:creationId xmlns:a16="http://schemas.microsoft.com/office/drawing/2014/main" id="{4C180EFF-9E0B-4094-8C2A-4DCBCF396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270" y="1809750"/>
            <a:ext cx="198882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PAGENT_QA|within=parallel-card-1|role=index">
            <a:extLst xmlns:a="http://schemas.openxmlformats.org/drawingml/2006/main">
              <a:ext uri="{FF2B5EF4-FFF2-40B4-BE49-F238E27FC236}">
                <a16:creationId xmlns:a16="http://schemas.microsoft.com/office/drawing/2014/main" id="{4CB89F66-8581-464F-AE94-84E27610A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277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4" name="PPAGENT_QA|within=parallel-card-1|role=title">
            <a:extLst xmlns:a="http://schemas.openxmlformats.org/drawingml/2006/main">
              <a:ext uri="{FF2B5EF4-FFF2-40B4-BE49-F238E27FC236}">
                <a16:creationId xmlns:a16="http://schemas.microsoft.com/office/drawing/2014/main" id="{A4E31BDE-71DA-49AA-8262-6D06A5F00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2770" y="2952750"/>
            <a:ext cx="160782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页面拆分规划</a:t>
            </a:r>
          </a:p>
        </p:txBody>
      </p:sp>
      <p:sp>
        <p:nvSpPr>
          <p:cNvPr id="25" name="PPAGENT_QA|within=parallel-card-1|role=body">
            <a:extLst xmlns:a="http://schemas.openxmlformats.org/drawingml/2006/main">
              <a:ext uri="{FF2B5EF4-FFF2-40B4-BE49-F238E27FC236}">
                <a16:creationId xmlns:a16="http://schemas.microsoft.com/office/drawing/2014/main" id="{BFF8D99C-9983-40A0-8180-10D18419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1820" y="3638550"/>
            <a:ext cx="156972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将长稿内容合理拆分为多页，并明确每页核心主题。</a:t>
            </a:r>
          </a:p>
        </p:txBody>
      </p:sp>
      <p:sp>
        <p:nvSpPr>
          <p:cNvPr id="26" name="PPAGENT_QA|parent=parallel-card-2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059B6689-1C85-4895-8E4C-036630D00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1590" y="1809750"/>
            <a:ext cx="1988820" cy="3714750"/>
          </a:xfrm>
          <a:prstGeom xmlns:a="http://schemas.openxmlformats.org/drawingml/2006/main" prst="roundRect">
            <a:avLst>
              <a:gd name="adj" fmla="val 5747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3335">
            <a:solidFill>
              <a:srgbClr val="A8CB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PPAGENT_QA|within=parallel-card-2|role=accent-rail">
            <a:extLst xmlns:a="http://schemas.openxmlformats.org/drawingml/2006/main">
              <a:ext uri="{FF2B5EF4-FFF2-40B4-BE49-F238E27FC236}">
                <a16:creationId xmlns:a16="http://schemas.microsoft.com/office/drawing/2014/main" id="{8E3BC9D3-43EF-488C-AA74-5DB947128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1590" y="1809750"/>
            <a:ext cx="198882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PAGENT_QA|within=parallel-card-2|role=index">
            <a:extLst xmlns:a="http://schemas.openxmlformats.org/drawingml/2006/main">
              <a:ext uri="{FF2B5EF4-FFF2-40B4-BE49-F238E27FC236}">
                <a16:creationId xmlns:a16="http://schemas.microsoft.com/office/drawing/2014/main" id="{902C4732-8A1F-434E-966C-4AC8ADD5A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209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9" name="PPAGENT_QA|within=parallel-card-2|role=title">
            <a:extLst xmlns:a="http://schemas.openxmlformats.org/drawingml/2006/main">
              <a:ext uri="{FF2B5EF4-FFF2-40B4-BE49-F238E27FC236}">
                <a16:creationId xmlns:a16="http://schemas.microsoft.com/office/drawing/2014/main" id="{E7884F68-1A03-40D9-8753-3B3C300E4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2090" y="2952750"/>
            <a:ext cx="160782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观点关系梳理</a:t>
            </a:r>
          </a:p>
        </p:txBody>
      </p:sp>
      <p:sp>
        <p:nvSpPr>
          <p:cNvPr id="30" name="PPAGENT_QA|within=parallel-card-2|role=body">
            <a:extLst xmlns:a="http://schemas.openxmlformats.org/drawingml/2006/main">
              <a:ext uri="{FF2B5EF4-FFF2-40B4-BE49-F238E27FC236}">
                <a16:creationId xmlns:a16="http://schemas.microsoft.com/office/drawing/2014/main" id="{A9ACBEFB-4E46-4B1A-913B-3E7B89C08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1140" y="3638550"/>
            <a:ext cx="156972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判断多个观点之间的逻辑关系（并列、递进、因果或流程）。</a:t>
            </a:r>
          </a:p>
        </p:txBody>
      </p:sp>
      <p:sp>
        <p:nvSpPr>
          <p:cNvPr id="31" name="PPAGENT_QA|parent=parallel-card-3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FC149774-7049-448F-BF6A-0EB6A58CA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0910" y="1809750"/>
            <a:ext cx="1988820" cy="3714750"/>
          </a:xfrm>
          <a:prstGeom xmlns:a="http://schemas.openxmlformats.org/drawingml/2006/main" prst="roundRect">
            <a:avLst>
              <a:gd name="adj" fmla="val 5747"/>
            </a:avLst>
          </a:prstGeom>
          <a:solidFill xmlns:a="http://schemas.openxmlformats.org/drawingml/2006/main">
            <a:srgbClr val="F1F8FF"/>
          </a:solidFill>
          <a:ln xmlns:a="http://schemas.openxmlformats.org/drawingml/2006/main" w="13335">
            <a:solidFill>
              <a:srgbClr val="7EB7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PPAGENT_QA|within=parallel-card-3|role=accent-rail">
            <a:extLst xmlns:a="http://schemas.openxmlformats.org/drawingml/2006/main">
              <a:ext uri="{FF2B5EF4-FFF2-40B4-BE49-F238E27FC236}">
                <a16:creationId xmlns:a16="http://schemas.microsoft.com/office/drawing/2014/main" id="{C4011E44-5EF5-48FC-89FA-2EC59CA05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0910" y="1809750"/>
            <a:ext cx="198882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PAGENT_QA|within=parallel-card-3|role=index">
            <a:extLst xmlns:a="http://schemas.openxmlformats.org/drawingml/2006/main">
              <a:ext uri="{FF2B5EF4-FFF2-40B4-BE49-F238E27FC236}">
                <a16:creationId xmlns:a16="http://schemas.microsoft.com/office/drawing/2014/main" id="{7AB00FC5-789A-464F-8C44-B3D3735A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141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4" name="PPAGENT_QA|within=parallel-card-3|role=title">
            <a:extLst xmlns:a="http://schemas.openxmlformats.org/drawingml/2006/main">
              <a:ext uri="{FF2B5EF4-FFF2-40B4-BE49-F238E27FC236}">
                <a16:creationId xmlns:a16="http://schemas.microsoft.com/office/drawing/2014/main" id="{0A991817-E519-4B4A-B1E3-A8A7893E8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1410" y="2952750"/>
            <a:ext cx="160782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视觉突出决策</a:t>
            </a:r>
          </a:p>
        </p:txBody>
      </p:sp>
      <p:sp>
        <p:nvSpPr>
          <p:cNvPr id="35" name="PPAGENT_QA|within=parallel-card-3|role=body">
            <a:extLst xmlns:a="http://schemas.openxmlformats.org/drawingml/2006/main">
              <a:ext uri="{FF2B5EF4-FFF2-40B4-BE49-F238E27FC236}">
                <a16:creationId xmlns:a16="http://schemas.microsoft.com/office/drawing/2014/main" id="{5A9AFABB-2BCF-4F56-9E5C-7EC9B843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0460" y="3638550"/>
            <a:ext cx="156972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确定哪些内容需要突出强调。</a:t>
            </a:r>
          </a:p>
        </p:txBody>
      </p:sp>
      <p:sp>
        <p:nvSpPr>
          <p:cNvPr id="36" name="PPAGENT_QA|parent=parallel-card-4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F6857D85-5DE1-4CCA-AD3E-9B8E273C1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0230" y="1809750"/>
            <a:ext cx="1988820" cy="3714750"/>
          </a:xfrm>
          <a:prstGeom xmlns:a="http://schemas.openxmlformats.org/drawingml/2006/main" prst="roundRect">
            <a:avLst>
              <a:gd name="adj" fmla="val 5747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3335">
            <a:solidFill>
              <a:srgbClr val="A8CB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7" name="PPAGENT_QA|within=parallel-card-4|role=accent-rail">
            <a:extLst xmlns:a="http://schemas.openxmlformats.org/drawingml/2006/main">
              <a:ext uri="{FF2B5EF4-FFF2-40B4-BE49-F238E27FC236}">
                <a16:creationId xmlns:a16="http://schemas.microsoft.com/office/drawing/2014/main" id="{4D03B15C-7F4F-4907-93AA-67A7A2E5B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0230" y="1809750"/>
            <a:ext cx="198882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PPAGENT_QA|within=parallel-card-4|role=index">
            <a:extLst xmlns:a="http://schemas.openxmlformats.org/drawingml/2006/main">
              <a:ext uri="{FF2B5EF4-FFF2-40B4-BE49-F238E27FC236}">
                <a16:creationId xmlns:a16="http://schemas.microsoft.com/office/drawing/2014/main" id="{C67A771C-408B-44FD-9CCC-0EFD2B00C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073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9" name="PPAGENT_QA|within=parallel-card-4|role=title">
            <a:extLst xmlns:a="http://schemas.openxmlformats.org/drawingml/2006/main">
              <a:ext uri="{FF2B5EF4-FFF2-40B4-BE49-F238E27FC236}">
                <a16:creationId xmlns:a16="http://schemas.microsoft.com/office/drawing/2014/main" id="{4F7CFD98-BF11-4297-AED1-9EAAE5EA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0730" y="2952750"/>
            <a:ext cx="160782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图表文字取舍</a:t>
            </a:r>
          </a:p>
        </p:txBody>
      </p:sp>
      <p:sp>
        <p:nvSpPr>
          <p:cNvPr id="40" name="PPAGENT_QA|within=parallel-card-4|role=body">
            <a:extLst xmlns:a="http://schemas.openxmlformats.org/drawingml/2006/main">
              <a:ext uri="{FF2B5EF4-FFF2-40B4-BE49-F238E27FC236}">
                <a16:creationId xmlns:a16="http://schemas.microsoft.com/office/drawing/2014/main" id="{8F4E1BD6-5CD4-4C75-8374-9EFB411BC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9780" y="3638550"/>
            <a:ext cx="156972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判断何时使用图表，何时使用简洁文字更能达意。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工作里的 PPT，不需要每次重新发明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问题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BE08F5F-51F8-48E9-AC7C-EA542A2B0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single-focus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AB38D5D8-040A-473B-8E0C-E011527B3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049780"/>
            <a:ext cx="8915400" cy="36553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within=composition-single-focus|role=accent">
            <a:extLst xmlns:a="http://schemas.openxmlformats.org/drawingml/2006/main">
              <a:ext uri="{FF2B5EF4-FFF2-40B4-BE49-F238E27FC236}">
                <a16:creationId xmlns:a16="http://schemas.microsoft.com/office/drawing/2014/main" id="{8C3E98B8-FA18-49C3-82BA-8CEE3EF49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148" y="2125980"/>
            <a:ext cx="6775704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single-focus|role=title">
            <a:extLst xmlns:a="http://schemas.openxmlformats.org/drawingml/2006/main">
              <a:ext uri="{FF2B5EF4-FFF2-40B4-BE49-F238E27FC236}">
                <a16:creationId xmlns:a16="http://schemas.microsoft.com/office/drawing/2014/main" id="{0E46E6D8-CB24-4223-A99E-424C639D5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602230"/>
            <a:ext cx="8001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稳定胜于自由</a:t>
            </a:r>
          </a:p>
        </p:txBody>
      </p:sp>
      <p:sp>
        <p:nvSpPr>
          <p:cNvPr id="18" name="PPAGENT_QA|within=composition-single-focus|role=body">
            <a:extLst xmlns:a="http://schemas.openxmlformats.org/drawingml/2006/main">
              <a:ext uri="{FF2B5EF4-FFF2-40B4-BE49-F238E27FC236}">
                <a16:creationId xmlns:a16="http://schemas.microsoft.com/office/drawing/2014/main" id="{4346B417-E241-4F59-B736-8FE5492E8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430905"/>
            <a:ext cx="74676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工作PPT应保持固定风格，无需每次重新</a:t>
            </a:r>
          </a:p>
          <a:p xmlns:a="http://schemas.openxmlformats.org/drawingml/2006/main">
            <a:pPr algn="ctr">
              <a:defRPr sz="18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设计，固定意味着经过验证的可靠与效率。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AI 负责理解，规则负责决定，代码负责执行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积累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BE08F5F-51F8-48E9-AC7C-EA542A2B0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C4641CF4-D863-46EB-B031-378C886E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9FBC0E-756E-4900-87BB-18FDA81A3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058" y="1761392"/>
            <a:ext cx="3406580" cy="4253718"/>
          </a:xfrm>
          <a:prstGeom xmlns:a="http://schemas.openxmlformats.org/drawingml/2006/main" prst="roundRect">
            <a:avLst>
              <a:gd name="adj" fmla="val 559"/>
            </a:avLst>
          </a:prstGeom>
          <a:solidFill xmlns:a="http://schemas.openxmlformats.org/drawingml/2006/main">
            <a:srgbClr val="F0F7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2A62E7-CE2F-45CB-9FBF-EF4FC696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3363" y="1761392"/>
            <a:ext cx="3406580" cy="4253718"/>
          </a:xfrm>
          <a:prstGeom xmlns:a="http://schemas.openxmlformats.org/drawingml/2006/main" prst="roundRect">
            <a:avLst>
              <a:gd name="adj" fmla="val 559"/>
            </a:avLst>
          </a:prstGeom>
          <a:solidFill xmlns:a="http://schemas.openxmlformats.org/drawingml/2006/main">
            <a:srgbClr val="F0F7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parent=timeline-axis|domains=timeline-connection">
            <a:extLst xmlns:a="http://schemas.openxmlformats.org/drawingml/2006/main">
              <a:ext uri="{FF2B5EF4-FFF2-40B4-BE49-F238E27FC236}">
                <a16:creationId xmlns:a16="http://schemas.microsoft.com/office/drawing/2014/main" id="{0A03346B-1740-4E01-AFF3-052F6087C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022" y="3401597"/>
            <a:ext cx="1038195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F5EA8"/>
            </a:solidFill>
            <a:prstDash val="solid"/>
          </a:ln>
        </p:spPr>
      </p:sp>
      <p:sp>
        <p:nvSpPr>
          <p:cNvPr id="19" name="PPAGENT_QA|parent=timeline-period-0|domains=timeline-content">
            <a:extLst xmlns:a="http://schemas.openxmlformats.org/drawingml/2006/main">
              <a:ext uri="{FF2B5EF4-FFF2-40B4-BE49-F238E27FC236}">
                <a16:creationId xmlns:a16="http://schemas.microsoft.com/office/drawing/2014/main" id="{7F5276B3-8142-4CF5-9335-D0D30BF6C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167" y="1896574"/>
            <a:ext cx="3244362" cy="946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125" b="1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125" b="1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34C475-15FC-4DC0-B480-EA6EB1C9B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167" y="2941979"/>
            <a:ext cx="3244362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阶段 01</a:t>
            </a:r>
          </a:p>
        </p:txBody>
      </p:sp>
      <p:sp>
        <p:nvSpPr>
          <p:cNvPr id="21" name="PPAGENT_QA|parent=timeline-node-0|domains=timeline-connection">
            <a:extLst xmlns:a="http://schemas.openxmlformats.org/drawingml/2006/main">
              <a:ext uri="{FF2B5EF4-FFF2-40B4-BE49-F238E27FC236}">
                <a16:creationId xmlns:a16="http://schemas.microsoft.com/office/drawing/2014/main" id="{51098EC1-6AD8-460B-8C88-D55141FC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8190" y="3284440"/>
            <a:ext cx="234315" cy="2343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PPAGENT_QA|parent=timeline-title-0|domains=timeline-content">
            <a:extLst xmlns:a="http://schemas.openxmlformats.org/drawingml/2006/main">
              <a:ext uri="{FF2B5EF4-FFF2-40B4-BE49-F238E27FC236}">
                <a16:creationId xmlns:a16="http://schemas.microsoft.com/office/drawing/2014/main" id="{30D1146D-DC46-4C6E-A567-62BD4934A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167" y="3753070"/>
            <a:ext cx="3244362" cy="522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AI理解</a:t>
            </a:r>
          </a:p>
        </p:txBody>
      </p:sp>
      <p:sp>
        <p:nvSpPr>
          <p:cNvPr id="23" name="PPAGENT_QA|parent=timeline-body-0|domains=timeline-content">
            <a:extLst xmlns:a="http://schemas.openxmlformats.org/drawingml/2006/main">
              <a:ext uri="{FF2B5EF4-FFF2-40B4-BE49-F238E27FC236}">
                <a16:creationId xmlns:a16="http://schemas.microsoft.com/office/drawing/2014/main" id="{C9F1C5E1-DCEC-448C-A8A5-DB4BBB48B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215" y="4347869"/>
            <a:ext cx="3172265" cy="937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读取稿件，判断重点、</a:t>
            </a:r>
          </a:p>
          <a:p xmlns:a="http://schemas.openxmlformats.org/drawingml/2006/main">
            <a:pPr algn="ctr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关系、拆页和表达目的。</a:t>
            </a:r>
          </a:p>
        </p:txBody>
      </p:sp>
      <p:sp>
        <p:nvSpPr>
          <p:cNvPr id="24" name="PPAGENT_QA|parent=timeline-bar-0|domains=timeline-shape">
            <a:extLst xmlns:a="http://schemas.openxmlformats.org/drawingml/2006/main">
              <a:ext uri="{FF2B5EF4-FFF2-40B4-BE49-F238E27FC236}">
                <a16:creationId xmlns:a16="http://schemas.microsoft.com/office/drawing/2014/main" id="{943AAA5F-B261-403C-AA3F-157F73734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057" y="5465372"/>
            <a:ext cx="432582" cy="45061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9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PAGENT_QA|parent=timeline-period-1|domains=timeline-content">
            <a:extLst xmlns:a="http://schemas.openxmlformats.org/drawingml/2006/main">
              <a:ext uri="{FF2B5EF4-FFF2-40B4-BE49-F238E27FC236}">
                <a16:creationId xmlns:a16="http://schemas.microsoft.com/office/drawing/2014/main" id="{9ACF8767-519D-4975-9791-21459B354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3819" y="1896574"/>
            <a:ext cx="3244362" cy="946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125" b="1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125" b="1">
                <a:solidFill>
                  <a:srgbClr val="AFC4D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82F940-FD54-4445-9126-BBDA50F66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3819" y="2941979"/>
            <a:ext cx="3244362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阶段 02</a:t>
            </a:r>
          </a:p>
        </p:txBody>
      </p:sp>
      <p:sp>
        <p:nvSpPr>
          <p:cNvPr id="27" name="PPAGENT_QA|parent=timeline-node-1|domains=timeline-connection">
            <a:extLst xmlns:a="http://schemas.openxmlformats.org/drawingml/2006/main">
              <a:ext uri="{FF2B5EF4-FFF2-40B4-BE49-F238E27FC236}">
                <a16:creationId xmlns:a16="http://schemas.microsoft.com/office/drawing/2014/main" id="{8A64805B-4B04-4CA5-BBBA-1548ED40F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8843" y="3284440"/>
            <a:ext cx="234315" cy="2343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PPAGENT_QA|parent=timeline-title-1|domains=timeline-content">
            <a:extLst xmlns:a="http://schemas.openxmlformats.org/drawingml/2006/main">
              <a:ext uri="{FF2B5EF4-FFF2-40B4-BE49-F238E27FC236}">
                <a16:creationId xmlns:a16="http://schemas.microsoft.com/office/drawing/2014/main" id="{0A35AA0A-0AA9-4108-81D1-658FA6FEE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3819" y="3753070"/>
            <a:ext cx="3244362" cy="522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规则决定</a:t>
            </a:r>
          </a:p>
        </p:txBody>
      </p:sp>
      <p:sp>
        <p:nvSpPr>
          <p:cNvPr id="29" name="PPAGENT_QA|parent=timeline-body-1|domains=timeline-content">
            <a:extLst xmlns:a="http://schemas.openxmlformats.org/drawingml/2006/main">
              <a:ext uri="{FF2B5EF4-FFF2-40B4-BE49-F238E27FC236}">
                <a16:creationId xmlns:a16="http://schemas.microsoft.com/office/drawing/2014/main" id="{7284B1A0-5266-4179-A3A4-7CD8F696E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9868" y="4347869"/>
            <a:ext cx="3172265" cy="937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判断可用版式、内容是否</a:t>
            </a:r>
          </a:p>
          <a:p xmlns:a="http://schemas.openxmlformats.org/drawingml/2006/main">
            <a:pPr algn="ctr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装得下、何时换版式或拆页。</a:t>
            </a:r>
          </a:p>
        </p:txBody>
      </p:sp>
      <p:sp>
        <p:nvSpPr>
          <p:cNvPr id="30" name="PPAGENT_QA|parent=timeline-bar-1|domains=timeline-shape">
            <a:extLst xmlns:a="http://schemas.openxmlformats.org/drawingml/2006/main">
              <a:ext uri="{FF2B5EF4-FFF2-40B4-BE49-F238E27FC236}">
                <a16:creationId xmlns:a16="http://schemas.microsoft.com/office/drawing/2014/main" id="{B836D4CF-0980-488F-9A25-6C963CBEF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709" y="5465372"/>
            <a:ext cx="432582" cy="45061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9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PAGENT_QA|parent=timeline-period-2|domains=timeline-content">
            <a:extLst xmlns:a="http://schemas.openxmlformats.org/drawingml/2006/main">
              <a:ext uri="{FF2B5EF4-FFF2-40B4-BE49-F238E27FC236}">
                <a16:creationId xmlns:a16="http://schemas.microsoft.com/office/drawing/2014/main" id="{3885D98E-8B7B-4423-9A6F-91A745D82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472" y="1896574"/>
            <a:ext cx="3244362" cy="946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1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12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535167-B1A9-4423-AF8E-88D5B6EC7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472" y="2941979"/>
            <a:ext cx="3244362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阶段 03</a:t>
            </a:r>
          </a:p>
        </p:txBody>
      </p:sp>
      <p:sp>
        <p:nvSpPr>
          <p:cNvPr id="33" name="PPAGENT_QA|parent=timeline-node-2|domains=timeline-connection">
            <a:extLst xmlns:a="http://schemas.openxmlformats.org/drawingml/2006/main">
              <a:ext uri="{FF2B5EF4-FFF2-40B4-BE49-F238E27FC236}">
                <a16:creationId xmlns:a16="http://schemas.microsoft.com/office/drawing/2014/main" id="{C468A91F-E71A-4A7F-BAF9-107943670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495" y="3284440"/>
            <a:ext cx="234315" cy="2343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AEE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4" name="PPAGENT_QA|parent=timeline-title-2|domains=timeline-content">
            <a:extLst xmlns:a="http://schemas.openxmlformats.org/drawingml/2006/main">
              <a:ext uri="{FF2B5EF4-FFF2-40B4-BE49-F238E27FC236}">
                <a16:creationId xmlns:a16="http://schemas.microsoft.com/office/drawing/2014/main" id="{3C67D414-18E6-4535-942E-5EAD75405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472" y="3753070"/>
            <a:ext cx="3244362" cy="522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代码执行</a:t>
            </a:r>
          </a:p>
        </p:txBody>
      </p:sp>
      <p:sp>
        <p:nvSpPr>
          <p:cNvPr id="35" name="PPAGENT_QA|parent=timeline-body-2|domains=timeline-content">
            <a:extLst xmlns:a="http://schemas.openxmlformats.org/drawingml/2006/main">
              <a:ext uri="{FF2B5EF4-FFF2-40B4-BE49-F238E27FC236}">
                <a16:creationId xmlns:a16="http://schemas.microsoft.com/office/drawing/2014/main" id="{F0E33D4A-9920-40C6-A8AF-AECF9288C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0520" y="4347869"/>
            <a:ext cx="3172265" cy="937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按已确认坐标、字号、</a:t>
            </a:r>
          </a:p>
          <a:p xmlns:a="http://schemas.openxmlformats.org/drawingml/2006/main">
            <a:pPr algn="ctr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颜色和间距，稳定生成</a:t>
            </a:r>
          </a:p>
          <a:p xmlns:a="http://schemas.openxmlformats.org/drawingml/2006/main">
            <a:pPr algn="ctr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原生可编辑PowerPoint。</a:t>
            </a:r>
          </a:p>
        </p:txBody>
      </p:sp>
      <p:sp>
        <p:nvSpPr>
          <p:cNvPr id="36" name="PPAGENT_QA|parent=timeline-bar-2|domains=timeline-shape">
            <a:extLst xmlns:a="http://schemas.openxmlformats.org/drawingml/2006/main">
              <a:ext uri="{FF2B5EF4-FFF2-40B4-BE49-F238E27FC236}">
                <a16:creationId xmlns:a16="http://schemas.microsoft.com/office/drawing/2014/main" id="{47958DC0-1767-45D9-83D7-D97E6FA41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0362" y="5465372"/>
            <a:ext cx="432582" cy="45061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稳定的 80 分，比随机的 95 分更值钱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对比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BE08F5F-51F8-48E9-AC7C-EA542A2B0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04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96B349FD-E3E7-4F61-9D56-25E187658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44A2CD-8DA5-4204-B9F0-E96047A5E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731" y="1581150"/>
            <a:ext cx="10814538" cy="4686300"/>
          </a:xfrm>
          <a:prstGeom xmlns:a="http://schemas.openxmlformats.org/drawingml/2006/main" prst="roundRect">
            <a:avLst>
              <a:gd name="adj" fmla="val 0"/>
            </a:avLst>
          </a:prstGeom>
          <a:gradFill xmlns:a="http://schemas.openxmlformats.org/drawingml/2006/main">
            <a:gsLst>
              <a:gs pos="0">
                <a:srgbClr val="FFFFFF"/>
              </a:gs>
              <a:gs pos="52000">
                <a:srgbClr val="EEF6FC"/>
              </a:gs>
              <a:gs pos="100000">
                <a:srgbClr val="FFFFFF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A55BB3-856B-444D-BC04-374F3B65D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97" y="5816844"/>
            <a:ext cx="10418005" cy="378509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78AEEF"/>
            </a:solidFill>
            <a:prstDash val="dash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2E3D25-7B51-4F39-BC9A-A324F081D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361" y="5870917"/>
            <a:ext cx="9877278" cy="28838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F5EA8"/>
            </a:solidFill>
            <a:prstDash val="solid"/>
          </a:ln>
        </p:spPr>
      </p:sp>
      <p:sp>
        <p:nvSpPr>
          <p:cNvPr id="19" name="PPAGENT_QA|parent=comparison-left-panel|domains=comparison-panels">
            <a:extLst xmlns:a="http://schemas.openxmlformats.org/drawingml/2006/main">
              <a:ext uri="{FF2B5EF4-FFF2-40B4-BE49-F238E27FC236}">
                <a16:creationId xmlns:a16="http://schemas.microsoft.com/office/drawing/2014/main" id="{953240DE-AE68-4A59-BDDC-94B005C09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337" y="1770404"/>
            <a:ext cx="3965331" cy="4163597"/>
          </a:xfrm>
          <a:prstGeom xmlns:a="http://schemas.openxmlformats.org/drawingml/2006/main" prst="roundRect">
            <a:avLst>
              <a:gd name="adj" fmla="val 2882"/>
            </a:avLst>
          </a:prstGeom>
          <a:solidFill xmlns:a="http://schemas.openxmlformats.org/drawingml/2006/main">
            <a:srgbClr val="FFFFFF">
              <a:alpha val="96000"/>
            </a:srgbClr>
          </a:solidFill>
          <a:ln xmlns:a="http://schemas.openxmlformats.org/drawingml/2006/main" w="14288">
            <a:solidFill>
              <a:srgbClr val="A7B4C4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0" name="PPAGENT_QA|within=comparison-left-panel|role=header-surface">
            <a:extLst xmlns:a="http://schemas.openxmlformats.org/drawingml/2006/main">
              <a:ext uri="{FF2B5EF4-FFF2-40B4-BE49-F238E27FC236}">
                <a16:creationId xmlns:a16="http://schemas.microsoft.com/office/drawing/2014/main" id="{6F920392-3643-4362-B461-1BFB0F8D3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337" y="1770404"/>
            <a:ext cx="3965331" cy="648872"/>
          </a:xfrm>
          <a:prstGeom xmlns:a="http://schemas.openxmlformats.org/drawingml/2006/main" prst="roundRect">
            <a:avLst>
              <a:gd name="adj" fmla="val 17615"/>
            </a:avLst>
          </a:prstGeom>
          <a:gradFill xmlns:a="http://schemas.openxmlformats.org/drawingml/2006/main">
            <a:gsLst>
              <a:gs pos="0">
                <a:srgbClr val="2F5EA8"/>
              </a:gs>
              <a:gs pos="100000">
                <a:srgbClr val="379BEF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1" name="PPAGENT_QA|within=comparison-left-panel|role=header-title">
            <a:extLst xmlns:a="http://schemas.openxmlformats.org/drawingml/2006/main">
              <a:ext uri="{FF2B5EF4-FFF2-40B4-BE49-F238E27FC236}">
                <a16:creationId xmlns:a16="http://schemas.microsoft.com/office/drawing/2014/main" id="{579E133E-DC78-4DFD-ACBF-985F48559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748" y="1860526"/>
            <a:ext cx="3352507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稳定 80 分</a:t>
            </a:r>
          </a:p>
        </p:txBody>
      </p:sp>
      <p:sp>
        <p:nvSpPr>
          <p:cNvPr id="22" name="PPAGENT_QA|parent=comparison-left-row-0|domains=comparison-left-rows">
            <a:extLst xmlns:a="http://schemas.openxmlformats.org/drawingml/2006/main">
              <a:ext uri="{FF2B5EF4-FFF2-40B4-BE49-F238E27FC236}">
                <a16:creationId xmlns:a16="http://schemas.microsoft.com/office/drawing/2014/main" id="{251A08B4-52CD-4C53-B01D-C8CFCC81C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797" y="3158270"/>
            <a:ext cx="3280410" cy="1189599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2F5EA8"/>
              </a:gs>
              <a:gs pos="100000">
                <a:srgbClr val="379BEF"/>
              </a:gs>
            </a:gsLst>
            <a:lin ang="0"/>
          </a:gradFill>
          <a:ln xmlns:a="http://schemas.openxmlformats.org/drawingml/2006/main" w="9525">
            <a:solidFill>
              <a:srgbClr val="78AE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3" name="PPAGENT_QA|within=comparison-left-row-0|role=status-marker">
            <a:extLst xmlns:a="http://schemas.openxmlformats.org/drawingml/2006/main">
              <a:ext uri="{FF2B5EF4-FFF2-40B4-BE49-F238E27FC236}">
                <a16:creationId xmlns:a16="http://schemas.microsoft.com/office/drawing/2014/main" id="{A0CF2D44-2ADF-438C-A3D1-BEF7AAEF8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967" y="3617888"/>
            <a:ext cx="270363" cy="2703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38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4" name="PPAGENT_QA|within=comparison-left-row-0|role=item-text">
            <a:extLst xmlns:a="http://schemas.openxmlformats.org/drawingml/2006/main">
              <a:ext uri="{FF2B5EF4-FFF2-40B4-BE49-F238E27FC236}">
                <a16:creationId xmlns:a16="http://schemas.microsoft.com/office/drawing/2014/main" id="{4D4676BC-78C2-44A2-AF45-0447FC9BA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8451" y="3212343"/>
            <a:ext cx="2577465" cy="1081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稳定产出结构清楚、视觉规范、符合</a:t>
            </a:r>
          </a:p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组织风格，可修改的 80 分初稿，</a:t>
            </a:r>
          </a:p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节省大量时间，对工作更有效。</a:t>
            </a:r>
          </a:p>
        </p:txBody>
      </p:sp>
      <p:sp>
        <p:nvSpPr>
          <p:cNvPr id="25" name="PPAGENT_QA|parent=comparison-right-panel|domains=comparison-panels">
            <a:extLst xmlns:a="http://schemas.openxmlformats.org/drawingml/2006/main">
              <a:ext uri="{FF2B5EF4-FFF2-40B4-BE49-F238E27FC236}">
                <a16:creationId xmlns:a16="http://schemas.microsoft.com/office/drawing/2014/main" id="{8DD51BC8-DDEF-4EA7-A900-49605B0A1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7333" y="1770404"/>
            <a:ext cx="3965331" cy="4163597"/>
          </a:xfrm>
          <a:prstGeom xmlns:a="http://schemas.openxmlformats.org/drawingml/2006/main" prst="roundRect">
            <a:avLst>
              <a:gd name="adj" fmla="val 2882"/>
            </a:avLst>
          </a:prstGeom>
          <a:solidFill xmlns:a="http://schemas.openxmlformats.org/drawingml/2006/main">
            <a:srgbClr val="FFFFFF">
              <a:alpha val="96000"/>
            </a:srgbClr>
          </a:solidFill>
          <a:ln xmlns:a="http://schemas.openxmlformats.org/drawingml/2006/main" w="14288">
            <a:solidFill>
              <a:srgbClr val="A7B4C4"/>
            </a:solidFill>
            <a:prstDash val="dash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6" name="PPAGENT_QA|within=comparison-right-panel|role=header-surface">
            <a:extLst xmlns:a="http://schemas.openxmlformats.org/drawingml/2006/main">
              <a:ext uri="{FF2B5EF4-FFF2-40B4-BE49-F238E27FC236}">
                <a16:creationId xmlns:a16="http://schemas.microsoft.com/office/drawing/2014/main" id="{AC167C47-BBD0-4DC2-B110-51F8CCEFD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7333" y="1770404"/>
            <a:ext cx="3965331" cy="648872"/>
          </a:xfrm>
          <a:prstGeom xmlns:a="http://schemas.openxmlformats.org/drawingml/2006/main" prst="roundRect">
            <a:avLst>
              <a:gd name="adj" fmla="val 17615"/>
            </a:avLst>
          </a:prstGeom>
          <a:gradFill xmlns:a="http://schemas.openxmlformats.org/drawingml/2006/main">
            <a:gsLst>
              <a:gs pos="0">
                <a:srgbClr val="4C88E8"/>
              </a:gs>
              <a:gs pos="100000">
                <a:srgbClr val="379BEF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7" name="PPAGENT_QA|within=comparison-right-panel|role=header-title">
            <a:extLst xmlns:a="http://schemas.openxmlformats.org/drawingml/2006/main">
              <a:ext uri="{FF2B5EF4-FFF2-40B4-BE49-F238E27FC236}">
                <a16:creationId xmlns:a16="http://schemas.microsoft.com/office/drawing/2014/main" id="{640AB7F7-46B0-473E-8812-6ED7DDAC5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3745" y="1860526"/>
            <a:ext cx="3352507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随机 95 分</a:t>
            </a:r>
          </a:p>
        </p:txBody>
      </p:sp>
      <p:sp>
        <p:nvSpPr>
          <p:cNvPr id="28" name="PPAGENT_QA|parent=comparison-right-row-0|domains=comparison-right-rows">
            <a:extLst xmlns:a="http://schemas.openxmlformats.org/drawingml/2006/main">
              <a:ext uri="{FF2B5EF4-FFF2-40B4-BE49-F238E27FC236}">
                <a16:creationId xmlns:a16="http://schemas.microsoft.com/office/drawing/2014/main" id="{DA53C201-AC36-44F5-B8DD-911CE26A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793" y="3158270"/>
            <a:ext cx="3280410" cy="1189599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4C88E8"/>
              </a:gs>
              <a:gs pos="100000">
                <a:srgbClr val="379BEF"/>
              </a:gs>
            </a:gsLst>
            <a:lin ang="0"/>
          </a:gradFill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9" name="PPAGENT_QA|within=comparison-right-row-0|role=status-marker">
            <a:extLst xmlns:a="http://schemas.openxmlformats.org/drawingml/2006/main">
              <a:ext uri="{FF2B5EF4-FFF2-40B4-BE49-F238E27FC236}">
                <a16:creationId xmlns:a16="http://schemas.microsoft.com/office/drawing/2014/main" id="{6D5E61DD-2500-44FA-9D2A-A869747E1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5963" y="3617888"/>
            <a:ext cx="270363" cy="2703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387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30" name="PPAGENT_QA|within=comparison-right-row-0|role=item-text">
            <a:extLst xmlns:a="http://schemas.openxmlformats.org/drawingml/2006/main">
              <a:ext uri="{FF2B5EF4-FFF2-40B4-BE49-F238E27FC236}">
                <a16:creationId xmlns:a16="http://schemas.microsoft.com/office/drawing/2014/main" id="{7DF9D0CB-9AF8-4F43-969F-0332C8303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6447" y="3212343"/>
            <a:ext cx="2577465" cy="1081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随机产出令人惊叹的 95 分作品，</a:t>
            </a:r>
          </a:p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但可能不稳定，且不能保证满足</a:t>
            </a:r>
          </a:p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实际使用场景，价值相对较低。</a:t>
            </a:r>
          </a:p>
        </p:txBody>
      </p:sp>
      <p:sp>
        <p:nvSpPr>
          <p:cNvPr id="31" name="PPAGENT_QA|parent=comparison-center|domains=comparison-panels">
            <a:extLst xmlns:a="http://schemas.openxmlformats.org/drawingml/2006/main">
              <a:ext uri="{FF2B5EF4-FFF2-40B4-BE49-F238E27FC236}">
                <a16:creationId xmlns:a16="http://schemas.microsoft.com/office/drawing/2014/main" id="{B9003BB5-4493-4778-903B-2997F8767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5152" y="3068149"/>
            <a:ext cx="1261696" cy="126169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AB8C7"/>
            </a:solidFill>
            <a:prstDash val="dash"/>
          </a:ln>
        </p:spPr>
      </p:sp>
      <p:sp>
        <p:nvSpPr>
          <p:cNvPr id="32" name="PPAGENT_QA|within=comparison-center|role=center-disc">
            <a:extLst xmlns:a="http://schemas.openxmlformats.org/drawingml/2006/main">
              <a:ext uri="{FF2B5EF4-FFF2-40B4-BE49-F238E27FC236}">
                <a16:creationId xmlns:a16="http://schemas.microsoft.com/office/drawing/2014/main" id="{D2A9CA5D-8FDE-4CC7-A96F-B57A41071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9346" y="3212343"/>
            <a:ext cx="973308" cy="973308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2F5EA8"/>
              </a:gs>
              <a:gs pos="100000">
                <a:srgbClr val="4C88E8"/>
              </a:gs>
            </a:gsLst>
            <a:lin ang="8100000"/>
          </a:gra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对比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不只服务最会做 PPT 的那 1%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要点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BE08F5F-51F8-48E9-AC7C-EA542A2B0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05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composition-dual-divider">
            <a:extLst xmlns:a="http://schemas.openxmlformats.org/drawingml/2006/main">
              <a:ext uri="{FF2B5EF4-FFF2-40B4-BE49-F238E27FC236}">
                <a16:creationId xmlns:a16="http://schemas.microsoft.com/office/drawing/2014/main" id="{343CBA24-AF20-43C2-BCA8-E6510EE58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81200"/>
            <a:ext cx="190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dual-0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14FF1743-792F-4529-8A48-DEBE410AA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1956054"/>
            <a:ext cx="445770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dual-0|role=index">
            <a:extLst xmlns:a="http://schemas.openxmlformats.org/drawingml/2006/main">
              <a:ext uri="{FF2B5EF4-FFF2-40B4-BE49-F238E27FC236}">
                <a16:creationId xmlns:a16="http://schemas.microsoft.com/office/drawing/2014/main" id="{85916BF0-5C64-4B13-9789-8544F0595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1956054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8" name="PPAGENT_QA|within=composition-dual-0|role=title">
            <a:extLst xmlns:a="http://schemas.openxmlformats.org/drawingml/2006/main">
              <a:ext uri="{FF2B5EF4-FFF2-40B4-BE49-F238E27FC236}">
                <a16:creationId xmlns:a16="http://schemas.microsoft.com/office/drawing/2014/main" id="{09B5DD13-AB11-41E3-8A78-45515779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451354"/>
            <a:ext cx="4457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熟练制作者</a:t>
            </a:r>
          </a:p>
        </p:txBody>
      </p:sp>
      <p:sp>
        <p:nvSpPr>
          <p:cNvPr id="19" name="PPAGENT_QA|within=composition-dual-0|role=accent">
            <a:extLst xmlns:a="http://schemas.openxmlformats.org/drawingml/2006/main">
              <a:ext uri="{FF2B5EF4-FFF2-40B4-BE49-F238E27FC236}">
                <a16:creationId xmlns:a16="http://schemas.microsoft.com/office/drawing/2014/main" id="{061350E9-9EF2-460B-88AA-E0F0A5BE0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3480054"/>
            <a:ext cx="169392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PAGENT_QA|within=composition-dual-0|role=body">
            <a:extLst xmlns:a="http://schemas.openxmlformats.org/drawingml/2006/main">
              <a:ext uri="{FF2B5EF4-FFF2-40B4-BE49-F238E27FC236}">
                <a16:creationId xmlns:a16="http://schemas.microsoft.com/office/drawing/2014/main" id="{7291862F-031F-4565-945A-BF8805C76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3765804"/>
            <a:ext cx="4457700" cy="1937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自己就能做得更好，不需要工具，属于少数。</a:t>
            </a:r>
          </a:p>
        </p:txBody>
      </p:sp>
      <p:sp>
        <p:nvSpPr>
          <p:cNvPr id="21" name="PPAGENT_QA|parent=composition-dual-1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B79CDAA1-EBFF-413E-BFA3-2EEF11489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1956054"/>
            <a:ext cx="4457700" cy="3842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PPAGENT_QA|within=composition-dual-1|role=index">
            <a:extLst xmlns:a="http://schemas.openxmlformats.org/drawingml/2006/main">
              <a:ext uri="{FF2B5EF4-FFF2-40B4-BE49-F238E27FC236}">
                <a16:creationId xmlns:a16="http://schemas.microsoft.com/office/drawing/2014/main" id="{2551968A-C681-41CE-9CC2-C3A82B61D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1956054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3" name="PPAGENT_QA|within=composition-dual-1|role=title">
            <a:extLst xmlns:a="http://schemas.openxmlformats.org/drawingml/2006/main">
              <a:ext uri="{FF2B5EF4-FFF2-40B4-BE49-F238E27FC236}">
                <a16:creationId xmlns:a16="http://schemas.microsoft.com/office/drawing/2014/main" id="{77AE3DA2-B9D4-4E8D-962C-FE2A15CB7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2451354"/>
            <a:ext cx="4457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多数有内容者</a:t>
            </a:r>
          </a:p>
        </p:txBody>
      </p:sp>
      <p:sp>
        <p:nvSpPr>
          <p:cNvPr id="24" name="PPAGENT_QA|within=composition-dual-1|role=accent">
            <a:extLst xmlns:a="http://schemas.openxmlformats.org/drawingml/2006/main">
              <a:ext uri="{FF2B5EF4-FFF2-40B4-BE49-F238E27FC236}">
                <a16:creationId xmlns:a16="http://schemas.microsoft.com/office/drawing/2014/main" id="{F7575A92-2FF4-4EF5-942C-7B9CCB959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3480054"/>
            <a:ext cx="169392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PAGENT_QA|within=composition-dual-1|role=body">
            <a:extLst xmlns:a="http://schemas.openxmlformats.org/drawingml/2006/main">
              <a:ext uri="{FF2B5EF4-FFF2-40B4-BE49-F238E27FC236}">
                <a16:creationId xmlns:a16="http://schemas.microsoft.com/office/drawing/2014/main" id="{57C4AC4C-B9FD-46CD-ABDC-01FA397FF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55" y="3765804"/>
            <a:ext cx="4457700" cy="1937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有内容、有专业知识、有汇报</a:t>
            </a:r>
          </a:p>
          <a:p xmlns:a="http://schemas.openxmlformats.org/drawingml/2006/main">
            <a:pPr algn="l">
              <a:def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任务，但不擅长拆页与排版。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真正积累的不是一万个模板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问题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BE08F5F-51F8-48E9-AC7C-EA542A2B0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06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D7C1B90F-79EC-45FE-9A1C-4734826B7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68602"/>
            <a:ext cx="7578090" cy="43113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aside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D493EF6B-2E90-4379-8A56-C0261439B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178" y="1956054"/>
            <a:ext cx="3008948" cy="3936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aside|role=accent">
            <a:extLst xmlns:a="http://schemas.openxmlformats.org/drawingml/2006/main">
              <a:ext uri="{FF2B5EF4-FFF2-40B4-BE49-F238E27FC236}">
                <a16:creationId xmlns:a16="http://schemas.microsoft.com/office/drawing/2014/main" id="{A05B72DD-8C2C-46FC-86D6-C0F27488D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178" y="1956054"/>
            <a:ext cx="66675" cy="3936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aside|role=eyebrow">
            <a:extLst xmlns:a="http://schemas.openxmlformats.org/drawingml/2006/main">
              <a:ext uri="{FF2B5EF4-FFF2-40B4-BE49-F238E27FC236}">
                <a16:creationId xmlns:a16="http://schemas.microsoft.com/office/drawing/2014/main" id="{4751DC8D-D4CE-490B-969F-7F91D5F5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778" y="2013204"/>
            <a:ext cx="2742248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核心判断</a:t>
            </a:r>
          </a:p>
        </p:txBody>
      </p:sp>
      <p:sp>
        <p:nvSpPr>
          <p:cNvPr id="19" name="PPAGENT_QA|within=composition-aside|role=title">
            <a:extLst xmlns:a="http://schemas.openxmlformats.org/drawingml/2006/main">
              <a:ext uri="{FF2B5EF4-FFF2-40B4-BE49-F238E27FC236}">
                <a16:creationId xmlns:a16="http://schemas.microsoft.com/office/drawing/2014/main" id="{3B5F5878-50B0-4B15-B3E4-204B1D913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778" y="2413254"/>
            <a:ext cx="2742248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能力转化</a:t>
            </a:r>
          </a:p>
        </p:txBody>
      </p:sp>
      <p:sp>
        <p:nvSpPr>
          <p:cNvPr id="20" name="PPAGENT_QA|parent=sequential-step-0|domains=sequential-steps">
            <a:extLst xmlns:a="http://schemas.openxmlformats.org/drawingml/2006/main">
              <a:ext uri="{FF2B5EF4-FFF2-40B4-BE49-F238E27FC236}">
                <a16:creationId xmlns:a16="http://schemas.microsoft.com/office/drawing/2014/main" id="{F636C4BB-2C3C-4BAF-89F0-A8BAED37B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848" y="2882313"/>
            <a:ext cx="1641920" cy="1705070"/>
          </a:xfrm>
          <a:prstGeom xmlns:a="http://schemas.openxmlformats.org/drawingml/2006/main" prst="roundRect">
            <a:avLst>
              <a:gd name="adj" fmla="val 6961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1" name="PPAGENT_QA|parent=sequential-step-1|domains=sequential-steps">
            <a:extLst xmlns:a="http://schemas.openxmlformats.org/drawingml/2006/main">
              <a:ext uri="{FF2B5EF4-FFF2-40B4-BE49-F238E27FC236}">
                <a16:creationId xmlns:a16="http://schemas.microsoft.com/office/drawing/2014/main" id="{67596FB7-2CF0-40EE-91C4-DF450B43D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2589" y="2882313"/>
            <a:ext cx="1641920" cy="1705070"/>
          </a:xfrm>
          <a:prstGeom xmlns:a="http://schemas.openxmlformats.org/drawingml/2006/main" prst="roundRect">
            <a:avLst>
              <a:gd name="adj" fmla="val 6961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2" name="PPAGENT_QA|parent=sequential-step-2|domains=sequential-steps">
            <a:extLst xmlns:a="http://schemas.openxmlformats.org/drawingml/2006/main">
              <a:ext uri="{FF2B5EF4-FFF2-40B4-BE49-F238E27FC236}">
                <a16:creationId xmlns:a16="http://schemas.microsoft.com/office/drawing/2014/main" id="{2D3257C3-F5E7-4F3D-A7E7-1D81EFF98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1331" y="2882313"/>
            <a:ext cx="1641920" cy="1705070"/>
          </a:xfrm>
          <a:prstGeom xmlns:a="http://schemas.openxmlformats.org/drawingml/2006/main" prst="roundRect">
            <a:avLst>
              <a:gd name="adj" fmla="val 6961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3" name="PPAGENT_QA|parent=sequential-step-3|domains=sequential-steps">
            <a:extLst xmlns:a="http://schemas.openxmlformats.org/drawingml/2006/main">
              <a:ext uri="{FF2B5EF4-FFF2-40B4-BE49-F238E27FC236}">
                <a16:creationId xmlns:a16="http://schemas.microsoft.com/office/drawing/2014/main" id="{E70FB2C3-6EF9-4A05-8A44-6817EC9C6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0073" y="2882313"/>
            <a:ext cx="1641920" cy="1705070"/>
          </a:xfrm>
          <a:prstGeom xmlns:a="http://schemas.openxmlformats.org/drawingml/2006/main" prst="roundRect">
            <a:avLst>
              <a:gd name="adj" fmla="val 6961"/>
            </a:avLst>
          </a:prstGeom>
          <a:solidFill xmlns:a="http://schemas.openxmlformats.org/drawingml/2006/main">
            <a:srgbClr val="17406D"/>
          </a:solidFill>
          <a:ln xmlns:a="http://schemas.openxmlformats.org/drawingml/2006/main" w="38100">
            <a:solidFill>
              <a:srgbClr val="78AE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cxnSp>
        <p:nvCxnSpPr>
          <p:cNvPr id="53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2405768" y="3734848"/>
            <a:ext cx="176821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5EA8"/>
            </a:solidFill>
            <a:prstDash val="solid"/>
            <a:tailEnd type="triangle" w="med" len="med"/>
          </a:ln>
        </p:spPr>
      </p:cxnSp>
      <p:cxnSp>
        <p:nvCxnSpPr>
          <p:cNvPr id="54" name="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4224509" y="3734848"/>
            <a:ext cx="176822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5EA8"/>
            </a:solidFill>
            <a:prstDash val="solid"/>
            <a:tailEnd type="triangle" w="med" len="med"/>
          </a:ln>
        </p:spPr>
      </p:cxnSp>
      <p:cxnSp>
        <p:nvCxnSpPr>
          <p:cNvPr id="55" name=""/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6043251" y="3734848"/>
            <a:ext cx="176822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5EA8"/>
            </a:solidFill>
            <a:prstDash val="solid"/>
            <a:tailEnd type="triangle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22CAD4-5B94-4CE9-8E0D-EF336D017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519" y="3008614"/>
            <a:ext cx="328384" cy="3283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8" name="PPAGENT_QA|within=sequential-step-0|role=title">
            <a:extLst xmlns:a="http://schemas.openxmlformats.org/drawingml/2006/main">
              <a:ext uri="{FF2B5EF4-FFF2-40B4-BE49-F238E27FC236}">
                <a16:creationId xmlns:a16="http://schemas.microsoft.com/office/drawing/2014/main" id="{45191FF6-DE92-4BD0-94A0-26B072C64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780" y="3488560"/>
            <a:ext cx="1364056" cy="3283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经验提炼</a:t>
            </a:r>
          </a:p>
        </p:txBody>
      </p:sp>
      <p:sp>
        <p:nvSpPr>
          <p:cNvPr id="29" name="PPAGENT_QA|within=sequential-step-0|role=body">
            <a:extLst xmlns:a="http://schemas.openxmlformats.org/drawingml/2006/main">
              <a:ext uri="{FF2B5EF4-FFF2-40B4-BE49-F238E27FC236}">
                <a16:creationId xmlns:a16="http://schemas.microsoft.com/office/drawing/2014/main" id="{3B21FAA8-5245-402F-AB6F-F8BD714C2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780" y="3917985"/>
            <a:ext cx="1364056" cy="4799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2333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从单页产出中沉淀'内容-表达-版式'的适配规律。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5A05D9-9A83-4190-8117-EE14AE5AF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6261" y="3008614"/>
            <a:ext cx="328384" cy="3283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1" name="PPAGENT_QA|within=sequential-step-1|role=title">
            <a:extLst xmlns:a="http://schemas.openxmlformats.org/drawingml/2006/main">
              <a:ext uri="{FF2B5EF4-FFF2-40B4-BE49-F238E27FC236}">
                <a16:creationId xmlns:a16="http://schemas.microsoft.com/office/drawing/2014/main" id="{AF279C4D-5214-4D0C-949B-D7D050A2F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1521" y="3488560"/>
            <a:ext cx="1364056" cy="3283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边界验证</a:t>
            </a:r>
          </a:p>
        </p:txBody>
      </p:sp>
      <p:sp>
        <p:nvSpPr>
          <p:cNvPr id="32" name="PPAGENT_QA|within=sequential-step-1|role=body">
            <a:extLst xmlns:a="http://schemas.openxmlformats.org/drawingml/2006/main">
              <a:ext uri="{FF2B5EF4-FFF2-40B4-BE49-F238E27FC236}">
                <a16:creationId xmlns:a16="http://schemas.microsoft.com/office/drawing/2014/main" id="{73DD0CB9-07E3-402A-B063-40BBD9C3F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1521" y="3917985"/>
            <a:ext cx="1364056" cy="4799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2333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通过内容容量测试明确版式适用范围及超限后的变化规则。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E5AC408-6A80-4E52-AA67-797DB9A10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5002" y="3008614"/>
            <a:ext cx="328384" cy="3283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4" name="PPAGENT_QA|within=sequential-step-2|role=title">
            <a:extLst xmlns:a="http://schemas.openxmlformats.org/drawingml/2006/main">
              <a:ext uri="{FF2B5EF4-FFF2-40B4-BE49-F238E27FC236}">
                <a16:creationId xmlns:a16="http://schemas.microsoft.com/office/drawing/2014/main" id="{BAE19554-9858-423C-A593-378B4A869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0263" y="3488560"/>
            <a:ext cx="1364056" cy="3283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能力转化</a:t>
            </a:r>
          </a:p>
        </p:txBody>
      </p:sp>
      <p:sp>
        <p:nvSpPr>
          <p:cNvPr id="35" name="PPAGENT_QA|within=sequential-step-2|role=body">
            <a:extLst xmlns:a="http://schemas.openxmlformats.org/drawingml/2006/main">
              <a:ext uri="{FF2B5EF4-FFF2-40B4-BE49-F238E27FC236}">
                <a16:creationId xmlns:a16="http://schemas.microsoft.com/office/drawing/2014/main" id="{36625436-4520-4F86-B04E-8E945D30D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0263" y="3917985"/>
            <a:ext cx="1364056" cy="4799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2333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将提炼的规律内化为可复用能力，使页面从作品升华为方法论。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35FB2E-1B1E-479F-B9C3-273283806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744" y="3008614"/>
            <a:ext cx="707288" cy="239973"/>
          </a:xfrm>
          <a:prstGeom xmlns:a="http://schemas.openxmlformats.org/drawingml/2006/main" prst="roundRect">
            <a:avLst>
              <a:gd name="adj" fmla="val 4763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结论 / 结果</a:t>
            </a:r>
          </a:p>
        </p:txBody>
      </p:sp>
      <p:sp>
        <p:nvSpPr>
          <p:cNvPr id="37" name="PPAGENT_QA|within=sequential-step-3|role=title">
            <a:extLst xmlns:a="http://schemas.openxmlformats.org/drawingml/2006/main">
              <a:ext uri="{FF2B5EF4-FFF2-40B4-BE49-F238E27FC236}">
                <a16:creationId xmlns:a16="http://schemas.microsoft.com/office/drawing/2014/main" id="{C9CAA595-E26A-423B-85EE-E7142DAB0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9004" y="3488560"/>
            <a:ext cx="1364056" cy="3283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约束判断</a:t>
            </a:r>
          </a:p>
        </p:txBody>
      </p:sp>
      <p:sp>
        <p:nvSpPr>
          <p:cNvPr id="38" name="PPAGENT_QA|within=sequential-step-3|role=body">
            <a:extLst xmlns:a="http://schemas.openxmlformats.org/drawingml/2006/main">
              <a:ext uri="{FF2B5EF4-FFF2-40B4-BE49-F238E27FC236}">
                <a16:creationId xmlns:a16="http://schemas.microsoft.com/office/drawing/2014/main" id="{9600A241-0FEA-40F3-BDA5-CACE417BF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9004" y="3917985"/>
            <a:ext cx="1364056" cy="4799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809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识别不宜使用的表达情境，形成设计禁区。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最后，它想解决的是一件很普通的事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要点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BE08F5F-51F8-48E9-AC7C-EA542A2B0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07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1825658A-71D3-48A0-A57E-CB287F0A6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parallel-card-0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F0FEA762-DCF6-4E0F-A4A2-D33C45EEC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3441700" cy="3714750"/>
          </a:xfrm>
          <a:prstGeom xmlns:a="http://schemas.openxmlformats.org/drawingml/2006/main" prst="roundRect">
            <a:avLst>
              <a:gd name="adj" fmla="val 3321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3335">
            <a:solidFill>
              <a:srgbClr val="A8CB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PPAGENT_QA|within=parallel-card-0|role=accent-rail">
            <a:extLst xmlns:a="http://schemas.openxmlformats.org/drawingml/2006/main">
              <a:ext uri="{FF2B5EF4-FFF2-40B4-BE49-F238E27FC236}">
                <a16:creationId xmlns:a16="http://schemas.microsoft.com/office/drawing/2014/main" id="{795F2E83-61B0-4EC5-91E0-015B74237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3441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parallel-card-0|role=index">
            <a:extLst xmlns:a="http://schemas.openxmlformats.org/drawingml/2006/main">
              <a:ext uri="{FF2B5EF4-FFF2-40B4-BE49-F238E27FC236}">
                <a16:creationId xmlns:a16="http://schemas.microsoft.com/office/drawing/2014/main" id="{215788C0-DE10-4C83-A2C9-2656724B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9" name="PPAGENT_QA|within=parallel-card-0|role=title">
            <a:extLst xmlns:a="http://schemas.openxmlformats.org/drawingml/2006/main">
              <a:ext uri="{FF2B5EF4-FFF2-40B4-BE49-F238E27FC236}">
                <a16:creationId xmlns:a16="http://schemas.microsoft.com/office/drawing/2014/main" id="{26FD3365-9228-4D46-8DC8-E29F4C11C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0"/>
            <a:ext cx="3060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靠谱非惊艳</a:t>
            </a:r>
          </a:p>
        </p:txBody>
      </p:sp>
      <p:sp>
        <p:nvSpPr>
          <p:cNvPr id="20" name="PPAGENT_QA|within=parallel-card-0|role=body">
            <a:extLst xmlns:a="http://schemas.openxmlformats.org/drawingml/2006/main">
              <a:ext uri="{FF2B5EF4-FFF2-40B4-BE49-F238E27FC236}">
                <a16:creationId xmlns:a16="http://schemas.microsoft.com/office/drawing/2014/main" id="{AE357419-4910-45D8-AA1E-5EB1F113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3022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不一定惊艳，但靠谱，强调可靠性与实用性。</a:t>
            </a:r>
          </a:p>
        </p:txBody>
      </p:sp>
      <p:sp>
        <p:nvSpPr>
          <p:cNvPr id="21" name="PPAGENT_QA|parent=parallel-card-1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82D3B2AF-90A3-4BF3-8B27-9422678E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1809750"/>
            <a:ext cx="3441700" cy="3714750"/>
          </a:xfrm>
          <a:prstGeom xmlns:a="http://schemas.openxmlformats.org/drawingml/2006/main" prst="roundRect">
            <a:avLst>
              <a:gd name="adj" fmla="val 3321"/>
            </a:avLst>
          </a:prstGeom>
          <a:solidFill xmlns:a="http://schemas.openxmlformats.org/drawingml/2006/main">
            <a:srgbClr val="F1F8FF"/>
          </a:solidFill>
          <a:ln xmlns:a="http://schemas.openxmlformats.org/drawingml/2006/main" w="13335">
            <a:solidFill>
              <a:srgbClr val="7EB7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PPAGENT_QA|within=parallel-card-1|role=accent-rail">
            <a:extLst xmlns:a="http://schemas.openxmlformats.org/drawingml/2006/main">
              <a:ext uri="{FF2B5EF4-FFF2-40B4-BE49-F238E27FC236}">
                <a16:creationId xmlns:a16="http://schemas.microsoft.com/office/drawing/2014/main" id="{56FB6A47-6C8E-4885-B85B-948D0ADD6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1809750"/>
            <a:ext cx="3441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PAGENT_QA|within=parallel-card-1|role=index">
            <a:extLst xmlns:a="http://schemas.openxmlformats.org/drawingml/2006/main">
              <a:ext uri="{FF2B5EF4-FFF2-40B4-BE49-F238E27FC236}">
                <a16:creationId xmlns:a16="http://schemas.microsoft.com/office/drawing/2014/main" id="{FFAB7D10-2458-4AF9-8540-19FD1C8DE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65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88E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4" name="PPAGENT_QA|within=parallel-card-1|role=title">
            <a:extLst xmlns:a="http://schemas.openxmlformats.org/drawingml/2006/main">
              <a:ext uri="{FF2B5EF4-FFF2-40B4-BE49-F238E27FC236}">
                <a16:creationId xmlns:a16="http://schemas.microsoft.com/office/drawing/2014/main" id="{61256D38-E2DB-4172-9D39-FE0CE152F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650" y="2952750"/>
            <a:ext cx="3060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好用非独特</a:t>
            </a:r>
          </a:p>
        </p:txBody>
      </p:sp>
      <p:sp>
        <p:nvSpPr>
          <p:cNvPr id="25" name="PPAGENT_QA|within=parallel-card-1|role=body">
            <a:extLst xmlns:a="http://schemas.openxmlformats.org/drawingml/2006/main">
              <a:ext uri="{FF2B5EF4-FFF2-40B4-BE49-F238E27FC236}">
                <a16:creationId xmlns:a16="http://schemas.microsoft.com/office/drawing/2014/main" id="{B2771D96-397D-45D6-B541-86597A45E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3638550"/>
            <a:ext cx="3022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不一定独一无二，但真的好用，强调有效性胜过独特性。</a:t>
            </a:r>
          </a:p>
        </p:txBody>
      </p:sp>
      <p:sp>
        <p:nvSpPr>
          <p:cNvPr id="26" name="PPAGENT_QA|parent=parallel-card-2|domains=parallel-card,parallel-content">
            <a:extLst xmlns:a="http://schemas.openxmlformats.org/drawingml/2006/main">
              <a:ext uri="{FF2B5EF4-FFF2-40B4-BE49-F238E27FC236}">
                <a16:creationId xmlns:a16="http://schemas.microsoft.com/office/drawing/2014/main" id="{687D42AF-E7CF-45DE-9353-35E9D7E68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1809750"/>
            <a:ext cx="3441700" cy="3714750"/>
          </a:xfrm>
          <a:prstGeom xmlns:a="http://schemas.openxmlformats.org/drawingml/2006/main" prst="roundRect">
            <a:avLst>
              <a:gd name="adj" fmla="val 3321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3335">
            <a:solidFill>
              <a:srgbClr val="A8CB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PPAGENT_QA|within=parallel-card-2|role=accent-rail">
            <a:extLst xmlns:a="http://schemas.openxmlformats.org/drawingml/2006/main">
              <a:ext uri="{FF2B5EF4-FFF2-40B4-BE49-F238E27FC236}">
                <a16:creationId xmlns:a16="http://schemas.microsoft.com/office/drawing/2014/main" id="{83FB6C68-A115-4D3C-9941-D64953CB0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1809750"/>
            <a:ext cx="3441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PAGENT_QA|within=parallel-card-2|role=index">
            <a:extLst xmlns:a="http://schemas.openxmlformats.org/drawingml/2006/main">
              <a:ext uri="{FF2B5EF4-FFF2-40B4-BE49-F238E27FC236}">
                <a16:creationId xmlns:a16="http://schemas.microsoft.com/office/drawing/2014/main" id="{CE0FF2B2-119C-4DC4-8492-E58DC1FAA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785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9" name="PPAGENT_QA|within=parallel-card-2|role=title">
            <a:extLst xmlns:a="http://schemas.openxmlformats.org/drawingml/2006/main">
              <a:ext uri="{FF2B5EF4-FFF2-40B4-BE49-F238E27FC236}">
                <a16:creationId xmlns:a16="http://schemas.microsoft.com/office/drawing/2014/main" id="{222E295F-10B6-4AFC-8DEC-03A475834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7850" y="2952750"/>
            <a:ext cx="3060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4D87"/>
                </a:solidFill>
                <a:latin typeface="Microsoft YaHei"/>
                <a:ea typeface="Microsoft YaHei"/>
                <a:cs typeface="Microsoft YaHei"/>
              </a:rPr>
              <a:t>可持续修改</a:t>
            </a:r>
          </a:p>
        </p:txBody>
      </p:sp>
      <p:sp>
        <p:nvSpPr>
          <p:cNvPr id="30" name="PPAGENT_QA|within=parallel-card-2|role=body">
            <a:extLst xmlns:a="http://schemas.openxmlformats.org/drawingml/2006/main">
              <a:ext uri="{FF2B5EF4-FFF2-40B4-BE49-F238E27FC236}">
                <a16:creationId xmlns:a16="http://schemas.microsoft.com/office/drawing/2014/main" id="{0F2E1043-A3E3-426C-B68A-B94206FE3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00" y="3638550"/>
            <a:ext cx="3022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7895"/>
                </a:solidFill>
                <a:latin typeface="Microsoft YaHei"/>
                <a:ea typeface="Microsoft YaHei"/>
                <a:cs typeface="Microsoft YaHei"/>
              </a:rPr>
              <a:t>第二天还可以继续修改，强调可迭代性与灵活性。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E7535778-7BC5-C537-427C-FEF98ED8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F1772563-A512-4BE7-8991-0862430C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DA4F7B36-DC52-716A-DEF7-753169A8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5" y="1887474"/>
            <a:ext cx="11932063" cy="16135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25000"/>
              </a:lnSpc>
              <a:spcBef>
                <a:spcPts val="0"/>
              </a:spcBef>
              <a:buNone/>
              <a:defRPr sz="3600">
                <a:latin typeface="HYWenRunSongYun U"/>
                <a:ea typeface="HYWenRunSongYun U"/>
                <a:cs typeface="HYWenRunSongYun U"/>
              </a:defRPr>
            </a:pPr>
            <a:r>
              <a:rPr sz="3600" i="0" u="none" cap="none" spc="0">
                <a:ln>
                  <a:noFill/>
                </a:ln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PPagenT 将熟练制作者的经验系统化，通过
AI 理解、规则决定、代码执行，稳定交付可靠
实用的 PPT，解决内容与形式脱节的核心问题。</a:t>
            </a:r>
          </a:p>
        </p:txBody>
      </p:sp>
    </p:spTree>
    <p:extLst>
      <p:ext uri="{BB962C8B-B14F-4D97-AF65-F5344CB8AC3E}">
        <p14:creationId xmlns:p14="http://schemas.microsoft.com/office/powerpoint/2010/main" val="120291939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2026-08-13T11:27:53.4550000Z</dcterms:created>
  <dcterms:modified xsi:type="dcterms:W3CDTF">2026-08-13T11:27:53.4550000Z</dcterms:modified>
</coreProperties>
</file>