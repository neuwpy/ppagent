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db63ce59f7450b" /><Relationship Type="http://schemas.openxmlformats.org/officeDocument/2006/relationships/extended-properties" Target="/docProps/app.xml" Id="R5d717f86d5bf43a0" /><Relationship Type="http://schemas.openxmlformats.org/officeDocument/2006/relationships/officeDocument" Target="/ppt/presentation.xml" Id="R76cf217525b24d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ccb9d2297f4af8"/>
    <p:sldMasterId xmlns:r="http://schemas.openxmlformats.org/officeDocument/2006/relationships" id="2147483660" r:id="R0ecabf983d984c9c"/>
    <p:sldMasterId xmlns:r="http://schemas.openxmlformats.org/officeDocument/2006/relationships" id="2147483663" r:id="R01f34c7b8f0e4822"/>
  </p:sldMasterIdLst>
  <p:notesMasterIdLst>
    <p:notesMasterId xmlns:r="http://schemas.openxmlformats.org/officeDocument/2006/relationships" r:id="Rd6fa69cf22fe46dd"/>
  </p:notesMasterIdLst>
  <p:sldIdLst>
    <p:sldId xmlns:r="http://schemas.openxmlformats.org/officeDocument/2006/relationships" id="256" r:id="R97c7d0bba90d4386"/>
    <p:sldId xmlns:r="http://schemas.openxmlformats.org/officeDocument/2006/relationships" id="257" r:id="R138bf3df864e4fdb"/>
    <p:sldId xmlns:r="http://schemas.openxmlformats.org/officeDocument/2006/relationships" id="258" r:id="R7169bb9a981c4727"/>
    <p:sldId xmlns:r="http://schemas.openxmlformats.org/officeDocument/2006/relationships" id="259" r:id="Rcf3ef3f09d2d47f5"/>
    <p:sldId xmlns:r="http://schemas.openxmlformats.org/officeDocument/2006/relationships" id="260" r:id="Ra32d635ffd0e45dc"/>
    <p:sldId xmlns:r="http://schemas.openxmlformats.org/officeDocument/2006/relationships" id="261" r:id="R54da9222e7f94e55"/>
    <p:sldId xmlns:r="http://schemas.openxmlformats.org/officeDocument/2006/relationships" id="262" r:id="R84577b91a09946f4"/>
    <p:sldId xmlns:r="http://schemas.openxmlformats.org/officeDocument/2006/relationships" id="263" r:id="Rd2514919a9644a7c"/>
    <p:sldId xmlns:r="http://schemas.openxmlformats.org/officeDocument/2006/relationships" id="264" r:id="R592ad90605f14d0c"/>
    <p:sldId xmlns:r="http://schemas.openxmlformats.org/officeDocument/2006/relationships" id="265" r:id="Rd86106c214574cc0"/>
    <p:sldId xmlns:r="http://schemas.openxmlformats.org/officeDocument/2006/relationships" id="266" r:id="Re65e167dacd44d84"/>
    <p:sldId xmlns:r="http://schemas.openxmlformats.org/officeDocument/2006/relationships" id="267" r:id="R34561819ca0d4e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8184550f7c4483" /><Relationship Type="http://schemas.openxmlformats.org/officeDocument/2006/relationships/slideMaster" Target="/ppt/slideMasters/slideMaster1.xml" Id="R6accb9d2297f4af8" /><Relationship Type="http://schemas.openxmlformats.org/officeDocument/2006/relationships/slideMaster" Target="/ppt/slideMasters/slideMaster2.xml" Id="R0ecabf983d984c9c" /><Relationship Type="http://schemas.openxmlformats.org/officeDocument/2006/relationships/slideMaster" Target="/ppt/slideMasters/slideMaster3.xml" Id="R01f34c7b8f0e4822" /><Relationship Type="http://schemas.openxmlformats.org/officeDocument/2006/relationships/notesMaster" Target="/ppt/notesMasters/notesMaster1.xml" Id="Rd6fa69cf22fe46dd" /><Relationship Type="http://schemas.openxmlformats.org/officeDocument/2006/relationships/presProps" Target="/ppt/presProps.xml" Id="Rc1090ac146614f59" /><Relationship Type="http://schemas.openxmlformats.org/officeDocument/2006/relationships/viewProps" Target="/ppt/viewProps.xml" Id="R92ef3efa404943d0" /><Relationship Type="http://schemas.openxmlformats.org/officeDocument/2006/relationships/tableStyles" Target="/ppt/tableStyles.xml" Id="R816fea00fb7846f1" /><Relationship Type="http://schemas.openxmlformats.org/officeDocument/2006/relationships/slide" Target="/ppt/slides/slide1.xml" Id="R97c7d0bba90d4386" /><Relationship Type="http://schemas.openxmlformats.org/officeDocument/2006/relationships/slide" Target="/ppt/slides/slide2.xml" Id="R138bf3df864e4fdb" /><Relationship Type="http://schemas.openxmlformats.org/officeDocument/2006/relationships/slide" Target="/ppt/slides/slide3.xml" Id="R7169bb9a981c4727" /><Relationship Type="http://schemas.openxmlformats.org/officeDocument/2006/relationships/slide" Target="/ppt/slides/slide4.xml" Id="Rcf3ef3f09d2d47f5" /><Relationship Type="http://schemas.openxmlformats.org/officeDocument/2006/relationships/slide" Target="/ppt/slides/slide5.xml" Id="Ra32d635ffd0e45dc" /><Relationship Type="http://schemas.openxmlformats.org/officeDocument/2006/relationships/slide" Target="/ppt/slides/slide6.xml" Id="R54da9222e7f94e55" /><Relationship Type="http://schemas.openxmlformats.org/officeDocument/2006/relationships/slide" Target="/ppt/slides/slide7.xml" Id="R84577b91a09946f4" /><Relationship Type="http://schemas.openxmlformats.org/officeDocument/2006/relationships/slide" Target="/ppt/slides/slide8.xml" Id="Rd2514919a9644a7c" /><Relationship Type="http://schemas.openxmlformats.org/officeDocument/2006/relationships/slide" Target="/ppt/slides/slide9.xml" Id="R592ad90605f14d0c" /><Relationship Type="http://schemas.openxmlformats.org/officeDocument/2006/relationships/slide" Target="/ppt/slides/slide10.xml" Id="Rd86106c214574cc0" /><Relationship Type="http://schemas.openxmlformats.org/officeDocument/2006/relationships/slide" Target="/ppt/slides/slide11.xml" Id="Re65e167dacd44d84" /><Relationship Type="http://schemas.openxmlformats.org/officeDocument/2006/relationships/slide" Target="/ppt/slides/slide12.xml" Id="R34561819ca0d4e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62e4c3fa68e4a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77d7727c943c2" /><Relationship Type="http://schemas.openxmlformats.org/officeDocument/2006/relationships/notesMaster" Target="/ppt/notesMasters/notesMaster1.xml" Id="Re0e05e3a9316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e462560b140fd" /><Relationship Type="http://schemas.openxmlformats.org/officeDocument/2006/relationships/notesMaster" Target="/ppt/notesMasters/notesMaster1.xml" Id="R08a1aceab7f643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c2392e86046cf" /><Relationship Type="http://schemas.openxmlformats.org/officeDocument/2006/relationships/notesMaster" Target="/ppt/notesMasters/notesMaster1.xml" Id="Rdbd0b97cac664d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13690909844802" /><Relationship Type="http://schemas.openxmlformats.org/officeDocument/2006/relationships/notesMaster" Target="/ppt/notesMasters/notesMaster1.xml" Id="R58280a88e84544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7cf14bee64682" /><Relationship Type="http://schemas.openxmlformats.org/officeDocument/2006/relationships/notesMaster" Target="/ppt/notesMasters/notesMaster1.xml" Id="Rbb0da244676c4a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8d24ae300f4106" /><Relationship Type="http://schemas.openxmlformats.org/officeDocument/2006/relationships/notesMaster" Target="/ppt/notesMasters/notesMaster1.xml" Id="R06ded8dcda8647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d2ee3449f74286" /><Relationship Type="http://schemas.openxmlformats.org/officeDocument/2006/relationships/notesMaster" Target="/ppt/notesMasters/notesMaster1.xml" Id="Rc8b17857e59a4d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a42fa35faf4e6f" /><Relationship Type="http://schemas.openxmlformats.org/officeDocument/2006/relationships/notesMaster" Target="/ppt/notesMasters/notesMaster1.xml" Id="R5242ddcd4e6d4f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98f0e96ffd4dfc" /><Relationship Type="http://schemas.openxmlformats.org/officeDocument/2006/relationships/notesMaster" Target="/ppt/notesMasters/notesMaster1.xml" Id="Rae6becd943b245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f9422ae51f4428" /><Relationship Type="http://schemas.openxmlformats.org/officeDocument/2006/relationships/notesMaster" Target="/ppt/notesMasters/notesMaster1.xml" Id="Rc45ed1b05f9e4f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c218a8d6594851" /><Relationship Type="http://schemas.openxmlformats.org/officeDocument/2006/relationships/notesMaster" Target="/ppt/notesMasters/notesMaster1.xml" Id="R603d4cd9077b4b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18bfd524a7453b" /><Relationship Type="http://schemas.openxmlformats.org/officeDocument/2006/relationships/notesMaster" Target="/ppt/notesMasters/notesMaster1.xml" Id="R491448c2d17c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内容：workbench/manuscripts/让六地红-v1.md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PPagenT：i01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PPagenT：i02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PPagenT：i03 → radial-hub-001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PPagenT：i04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PPagenT：i05 → sequential-process-001</a:t>
            </a:r>
            <a:endParaRPr/>
          </a:p>
          <a:p xmlns:a="http://schemas.openxmlformats.org/drawingml/2006/main">
            <a:r>
              <a:t>- 整页编排：component-aside-right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PPagenT：i06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PPagenT：i07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PPagenT：i08 → radial-hub-001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PPagenT：i09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PPagenT：i10 → framework-matrix-001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内容：workbench/manuscripts/让六地红-v1.md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PPagenT：i11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内容：workbench/manuscripts/让六地红-v1.md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PPagenT：i12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48b22028d48d3" /><Relationship Type="http://schemas.openxmlformats.org/officeDocument/2006/relationships/image" Target="/ppt/media/image.jpeg" Id="R3385a05cf77544c4" /><Relationship Type="http://schemas.openxmlformats.org/officeDocument/2006/relationships/image" Target="/ppt/media/image.png" Id="Rd2ca21a71abe47ef" /><Relationship Type="http://schemas.openxmlformats.org/officeDocument/2006/relationships/image" Target="/ppt/media/image2.png" Id="Ra9f396263d7a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66574af2043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ead7b67e649c0" /><Relationship Type="http://schemas.openxmlformats.org/officeDocument/2006/relationships/image" Target="/ppt/media/image3.png" Id="Rdece8b9e34be43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77a3c3031427c" /><Relationship Type="http://schemas.openxmlformats.org/officeDocument/2006/relationships/image" Target="/ppt/media/image4.png" Id="Re703e6929fee46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d3ef94a4d4b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e82acb4324c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a138f647048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973176bc24ef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bfb5ab39146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0371f207d4c9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59738e0ce411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fe497f8c7b483f" /><Relationship Type="http://schemas.openxmlformats.org/officeDocument/2006/relationships/image" Target="/ppt/media/image5.png" Id="R3f1fe7e8d450493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d2c290bedd4ef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7ab5528e7194216" /><Relationship Type="http://schemas.openxmlformats.org/officeDocument/2006/relationships/image" Target="/ppt/media/image5.png" Id="R0663bb1a4d8749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c462aefc237444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5a05cf77544c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a21a71abe47e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396263d7a4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BA3374AB-7BAF-44D2-94BD-E6E429F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e8b9e34be435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0B26CDB6-E40C-40E3-A83A-51BC76F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4AD5480-4D28-41F1-9BE9-CD0D931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BEE96E17-C765-476F-9EDF-31FF969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B80E53D1-65D3-448B-870E-C02C104F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3e6929fee469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DB325BC-E098-4523-8E66-80EA24ED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F8D265B-597E-4E2C-B441-067476EC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99C875-2A4F-4465-9560-AEB6FF418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C664199-F958-4CDA-A9B5-B1C697B64A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641CB74-E19E-4FF9-A4DC-F6D8EDF817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6E62D35-6515-4759-B1AE-A93CE5C3F0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F78D220-B0D0-46A8-9F6F-C9E62A38A6C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772ABDF-DFC6-4DEF-A625-CD0ED7008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2C7A59D-81D5-4084-8990-7599292CE5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E4A5D82-0C19-4225-A179-C5FF36E3F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36F001-F487-4EE9-BE63-21FF84A24E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181817C-E2DA-4ED0-94F9-69BB26C39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3EE9301-9BED-4A57-9236-D30D03663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10A0F27-5988-493B-9E29-987E35A02E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7722B42-4C21-4657-B51C-E23431151E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06DE990-7BE0-47F9-B552-17E2AAAD6E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8296C75-7E2C-466C-8FB9-552083A3E3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34DA6A3-2810-459E-B7BF-4849F6A9F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A2F0670-740D-4B7B-BBCD-3239794AAB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D612C17-9ED2-4514-BF23-FB2340740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2228ADD-1A94-413C-9079-2245F445D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4312D77-753E-4F3D-9A53-457B9209B4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A0568BA-2657-4A98-B72B-C42C82475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BF851F-FEC7-4779-9357-87F99F888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FBB4DE2-4842-49AF-AB78-F9E9E25EFF2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E529D17-820D-4ED5-A39C-76D1D8CC14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58A751B-C6AF-4C51-AE11-503ACFC15D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50A8DAF-7EE5-43CA-8BD0-B23DAD7D9F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60B0E4C-613A-4EC2-8F48-BD1F8B24E5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1DC412-E37C-4BAF-A948-0C2125781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BDC9B71-F568-4740-8D3A-DE3B1B9CA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F1383E-5E26-46AC-BCA4-07163CFA5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EDB087-4655-4FD6-A778-EFE12CAE83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0D85F2-E11E-4C67-B441-855232B447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4D27DBB-C166-4F23-AF9A-8CF555B89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F8C6564-6327-413A-BE55-65D08320E6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6F2E8B7-B20F-4CA5-94DD-CFFF74F415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262808-72FD-4269-ADE4-27063551DF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EC81801-1C99-4548-BC7A-60032AA88A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fe7e8d450493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018F722-9815-4F3B-B3C1-C36354E2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CB45CAA-54AF-4ECC-859E-894FD25E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AAFF0B-4CFB-491B-9BED-FC05790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314F9E5-891A-49DB-B63A-C03A2DB1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3bb1a4d8749d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1255776-C051-4761-835A-43B1710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8D59E09-61CA-4332-8C41-1DB03CAE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C884C2C-ECA4-458B-B857-5E7129E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64AEFF1-3587-4706-80B2-67561C7B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e356ba599e4c2b" /><Relationship Type="http://schemas.openxmlformats.org/officeDocument/2006/relationships/slideLayout" Target="/ppt/slideLayouts/slideLayout1.xml" Id="R879b3fce9fe74d30" /><Relationship Type="http://schemas.openxmlformats.org/officeDocument/2006/relationships/slideLayout" Target="/ppt/slideLayouts/slideLayout2.xml" Id="R3cdd2ea9e3a74fda" /><Relationship Type="http://schemas.openxmlformats.org/officeDocument/2006/relationships/slideLayout" Target="/ppt/slideLayouts/slideLayout3.xml" Id="Rc2a0836f93934c76" /><Relationship Type="http://schemas.openxmlformats.org/officeDocument/2006/relationships/slideLayout" Target="/ppt/slideLayouts/slideLayout4.xml" Id="R1b3b5f3e69294653" /><Relationship Type="http://schemas.openxmlformats.org/officeDocument/2006/relationships/slideLayout" Target="/ppt/slideLayouts/slideLayout5.xml" Id="R3e62dc05466f425d" /><Relationship Type="http://schemas.openxmlformats.org/officeDocument/2006/relationships/slideLayout" Target="/ppt/slideLayouts/slideLayout6.xml" Id="R8a430af8f8634d11" /><Relationship Type="http://schemas.openxmlformats.org/officeDocument/2006/relationships/slideLayout" Target="/ppt/slideLayouts/slideLayout7.xml" Id="Rbd38b794bcc449c9" /><Relationship Type="http://schemas.openxmlformats.org/officeDocument/2006/relationships/slideLayout" Target="/ppt/slideLayouts/slideLayout8.xml" Id="R53b0d8fa37f4471c" /><Relationship Type="http://schemas.openxmlformats.org/officeDocument/2006/relationships/slideLayout" Target="/ppt/slideLayouts/slideLayout9.xml" Id="R4cb44ba04a8a46d0" /><Relationship Type="http://schemas.openxmlformats.org/officeDocument/2006/relationships/slideLayout" Target="/ppt/slideLayouts/slideLayout10.xml" Id="R1dc4675f79a94394" /><Relationship Type="http://schemas.openxmlformats.org/officeDocument/2006/relationships/slideLayout" Target="/ppt/slideLayouts/slideLayout11.xml" Id="R0c9a1db9bd23484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fbbe0f709bc4972" /><Relationship Type="http://schemas.openxmlformats.org/officeDocument/2006/relationships/slideLayout" Target="/ppt/slideLayouts/slideLayout12.xml" Id="Rd0d7ba7062294a43" /><Relationship Type="http://schemas.openxmlformats.org/officeDocument/2006/relationships/slideLayout" Target="/ppt/slideLayouts/slideLayout13.xml" Id="R74693e576aea42d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9bc3d7b14864054" /><Relationship Type="http://schemas.openxmlformats.org/officeDocument/2006/relationships/slideLayout" Target="/ppt/slideLayouts/slideLayout14.xml" Id="R4fe84e0562be412e" /><Relationship Type="http://schemas.openxmlformats.org/officeDocument/2006/relationships/slideLayout" Target="/ppt/slideLayouts/slideLayout15.xml" Id="Rfba60e4fb16146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7FE4296-2FB4-4AC1-9E44-CCE01C253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2F25F07-254E-4962-8A83-040423C640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E7065D3-F096-4657-A870-58EE65FF6E6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6C2575-AE45-4A22-8D31-C41E0224498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C67875-CF60-432E-A27F-06C21A3FAE9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9b3fce9fe74d30"/>
    <p:sldLayoutId xmlns:r="http://schemas.openxmlformats.org/officeDocument/2006/relationships" id="2147483650" r:id="R3cdd2ea9e3a74fda"/>
    <p:sldLayoutId xmlns:r="http://schemas.openxmlformats.org/officeDocument/2006/relationships" id="2147483651" r:id="Rc2a0836f93934c76"/>
    <p:sldLayoutId xmlns:r="http://schemas.openxmlformats.org/officeDocument/2006/relationships" id="2147483652" r:id="R1b3b5f3e69294653"/>
    <p:sldLayoutId xmlns:r="http://schemas.openxmlformats.org/officeDocument/2006/relationships" id="2147483653" r:id="R3e62dc05466f425d"/>
    <p:sldLayoutId xmlns:r="http://schemas.openxmlformats.org/officeDocument/2006/relationships" id="2147483654" r:id="R8a430af8f8634d11"/>
    <p:sldLayoutId xmlns:r="http://schemas.openxmlformats.org/officeDocument/2006/relationships" id="2147483655" r:id="Rbd38b794bcc449c9"/>
    <p:sldLayoutId xmlns:r="http://schemas.openxmlformats.org/officeDocument/2006/relationships" id="2147483656" r:id="R53b0d8fa37f4471c"/>
    <p:sldLayoutId xmlns:r="http://schemas.openxmlformats.org/officeDocument/2006/relationships" id="2147483657" r:id="R4cb44ba04a8a46d0"/>
    <p:sldLayoutId xmlns:r="http://schemas.openxmlformats.org/officeDocument/2006/relationships" id="2147483658" r:id="R1dc4675f79a94394"/>
    <p:sldLayoutId xmlns:r="http://schemas.openxmlformats.org/officeDocument/2006/relationships" id="2147483659" r:id="R0c9a1db9bd23484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5DCACB8-C6E0-4674-8E25-4615B8E4C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0DCC79-7EFA-4038-9C39-338D5DD08B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3F4EAD-2158-40D1-A516-B0D343554F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F52635-4EA2-47E2-A1E0-E46F6BEDF6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FA2208-2F8D-434B-A5D4-CF2F902BC2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0d7ba7062294a43"/>
    <p:sldLayoutId xmlns:r="http://schemas.openxmlformats.org/officeDocument/2006/relationships" id="2147483662" r:id="R74693e576aea42d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8396C4E-3028-43BC-81D5-23037DAD4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DF0A54A-1B06-4AA1-8112-6FC2429EC3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D3DB9D-0520-4636-B916-AD2870698F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41B02F4-00A7-40D0-B7CA-FD69394F8A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D11552-74DD-4986-BFDE-A369E8662B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fe84e0562be412e"/>
    <p:sldLayoutId xmlns:r="http://schemas.openxmlformats.org/officeDocument/2006/relationships" id="2147483665" r:id="Rfba60e4fb16146b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c3ac7a2b34443" /><Relationship Type="http://schemas.openxmlformats.org/officeDocument/2006/relationships/notesSlide" Target="/ppt/notesSlides/notesSlide1.xml" Id="R53311033331b4c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81b97ee52d4e81" /><Relationship Type="http://schemas.openxmlformats.org/officeDocument/2006/relationships/notesSlide" Target="/ppt/notesSlides/notesSlide2.xml" Id="Rfd0b2cdd29aa4d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dd170411a54ac2" /><Relationship Type="http://schemas.openxmlformats.org/officeDocument/2006/relationships/notesSlide" Target="/ppt/notesSlides/notesSlide3.xml" Id="R924a2c0c87a4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32f657e3594543" /><Relationship Type="http://schemas.openxmlformats.org/officeDocument/2006/relationships/notesSlide" Target="/ppt/notesSlides/notesSlide4.xml" Id="R05c3a52e070a48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2454472a114bc2" /><Relationship Type="http://schemas.openxmlformats.org/officeDocument/2006/relationships/notesSlide" Target="/ppt/notesSlides/notesSlide5.xml" Id="Rb5ec5c43639c48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0032d4c2e84dd0" /><Relationship Type="http://schemas.openxmlformats.org/officeDocument/2006/relationships/notesSlide" Target="/ppt/notesSlides/notesSlide6.xml" Id="Redaeac90829948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130115c9504149" /><Relationship Type="http://schemas.openxmlformats.org/officeDocument/2006/relationships/notesSlide" Target="/ppt/notesSlides/notesSlide7.xml" Id="R159e7c0a60064b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8b939dc40444ec" /><Relationship Type="http://schemas.openxmlformats.org/officeDocument/2006/relationships/notesSlide" Target="/ppt/notesSlides/notesSlide8.xml" Id="Re9b1fe33bb4b4e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2c42765c624c0e" /><Relationship Type="http://schemas.openxmlformats.org/officeDocument/2006/relationships/notesSlide" Target="/ppt/notesSlides/notesSlide9.xml" Id="Ree204c27325242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786e34f00d410e" /><Relationship Type="http://schemas.openxmlformats.org/officeDocument/2006/relationships/notesSlide" Target="/ppt/notesSlides/notesSlide10.xml" Id="R16b12c595f3c47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ce14c08c524afa" /><Relationship Type="http://schemas.openxmlformats.org/officeDocument/2006/relationships/notesSlide" Target="/ppt/notesSlides/notesSlide11.xml" Id="R730352fff51043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166aae385431f" /><Relationship Type="http://schemas.openxmlformats.org/officeDocument/2006/relationships/notesSlide" Target="/ppt/notesSlides/notesSlide12.xml" Id="R60fd76632fc948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24FE496-C971-4A5A-B16B-EA7B80E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6DEAFDE5-3968-4ED4-86AE-503153FE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汉仪文润宋韵 U"/>
                <a:ea typeface="汉仪文润宋韵 U"/>
                <a:cs typeface="汉仪文润宋韵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— 辽宁“六地”红色文化标识融入党员教育的创新实践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CFA287B-979D-418C-B1BC-7E39A7D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7BA5DFF-76D0-43B8-B8B9-C3DF56D3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4F9EFBC-7B41-47CB-BF52-BD01FA84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汉仪文润宋韵 U"/>
                <a:ea typeface="汉仪文润宋韵 U"/>
                <a:cs typeface="汉仪文润宋韵 U"/>
              </a:defRPr>
            </a:pPr>
            <a:r>
              <a:rPr sz="48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让“六地”红，
成为理工青年最鲜亮的青春底色</a:t>
            </a:r>
          </a:p>
        </p:txBody>
      </p:sp>
    </p:spTree>
    <p:extLst>
      <p:ext uri="{BB962C8B-B14F-4D97-AF65-F5344CB8AC3E}">
        <p14:creationId xmlns:p14="http://schemas.microsoft.com/office/powerpoint/2010/main" val="16420704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“三高三低”困境同时存在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6798EA6-CE33-4FEF-BBB2-A5B835BF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70210-9BBD-4B6F-BF98-B57D5F8D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7E27D9B5-5D9B-417C-8D64-7BB6F99C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01BB43F9-5E87-4A02-BABF-D7D6C4BA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79D57998-818C-4D82-9646-AEFFC91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三高</a:t>
            </a:r>
          </a:p>
        </p:txBody>
      </p:sp>
      <p:sp>
        <p:nvSpPr>
          <p:cNvPr id="20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1C3EB964-539E-4722-9A76-EEA58C04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7B1A6AF0-F528-4C36-BE7A-490DEBA1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99D97D57-2E4C-4CF0-A740-F9376D0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高学分</a:t>
            </a:r>
          </a:p>
        </p:txBody>
      </p:sp>
      <p:sp>
        <p:nvSpPr>
          <p:cNvPr id="23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66D5B13E-38CD-46D8-B656-1FC2043E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2D3EAFE1-7BD8-41B9-84F3-910545B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5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72155525-5F32-473E-A80A-1C647C78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高竞赛</a:t>
            </a:r>
          </a:p>
        </p:txBody>
      </p:sp>
      <p:sp>
        <p:nvSpPr>
          <p:cNvPr id="26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A45C6207-CCA5-4C8C-9FD9-B56D418E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7E8A9A"/>
              </a:gs>
              <a:gs pos="100000">
                <a:srgbClr val="9BA6B4"/>
              </a:gs>
            </a:gsLst>
            <a:lin ang="0"/>
          </a:gradFill>
          <a:ln xmlns:a="http://schemas.openxmlformats.org/drawingml/2006/main" w="9525">
            <a:solidFill>
              <a:srgbClr val="6B76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D8450B00-1968-4D19-9676-07677788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8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32E89B36-FD23-4890-A5D3-BAB2F4EC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高科研</a:t>
            </a:r>
          </a:p>
        </p:txBody>
      </p:sp>
      <p:sp>
        <p:nvSpPr>
          <p:cNvPr id="29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6F4BD664-D722-441A-B75B-A124C156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6C97B1DF-E52C-4825-A108-66170EC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85C4D3B5-A88B-4D88-801D-7304A2D4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三低</a:t>
            </a:r>
          </a:p>
        </p:txBody>
      </p:sp>
      <p:sp>
        <p:nvSpPr>
          <p:cNvPr id="32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5E9917B2-175A-4730-B0CD-DAE3893E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F9899AB-C6C2-42E6-8DEB-6C872A98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4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D11CFACE-CA7E-4D57-AF65-0F29860E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理论情感浓度低</a:t>
            </a:r>
          </a:p>
        </p:txBody>
      </p:sp>
      <p:sp>
        <p:nvSpPr>
          <p:cNvPr id="35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EEFBD877-4A73-40DC-8249-04E850B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DE8E5463-8718-4CBD-9E2C-577CA51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7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B58FE2EC-0D6A-4E6D-8DBF-70CA8815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身份认同声量低</a:t>
            </a:r>
          </a:p>
        </p:txBody>
      </p:sp>
      <p:sp>
        <p:nvSpPr>
          <p:cNvPr id="38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6E8E7982-ACAB-4707-8FB5-C2F1D658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10FBC09C-EAA0-4B1B-91C2-12AF16DE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0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768A3346-C22B-46CD-9A82-191D5E4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知行合一燃值低</a:t>
            </a:r>
          </a:p>
        </p:txBody>
      </p:sp>
      <p:sp>
        <p:nvSpPr>
          <p:cNvPr id="41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0420BE85-6005-4637-AA57-27C9A45B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2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626413A7-F403-4972-BF42-ACF8E6B5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A0862D-47FD-4478-9664-9A2EE13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C9828E-8EFC-443E-ADC6-D4982A2D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从“走遍全国”转向“深耕辽宁”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D793E12-A0C2-4BCD-B31A-0CB85FA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5638A-14DA-44FB-A4E7-0C85CC1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230022"/>
            <a:ext cx="3208313" cy="320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B6F3D-19C0-4C5A-9469-3A3EAFF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34" y="2446313"/>
            <a:ext cx="2775732" cy="2775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radial-center|domains=radial-shape,radial-content">
            <a:extLst xmlns:a="http://schemas.openxmlformats.org/drawingml/2006/main">
              <a:ext uri="{FF2B5EF4-FFF2-40B4-BE49-F238E27FC236}">
                <a16:creationId xmlns:a16="http://schemas.microsoft.com/office/drawing/2014/main" id="{5DE7433E-4796-4DC5-90F3-CB89CA3E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2604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深耕辽宁</a:t>
            </a:r>
          </a:p>
        </p:txBody>
      </p:sp>
      <p:sp>
        <p:nvSpPr>
          <p:cNvPr id="19" name="PPAGENT_QA|parent=radial-node-0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AA85C590-745B-415C-AF80-F3766A17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PPAGENT_QA|parent=radial-card-0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F6B53CAB-D6B7-4FEB-A584-626C7D83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radial-card-0|role=title">
            <a:extLst xmlns:a="http://schemas.openxmlformats.org/drawingml/2006/main">
              <a:ext uri="{FF2B5EF4-FFF2-40B4-BE49-F238E27FC236}">
                <a16:creationId xmlns:a16="http://schemas.microsoft.com/office/drawing/2014/main" id="{32D94BE9-C8EE-40A2-92C0-9590A028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抗日战争起始地</a:t>
            </a:r>
          </a:p>
        </p:txBody>
      </p:sp>
      <p:sp>
        <p:nvSpPr>
          <p:cNvPr id="22" name="PPAGENT_CONNECTOR|from=radial-center|fromSide=left|to=radial-node-0|toSide=right">
            <a:extLst xmlns:a="http://schemas.openxmlformats.org/drawingml/2006/main">
              <a:ext uri="{FF2B5EF4-FFF2-40B4-BE49-F238E27FC236}">
                <a16:creationId xmlns:a16="http://schemas.microsoft.com/office/drawing/2014/main" id="{A7C680AD-EFB2-4B99-9C9E-F0AAC42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85432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3" name="PPAGENT_QA|parent=radial-node-1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8B6047DC-7ECF-471B-BB34-E9D929C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parent=radial-card-1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A2FD5F40-810A-467B-B534-4A912CC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radial-card-1|role=title">
            <a:extLst xmlns:a="http://schemas.openxmlformats.org/drawingml/2006/main">
              <a:ext uri="{FF2B5EF4-FFF2-40B4-BE49-F238E27FC236}">
                <a16:creationId xmlns:a16="http://schemas.microsoft.com/office/drawing/2014/main" id="{2CA53890-9130-48FC-9D0E-881B4C45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解放战争转折地</a:t>
            </a:r>
          </a:p>
        </p:txBody>
      </p:sp>
      <p:sp>
        <p:nvSpPr>
          <p:cNvPr id="26" name="PPAGENT_CONNECTOR|from=radial-center|fromSide=right|to=radial-node-1|toSide=left">
            <a:extLst xmlns:a="http://schemas.openxmlformats.org/drawingml/2006/main">
              <a:ext uri="{FF2B5EF4-FFF2-40B4-BE49-F238E27FC236}">
                <a16:creationId xmlns:a16="http://schemas.microsoft.com/office/drawing/2014/main" id="{6BB60CD4-B276-43CD-BF31-8CF6724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7" name="PPAGENT_QA|parent=radial-node-2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564633E4-0610-4BB1-B4D2-6117EE9D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parent=radial-card-2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59086B63-7348-42B4-8096-DB667C5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radial-card-2|role=title">
            <a:extLst xmlns:a="http://schemas.openxmlformats.org/drawingml/2006/main">
              <a:ext uri="{FF2B5EF4-FFF2-40B4-BE49-F238E27FC236}">
                <a16:creationId xmlns:a16="http://schemas.microsoft.com/office/drawing/2014/main" id="{4E0DC4B8-4A96-45AE-A3BE-0A33C9EE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新中国国歌素材地</a:t>
            </a:r>
          </a:p>
        </p:txBody>
      </p:sp>
      <p:sp>
        <p:nvSpPr>
          <p:cNvPr id="30" name="PPAGENT_CONNECTOR|from=radial-center|fromSide=left|to=radial-node-2|toSide=right">
            <a:extLst xmlns:a="http://schemas.openxmlformats.org/drawingml/2006/main">
              <a:ext uri="{FF2B5EF4-FFF2-40B4-BE49-F238E27FC236}">
                <a16:creationId xmlns:a16="http://schemas.microsoft.com/office/drawing/2014/main" id="{5CD71804-92BB-42DB-A394-056936F9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1" name="PPAGENT_QA|parent=radial-node-3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C19580E8-F780-402A-A8C4-E88FA32E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parent=radial-card-3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608093C3-1BAB-4783-9256-DFEE3F64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radial-card-3|role=title">
            <a:extLst xmlns:a="http://schemas.openxmlformats.org/drawingml/2006/main">
              <a:ext uri="{FF2B5EF4-FFF2-40B4-BE49-F238E27FC236}">
                <a16:creationId xmlns:a16="http://schemas.microsoft.com/office/drawing/2014/main" id="{D22458B0-B6BD-453E-899D-AD379748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抗美援朝出征地</a:t>
            </a:r>
          </a:p>
        </p:txBody>
      </p:sp>
      <p:sp>
        <p:nvSpPr>
          <p:cNvPr id="34" name="PPAGENT_CONNECTOR|from=radial-center|fromSide=right|to=radial-node-3|toSide=left">
            <a:extLst xmlns:a="http://schemas.openxmlformats.org/drawingml/2006/main">
              <a:ext uri="{FF2B5EF4-FFF2-40B4-BE49-F238E27FC236}">
                <a16:creationId xmlns:a16="http://schemas.microsoft.com/office/drawing/2014/main" id="{14E02DDF-A56A-4E67-8FC9-935B65D7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5" name="PPAGENT_QA|parent=radial-node-4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C621FC55-1984-4494-856A-9AF64151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PPAGENT_QA|parent=radial-card-4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63C81CA7-D36F-4432-820B-739B1D8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radial-card-4|role=title">
            <a:extLst xmlns:a="http://schemas.openxmlformats.org/drawingml/2006/main">
              <a:ext uri="{FF2B5EF4-FFF2-40B4-BE49-F238E27FC236}">
                <a16:creationId xmlns:a16="http://schemas.microsoft.com/office/drawing/2014/main" id="{9913FA3D-40B0-46C8-8B94-1FC10377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共和国工业奠基地</a:t>
            </a:r>
          </a:p>
        </p:txBody>
      </p:sp>
      <p:sp>
        <p:nvSpPr>
          <p:cNvPr id="38" name="PPAGENT_CONNECTOR|from=radial-center|fromSide=left|to=radial-node-4|toSide=right">
            <a:extLst xmlns:a="http://schemas.openxmlformats.org/drawingml/2006/main">
              <a:ext uri="{FF2B5EF4-FFF2-40B4-BE49-F238E27FC236}">
                <a16:creationId xmlns:a16="http://schemas.microsoft.com/office/drawing/2014/main" id="{6D438028-30C4-4614-8443-1107B39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9" name="PPAGENT_QA|parent=radial-node-5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704E0A62-7EEA-45E8-B15F-2737ADB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" name="PPAGENT_QA|parent=radial-card-5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E807802E-9DAC-41A6-8899-DA67303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PAGENT_QA|within=radial-card-5|role=title">
            <a:extLst xmlns:a="http://schemas.openxmlformats.org/drawingml/2006/main">
              <a:ext uri="{FF2B5EF4-FFF2-40B4-BE49-F238E27FC236}">
                <a16:creationId xmlns:a16="http://schemas.microsoft.com/office/drawing/2014/main" id="{FCBEA17C-CBEA-4B5F-B583-DEE4EC01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雷锋精神发祥地</a:t>
            </a:r>
          </a:p>
        </p:txBody>
      </p:sp>
      <p:sp>
        <p:nvSpPr>
          <p:cNvPr id="42" name="PPAGENT_CONNECTOR|from=radial-center|fromSide=right|to=radial-node-5|toSide=left">
            <a:extLst xmlns:a="http://schemas.openxmlformats.org/drawingml/2006/main">
              <a:ext uri="{FF2B5EF4-FFF2-40B4-BE49-F238E27FC236}">
                <a16:creationId xmlns:a16="http://schemas.microsoft.com/office/drawing/2014/main" id="{9ECFC249-868F-4EB8-B0BD-FCC95B04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“1+3+N”新矩阵连接全时全域育人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A47374B-516A-455F-9677-9F3409C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3EE09A8-B3EA-46E3-BA40-8723B3F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AD2A0A12-0551-4406-934F-9555146B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13FF9C95-546D-4AA8-94F5-39FF0B8B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ACEEDA85-1EB4-40E8-AEBE-D7CB3E1E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1+6+N研学链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2349E25B-41B5-4672-938D-6999F65B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1个校本基地、6处核心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场馆、N个配套教学点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5CFCEABA-25DE-4C8D-9B68-B474E6B3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BB543BEE-8334-4FFB-892A-B228C35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3类青春课堂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FAD030F4-2905-45C9-80AD-4599E156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行走课堂·沉浸课堂·互动课堂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259D8-BA89-4ECA-8A1F-B54DDA5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14909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B5BBFC31-845D-435E-BD36-4EBE9E17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23481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BD3B1CC1-EB0B-40A3-A51E-F8097B1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22529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N个教育场景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D4B6E66C-200C-4BA2-A1E3-B666138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64439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校地、校企、校校党建联建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FAEBAA-8F32-4BE0-B123-804B7398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05782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FB595005-D346-4170-9640-82F053B7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69150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16048A0D-304D-4D7D-9601-59ADB8D9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68198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五位一体育人生态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077DD567-80CD-4853-BAD4-9C9DB79E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01082"/>
            <a:ext cx="6150292" cy="84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从“一时一地”走向“全时全域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一张任务单，把参观变成解决真实问题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29BC8B7-365A-4264-B697-F4CB6D6C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8602"/>
            <a:ext cx="7578090" cy="431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asid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C9590AD-4A22-4B10-8487-F579112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3008948" cy="3936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aside|role=accent">
            <a:extLst xmlns:a="http://schemas.openxmlformats.org/drawingml/2006/main">
              <a:ext uri="{FF2B5EF4-FFF2-40B4-BE49-F238E27FC236}">
                <a16:creationId xmlns:a16="http://schemas.microsoft.com/office/drawing/2014/main" id="{78C8AB4D-6660-46E5-92F6-96B19B90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66675" cy="3936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aside|role=eyebrow">
            <a:extLst xmlns:a="http://schemas.openxmlformats.org/drawingml/2006/main">
              <a:ext uri="{FF2B5EF4-FFF2-40B4-BE49-F238E27FC236}">
                <a16:creationId xmlns:a16="http://schemas.microsoft.com/office/drawing/2014/main" id="{FA115FB8-6F90-40B1-A5FC-B8BDCB65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013204"/>
            <a:ext cx="274224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9" name="PPAGENT_QA|within=composition-aside|role=title">
            <a:extLst xmlns:a="http://schemas.openxmlformats.org/drawingml/2006/main">
              <a:ext uri="{FF2B5EF4-FFF2-40B4-BE49-F238E27FC236}">
                <a16:creationId xmlns:a16="http://schemas.microsoft.com/office/drawing/2014/main" id="{E7C55213-EF55-43CE-B67A-CCE8EA94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413254"/>
            <a:ext cx="274224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时代订单</a:t>
            </a:r>
          </a:p>
        </p:txBody>
      </p:sp>
      <p:sp>
        <p:nvSpPr>
          <p:cNvPr id="20" name="PPAGENT_QA|within=composition-aside|role=body">
            <a:extLst xmlns:a="http://schemas.openxmlformats.org/drawingml/2006/main">
              <a:ext uri="{FF2B5EF4-FFF2-40B4-BE49-F238E27FC236}">
                <a16:creationId xmlns:a16="http://schemas.microsoft.com/office/drawing/2014/main" id="{B52687B9-59D0-4E5A-854E-6309D7DF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3784854"/>
            <a:ext cx="2742248" cy="2050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振兴辽宁不是口号，而是算法、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图纸、代码，是必须扛起的时代订单。</a:t>
            </a:r>
          </a:p>
        </p:txBody>
      </p:sp>
      <p:sp>
        <p:nvSpPr>
          <p:cNvPr id="21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395CEF57-F4A5-4579-A306-EF6D5A5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48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8A0AC28B-230E-419C-82AC-4ADA7EF7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837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064ED3F8-6721-47C4-9F36-3F582AA2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825" y="2882313"/>
            <a:ext cx="2248167" cy="1705070"/>
          </a:xfrm>
          <a:prstGeom xmlns:a="http://schemas.openxmlformats.org/drawingml/2006/main" prst="roundRect">
            <a:avLst>
              <a:gd name="adj" fmla="val 670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49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012015" y="3734848"/>
            <a:ext cx="1768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437004" y="3734848"/>
            <a:ext cx="176821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4E733-5E63-46EC-89C5-7D5404E6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19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D3B08509-0DAE-4FF4-8457-2B282715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拍一段</a:t>
            </a:r>
          </a:p>
        </p:txBody>
      </p:sp>
      <p:sp>
        <p:nvSpPr>
          <p:cNvPr id="28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BF0F8F4D-BA03-41BE-A299-3C9F776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“青声说史”短视频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932CD-1395-40A0-8204-B94DB19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08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DBDF3908-96FB-480E-9E0B-5B091AE1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768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解决一个</a:t>
            </a:r>
          </a:p>
        </p:txBody>
      </p:sp>
      <p:sp>
        <p:nvSpPr>
          <p:cNvPr id="31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5CFF6AF1-69CE-45FA-906D-B1507E1D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768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场馆或教学点“微难题”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95DA1-A89A-4338-8CD0-4918075C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497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AA8DAEF2-A973-4289-8C30-FB6280D5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57" y="3488560"/>
            <a:ext cx="1970303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带回一个</a:t>
            </a:r>
          </a:p>
        </p:txBody>
      </p:sp>
      <p:sp>
        <p:nvSpPr>
          <p:cNvPr id="34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9ABFD954-1A9F-4437-B08B-738CA756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757" y="3917985"/>
            <a:ext cx="1970303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“振兴微课题”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22处旧址进入全景数据，7门党课实现“一键穿越”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3391F81-CF65-48D7-9F7D-86F8FADC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427B7CD-D762-4A20-B43F-48022C4D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19B5068A-DBC1-4050-AB86-7FB74CBE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AEE7DEDF-00BF-4878-8D06-FFBCB110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DB2E0C68-E9C9-443B-8A15-14D060E8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D8BDECC8-667E-42D9-8FAF-D874E52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把22处“六地”旧址拍成全景数据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8B05F037-D38A-4E97-9409-2FCF7956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2E0253CB-71DB-4165-8FB7-86F18D5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课程供给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E61C33E1-BF8F-4104-A101-F30C9422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开发7门“红色VR党课”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A676C-B0D5-47BE-B148-74E8C3ED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1803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4B30B9A8-63A9-4CCC-9A2B-D7B25832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2660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1E6590E7-1C42-43CD-9436-1ECED76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25653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服务覆盖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CA771EEB-79ED-4B5A-B3AC-16132D0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67563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170个支部、2400余名党员预约体验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46FF0-F431-4B1F-A37F-F75509F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4808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0734F9F1-D80B-4F6E-8899-AE25FA56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45665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92D97E0B-0943-45D3-B560-A0A65DDC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55701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示范认可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DF12CDC8-E59C-4502-8CB8-88CB1C46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976114"/>
            <a:ext cx="3141345" cy="69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省级示范基地、高校基层党建创新一等奖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青年讲、青年听、青年信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29FEC73-A6F0-439E-A0B7-14613D5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B3C5210-DD77-4F07-9640-197AA4B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1116DA9A-DCA3-4E44-9B58-F93BF361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8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4005590B-B36D-4B80-BE6F-267303AF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170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F0ED8F4D-0D65-44AB-BEDB-E81D20A8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59" y="2437301"/>
            <a:ext cx="2343150" cy="2433271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74341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69830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565320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466E8-4E57-46F3-AECD-511EDEC6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21ED12F6-1433-44FF-A298-C899B750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32人混编</a:t>
            </a:r>
          </a:p>
        </p:txBody>
      </p:sp>
      <p:sp>
        <p:nvSpPr>
          <p:cNvPr id="25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6F98189E-D4CF-42E2-8848-5AD0C6A9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博士、硕士、本科梯队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5F87B-39E4-4A59-A99D-DEC7E538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89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26131946-0171-4BF1-9F82-28557EF3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10类课件</a:t>
            </a:r>
          </a:p>
        </p:txBody>
      </p:sp>
      <p:sp>
        <p:nvSpPr>
          <p:cNvPr id="28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5D559C7B-A530-402A-B08B-0F1C136D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947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故事、短剧、红色闯关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2D4EDE-7D5D-4A91-9690-E6BD0E04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88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6398A4CF-E3EE-4D06-BECB-846AF3E8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36场宣讲</a:t>
            </a:r>
          </a:p>
        </p:txBody>
      </p:sp>
      <p:sp>
        <p:nvSpPr>
          <p:cNvPr id="31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049F8040-0053-44CD-A267-BB799B73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36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进校园、进社区、进企业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695E3-A63B-4A5D-9800-8D31D4C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877" y="2617543"/>
            <a:ext cx="100935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 / 结果</a:t>
            </a:r>
          </a:p>
        </p:txBody>
      </p:sp>
      <p:sp>
        <p:nvSpPr>
          <p:cNvPr id="33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152684D8-8028-44FA-884A-A501CCD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302464"/>
            <a:ext cx="194661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3800多人</a:t>
            </a:r>
          </a:p>
        </p:txBody>
      </p:sp>
      <p:sp>
        <p:nvSpPr>
          <p:cNvPr id="34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106F460A-6632-4925-8630-9A38E12E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25" y="3915288"/>
            <a:ext cx="1946617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覆盖师生群众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“红色朋友圈”把校园小盆景变成区域大风景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B668B9A-1D58-4429-B5FD-75589A54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75E75-41AB-467F-A627-AB5EA8DC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230022"/>
            <a:ext cx="3208313" cy="32083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AC891-442A-4A53-9E92-18C20A6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34" y="2446313"/>
            <a:ext cx="2775732" cy="27757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radial-center|domains=radial-shape,radial-content">
            <a:extLst xmlns:a="http://schemas.openxmlformats.org/drawingml/2006/main">
              <a:ext uri="{FF2B5EF4-FFF2-40B4-BE49-F238E27FC236}">
                <a16:creationId xmlns:a16="http://schemas.microsoft.com/office/drawing/2014/main" id="{3CB1204C-E292-49E8-BA92-3B6ACC81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2604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红色朋友圈</a:t>
            </a:r>
          </a:p>
        </p:txBody>
      </p:sp>
      <p:sp>
        <p:nvSpPr>
          <p:cNvPr id="19" name="PPAGENT_QA|parent=radial-node-0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1C1D6B07-D3C2-4AAB-BDEB-9260514C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PPAGENT_QA|parent=radial-card-0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B851E486-3F43-4E3B-80C7-0EDCBC79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PPAGENT_QA|within=radial-card-0|role=title">
            <a:extLst xmlns:a="http://schemas.openxmlformats.org/drawingml/2006/main">
              <a:ext uri="{FF2B5EF4-FFF2-40B4-BE49-F238E27FC236}">
                <a16:creationId xmlns:a16="http://schemas.microsoft.com/office/drawing/2014/main" id="{04DB4EFA-0909-4A0A-B993-8C40EEA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VR党课共享</a:t>
            </a:r>
          </a:p>
        </p:txBody>
      </p:sp>
      <p:sp>
        <p:nvSpPr>
          <p:cNvPr id="22" name="PPAGENT_CONNECTOR|from=radial-center|fromSide=left|to=radial-node-0|toSide=right">
            <a:extLst xmlns:a="http://schemas.openxmlformats.org/drawingml/2006/main">
              <a:ext uri="{FF2B5EF4-FFF2-40B4-BE49-F238E27FC236}">
                <a16:creationId xmlns:a16="http://schemas.microsoft.com/office/drawing/2014/main" id="{B284BCC4-8EDB-4293-A1A9-369EFF8B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85432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3" name="PPAGENT_QA|parent=radial-node-1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0176AB78-5C78-43AE-BBB4-B933B4D7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2305123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parent=radial-card-1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B126D778-39A0-41BB-B703-A60A218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radial-card-1|role=title">
            <a:extLst xmlns:a="http://schemas.openxmlformats.org/drawingml/2006/main">
              <a:ext uri="{FF2B5EF4-FFF2-40B4-BE49-F238E27FC236}">
                <a16:creationId xmlns:a16="http://schemas.microsoft.com/office/drawing/2014/main" id="{DCD321F5-F3B9-4A73-B3A1-A776C305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2151917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主题党日联办</a:t>
            </a:r>
          </a:p>
        </p:txBody>
      </p:sp>
      <p:sp>
        <p:nvSpPr>
          <p:cNvPr id="26" name="PPAGENT_CONNECTOR|from=radial-center|fromSide=right|to=radial-node-1|toSide=left">
            <a:extLst xmlns:a="http://schemas.openxmlformats.org/drawingml/2006/main">
              <a:ext uri="{FF2B5EF4-FFF2-40B4-BE49-F238E27FC236}">
                <a16:creationId xmlns:a16="http://schemas.microsoft.com/office/drawing/2014/main" id="{76EBB592-1EC8-4C6A-B7C3-820C9A24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512402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27" name="PPAGENT_QA|parent=radial-node-2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7F444083-375F-4644-837B-D3BA3F97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parent=radial-card-2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37490AEF-8F5F-4F9F-AD14-A8927EB7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radial-card-2|role=title">
            <a:extLst xmlns:a="http://schemas.openxmlformats.org/drawingml/2006/main">
              <a:ext uri="{FF2B5EF4-FFF2-40B4-BE49-F238E27FC236}">
                <a16:creationId xmlns:a16="http://schemas.microsoft.com/office/drawing/2014/main" id="{19D05C42-9619-448A-B119-327A8AA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红色资源联用</a:t>
            </a:r>
          </a:p>
        </p:txBody>
      </p:sp>
      <p:sp>
        <p:nvSpPr>
          <p:cNvPr id="30" name="PPAGENT_CONNECTOR|from=radial-center|fromSide=left|to=radial-node-2|toSide=right">
            <a:extLst xmlns:a="http://schemas.openxmlformats.org/drawingml/2006/main">
              <a:ext uri="{FF2B5EF4-FFF2-40B4-BE49-F238E27FC236}">
                <a16:creationId xmlns:a16="http://schemas.microsoft.com/office/drawing/2014/main" id="{9BB3D91C-F6B1-4B4B-81B3-9D66E25F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1" name="PPAGENT_QA|parent=radial-node-3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7BE406A2-91D7-4016-B106-21B5261E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3626900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PPAGENT_QA|parent=radial-card-3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12225BAF-FB5B-407D-92BB-28324060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radial-card-3|role=title">
            <a:extLst xmlns:a="http://schemas.openxmlformats.org/drawingml/2006/main">
              <a:ext uri="{FF2B5EF4-FFF2-40B4-BE49-F238E27FC236}">
                <a16:creationId xmlns:a16="http://schemas.microsoft.com/office/drawing/2014/main" id="{47D6583D-F409-448E-A440-565C4359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3473694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志愿服务联动</a:t>
            </a:r>
          </a:p>
        </p:txBody>
      </p:sp>
      <p:sp>
        <p:nvSpPr>
          <p:cNvPr id="34" name="PPAGENT_CONNECTOR|from=radial-center|fromSide=right|to=radial-node-3|toSide=left">
            <a:extLst xmlns:a="http://schemas.openxmlformats.org/drawingml/2006/main">
              <a:ext uri="{FF2B5EF4-FFF2-40B4-BE49-F238E27FC236}">
                <a16:creationId xmlns:a16="http://schemas.microsoft.com/office/drawing/2014/main" id="{2A562B0C-A69E-46CF-B003-0ABA177C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5" name="PPAGENT_QA|parent=radial-node-4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E83D78A9-0CDA-4A33-B2AE-0655E093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874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PPAGENT_QA|parent=radial-card-4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B269B1A1-BACA-4E7E-814E-E973DB2A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radial-card-4|role=title">
            <a:extLst xmlns:a="http://schemas.openxmlformats.org/drawingml/2006/main">
              <a:ext uri="{FF2B5EF4-FFF2-40B4-BE49-F238E27FC236}">
                <a16:creationId xmlns:a16="http://schemas.microsoft.com/office/drawing/2014/main" id="{CC321D15-8759-423D-9224-6E7DC2FB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组织资源经验互鉴</a:t>
            </a:r>
          </a:p>
        </p:txBody>
      </p:sp>
      <p:sp>
        <p:nvSpPr>
          <p:cNvPr id="38" name="PPAGENT_CONNECTOR|from=radial-center|fromSide=left|to=radial-node-4|toSide=right">
            <a:extLst xmlns:a="http://schemas.openxmlformats.org/drawingml/2006/main">
              <a:ext uri="{FF2B5EF4-FFF2-40B4-BE49-F238E27FC236}">
                <a16:creationId xmlns:a16="http://schemas.microsoft.com/office/drawing/2014/main" id="{F20F8A81-624E-4CD6-885C-0ECD42D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85432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  <p:sp>
        <p:nvSpPr>
          <p:cNvPr id="39" name="PPAGENT_QA|parent=radial-node-5|domains=radial-shape">
            <a:extLst xmlns:a="http://schemas.openxmlformats.org/drawingml/2006/main">
              <a:ext uri="{FF2B5EF4-FFF2-40B4-BE49-F238E27FC236}">
                <a16:creationId xmlns:a16="http://schemas.microsoft.com/office/drawing/2014/main" id="{EA7550DD-BFB5-4E12-9BFC-AC7EB5AC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68" y="4948677"/>
            <a:ext cx="414557" cy="4145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0" name="PPAGENT_QA|parent=radial-card-5|domains=radial-content">
            <a:extLst xmlns:a="http://schemas.openxmlformats.org/drawingml/2006/main">
              <a:ext uri="{FF2B5EF4-FFF2-40B4-BE49-F238E27FC236}">
                <a16:creationId xmlns:a16="http://schemas.microsoft.com/office/drawing/2014/main" id="{35302528-99DB-416E-96D2-90C4BCF6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720969"/>
          </a:xfrm>
          <a:prstGeom xmlns:a="http://schemas.openxmlformats.org/drawingml/2006/main" prst="roundRect">
            <a:avLst>
              <a:gd name="adj" fmla="val 158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PPAGENT_QA|within=radial-card-5|role=title">
            <a:extLst xmlns:a="http://schemas.openxmlformats.org/drawingml/2006/main">
              <a:ext uri="{FF2B5EF4-FFF2-40B4-BE49-F238E27FC236}">
                <a16:creationId xmlns:a16="http://schemas.microsoft.com/office/drawing/2014/main" id="{45ABE09D-6285-4226-B984-5362035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95" y="4795471"/>
            <a:ext cx="2703635" cy="270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“六地精神西部行”</a:t>
            </a:r>
          </a:p>
        </p:txBody>
      </p:sp>
      <p:sp>
        <p:nvSpPr>
          <p:cNvPr id="42" name="PPAGENT_CONNECTOR|from=radial-center|fromSide=right|to=radial-node-5|toSide=left">
            <a:extLst xmlns:a="http://schemas.openxmlformats.org/drawingml/2006/main">
              <a:ext uri="{FF2B5EF4-FFF2-40B4-BE49-F238E27FC236}">
                <a16:creationId xmlns:a16="http://schemas.microsoft.com/office/drawing/2014/main" id="{B710D50D-8000-4C0C-A3AF-77C4BC1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7575" y="3834179"/>
            <a:ext cx="738993" cy="1321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把“六地”教育嵌入党员成长全周期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BCF0D3B-9157-4071-93B7-AA43B7C0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2AF7510-3316-4CA9-83B7-A50ECDD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F848D360-5A5F-4AF6-BC28-DFB6A70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51A6E6F-6B58-4228-8AD7-9267BAF8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62F0E519-CD25-4A5E-AC7F-0B915A8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四阶培养链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AD92B9B7-571C-4B15-8DE0-2BE64D6B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入学—入党—转正—毕业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BD8D63D7-A26F-49F6-AEDF-FABC1EE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4A03A76B-D4D4-4A0C-8F83-27D83386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制度嵌入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1BAF0C72-DDDB-4D49-8251-E5800DB7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红色实践计入学分；VR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党课写进“三会一课”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7D75C-25B8-413A-A5A9-95FEF4E5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861D1E47-3CC3-48E4-827C-40E9691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BBE69191-E9D4-4A21-8BDF-FB8EFF3C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导师接力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B6C88B47-3C05-4C68-B1B2-1AA0A63C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36位纪念馆专家、抗美援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朝老战士担任“红色导师”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五年深耕，让“学霸”有了新标签：红色先锋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A60B998-F12A-46A9-AD3C-2A9EE44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matrix-petal-0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6AE0E97F-D4BF-4E79-B0A2-62BCFD1E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3819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within=matrix-petal-0|role=initial">
            <a:extLst xmlns:a="http://schemas.openxmlformats.org/drawingml/2006/main">
              <a:ext uri="{FF2B5EF4-FFF2-40B4-BE49-F238E27FC236}">
                <a16:creationId xmlns:a16="http://schemas.microsoft.com/office/drawing/2014/main" id="{25F75C4B-1549-4B28-BAB0-4D21966B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</a:t>
            </a:r>
          </a:p>
        </p:txBody>
      </p:sp>
      <p:sp>
        <p:nvSpPr>
          <p:cNvPr id="18" name="PPAGENT_QA|within=matrix-petal-0|role=title">
            <a:extLst xmlns:a="http://schemas.openxmlformats.org/drawingml/2006/main">
              <a:ext uri="{FF2B5EF4-FFF2-40B4-BE49-F238E27FC236}">
                <a16:creationId xmlns:a16="http://schemas.microsoft.com/office/drawing/2014/main" id="{FB447FB0-A9C5-4240-AF5A-B9F2AB8E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19" name="PPAGENT_QA|parent=matrix-quadrant-0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4541305F-D32D-4564-B275-C94A6C0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PPAGENT_QA|within=matrix-quadrant-0|role=title">
            <a:extLst xmlns:a="http://schemas.openxmlformats.org/drawingml/2006/main">
              <a:ext uri="{FF2B5EF4-FFF2-40B4-BE49-F238E27FC236}">
                <a16:creationId xmlns:a16="http://schemas.microsoft.com/office/drawing/2014/main" id="{33677447-FF7D-4417-8D31-BE96667F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3D622-06B9-43C5-915E-3F5BF5C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matrix-quadrant-0|role=body">
            <a:extLst xmlns:a="http://schemas.openxmlformats.org/drawingml/2006/main">
              <a:ext uri="{FF2B5EF4-FFF2-40B4-BE49-F238E27FC236}">
                <a16:creationId xmlns:a16="http://schemas.microsoft.com/office/drawing/2014/main" id="{056A7D0E-BAC4-4D28-88B0-DF3D2A14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毕业后留辽意愿：58%→87%</a:t>
            </a:r>
          </a:p>
        </p:txBody>
      </p:sp>
      <p:sp>
        <p:nvSpPr>
          <p:cNvPr id="23" name="PPAGENT_CONNECTOR|from=matrix-quadrant-0|fromSide=right|to=matrix-petal-0|toSide=left">
            <a:extLst xmlns:a="http://schemas.openxmlformats.org/drawingml/2006/main">
              <a:ext uri="{FF2B5EF4-FFF2-40B4-BE49-F238E27FC236}">
                <a16:creationId xmlns:a16="http://schemas.microsoft.com/office/drawing/2014/main" id="{2EFAA6EB-D6AC-4063-A8AA-8074D11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4947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  <p:sp>
        <p:nvSpPr>
          <p:cNvPr id="24" name="PPAGENT_QA|parent=matrix-petal-1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C48CC566-E20F-4722-9AB8-4671F70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96000" y="194163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PPAGENT_QA|within=matrix-petal-1|role=initial">
            <a:extLst xmlns:a="http://schemas.openxmlformats.org/drawingml/2006/main">
              <a:ext uri="{FF2B5EF4-FFF2-40B4-BE49-F238E27FC236}">
                <a16:creationId xmlns:a16="http://schemas.microsoft.com/office/drawing/2014/main" id="{3D0FBB9A-4491-43C0-B6EA-F3CB71E5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2302119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</a:t>
            </a:r>
          </a:p>
        </p:txBody>
      </p:sp>
      <p:sp>
        <p:nvSpPr>
          <p:cNvPr id="26" name="PPAGENT_QA|within=matrix-petal-1|role=title">
            <a:extLst xmlns:a="http://schemas.openxmlformats.org/drawingml/2006/main">
              <a:ext uri="{FF2B5EF4-FFF2-40B4-BE49-F238E27FC236}">
                <a16:creationId xmlns:a16="http://schemas.microsoft.com/office/drawing/2014/main" id="{034D3601-390E-4D81-B8C4-51FB1F20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2941979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7" name="PPAGENT_QA|parent=matrix-quadrant-1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F7DEC366-874B-476E-A3B5-3A686934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1896574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PPAGENT_QA|within=matrix-quadrant-1|role=title">
            <a:extLst xmlns:a="http://schemas.openxmlformats.org/drawingml/2006/main">
              <a:ext uri="{FF2B5EF4-FFF2-40B4-BE49-F238E27FC236}">
                <a16:creationId xmlns:a16="http://schemas.microsoft.com/office/drawing/2014/main" id="{DF6E0B4C-FE1C-48B4-9FCA-DFC5CEDF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022744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4F8792-B9DF-4B67-9B44-9536AFC2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347180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matrix-quadrant-1|role=body">
            <a:extLst xmlns:a="http://schemas.openxmlformats.org/drawingml/2006/main">
              <a:ext uri="{FF2B5EF4-FFF2-40B4-BE49-F238E27FC236}">
                <a16:creationId xmlns:a16="http://schemas.microsoft.com/office/drawing/2014/main" id="{8E98E824-AA71-4817-948B-3717F0B5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2482362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26份微课题，8家企业当场“收货”</a:t>
            </a:r>
          </a:p>
        </p:txBody>
      </p:sp>
      <p:sp>
        <p:nvSpPr>
          <p:cNvPr id="31" name="PPAGENT_CONNECTOR|from=matrix-quadrant-1|fromSide=left|to=matrix-petal-1|toSide=right">
            <a:extLst xmlns:a="http://schemas.openxmlformats.org/drawingml/2006/main">
              <a:ext uri="{FF2B5EF4-FFF2-40B4-BE49-F238E27FC236}">
                <a16:creationId xmlns:a16="http://schemas.microsoft.com/office/drawing/2014/main" id="{D104DDAD-0CFB-4845-B6FD-565A7743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718181" y="2635568"/>
            <a:ext cx="648872" cy="1171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AEEF"/>
            </a:solidFill>
            <a:prstDash val="solid"/>
          </a:ln>
        </p:spPr>
      </p:sp>
      <p:sp>
        <p:nvSpPr>
          <p:cNvPr id="32" name="PPAGENT_QA|parent=matrix-petal-2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C0F9F9B1-36C3-48FA-ADCD-4A78E6A8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3819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matrix-petal-2|role=initial">
            <a:extLst xmlns:a="http://schemas.openxmlformats.org/drawingml/2006/main">
              <a:ext uri="{FF2B5EF4-FFF2-40B4-BE49-F238E27FC236}">
                <a16:creationId xmlns:a16="http://schemas.microsoft.com/office/drawing/2014/main" id="{11E59114-C972-4B70-B35E-330C14A4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28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声</a:t>
            </a:r>
          </a:p>
        </p:txBody>
      </p:sp>
      <p:sp>
        <p:nvSpPr>
          <p:cNvPr id="34" name="PPAGENT_QA|within=matrix-petal-2|role=title">
            <a:extLst xmlns:a="http://schemas.openxmlformats.org/drawingml/2006/main">
              <a:ext uri="{FF2B5EF4-FFF2-40B4-BE49-F238E27FC236}">
                <a16:creationId xmlns:a16="http://schemas.microsoft.com/office/drawing/2014/main" id="{9FB5EB8F-BF15-4857-B1C2-FCEE827D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37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5" name="PPAGENT_QA|parent=matrix-quadrant-2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8D162AD8-5ABE-49BF-A301-D15337A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49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PAGENT_QA|within=matrix-quadrant-2|role=title">
            <a:extLst xmlns:a="http://schemas.openxmlformats.org/drawingml/2006/main">
              <a:ext uri="{FF2B5EF4-FFF2-40B4-BE49-F238E27FC236}">
                <a16:creationId xmlns:a16="http://schemas.microsoft.com/office/drawing/2014/main" id="{03142E82-E170-4E3A-9D04-43ADA0C8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AEEF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728BD4-253B-460C-8EE0-2006DAA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matrix-quadrant-2|role=body">
            <a:extLst xmlns:a="http://schemas.openxmlformats.org/drawingml/2006/main">
              <a:ext uri="{FF2B5EF4-FFF2-40B4-BE49-F238E27FC236}">
                <a16:creationId xmlns:a16="http://schemas.microsoft.com/office/drawing/2014/main" id="{942C2E5B-E509-4CE6-8C52-0E7EC61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0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理论飞入社区、课堂和生产一线</a:t>
            </a:r>
          </a:p>
        </p:txBody>
      </p:sp>
      <p:sp>
        <p:nvSpPr>
          <p:cNvPr id="39" name="PPAGENT_CONNECTOR|from=matrix-quadrant-2|fromSide=right|to=matrix-petal-2|toSide=left">
            <a:extLst xmlns:a="http://schemas.openxmlformats.org/drawingml/2006/main">
              <a:ext uri="{FF2B5EF4-FFF2-40B4-BE49-F238E27FC236}">
                <a16:creationId xmlns:a16="http://schemas.microsoft.com/office/drawing/2014/main" id="{58BD5407-2953-4457-8595-F36C1AC6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4947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AEEF"/>
            </a:solidFill>
            <a:prstDash val="solid"/>
          </a:ln>
        </p:spPr>
      </p:sp>
      <p:sp>
        <p:nvSpPr>
          <p:cNvPr id="40" name="PPAGENT_QA|parent=matrix-petal-3|domains=matrix-petal,matrix-content">
            <a:extLst xmlns:a="http://schemas.openxmlformats.org/drawingml/2006/main">
              <a:ext uri="{FF2B5EF4-FFF2-40B4-BE49-F238E27FC236}">
                <a16:creationId xmlns:a16="http://schemas.microsoft.com/office/drawing/2014/main" id="{32CAF9B3-B67F-45EC-9E7D-C1B42939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96000" y="3563815"/>
            <a:ext cx="1622181" cy="1622181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matrix-petal-3|role=initial">
            <a:extLst xmlns:a="http://schemas.openxmlformats.org/drawingml/2006/main">
              <a:ext uri="{FF2B5EF4-FFF2-40B4-BE49-F238E27FC236}">
                <a16:creationId xmlns:a16="http://schemas.microsoft.com/office/drawing/2014/main" id="{A487E932-B820-46D4-B2B6-239AF9B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460" y="3924300"/>
            <a:ext cx="937260" cy="63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</a:t>
            </a:r>
          </a:p>
        </p:txBody>
      </p:sp>
      <p:sp>
        <p:nvSpPr>
          <p:cNvPr id="42" name="PPAGENT_QA|within=matrix-petal-3|role=title">
            <a:extLst xmlns:a="http://schemas.openxmlformats.org/drawingml/2006/main">
              <a:ext uri="{FF2B5EF4-FFF2-40B4-BE49-F238E27FC236}">
                <a16:creationId xmlns:a16="http://schemas.microsoft.com/office/drawing/2014/main" id="{CEFFCA95-20A0-40D0-B999-80DE1517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218" y="4564160"/>
            <a:ext cx="1297745" cy="34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43" name="PPAGENT_QA|parent=matrix-quadrant-3|domains=matrix-callout,matrix-content">
            <a:extLst xmlns:a="http://schemas.openxmlformats.org/drawingml/2006/main">
              <a:ext uri="{FF2B5EF4-FFF2-40B4-BE49-F238E27FC236}">
                <a16:creationId xmlns:a16="http://schemas.microsoft.com/office/drawing/2014/main" id="{520704A5-7DFE-4634-813B-B96E4B0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053" y="4059482"/>
            <a:ext cx="2973998" cy="1477987"/>
          </a:xfrm>
          <a:prstGeom xmlns:a="http://schemas.openxmlformats.org/drawingml/2006/main" prst="roundRect">
            <a:avLst>
              <a:gd name="adj" fmla="val 7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7D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PPAGENT_QA|within=matrix-quadrant-3|role=title">
            <a:extLst xmlns:a="http://schemas.openxmlformats.org/drawingml/2006/main">
              <a:ext uri="{FF2B5EF4-FFF2-40B4-BE49-F238E27FC236}">
                <a16:creationId xmlns:a16="http://schemas.microsoft.com/office/drawing/2014/main" id="{CBAD01DE-0606-40E3-8F10-AC6C4A9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185651"/>
            <a:ext cx="2541417" cy="288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C0F70D-E5FA-46BA-8EBA-0DEC69F2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510088"/>
            <a:ext cx="2541417" cy="270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PAGENT_QA|within=matrix-quadrant-3|role=body">
            <a:extLst xmlns:a="http://schemas.openxmlformats.org/drawingml/2006/main">
              <a:ext uri="{FF2B5EF4-FFF2-40B4-BE49-F238E27FC236}">
                <a16:creationId xmlns:a16="http://schemas.microsoft.com/office/drawing/2014/main" id="{3FA5DF29-D56B-47A3-90C8-A3053DE3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344" y="4645269"/>
            <a:ext cx="2541417" cy="720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选调生/重大装备研发：+40%</a:t>
            </a:r>
          </a:p>
        </p:txBody>
      </p:sp>
      <p:sp>
        <p:nvSpPr>
          <p:cNvPr id="47" name="PPAGENT_CONNECTOR|from=matrix-quadrant-3|fromSide=left|to=matrix-petal-3|toSide=right">
            <a:extLst xmlns:a="http://schemas.openxmlformats.org/drawingml/2006/main">
              <a:ext uri="{FF2B5EF4-FFF2-40B4-BE49-F238E27FC236}">
                <a16:creationId xmlns:a16="http://schemas.microsoft.com/office/drawing/2014/main" id="{89713025-E2F7-4020-90D5-C8CE8E6B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18181" y="4374906"/>
            <a:ext cx="648872" cy="423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F5EA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十年探路、五年深耕，把红色基因熔铸进青春年轮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2710D483-4A15-4B54-90CB-7CF8961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D8780F8-C956-4153-9019-53563526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367380A8-8D19-4D9E-A8A2-C04FD866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CC9E0C72-9A9D-4EFF-9952-C0A05D79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五个抓手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4666703E-E813-498A-B82B-BB3DCA92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研学链贯通血脉，任务单激发担当，VR跨越</a:t>
            </a:r>
          </a:p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时空，宣讲团传递信仰，育人机制夯实成长。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7EFE8-0E73-435F-8946-901C0B52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4638294"/>
            <a:ext cx="53492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single-focus|role=support">
            <a:extLst xmlns:a="http://schemas.openxmlformats.org/drawingml/2006/main">
              <a:ext uri="{FF2B5EF4-FFF2-40B4-BE49-F238E27FC236}">
                <a16:creationId xmlns:a16="http://schemas.microsoft.com/office/drawing/2014/main" id="{8BBA59FC-E7B8-45BB-8D4F-3851840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28794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总书记嘱托：讲好党的故事、革命的故事、英雄的故事，把红色基因传承下去。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C6849D0-7276-4FA6-8D67-7D37C325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汉仪文润宋韵 U"/>
                <a:ea typeface="汉仪文润宋韵 U"/>
                <a:cs typeface="汉仪文润宋韵 U"/>
              </a:defRPr>
            </a:pPr>
            <a:r>
              <a:rPr sz="3900" i="0" u="none" cap="none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“六地”红：成为理工青年最鲜亮的青春底色
我的汇报完毕，谢谢大家！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2026-08-12T01:50:48.0290000Z</dcterms:created>
  <dcterms:modified xsi:type="dcterms:W3CDTF">2026-08-12T01:50:48.0290000Z</dcterms:modified>
</coreProperties>
</file>