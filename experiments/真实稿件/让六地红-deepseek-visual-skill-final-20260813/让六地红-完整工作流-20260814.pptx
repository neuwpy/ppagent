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c3c458feee04293" /><Relationship Type="http://schemas.openxmlformats.org/officeDocument/2006/relationships/extended-properties" Target="/docProps/app.xml" Id="R3674583da5d54d61" /><Relationship Type="http://schemas.openxmlformats.org/officeDocument/2006/relationships/officeDocument" Target="/ppt/presentation.xml" Id="R104e9a51e03a4d0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1c5797e3af141a5"/>
    <p:sldMasterId xmlns:r="http://schemas.openxmlformats.org/officeDocument/2006/relationships" id="2147483660" r:id="Ra2e7acac9def45a7"/>
    <p:sldMasterId xmlns:r="http://schemas.openxmlformats.org/officeDocument/2006/relationships" id="2147483663" r:id="R9b74dd07d251408e"/>
  </p:sldMasterIdLst>
  <p:notesMasterIdLst>
    <p:notesMasterId xmlns:r="http://schemas.openxmlformats.org/officeDocument/2006/relationships" r:id="Rfee8e5d501d7412c"/>
  </p:notesMasterIdLst>
  <p:sldIdLst>
    <p:sldId xmlns:r="http://schemas.openxmlformats.org/officeDocument/2006/relationships" id="256" r:id="R25a778dc8f4548f5"/>
    <p:sldId xmlns:r="http://schemas.openxmlformats.org/officeDocument/2006/relationships" id="257" r:id="R752d6e5f57884113"/>
    <p:sldId xmlns:r="http://schemas.openxmlformats.org/officeDocument/2006/relationships" id="258" r:id="Rdf0ffaf1a3a54e61"/>
    <p:sldId xmlns:r="http://schemas.openxmlformats.org/officeDocument/2006/relationships" id="259" r:id="R897c8f017e6c4fc0"/>
    <p:sldId xmlns:r="http://schemas.openxmlformats.org/officeDocument/2006/relationships" id="260" r:id="Rd9a9754727414db5"/>
    <p:sldId xmlns:r="http://schemas.openxmlformats.org/officeDocument/2006/relationships" id="261" r:id="R54065dc1cbe04182"/>
    <p:sldId xmlns:r="http://schemas.openxmlformats.org/officeDocument/2006/relationships" id="262" r:id="Rc90fef382c6347d1"/>
    <p:sldId xmlns:r="http://schemas.openxmlformats.org/officeDocument/2006/relationships" id="263" r:id="Rba168555b0bc49d2"/>
    <p:sldId xmlns:r="http://schemas.openxmlformats.org/officeDocument/2006/relationships" id="264" r:id="R0e90649070a34aa7"/>
    <p:sldId xmlns:r="http://schemas.openxmlformats.org/officeDocument/2006/relationships" id="265" r:id="R29f1cf55a295402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88561abc444348" /><Relationship Type="http://schemas.openxmlformats.org/officeDocument/2006/relationships/slideMaster" Target="/ppt/slideMasters/slideMaster1.xml" Id="R31c5797e3af141a5" /><Relationship Type="http://schemas.openxmlformats.org/officeDocument/2006/relationships/slideMaster" Target="/ppt/slideMasters/slideMaster2.xml" Id="Ra2e7acac9def45a7" /><Relationship Type="http://schemas.openxmlformats.org/officeDocument/2006/relationships/slideMaster" Target="/ppt/slideMasters/slideMaster3.xml" Id="R9b74dd07d251408e" /><Relationship Type="http://schemas.openxmlformats.org/officeDocument/2006/relationships/notesMaster" Target="/ppt/notesMasters/notesMaster1.xml" Id="Rfee8e5d501d7412c" /><Relationship Type="http://schemas.openxmlformats.org/officeDocument/2006/relationships/presProps" Target="/ppt/presProps.xml" Id="R0f977e1bb8e145fa" /><Relationship Type="http://schemas.openxmlformats.org/officeDocument/2006/relationships/viewProps" Target="/ppt/viewProps.xml" Id="Ra01d5fd704ae485e" /><Relationship Type="http://schemas.openxmlformats.org/officeDocument/2006/relationships/tableStyles" Target="/ppt/tableStyles.xml" Id="R08bb54e1a9354e44" /><Relationship Type="http://schemas.openxmlformats.org/officeDocument/2006/relationships/slide" Target="/ppt/slides/slide1.xml" Id="R25a778dc8f4548f5" /><Relationship Type="http://schemas.openxmlformats.org/officeDocument/2006/relationships/slide" Target="/ppt/slides/slide2.xml" Id="R752d6e5f57884113" /><Relationship Type="http://schemas.openxmlformats.org/officeDocument/2006/relationships/slide" Target="/ppt/slides/slide3.xml" Id="Rdf0ffaf1a3a54e61" /><Relationship Type="http://schemas.openxmlformats.org/officeDocument/2006/relationships/slide" Target="/ppt/slides/slide4.xml" Id="R897c8f017e6c4fc0" /><Relationship Type="http://schemas.openxmlformats.org/officeDocument/2006/relationships/slide" Target="/ppt/slides/slide5.xml" Id="Rd9a9754727414db5" /><Relationship Type="http://schemas.openxmlformats.org/officeDocument/2006/relationships/slide" Target="/ppt/slides/slide6.xml" Id="R54065dc1cbe04182" /><Relationship Type="http://schemas.openxmlformats.org/officeDocument/2006/relationships/slide" Target="/ppt/slides/slide7.xml" Id="Rc90fef382c6347d1" /><Relationship Type="http://schemas.openxmlformats.org/officeDocument/2006/relationships/slide" Target="/ppt/slides/slide8.xml" Id="Rba168555b0bc49d2" /><Relationship Type="http://schemas.openxmlformats.org/officeDocument/2006/relationships/slide" Target="/ppt/slides/slide9.xml" Id="R0e90649070a34aa7" /><Relationship Type="http://schemas.openxmlformats.org/officeDocument/2006/relationships/slide" Target="/ppt/slides/slide10.xml" Id="R29f1cf55a295402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db389188b6d14fe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123d541fb454a6d" /><Relationship Type="http://schemas.openxmlformats.org/officeDocument/2006/relationships/notesMaster" Target="/ppt/notesMasters/notesMaster1.xml" Id="R0d4c01c0ac6f45b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d4fe18f285e47b7" /><Relationship Type="http://schemas.openxmlformats.org/officeDocument/2006/relationships/notesMaster" Target="/ppt/notesMasters/notesMaster1.xml" Id="R88268aa38387483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7c89575df214740" /><Relationship Type="http://schemas.openxmlformats.org/officeDocument/2006/relationships/notesMaster" Target="/ppt/notesMasters/notesMaster1.xml" Id="R21152c37004d4d4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20298a755d54f75" /><Relationship Type="http://schemas.openxmlformats.org/officeDocument/2006/relationships/notesMaster" Target="/ppt/notesMasters/notesMaster1.xml" Id="R547571c682a84a3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622dcfb5ac84671" /><Relationship Type="http://schemas.openxmlformats.org/officeDocument/2006/relationships/notesMaster" Target="/ppt/notesMasters/notesMaster1.xml" Id="R2b50afc6d42843c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b586e58b3de4c6e" /><Relationship Type="http://schemas.openxmlformats.org/officeDocument/2006/relationships/notesMaster" Target="/ppt/notesMasters/notesMaster1.xml" Id="R3e39454a011a4f6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753da1d69624a22" /><Relationship Type="http://schemas.openxmlformats.org/officeDocument/2006/relationships/notesMaster" Target="/ppt/notesMasters/notesMaster1.xml" Id="R3b2f4a9d4ef648e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01f2fbd847f4bee" /><Relationship Type="http://schemas.openxmlformats.org/officeDocument/2006/relationships/notesMaster" Target="/ppt/notesMasters/notesMaster1.xml" Id="Re8c6b07779ef470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0113f9f53724180" /><Relationship Type="http://schemas.openxmlformats.org/officeDocument/2006/relationships/notesMaster" Target="/ppt/notesMasters/notesMaster1.xml" Id="R218a0c2cf7c3446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2f90cd386424a54" /><Relationship Type="http://schemas.openxmlformats.org/officeDocument/2006/relationships/notesMaster" Target="/ppt/notesMasters/notesMaster1.xml" Id="R53bc9507cef4449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内容：稿件/让六地红-v1.md</a:t>
            </a:r>
          </a:p>
          <a:p xmlns:a="http://schemas.openxmlformats.org/drawingml/2006/main">
            <a:r>
              <a:t>- 视觉：PPT模板-封面正文尾页.pptx（用户提供的东北大学模板）</a:t>
            </a:r>
          </a:p>
          <a:p xmlns:a="http://schemas.openxmlformats.org/drawingml/2006/main">
            <a:r>
              <a:t>- PPagenT：shell-cover-intent → northeastern-university-cover-001</a:t>
            </a:r>
          </a:p>
          <a:p xmlns:a="http://schemas.openxmlformats.org/drawingml/2006/main">
            <a:r>
              <a:t>- 整页编排：fixed-cover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内容：稿件/让六地红-v1.md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PPagenT：shell-agenda-intent → northeastern-university-agenda-001</a:t>
            </a:r>
            <a:endParaRPr/>
          </a:p>
          <a:p xmlns:a="http://schemas.openxmlformats.org/drawingml/2006/main">
            <a:r>
              <a:t>- 整页编排：fixed-agenda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内容：稿件/让六地红-v1.md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PPagenT：opening-intent → northeastern-university-body-001</a:t>
            </a:r>
            <a:endParaRPr/>
          </a:p>
          <a:p xmlns:a="http://schemas.openxmlformats.org/drawingml/2006/main">
            <a:r>
              <a:t>- 整页编排：editorial-dual-statement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内容：稿件/让六地红-v1.md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PPagenT：from-challenge-to-focus-intent → timeline-roadmap-001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内容：稿件/让六地红-v1.md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PPagenT：new-matrix-intent → northeastern-university-body-001</a:t>
            </a:r>
            <a:endParaRPr/>
          </a:p>
          <a:p xmlns:a="http://schemas.openxmlformats.org/drawingml/2006/main">
            <a:r>
              <a:t>- 整页编排：editorial-focus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内容：稿件/让六地红-v1.md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PPagenT：practice-levers-1-intent → northeastern-university-body-001</a:t>
            </a:r>
            <a:endParaRPr/>
          </a:p>
          <a:p xmlns:a="http://schemas.openxmlformats.org/drawingml/2006/main">
            <a:r>
              <a:t>- 整页编排：editorial-dual-statement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内容：稿件/让六地红-v1.md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PPagenT：practice-levers-2-intent → parallel-cards-001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内容：稿件/让六地红-v1.md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PPagenT：five-year-outcomes-intent → parallel-cards-001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内容：稿件/让六地红-v1.md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PPagenT：conclusion-intent → parallel-cards-001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内容：稿件/让六地红-v1.md</a:t>
            </a:r>
          </a:p>
          <a:p xmlns:a="http://schemas.openxmlformats.org/drawingml/2006/main">
            <a:r>
              <a:t>- 视觉：PPT模板-封面正文尾页.pptx（用户提供的东北大学模板）</a:t>
            </a:r>
          </a:p>
          <a:p xmlns:a="http://schemas.openxmlformats.org/drawingml/2006/main">
            <a:r>
              <a:t>- PPagenT：shell-closing-intent → northeastern-university-closing-001</a:t>
            </a:r>
          </a:p>
          <a:p xmlns:a="http://schemas.openxmlformats.org/drawingml/2006/main">
            <a:r>
              <a:t>- 整页编排：fixed-closing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e78ba9c37e4865" /><Relationship Type="http://schemas.openxmlformats.org/officeDocument/2006/relationships/image" Target="/ppt/media/image.jpeg" Id="Rfaf41471523c4f74" /><Relationship Type="http://schemas.openxmlformats.org/officeDocument/2006/relationships/image" Target="/ppt/media/image.png" Id="R41dcb44cfc01460a" /><Relationship Type="http://schemas.openxmlformats.org/officeDocument/2006/relationships/image" Target="/ppt/media/image2.png" Id="R2303f158bc2b450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3071261d2649f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90bebda8084571" /><Relationship Type="http://schemas.openxmlformats.org/officeDocument/2006/relationships/image" Target="/ppt/media/image3.png" Id="Rb4a4151c30cf473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d22621b8784bef" /><Relationship Type="http://schemas.openxmlformats.org/officeDocument/2006/relationships/image" Target="/ppt/media/image4.png" Id="R57b10c3e2f314af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347fb54c1644a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0683ae116f4ec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ff10033e02450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9e21f6d6dd48a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46160d715845e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d0f9cc6ba14c7e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7eea1890064d0c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0f08ec1850e40ba" /><Relationship Type="http://schemas.openxmlformats.org/officeDocument/2006/relationships/image" Target="/ppt/media/image5.png" Id="Rb936db6502be4f9f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7eaf4636f3b4f8b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eab1dfaa098c4d65" /><Relationship Type="http://schemas.openxmlformats.org/officeDocument/2006/relationships/image" Target="/ppt/media/image5.png" Id="Rb21db49c921f4780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9bce59bb732245a9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f41471523c4f74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dcb44cfc01460a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03f158bc2b45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67E8F73B-4575-456C-A95F-7BF61F039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a4151c30cf4738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CD581E29-9414-4A8F-8769-967E35E48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C4891B71-6E9E-4BD8-A0D3-68250AD82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50BB3839-3C61-46CB-84CF-E8C4E367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8BB74A13-9481-4E22-A539-4E5DEACA4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b10c3e2f314af0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D89DC21C-B8D5-4BD8-904C-03EF3E175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F4E5C25B-110E-4D18-8618-76BEF78D0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8F49B3B-C220-484C-9BC3-46CF42B9F6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38FD9D1-A81E-4E80-9A23-7F63ADD9430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8E30EB14-49B5-4639-AFA9-2454622C030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A5164CED-FB50-4A22-85DB-98ACA7CEAB9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3971CC27-635C-4054-B573-00EDD4E0EC9C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D19BCB15-C46B-4979-8F1B-61B5AD9CAD4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18A5767F-031F-41AD-8D58-36C403ECCCA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136567AE-5915-4787-8E58-78274681984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4B6A2CE-1CBB-4730-88E7-400E35BD52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FC2E803A-B67E-4CE5-BCD8-C5BAAC93453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ADD44F0E-9364-4217-8AD3-8B38280B6A3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CFC62E3F-75D9-4F13-8059-EED54403AC6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99B519FA-8FC2-4BBA-A9DC-7AE316E81A9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F1457D34-9D6E-4E7D-B5EE-318BF03DD70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89B31B67-F553-464E-96D6-71E910FEB01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92C21AD-CF21-42C0-BFA1-B9618100A4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C4F6FC98-0CF8-4506-BD13-4728656AAB6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5ED6EED0-D82B-4039-BED3-D922EA47FB4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5886526D-A49E-446A-B6E7-E378E615565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BEC91B10-B0E0-47C4-9AA3-351B6E2D489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BA526B7-4437-436E-992A-CA22ECCEB45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EE22ACD-EB79-4B54-8F5B-E488A1EAC4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83E88FB8-1E7A-470E-923F-594271C326FE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328DFBA-51DF-485D-A270-30B9283E40D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33E5C238-DE9E-45F9-9B6B-021FD47752C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741B87F6-6133-482E-B4F2-7FEC0460FD2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B1931514-F718-4351-8F5D-C467BBD92EF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8020080-331D-404D-9E84-32F9714D30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C2B12011-3B88-4627-AA7C-8522FAF3CD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12BBFB0-1E91-42FA-882E-D09C2A823BD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D3150E7-4791-4FBD-9126-F5789B9664A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6B3D73D-5B5D-4486-B9C5-7B9374F652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CF1DDDA4-5622-4483-AE87-24E7B8DAA2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A3FB0392-FC72-4087-A7C3-9E8846E326B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1511FC7-2AE3-441C-BA8B-F3F5064E668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B1A06FE-95E2-4B6F-B986-9241A92E783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40B019A-7FE7-4D09-9092-42980DBD174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36db6502be4f9f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CBDC1248-06BA-41B8-8AA6-75C1BA09B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4762B712-62BC-481B-9DE3-83179CBD7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884B653F-D0AF-473A-8944-465FB88DD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2588FC7D-4058-4023-B1BA-80D84D842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1db49c921f4780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7EC6E97C-7932-4F26-A28D-7C76FAB1D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BFA3228-FBC9-40C2-8260-6A784034B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7F547031-ADCC-492B-BAD8-FD0EB2890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A04E273E-A43B-4A5A-8E33-41A0BB28F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82ef487566c480e" /><Relationship Type="http://schemas.openxmlformats.org/officeDocument/2006/relationships/slideLayout" Target="/ppt/slideLayouts/slideLayout1.xml" Id="Re0ee98e91f2140dc" /><Relationship Type="http://schemas.openxmlformats.org/officeDocument/2006/relationships/slideLayout" Target="/ppt/slideLayouts/slideLayout2.xml" Id="R42b52e6c2b33424c" /><Relationship Type="http://schemas.openxmlformats.org/officeDocument/2006/relationships/slideLayout" Target="/ppt/slideLayouts/slideLayout3.xml" Id="Rfb5865b7502f4091" /><Relationship Type="http://schemas.openxmlformats.org/officeDocument/2006/relationships/slideLayout" Target="/ppt/slideLayouts/slideLayout4.xml" Id="R66ca76a9deb34141" /><Relationship Type="http://schemas.openxmlformats.org/officeDocument/2006/relationships/slideLayout" Target="/ppt/slideLayouts/slideLayout5.xml" Id="Rc607600c487e4fc0" /><Relationship Type="http://schemas.openxmlformats.org/officeDocument/2006/relationships/slideLayout" Target="/ppt/slideLayouts/slideLayout6.xml" Id="Rf56553317eb24ae9" /><Relationship Type="http://schemas.openxmlformats.org/officeDocument/2006/relationships/slideLayout" Target="/ppt/slideLayouts/slideLayout7.xml" Id="R7c748fd8c12c4fbf" /><Relationship Type="http://schemas.openxmlformats.org/officeDocument/2006/relationships/slideLayout" Target="/ppt/slideLayouts/slideLayout8.xml" Id="Rde3353eebdae4773" /><Relationship Type="http://schemas.openxmlformats.org/officeDocument/2006/relationships/slideLayout" Target="/ppt/slideLayouts/slideLayout9.xml" Id="R5368a4e003fc4327" /><Relationship Type="http://schemas.openxmlformats.org/officeDocument/2006/relationships/slideLayout" Target="/ppt/slideLayouts/slideLayout10.xml" Id="Rc53197d5c69a4f35" /><Relationship Type="http://schemas.openxmlformats.org/officeDocument/2006/relationships/slideLayout" Target="/ppt/slideLayouts/slideLayout11.xml" Id="Rd1ab249eeded473f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045f1313b5b34146" /><Relationship Type="http://schemas.openxmlformats.org/officeDocument/2006/relationships/slideLayout" Target="/ppt/slideLayouts/slideLayout12.xml" Id="Rac8aee4a683e4f4c" /><Relationship Type="http://schemas.openxmlformats.org/officeDocument/2006/relationships/slideLayout" Target="/ppt/slideLayouts/slideLayout13.xml" Id="R686c54db6dc1457d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13d2b867794d4e7d" /><Relationship Type="http://schemas.openxmlformats.org/officeDocument/2006/relationships/slideLayout" Target="/ppt/slideLayouts/slideLayout14.xml" Id="R25feec1468d54b1e" /><Relationship Type="http://schemas.openxmlformats.org/officeDocument/2006/relationships/slideLayout" Target="/ppt/slideLayouts/slideLayout15.xml" Id="R6128e75773db43f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62F389C-DD4A-4807-9242-CA1BE88F53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1324EC40-9BEE-4478-8154-09A6087C7B6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6EBFB19-4A75-476D-BD97-4C9116EA799B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6AC1886-8421-404D-8F9E-11E0A0CC5C6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78CB1F6-174A-485F-BCD0-3ADECB62A0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0ee98e91f2140dc"/>
    <p:sldLayoutId xmlns:r="http://schemas.openxmlformats.org/officeDocument/2006/relationships" id="2147483650" r:id="R42b52e6c2b33424c"/>
    <p:sldLayoutId xmlns:r="http://schemas.openxmlformats.org/officeDocument/2006/relationships" id="2147483651" r:id="Rfb5865b7502f4091"/>
    <p:sldLayoutId xmlns:r="http://schemas.openxmlformats.org/officeDocument/2006/relationships" id="2147483652" r:id="R66ca76a9deb34141"/>
    <p:sldLayoutId xmlns:r="http://schemas.openxmlformats.org/officeDocument/2006/relationships" id="2147483653" r:id="Rc607600c487e4fc0"/>
    <p:sldLayoutId xmlns:r="http://schemas.openxmlformats.org/officeDocument/2006/relationships" id="2147483654" r:id="Rf56553317eb24ae9"/>
    <p:sldLayoutId xmlns:r="http://schemas.openxmlformats.org/officeDocument/2006/relationships" id="2147483655" r:id="R7c748fd8c12c4fbf"/>
    <p:sldLayoutId xmlns:r="http://schemas.openxmlformats.org/officeDocument/2006/relationships" id="2147483656" r:id="Rde3353eebdae4773"/>
    <p:sldLayoutId xmlns:r="http://schemas.openxmlformats.org/officeDocument/2006/relationships" id="2147483657" r:id="R5368a4e003fc4327"/>
    <p:sldLayoutId xmlns:r="http://schemas.openxmlformats.org/officeDocument/2006/relationships" id="2147483658" r:id="Rc53197d5c69a4f35"/>
    <p:sldLayoutId xmlns:r="http://schemas.openxmlformats.org/officeDocument/2006/relationships" id="2147483659" r:id="Rd1ab249eeded473f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1E5DEC16-93F0-40F1-8101-AC930884BF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312DEA62-D989-448E-97E7-4898D0072A8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D6CDD24-45B7-415C-A1BB-F65EDD8E2131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99D58A8-9085-42DD-9815-5EC325F566A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A8A3208-1957-4C79-93B5-C46693215CE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ac8aee4a683e4f4c"/>
    <p:sldLayoutId xmlns:r="http://schemas.openxmlformats.org/officeDocument/2006/relationships" id="2147483662" r:id="R686c54db6dc1457d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32E33E18-B2A4-43E8-9A71-B38845E644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CBF10D4C-BA28-47D0-844A-5F89E749813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1102C95-E41F-4465-BE61-3F370516CC8F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0BF10F06-1EDD-4473-A892-1DE279FBF9E5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12CE3212-E543-4673-B499-800C950DEE6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25feec1468d54b1e"/>
    <p:sldLayoutId xmlns:r="http://schemas.openxmlformats.org/officeDocument/2006/relationships" id="2147483665" r:id="R6128e75773db43fb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424c13ef804748" /><Relationship Type="http://schemas.openxmlformats.org/officeDocument/2006/relationships/notesSlide" Target="/ppt/notesSlides/notesSlide1.xml" Id="Ra403cb7349c4410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18413c4b51241be" /><Relationship Type="http://schemas.openxmlformats.org/officeDocument/2006/relationships/notesSlide" Target="/ppt/notesSlides/notesSlide2.xml" Id="R2114e5621e7f49d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a579fbe883a4219" /><Relationship Type="http://schemas.openxmlformats.org/officeDocument/2006/relationships/notesSlide" Target="/ppt/notesSlides/notesSlide3.xml" Id="R18ab6f16f14d4ee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3380aa643214c86" /><Relationship Type="http://schemas.openxmlformats.org/officeDocument/2006/relationships/notesSlide" Target="/ppt/notesSlides/notesSlide4.xml" Id="R6b49cb9849954cc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393bcdaa2354af2" /><Relationship Type="http://schemas.openxmlformats.org/officeDocument/2006/relationships/notesSlide" Target="/ppt/notesSlides/notesSlide5.xml" Id="R63e899048adf402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5bb9efcb13947cf" /><Relationship Type="http://schemas.openxmlformats.org/officeDocument/2006/relationships/notesSlide" Target="/ppt/notesSlides/notesSlide6.xml" Id="R6774fdab9ca34c1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efdd61c92ba4e0c" /><Relationship Type="http://schemas.openxmlformats.org/officeDocument/2006/relationships/notesSlide" Target="/ppt/notesSlides/notesSlide7.xml" Id="Rcabd8ab3080b405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bb3bebd1b5648c9" /><Relationship Type="http://schemas.openxmlformats.org/officeDocument/2006/relationships/notesSlide" Target="/ppt/notesSlides/notesSlide8.xml" Id="R765a032a6aa6415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750bfb58a114bf8" /><Relationship Type="http://schemas.openxmlformats.org/officeDocument/2006/relationships/notesSlide" Target="/ppt/notesSlides/notesSlide9.xml" Id="R8bb4c07ba8cf4ad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8cc21fec5e49bd" /><Relationship Type="http://schemas.openxmlformats.org/officeDocument/2006/relationships/notesSlide" Target="/ppt/notesSlides/notesSlide10.xml" Id="Rbae62a55d4e0496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62B81091-7999-4A45-9214-1D29D2275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5" name="标题 8">
            <a:extLst xmlns:a="http://schemas.openxmlformats.org/drawingml/2006/main">
              <a:ext uri="{FF2B5EF4-FFF2-40B4-BE49-F238E27FC236}">
                <a16:creationId xmlns:a16="http://schemas.microsoft.com/office/drawing/2014/main" id="{9AFAD40C-4DA4-4FD5-A344-9EB043CB1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810000"/>
            <a:ext cx="7620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10000"/>
              </a:lnSpc>
              <a:spcBef>
                <a:spcPts val="0"/>
              </a:spcBef>
              <a:buNone/>
              <a:defRPr sz="2250">
                <a:latin typeface="HYWenRunSongYun U"/>
                <a:ea typeface="HYWenRunSongYun U"/>
                <a:cs typeface="HYWenRunSongYun U"/>
              </a:defRPr>
            </a:pPr>
            <a:r>
              <a:rPr sz="2800" i="0" u="none" cap="none">
                <a:ln>
                  <a:noFill/>
                </a:ln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汇报人：魏鹏宇</a:t>
            </a:r>
          </a:p>
        </p:txBody>
      </p:sp>
      <p:sp>
        <p:nvSpPr>
          <p:cNvPr id="17" name="标题 8">
            <a:extLst xmlns:a="http://schemas.openxmlformats.org/drawingml/2006/main">
              <a:ext uri="{FF2B5EF4-FFF2-40B4-BE49-F238E27FC236}">
                <a16:creationId xmlns:a16="http://schemas.microsoft.com/office/drawing/2014/main" id="{A356A231-988E-42E3-8449-62FD286E2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19700"/>
            <a:ext cx="4762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2400" spc="300"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2026.07.20</a:t>
            </a:r>
            <a:endParaRPr sz="2400" spc="300">
              <a:solidFill>
                <a:schemeClr val="tx1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21A7A693-7746-4E3D-9220-BF459CEA8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956E4CD1-8D21-4462-865B-92DD7A077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5" y="1887474"/>
            <a:ext cx="11932063" cy="16135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25000"/>
              </a:lnSpc>
              <a:spcBef>
                <a:spcPts val="0"/>
              </a:spcBef>
              <a:buNone/>
              <a:defRPr sz="4800">
                <a:latin typeface="HYWenRunSongYun U"/>
                <a:ea typeface="HYWenRunSongYun U"/>
                <a:cs typeface="HYWenRunSongYun U"/>
              </a:defRPr>
            </a:pPr>
            <a:r>
              <a:rPr sz="4800" i="0" u="none" cap="none" spc="0">
                <a:ln>
                  <a:noFill/>
                </a:ln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让“六地”红，
成为理工青年最鲜亮的青春底色</a:t>
            </a:r>
          </a:p>
        </p:txBody>
      </p:sp>
    </p:spTree>
    <p:extLst>
      <p:ext uri="{BB962C8B-B14F-4D97-AF65-F5344CB8AC3E}">
        <p14:creationId xmlns:p14="http://schemas.microsoft.com/office/powerpoint/2010/main" val="159529706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542399B-F72C-D38B-F936-651F0527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目录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C3B1095-FE94-AC4D-7BAA-B4E29920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952625"/>
            <a:ext cx="9620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1. 困境与转型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2. 创新矩阵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3. 实践抓手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4. 五年成效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5. 使命收束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3208921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开场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要点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8553B29C-2510-48AB-AD59-13E4C8672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composition-dual-divider">
            <a:extLst xmlns:a="http://schemas.openxmlformats.org/drawingml/2006/main">
              <a:ext uri="{FF2B5EF4-FFF2-40B4-BE49-F238E27FC236}">
                <a16:creationId xmlns:a16="http://schemas.microsoft.com/office/drawing/2014/main" id="{119722A9-9C17-454C-9D79-664BDDF1E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81200"/>
            <a:ext cx="190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dual-0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71D51EE4-80F2-484C-94A6-8178AD738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1956054"/>
            <a:ext cx="445770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dual-0|role=index">
            <a:extLst xmlns:a="http://schemas.openxmlformats.org/drawingml/2006/main">
              <a:ext uri="{FF2B5EF4-FFF2-40B4-BE49-F238E27FC236}">
                <a16:creationId xmlns:a16="http://schemas.microsoft.com/office/drawing/2014/main" id="{171584C9-61A6-482D-80AD-6125E9147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1956054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8" name="PPAGENT_QA|within=composition-dual-0|role=title">
            <a:extLst xmlns:a="http://schemas.openxmlformats.org/drawingml/2006/main">
              <a:ext uri="{FF2B5EF4-FFF2-40B4-BE49-F238E27FC236}">
                <a16:creationId xmlns:a16="http://schemas.microsoft.com/office/drawing/2014/main" id="{89037675-BAEB-4BD0-8D8F-E1E55A4F7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451354"/>
            <a:ext cx="4457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问候</a:t>
            </a:r>
          </a:p>
        </p:txBody>
      </p:sp>
      <p:sp>
        <p:nvSpPr>
          <p:cNvPr id="19" name="PPAGENT_QA|within=composition-dual-0|role=accent">
            <a:extLst xmlns:a="http://schemas.openxmlformats.org/drawingml/2006/main">
              <a:ext uri="{FF2B5EF4-FFF2-40B4-BE49-F238E27FC236}">
                <a16:creationId xmlns:a16="http://schemas.microsoft.com/office/drawing/2014/main" id="{8D47D206-6F3A-4F02-8C56-725BDEBAA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3480054"/>
            <a:ext cx="169392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PAGENT_QA|within=composition-dual-0|role=body">
            <a:extLst xmlns:a="http://schemas.openxmlformats.org/drawingml/2006/main">
              <a:ext uri="{FF2B5EF4-FFF2-40B4-BE49-F238E27FC236}">
                <a16:creationId xmlns:a16="http://schemas.microsoft.com/office/drawing/2014/main" id="{C31DF2F0-1287-4683-90E1-3EC11306F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3765804"/>
            <a:ext cx="4457700" cy="1937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向评委和组工干部问好，说明今日分享主题。</a:t>
            </a:r>
          </a:p>
        </p:txBody>
      </p:sp>
      <p:sp>
        <p:nvSpPr>
          <p:cNvPr id="21" name="PPAGENT_QA|parent=composition-dual-1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C5CBEF19-D290-4B75-9BE7-CA6D20BD3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1956054"/>
            <a:ext cx="445770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PPAGENT_QA|within=composition-dual-1|role=index">
            <a:extLst xmlns:a="http://schemas.openxmlformats.org/drawingml/2006/main">
              <a:ext uri="{FF2B5EF4-FFF2-40B4-BE49-F238E27FC236}">
                <a16:creationId xmlns:a16="http://schemas.microsoft.com/office/drawing/2014/main" id="{1DA6ED08-4FDA-4031-B963-8642703F0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1956054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3" name="PPAGENT_QA|within=composition-dual-1|role=title">
            <a:extLst xmlns:a="http://schemas.openxmlformats.org/drawingml/2006/main">
              <a:ext uri="{FF2B5EF4-FFF2-40B4-BE49-F238E27FC236}">
                <a16:creationId xmlns:a16="http://schemas.microsoft.com/office/drawing/2014/main" id="{B04A8DA5-9598-4033-94CE-6F86B3D3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2451354"/>
            <a:ext cx="4457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主题</a:t>
            </a:r>
          </a:p>
        </p:txBody>
      </p:sp>
      <p:sp>
        <p:nvSpPr>
          <p:cNvPr id="24" name="PPAGENT_QA|within=composition-dual-1|role=accent">
            <a:extLst xmlns:a="http://schemas.openxmlformats.org/drawingml/2006/main">
              <a:ext uri="{FF2B5EF4-FFF2-40B4-BE49-F238E27FC236}">
                <a16:creationId xmlns:a16="http://schemas.microsoft.com/office/drawing/2014/main" id="{76727CFE-FA84-4D23-8C85-85F00F2F8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3480054"/>
            <a:ext cx="169392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PAGENT_QA|within=composition-dual-1|role=body">
            <a:extLst xmlns:a="http://schemas.openxmlformats.org/drawingml/2006/main">
              <a:ext uri="{FF2B5EF4-FFF2-40B4-BE49-F238E27FC236}">
                <a16:creationId xmlns:a16="http://schemas.microsoft.com/office/drawing/2014/main" id="{6BE66AE0-5DB1-4FBE-8DCA-782C946F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3765804"/>
            <a:ext cx="4457700" cy="1937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让“六地”红成为理工青年最鲜亮的青春底色。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从“三高三低”到深耕辽宁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流程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8553B29C-2510-48AB-AD59-13E4C8672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48725F82-D153-45A4-BB45-64AA8B1F2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5B99ED-FDDB-4810-ACBF-C67637BE3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058" y="1761392"/>
            <a:ext cx="3406580" cy="4253718"/>
          </a:xfrm>
          <a:prstGeom xmlns:a="http://schemas.openxmlformats.org/drawingml/2006/main" prst="roundRect">
            <a:avLst>
              <a:gd name="adj" fmla="val 559"/>
            </a:avLst>
          </a:prstGeom>
          <a:solidFill xmlns:a="http://schemas.openxmlformats.org/drawingml/2006/main">
            <a:srgbClr val="F0F7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EBAB5C-DF26-4556-860E-CF8BBA19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3363" y="1761392"/>
            <a:ext cx="3406580" cy="4253718"/>
          </a:xfrm>
          <a:prstGeom xmlns:a="http://schemas.openxmlformats.org/drawingml/2006/main" prst="roundRect">
            <a:avLst>
              <a:gd name="adj" fmla="val 559"/>
            </a:avLst>
          </a:prstGeom>
          <a:solidFill xmlns:a="http://schemas.openxmlformats.org/drawingml/2006/main">
            <a:srgbClr val="F0F7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parent=timeline-axis|domains=timeline-connection">
            <a:extLst xmlns:a="http://schemas.openxmlformats.org/drawingml/2006/main">
              <a:ext uri="{FF2B5EF4-FFF2-40B4-BE49-F238E27FC236}">
                <a16:creationId xmlns:a16="http://schemas.microsoft.com/office/drawing/2014/main" id="{83F35C12-CF24-43D5-B4B9-B2B748261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022" y="3401597"/>
            <a:ext cx="1038195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F5EA8"/>
            </a:solidFill>
            <a:prstDash val="solid"/>
          </a:ln>
        </p:spPr>
      </p:sp>
      <p:sp>
        <p:nvSpPr>
          <p:cNvPr id="19" name="PPAGENT_QA|parent=timeline-period-0|domains=timeline-content">
            <a:extLst xmlns:a="http://schemas.openxmlformats.org/drawingml/2006/main">
              <a:ext uri="{FF2B5EF4-FFF2-40B4-BE49-F238E27FC236}">
                <a16:creationId xmlns:a16="http://schemas.microsoft.com/office/drawing/2014/main" id="{D92D71D2-15EC-4333-A0CA-06C29BD26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167" y="1896574"/>
            <a:ext cx="3244362" cy="946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125" b="1">
                <a:solidFill>
                  <a:srgbClr val="AFC4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125" b="1">
                <a:solidFill>
                  <a:srgbClr val="AFC4D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BC3EEE-B75D-4DE4-8B65-EC99A3A6A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167" y="2941979"/>
            <a:ext cx="3244362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阶段 01</a:t>
            </a:r>
          </a:p>
        </p:txBody>
      </p:sp>
      <p:sp>
        <p:nvSpPr>
          <p:cNvPr id="21" name="PPAGENT_QA|parent=timeline-node-0|domains=timeline-connection">
            <a:extLst xmlns:a="http://schemas.openxmlformats.org/drawingml/2006/main">
              <a:ext uri="{FF2B5EF4-FFF2-40B4-BE49-F238E27FC236}">
                <a16:creationId xmlns:a16="http://schemas.microsoft.com/office/drawing/2014/main" id="{0E82EC19-7FEE-4242-A5A3-72542A51D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8190" y="3284440"/>
            <a:ext cx="234315" cy="2343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PPAGENT_QA|parent=timeline-title-0|domains=timeline-content">
            <a:extLst xmlns:a="http://schemas.openxmlformats.org/drawingml/2006/main">
              <a:ext uri="{FF2B5EF4-FFF2-40B4-BE49-F238E27FC236}">
                <a16:creationId xmlns:a16="http://schemas.microsoft.com/office/drawing/2014/main" id="{5D1EEE60-F1C2-41F0-994F-EA44DF4A1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167" y="3753070"/>
            <a:ext cx="3244362" cy="522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三高三低困境</a:t>
            </a:r>
          </a:p>
        </p:txBody>
      </p:sp>
      <p:sp>
        <p:nvSpPr>
          <p:cNvPr id="23" name="PPAGENT_QA|parent=timeline-body-0|domains=timeline-content">
            <a:extLst xmlns:a="http://schemas.openxmlformats.org/drawingml/2006/main">
              <a:ext uri="{FF2B5EF4-FFF2-40B4-BE49-F238E27FC236}">
                <a16:creationId xmlns:a16="http://schemas.microsoft.com/office/drawing/2014/main" id="{2D16BEBE-82F5-4E55-9DAE-008AD246E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215" y="4347869"/>
            <a:ext cx="3172265" cy="937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理工学生党员高学分、高</a:t>
            </a:r>
          </a:p>
          <a:p xmlns:a="http://schemas.openxmlformats.org/drawingml/2006/main">
            <a:pPr algn="ctr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竞赛、高科研，但理论情感、</a:t>
            </a:r>
          </a:p>
          <a:p xmlns:a="http://schemas.openxmlformats.org/drawingml/2006/main">
            <a:pPr algn="ctr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身份认同、知行合一偏低。</a:t>
            </a:r>
          </a:p>
        </p:txBody>
      </p:sp>
      <p:sp>
        <p:nvSpPr>
          <p:cNvPr id="24" name="PPAGENT_QA|parent=timeline-bar-0|domains=timeline-shape">
            <a:extLst xmlns:a="http://schemas.openxmlformats.org/drawingml/2006/main">
              <a:ext uri="{FF2B5EF4-FFF2-40B4-BE49-F238E27FC236}">
                <a16:creationId xmlns:a16="http://schemas.microsoft.com/office/drawing/2014/main" id="{D8C3E626-E10F-4275-B832-3043C8956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057" y="5465372"/>
            <a:ext cx="432582" cy="45061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9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PAGENT_QA|parent=timeline-period-1|domains=timeline-content">
            <a:extLst xmlns:a="http://schemas.openxmlformats.org/drawingml/2006/main">
              <a:ext uri="{FF2B5EF4-FFF2-40B4-BE49-F238E27FC236}">
                <a16:creationId xmlns:a16="http://schemas.microsoft.com/office/drawing/2014/main" id="{81F619A7-1523-448D-9B90-BC019A95D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3819" y="1896574"/>
            <a:ext cx="3244362" cy="946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125" b="1">
                <a:solidFill>
                  <a:srgbClr val="AFC4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125" b="1">
                <a:solidFill>
                  <a:srgbClr val="AFC4D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785563-BC2C-4489-890B-44FC7D670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3819" y="2941979"/>
            <a:ext cx="3244362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阶段 02</a:t>
            </a:r>
          </a:p>
        </p:txBody>
      </p:sp>
      <p:sp>
        <p:nvSpPr>
          <p:cNvPr id="27" name="PPAGENT_QA|parent=timeline-node-1|domains=timeline-connection">
            <a:extLst xmlns:a="http://schemas.openxmlformats.org/drawingml/2006/main">
              <a:ext uri="{FF2B5EF4-FFF2-40B4-BE49-F238E27FC236}">
                <a16:creationId xmlns:a16="http://schemas.microsoft.com/office/drawing/2014/main" id="{7172A2E4-6293-4B68-9A1E-98209A341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8843" y="3284440"/>
            <a:ext cx="234315" cy="2343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PPAGENT_QA|parent=timeline-title-1|domains=timeline-content">
            <a:extLst xmlns:a="http://schemas.openxmlformats.org/drawingml/2006/main">
              <a:ext uri="{FF2B5EF4-FFF2-40B4-BE49-F238E27FC236}">
                <a16:creationId xmlns:a16="http://schemas.microsoft.com/office/drawing/2014/main" id="{15A4E9CF-127C-46ED-B0A5-97EAA38BD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3819" y="3753070"/>
            <a:ext cx="3244362" cy="522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红色梦想实践团</a:t>
            </a:r>
          </a:p>
        </p:txBody>
      </p:sp>
      <p:sp>
        <p:nvSpPr>
          <p:cNvPr id="29" name="PPAGENT_QA|parent=timeline-body-1|domains=timeline-content">
            <a:extLst xmlns:a="http://schemas.openxmlformats.org/drawingml/2006/main">
              <a:ext uri="{FF2B5EF4-FFF2-40B4-BE49-F238E27FC236}">
                <a16:creationId xmlns:a16="http://schemas.microsoft.com/office/drawing/2014/main" id="{B949ED41-1785-47CB-A1DF-2C57C24BB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9868" y="4347869"/>
            <a:ext cx="3172265" cy="937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以党建为核心，走遍</a:t>
            </a:r>
          </a:p>
          <a:p xmlns:a="http://schemas.openxmlformats.org/drawingml/2006/main">
            <a:pPr algn="ctr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全国九省，锻造“理论＋</a:t>
            </a:r>
          </a:p>
          <a:p xmlns:a="http://schemas.openxmlformats.org/drawingml/2006/main">
            <a:pPr algn="ctr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实践”立体化红色矩阵。</a:t>
            </a:r>
          </a:p>
        </p:txBody>
      </p:sp>
      <p:sp>
        <p:nvSpPr>
          <p:cNvPr id="30" name="PPAGENT_QA|parent=timeline-bar-1|domains=timeline-shape">
            <a:extLst xmlns:a="http://schemas.openxmlformats.org/drawingml/2006/main">
              <a:ext uri="{FF2B5EF4-FFF2-40B4-BE49-F238E27FC236}">
                <a16:creationId xmlns:a16="http://schemas.microsoft.com/office/drawing/2014/main" id="{9F33D0BC-6C1B-46E0-A585-AA46466F8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709" y="5465372"/>
            <a:ext cx="432582" cy="45061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9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PAGENT_QA|parent=timeline-period-2|domains=timeline-content">
            <a:extLst xmlns:a="http://schemas.openxmlformats.org/drawingml/2006/main">
              <a:ext uri="{FF2B5EF4-FFF2-40B4-BE49-F238E27FC236}">
                <a16:creationId xmlns:a16="http://schemas.microsoft.com/office/drawing/2014/main" id="{1E50270A-84FA-4515-915A-83B39413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472" y="1896574"/>
            <a:ext cx="3244362" cy="946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1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1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2CBAE8B-349E-4D65-8ABA-A37459653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472" y="2941979"/>
            <a:ext cx="3244362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阶段 03</a:t>
            </a:r>
          </a:p>
        </p:txBody>
      </p:sp>
      <p:sp>
        <p:nvSpPr>
          <p:cNvPr id="33" name="PPAGENT_QA|parent=timeline-node-2|domains=timeline-connection">
            <a:extLst xmlns:a="http://schemas.openxmlformats.org/drawingml/2006/main">
              <a:ext uri="{FF2B5EF4-FFF2-40B4-BE49-F238E27FC236}">
                <a16:creationId xmlns:a16="http://schemas.microsoft.com/office/drawing/2014/main" id="{E54260B4-AF5D-4D04-9A6F-10254B002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495" y="3284440"/>
            <a:ext cx="234315" cy="2343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AEE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4" name="PPAGENT_QA|parent=timeline-title-2|domains=timeline-content">
            <a:extLst xmlns:a="http://schemas.openxmlformats.org/drawingml/2006/main">
              <a:ext uri="{FF2B5EF4-FFF2-40B4-BE49-F238E27FC236}">
                <a16:creationId xmlns:a16="http://schemas.microsoft.com/office/drawing/2014/main" id="{2002FC0A-5D5E-4BFB-A82F-3D70A9B96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472" y="3753070"/>
            <a:ext cx="3244362" cy="522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转向深耕辽宁</a:t>
            </a:r>
          </a:p>
        </p:txBody>
      </p:sp>
      <p:sp>
        <p:nvSpPr>
          <p:cNvPr id="35" name="PPAGENT_QA|parent=timeline-body-2|domains=timeline-content">
            <a:extLst xmlns:a="http://schemas.openxmlformats.org/drawingml/2006/main">
              <a:ext uri="{FF2B5EF4-FFF2-40B4-BE49-F238E27FC236}">
                <a16:creationId xmlns:a16="http://schemas.microsoft.com/office/drawing/2014/main" id="{2BE68F23-2827-44F7-9DA8-A117E206B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0520" y="4347869"/>
            <a:ext cx="3172265" cy="937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立足辽宁六块红色标识，</a:t>
            </a:r>
          </a:p>
          <a:p xmlns:a="http://schemas.openxmlformats.org/drawingml/2006/main">
            <a:pPr algn="ctr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让辽宁故事成为离理工</a:t>
            </a:r>
          </a:p>
          <a:p xmlns:a="http://schemas.openxmlformats.org/drawingml/2006/main">
            <a:pPr algn="ctr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青年最近的党员教育现场。</a:t>
            </a:r>
          </a:p>
        </p:txBody>
      </p:sp>
      <p:sp>
        <p:nvSpPr>
          <p:cNvPr id="36" name="PPAGENT_QA|parent=timeline-bar-2|domains=timeline-shape">
            <a:extLst xmlns:a="http://schemas.openxmlformats.org/drawingml/2006/main">
              <a:ext uri="{FF2B5EF4-FFF2-40B4-BE49-F238E27FC236}">
                <a16:creationId xmlns:a16="http://schemas.microsoft.com/office/drawing/2014/main" id="{4B7B8781-B6D0-4E4D-AAAB-DE1FA17ED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0362" y="5465372"/>
            <a:ext cx="432582" cy="45061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“1+3+N”新矩阵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架构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8553B29C-2510-48AB-AD59-13E4C8672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primary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2122A4F4-2E4A-4761-9274-2284B890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049780"/>
            <a:ext cx="5572125" cy="3561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suppor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355F91F5-F2D1-430E-A92C-A02EBFAA6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310" y="1956054"/>
            <a:ext cx="3789045" cy="374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primary|role=accent">
            <a:extLst xmlns:a="http://schemas.openxmlformats.org/drawingml/2006/main">
              <a:ext uri="{FF2B5EF4-FFF2-40B4-BE49-F238E27FC236}">
                <a16:creationId xmlns:a16="http://schemas.microsoft.com/office/drawing/2014/main" id="{AAA89FE8-185E-40AB-8117-BF7BD1B1A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049780"/>
            <a:ext cx="66675" cy="35615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composition-primary|role=eyebrow">
            <a:extLst xmlns:a="http://schemas.openxmlformats.org/drawingml/2006/main">
              <a:ext uri="{FF2B5EF4-FFF2-40B4-BE49-F238E27FC236}">
                <a16:creationId xmlns:a16="http://schemas.microsoft.com/office/drawing/2014/main" id="{2E622E27-42BA-4352-BB26-DF8E93A49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2087880"/>
            <a:ext cx="52482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核心能力</a:t>
            </a:r>
          </a:p>
        </p:txBody>
      </p:sp>
      <p:sp>
        <p:nvSpPr>
          <p:cNvPr id="19" name="PPAGENT_QA|within=composition-primary|role=title">
            <a:extLst xmlns:a="http://schemas.openxmlformats.org/drawingml/2006/main">
              <a:ext uri="{FF2B5EF4-FFF2-40B4-BE49-F238E27FC236}">
                <a16:creationId xmlns:a16="http://schemas.microsoft.com/office/drawing/2014/main" id="{D17C7FA1-5B9D-4F12-AD1E-E4DA27CB8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2449830"/>
            <a:ext cx="52482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1条研学链</a:t>
            </a:r>
          </a:p>
        </p:txBody>
      </p:sp>
      <p:sp>
        <p:nvSpPr>
          <p:cNvPr id="20" name="PPAGENT_QA|within=composition-primary|role=body">
            <a:extLst xmlns:a="http://schemas.openxmlformats.org/drawingml/2006/main">
              <a:ext uri="{FF2B5EF4-FFF2-40B4-BE49-F238E27FC236}">
                <a16:creationId xmlns:a16="http://schemas.microsoft.com/office/drawing/2014/main" id="{EAF9665D-727C-4D9A-B643-ED0C3E98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3859530"/>
            <a:ext cx="5248275" cy="1675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对接22处示范点，绘制红色足迹地图，按“1+6+N”设计路线。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1个校本基地（校史馆）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6处核心“六地”场馆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N个配套教学点</a:t>
            </a:r>
          </a:p>
        </p:txBody>
      </p:sp>
      <p:sp>
        <p:nvSpPr>
          <p:cNvPr id="21" name="PPAGENT_QA|within=composition-support|role=index-0">
            <a:extLst xmlns:a="http://schemas.openxmlformats.org/drawingml/2006/main">
              <a:ext uri="{FF2B5EF4-FFF2-40B4-BE49-F238E27FC236}">
                <a16:creationId xmlns:a16="http://schemas.microsoft.com/office/drawing/2014/main" id="{97E1DB4C-FF05-4432-AF91-9D287BDCD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310" y="1965579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PPAGENT_QA|within=composition-support|role=title-0">
            <a:extLst xmlns:a="http://schemas.openxmlformats.org/drawingml/2006/main">
              <a:ext uri="{FF2B5EF4-FFF2-40B4-BE49-F238E27FC236}">
                <a16:creationId xmlns:a16="http://schemas.microsoft.com/office/drawing/2014/main" id="{D0DEA97C-7E9A-478E-9A05-B8D253850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1956054"/>
            <a:ext cx="314134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3类青春课堂</a:t>
            </a:r>
          </a:p>
        </p:txBody>
      </p:sp>
      <p:sp>
        <p:nvSpPr>
          <p:cNvPr id="23" name="PPAGENT_QA|within=composition-support|role=body-0">
            <a:extLst xmlns:a="http://schemas.openxmlformats.org/drawingml/2006/main">
              <a:ext uri="{FF2B5EF4-FFF2-40B4-BE49-F238E27FC236}">
                <a16:creationId xmlns:a16="http://schemas.microsoft.com/office/drawing/2014/main" id="{0C7BE3C4-ED94-476A-9FCD-852A36807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2375154"/>
            <a:ext cx="3141345" cy="134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行走课堂、VR党课、宣讲课堂。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红色研学“行走课堂”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VR党课“沉浸课堂”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青春宣讲“互动课堂”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3C3453-BE63-45D6-9D74-E583BD8D6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3830574"/>
            <a:ext cx="314134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PAGENT_QA|within=composition-support|role=index-1">
            <a:extLst xmlns:a="http://schemas.openxmlformats.org/drawingml/2006/main">
              <a:ext uri="{FF2B5EF4-FFF2-40B4-BE49-F238E27FC236}">
                <a16:creationId xmlns:a16="http://schemas.microsoft.com/office/drawing/2014/main" id="{9059413E-740C-4578-A2FB-C0E8419C4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310" y="3916299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6" name="PPAGENT_QA|within=composition-support|role=title-1">
            <a:extLst xmlns:a="http://schemas.openxmlformats.org/drawingml/2006/main">
              <a:ext uri="{FF2B5EF4-FFF2-40B4-BE49-F238E27FC236}">
                <a16:creationId xmlns:a16="http://schemas.microsoft.com/office/drawing/2014/main" id="{544DD6B1-A512-462F-B706-7D49F370B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3906774"/>
            <a:ext cx="314134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N个教育场景</a:t>
            </a:r>
          </a:p>
        </p:txBody>
      </p:sp>
      <p:sp>
        <p:nvSpPr>
          <p:cNvPr id="27" name="PPAGENT_QA|within=composition-support|role=body-1">
            <a:extLst xmlns:a="http://schemas.openxmlformats.org/drawingml/2006/main">
              <a:ext uri="{FF2B5EF4-FFF2-40B4-BE49-F238E27FC236}">
                <a16:creationId xmlns:a16="http://schemas.microsoft.com/office/drawing/2014/main" id="{177FC96D-69ED-45DD-AE32-C7818590B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4325874"/>
            <a:ext cx="3141345" cy="134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校地、校企、校校党建联建场景。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实现红色教育从“一时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一地”到“全时全域”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五类实践抓手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价值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8553B29C-2510-48AB-AD59-13E4C8672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04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composition-dual-divider">
            <a:extLst xmlns:a="http://schemas.openxmlformats.org/drawingml/2006/main">
              <a:ext uri="{FF2B5EF4-FFF2-40B4-BE49-F238E27FC236}">
                <a16:creationId xmlns:a16="http://schemas.microsoft.com/office/drawing/2014/main" id="{4F5299C9-F8C9-4C88-934E-58411CE0B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81200"/>
            <a:ext cx="190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dual-0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89CA9756-23ED-40C2-98AC-251377EA8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1956054"/>
            <a:ext cx="445770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dual-0|role=index">
            <a:extLst xmlns:a="http://schemas.openxmlformats.org/drawingml/2006/main">
              <a:ext uri="{FF2B5EF4-FFF2-40B4-BE49-F238E27FC236}">
                <a16:creationId xmlns:a16="http://schemas.microsoft.com/office/drawing/2014/main" id="{20208FFA-D4F4-47C4-A8FB-F831B8555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1956054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8" name="PPAGENT_QA|within=composition-dual-0|role=title">
            <a:extLst xmlns:a="http://schemas.openxmlformats.org/drawingml/2006/main">
              <a:ext uri="{FF2B5EF4-FFF2-40B4-BE49-F238E27FC236}">
                <a16:creationId xmlns:a16="http://schemas.microsoft.com/office/drawing/2014/main" id="{90C2FFCE-C74F-42BA-BFFD-DB3CC8CBD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451354"/>
            <a:ext cx="4457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红色任务单</a:t>
            </a:r>
          </a:p>
        </p:txBody>
      </p:sp>
      <p:sp>
        <p:nvSpPr>
          <p:cNvPr id="19" name="PPAGENT_QA|within=composition-dual-0|role=accent">
            <a:extLst xmlns:a="http://schemas.openxmlformats.org/drawingml/2006/main">
              <a:ext uri="{FF2B5EF4-FFF2-40B4-BE49-F238E27FC236}">
                <a16:creationId xmlns:a16="http://schemas.microsoft.com/office/drawing/2014/main" id="{3EB45E64-54EE-4C34-9B88-796ED2E1F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3480054"/>
            <a:ext cx="169392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PAGENT_QA|within=composition-dual-0|role=body">
            <a:extLst xmlns:a="http://schemas.openxmlformats.org/drawingml/2006/main">
              <a:ext uri="{FF2B5EF4-FFF2-40B4-BE49-F238E27FC236}">
                <a16:creationId xmlns:a16="http://schemas.microsoft.com/office/drawing/2014/main" id="{7E825D8A-CED2-42C2-BAB1-03D3C56B7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3765804"/>
            <a:ext cx="4457700" cy="1937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撬动“行走的党课”，以任务促实践。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拍短视频、解难题、带课题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26项微课题被揭榜挂帅</a:t>
            </a:r>
          </a:p>
        </p:txBody>
      </p:sp>
      <p:sp>
        <p:nvSpPr>
          <p:cNvPr id="21" name="PPAGENT_QA|parent=composition-dual-1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1D2A4BFF-FD46-4562-92BE-C0E4E7648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1956054"/>
            <a:ext cx="445770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PPAGENT_QA|within=composition-dual-1|role=index">
            <a:extLst xmlns:a="http://schemas.openxmlformats.org/drawingml/2006/main">
              <a:ext uri="{FF2B5EF4-FFF2-40B4-BE49-F238E27FC236}">
                <a16:creationId xmlns:a16="http://schemas.microsoft.com/office/drawing/2014/main" id="{B7C2063F-305D-4499-B976-38A595637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1956054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3" name="PPAGENT_QA|within=composition-dual-1|role=title">
            <a:extLst xmlns:a="http://schemas.openxmlformats.org/drawingml/2006/main">
              <a:ext uri="{FF2B5EF4-FFF2-40B4-BE49-F238E27FC236}">
                <a16:creationId xmlns:a16="http://schemas.microsoft.com/office/drawing/2014/main" id="{3F736DBC-E13E-40AD-87CD-B81973F1F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2451354"/>
            <a:ext cx="4457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VR基地</a:t>
            </a:r>
          </a:p>
        </p:txBody>
      </p:sp>
      <p:sp>
        <p:nvSpPr>
          <p:cNvPr id="24" name="PPAGENT_QA|within=composition-dual-1|role=accent">
            <a:extLst xmlns:a="http://schemas.openxmlformats.org/drawingml/2006/main">
              <a:ext uri="{FF2B5EF4-FFF2-40B4-BE49-F238E27FC236}">
                <a16:creationId xmlns:a16="http://schemas.microsoft.com/office/drawing/2014/main" id="{D9B14EAA-C0F3-4685-BF10-E167F0EB4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3480054"/>
            <a:ext cx="169392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PAGENT_QA|within=composition-dual-1|role=body">
            <a:extLst xmlns:a="http://schemas.openxmlformats.org/drawingml/2006/main">
              <a:ext uri="{FF2B5EF4-FFF2-40B4-BE49-F238E27FC236}">
                <a16:creationId xmlns:a16="http://schemas.microsoft.com/office/drawing/2014/main" id="{A945D39C-A2E9-43E5-A825-78A06C7B0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3765804"/>
            <a:ext cx="4457700" cy="1937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升级“沉浸的党课”，开发7门红色VR党课。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拍摄22处旧址全景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获评省级示范基地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2400余名党员体验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五类实践抓手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价值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8553B29C-2510-48AB-AD59-13E4C8672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05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D6BB1AA9-8FDC-4D27-85BD-6AB7BA3BF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parallel-card-0|domains=parallel-card,parallel-content">
            <a:extLst xmlns:a="http://schemas.openxmlformats.org/drawingml/2006/main">
              <a:ext uri="{FF2B5EF4-FFF2-40B4-BE49-F238E27FC236}">
                <a16:creationId xmlns:a16="http://schemas.microsoft.com/office/drawing/2014/main" id="{1B098F18-E0EB-4AB7-B7CC-38B9C46C0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3441700" cy="3714750"/>
          </a:xfrm>
          <a:prstGeom xmlns:a="http://schemas.openxmlformats.org/drawingml/2006/main" prst="roundRect">
            <a:avLst>
              <a:gd name="adj" fmla="val 3321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3335">
            <a:solidFill>
              <a:srgbClr val="A8CB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PPAGENT_QA|within=parallel-card-0|role=accent-rail">
            <a:extLst xmlns:a="http://schemas.openxmlformats.org/drawingml/2006/main">
              <a:ext uri="{FF2B5EF4-FFF2-40B4-BE49-F238E27FC236}">
                <a16:creationId xmlns:a16="http://schemas.microsoft.com/office/drawing/2014/main" id="{0AFB54D2-A041-47B1-A591-0D35336F8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3441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parallel-card-0|role=index">
            <a:extLst xmlns:a="http://schemas.openxmlformats.org/drawingml/2006/main">
              <a:ext uri="{FF2B5EF4-FFF2-40B4-BE49-F238E27FC236}">
                <a16:creationId xmlns:a16="http://schemas.microsoft.com/office/drawing/2014/main" id="{D68C03AA-FCD7-47FE-AD62-BE0136B8F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9" name="PPAGENT_QA|within=parallel-card-0|role=title">
            <a:extLst xmlns:a="http://schemas.openxmlformats.org/drawingml/2006/main">
              <a:ext uri="{FF2B5EF4-FFF2-40B4-BE49-F238E27FC236}">
                <a16:creationId xmlns:a16="http://schemas.microsoft.com/office/drawing/2014/main" id="{B4649DEE-14E3-4156-8640-C0D58BD07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52750"/>
            <a:ext cx="3060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青年宣讲团</a:t>
            </a:r>
          </a:p>
        </p:txBody>
      </p:sp>
      <p:sp>
        <p:nvSpPr>
          <p:cNvPr id="20" name="PPAGENT_QA|within=parallel-card-0|role=body">
            <a:extLst xmlns:a="http://schemas.openxmlformats.org/drawingml/2006/main">
              <a:ext uri="{FF2B5EF4-FFF2-40B4-BE49-F238E27FC236}">
                <a16:creationId xmlns:a16="http://schemas.microsoft.com/office/drawing/2014/main" id="{E46D8363-DD30-4107-8F0B-92F4A1B72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38550"/>
            <a:ext cx="3022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点燃“青年的党课”，青言青语传播。</a:t>
            </a:r>
          </a:p>
        </p:txBody>
      </p:sp>
      <p:sp>
        <p:nvSpPr>
          <p:cNvPr id="21" name="PPAGENT_QA|parent=parallel-card-1|domains=parallel-card,parallel-content">
            <a:extLst xmlns:a="http://schemas.openxmlformats.org/drawingml/2006/main">
              <a:ext uri="{FF2B5EF4-FFF2-40B4-BE49-F238E27FC236}">
                <a16:creationId xmlns:a16="http://schemas.microsoft.com/office/drawing/2014/main" id="{E41598C2-A088-4BFC-B2ED-56A6D111C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1809750"/>
            <a:ext cx="3441700" cy="3714750"/>
          </a:xfrm>
          <a:prstGeom xmlns:a="http://schemas.openxmlformats.org/drawingml/2006/main" prst="roundRect">
            <a:avLst>
              <a:gd name="adj" fmla="val 3321"/>
            </a:avLst>
          </a:prstGeom>
          <a:solidFill xmlns:a="http://schemas.openxmlformats.org/drawingml/2006/main">
            <a:srgbClr val="F1F8FF"/>
          </a:solidFill>
          <a:ln xmlns:a="http://schemas.openxmlformats.org/drawingml/2006/main" w="13335">
            <a:solidFill>
              <a:srgbClr val="7EB7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PPAGENT_QA|within=parallel-card-1|role=accent-rail">
            <a:extLst xmlns:a="http://schemas.openxmlformats.org/drawingml/2006/main">
              <a:ext uri="{FF2B5EF4-FFF2-40B4-BE49-F238E27FC236}">
                <a16:creationId xmlns:a16="http://schemas.microsoft.com/office/drawing/2014/main" id="{E76A6A27-00E4-49BB-8DF7-3C7194B2E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1809750"/>
            <a:ext cx="3441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PAGENT_QA|within=parallel-card-1|role=index">
            <a:extLst xmlns:a="http://schemas.openxmlformats.org/drawingml/2006/main">
              <a:ext uri="{FF2B5EF4-FFF2-40B4-BE49-F238E27FC236}">
                <a16:creationId xmlns:a16="http://schemas.microsoft.com/office/drawing/2014/main" id="{2D2BF3C1-54BA-4224-BFFD-15F41699C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65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4" name="PPAGENT_QA|within=parallel-card-1|role=title">
            <a:extLst xmlns:a="http://schemas.openxmlformats.org/drawingml/2006/main">
              <a:ext uri="{FF2B5EF4-FFF2-40B4-BE49-F238E27FC236}">
                <a16:creationId xmlns:a16="http://schemas.microsoft.com/office/drawing/2014/main" id="{050428C3-F7A2-45AF-ABA0-DBACEE95C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650" y="2952750"/>
            <a:ext cx="3060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红色朋友圈</a:t>
            </a:r>
          </a:p>
        </p:txBody>
      </p:sp>
      <p:sp>
        <p:nvSpPr>
          <p:cNvPr id="25" name="PPAGENT_QA|within=parallel-card-1|role=body">
            <a:extLst xmlns:a="http://schemas.openxmlformats.org/drawingml/2006/main">
              <a:ext uri="{FF2B5EF4-FFF2-40B4-BE49-F238E27FC236}">
                <a16:creationId xmlns:a16="http://schemas.microsoft.com/office/drawing/2014/main" id="{610D1F79-AEC5-442B-970D-B8A28DEE1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3638550"/>
            <a:ext cx="3022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放大“共享的党课”，联建共享。</a:t>
            </a:r>
          </a:p>
        </p:txBody>
      </p:sp>
      <p:sp>
        <p:nvSpPr>
          <p:cNvPr id="26" name="PPAGENT_QA|parent=parallel-card-2|domains=parallel-card,parallel-content">
            <a:extLst xmlns:a="http://schemas.openxmlformats.org/drawingml/2006/main">
              <a:ext uri="{FF2B5EF4-FFF2-40B4-BE49-F238E27FC236}">
                <a16:creationId xmlns:a16="http://schemas.microsoft.com/office/drawing/2014/main" id="{8ABD7323-74E0-4225-8A53-9A316F5C7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1809750"/>
            <a:ext cx="3441700" cy="3714750"/>
          </a:xfrm>
          <a:prstGeom xmlns:a="http://schemas.openxmlformats.org/drawingml/2006/main" prst="roundRect">
            <a:avLst>
              <a:gd name="adj" fmla="val 3321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3335">
            <a:solidFill>
              <a:srgbClr val="A8CB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PPAGENT_QA|within=parallel-card-2|role=accent-rail">
            <a:extLst xmlns:a="http://schemas.openxmlformats.org/drawingml/2006/main">
              <a:ext uri="{FF2B5EF4-FFF2-40B4-BE49-F238E27FC236}">
                <a16:creationId xmlns:a16="http://schemas.microsoft.com/office/drawing/2014/main" id="{120D7943-B7F5-4BAE-9F3A-C206E115F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1809750"/>
            <a:ext cx="3441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PAGENT_QA|within=parallel-card-2|role=index">
            <a:extLst xmlns:a="http://schemas.openxmlformats.org/drawingml/2006/main">
              <a:ext uri="{FF2B5EF4-FFF2-40B4-BE49-F238E27FC236}">
                <a16:creationId xmlns:a16="http://schemas.microsoft.com/office/drawing/2014/main" id="{0E4EF031-F36F-4BBC-A6BE-537D5B177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785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9" name="PPAGENT_QA|within=parallel-card-2|role=title">
            <a:extLst xmlns:a="http://schemas.openxmlformats.org/drawingml/2006/main">
              <a:ext uri="{FF2B5EF4-FFF2-40B4-BE49-F238E27FC236}">
                <a16:creationId xmlns:a16="http://schemas.microsoft.com/office/drawing/2014/main" id="{13B02274-2EC1-4B51-885A-81C626D4D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7850" y="2952750"/>
            <a:ext cx="3060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红色育人机制</a:t>
            </a:r>
          </a:p>
        </p:txBody>
      </p:sp>
      <p:sp>
        <p:nvSpPr>
          <p:cNvPr id="30" name="PPAGENT_QA|within=parallel-card-2|role=body">
            <a:extLst xmlns:a="http://schemas.openxmlformats.org/drawingml/2006/main">
              <a:ext uri="{FF2B5EF4-FFF2-40B4-BE49-F238E27FC236}">
                <a16:creationId xmlns:a16="http://schemas.microsoft.com/office/drawing/2014/main" id="{1E43BE7A-A7A7-44C2-989B-31EF5E9DD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900" y="3638550"/>
            <a:ext cx="3022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固化“长效的党课”，嵌入成长全周期。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五年成效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要点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8553B29C-2510-48AB-AD59-13E4C8672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06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EAD82999-2C25-4AF3-99D5-0189DE402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parallel-card-0|domains=parallel-card,parallel-content">
            <a:extLst xmlns:a="http://schemas.openxmlformats.org/drawingml/2006/main">
              <a:ext uri="{FF2B5EF4-FFF2-40B4-BE49-F238E27FC236}">
                <a16:creationId xmlns:a16="http://schemas.microsoft.com/office/drawing/2014/main" id="{1F268BA3-903B-42C1-A9CF-FC2286271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2533650" cy="37147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3335">
            <a:solidFill>
              <a:srgbClr val="A8CB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PPAGENT_QA|within=parallel-card-0|role=accent-rail">
            <a:extLst xmlns:a="http://schemas.openxmlformats.org/drawingml/2006/main">
              <a:ext uri="{FF2B5EF4-FFF2-40B4-BE49-F238E27FC236}">
                <a16:creationId xmlns:a16="http://schemas.microsoft.com/office/drawing/2014/main" id="{27F0366F-E11B-46B4-A52B-DED81DC21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25336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parallel-card-0|role=index">
            <a:extLst xmlns:a="http://schemas.openxmlformats.org/drawingml/2006/main">
              <a:ext uri="{FF2B5EF4-FFF2-40B4-BE49-F238E27FC236}">
                <a16:creationId xmlns:a16="http://schemas.microsoft.com/office/drawing/2014/main" id="{09C9D04C-6941-4C5C-BF04-DAAACF7DF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9" name="PPAGENT_QA|within=parallel-card-0|role=title">
            <a:extLst xmlns:a="http://schemas.openxmlformats.org/drawingml/2006/main">
              <a:ext uri="{FF2B5EF4-FFF2-40B4-BE49-F238E27FC236}">
                <a16:creationId xmlns:a16="http://schemas.microsoft.com/office/drawing/2014/main" id="{A57869C9-ABA6-4C6A-A9FA-4E53176D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52750"/>
            <a:ext cx="2152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信仰更强</a:t>
            </a:r>
          </a:p>
        </p:txBody>
      </p:sp>
      <p:sp>
        <p:nvSpPr>
          <p:cNvPr id="20" name="PPAGENT_QA|within=parallel-card-0|role=body">
            <a:extLst xmlns:a="http://schemas.openxmlformats.org/drawingml/2006/main">
              <a:ext uri="{FF2B5EF4-FFF2-40B4-BE49-F238E27FC236}">
                <a16:creationId xmlns:a16="http://schemas.microsoft.com/office/drawing/2014/main" id="{46912592-9D11-404A-AF25-88317C563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38550"/>
            <a:ext cx="2114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留辽意愿举手率从58%飙到87%。</a:t>
            </a:r>
          </a:p>
        </p:txBody>
      </p:sp>
      <p:sp>
        <p:nvSpPr>
          <p:cNvPr id="21" name="PPAGENT_QA|parent=parallel-card-1|domains=parallel-card,parallel-content">
            <a:extLst xmlns:a="http://schemas.openxmlformats.org/drawingml/2006/main">
              <a:ext uri="{FF2B5EF4-FFF2-40B4-BE49-F238E27FC236}">
                <a16:creationId xmlns:a16="http://schemas.microsoft.com/office/drawing/2014/main" id="{817C1A8A-BECF-44F9-9AC9-28DECCB33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809750"/>
            <a:ext cx="2533650" cy="37147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F1F8FF"/>
          </a:solidFill>
          <a:ln xmlns:a="http://schemas.openxmlformats.org/drawingml/2006/main" w="13335">
            <a:solidFill>
              <a:srgbClr val="7EB7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PPAGENT_QA|within=parallel-card-1|role=accent-rail">
            <a:extLst xmlns:a="http://schemas.openxmlformats.org/drawingml/2006/main">
              <a:ext uri="{FF2B5EF4-FFF2-40B4-BE49-F238E27FC236}">
                <a16:creationId xmlns:a16="http://schemas.microsoft.com/office/drawing/2014/main" id="{FB119950-E515-4D82-8CCE-555BB68E3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809750"/>
            <a:ext cx="25336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PAGENT_QA|within=parallel-card-1|role=index">
            <a:extLst xmlns:a="http://schemas.openxmlformats.org/drawingml/2006/main">
              <a:ext uri="{FF2B5EF4-FFF2-40B4-BE49-F238E27FC236}">
                <a16:creationId xmlns:a16="http://schemas.microsoft.com/office/drawing/2014/main" id="{88C0C975-81F0-439F-81B5-4120313B7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4" name="PPAGENT_QA|within=parallel-card-1|role=title">
            <a:extLst xmlns:a="http://schemas.openxmlformats.org/drawingml/2006/main">
              <a:ext uri="{FF2B5EF4-FFF2-40B4-BE49-F238E27FC236}">
                <a16:creationId xmlns:a16="http://schemas.microsoft.com/office/drawing/2014/main" id="{582899DB-2638-4520-A46D-C9E1604CE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952750"/>
            <a:ext cx="2152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本领更硬</a:t>
            </a:r>
          </a:p>
        </p:txBody>
      </p:sp>
      <p:sp>
        <p:nvSpPr>
          <p:cNvPr id="25" name="PPAGENT_QA|within=parallel-card-1|role=body">
            <a:extLst xmlns:a="http://schemas.openxmlformats.org/drawingml/2006/main">
              <a:ext uri="{FF2B5EF4-FFF2-40B4-BE49-F238E27FC236}">
                <a16:creationId xmlns:a16="http://schemas.microsoft.com/office/drawing/2014/main" id="{A5DB2B99-A8FD-43B3-9710-982022DA2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638550"/>
            <a:ext cx="2114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26份微课题，8家企业当场收货。</a:t>
            </a:r>
          </a:p>
        </p:txBody>
      </p:sp>
      <p:sp>
        <p:nvSpPr>
          <p:cNvPr id="26" name="PPAGENT_QA|parent=parallel-card-2|domains=parallel-card,parallel-content">
            <a:extLst xmlns:a="http://schemas.openxmlformats.org/drawingml/2006/main">
              <a:ext uri="{FF2B5EF4-FFF2-40B4-BE49-F238E27FC236}">
                <a16:creationId xmlns:a16="http://schemas.microsoft.com/office/drawing/2014/main" id="{5C4E2274-07A3-4E15-9E57-218C2F764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2533650" cy="37147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3335">
            <a:solidFill>
              <a:srgbClr val="A8CB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PPAGENT_QA|within=parallel-card-2|role=accent-rail">
            <a:extLst xmlns:a="http://schemas.openxmlformats.org/drawingml/2006/main">
              <a:ext uri="{FF2B5EF4-FFF2-40B4-BE49-F238E27FC236}">
                <a16:creationId xmlns:a16="http://schemas.microsoft.com/office/drawing/2014/main" id="{42C6FAE3-42EF-4604-A87F-C404F47D3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25336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PAGENT_QA|within=parallel-card-2|role=index">
            <a:extLst xmlns:a="http://schemas.openxmlformats.org/drawingml/2006/main">
              <a:ext uri="{FF2B5EF4-FFF2-40B4-BE49-F238E27FC236}">
                <a16:creationId xmlns:a16="http://schemas.microsoft.com/office/drawing/2014/main" id="{93E46A88-ECCA-48D2-998A-CC16A1E1E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9" name="PPAGENT_QA|within=parallel-card-2|role=title">
            <a:extLst xmlns:a="http://schemas.openxmlformats.org/drawingml/2006/main">
              <a:ext uri="{FF2B5EF4-FFF2-40B4-BE49-F238E27FC236}">
                <a16:creationId xmlns:a16="http://schemas.microsoft.com/office/drawing/2014/main" id="{EA7FCB42-60BA-433C-A2C0-0F714045E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52750"/>
            <a:ext cx="2152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声音更响</a:t>
            </a:r>
          </a:p>
        </p:txBody>
      </p:sp>
      <p:sp>
        <p:nvSpPr>
          <p:cNvPr id="30" name="PPAGENT_QA|within=parallel-card-2|role=body">
            <a:extLst xmlns:a="http://schemas.openxmlformats.org/drawingml/2006/main">
              <a:ext uri="{FF2B5EF4-FFF2-40B4-BE49-F238E27FC236}">
                <a16:creationId xmlns:a16="http://schemas.microsoft.com/office/drawing/2014/main" id="{ED19C264-0EC2-4990-9AE5-6490F2359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38550"/>
            <a:ext cx="2114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青春宣讲团让理论飞入寻常百姓家。</a:t>
            </a:r>
          </a:p>
        </p:txBody>
      </p:sp>
      <p:sp>
        <p:nvSpPr>
          <p:cNvPr id="31" name="PPAGENT_QA|parent=parallel-card-3|domains=parallel-card,parallel-content">
            <a:extLst xmlns:a="http://schemas.openxmlformats.org/drawingml/2006/main">
              <a:ext uri="{FF2B5EF4-FFF2-40B4-BE49-F238E27FC236}">
                <a16:creationId xmlns:a16="http://schemas.microsoft.com/office/drawing/2014/main" id="{AD7E5525-10A4-4866-B1EF-FEEC28BC9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809750"/>
            <a:ext cx="2533650" cy="37147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F1F8FF"/>
          </a:solidFill>
          <a:ln xmlns:a="http://schemas.openxmlformats.org/drawingml/2006/main" w="13335">
            <a:solidFill>
              <a:srgbClr val="7EB7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PPAGENT_QA|within=parallel-card-3|role=accent-rail">
            <a:extLst xmlns:a="http://schemas.openxmlformats.org/drawingml/2006/main">
              <a:ext uri="{FF2B5EF4-FFF2-40B4-BE49-F238E27FC236}">
                <a16:creationId xmlns:a16="http://schemas.microsoft.com/office/drawing/2014/main" id="{4C58B5BD-16E8-471E-9835-0713BB166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809750"/>
            <a:ext cx="25336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PAGENT_QA|within=parallel-card-3|role=index">
            <a:extLst xmlns:a="http://schemas.openxmlformats.org/drawingml/2006/main">
              <a:ext uri="{FF2B5EF4-FFF2-40B4-BE49-F238E27FC236}">
                <a16:creationId xmlns:a16="http://schemas.microsoft.com/office/drawing/2014/main" id="{CD843360-9011-41AA-A1E9-90E5E41CB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4" name="PPAGENT_QA|within=parallel-card-3|role=title">
            <a:extLst xmlns:a="http://schemas.openxmlformats.org/drawingml/2006/main">
              <a:ext uri="{FF2B5EF4-FFF2-40B4-BE49-F238E27FC236}">
                <a16:creationId xmlns:a16="http://schemas.microsoft.com/office/drawing/2014/main" id="{FB3A8E69-703F-4E17-8031-1DFF7DA69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952750"/>
            <a:ext cx="2152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脚步更稳</a:t>
            </a:r>
          </a:p>
        </p:txBody>
      </p:sp>
      <p:sp>
        <p:nvSpPr>
          <p:cNvPr id="35" name="PPAGENT_QA|within=parallel-card-3|role=body">
            <a:extLst xmlns:a="http://schemas.openxmlformats.org/drawingml/2006/main">
              <a:ext uri="{FF2B5EF4-FFF2-40B4-BE49-F238E27FC236}">
                <a16:creationId xmlns:a16="http://schemas.microsoft.com/office/drawing/2014/main" id="{CA5B3AB3-19A3-4C29-B7DD-1F27CA966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638550"/>
            <a:ext cx="2114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四阶培养链，选调生与研发比例提升40%。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收束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要点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8553B29C-2510-48AB-AD59-13E4C8672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07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E05F707A-F745-498C-959A-F26B09071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parallel-card-0|domains=parallel-card,parallel-content">
            <a:extLst xmlns:a="http://schemas.openxmlformats.org/drawingml/2006/main">
              <a:ext uri="{FF2B5EF4-FFF2-40B4-BE49-F238E27FC236}">
                <a16:creationId xmlns:a16="http://schemas.microsoft.com/office/drawing/2014/main" id="{7D9952E4-D2E6-4656-82F4-041BDA541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3441700" cy="3714750"/>
          </a:xfrm>
          <a:prstGeom xmlns:a="http://schemas.openxmlformats.org/drawingml/2006/main" prst="roundRect">
            <a:avLst>
              <a:gd name="adj" fmla="val 3321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3335">
            <a:solidFill>
              <a:srgbClr val="A8CB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PPAGENT_QA|within=parallel-card-0|role=accent-rail">
            <a:extLst xmlns:a="http://schemas.openxmlformats.org/drawingml/2006/main">
              <a:ext uri="{FF2B5EF4-FFF2-40B4-BE49-F238E27FC236}">
                <a16:creationId xmlns:a16="http://schemas.microsoft.com/office/drawing/2014/main" id="{365C9AC8-385D-4F32-B831-C25C9B20B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3441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parallel-card-0|role=index">
            <a:extLst xmlns:a="http://schemas.openxmlformats.org/drawingml/2006/main">
              <a:ext uri="{FF2B5EF4-FFF2-40B4-BE49-F238E27FC236}">
                <a16:creationId xmlns:a16="http://schemas.microsoft.com/office/drawing/2014/main" id="{78CBCC6E-E3EC-4A7A-A96B-28C005A4E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9" name="PPAGENT_QA|within=parallel-card-0|role=title">
            <a:extLst xmlns:a="http://schemas.openxmlformats.org/drawingml/2006/main">
              <a:ext uri="{FF2B5EF4-FFF2-40B4-BE49-F238E27FC236}">
                <a16:creationId xmlns:a16="http://schemas.microsoft.com/office/drawing/2014/main" id="{AC85432C-931C-448A-AF96-D47BF4996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52750"/>
            <a:ext cx="3060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总书记嘱托</a:t>
            </a:r>
          </a:p>
        </p:txBody>
      </p:sp>
      <p:sp>
        <p:nvSpPr>
          <p:cNvPr id="20" name="PPAGENT_QA|within=parallel-card-0|role=body">
            <a:extLst xmlns:a="http://schemas.openxmlformats.org/drawingml/2006/main">
              <a:ext uri="{FF2B5EF4-FFF2-40B4-BE49-F238E27FC236}">
                <a16:creationId xmlns:a16="http://schemas.microsoft.com/office/drawing/2014/main" id="{743F9C3D-6142-4377-969E-B90CA22CF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38550"/>
            <a:ext cx="3022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讲好党的故事，把红色基因传承下去。</a:t>
            </a:r>
          </a:p>
        </p:txBody>
      </p:sp>
      <p:sp>
        <p:nvSpPr>
          <p:cNvPr id="21" name="PPAGENT_QA|parent=parallel-card-1|domains=parallel-card,parallel-content">
            <a:extLst xmlns:a="http://schemas.openxmlformats.org/drawingml/2006/main">
              <a:ext uri="{FF2B5EF4-FFF2-40B4-BE49-F238E27FC236}">
                <a16:creationId xmlns:a16="http://schemas.microsoft.com/office/drawing/2014/main" id="{F4E7A450-581E-41A3-BCD0-4CDA5AB28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1809750"/>
            <a:ext cx="3441700" cy="3714750"/>
          </a:xfrm>
          <a:prstGeom xmlns:a="http://schemas.openxmlformats.org/drawingml/2006/main" prst="roundRect">
            <a:avLst>
              <a:gd name="adj" fmla="val 3321"/>
            </a:avLst>
          </a:prstGeom>
          <a:solidFill xmlns:a="http://schemas.openxmlformats.org/drawingml/2006/main">
            <a:srgbClr val="F1F8FF"/>
          </a:solidFill>
          <a:ln xmlns:a="http://schemas.openxmlformats.org/drawingml/2006/main" w="13335">
            <a:solidFill>
              <a:srgbClr val="7EB7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PPAGENT_QA|within=parallel-card-1|role=accent-rail">
            <a:extLst xmlns:a="http://schemas.openxmlformats.org/drawingml/2006/main">
              <a:ext uri="{FF2B5EF4-FFF2-40B4-BE49-F238E27FC236}">
                <a16:creationId xmlns:a16="http://schemas.microsoft.com/office/drawing/2014/main" id="{5DE144CF-F3F1-4C6A-B532-B5499ACA2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1809750"/>
            <a:ext cx="3441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PAGENT_QA|within=parallel-card-1|role=index">
            <a:extLst xmlns:a="http://schemas.openxmlformats.org/drawingml/2006/main">
              <a:ext uri="{FF2B5EF4-FFF2-40B4-BE49-F238E27FC236}">
                <a16:creationId xmlns:a16="http://schemas.microsoft.com/office/drawing/2014/main" id="{5476D507-CC6F-40BE-B983-431201217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65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4" name="PPAGENT_QA|within=parallel-card-1|role=title">
            <a:extLst xmlns:a="http://schemas.openxmlformats.org/drawingml/2006/main">
              <a:ext uri="{FF2B5EF4-FFF2-40B4-BE49-F238E27FC236}">
                <a16:creationId xmlns:a16="http://schemas.microsoft.com/office/drawing/2014/main" id="{75D4ED20-3573-426F-88B7-8D86E4DCC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650" y="2952750"/>
            <a:ext cx="3060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五年实践总结</a:t>
            </a:r>
          </a:p>
        </p:txBody>
      </p:sp>
      <p:sp>
        <p:nvSpPr>
          <p:cNvPr id="25" name="PPAGENT_QA|within=parallel-card-1|role=body">
            <a:extLst xmlns:a="http://schemas.openxmlformats.org/drawingml/2006/main">
              <a:ext uri="{FF2B5EF4-FFF2-40B4-BE49-F238E27FC236}">
                <a16:creationId xmlns:a16="http://schemas.microsoft.com/office/drawing/2014/main" id="{22323B16-C5F7-48E1-AC80-6F5663A40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3638550"/>
            <a:ext cx="3022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用研学链、任务单、VR基地、宣讲团、育人机制，熔铸信念。</a:t>
            </a:r>
          </a:p>
        </p:txBody>
      </p:sp>
      <p:sp>
        <p:nvSpPr>
          <p:cNvPr id="26" name="PPAGENT_QA|parent=parallel-card-2|domains=parallel-card,parallel-content">
            <a:extLst xmlns:a="http://schemas.openxmlformats.org/drawingml/2006/main">
              <a:ext uri="{FF2B5EF4-FFF2-40B4-BE49-F238E27FC236}">
                <a16:creationId xmlns:a16="http://schemas.microsoft.com/office/drawing/2014/main" id="{9D2B1EF4-896D-4632-9B37-FF54356D8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1809750"/>
            <a:ext cx="3441700" cy="3714750"/>
          </a:xfrm>
          <a:prstGeom xmlns:a="http://schemas.openxmlformats.org/drawingml/2006/main" prst="roundRect">
            <a:avLst>
              <a:gd name="adj" fmla="val 3321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3335">
            <a:solidFill>
              <a:srgbClr val="A8CB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PPAGENT_QA|within=parallel-card-2|role=accent-rail">
            <a:extLst xmlns:a="http://schemas.openxmlformats.org/drawingml/2006/main">
              <a:ext uri="{FF2B5EF4-FFF2-40B4-BE49-F238E27FC236}">
                <a16:creationId xmlns:a16="http://schemas.microsoft.com/office/drawing/2014/main" id="{28B31486-68CB-48AF-ACA9-17DDC05DB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1809750"/>
            <a:ext cx="3441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PAGENT_QA|within=parallel-card-2|role=index">
            <a:extLst xmlns:a="http://schemas.openxmlformats.org/drawingml/2006/main">
              <a:ext uri="{FF2B5EF4-FFF2-40B4-BE49-F238E27FC236}">
                <a16:creationId xmlns:a16="http://schemas.microsoft.com/office/drawing/2014/main" id="{FD029765-BF5C-41B5-8C0D-FF452F264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785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9" name="PPAGENT_QA|within=parallel-card-2|role=title">
            <a:extLst xmlns:a="http://schemas.openxmlformats.org/drawingml/2006/main">
              <a:ext uri="{FF2B5EF4-FFF2-40B4-BE49-F238E27FC236}">
                <a16:creationId xmlns:a16="http://schemas.microsoft.com/office/drawing/2014/main" id="{92F55D04-2CA5-4943-8113-28FB0A1DC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7850" y="2952750"/>
            <a:ext cx="3060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最终底色</a:t>
            </a:r>
          </a:p>
        </p:txBody>
      </p:sp>
      <p:sp>
        <p:nvSpPr>
          <p:cNvPr id="30" name="PPAGENT_QA|within=parallel-card-2|role=body">
            <a:extLst xmlns:a="http://schemas.openxmlformats.org/drawingml/2006/main">
              <a:ext uri="{FF2B5EF4-FFF2-40B4-BE49-F238E27FC236}">
                <a16:creationId xmlns:a16="http://schemas.microsoft.com/office/drawing/2014/main" id="{31F986A9-2CC2-43ED-B46D-2EBA71E0D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900" y="3638550"/>
            <a:ext cx="3022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“六地”红成为理工青年投身振兴最鲜亮的底色。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E7535778-7BC5-C537-427C-FEF98ED8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AB5B74C1-FA4B-445D-B353-46F409C39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DA4F7B36-DC52-716A-DEF7-753169A8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5" y="1887474"/>
            <a:ext cx="11932063" cy="16135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25000"/>
              </a:lnSpc>
              <a:spcBef>
                <a:spcPts val="0"/>
              </a:spcBef>
              <a:buNone/>
              <a:defRPr sz="3900">
                <a:latin typeface="HYWenRunSongYun U"/>
                <a:ea typeface="HYWenRunSongYun U"/>
                <a:cs typeface="HYWenRunSongYun U"/>
              </a:defRPr>
            </a:pPr>
            <a:r>
              <a:rPr sz="3900" i="0" u="none" cap="none" spc="0">
                <a:ln>
                  <a:noFill/>
                </a:ln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通过“1+3+N”矩阵与五类抓手，将“六地”红色文化
融入党员教育，成就理工青年最鲜亮的青春底色。</a:t>
            </a:r>
          </a:p>
        </p:txBody>
      </p:sp>
    </p:spTree>
    <p:extLst>
      <p:ext uri="{BB962C8B-B14F-4D97-AF65-F5344CB8AC3E}">
        <p14:creationId xmlns:p14="http://schemas.microsoft.com/office/powerpoint/2010/main" val="120291939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2026-08-13T16:12:53.5330000Z</dcterms:created>
  <dcterms:modified xsi:type="dcterms:W3CDTF">2026-08-13T16:12:53.5330000Z</dcterms:modified>
</coreProperties>
</file>