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f070c3726c44bd" /><Relationship Type="http://schemas.openxmlformats.org/officeDocument/2006/relationships/extended-properties" Target="/docProps/app.xml" Id="Refa1e9f49d9e4021" /><Relationship Type="http://schemas.openxmlformats.org/officeDocument/2006/relationships/officeDocument" Target="/ppt/presentation.xml" Id="Rb74813fcdffc44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6a27cf34cd4fc5"/>
    <p:sldMasterId xmlns:r="http://schemas.openxmlformats.org/officeDocument/2006/relationships" id="2147483660" r:id="R5218130abff54e73"/>
    <p:sldMasterId xmlns:r="http://schemas.openxmlformats.org/officeDocument/2006/relationships" id="2147483663" r:id="Ra16b09bbf8fc4888"/>
  </p:sldMasterIdLst>
  <p:notesMasterIdLst>
    <p:notesMasterId xmlns:r="http://schemas.openxmlformats.org/officeDocument/2006/relationships" r:id="R91e35c83f44e4080"/>
  </p:notesMasterIdLst>
  <p:sldIdLst>
    <p:sldId xmlns:r="http://schemas.openxmlformats.org/officeDocument/2006/relationships" id="256" r:id="R5ed4e514e28a4f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5b544753c041c6" /><Relationship Type="http://schemas.openxmlformats.org/officeDocument/2006/relationships/slideMaster" Target="/ppt/slideMasters/slideMaster1.xml" Id="R766a27cf34cd4fc5" /><Relationship Type="http://schemas.openxmlformats.org/officeDocument/2006/relationships/slideMaster" Target="/ppt/slideMasters/slideMaster2.xml" Id="R5218130abff54e73" /><Relationship Type="http://schemas.openxmlformats.org/officeDocument/2006/relationships/slideMaster" Target="/ppt/slideMasters/slideMaster3.xml" Id="Ra16b09bbf8fc4888" /><Relationship Type="http://schemas.openxmlformats.org/officeDocument/2006/relationships/notesMaster" Target="/ppt/notesMasters/notesMaster1.xml" Id="R91e35c83f44e4080" /><Relationship Type="http://schemas.openxmlformats.org/officeDocument/2006/relationships/presProps" Target="/ppt/presProps.xml" Id="R4960130a05f24e92" /><Relationship Type="http://schemas.openxmlformats.org/officeDocument/2006/relationships/viewProps" Target="/ppt/viewProps.xml" Id="Rd53927a8ca474ee1" /><Relationship Type="http://schemas.openxmlformats.org/officeDocument/2006/relationships/tableStyles" Target="/ppt/tableStyles.xml" Id="Rc0e91dff1e0044f4" /><Relationship Type="http://schemas.openxmlformats.org/officeDocument/2006/relationships/slide" Target="/ppt/slides/slide1.xml" Id="R5ed4e514e28a4f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332c413121749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69b0a91c294414" /><Relationship Type="http://schemas.openxmlformats.org/officeDocument/2006/relationships/notesMaster" Target="/ppt/notesMasters/notesMaster1.xml" Id="Rd1f79b1605344d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Frozen gray input: experiments/home-gray-magazine-20260919/input/gray-state.json and gray.pptx</a:t>
            </a:r>
            <a:endParaRPr/>
          </a:p>
          <a:p xmlns:a="http://schemas.openxmlformats.org/drawingml/2006/main">
            <a:r>
              <a:t>- Source manuscript is retained in gray-state.json:sources.</a:t>
            </a:r>
            <a:endParaRPr/>
          </a:p>
          <a:p xmlns:a="http://schemas.openxmlformats.org/drawingml/2006/main">
            <a:r>
              <a:t>- Style: rules/排版体系/麦肯锡式.md and original Northeastern University template</a:t>
            </a:r>
            <a:endParaRPr/>
          </a:p>
          <a:p xmlns:a="http://schemas.openxmlformats.org/drawingml/2006/main">
            <a:r>
              <a:t>- Structure: convergence-many-to-one-003, task-local geometry adaptation from review.mjs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1f2ba26db4057" /><Relationship Type="http://schemas.openxmlformats.org/officeDocument/2006/relationships/image" Target="/ppt/media/image.jpeg" Id="Rcace2310c3b24de7" /><Relationship Type="http://schemas.openxmlformats.org/officeDocument/2006/relationships/image" Target="/ppt/media/image.png" Id="R70b8e2476dd14a95" /><Relationship Type="http://schemas.openxmlformats.org/officeDocument/2006/relationships/image" Target="/ppt/media/image2.png" Id="R8e69239f380240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3fa2b3a9340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01c8e5df7b4513" /><Relationship Type="http://schemas.openxmlformats.org/officeDocument/2006/relationships/image" Target="/ppt/media/image3.png" Id="R8143c40600ea41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0fb745bc8e443c" /><Relationship Type="http://schemas.openxmlformats.org/officeDocument/2006/relationships/image" Target="/ppt/media/image4.png" Id="R42a67c10dd754df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75603ad5c45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25b49ac314dd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87d660d23a4d0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219e69796449a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c25361f41461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f088855ad43e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030e833634a1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d7612aa5bb4f95" /><Relationship Type="http://schemas.openxmlformats.org/officeDocument/2006/relationships/image" Target="/ppt/media/image5.png" Id="R4f98f72cd94947f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54113366ee7487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f34ffd62fa4415b" /><Relationship Type="http://schemas.openxmlformats.org/officeDocument/2006/relationships/image" Target="/ppt/media/image5.png" Id="Rde6dbf4210d649d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60fb22b215b494f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e2310c3b24de7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b8e2476dd14a95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9239f380240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3c40600ea41b0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67c10dd754df2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8f72cd94947f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dbf4210d649d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4b589269dc41a0" /><Relationship Type="http://schemas.openxmlformats.org/officeDocument/2006/relationships/slideLayout" Target="/ppt/slideLayouts/slideLayout1.xml" Id="Rd964e27e47bb4ab8" /><Relationship Type="http://schemas.openxmlformats.org/officeDocument/2006/relationships/slideLayout" Target="/ppt/slideLayouts/slideLayout2.xml" Id="R73935774804942b7" /><Relationship Type="http://schemas.openxmlformats.org/officeDocument/2006/relationships/slideLayout" Target="/ppt/slideLayouts/slideLayout3.xml" Id="Rf63b0ebb12534a27" /><Relationship Type="http://schemas.openxmlformats.org/officeDocument/2006/relationships/slideLayout" Target="/ppt/slideLayouts/slideLayout4.xml" Id="Rac8da93493694c8e" /><Relationship Type="http://schemas.openxmlformats.org/officeDocument/2006/relationships/slideLayout" Target="/ppt/slideLayouts/slideLayout5.xml" Id="R99a9c039863d4bf7" /><Relationship Type="http://schemas.openxmlformats.org/officeDocument/2006/relationships/slideLayout" Target="/ppt/slideLayouts/slideLayout6.xml" Id="Rdb6fd4d8a1c34cff" /><Relationship Type="http://schemas.openxmlformats.org/officeDocument/2006/relationships/slideLayout" Target="/ppt/slideLayouts/slideLayout7.xml" Id="Rb9a367c6f28b4473" /><Relationship Type="http://schemas.openxmlformats.org/officeDocument/2006/relationships/slideLayout" Target="/ppt/slideLayouts/slideLayout8.xml" Id="R19012b4d04c94839" /><Relationship Type="http://schemas.openxmlformats.org/officeDocument/2006/relationships/slideLayout" Target="/ppt/slideLayouts/slideLayout9.xml" Id="R0734adaebf8c4971" /><Relationship Type="http://schemas.openxmlformats.org/officeDocument/2006/relationships/slideLayout" Target="/ppt/slideLayouts/slideLayout10.xml" Id="R43c7cc5ee5314abb" /><Relationship Type="http://schemas.openxmlformats.org/officeDocument/2006/relationships/slideLayout" Target="/ppt/slideLayouts/slideLayout11.xml" Id="R93132c1cadf74eb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cc854369802438e" /><Relationship Type="http://schemas.openxmlformats.org/officeDocument/2006/relationships/slideLayout" Target="/ppt/slideLayouts/slideLayout12.xml" Id="Rdfe3925296dd49ff" /><Relationship Type="http://schemas.openxmlformats.org/officeDocument/2006/relationships/slideLayout" Target="/ppt/slideLayouts/slideLayout13.xml" Id="Rc0b0eab8dce749d1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247e716e1c0a41fc" /><Relationship Type="http://schemas.openxmlformats.org/officeDocument/2006/relationships/slideLayout" Target="/ppt/slideLayouts/slideLayout14.xml" Id="R5e6988d7f4ee4850" /><Relationship Type="http://schemas.openxmlformats.org/officeDocument/2006/relationships/slideLayout" Target="/ppt/slideLayouts/slideLayout15.xml" Id="R110a9778ecce475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64e27e47bb4ab8"/>
    <p:sldLayoutId xmlns:r="http://schemas.openxmlformats.org/officeDocument/2006/relationships" id="2147483650" r:id="R73935774804942b7"/>
    <p:sldLayoutId xmlns:r="http://schemas.openxmlformats.org/officeDocument/2006/relationships" id="2147483651" r:id="Rf63b0ebb12534a27"/>
    <p:sldLayoutId xmlns:r="http://schemas.openxmlformats.org/officeDocument/2006/relationships" id="2147483652" r:id="Rac8da93493694c8e"/>
    <p:sldLayoutId xmlns:r="http://schemas.openxmlformats.org/officeDocument/2006/relationships" id="2147483653" r:id="R99a9c039863d4bf7"/>
    <p:sldLayoutId xmlns:r="http://schemas.openxmlformats.org/officeDocument/2006/relationships" id="2147483654" r:id="Rdb6fd4d8a1c34cff"/>
    <p:sldLayoutId xmlns:r="http://schemas.openxmlformats.org/officeDocument/2006/relationships" id="2147483655" r:id="Rb9a367c6f28b4473"/>
    <p:sldLayoutId xmlns:r="http://schemas.openxmlformats.org/officeDocument/2006/relationships" id="2147483656" r:id="R19012b4d04c94839"/>
    <p:sldLayoutId xmlns:r="http://schemas.openxmlformats.org/officeDocument/2006/relationships" id="2147483657" r:id="R0734adaebf8c4971"/>
    <p:sldLayoutId xmlns:r="http://schemas.openxmlformats.org/officeDocument/2006/relationships" id="2147483658" r:id="R43c7cc5ee5314abb"/>
    <p:sldLayoutId xmlns:r="http://schemas.openxmlformats.org/officeDocument/2006/relationships" id="2147483659" r:id="R93132c1cadf74eb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dfe3925296dd49ff"/>
    <p:sldLayoutId xmlns:r="http://schemas.openxmlformats.org/officeDocument/2006/relationships" id="2147483662" r:id="Rc0b0eab8dce749d1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5e6988d7f4ee4850"/>
    <p:sldLayoutId xmlns:r="http://schemas.openxmlformats.org/officeDocument/2006/relationships" id="2147483665" r:id="R110a9778ecce475b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018c46e79fc44a3" /><Relationship Type="http://schemas.openxmlformats.org/officeDocument/2006/relationships/notesSlide" Target="/ppt/notesSlides/notesSlide1.xml" Id="Rdeddb5d2a34c4e0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变革落地仍存三项短板，合规基础管理亦待压实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不足感悟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issues-0">
            <a:extLst xmlns:a="http://schemas.openxmlformats.org/drawingml/2006/main">
              <a:ext uri="{FF2B5EF4-FFF2-40B4-BE49-F238E27FC236}">
                <a16:creationId xmlns:a16="http://schemas.microsoft.com/office/drawing/2014/main" id="{53CA7D8B-3048-4C2E-BC73-08FB859A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51616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两点不足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0996E-1380-46EA-996B-15FDAB8C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17" name="implementation-number-0">
            <a:extLst xmlns:a="http://schemas.openxmlformats.org/drawingml/2006/main">
              <a:ext uri="{FF2B5EF4-FFF2-40B4-BE49-F238E27FC236}">
                <a16:creationId xmlns:a16="http://schemas.microsoft.com/office/drawing/2014/main" id="{E78768F7-1D83-4C58-9BA4-048D7DC1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implementation-label-0">
            <a:extLst xmlns:a="http://schemas.openxmlformats.org/drawingml/2006/main">
              <a:ext uri="{FF2B5EF4-FFF2-40B4-BE49-F238E27FC236}">
                <a16:creationId xmlns:a16="http://schemas.microsoft.com/office/drawing/2014/main" id="{232D5497-D517-4055-99B4-C93D8C2D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38350"/>
            <a:ext cx="48187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变革落地阻力重重</a:t>
            </a:r>
          </a:p>
        </p:txBody>
      </p:sp>
      <p:sp>
        <p:nvSpPr>
          <p:cNvPr id="19" name="implementation-context-0">
            <a:extLst xmlns:a="http://schemas.openxmlformats.org/drawingml/2006/main">
              <a:ext uri="{FF2B5EF4-FFF2-40B4-BE49-F238E27FC236}">
                <a16:creationId xmlns:a16="http://schemas.microsoft.com/office/drawing/2014/main" id="{D1783B0E-2387-4FC5-947C-3B2A5B91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81060"/>
            <a:ext cx="48187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顶层设计已完成</a:t>
            </a:r>
          </a:p>
        </p:txBody>
      </p:sp>
      <p:sp>
        <p:nvSpPr>
          <p:cNvPr id="20" name="implementation-lane-0">
            <a:extLst xmlns:a="http://schemas.openxmlformats.org/drawingml/2006/main">
              <a:ext uri="{FF2B5EF4-FFF2-40B4-BE49-F238E27FC236}">
                <a16:creationId xmlns:a16="http://schemas.microsoft.com/office/drawing/2014/main" id="{E29BE4EB-7B8C-49D8-8AF1-09560BB8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959" y="3057335"/>
            <a:ext cx="1132405" cy="704850"/>
          </a:xfrm>
          <a:custGeom xmlns:a="http://schemas.openxmlformats.org/drawingml/2006/main">
            <a:pathLst>
              <a:path w="1132405" h="704850">
                <a:moveTo>
                  <a:pt x="0" y="0"/>
                </a:moveTo>
                <a:lnTo>
                  <a:pt x="28135" y="905"/>
                </a:lnTo>
                <a:lnTo>
                  <a:pt x="55926" y="3569"/>
                </a:lnTo>
                <a:lnTo>
                  <a:pt x="83382" y="7916"/>
                </a:lnTo>
                <a:lnTo>
                  <a:pt x="110514" y="13869"/>
                </a:lnTo>
                <a:lnTo>
                  <a:pt x="137332" y="21351"/>
                </a:lnTo>
                <a:lnTo>
                  <a:pt x="163845" y="30287"/>
                </a:lnTo>
                <a:lnTo>
                  <a:pt x="190063" y="40599"/>
                </a:lnTo>
                <a:lnTo>
                  <a:pt x="215996" y="52211"/>
                </a:lnTo>
                <a:lnTo>
                  <a:pt x="241653" y="65047"/>
                </a:lnTo>
                <a:lnTo>
                  <a:pt x="267046" y="79030"/>
                </a:lnTo>
                <a:lnTo>
                  <a:pt x="292182" y="94085"/>
                </a:lnTo>
                <a:lnTo>
                  <a:pt x="317073" y="110133"/>
                </a:lnTo>
                <a:lnTo>
                  <a:pt x="341728" y="127099"/>
                </a:lnTo>
                <a:lnTo>
                  <a:pt x="366157" y="144906"/>
                </a:lnTo>
                <a:lnTo>
                  <a:pt x="390370" y="163478"/>
                </a:lnTo>
                <a:lnTo>
                  <a:pt x="414376" y="182739"/>
                </a:lnTo>
                <a:lnTo>
                  <a:pt x="438186" y="202611"/>
                </a:lnTo>
                <a:lnTo>
                  <a:pt x="461809" y="223019"/>
                </a:lnTo>
                <a:lnTo>
                  <a:pt x="485255" y="243886"/>
                </a:lnTo>
                <a:lnTo>
                  <a:pt x="508534" y="265135"/>
                </a:lnTo>
                <a:lnTo>
                  <a:pt x="531655" y="286689"/>
                </a:lnTo>
                <a:lnTo>
                  <a:pt x="554629" y="308474"/>
                </a:lnTo>
                <a:lnTo>
                  <a:pt x="577466" y="330411"/>
                </a:lnTo>
                <a:lnTo>
                  <a:pt x="600174" y="352425"/>
                </a:lnTo>
                <a:lnTo>
                  <a:pt x="622765" y="374439"/>
                </a:lnTo>
                <a:lnTo>
                  <a:pt x="645248" y="396376"/>
                </a:lnTo>
                <a:lnTo>
                  <a:pt x="667632" y="418161"/>
                </a:lnTo>
                <a:lnTo>
                  <a:pt x="689928" y="439715"/>
                </a:lnTo>
                <a:lnTo>
                  <a:pt x="712145" y="460964"/>
                </a:lnTo>
                <a:lnTo>
                  <a:pt x="734294" y="481831"/>
                </a:lnTo>
                <a:lnTo>
                  <a:pt x="756383" y="502239"/>
                </a:lnTo>
                <a:lnTo>
                  <a:pt x="778423" y="522111"/>
                </a:lnTo>
                <a:lnTo>
                  <a:pt x="800424" y="541372"/>
                </a:lnTo>
                <a:lnTo>
                  <a:pt x="822396" y="559944"/>
                </a:lnTo>
                <a:lnTo>
                  <a:pt x="844348" y="577751"/>
                </a:lnTo>
                <a:lnTo>
                  <a:pt x="866289" y="594717"/>
                </a:lnTo>
                <a:lnTo>
                  <a:pt x="888231" y="610765"/>
                </a:lnTo>
                <a:lnTo>
                  <a:pt x="910183" y="625820"/>
                </a:lnTo>
                <a:lnTo>
                  <a:pt x="932155" y="639803"/>
                </a:lnTo>
                <a:lnTo>
                  <a:pt x="954156" y="652639"/>
                </a:lnTo>
                <a:lnTo>
                  <a:pt x="976196" y="664251"/>
                </a:lnTo>
                <a:lnTo>
                  <a:pt x="998285" y="674563"/>
                </a:lnTo>
                <a:lnTo>
                  <a:pt x="1020434" y="683499"/>
                </a:lnTo>
                <a:lnTo>
                  <a:pt x="1042651" y="690981"/>
                </a:lnTo>
                <a:lnTo>
                  <a:pt x="1064947" y="696934"/>
                </a:lnTo>
                <a:lnTo>
                  <a:pt x="1087331" y="701281"/>
                </a:lnTo>
                <a:lnTo>
                  <a:pt x="1109814" y="703945"/>
                </a:lnTo>
                <a:lnTo>
                  <a:pt x="1132405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7C7D9"/>
            </a:solidFill>
          </a:ln>
        </p:spPr>
      </p:sp>
      <p:sp>
        <p:nvSpPr>
          <p:cNvPr id="21" name="implementation-lane-1">
            <a:extLst xmlns:a="http://schemas.openxmlformats.org/drawingml/2006/main">
              <a:ext uri="{FF2B5EF4-FFF2-40B4-BE49-F238E27FC236}">
                <a16:creationId xmlns:a16="http://schemas.microsoft.com/office/drawing/2014/main" id="{B3ABE5EF-3414-401C-998F-699138EB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959" y="3762185"/>
            <a:ext cx="1132405" cy="9525"/>
          </a:xfrm>
          <a:custGeom xmlns:a="http://schemas.openxmlformats.org/drawingml/2006/main">
            <a:pathLst>
              <a:path w="1132405" h="9525">
                <a:moveTo>
                  <a:pt x="0" y="0"/>
                </a:moveTo>
                <a:lnTo>
                  <a:pt x="28135" y="0"/>
                </a:lnTo>
                <a:lnTo>
                  <a:pt x="55926" y="0"/>
                </a:lnTo>
                <a:lnTo>
                  <a:pt x="83382" y="0"/>
                </a:lnTo>
                <a:lnTo>
                  <a:pt x="110514" y="0"/>
                </a:lnTo>
                <a:lnTo>
                  <a:pt x="137332" y="0"/>
                </a:lnTo>
                <a:lnTo>
                  <a:pt x="163845" y="0"/>
                </a:lnTo>
                <a:lnTo>
                  <a:pt x="190063" y="0"/>
                </a:lnTo>
                <a:lnTo>
                  <a:pt x="215996" y="0"/>
                </a:lnTo>
                <a:lnTo>
                  <a:pt x="241653" y="0"/>
                </a:lnTo>
                <a:lnTo>
                  <a:pt x="267046" y="0"/>
                </a:lnTo>
                <a:lnTo>
                  <a:pt x="292182" y="0"/>
                </a:lnTo>
                <a:lnTo>
                  <a:pt x="317073" y="0"/>
                </a:lnTo>
                <a:lnTo>
                  <a:pt x="341728" y="0"/>
                </a:lnTo>
                <a:lnTo>
                  <a:pt x="366157" y="0"/>
                </a:lnTo>
                <a:lnTo>
                  <a:pt x="390370" y="0"/>
                </a:lnTo>
                <a:lnTo>
                  <a:pt x="414376" y="0"/>
                </a:lnTo>
                <a:lnTo>
                  <a:pt x="438186" y="0"/>
                </a:lnTo>
                <a:lnTo>
                  <a:pt x="461809" y="0"/>
                </a:lnTo>
                <a:lnTo>
                  <a:pt x="485255" y="0"/>
                </a:lnTo>
                <a:lnTo>
                  <a:pt x="508534" y="0"/>
                </a:lnTo>
                <a:lnTo>
                  <a:pt x="531655" y="0"/>
                </a:lnTo>
                <a:lnTo>
                  <a:pt x="554629" y="0"/>
                </a:lnTo>
                <a:lnTo>
                  <a:pt x="577466" y="0"/>
                </a:lnTo>
                <a:lnTo>
                  <a:pt x="600174" y="0"/>
                </a:lnTo>
                <a:lnTo>
                  <a:pt x="622765" y="0"/>
                </a:lnTo>
                <a:lnTo>
                  <a:pt x="645248" y="0"/>
                </a:lnTo>
                <a:lnTo>
                  <a:pt x="667632" y="0"/>
                </a:lnTo>
                <a:lnTo>
                  <a:pt x="689928" y="0"/>
                </a:lnTo>
                <a:lnTo>
                  <a:pt x="712145" y="0"/>
                </a:lnTo>
                <a:lnTo>
                  <a:pt x="734294" y="0"/>
                </a:lnTo>
                <a:lnTo>
                  <a:pt x="756383" y="0"/>
                </a:lnTo>
                <a:lnTo>
                  <a:pt x="778423" y="0"/>
                </a:lnTo>
                <a:lnTo>
                  <a:pt x="800424" y="0"/>
                </a:lnTo>
                <a:lnTo>
                  <a:pt x="822396" y="0"/>
                </a:lnTo>
                <a:lnTo>
                  <a:pt x="844348" y="0"/>
                </a:lnTo>
                <a:lnTo>
                  <a:pt x="866289" y="0"/>
                </a:lnTo>
                <a:lnTo>
                  <a:pt x="888231" y="0"/>
                </a:lnTo>
                <a:lnTo>
                  <a:pt x="910183" y="0"/>
                </a:lnTo>
                <a:lnTo>
                  <a:pt x="932155" y="0"/>
                </a:lnTo>
                <a:lnTo>
                  <a:pt x="954156" y="0"/>
                </a:lnTo>
                <a:lnTo>
                  <a:pt x="976196" y="0"/>
                </a:lnTo>
                <a:lnTo>
                  <a:pt x="998285" y="0"/>
                </a:lnTo>
                <a:lnTo>
                  <a:pt x="1020434" y="0"/>
                </a:lnTo>
                <a:lnTo>
                  <a:pt x="1042651" y="0"/>
                </a:lnTo>
                <a:lnTo>
                  <a:pt x="1064947" y="0"/>
                </a:lnTo>
                <a:lnTo>
                  <a:pt x="1087331" y="0"/>
                </a:lnTo>
                <a:lnTo>
                  <a:pt x="1109814" y="0"/>
                </a:lnTo>
                <a:lnTo>
                  <a:pt x="11324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7795B6"/>
            </a:solidFill>
          </a:ln>
        </p:spPr>
      </p:sp>
      <p:sp>
        <p:nvSpPr>
          <p:cNvPr id="22" name="implementation-lane-2">
            <a:extLst xmlns:a="http://schemas.openxmlformats.org/drawingml/2006/main">
              <a:ext uri="{FF2B5EF4-FFF2-40B4-BE49-F238E27FC236}">
                <a16:creationId xmlns:a16="http://schemas.microsoft.com/office/drawing/2014/main" id="{2563E716-627C-4F2C-997F-5C38C69B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959" y="3762185"/>
            <a:ext cx="1132405" cy="704850"/>
          </a:xfrm>
          <a:custGeom xmlns:a="http://schemas.openxmlformats.org/drawingml/2006/main">
            <a:pathLst>
              <a:path w="1132405" h="704850">
                <a:moveTo>
                  <a:pt x="0" y="704850"/>
                </a:moveTo>
                <a:lnTo>
                  <a:pt x="28135" y="703945"/>
                </a:lnTo>
                <a:lnTo>
                  <a:pt x="55926" y="701281"/>
                </a:lnTo>
                <a:lnTo>
                  <a:pt x="83382" y="696934"/>
                </a:lnTo>
                <a:lnTo>
                  <a:pt x="110514" y="690981"/>
                </a:lnTo>
                <a:lnTo>
                  <a:pt x="137332" y="683499"/>
                </a:lnTo>
                <a:lnTo>
                  <a:pt x="163845" y="674563"/>
                </a:lnTo>
                <a:lnTo>
                  <a:pt x="190063" y="664251"/>
                </a:lnTo>
                <a:lnTo>
                  <a:pt x="215996" y="652639"/>
                </a:lnTo>
                <a:lnTo>
                  <a:pt x="241653" y="639803"/>
                </a:lnTo>
                <a:lnTo>
                  <a:pt x="267046" y="625820"/>
                </a:lnTo>
                <a:lnTo>
                  <a:pt x="292182" y="610765"/>
                </a:lnTo>
                <a:lnTo>
                  <a:pt x="317073" y="594717"/>
                </a:lnTo>
                <a:lnTo>
                  <a:pt x="341728" y="577751"/>
                </a:lnTo>
                <a:lnTo>
                  <a:pt x="366157" y="559944"/>
                </a:lnTo>
                <a:lnTo>
                  <a:pt x="390370" y="541372"/>
                </a:lnTo>
                <a:lnTo>
                  <a:pt x="414376" y="522111"/>
                </a:lnTo>
                <a:lnTo>
                  <a:pt x="438186" y="502239"/>
                </a:lnTo>
                <a:lnTo>
                  <a:pt x="461809" y="481831"/>
                </a:lnTo>
                <a:lnTo>
                  <a:pt x="485255" y="460964"/>
                </a:lnTo>
                <a:lnTo>
                  <a:pt x="508534" y="439715"/>
                </a:lnTo>
                <a:lnTo>
                  <a:pt x="531655" y="418161"/>
                </a:lnTo>
                <a:lnTo>
                  <a:pt x="554629" y="396376"/>
                </a:lnTo>
                <a:lnTo>
                  <a:pt x="577466" y="374439"/>
                </a:lnTo>
                <a:lnTo>
                  <a:pt x="600174" y="352425"/>
                </a:lnTo>
                <a:lnTo>
                  <a:pt x="622765" y="330411"/>
                </a:lnTo>
                <a:lnTo>
                  <a:pt x="645248" y="308474"/>
                </a:lnTo>
                <a:lnTo>
                  <a:pt x="667632" y="286689"/>
                </a:lnTo>
                <a:lnTo>
                  <a:pt x="689928" y="265135"/>
                </a:lnTo>
                <a:lnTo>
                  <a:pt x="712145" y="243886"/>
                </a:lnTo>
                <a:lnTo>
                  <a:pt x="734294" y="223019"/>
                </a:lnTo>
                <a:lnTo>
                  <a:pt x="756383" y="202611"/>
                </a:lnTo>
                <a:lnTo>
                  <a:pt x="778423" y="182739"/>
                </a:lnTo>
                <a:lnTo>
                  <a:pt x="800424" y="163478"/>
                </a:lnTo>
                <a:lnTo>
                  <a:pt x="822396" y="144906"/>
                </a:lnTo>
                <a:lnTo>
                  <a:pt x="844348" y="127099"/>
                </a:lnTo>
                <a:lnTo>
                  <a:pt x="866289" y="110133"/>
                </a:lnTo>
                <a:lnTo>
                  <a:pt x="888231" y="94085"/>
                </a:lnTo>
                <a:lnTo>
                  <a:pt x="910183" y="79030"/>
                </a:lnTo>
                <a:lnTo>
                  <a:pt x="932155" y="65047"/>
                </a:lnTo>
                <a:lnTo>
                  <a:pt x="954156" y="52211"/>
                </a:lnTo>
                <a:lnTo>
                  <a:pt x="976196" y="40599"/>
                </a:lnTo>
                <a:lnTo>
                  <a:pt x="998285" y="30287"/>
                </a:lnTo>
                <a:lnTo>
                  <a:pt x="1020434" y="21351"/>
                </a:lnTo>
                <a:lnTo>
                  <a:pt x="1042651" y="13869"/>
                </a:lnTo>
                <a:lnTo>
                  <a:pt x="1064947" y="7916"/>
                </a:lnTo>
                <a:lnTo>
                  <a:pt x="1087331" y="3569"/>
                </a:lnTo>
                <a:lnTo>
                  <a:pt x="1109814" y="905"/>
                </a:lnTo>
                <a:lnTo>
                  <a:pt x="11324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567CA5"/>
            </a:solidFill>
          </a:ln>
        </p:spPr>
      </p:sp>
      <p:sp>
        <p:nvSpPr>
          <p:cNvPr id="23" name="implementation-input-0">
            <a:extLst xmlns:a="http://schemas.openxmlformats.org/drawingml/2006/main">
              <a:ext uri="{FF2B5EF4-FFF2-40B4-BE49-F238E27FC236}">
                <a16:creationId xmlns:a16="http://schemas.microsoft.com/office/drawing/2014/main" id="{E304B3A6-9752-4E86-A971-F0E17F04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744534"/>
            <a:ext cx="2361184" cy="625602"/>
          </a:xfrm>
          <a:prstGeom xmlns:a="http://schemas.openxmlformats.org/drawingml/2006/main" prst="roundRect">
            <a:avLst>
              <a:gd name="adj" fmla="val 91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24" name="implementation-input-accent-0">
            <a:extLst xmlns:a="http://schemas.openxmlformats.org/drawingml/2006/main">
              <a:ext uri="{FF2B5EF4-FFF2-40B4-BE49-F238E27FC236}">
                <a16:creationId xmlns:a16="http://schemas.microsoft.com/office/drawing/2014/main" id="{E6B2350B-9926-4321-BB1B-57B4F2E8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01684"/>
            <a:ext cx="47625" cy="51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9"/>
          </a:solidFill>
          <a:ln xmlns:a="http://schemas.openxmlformats.org/drawingml/2006/main" w="0">
            <a:noFill/>
          </a:ln>
        </p:spPr>
      </p:sp>
      <p:sp>
        <p:nvSpPr>
          <p:cNvPr id="25" name="implementation-input-0-0">
            <a:extLst xmlns:a="http://schemas.openxmlformats.org/drawingml/2006/main">
              <a:ext uri="{FF2B5EF4-FFF2-40B4-BE49-F238E27FC236}">
                <a16:creationId xmlns:a16="http://schemas.microsoft.com/office/drawing/2014/main" id="{163D0DF7-8FEA-4C85-8241-C29EFFC6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20734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公司内部人力资源</a:t>
            </a:r>
          </a:p>
        </p:txBody>
      </p:sp>
      <p:sp>
        <p:nvSpPr>
          <p:cNvPr id="26" name="implementation-input-0-1">
            <a:extLst xmlns:a="http://schemas.openxmlformats.org/drawingml/2006/main">
              <a:ext uri="{FF2B5EF4-FFF2-40B4-BE49-F238E27FC236}">
                <a16:creationId xmlns:a16="http://schemas.microsoft.com/office/drawing/2014/main" id="{5254BC25-5F80-4866-BA96-BD38CA31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57335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变革氛围尚未完全形成</a:t>
            </a:r>
          </a:p>
        </p:txBody>
      </p:sp>
      <p:sp>
        <p:nvSpPr>
          <p:cNvPr id="27" name="implementation-input-1">
            <a:extLst xmlns:a="http://schemas.openxmlformats.org/drawingml/2006/main">
              <a:ext uri="{FF2B5EF4-FFF2-40B4-BE49-F238E27FC236}">
                <a16:creationId xmlns:a16="http://schemas.microsoft.com/office/drawing/2014/main" id="{A14038FB-53FB-4812-9278-858E299C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449384"/>
            <a:ext cx="2361184" cy="625602"/>
          </a:xfrm>
          <a:prstGeom xmlns:a="http://schemas.openxmlformats.org/drawingml/2006/main" prst="roundRect">
            <a:avLst>
              <a:gd name="adj" fmla="val 91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28" name="implementation-input-accent-1">
            <a:extLst xmlns:a="http://schemas.openxmlformats.org/drawingml/2006/main">
              <a:ext uri="{FF2B5EF4-FFF2-40B4-BE49-F238E27FC236}">
                <a16:creationId xmlns:a16="http://schemas.microsoft.com/office/drawing/2014/main" id="{0E089A12-EEA0-4BA2-8BC5-1D9785F0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506534"/>
            <a:ext cx="47625" cy="511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95B6"/>
          </a:solidFill>
          <a:ln xmlns:a="http://schemas.openxmlformats.org/drawingml/2006/main" w="0">
            <a:noFill/>
          </a:ln>
        </p:spPr>
      </p:sp>
      <p:sp>
        <p:nvSpPr>
          <p:cNvPr id="29" name="implementation-input-1-0">
            <a:extLst xmlns:a="http://schemas.openxmlformats.org/drawingml/2006/main">
              <a:ext uri="{FF2B5EF4-FFF2-40B4-BE49-F238E27FC236}">
                <a16:creationId xmlns:a16="http://schemas.microsoft.com/office/drawing/2014/main" id="{D7B1846E-05A3-4060-9B53-464351F2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25584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信息系统支撑</a:t>
            </a:r>
          </a:p>
        </p:txBody>
      </p:sp>
      <p:sp>
        <p:nvSpPr>
          <p:cNvPr id="30" name="implementation-input-1-1">
            <a:extLst xmlns:a="http://schemas.openxmlformats.org/drawingml/2006/main">
              <a:ext uri="{FF2B5EF4-FFF2-40B4-BE49-F238E27FC236}">
                <a16:creationId xmlns:a16="http://schemas.microsoft.com/office/drawing/2014/main" id="{B0354B02-BA2F-46AD-8667-B2A8576C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762185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能力仍有差距</a:t>
            </a:r>
          </a:p>
        </p:txBody>
      </p:sp>
      <p:sp>
        <p:nvSpPr>
          <p:cNvPr id="31" name="implementation-input-2">
            <a:extLst xmlns:a="http://schemas.openxmlformats.org/drawingml/2006/main">
              <a:ext uri="{FF2B5EF4-FFF2-40B4-BE49-F238E27FC236}">
                <a16:creationId xmlns:a16="http://schemas.microsoft.com/office/drawing/2014/main" id="{EDDA9366-5051-4E42-9A60-F44A98D2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38435"/>
            <a:ext cx="2361184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32" name="implementation-input-accent-2">
            <a:extLst xmlns:a="http://schemas.openxmlformats.org/drawingml/2006/main">
              <a:ext uri="{FF2B5EF4-FFF2-40B4-BE49-F238E27FC236}">
                <a16:creationId xmlns:a16="http://schemas.microsoft.com/office/drawing/2014/main" id="{11349143-A1EE-4F61-B340-7CA2685C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9558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CA5"/>
          </a:solidFill>
          <a:ln xmlns:a="http://schemas.openxmlformats.org/drawingml/2006/main" w="0">
            <a:noFill/>
          </a:ln>
        </p:spPr>
      </p:sp>
      <p:sp>
        <p:nvSpPr>
          <p:cNvPr id="33" name="implementation-input-2-0">
            <a:extLst xmlns:a="http://schemas.openxmlformats.org/drawingml/2006/main">
              <a:ext uri="{FF2B5EF4-FFF2-40B4-BE49-F238E27FC236}">
                <a16:creationId xmlns:a16="http://schemas.microsoft.com/office/drawing/2014/main" id="{1D366D2D-D595-4005-AB4A-9E262C6D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8734"/>
            <a:ext cx="213258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缺乏市场化管理机制</a:t>
            </a:r>
          </a:p>
        </p:txBody>
      </p:sp>
      <p:sp>
        <p:nvSpPr>
          <p:cNvPr id="34" name="implementation-result">
            <a:extLst xmlns:a="http://schemas.openxmlformats.org/drawingml/2006/main">
              <a:ext uri="{FF2B5EF4-FFF2-40B4-BE49-F238E27FC236}">
                <a16:creationId xmlns:a16="http://schemas.microsoft.com/office/drawing/2014/main" id="{82ACCAE5-F293-40F2-8EC9-F7FF241F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364" y="3285935"/>
            <a:ext cx="1325154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35" name="implementation-result-0">
            <a:extLst xmlns:a="http://schemas.openxmlformats.org/drawingml/2006/main">
              <a:ext uri="{FF2B5EF4-FFF2-40B4-BE49-F238E27FC236}">
                <a16:creationId xmlns:a16="http://schemas.microsoft.com/office/drawing/2014/main" id="{50B59E16-1D58-4F2E-B4A6-CB8B7A15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664" y="3525584"/>
            <a:ext cx="109655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变革落地</a:t>
            </a:r>
          </a:p>
        </p:txBody>
      </p:sp>
      <p:sp>
        <p:nvSpPr>
          <p:cNvPr id="36" name="implementation-result-1">
            <a:extLst xmlns:a="http://schemas.openxmlformats.org/drawingml/2006/main">
              <a:ext uri="{FF2B5EF4-FFF2-40B4-BE49-F238E27FC236}">
                <a16:creationId xmlns:a16="http://schemas.microsoft.com/office/drawing/2014/main" id="{D05C5C5E-21DB-4A68-B4C3-803710A7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664" y="3762185"/>
            <a:ext cx="1096554" cy="236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阻力重重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E2F92D-3A24-4E82-B800-F10F9553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3376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38" name="compliance-number-0">
            <a:extLst xmlns:a="http://schemas.openxmlformats.org/drawingml/2006/main">
              <a:ext uri="{FF2B5EF4-FFF2-40B4-BE49-F238E27FC236}">
                <a16:creationId xmlns:a16="http://schemas.microsoft.com/office/drawing/2014/main" id="{471AFC2F-5D0B-4F19-802C-328AC23D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86160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9" name="compliance-label-0">
            <a:extLst xmlns:a="http://schemas.openxmlformats.org/drawingml/2006/main">
              <a:ext uri="{FF2B5EF4-FFF2-40B4-BE49-F238E27FC236}">
                <a16:creationId xmlns:a16="http://schemas.microsoft.com/office/drawing/2014/main" id="{8D526443-BB8A-40CA-961B-2409F964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76635"/>
            <a:ext cx="48187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合规管理短板亟待提升</a:t>
            </a:r>
          </a:p>
        </p:txBody>
      </p:sp>
      <p:sp>
        <p:nvSpPr>
          <p:cNvPr id="40" name="compliance-body-0">
            <a:extLst xmlns:a="http://schemas.openxmlformats.org/drawingml/2006/main">
              <a:ext uri="{FF2B5EF4-FFF2-40B4-BE49-F238E27FC236}">
                <a16:creationId xmlns:a16="http://schemas.microsoft.com/office/drawing/2014/main" id="{0164A525-8D8D-475C-91A7-F4385551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19344"/>
            <a:ext cx="48187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2017年巡视整改取得一定成效，也暴露人力条线基础管理</a:t>
            </a:r>
          </a:p>
        </p:txBody>
      </p:sp>
      <p:sp>
        <p:nvSpPr>
          <p:cNvPr id="41" name="compliance-body-1">
            <a:extLst xmlns:a="http://schemas.openxmlformats.org/drawingml/2006/main">
              <a:ext uri="{FF2B5EF4-FFF2-40B4-BE49-F238E27FC236}">
                <a16:creationId xmlns:a16="http://schemas.microsoft.com/office/drawing/2014/main" id="{73B79202-BEB7-4C5C-B4F4-3A868027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666994"/>
            <a:ext cx="48187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薄弱：认识待提升、作风待转变、能力待增强、协同待深化。</a:t>
            </a:r>
          </a:p>
        </p:txBody>
      </p:sp>
      <p:sp>
        <p:nvSpPr>
          <p:cNvPr id="42" name="insights-0">
            <a:extLst xmlns:a="http://schemas.openxmlformats.org/drawingml/2006/main">
              <a:ext uri="{FF2B5EF4-FFF2-40B4-BE49-F238E27FC236}">
                <a16:creationId xmlns:a16="http://schemas.microsoft.com/office/drawing/2014/main" id="{F3BED967-6AAF-4C24-ABC3-C632514D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581150"/>
            <a:ext cx="56778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四点感悟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CBDD88-BE21-4651-939F-3E533949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05000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44" name="language-number-0">
            <a:extLst xmlns:a="http://schemas.openxmlformats.org/drawingml/2006/main">
              <a:ext uri="{FF2B5EF4-FFF2-40B4-BE49-F238E27FC236}">
                <a16:creationId xmlns:a16="http://schemas.microsoft.com/office/drawing/2014/main" id="{F0D610C8-8CCE-400A-BC60-C69E3E9B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2047875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5" name="language-label-0">
            <a:extLst xmlns:a="http://schemas.openxmlformats.org/drawingml/2006/main">
              <a:ext uri="{FF2B5EF4-FFF2-40B4-BE49-F238E27FC236}">
                <a16:creationId xmlns:a16="http://schemas.microsoft.com/office/drawing/2014/main" id="{FE91EBE4-3581-4E1F-A323-AF36663F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2038350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统一语言，促进业务与人力协同</a:t>
            </a:r>
          </a:p>
        </p:txBody>
      </p:sp>
      <p:sp>
        <p:nvSpPr>
          <p:cNvPr id="46" name="language-body-0">
            <a:extLst xmlns:a="http://schemas.openxmlformats.org/drawingml/2006/main">
              <a:ext uri="{FF2B5EF4-FFF2-40B4-BE49-F238E27FC236}">
                <a16:creationId xmlns:a16="http://schemas.microsoft.com/office/drawing/2014/main" id="{C9C37EE6-C633-490E-8DE3-621FF6CC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2381060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沿BLM管理模型统一语言、目标、策略，贯通业务战略、</a:t>
            </a:r>
          </a:p>
        </p:txBody>
      </p:sp>
      <p:sp>
        <p:nvSpPr>
          <p:cNvPr id="47" name="language-body-1">
            <a:extLst xmlns:a="http://schemas.openxmlformats.org/drawingml/2006/main">
              <a:ext uri="{FF2B5EF4-FFF2-40B4-BE49-F238E27FC236}">
                <a16:creationId xmlns:a16="http://schemas.microsoft.com/office/drawing/2014/main" id="{C972FAC0-9312-488B-A485-CD28DB3B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2628710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人力战略规划与落地方案，达成“三个市场化”转型目标。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F022E0-035A-49AC-A7E4-A9587917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2990660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49" name="criterion-number-0">
            <a:extLst xmlns:a="http://schemas.openxmlformats.org/drawingml/2006/main">
              <a:ext uri="{FF2B5EF4-FFF2-40B4-BE49-F238E27FC236}">
                <a16:creationId xmlns:a16="http://schemas.microsoft.com/office/drawing/2014/main" id="{B795988D-0632-4C41-B5A1-E0AB29EC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143060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0" name="criterion-label-0">
            <a:extLst xmlns:a="http://schemas.openxmlformats.org/drawingml/2006/main">
              <a:ext uri="{FF2B5EF4-FFF2-40B4-BE49-F238E27FC236}">
                <a16:creationId xmlns:a16="http://schemas.microsoft.com/office/drawing/2014/main" id="{DD8BA8A8-FD4B-4141-9209-7F8980DF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3133535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解决实际问题是唯一检验标准</a:t>
            </a:r>
          </a:p>
        </p:txBody>
      </p:sp>
      <p:sp>
        <p:nvSpPr>
          <p:cNvPr id="51" name="criterion-body-0">
            <a:extLst xmlns:a="http://schemas.openxmlformats.org/drawingml/2006/main">
              <a:ext uri="{FF2B5EF4-FFF2-40B4-BE49-F238E27FC236}">
                <a16:creationId xmlns:a16="http://schemas.microsoft.com/office/drawing/2014/main" id="{E82B6D21-26B4-4FFB-BCF8-A4D0FED8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3476244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以能否解决实际问题检验变革成效，力求落地有实效。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5917CC-3CBF-49F8-B7A0-93819CE2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838194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53" name="iteration-number-0">
            <a:extLst xmlns:a="http://schemas.openxmlformats.org/drawingml/2006/main">
              <a:ext uri="{FF2B5EF4-FFF2-40B4-BE49-F238E27FC236}">
                <a16:creationId xmlns:a16="http://schemas.microsoft.com/office/drawing/2014/main" id="{6453E480-A887-4E28-828E-DBCFE811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990594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4" name="iteration-label-0">
            <a:extLst xmlns:a="http://schemas.openxmlformats.org/drawingml/2006/main">
              <a:ext uri="{FF2B5EF4-FFF2-40B4-BE49-F238E27FC236}">
                <a16:creationId xmlns:a16="http://schemas.microsoft.com/office/drawing/2014/main" id="{9CD598EA-27E9-45D1-A1F9-73531FC0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3981069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顶层设计持续迭代</a:t>
            </a:r>
          </a:p>
        </p:txBody>
      </p:sp>
      <p:sp>
        <p:nvSpPr>
          <p:cNvPr id="55" name="iteration-body-0">
            <a:extLst xmlns:a="http://schemas.openxmlformats.org/drawingml/2006/main">
              <a:ext uri="{FF2B5EF4-FFF2-40B4-BE49-F238E27FC236}">
                <a16:creationId xmlns:a16="http://schemas.microsoft.com/office/drawing/2014/main" id="{5F12C321-347E-4B1D-AC68-DA6B8771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4323779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加速试点、小步快跑；对标行业优秀</a:t>
            </a:r>
          </a:p>
        </p:txBody>
      </p:sp>
      <p:sp>
        <p:nvSpPr>
          <p:cNvPr id="56" name="iteration-body-1">
            <a:extLst xmlns:a="http://schemas.openxmlformats.org/drawingml/2006/main">
              <a:ext uri="{FF2B5EF4-FFF2-40B4-BE49-F238E27FC236}">
                <a16:creationId xmlns:a16="http://schemas.microsoft.com/office/drawing/2014/main" id="{BC37F794-2C11-46C5-BDE5-58C8A674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4571429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实践，结合落地成效持续优化体系。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BE262FC-4E71-4AA7-8AB8-480C6D37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4933379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5C5D7"/>
            </a:solidFill>
          </a:ln>
        </p:spPr>
      </p:sp>
      <p:sp>
        <p:nvSpPr>
          <p:cNvPr id="58" name="coordination-number-0">
            <a:extLst xmlns:a="http://schemas.openxmlformats.org/drawingml/2006/main">
              <a:ext uri="{FF2B5EF4-FFF2-40B4-BE49-F238E27FC236}">
                <a16:creationId xmlns:a16="http://schemas.microsoft.com/office/drawing/2014/main" id="{6E4C70C7-8022-4774-9520-68527A2B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5085779"/>
            <a:ext cx="276225" cy="184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9" name="coordination-label-0">
            <a:extLst xmlns:a="http://schemas.openxmlformats.org/drawingml/2006/main">
              <a:ext uri="{FF2B5EF4-FFF2-40B4-BE49-F238E27FC236}">
                <a16:creationId xmlns:a16="http://schemas.microsoft.com/office/drawing/2014/main" id="{E80E0D98-4988-4320-998B-8126FB4A9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5076254"/>
            <a:ext cx="53349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统筹变革、合规与作风</a:t>
            </a:r>
          </a:p>
        </p:txBody>
      </p:sp>
      <p:sp>
        <p:nvSpPr>
          <p:cNvPr id="60" name="coordination-body-0">
            <a:extLst xmlns:a="http://schemas.openxmlformats.org/drawingml/2006/main">
              <a:ext uri="{FF2B5EF4-FFF2-40B4-BE49-F238E27FC236}">
                <a16:creationId xmlns:a16="http://schemas.microsoft.com/office/drawing/2014/main" id="{8B94C8B5-1862-4A56-93DC-740DE0A3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5418963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变革是硬道理，合规是硬要求，作风是硬标准；以规范管理的</a:t>
            </a:r>
          </a:p>
        </p:txBody>
      </p:sp>
      <p:sp>
        <p:nvSpPr>
          <p:cNvPr id="61" name="coordination-body-1">
            <a:extLst xmlns:a="http://schemas.openxmlformats.org/drawingml/2006/main">
              <a:ext uri="{FF2B5EF4-FFF2-40B4-BE49-F238E27FC236}">
                <a16:creationId xmlns:a16="http://schemas.microsoft.com/office/drawing/2014/main" id="{4F8EE949-A3C0-4C51-8466-663A52AA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218" y="5666613"/>
            <a:ext cx="53349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效率强化转型力度，以优良的思想、工作和战斗作风加快转型。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2026-09-19T16:30:34.8610000Z</dcterms:created>
  <dcterms:modified xsi:type="dcterms:W3CDTF">2026-09-19T16:30:34.8610000Z</dcterms:modified>
</coreProperties>
</file>