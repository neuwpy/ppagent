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3994741d9614c3f" /><Relationship Type="http://schemas.openxmlformats.org/officeDocument/2006/relationships/extended-properties" Target="/docProps/app.xml" Id="R8ec65c3816cc42d3" /><Relationship Type="http://schemas.openxmlformats.org/officeDocument/2006/relationships/officeDocument" Target="/ppt/presentation.xml" Id="R963c644e6bcc4a8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3062c170e124265"/>
    <p:sldMasterId xmlns:r="http://schemas.openxmlformats.org/officeDocument/2006/relationships" id="2147483660" r:id="Rdfa94c8206bc47b0"/>
    <p:sldMasterId xmlns:r="http://schemas.openxmlformats.org/officeDocument/2006/relationships" id="2147483663" r:id="R1ccd33db186247ec"/>
  </p:sldMasterIdLst>
  <p:notesMasterIdLst>
    <p:notesMasterId xmlns:r="http://schemas.openxmlformats.org/officeDocument/2006/relationships" r:id="R3b236f8edd864cff"/>
  </p:notesMasterIdLst>
  <p:sldIdLst>
    <p:sldId xmlns:r="http://schemas.openxmlformats.org/officeDocument/2006/relationships" id="256" r:id="R50c9217c94e941b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3b5d6bf1f5f4d3f" /><Relationship Type="http://schemas.openxmlformats.org/officeDocument/2006/relationships/slideMaster" Target="/ppt/slideMasters/slideMaster1.xml" Id="Re3062c170e124265" /><Relationship Type="http://schemas.openxmlformats.org/officeDocument/2006/relationships/slideMaster" Target="/ppt/slideMasters/slideMaster2.xml" Id="Rdfa94c8206bc47b0" /><Relationship Type="http://schemas.openxmlformats.org/officeDocument/2006/relationships/slideMaster" Target="/ppt/slideMasters/slideMaster3.xml" Id="R1ccd33db186247ec" /><Relationship Type="http://schemas.openxmlformats.org/officeDocument/2006/relationships/notesMaster" Target="/ppt/notesMasters/notesMaster1.xml" Id="R3b236f8edd864cff" /><Relationship Type="http://schemas.openxmlformats.org/officeDocument/2006/relationships/presProps" Target="/ppt/presProps.xml" Id="Rbc227b471e584939" /><Relationship Type="http://schemas.openxmlformats.org/officeDocument/2006/relationships/viewProps" Target="/ppt/viewProps.xml" Id="Rcde3b7d0901843c9" /><Relationship Type="http://schemas.openxmlformats.org/officeDocument/2006/relationships/tableStyles" Target="/ppt/tableStyles.xml" Id="R1a4a655cffd148cc" /><Relationship Type="http://schemas.openxmlformats.org/officeDocument/2006/relationships/slide" Target="/ppt/slides/slide1.xml" Id="R50c9217c94e941b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4706d2894258469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7446912ad824d1a" /><Relationship Type="http://schemas.openxmlformats.org/officeDocument/2006/relationships/notesMaster" Target="/ppt/notesMasters/notesMaster1.xml" Id="R894abbe165ae457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Frozen gray input: experiments/home-gray-magazine-20260919/input/gray-state.json and gray.pptx</a:t>
            </a:r>
            <a:endParaRPr/>
          </a:p>
          <a:p xmlns:a="http://schemas.openxmlformats.org/drawingml/2006/main">
            <a:r>
              <a:t>- Source manuscript is retained in gray-state.json:sources.</a:t>
            </a:r>
            <a:endParaRPr/>
          </a:p>
          <a:p xmlns:a="http://schemas.openxmlformats.org/drawingml/2006/main">
            <a:r>
              <a:t>- Style: rules/排版体系/麦肯锡式.md and original Northeastern University template</a:t>
            </a:r>
            <a:endParaRPr/>
          </a:p>
          <a:p xmlns:a="http://schemas.openxmlformats.org/drawingml/2006/main">
            <a:r>
              <a:t>- Structure: convergence-many-to-one-003, task-local geometry adaptation from review.mjs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6006612eb94311" /><Relationship Type="http://schemas.openxmlformats.org/officeDocument/2006/relationships/image" Target="/ppt/media/image.jpeg" Id="Reb8278d093384e49" /><Relationship Type="http://schemas.openxmlformats.org/officeDocument/2006/relationships/image" Target="/ppt/media/image.png" Id="Rda8b22cfdca24460" /><Relationship Type="http://schemas.openxmlformats.org/officeDocument/2006/relationships/image" Target="/ppt/media/image2.png" Id="Rf68cb701af064fb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325c310bf3493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37508d46604463" /><Relationship Type="http://schemas.openxmlformats.org/officeDocument/2006/relationships/image" Target="/ppt/media/image3.png" Id="R6460fdc056a24d5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05198f40e14ab3" /><Relationship Type="http://schemas.openxmlformats.org/officeDocument/2006/relationships/image" Target="/ppt/media/image4.png" Id="Re8c04fa6c43945e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e1ca0858484f3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310250e95a43a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c15162f94f482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84d9f4a8a4480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1101c8728a464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3fa161e7e8489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4a4d9fdd4e4d6c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dc8215433bb435f" /><Relationship Type="http://schemas.openxmlformats.org/officeDocument/2006/relationships/image" Target="/ppt/media/image5.png" Id="R86d4bfbb319e4c8e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8ccb13af9614122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eb245752c4a54ec3" /><Relationship Type="http://schemas.openxmlformats.org/officeDocument/2006/relationships/image" Target="/ppt/media/image5.png" Id="R436744730dea49c3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27a3288156344d4c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8278d093384e49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8b22cfdca24460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8cb701af064fb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60fdc056a24d50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c04fa6c43945e7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d4bfbb319e4c8e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6744730dea49c3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2ada901cdce48a6" /><Relationship Type="http://schemas.openxmlformats.org/officeDocument/2006/relationships/slideLayout" Target="/ppt/slideLayouts/slideLayout1.xml" Id="R4b616615e333436c" /><Relationship Type="http://schemas.openxmlformats.org/officeDocument/2006/relationships/slideLayout" Target="/ppt/slideLayouts/slideLayout2.xml" Id="Re3f7490b83134e8a" /><Relationship Type="http://schemas.openxmlformats.org/officeDocument/2006/relationships/slideLayout" Target="/ppt/slideLayouts/slideLayout3.xml" Id="Rf37348cf40694af7" /><Relationship Type="http://schemas.openxmlformats.org/officeDocument/2006/relationships/slideLayout" Target="/ppt/slideLayouts/slideLayout4.xml" Id="R019513fc4f654d5a" /><Relationship Type="http://schemas.openxmlformats.org/officeDocument/2006/relationships/slideLayout" Target="/ppt/slideLayouts/slideLayout5.xml" Id="R46a156f713494da0" /><Relationship Type="http://schemas.openxmlformats.org/officeDocument/2006/relationships/slideLayout" Target="/ppt/slideLayouts/slideLayout6.xml" Id="R59ee8fe5dff64ac8" /><Relationship Type="http://schemas.openxmlformats.org/officeDocument/2006/relationships/slideLayout" Target="/ppt/slideLayouts/slideLayout7.xml" Id="R5fcf8a8b9e114fda" /><Relationship Type="http://schemas.openxmlformats.org/officeDocument/2006/relationships/slideLayout" Target="/ppt/slideLayouts/slideLayout8.xml" Id="R8222b8bdcec94bd7" /><Relationship Type="http://schemas.openxmlformats.org/officeDocument/2006/relationships/slideLayout" Target="/ppt/slideLayouts/slideLayout9.xml" Id="R1d1356de286d4dbb" /><Relationship Type="http://schemas.openxmlformats.org/officeDocument/2006/relationships/slideLayout" Target="/ppt/slideLayouts/slideLayout10.xml" Id="Rc1605b92ed854560" /><Relationship Type="http://schemas.openxmlformats.org/officeDocument/2006/relationships/slideLayout" Target="/ppt/slideLayouts/slideLayout11.xml" Id="Rf8642e1d36634d68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03e2c62387e04143" /><Relationship Type="http://schemas.openxmlformats.org/officeDocument/2006/relationships/slideLayout" Target="/ppt/slideLayouts/slideLayout12.xml" Id="R880f21521cc2432a" /><Relationship Type="http://schemas.openxmlformats.org/officeDocument/2006/relationships/slideLayout" Target="/ppt/slideLayouts/slideLayout13.xml" Id="R297ed2b99a4a4c1d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571a844652aa4683" /><Relationship Type="http://schemas.openxmlformats.org/officeDocument/2006/relationships/slideLayout" Target="/ppt/slideLayouts/slideLayout14.xml" Id="R976b9782cded462b" /><Relationship Type="http://schemas.openxmlformats.org/officeDocument/2006/relationships/slideLayout" Target="/ppt/slideLayouts/slideLayout15.xml" Id="R7bb149d43400480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b616615e333436c"/>
    <p:sldLayoutId xmlns:r="http://schemas.openxmlformats.org/officeDocument/2006/relationships" id="2147483650" r:id="Re3f7490b83134e8a"/>
    <p:sldLayoutId xmlns:r="http://schemas.openxmlformats.org/officeDocument/2006/relationships" id="2147483651" r:id="Rf37348cf40694af7"/>
    <p:sldLayoutId xmlns:r="http://schemas.openxmlformats.org/officeDocument/2006/relationships" id="2147483652" r:id="R019513fc4f654d5a"/>
    <p:sldLayoutId xmlns:r="http://schemas.openxmlformats.org/officeDocument/2006/relationships" id="2147483653" r:id="R46a156f713494da0"/>
    <p:sldLayoutId xmlns:r="http://schemas.openxmlformats.org/officeDocument/2006/relationships" id="2147483654" r:id="R59ee8fe5dff64ac8"/>
    <p:sldLayoutId xmlns:r="http://schemas.openxmlformats.org/officeDocument/2006/relationships" id="2147483655" r:id="R5fcf8a8b9e114fda"/>
    <p:sldLayoutId xmlns:r="http://schemas.openxmlformats.org/officeDocument/2006/relationships" id="2147483656" r:id="R8222b8bdcec94bd7"/>
    <p:sldLayoutId xmlns:r="http://schemas.openxmlformats.org/officeDocument/2006/relationships" id="2147483657" r:id="R1d1356de286d4dbb"/>
    <p:sldLayoutId xmlns:r="http://schemas.openxmlformats.org/officeDocument/2006/relationships" id="2147483658" r:id="Rc1605b92ed854560"/>
    <p:sldLayoutId xmlns:r="http://schemas.openxmlformats.org/officeDocument/2006/relationships" id="2147483659" r:id="Rf8642e1d36634d68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880f21521cc2432a"/>
    <p:sldLayoutId xmlns:r="http://schemas.openxmlformats.org/officeDocument/2006/relationships" id="2147483662" r:id="R297ed2b99a4a4c1d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976b9782cded462b"/>
    <p:sldLayoutId xmlns:r="http://schemas.openxmlformats.org/officeDocument/2006/relationships" id="2147483665" r:id="R7bb149d434004809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b03e7610e3447ff" /><Relationship Type="http://schemas.openxmlformats.org/officeDocument/2006/relationships/notesSlide" Target="/ppt/notesSlides/notesSlide1.xml" Id="R032b0071621d43d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变革落地仍存三项短板，合规基础管理亦待压实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不足感悟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issues-0">
            <a:extLst xmlns:a="http://schemas.openxmlformats.org/drawingml/2006/main">
              <a:ext uri="{FF2B5EF4-FFF2-40B4-BE49-F238E27FC236}">
                <a16:creationId xmlns:a16="http://schemas.microsoft.com/office/drawing/2014/main" id="{675B8542-D470-4EF8-9F39-FB1D0B196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5161643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两点不足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ED3CD7-31E4-4145-A26E-CFAFB0C4E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05000"/>
            <a:ext cx="516164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5C5D7"/>
            </a:solidFill>
          </a:ln>
        </p:spPr>
      </p:sp>
      <p:sp>
        <p:nvSpPr>
          <p:cNvPr id="17" name="implementation-number-0">
            <a:extLst xmlns:a="http://schemas.openxmlformats.org/drawingml/2006/main">
              <a:ext uri="{FF2B5EF4-FFF2-40B4-BE49-F238E27FC236}">
                <a16:creationId xmlns:a16="http://schemas.microsoft.com/office/drawing/2014/main" id="{F7DEEE52-5905-45B6-92B9-103FA6261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47875"/>
            <a:ext cx="276225" cy="184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8" name="implementation-label-0">
            <a:extLst xmlns:a="http://schemas.openxmlformats.org/drawingml/2006/main">
              <a:ext uri="{FF2B5EF4-FFF2-40B4-BE49-F238E27FC236}">
                <a16:creationId xmlns:a16="http://schemas.microsoft.com/office/drawing/2014/main" id="{51F1A40B-E379-45F2-9706-10DF71332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038350"/>
            <a:ext cx="4818743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变革落地阻力重重</a:t>
            </a:r>
          </a:p>
        </p:txBody>
      </p:sp>
      <p:sp>
        <p:nvSpPr>
          <p:cNvPr id="19" name="implementation-context-0">
            <a:extLst xmlns:a="http://schemas.openxmlformats.org/drawingml/2006/main">
              <a:ext uri="{FF2B5EF4-FFF2-40B4-BE49-F238E27FC236}">
                <a16:creationId xmlns:a16="http://schemas.microsoft.com/office/drawing/2014/main" id="{4D62755C-A50C-4680-B8DF-BF1400D79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381060"/>
            <a:ext cx="481874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顶层设计已完成</a:t>
            </a:r>
          </a:p>
        </p:txBody>
      </p:sp>
      <p:sp>
        <p:nvSpPr>
          <p:cNvPr id="20" name="implementation-lane-0">
            <a:extLst xmlns:a="http://schemas.openxmlformats.org/drawingml/2006/main">
              <a:ext uri="{FF2B5EF4-FFF2-40B4-BE49-F238E27FC236}">
                <a16:creationId xmlns:a16="http://schemas.microsoft.com/office/drawing/2014/main" id="{20A97B5E-1BEC-4409-88C4-40A5480E9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7959" y="3057335"/>
            <a:ext cx="1132405" cy="704850"/>
          </a:xfrm>
          <a:custGeom xmlns:a="http://schemas.openxmlformats.org/drawingml/2006/main">
            <a:pathLst>
              <a:path w="1132405" h="704850">
                <a:moveTo>
                  <a:pt x="0" y="0"/>
                </a:moveTo>
                <a:lnTo>
                  <a:pt x="28135" y="905"/>
                </a:lnTo>
                <a:lnTo>
                  <a:pt x="55926" y="3569"/>
                </a:lnTo>
                <a:lnTo>
                  <a:pt x="83382" y="7916"/>
                </a:lnTo>
                <a:lnTo>
                  <a:pt x="110514" y="13869"/>
                </a:lnTo>
                <a:lnTo>
                  <a:pt x="137332" y="21351"/>
                </a:lnTo>
                <a:lnTo>
                  <a:pt x="163845" y="30287"/>
                </a:lnTo>
                <a:lnTo>
                  <a:pt x="190063" y="40599"/>
                </a:lnTo>
                <a:lnTo>
                  <a:pt x="215996" y="52211"/>
                </a:lnTo>
                <a:lnTo>
                  <a:pt x="241653" y="65047"/>
                </a:lnTo>
                <a:lnTo>
                  <a:pt x="267046" y="79030"/>
                </a:lnTo>
                <a:lnTo>
                  <a:pt x="292182" y="94085"/>
                </a:lnTo>
                <a:lnTo>
                  <a:pt x="317073" y="110133"/>
                </a:lnTo>
                <a:lnTo>
                  <a:pt x="341728" y="127099"/>
                </a:lnTo>
                <a:lnTo>
                  <a:pt x="366157" y="144906"/>
                </a:lnTo>
                <a:lnTo>
                  <a:pt x="390370" y="163478"/>
                </a:lnTo>
                <a:lnTo>
                  <a:pt x="414376" y="182739"/>
                </a:lnTo>
                <a:lnTo>
                  <a:pt x="438186" y="202611"/>
                </a:lnTo>
                <a:lnTo>
                  <a:pt x="461809" y="223019"/>
                </a:lnTo>
                <a:lnTo>
                  <a:pt x="485255" y="243886"/>
                </a:lnTo>
                <a:lnTo>
                  <a:pt x="508534" y="265135"/>
                </a:lnTo>
                <a:lnTo>
                  <a:pt x="531655" y="286689"/>
                </a:lnTo>
                <a:lnTo>
                  <a:pt x="554629" y="308474"/>
                </a:lnTo>
                <a:lnTo>
                  <a:pt x="577466" y="330411"/>
                </a:lnTo>
                <a:lnTo>
                  <a:pt x="600174" y="352425"/>
                </a:lnTo>
                <a:lnTo>
                  <a:pt x="622765" y="374439"/>
                </a:lnTo>
                <a:lnTo>
                  <a:pt x="645248" y="396376"/>
                </a:lnTo>
                <a:lnTo>
                  <a:pt x="667632" y="418161"/>
                </a:lnTo>
                <a:lnTo>
                  <a:pt x="689928" y="439715"/>
                </a:lnTo>
                <a:lnTo>
                  <a:pt x="712145" y="460964"/>
                </a:lnTo>
                <a:lnTo>
                  <a:pt x="734294" y="481831"/>
                </a:lnTo>
                <a:lnTo>
                  <a:pt x="756383" y="502239"/>
                </a:lnTo>
                <a:lnTo>
                  <a:pt x="778423" y="522111"/>
                </a:lnTo>
                <a:lnTo>
                  <a:pt x="800424" y="541372"/>
                </a:lnTo>
                <a:lnTo>
                  <a:pt x="822396" y="559944"/>
                </a:lnTo>
                <a:lnTo>
                  <a:pt x="844348" y="577751"/>
                </a:lnTo>
                <a:lnTo>
                  <a:pt x="866289" y="594717"/>
                </a:lnTo>
                <a:lnTo>
                  <a:pt x="888231" y="610765"/>
                </a:lnTo>
                <a:lnTo>
                  <a:pt x="910183" y="625820"/>
                </a:lnTo>
                <a:lnTo>
                  <a:pt x="932155" y="639803"/>
                </a:lnTo>
                <a:lnTo>
                  <a:pt x="954156" y="652639"/>
                </a:lnTo>
                <a:lnTo>
                  <a:pt x="976196" y="664251"/>
                </a:lnTo>
                <a:lnTo>
                  <a:pt x="998285" y="674563"/>
                </a:lnTo>
                <a:lnTo>
                  <a:pt x="1020434" y="683499"/>
                </a:lnTo>
                <a:lnTo>
                  <a:pt x="1042651" y="690981"/>
                </a:lnTo>
                <a:lnTo>
                  <a:pt x="1064947" y="696934"/>
                </a:lnTo>
                <a:lnTo>
                  <a:pt x="1087331" y="701281"/>
                </a:lnTo>
                <a:lnTo>
                  <a:pt x="1109814" y="703945"/>
                </a:lnTo>
                <a:lnTo>
                  <a:pt x="1132405" y="704850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B7C7D9"/>
            </a:solidFill>
          </a:ln>
        </p:spPr>
      </p:sp>
      <p:sp>
        <p:nvSpPr>
          <p:cNvPr id="21" name="implementation-lane-1">
            <a:extLst xmlns:a="http://schemas.openxmlformats.org/drawingml/2006/main">
              <a:ext uri="{FF2B5EF4-FFF2-40B4-BE49-F238E27FC236}">
                <a16:creationId xmlns:a16="http://schemas.microsoft.com/office/drawing/2014/main" id="{5F27E949-B5CC-45DD-983D-B33B8123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7959" y="3762185"/>
            <a:ext cx="1132405" cy="9525"/>
          </a:xfrm>
          <a:custGeom xmlns:a="http://schemas.openxmlformats.org/drawingml/2006/main">
            <a:pathLst>
              <a:path w="1132405" h="9525">
                <a:moveTo>
                  <a:pt x="0" y="0"/>
                </a:moveTo>
                <a:lnTo>
                  <a:pt x="28135" y="0"/>
                </a:lnTo>
                <a:lnTo>
                  <a:pt x="55926" y="0"/>
                </a:lnTo>
                <a:lnTo>
                  <a:pt x="83382" y="0"/>
                </a:lnTo>
                <a:lnTo>
                  <a:pt x="110514" y="0"/>
                </a:lnTo>
                <a:lnTo>
                  <a:pt x="137332" y="0"/>
                </a:lnTo>
                <a:lnTo>
                  <a:pt x="163845" y="0"/>
                </a:lnTo>
                <a:lnTo>
                  <a:pt x="190063" y="0"/>
                </a:lnTo>
                <a:lnTo>
                  <a:pt x="215996" y="0"/>
                </a:lnTo>
                <a:lnTo>
                  <a:pt x="241653" y="0"/>
                </a:lnTo>
                <a:lnTo>
                  <a:pt x="267046" y="0"/>
                </a:lnTo>
                <a:lnTo>
                  <a:pt x="292182" y="0"/>
                </a:lnTo>
                <a:lnTo>
                  <a:pt x="317073" y="0"/>
                </a:lnTo>
                <a:lnTo>
                  <a:pt x="341728" y="0"/>
                </a:lnTo>
                <a:lnTo>
                  <a:pt x="366157" y="0"/>
                </a:lnTo>
                <a:lnTo>
                  <a:pt x="390370" y="0"/>
                </a:lnTo>
                <a:lnTo>
                  <a:pt x="414376" y="0"/>
                </a:lnTo>
                <a:lnTo>
                  <a:pt x="438186" y="0"/>
                </a:lnTo>
                <a:lnTo>
                  <a:pt x="461809" y="0"/>
                </a:lnTo>
                <a:lnTo>
                  <a:pt x="485255" y="0"/>
                </a:lnTo>
                <a:lnTo>
                  <a:pt x="508534" y="0"/>
                </a:lnTo>
                <a:lnTo>
                  <a:pt x="531655" y="0"/>
                </a:lnTo>
                <a:lnTo>
                  <a:pt x="554629" y="0"/>
                </a:lnTo>
                <a:lnTo>
                  <a:pt x="577466" y="0"/>
                </a:lnTo>
                <a:lnTo>
                  <a:pt x="600174" y="0"/>
                </a:lnTo>
                <a:lnTo>
                  <a:pt x="622765" y="0"/>
                </a:lnTo>
                <a:lnTo>
                  <a:pt x="645248" y="0"/>
                </a:lnTo>
                <a:lnTo>
                  <a:pt x="667632" y="0"/>
                </a:lnTo>
                <a:lnTo>
                  <a:pt x="689928" y="0"/>
                </a:lnTo>
                <a:lnTo>
                  <a:pt x="712145" y="0"/>
                </a:lnTo>
                <a:lnTo>
                  <a:pt x="734294" y="0"/>
                </a:lnTo>
                <a:lnTo>
                  <a:pt x="756383" y="0"/>
                </a:lnTo>
                <a:lnTo>
                  <a:pt x="778423" y="0"/>
                </a:lnTo>
                <a:lnTo>
                  <a:pt x="800424" y="0"/>
                </a:lnTo>
                <a:lnTo>
                  <a:pt x="822396" y="0"/>
                </a:lnTo>
                <a:lnTo>
                  <a:pt x="844348" y="0"/>
                </a:lnTo>
                <a:lnTo>
                  <a:pt x="866289" y="0"/>
                </a:lnTo>
                <a:lnTo>
                  <a:pt x="888231" y="0"/>
                </a:lnTo>
                <a:lnTo>
                  <a:pt x="910183" y="0"/>
                </a:lnTo>
                <a:lnTo>
                  <a:pt x="932155" y="0"/>
                </a:lnTo>
                <a:lnTo>
                  <a:pt x="954156" y="0"/>
                </a:lnTo>
                <a:lnTo>
                  <a:pt x="976196" y="0"/>
                </a:lnTo>
                <a:lnTo>
                  <a:pt x="998285" y="0"/>
                </a:lnTo>
                <a:lnTo>
                  <a:pt x="1020434" y="0"/>
                </a:lnTo>
                <a:lnTo>
                  <a:pt x="1042651" y="0"/>
                </a:lnTo>
                <a:lnTo>
                  <a:pt x="1064947" y="0"/>
                </a:lnTo>
                <a:lnTo>
                  <a:pt x="1087331" y="0"/>
                </a:lnTo>
                <a:lnTo>
                  <a:pt x="1109814" y="0"/>
                </a:lnTo>
                <a:lnTo>
                  <a:pt x="11324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7795B6"/>
            </a:solidFill>
          </a:ln>
        </p:spPr>
      </p:sp>
      <p:sp>
        <p:nvSpPr>
          <p:cNvPr id="22" name="implementation-lane-2">
            <a:extLst xmlns:a="http://schemas.openxmlformats.org/drawingml/2006/main">
              <a:ext uri="{FF2B5EF4-FFF2-40B4-BE49-F238E27FC236}">
                <a16:creationId xmlns:a16="http://schemas.microsoft.com/office/drawing/2014/main" id="{463238C6-15F2-4327-8DB5-7DB3F3D6D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7959" y="3762185"/>
            <a:ext cx="1132405" cy="704850"/>
          </a:xfrm>
          <a:custGeom xmlns:a="http://schemas.openxmlformats.org/drawingml/2006/main">
            <a:pathLst>
              <a:path w="1132405" h="704850">
                <a:moveTo>
                  <a:pt x="0" y="704850"/>
                </a:moveTo>
                <a:lnTo>
                  <a:pt x="28135" y="703945"/>
                </a:lnTo>
                <a:lnTo>
                  <a:pt x="55926" y="701281"/>
                </a:lnTo>
                <a:lnTo>
                  <a:pt x="83382" y="696934"/>
                </a:lnTo>
                <a:lnTo>
                  <a:pt x="110514" y="690981"/>
                </a:lnTo>
                <a:lnTo>
                  <a:pt x="137332" y="683499"/>
                </a:lnTo>
                <a:lnTo>
                  <a:pt x="163845" y="674563"/>
                </a:lnTo>
                <a:lnTo>
                  <a:pt x="190063" y="664251"/>
                </a:lnTo>
                <a:lnTo>
                  <a:pt x="215996" y="652639"/>
                </a:lnTo>
                <a:lnTo>
                  <a:pt x="241653" y="639803"/>
                </a:lnTo>
                <a:lnTo>
                  <a:pt x="267046" y="625820"/>
                </a:lnTo>
                <a:lnTo>
                  <a:pt x="292182" y="610765"/>
                </a:lnTo>
                <a:lnTo>
                  <a:pt x="317073" y="594717"/>
                </a:lnTo>
                <a:lnTo>
                  <a:pt x="341728" y="577751"/>
                </a:lnTo>
                <a:lnTo>
                  <a:pt x="366157" y="559944"/>
                </a:lnTo>
                <a:lnTo>
                  <a:pt x="390370" y="541372"/>
                </a:lnTo>
                <a:lnTo>
                  <a:pt x="414376" y="522111"/>
                </a:lnTo>
                <a:lnTo>
                  <a:pt x="438186" y="502239"/>
                </a:lnTo>
                <a:lnTo>
                  <a:pt x="461809" y="481831"/>
                </a:lnTo>
                <a:lnTo>
                  <a:pt x="485255" y="460964"/>
                </a:lnTo>
                <a:lnTo>
                  <a:pt x="508534" y="439715"/>
                </a:lnTo>
                <a:lnTo>
                  <a:pt x="531655" y="418161"/>
                </a:lnTo>
                <a:lnTo>
                  <a:pt x="554629" y="396376"/>
                </a:lnTo>
                <a:lnTo>
                  <a:pt x="577466" y="374439"/>
                </a:lnTo>
                <a:lnTo>
                  <a:pt x="600174" y="352425"/>
                </a:lnTo>
                <a:lnTo>
                  <a:pt x="622765" y="330411"/>
                </a:lnTo>
                <a:lnTo>
                  <a:pt x="645248" y="308474"/>
                </a:lnTo>
                <a:lnTo>
                  <a:pt x="667632" y="286689"/>
                </a:lnTo>
                <a:lnTo>
                  <a:pt x="689928" y="265135"/>
                </a:lnTo>
                <a:lnTo>
                  <a:pt x="712145" y="243886"/>
                </a:lnTo>
                <a:lnTo>
                  <a:pt x="734294" y="223019"/>
                </a:lnTo>
                <a:lnTo>
                  <a:pt x="756383" y="202611"/>
                </a:lnTo>
                <a:lnTo>
                  <a:pt x="778423" y="182739"/>
                </a:lnTo>
                <a:lnTo>
                  <a:pt x="800424" y="163478"/>
                </a:lnTo>
                <a:lnTo>
                  <a:pt x="822396" y="144906"/>
                </a:lnTo>
                <a:lnTo>
                  <a:pt x="844348" y="127099"/>
                </a:lnTo>
                <a:lnTo>
                  <a:pt x="866289" y="110133"/>
                </a:lnTo>
                <a:lnTo>
                  <a:pt x="888231" y="94085"/>
                </a:lnTo>
                <a:lnTo>
                  <a:pt x="910183" y="79030"/>
                </a:lnTo>
                <a:lnTo>
                  <a:pt x="932155" y="65047"/>
                </a:lnTo>
                <a:lnTo>
                  <a:pt x="954156" y="52211"/>
                </a:lnTo>
                <a:lnTo>
                  <a:pt x="976196" y="40599"/>
                </a:lnTo>
                <a:lnTo>
                  <a:pt x="998285" y="30287"/>
                </a:lnTo>
                <a:lnTo>
                  <a:pt x="1020434" y="21351"/>
                </a:lnTo>
                <a:lnTo>
                  <a:pt x="1042651" y="13869"/>
                </a:lnTo>
                <a:lnTo>
                  <a:pt x="1064947" y="7916"/>
                </a:lnTo>
                <a:lnTo>
                  <a:pt x="1087331" y="3569"/>
                </a:lnTo>
                <a:lnTo>
                  <a:pt x="1109814" y="905"/>
                </a:lnTo>
                <a:lnTo>
                  <a:pt x="11324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567CA5"/>
            </a:solidFill>
          </a:ln>
        </p:spPr>
      </p:sp>
      <p:sp>
        <p:nvSpPr>
          <p:cNvPr id="23" name="implementation-input-0">
            <a:extLst xmlns:a="http://schemas.openxmlformats.org/drawingml/2006/main">
              <a:ext uri="{FF2B5EF4-FFF2-40B4-BE49-F238E27FC236}">
                <a16:creationId xmlns:a16="http://schemas.microsoft.com/office/drawing/2014/main" id="{78AF47DD-2DD6-4CF2-9404-44A86F65E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744534"/>
            <a:ext cx="2361184" cy="625602"/>
          </a:xfrm>
          <a:prstGeom xmlns:a="http://schemas.openxmlformats.org/drawingml/2006/main" prst="roundRect">
            <a:avLst>
              <a:gd name="adj" fmla="val 91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C5D7"/>
            </a:solidFill>
          </a:ln>
        </p:spPr>
      </p:sp>
      <p:sp>
        <p:nvSpPr>
          <p:cNvPr id="24" name="implementation-input-accent-0">
            <a:extLst xmlns:a="http://schemas.openxmlformats.org/drawingml/2006/main">
              <a:ext uri="{FF2B5EF4-FFF2-40B4-BE49-F238E27FC236}">
                <a16:creationId xmlns:a16="http://schemas.microsoft.com/office/drawing/2014/main" id="{00879EE1-487B-4A0E-9E4A-AD90FDE22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801684"/>
            <a:ext cx="47625" cy="511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9"/>
          </a:solidFill>
          <a:ln xmlns:a="http://schemas.openxmlformats.org/drawingml/2006/main" w="0">
            <a:noFill/>
          </a:ln>
        </p:spPr>
      </p:sp>
      <p:sp>
        <p:nvSpPr>
          <p:cNvPr id="25" name="implementation-input-0-0">
            <a:extLst xmlns:a="http://schemas.openxmlformats.org/drawingml/2006/main">
              <a:ext uri="{FF2B5EF4-FFF2-40B4-BE49-F238E27FC236}">
                <a16:creationId xmlns:a16="http://schemas.microsoft.com/office/drawing/2014/main" id="{C8F398C7-286E-4557-89D4-35CB4DE3F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820734"/>
            <a:ext cx="2132584" cy="2366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公司内部人力资源</a:t>
            </a:r>
          </a:p>
        </p:txBody>
      </p:sp>
      <p:sp>
        <p:nvSpPr>
          <p:cNvPr id="26" name="implementation-input-0-1">
            <a:extLst xmlns:a="http://schemas.openxmlformats.org/drawingml/2006/main">
              <a:ext uri="{FF2B5EF4-FFF2-40B4-BE49-F238E27FC236}">
                <a16:creationId xmlns:a16="http://schemas.microsoft.com/office/drawing/2014/main" id="{150B7110-47E9-44B2-9755-C79781107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057335"/>
            <a:ext cx="2132584" cy="2366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变革氛围尚未完全形成</a:t>
            </a:r>
          </a:p>
        </p:txBody>
      </p:sp>
      <p:sp>
        <p:nvSpPr>
          <p:cNvPr id="27" name="implementation-input-1">
            <a:extLst xmlns:a="http://schemas.openxmlformats.org/drawingml/2006/main">
              <a:ext uri="{FF2B5EF4-FFF2-40B4-BE49-F238E27FC236}">
                <a16:creationId xmlns:a16="http://schemas.microsoft.com/office/drawing/2014/main" id="{B1D4309F-49FF-4684-BCA9-110E71113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449384"/>
            <a:ext cx="2361184" cy="625602"/>
          </a:xfrm>
          <a:prstGeom xmlns:a="http://schemas.openxmlformats.org/drawingml/2006/main" prst="roundRect">
            <a:avLst>
              <a:gd name="adj" fmla="val 91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C5D7"/>
            </a:solidFill>
          </a:ln>
        </p:spPr>
      </p:sp>
      <p:sp>
        <p:nvSpPr>
          <p:cNvPr id="28" name="implementation-input-accent-1">
            <a:extLst xmlns:a="http://schemas.openxmlformats.org/drawingml/2006/main">
              <a:ext uri="{FF2B5EF4-FFF2-40B4-BE49-F238E27FC236}">
                <a16:creationId xmlns:a16="http://schemas.microsoft.com/office/drawing/2014/main" id="{1326B164-A45B-41A1-9701-2FE030442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506534"/>
            <a:ext cx="47625" cy="511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95B6"/>
          </a:solidFill>
          <a:ln xmlns:a="http://schemas.openxmlformats.org/drawingml/2006/main" w="0">
            <a:noFill/>
          </a:ln>
        </p:spPr>
      </p:sp>
      <p:sp>
        <p:nvSpPr>
          <p:cNvPr id="29" name="implementation-input-1-0">
            <a:extLst xmlns:a="http://schemas.openxmlformats.org/drawingml/2006/main">
              <a:ext uri="{FF2B5EF4-FFF2-40B4-BE49-F238E27FC236}">
                <a16:creationId xmlns:a16="http://schemas.microsoft.com/office/drawing/2014/main" id="{9EBF4DD0-AFC6-42CE-A74A-6BB78FEE1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525584"/>
            <a:ext cx="2132584" cy="2366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信息系统支撑</a:t>
            </a:r>
          </a:p>
        </p:txBody>
      </p:sp>
      <p:sp>
        <p:nvSpPr>
          <p:cNvPr id="30" name="implementation-input-1-1">
            <a:extLst xmlns:a="http://schemas.openxmlformats.org/drawingml/2006/main">
              <a:ext uri="{FF2B5EF4-FFF2-40B4-BE49-F238E27FC236}">
                <a16:creationId xmlns:a16="http://schemas.microsoft.com/office/drawing/2014/main" id="{370A8AB6-9DA1-472F-84A6-86572D6EF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762185"/>
            <a:ext cx="2132584" cy="2366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能力仍有差距</a:t>
            </a:r>
          </a:p>
        </p:txBody>
      </p:sp>
      <p:sp>
        <p:nvSpPr>
          <p:cNvPr id="31" name="implementation-input-2">
            <a:extLst xmlns:a="http://schemas.openxmlformats.org/drawingml/2006/main">
              <a:ext uri="{FF2B5EF4-FFF2-40B4-BE49-F238E27FC236}">
                <a16:creationId xmlns:a16="http://schemas.microsoft.com/office/drawing/2014/main" id="{57502D67-C364-4ED9-9D31-7DB8E2C4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238435"/>
            <a:ext cx="2361184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C5D7"/>
            </a:solidFill>
          </a:ln>
        </p:spPr>
      </p:sp>
      <p:sp>
        <p:nvSpPr>
          <p:cNvPr id="32" name="implementation-input-accent-2">
            <a:extLst xmlns:a="http://schemas.openxmlformats.org/drawingml/2006/main">
              <a:ext uri="{FF2B5EF4-FFF2-40B4-BE49-F238E27FC236}">
                <a16:creationId xmlns:a16="http://schemas.microsoft.com/office/drawing/2014/main" id="{6A769AFB-637E-4BDF-9113-C89EE2881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295585"/>
            <a:ext cx="47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7CA5"/>
          </a:solidFill>
          <a:ln xmlns:a="http://schemas.openxmlformats.org/drawingml/2006/main" w="0">
            <a:noFill/>
          </a:ln>
        </p:spPr>
      </p:sp>
      <p:sp>
        <p:nvSpPr>
          <p:cNvPr id="33" name="implementation-input-2-0">
            <a:extLst xmlns:a="http://schemas.openxmlformats.org/drawingml/2006/main">
              <a:ext uri="{FF2B5EF4-FFF2-40B4-BE49-F238E27FC236}">
                <a16:creationId xmlns:a16="http://schemas.microsoft.com/office/drawing/2014/main" id="{ABB068F8-95F2-4FEC-AF7B-A53D665C2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348734"/>
            <a:ext cx="2132584" cy="2366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缺乏市场化管理机制</a:t>
            </a:r>
          </a:p>
        </p:txBody>
      </p:sp>
      <p:sp>
        <p:nvSpPr>
          <p:cNvPr id="34" name="implementation-result">
            <a:extLst xmlns:a="http://schemas.openxmlformats.org/drawingml/2006/main">
              <a:ext uri="{FF2B5EF4-FFF2-40B4-BE49-F238E27FC236}">
                <a16:creationId xmlns:a16="http://schemas.microsoft.com/office/drawing/2014/main" id="{9C911B94-8421-41FC-BB38-8FD34D5B2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364" y="3285935"/>
            <a:ext cx="1325154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B5C5D7"/>
            </a:solidFill>
          </a:ln>
        </p:spPr>
      </p:sp>
      <p:sp>
        <p:nvSpPr>
          <p:cNvPr id="35" name="implementation-result-0">
            <a:extLst xmlns:a="http://schemas.openxmlformats.org/drawingml/2006/main">
              <a:ext uri="{FF2B5EF4-FFF2-40B4-BE49-F238E27FC236}">
                <a16:creationId xmlns:a16="http://schemas.microsoft.com/office/drawing/2014/main" id="{8EC2A7F6-05BA-44B6-B077-57495707C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4664" y="3525584"/>
            <a:ext cx="1096554" cy="2366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变革落地</a:t>
            </a:r>
          </a:p>
        </p:txBody>
      </p:sp>
      <p:sp>
        <p:nvSpPr>
          <p:cNvPr id="36" name="implementation-result-1">
            <a:extLst xmlns:a="http://schemas.openxmlformats.org/drawingml/2006/main">
              <a:ext uri="{FF2B5EF4-FFF2-40B4-BE49-F238E27FC236}">
                <a16:creationId xmlns:a16="http://schemas.microsoft.com/office/drawing/2014/main" id="{4F86BEBA-4187-49E9-936A-C17B4F008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4664" y="3762185"/>
            <a:ext cx="1096554" cy="2366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阻力重重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E4DB4F7-2A4C-4414-8AAA-9768EB9F0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933760"/>
            <a:ext cx="516164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5C5D7"/>
            </a:solidFill>
          </a:ln>
        </p:spPr>
      </p:sp>
      <p:sp>
        <p:nvSpPr>
          <p:cNvPr id="38" name="compliance-number-0">
            <a:extLst xmlns:a="http://schemas.openxmlformats.org/drawingml/2006/main">
              <a:ext uri="{FF2B5EF4-FFF2-40B4-BE49-F238E27FC236}">
                <a16:creationId xmlns:a16="http://schemas.microsoft.com/office/drawing/2014/main" id="{315425DC-661B-4D33-B3F3-DCF0051B8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086160"/>
            <a:ext cx="276225" cy="184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9" name="compliance-label-0">
            <a:extLst xmlns:a="http://schemas.openxmlformats.org/drawingml/2006/main">
              <a:ext uri="{FF2B5EF4-FFF2-40B4-BE49-F238E27FC236}">
                <a16:creationId xmlns:a16="http://schemas.microsoft.com/office/drawing/2014/main" id="{442C8A92-77CE-4D9D-81F2-2799BD99A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076635"/>
            <a:ext cx="4818743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合规管理短板亟待提升</a:t>
            </a:r>
          </a:p>
        </p:txBody>
      </p:sp>
      <p:sp>
        <p:nvSpPr>
          <p:cNvPr id="40" name="compliance-body-0">
            <a:extLst xmlns:a="http://schemas.openxmlformats.org/drawingml/2006/main">
              <a:ext uri="{FF2B5EF4-FFF2-40B4-BE49-F238E27FC236}">
                <a16:creationId xmlns:a16="http://schemas.microsoft.com/office/drawing/2014/main" id="{381075C0-8050-4586-ACB5-ACAAC8085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419344"/>
            <a:ext cx="481874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2017年巡视整改取得一定成效，也暴露人力条线基础管理</a:t>
            </a:r>
          </a:p>
        </p:txBody>
      </p:sp>
      <p:sp>
        <p:nvSpPr>
          <p:cNvPr id="41" name="compliance-body-1">
            <a:extLst xmlns:a="http://schemas.openxmlformats.org/drawingml/2006/main">
              <a:ext uri="{FF2B5EF4-FFF2-40B4-BE49-F238E27FC236}">
                <a16:creationId xmlns:a16="http://schemas.microsoft.com/office/drawing/2014/main" id="{C358EA25-94C5-4A93-B7D3-1A9B282AC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666994"/>
            <a:ext cx="481874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薄弱：认识待提升、作风待转变、能力待增强、协同待深化。</a:t>
            </a:r>
          </a:p>
        </p:txBody>
      </p:sp>
      <p:sp>
        <p:nvSpPr>
          <p:cNvPr id="42" name="insights-0">
            <a:extLst xmlns:a="http://schemas.openxmlformats.org/drawingml/2006/main">
              <a:ext uri="{FF2B5EF4-FFF2-40B4-BE49-F238E27FC236}">
                <a16:creationId xmlns:a16="http://schemas.microsoft.com/office/drawing/2014/main" id="{8F753BDA-15F8-415C-9AED-446A67169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318" y="1581150"/>
            <a:ext cx="5677807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四点感悟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65E66C8-F8C1-4861-AC15-51B61D598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318" y="1905000"/>
            <a:ext cx="567780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5C5D7"/>
            </a:solidFill>
          </a:ln>
        </p:spPr>
      </p:sp>
      <p:sp>
        <p:nvSpPr>
          <p:cNvPr id="44" name="language-number-0">
            <a:extLst xmlns:a="http://schemas.openxmlformats.org/drawingml/2006/main">
              <a:ext uri="{FF2B5EF4-FFF2-40B4-BE49-F238E27FC236}">
                <a16:creationId xmlns:a16="http://schemas.microsoft.com/office/drawing/2014/main" id="{D7E3005A-2670-445F-92DF-7CEA8017E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318" y="2047875"/>
            <a:ext cx="276225" cy="184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5" name="language-label-0">
            <a:extLst xmlns:a="http://schemas.openxmlformats.org/drawingml/2006/main">
              <a:ext uri="{FF2B5EF4-FFF2-40B4-BE49-F238E27FC236}">
                <a16:creationId xmlns:a16="http://schemas.microsoft.com/office/drawing/2014/main" id="{0521DADB-2CF0-41E4-B329-2172E13B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218" y="2038350"/>
            <a:ext cx="5334907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统一语言，促进业务与人力协同</a:t>
            </a:r>
          </a:p>
        </p:txBody>
      </p:sp>
      <p:sp>
        <p:nvSpPr>
          <p:cNvPr id="46" name="language-body-0">
            <a:extLst xmlns:a="http://schemas.openxmlformats.org/drawingml/2006/main">
              <a:ext uri="{FF2B5EF4-FFF2-40B4-BE49-F238E27FC236}">
                <a16:creationId xmlns:a16="http://schemas.microsoft.com/office/drawing/2014/main" id="{BC7F409E-1D50-44AE-8365-EBC8227BF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218" y="2381060"/>
            <a:ext cx="5334907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沿BLM管理模型统一语言、目标、策略，贯通业务战略、</a:t>
            </a:r>
          </a:p>
        </p:txBody>
      </p:sp>
      <p:sp>
        <p:nvSpPr>
          <p:cNvPr id="47" name="language-body-1">
            <a:extLst xmlns:a="http://schemas.openxmlformats.org/drawingml/2006/main">
              <a:ext uri="{FF2B5EF4-FFF2-40B4-BE49-F238E27FC236}">
                <a16:creationId xmlns:a16="http://schemas.microsoft.com/office/drawing/2014/main" id="{88E4F375-A9E3-41BE-8C79-8BECE7A7C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218" y="2628710"/>
            <a:ext cx="5334907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人力战略规划与落地方案，达成“三个市场化”转型目标。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2AF38DF-8F49-42CB-9AE0-980771F35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318" y="2990660"/>
            <a:ext cx="567780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5C5D7"/>
            </a:solidFill>
          </a:ln>
        </p:spPr>
      </p:sp>
      <p:sp>
        <p:nvSpPr>
          <p:cNvPr id="49" name="criterion-number-0">
            <a:extLst xmlns:a="http://schemas.openxmlformats.org/drawingml/2006/main">
              <a:ext uri="{FF2B5EF4-FFF2-40B4-BE49-F238E27FC236}">
                <a16:creationId xmlns:a16="http://schemas.microsoft.com/office/drawing/2014/main" id="{8937E57C-CCB8-4B54-9353-BB4B7F022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318" y="3143060"/>
            <a:ext cx="276225" cy="184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0" name="criterion-label-0">
            <a:extLst xmlns:a="http://schemas.openxmlformats.org/drawingml/2006/main">
              <a:ext uri="{FF2B5EF4-FFF2-40B4-BE49-F238E27FC236}">
                <a16:creationId xmlns:a16="http://schemas.microsoft.com/office/drawing/2014/main" id="{0DCC0A8B-8000-4B0D-AC8A-6B5913420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218" y="3133535"/>
            <a:ext cx="5334907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解决实际问题是唯一检验标准</a:t>
            </a:r>
          </a:p>
        </p:txBody>
      </p:sp>
      <p:sp>
        <p:nvSpPr>
          <p:cNvPr id="51" name="criterion-body-0">
            <a:extLst xmlns:a="http://schemas.openxmlformats.org/drawingml/2006/main">
              <a:ext uri="{FF2B5EF4-FFF2-40B4-BE49-F238E27FC236}">
                <a16:creationId xmlns:a16="http://schemas.microsoft.com/office/drawing/2014/main" id="{20773DDB-B0F1-41DF-9BC9-FEFA2C0B8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218" y="3476244"/>
            <a:ext cx="5334907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以能否解决实际问题检验变革成效，力求落地有实效。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EEC01EB-CA12-4068-8741-61D01A274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318" y="3838194"/>
            <a:ext cx="567780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5C5D7"/>
            </a:solidFill>
          </a:ln>
        </p:spPr>
      </p:sp>
      <p:sp>
        <p:nvSpPr>
          <p:cNvPr id="53" name="iteration-number-0">
            <a:extLst xmlns:a="http://schemas.openxmlformats.org/drawingml/2006/main">
              <a:ext uri="{FF2B5EF4-FFF2-40B4-BE49-F238E27FC236}">
                <a16:creationId xmlns:a16="http://schemas.microsoft.com/office/drawing/2014/main" id="{D739A685-AC6D-42E1-964C-81233CEF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318" y="3990594"/>
            <a:ext cx="276225" cy="184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4" name="iteration-label-0">
            <a:extLst xmlns:a="http://schemas.openxmlformats.org/drawingml/2006/main">
              <a:ext uri="{FF2B5EF4-FFF2-40B4-BE49-F238E27FC236}">
                <a16:creationId xmlns:a16="http://schemas.microsoft.com/office/drawing/2014/main" id="{4F9A0B90-51D0-4694-8A6B-BACA4AB2D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218" y="3981069"/>
            <a:ext cx="5334907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顶层设计持续迭代</a:t>
            </a:r>
          </a:p>
        </p:txBody>
      </p:sp>
      <p:sp>
        <p:nvSpPr>
          <p:cNvPr id="55" name="iteration-body-0">
            <a:extLst xmlns:a="http://schemas.openxmlformats.org/drawingml/2006/main">
              <a:ext uri="{FF2B5EF4-FFF2-40B4-BE49-F238E27FC236}">
                <a16:creationId xmlns:a16="http://schemas.microsoft.com/office/drawing/2014/main" id="{F15A70D3-736F-418C-870F-A51B0AE53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218" y="4323779"/>
            <a:ext cx="5334907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加速试点、小步快跑；对标行业优秀</a:t>
            </a:r>
          </a:p>
        </p:txBody>
      </p:sp>
      <p:sp>
        <p:nvSpPr>
          <p:cNvPr id="56" name="iteration-body-1">
            <a:extLst xmlns:a="http://schemas.openxmlformats.org/drawingml/2006/main">
              <a:ext uri="{FF2B5EF4-FFF2-40B4-BE49-F238E27FC236}">
                <a16:creationId xmlns:a16="http://schemas.microsoft.com/office/drawing/2014/main" id="{59516C12-7991-448B-BB5F-F1CE21E35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218" y="4571429"/>
            <a:ext cx="5334907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实践，结合落地成效持续优化体系。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360D2FC-9556-4DF4-A772-F98F1C2DF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318" y="4933379"/>
            <a:ext cx="567780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5C5D7"/>
            </a:solidFill>
          </a:ln>
        </p:spPr>
      </p:sp>
      <p:sp>
        <p:nvSpPr>
          <p:cNvPr id="58" name="coordination-number-0">
            <a:extLst xmlns:a="http://schemas.openxmlformats.org/drawingml/2006/main">
              <a:ext uri="{FF2B5EF4-FFF2-40B4-BE49-F238E27FC236}">
                <a16:creationId xmlns:a16="http://schemas.microsoft.com/office/drawing/2014/main" id="{2D335FB3-8EAB-4A2E-B60C-F1552A7F5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318" y="5085779"/>
            <a:ext cx="276225" cy="184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9" name="coordination-label-0">
            <a:extLst xmlns:a="http://schemas.openxmlformats.org/drawingml/2006/main">
              <a:ext uri="{FF2B5EF4-FFF2-40B4-BE49-F238E27FC236}">
                <a16:creationId xmlns:a16="http://schemas.microsoft.com/office/drawing/2014/main" id="{C4F702CA-A00D-4B6A-B2E2-95B01B945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218" y="5076254"/>
            <a:ext cx="5334907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统筹变革、合规与作风</a:t>
            </a:r>
          </a:p>
        </p:txBody>
      </p:sp>
      <p:sp>
        <p:nvSpPr>
          <p:cNvPr id="60" name="coordination-body-0">
            <a:extLst xmlns:a="http://schemas.openxmlformats.org/drawingml/2006/main">
              <a:ext uri="{FF2B5EF4-FFF2-40B4-BE49-F238E27FC236}">
                <a16:creationId xmlns:a16="http://schemas.microsoft.com/office/drawing/2014/main" id="{660C334E-36E9-4335-A889-87E19795C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218" y="5418963"/>
            <a:ext cx="5334907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变革是硬道理，合规是硬要求，作风是硬标准；以规范管理的</a:t>
            </a:r>
          </a:p>
        </p:txBody>
      </p:sp>
      <p:sp>
        <p:nvSpPr>
          <p:cNvPr id="61" name="coordination-body-1">
            <a:extLst xmlns:a="http://schemas.openxmlformats.org/drawingml/2006/main">
              <a:ext uri="{FF2B5EF4-FFF2-40B4-BE49-F238E27FC236}">
                <a16:creationId xmlns:a16="http://schemas.microsoft.com/office/drawing/2014/main" id="{05C705B4-9879-4B66-B00D-6382929D9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218" y="5666613"/>
            <a:ext cx="5334907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效率强化转型力度，以优良的思想、工作和战斗作风加快转型。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2026-09-19T16:32:34.1710000Z</dcterms:created>
  <dcterms:modified xsi:type="dcterms:W3CDTF">2026-09-19T16:32:34.1710000Z</dcterms:modified>
</coreProperties>
</file>