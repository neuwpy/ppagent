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8c3b625b8843b0" /><Relationship Type="http://schemas.openxmlformats.org/officeDocument/2006/relationships/extended-properties" Target="/docProps/app.xml" Id="Rec63b114132d47ac" /><Relationship Type="http://schemas.openxmlformats.org/officeDocument/2006/relationships/officeDocument" Target="/ppt/presentation.xml" Id="Rb7d25c0443ec48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ca0080f354f63"/>
    <p:sldMasterId xmlns:r="http://schemas.openxmlformats.org/officeDocument/2006/relationships" id="2147483660" r:id="Rb9894d55acf1455c"/>
    <p:sldMasterId xmlns:r="http://schemas.openxmlformats.org/officeDocument/2006/relationships" id="2147483663" r:id="R1c0da7f890a04824"/>
  </p:sldMasterIdLst>
  <p:notesMasterIdLst>
    <p:notesMasterId xmlns:r="http://schemas.openxmlformats.org/officeDocument/2006/relationships" r:id="R310fc2d3412f43e7"/>
  </p:notesMasterIdLst>
  <p:sldIdLst>
    <p:sldId xmlns:r="http://schemas.openxmlformats.org/officeDocument/2006/relationships" id="256" r:id="Rcc2167bbe8014034"/>
    <p:sldId xmlns:r="http://schemas.openxmlformats.org/officeDocument/2006/relationships" id="257" r:id="R9c168b2b1fba446f"/>
    <p:sldId xmlns:r="http://schemas.openxmlformats.org/officeDocument/2006/relationships" id="258" r:id="R9da05b45a2ae4e46"/>
    <p:sldId xmlns:r="http://schemas.openxmlformats.org/officeDocument/2006/relationships" id="259" r:id="Rd2bbb637efeb40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d9e7e8b9fb491c" /><Relationship Type="http://schemas.openxmlformats.org/officeDocument/2006/relationships/slideMaster" Target="/ppt/slideMasters/slideMaster1.xml" Id="Rfcbca0080f354f63" /><Relationship Type="http://schemas.openxmlformats.org/officeDocument/2006/relationships/slideMaster" Target="/ppt/slideMasters/slideMaster2.xml" Id="Rb9894d55acf1455c" /><Relationship Type="http://schemas.openxmlformats.org/officeDocument/2006/relationships/slideMaster" Target="/ppt/slideMasters/slideMaster3.xml" Id="R1c0da7f890a04824" /><Relationship Type="http://schemas.openxmlformats.org/officeDocument/2006/relationships/notesMaster" Target="/ppt/notesMasters/notesMaster1.xml" Id="R310fc2d3412f43e7" /><Relationship Type="http://schemas.openxmlformats.org/officeDocument/2006/relationships/presProps" Target="/ppt/presProps.xml" Id="R892bea1a3c5641ca" /><Relationship Type="http://schemas.openxmlformats.org/officeDocument/2006/relationships/viewProps" Target="/ppt/viewProps.xml" Id="Re830273282ed4c64" /><Relationship Type="http://schemas.openxmlformats.org/officeDocument/2006/relationships/tableStyles" Target="/ppt/tableStyles.xml" Id="Rcf354c81edf64066" /><Relationship Type="http://schemas.openxmlformats.org/officeDocument/2006/relationships/slide" Target="/ppt/slides/slide1.xml" Id="Rcc2167bbe8014034" /><Relationship Type="http://schemas.openxmlformats.org/officeDocument/2006/relationships/slide" Target="/ppt/slides/slide2.xml" Id="R9c168b2b1fba446f" /><Relationship Type="http://schemas.openxmlformats.org/officeDocument/2006/relationships/slide" Target="/ppt/slides/slide3.xml" Id="R9da05b45a2ae4e46" /><Relationship Type="http://schemas.openxmlformats.org/officeDocument/2006/relationships/slide" Target="/ppt/slides/slide4.xml" Id="Rd2bbb637efeb40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7737dc52f4b4b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0c78e9fc45440be" /><Relationship Type="http://schemas.openxmlformats.org/officeDocument/2006/relationships/notesMaster" Target="/ppt/notesMasters/notesMaster1.xml" Id="Rb0284704dadf49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455539b0934ce5" /><Relationship Type="http://schemas.openxmlformats.org/officeDocument/2006/relationships/notesMaster" Target="/ppt/notesMasters/notesMaster1.xml" Id="R154e4746037f45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0aa241830fa406c" /><Relationship Type="http://schemas.openxmlformats.org/officeDocument/2006/relationships/notesMaster" Target="/ppt/notesMasters/notesMaster1.xml" Id="Rff2f155df1bf4b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f368a32df422e" /><Relationship Type="http://schemas.openxmlformats.org/officeDocument/2006/relationships/notesMaster" Target="/ppt/notesMasters/notesMaster1.xml" Id="R7efadfbb0a6f4c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PPagenT：run-b-page-1 → manual-evidence-view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PPagenT：run-b-page-2 → manual-cause-view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PPagenT：run-b-page-3 → manual-comparison-view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内容：inputs/manuscript.txt（模拟数据）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PPagenT：run-b-page-4 → manual-sequence-view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16fdd5688d4d44" /><Relationship Type="http://schemas.openxmlformats.org/officeDocument/2006/relationships/image" Target="/ppt/media/image.jpeg" Id="R6b47b2dc764f4032" /><Relationship Type="http://schemas.openxmlformats.org/officeDocument/2006/relationships/image" Target="/ppt/media/image.png" Id="R59ab4605da47495c" /><Relationship Type="http://schemas.openxmlformats.org/officeDocument/2006/relationships/image" Target="/ppt/media/image2.png" Id="R4efb9ee32dc3493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1e781b52394ea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59757fadc48db" /><Relationship Type="http://schemas.openxmlformats.org/officeDocument/2006/relationships/image" Target="/ppt/media/image3.png" Id="R29e69800a22540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d03831852a4757" /><Relationship Type="http://schemas.openxmlformats.org/officeDocument/2006/relationships/image" Target="/ppt/media/image4.png" Id="R1c426dc9e839446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b3c5f21bb748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48e46e1634a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2ab421d410426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ec5fd297374df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8a9974fbc04e0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ad4c318ec42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40892b8d4e432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f98d24b0364e99" /><Relationship Type="http://schemas.openxmlformats.org/officeDocument/2006/relationships/image" Target="/ppt/media/image5.png" Id="R7629d7cf5649469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6a5f6ed0fb454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b12a97ef8a7477d" /><Relationship Type="http://schemas.openxmlformats.org/officeDocument/2006/relationships/image" Target="/ppt/media/image5.png" Id="R9ea1ee3d9eef4e97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b08f80ff508417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47b2dc764f4032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ab4605da47495c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fb9ee32dc3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e69800a22540a7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26dc9e8394468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9d7cf56494692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1ee3d9eef4e9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1294688eedf40a6" /><Relationship Type="http://schemas.openxmlformats.org/officeDocument/2006/relationships/slideLayout" Target="/ppt/slideLayouts/slideLayout1.xml" Id="R433f423913ff4fde" /><Relationship Type="http://schemas.openxmlformats.org/officeDocument/2006/relationships/slideLayout" Target="/ppt/slideLayouts/slideLayout2.xml" Id="R06c2fb9ed6204d3c" /><Relationship Type="http://schemas.openxmlformats.org/officeDocument/2006/relationships/slideLayout" Target="/ppt/slideLayouts/slideLayout3.xml" Id="Rb77ab218a9164b69" /><Relationship Type="http://schemas.openxmlformats.org/officeDocument/2006/relationships/slideLayout" Target="/ppt/slideLayouts/slideLayout4.xml" Id="Rc54c2fc0dedb4586" /><Relationship Type="http://schemas.openxmlformats.org/officeDocument/2006/relationships/slideLayout" Target="/ppt/slideLayouts/slideLayout5.xml" Id="Rb92d77d7cf164110" /><Relationship Type="http://schemas.openxmlformats.org/officeDocument/2006/relationships/slideLayout" Target="/ppt/slideLayouts/slideLayout6.xml" Id="R25b4d0e7740e48d9" /><Relationship Type="http://schemas.openxmlformats.org/officeDocument/2006/relationships/slideLayout" Target="/ppt/slideLayouts/slideLayout7.xml" Id="R716a1c5e682f4426" /><Relationship Type="http://schemas.openxmlformats.org/officeDocument/2006/relationships/slideLayout" Target="/ppt/slideLayouts/slideLayout8.xml" Id="R1e4f35750e86437f" /><Relationship Type="http://schemas.openxmlformats.org/officeDocument/2006/relationships/slideLayout" Target="/ppt/slideLayouts/slideLayout9.xml" Id="R5b71171134e44d64" /><Relationship Type="http://schemas.openxmlformats.org/officeDocument/2006/relationships/slideLayout" Target="/ppt/slideLayouts/slideLayout10.xml" Id="Ra637e71750dd4e63" /><Relationship Type="http://schemas.openxmlformats.org/officeDocument/2006/relationships/slideLayout" Target="/ppt/slideLayouts/slideLayout11.xml" Id="Rb2fd80f605174cb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93ffdf8dc0842a4" /><Relationship Type="http://schemas.openxmlformats.org/officeDocument/2006/relationships/slideLayout" Target="/ppt/slideLayouts/slideLayout12.xml" Id="Rbfa03e52646940af" /><Relationship Type="http://schemas.openxmlformats.org/officeDocument/2006/relationships/slideLayout" Target="/ppt/slideLayouts/slideLayout13.xml" Id="R5047ee4c43004c00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e07f7ea13c1b4b76" /><Relationship Type="http://schemas.openxmlformats.org/officeDocument/2006/relationships/slideLayout" Target="/ppt/slideLayouts/slideLayout14.xml" Id="Rbf5d87d467a641ef" /><Relationship Type="http://schemas.openxmlformats.org/officeDocument/2006/relationships/slideLayout" Target="/ppt/slideLayouts/slideLayout15.xml" Id="R643d7281b80a474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3f423913ff4fde"/>
    <p:sldLayoutId xmlns:r="http://schemas.openxmlformats.org/officeDocument/2006/relationships" id="2147483650" r:id="R06c2fb9ed6204d3c"/>
    <p:sldLayoutId xmlns:r="http://schemas.openxmlformats.org/officeDocument/2006/relationships" id="2147483651" r:id="Rb77ab218a9164b69"/>
    <p:sldLayoutId xmlns:r="http://schemas.openxmlformats.org/officeDocument/2006/relationships" id="2147483652" r:id="Rc54c2fc0dedb4586"/>
    <p:sldLayoutId xmlns:r="http://schemas.openxmlformats.org/officeDocument/2006/relationships" id="2147483653" r:id="Rb92d77d7cf164110"/>
    <p:sldLayoutId xmlns:r="http://schemas.openxmlformats.org/officeDocument/2006/relationships" id="2147483654" r:id="R25b4d0e7740e48d9"/>
    <p:sldLayoutId xmlns:r="http://schemas.openxmlformats.org/officeDocument/2006/relationships" id="2147483655" r:id="R716a1c5e682f4426"/>
    <p:sldLayoutId xmlns:r="http://schemas.openxmlformats.org/officeDocument/2006/relationships" id="2147483656" r:id="R1e4f35750e86437f"/>
    <p:sldLayoutId xmlns:r="http://schemas.openxmlformats.org/officeDocument/2006/relationships" id="2147483657" r:id="R5b71171134e44d64"/>
    <p:sldLayoutId xmlns:r="http://schemas.openxmlformats.org/officeDocument/2006/relationships" id="2147483658" r:id="Ra637e71750dd4e63"/>
    <p:sldLayoutId xmlns:r="http://schemas.openxmlformats.org/officeDocument/2006/relationships" id="2147483659" r:id="Rb2fd80f605174cb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bfa03e52646940af"/>
    <p:sldLayoutId xmlns:r="http://schemas.openxmlformats.org/officeDocument/2006/relationships" id="2147483662" r:id="R5047ee4c43004c00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bf5d87d467a641ef"/>
    <p:sldLayoutId xmlns:r="http://schemas.openxmlformats.org/officeDocument/2006/relationships" id="2147483665" r:id="R643d7281b80a4742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f8b33f591954cdb" /><Relationship Type="http://schemas.openxmlformats.org/officeDocument/2006/relationships/notesSlide" Target="/ppt/notesSlides/notesSlide1.xml" Id="Ra483576eb8b44d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e9201a6f4674122" /><Relationship Type="http://schemas.openxmlformats.org/officeDocument/2006/relationships/notesSlide" Target="/ppt/notesSlides/notesSlide2.xml" Id="R230869a4f55b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a526201fae4118" /><Relationship Type="http://schemas.openxmlformats.org/officeDocument/2006/relationships/notesSlide" Target="/ppt/notesSlides/notesSlide3.xml" Id="Ra1ef6be39ba947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fade7b928d49f2" /><Relationship Type="http://schemas.openxmlformats.org/officeDocument/2006/relationships/notesSlide" Target="/ppt/notesSlides/notesSlide4.xml" Id="Ra739f017deca4b1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请求量翻倍后，首响及时率降至60%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运行观察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ag-运行观察-bg">
            <a:extLst xmlns:a="http://schemas.openxmlformats.org/drawingml/2006/main">
              <a:ext uri="{FF2B5EF4-FFF2-40B4-BE49-F238E27FC236}">
                <a16:creationId xmlns:a16="http://schemas.microsoft.com/office/drawing/2014/main" id="{9B4F3858-FD5F-46AC-B37A-53EEB728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914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16" name="tag-运行观察-text">
            <a:extLst xmlns:a="http://schemas.openxmlformats.org/drawingml/2006/main">
              <a:ext uri="{FF2B5EF4-FFF2-40B4-BE49-F238E27FC236}">
                <a16:creationId xmlns:a16="http://schemas.microsoft.com/office/drawing/2014/main" id="{BF59CF17-5610-4D54-A0EF-AF8AB9E5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33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运行观察</a:t>
            </a:r>
          </a:p>
        </p:txBody>
      </p:sp>
      <p:sp>
        <p:nvSpPr>
          <p:cNvPr id="17" name="lead-运行观察">
            <a:extLst xmlns:a="http://schemas.openxmlformats.org/drawingml/2006/main">
              <a:ext uri="{FF2B5EF4-FFF2-40B4-BE49-F238E27FC236}">
                <a16:creationId xmlns:a16="http://schemas.microsoft.com/office/drawing/2014/main" id="{BBA0B949-7876-4AE4-BE5C-09E1192D5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请求量翻倍后，首响及时率降至60%</a:t>
            </a:r>
          </a:p>
        </p:txBody>
      </p:sp>
      <p:sp>
        <p:nvSpPr>
          <p:cNvPr id="18" name="p1-sub">
            <a:extLst xmlns:a="http://schemas.openxmlformats.org/drawingml/2006/main">
              <a:ext uri="{FF2B5EF4-FFF2-40B4-BE49-F238E27FC236}">
                <a16:creationId xmlns:a16="http://schemas.microsoft.com/office/drawing/2014/main" id="{69EDF86F-F3E7-4B57-AEA6-CE527288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1—4月同口径观察：服务人员数量不变；指标衡量“结案后首次给出可执行答复是否≤2个工作日”，不是结案时长。</a:t>
            </a:r>
          </a:p>
        </p:txBody>
      </p:sp>
      <p:sp>
        <p:nvSpPr>
          <p:cNvPr id="19" name="p1-main">
            <a:extLst xmlns:a="http://schemas.openxmlformats.org/drawingml/2006/main">
              <a:ext uri="{FF2B5EF4-FFF2-40B4-BE49-F238E27FC236}">
                <a16:creationId xmlns:a16="http://schemas.microsoft.com/office/drawing/2014/main" id="{EFB79344-A969-46B3-82EB-9781327F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70008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0" name="p1-chart-title">
            <a:extLst xmlns:a="http://schemas.openxmlformats.org/drawingml/2006/main">
              <a:ext uri="{FF2B5EF4-FFF2-40B4-BE49-F238E27FC236}">
                <a16:creationId xmlns:a16="http://schemas.microsoft.com/office/drawing/2014/main" id="{1AC9197F-79ED-4F44-A5FB-A716D3C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月度请求量与首响及时率</a:t>
            </a:r>
          </a:p>
        </p:txBody>
      </p:sp>
      <p:sp>
        <p:nvSpPr>
          <p:cNvPr id="21" name="p1-label-volume">
            <a:extLst xmlns:a="http://schemas.openxmlformats.org/drawingml/2006/main">
              <a:ext uri="{FF2B5EF4-FFF2-40B4-BE49-F238E27FC236}">
                <a16:creationId xmlns:a16="http://schemas.microsoft.com/office/drawing/2014/main" id="{FA8AC56F-1154-4789-8A15-01AF7322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收到请求数</a:t>
            </a:r>
          </a:p>
        </p:txBody>
      </p:sp>
      <p:sp>
        <p:nvSpPr>
          <p:cNvPr id="22" name="p1-label-rate">
            <a:extLst xmlns:a="http://schemas.openxmlformats.org/drawingml/2006/main">
              <a:ext uri="{FF2B5EF4-FFF2-40B4-BE49-F238E27FC236}">
                <a16:creationId xmlns:a16="http://schemas.microsoft.com/office/drawing/2014/main" id="{AED90621-9236-4FDB-A656-098A9AF2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≤2工作日首响</a:t>
            </a:r>
          </a:p>
        </p:txBody>
      </p:sp>
      <p:sp>
        <p:nvSpPr>
          <p:cNvPr id="23" name="p1-label-median">
            <a:extLst xmlns:a="http://schemas.openxmlformats.org/drawingml/2006/main">
              <a:ext uri="{FF2B5EF4-FFF2-40B4-BE49-F238E27FC236}">
                <a16:creationId xmlns:a16="http://schemas.microsoft.com/office/drawing/2014/main" id="{042291D3-B5A8-4B27-B290-C6CE8A9C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904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中位时间</a:t>
            </a:r>
          </a:p>
        </p:txBody>
      </p:sp>
      <p:sp>
        <p:nvSpPr>
          <p:cNvPr id="24" name="p1-m-0">
            <a:extLst xmlns:a="http://schemas.openxmlformats.org/drawingml/2006/main">
              <a:ext uri="{FF2B5EF4-FFF2-40B4-BE49-F238E27FC236}">
                <a16:creationId xmlns:a16="http://schemas.microsoft.com/office/drawing/2014/main" id="{1CBBB1D2-BF93-4B9B-9695-5AC44ED9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956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1月</a:t>
            </a:r>
          </a:p>
        </p:txBody>
      </p:sp>
      <p:sp>
        <p:nvSpPr>
          <p:cNvPr id="25" name="p1-r-0">
            <a:extLst xmlns:a="http://schemas.openxmlformats.org/drawingml/2006/main">
              <a:ext uri="{FF2B5EF4-FFF2-40B4-BE49-F238E27FC236}">
                <a16:creationId xmlns:a16="http://schemas.microsoft.com/office/drawing/2014/main" id="{4A92271A-BE1F-4658-8B1C-6356EE89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590925"/>
            <a:ext cx="500063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26" name="p1-rv-0">
            <a:extLst xmlns:a="http://schemas.openxmlformats.org/drawingml/2006/main">
              <a:ext uri="{FF2B5EF4-FFF2-40B4-BE49-F238E27FC236}">
                <a16:creationId xmlns:a16="http://schemas.microsoft.com/office/drawing/2014/main" id="{82294916-C08B-4DFA-A7CE-E8B3E5B7E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6013" y="3600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120</a:t>
            </a:r>
          </a:p>
        </p:txBody>
      </p:sp>
      <p:sp>
        <p:nvSpPr>
          <p:cNvPr id="27" name="p1-t-0">
            <a:extLst xmlns:a="http://schemas.openxmlformats.org/drawingml/2006/main">
              <a:ext uri="{FF2B5EF4-FFF2-40B4-BE49-F238E27FC236}">
                <a16:creationId xmlns:a16="http://schemas.microsoft.com/office/drawing/2014/main" id="{A98A3D67-6387-4EA3-A311-E118AEE59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76725"/>
            <a:ext cx="8001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FC3D5"/>
          </a:solidFill>
          <a:ln xmlns:a="http://schemas.openxmlformats.org/drawingml/2006/main" w="9525">
            <a:solidFill>
              <a:srgbClr val="AFC3D5"/>
            </a:solidFill>
            <a:prstDash val="solid"/>
          </a:ln>
        </p:spPr>
      </p:sp>
      <p:sp>
        <p:nvSpPr>
          <p:cNvPr id="28" name="p1-tv-0">
            <a:extLst xmlns:a="http://schemas.openxmlformats.org/drawingml/2006/main">
              <a:ext uri="{FF2B5EF4-FFF2-40B4-BE49-F238E27FC236}">
                <a16:creationId xmlns:a16="http://schemas.microsoft.com/office/drawing/2014/main" id="{052BDBA9-08DF-4A5B-A5AE-B0D0B5AF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86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80%</a:t>
            </a:r>
          </a:p>
        </p:txBody>
      </p:sp>
      <p:sp>
        <p:nvSpPr>
          <p:cNvPr id="29" name="p1-mb-0">
            <a:extLst xmlns:a="http://schemas.openxmlformats.org/drawingml/2006/main">
              <a:ext uri="{FF2B5EF4-FFF2-40B4-BE49-F238E27FC236}">
                <a16:creationId xmlns:a16="http://schemas.microsoft.com/office/drawing/2014/main" id="{70702E38-F0D6-4D13-8EA2-76E4EA9B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62525"/>
            <a:ext cx="541734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9525">
            <a:solidFill>
              <a:srgbClr val="B9B9B9"/>
            </a:solidFill>
            <a:prstDash val="solid"/>
          </a:ln>
        </p:spPr>
      </p:sp>
      <p:sp>
        <p:nvSpPr>
          <p:cNvPr id="30" name="p1-mv-0">
            <a:extLst xmlns:a="http://schemas.openxmlformats.org/drawingml/2006/main">
              <a:ext uri="{FF2B5EF4-FFF2-40B4-BE49-F238E27FC236}">
                <a16:creationId xmlns:a16="http://schemas.microsoft.com/office/drawing/2014/main" id="{88DA5DCE-5309-4487-A2D2-F7253B89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684" y="4972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1.3日</a:t>
            </a:r>
          </a:p>
        </p:txBody>
      </p:sp>
      <p:sp>
        <p:nvSpPr>
          <p:cNvPr id="31" name="p1-m-1">
            <a:extLst xmlns:a="http://schemas.openxmlformats.org/drawingml/2006/main">
              <a:ext uri="{FF2B5EF4-FFF2-40B4-BE49-F238E27FC236}">
                <a16:creationId xmlns:a16="http://schemas.microsoft.com/office/drawing/2014/main" id="{9AE765D7-D190-4A96-9CD5-1AC21964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956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2月</a:t>
            </a:r>
          </a:p>
        </p:txBody>
      </p:sp>
      <p:sp>
        <p:nvSpPr>
          <p:cNvPr id="32" name="p1-r-1">
            <a:extLst xmlns:a="http://schemas.openxmlformats.org/drawingml/2006/main">
              <a:ext uri="{FF2B5EF4-FFF2-40B4-BE49-F238E27FC236}">
                <a16:creationId xmlns:a16="http://schemas.microsoft.com/office/drawing/2014/main" id="{4A5748E3-D42F-4BFC-BA53-AB0CB043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90925"/>
            <a:ext cx="62507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33" name="p1-rv-1">
            <a:extLst xmlns:a="http://schemas.openxmlformats.org/drawingml/2006/main">
              <a:ext uri="{FF2B5EF4-FFF2-40B4-BE49-F238E27FC236}">
                <a16:creationId xmlns:a16="http://schemas.microsoft.com/office/drawing/2014/main" id="{7ACED222-F73D-4B7F-A184-FE795518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778" y="3600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150</a:t>
            </a:r>
          </a:p>
        </p:txBody>
      </p:sp>
      <p:sp>
        <p:nvSpPr>
          <p:cNvPr id="34" name="p1-t-1">
            <a:extLst xmlns:a="http://schemas.openxmlformats.org/drawingml/2006/main">
              <a:ext uri="{FF2B5EF4-FFF2-40B4-BE49-F238E27FC236}">
                <a16:creationId xmlns:a16="http://schemas.microsoft.com/office/drawing/2014/main" id="{005AD0D7-8B93-4487-950F-5D8344C0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76725"/>
            <a:ext cx="76009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FC3D5"/>
          </a:solidFill>
          <a:ln xmlns:a="http://schemas.openxmlformats.org/drawingml/2006/main" w="9525">
            <a:solidFill>
              <a:srgbClr val="AFC3D5"/>
            </a:solidFill>
            <a:prstDash val="solid"/>
          </a:ln>
        </p:spPr>
      </p:sp>
      <p:sp>
        <p:nvSpPr>
          <p:cNvPr id="35" name="p1-tv-1">
            <a:extLst xmlns:a="http://schemas.openxmlformats.org/drawingml/2006/main">
              <a:ext uri="{FF2B5EF4-FFF2-40B4-BE49-F238E27FC236}">
                <a16:creationId xmlns:a16="http://schemas.microsoft.com/office/drawing/2014/main" id="{85D13A8D-D362-4E72-9A6B-E11E1C36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4795" y="4286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76%</a:t>
            </a:r>
          </a:p>
        </p:txBody>
      </p:sp>
      <p:sp>
        <p:nvSpPr>
          <p:cNvPr id="36" name="p1-mb-1">
            <a:extLst xmlns:a="http://schemas.openxmlformats.org/drawingml/2006/main">
              <a:ext uri="{FF2B5EF4-FFF2-40B4-BE49-F238E27FC236}">
                <a16:creationId xmlns:a16="http://schemas.microsoft.com/office/drawing/2014/main" id="{E80A523F-4A2B-4677-BC3C-81EBBD73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962525"/>
            <a:ext cx="62507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9525">
            <a:solidFill>
              <a:srgbClr val="B9B9B9"/>
            </a:solidFill>
            <a:prstDash val="solid"/>
          </a:ln>
        </p:spPr>
      </p:sp>
      <p:sp>
        <p:nvSpPr>
          <p:cNvPr id="37" name="p1-mv-1">
            <a:extLst xmlns:a="http://schemas.openxmlformats.org/drawingml/2006/main">
              <a:ext uri="{FF2B5EF4-FFF2-40B4-BE49-F238E27FC236}">
                <a16:creationId xmlns:a16="http://schemas.microsoft.com/office/drawing/2014/main" id="{BE12A104-DED8-41D6-8273-6A43147E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9778" y="4972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1.5日</a:t>
            </a:r>
          </a:p>
        </p:txBody>
      </p:sp>
      <p:sp>
        <p:nvSpPr>
          <p:cNvPr id="38" name="p1-m-2">
            <a:extLst xmlns:a="http://schemas.openxmlformats.org/drawingml/2006/main">
              <a:ext uri="{FF2B5EF4-FFF2-40B4-BE49-F238E27FC236}">
                <a16:creationId xmlns:a16="http://schemas.microsoft.com/office/drawing/2014/main" id="{461C60CE-EA73-473D-8AC1-DFC88386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956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3月</a:t>
            </a:r>
          </a:p>
        </p:txBody>
      </p:sp>
      <p:sp>
        <p:nvSpPr>
          <p:cNvPr id="39" name="p1-r-2">
            <a:extLst xmlns:a="http://schemas.openxmlformats.org/drawingml/2006/main">
              <a:ext uri="{FF2B5EF4-FFF2-40B4-BE49-F238E27FC236}">
                <a16:creationId xmlns:a16="http://schemas.microsoft.com/office/drawing/2014/main" id="{687AFD61-5968-4BCB-9378-B33C65CA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90925"/>
            <a:ext cx="750094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40" name="p1-rv-2">
            <a:extLst xmlns:a="http://schemas.openxmlformats.org/drawingml/2006/main">
              <a:ext uri="{FF2B5EF4-FFF2-40B4-BE49-F238E27FC236}">
                <a16:creationId xmlns:a16="http://schemas.microsoft.com/office/drawing/2014/main" id="{2B432E3C-4210-42C0-B1DF-D6B68579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544" y="3600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180</a:t>
            </a:r>
          </a:p>
        </p:txBody>
      </p:sp>
      <p:sp>
        <p:nvSpPr>
          <p:cNvPr id="41" name="p1-t-2">
            <a:extLst xmlns:a="http://schemas.openxmlformats.org/drawingml/2006/main">
              <a:ext uri="{FF2B5EF4-FFF2-40B4-BE49-F238E27FC236}">
                <a16:creationId xmlns:a16="http://schemas.microsoft.com/office/drawing/2014/main" id="{8C30C253-6529-454E-A0D0-5E024E83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276725"/>
            <a:ext cx="70008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FC3D5"/>
          </a:solidFill>
          <a:ln xmlns:a="http://schemas.openxmlformats.org/drawingml/2006/main" w="9525">
            <a:solidFill>
              <a:srgbClr val="AFC3D5"/>
            </a:solidFill>
            <a:prstDash val="solid"/>
          </a:ln>
        </p:spPr>
      </p:sp>
      <p:sp>
        <p:nvSpPr>
          <p:cNvPr id="42" name="p1-tv-2">
            <a:extLst xmlns:a="http://schemas.openxmlformats.org/drawingml/2006/main">
              <a:ext uri="{FF2B5EF4-FFF2-40B4-BE49-F238E27FC236}">
                <a16:creationId xmlns:a16="http://schemas.microsoft.com/office/drawing/2014/main" id="{3021DA87-CEEB-4FD6-A2EB-50A9CE74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3538" y="4286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70%</a:t>
            </a:r>
          </a:p>
        </p:txBody>
      </p:sp>
      <p:sp>
        <p:nvSpPr>
          <p:cNvPr id="43" name="p1-mb-2">
            <a:extLst xmlns:a="http://schemas.openxmlformats.org/drawingml/2006/main">
              <a:ext uri="{FF2B5EF4-FFF2-40B4-BE49-F238E27FC236}">
                <a16:creationId xmlns:a16="http://schemas.microsoft.com/office/drawing/2014/main" id="{57B2C08C-BA7B-401F-B0C1-AEE4D1AF4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62525"/>
            <a:ext cx="750094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B9B9B9"/>
          </a:solidFill>
          <a:ln xmlns:a="http://schemas.openxmlformats.org/drawingml/2006/main" w="9525">
            <a:solidFill>
              <a:srgbClr val="B9B9B9"/>
            </a:solidFill>
            <a:prstDash val="solid"/>
          </a:ln>
        </p:spPr>
      </p:sp>
      <p:sp>
        <p:nvSpPr>
          <p:cNvPr id="44" name="p1-mv-2">
            <a:extLst xmlns:a="http://schemas.openxmlformats.org/drawingml/2006/main">
              <a:ext uri="{FF2B5EF4-FFF2-40B4-BE49-F238E27FC236}">
                <a16:creationId xmlns:a16="http://schemas.microsoft.com/office/drawing/2014/main" id="{789D3B34-F609-4D59-9469-B3CA2B59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3544" y="4972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1.8日</a:t>
            </a:r>
          </a:p>
        </p:txBody>
      </p:sp>
      <p:sp>
        <p:nvSpPr>
          <p:cNvPr id="45" name="p1-m-3">
            <a:extLst xmlns:a="http://schemas.openxmlformats.org/drawingml/2006/main">
              <a:ext uri="{FF2B5EF4-FFF2-40B4-BE49-F238E27FC236}">
                <a16:creationId xmlns:a16="http://schemas.microsoft.com/office/drawing/2014/main" id="{F8B709ED-3AE8-4DBD-AF51-AE60C354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742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</a:t>
            </a:r>
          </a:p>
        </p:txBody>
      </p:sp>
      <p:sp>
        <p:nvSpPr>
          <p:cNvPr id="46" name="p1-r-3">
            <a:extLst xmlns:a="http://schemas.openxmlformats.org/drawingml/2006/main">
              <a:ext uri="{FF2B5EF4-FFF2-40B4-BE49-F238E27FC236}">
                <a16:creationId xmlns:a16="http://schemas.microsoft.com/office/drawing/2014/main" id="{6738C2B4-FE47-4A70-88D7-70264D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90925"/>
            <a:ext cx="10001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47" name="p1-rv-3">
            <a:extLst xmlns:a="http://schemas.openxmlformats.org/drawingml/2006/main">
              <a:ext uri="{FF2B5EF4-FFF2-40B4-BE49-F238E27FC236}">
                <a16:creationId xmlns:a16="http://schemas.microsoft.com/office/drawing/2014/main" id="{B716008D-04F3-4C44-A624-EE01F21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36004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240</a:t>
            </a:r>
          </a:p>
        </p:txBody>
      </p:sp>
      <p:sp>
        <p:nvSpPr>
          <p:cNvPr id="48" name="p1-t-3">
            <a:extLst xmlns:a="http://schemas.openxmlformats.org/drawingml/2006/main">
              <a:ext uri="{FF2B5EF4-FFF2-40B4-BE49-F238E27FC236}">
                <a16:creationId xmlns:a16="http://schemas.microsoft.com/office/drawing/2014/main" id="{08A08307-B782-4CD0-A84E-749E21287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76725"/>
            <a:ext cx="60007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49" name="p1-tv-3">
            <a:extLst xmlns:a="http://schemas.openxmlformats.org/drawingml/2006/main">
              <a:ext uri="{FF2B5EF4-FFF2-40B4-BE49-F238E27FC236}">
                <a16:creationId xmlns:a16="http://schemas.microsoft.com/office/drawing/2014/main" id="{0D55767A-CB8E-4A9F-B922-8EFA98BD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2862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60%</a:t>
            </a:r>
          </a:p>
        </p:txBody>
      </p:sp>
      <p:sp>
        <p:nvSpPr>
          <p:cNvPr id="50" name="p1-mb-3">
            <a:extLst xmlns:a="http://schemas.openxmlformats.org/drawingml/2006/main">
              <a:ext uri="{FF2B5EF4-FFF2-40B4-BE49-F238E27FC236}">
                <a16:creationId xmlns:a16="http://schemas.microsoft.com/office/drawing/2014/main" id="{3072173A-8821-46B5-A617-42A20CB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962525"/>
            <a:ext cx="1000125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A64B43"/>
          </a:solidFill>
          <a:ln xmlns:a="http://schemas.openxmlformats.org/drawingml/2006/main" w="9525">
            <a:solidFill>
              <a:srgbClr val="A64B43"/>
            </a:solidFill>
            <a:prstDash val="solid"/>
          </a:ln>
        </p:spPr>
      </p:sp>
      <p:sp>
        <p:nvSpPr>
          <p:cNvPr id="51" name="p1-mv-3">
            <a:extLst xmlns:a="http://schemas.openxmlformats.org/drawingml/2006/main">
              <a:ext uri="{FF2B5EF4-FFF2-40B4-BE49-F238E27FC236}">
                <a16:creationId xmlns:a16="http://schemas.microsoft.com/office/drawing/2014/main" id="{D2CB4DDD-F6E5-45FC-A45B-A0B4BAD8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972050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2.4日</a:t>
            </a:r>
          </a:p>
        </p:txBody>
      </p:sp>
      <p:sp>
        <p:nvSpPr>
          <p:cNvPr id="52" name="p1-rule">
            <a:extLst xmlns:a="http://schemas.openxmlformats.org/drawingml/2006/main">
              <a:ext uri="{FF2B5EF4-FFF2-40B4-BE49-F238E27FC236}">
                <a16:creationId xmlns:a16="http://schemas.microsoft.com/office/drawing/2014/main" id="{31264434-8C44-4540-B68F-FA321F46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619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solidFill>
              <a:srgbClr val="D6DDE5"/>
            </a:solidFill>
            <a:prstDash val="solid"/>
          </a:ln>
        </p:spPr>
      </p:sp>
      <p:sp>
        <p:nvSpPr>
          <p:cNvPr id="53" name="p1-caveat">
            <a:extLst xmlns:a="http://schemas.openxmlformats.org/drawingml/2006/main">
              <a:ext uri="{FF2B5EF4-FFF2-40B4-BE49-F238E27FC236}">
                <a16:creationId xmlns:a16="http://schemas.microsoft.com/office/drawing/2014/main" id="{04E00540-A8C9-42F4-BF54-6C89FAB6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工作量与响应压力同步上升，但无对照实验，不能断言工作量增长是响应变慢的唯一原因。</a:t>
            </a:r>
          </a:p>
        </p:txBody>
      </p:sp>
      <p:sp>
        <p:nvSpPr>
          <p:cNvPr id="54" name="p1-side">
            <a:extLst xmlns:a="http://schemas.openxmlformats.org/drawingml/2006/main">
              <a:ext uri="{FF2B5EF4-FFF2-40B4-BE49-F238E27FC236}">
                <a16:creationId xmlns:a16="http://schemas.microsoft.com/office/drawing/2014/main" id="{C0421A14-CCA8-4849-B0F8-A9A8F5C3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385762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55" name="p1-side-title">
            <a:extLst xmlns:a="http://schemas.openxmlformats.org/drawingml/2006/main">
              <a:ext uri="{FF2B5EF4-FFF2-40B4-BE49-F238E27FC236}">
                <a16:creationId xmlns:a16="http://schemas.microsoft.com/office/drawing/2014/main" id="{451B61AB-1BF6-4302-829F-2E21FEA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本页判断</a:t>
            </a:r>
          </a:p>
        </p:txBody>
      </p:sp>
      <p:sp>
        <p:nvSpPr>
          <p:cNvPr id="56" name="p1-metric-a-value">
            <a:extLst xmlns:a="http://schemas.openxmlformats.org/drawingml/2006/main">
              <a:ext uri="{FF2B5EF4-FFF2-40B4-BE49-F238E27FC236}">
                <a16:creationId xmlns:a16="http://schemas.microsoft.com/office/drawing/2014/main" id="{7B7DA557-3BF5-447B-B5CA-AE40489F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671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55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2×</a:t>
            </a:r>
          </a:p>
        </p:txBody>
      </p:sp>
      <p:sp>
        <p:nvSpPr>
          <p:cNvPr id="57" name="p1-metric-a-label">
            <a:extLst xmlns:a="http://schemas.openxmlformats.org/drawingml/2006/main">
              <a:ext uri="{FF2B5EF4-FFF2-40B4-BE49-F238E27FC236}">
                <a16:creationId xmlns:a16="http://schemas.microsoft.com/office/drawing/2014/main" id="{014C18C0-8AE0-4FA5-B742-428E7D56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请求量：120 → 240</a:t>
            </a:r>
          </a:p>
        </p:txBody>
      </p:sp>
      <p:sp>
        <p:nvSpPr>
          <p:cNvPr id="58" name="p1-metric-b-value">
            <a:extLst xmlns:a="http://schemas.openxmlformats.org/drawingml/2006/main">
              <a:ext uri="{FF2B5EF4-FFF2-40B4-BE49-F238E27FC236}">
                <a16:creationId xmlns:a16="http://schemas.microsoft.com/office/drawing/2014/main" id="{AEB4AF4E-65FD-4CF2-BF78-615CCDB4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467100"/>
            <a:ext cx="1571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255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rPr>
              <a:t>−20pt</a:t>
            </a:r>
          </a:p>
        </p:txBody>
      </p:sp>
      <p:sp>
        <p:nvSpPr>
          <p:cNvPr id="59" name="p1-metric-b-label">
            <a:extLst xmlns:a="http://schemas.openxmlformats.org/drawingml/2006/main">
              <a:ext uri="{FF2B5EF4-FFF2-40B4-BE49-F238E27FC236}">
                <a16:creationId xmlns:a16="http://schemas.microsoft.com/office/drawing/2014/main" id="{375E44A7-9AB7-48C8-90B9-609ED3F7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8671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及时率：80% → 60%</a:t>
            </a:r>
          </a:p>
        </p:txBody>
      </p:sp>
      <p:sp>
        <p:nvSpPr>
          <p:cNvPr id="60" name="p1-side-body1">
            <a:extLst xmlns:a="http://schemas.openxmlformats.org/drawingml/2006/main">
              <a:ext uri="{FF2B5EF4-FFF2-40B4-BE49-F238E27FC236}">
                <a16:creationId xmlns:a16="http://schemas.microsoft.com/office/drawing/2014/main" id="{6CB6D96B-EFB1-481E-9585-E112CC54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29150"/>
            <a:ext cx="3190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中位首次响应时间同步由1.3天升至2.4天。</a:t>
            </a:r>
          </a:p>
        </p:txBody>
      </p:sp>
      <p:sp>
        <p:nvSpPr>
          <p:cNvPr id="61" name="p1-side-body2">
            <a:extLst xmlns:a="http://schemas.openxmlformats.org/drawingml/2006/main">
              <a:ext uri="{FF2B5EF4-FFF2-40B4-BE49-F238E27FC236}">
                <a16:creationId xmlns:a16="http://schemas.microsoft.com/office/drawing/2014/main" id="{7A8C9916-C8DD-4768-87A4-6F3972DB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67300"/>
            <a:ext cx="3190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观察结果支持“压力上升”的判断；不支持单一因果归因。</a:t>
            </a:r>
          </a:p>
        </p:txBody>
      </p:sp>
      <p:sp>
        <p:nvSpPr>
          <p:cNvPr id="62" name="foot-0.9031718432266309">
            <a:extLst xmlns:a="http://schemas.openxmlformats.org/drawingml/2006/main">
              <a:ext uri="{FF2B5EF4-FFF2-40B4-BE49-F238E27FC236}">
                <a16:creationId xmlns:a16="http://schemas.microsoft.com/office/drawing/2014/main" id="{476EBBE3-4205-42C6-A746-0C50B40B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模拟数据｜月度收到请求数：120 / 150 / 180 / 240；每月无缺失记录。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4月未达标请求中，材料与权限阻塞占75%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原因复核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ag-原因复核-bg">
            <a:extLst xmlns:a="http://schemas.openxmlformats.org/drawingml/2006/main">
              <a:ext uri="{FF2B5EF4-FFF2-40B4-BE49-F238E27FC236}">
                <a16:creationId xmlns:a16="http://schemas.microsoft.com/office/drawing/2014/main" id="{04041E6E-EBC9-4FD5-8B35-9E3EC2D9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914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16" name="tag-原因复核-text">
            <a:extLst xmlns:a="http://schemas.openxmlformats.org/drawingml/2006/main">
              <a:ext uri="{FF2B5EF4-FFF2-40B4-BE49-F238E27FC236}">
                <a16:creationId xmlns:a16="http://schemas.microsoft.com/office/drawing/2014/main" id="{B8C786EF-5E2D-449D-AD4E-6DC8A413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33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原因复核</a:t>
            </a:r>
          </a:p>
        </p:txBody>
      </p:sp>
      <p:sp>
        <p:nvSpPr>
          <p:cNvPr id="17" name="lead-原因复核">
            <a:extLst xmlns:a="http://schemas.openxmlformats.org/drawingml/2006/main">
              <a:ext uri="{FF2B5EF4-FFF2-40B4-BE49-F238E27FC236}">
                <a16:creationId xmlns:a16="http://schemas.microsoft.com/office/drawing/2014/main" id="{C88EC64C-97BE-429F-B862-B89338C3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4月未达标请求中，材料与权限阻塞占75%</a:t>
            </a:r>
          </a:p>
        </p:txBody>
      </p:sp>
      <p:sp>
        <p:nvSpPr>
          <p:cNvPr id="18" name="p2-sub">
            <a:extLst xmlns:a="http://schemas.openxmlformats.org/drawingml/2006/main">
              <a:ext uri="{FF2B5EF4-FFF2-40B4-BE49-F238E27FC236}">
                <a16:creationId xmlns:a16="http://schemas.microsoft.com/office/drawing/2014/main" id="{29AD35E3-F2D2-4E72-91B6-421DAF04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对4月未达到两个工作日首响标准的96个请求逐一复核；每个请求只记一个主要阻塞原因。</a:t>
            </a:r>
          </a:p>
        </p:txBody>
      </p:sp>
      <p:sp>
        <p:nvSpPr>
          <p:cNvPr id="19" name="p2-chart">
            <a:extLst xmlns:a="http://schemas.openxmlformats.org/drawingml/2006/main">
              <a:ext uri="{FF2B5EF4-FFF2-40B4-BE49-F238E27FC236}">
                <a16:creationId xmlns:a16="http://schemas.microsoft.com/office/drawing/2014/main" id="{DFC54720-97AF-40A5-832B-32AC5CC52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0"/>
            <a:ext cx="6667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0" name="p2-chart-title">
            <a:extLst xmlns:a="http://schemas.openxmlformats.org/drawingml/2006/main">
              <a:ext uri="{FF2B5EF4-FFF2-40B4-BE49-F238E27FC236}">
                <a16:creationId xmlns:a16="http://schemas.microsoft.com/office/drawing/2014/main" id="{15C45829-3635-4574-B296-38CD1DA9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96个未达标请求的互斥完整分类</a:t>
            </a:r>
          </a:p>
        </p:txBody>
      </p:sp>
      <p:sp>
        <p:nvSpPr>
          <p:cNvPr id="21" name="p2-seg-材料不全">
            <a:extLst xmlns:a="http://schemas.openxmlformats.org/drawingml/2006/main">
              <a:ext uri="{FF2B5EF4-FFF2-40B4-BE49-F238E27FC236}">
                <a16:creationId xmlns:a16="http://schemas.microsoft.com/office/drawing/2014/main" id="{8C8A1B67-0984-474B-B675-A9567ABA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458641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2" name="p2-seg-t-材料不全">
            <a:extLst xmlns:a="http://schemas.openxmlformats.org/drawingml/2006/main">
              <a:ext uri="{FF2B5EF4-FFF2-40B4-BE49-F238E27FC236}">
                <a16:creationId xmlns:a16="http://schemas.microsoft.com/office/drawing/2014/main" id="{E174D704-50EC-4A33-B30A-BC23CAC1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9525"/>
            <a:ext cx="236339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材料不全 42</a:t>
            </a:r>
          </a:p>
        </p:txBody>
      </p:sp>
      <p:sp>
        <p:nvSpPr>
          <p:cNvPr id="23" name="p2-seg-权限确认">
            <a:extLst xmlns:a="http://schemas.openxmlformats.org/drawingml/2006/main">
              <a:ext uri="{FF2B5EF4-FFF2-40B4-BE49-F238E27FC236}">
                <a16:creationId xmlns:a16="http://schemas.microsoft.com/office/drawing/2014/main" id="{600FDC50-86A4-481E-AEFC-197C95AE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5891" y="3714750"/>
            <a:ext cx="1756172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1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24" name="p2-seg-t-权限确认">
            <a:extLst xmlns:a="http://schemas.openxmlformats.org/drawingml/2006/main">
              <a:ext uri="{FF2B5EF4-FFF2-40B4-BE49-F238E27FC236}">
                <a16:creationId xmlns:a16="http://schemas.microsoft.com/office/drawing/2014/main" id="{1B4BEB0F-8B6B-4586-88B2-4CDCC6247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3516" y="3819525"/>
            <a:ext cx="166092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权限确认 30</a:t>
            </a:r>
          </a:p>
        </p:txBody>
      </p:sp>
      <p:sp>
        <p:nvSpPr>
          <p:cNvPr id="25" name="p2-seg-需求反复">
            <a:extLst xmlns:a="http://schemas.openxmlformats.org/drawingml/2006/main">
              <a:ext uri="{FF2B5EF4-FFF2-40B4-BE49-F238E27FC236}">
                <a16:creationId xmlns:a16="http://schemas.microsoft.com/office/drawing/2014/main" id="{48BC0A37-2769-43A2-9666-5C3786AF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063" y="3714750"/>
            <a:ext cx="9366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8EAF"/>
          </a:solidFill>
          <a:ln xmlns:a="http://schemas.openxmlformats.org/drawingml/2006/main" w="9525">
            <a:solidFill>
              <a:srgbClr val="6E8EAF"/>
            </a:solidFill>
            <a:prstDash val="solid"/>
          </a:ln>
        </p:spPr>
      </p:sp>
      <p:sp>
        <p:nvSpPr>
          <p:cNvPr id="26" name="p2-seg-t-需求反复">
            <a:extLst xmlns:a="http://schemas.openxmlformats.org/drawingml/2006/main">
              <a:ext uri="{FF2B5EF4-FFF2-40B4-BE49-F238E27FC236}">
                <a16:creationId xmlns:a16="http://schemas.microsoft.com/office/drawing/2014/main" id="{786DA573-2CE3-456B-BEEA-AAB5708B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688" y="3819525"/>
            <a:ext cx="84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需求反复 16</a:t>
            </a:r>
          </a:p>
        </p:txBody>
      </p:sp>
      <p:sp>
        <p:nvSpPr>
          <p:cNvPr id="27" name="p2-seg-其他">
            <a:extLst xmlns:a="http://schemas.openxmlformats.org/drawingml/2006/main">
              <a:ext uri="{FF2B5EF4-FFF2-40B4-BE49-F238E27FC236}">
                <a16:creationId xmlns:a16="http://schemas.microsoft.com/office/drawing/2014/main" id="{CCC79739-3686-4969-B014-1489BDA2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8688" y="3714750"/>
            <a:ext cx="468313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F6F"/>
          </a:solidFill>
          <a:ln xmlns:a="http://schemas.openxmlformats.org/drawingml/2006/main" w="9525">
            <a:solidFill>
              <a:srgbClr val="6F6F6F"/>
            </a:solidFill>
            <a:prstDash val="solid"/>
          </a:ln>
        </p:spPr>
      </p:sp>
      <p:sp>
        <p:nvSpPr>
          <p:cNvPr id="28" name="p2-seg-v-其他">
            <a:extLst xmlns:a="http://schemas.openxmlformats.org/drawingml/2006/main">
              <a:ext uri="{FF2B5EF4-FFF2-40B4-BE49-F238E27FC236}">
                <a16:creationId xmlns:a16="http://schemas.microsoft.com/office/drawing/2014/main" id="{3DB65587-5177-4335-923B-3E56E0B4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788" y="3819525"/>
            <a:ext cx="392113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29" name="p2-total">
            <a:extLst xmlns:a="http://schemas.openxmlformats.org/drawingml/2006/main">
              <a:ext uri="{FF2B5EF4-FFF2-40B4-BE49-F238E27FC236}">
                <a16:creationId xmlns:a16="http://schemas.microsoft.com/office/drawing/2014/main" id="{A0965D15-2A31-4F6F-8A06-8E02E3AB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62450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材料与权限：72 / 96 = 75%</a:t>
            </a:r>
          </a:p>
        </p:txBody>
      </p:sp>
      <p:sp>
        <p:nvSpPr>
          <p:cNvPr id="30" name="p2-caveat">
            <a:extLst xmlns:a="http://schemas.openxmlformats.org/drawingml/2006/main">
              <a:ext uri="{FF2B5EF4-FFF2-40B4-BE49-F238E27FC236}">
                <a16:creationId xmlns:a16="http://schemas.microsoft.com/office/drawing/2014/main" id="{8E2FE69A-2A96-457B-B745-C5F45F19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主要阻塞分类说明“先查哪里”，不等于每项干预可消除的数量，也不能预测节省工时。</a:t>
            </a:r>
          </a:p>
        </p:txBody>
      </p:sp>
      <p:sp>
        <p:nvSpPr>
          <p:cNvPr id="31" name="p2-side">
            <a:extLst xmlns:a="http://schemas.openxmlformats.org/drawingml/2006/main">
              <a:ext uri="{FF2B5EF4-FFF2-40B4-BE49-F238E27FC236}">
                <a16:creationId xmlns:a16="http://schemas.microsoft.com/office/drawing/2014/main" id="{9C46980D-B41C-4CE7-8AB6-21C44E603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4143375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7EDE5"/>
          </a:solidFill>
          <a:ln xmlns:a="http://schemas.openxmlformats.org/drawingml/2006/main" w="9525">
            <a:solidFill>
              <a:srgbClr val="F7EDE5"/>
            </a:solidFill>
            <a:prstDash val="solid"/>
          </a:ln>
        </p:spPr>
      </p:sp>
      <p:sp>
        <p:nvSpPr>
          <p:cNvPr id="32" name="p2-side-title">
            <a:extLst xmlns:a="http://schemas.openxmlformats.org/drawingml/2006/main">
              <a:ext uri="{FF2B5EF4-FFF2-40B4-BE49-F238E27FC236}">
                <a16:creationId xmlns:a16="http://schemas.microsoft.com/office/drawing/2014/main" id="{DBA4179B-CF1D-4431-99A3-B81868B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05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如何使用这项证据</a:t>
            </a:r>
          </a:p>
        </p:txBody>
      </p:sp>
      <p:sp>
        <p:nvSpPr>
          <p:cNvPr id="33" name="p2-side-1">
            <a:extLst xmlns:a="http://schemas.openxmlformats.org/drawingml/2006/main">
              <a:ext uri="{FF2B5EF4-FFF2-40B4-BE49-F238E27FC236}">
                <a16:creationId xmlns:a16="http://schemas.microsoft.com/office/drawing/2014/main" id="{1058084B-8220-4DB1-9062-D387741D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5623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① 入口先覆盖字段与授权校验。</a:t>
            </a:r>
          </a:p>
        </p:txBody>
      </p:sp>
      <p:sp>
        <p:nvSpPr>
          <p:cNvPr id="34" name="p2-side-2">
            <a:extLst xmlns:a="http://schemas.openxmlformats.org/drawingml/2006/main">
              <a:ext uri="{FF2B5EF4-FFF2-40B4-BE49-F238E27FC236}">
                <a16:creationId xmlns:a16="http://schemas.microsoft.com/office/drawing/2014/main" id="{5D0FD58C-7ABE-4F2E-B19E-A5BD6BF2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481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② 复杂需求沟通仍需人工判断。</a:t>
            </a:r>
          </a:p>
        </p:txBody>
      </p:sp>
      <p:sp>
        <p:nvSpPr>
          <p:cNvPr id="35" name="p2-side-3">
            <a:extLst xmlns:a="http://schemas.openxmlformats.org/drawingml/2006/main">
              <a:ext uri="{FF2B5EF4-FFF2-40B4-BE49-F238E27FC236}">
                <a16:creationId xmlns:a16="http://schemas.microsoft.com/office/drawing/2014/main" id="{F20592A8-A178-4B3D-9D2B-0E528A4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③ 比例仅代表4月复核结果。</a:t>
            </a:r>
          </a:p>
        </p:txBody>
      </p:sp>
      <p:sp>
        <p:nvSpPr>
          <p:cNvPr id="36" name="foot-0.36320912404544037">
            <a:extLst xmlns:a="http://schemas.openxmlformats.org/drawingml/2006/main">
              <a:ext uri="{FF2B5EF4-FFF2-40B4-BE49-F238E27FC236}">
                <a16:creationId xmlns:a16="http://schemas.microsoft.com/office/drawing/2014/main" id="{0F8C269B-4FCA-47D4-A7C0-0A3EF892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模拟数据｜原因合计96个，互斥且完整；比例由本次复核直接计算。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建议先试行统一申请入口，因其直接对应主要阻塞且投入可控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方案取舍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ag-方案取舍-bg">
            <a:extLst xmlns:a="http://schemas.openxmlformats.org/drawingml/2006/main">
              <a:ext uri="{FF2B5EF4-FFF2-40B4-BE49-F238E27FC236}">
                <a16:creationId xmlns:a16="http://schemas.microsoft.com/office/drawing/2014/main" id="{4BD2968E-3F2C-4F7D-8C30-C1067A88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914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16" name="tag-方案取舍-text">
            <a:extLst xmlns:a="http://schemas.openxmlformats.org/drawingml/2006/main">
              <a:ext uri="{FF2B5EF4-FFF2-40B4-BE49-F238E27FC236}">
                <a16:creationId xmlns:a16="http://schemas.microsoft.com/office/drawing/2014/main" id="{D7BDAC51-7CDB-4FDB-A478-B4608A84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33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方案取舍</a:t>
            </a:r>
          </a:p>
        </p:txBody>
      </p:sp>
      <p:sp>
        <p:nvSpPr>
          <p:cNvPr id="17" name="lead-方案取舍">
            <a:extLst xmlns:a="http://schemas.openxmlformats.org/drawingml/2006/main">
              <a:ext uri="{FF2B5EF4-FFF2-40B4-BE49-F238E27FC236}">
                <a16:creationId xmlns:a16="http://schemas.microsoft.com/office/drawing/2014/main" id="{49ADA017-5D34-4BA5-AD3F-D09DD034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建议先试行统一申请入口，因其直接对应主要阻塞且投入可控</a:t>
            </a:r>
          </a:p>
        </p:txBody>
      </p:sp>
      <p:sp>
        <p:nvSpPr>
          <p:cNvPr id="18" name="p3-sub">
            <a:extLst xmlns:a="http://schemas.openxmlformats.org/drawingml/2006/main">
              <a:ext uri="{FF2B5EF4-FFF2-40B4-BE49-F238E27FC236}">
                <a16:creationId xmlns:a16="http://schemas.microsoft.com/office/drawing/2014/main" id="{594A1F5F-6AA1-4B89-A1C6-A1ADD5D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三种应对措施的投入与周期均为内部方案估计，不能换算为已验证的响应改善。</a:t>
            </a:r>
          </a:p>
        </p:txBody>
      </p:sp>
      <p:sp>
        <p:nvSpPr>
          <p:cNvPr id="19" name="p3-A-bg">
            <a:extLst xmlns:a="http://schemas.openxmlformats.org/drawingml/2006/main">
              <a:ext uri="{FF2B5EF4-FFF2-40B4-BE49-F238E27FC236}">
                <a16:creationId xmlns:a16="http://schemas.microsoft.com/office/drawing/2014/main" id="{10BF0A20-DB70-4B40-972A-62DE99A0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76550"/>
            <a:ext cx="35052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20" name="p3-A-key">
            <a:extLst xmlns:a="http://schemas.openxmlformats.org/drawingml/2006/main">
              <a:ext uri="{FF2B5EF4-FFF2-40B4-BE49-F238E27FC236}">
                <a16:creationId xmlns:a16="http://schemas.microsoft.com/office/drawing/2014/main" id="{8CC9E749-3B71-4115-908E-D8F6D6A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F6F6F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6F6F6F"/>
                </a:solidFill>
                <a:latin typeface="HYWenRunSongYun U"/>
                <a:ea typeface="HYWenRunSongYun U"/>
                <a:cs typeface="HYWenRunSongYun U"/>
              </a:rPr>
              <a:t>A</a:t>
            </a:r>
          </a:p>
        </p:txBody>
      </p:sp>
      <p:sp>
        <p:nvSpPr>
          <p:cNvPr id="21" name="p3-A-name">
            <a:extLst xmlns:a="http://schemas.openxmlformats.org/drawingml/2006/main">
              <a:ext uri="{FF2B5EF4-FFF2-40B4-BE49-F238E27FC236}">
                <a16:creationId xmlns:a16="http://schemas.microsoft.com/office/drawing/2014/main" id="{8F3B16E9-0C3D-4032-B1BF-C2AD0D3C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临时增加值班</a:t>
            </a:r>
          </a:p>
        </p:txBody>
      </p:sp>
      <p:sp>
        <p:nvSpPr>
          <p:cNvPr id="22" name="p3-A-rule">
            <a:extLst xmlns:a="http://schemas.openxmlformats.org/drawingml/2006/main">
              <a:ext uri="{FF2B5EF4-FFF2-40B4-BE49-F238E27FC236}">
                <a16:creationId xmlns:a16="http://schemas.microsoft.com/office/drawing/2014/main" id="{0DA75716-65F0-4874-8634-692CFC40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671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solidFill>
              <a:srgbClr val="D6DDE5"/>
            </a:solidFill>
            <a:prstDash val="solid"/>
          </a:ln>
        </p:spPr>
      </p:sp>
      <p:sp>
        <p:nvSpPr>
          <p:cNvPr id="23" name="p3-A-l-0">
            <a:extLst xmlns:a="http://schemas.openxmlformats.org/drawingml/2006/main">
              <a:ext uri="{FF2B5EF4-FFF2-40B4-BE49-F238E27FC236}">
                <a16:creationId xmlns:a16="http://schemas.microsoft.com/office/drawing/2014/main" id="{C708B2B7-8533-4081-B24E-B096FD87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004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直接作用</a:t>
            </a:r>
          </a:p>
        </p:txBody>
      </p:sp>
      <p:sp>
        <p:nvSpPr>
          <p:cNvPr id="24" name="p3-A-v-0">
            <a:extLst xmlns:a="http://schemas.openxmlformats.org/drawingml/2006/main">
              <a:ext uri="{FF2B5EF4-FFF2-40B4-BE49-F238E27FC236}">
                <a16:creationId xmlns:a16="http://schemas.microsoft.com/office/drawing/2014/main" id="{B6182C2A-C648-44AE-87FA-80EE3ED4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6004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人工响应排队</a:t>
            </a:r>
          </a:p>
        </p:txBody>
      </p:sp>
      <p:sp>
        <p:nvSpPr>
          <p:cNvPr id="25" name="p3-A-l-1">
            <a:extLst xmlns:a="http://schemas.openxmlformats.org/drawingml/2006/main">
              <a:ext uri="{FF2B5EF4-FFF2-40B4-BE49-F238E27FC236}">
                <a16:creationId xmlns:a16="http://schemas.microsoft.com/office/drawing/2014/main" id="{703CA8A9-6AF9-44FD-9B05-1916BF8C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957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26" name="p3-A-v-1">
            <a:extLst xmlns:a="http://schemas.openxmlformats.org/drawingml/2006/main">
              <a:ext uri="{FF2B5EF4-FFF2-40B4-BE49-F238E27FC236}">
                <a16:creationId xmlns:a16="http://schemas.microsoft.com/office/drawing/2014/main" id="{77B28D02-838C-4FAF-BE17-9CD08E4E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95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8人日</a:t>
            </a:r>
          </a:p>
        </p:txBody>
      </p:sp>
      <p:sp>
        <p:nvSpPr>
          <p:cNvPr id="27" name="p3-A-l-2">
            <a:extLst xmlns:a="http://schemas.openxmlformats.org/drawingml/2006/main">
              <a:ext uri="{FF2B5EF4-FFF2-40B4-BE49-F238E27FC236}">
                <a16:creationId xmlns:a16="http://schemas.microsoft.com/office/drawing/2014/main" id="{3792927F-9F6D-4178-8413-B71E71EB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上线周期</a:t>
            </a:r>
          </a:p>
        </p:txBody>
      </p:sp>
      <p:sp>
        <p:nvSpPr>
          <p:cNvPr id="28" name="p3-A-v-2">
            <a:extLst xmlns:a="http://schemas.openxmlformats.org/drawingml/2006/main">
              <a:ext uri="{FF2B5EF4-FFF2-40B4-BE49-F238E27FC236}">
                <a16:creationId xmlns:a16="http://schemas.microsoft.com/office/drawing/2014/main" id="{8660DFF6-86BA-4C7B-86C1-492A0321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1910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1周</a:t>
            </a:r>
          </a:p>
        </p:txBody>
      </p:sp>
      <p:sp>
        <p:nvSpPr>
          <p:cNvPr id="29" name="p3-A-l-3">
            <a:extLst xmlns:a="http://schemas.openxmlformats.org/drawingml/2006/main">
              <a:ext uri="{FF2B5EF4-FFF2-40B4-BE49-F238E27FC236}">
                <a16:creationId xmlns:a16="http://schemas.microsoft.com/office/drawing/2014/main" id="{DC73C76D-E640-4572-B3B9-BC352C4F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8627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30" name="p3-A-v-3">
            <a:extLst xmlns:a="http://schemas.openxmlformats.org/drawingml/2006/main">
              <a:ext uri="{FF2B5EF4-FFF2-40B4-BE49-F238E27FC236}">
                <a16:creationId xmlns:a16="http://schemas.microsoft.com/office/drawing/2014/main" id="{39BA6973-8A76-4AE8-A44A-9E431C4F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4862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每周2人日值班</a:t>
            </a:r>
          </a:p>
        </p:txBody>
      </p:sp>
      <p:sp>
        <p:nvSpPr>
          <p:cNvPr id="31" name="p3-A-l-4">
            <a:extLst xmlns:a="http://schemas.openxmlformats.org/drawingml/2006/main">
              <a:ext uri="{FF2B5EF4-FFF2-40B4-BE49-F238E27FC236}">
                <a16:creationId xmlns:a16="http://schemas.microsoft.com/office/drawing/2014/main" id="{F7E62CD8-2B31-4A95-B73B-27B331BA6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815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32" name="p3-A-v-4">
            <a:extLst xmlns:a="http://schemas.openxmlformats.org/drawingml/2006/main">
              <a:ext uri="{FF2B5EF4-FFF2-40B4-BE49-F238E27FC236}">
                <a16:creationId xmlns:a16="http://schemas.microsoft.com/office/drawing/2014/main" id="{7D93FB6E-31DD-403D-A20E-45422089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7815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可调配值班人员</a:t>
            </a:r>
          </a:p>
        </p:txBody>
      </p:sp>
      <p:sp>
        <p:nvSpPr>
          <p:cNvPr id="33" name="p3-A-l-5">
            <a:extLst xmlns:a="http://schemas.openxmlformats.org/drawingml/2006/main">
              <a:ext uri="{FF2B5EF4-FFF2-40B4-BE49-F238E27FC236}">
                <a16:creationId xmlns:a16="http://schemas.microsoft.com/office/drawing/2014/main" id="{858542A3-9EB4-4878-A203-B6A7B7DA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768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34" name="p3-A-v-5">
            <a:extLst xmlns:a="http://schemas.openxmlformats.org/drawingml/2006/main">
              <a:ext uri="{FF2B5EF4-FFF2-40B4-BE49-F238E27FC236}">
                <a16:creationId xmlns:a16="http://schemas.microsoft.com/office/drawing/2014/main" id="{336487FC-10E5-4677-AEA1-65F62EF8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0768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不直接解决材料缺失</a:t>
            </a:r>
          </a:p>
        </p:txBody>
      </p:sp>
      <p:sp>
        <p:nvSpPr>
          <p:cNvPr id="35" name="p3-B-bg">
            <a:extLst xmlns:a="http://schemas.openxmlformats.org/drawingml/2006/main">
              <a:ext uri="{FF2B5EF4-FFF2-40B4-BE49-F238E27FC236}">
                <a16:creationId xmlns:a16="http://schemas.microsoft.com/office/drawing/2014/main" id="{57030F64-981C-4DD8-B181-DD36E32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76550"/>
            <a:ext cx="35052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6" name="p3-B-key">
            <a:extLst xmlns:a="http://schemas.openxmlformats.org/drawingml/2006/main">
              <a:ext uri="{FF2B5EF4-FFF2-40B4-BE49-F238E27FC236}">
                <a16:creationId xmlns:a16="http://schemas.microsoft.com/office/drawing/2014/main" id="{2E76C1A8-3077-427D-916A-8724ED9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048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315F91"/>
                </a:solidFill>
                <a:latin typeface="HYWenRunSongYun U"/>
                <a:ea typeface="HYWenRunSongYun U"/>
                <a:cs typeface="HYWenRunSongYun U"/>
              </a:rPr>
              <a:t>B</a:t>
            </a:r>
          </a:p>
        </p:txBody>
      </p:sp>
      <p:sp>
        <p:nvSpPr>
          <p:cNvPr id="37" name="p3-B-name">
            <a:extLst xmlns:a="http://schemas.openxmlformats.org/drawingml/2006/main">
              <a:ext uri="{FF2B5EF4-FFF2-40B4-BE49-F238E27FC236}">
                <a16:creationId xmlns:a16="http://schemas.microsoft.com/office/drawing/2014/main" id="{58241BF3-FF33-4905-89B0-8382BFFD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统一申请入口</a:t>
            </a:r>
          </a:p>
        </p:txBody>
      </p:sp>
      <p:sp>
        <p:nvSpPr>
          <p:cNvPr id="38" name="p3-recommend-bg">
            <a:extLst xmlns:a="http://schemas.openxmlformats.org/drawingml/2006/main">
              <a:ext uri="{FF2B5EF4-FFF2-40B4-BE49-F238E27FC236}">
                <a16:creationId xmlns:a16="http://schemas.microsoft.com/office/drawing/2014/main" id="{24A9A994-2A57-4ABC-BC9E-F1EFA20D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14700"/>
            <a:ext cx="11430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9" name="p3-recommend-text">
            <a:extLst xmlns:a="http://schemas.openxmlformats.org/drawingml/2006/main">
              <a:ext uri="{FF2B5EF4-FFF2-40B4-BE49-F238E27FC236}">
                <a16:creationId xmlns:a16="http://schemas.microsoft.com/office/drawing/2014/main" id="{98FE148A-58E8-46E7-A7CE-098E6290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3528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建议先试行</a:t>
            </a:r>
          </a:p>
        </p:txBody>
      </p:sp>
      <p:sp>
        <p:nvSpPr>
          <p:cNvPr id="40" name="p3-B-rule">
            <a:extLst xmlns:a="http://schemas.openxmlformats.org/drawingml/2006/main">
              <a:ext uri="{FF2B5EF4-FFF2-40B4-BE49-F238E27FC236}">
                <a16:creationId xmlns:a16="http://schemas.microsoft.com/office/drawing/2014/main" id="{9702D3B5-A9B8-487E-8286-0DF5A70F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4671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solidFill>
              <a:srgbClr val="D6DDE5"/>
            </a:solidFill>
            <a:prstDash val="solid"/>
          </a:ln>
        </p:spPr>
      </p:sp>
      <p:sp>
        <p:nvSpPr>
          <p:cNvPr id="41" name="p3-B-l-0">
            <a:extLst xmlns:a="http://schemas.openxmlformats.org/drawingml/2006/main">
              <a:ext uri="{FF2B5EF4-FFF2-40B4-BE49-F238E27FC236}">
                <a16:creationId xmlns:a16="http://schemas.microsoft.com/office/drawing/2014/main" id="{4D8E4ADF-CAAF-4F7A-89C6-797C35B7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6004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直接作用</a:t>
            </a:r>
          </a:p>
        </p:txBody>
      </p:sp>
      <p:sp>
        <p:nvSpPr>
          <p:cNvPr id="42" name="p3-B-v-0">
            <a:extLst xmlns:a="http://schemas.openxmlformats.org/drawingml/2006/main">
              <a:ext uri="{FF2B5EF4-FFF2-40B4-BE49-F238E27FC236}">
                <a16:creationId xmlns:a16="http://schemas.microsoft.com/office/drawing/2014/main" id="{CF21D6F0-F1F4-4FA8-9728-71491DA2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6004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字段与授权校验</a:t>
            </a:r>
          </a:p>
        </p:txBody>
      </p:sp>
      <p:sp>
        <p:nvSpPr>
          <p:cNvPr id="43" name="p3-B-l-1">
            <a:extLst xmlns:a="http://schemas.openxmlformats.org/drawingml/2006/main">
              <a:ext uri="{FF2B5EF4-FFF2-40B4-BE49-F238E27FC236}">
                <a16:creationId xmlns:a16="http://schemas.microsoft.com/office/drawing/2014/main" id="{48F6F34F-C513-4C1C-89E7-49AF9BF9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8957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44" name="p3-B-v-1">
            <a:extLst xmlns:a="http://schemas.openxmlformats.org/drawingml/2006/main">
              <a:ext uri="{FF2B5EF4-FFF2-40B4-BE49-F238E27FC236}">
                <a16:creationId xmlns:a16="http://schemas.microsoft.com/office/drawing/2014/main" id="{5F886176-44FF-4607-98BF-ED33D03F3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95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12人日</a:t>
            </a:r>
          </a:p>
        </p:txBody>
      </p:sp>
      <p:sp>
        <p:nvSpPr>
          <p:cNvPr id="45" name="p3-B-l-2">
            <a:extLst xmlns:a="http://schemas.openxmlformats.org/drawingml/2006/main">
              <a:ext uri="{FF2B5EF4-FFF2-40B4-BE49-F238E27FC236}">
                <a16:creationId xmlns:a16="http://schemas.microsoft.com/office/drawing/2014/main" id="{991E79D4-960E-4597-AF19-DF83E26FC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上线周期</a:t>
            </a:r>
          </a:p>
        </p:txBody>
      </p:sp>
      <p:sp>
        <p:nvSpPr>
          <p:cNvPr id="46" name="p3-B-v-2">
            <a:extLst xmlns:a="http://schemas.openxmlformats.org/drawingml/2006/main">
              <a:ext uri="{FF2B5EF4-FFF2-40B4-BE49-F238E27FC236}">
                <a16:creationId xmlns:a16="http://schemas.microsoft.com/office/drawing/2014/main" id="{D1F19D75-CD84-45F4-929B-50E46CC6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1910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2周</a:t>
            </a:r>
          </a:p>
        </p:txBody>
      </p:sp>
      <p:sp>
        <p:nvSpPr>
          <p:cNvPr id="47" name="p3-B-l-3">
            <a:extLst xmlns:a="http://schemas.openxmlformats.org/drawingml/2006/main">
              <a:ext uri="{FF2B5EF4-FFF2-40B4-BE49-F238E27FC236}">
                <a16:creationId xmlns:a16="http://schemas.microsoft.com/office/drawing/2014/main" id="{50CC5E82-E9EF-46F9-9CA1-91E78A4B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48627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48" name="p3-B-v-3">
            <a:extLst xmlns:a="http://schemas.openxmlformats.org/drawingml/2006/main">
              <a:ext uri="{FF2B5EF4-FFF2-40B4-BE49-F238E27FC236}">
                <a16:creationId xmlns:a16="http://schemas.microsoft.com/office/drawing/2014/main" id="{5584B479-9992-4A6C-8C8C-FEF08DDEF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4862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每周0.5人日规则维护</a:t>
            </a:r>
          </a:p>
        </p:txBody>
      </p:sp>
      <p:sp>
        <p:nvSpPr>
          <p:cNvPr id="49" name="p3-B-l-4">
            <a:extLst xmlns:a="http://schemas.openxmlformats.org/drawingml/2006/main">
              <a:ext uri="{FF2B5EF4-FFF2-40B4-BE49-F238E27FC236}">
                <a16:creationId xmlns:a16="http://schemas.microsoft.com/office/drawing/2014/main" id="{0AA26846-4841-4E97-B80A-FBFE3011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7815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50" name="p3-B-v-4">
            <a:extLst xmlns:a="http://schemas.openxmlformats.org/drawingml/2006/main">
              <a:ext uri="{FF2B5EF4-FFF2-40B4-BE49-F238E27FC236}">
                <a16:creationId xmlns:a16="http://schemas.microsoft.com/office/drawing/2014/main" id="{F9932421-F72F-45CB-964E-7E1BC84A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47815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三类请求字段达成一致</a:t>
            </a:r>
          </a:p>
        </p:txBody>
      </p:sp>
      <p:sp>
        <p:nvSpPr>
          <p:cNvPr id="51" name="p3-B-l-5">
            <a:extLst xmlns:a="http://schemas.openxmlformats.org/drawingml/2006/main">
              <a:ext uri="{FF2B5EF4-FFF2-40B4-BE49-F238E27FC236}">
                <a16:creationId xmlns:a16="http://schemas.microsoft.com/office/drawing/2014/main" id="{0EDF9AA7-4187-4AC5-9434-A2650E50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50768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52" name="p3-B-v-5">
            <a:extLst xmlns:a="http://schemas.openxmlformats.org/drawingml/2006/main">
              <a:ext uri="{FF2B5EF4-FFF2-40B4-BE49-F238E27FC236}">
                <a16:creationId xmlns:a16="http://schemas.microsoft.com/office/drawing/2014/main" id="{0614B4E6-9B72-4A9D-A3FC-81C1D0F8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0768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不消除复杂需求沟通</a:t>
            </a:r>
          </a:p>
        </p:txBody>
      </p:sp>
      <p:sp>
        <p:nvSpPr>
          <p:cNvPr id="53" name="p3-C-bg">
            <a:extLst xmlns:a="http://schemas.openxmlformats.org/drawingml/2006/main">
              <a:ext uri="{FF2B5EF4-FFF2-40B4-BE49-F238E27FC236}">
                <a16:creationId xmlns:a16="http://schemas.microsoft.com/office/drawing/2014/main" id="{72690AA4-43E0-4F1E-A62C-58C1A9CB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76550"/>
            <a:ext cx="3505200" cy="270510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7EDE5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54" name="p3-C-key">
            <a:extLst xmlns:a="http://schemas.openxmlformats.org/drawingml/2006/main">
              <a:ext uri="{FF2B5EF4-FFF2-40B4-BE49-F238E27FC236}">
                <a16:creationId xmlns:a16="http://schemas.microsoft.com/office/drawing/2014/main" id="{758C3E6F-D051-46D5-90CF-90268610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0480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defRPr>
            </a:pPr>
            <a:r>
              <a:rPr sz="1800" b="1">
                <a:solidFill>
                  <a:srgbClr val="C56B31"/>
                </a:solidFill>
                <a:latin typeface="HYWenRunSongYun U"/>
                <a:ea typeface="HYWenRunSongYun U"/>
                <a:cs typeface="HYWenRunSongYun U"/>
              </a:rPr>
              <a:t>C</a:t>
            </a:r>
          </a:p>
        </p:txBody>
      </p:sp>
      <p:sp>
        <p:nvSpPr>
          <p:cNvPr id="55" name="p3-C-name">
            <a:extLst xmlns:a="http://schemas.openxmlformats.org/drawingml/2006/main">
              <a:ext uri="{FF2B5EF4-FFF2-40B4-BE49-F238E27FC236}">
                <a16:creationId xmlns:a16="http://schemas.microsoft.com/office/drawing/2014/main" id="{EFEB3B1E-1EF4-48A9-BA7E-0DF7DF02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3067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批量自动预检</a:t>
            </a:r>
          </a:p>
        </p:txBody>
      </p:sp>
      <p:sp>
        <p:nvSpPr>
          <p:cNvPr id="56" name="p3-C-rule">
            <a:extLst xmlns:a="http://schemas.openxmlformats.org/drawingml/2006/main">
              <a:ext uri="{FF2B5EF4-FFF2-40B4-BE49-F238E27FC236}">
                <a16:creationId xmlns:a16="http://schemas.microsoft.com/office/drawing/2014/main" id="{CA0C5B74-0A24-4CF2-B52C-B9E219BEA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67100"/>
            <a:ext cx="312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DE5"/>
          </a:solidFill>
          <a:ln xmlns:a="http://schemas.openxmlformats.org/drawingml/2006/main" w="0">
            <a:solidFill>
              <a:srgbClr val="D6DDE5"/>
            </a:solidFill>
            <a:prstDash val="solid"/>
          </a:ln>
        </p:spPr>
      </p:sp>
      <p:sp>
        <p:nvSpPr>
          <p:cNvPr id="57" name="p3-C-l-0">
            <a:extLst xmlns:a="http://schemas.openxmlformats.org/drawingml/2006/main">
              <a:ext uri="{FF2B5EF4-FFF2-40B4-BE49-F238E27FC236}">
                <a16:creationId xmlns:a16="http://schemas.microsoft.com/office/drawing/2014/main" id="{4913F238-C686-4715-AF1D-338365F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6004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直接作用</a:t>
            </a:r>
          </a:p>
        </p:txBody>
      </p:sp>
      <p:sp>
        <p:nvSpPr>
          <p:cNvPr id="58" name="p3-C-v-0">
            <a:extLst xmlns:a="http://schemas.openxmlformats.org/drawingml/2006/main">
              <a:ext uri="{FF2B5EF4-FFF2-40B4-BE49-F238E27FC236}">
                <a16:creationId xmlns:a16="http://schemas.microsoft.com/office/drawing/2014/main" id="{7DD50DFB-FF69-4936-B9CC-93E1B97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6004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材料格式检查</a:t>
            </a:r>
          </a:p>
        </p:txBody>
      </p:sp>
      <p:sp>
        <p:nvSpPr>
          <p:cNvPr id="59" name="p3-C-l-1">
            <a:extLst xmlns:a="http://schemas.openxmlformats.org/drawingml/2006/main">
              <a:ext uri="{FF2B5EF4-FFF2-40B4-BE49-F238E27FC236}">
                <a16:creationId xmlns:a16="http://schemas.microsoft.com/office/drawing/2014/main" id="{90D1018C-A615-4BF2-9AA9-C9966EE6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8957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初期投入</a:t>
            </a:r>
          </a:p>
        </p:txBody>
      </p:sp>
      <p:sp>
        <p:nvSpPr>
          <p:cNvPr id="60" name="p3-C-v-1">
            <a:extLst xmlns:a="http://schemas.openxmlformats.org/drawingml/2006/main">
              <a:ext uri="{FF2B5EF4-FFF2-40B4-BE49-F238E27FC236}">
                <a16:creationId xmlns:a16="http://schemas.microsoft.com/office/drawing/2014/main" id="{796769ED-1440-424F-8D56-BD3ADEEF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8957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30人日</a:t>
            </a:r>
          </a:p>
        </p:txBody>
      </p:sp>
      <p:sp>
        <p:nvSpPr>
          <p:cNvPr id="61" name="p3-C-l-2">
            <a:extLst xmlns:a="http://schemas.openxmlformats.org/drawingml/2006/main">
              <a:ext uri="{FF2B5EF4-FFF2-40B4-BE49-F238E27FC236}">
                <a16:creationId xmlns:a16="http://schemas.microsoft.com/office/drawing/2014/main" id="{D40AD81B-493F-487A-9778-3F4D0610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19100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上线周期</a:t>
            </a:r>
          </a:p>
        </p:txBody>
      </p:sp>
      <p:sp>
        <p:nvSpPr>
          <p:cNvPr id="62" name="p3-C-v-2">
            <a:extLst xmlns:a="http://schemas.openxmlformats.org/drawingml/2006/main">
              <a:ext uri="{FF2B5EF4-FFF2-40B4-BE49-F238E27FC236}">
                <a16:creationId xmlns:a16="http://schemas.microsoft.com/office/drawing/2014/main" id="{0FF8445B-00D3-42B4-B49D-CA987062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6周</a:t>
            </a:r>
          </a:p>
        </p:txBody>
      </p:sp>
      <p:sp>
        <p:nvSpPr>
          <p:cNvPr id="63" name="p3-C-l-3">
            <a:extLst xmlns:a="http://schemas.openxmlformats.org/drawingml/2006/main">
              <a:ext uri="{FF2B5EF4-FFF2-40B4-BE49-F238E27FC236}">
                <a16:creationId xmlns:a16="http://schemas.microsoft.com/office/drawing/2014/main" id="{CECEB035-CA05-4C19-A636-0B1C580A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48627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持续维护</a:t>
            </a:r>
          </a:p>
        </p:txBody>
      </p:sp>
      <p:sp>
        <p:nvSpPr>
          <p:cNvPr id="64" name="p3-C-v-3">
            <a:extLst xmlns:a="http://schemas.openxmlformats.org/drawingml/2006/main">
              <a:ext uri="{FF2B5EF4-FFF2-40B4-BE49-F238E27FC236}">
                <a16:creationId xmlns:a16="http://schemas.microsoft.com/office/drawing/2014/main" id="{E56FA799-349A-4BB8-961D-168013C2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8627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每周1人日规则维护</a:t>
            </a:r>
          </a:p>
        </p:txBody>
      </p:sp>
      <p:sp>
        <p:nvSpPr>
          <p:cNvPr id="65" name="p3-C-l-4">
            <a:extLst xmlns:a="http://schemas.openxmlformats.org/drawingml/2006/main">
              <a:ext uri="{FF2B5EF4-FFF2-40B4-BE49-F238E27FC236}">
                <a16:creationId xmlns:a16="http://schemas.microsoft.com/office/drawing/2014/main" id="{7B9558E2-17CA-44A1-A3AD-A6BBDD99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4781550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当前依赖</a:t>
            </a:r>
          </a:p>
        </p:txBody>
      </p:sp>
      <p:sp>
        <p:nvSpPr>
          <p:cNvPr id="66" name="p3-C-v-4">
            <a:extLst xmlns:a="http://schemas.openxmlformats.org/drawingml/2006/main">
              <a:ext uri="{FF2B5EF4-FFF2-40B4-BE49-F238E27FC236}">
                <a16:creationId xmlns:a16="http://schemas.microsoft.com/office/drawing/2014/main" id="{4BEAA917-D66E-465A-BADB-4F53BA7C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7815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稳定字段及机器规则</a:t>
            </a:r>
          </a:p>
        </p:txBody>
      </p:sp>
      <p:sp>
        <p:nvSpPr>
          <p:cNvPr id="67" name="p3-C-l-5">
            <a:extLst xmlns:a="http://schemas.openxmlformats.org/drawingml/2006/main">
              <a:ext uri="{FF2B5EF4-FFF2-40B4-BE49-F238E27FC236}">
                <a16:creationId xmlns:a16="http://schemas.microsoft.com/office/drawing/2014/main" id="{0373B166-7362-4EFB-B1B6-79A5F8FD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076825"/>
            <a:ext cx="714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主要限制</a:t>
            </a:r>
          </a:p>
        </p:txBody>
      </p:sp>
      <p:sp>
        <p:nvSpPr>
          <p:cNvPr id="68" name="p3-C-v-5">
            <a:extLst xmlns:a="http://schemas.openxmlformats.org/drawingml/2006/main">
              <a:ext uri="{FF2B5EF4-FFF2-40B4-BE49-F238E27FC236}">
                <a16:creationId xmlns:a16="http://schemas.microsoft.com/office/drawing/2014/main" id="{2CD49F70-DE47-4123-BCA9-B2DB580B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076825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不替代人工授权判断</a:t>
            </a:r>
          </a:p>
        </p:txBody>
      </p:sp>
      <p:sp>
        <p:nvSpPr>
          <p:cNvPr id="69" name="p3-decision">
            <a:extLst xmlns:a="http://schemas.openxmlformats.org/drawingml/2006/main">
              <a:ext uri="{FF2B5EF4-FFF2-40B4-BE49-F238E27FC236}">
                <a16:creationId xmlns:a16="http://schemas.microsoft.com/office/drawing/2014/main" id="{0E493573-7D71-4B46-88C0-BB7327D1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1144250" cy="333375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9F1EA"/>
          </a:solidFill>
          <a:ln xmlns:a="http://schemas.openxmlformats.org/drawingml/2006/main" w="9525">
            <a:solidFill>
              <a:srgbClr val="E9F1EA"/>
            </a:solidFill>
            <a:prstDash val="solid"/>
          </a:ln>
        </p:spPr>
      </p:sp>
      <p:sp>
        <p:nvSpPr>
          <p:cNvPr id="70" name="p3-decision-text">
            <a:extLst xmlns:a="http://schemas.openxmlformats.org/drawingml/2006/main">
              <a:ext uri="{FF2B5EF4-FFF2-40B4-BE49-F238E27FC236}">
                <a16:creationId xmlns:a16="http://schemas.microsoft.com/office/drawing/2014/main" id="{F5EA9F6C-1914-4415-9FDC-ABB8C3A6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10715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rPr>
              <a:t>决策条件：先试行B；高峰期保留A应急；C待入口规则稳定后再评估。B尚未实施，不能宣称已有改善或承诺消除全部阻塞。</a:t>
            </a:r>
          </a:p>
        </p:txBody>
      </p:sp>
      <p:sp>
        <p:nvSpPr>
          <p:cNvPr id="71" name="foot-0.846200631665452">
            <a:extLst xmlns:a="http://schemas.openxmlformats.org/drawingml/2006/main">
              <a:ext uri="{FF2B5EF4-FFF2-40B4-BE49-F238E27FC236}">
                <a16:creationId xmlns:a16="http://schemas.microsoft.com/office/drawing/2014/main" id="{CC2BD785-72D9-41D5-85FB-E9539F3A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模拟方案估计｜“人日”仅表示实施工作量；持续维护为周期性投入。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六周试点应以数据完整和规则可用为门槛，再决定是否扩围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试点计划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tag-试点计划-bg">
            <a:extLst xmlns:a="http://schemas.openxmlformats.org/drawingml/2006/main">
              <a:ext uri="{FF2B5EF4-FFF2-40B4-BE49-F238E27FC236}">
                <a16:creationId xmlns:a16="http://schemas.microsoft.com/office/drawing/2014/main" id="{410E82DD-946F-4C47-ADC3-54C65AE7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91440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E8F0F7"/>
            </a:solidFill>
            <a:prstDash val="solid"/>
          </a:ln>
        </p:spPr>
      </p:sp>
      <p:sp>
        <p:nvSpPr>
          <p:cNvPr id="16" name="tag-试点计划-text">
            <a:extLst xmlns:a="http://schemas.openxmlformats.org/drawingml/2006/main">
              <a:ext uri="{FF2B5EF4-FFF2-40B4-BE49-F238E27FC236}">
                <a16:creationId xmlns:a16="http://schemas.microsoft.com/office/drawing/2014/main" id="{DF5A0A75-AF26-4DB1-95D6-250ADEF9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3355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试点计划</a:t>
            </a:r>
          </a:p>
        </p:txBody>
      </p:sp>
      <p:sp>
        <p:nvSpPr>
          <p:cNvPr id="17" name="lead-试点计划">
            <a:extLst xmlns:a="http://schemas.openxmlformats.org/drawingml/2006/main">
              <a:ext uri="{FF2B5EF4-FFF2-40B4-BE49-F238E27FC236}">
                <a16:creationId xmlns:a16="http://schemas.microsoft.com/office/drawing/2014/main" id="{0ADCE9B5-538C-4944-9198-F06F9798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3835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六周试点应以数据完整和规则可用为门槛，再决定是否扩围</a:t>
            </a:r>
          </a:p>
        </p:txBody>
      </p:sp>
      <p:sp>
        <p:nvSpPr>
          <p:cNvPr id="18" name="p4-sub">
            <a:extLst xmlns:a="http://schemas.openxmlformats.org/drawingml/2006/main">
              <a:ext uri="{FF2B5EF4-FFF2-40B4-BE49-F238E27FC236}">
                <a16:creationId xmlns:a16="http://schemas.microsoft.com/office/drawing/2014/main" id="{1AF1447E-B5F0-4C07-A9B7-5DBBA4C8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00300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阶段有前后依赖；第3—4周只覆盖数据提取请求，评估通过后才考虑扩展到另外两类。</a:t>
            </a:r>
          </a:p>
        </p:txBody>
      </p:sp>
      <p:sp>
        <p:nvSpPr>
          <p:cNvPr id="19" name="p4-stage-0">
            <a:extLst xmlns:a="http://schemas.openxmlformats.org/drawingml/2006/main">
              <a:ext uri="{FF2B5EF4-FFF2-40B4-BE49-F238E27FC236}">
                <a16:creationId xmlns:a16="http://schemas.microsoft.com/office/drawing/2014/main" id="{1FC58841-640B-44AE-9AF3-9F1EABE3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5600"/>
            <a:ext cx="33337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8F0F7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p4-week-0">
            <a:extLst xmlns:a="http://schemas.openxmlformats.org/drawingml/2006/main">
              <a:ext uri="{FF2B5EF4-FFF2-40B4-BE49-F238E27FC236}">
                <a16:creationId xmlns:a16="http://schemas.microsoft.com/office/drawing/2014/main" id="{5C89F031-F342-42C4-962D-961F748C9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670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第1—2周</a:t>
            </a:r>
          </a:p>
        </p:txBody>
      </p:sp>
      <p:sp>
        <p:nvSpPr>
          <p:cNvPr id="21" name="p4-title-0">
            <a:extLst xmlns:a="http://schemas.openxmlformats.org/drawingml/2006/main">
              <a:ext uri="{FF2B5EF4-FFF2-40B4-BE49-F238E27FC236}">
                <a16:creationId xmlns:a16="http://schemas.microsoft.com/office/drawing/2014/main" id="{CAED7BE3-3EFF-4C68-9B89-27B05659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371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统一字段与责任</a:t>
            </a:r>
          </a:p>
        </p:txBody>
      </p:sp>
      <p:sp>
        <p:nvSpPr>
          <p:cNvPr id="22" name="p4-body-0">
            <a:extLst xmlns:a="http://schemas.openxmlformats.org/drawingml/2006/main">
              <a:ext uri="{FF2B5EF4-FFF2-40B4-BE49-F238E27FC236}">
                <a16:creationId xmlns:a16="http://schemas.microsoft.com/office/drawing/2014/main" id="{6BB49E00-DFE9-41FB-AE5A-2AE21A58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771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负责人联合三类经办人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形成字段字典、授权清单、统一入口</a:t>
            </a:r>
          </a:p>
        </p:txBody>
      </p:sp>
      <p:sp>
        <p:nvSpPr>
          <p:cNvPr id="23" name="p4-rule-0">
            <a:extLst xmlns:a="http://schemas.openxmlformats.org/drawingml/2006/main">
              <a:ext uri="{FF2B5EF4-FFF2-40B4-BE49-F238E27FC236}">
                <a16:creationId xmlns:a16="http://schemas.microsoft.com/office/drawing/2014/main" id="{C769774C-DA49-4AA7-A49E-2D1540AF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4386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solidFill>
              <a:srgbClr val="315F91"/>
            </a:solidFill>
            <a:prstDash val="solid"/>
          </a:ln>
        </p:spPr>
      </p:sp>
      <p:sp>
        <p:nvSpPr>
          <p:cNvPr id="24" name="p4-gate-label-0">
            <a:extLst xmlns:a="http://schemas.openxmlformats.org/drawingml/2006/main">
              <a:ext uri="{FF2B5EF4-FFF2-40B4-BE49-F238E27FC236}">
                <a16:creationId xmlns:a16="http://schemas.microsoft.com/office/drawing/2014/main" id="{5322626C-EDCA-4E1D-A70C-9BBC380E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进入下一阶段的条件</a:t>
            </a:r>
          </a:p>
        </p:txBody>
      </p:sp>
      <p:sp>
        <p:nvSpPr>
          <p:cNvPr id="25" name="p4-gate-0">
            <a:extLst xmlns:a="http://schemas.openxmlformats.org/drawingml/2006/main">
              <a:ext uri="{FF2B5EF4-FFF2-40B4-BE49-F238E27FC236}">
                <a16:creationId xmlns:a16="http://schemas.microsoft.com/office/drawing/2014/main" id="{B677BE3A-A82A-4875-9A11-56E8A249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三类请求完成一轮实际样本填写检查，且无关键必填缺失</a:t>
            </a:r>
          </a:p>
        </p:txBody>
      </p:sp>
      <p:sp>
        <p:nvSpPr>
          <p:cNvPr id="26" name="p4-arrow-0">
            <a:extLst xmlns:a="http://schemas.openxmlformats.org/drawingml/2006/main">
              <a:ext uri="{FF2B5EF4-FFF2-40B4-BE49-F238E27FC236}">
                <a16:creationId xmlns:a16="http://schemas.microsoft.com/office/drawing/2014/main" id="{FDA44FA8-2DD3-4A9F-A0AD-1983C998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5725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7" name="p4-stage-1">
            <a:extLst xmlns:a="http://schemas.openxmlformats.org/drawingml/2006/main">
              <a:ext uri="{FF2B5EF4-FFF2-40B4-BE49-F238E27FC236}">
                <a16:creationId xmlns:a16="http://schemas.microsoft.com/office/drawing/2014/main" id="{A883E694-5D03-4157-ADCA-CE11E6E8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895600"/>
            <a:ext cx="33337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F7EDE5"/>
          </a:solidFill>
          <a:ln xmlns:a="http://schemas.openxmlformats.org/drawingml/2006/main" w="9525">
            <a:solidFill>
              <a:srgbClr val="C56B31"/>
            </a:solidFill>
            <a:prstDash val="solid"/>
          </a:ln>
        </p:spPr>
      </p:sp>
      <p:sp>
        <p:nvSpPr>
          <p:cNvPr id="28" name="p4-week-1">
            <a:extLst xmlns:a="http://schemas.openxmlformats.org/drawingml/2006/main">
              <a:ext uri="{FF2B5EF4-FFF2-40B4-BE49-F238E27FC236}">
                <a16:creationId xmlns:a16="http://schemas.microsoft.com/office/drawing/2014/main" id="{552D06CA-3100-4DA5-A1A0-BF983660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0670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第3—4周</a:t>
            </a:r>
          </a:p>
        </p:txBody>
      </p:sp>
      <p:sp>
        <p:nvSpPr>
          <p:cNvPr id="29" name="p4-title-1">
            <a:extLst xmlns:a="http://schemas.openxmlformats.org/drawingml/2006/main">
              <a:ext uri="{FF2B5EF4-FFF2-40B4-BE49-F238E27FC236}">
                <a16:creationId xmlns:a16="http://schemas.microsoft.com/office/drawing/2014/main" id="{89B23DAA-3C37-48E2-838A-8595E18EC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371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小范围试用</a:t>
            </a:r>
          </a:p>
        </p:txBody>
      </p:sp>
      <p:sp>
        <p:nvSpPr>
          <p:cNvPr id="30" name="p4-body-1">
            <a:extLst xmlns:a="http://schemas.openxmlformats.org/drawingml/2006/main">
              <a:ext uri="{FF2B5EF4-FFF2-40B4-BE49-F238E27FC236}">
                <a16:creationId xmlns:a16="http://schemas.microsoft.com/office/drawing/2014/main" id="{2E74F94A-CA7B-4F07-B6E4-3B309C9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771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仅在数据提取请求中试用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保存缺失字段、退回原因、首次响应记录</a:t>
            </a:r>
          </a:p>
        </p:txBody>
      </p:sp>
      <p:sp>
        <p:nvSpPr>
          <p:cNvPr id="31" name="p4-rule-1">
            <a:extLst xmlns:a="http://schemas.openxmlformats.org/drawingml/2006/main">
              <a:ext uri="{FF2B5EF4-FFF2-40B4-BE49-F238E27FC236}">
                <a16:creationId xmlns:a16="http://schemas.microsoft.com/office/drawing/2014/main" id="{E03F3FD8-6432-4556-B7C0-D5236F13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4386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6B31"/>
          </a:solidFill>
          <a:ln xmlns:a="http://schemas.openxmlformats.org/drawingml/2006/main" w="0">
            <a:solidFill>
              <a:srgbClr val="C56B31"/>
            </a:solidFill>
            <a:prstDash val="solid"/>
          </a:ln>
        </p:spPr>
      </p:sp>
      <p:sp>
        <p:nvSpPr>
          <p:cNvPr id="32" name="p4-gate-label-1">
            <a:extLst xmlns:a="http://schemas.openxmlformats.org/drawingml/2006/main">
              <a:ext uri="{FF2B5EF4-FFF2-40B4-BE49-F238E27FC236}">
                <a16:creationId xmlns:a16="http://schemas.microsoft.com/office/drawing/2014/main" id="{D43A85A6-2484-40A3-B8F9-02EB7FAD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C56B31"/>
                </a:solidFill>
                <a:latin typeface="Microsoft YaHei"/>
                <a:ea typeface="Microsoft YaHei"/>
                <a:cs typeface="Microsoft YaHei"/>
              </a:rPr>
              <a:t>进入下一阶段的条件</a:t>
            </a:r>
          </a:p>
        </p:txBody>
      </p:sp>
      <p:sp>
        <p:nvSpPr>
          <p:cNvPr id="33" name="p4-gate-1">
            <a:extLst xmlns:a="http://schemas.openxmlformats.org/drawingml/2006/main">
              <a:ext uri="{FF2B5EF4-FFF2-40B4-BE49-F238E27FC236}">
                <a16:creationId xmlns:a16="http://schemas.microsoft.com/office/drawing/2014/main" id="{2896C88E-CF74-4EA1-AEAA-CE17661B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记录完整且无阻断提交的高频规则错误；否则回到字段/规则修订</a:t>
            </a:r>
          </a:p>
        </p:txBody>
      </p:sp>
      <p:sp>
        <p:nvSpPr>
          <p:cNvPr id="34" name="p4-arrow-1">
            <a:extLst xmlns:a="http://schemas.openxmlformats.org/drawingml/2006/main">
              <a:ext uri="{FF2B5EF4-FFF2-40B4-BE49-F238E27FC236}">
                <a16:creationId xmlns:a16="http://schemas.microsoft.com/office/drawing/2014/main" id="{9AF7531A-770D-4E49-8461-CB885E10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35" name="p4-stage-2">
            <a:extLst xmlns:a="http://schemas.openxmlformats.org/drawingml/2006/main">
              <a:ext uri="{FF2B5EF4-FFF2-40B4-BE49-F238E27FC236}">
                <a16:creationId xmlns:a16="http://schemas.microsoft.com/office/drawing/2014/main" id="{44A04305-70EB-4DB0-8686-08E864D7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895600"/>
            <a:ext cx="3333750" cy="2228850"/>
          </a:xfrm>
          <a:prstGeom xmlns:a="http://schemas.openxmlformats.org/drawingml/2006/main" prst="roundRect">
            <a:avLst>
              <a:gd name="adj" fmla="val 3419"/>
            </a:avLst>
          </a:prstGeom>
          <a:solidFill xmlns:a="http://schemas.openxmlformats.org/drawingml/2006/main">
            <a:srgbClr val="E9F1EA"/>
          </a:solidFill>
          <a:ln xmlns:a="http://schemas.openxmlformats.org/drawingml/2006/main" w="9525">
            <a:solidFill>
              <a:srgbClr val="5D8364"/>
            </a:solidFill>
            <a:prstDash val="solid"/>
          </a:ln>
        </p:spPr>
      </p:sp>
      <p:sp>
        <p:nvSpPr>
          <p:cNvPr id="36" name="p4-week-2">
            <a:extLst xmlns:a="http://schemas.openxmlformats.org/drawingml/2006/main">
              <a:ext uri="{FF2B5EF4-FFF2-40B4-BE49-F238E27FC236}">
                <a16:creationId xmlns:a16="http://schemas.microsoft.com/office/drawing/2014/main" id="{6A09C955-3D12-49DD-BE6E-6E686BA9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067050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rPr>
              <a:t>第5—6周</a:t>
            </a:r>
          </a:p>
        </p:txBody>
      </p:sp>
      <p:sp>
        <p:nvSpPr>
          <p:cNvPr id="37" name="p4-title-2">
            <a:extLst xmlns:a="http://schemas.openxmlformats.org/drawingml/2006/main">
              <a:ext uri="{FF2B5EF4-FFF2-40B4-BE49-F238E27FC236}">
                <a16:creationId xmlns:a16="http://schemas.microsoft.com/office/drawing/2014/main" id="{CEA0964A-18A8-44BA-B3E7-16E3CE1D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371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复核后决定扩围</a:t>
            </a:r>
          </a:p>
        </p:txBody>
      </p:sp>
      <p:sp>
        <p:nvSpPr>
          <p:cNvPr id="38" name="p4-body-2">
            <a:extLst xmlns:a="http://schemas.openxmlformats.org/drawingml/2006/main">
              <a:ext uri="{FF2B5EF4-FFF2-40B4-BE49-F238E27FC236}">
                <a16:creationId xmlns:a16="http://schemas.microsoft.com/office/drawing/2014/main" id="{DE9E9072-D8FD-4328-B62F-B3FA55F3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7719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负责人复核试点数据</a:t>
            </a:r>
          </a:p>
          <a:p xmlns:a="http://schemas.openxmlformats.org/drawingml/2006/main">
            <a:pPr algn="l">
              <a:def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再决定是否覆盖数据清洗、权限开通</a:t>
            </a:r>
          </a:p>
        </p:txBody>
      </p:sp>
      <p:sp>
        <p:nvSpPr>
          <p:cNvPr id="39" name="p4-rule-2">
            <a:extLst xmlns:a="http://schemas.openxmlformats.org/drawingml/2006/main">
              <a:ext uri="{FF2B5EF4-FFF2-40B4-BE49-F238E27FC236}">
                <a16:creationId xmlns:a16="http://schemas.microsoft.com/office/drawing/2014/main" id="{429D91F6-B72B-4103-9C8C-B6292FE2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38650"/>
            <a:ext cx="285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8364"/>
          </a:solidFill>
          <a:ln xmlns:a="http://schemas.openxmlformats.org/drawingml/2006/main" w="0">
            <a:solidFill>
              <a:srgbClr val="5D8364"/>
            </a:solidFill>
            <a:prstDash val="solid"/>
          </a:ln>
        </p:spPr>
      </p:sp>
      <p:sp>
        <p:nvSpPr>
          <p:cNvPr id="40" name="p4-gate-label-2">
            <a:extLst xmlns:a="http://schemas.openxmlformats.org/drawingml/2006/main">
              <a:ext uri="{FF2B5EF4-FFF2-40B4-BE49-F238E27FC236}">
                <a16:creationId xmlns:a16="http://schemas.microsoft.com/office/drawing/2014/main" id="{B21AC992-178A-4A81-BF02-E4EA8792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572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D8364"/>
                </a:solidFill>
                <a:latin typeface="Microsoft YaHei"/>
                <a:ea typeface="Microsoft YaHei"/>
                <a:cs typeface="Microsoft YaHei"/>
              </a:rPr>
              <a:t>进入下一阶段的条件</a:t>
            </a:r>
          </a:p>
        </p:txBody>
      </p:sp>
      <p:sp>
        <p:nvSpPr>
          <p:cNvPr id="41" name="p4-gate-2">
            <a:extLst xmlns:a="http://schemas.openxmlformats.org/drawingml/2006/main">
              <a:ext uri="{FF2B5EF4-FFF2-40B4-BE49-F238E27FC236}">
                <a16:creationId xmlns:a16="http://schemas.microsoft.com/office/drawing/2014/main" id="{DE6B8576-45FA-48DB-870B-038F7ADD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781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同时看首响比例、材料退回比例、经办人维护时间；目标值由基线确定</a:t>
            </a:r>
          </a:p>
        </p:txBody>
      </p:sp>
      <p:sp>
        <p:nvSpPr>
          <p:cNvPr id="42" name="p4-bottom">
            <a:extLst xmlns:a="http://schemas.openxmlformats.org/drawingml/2006/main">
              <a:ext uri="{FF2B5EF4-FFF2-40B4-BE49-F238E27FC236}">
                <a16:creationId xmlns:a16="http://schemas.microsoft.com/office/drawing/2014/main" id="{9EF8A234-E63D-43D5-9B5D-590FD7F20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76850"/>
            <a:ext cx="106870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5"/>
            </a:solidFill>
            <a:prstDash val="solid"/>
          </a:ln>
        </p:spPr>
      </p:sp>
      <p:sp>
        <p:nvSpPr>
          <p:cNvPr id="43" name="p4-metrics-label">
            <a:extLst xmlns:a="http://schemas.openxmlformats.org/drawingml/2006/main">
              <a:ext uri="{FF2B5EF4-FFF2-40B4-BE49-F238E27FC236}">
                <a16:creationId xmlns:a16="http://schemas.microsoft.com/office/drawing/2014/main" id="{E98219B4-B344-4832-9ED3-FE2324B8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统一评估口径</a:t>
            </a:r>
          </a:p>
        </p:txBody>
      </p:sp>
      <p:sp>
        <p:nvSpPr>
          <p:cNvPr id="44" name="p4-metrics-1">
            <a:extLst xmlns:a="http://schemas.openxmlformats.org/drawingml/2006/main">
              <a:ext uri="{FF2B5EF4-FFF2-40B4-BE49-F238E27FC236}">
                <a16:creationId xmlns:a16="http://schemas.microsoft.com/office/drawing/2014/main" id="{8B442A52-BC8B-4E8A-AF59-382A88996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10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两个工作日内响应比例</a:t>
            </a:r>
          </a:p>
        </p:txBody>
      </p:sp>
      <p:sp>
        <p:nvSpPr>
          <p:cNvPr id="45" name="p4-metrics-2">
            <a:extLst xmlns:a="http://schemas.openxmlformats.org/drawingml/2006/main">
              <a:ext uri="{FF2B5EF4-FFF2-40B4-BE49-F238E27FC236}">
                <a16:creationId xmlns:a16="http://schemas.microsoft.com/office/drawing/2014/main" id="{FF2B5D44-4D2D-4341-B95F-AA4BA37C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材料退回比例</a:t>
            </a:r>
          </a:p>
        </p:txBody>
      </p:sp>
      <p:sp>
        <p:nvSpPr>
          <p:cNvPr id="46" name="p4-metrics-3">
            <a:extLst xmlns:a="http://schemas.openxmlformats.org/drawingml/2006/main">
              <a:ext uri="{FF2B5EF4-FFF2-40B4-BE49-F238E27FC236}">
                <a16:creationId xmlns:a16="http://schemas.microsoft.com/office/drawing/2014/main" id="{D9E94DE3-0521-4DB4-8364-D59185EF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41020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经办人维护时间</a:t>
            </a:r>
          </a:p>
        </p:txBody>
      </p:sp>
      <p:sp>
        <p:nvSpPr>
          <p:cNvPr id="47" name="p4-metrics-note">
            <a:extLst xmlns:a="http://schemas.openxmlformats.org/drawingml/2006/main">
              <a:ext uri="{FF2B5EF4-FFF2-40B4-BE49-F238E27FC236}">
                <a16:creationId xmlns:a16="http://schemas.microsoft.com/office/drawing/2014/main" id="{CE884682-5345-4DA3-9813-EE8A7D54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10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目标值由试点基线确定</a:t>
            </a:r>
          </a:p>
        </p:txBody>
      </p:sp>
      <p:sp>
        <p:nvSpPr>
          <p:cNvPr id="48" name="foot-0.3609106355565821">
            <a:extLst xmlns:a="http://schemas.openxmlformats.org/drawingml/2006/main">
              <a:ext uri="{FF2B5EF4-FFF2-40B4-BE49-F238E27FC236}">
                <a16:creationId xmlns:a16="http://schemas.microsoft.com/office/drawing/2014/main" id="{81165F17-1363-4585-8723-CAFA0896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198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F6F6F"/>
                </a:solidFill>
                <a:latin typeface="Microsoft YaHei"/>
                <a:ea typeface="Microsoft YaHei"/>
                <a:cs typeface="Microsoft YaHei"/>
              </a:rPr>
              <a:t>模拟计划｜第3—4周发现高频规则错误时回到字段与规则修订；未预设未经论证的百分比目标。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2026-09-08T15:29:07.2500000Z</dcterms:created>
  <dcterms:modified xsi:type="dcterms:W3CDTF">2026-09-08T15:29:07.2500000Z</dcterms:modified>
</coreProperties>
</file>