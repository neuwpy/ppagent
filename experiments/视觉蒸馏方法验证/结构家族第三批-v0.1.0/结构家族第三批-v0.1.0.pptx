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4c301e89dd40e9" /><Relationship Type="http://schemas.openxmlformats.org/officeDocument/2006/relationships/extended-properties" Target="/docProps/app.xml" Id="Rc1ad85744447440a" /><Relationship Type="http://schemas.openxmlformats.org/officeDocument/2006/relationships/officeDocument" Target="/ppt/presentation.xml" Id="R9baffbd5445b41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52ee54c8a04475"/>
  </p:sldMasterIdLst>
  <p:notesMasterIdLst>
    <p:notesMasterId xmlns:r="http://schemas.openxmlformats.org/officeDocument/2006/relationships" r:id="R871d3fc3c7f64d64"/>
  </p:notesMasterIdLst>
  <p:sldIdLst>
    <p:sldId xmlns:r="http://schemas.openxmlformats.org/officeDocument/2006/relationships" id="256" r:id="R2366d5722e6a4e0e"/>
    <p:sldId xmlns:r="http://schemas.openxmlformats.org/officeDocument/2006/relationships" id="257" r:id="R286c881decf64638"/>
    <p:sldId xmlns:r="http://schemas.openxmlformats.org/officeDocument/2006/relationships" id="258" r:id="R8623007bfcb34cce"/>
    <p:sldId xmlns:r="http://schemas.openxmlformats.org/officeDocument/2006/relationships" id="259" r:id="Rdb5662ea6b284c3a"/>
    <p:sldId xmlns:r="http://schemas.openxmlformats.org/officeDocument/2006/relationships" id="260" r:id="Re0b563390c714a77"/>
    <p:sldId xmlns:r="http://schemas.openxmlformats.org/officeDocument/2006/relationships" id="261" r:id="R1c70d80fc6bf4e2c"/>
    <p:sldId xmlns:r="http://schemas.openxmlformats.org/officeDocument/2006/relationships" id="262" r:id="R49d40aa2ab084d97"/>
    <p:sldId xmlns:r="http://schemas.openxmlformats.org/officeDocument/2006/relationships" id="263" r:id="Rbcd2d494cdd94a78"/>
    <p:sldId xmlns:r="http://schemas.openxmlformats.org/officeDocument/2006/relationships" id="264" r:id="R64f0d56301a14702"/>
    <p:sldId xmlns:r="http://schemas.openxmlformats.org/officeDocument/2006/relationships" id="265" r:id="Rb08866a0d69f4f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e9bc1df3f04f10" /><Relationship Type="http://schemas.openxmlformats.org/officeDocument/2006/relationships/slideMaster" Target="/ppt/slideMasters/slideMaster1.xml" Id="R2852ee54c8a04475" /><Relationship Type="http://schemas.openxmlformats.org/officeDocument/2006/relationships/notesMaster" Target="/ppt/notesMasters/notesMaster1.xml" Id="R871d3fc3c7f64d64" /><Relationship Type="http://schemas.openxmlformats.org/officeDocument/2006/relationships/presProps" Target="/ppt/presProps.xml" Id="R735eae55dd144baf" /><Relationship Type="http://schemas.openxmlformats.org/officeDocument/2006/relationships/tableStyles" Target="/ppt/tableStyles.xml" Id="R7104098bfe3143ea" /><Relationship Type="http://schemas.openxmlformats.org/officeDocument/2006/relationships/slide" Target="/ppt/slides/slide1.xml" Id="R2366d5722e6a4e0e" /><Relationship Type="http://schemas.openxmlformats.org/officeDocument/2006/relationships/slide" Target="/ppt/slides/slide2.xml" Id="R286c881decf64638" /><Relationship Type="http://schemas.openxmlformats.org/officeDocument/2006/relationships/slide" Target="/ppt/slides/slide3.xml" Id="R8623007bfcb34cce" /><Relationship Type="http://schemas.openxmlformats.org/officeDocument/2006/relationships/slide" Target="/ppt/slides/slide4.xml" Id="Rdb5662ea6b284c3a" /><Relationship Type="http://schemas.openxmlformats.org/officeDocument/2006/relationships/slide" Target="/ppt/slides/slide5.xml" Id="Re0b563390c714a77" /><Relationship Type="http://schemas.openxmlformats.org/officeDocument/2006/relationships/slide" Target="/ppt/slides/slide6.xml" Id="R1c70d80fc6bf4e2c" /><Relationship Type="http://schemas.openxmlformats.org/officeDocument/2006/relationships/slide" Target="/ppt/slides/slide7.xml" Id="R49d40aa2ab084d97" /><Relationship Type="http://schemas.openxmlformats.org/officeDocument/2006/relationships/slide" Target="/ppt/slides/slide8.xml" Id="Rbcd2d494cdd94a78" /><Relationship Type="http://schemas.openxmlformats.org/officeDocument/2006/relationships/slide" Target="/ppt/slides/slide9.xml" Id="R64f0d56301a14702" /><Relationship Type="http://schemas.openxmlformats.org/officeDocument/2006/relationships/slide" Target="/ppt/slides/slide10.xml" Id="Rb08866a0d69f4f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2133a87f5c4f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f042141abe4064" /><Relationship Type="http://schemas.openxmlformats.org/officeDocument/2006/relationships/notesMaster" Target="/ppt/notesMasters/notesMaster1.xml" Id="Ra52d1d0b5a124a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ddff94abdb4883" /><Relationship Type="http://schemas.openxmlformats.org/officeDocument/2006/relationships/notesMaster" Target="/ppt/notesMasters/notesMaster1.xml" Id="R37eedfde49fe49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7ef660ba444c86" /><Relationship Type="http://schemas.openxmlformats.org/officeDocument/2006/relationships/notesMaster" Target="/ppt/notesMasters/notesMaster1.xml" Id="R14a017de5e144b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212dfe4d1e44dc" /><Relationship Type="http://schemas.openxmlformats.org/officeDocument/2006/relationships/notesMaster" Target="/ppt/notesMasters/notesMaster1.xml" Id="R6965592c520645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eacbf31f774388" /><Relationship Type="http://schemas.openxmlformats.org/officeDocument/2006/relationships/notesMaster" Target="/ppt/notesMasters/notesMaster1.xml" Id="R9302909728df43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124ad87a3f428e" /><Relationship Type="http://schemas.openxmlformats.org/officeDocument/2006/relationships/notesMaster" Target="/ppt/notesMasters/notesMaster1.xml" Id="R21764936162f4f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3cda6fc0404f64" /><Relationship Type="http://schemas.openxmlformats.org/officeDocument/2006/relationships/notesMaster" Target="/ppt/notesMasters/notesMaster1.xml" Id="R140f095fb73e47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a56429c73746c5" /><Relationship Type="http://schemas.openxmlformats.org/officeDocument/2006/relationships/notesMaster" Target="/ppt/notesMasters/notesMaster1.xml" Id="R0fba7ea9eddb4a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95b871589e485e" /><Relationship Type="http://schemas.openxmlformats.org/officeDocument/2006/relationships/notesMaster" Target="/ppt/notesMasters/notesMaster1.xml" Id="R564d443d85784f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f031033d3d4b6d" /><Relationship Type="http://schemas.openxmlformats.org/officeDocument/2006/relationships/notesMaster" Target="/ppt/notesMasters/notesMaster1.xml" Id="R439a5580d90d41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63d9502d4548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6440270ecb448d" /><Relationship Type="http://schemas.openxmlformats.org/officeDocument/2006/relationships/slideLayout" Target="/ppt/slideLayouts/slideLayout1.xml" Id="R9057b1fd166449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57b1fd166449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6229e249f466d" /><Relationship Type="http://schemas.openxmlformats.org/officeDocument/2006/relationships/notesSlide" Target="/ppt/notesSlides/notesSlide1.xml" Id="Rb2397efc395a4b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8daac3c164760" /><Relationship Type="http://schemas.openxmlformats.org/officeDocument/2006/relationships/notesSlide" Target="/ppt/notesSlides/notesSlide2.xml" Id="R214b850718ee4b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862cedb8144e5" /><Relationship Type="http://schemas.openxmlformats.org/officeDocument/2006/relationships/notesSlide" Target="/ppt/notesSlides/notesSlide3.xml" Id="Rde0b7b7ea35147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83fbb66d24665" /><Relationship Type="http://schemas.openxmlformats.org/officeDocument/2006/relationships/notesSlide" Target="/ppt/notesSlides/notesSlide4.xml" Id="R24a5f901dadb44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e2e5d32794b8e" /><Relationship Type="http://schemas.openxmlformats.org/officeDocument/2006/relationships/notesSlide" Target="/ppt/notesSlides/notesSlide5.xml" Id="R26abac913cd142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54ed3baaf449d" /><Relationship Type="http://schemas.openxmlformats.org/officeDocument/2006/relationships/notesSlide" Target="/ppt/notesSlides/notesSlide6.xml" Id="Rb061c18aa2f74c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46a8c80904b51" /><Relationship Type="http://schemas.openxmlformats.org/officeDocument/2006/relationships/notesSlide" Target="/ppt/notesSlides/notesSlide7.xml" Id="Rcc8ae8d7f15c4f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1d295811c43e4" /><Relationship Type="http://schemas.openxmlformats.org/officeDocument/2006/relationships/notesSlide" Target="/ppt/notesSlides/notesSlide8.xml" Id="R347c49178ef142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1000525d34d4f" /><Relationship Type="http://schemas.openxmlformats.org/officeDocument/2006/relationships/notesSlide" Target="/ppt/notesSlides/notesSlide9.xml" Id="R0ccb8d1998144c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78b8842cc48f1" /><Relationship Type="http://schemas.openxmlformats.org/officeDocument/2006/relationships/notesSlide" Target="/ppt/notesSlides/notesSlide10.xml" Id="R8c6289b5983142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C8FCA-27DF-443C-BA30-B31476D5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技术路线流程 · 2分支×1输入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E5C00-3476-4049-893D-69FE44C3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技术路线流程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5E3CA-547C-4168-B65D-B0A6BC33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19200"/>
            <a:ext cx="8572500" cy="5105400"/>
          </a:xfrm>
          <a:prstGeom xmlns:a="http://schemas.openxmlformats.org/drawingml/2006/main" prst="roundRect">
            <a:avLst>
              <a:gd name="adj" fmla="val 22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DBD66-FD82-40F9-ACBA-6EDB6A99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19200"/>
            <a:ext cx="247650" cy="51054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EBC38-4539-4573-A656-36807C9A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1714500"/>
            <a:ext cx="0" cy="401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7AE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F9334-080A-4FDB-B46A-A98928F1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29908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7AE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E6BB7-8956-4681-8D7D-78EC84D8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29908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A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46753-7CCE-42AF-AF26-90C3E065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48750" y="29908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AE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A004D-1199-4E3E-BF71-B210AD43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76250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7AE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FC8A6-54B2-4D52-8256-07EF351E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409700"/>
            <a:ext cx="1428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C9DFF3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318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研究启动</a:t>
            </a:r>
          </a:p>
        </p:txBody>
      </p:sp>
      <p:sp>
        <p:nvSpPr>
          <p:cNvPr id="11" name="PPAGENT_QA|parent=technical-question|domains=technical-route-main">
            <a:extLst xmlns:a="http://schemas.openxmlformats.org/drawingml/2006/main">
              <a:ext uri="{FF2B5EF4-FFF2-40B4-BE49-F238E27FC236}">
                <a16:creationId xmlns:a16="http://schemas.microsoft.com/office/drawing/2014/main" id="{BB30915F-207E-4CEE-844C-26EF46A8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62150"/>
            <a:ext cx="3143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9DFF3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708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明确核心研究问题</a:t>
            </a:r>
          </a:p>
        </p:txBody>
      </p:sp>
      <p:sp>
        <p:nvSpPr>
          <p:cNvPr id="12" name="PPAGENT_QA|parent=technical-objective|domains=technical-route-main">
            <a:extLst xmlns:a="http://schemas.openxmlformats.org/drawingml/2006/main">
              <a:ext uri="{FF2B5EF4-FFF2-40B4-BE49-F238E27FC236}">
                <a16:creationId xmlns:a16="http://schemas.microsoft.com/office/drawing/2014/main" id="{2FDA7B34-883F-4EBF-B2F2-5A5A573A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52700"/>
            <a:ext cx="3143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9DFF3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708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确定整体优化目标</a:t>
            </a:r>
          </a:p>
        </p:txBody>
      </p:sp>
      <p:sp>
        <p:nvSpPr>
          <p:cNvPr id="13" name="PPAGENT_QA|parent=technical-branch-0|domains=technical-route-branches">
            <a:extLst xmlns:a="http://schemas.openxmlformats.org/drawingml/2006/main">
              <a:ext uri="{FF2B5EF4-FFF2-40B4-BE49-F238E27FC236}">
                <a16:creationId xmlns:a16="http://schemas.microsoft.com/office/drawing/2014/main" id="{DD272D30-EDFA-49A3-BC05-805C4FEC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95650"/>
            <a:ext cx="1752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6E7F6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性能目标</a:t>
            </a:r>
          </a:p>
        </p:txBody>
      </p:sp>
      <p:sp>
        <p:nvSpPr>
          <p:cNvPr id="14" name="PPAGENT_QA|parent=technical-branch-1|domains=technical-route-branches">
            <a:extLst xmlns:a="http://schemas.openxmlformats.org/drawingml/2006/main">
              <a:ext uri="{FF2B5EF4-FFF2-40B4-BE49-F238E27FC236}">
                <a16:creationId xmlns:a16="http://schemas.microsoft.com/office/drawing/2014/main" id="{13B54D83-7D5F-431C-A8C1-6B68BA29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95650"/>
            <a:ext cx="1752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6E7F6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生态目标</a:t>
            </a:r>
          </a:p>
        </p:txBody>
      </p:sp>
      <p:sp>
        <p:nvSpPr>
          <p:cNvPr id="15" name="PPAGENT_QA|parent=technical-core|domains=technical-route-main">
            <a:extLst xmlns:a="http://schemas.openxmlformats.org/drawingml/2006/main">
              <a:ext uri="{FF2B5EF4-FFF2-40B4-BE49-F238E27FC236}">
                <a16:creationId xmlns:a16="http://schemas.microsoft.com/office/drawing/2014/main" id="{8AE1806E-CE46-48BE-8D11-67676BB6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62400"/>
            <a:ext cx="3714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FD9F1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构建多目标分析与决策模型</a:t>
            </a:r>
          </a:p>
        </p:txBody>
      </p:sp>
      <p:sp>
        <p:nvSpPr>
          <p:cNvPr id="16" name="PPAGENT_QA|parent=technical-input-0|domains=technical-route-inputs">
            <a:extLst xmlns:a="http://schemas.openxmlformats.org/drawingml/2006/main">
              <a:ext uri="{FF2B5EF4-FFF2-40B4-BE49-F238E27FC236}">
                <a16:creationId xmlns:a16="http://schemas.microsoft.com/office/drawing/2014/main" id="{AFA3B712-ED04-4F42-8649-E8B3DD04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72000"/>
            <a:ext cx="1676400" cy="381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6F0F8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8041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17" name="PPAGENT_QA|parent=technical-analysis|domains=technical-route-main">
            <a:extLst xmlns:a="http://schemas.openxmlformats.org/drawingml/2006/main">
              <a:ext uri="{FF2B5EF4-FFF2-40B4-BE49-F238E27FC236}">
                <a16:creationId xmlns:a16="http://schemas.microsoft.com/office/drawing/2014/main" id="{B583C823-E9BD-449A-9B06-41FF42B7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81600"/>
            <a:ext cx="4000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FD9F1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分析变量关系并验证模型稳健性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B1341-8E54-4E2B-B3A1-4C8AF15E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791200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C9DFF3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7338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形成结论</a:t>
            </a:r>
          </a:p>
        </p:txBody>
      </p:sp>
    </p:spTree>
    <p:extLst>
      <p:ext uri="{BB962C8B-B14F-4D97-AF65-F5344CB8AC3E}">
        <p14:creationId xmlns:p14="http://schemas.microsoft.com/office/powerpoint/2010/main" val="1596937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698995-7F59-4728-B524-FBB08F61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技术路线流程 · 4分支×3输入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AC642-C791-4557-B31A-85AF1CAB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技术路线流程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074F8-71A8-4DAD-B10A-14C8CEB4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19200"/>
            <a:ext cx="8572500" cy="5105400"/>
          </a:xfrm>
          <a:prstGeom xmlns:a="http://schemas.openxmlformats.org/drawingml/2006/main" prst="roundRect">
            <a:avLst>
              <a:gd name="adj" fmla="val 22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D85D5-D88A-44EC-8C04-69605B20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19200"/>
            <a:ext cx="247650" cy="51054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86011-9568-44D9-85D2-22FFF900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1714500"/>
            <a:ext cx="0" cy="401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7AE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87D42-324D-40E0-AE9A-22AA879A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29908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7AE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A4437-B1D3-438B-8777-88CA61DC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29908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A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0AC90-8483-4AFD-987C-1936F9DE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11750" y="29908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AE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6A648-7EB0-4770-A372-C66C438E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80250" y="29908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AE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A9E1B-70DB-40B3-917A-DB31ABD8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48750" y="29908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A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89890-CFB9-43B7-9D0A-25E98C4A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57625" y="4762500"/>
            <a:ext cx="2238375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7A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9CCA3-7D18-4E91-97D6-517126D8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76250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7A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955EE-1943-4DE1-97E2-6D72E765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96000" y="4762500"/>
            <a:ext cx="2238375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7AE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4D327-49FE-402E-B30D-70D9FE5A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409700"/>
            <a:ext cx="1428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C9DFF3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318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研究启动</a:t>
            </a:r>
          </a:p>
        </p:txBody>
      </p:sp>
      <p:sp>
        <p:nvSpPr>
          <p:cNvPr id="15" name="PPAGENT_QA|parent=technical-question|domains=technical-route-main">
            <a:extLst xmlns:a="http://schemas.openxmlformats.org/drawingml/2006/main">
              <a:ext uri="{FF2B5EF4-FFF2-40B4-BE49-F238E27FC236}">
                <a16:creationId xmlns:a16="http://schemas.microsoft.com/office/drawing/2014/main" id="{192F0DDF-2AE0-4F1F-BD7F-1834024E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62150"/>
            <a:ext cx="3143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9DFF3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708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明确核心研究问题</a:t>
            </a:r>
          </a:p>
        </p:txBody>
      </p:sp>
      <p:sp>
        <p:nvSpPr>
          <p:cNvPr id="16" name="PPAGENT_QA|parent=technical-objective|domains=technical-route-main">
            <a:extLst xmlns:a="http://schemas.openxmlformats.org/drawingml/2006/main">
              <a:ext uri="{FF2B5EF4-FFF2-40B4-BE49-F238E27FC236}">
                <a16:creationId xmlns:a16="http://schemas.microsoft.com/office/drawing/2014/main" id="{3F7848A2-54DD-4D86-AB7A-155CDD0B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52700"/>
            <a:ext cx="3143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9DFF3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708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确定整体优化目标</a:t>
            </a:r>
          </a:p>
        </p:txBody>
      </p:sp>
      <p:sp>
        <p:nvSpPr>
          <p:cNvPr id="17" name="PPAGENT_QA|parent=technical-branch-0|domains=technical-route-branches">
            <a:extLst xmlns:a="http://schemas.openxmlformats.org/drawingml/2006/main">
              <a:ext uri="{FF2B5EF4-FFF2-40B4-BE49-F238E27FC236}">
                <a16:creationId xmlns:a16="http://schemas.microsoft.com/office/drawing/2014/main" id="{25860FA8-288F-426C-8F79-9EDC4CD2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95650"/>
            <a:ext cx="1752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6E7F6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性能目标</a:t>
            </a:r>
          </a:p>
        </p:txBody>
      </p:sp>
      <p:sp>
        <p:nvSpPr>
          <p:cNvPr id="18" name="PPAGENT_QA|parent=technical-branch-1|domains=technical-route-branches">
            <a:extLst xmlns:a="http://schemas.openxmlformats.org/drawingml/2006/main">
              <a:ext uri="{FF2B5EF4-FFF2-40B4-BE49-F238E27FC236}">
                <a16:creationId xmlns:a16="http://schemas.microsoft.com/office/drawing/2014/main" id="{58939714-7346-43C8-B990-CA78A81A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3295650"/>
            <a:ext cx="1752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6E7F6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生态目标</a:t>
            </a:r>
          </a:p>
        </p:txBody>
      </p:sp>
      <p:sp>
        <p:nvSpPr>
          <p:cNvPr id="19" name="PPAGENT_QA|parent=technical-branch-2|domains=technical-route-branches">
            <a:extLst xmlns:a="http://schemas.openxmlformats.org/drawingml/2006/main">
              <a:ext uri="{FF2B5EF4-FFF2-40B4-BE49-F238E27FC236}">
                <a16:creationId xmlns:a16="http://schemas.microsoft.com/office/drawing/2014/main" id="{264EEF5B-71A4-474E-8B3E-D3F1682C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950" y="3295650"/>
            <a:ext cx="1752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6E7F6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可靠性目标</a:t>
            </a:r>
          </a:p>
        </p:txBody>
      </p:sp>
      <p:sp>
        <p:nvSpPr>
          <p:cNvPr id="20" name="PPAGENT_QA|parent=technical-branch-3|domains=technical-route-branches">
            <a:extLst xmlns:a="http://schemas.openxmlformats.org/drawingml/2006/main">
              <a:ext uri="{FF2B5EF4-FFF2-40B4-BE49-F238E27FC236}">
                <a16:creationId xmlns:a16="http://schemas.microsoft.com/office/drawing/2014/main" id="{980BC638-8A2B-4CF3-9CE1-F3CB2DD5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95650"/>
            <a:ext cx="1752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6E7F6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经济目标</a:t>
            </a:r>
          </a:p>
        </p:txBody>
      </p:sp>
      <p:sp>
        <p:nvSpPr>
          <p:cNvPr id="21" name="PPAGENT_QA|parent=technical-core|domains=technical-route-main">
            <a:extLst xmlns:a="http://schemas.openxmlformats.org/drawingml/2006/main">
              <a:ext uri="{FF2B5EF4-FFF2-40B4-BE49-F238E27FC236}">
                <a16:creationId xmlns:a16="http://schemas.microsoft.com/office/drawing/2014/main" id="{1E984C16-46DB-4296-8E11-19DE4887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62400"/>
            <a:ext cx="3714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FD9F1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构建多目标分析与决策模型</a:t>
            </a:r>
          </a:p>
        </p:txBody>
      </p:sp>
      <p:sp>
        <p:nvSpPr>
          <p:cNvPr id="22" name="PPAGENT_QA|parent=technical-input-0|domains=technical-route-inputs">
            <a:extLst xmlns:a="http://schemas.openxmlformats.org/drawingml/2006/main">
              <a:ext uri="{FF2B5EF4-FFF2-40B4-BE49-F238E27FC236}">
                <a16:creationId xmlns:a16="http://schemas.microsoft.com/office/drawing/2014/main" id="{65671FA6-74AA-44A4-801F-BE4B3755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572000"/>
            <a:ext cx="1676400" cy="381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6F0F8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8041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23" name="PPAGENT_QA|parent=technical-input-1|domains=technical-route-inputs">
            <a:extLst xmlns:a="http://schemas.openxmlformats.org/drawingml/2006/main">
              <a:ext uri="{FF2B5EF4-FFF2-40B4-BE49-F238E27FC236}">
                <a16:creationId xmlns:a16="http://schemas.microsoft.com/office/drawing/2014/main" id="{8A691845-07EE-47ED-B303-4A0716E9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72000"/>
            <a:ext cx="1676400" cy="381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6F0F8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8041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现场观测</a:t>
            </a:r>
          </a:p>
        </p:txBody>
      </p:sp>
      <p:sp>
        <p:nvSpPr>
          <p:cNvPr id="24" name="PPAGENT_QA|parent=technical-input-2|domains=technical-route-inputs">
            <a:extLst xmlns:a="http://schemas.openxmlformats.org/drawingml/2006/main">
              <a:ext uri="{FF2B5EF4-FFF2-40B4-BE49-F238E27FC236}">
                <a16:creationId xmlns:a16="http://schemas.microsoft.com/office/drawing/2014/main" id="{DCEB3025-FCE7-4ACB-A7ED-80247F9B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572000"/>
            <a:ext cx="1676400" cy="381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6F0F8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8041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专家知识</a:t>
            </a:r>
          </a:p>
        </p:txBody>
      </p:sp>
      <p:sp>
        <p:nvSpPr>
          <p:cNvPr id="25" name="PPAGENT_QA|parent=technical-analysis|domains=technical-route-main">
            <a:extLst xmlns:a="http://schemas.openxmlformats.org/drawingml/2006/main">
              <a:ext uri="{FF2B5EF4-FFF2-40B4-BE49-F238E27FC236}">
                <a16:creationId xmlns:a16="http://schemas.microsoft.com/office/drawing/2014/main" id="{39673880-3406-4C88-90DB-2A847662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81600"/>
            <a:ext cx="4000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FD9F1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分析变量关系并验证模型稳健性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F3C52D-86C6-4BB3-8C54-625931AE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791200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C9DFF3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7338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形成结论</a:t>
            </a:r>
          </a:p>
        </p:txBody>
      </p:sp>
    </p:spTree>
    <p:extLst>
      <p:ext uri="{BB962C8B-B14F-4D97-AF65-F5344CB8AC3E}">
        <p14:creationId xmlns:p14="http://schemas.microsoft.com/office/powerpoint/2010/main" val="1581000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51B35-4D7A-44D3-B0EA-A1927AA2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分层结论陈述 · 2组×1要点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47BC1-46CA-46C6-AA81-845FFBC8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分层结论陈述</a:t>
            </a:r>
          </a:p>
        </p:txBody>
      </p:sp>
      <p:sp>
        <p:nvSpPr>
          <p:cNvPr id="3" name="PPAGENT_QA|parent=conclusion-section-0|domains=conclusion-sections">
            <a:extLst xmlns:a="http://schemas.openxmlformats.org/drawingml/2006/main">
              <a:ext uri="{FF2B5EF4-FFF2-40B4-BE49-F238E27FC236}">
                <a16:creationId xmlns:a16="http://schemas.microsoft.com/office/drawing/2014/main" id="{7DEA707F-ABD4-4B48-B6BF-65255851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108966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C997C-E4BB-468F-93FB-976DF876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2000250" cy="1638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A7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38100" rIns="2667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基础发现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2BFD5-A453-45F2-97C1-3550FE4E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33600"/>
            <a:ext cx="8210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关键变量之间存在稳定关联</a:t>
            </a:r>
          </a:p>
        </p:txBody>
      </p:sp>
      <p:sp>
        <p:nvSpPr>
          <p:cNvPr id="6" name="PPAGENT_QA|parent=conclusion-section-1|domains=conclusion-sections">
            <a:extLst xmlns:a="http://schemas.openxmlformats.org/drawingml/2006/main">
              <a:ext uri="{FF2B5EF4-FFF2-40B4-BE49-F238E27FC236}">
                <a16:creationId xmlns:a16="http://schemas.microsoft.com/office/drawing/2014/main" id="{838908F1-A4F3-47CE-8DAF-2FAD27F0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108966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EEA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9417A-C336-4168-A221-7388139D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2000250" cy="1638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80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38100" rIns="2667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机制解释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04FDD-9E44-436B-9F22-8AFE48C9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24300"/>
            <a:ext cx="8210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关键变量之间存在稳定关联</a:t>
            </a:r>
          </a:p>
        </p:txBody>
      </p:sp>
    </p:spTree>
    <p:extLst>
      <p:ext uri="{BB962C8B-B14F-4D97-AF65-F5344CB8AC3E}">
        <p14:creationId xmlns:p14="http://schemas.microsoft.com/office/powerpoint/2010/main" val="12283466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A8C19-F47C-4C1D-843A-C81162E9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分层结论陈述 · 4组×4要点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9A9EE-981A-47C3-BD64-FF0569F7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分层结论陈述</a:t>
            </a:r>
          </a:p>
        </p:txBody>
      </p:sp>
      <p:sp>
        <p:nvSpPr>
          <p:cNvPr id="3" name="PPAGENT_QA|parent=conclusion-section-0|domains=conclusion-sections">
            <a:extLst xmlns:a="http://schemas.openxmlformats.org/drawingml/2006/main">
              <a:ext uri="{FF2B5EF4-FFF2-40B4-BE49-F238E27FC236}">
                <a16:creationId xmlns:a16="http://schemas.microsoft.com/office/drawing/2014/main" id="{AF95AB71-AF7F-4CDF-B97D-49363B31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896600" cy="1076325"/>
          </a:xfrm>
          <a:prstGeom xmlns:a="http://schemas.openxmlformats.org/drawingml/2006/main" prst="roundRect">
            <a:avLst>
              <a:gd name="adj" fmla="val 10619"/>
            </a:avLst>
          </a:prstGeom>
          <a:solidFill xmlns:a="http://schemas.openxmlformats.org/drawingml/2006/main">
            <a:srgbClr val="E5F0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39779-4C69-478B-B6F6-6C05F91E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2000250" cy="10763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4A7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38100" rIns="2667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基础发现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C5906-216E-4568-B31A-8C9D98E9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66850"/>
            <a:ext cx="82105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关键变量之间存在稳定关联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不同情境下作用强度存在差异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主要结果通过稳健性检验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进一步研究需要扩大样本范围</a:t>
            </a:r>
          </a:p>
        </p:txBody>
      </p:sp>
      <p:sp>
        <p:nvSpPr>
          <p:cNvPr id="6" name="PPAGENT_QA|parent=conclusion-section-1|domains=conclusion-sections">
            <a:extLst xmlns:a="http://schemas.openxmlformats.org/drawingml/2006/main">
              <a:ext uri="{FF2B5EF4-FFF2-40B4-BE49-F238E27FC236}">
                <a16:creationId xmlns:a16="http://schemas.microsoft.com/office/drawing/2014/main" id="{13545F2D-A042-40A4-9A2D-20D8802A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81275"/>
            <a:ext cx="10896600" cy="1076325"/>
          </a:xfrm>
          <a:prstGeom xmlns:a="http://schemas.openxmlformats.org/drawingml/2006/main" prst="roundRect">
            <a:avLst>
              <a:gd name="adj" fmla="val 10619"/>
            </a:avLst>
          </a:prstGeom>
          <a:solidFill xmlns:a="http://schemas.openxmlformats.org/drawingml/2006/main">
            <a:srgbClr val="EEEA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B791A-B9B6-4FBE-BD65-ACB98C82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81275"/>
            <a:ext cx="2000250" cy="10763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80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38100" rIns="2667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机制解释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D1B49-4D1D-44BB-8C41-F9271A18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95575"/>
            <a:ext cx="82105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关键变量之间存在稳定关联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不同情境下作用强度存在差异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主要结果通过稳健性检验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进一步研究需要扩大样本范围</a:t>
            </a:r>
          </a:p>
        </p:txBody>
      </p:sp>
      <p:sp>
        <p:nvSpPr>
          <p:cNvPr id="9" name="PPAGENT_QA|parent=conclusion-section-2|domains=conclusion-sections">
            <a:extLst xmlns:a="http://schemas.openxmlformats.org/drawingml/2006/main">
              <a:ext uri="{FF2B5EF4-FFF2-40B4-BE49-F238E27FC236}">
                <a16:creationId xmlns:a16="http://schemas.microsoft.com/office/drawing/2014/main" id="{38DE59F3-215E-4A09-9A1D-A7C3D3E4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10896600" cy="1076325"/>
          </a:xfrm>
          <a:prstGeom xmlns:a="http://schemas.openxmlformats.org/drawingml/2006/main" prst="roundRect">
            <a:avLst>
              <a:gd name="adj" fmla="val 10619"/>
            </a:avLst>
          </a:prstGeom>
          <a:solidFill xmlns:a="http://schemas.openxmlformats.org/drawingml/2006/main">
            <a:srgbClr val="F7E8D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1DDFC-C9D2-4C85-83BF-4AFC06FF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2000250" cy="10763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89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38100" rIns="2667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实践启示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7618F-BA67-4843-9130-493A63BE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24300"/>
            <a:ext cx="82105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关键变量之间存在稳定关联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不同情境下作用强度存在差异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主要结果通过稳健性检验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进一步研究需要扩大样本范围</a:t>
            </a:r>
          </a:p>
        </p:txBody>
      </p:sp>
      <p:sp>
        <p:nvSpPr>
          <p:cNvPr id="12" name="PPAGENT_QA|parent=conclusion-section-3|domains=conclusion-sections">
            <a:extLst xmlns:a="http://schemas.openxmlformats.org/drawingml/2006/main">
              <a:ext uri="{FF2B5EF4-FFF2-40B4-BE49-F238E27FC236}">
                <a16:creationId xmlns:a16="http://schemas.microsoft.com/office/drawing/2014/main" id="{7363287B-9AF8-48EE-9959-A94969D8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38725"/>
            <a:ext cx="10896600" cy="1076325"/>
          </a:xfrm>
          <a:prstGeom xmlns:a="http://schemas.openxmlformats.org/drawingml/2006/main" prst="roundRect">
            <a:avLst>
              <a:gd name="adj" fmla="val 10619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5B20D-0802-481D-B099-350D427E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38725"/>
            <a:ext cx="2000250" cy="10763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7B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38100" rIns="2667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93340-AD3D-459B-88AB-AC771891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53025"/>
            <a:ext cx="82105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关键变量之间存在稳定关联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不同情境下作用强度存在差异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主要结果通过稳健性检验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进一步研究需要扩大样本范围</a:t>
            </a:r>
          </a:p>
        </p:txBody>
      </p:sp>
    </p:spTree>
    <p:extLst>
      <p:ext uri="{BB962C8B-B14F-4D97-AF65-F5344CB8AC3E}">
        <p14:creationId xmlns:p14="http://schemas.microsoft.com/office/powerpoint/2010/main" val="4667091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CA309-DABC-4789-B4E4-88B704DB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同心能力系统 · 4项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F01E0-4A92-4B22-A722-CAE72AE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同心能力系统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21846-D295-4B3B-B844-41CCE2B2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10287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63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71E0F-49A9-4305-9E70-F63F84B3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10934700" cy="38481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E5C92"/>
              </a:gs>
              <a:gs pos="48000">
                <a:srgbClr val="397DB3"/>
              </a:gs>
              <a:gs pos="100000">
                <a:srgbClr val="174A75"/>
              </a:gs>
            </a:gsLst>
            <a:lin ang="10800000"/>
          </a:gradFill>
          <a:ln xmlns:a="http://schemas.openxmlformats.org/drawingml/2006/main" w="14288">
            <a:solidFill>
              <a:srgbClr val="D8EA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5E988-085F-4BF1-8087-9E500025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62200"/>
            <a:ext cx="8039100" cy="26860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5EEE8"/>
              </a:gs>
            </a:gsLst>
            <a:lin ang="10800000"/>
          </a:gradFill>
          <a:ln xmlns:a="http://schemas.openxmlformats.org/drawingml/2006/main" w="14288">
            <a:solidFill>
              <a:srgbClr val="E0B18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CE675-22FB-4E5C-B12D-23CBDDB7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24150"/>
            <a:ext cx="5238750" cy="21145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E78B6"/>
              </a:gs>
              <a:gs pos="100000">
                <a:srgbClr val="123F69"/>
              </a:gs>
            </a:gsLst>
            <a:lin ang="10800000"/>
          </a:gradFill>
          <a:ln xmlns:a="http://schemas.openxmlformats.org/drawingml/2006/main" w="19050">
            <a:solidFill>
              <a:srgbClr val="8CBC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98224-2290-4FBB-ABD5-57328CCE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86100"/>
            <a:ext cx="4038600" cy="14668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A527E"/>
              </a:gs>
              <a:gs pos="100000">
                <a:srgbClr val="0E3457"/>
              </a:gs>
            </a:gsLst>
            <a:lin ang="10800000"/>
          </a:gradFill>
          <a:ln xmlns:a="http://schemas.openxmlformats.org/drawingml/2006/main" w="9525">
            <a:solidFill>
              <a:srgbClr val="5B9F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C4BC4-AF7D-4BB8-B812-89888D14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智能处理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核心系统</a:t>
            </a:r>
          </a:p>
        </p:txBody>
      </p:sp>
      <p:sp>
        <p:nvSpPr>
          <p:cNvPr id="9" name="PPAGENT_QA|parent=capability-0|domains=capability-nodes">
            <a:extLst xmlns:a="http://schemas.openxmlformats.org/drawingml/2006/main">
              <a:ext uri="{FF2B5EF4-FFF2-40B4-BE49-F238E27FC236}">
                <a16:creationId xmlns:a16="http://schemas.microsoft.com/office/drawing/2014/main" id="{5E54CD8F-7CA5-4FD7-B099-653AEB0E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485900"/>
            <a:ext cx="914400" cy="8001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AB58E"/>
              </a:gs>
              <a:gs pos="100000">
                <a:srgbClr val="D88952"/>
              </a:gs>
            </a:gsLst>
            <a:lin ang="8100000"/>
          </a:gra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自动核算</a:t>
            </a:r>
          </a:p>
        </p:txBody>
      </p:sp>
      <p:sp>
        <p:nvSpPr>
          <p:cNvPr id="10" name="PPAGENT_QA|parent=capability-1|domains=capability-nodes">
            <a:extLst xmlns:a="http://schemas.openxmlformats.org/drawingml/2006/main">
              <a:ext uri="{FF2B5EF4-FFF2-40B4-BE49-F238E27FC236}">
                <a16:creationId xmlns:a16="http://schemas.microsoft.com/office/drawing/2014/main" id="{EF912FC3-0A35-413C-AB4F-19F7D931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295650"/>
            <a:ext cx="914400" cy="8001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AB58E"/>
              </a:gs>
              <a:gs pos="100000">
                <a:srgbClr val="D88952"/>
              </a:gs>
            </a:gsLst>
            <a:lin ang="8100000"/>
          </a:gra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智能稽核</a:t>
            </a:r>
          </a:p>
        </p:txBody>
      </p:sp>
      <p:sp>
        <p:nvSpPr>
          <p:cNvPr id="11" name="PPAGENT_QA|parent=capability-2|domains=capability-nodes">
            <a:extLst xmlns:a="http://schemas.openxmlformats.org/drawingml/2006/main">
              <a:ext uri="{FF2B5EF4-FFF2-40B4-BE49-F238E27FC236}">
                <a16:creationId xmlns:a16="http://schemas.microsoft.com/office/drawing/2014/main" id="{83B8C34E-F6B0-4469-841D-17740EC6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105400"/>
            <a:ext cx="914400" cy="8001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AB58E"/>
              </a:gs>
              <a:gs pos="100000">
                <a:srgbClr val="D88952"/>
              </a:gs>
            </a:gsLst>
            <a:lin ang="8100000"/>
          </a:gra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资金管控</a:t>
            </a:r>
          </a:p>
        </p:txBody>
      </p:sp>
      <p:sp>
        <p:nvSpPr>
          <p:cNvPr id="12" name="PPAGENT_QA|parent=capability-3|domains=capability-nodes">
            <a:extLst xmlns:a="http://schemas.openxmlformats.org/drawingml/2006/main">
              <a:ext uri="{FF2B5EF4-FFF2-40B4-BE49-F238E27FC236}">
                <a16:creationId xmlns:a16="http://schemas.microsoft.com/office/drawing/2014/main" id="{56EC8126-3641-4047-95D6-729C9F84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95650"/>
            <a:ext cx="914400" cy="8001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AB58E"/>
              </a:gs>
              <a:gs pos="100000">
                <a:srgbClr val="D88952"/>
              </a:gs>
            </a:gsLst>
            <a:lin ang="8100000"/>
          </a:gra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报账终端</a:t>
            </a:r>
          </a:p>
        </p:txBody>
      </p:sp>
    </p:spTree>
    <p:extLst>
      <p:ext uri="{BB962C8B-B14F-4D97-AF65-F5344CB8AC3E}">
        <p14:creationId xmlns:p14="http://schemas.microsoft.com/office/powerpoint/2010/main" val="20334554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D77FA8-BF6A-49B0-BF17-AC115A62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同心能力系统 · 8项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19FA7-DD1D-4448-9847-EFC21680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同心能力系统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68D7F-02E1-4964-8C5F-7D17275B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10287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63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81490-BFB9-4671-B677-FFC7D8BB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10934700" cy="38481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E5C92"/>
              </a:gs>
              <a:gs pos="48000">
                <a:srgbClr val="397DB3"/>
              </a:gs>
              <a:gs pos="100000">
                <a:srgbClr val="174A75"/>
              </a:gs>
            </a:gsLst>
            <a:lin ang="10800000"/>
          </a:gradFill>
          <a:ln xmlns:a="http://schemas.openxmlformats.org/drawingml/2006/main" w="14288">
            <a:solidFill>
              <a:srgbClr val="D8EA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93348-2B59-44CB-A41D-188EEF22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62200"/>
            <a:ext cx="8039100" cy="26860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5EEE8"/>
              </a:gs>
            </a:gsLst>
            <a:lin ang="10800000"/>
          </a:gradFill>
          <a:ln xmlns:a="http://schemas.openxmlformats.org/drawingml/2006/main" w="14288">
            <a:solidFill>
              <a:srgbClr val="E0B18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0D6AE-A0B0-4EB7-8DF8-24980940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24150"/>
            <a:ext cx="5238750" cy="21145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E78B6"/>
              </a:gs>
              <a:gs pos="100000">
                <a:srgbClr val="123F69"/>
              </a:gs>
            </a:gsLst>
            <a:lin ang="10800000"/>
          </a:gradFill>
          <a:ln xmlns:a="http://schemas.openxmlformats.org/drawingml/2006/main" w="19050">
            <a:solidFill>
              <a:srgbClr val="8CBC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9B24E-302A-4B45-98A0-C2CE59A7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86100"/>
            <a:ext cx="4038600" cy="14668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A527E"/>
              </a:gs>
              <a:gs pos="100000">
                <a:srgbClr val="0E3457"/>
              </a:gs>
            </a:gsLst>
            <a:lin ang="10800000"/>
          </a:gradFill>
          <a:ln xmlns:a="http://schemas.openxmlformats.org/drawingml/2006/main" w="9525">
            <a:solidFill>
              <a:srgbClr val="5B9F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86E30-7C37-4E79-B86E-DEF92E5F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智能处理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核心系统</a:t>
            </a:r>
          </a:p>
        </p:txBody>
      </p:sp>
      <p:sp>
        <p:nvSpPr>
          <p:cNvPr id="9" name="PPAGENT_QA|parent=capability-0|domains=capability-nodes">
            <a:extLst xmlns:a="http://schemas.openxmlformats.org/drawingml/2006/main">
              <a:ext uri="{FF2B5EF4-FFF2-40B4-BE49-F238E27FC236}">
                <a16:creationId xmlns:a16="http://schemas.microsoft.com/office/drawing/2014/main" id="{D712C5E1-544E-4993-AC3C-35737728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485900"/>
            <a:ext cx="914400" cy="8001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AB58E"/>
              </a:gs>
              <a:gs pos="100000">
                <a:srgbClr val="D88952"/>
              </a:gs>
            </a:gsLst>
            <a:lin ang="8100000"/>
          </a:gra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自动核算</a:t>
            </a:r>
          </a:p>
        </p:txBody>
      </p:sp>
      <p:sp>
        <p:nvSpPr>
          <p:cNvPr id="10" name="PPAGENT_QA|parent=capability-1|domains=capability-nodes">
            <a:extLst xmlns:a="http://schemas.openxmlformats.org/drawingml/2006/main">
              <a:ext uri="{FF2B5EF4-FFF2-40B4-BE49-F238E27FC236}">
                <a16:creationId xmlns:a16="http://schemas.microsoft.com/office/drawing/2014/main" id="{D84C3F58-8E5D-42D4-BD0E-384B8ECD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072" y="2015964"/>
            <a:ext cx="914400" cy="8001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AB58E"/>
              </a:gs>
              <a:gs pos="100000">
                <a:srgbClr val="D88952"/>
              </a:gs>
            </a:gsLst>
            <a:lin ang="8100000"/>
          </a:gra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智能稽核</a:t>
            </a:r>
          </a:p>
        </p:txBody>
      </p:sp>
      <p:sp>
        <p:nvSpPr>
          <p:cNvPr id="11" name="PPAGENT_QA|parent=capability-2|domains=capability-nodes">
            <a:extLst xmlns:a="http://schemas.openxmlformats.org/drawingml/2006/main">
              <a:ext uri="{FF2B5EF4-FFF2-40B4-BE49-F238E27FC236}">
                <a16:creationId xmlns:a16="http://schemas.microsoft.com/office/drawing/2014/main" id="{0CF702A5-7C53-4033-AFDE-765B9838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295650"/>
            <a:ext cx="914400" cy="8001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AB58E"/>
              </a:gs>
              <a:gs pos="100000">
                <a:srgbClr val="D88952"/>
              </a:gs>
            </a:gsLst>
            <a:lin ang="8100000"/>
          </a:gra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资金管控</a:t>
            </a:r>
          </a:p>
        </p:txBody>
      </p:sp>
      <p:sp>
        <p:nvSpPr>
          <p:cNvPr id="12" name="PPAGENT_QA|parent=capability-3|domains=capability-nodes">
            <a:extLst xmlns:a="http://schemas.openxmlformats.org/drawingml/2006/main">
              <a:ext uri="{FF2B5EF4-FFF2-40B4-BE49-F238E27FC236}">
                <a16:creationId xmlns:a16="http://schemas.microsoft.com/office/drawing/2014/main" id="{B861681F-8C71-4FCE-9591-739DF7D6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072" y="4575336"/>
            <a:ext cx="914400" cy="8001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AB58E"/>
              </a:gs>
              <a:gs pos="100000">
                <a:srgbClr val="D88952"/>
              </a:gs>
            </a:gsLst>
            <a:lin ang="8100000"/>
          </a:gra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报账终端</a:t>
            </a:r>
          </a:p>
        </p:txBody>
      </p:sp>
      <p:sp>
        <p:nvSpPr>
          <p:cNvPr id="13" name="PPAGENT_QA|parent=capability-4|domains=capability-nodes">
            <a:extLst xmlns:a="http://schemas.openxmlformats.org/drawingml/2006/main">
              <a:ext uri="{FF2B5EF4-FFF2-40B4-BE49-F238E27FC236}">
                <a16:creationId xmlns:a16="http://schemas.microsoft.com/office/drawing/2014/main" id="{1437CB68-647A-4B1A-B70A-3744701F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105400"/>
            <a:ext cx="914400" cy="8001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AB58E"/>
              </a:gs>
              <a:gs pos="100000">
                <a:srgbClr val="D88952"/>
              </a:gs>
            </a:gsLst>
            <a:lin ang="8100000"/>
          </a:gra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流程管理</a:t>
            </a:r>
          </a:p>
        </p:txBody>
      </p:sp>
      <p:sp>
        <p:nvSpPr>
          <p:cNvPr id="14" name="PPAGENT_QA|parent=capability-5|domains=capability-nodes">
            <a:extLst xmlns:a="http://schemas.openxmlformats.org/drawingml/2006/main">
              <a:ext uri="{FF2B5EF4-FFF2-40B4-BE49-F238E27FC236}">
                <a16:creationId xmlns:a16="http://schemas.microsoft.com/office/drawing/2014/main" id="{FF4DFBB3-14D2-4D1A-B9C6-63703BA5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528" y="4575336"/>
            <a:ext cx="914400" cy="8001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AB58E"/>
              </a:gs>
              <a:gs pos="100000">
                <a:srgbClr val="D88952"/>
              </a:gs>
            </a:gsLst>
            <a:lin ang="8100000"/>
          </a:gra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自助报账</a:t>
            </a:r>
          </a:p>
        </p:txBody>
      </p:sp>
      <p:sp>
        <p:nvSpPr>
          <p:cNvPr id="15" name="PPAGENT_QA|parent=capability-6|domains=capability-nodes">
            <a:extLst xmlns:a="http://schemas.openxmlformats.org/drawingml/2006/main">
              <a:ext uri="{FF2B5EF4-FFF2-40B4-BE49-F238E27FC236}">
                <a16:creationId xmlns:a16="http://schemas.microsoft.com/office/drawing/2014/main" id="{B6F56CBD-0B35-4E75-AEF8-A1212E4C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95650"/>
            <a:ext cx="914400" cy="8001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AB58E"/>
              </a:gs>
              <a:gs pos="100000">
                <a:srgbClr val="D88952"/>
              </a:gs>
            </a:gsLst>
            <a:lin ang="8100000"/>
          </a:gra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预算协同</a:t>
            </a:r>
          </a:p>
        </p:txBody>
      </p:sp>
      <p:sp>
        <p:nvSpPr>
          <p:cNvPr id="16" name="PPAGENT_QA|parent=capability-7|domains=capability-nodes">
            <a:extLst xmlns:a="http://schemas.openxmlformats.org/drawingml/2006/main">
              <a:ext uri="{FF2B5EF4-FFF2-40B4-BE49-F238E27FC236}">
                <a16:creationId xmlns:a16="http://schemas.microsoft.com/office/drawing/2014/main" id="{72C353B1-2A2B-4290-A9F7-E8BC1071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528" y="2015964"/>
            <a:ext cx="914400" cy="8001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AB58E"/>
              </a:gs>
              <a:gs pos="100000">
                <a:srgbClr val="D88952"/>
              </a:gs>
            </a:gsLst>
            <a:lin ang="8100000"/>
          </a:gra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66675" tIns="38100" rIns="6667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风险预警</a:t>
            </a:r>
          </a:p>
        </p:txBody>
      </p:sp>
    </p:spTree>
    <p:extLst>
      <p:ext uri="{BB962C8B-B14F-4D97-AF65-F5344CB8AC3E}">
        <p14:creationId xmlns:p14="http://schemas.microsoft.com/office/powerpoint/2010/main" val="4636410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2FB42B-6035-4E8B-8C8F-4BDBAFBE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理论整合框架 · 3域×3准则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4C5AA-E3E9-46F5-AFF9-49A3455D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文献与理论整合框架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7EC1B-DEB3-4991-A3FF-CB74B695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33625" y="26670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FC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07851-F9AA-450E-9FC2-F7EEBF70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96000" y="2667000"/>
            <a:ext cx="3762375" cy="2971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9B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6E7C6-B360-47EF-8F6F-BD4F4C59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333625" y="2667000"/>
            <a:ext cx="3762375" cy="2971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FC2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154E3-1701-41C0-98DF-6DE3E7D3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57500"/>
            <a:ext cx="4305300" cy="17526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FF6FC"/>
              </a:gs>
              <a:gs pos="100000">
                <a:srgbClr val="D9E9F7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PPAGENT_QA|parent=theory-criterion-0|domains=theory-criteria">
            <a:extLst xmlns:a="http://schemas.openxmlformats.org/drawingml/2006/main">
              <a:ext uri="{FF2B5EF4-FFF2-40B4-BE49-F238E27FC236}">
                <a16:creationId xmlns:a16="http://schemas.microsoft.com/office/drawing/2014/main" id="{E3682E3E-A99F-44CA-946A-332817C9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143250"/>
            <a:ext cx="1200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可解释性</a:t>
            </a:r>
          </a:p>
        </p:txBody>
      </p:sp>
      <p:sp>
        <p:nvSpPr>
          <p:cNvPr id="8" name="PPAGENT_QA|parent=theory-criterion-1|domains=theory-criteria">
            <a:extLst xmlns:a="http://schemas.openxmlformats.org/drawingml/2006/main">
              <a:ext uri="{FF2B5EF4-FFF2-40B4-BE49-F238E27FC236}">
                <a16:creationId xmlns:a16="http://schemas.microsoft.com/office/drawing/2014/main" id="{86957647-8FAD-4BE8-A6EF-B1B9CC5B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143250"/>
            <a:ext cx="1200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可验证性</a:t>
            </a:r>
          </a:p>
        </p:txBody>
      </p:sp>
      <p:sp>
        <p:nvSpPr>
          <p:cNvPr id="9" name="PPAGENT_QA|parent=theory-criterion-2|domains=theory-criteria">
            <a:extLst xmlns:a="http://schemas.openxmlformats.org/drawingml/2006/main">
              <a:ext uri="{FF2B5EF4-FFF2-40B4-BE49-F238E27FC236}">
                <a16:creationId xmlns:a16="http://schemas.microsoft.com/office/drawing/2014/main" id="{2D25BDC5-11CC-43C3-966A-FEDAB9AB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43250"/>
            <a:ext cx="1200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可迁移性</a:t>
            </a:r>
          </a:p>
        </p:txBody>
      </p:sp>
      <p:sp>
        <p:nvSpPr>
          <p:cNvPr id="10" name="PPAGENT_QA|parent=theory-domain-0|domains=theory-domains">
            <a:extLst xmlns:a="http://schemas.openxmlformats.org/drawingml/2006/main">
              <a:ext uri="{FF2B5EF4-FFF2-40B4-BE49-F238E27FC236}">
                <a16:creationId xmlns:a16="http://schemas.microsoft.com/office/drawing/2014/main" id="{976D9D65-4F64-4AB6-89DE-C6D19A61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152650"/>
            <a:ext cx="2590800" cy="10287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78B7"/>
              </a:gs>
              <a:gs pos="100000">
                <a:srgbClr val="174A75"/>
              </a:gs>
            </a:gsLst>
            <a:lin ang="108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97B76-62D8-4161-9906-0CE0E8CB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30505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传统理论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3711C-E4C2-488E-AD9C-579A0924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6479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rPr>
              <a:t>解释基础关系与经典机制</a:t>
            </a:r>
          </a:p>
        </p:txBody>
      </p:sp>
      <p:sp>
        <p:nvSpPr>
          <p:cNvPr id="13" name="PPAGENT_QA|parent=theory-domain-1|domains=theory-domains">
            <a:extLst xmlns:a="http://schemas.openxmlformats.org/drawingml/2006/main">
              <a:ext uri="{FF2B5EF4-FFF2-40B4-BE49-F238E27FC236}">
                <a16:creationId xmlns:a16="http://schemas.microsoft.com/office/drawing/2014/main" id="{504CDB91-DA21-499E-9D41-B8421528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152650"/>
            <a:ext cx="2590800" cy="10287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C87C7"/>
              </a:gs>
              <a:gs pos="100000">
                <a:srgbClr val="1D5D93"/>
              </a:gs>
            </a:gsLst>
            <a:lin ang="108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F0203-EF45-456D-A853-BBF8272D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30505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数字化视角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6E880-A327-4939-AB74-67A2598B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6479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rPr>
              <a:t>补充平台、数据与算法条件</a:t>
            </a:r>
          </a:p>
        </p:txBody>
      </p:sp>
      <p:sp>
        <p:nvSpPr>
          <p:cNvPr id="16" name="PPAGENT_QA|parent=theory-domain-2|domains=theory-domains">
            <a:extLst xmlns:a="http://schemas.openxmlformats.org/drawingml/2006/main">
              <a:ext uri="{FF2B5EF4-FFF2-40B4-BE49-F238E27FC236}">
                <a16:creationId xmlns:a16="http://schemas.microsoft.com/office/drawing/2014/main" id="{29F36782-F5A5-49C2-AD65-D5ABFCB8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24450"/>
            <a:ext cx="2590800" cy="10287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78B7"/>
              </a:gs>
              <a:gs pos="100000">
                <a:srgbClr val="174A75"/>
              </a:gs>
            </a:gsLst>
            <a:lin ang="108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9B4D2-AE2D-4979-8A21-1AFD1C86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7685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智能技术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582F0-C593-4B48-8E0D-7E62F260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197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rPr>
              <a:t>连接自动化能力与决策行为</a:t>
            </a:r>
          </a:p>
        </p:txBody>
      </p:sp>
    </p:spTree>
    <p:extLst>
      <p:ext uri="{BB962C8B-B14F-4D97-AF65-F5344CB8AC3E}">
        <p14:creationId xmlns:p14="http://schemas.microsoft.com/office/powerpoint/2010/main" val="18910341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F1AC8B-C694-4BAD-9FEF-7340A32A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理论整合框架 · 4域×5准则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29210-FF64-4300-8536-27E5E654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文献与理论整合框架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9EE38-9309-4A50-A86D-F28331F5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6500" y="23812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FC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45622-76C2-48DD-8573-199ADD89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0" y="2381250"/>
            <a:ext cx="0" cy="3086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9B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81F01-1A3E-47D6-B4DA-80CF1E65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476500" y="54673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FC2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86FAF-47F8-4DDB-8343-EDBDEB21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76500" y="2381250"/>
            <a:ext cx="0" cy="3086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9B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2C396-B703-431F-BC52-0DA8316C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57500"/>
            <a:ext cx="4305300" cy="17526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FF6FC"/>
              </a:gs>
              <a:gs pos="100000">
                <a:srgbClr val="D9E9F7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PPAGENT_QA|parent=theory-criterion-0|domains=theory-criteria">
            <a:extLst xmlns:a="http://schemas.openxmlformats.org/drawingml/2006/main">
              <a:ext uri="{FF2B5EF4-FFF2-40B4-BE49-F238E27FC236}">
                <a16:creationId xmlns:a16="http://schemas.microsoft.com/office/drawing/2014/main" id="{3F7A54A4-BF7E-497D-A62A-ED9E3B6E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10668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可解释性</a:t>
            </a:r>
          </a:p>
        </p:txBody>
      </p:sp>
      <p:sp>
        <p:nvSpPr>
          <p:cNvPr id="9" name="PPAGENT_QA|parent=theory-criterion-1|domains=theory-criteria">
            <a:extLst xmlns:a="http://schemas.openxmlformats.org/drawingml/2006/main">
              <a:ext uri="{FF2B5EF4-FFF2-40B4-BE49-F238E27FC236}">
                <a16:creationId xmlns:a16="http://schemas.microsoft.com/office/drawing/2014/main" id="{A3F9E6CE-CE25-4C2E-9CC4-3046EE6F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43250"/>
            <a:ext cx="10668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可验证性</a:t>
            </a:r>
          </a:p>
        </p:txBody>
      </p:sp>
      <p:sp>
        <p:nvSpPr>
          <p:cNvPr id="10" name="PPAGENT_QA|parent=theory-criterion-2|domains=theory-criteria">
            <a:extLst xmlns:a="http://schemas.openxmlformats.org/drawingml/2006/main">
              <a:ext uri="{FF2B5EF4-FFF2-40B4-BE49-F238E27FC236}">
                <a16:creationId xmlns:a16="http://schemas.microsoft.com/office/drawing/2014/main" id="{1C0DD4F6-4669-4BD9-B793-74057453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10668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可迁移性</a:t>
            </a:r>
          </a:p>
        </p:txBody>
      </p:sp>
      <p:sp>
        <p:nvSpPr>
          <p:cNvPr id="11" name="PPAGENT_QA|parent=theory-criterion-3|domains=theory-criteria">
            <a:extLst xmlns:a="http://schemas.openxmlformats.org/drawingml/2006/main">
              <a:ext uri="{FF2B5EF4-FFF2-40B4-BE49-F238E27FC236}">
                <a16:creationId xmlns:a16="http://schemas.microsoft.com/office/drawing/2014/main" id="{893763E5-F4A2-4B83-BCBA-CC892A7B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52850"/>
            <a:ext cx="10668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74A7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可复现性</a:t>
            </a:r>
          </a:p>
        </p:txBody>
      </p:sp>
      <p:sp>
        <p:nvSpPr>
          <p:cNvPr id="12" name="PPAGENT_QA|parent=theory-criterion-4|domains=theory-criteria">
            <a:extLst xmlns:a="http://schemas.openxmlformats.org/drawingml/2006/main">
              <a:ext uri="{FF2B5EF4-FFF2-40B4-BE49-F238E27FC236}">
                <a16:creationId xmlns:a16="http://schemas.microsoft.com/office/drawing/2014/main" id="{9A36A7D1-5250-417B-88BE-4D400385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10668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74A7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可扩展性</a:t>
            </a:r>
          </a:p>
        </p:txBody>
      </p:sp>
      <p:sp>
        <p:nvSpPr>
          <p:cNvPr id="13" name="PPAGENT_QA|parent=theory-domain-0|domains=theory-domains">
            <a:extLst xmlns:a="http://schemas.openxmlformats.org/drawingml/2006/main">
              <a:ext uri="{FF2B5EF4-FFF2-40B4-BE49-F238E27FC236}">
                <a16:creationId xmlns:a16="http://schemas.microsoft.com/office/drawing/2014/main" id="{A7C2197E-9139-4FEA-B522-AA50BA54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66900"/>
            <a:ext cx="2590800" cy="10287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78B7"/>
              </a:gs>
              <a:gs pos="100000">
                <a:srgbClr val="174A75"/>
              </a:gs>
            </a:gsLst>
            <a:lin ang="108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9F802-39A1-489B-B871-2C4B9546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传统理论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5BD40-8E47-4760-9367-0CEE71A2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622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rPr>
              <a:t>解释基础关系与经典机制</a:t>
            </a:r>
          </a:p>
        </p:txBody>
      </p:sp>
      <p:sp>
        <p:nvSpPr>
          <p:cNvPr id="16" name="PPAGENT_QA|parent=theory-domain-1|domains=theory-domains">
            <a:extLst xmlns:a="http://schemas.openxmlformats.org/drawingml/2006/main">
              <a:ext uri="{FF2B5EF4-FFF2-40B4-BE49-F238E27FC236}">
                <a16:creationId xmlns:a16="http://schemas.microsoft.com/office/drawing/2014/main" id="{98DAFF70-1C04-4AE5-A73F-C2E32150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2590800" cy="10287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C87C7"/>
              </a:gs>
              <a:gs pos="100000">
                <a:srgbClr val="1D5D93"/>
              </a:gs>
            </a:gsLst>
            <a:lin ang="108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03F14-BF70-4A57-A870-AB2498F6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193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数字化视角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983780-C030-4841-B445-E82982CF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622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rPr>
              <a:t>补充平台、数据与算法条件</a:t>
            </a:r>
          </a:p>
        </p:txBody>
      </p:sp>
      <p:sp>
        <p:nvSpPr>
          <p:cNvPr id="19" name="PPAGENT_QA|parent=theory-domain-2|domains=theory-domains">
            <a:extLst xmlns:a="http://schemas.openxmlformats.org/drawingml/2006/main">
              <a:ext uri="{FF2B5EF4-FFF2-40B4-BE49-F238E27FC236}">
                <a16:creationId xmlns:a16="http://schemas.microsoft.com/office/drawing/2014/main" id="{EC3D0EEC-4F1D-493B-83AE-AD1DEFEB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53000"/>
            <a:ext cx="2590800" cy="10287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78B7"/>
              </a:gs>
              <a:gs pos="100000">
                <a:srgbClr val="174A75"/>
              </a:gs>
            </a:gsLst>
            <a:lin ang="108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E65831-D395-4EB0-96AF-475F28D2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054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智能技术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7DC56A-8BA4-4B85-AE32-6085CE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4483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rPr>
              <a:t>连接自动化能力与决策行为</a:t>
            </a:r>
          </a:p>
        </p:txBody>
      </p:sp>
      <p:sp>
        <p:nvSpPr>
          <p:cNvPr id="22" name="PPAGENT_QA|parent=theory-domain-3|domains=theory-domains">
            <a:extLst xmlns:a="http://schemas.openxmlformats.org/drawingml/2006/main">
              <a:ext uri="{FF2B5EF4-FFF2-40B4-BE49-F238E27FC236}">
                <a16:creationId xmlns:a16="http://schemas.microsoft.com/office/drawing/2014/main" id="{30AC1FB4-2060-405A-8EFA-A84A0740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0"/>
            <a:ext cx="2590800" cy="10287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C87C7"/>
              </a:gs>
              <a:gs pos="100000">
                <a:srgbClr val="1D5D93"/>
              </a:gs>
            </a:gsLst>
            <a:lin ang="108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216708-6993-4A75-92EC-94A5B132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054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组织情境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1B39AB-5F45-4D8A-9416-898CA4F1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483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rPr>
              <a:t>解释制度、资源与边界条件</a:t>
            </a:r>
          </a:p>
        </p:txBody>
      </p:sp>
    </p:spTree>
    <p:extLst>
      <p:ext uri="{BB962C8B-B14F-4D97-AF65-F5344CB8AC3E}">
        <p14:creationId xmlns:p14="http://schemas.microsoft.com/office/powerpoint/2010/main" val="12231583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BB5537-8B81-4C5C-A1E7-76DA56D0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全链路运营框架 · 最小容量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3308A-269A-4067-B24E-15E3A206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全链路运营框架</a:t>
            </a:r>
          </a:p>
        </p:txBody>
      </p:sp>
      <p:sp>
        <p:nvSpPr>
          <p:cNvPr id="3" name="PPAGENT_QA|parent=operations-platform|domains=operations-platform">
            <a:extLst xmlns:a="http://schemas.openxmlformats.org/drawingml/2006/main">
              <a:ext uri="{FF2B5EF4-FFF2-40B4-BE49-F238E27FC236}">
                <a16:creationId xmlns:a16="http://schemas.microsoft.com/office/drawing/2014/main" id="{A00721FB-1972-4C54-903A-25570D00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8585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5C292-1F07-42A3-800F-C27B59E3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6850"/>
            <a:ext cx="3359150" cy="476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3488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15A6E-E7A7-4687-BF96-99A5E09F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466850"/>
            <a:ext cx="3359150" cy="476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E3E3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141A2-B465-48AE-825F-99B6A5D3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0" y="1466850"/>
            <a:ext cx="3302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5D9BD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仓储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5E957-CB9D-4C44-B7A3-2977EED1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一站式全链路运营平台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591EC-71B9-4BE5-8EC5-2B0A2D28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5500" y="3143250"/>
            <a:ext cx="800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7E5"/>
            </a:solidFill>
            <a:prstDash val="solid"/>
          </a:ln>
        </p:spPr>
      </p:sp>
      <p:sp>
        <p:nvSpPr>
          <p:cNvPr id="9" name="PPAGENT_QA|parent=operations-node-0|domains=operations-nodes">
            <a:extLst xmlns:a="http://schemas.openxmlformats.org/drawingml/2006/main">
              <a:ext uri="{FF2B5EF4-FFF2-40B4-BE49-F238E27FC236}">
                <a16:creationId xmlns:a16="http://schemas.microsoft.com/office/drawing/2014/main" id="{C9A187BB-8F0A-4968-B478-A5BE1456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62250"/>
            <a:ext cx="762000" cy="762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EF2F6"/>
              </a:gs>
            </a:gsLst>
            <a:lin ang="10800000"/>
          </a:gradFill>
          <a:ln xmlns:a="http://schemas.openxmlformats.org/drawingml/2006/main" w="14288">
            <a:solidFill>
              <a:srgbClr val="D1DB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10" name="PPAGENT_QA|parent=operations-node-1|domains=operations-nodes">
            <a:extLst xmlns:a="http://schemas.openxmlformats.org/drawingml/2006/main">
              <a:ext uri="{FF2B5EF4-FFF2-40B4-BE49-F238E27FC236}">
                <a16:creationId xmlns:a16="http://schemas.microsoft.com/office/drawing/2014/main" id="{B75888D7-419A-4CA0-A659-ECFCDF40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762000" cy="762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EF2F6"/>
              </a:gs>
            </a:gsLst>
            <a:lin ang="10800000"/>
          </a:gradFill>
          <a:ln xmlns:a="http://schemas.openxmlformats.org/drawingml/2006/main" w="14288">
            <a:solidFill>
              <a:srgbClr val="D1DB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采购</a:t>
            </a:r>
          </a:p>
        </p:txBody>
      </p:sp>
      <p:sp>
        <p:nvSpPr>
          <p:cNvPr id="11" name="PPAGENT_QA|parent=operations-node-2|domains=operations-nodes">
            <a:extLst xmlns:a="http://schemas.openxmlformats.org/drawingml/2006/main">
              <a:ext uri="{FF2B5EF4-FFF2-40B4-BE49-F238E27FC236}">
                <a16:creationId xmlns:a16="http://schemas.microsoft.com/office/drawing/2014/main" id="{37184DBC-B985-4F17-A9D1-5E5F388E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62250"/>
            <a:ext cx="762000" cy="762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EF2F6"/>
              </a:gs>
            </a:gsLst>
            <a:lin ang="10800000"/>
          </a:gradFill>
          <a:ln xmlns:a="http://schemas.openxmlformats.org/drawingml/2006/main" w="14288">
            <a:solidFill>
              <a:srgbClr val="D1DB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生产</a:t>
            </a:r>
          </a:p>
        </p:txBody>
      </p:sp>
      <p:sp>
        <p:nvSpPr>
          <p:cNvPr id="12" name="PPAGENT_QA|parent=operations-node-3|domains=operations-nodes">
            <a:extLst xmlns:a="http://schemas.openxmlformats.org/drawingml/2006/main">
              <a:ext uri="{FF2B5EF4-FFF2-40B4-BE49-F238E27FC236}">
                <a16:creationId xmlns:a16="http://schemas.microsoft.com/office/drawing/2014/main" id="{15BBF172-4EEA-4D39-AB71-C4E7252E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0"/>
            <a:ext cx="762000" cy="762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EF2F6"/>
              </a:gs>
            </a:gsLst>
            <a:lin ang="10800000"/>
          </a:gradFill>
          <a:ln xmlns:a="http://schemas.openxmlformats.org/drawingml/2006/main" w="14288">
            <a:solidFill>
              <a:srgbClr val="D1DB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仓储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24405-E1CD-420B-9C1B-DAEEAB59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42950" cy="1638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8379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44B16-4256-4FC8-92B8-672DCFA3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76450"/>
            <a:ext cx="742950" cy="16383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8379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15" name="PPAGENT_QA|parent=operations-pillar-0|domains=operations-pillars">
            <a:extLst xmlns:a="http://schemas.openxmlformats.org/drawingml/2006/main">
              <a:ext uri="{FF2B5EF4-FFF2-40B4-BE49-F238E27FC236}">
                <a16:creationId xmlns:a16="http://schemas.microsoft.com/office/drawing/2014/main" id="{07C6BBF5-16EE-4A4F-9711-D9F86E51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5433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B3457-02DD-4354-B9D1-53B8FD3C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3543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5AA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决策智能化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129CAB-629C-4BCA-A60A-D26490AC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用数据支持关键经营判断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84DFD-62A7-4759-8376-F3611681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3276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AA7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15A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AA7"/>
                </a:solidFill>
                <a:latin typeface="Microsoft YaHei"/>
                <a:ea typeface="Microsoft YaHei"/>
                <a:cs typeface="Microsoft YaHei"/>
              </a:rPr>
              <a:t>过程可视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461C8E-D319-43A2-B107-F88EE806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3276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AA7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15A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AA7"/>
                </a:solidFill>
                <a:latin typeface="Microsoft YaHei"/>
                <a:ea typeface="Microsoft YaHei"/>
                <a:cs typeface="Microsoft YaHei"/>
              </a:rPr>
              <a:t>资源协同</a:t>
            </a:r>
          </a:p>
        </p:txBody>
      </p:sp>
      <p:sp>
        <p:nvSpPr>
          <p:cNvPr id="20" name="PPAGENT_QA|parent=operations-pillar-1|domains=operations-pillars">
            <a:extLst xmlns:a="http://schemas.openxmlformats.org/drawingml/2006/main">
              <a:ext uri="{FF2B5EF4-FFF2-40B4-BE49-F238E27FC236}">
                <a16:creationId xmlns:a16="http://schemas.microsoft.com/office/drawing/2014/main" id="{48092017-B691-4E9D-BDD8-9F8EBEB1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5433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707994-3C2D-411B-BD15-B483A878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05300"/>
            <a:ext cx="3543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C79B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运营可视化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2B514B-590C-421C-9560-4FFD398C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5775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让全过程状态可追踪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872CE5-3084-44E7-9B1D-82CDAD4F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29250"/>
            <a:ext cx="3276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C79B7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C79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79B7"/>
                </a:solidFill>
                <a:latin typeface="Microsoft YaHei"/>
                <a:ea typeface="Microsoft YaHei"/>
                <a:cs typeface="Microsoft YaHei"/>
              </a:rPr>
              <a:t>过程可视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196E1F-8649-481E-B20B-3AA441B0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772150"/>
            <a:ext cx="3276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C79B7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C79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79B7"/>
                </a:solidFill>
                <a:latin typeface="Microsoft YaHei"/>
                <a:ea typeface="Microsoft YaHei"/>
                <a:cs typeface="Microsoft YaHei"/>
              </a:rPr>
              <a:t>资源协同</a:t>
            </a:r>
          </a:p>
        </p:txBody>
      </p:sp>
      <p:sp>
        <p:nvSpPr>
          <p:cNvPr id="25" name="PPAGENT_QA|parent=operations-pillar-2|domains=operations-pillars">
            <a:extLst xmlns:a="http://schemas.openxmlformats.org/drawingml/2006/main">
              <a:ext uri="{FF2B5EF4-FFF2-40B4-BE49-F238E27FC236}">
                <a16:creationId xmlns:a16="http://schemas.microsoft.com/office/drawing/2014/main" id="{24C0AD15-C888-4C45-AAB2-316313DC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67200"/>
            <a:ext cx="35433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5D2E32-8916-41C7-9F49-1B6F3F16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05300"/>
            <a:ext cx="3543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73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组织生态化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64FBEF-ED97-4D2B-B0F8-C34735C7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5775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连接伙伴资源与协同行为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19A090-6051-4E26-AA91-FADF8585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29250"/>
            <a:ext cx="3276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3B5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F73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F73B5"/>
                </a:solidFill>
                <a:latin typeface="Microsoft YaHei"/>
                <a:ea typeface="Microsoft YaHei"/>
                <a:cs typeface="Microsoft YaHei"/>
              </a:rPr>
              <a:t>过程可视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FC120C-0E87-4A3E-9E1A-0436EF48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772150"/>
            <a:ext cx="3276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3B5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F73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F73B5"/>
                </a:solidFill>
                <a:latin typeface="Microsoft YaHei"/>
                <a:ea typeface="Microsoft YaHei"/>
                <a:cs typeface="Microsoft YaHei"/>
              </a:rPr>
              <a:t>资源协同</a:t>
            </a:r>
          </a:p>
        </p:txBody>
      </p:sp>
    </p:spTree>
    <p:extLst>
      <p:ext uri="{BB962C8B-B14F-4D97-AF65-F5344CB8AC3E}">
        <p14:creationId xmlns:p14="http://schemas.microsoft.com/office/powerpoint/2010/main" val="20089913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28AEA0-77B7-44A0-9B2D-7A2BA54F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全链路运营框架 · 最大容量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F2F4C-8DF8-4BA9-B30F-7E111254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全链路运营框架</a:t>
            </a:r>
          </a:p>
        </p:txBody>
      </p:sp>
      <p:sp>
        <p:nvSpPr>
          <p:cNvPr id="3" name="PPAGENT_QA|parent=operations-platform|domains=operations-platform">
            <a:extLst xmlns:a="http://schemas.openxmlformats.org/drawingml/2006/main">
              <a:ext uri="{FF2B5EF4-FFF2-40B4-BE49-F238E27FC236}">
                <a16:creationId xmlns:a16="http://schemas.microsoft.com/office/drawing/2014/main" id="{5EB7569A-C2C6-4678-8F7B-3222CEA4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8585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5652D-36F4-4FC9-BD1C-596AB898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6850"/>
            <a:ext cx="2533650" cy="476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3488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3E657-F63A-458B-B1B0-B00760C6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66850"/>
            <a:ext cx="2533650" cy="476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E3E3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298D8-7455-4B94-A555-7F98CEFC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6850"/>
            <a:ext cx="2533650" cy="476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D9BD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仓储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CE30F-6847-4692-B14C-AB8A4372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66850"/>
            <a:ext cx="2476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0A8C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1F5A2-BEE1-46A8-9ACD-99514B86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一站式全链路运营平台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49701-48A1-40B5-A903-B28635F6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5500" y="3143250"/>
            <a:ext cx="800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7E5"/>
            </a:solidFill>
            <a:prstDash val="solid"/>
          </a:ln>
        </p:spPr>
      </p:sp>
      <p:sp>
        <p:nvSpPr>
          <p:cNvPr id="10" name="PPAGENT_QA|parent=operations-node-0|domains=operations-nodes">
            <a:extLst xmlns:a="http://schemas.openxmlformats.org/drawingml/2006/main">
              <a:ext uri="{FF2B5EF4-FFF2-40B4-BE49-F238E27FC236}">
                <a16:creationId xmlns:a16="http://schemas.microsoft.com/office/drawing/2014/main" id="{E8E4D358-3532-4BC3-BB7C-C1C887F7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62250"/>
            <a:ext cx="762000" cy="762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EF2F6"/>
              </a:gs>
            </a:gsLst>
            <a:lin ang="10800000"/>
          </a:gradFill>
          <a:ln xmlns:a="http://schemas.openxmlformats.org/drawingml/2006/main" w="14288">
            <a:solidFill>
              <a:srgbClr val="D1DB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11" name="PPAGENT_QA|parent=operations-node-1|domains=operations-nodes">
            <a:extLst xmlns:a="http://schemas.openxmlformats.org/drawingml/2006/main">
              <a:ext uri="{FF2B5EF4-FFF2-40B4-BE49-F238E27FC236}">
                <a16:creationId xmlns:a16="http://schemas.microsoft.com/office/drawing/2014/main" id="{339D2F1E-A9F1-42CB-B0CD-3E511394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762000" cy="762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EF2F6"/>
              </a:gs>
            </a:gsLst>
            <a:lin ang="10800000"/>
          </a:gradFill>
          <a:ln xmlns:a="http://schemas.openxmlformats.org/drawingml/2006/main" w="14288">
            <a:solidFill>
              <a:srgbClr val="D1DB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采购</a:t>
            </a:r>
          </a:p>
        </p:txBody>
      </p:sp>
      <p:sp>
        <p:nvSpPr>
          <p:cNvPr id="12" name="PPAGENT_QA|parent=operations-node-2|domains=operations-nodes">
            <a:extLst xmlns:a="http://schemas.openxmlformats.org/drawingml/2006/main">
              <a:ext uri="{FF2B5EF4-FFF2-40B4-BE49-F238E27FC236}">
                <a16:creationId xmlns:a16="http://schemas.microsoft.com/office/drawing/2014/main" id="{37366476-5F45-4FB5-9206-C03B939E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762000" cy="762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EF2F6"/>
              </a:gs>
            </a:gsLst>
            <a:lin ang="10800000"/>
          </a:gradFill>
          <a:ln xmlns:a="http://schemas.openxmlformats.org/drawingml/2006/main" w="14288">
            <a:solidFill>
              <a:srgbClr val="D1DB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生产</a:t>
            </a:r>
          </a:p>
        </p:txBody>
      </p:sp>
      <p:sp>
        <p:nvSpPr>
          <p:cNvPr id="13" name="PPAGENT_QA|parent=operations-node-3|domains=operations-nodes">
            <a:extLst xmlns:a="http://schemas.openxmlformats.org/drawingml/2006/main">
              <a:ext uri="{FF2B5EF4-FFF2-40B4-BE49-F238E27FC236}">
                <a16:creationId xmlns:a16="http://schemas.microsoft.com/office/drawing/2014/main" id="{86A98B31-1B26-4EF1-9F04-4B894ED6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762000" cy="762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EF2F6"/>
              </a:gs>
            </a:gsLst>
            <a:lin ang="10800000"/>
          </a:gradFill>
          <a:ln xmlns:a="http://schemas.openxmlformats.org/drawingml/2006/main" w="14288">
            <a:solidFill>
              <a:srgbClr val="D1DB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仓储</a:t>
            </a:r>
          </a:p>
        </p:txBody>
      </p:sp>
      <p:sp>
        <p:nvSpPr>
          <p:cNvPr id="14" name="PPAGENT_QA|parent=operations-node-4|domains=operations-nodes">
            <a:extLst xmlns:a="http://schemas.openxmlformats.org/drawingml/2006/main">
              <a:ext uri="{FF2B5EF4-FFF2-40B4-BE49-F238E27FC236}">
                <a16:creationId xmlns:a16="http://schemas.microsoft.com/office/drawing/2014/main" id="{B3E21B7A-302F-42F0-9EFA-691A11C0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62250"/>
            <a:ext cx="762000" cy="762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EF2F6"/>
              </a:gs>
            </a:gsLst>
            <a:lin ang="10800000"/>
          </a:gradFill>
          <a:ln xmlns:a="http://schemas.openxmlformats.org/drawingml/2006/main" w="14288">
            <a:solidFill>
              <a:srgbClr val="D1DB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物流</a:t>
            </a:r>
          </a:p>
        </p:txBody>
      </p:sp>
      <p:sp>
        <p:nvSpPr>
          <p:cNvPr id="15" name="PPAGENT_QA|parent=operations-node-5|domains=operations-nodes">
            <a:extLst xmlns:a="http://schemas.openxmlformats.org/drawingml/2006/main">
              <a:ext uri="{FF2B5EF4-FFF2-40B4-BE49-F238E27FC236}">
                <a16:creationId xmlns:a16="http://schemas.microsoft.com/office/drawing/2014/main" id="{2A8B652E-4E4C-496D-933F-6925A191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762000" cy="762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EF2F6"/>
              </a:gs>
            </a:gsLst>
            <a:lin ang="10800000"/>
          </a:gradFill>
          <a:ln xmlns:a="http://schemas.openxmlformats.org/drawingml/2006/main" w="14288">
            <a:solidFill>
              <a:srgbClr val="D1DB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金融</a:t>
            </a:r>
          </a:p>
        </p:txBody>
      </p:sp>
      <p:sp>
        <p:nvSpPr>
          <p:cNvPr id="16" name="PPAGENT_QA|parent=operations-node-6|domains=operations-nodes">
            <a:extLst xmlns:a="http://schemas.openxmlformats.org/drawingml/2006/main">
              <a:ext uri="{FF2B5EF4-FFF2-40B4-BE49-F238E27FC236}">
                <a16:creationId xmlns:a16="http://schemas.microsoft.com/office/drawing/2014/main" id="{BFF4EFDB-502C-49AD-A68B-F5103B21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0"/>
            <a:ext cx="762000" cy="762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EF2F6"/>
              </a:gs>
            </a:gsLst>
            <a:lin ang="10800000"/>
          </a:gradFill>
          <a:ln xmlns:a="http://schemas.openxmlformats.org/drawingml/2006/main" w="14288">
            <a:solidFill>
              <a:srgbClr val="D1DB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D26B9-5EDF-49D6-88D5-3DB5C6A4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42950" cy="1638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8379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DE7528-0960-4D44-9836-101A5623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76450"/>
            <a:ext cx="742950" cy="16383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8379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19" name="PPAGENT_QA|parent=operations-pillar-0|domains=operations-pillars">
            <a:extLst xmlns:a="http://schemas.openxmlformats.org/drawingml/2006/main">
              <a:ext uri="{FF2B5EF4-FFF2-40B4-BE49-F238E27FC236}">
                <a16:creationId xmlns:a16="http://schemas.microsoft.com/office/drawing/2014/main" id="{D556BC56-1C09-452C-882D-4029F1C6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208026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1D4E78-4430-40B5-B949-45F6FFFE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208026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5AA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决策智能化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99D71-A883-44AF-AD26-3FDC329A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81356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用数据支持关键经营判断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83FAAD-4778-40B3-BC24-7BD4808E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AA7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15A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AA7"/>
                </a:solidFill>
                <a:latin typeface="Microsoft YaHei"/>
                <a:ea typeface="Microsoft YaHei"/>
                <a:cs typeface="Microsoft YaHei"/>
              </a:rPr>
              <a:t>过程可视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08DD77-C238-4921-86B3-54CF67D7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455" y="54292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AA7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15A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AA7"/>
                </a:solidFill>
                <a:latin typeface="Microsoft YaHei"/>
                <a:ea typeface="Microsoft YaHei"/>
                <a:cs typeface="Microsoft YaHei"/>
              </a:rPr>
              <a:t>资源协同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836AC-03E2-4DEF-8CE4-E445052D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AA7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15A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AA7"/>
                </a:solidFill>
                <a:latin typeface="Microsoft YaHei"/>
                <a:ea typeface="Microsoft YaHei"/>
                <a:cs typeface="Microsoft YaHei"/>
              </a:rPr>
              <a:t>风险预警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57519C-481E-464B-A1FA-375136EE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455" y="57721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AA7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15A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AA7"/>
                </a:solidFill>
                <a:latin typeface="Microsoft YaHei"/>
                <a:ea typeface="Microsoft YaHei"/>
                <a:cs typeface="Microsoft YaHei"/>
              </a:rPr>
              <a:t>结果复核</a:t>
            </a:r>
          </a:p>
        </p:txBody>
      </p:sp>
      <p:sp>
        <p:nvSpPr>
          <p:cNvPr id="26" name="PPAGENT_QA|parent=operations-pillar-1|domains=operations-pillars">
            <a:extLst xmlns:a="http://schemas.openxmlformats.org/drawingml/2006/main">
              <a:ext uri="{FF2B5EF4-FFF2-40B4-BE49-F238E27FC236}">
                <a16:creationId xmlns:a16="http://schemas.microsoft.com/office/drawing/2014/main" id="{9C9B2F81-DF7C-458C-A792-36B4A1F3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310" y="4267200"/>
            <a:ext cx="208026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FC2478-D425-4746-9C70-0E91E562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310" y="4305300"/>
            <a:ext cx="208026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C79B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运营可视化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007676-DE46-4EC1-93F5-9B0476F4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660" y="4857750"/>
            <a:ext cx="181356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让全过程状态可追踪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46CDEB-25F4-423D-BA9A-080398A8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660" y="54292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C79B7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C79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79B7"/>
                </a:solidFill>
                <a:latin typeface="Microsoft YaHei"/>
                <a:ea typeface="Microsoft YaHei"/>
                <a:cs typeface="Microsoft YaHei"/>
              </a:rPr>
              <a:t>过程可视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258B4F-1E70-4F10-BAD0-5347FEA5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015" y="54292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C79B7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C79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79B7"/>
                </a:solidFill>
                <a:latin typeface="Microsoft YaHei"/>
                <a:ea typeface="Microsoft YaHei"/>
                <a:cs typeface="Microsoft YaHei"/>
              </a:rPr>
              <a:t>资源协同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925A57-C920-4446-9F60-B2036A97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660" y="57721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C79B7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C79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79B7"/>
                </a:solidFill>
                <a:latin typeface="Microsoft YaHei"/>
                <a:ea typeface="Microsoft YaHei"/>
                <a:cs typeface="Microsoft YaHei"/>
              </a:rPr>
              <a:t>风险预警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2F1698-72A8-4651-8962-897156CC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015" y="57721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C79B7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C79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79B7"/>
                </a:solidFill>
                <a:latin typeface="Microsoft YaHei"/>
                <a:ea typeface="Microsoft YaHei"/>
                <a:cs typeface="Microsoft YaHei"/>
              </a:rPr>
              <a:t>结果复核</a:t>
            </a:r>
          </a:p>
        </p:txBody>
      </p:sp>
      <p:sp>
        <p:nvSpPr>
          <p:cNvPr id="33" name="PPAGENT_QA|parent=operations-pillar-2|domains=operations-pillars">
            <a:extLst xmlns:a="http://schemas.openxmlformats.org/drawingml/2006/main">
              <a:ext uri="{FF2B5EF4-FFF2-40B4-BE49-F238E27FC236}">
                <a16:creationId xmlns:a16="http://schemas.microsoft.com/office/drawing/2014/main" id="{B3A8A9A2-204F-41AC-B54F-BEBC01A4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4267200"/>
            <a:ext cx="208026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76CD83-9740-4593-A581-99A654ED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4305300"/>
            <a:ext cx="208026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73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组织生态化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0CA5ED-1CB0-4FF5-A5F2-74112190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4857750"/>
            <a:ext cx="181356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连接伙伴资源与协同行为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85AB97-9E85-4709-9962-2B95BF17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54292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3B5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F73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F73B5"/>
                </a:solidFill>
                <a:latin typeface="Microsoft YaHei"/>
                <a:ea typeface="Microsoft YaHei"/>
                <a:cs typeface="Microsoft YaHei"/>
              </a:rPr>
              <a:t>过程可视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7A4282-0E33-47BF-8CE3-A599E56B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4292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3B5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F73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F73B5"/>
                </a:solidFill>
                <a:latin typeface="Microsoft YaHei"/>
                <a:ea typeface="Microsoft YaHei"/>
                <a:cs typeface="Microsoft YaHei"/>
              </a:rPr>
              <a:t>资源协同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31296E-7981-4823-9DED-45881DAC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57721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3B5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F73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F73B5"/>
                </a:solidFill>
                <a:latin typeface="Microsoft YaHei"/>
                <a:ea typeface="Microsoft YaHei"/>
                <a:cs typeface="Microsoft YaHei"/>
              </a:rPr>
              <a:t>风险预警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AFF4C5-C404-477F-B13C-6853BCEC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7721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3B5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F73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F73B5"/>
                </a:solidFill>
                <a:latin typeface="Microsoft YaHei"/>
                <a:ea typeface="Microsoft YaHei"/>
                <a:cs typeface="Microsoft YaHei"/>
              </a:rPr>
              <a:t>结果复核</a:t>
            </a:r>
          </a:p>
        </p:txBody>
      </p:sp>
      <p:sp>
        <p:nvSpPr>
          <p:cNvPr id="40" name="PPAGENT_QA|parent=operations-pillar-3|domains=operations-pillars">
            <a:extLst xmlns:a="http://schemas.openxmlformats.org/drawingml/2006/main">
              <a:ext uri="{FF2B5EF4-FFF2-40B4-BE49-F238E27FC236}">
                <a16:creationId xmlns:a16="http://schemas.microsoft.com/office/drawing/2014/main" id="{5574234C-5D8E-4F7C-B796-B051268E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4267200"/>
            <a:ext cx="208026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5CE8F1-A67C-4441-91F2-F758626D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4305300"/>
            <a:ext cx="208026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D91C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要素集成化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1B376C-B656-409B-85AE-6B68281D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780" y="4857750"/>
            <a:ext cx="181356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整合业务要素形成闭环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7427C4-647C-4501-892E-7C0D4866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780" y="54292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D91CD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9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91CD"/>
                </a:solidFill>
                <a:latin typeface="Microsoft YaHei"/>
                <a:ea typeface="Microsoft YaHei"/>
                <a:cs typeface="Microsoft YaHei"/>
              </a:rPr>
              <a:t>过程可视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9B7605-C5BD-4F6D-AFF5-18CE49E7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135" y="54292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D91CD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9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91CD"/>
                </a:solidFill>
                <a:latin typeface="Microsoft YaHei"/>
                <a:ea typeface="Microsoft YaHei"/>
                <a:cs typeface="Microsoft YaHei"/>
              </a:rPr>
              <a:t>资源协同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2B11B8-7ECE-4473-A802-6444AA82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780" y="57721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D91CD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9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91CD"/>
                </a:solidFill>
                <a:latin typeface="Microsoft YaHei"/>
                <a:ea typeface="Microsoft YaHei"/>
                <a:cs typeface="Microsoft YaHei"/>
              </a:rPr>
              <a:t>风险预警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9E53D9-7A45-4368-85CB-306652E3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135" y="57721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D91CD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9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91CD"/>
                </a:solidFill>
                <a:latin typeface="Microsoft YaHei"/>
                <a:ea typeface="Microsoft YaHei"/>
                <a:cs typeface="Microsoft YaHei"/>
              </a:rPr>
              <a:t>结果复核</a:t>
            </a:r>
          </a:p>
        </p:txBody>
      </p:sp>
      <p:sp>
        <p:nvSpPr>
          <p:cNvPr id="47" name="PPAGENT_QA|parent=operations-pillar-4|domains=operations-pillars">
            <a:extLst xmlns:a="http://schemas.openxmlformats.org/drawingml/2006/main">
              <a:ext uri="{FF2B5EF4-FFF2-40B4-BE49-F238E27FC236}">
                <a16:creationId xmlns:a16="http://schemas.microsoft.com/office/drawing/2014/main" id="{FFD2FB78-AC0F-4E83-BD79-0B3877B7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90" y="4267200"/>
            <a:ext cx="208026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31DCC2-A368-41E7-996A-747ED329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90" y="4305300"/>
            <a:ext cx="208026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A8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质量标准化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DB7BA3-E0AE-4560-89E2-636B7CB9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4857750"/>
            <a:ext cx="181356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建立统一质量门禁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3C18B2-63CA-4257-B55C-D37EE200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54292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A8CE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A8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A8CE"/>
                </a:solidFill>
                <a:latin typeface="Microsoft YaHei"/>
                <a:ea typeface="Microsoft YaHei"/>
                <a:cs typeface="Microsoft YaHei"/>
              </a:rPr>
              <a:t>过程可视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485260-F3CC-49B1-BF8C-C65C7642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695" y="54292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A8CE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A8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A8CE"/>
                </a:solidFill>
                <a:latin typeface="Microsoft YaHei"/>
                <a:ea typeface="Microsoft YaHei"/>
                <a:cs typeface="Microsoft YaHei"/>
              </a:rPr>
              <a:t>资源协同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B67DC7-1DF2-4CBD-B36C-D478681D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57721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A8CE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A8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A8CE"/>
                </a:solidFill>
                <a:latin typeface="Microsoft YaHei"/>
                <a:ea typeface="Microsoft YaHei"/>
                <a:cs typeface="Microsoft YaHei"/>
              </a:rPr>
              <a:t>风险预警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A8674F-C727-4BC2-8CDF-538026A7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695" y="5772150"/>
            <a:ext cx="87820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A8CE"/>
            </a:solidFill>
            <a:prstDash val="solid"/>
          </a:ln>
        </p:spPr>
        <p:txBody>
          <a:bodyPr xmlns:a="http://schemas.openxmlformats.org/drawingml/2006/main" lIns="47625" tIns="9525" rIns="476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A8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A8CE"/>
                </a:solidFill>
                <a:latin typeface="Microsoft YaHei"/>
                <a:ea typeface="Microsoft YaHei"/>
                <a:cs typeface="Microsoft YaHei"/>
              </a:rPr>
              <a:t>结果复核</a:t>
            </a:r>
          </a:p>
        </p:txBody>
      </p:sp>
    </p:spTree>
    <p:extLst>
      <p:ext uri="{BB962C8B-B14F-4D97-AF65-F5344CB8AC3E}">
        <p14:creationId xmlns:p14="http://schemas.microsoft.com/office/powerpoint/2010/main" val="724174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2026-08-10T11:54:27.3640000Z</dcterms:created>
  <dcterms:modified xsi:type="dcterms:W3CDTF">2026-08-10T11:54:27.3640000Z</dcterms:modified>
</coreProperties>
</file>