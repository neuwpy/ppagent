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1c1d7ea4d64e48" /><Relationship Type="http://schemas.openxmlformats.org/officeDocument/2006/relationships/extended-properties" Target="/docProps/app.xml" Id="R4c174b78daee4128" /><Relationship Type="http://schemas.openxmlformats.org/officeDocument/2006/relationships/officeDocument" Target="/ppt/presentation.xml" Id="R3288795da43d48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e74e303c0f46de"/>
  </p:sldMasterIdLst>
  <p:notesMasterIdLst>
    <p:notesMasterId xmlns:r="http://schemas.openxmlformats.org/officeDocument/2006/relationships" r:id="R7d2088e7e8a7475a"/>
  </p:notesMasterIdLst>
  <p:sldIdLst>
    <p:sldId xmlns:r="http://schemas.openxmlformats.org/officeDocument/2006/relationships" id="256" r:id="R044430dd09ea4cc3"/>
    <p:sldId xmlns:r="http://schemas.openxmlformats.org/officeDocument/2006/relationships" id="257" r:id="Rc74ded9de9a74e2a"/>
    <p:sldId xmlns:r="http://schemas.openxmlformats.org/officeDocument/2006/relationships" id="258" r:id="Rdb99b1b7ce4e4d8d"/>
    <p:sldId xmlns:r="http://schemas.openxmlformats.org/officeDocument/2006/relationships" id="259" r:id="Rca807f8b6dfd4080"/>
    <p:sldId xmlns:r="http://schemas.openxmlformats.org/officeDocument/2006/relationships" id="260" r:id="R4c0233e3fcf74bbf"/>
    <p:sldId xmlns:r="http://schemas.openxmlformats.org/officeDocument/2006/relationships" id="261" r:id="R4a51bba283c1400b"/>
    <p:sldId xmlns:r="http://schemas.openxmlformats.org/officeDocument/2006/relationships" id="262" r:id="Raf1cbd25e95d42c1"/>
    <p:sldId xmlns:r="http://schemas.openxmlformats.org/officeDocument/2006/relationships" id="263" r:id="R40d8b80d524c420a"/>
    <p:sldId xmlns:r="http://schemas.openxmlformats.org/officeDocument/2006/relationships" id="264" r:id="Raa55160675b64d8f"/>
    <p:sldId xmlns:r="http://schemas.openxmlformats.org/officeDocument/2006/relationships" id="265" r:id="R7929a334ddf14a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aef8614234e86" /><Relationship Type="http://schemas.openxmlformats.org/officeDocument/2006/relationships/slideMaster" Target="/ppt/slideMasters/slideMaster1.xml" Id="R44e74e303c0f46de" /><Relationship Type="http://schemas.openxmlformats.org/officeDocument/2006/relationships/notesMaster" Target="/ppt/notesMasters/notesMaster1.xml" Id="R7d2088e7e8a7475a" /><Relationship Type="http://schemas.openxmlformats.org/officeDocument/2006/relationships/presProps" Target="/ppt/presProps.xml" Id="R6afa9ef05d694aa1" /><Relationship Type="http://schemas.openxmlformats.org/officeDocument/2006/relationships/tableStyles" Target="/ppt/tableStyles.xml" Id="R6f3bc4e348244c74" /><Relationship Type="http://schemas.openxmlformats.org/officeDocument/2006/relationships/slide" Target="/ppt/slides/slide1.xml" Id="R044430dd09ea4cc3" /><Relationship Type="http://schemas.openxmlformats.org/officeDocument/2006/relationships/slide" Target="/ppt/slides/slide2.xml" Id="Rc74ded9de9a74e2a" /><Relationship Type="http://schemas.openxmlformats.org/officeDocument/2006/relationships/slide" Target="/ppt/slides/slide3.xml" Id="Rdb99b1b7ce4e4d8d" /><Relationship Type="http://schemas.openxmlformats.org/officeDocument/2006/relationships/slide" Target="/ppt/slides/slide4.xml" Id="Rca807f8b6dfd4080" /><Relationship Type="http://schemas.openxmlformats.org/officeDocument/2006/relationships/slide" Target="/ppt/slides/slide5.xml" Id="R4c0233e3fcf74bbf" /><Relationship Type="http://schemas.openxmlformats.org/officeDocument/2006/relationships/slide" Target="/ppt/slides/slide6.xml" Id="R4a51bba283c1400b" /><Relationship Type="http://schemas.openxmlformats.org/officeDocument/2006/relationships/slide" Target="/ppt/slides/slide7.xml" Id="Raf1cbd25e95d42c1" /><Relationship Type="http://schemas.openxmlformats.org/officeDocument/2006/relationships/slide" Target="/ppt/slides/slide8.xml" Id="R40d8b80d524c420a" /><Relationship Type="http://schemas.openxmlformats.org/officeDocument/2006/relationships/slide" Target="/ppt/slides/slide9.xml" Id="Raa55160675b64d8f" /><Relationship Type="http://schemas.openxmlformats.org/officeDocument/2006/relationships/slide" Target="/ppt/slides/slide10.xml" Id="R7929a334ddf14a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bbb8b47e1349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a3667dce8f462f" /><Relationship Type="http://schemas.openxmlformats.org/officeDocument/2006/relationships/notesMaster" Target="/ppt/notesMasters/notesMaster1.xml" Id="Rcc61f6114a8e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0fe889ce3245c7" /><Relationship Type="http://schemas.openxmlformats.org/officeDocument/2006/relationships/notesMaster" Target="/ppt/notesMasters/notesMaster1.xml" Id="Raa08261ecee043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234c8abff64b6f" /><Relationship Type="http://schemas.openxmlformats.org/officeDocument/2006/relationships/notesMaster" Target="/ppt/notesMasters/notesMaster1.xml" Id="R8737e694969047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9d2b919364488" /><Relationship Type="http://schemas.openxmlformats.org/officeDocument/2006/relationships/notesMaster" Target="/ppt/notesMasters/notesMaster1.xml" Id="Re945864f221b46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754c519afa43e8" /><Relationship Type="http://schemas.openxmlformats.org/officeDocument/2006/relationships/notesMaster" Target="/ppt/notesMasters/notesMaster1.xml" Id="Rfe06fecb15f641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e5ced0e9d449e9" /><Relationship Type="http://schemas.openxmlformats.org/officeDocument/2006/relationships/notesMaster" Target="/ppt/notesMasters/notesMaster1.xml" Id="Rdfd7fbd5880443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e0c36630304ee9" /><Relationship Type="http://schemas.openxmlformats.org/officeDocument/2006/relationships/notesMaster" Target="/ppt/notesMasters/notesMaster1.xml" Id="Ra09557e4cc034e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6839d30ea64e7d" /><Relationship Type="http://schemas.openxmlformats.org/officeDocument/2006/relationships/notesMaster" Target="/ppt/notesMasters/notesMaster1.xml" Id="R15307890080049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d3e70d41bb498a" /><Relationship Type="http://schemas.openxmlformats.org/officeDocument/2006/relationships/notesMaster" Target="/ppt/notesMasters/notesMaster1.xml" Id="R399f364c2f3c4f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564bfbf300424b" /><Relationship Type="http://schemas.openxmlformats.org/officeDocument/2006/relationships/notesMaster" Target="/ppt/notesMasters/notesMaster1.xml" Id="R756abae40ef04a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76463e2fe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609d06164d4416" /><Relationship Type="http://schemas.openxmlformats.org/officeDocument/2006/relationships/slideLayout" Target="/ppt/slideLayouts/slideLayout1.xml" Id="R29e5012cd9504a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e5012cd9504a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9bcb8557441ed" /><Relationship Type="http://schemas.openxmlformats.org/officeDocument/2006/relationships/notesSlide" Target="/ppt/notesSlides/notesSlide1.xml" Id="R08136b68f18847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7877c0d3048ab" /><Relationship Type="http://schemas.openxmlformats.org/officeDocument/2006/relationships/notesSlide" Target="/ppt/notesSlides/notesSlide2.xml" Id="R9abcd967ccdb4f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fde4fa4ec4086" /><Relationship Type="http://schemas.openxmlformats.org/officeDocument/2006/relationships/notesSlide" Target="/ppt/notesSlides/notesSlide3.xml" Id="R5c7b7ceab8df41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0557032af4b6b" /><Relationship Type="http://schemas.openxmlformats.org/officeDocument/2006/relationships/notesSlide" Target="/ppt/notesSlides/notesSlide4.xml" Id="R321dd1cd696640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6bcea86df4da2" /><Relationship Type="http://schemas.openxmlformats.org/officeDocument/2006/relationships/notesSlide" Target="/ppt/notesSlides/notesSlide5.xml" Id="R9a7fa285dcb24a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5052c4c1e40e7" /><Relationship Type="http://schemas.openxmlformats.org/officeDocument/2006/relationships/notesSlide" Target="/ppt/notesSlides/notesSlide6.xml" Id="Rc83b81bc7f454c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3d51b0c78466c" /><Relationship Type="http://schemas.openxmlformats.org/officeDocument/2006/relationships/notesSlide" Target="/ppt/notesSlides/notesSlide7.xml" Id="R2f054ca9291b43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e9391e8634d78" /><Relationship Type="http://schemas.openxmlformats.org/officeDocument/2006/relationships/notesSlide" Target="/ppt/notesSlides/notesSlide8.xml" Id="Ra11f3c7eb91843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3abf0bfcb4c93" /><Relationship Type="http://schemas.openxmlformats.org/officeDocument/2006/relationships/notesSlide" Target="/ppt/notesSlides/notesSlide9.xml" Id="R253b9e367e194e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d95e8e3c04aa1" /><Relationship Type="http://schemas.openxmlformats.org/officeDocument/2006/relationships/notesSlide" Target="/ppt/notesSlides/notesSlide10.xml" Id="R0e4a2b872b4945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642AD-AE53-4BF2-8527-A294DE43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三层组织树 · 2部门×1成员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FB363-867A-46BB-82E0-B552362C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31BDD-5500-44BB-9415-0425C0CD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21717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32A30-1DB0-4C11-89B3-96E6378B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2628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E9C7A-6D70-4BF1-A78D-E0FB96AD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42592-C697-47A0-8981-23D6D398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6325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51E72-FDCE-4BFA-8825-BB7FED13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001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27572-9D24-4F5E-8EC7-DA0A2283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144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李明</a:t>
            </a:r>
          </a:p>
        </p:txBody>
      </p:sp>
      <p:sp>
        <p:nvSpPr>
          <p:cNvPr id="9" name="PPAGENT_QA|parent=org-leader|domains=organization-leaders">
            <a:extLst xmlns:a="http://schemas.openxmlformats.org/drawingml/2006/main">
              <a:ext uri="{FF2B5EF4-FFF2-40B4-BE49-F238E27FC236}">
                <a16:creationId xmlns:a16="http://schemas.microsoft.com/office/drawing/2014/main" id="{8E4164C6-B4FF-44CE-8F85-A63E150E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李明｜项目负责人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2568E-4915-4A45-AC07-861A5F23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2C019-A1FA-493E-8DAD-B050B39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72FD3-D66A-4679-8722-5EA0FACF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E2E7A-5E96-4AB9-9089-0E8CA3CE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徐阳</a:t>
            </a:r>
          </a:p>
        </p:txBody>
      </p:sp>
      <p:sp>
        <p:nvSpPr>
          <p:cNvPr id="14" name="PPAGENT_QA|parent=org-department-0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806A4C8D-5527-4E69-840F-5D82D2F4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徐阳｜研究组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65967-028E-4B79-BEC1-8D05166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16" name="PPAGENT_QA|parent=org-member-0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2A77AC39-776D-4AD9-BD11-4A2510B3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03EEC-32FC-4FCB-AFCB-AA00A147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6325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2E793-4809-4EA1-AD9C-F4DCB284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632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BA7FC-7CAD-400E-8B81-2A5FE47B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92568-5619-4D22-BE15-0D58310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吴飞</a:t>
            </a:r>
          </a:p>
        </p:txBody>
      </p:sp>
      <p:sp>
        <p:nvSpPr>
          <p:cNvPr id="21" name="PPAGENT_QA|parent=org-department-1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7FB5DC8A-C7E9-4AA7-98E2-9DF8F0A1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吴飞｜产品组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0FCBF-B61A-4D24-BA9A-23E7107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23" name="PPAGENT_QA|parent=org-member-1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DEC9FCC5-0468-4681-961C-70D1AF4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</p:spTree>
    <p:extLst>
      <p:ext uri="{BB962C8B-B14F-4D97-AF65-F5344CB8AC3E}">
        <p14:creationId xmlns:p14="http://schemas.microsoft.com/office/powerpoint/2010/main" val="1193515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FC2DF9-E5B1-4E41-A885-DCFFE9A7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三层组织树 · 4部门×3成员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6E3BB-6E2E-41CC-B5A6-FDA95B2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531ED-C3B0-499B-B381-CE24FB9B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21717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CAA72-AD01-46A7-9E1A-55EB85B4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2628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A5F27-B8D8-41FE-A4DB-1AA2628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DA1EA-5609-4664-ACEE-E0BB94E6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025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0B71A-B82C-4E79-A1A2-E3F237F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175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1F1FE-9FD4-40A6-AF97-D03C083F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6325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792EB-E69A-4F93-AC8A-F73C4021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001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2A386-989B-494D-BE87-615441BF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144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李明</a:t>
            </a:r>
          </a:p>
        </p:txBody>
      </p:sp>
      <p:sp>
        <p:nvSpPr>
          <p:cNvPr id="11" name="PPAGENT_QA|parent=org-leader|domains=organization-leaders">
            <a:extLst xmlns:a="http://schemas.openxmlformats.org/drawingml/2006/main">
              <a:ext uri="{FF2B5EF4-FFF2-40B4-BE49-F238E27FC236}">
                <a16:creationId xmlns:a16="http://schemas.microsoft.com/office/drawing/2014/main" id="{9A7A5379-2123-4B28-8940-A0A5BF8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李明｜项目负责人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6DBEB-81C7-43CE-8CFE-E7A30F1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EE0E0-7EA4-4E27-821E-241AA94E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44767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5A7C0-EA64-456D-803D-0223B87E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A436C-9494-4D12-95C2-77DECB91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D7922-50A4-49F5-9F90-B34FB016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098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5A2BA-4C39-44A0-BAEF-AB94E424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E40BC-8E69-4DDE-AEA8-C80CAC90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徐阳</a:t>
            </a:r>
          </a:p>
        </p:txBody>
      </p:sp>
      <p:sp>
        <p:nvSpPr>
          <p:cNvPr id="19" name="PPAGENT_QA|parent=org-department-0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4606F17A-8582-435F-8F4F-C287C92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徐阳｜研究组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86819-9E7B-482F-BE71-4C6D3039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21" name="PPAGENT_QA|parent=org-member-0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CDCF0888-81EF-47EA-B883-DB24C9E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6BE8E-4A94-43FB-9DEC-9015CC3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周岚</a:t>
            </a:r>
          </a:p>
        </p:txBody>
      </p:sp>
      <p:sp>
        <p:nvSpPr>
          <p:cNvPr id="23" name="PPAGENT_QA|parent=org-member-0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89DDA3D3-3284-49EC-AD5D-4D7B03A1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94919-E465-41A6-859B-13918034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陈昊</a:t>
            </a:r>
          </a:p>
        </p:txBody>
      </p:sp>
      <p:sp>
        <p:nvSpPr>
          <p:cNvPr id="25" name="PPAGENT_QA|parent=org-member-0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8DAFEE1D-CC31-4E75-A88D-5172E9DF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DB79E0-9126-4701-87C6-3B356571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025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285F9-0E92-4076-8415-FDBBB6F0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200" y="44767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3B89B-CBBB-4BE6-B0E4-FAA4DCCE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2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35B832-6C84-4B56-8D27-62AEFFA4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02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527D6E-D1B4-4070-AD62-67AE9A8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213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CCE64-3ABB-47A8-AA8C-8236AFB4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0F7762-8886-4F8D-A0A3-D738BEA9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吴飞</a:t>
            </a:r>
          </a:p>
        </p:txBody>
      </p:sp>
      <p:sp>
        <p:nvSpPr>
          <p:cNvPr id="33" name="PPAGENT_QA|parent=org-department-1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B8F582A9-A993-4342-AD8A-416D53DC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吴飞｜产品组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19EC1C-7097-4647-BDE5-8D2856DD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35" name="PPAGENT_QA|parent=org-member-1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C6C63259-81B1-4E44-8FCD-B4F2314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7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9D3C69-8EFD-4DBB-8F44-6BF9189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周岚</a:t>
            </a:r>
          </a:p>
        </p:txBody>
      </p:sp>
      <p:sp>
        <p:nvSpPr>
          <p:cNvPr id="37" name="PPAGENT_QA|parent=org-member-1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A2504690-B346-418B-990B-6C5E8017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7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EDF021-F638-4674-A62D-DF03F4D5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5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陈昊</a:t>
            </a:r>
          </a:p>
        </p:txBody>
      </p:sp>
      <p:sp>
        <p:nvSpPr>
          <p:cNvPr id="39" name="PPAGENT_QA|parent=org-member-1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28D63E84-6CA8-40EF-804C-F016AC86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14C600-1B2B-468D-AE6B-AD4C11BC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175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A3CBE3-EAD6-411F-973C-E42DDDDF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70700" y="44767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9182CD-8ABB-4C37-ABA6-BD010A6F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707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C78AD5-754D-4622-A81D-EE36B577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17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76493E-40F9-4D20-B714-BFE19AC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328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BD4EDE-9CB5-4A37-BDAE-EFB9429D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0BC5B8-A9CA-4A86-BF30-EB50526D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陈军</a:t>
            </a:r>
          </a:p>
        </p:txBody>
      </p:sp>
      <p:sp>
        <p:nvSpPr>
          <p:cNvPr id="47" name="PPAGENT_QA|parent=org-department-2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908EF2C6-3041-4E9A-800B-D979726B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05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陈军｜技术组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E33772-89A7-4AA7-BA81-76F5563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49" name="PPAGENT_QA|parent=org-member-2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277B5CB5-ED61-4A41-8E0A-02E5AA07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2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8BA849-B12A-4DCE-B233-466871F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周岚</a:t>
            </a:r>
          </a:p>
        </p:txBody>
      </p:sp>
      <p:sp>
        <p:nvSpPr>
          <p:cNvPr id="51" name="PPAGENT_QA|parent=org-member-2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E26204F0-EDCD-4677-B49C-3884F02B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2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6C6162-35CF-4A90-9247-A78AB59E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陈昊</a:t>
            </a:r>
          </a:p>
        </p:txBody>
      </p:sp>
      <p:sp>
        <p:nvSpPr>
          <p:cNvPr id="53" name="PPAGENT_QA|parent=org-member-2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A1654E65-10E5-438D-927E-FF42EC1F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3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C99F6F-F94F-4BC0-BB4B-10A81B4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6325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1E3F7E-3C71-4ECA-A3F2-7E853141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82200" y="44767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B3C9EA-C5B9-4B3E-BC4B-12C5AFD7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822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25E176-84F0-4611-93F3-D8CB8EFD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632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6B6161-2025-4D54-9B97-74C71B2D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5443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6143F2-35A0-40E9-84DF-EE3F8586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4CA5B3-A41C-4B8F-9C15-DACFC830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沈嘉</a:t>
            </a:r>
          </a:p>
        </p:txBody>
      </p:sp>
      <p:sp>
        <p:nvSpPr>
          <p:cNvPr id="61" name="PPAGENT_QA|parent=org-department-3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FE9ADA73-8398-4698-A58B-7957CB68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沈嘉｜运营组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3D0C0B-97FD-4594-AE41-13779014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63" name="PPAGENT_QA|parent=org-member-3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29279AB8-2FDD-40A8-8948-78DCBE4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4A3FD6-9FE7-462D-B2FB-90C1E96B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周岚</a:t>
            </a:r>
          </a:p>
        </p:txBody>
      </p:sp>
      <p:sp>
        <p:nvSpPr>
          <p:cNvPr id="65" name="PPAGENT_QA|parent=org-member-3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813A7E9B-4D0A-4278-ADE0-5BFCF910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F3F8BC-2BDD-491A-B39F-0F9C874D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陈昊</a:t>
            </a:r>
          </a:p>
        </p:txBody>
      </p:sp>
      <p:sp>
        <p:nvSpPr>
          <p:cNvPr id="67" name="PPAGENT_QA|parent=org-member-3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176EC6E7-BB56-4268-8157-C6F20B17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</p:spTree>
    <p:extLst>
      <p:ext uri="{BB962C8B-B14F-4D97-AF65-F5344CB8AC3E}">
        <p14:creationId xmlns:p14="http://schemas.microsoft.com/office/powerpoint/2010/main" val="1442155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1DB21-B3CB-4629-A197-EC4C67D4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目标与 KPI 映射 · 3单元×1指标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87649-56AD-4203-8B79-6C95A186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总目标 · 单元指标 · 结果贡献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4A047-9EF9-4A88-9AB0-3CD4A99C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年度总目标：形成稳定、可持续的业务增长能力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7AACB-6650-47AF-9BE1-62FDA75A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98700" y="1847850"/>
            <a:ext cx="379730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5" name="PPAGENT_QA|parent=goal-kpi-column-0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63D8D4D8-C060-4496-8984-8557404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68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4672A-3518-4C6E-8708-619A8733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68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内容运营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5FD89-AD7C-4F56-B41F-3EE25836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37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提升内容供给与传播效率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58466-C64A-41E6-BBA9-A9556301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378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57426-BC0E-45E5-82F5-23B9BE30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146634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9AF48-CA5E-4418-A981-483C1DE7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92" y="3609975"/>
            <a:ext cx="168325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0B0BF-104B-4261-8082-7F25FB81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368300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扩大影响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2B438-DC0B-40D4-9B67-DB039019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18478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13" name="PPAGENT_QA|parent=goal-kpi-column-1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C05328FA-775A-41A3-800E-216CD9ED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190750"/>
            <a:ext cx="368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93BB1-B80D-437D-91D2-7D89136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190750"/>
            <a:ext cx="368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用户增长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33139-6F1D-419A-94F1-B480A12D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819400"/>
            <a:ext cx="337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扩大有效用户并提升活跃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5C7CA-8247-4D0B-B9F2-F68B166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43300"/>
            <a:ext cx="3378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2A365-48C8-49AD-B6C6-EDBBF5E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609975"/>
            <a:ext cx="146634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69AED-C054-4AC1-B282-E1DA8555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592" y="3609975"/>
            <a:ext cx="168325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D2A34-2AFB-4B34-AE74-986791CF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200650"/>
            <a:ext cx="368300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提升活跃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32713-A090-4CC9-B195-60E45C11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1847850"/>
            <a:ext cx="379730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21" name="PPAGENT_QA|parent=goal-kpi-column-2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7B1CAEC2-2806-43FD-BDA1-93F84C6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190750"/>
            <a:ext cx="368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EDB96-C06D-4E44-866D-885CCE9A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190750"/>
            <a:ext cx="368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产品技术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619AD-20EE-44F1-9449-8BD8C3A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19400"/>
            <a:ext cx="337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保障稳定并缩短交付周期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D617D-F279-4471-A4AE-A69276DC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543300"/>
            <a:ext cx="3378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EFEF7-0A2A-4A7A-9E88-D10B849B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609975"/>
            <a:ext cx="146634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847E9-3495-4CE1-8B07-41996FD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892" y="3609975"/>
            <a:ext cx="168325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3D6E9-5C3C-4A8F-8CE2-104D1F68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5200650"/>
            <a:ext cx="368300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保障稳定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4BE65-1039-4DD5-9ED3-B6C25E4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责任单元、过程指标与最终贡献保持一一对应</a:t>
            </a:r>
          </a:p>
        </p:txBody>
      </p:sp>
    </p:spTree>
    <p:extLst>
      <p:ext uri="{BB962C8B-B14F-4D97-AF65-F5344CB8AC3E}">
        <p14:creationId xmlns:p14="http://schemas.microsoft.com/office/powerpoint/2010/main" val="455249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727485-D30C-4DC2-A1C5-A235DFF9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目标与 KPI 映射 · 5单元×3指标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A6FAE-E662-4516-8C1E-CAEED46A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总目标 · 单元指标 · 结果贡献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70B49-9474-44AD-AB5C-1F58C075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年度总目标：形成稳定、可持续的业务增长能力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7FD1C-C154-49C7-8B93-2F78F99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539240" y="1847850"/>
            <a:ext cx="455676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5" name="PPAGENT_QA|parent=goal-kpi-column-0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14312303-B1A4-4DAB-99A8-52D05A5D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6B668-5BD0-4BB5-B988-ADC37B48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内容运营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E91E7-E6AF-4AC1-B1A8-46FC372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提升内容供给与传播效率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9FC2D-E425-498F-9901-5A881CE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C12D8-5159-4301-BD40-3706B49C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5C210-45B9-4ECA-941D-BE554FF3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4C50C-02B2-4689-8F67-2DE71EEC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08A92-A7E6-44E1-B691-000F0A7C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ECBA9-98E9-44B2-AFE4-3072279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40378-3AF5-4B75-9B41-37C0DC6C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DCA47-0417-44B2-87F7-72BA173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850AF-F7B1-4D07-8734-6066BF67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47148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8F2EA-B2E5-43EC-A32A-59C1142E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扩大影响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DF5C4-C03B-445F-9A6B-E42C34A9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817620" y="1847850"/>
            <a:ext cx="227838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19" name="PPAGENT_QA|parent=goal-kpi-column-1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E68B0F4F-9F6A-4737-917E-DF17EC02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76414-9EBA-40EF-B4F4-9728CE10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用户增长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48C5B-76C6-4D39-855F-F7E76A9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扩大有效用户并提升活跃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0EE80-18F1-462C-8262-6060789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6D6DD-0C97-4EBB-A4E0-FD104CB2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B8598-4FD3-4533-9212-665F862B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6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D2AD47-8C31-4C24-828D-D502690B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11186-F21B-4377-97B8-A2A3BACA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69C27-6F31-4A38-88BF-045DFF69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6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49718-2F13-4B24-B8FC-7E84E728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46482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1908D-338C-4B1D-8FFC-2AC32492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47148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10F524-1057-45C4-B7CD-7ABCC13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69" y="47148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BA6D93-EF35-4BFD-A398-FFB065EE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提升活跃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272070-E7BB-4D39-98DB-F9F290BA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18478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33" name="PPAGENT_QA|parent=goal-kpi-column-2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D9A97A51-3CCB-418D-B97B-B5FFE789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963C4B-3262-4F18-8B17-D49360A9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产品技术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1BFFE2-A9B4-4952-A0EB-00BB0872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保障稳定并缩短交付周期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27BA7-55FA-4852-903A-D1FBF0A8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5FDDB7-ADB1-48D4-97F9-122C3D61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78B244-8647-4AC4-9A67-94C91097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34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3534CB-E13D-4DB9-83E7-C006815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C60F0B-51F3-4625-A2F5-E75F3C1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160B96-B340-493A-A753-05F1291E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34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2034E7-08D7-4491-9FDD-7DEAAB9A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6482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353CEE-6930-4994-ABE2-4654697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47148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1CEEF4-8D01-4F1D-AF45-2AB81E9E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349" y="47148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A39A34-F19C-4835-932C-CF0A4185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保障稳定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1D7A7A-8484-4E95-B10D-986877FB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1847850"/>
            <a:ext cx="227838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47" name="PPAGENT_QA|parent=goal-kpi-column-3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1781EA59-37DC-4D23-8D14-2087FBED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7E5AC0-EBA3-43A6-A36C-858D1CD0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商业合作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C469DA-347B-4D7B-B7D0-1A5AF87D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拓展伙伴并提升合作质量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57A9D5-FFF9-45E4-A0FE-90F2282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1E4E7A-192C-40D9-880E-C0062EC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99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90721E-4136-4E82-9AFD-DF73BF83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72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9BAE46-D0BD-4253-BE0B-EA571D7C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013097-DF82-4F02-9333-00A1785B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99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A08FE4-C4DF-4164-88A5-11DF38DE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72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CBB54C-64F0-4DC5-9F34-EF8620D2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46482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B19E83-D6B4-4C26-8F42-6089DB06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990" y="47148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5818CF-069B-49FC-9F83-E4360913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729" y="47148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604075-6001-420D-ADE0-4F74D81B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增强盈利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8751FE-770F-4381-960B-9208E06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1847850"/>
            <a:ext cx="455676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61" name="PPAGENT_QA|parent=goal-kpi-column-4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D8BE84AA-88EB-47B5-9FF8-EA1B0CE3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190750"/>
            <a:ext cx="2164080" cy="3429000"/>
          </a:xfrm>
          <a:prstGeom xmlns:a="http://schemas.openxmlformats.org/drawingml/2006/main" prst="roundRect">
            <a:avLst>
              <a:gd name="adj" fmla="val 52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428333-9A1A-4816-B098-567A20E0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190750"/>
            <a:ext cx="216408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交付质量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36884A-829A-43B6-AA3B-96DEEA5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2819400"/>
            <a:ext cx="185928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建立可复核的交付标准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48487F-A6ED-4EE7-90FF-FB45A546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35433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2F2AF7-EAD3-49DE-BA98-0792E9C2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36099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900390-3727-431C-9149-09213013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09" y="36099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B029DC-6CBD-408C-8543-9160EAA9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409575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CD083E-C6B0-4B82-8918-1080D10C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416242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04CD26-4DE5-41C1-88D5-017F5AA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09" y="416242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55FBBA9-223A-4670-8C9E-A4792899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4648200"/>
            <a:ext cx="185928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88DD1A-B9CD-488E-B587-05636C43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0" y="4714875"/>
            <a:ext cx="76763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2E7D16E-E13F-4BB9-8C96-C2ECCAE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09" y="4714875"/>
            <a:ext cx="86304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DB380A-D191-4C17-9CB1-E9CA05C4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5200650"/>
            <a:ext cx="2164080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可靠交付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CFEA6E-CF6B-4605-A6D5-D5543EEC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责任单元、过程指标与最终贡献保持一一对应</a:t>
            </a:r>
          </a:p>
        </p:txBody>
      </p:sp>
    </p:spTree>
    <p:extLst>
      <p:ext uri="{BB962C8B-B14F-4D97-AF65-F5344CB8AC3E}">
        <p14:creationId xmlns:p14="http://schemas.microsoft.com/office/powerpoint/2010/main" val="382376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9804F-E896-4748-A3B5-0087C4C0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鱼骨原因分析 · 4类×1因素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0D5AF-9181-441A-9048-5DA60637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结果问题 · 分类原因拆解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15768-FBB9-4CF3-85FB-80D79AD4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1200150" cy="990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611CD-21D5-40B2-90E3-BAB55E56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15211-FC8A-40B1-94D9-1D6426D1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815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67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3BF39-F7AE-481D-A901-827C0037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8950"/>
            <a:ext cx="2381250" cy="1066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A2F23-C332-4891-9EEF-6BBD9C6A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81350" y="28384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34C96-9733-441D-8E9D-56DC7AF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22CAD-ABA5-4287-9045-B67BCA8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314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1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BEC755E-51EA-482C-B65C-AD92F0C0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764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63550-7510-4146-B164-69AEDE91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96100" y="28384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50F06-C815-4DED-A20F-C47C0A74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391C1-896B-4F4A-B2D4-5673380D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14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14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C2A02A82-A5BE-4638-A7A0-E11EA1FB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2FF9C-9F54-4536-AA2F-B94F6737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81350" y="35623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927C9-8511-492D-9323-EC579334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02BFE-94D7-4EB1-BCA2-75FBC314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95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18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06BBCAAE-F209-441C-84A7-A594939F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815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95A5D-2671-467F-96E3-5A6C2288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96100" y="35623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B0DC3-098F-4636-B346-40D8D9D7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55421-6064-47DD-AC73-8AC28890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95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22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A90A0F31-7F5C-4BEA-9EFD-DE3B976B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</p:spTree>
    <p:extLst>
      <p:ext uri="{BB962C8B-B14F-4D97-AF65-F5344CB8AC3E}">
        <p14:creationId xmlns:p14="http://schemas.microsoft.com/office/powerpoint/2010/main" val="1165125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C2BF92-CFB2-4727-A9CB-417B86B5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鱼骨原因分析 · 6类×4因素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DDDA4-D0F1-4725-AE6C-8115C168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结果问题 · 分类原因拆解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2EB30-7DD4-4445-9D23-18635C73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1200150" cy="990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63266-5E3E-4856-8906-9F029612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2B754-7128-4188-BD47-60C937EC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815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67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0D992-1241-490C-AEF7-BB3CF61C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8950"/>
            <a:ext cx="2381250" cy="1066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12810-AD50-4799-BD1C-687B510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28850" y="28384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31020-27A1-4D3F-B56F-330F40E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F5180-FDE5-40A6-9B78-23ADCBC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314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1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7A14F5F-59E4-4584-8483-907EB56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11" name="PPAGENT_QA|parent=fishbone-item-0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2CE72B28-993B-41C9-B3B9-1460835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812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12" name="PPAGENT_QA|parent=fishbone-item-0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E3135C3-621E-4C24-8C11-C96C6674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860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13" name="PPAGENT_QA|parent=fishbone-item-0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257CF24-FF9E-4B56-A75E-ACB02836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2FBC9-775A-4344-828E-7711ED4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95850" y="28384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BCE62-E7AE-4B53-8ECD-700C625A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1D1B4-4DAF-4F58-A36E-0E4C8B0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314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17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F950DDB-6F6D-474D-8F56-A9F2F70A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764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18" name="PPAGENT_QA|parent=fishbone-item-2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E422BEE8-2E4F-47BF-9B34-819B4EC0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812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19" name="PPAGENT_QA|parent=fishbone-item-2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95D46A6A-F0AD-47F4-BA23-3B3A152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860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20" name="PPAGENT_QA|parent=fishbone-item-2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D6E5FC6E-5D37-4ED8-B002-353E2847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908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56A77-26A7-4A43-9B22-8A38510A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62850" y="28384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030F7-FE50-4A22-8D2F-561086BA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C99D5-82CE-4DC5-BD08-B8ED58D7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14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24" name="PPAGENT_QA|parent=fishbone-item-4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6A986B7A-9E85-42BF-8127-110A1D10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25" name="PPAGENT_QA|parent=fishbone-item-4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E28BA75-DD87-4F49-BD3C-963C8032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26" name="PPAGENT_QA|parent=fishbone-item-4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BC37FDA-C17E-480A-A28E-CC8827D7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860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27" name="PPAGENT_QA|parent=fishbone-item-4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19A901D1-BA7C-4AF2-997A-26C2F49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CF241-9251-4F8A-9293-1339310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28850" y="35623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F1125B-AD44-419F-BD98-B22BB14F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FC74D3-6E45-4F68-8065-1AA0551C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95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31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73825C2-176E-4099-85F3-76ADA4BC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32" name="PPAGENT_QA|parent=fishbone-item-1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079816CE-8684-4B78-A6EB-5A15539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33" name="PPAGENT_QA|parent=fishbone-item-1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A6E5A4CB-037C-482C-A505-267A5B3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34" name="PPAGENT_QA|parent=fishbone-item-1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AA07F2F-94A1-4D3C-A561-DA9BC2DE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959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2480F6-8935-45BE-8C04-921A8F8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95850" y="35623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B48F68-B6FE-42E4-95C6-4D425C6D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478043-9F84-486E-89A5-5DB1C335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95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38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DF6BB3B-4331-4B56-9011-A6CC2E3E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815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39" name="PPAGENT_QA|parent=fishbone-item-3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A4531042-87E2-4BB7-9B9C-8B4F9904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863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40" name="PPAGENT_QA|parent=fishbone-item-3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9EE0E736-636B-40F2-B2AC-AA48D7BD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911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41" name="PPAGENT_QA|parent=fishbone-item-3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C29AF05A-C374-4447-BE7D-08BEF970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959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21C5D4-F4DD-4274-95ED-924FFA86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62850" y="3562350"/>
            <a:ext cx="7239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B0E1A2-9EFF-4D46-B5E1-F391247C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9DAF24-6473-48C1-A63E-450C2E0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95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45" name="PPAGENT_QA|parent=fishbone-item-5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8D20B263-54AD-439A-BA15-8CEDD31A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46" name="PPAGENT_QA|parent=fishbone-item-5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CA623F8-8A57-4323-A42A-F4DCF61E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47" name="PPAGENT_QA|parent=fishbone-item-5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52D78B1-0A8B-4537-92C6-57F5C09C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911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48" name="PPAGENT_QA|parent=fishbone-item-5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19214D7-5262-4B6F-AE07-80926D77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20193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</p:spTree>
    <p:extLst>
      <p:ext uri="{BB962C8B-B14F-4D97-AF65-F5344CB8AC3E}">
        <p14:creationId xmlns:p14="http://schemas.microsoft.com/office/powerpoint/2010/main" val="671091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3AEF89-F062-4565-8387-8CD0367E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双轨演进路线 · 3阶段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55832-3D6A-46D3-AD62-153605D8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共同起点 · 双轨并行演进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43BF5-7169-4F53-9519-9C556500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99AE0-B5B1-4AA3-87A6-26E4555F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共同起点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23B28-BD21-45CD-BB05-501B2ED0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4050" y="3009900"/>
            <a:ext cx="5524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40AFE-3FC1-467F-8112-EEAC370F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24050" y="3676650"/>
            <a:ext cx="55245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3317C-723A-44A9-900A-C286BD8D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9048750" cy="76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1A784-0BD6-4AB7-B506-FC56370F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9048750" cy="76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9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E7474-CDA4-4426-BA23-6C6A6973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19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712C7-1F5B-4B98-A2FE-6B9BD57D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29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技术主线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689D6-60D6-4C12-B7EE-43B09B0D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67200" y="25527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78E50-CF26-4D0F-B39F-4BEEF6B1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61BD8-870C-422D-BD96-98DB5519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B745E-0A1B-4810-B09A-7A339C47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876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15" name="PPAGENT_QA|parent=dual-track-a-0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031F67EA-F579-4762-8972-AC2D75A9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3906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DA33C-0ACD-44DE-8489-41D6513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验证场景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81D5F-9E73-49EA-855C-21F8BE3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完成真实业务闭环</a:t>
            </a:r>
          </a:p>
        </p:txBody>
      </p:sp>
      <p:sp>
        <p:nvSpPr>
          <p:cNvPr id="18" name="PPAGENT_QA|parent=dual-track-b-0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9C860FE4-2276-46E5-9265-A9ACB070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5305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113FA-A8FF-4CA7-AD5F-8F70AC54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483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搭建基础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0F514-92F5-49B9-A9C1-05C98E53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912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形成稳定生成能力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9C400-3699-40B1-BBCA-04FD2B2D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9975" y="25527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8DB40-57F6-429B-B9CE-990A825B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7A910-BCBA-40BA-88B1-106FF1EE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B1E71-4FA2-4F44-98B7-0086A01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562350"/>
            <a:ext cx="876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25" name="PPAGENT_QA|parent=dual-track-a-1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062E236F-031E-4C31-A3F2-8A81DC5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3906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FFD1E-E075-4DC5-9F83-BA8195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04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标准流程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37CCA-8EB4-4FEE-B868-3C4935D6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859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明确交付与协作边界</a:t>
            </a:r>
          </a:p>
        </p:txBody>
      </p:sp>
      <p:sp>
        <p:nvSpPr>
          <p:cNvPr id="28" name="PPAGENT_QA|parent=dual-track-b-1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DF5A4A72-7E60-4685-BB3B-1E1C5209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35305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268A32-05AD-4235-8AE3-F533F81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4483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沉淀组件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BF5E4-473D-4896-8EBF-27BA00FF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7912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积累规则与运行代码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01D7AF-B2AF-4A9F-8F16-9B6170A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72750" y="25527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26692A-6E16-484E-A254-ED01C283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4DCBA9-05FB-449C-9727-C3727950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27E212-9F8E-40C4-8E07-BAD79AF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62350"/>
            <a:ext cx="876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2027</a:t>
            </a:r>
          </a:p>
        </p:txBody>
      </p:sp>
      <p:sp>
        <p:nvSpPr>
          <p:cNvPr id="35" name="PPAGENT_QA|parent=dual-track-a-2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290E9E67-C9A8-4879-9B33-1DEEC7F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906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F69BD2-C87B-43F7-9E70-AFBA1122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04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扩展场景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F916E9-EDCD-429A-8BB3-EDA4263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859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覆盖更多组织用途</a:t>
            </a:r>
          </a:p>
        </p:txBody>
      </p:sp>
      <p:sp>
        <p:nvSpPr>
          <p:cNvPr id="38" name="PPAGENT_QA|parent=dual-track-b-2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90DB9FB0-3C63-453B-933C-6FC1AC1C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5305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0EA17F-4BCF-41FA-98CB-C7E7A0AD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483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统一内核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A3062D-6EC4-4178-9CB8-AE43771C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7912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复用契约与质量门禁</a:t>
            </a:r>
          </a:p>
        </p:txBody>
      </p:sp>
    </p:spTree>
    <p:extLst>
      <p:ext uri="{BB962C8B-B14F-4D97-AF65-F5344CB8AC3E}">
        <p14:creationId xmlns:p14="http://schemas.microsoft.com/office/powerpoint/2010/main" val="1505499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67D483-551A-4C1E-A208-551F2A1C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双轨演进路线 · 5阶段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66441-32EB-416A-8E6C-5F9D1FB6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共同起点 · 双轨并行演进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D484A-F3A4-4401-BFCD-E1D3B809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9C942-D4E4-4A71-BE99-0CF1BCCC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共同起点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C9C35-B3A0-407D-AF9A-ECD50F7A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4050" y="3009900"/>
            <a:ext cx="5524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B02B7-6EED-4B6B-9F8D-4BC4C171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24050" y="3676650"/>
            <a:ext cx="55245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17BD2-7C74-4B2C-B460-A7F6B50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9048750" cy="76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D3F0D-E852-4523-BA49-B4046C8E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9048750" cy="76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9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46256-FDBE-4131-8320-2AEF5FA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19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8C10B-9426-49B5-BE5D-6B3F8BA4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29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技术主线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02900-293C-4B85-A470-DC38847E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67200" y="25527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8F0AC-FB65-4BFD-81E5-6EE339A5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D8F7F-26E6-4A93-958F-141F5CF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94703-7BEA-434A-AF64-437F400F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876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15" name="PPAGENT_QA|parent=dual-track-a-0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CED64986-1863-44F8-88A1-C97E7C57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3906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536F8-D347-48E4-A6A8-CAD6E3D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04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验证场景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FD886-A694-4D70-ACF3-CC1FCAC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859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完成真实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业务闭环</a:t>
            </a:r>
          </a:p>
        </p:txBody>
      </p:sp>
      <p:sp>
        <p:nvSpPr>
          <p:cNvPr id="18" name="PPAGENT_QA|parent=dual-track-b-0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91410C41-6414-4969-A980-943AE9DB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35305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A9661-A40C-46B6-AB69-BB61DAE6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483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搭建基础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1E09F-688D-4ECB-B9ED-666E01C1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91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形成稳定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生成能力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6D710-5EF0-42A6-8A23-32E445C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843588" y="25527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65CB9-70DC-420D-B872-1D22A226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AF80E-E9C4-41B0-9AF4-A83897A6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0EC801-595E-4F4B-8C19-B2EC7F36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3562350"/>
            <a:ext cx="876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25" name="PPAGENT_QA|parent=dual-track-a-1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9EAF4FA0-3C34-4F05-8E40-16028E35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13906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CC43B-0214-4CC8-A291-211C9CC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1504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标准流程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BAD18A-9330-4921-A4CC-80B45757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18859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明确交付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与协作边界</a:t>
            </a:r>
          </a:p>
        </p:txBody>
      </p:sp>
      <p:sp>
        <p:nvSpPr>
          <p:cNvPr id="28" name="PPAGENT_QA|parent=dual-track-b-1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5AD4FC3E-80D7-4574-A307-A10D71D2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535305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61F04-94CC-47C6-91F1-73527789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54483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沉淀组件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084C8F-A2B7-4F82-A8FF-33C4736A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5791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积累规则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与运行代码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7068F1-BE9D-4D4A-A1B9-5EE67A4E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9975" y="25527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24BBE4-38EC-4460-B742-990B0775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05EBB3-D4A3-4B52-AC97-7C31C2FC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95D39-372B-498F-88B4-5FECD5C3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562350"/>
            <a:ext cx="876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2027</a:t>
            </a:r>
          </a:p>
        </p:txBody>
      </p:sp>
      <p:sp>
        <p:nvSpPr>
          <p:cNvPr id="35" name="PPAGENT_QA|parent=dual-track-a-2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2269DCCE-A745-42D5-A792-3FCA38E9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DEE7C3-4F26-4F88-B7C3-5E354D96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04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扩展场景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BDBB89-E9B4-4366-A7AE-3D97F45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覆盖更多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组织用途</a:t>
            </a:r>
          </a:p>
        </p:txBody>
      </p:sp>
      <p:sp>
        <p:nvSpPr>
          <p:cNvPr id="38" name="PPAGENT_QA|parent=dual-track-b-2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E6EF2988-2A08-48F5-8931-B5F03EEE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5305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3B3E54-B0EA-40DB-9BA4-17A3C35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483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统一内核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CA1CD8-D8F4-4152-9D86-E1D76F77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791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复用契约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与质量门禁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C67084-1CA6-44B3-ADDD-98FB65D7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96363" y="25527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7CFCF1-632D-4F95-B3C0-ABEA2E9A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0A81EC-F401-4EB5-9D1C-B7B447D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60FFE1-DE7F-423A-B4A4-09EA569C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3562350"/>
            <a:ext cx="876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2028</a:t>
            </a:r>
          </a:p>
        </p:txBody>
      </p:sp>
      <p:sp>
        <p:nvSpPr>
          <p:cNvPr id="45" name="PPAGENT_QA|parent=dual-track-a-3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C40A7D76-BB24-4AE4-944C-A0492D4D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13906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1634D8-5499-4DF1-ABF6-4E8D098D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1504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规模运营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25D3FA-C39A-4BA6-B725-403BB98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18859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让生产流程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稳定运行</a:t>
            </a:r>
          </a:p>
        </p:txBody>
      </p:sp>
      <p:sp>
        <p:nvSpPr>
          <p:cNvPr id="48" name="PPAGENT_QA|parent=dual-track-b-3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29573225-9711-4B0C-AA67-9C3E875B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535305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B020B-7C78-45C4-B0C6-736921E8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54483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智能协同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76C3C6-60A6-4EC1-AAEE-9291A13C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5791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双导演与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资产协同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F10F21-F7C6-4B01-A34E-F4E326F3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72750" y="25527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23CA2D-087C-423E-A207-8BF656F6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3AD21A-1932-4EAC-A6B0-1F9D9A97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3BBEE2-558A-4E0C-82C7-B883B5A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62350"/>
            <a:ext cx="876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2029</a:t>
            </a:r>
          </a:p>
        </p:txBody>
      </p:sp>
      <p:sp>
        <p:nvSpPr>
          <p:cNvPr id="55" name="PPAGENT_QA|parent=dual-track-a-4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833DC139-66A2-4638-9E93-C7C2EFAF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3906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D3E1C4-DD26-4FA9-ABCE-E549F37F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504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生态协作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2C8482-58D9-46B4-B2F7-A338EA63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8859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形成伙伴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协作网络</a:t>
            </a:r>
          </a:p>
        </p:txBody>
      </p:sp>
      <p:sp>
        <p:nvSpPr>
          <p:cNvPr id="58" name="PPAGENT_QA|parent=dual-track-b-4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747208DC-59EE-47F1-86C1-6B3564E7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53050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71FE8E-A860-44D3-8EBE-6D2234B9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4483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开放能力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FEDE61-59C6-47C8-AB81-7711C973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91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提供标准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能力接口</a:t>
            </a:r>
          </a:p>
        </p:txBody>
      </p:sp>
    </p:spTree>
    <p:extLst>
      <p:ext uri="{BB962C8B-B14F-4D97-AF65-F5344CB8AC3E}">
        <p14:creationId xmlns:p14="http://schemas.microsoft.com/office/powerpoint/2010/main" val="1566753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71620-BD9F-4ED2-9455-CBE2CF80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研究方法摘要 · 3维度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7BB54-0897-4013-9E2E-2D0720DB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研究方法摘要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2C3D4-BE73-4B37-970B-88D0B5C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0605A-F553-4619-8350-BB549D6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样本及数据收集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BE3C3-57E2-4585-887C-310D2570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71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rPr>
              <a:t>采用分层抽样与结构化问卷相结合的方法，覆盖不同规模、行业和发展阶段的研究对象。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53A96-DE8B-4F7A-9288-A1606872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68"/>
          </a:solidFill>
          <a:ln xmlns:a="http://schemas.openxmlformats.org/drawingml/2006/main" w="66675">
            <a:solidFill>
              <a:srgbClr val="F0B78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5830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发放样本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8C6E2-3880-4DD6-8D57-6158534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91550" y="22764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D7A5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E150A-3D20-4955-B64F-D31A0343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002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3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4280</a:t>
            </a:r>
          </a:p>
          <a:p xmlns:a="http://schemas.openxmlformats.org/drawingml/2006/main">
            <a:pPr algn="ctr">
              <a:def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有效回收</a:t>
            </a:r>
          </a:p>
        </p:txBody>
      </p:sp>
      <p:sp>
        <p:nvSpPr>
          <p:cNvPr id="9" name="PPAGENT_QA|parent=research-dimension-0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4501304B-5533-4053-A824-B27F9B8F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35560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39FD1-3B51-41D1-9D51-EFA6D36C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8A794-66A4-410F-BD0A-558235CD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321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8BCD8-784C-44DC-93C1-4D0D558B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3213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明确纳入标准、覆盖范围与样本单位。</a:t>
            </a:r>
          </a:p>
        </p:txBody>
      </p:sp>
      <p:sp>
        <p:nvSpPr>
          <p:cNvPr id="13" name="PPAGENT_QA|parent=research-dimension-1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94583C34-247B-4CA0-86CF-C2DAAFD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638550"/>
            <a:ext cx="35560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E5B18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1CCED-C7CE-47AB-888F-3E9AEC7F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B7E1A-B005-459A-B08B-657D8BF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4533900"/>
            <a:ext cx="321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成立年限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6539C-10B6-4687-8013-2535B55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5048250"/>
            <a:ext cx="3213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区分早期、成长与成熟阶段。</a:t>
            </a:r>
          </a:p>
        </p:txBody>
      </p:sp>
      <p:sp>
        <p:nvSpPr>
          <p:cNvPr id="17" name="PPAGENT_QA|parent=research-dimension-2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42DE94E9-C7BE-4DCC-94ED-FD428519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638550"/>
            <a:ext cx="35560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C4E43-4C02-4430-AC36-29CA9DAB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C7828-0B8D-45D4-89C4-E277A5D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4533900"/>
            <a:ext cx="321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收入来源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96F26-15D2-4EE0-96AA-A15EDAB9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5048250"/>
            <a:ext cx="3213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识别主要业务结构和交易特征。</a:t>
            </a:r>
          </a:p>
        </p:txBody>
      </p:sp>
    </p:spTree>
    <p:extLst>
      <p:ext uri="{BB962C8B-B14F-4D97-AF65-F5344CB8AC3E}">
        <p14:creationId xmlns:p14="http://schemas.microsoft.com/office/powerpoint/2010/main" val="1309211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7B8C1-1F71-4648-824D-F3E6FA45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研究方法摘要 · 5维度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4A9FD-17B5-4545-8FF3-E52341B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研究方法摘要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ADB05-1372-4D0D-AA90-251D19A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CE206-BDA9-430E-B2FB-9AF4EEBE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样本及数据收集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EEBBD-FD35-44A9-B9D0-ACE8DA9F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71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rPr>
              <a:t>采用分层抽样与结构化问卷相结合的方法，覆盖不同规模、行业和发展阶段的研究对象。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20C92-7E59-455E-8C0F-D693EF1E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68"/>
          </a:solidFill>
          <a:ln xmlns:a="http://schemas.openxmlformats.org/drawingml/2006/main" w="66675">
            <a:solidFill>
              <a:srgbClr val="F0B78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5830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发放样本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99B16-9D55-463C-A5F3-724A0517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91550" y="22764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D7A5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57176-6805-45DA-99AA-5008A152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002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3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4280</a:t>
            </a:r>
          </a:p>
          <a:p xmlns:a="http://schemas.openxmlformats.org/drawingml/2006/main">
            <a:pPr algn="ctr">
              <a:def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有效回收</a:t>
            </a:r>
          </a:p>
        </p:txBody>
      </p:sp>
      <p:sp>
        <p:nvSpPr>
          <p:cNvPr id="9" name="PPAGENT_QA|parent=research-dimension-0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8DE89E90-C2DD-4902-9AE6-DA472AE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087880" cy="2533650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505E2-434B-4D34-9D33-73CB968A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1A0CB-6570-4F5A-9DCE-F1C0E50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744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1C1E4-DEBA-44B7-AACB-03B2DDB7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74498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明确纳入标准、覆盖范围与样本单位。</a:t>
            </a:r>
          </a:p>
        </p:txBody>
      </p:sp>
      <p:sp>
        <p:nvSpPr>
          <p:cNvPr id="13" name="PPAGENT_QA|parent=research-dimension-1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E31AC73F-65BF-4B44-BB48-640352F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638550"/>
            <a:ext cx="2087880" cy="2533650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E5B18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92D0D-4FFB-4767-A373-8516E733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07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178CD-4970-448E-81B6-63FE98D9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4533900"/>
            <a:ext cx="1744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成立年限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C539F-5704-4494-B33E-D06AC231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" y="5048250"/>
            <a:ext cx="174498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区分早期、成长与成熟阶段。</a:t>
            </a:r>
          </a:p>
        </p:txBody>
      </p:sp>
      <p:sp>
        <p:nvSpPr>
          <p:cNvPr id="17" name="PPAGENT_QA|parent=research-dimension-2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8999FC62-E29C-4B09-9627-0FEEAA1D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3638550"/>
            <a:ext cx="2087880" cy="2533650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5E115-8675-4EEC-8638-BA4A98A1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CCDE3-68A4-40FF-83D1-18288446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4533900"/>
            <a:ext cx="1744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收入来源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85413-3CA1-42CF-8A2F-1C81C0E5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5048250"/>
            <a:ext cx="174498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识别主要业务结构和交易特征。</a:t>
            </a:r>
          </a:p>
        </p:txBody>
      </p:sp>
      <p:sp>
        <p:nvSpPr>
          <p:cNvPr id="21" name="PPAGENT_QA|parent=research-dimension-3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CB667E94-51AF-496D-B6F9-A091864A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3638550"/>
            <a:ext cx="2087880" cy="2533650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E5B18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BD801-BA4F-4A5A-AA1F-6827AAC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43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A84B8-B1BB-48F8-959E-D89B5298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533900"/>
            <a:ext cx="1744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偏差检验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CF7B0-E3D0-403F-ACA6-3E0EF898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048250"/>
            <a:ext cx="174498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比较早晚期样本并检验非应答偏差。</a:t>
            </a:r>
          </a:p>
        </p:txBody>
      </p:sp>
      <p:sp>
        <p:nvSpPr>
          <p:cNvPr id="25" name="PPAGENT_QA|parent=research-dimension-4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4270EC9D-5ED7-42C8-98B9-8333C453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8550"/>
            <a:ext cx="2087880" cy="2533650"/>
          </a:xfrm>
          <a:prstGeom xmlns:a="http://schemas.openxmlformats.org/drawingml/2006/main" prst="roundRect">
            <a:avLst>
              <a:gd name="adj" fmla="val 5474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BCE7B-1CEE-4E1E-8EB0-1BBAABDA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61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5CA9D-E594-4A35-B02C-8C91C4B7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0" y="4533900"/>
            <a:ext cx="17449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稳健分析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CC25B-0FFD-495B-ACAA-2F5E3BE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0" y="5048250"/>
            <a:ext cx="174498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更换口径后重复估计并核对方向。</a:t>
            </a:r>
          </a:p>
        </p:txBody>
      </p:sp>
    </p:spTree>
    <p:extLst>
      <p:ext uri="{BB962C8B-B14F-4D97-AF65-F5344CB8AC3E}">
        <p14:creationId xmlns:p14="http://schemas.microsoft.com/office/powerpoint/2010/main" val="660544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2026-08-10T11:19:47.2530000Z</dcterms:created>
  <dcterms:modified xsi:type="dcterms:W3CDTF">2026-08-10T11:19:47.2530000Z</dcterms:modified>
</coreProperties>
</file>