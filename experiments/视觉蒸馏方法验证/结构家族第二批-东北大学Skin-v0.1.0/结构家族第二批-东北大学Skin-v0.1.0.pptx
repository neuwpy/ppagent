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13c9a55e994c39" /><Relationship Type="http://schemas.openxmlformats.org/officeDocument/2006/relationships/extended-properties" Target="/docProps/app.xml" Id="Rc9774ca4c9c64b87" /><Relationship Type="http://schemas.openxmlformats.org/officeDocument/2006/relationships/officeDocument" Target="/ppt/presentation.xml" Id="R0328fad4f45f47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55e03183b24c0f"/>
    <p:sldMasterId xmlns:r="http://schemas.openxmlformats.org/officeDocument/2006/relationships" id="2147483660" r:id="R7ada7939e9dc4a6b"/>
    <p:sldMasterId xmlns:r="http://schemas.openxmlformats.org/officeDocument/2006/relationships" id="2147483663" r:id="R0b9d65cbd7d14bba"/>
  </p:sldMasterIdLst>
  <p:notesMasterIdLst>
    <p:notesMasterId xmlns:r="http://schemas.openxmlformats.org/officeDocument/2006/relationships" r:id="R6db822d5b40b4f24"/>
  </p:notesMasterIdLst>
  <p:sldIdLst>
    <p:sldId xmlns:r="http://schemas.openxmlformats.org/officeDocument/2006/relationships" id="256" r:id="R77c6e81562af41b1"/>
    <p:sldId xmlns:r="http://schemas.openxmlformats.org/officeDocument/2006/relationships" id="257" r:id="Raa84cbc82735469f"/>
    <p:sldId xmlns:r="http://schemas.openxmlformats.org/officeDocument/2006/relationships" id="258" r:id="R072d0ff20f3c4280"/>
    <p:sldId xmlns:r="http://schemas.openxmlformats.org/officeDocument/2006/relationships" id="259" r:id="Rbd35f3b9b6614934"/>
    <p:sldId xmlns:r="http://schemas.openxmlformats.org/officeDocument/2006/relationships" id="260" r:id="R373aeb990b974b65"/>
    <p:sldId xmlns:r="http://schemas.openxmlformats.org/officeDocument/2006/relationships" id="261" r:id="Rb3bc8432abdc4fa2"/>
    <p:sldId xmlns:r="http://schemas.openxmlformats.org/officeDocument/2006/relationships" id="262" r:id="R9e25df52249642a9"/>
    <p:sldId xmlns:r="http://schemas.openxmlformats.org/officeDocument/2006/relationships" id="263" r:id="Rbb48b24e49064f84"/>
    <p:sldId xmlns:r="http://schemas.openxmlformats.org/officeDocument/2006/relationships" id="264" r:id="Rdeb4b38b4ceb4398"/>
    <p:sldId xmlns:r="http://schemas.openxmlformats.org/officeDocument/2006/relationships" id="265" r:id="R495670cfff4949d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5d11ebb5194e01" /><Relationship Type="http://schemas.openxmlformats.org/officeDocument/2006/relationships/slideMaster" Target="/ppt/slideMasters/slideMaster1.xml" Id="Rc955e03183b24c0f" /><Relationship Type="http://schemas.openxmlformats.org/officeDocument/2006/relationships/slideMaster" Target="/ppt/slideMasters/slideMaster2.xml" Id="R7ada7939e9dc4a6b" /><Relationship Type="http://schemas.openxmlformats.org/officeDocument/2006/relationships/slideMaster" Target="/ppt/slideMasters/slideMaster3.xml" Id="R0b9d65cbd7d14bba" /><Relationship Type="http://schemas.openxmlformats.org/officeDocument/2006/relationships/notesMaster" Target="/ppt/notesMasters/notesMaster1.xml" Id="R6db822d5b40b4f24" /><Relationship Type="http://schemas.openxmlformats.org/officeDocument/2006/relationships/presProps" Target="/ppt/presProps.xml" Id="R08e0c8787a7c4fce" /><Relationship Type="http://schemas.openxmlformats.org/officeDocument/2006/relationships/viewProps" Target="/ppt/viewProps.xml" Id="Rc29b9e8ebab448ef" /><Relationship Type="http://schemas.openxmlformats.org/officeDocument/2006/relationships/tableStyles" Target="/ppt/tableStyles.xml" Id="Rb8f168184d424067" /><Relationship Type="http://schemas.openxmlformats.org/officeDocument/2006/relationships/slide" Target="/ppt/slides/slide1.xml" Id="R77c6e81562af41b1" /><Relationship Type="http://schemas.openxmlformats.org/officeDocument/2006/relationships/slide" Target="/ppt/slides/slide2.xml" Id="Raa84cbc82735469f" /><Relationship Type="http://schemas.openxmlformats.org/officeDocument/2006/relationships/slide" Target="/ppt/slides/slide3.xml" Id="R072d0ff20f3c4280" /><Relationship Type="http://schemas.openxmlformats.org/officeDocument/2006/relationships/slide" Target="/ppt/slides/slide4.xml" Id="Rbd35f3b9b6614934" /><Relationship Type="http://schemas.openxmlformats.org/officeDocument/2006/relationships/slide" Target="/ppt/slides/slide5.xml" Id="R373aeb990b974b65" /><Relationship Type="http://schemas.openxmlformats.org/officeDocument/2006/relationships/slide" Target="/ppt/slides/slide6.xml" Id="Rb3bc8432abdc4fa2" /><Relationship Type="http://schemas.openxmlformats.org/officeDocument/2006/relationships/slide" Target="/ppt/slides/slide7.xml" Id="R9e25df52249642a9" /><Relationship Type="http://schemas.openxmlformats.org/officeDocument/2006/relationships/slide" Target="/ppt/slides/slide8.xml" Id="Rbb48b24e49064f84" /><Relationship Type="http://schemas.openxmlformats.org/officeDocument/2006/relationships/slide" Target="/ppt/slides/slide9.xml" Id="Rdeb4b38b4ceb4398" /><Relationship Type="http://schemas.openxmlformats.org/officeDocument/2006/relationships/slide" Target="/ppt/slides/slide10.xml" Id="R495670cfff4949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abf44c6e920b44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dc6068946f404e" /><Relationship Type="http://schemas.openxmlformats.org/officeDocument/2006/relationships/notesMaster" Target="/ppt/notesMasters/notesMaster1.xml" Id="Re5bc75c4b7c84a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e027668a714d01" /><Relationship Type="http://schemas.openxmlformats.org/officeDocument/2006/relationships/notesMaster" Target="/ppt/notesMasters/notesMaster1.xml" Id="R61c68fe970114b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e5d53228404167" /><Relationship Type="http://schemas.openxmlformats.org/officeDocument/2006/relationships/notesMaster" Target="/ppt/notesMasters/notesMaster1.xml" Id="R1b0f04ea18a049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bec2b5bd974882" /><Relationship Type="http://schemas.openxmlformats.org/officeDocument/2006/relationships/notesMaster" Target="/ppt/notesMasters/notesMaster1.xml" Id="R69b19a980f6e44d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34aee594614298" /><Relationship Type="http://schemas.openxmlformats.org/officeDocument/2006/relationships/notesMaster" Target="/ppt/notesMasters/notesMaster1.xml" Id="Ra3f0e4c728b84f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b98835f9210432a" /><Relationship Type="http://schemas.openxmlformats.org/officeDocument/2006/relationships/notesMaster" Target="/ppt/notesMasters/notesMaster1.xml" Id="R3ac223c0aff645c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9be3e61e464dcc" /><Relationship Type="http://schemas.openxmlformats.org/officeDocument/2006/relationships/notesMaster" Target="/ppt/notesMasters/notesMaster1.xml" Id="Ra0faca85f601491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801d44a0794258" /><Relationship Type="http://schemas.openxmlformats.org/officeDocument/2006/relationships/notesMaster" Target="/ppt/notesMasters/notesMaster1.xml" Id="R7ed96caccae0488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f9ecd8736654e32" /><Relationship Type="http://schemas.openxmlformats.org/officeDocument/2006/relationships/notesMaster" Target="/ppt/notesMasters/notesMaster1.xml" Id="R66c1b077faf2421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08a47ed867d4bf9" /><Relationship Type="http://schemas.openxmlformats.org/officeDocument/2006/relationships/notesMaster" Target="/ppt/notesMasters/notesMaster1.xml" Id="Rf1ea9bea861941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视觉：东北大学正文 Skin</a:t>
            </a:r>
            <a:endParaRPr/>
          </a:p>
          <a:p xmlns:a="http://schemas.openxmlformats.org/drawingml/2006/main">
            <a:r>
              <a:t>- 结构检索标签：三层组织树 · 2部门×1成员</a:t>
            </a:r>
            <a:endParaRPr/>
          </a:p>
          <a:p xmlns:a="http://schemas.openxmlformats.org/drawingml/2006/main">
            <a:r>
              <a:t>- 用途：候选资产 Skin 实装压力测试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视觉：东北大学正文 Skin</a:t>
            </a:r>
            <a:endParaRPr/>
          </a:p>
          <a:p xmlns:a="http://schemas.openxmlformats.org/drawingml/2006/main">
            <a:r>
              <a:t>- 结构检索标签：三层组织树 · 4部门×3成员</a:t>
            </a:r>
            <a:endParaRPr/>
          </a:p>
          <a:p xmlns:a="http://schemas.openxmlformats.org/drawingml/2006/main">
            <a:r>
              <a:t>- 用途：候选资产 Skin 实装压力测试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视觉：东北大学正文 Skin</a:t>
            </a:r>
            <a:endParaRPr/>
          </a:p>
          <a:p xmlns:a="http://schemas.openxmlformats.org/drawingml/2006/main">
            <a:r>
              <a:t>- 结构检索标签：目标与 KPI 映射 · 3单元×1指标</a:t>
            </a:r>
            <a:endParaRPr/>
          </a:p>
          <a:p xmlns:a="http://schemas.openxmlformats.org/drawingml/2006/main">
            <a:r>
              <a:t>- 用途：候选资产 Skin 实装压力测试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视觉：东北大学正文 Skin</a:t>
            </a:r>
            <a:endParaRPr/>
          </a:p>
          <a:p xmlns:a="http://schemas.openxmlformats.org/drawingml/2006/main">
            <a:r>
              <a:t>- 结构检索标签：目标与 KPI 映射 · 5单元×3指标</a:t>
            </a:r>
            <a:endParaRPr/>
          </a:p>
          <a:p xmlns:a="http://schemas.openxmlformats.org/drawingml/2006/main">
            <a:r>
              <a:t>- 用途：候选资产 Skin 实装压力测试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视觉：东北大学正文 Skin</a:t>
            </a:r>
            <a:endParaRPr/>
          </a:p>
          <a:p xmlns:a="http://schemas.openxmlformats.org/drawingml/2006/main">
            <a:r>
              <a:t>- 结构检索标签：鱼骨原因分析 · 4类×1因素</a:t>
            </a:r>
            <a:endParaRPr/>
          </a:p>
          <a:p xmlns:a="http://schemas.openxmlformats.org/drawingml/2006/main">
            <a:r>
              <a:t>- 用途：候选资产 Skin 实装压力测试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视觉：东北大学正文 Skin</a:t>
            </a:r>
            <a:endParaRPr/>
          </a:p>
          <a:p xmlns:a="http://schemas.openxmlformats.org/drawingml/2006/main">
            <a:r>
              <a:t>- 结构检索标签：鱼骨原因分析 · 6类×4因素</a:t>
            </a:r>
            <a:endParaRPr/>
          </a:p>
          <a:p xmlns:a="http://schemas.openxmlformats.org/drawingml/2006/main">
            <a:r>
              <a:t>- 用途：候选资产 Skin 实装压力测试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视觉：东北大学正文 Skin</a:t>
            </a:r>
            <a:endParaRPr/>
          </a:p>
          <a:p xmlns:a="http://schemas.openxmlformats.org/drawingml/2006/main">
            <a:r>
              <a:t>- 结构检索标签：双轨演进路线 · 3阶段</a:t>
            </a:r>
            <a:endParaRPr/>
          </a:p>
          <a:p xmlns:a="http://schemas.openxmlformats.org/drawingml/2006/main">
            <a:r>
              <a:t>- 用途：候选资产 Skin 实装压力测试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视觉：东北大学正文 Skin</a:t>
            </a:r>
            <a:endParaRPr/>
          </a:p>
          <a:p xmlns:a="http://schemas.openxmlformats.org/drawingml/2006/main">
            <a:r>
              <a:t>- 结构检索标签：双轨演进路线 · 5阶段</a:t>
            </a:r>
            <a:endParaRPr/>
          </a:p>
          <a:p xmlns:a="http://schemas.openxmlformats.org/drawingml/2006/main">
            <a:r>
              <a:t>- 用途：候选资产 Skin 实装压力测试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视觉：东北大学正文 Skin</a:t>
            </a:r>
            <a:endParaRPr/>
          </a:p>
          <a:p xmlns:a="http://schemas.openxmlformats.org/drawingml/2006/main">
            <a:r>
              <a:t>- 结构检索标签：研究方法摘要 · 3维度</a:t>
            </a:r>
            <a:endParaRPr/>
          </a:p>
          <a:p xmlns:a="http://schemas.openxmlformats.org/drawingml/2006/main">
            <a:r>
              <a:t>- 用途：候选资产 Skin 实装压力测试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视觉：东北大学正文 Skin</a:t>
            </a:r>
            <a:endParaRPr/>
          </a:p>
          <a:p xmlns:a="http://schemas.openxmlformats.org/drawingml/2006/main">
            <a:r>
              <a:t>- 结构检索标签：研究方法摘要 · 5维度</a:t>
            </a:r>
            <a:endParaRPr/>
          </a:p>
          <a:p xmlns:a="http://schemas.openxmlformats.org/drawingml/2006/main">
            <a:r>
              <a:t>- 用途：候选资产 Skin 实装压力测试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9e23ad3fe744ab" /><Relationship Type="http://schemas.openxmlformats.org/officeDocument/2006/relationships/image" Target="/ppt/media/image.jpeg" Id="R5ca38e6b76ec41e2" /><Relationship Type="http://schemas.openxmlformats.org/officeDocument/2006/relationships/image" Target="/ppt/media/image.png" Id="R7901d5e50b664547" /><Relationship Type="http://schemas.openxmlformats.org/officeDocument/2006/relationships/image" Target="/ppt/media/image2.png" Id="R6a1ce5e1c5f7423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fb48866a4f4a5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fe787d8c4e4fc9" /><Relationship Type="http://schemas.openxmlformats.org/officeDocument/2006/relationships/image" Target="/ppt/media/image3.png" Id="R2318d51b4a3f42c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d2e0b365324c81" /><Relationship Type="http://schemas.openxmlformats.org/officeDocument/2006/relationships/image" Target="/ppt/media/image4.png" Id="Rdb57c2cc08d1482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09b9d20a2942e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12cf3b4fcb480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f46f3ce007459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c8ca96f0ff4a0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56f9afeb1043f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3d72c5657d493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73bb86a7594aec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41ea391dfc74a9c" /><Relationship Type="http://schemas.openxmlformats.org/officeDocument/2006/relationships/image" Target="/ppt/media/image5.png" Id="R8b77c72b9686487a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49841b054e14011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b4b1a9cb9324cec" /><Relationship Type="http://schemas.openxmlformats.org/officeDocument/2006/relationships/image" Target="/ppt/media/image5.png" Id="R76f8252a58ef4d94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0c6ccd428f64b4d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a38e6b76ec41e2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01d5e50b664547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1ce5e1c5f742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2A5E01F5-DA66-4289-93ED-C7F59A27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18d51b4a3f42c3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3C8E9296-97B3-4702-9E79-39F036BD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E62023F5-75BA-45C4-A307-A7E1F3C1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CB060EB0-A045-4FDF-A798-D6F307E7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269917C3-BD14-4D97-BD5A-40359C0E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57c2cc08d1482c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D894509B-249B-4752-ABE5-75553AB4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2FCCA06D-EB44-47DA-9A90-0D6893E8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3CDD9D4-F861-4FD6-BA18-6578DDF212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E46624B-73AA-477B-BFC8-FD827226D4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CC4BFD45-3005-436A-9E10-5D8AFD487E6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AD69D1E6-0E17-4DD6-B790-F845466622A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96212C9-E130-4F8B-AA25-68CC809F2F2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35754B7-3C68-42FC-9D0F-5FCC257E406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3BD8577E-5C28-4A4F-B5E6-11F2D3E490C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836EB9F-2FED-4F29-8757-3AFB0B9AD4A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1320A29-1055-424B-98CE-A46FC4C8C7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86B861B3-D143-4E90-BE36-911621C08F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92613FE3-FA32-4489-9163-CF13C2798E0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78E54EB8-3C88-4221-AF5B-F146CA9915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E345FAEB-0DDF-4797-A45B-BBD646CED0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109E3BB2-5E66-4AE4-9689-31D8B08D0E4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F142426-8ABE-480E-9004-9C669FF8B9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2BCBD86-91A7-45F9-AA6D-51C1267C8B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2BAD2B1-442B-4C01-8E7E-3D0EF11F083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FCD2F749-EF1E-4E0D-9252-600E130FFEB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8A04F746-1103-4879-9719-3028BFDA71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71706A08-B57F-46CE-857C-0F689ACAB14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AD204890-7323-4599-A5E9-060EDC8CA1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DC902D1-A6A3-47A6-998D-7B3256142E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8C0F41D6-E5FA-4783-A95F-9A7DD6410F7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135F5A1-A241-41F0-B43C-E756F28A85B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B5C86630-3F8C-4DF7-B212-2FFB693D7C0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7DD4BEC4-CB4C-4BE6-BC16-0CE852C456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4190366-B2A2-49BF-987C-70A9AF5E664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DA4F60B-2ADC-4DF8-9432-CCB8E36A1E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8CA9E09F-97A0-4681-A6A1-ED07A767BD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A408806-A909-45C2-B7DE-57286F68421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A2003B5-FBC4-4DDB-938C-CC1E4F8914A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8E93CC5-2FEA-468E-8DAB-A48D94F121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F6BFB3A6-5937-4041-BB3B-BD72F7E887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8DF3531-D491-44F8-B3A0-F0C88ADACA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CDC9198-6DFA-4CC4-8BC2-5BA91BBE4FB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8759D1F-0681-4F03-867F-802F554501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9EB4212-4459-46AB-A498-7394E4593FF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77c72b9686487a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45430E4-2478-4FEE-A3C4-29E5537E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E2A58C9-CA9F-41F0-A69F-0FF1BF723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CC631095-4F69-4455-BC2A-DC5D3FB1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B673D29B-6E21-4609-A5E0-A0E887A6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f8252a58ef4d94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65C02215-2438-43AA-B6DE-AEAC06C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356C50A-8987-4774-918A-4C4C23DE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33A26F47-C799-4A11-8096-2FCFFB61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DC0078D2-4967-4F8D-AD4C-1F6997E7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53a0fdb46c4a8e" /><Relationship Type="http://schemas.openxmlformats.org/officeDocument/2006/relationships/slideLayout" Target="/ppt/slideLayouts/slideLayout1.xml" Id="R8309c0af20514770" /><Relationship Type="http://schemas.openxmlformats.org/officeDocument/2006/relationships/slideLayout" Target="/ppt/slideLayouts/slideLayout2.xml" Id="R1290ba8b3b08455d" /><Relationship Type="http://schemas.openxmlformats.org/officeDocument/2006/relationships/slideLayout" Target="/ppt/slideLayouts/slideLayout3.xml" Id="Rd0f7c798bbdc4bb3" /><Relationship Type="http://schemas.openxmlformats.org/officeDocument/2006/relationships/slideLayout" Target="/ppt/slideLayouts/slideLayout4.xml" Id="R3fc9faab05d74467" /><Relationship Type="http://schemas.openxmlformats.org/officeDocument/2006/relationships/slideLayout" Target="/ppt/slideLayouts/slideLayout5.xml" Id="R15cf43d6f445423d" /><Relationship Type="http://schemas.openxmlformats.org/officeDocument/2006/relationships/slideLayout" Target="/ppt/slideLayouts/slideLayout6.xml" Id="R98923f60644b426e" /><Relationship Type="http://schemas.openxmlformats.org/officeDocument/2006/relationships/slideLayout" Target="/ppt/slideLayouts/slideLayout7.xml" Id="R8cf8c1e6014d4c2e" /><Relationship Type="http://schemas.openxmlformats.org/officeDocument/2006/relationships/slideLayout" Target="/ppt/slideLayouts/slideLayout8.xml" Id="R22c78d70a6e8419a" /><Relationship Type="http://schemas.openxmlformats.org/officeDocument/2006/relationships/slideLayout" Target="/ppt/slideLayouts/slideLayout9.xml" Id="R8ce2be6666724188" /><Relationship Type="http://schemas.openxmlformats.org/officeDocument/2006/relationships/slideLayout" Target="/ppt/slideLayouts/slideLayout10.xml" Id="R67b0e84dcf76491a" /><Relationship Type="http://schemas.openxmlformats.org/officeDocument/2006/relationships/slideLayout" Target="/ppt/slideLayouts/slideLayout11.xml" Id="R4747057420d64096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66e044cbe39e4cb5" /><Relationship Type="http://schemas.openxmlformats.org/officeDocument/2006/relationships/slideLayout" Target="/ppt/slideLayouts/slideLayout12.xml" Id="R2477c899c34d4bdc" /><Relationship Type="http://schemas.openxmlformats.org/officeDocument/2006/relationships/slideLayout" Target="/ppt/slideLayouts/slideLayout13.xml" Id="R545b7b71c452480c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48dfc23e21e24414" /><Relationship Type="http://schemas.openxmlformats.org/officeDocument/2006/relationships/slideLayout" Target="/ppt/slideLayouts/slideLayout14.xml" Id="R9c988a34bf8d4805" /><Relationship Type="http://schemas.openxmlformats.org/officeDocument/2006/relationships/slideLayout" Target="/ppt/slideLayouts/slideLayout15.xml" Id="R39491a248bfd41f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A4307A44-FA3F-468A-85CA-9F4C037B74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1AADEADC-CF3F-4E40-87D9-7C2262A76C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EBAE744-60BB-4738-8FF6-4477709C6BA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78C76DE-A3B9-4E7C-A6A2-D3C3907BFA9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C7548C5-4380-4E67-965D-264F3BE2954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09c0af20514770"/>
    <p:sldLayoutId xmlns:r="http://schemas.openxmlformats.org/officeDocument/2006/relationships" id="2147483650" r:id="R1290ba8b3b08455d"/>
    <p:sldLayoutId xmlns:r="http://schemas.openxmlformats.org/officeDocument/2006/relationships" id="2147483651" r:id="Rd0f7c798bbdc4bb3"/>
    <p:sldLayoutId xmlns:r="http://schemas.openxmlformats.org/officeDocument/2006/relationships" id="2147483652" r:id="R3fc9faab05d74467"/>
    <p:sldLayoutId xmlns:r="http://schemas.openxmlformats.org/officeDocument/2006/relationships" id="2147483653" r:id="R15cf43d6f445423d"/>
    <p:sldLayoutId xmlns:r="http://schemas.openxmlformats.org/officeDocument/2006/relationships" id="2147483654" r:id="R98923f60644b426e"/>
    <p:sldLayoutId xmlns:r="http://schemas.openxmlformats.org/officeDocument/2006/relationships" id="2147483655" r:id="R8cf8c1e6014d4c2e"/>
    <p:sldLayoutId xmlns:r="http://schemas.openxmlformats.org/officeDocument/2006/relationships" id="2147483656" r:id="R22c78d70a6e8419a"/>
    <p:sldLayoutId xmlns:r="http://schemas.openxmlformats.org/officeDocument/2006/relationships" id="2147483657" r:id="R8ce2be6666724188"/>
    <p:sldLayoutId xmlns:r="http://schemas.openxmlformats.org/officeDocument/2006/relationships" id="2147483658" r:id="R67b0e84dcf76491a"/>
    <p:sldLayoutId xmlns:r="http://schemas.openxmlformats.org/officeDocument/2006/relationships" id="2147483659" r:id="R4747057420d64096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FE71748F-D868-475E-A20E-F52558E1EF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0D7CB87-F20A-496F-85E9-5002FB2240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F2CDC80-C554-4ADE-91FE-751A6B67634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864BC5C-6FD3-4EDF-8E0D-B0C7E201394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5F1D71F-A776-484B-B5E2-92C87D87AB2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2477c899c34d4bdc"/>
    <p:sldLayoutId xmlns:r="http://schemas.openxmlformats.org/officeDocument/2006/relationships" id="2147483662" r:id="R545b7b71c452480c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1122F188-A850-4D2E-A64D-194254F1EE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BB7B500-6121-4010-8481-9A134B9CF8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016A1F7-A8BA-4A0D-B731-E1D67DBE405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A1CABF0-4E5E-4802-9FC8-4E4849344B4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6DB56B0-0EB3-4BB9-9751-674C94DC808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9c988a34bf8d4805"/>
    <p:sldLayoutId xmlns:r="http://schemas.openxmlformats.org/officeDocument/2006/relationships" id="2147483665" r:id="R39491a248bfd41f0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e05ee01c37c4669" /><Relationship Type="http://schemas.openxmlformats.org/officeDocument/2006/relationships/notesSlide" Target="/ppt/notesSlides/notesSlide1.xml" Id="R2a859ffbd9d841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f54f7c9b8b6439c" /><Relationship Type="http://schemas.openxmlformats.org/officeDocument/2006/relationships/notesSlide" Target="/ppt/notesSlides/notesSlide2.xml" Id="R46ffb026886b4f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b267b83dd2a4116" /><Relationship Type="http://schemas.openxmlformats.org/officeDocument/2006/relationships/notesSlide" Target="/ppt/notesSlides/notesSlide3.xml" Id="R86c31cf0dcdd4d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2e6adb7142743d8" /><Relationship Type="http://schemas.openxmlformats.org/officeDocument/2006/relationships/notesSlide" Target="/ppt/notesSlides/notesSlide4.xml" Id="R46d8abcfe0a043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38e6abb664f4906" /><Relationship Type="http://schemas.openxmlformats.org/officeDocument/2006/relationships/notesSlide" Target="/ppt/notesSlides/notesSlide5.xml" Id="R7c340d13d8d845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d495ec1dc4f4b0e" /><Relationship Type="http://schemas.openxmlformats.org/officeDocument/2006/relationships/notesSlide" Target="/ppt/notesSlides/notesSlide6.xml" Id="R89ab8f82df184c0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bf0bc3359d542ad" /><Relationship Type="http://schemas.openxmlformats.org/officeDocument/2006/relationships/notesSlide" Target="/ppt/notesSlides/notesSlide7.xml" Id="R63a4fa97fff046f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25d0f5a21b94289" /><Relationship Type="http://schemas.openxmlformats.org/officeDocument/2006/relationships/notesSlide" Target="/ppt/notesSlides/notesSlide8.xml" Id="R11cd331d44514ca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18a6633d8204966" /><Relationship Type="http://schemas.openxmlformats.org/officeDocument/2006/relationships/notesSlide" Target="/ppt/notesSlides/notesSlide9.xml" Id="R85c2ef5c94444b5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29a1e0b781543ed" /><Relationship Type="http://schemas.openxmlformats.org/officeDocument/2006/relationships/notesSlide" Target="/ppt/notesSlides/notesSlide10.xml" Id="R9690c224ebbc4db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项目团队组织架构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组织与职责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E5CEABAC-B3C5-4A46-9560-9CC98DF8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44E299-0778-4376-92DA-FDFEC46C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2419277"/>
            <a:ext cx="0" cy="43258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F5EA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DF6298-5A68-4124-9EA8-8E19275F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80063" y="2851858"/>
            <a:ext cx="883187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F5EA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8C73B4-2A65-4D0E-9D2B-FA687D9A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80063" y="2851858"/>
            <a:ext cx="0" cy="2703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F5EA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26D670-1970-4C72-8C4A-E8AB11E6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511937" y="2851858"/>
            <a:ext cx="0" cy="2703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F5EA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01927C-DA82-4249-88E6-AC52F8B2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322" y="1500041"/>
            <a:ext cx="1009357" cy="10093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5D5B79-B788-444F-9A9B-3D8EC6C9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9467" y="1608186"/>
            <a:ext cx="793066" cy="7930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F5E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李明</a:t>
            </a:r>
          </a:p>
        </p:txBody>
      </p:sp>
      <p:sp>
        <p:nvSpPr>
          <p:cNvPr id="21" name="PPAGENT_QA|parent=org-leader|domains=organization-leaders">
            <a:extLst xmlns:a="http://schemas.openxmlformats.org/drawingml/2006/main">
              <a:ext uri="{FF2B5EF4-FFF2-40B4-BE49-F238E27FC236}">
                <a16:creationId xmlns:a16="http://schemas.microsoft.com/office/drawing/2014/main" id="{4BF0DA1E-BE29-4870-8A53-1AF6B93DE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619" y="2419277"/>
            <a:ext cx="2054762" cy="360485"/>
          </a:xfrm>
          <a:prstGeom xmlns:a="http://schemas.openxmlformats.org/drawingml/2006/main" prst="roundRect">
            <a:avLst>
              <a:gd name="adj" fmla="val 31707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李明｜项目负责人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C019E3-C4FB-4420-9B0A-58850482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80063" y="3933312"/>
            <a:ext cx="0" cy="66689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39928D-AA63-4A33-85AA-3177DD2E2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80063" y="4600209"/>
            <a:ext cx="0" cy="3154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90CA70-3551-4968-8C12-EC73F715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458" y="3068149"/>
            <a:ext cx="901212" cy="9012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DB55CA-D977-43F4-915D-BFC98188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579" y="3158270"/>
            <a:ext cx="720969" cy="7209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2F5E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徐阳</a:t>
            </a:r>
          </a:p>
        </p:txBody>
      </p:sp>
      <p:sp>
        <p:nvSpPr>
          <p:cNvPr id="26" name="PPAGENT_QA|parent=org-department-0|domains=organization-departments">
            <a:extLst xmlns:a="http://schemas.openxmlformats.org/drawingml/2006/main">
              <a:ext uri="{FF2B5EF4-FFF2-40B4-BE49-F238E27FC236}">
                <a16:creationId xmlns:a16="http://schemas.microsoft.com/office/drawing/2014/main" id="{C9A2136E-2825-4900-BBBB-AA61231E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" y="3969361"/>
            <a:ext cx="1946617" cy="342460"/>
          </a:xfrm>
          <a:prstGeom xmlns:a="http://schemas.openxmlformats.org/drawingml/2006/main" prst="roundRect">
            <a:avLst>
              <a:gd name="adj" fmla="val 33376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徐阳｜研究组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87FA34-C627-4901-AAD2-DEAAAF13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15633"/>
            <a:ext cx="540727" cy="5407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林澈</a:t>
            </a:r>
          </a:p>
        </p:txBody>
      </p:sp>
      <p:sp>
        <p:nvSpPr>
          <p:cNvPr id="28" name="PPAGENT_QA|parent=org-member-0-0|domains=organization-members">
            <a:extLst xmlns:a="http://schemas.openxmlformats.org/drawingml/2006/main">
              <a:ext uri="{FF2B5EF4-FFF2-40B4-BE49-F238E27FC236}">
                <a16:creationId xmlns:a16="http://schemas.microsoft.com/office/drawing/2014/main" id="{B4BFD121-DD3C-4445-B1FE-08BB5BFE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591" y="5510432"/>
            <a:ext cx="702945" cy="432582"/>
          </a:xfrm>
          <a:prstGeom xmlns:a="http://schemas.openxmlformats.org/drawingml/2006/main" prst="roundRect">
            <a:avLst>
              <a:gd name="adj" fmla="val 2642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策略研究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7DA8C5-5890-41A8-B804-8F083836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511937" y="3933312"/>
            <a:ext cx="0" cy="66689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B50DD6-4782-4FB2-A456-62D2E76F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511937" y="4600209"/>
            <a:ext cx="0" cy="3154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0351EB-BA24-411B-A9D9-BACF2EBB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1331" y="3068149"/>
            <a:ext cx="901212" cy="9012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702E5B-EA6A-49E6-9A90-15CC05AA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1452" y="3158270"/>
            <a:ext cx="720969" cy="7209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2F5E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吴飞</a:t>
            </a:r>
          </a:p>
        </p:txBody>
      </p:sp>
      <p:sp>
        <p:nvSpPr>
          <p:cNvPr id="33" name="PPAGENT_QA|parent=org-department-1|domains=organization-departments">
            <a:extLst xmlns:a="http://schemas.openxmlformats.org/drawingml/2006/main">
              <a:ext uri="{FF2B5EF4-FFF2-40B4-BE49-F238E27FC236}">
                <a16:creationId xmlns:a16="http://schemas.microsoft.com/office/drawing/2014/main" id="{15640BDB-DBF6-4D91-B0B5-D24027D6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8628" y="3969361"/>
            <a:ext cx="1946617" cy="342460"/>
          </a:xfrm>
          <a:prstGeom xmlns:a="http://schemas.openxmlformats.org/drawingml/2006/main" prst="roundRect">
            <a:avLst>
              <a:gd name="adj" fmla="val 33376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吴飞｜产品组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B6332C-C334-4FAC-8961-27B5BF2CD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573" y="4915633"/>
            <a:ext cx="540727" cy="5407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林澈</a:t>
            </a:r>
          </a:p>
        </p:txBody>
      </p:sp>
      <p:sp>
        <p:nvSpPr>
          <p:cNvPr id="35" name="PPAGENT_QA|parent=org-member-1-0|domains=organization-members">
            <a:extLst xmlns:a="http://schemas.openxmlformats.org/drawingml/2006/main">
              <a:ext uri="{FF2B5EF4-FFF2-40B4-BE49-F238E27FC236}">
                <a16:creationId xmlns:a16="http://schemas.microsoft.com/office/drawing/2014/main" id="{5C97ABC8-8491-493C-9626-3702B8A03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464" y="5510432"/>
            <a:ext cx="702945" cy="432582"/>
          </a:xfrm>
          <a:prstGeom xmlns:a="http://schemas.openxmlformats.org/drawingml/2006/main" prst="roundRect">
            <a:avLst>
              <a:gd name="adj" fmla="val 2642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策略研究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项目团队组织架构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组织与职责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E5CEABAC-B3C5-4A46-9560-9CC98DF8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4B1F62-44E2-4853-BA07-ED436F64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2419277"/>
            <a:ext cx="0" cy="43258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F5EA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C6BF9B-E097-472B-8539-81FDDCFB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80063" y="2851858"/>
            <a:ext cx="883187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F5EA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89E588-54F3-4713-BF45-8195E0EB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80063" y="2851858"/>
            <a:ext cx="0" cy="2703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F5EA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260642-D066-4BFB-84C2-5DCDD6EF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24021" y="2851858"/>
            <a:ext cx="0" cy="2703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F5EA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B81F30-322D-4D9D-B28C-B27D072F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67979" y="2851858"/>
            <a:ext cx="0" cy="2703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F5EA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53685E-868D-4F42-AA9A-DAF7520B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511937" y="2851858"/>
            <a:ext cx="0" cy="2703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F5EA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F408A1-D169-4FA8-9859-DBE624B8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322" y="1500041"/>
            <a:ext cx="1009357" cy="10093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F492E2-9AF7-4263-A5BC-433FC484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9467" y="1608186"/>
            <a:ext cx="793066" cy="7930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F5E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李明</a:t>
            </a:r>
          </a:p>
        </p:txBody>
      </p:sp>
      <p:sp>
        <p:nvSpPr>
          <p:cNvPr id="23" name="PPAGENT_QA|parent=org-leader|domains=organization-leaders">
            <a:extLst xmlns:a="http://schemas.openxmlformats.org/drawingml/2006/main">
              <a:ext uri="{FF2B5EF4-FFF2-40B4-BE49-F238E27FC236}">
                <a16:creationId xmlns:a16="http://schemas.microsoft.com/office/drawing/2014/main" id="{C00A7E14-0686-4135-A1FA-3789F8F49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619" y="2419277"/>
            <a:ext cx="2054762" cy="360485"/>
          </a:xfrm>
          <a:prstGeom xmlns:a="http://schemas.openxmlformats.org/drawingml/2006/main" prst="roundRect">
            <a:avLst>
              <a:gd name="adj" fmla="val 31707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李明｜项目负责人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79E5E7-36B0-4F66-A675-74F7B3FB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80063" y="3933312"/>
            <a:ext cx="0" cy="66689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F1B718-F215-4FFB-A9E4-E7AEC55A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41070" y="4600209"/>
            <a:ext cx="14779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C5106A-BD1E-45F5-816B-12B17B6A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41070" y="4600209"/>
            <a:ext cx="0" cy="3154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1A4833-E6AB-430F-BE9D-FDD1B881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80063" y="4600209"/>
            <a:ext cx="0" cy="3154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6B42CD-961B-4CF2-B29D-69330BBF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19057" y="4600209"/>
            <a:ext cx="0" cy="3154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A2B1AB-F122-424F-A948-F9E81947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458" y="3068149"/>
            <a:ext cx="901212" cy="9012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6AC473-A5B0-439D-ABE5-393793EA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579" y="3158270"/>
            <a:ext cx="720969" cy="7209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2F5E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徐阳</a:t>
            </a:r>
          </a:p>
        </p:txBody>
      </p:sp>
      <p:sp>
        <p:nvSpPr>
          <p:cNvPr id="31" name="PPAGENT_QA|parent=org-department-0|domains=organization-departments">
            <a:extLst xmlns:a="http://schemas.openxmlformats.org/drawingml/2006/main">
              <a:ext uri="{FF2B5EF4-FFF2-40B4-BE49-F238E27FC236}">
                <a16:creationId xmlns:a16="http://schemas.microsoft.com/office/drawing/2014/main" id="{8A2D21D8-0E8F-4B8F-A7EC-41EB0857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" y="3969361"/>
            <a:ext cx="1946617" cy="342460"/>
          </a:xfrm>
          <a:prstGeom xmlns:a="http://schemas.openxmlformats.org/drawingml/2006/main" prst="roundRect">
            <a:avLst>
              <a:gd name="adj" fmla="val 33376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徐阳｜研究组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B74FB3-C582-42C3-B524-429EC12C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707" y="4915633"/>
            <a:ext cx="540727" cy="5407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林澈</a:t>
            </a:r>
          </a:p>
        </p:txBody>
      </p:sp>
      <p:sp>
        <p:nvSpPr>
          <p:cNvPr id="33" name="PPAGENT_QA|parent=org-member-0-0|domains=organization-members">
            <a:extLst xmlns:a="http://schemas.openxmlformats.org/drawingml/2006/main">
              <a:ext uri="{FF2B5EF4-FFF2-40B4-BE49-F238E27FC236}">
                <a16:creationId xmlns:a16="http://schemas.microsoft.com/office/drawing/2014/main" id="{29B34B8D-B7AD-442F-AC83-D20025E3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8" y="5510432"/>
            <a:ext cx="702945" cy="432582"/>
          </a:xfrm>
          <a:prstGeom xmlns:a="http://schemas.openxmlformats.org/drawingml/2006/main" prst="roundRect">
            <a:avLst>
              <a:gd name="adj" fmla="val 2642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策略研究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F37EDB-B770-400F-8125-78119907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15633"/>
            <a:ext cx="540727" cy="5407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周岚</a:t>
            </a:r>
          </a:p>
        </p:txBody>
      </p:sp>
      <p:sp>
        <p:nvSpPr>
          <p:cNvPr id="35" name="PPAGENT_QA|parent=org-member-0-1|domains=organization-members">
            <a:extLst xmlns:a="http://schemas.openxmlformats.org/drawingml/2006/main">
              <a:ext uri="{FF2B5EF4-FFF2-40B4-BE49-F238E27FC236}">
                <a16:creationId xmlns:a16="http://schemas.microsoft.com/office/drawing/2014/main" id="{91D7EE7B-6D16-45E2-A66F-3386CEE2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591" y="5510432"/>
            <a:ext cx="702945" cy="432582"/>
          </a:xfrm>
          <a:prstGeom xmlns:a="http://schemas.openxmlformats.org/drawingml/2006/main" prst="roundRect">
            <a:avLst>
              <a:gd name="adj" fmla="val 2642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产品设计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FF44BF-E78B-42EC-B91F-BABDF916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693" y="4915633"/>
            <a:ext cx="540727" cy="5407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陈昊</a:t>
            </a:r>
          </a:p>
        </p:txBody>
      </p:sp>
      <p:sp>
        <p:nvSpPr>
          <p:cNvPr id="37" name="PPAGENT_QA|parent=org-member-0-2|domains=organization-members">
            <a:extLst xmlns:a="http://schemas.openxmlformats.org/drawingml/2006/main">
              <a:ext uri="{FF2B5EF4-FFF2-40B4-BE49-F238E27FC236}">
                <a16:creationId xmlns:a16="http://schemas.microsoft.com/office/drawing/2014/main" id="{96621FD4-04FB-4832-8085-36C71682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7584" y="5510432"/>
            <a:ext cx="702945" cy="432582"/>
          </a:xfrm>
          <a:prstGeom xmlns:a="http://schemas.openxmlformats.org/drawingml/2006/main" prst="roundRect">
            <a:avLst>
              <a:gd name="adj" fmla="val 2642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质量验证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D940AF4-565E-4E0E-A871-FB3DF894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24021" y="3933312"/>
            <a:ext cx="0" cy="66689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7AF9044-CF4D-477E-A1E8-1547B39D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85028" y="4600209"/>
            <a:ext cx="14779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5986902-CF7D-4F4A-B586-C12623BA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85028" y="4600209"/>
            <a:ext cx="0" cy="3154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57A2D1B-58A3-4BFA-8279-B3D48EF0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24021" y="4600209"/>
            <a:ext cx="0" cy="3154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21C6EAE-F02A-4C2B-86FB-3CB1C27C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63015" y="4600209"/>
            <a:ext cx="0" cy="3154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1737CC2-7065-4BD3-94B0-B386EADC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3415" y="3068149"/>
            <a:ext cx="901212" cy="9012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95F4B96-A7FF-400A-88D9-28E80062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3537" y="3158270"/>
            <a:ext cx="720969" cy="7209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2F5E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吴飞</a:t>
            </a:r>
          </a:p>
        </p:txBody>
      </p:sp>
      <p:sp>
        <p:nvSpPr>
          <p:cNvPr id="45" name="PPAGENT_QA|parent=org-department-1|domains=organization-departments">
            <a:extLst xmlns:a="http://schemas.openxmlformats.org/drawingml/2006/main">
              <a:ext uri="{FF2B5EF4-FFF2-40B4-BE49-F238E27FC236}">
                <a16:creationId xmlns:a16="http://schemas.microsoft.com/office/drawing/2014/main" id="{740F6680-1969-4333-8022-F88F049A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0713" y="3969361"/>
            <a:ext cx="1946617" cy="342460"/>
          </a:xfrm>
          <a:prstGeom xmlns:a="http://schemas.openxmlformats.org/drawingml/2006/main" prst="roundRect">
            <a:avLst>
              <a:gd name="adj" fmla="val 33376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吴飞｜产品组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ACF81B5-F7B8-4908-8AAE-417FB67C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4664" y="4915633"/>
            <a:ext cx="540727" cy="5407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林澈</a:t>
            </a:r>
          </a:p>
        </p:txBody>
      </p:sp>
      <p:sp>
        <p:nvSpPr>
          <p:cNvPr id="47" name="PPAGENT_QA|parent=org-member-1-0|domains=organization-members">
            <a:extLst xmlns:a="http://schemas.openxmlformats.org/drawingml/2006/main">
              <a:ext uri="{FF2B5EF4-FFF2-40B4-BE49-F238E27FC236}">
                <a16:creationId xmlns:a16="http://schemas.microsoft.com/office/drawing/2014/main" id="{7AB90C43-D1BD-42B5-94F5-A8BC9AF6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555" y="5510432"/>
            <a:ext cx="702945" cy="432582"/>
          </a:xfrm>
          <a:prstGeom xmlns:a="http://schemas.openxmlformats.org/drawingml/2006/main" prst="roundRect">
            <a:avLst>
              <a:gd name="adj" fmla="val 2642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策略研究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839E0A8-C771-44AF-8A75-86F3980C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658" y="4915633"/>
            <a:ext cx="540727" cy="5407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周岚</a:t>
            </a:r>
          </a:p>
        </p:txBody>
      </p:sp>
      <p:sp>
        <p:nvSpPr>
          <p:cNvPr id="49" name="PPAGENT_QA|parent=org-member-1-1|domains=organization-members">
            <a:extLst xmlns:a="http://schemas.openxmlformats.org/drawingml/2006/main">
              <a:ext uri="{FF2B5EF4-FFF2-40B4-BE49-F238E27FC236}">
                <a16:creationId xmlns:a16="http://schemas.microsoft.com/office/drawing/2014/main" id="{28418081-F695-4B17-91B9-B983DD0A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2549" y="5510432"/>
            <a:ext cx="702945" cy="432582"/>
          </a:xfrm>
          <a:prstGeom xmlns:a="http://schemas.openxmlformats.org/drawingml/2006/main" prst="roundRect">
            <a:avLst>
              <a:gd name="adj" fmla="val 2642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产品设计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B6DD7AF-0DAD-402A-B771-7EC4D2B6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2651" y="4915633"/>
            <a:ext cx="540727" cy="5407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陈昊</a:t>
            </a:r>
          </a:p>
        </p:txBody>
      </p:sp>
      <p:sp>
        <p:nvSpPr>
          <p:cNvPr id="51" name="PPAGENT_QA|parent=org-member-1-2|domains=organization-members">
            <a:extLst xmlns:a="http://schemas.openxmlformats.org/drawingml/2006/main">
              <a:ext uri="{FF2B5EF4-FFF2-40B4-BE49-F238E27FC236}">
                <a16:creationId xmlns:a16="http://schemas.microsoft.com/office/drawing/2014/main" id="{A6AB6FAF-9F3A-4756-979A-C9033C74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1542" y="5510432"/>
            <a:ext cx="702945" cy="432582"/>
          </a:xfrm>
          <a:prstGeom xmlns:a="http://schemas.openxmlformats.org/drawingml/2006/main" prst="roundRect">
            <a:avLst>
              <a:gd name="adj" fmla="val 2642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质量验证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2A6D4BF-7679-4DAC-9794-198BB44A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67979" y="3933312"/>
            <a:ext cx="0" cy="66689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A396CA2-17A8-4870-B004-E6559885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28985" y="4600209"/>
            <a:ext cx="14779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A083A10-7EBE-4CC8-A03B-4CD4A678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28985" y="4600209"/>
            <a:ext cx="0" cy="3154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C8902C2-31BC-44F5-86C6-67327DBE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67979" y="4600209"/>
            <a:ext cx="0" cy="3154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400C91-3D04-4DE0-B25C-9B41B7B94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306972" y="4600209"/>
            <a:ext cx="0" cy="3154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4F09D71-662F-4740-B11E-3971FA9D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7373" y="3068149"/>
            <a:ext cx="901212" cy="9012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E7FEA98-843C-4386-B15F-ACFB5F62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7494" y="3158270"/>
            <a:ext cx="720969" cy="7209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2F5E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陈军</a:t>
            </a:r>
          </a:p>
        </p:txBody>
      </p:sp>
      <p:sp>
        <p:nvSpPr>
          <p:cNvPr id="59" name="PPAGENT_QA|parent=org-department-2|domains=organization-departments">
            <a:extLst xmlns:a="http://schemas.openxmlformats.org/drawingml/2006/main">
              <a:ext uri="{FF2B5EF4-FFF2-40B4-BE49-F238E27FC236}">
                <a16:creationId xmlns:a16="http://schemas.microsoft.com/office/drawing/2014/main" id="{19029F2C-F947-4D23-AA15-2ABF343B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4670" y="3969361"/>
            <a:ext cx="1946617" cy="342460"/>
          </a:xfrm>
          <a:prstGeom xmlns:a="http://schemas.openxmlformats.org/drawingml/2006/main" prst="roundRect">
            <a:avLst>
              <a:gd name="adj" fmla="val 33376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陈军｜技术组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103545C-5494-4FF7-8563-EE7B7DD9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622" y="4915633"/>
            <a:ext cx="540727" cy="5407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林澈</a:t>
            </a:r>
          </a:p>
        </p:txBody>
      </p:sp>
      <p:sp>
        <p:nvSpPr>
          <p:cNvPr id="61" name="PPAGENT_QA|parent=org-member-2-0|domains=organization-members">
            <a:extLst xmlns:a="http://schemas.openxmlformats.org/drawingml/2006/main">
              <a:ext uri="{FF2B5EF4-FFF2-40B4-BE49-F238E27FC236}">
                <a16:creationId xmlns:a16="http://schemas.microsoft.com/office/drawing/2014/main" id="{DA890ACF-A95A-4337-8D70-E7F6A669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513" y="5510432"/>
            <a:ext cx="702945" cy="432582"/>
          </a:xfrm>
          <a:prstGeom xmlns:a="http://schemas.openxmlformats.org/drawingml/2006/main" prst="roundRect">
            <a:avLst>
              <a:gd name="adj" fmla="val 2642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策略研究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6E3D2AB-CFE7-4CA9-86B4-6AEBB300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7615" y="4915633"/>
            <a:ext cx="540727" cy="5407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周岚</a:t>
            </a:r>
          </a:p>
        </p:txBody>
      </p:sp>
      <p:sp>
        <p:nvSpPr>
          <p:cNvPr id="63" name="PPAGENT_QA|parent=org-member-2-1|domains=organization-members">
            <a:extLst xmlns:a="http://schemas.openxmlformats.org/drawingml/2006/main">
              <a:ext uri="{FF2B5EF4-FFF2-40B4-BE49-F238E27FC236}">
                <a16:creationId xmlns:a16="http://schemas.microsoft.com/office/drawing/2014/main" id="{194B5F6C-BEF2-4377-A25A-6AF23D93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6506" y="5510432"/>
            <a:ext cx="702945" cy="432582"/>
          </a:xfrm>
          <a:prstGeom xmlns:a="http://schemas.openxmlformats.org/drawingml/2006/main" prst="roundRect">
            <a:avLst>
              <a:gd name="adj" fmla="val 2642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产品设计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809F7B2-FA46-4011-9722-C2A96921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6609" y="4915633"/>
            <a:ext cx="540727" cy="5407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陈昊</a:t>
            </a:r>
          </a:p>
        </p:txBody>
      </p:sp>
      <p:sp>
        <p:nvSpPr>
          <p:cNvPr id="65" name="PPAGENT_QA|parent=org-member-2-2|domains=organization-members">
            <a:extLst xmlns:a="http://schemas.openxmlformats.org/drawingml/2006/main">
              <a:ext uri="{FF2B5EF4-FFF2-40B4-BE49-F238E27FC236}">
                <a16:creationId xmlns:a16="http://schemas.microsoft.com/office/drawing/2014/main" id="{08E5DD5A-31AA-4EF3-81DD-2AC432FA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500" y="5510432"/>
            <a:ext cx="702945" cy="432582"/>
          </a:xfrm>
          <a:prstGeom xmlns:a="http://schemas.openxmlformats.org/drawingml/2006/main" prst="roundRect">
            <a:avLst>
              <a:gd name="adj" fmla="val 2642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质量验证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622A4B1-122F-4BB7-A34C-574B8F86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511937" y="3933312"/>
            <a:ext cx="0" cy="66689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772E480-1C03-4659-A497-AD62C71F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772943" y="4600209"/>
            <a:ext cx="14779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B158972-6E89-403D-AA14-2E5807F3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772943" y="4600209"/>
            <a:ext cx="0" cy="3154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7A9697C-C3BC-46DB-B7B4-8EA35CFA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511937" y="4600209"/>
            <a:ext cx="0" cy="3154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F94D234-A045-4568-A0BB-58E58407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250930" y="4600209"/>
            <a:ext cx="0" cy="3154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C141BFC-82B8-497E-9B6D-5FC9F959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1331" y="3068149"/>
            <a:ext cx="901212" cy="9012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4138E19-CD7A-430B-94E0-EDEECB07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1452" y="3158270"/>
            <a:ext cx="720969" cy="7209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2F5E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沈嘉</a:t>
            </a:r>
          </a:p>
        </p:txBody>
      </p:sp>
      <p:sp>
        <p:nvSpPr>
          <p:cNvPr id="73" name="PPAGENT_QA|parent=org-department-3|domains=organization-departments">
            <a:extLst xmlns:a="http://schemas.openxmlformats.org/drawingml/2006/main">
              <a:ext uri="{FF2B5EF4-FFF2-40B4-BE49-F238E27FC236}">
                <a16:creationId xmlns:a16="http://schemas.microsoft.com/office/drawing/2014/main" id="{6B8820A6-9A62-4AFD-9137-4F43387A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8628" y="3969361"/>
            <a:ext cx="1946617" cy="342460"/>
          </a:xfrm>
          <a:prstGeom xmlns:a="http://schemas.openxmlformats.org/drawingml/2006/main" prst="roundRect">
            <a:avLst>
              <a:gd name="adj" fmla="val 33376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沈嘉｜运营组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28DD9EE-6946-442F-8FCF-83C3CC51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2580" y="4915633"/>
            <a:ext cx="540727" cy="5407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林澈</a:t>
            </a:r>
          </a:p>
        </p:txBody>
      </p:sp>
      <p:sp>
        <p:nvSpPr>
          <p:cNvPr id="75" name="PPAGENT_QA|parent=org-member-3-0|domains=organization-members">
            <a:extLst xmlns:a="http://schemas.openxmlformats.org/drawingml/2006/main">
              <a:ext uri="{FF2B5EF4-FFF2-40B4-BE49-F238E27FC236}">
                <a16:creationId xmlns:a16="http://schemas.microsoft.com/office/drawing/2014/main" id="{DB82E469-7D0C-4853-92C3-0DABCD8F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1471" y="5510432"/>
            <a:ext cx="702945" cy="432582"/>
          </a:xfrm>
          <a:prstGeom xmlns:a="http://schemas.openxmlformats.org/drawingml/2006/main" prst="roundRect">
            <a:avLst>
              <a:gd name="adj" fmla="val 2642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策略研究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A58EE33-0C8A-4CDD-920C-97FD3CD7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573" y="4915633"/>
            <a:ext cx="540727" cy="5407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周岚</a:t>
            </a:r>
          </a:p>
        </p:txBody>
      </p:sp>
      <p:sp>
        <p:nvSpPr>
          <p:cNvPr id="77" name="PPAGENT_QA|parent=org-member-3-1|domains=organization-members">
            <a:extLst xmlns:a="http://schemas.openxmlformats.org/drawingml/2006/main">
              <a:ext uri="{FF2B5EF4-FFF2-40B4-BE49-F238E27FC236}">
                <a16:creationId xmlns:a16="http://schemas.microsoft.com/office/drawing/2014/main" id="{934F03BA-11D7-43CB-95FE-6381E68C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464" y="5510432"/>
            <a:ext cx="702945" cy="432582"/>
          </a:xfrm>
          <a:prstGeom xmlns:a="http://schemas.openxmlformats.org/drawingml/2006/main" prst="roundRect">
            <a:avLst>
              <a:gd name="adj" fmla="val 2642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产品设计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576B5F1-2F74-4D83-B156-B7BFA178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0567" y="4915633"/>
            <a:ext cx="540727" cy="5407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陈昊</a:t>
            </a:r>
          </a:p>
        </p:txBody>
      </p:sp>
      <p:sp>
        <p:nvSpPr>
          <p:cNvPr id="79" name="PPAGENT_QA|parent=org-member-3-2|domains=organization-members">
            <a:extLst xmlns:a="http://schemas.openxmlformats.org/drawingml/2006/main">
              <a:ext uri="{FF2B5EF4-FFF2-40B4-BE49-F238E27FC236}">
                <a16:creationId xmlns:a16="http://schemas.microsoft.com/office/drawing/2014/main" id="{5B084F04-236E-4930-9937-EC3478A0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458" y="5510432"/>
            <a:ext cx="702945" cy="432582"/>
          </a:xfrm>
          <a:prstGeom xmlns:a="http://schemas.openxmlformats.org/drawingml/2006/main" prst="roundRect">
            <a:avLst>
              <a:gd name="adj" fmla="val 2642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质量验证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年度目标与责任指标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目标与指标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E5CEABAC-B3C5-4A46-9560-9CC98DF8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goal-kpi-goal">
            <a:extLst xmlns:a="http://schemas.openxmlformats.org/drawingml/2006/main">
              <a:ext uri="{FF2B5EF4-FFF2-40B4-BE49-F238E27FC236}">
                <a16:creationId xmlns:a16="http://schemas.microsoft.com/office/drawing/2014/main" id="{C246AA3C-70F5-4DE0-AB23-CEB447A1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828" y="1626211"/>
            <a:ext cx="10670345" cy="486654"/>
          </a:xfrm>
          <a:prstGeom xmlns:a="http://schemas.openxmlformats.org/drawingml/2006/main" prst="roundRect">
            <a:avLst>
              <a:gd name="adj" fmla="val 23487"/>
            </a:avLst>
          </a:prstGeom>
          <a:solidFill xmlns:a="http://schemas.openxmlformats.org/drawingml/2006/main">
            <a:srgbClr val="315AA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年度总目标：形成稳定、可持续的业务增长能力</a:t>
            </a:r>
          </a:p>
        </p:txBody>
      </p:sp>
      <p:sp>
        <p:nvSpPr>
          <p:cNvPr id="16" name="PPAGENT_CONNECTOR|from=goal-kpi-goal|fromSide=bottom|to=goal-kpi-column-0|toSide=top">
            <a:extLst xmlns:a="http://schemas.openxmlformats.org/drawingml/2006/main">
              <a:ext uri="{FF2B5EF4-FFF2-40B4-BE49-F238E27FC236}">
                <a16:creationId xmlns:a16="http://schemas.microsoft.com/office/drawing/2014/main" id="{DEB07850-0BB9-4F22-B4AB-30E26F7A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2503170" y="2112865"/>
            <a:ext cx="3592830" cy="3244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83BB"/>
            </a:solidFill>
            <a:prstDash val="solid"/>
          </a:ln>
        </p:spPr>
      </p:sp>
      <p:sp>
        <p:nvSpPr>
          <p:cNvPr id="17" name="PPAGENT_QA|parent=goal-kpi-column-0|domains=goal-kpi-columns">
            <a:extLst xmlns:a="http://schemas.openxmlformats.org/drawingml/2006/main">
              <a:ext uri="{FF2B5EF4-FFF2-40B4-BE49-F238E27FC236}">
                <a16:creationId xmlns:a16="http://schemas.microsoft.com/office/drawing/2014/main" id="{B8C5AE53-A614-448B-8BAD-C3A29AFA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828" y="2437301"/>
            <a:ext cx="3484685" cy="3244362"/>
          </a:xfrm>
          <a:prstGeom xmlns:a="http://schemas.openxmlformats.org/drawingml/2006/main" prst="roundRect">
            <a:avLst>
              <a:gd name="adj" fmla="val 352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3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52D8C1-8304-479A-8A24-11BE8CD1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828" y="2437301"/>
            <a:ext cx="3484685" cy="468630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567AB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内容运营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5470E3-0847-46C2-9688-DC678499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022" y="3032101"/>
            <a:ext cx="3196297" cy="558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提升内容供给与传播效率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497A24-AE2C-4CB7-8CE2-F5892AF9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022" y="3717021"/>
            <a:ext cx="3196297" cy="504678"/>
          </a:xfrm>
          <a:prstGeom xmlns:a="http://schemas.openxmlformats.org/drawingml/2006/main" prst="roundRect">
            <a:avLst>
              <a:gd name="adj" fmla="val 226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469F43-BCF8-4205-8C71-9C141833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143" y="3780106"/>
            <a:ext cx="1387385" cy="378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98%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FCAB6F-B7B9-419A-95C2-AAF267EF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8576" y="3780106"/>
            <a:ext cx="1592621" cy="378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达成率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E828ED-106C-491E-8F8E-9AD710F1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828" y="5285129"/>
            <a:ext cx="3484685" cy="396533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567AB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0" tIns="19050" rIns="1333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扩大影响</a:t>
            </a:r>
          </a:p>
        </p:txBody>
      </p:sp>
      <p:sp>
        <p:nvSpPr>
          <p:cNvPr id="24" name="PPAGENT_CONNECTOR|from=goal-kpi-goal|fromSide=bottom|to=goal-kpi-column-1|toSide=top">
            <a:extLst xmlns:a="http://schemas.openxmlformats.org/drawingml/2006/main">
              <a:ext uri="{FF2B5EF4-FFF2-40B4-BE49-F238E27FC236}">
                <a16:creationId xmlns:a16="http://schemas.microsoft.com/office/drawing/2014/main" id="{EB8B83A2-0E54-4DC8-9C79-672BFB82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2112865"/>
            <a:ext cx="0" cy="3244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83BB"/>
            </a:solidFill>
            <a:prstDash val="solid"/>
          </a:ln>
        </p:spPr>
      </p:sp>
      <p:sp>
        <p:nvSpPr>
          <p:cNvPr id="25" name="PPAGENT_QA|parent=goal-kpi-column-1|domains=goal-kpi-columns">
            <a:extLst xmlns:a="http://schemas.openxmlformats.org/drawingml/2006/main">
              <a:ext uri="{FF2B5EF4-FFF2-40B4-BE49-F238E27FC236}">
                <a16:creationId xmlns:a16="http://schemas.microsoft.com/office/drawing/2014/main" id="{4B88D1FA-A188-4DFF-823A-5125071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658" y="2437301"/>
            <a:ext cx="3484685" cy="3244362"/>
          </a:xfrm>
          <a:prstGeom xmlns:a="http://schemas.openxmlformats.org/drawingml/2006/main" prst="roundRect">
            <a:avLst>
              <a:gd name="adj" fmla="val 352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8E3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831B82-8DF8-4DEC-8E52-DFFFF7A8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658" y="2437301"/>
            <a:ext cx="3484685" cy="468630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567AB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用户增长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F111CE-E9DB-4DBF-A7DA-BC83007C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852" y="3032101"/>
            <a:ext cx="3196297" cy="558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扩大有效用户并提升活跃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CA611E-9835-47AC-AFB1-B8DE5DB7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852" y="3717021"/>
            <a:ext cx="3196297" cy="504678"/>
          </a:xfrm>
          <a:prstGeom xmlns:a="http://schemas.openxmlformats.org/drawingml/2006/main" prst="roundRect">
            <a:avLst>
              <a:gd name="adj" fmla="val 226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7A680B-EC73-4302-96C1-F31DBA11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7973" y="3780106"/>
            <a:ext cx="1387385" cy="378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98%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3C384B-0599-4F16-A556-BBD868E3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1406" y="3780106"/>
            <a:ext cx="1592621" cy="378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达成率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FC23A6-99EF-4AD9-81F5-627FAC1B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658" y="5285129"/>
            <a:ext cx="3484685" cy="396533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567AB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0" tIns="19050" rIns="1333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提升活跃</a:t>
            </a:r>
          </a:p>
        </p:txBody>
      </p:sp>
      <p:sp>
        <p:nvSpPr>
          <p:cNvPr id="32" name="PPAGENT_CONNECTOR|from=goal-kpi-goal|fromSide=bottom|to=goal-kpi-column-2|toSide=top">
            <a:extLst xmlns:a="http://schemas.openxmlformats.org/drawingml/2006/main">
              <a:ext uri="{FF2B5EF4-FFF2-40B4-BE49-F238E27FC236}">
                <a16:creationId xmlns:a16="http://schemas.microsoft.com/office/drawing/2014/main" id="{E0CFB428-BFAB-42B4-8147-AD00AB40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2112865"/>
            <a:ext cx="3592830" cy="3244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83BB"/>
            </a:solidFill>
            <a:prstDash val="solid"/>
          </a:ln>
        </p:spPr>
      </p:sp>
      <p:sp>
        <p:nvSpPr>
          <p:cNvPr id="33" name="PPAGENT_QA|parent=goal-kpi-column-2|domains=goal-kpi-columns">
            <a:extLst xmlns:a="http://schemas.openxmlformats.org/drawingml/2006/main">
              <a:ext uri="{FF2B5EF4-FFF2-40B4-BE49-F238E27FC236}">
                <a16:creationId xmlns:a16="http://schemas.microsoft.com/office/drawing/2014/main" id="{0429F75D-183A-4978-8014-F6A82BF8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6488" y="2437301"/>
            <a:ext cx="3484685" cy="3244362"/>
          </a:xfrm>
          <a:prstGeom xmlns:a="http://schemas.openxmlformats.org/drawingml/2006/main" prst="roundRect">
            <a:avLst>
              <a:gd name="adj" fmla="val 352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3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70C1F3-45E0-48B0-B1DC-25FF213E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6488" y="2437301"/>
            <a:ext cx="3484685" cy="468630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产品技术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34379F-A340-4466-AA2E-C09A13EE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0682" y="3032101"/>
            <a:ext cx="3196297" cy="558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保障稳定并缩短交付周期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048E6DD-6493-4E96-B72A-41DBFF68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0682" y="3717021"/>
            <a:ext cx="3196297" cy="504678"/>
          </a:xfrm>
          <a:prstGeom xmlns:a="http://schemas.openxmlformats.org/drawingml/2006/main" prst="roundRect">
            <a:avLst>
              <a:gd name="adj" fmla="val 226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B7E6C39-B716-423E-A296-A27CF6D7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0803" y="3780106"/>
            <a:ext cx="1387385" cy="378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98%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0B1A628-E7ED-4626-A769-F5E7366C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4236" y="3780106"/>
            <a:ext cx="1592621" cy="378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达成率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E73B531-1755-4528-B183-681A9BA5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6488" y="5285129"/>
            <a:ext cx="3484685" cy="396533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0" tIns="19050" rIns="1333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保障稳定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2B75514-60F4-414D-BFF0-8CE12CD7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828" y="5825856"/>
            <a:ext cx="10670345" cy="396533"/>
          </a:xfrm>
          <a:prstGeom xmlns:a="http://schemas.openxmlformats.org/drawingml/2006/main" prst="roundRect">
            <a:avLst>
              <a:gd name="adj" fmla="val 28825"/>
            </a:avLst>
          </a:prstGeom>
          <a:solidFill xmlns:a="http://schemas.openxmlformats.org/drawingml/2006/main">
            <a:srgbClr val="173F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责任单元、过程指标与最终贡献保持一一对应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年度目标与责任指标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目标与指标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E5CEABAC-B3C5-4A46-9560-9CC98DF8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goal-kpi-goal">
            <a:extLst xmlns:a="http://schemas.openxmlformats.org/drawingml/2006/main">
              <a:ext uri="{FF2B5EF4-FFF2-40B4-BE49-F238E27FC236}">
                <a16:creationId xmlns:a16="http://schemas.microsoft.com/office/drawing/2014/main" id="{E0273724-0940-4E67-9F37-A79FBD87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828" y="1626211"/>
            <a:ext cx="10670345" cy="486654"/>
          </a:xfrm>
          <a:prstGeom xmlns:a="http://schemas.openxmlformats.org/drawingml/2006/main" prst="roundRect">
            <a:avLst>
              <a:gd name="adj" fmla="val 23487"/>
            </a:avLst>
          </a:prstGeom>
          <a:solidFill xmlns:a="http://schemas.openxmlformats.org/drawingml/2006/main">
            <a:srgbClr val="315AA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年度总目标：形成稳定、可持续的业务增长能力</a:t>
            </a:r>
          </a:p>
        </p:txBody>
      </p:sp>
      <p:sp>
        <p:nvSpPr>
          <p:cNvPr id="16" name="PPAGENT_CONNECTOR|from=goal-kpi-goal|fromSide=bottom|to=goal-kpi-column-0|toSide=top">
            <a:extLst xmlns:a="http://schemas.openxmlformats.org/drawingml/2006/main">
              <a:ext uri="{FF2B5EF4-FFF2-40B4-BE49-F238E27FC236}">
                <a16:creationId xmlns:a16="http://schemas.microsoft.com/office/drawing/2014/main" id="{1308E3FE-9C0C-47FE-8907-CE3E66963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784604" y="2112865"/>
            <a:ext cx="4311396" cy="3244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83BB"/>
            </a:solidFill>
            <a:prstDash val="solid"/>
          </a:ln>
        </p:spPr>
      </p:sp>
      <p:sp>
        <p:nvSpPr>
          <p:cNvPr id="17" name="PPAGENT_QA|parent=goal-kpi-column-0|domains=goal-kpi-columns">
            <a:extLst xmlns:a="http://schemas.openxmlformats.org/drawingml/2006/main">
              <a:ext uri="{FF2B5EF4-FFF2-40B4-BE49-F238E27FC236}">
                <a16:creationId xmlns:a16="http://schemas.microsoft.com/office/drawing/2014/main" id="{9CC28251-58AF-40D7-9548-1F8E3818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828" y="2437301"/>
            <a:ext cx="2047553" cy="3244362"/>
          </a:xfrm>
          <a:prstGeom xmlns:a="http://schemas.openxmlformats.org/drawingml/2006/main" prst="roundRect">
            <a:avLst>
              <a:gd name="adj" fmla="val 558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3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A38247-5A1A-4E11-BD45-C8B3746D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828" y="2437301"/>
            <a:ext cx="2047553" cy="468630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567AB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内容运营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5EEB1F-F28C-4833-8D29-2656B496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022" y="3032101"/>
            <a:ext cx="1759165" cy="558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提升内容供给与传播效率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E06247-870D-4AE0-9E56-6A682A3E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022" y="3717021"/>
            <a:ext cx="1759165" cy="450606"/>
          </a:xfrm>
          <a:prstGeom xmlns:a="http://schemas.openxmlformats.org/drawingml/2006/main" prst="roundRect">
            <a:avLst>
              <a:gd name="adj" fmla="val 253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196E6C-6E46-485A-93A8-F0FDA093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143" y="3780106"/>
            <a:ext cx="726304" cy="324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98%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449C4F-CBE3-4C97-8EA0-F12493F4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496" y="3780106"/>
            <a:ext cx="816570" cy="324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达成率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415A8D-FF2D-412A-B5CF-507A7780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022" y="4239724"/>
            <a:ext cx="1759165" cy="450606"/>
          </a:xfrm>
          <a:prstGeom xmlns:a="http://schemas.openxmlformats.org/drawingml/2006/main" prst="roundRect">
            <a:avLst>
              <a:gd name="adj" fmla="val 253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D3A45C-AF58-4397-8495-C69508DD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143" y="4302809"/>
            <a:ext cx="726304" cy="324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24h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8580E4-39EA-48E4-8B6A-2F804E22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496" y="4302809"/>
            <a:ext cx="816570" cy="324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响应时效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17668D-63D7-42E3-8267-06172613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022" y="4762427"/>
            <a:ext cx="1759165" cy="450606"/>
          </a:xfrm>
          <a:prstGeom xmlns:a="http://schemas.openxmlformats.org/drawingml/2006/main" prst="roundRect">
            <a:avLst>
              <a:gd name="adj" fmla="val 253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CD5CCF-EE1E-4D39-AB0C-F49A0050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143" y="4825512"/>
            <a:ext cx="726304" cy="324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+18%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326418-02CF-4954-8A8A-9102DB1D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496" y="4825512"/>
            <a:ext cx="816570" cy="324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增长率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51276B-F3BB-4B47-855B-7A58F0E9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828" y="5285129"/>
            <a:ext cx="2047553" cy="396533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567AB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0" tIns="19050" rIns="1333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扩大影响</a:t>
            </a:r>
          </a:p>
        </p:txBody>
      </p:sp>
      <p:sp>
        <p:nvSpPr>
          <p:cNvPr id="30" name="PPAGENT_CONNECTOR|from=goal-kpi-goal|fromSide=bottom|to=goal-kpi-column-1|toSide=top">
            <a:extLst xmlns:a="http://schemas.openxmlformats.org/drawingml/2006/main">
              <a:ext uri="{FF2B5EF4-FFF2-40B4-BE49-F238E27FC236}">
                <a16:creationId xmlns:a16="http://schemas.microsoft.com/office/drawing/2014/main" id="{29EBB4FF-71E9-48C5-B2FA-3BDE650C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940302" y="2112865"/>
            <a:ext cx="2155698" cy="3244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83BB"/>
            </a:solidFill>
            <a:prstDash val="solid"/>
          </a:ln>
        </p:spPr>
      </p:sp>
      <p:sp>
        <p:nvSpPr>
          <p:cNvPr id="31" name="PPAGENT_QA|parent=goal-kpi-column-1|domains=goal-kpi-columns">
            <a:extLst xmlns:a="http://schemas.openxmlformats.org/drawingml/2006/main">
              <a:ext uri="{FF2B5EF4-FFF2-40B4-BE49-F238E27FC236}">
                <a16:creationId xmlns:a16="http://schemas.microsoft.com/office/drawing/2014/main" id="{5E29B6C4-B494-45DC-8F77-C001027A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526" y="2437301"/>
            <a:ext cx="2047553" cy="3244362"/>
          </a:xfrm>
          <a:prstGeom xmlns:a="http://schemas.openxmlformats.org/drawingml/2006/main" prst="roundRect">
            <a:avLst>
              <a:gd name="adj" fmla="val 558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8E3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2E342F-219C-49D0-BA67-F3412AE9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526" y="2437301"/>
            <a:ext cx="2047553" cy="468630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567AB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用户增长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501DE8-B03D-4EA9-9892-1CAF0500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720" y="3032101"/>
            <a:ext cx="1759165" cy="558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扩大有效用户并提升活跃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AAFF81-AD8C-49D5-8C45-E6CF11C9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720" y="3717021"/>
            <a:ext cx="1759165" cy="450606"/>
          </a:xfrm>
          <a:prstGeom xmlns:a="http://schemas.openxmlformats.org/drawingml/2006/main" prst="roundRect">
            <a:avLst>
              <a:gd name="adj" fmla="val 253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EC9B52-ADCD-4A2B-84BD-281D7096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0841" y="3780106"/>
            <a:ext cx="726304" cy="324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98%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3A43E3-D059-4EFC-BFFF-906E632B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3194" y="3780106"/>
            <a:ext cx="816570" cy="324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达成率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5FE0C9-CCC6-45ED-BA04-3E3926C2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720" y="4239724"/>
            <a:ext cx="1759165" cy="450606"/>
          </a:xfrm>
          <a:prstGeom xmlns:a="http://schemas.openxmlformats.org/drawingml/2006/main" prst="roundRect">
            <a:avLst>
              <a:gd name="adj" fmla="val 253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D505898-1625-4C2B-BD6B-C3FED827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0841" y="4302809"/>
            <a:ext cx="726304" cy="324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24h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19A8DC2-6180-49A2-B245-C19E6353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3194" y="4302809"/>
            <a:ext cx="816570" cy="324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响应时效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8F9248-A554-4D61-BAF5-186412F2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720" y="4762427"/>
            <a:ext cx="1759165" cy="450606"/>
          </a:xfrm>
          <a:prstGeom xmlns:a="http://schemas.openxmlformats.org/drawingml/2006/main" prst="roundRect">
            <a:avLst>
              <a:gd name="adj" fmla="val 253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73AE30E-89FE-4ED0-90FA-20428E50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0841" y="4825512"/>
            <a:ext cx="726304" cy="324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+18%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7A21BD2-76E6-43DE-9DE3-032DE06E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3194" y="4825512"/>
            <a:ext cx="816570" cy="324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增长率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CF81EA4-7E87-4EA3-BAEC-A70C815D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526" y="5285129"/>
            <a:ext cx="2047553" cy="396533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567AB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0" tIns="19050" rIns="1333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提升活跃</a:t>
            </a:r>
          </a:p>
        </p:txBody>
      </p:sp>
      <p:sp>
        <p:nvSpPr>
          <p:cNvPr id="44" name="PPAGENT_CONNECTOR|from=goal-kpi-goal|fromSide=bottom|to=goal-kpi-column-2|toSide=top">
            <a:extLst xmlns:a="http://schemas.openxmlformats.org/drawingml/2006/main">
              <a:ext uri="{FF2B5EF4-FFF2-40B4-BE49-F238E27FC236}">
                <a16:creationId xmlns:a16="http://schemas.microsoft.com/office/drawing/2014/main" id="{D3CB3D9F-1864-4DF9-B7AF-3302BF8E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2112865"/>
            <a:ext cx="0" cy="3244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83BB"/>
            </a:solidFill>
            <a:prstDash val="solid"/>
          </a:ln>
        </p:spPr>
      </p:sp>
      <p:sp>
        <p:nvSpPr>
          <p:cNvPr id="45" name="PPAGENT_QA|parent=goal-kpi-column-2|domains=goal-kpi-columns">
            <a:extLst xmlns:a="http://schemas.openxmlformats.org/drawingml/2006/main">
              <a:ext uri="{FF2B5EF4-FFF2-40B4-BE49-F238E27FC236}">
                <a16:creationId xmlns:a16="http://schemas.microsoft.com/office/drawing/2014/main" id="{AFFA273A-C7D9-4403-A4AB-F3E748E5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224" y="2437301"/>
            <a:ext cx="2047553" cy="3244362"/>
          </a:xfrm>
          <a:prstGeom xmlns:a="http://schemas.openxmlformats.org/drawingml/2006/main" prst="roundRect">
            <a:avLst>
              <a:gd name="adj" fmla="val 558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3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B39772C-D293-456E-8295-DF2ADD63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224" y="2437301"/>
            <a:ext cx="2047553" cy="468630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567AB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产品技术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4ECC2AE-8DD8-4338-AC1B-2D4ED028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418" y="3032101"/>
            <a:ext cx="1759165" cy="558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保障稳定并缩短交付周期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A550CAA-AEB0-4DBC-A9A7-149432A3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418" y="3717021"/>
            <a:ext cx="1759165" cy="450606"/>
          </a:xfrm>
          <a:prstGeom xmlns:a="http://schemas.openxmlformats.org/drawingml/2006/main" prst="roundRect">
            <a:avLst>
              <a:gd name="adj" fmla="val 253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A2233E0-6057-4857-B33E-FDB00ABA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6539" y="3780106"/>
            <a:ext cx="726304" cy="324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98%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5EC3A57-308C-42E4-90BB-E72F4090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8892" y="3780106"/>
            <a:ext cx="816570" cy="324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达成率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CAFC702-A408-492F-B297-33061F02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418" y="4239724"/>
            <a:ext cx="1759165" cy="450606"/>
          </a:xfrm>
          <a:prstGeom xmlns:a="http://schemas.openxmlformats.org/drawingml/2006/main" prst="roundRect">
            <a:avLst>
              <a:gd name="adj" fmla="val 253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9351FA9-EAB8-4779-A845-B8DB1C59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6539" y="4302809"/>
            <a:ext cx="726304" cy="324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24h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0829A8E-E471-4BF7-92DA-D6818CD04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8892" y="4302809"/>
            <a:ext cx="816570" cy="324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响应时效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D04D1DA-3A7F-4149-BE88-C5C3EFB0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418" y="4762427"/>
            <a:ext cx="1759165" cy="450606"/>
          </a:xfrm>
          <a:prstGeom xmlns:a="http://schemas.openxmlformats.org/drawingml/2006/main" prst="roundRect">
            <a:avLst>
              <a:gd name="adj" fmla="val 253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BDE418A-C3CA-4D2E-AC27-8125D304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6539" y="4825512"/>
            <a:ext cx="726304" cy="324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+18%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504ABF5-D545-43F0-8DE9-20B33F25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8892" y="4825512"/>
            <a:ext cx="816570" cy="324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增长率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13D6555-7FD2-451A-B557-444125DF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224" y="5285129"/>
            <a:ext cx="2047553" cy="396533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567AB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0" tIns="19050" rIns="1333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保障稳定</a:t>
            </a:r>
          </a:p>
        </p:txBody>
      </p:sp>
      <p:sp>
        <p:nvSpPr>
          <p:cNvPr id="58" name="PPAGENT_CONNECTOR|from=goal-kpi-goal|fromSide=bottom|to=goal-kpi-column-3|toSide=top">
            <a:extLst xmlns:a="http://schemas.openxmlformats.org/drawingml/2006/main">
              <a:ext uri="{FF2B5EF4-FFF2-40B4-BE49-F238E27FC236}">
                <a16:creationId xmlns:a16="http://schemas.microsoft.com/office/drawing/2014/main" id="{1C186DB9-656A-459D-B440-F88B692A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2112865"/>
            <a:ext cx="2155698" cy="3244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83BB"/>
            </a:solidFill>
            <a:prstDash val="solid"/>
          </a:ln>
        </p:spPr>
      </p:sp>
      <p:sp>
        <p:nvSpPr>
          <p:cNvPr id="59" name="PPAGENT_QA|parent=goal-kpi-column-3|domains=goal-kpi-columns">
            <a:extLst xmlns:a="http://schemas.openxmlformats.org/drawingml/2006/main">
              <a:ext uri="{FF2B5EF4-FFF2-40B4-BE49-F238E27FC236}">
                <a16:creationId xmlns:a16="http://schemas.microsoft.com/office/drawing/2014/main" id="{C77D7116-7575-4D5C-85E3-8C446D29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7922" y="2437301"/>
            <a:ext cx="2047553" cy="3244362"/>
          </a:xfrm>
          <a:prstGeom xmlns:a="http://schemas.openxmlformats.org/drawingml/2006/main" prst="roundRect">
            <a:avLst>
              <a:gd name="adj" fmla="val 558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8E3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87D4595-C5E5-4262-A71E-773105C1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7922" y="2437301"/>
            <a:ext cx="2047553" cy="468630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567AB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商业合作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92EF209-DA02-4710-BBB8-5270E1BA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116" y="3032101"/>
            <a:ext cx="1759165" cy="558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拓展伙伴并提升合作质量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83760FC-EDC4-4F5B-A65F-FD490E32D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116" y="3717021"/>
            <a:ext cx="1759165" cy="450606"/>
          </a:xfrm>
          <a:prstGeom xmlns:a="http://schemas.openxmlformats.org/drawingml/2006/main" prst="roundRect">
            <a:avLst>
              <a:gd name="adj" fmla="val 253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7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C4C82C1-7434-459F-AC98-2867F3D4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2237" y="3780106"/>
            <a:ext cx="726304" cy="324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98%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A997A67-BE91-4079-B933-AF4581A5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4590" y="3780106"/>
            <a:ext cx="816570" cy="324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达成率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3307892-890F-43AE-93CC-2D1EA2513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116" y="4239724"/>
            <a:ext cx="1759165" cy="450606"/>
          </a:xfrm>
          <a:prstGeom xmlns:a="http://schemas.openxmlformats.org/drawingml/2006/main" prst="roundRect">
            <a:avLst>
              <a:gd name="adj" fmla="val 253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7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64AD900-CC6E-4868-9FC6-3872D168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2237" y="4302809"/>
            <a:ext cx="726304" cy="324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24h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95798FE-C109-42EF-B225-B4BECA3E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4590" y="4302809"/>
            <a:ext cx="816570" cy="324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响应时效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768BB25-CF27-4CEF-90FE-C59F32CF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116" y="4762427"/>
            <a:ext cx="1759165" cy="450606"/>
          </a:xfrm>
          <a:prstGeom xmlns:a="http://schemas.openxmlformats.org/drawingml/2006/main" prst="roundRect">
            <a:avLst>
              <a:gd name="adj" fmla="val 253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7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B49B8FA-7B9F-492B-ADDC-B215F568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2237" y="4825512"/>
            <a:ext cx="726304" cy="324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+18%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00D5368-7ED7-4BC3-9227-5ADABB9F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4590" y="4825512"/>
            <a:ext cx="816570" cy="324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增长率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6333663-1CA0-4B65-9F2E-6E52E5F1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7922" y="5285129"/>
            <a:ext cx="2047553" cy="396533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567AB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0" tIns="19050" rIns="1333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增强盈利</a:t>
            </a:r>
          </a:p>
        </p:txBody>
      </p:sp>
      <p:sp>
        <p:nvSpPr>
          <p:cNvPr id="72" name="PPAGENT_CONNECTOR|from=goal-kpi-goal|fromSide=bottom|to=goal-kpi-column-4|toSide=top">
            <a:extLst xmlns:a="http://schemas.openxmlformats.org/drawingml/2006/main">
              <a:ext uri="{FF2B5EF4-FFF2-40B4-BE49-F238E27FC236}">
                <a16:creationId xmlns:a16="http://schemas.microsoft.com/office/drawing/2014/main" id="{843FD0EB-55FF-4BCF-A98C-6BC2A6FD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2112865"/>
            <a:ext cx="4311396" cy="3244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83BB"/>
            </a:solidFill>
            <a:prstDash val="solid"/>
          </a:ln>
        </p:spPr>
      </p:sp>
      <p:sp>
        <p:nvSpPr>
          <p:cNvPr id="73" name="PPAGENT_QA|parent=goal-kpi-column-4|domains=goal-kpi-columns">
            <a:extLst xmlns:a="http://schemas.openxmlformats.org/drawingml/2006/main">
              <a:ext uri="{FF2B5EF4-FFF2-40B4-BE49-F238E27FC236}">
                <a16:creationId xmlns:a16="http://schemas.microsoft.com/office/drawing/2014/main" id="{8A21C992-D037-42B6-8BC0-32C0B945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3620" y="2437301"/>
            <a:ext cx="2047553" cy="3244362"/>
          </a:xfrm>
          <a:prstGeom xmlns:a="http://schemas.openxmlformats.org/drawingml/2006/main" prst="roundRect">
            <a:avLst>
              <a:gd name="adj" fmla="val 558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3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22E96E9-C5D5-4060-A85B-6138F2EE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3620" y="2437301"/>
            <a:ext cx="2047553" cy="468630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交付质量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00BF98C-8BC2-4880-8634-F4F6513E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7814" y="3032101"/>
            <a:ext cx="1759165" cy="558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建立可复核的交付标准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44D3419-E2AD-485A-9193-6D09A5CC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7814" y="3717021"/>
            <a:ext cx="1759165" cy="450606"/>
          </a:xfrm>
          <a:prstGeom xmlns:a="http://schemas.openxmlformats.org/drawingml/2006/main" prst="roundRect">
            <a:avLst>
              <a:gd name="adj" fmla="val 253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7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8CD057E-97F0-4CD3-82DD-FCA4DFA0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7935" y="3780106"/>
            <a:ext cx="726304" cy="324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98%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82B8C77-E101-41BC-8AAF-579FCA3F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0288" y="3780106"/>
            <a:ext cx="816570" cy="324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达成率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D53B423-61D1-46D0-A0A8-3E9D37F9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7814" y="4239724"/>
            <a:ext cx="1759165" cy="450606"/>
          </a:xfrm>
          <a:prstGeom xmlns:a="http://schemas.openxmlformats.org/drawingml/2006/main" prst="roundRect">
            <a:avLst>
              <a:gd name="adj" fmla="val 253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7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10A8BE1-D958-41A8-839C-92D17F83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7935" y="4302809"/>
            <a:ext cx="726304" cy="324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24h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41E7A5A-B60D-47DF-8F8E-41ABA849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0288" y="4302809"/>
            <a:ext cx="816570" cy="324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响应时效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5B74083-8EB0-42F6-BF92-47DC3155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7814" y="4762427"/>
            <a:ext cx="1759165" cy="450606"/>
          </a:xfrm>
          <a:prstGeom xmlns:a="http://schemas.openxmlformats.org/drawingml/2006/main" prst="roundRect">
            <a:avLst>
              <a:gd name="adj" fmla="val 253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7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EEA6325-AC74-4ECF-B2E4-62B4E0F2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7935" y="4825512"/>
            <a:ext cx="726304" cy="324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+18%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F1ABDB3-5125-4EA2-AEB0-6418195E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0288" y="4825512"/>
            <a:ext cx="816570" cy="324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增长率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95B1C48-B8DE-49E9-96A8-3EC34935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3620" y="5285129"/>
            <a:ext cx="2047553" cy="396533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0" tIns="19050" rIns="1333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可靠交付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FEF7E0A-8E01-4EA2-B0E3-6537742C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828" y="5825856"/>
            <a:ext cx="10670345" cy="396533"/>
          </a:xfrm>
          <a:prstGeom xmlns:a="http://schemas.openxmlformats.org/drawingml/2006/main" prst="roundRect">
            <a:avLst>
              <a:gd name="adj" fmla="val 28825"/>
            </a:avLst>
          </a:prstGeom>
          <a:solidFill xmlns:a="http://schemas.openxmlformats.org/drawingml/2006/main">
            <a:srgbClr val="173F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责任单元、过程指标与最终贡献保持一一对应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项目延期原因拆解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问题分析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E5CEABAC-B3C5-4A46-9560-9CC98DF8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05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FBCCFC-FE7C-4FF2-A130-6AA2E15D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77118" y="3735046"/>
            <a:ext cx="823707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F5EA8"/>
            </a:solidFill>
            <a:prstDash val="solid"/>
          </a:ln>
        </p:spPr>
      </p:sp>
      <p:sp>
        <p:nvSpPr>
          <p:cNvPr id="16" name="PPAGENT_QA|parent=fishbone-effect">
            <a:extLst xmlns:a="http://schemas.openxmlformats.org/drawingml/2006/main">
              <a:ext uri="{FF2B5EF4-FFF2-40B4-BE49-F238E27FC236}">
                <a16:creationId xmlns:a16="http://schemas.microsoft.com/office/drawing/2014/main" id="{431D1808-D3EE-467A-A6FB-4FEAC5A0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4192" y="3230367"/>
            <a:ext cx="2253029" cy="1009357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交付延期</a:t>
            </a:r>
          </a:p>
        </p:txBody>
      </p:sp>
      <p:sp>
        <p:nvSpPr>
          <p:cNvPr id="17" name="PPAGENT_CONNECTOR|from=fishbone-item-0-0|fromSide=bottom|to=fishbone-joint-0|toSide=center">
            <a:extLst xmlns:a="http://schemas.openxmlformats.org/drawingml/2006/main">
              <a:ext uri="{FF2B5EF4-FFF2-40B4-BE49-F238E27FC236}">
                <a16:creationId xmlns:a16="http://schemas.microsoft.com/office/drawing/2014/main" id="{F3AC3AB7-302E-4D3B-9B91-23B38359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20268" y="3266416"/>
            <a:ext cx="702945" cy="4686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88E8"/>
            </a:solidFill>
            <a:prstDash val="solid"/>
          </a:ln>
        </p:spPr>
      </p:sp>
      <p:sp>
        <p:nvSpPr>
          <p:cNvPr id="18" name="PPAGENT_QA|parent=fishbone-joint-0">
            <a:extLst xmlns:a="http://schemas.openxmlformats.org/drawingml/2006/main">
              <a:ext uri="{FF2B5EF4-FFF2-40B4-BE49-F238E27FC236}">
                <a16:creationId xmlns:a16="http://schemas.microsoft.com/office/drawing/2014/main" id="{559E49A9-4D17-48CD-8604-B93B7151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1117" y="3662949"/>
            <a:ext cx="144194" cy="1441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C88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D1A9EC-F525-4073-BC4A-AA42A21C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057" y="2653592"/>
            <a:ext cx="198266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人员</a:t>
            </a:r>
          </a:p>
        </p:txBody>
      </p:sp>
      <p:sp>
        <p:nvSpPr>
          <p:cNvPr id="20" name="PPAGENT_QA|parent=fishbone-item-0-0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4C180AB2-C638-473D-B60C-1C3B8EF3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984" y="3014076"/>
            <a:ext cx="1910568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B8CCE0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4843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关键岗位不足</a:t>
            </a:r>
          </a:p>
        </p:txBody>
      </p:sp>
      <p:sp>
        <p:nvSpPr>
          <p:cNvPr id="21" name="PPAGENT_CONNECTOR|from=fishbone-item-2-0|fromSide=bottom|to=fishbone-joint-2|toSide=center">
            <a:extLst xmlns:a="http://schemas.openxmlformats.org/drawingml/2006/main">
              <a:ext uri="{FF2B5EF4-FFF2-40B4-BE49-F238E27FC236}">
                <a16:creationId xmlns:a16="http://schemas.microsoft.com/office/drawing/2014/main" id="{67D75204-A9DF-45C8-B4E2-FA400BB4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34993" y="3266416"/>
            <a:ext cx="702945" cy="4686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88E8"/>
            </a:solidFill>
            <a:prstDash val="solid"/>
          </a:ln>
        </p:spPr>
      </p:sp>
      <p:sp>
        <p:nvSpPr>
          <p:cNvPr id="22" name="PPAGENT_QA|parent=fishbone-joint-2">
            <a:extLst xmlns:a="http://schemas.openxmlformats.org/drawingml/2006/main">
              <a:ext uri="{FF2B5EF4-FFF2-40B4-BE49-F238E27FC236}">
                <a16:creationId xmlns:a16="http://schemas.microsoft.com/office/drawing/2014/main" id="{F1A4708C-D0D3-45F4-8074-54A80240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5842" y="3662949"/>
            <a:ext cx="144194" cy="1441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C88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DBD3A5-08F9-433E-BC86-6EC3F0D0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3782" y="2653592"/>
            <a:ext cx="198266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技术</a:t>
            </a:r>
          </a:p>
        </p:txBody>
      </p:sp>
      <p:sp>
        <p:nvSpPr>
          <p:cNvPr id="24" name="PPAGENT_QA|parent=fishbone-item-2-0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E147D745-A655-4141-A1E4-7EA209D8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709" y="3014076"/>
            <a:ext cx="1910568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B8CCE0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4843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关键岗位不足</a:t>
            </a:r>
          </a:p>
        </p:txBody>
      </p:sp>
      <p:sp>
        <p:nvSpPr>
          <p:cNvPr id="25" name="PPAGENT_CONNECTOR|from=fishbone-item-1-0|fromSide=top|to=fishbone-joint-1|toSide=center">
            <a:extLst xmlns:a="http://schemas.openxmlformats.org/drawingml/2006/main">
              <a:ext uri="{FF2B5EF4-FFF2-40B4-BE49-F238E27FC236}">
                <a16:creationId xmlns:a16="http://schemas.microsoft.com/office/drawing/2014/main" id="{61791F38-E191-44D5-9CF0-91FE6E1C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320268" y="3735046"/>
            <a:ext cx="702945" cy="4686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88E8"/>
            </a:solidFill>
            <a:prstDash val="solid"/>
          </a:ln>
        </p:spPr>
      </p:sp>
      <p:sp>
        <p:nvSpPr>
          <p:cNvPr id="26" name="PPAGENT_QA|parent=fishbone-joint-1">
            <a:extLst xmlns:a="http://schemas.openxmlformats.org/drawingml/2006/main">
              <a:ext uri="{FF2B5EF4-FFF2-40B4-BE49-F238E27FC236}">
                <a16:creationId xmlns:a16="http://schemas.microsoft.com/office/drawing/2014/main" id="{918FE8EF-D033-47B3-BDC0-172A9458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1117" y="3662949"/>
            <a:ext cx="144194" cy="1441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C88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CD2E9D-E9AC-489D-85D6-9EB013DA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057" y="4546136"/>
            <a:ext cx="198266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流程</a:t>
            </a:r>
          </a:p>
        </p:txBody>
      </p:sp>
      <p:sp>
        <p:nvSpPr>
          <p:cNvPr id="28" name="PPAGENT_QA|parent=fishbone-item-1-0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7F1A3AF5-67DC-445A-903D-6FD4D1A3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984" y="4203676"/>
            <a:ext cx="1910568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B9DCE8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4843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关键岗位不足</a:t>
            </a:r>
          </a:p>
        </p:txBody>
      </p:sp>
      <p:sp>
        <p:nvSpPr>
          <p:cNvPr id="29" name="PPAGENT_CONNECTOR|from=fishbone-item-3-0|fromSide=top|to=fishbone-joint-3|toSide=center">
            <a:extLst xmlns:a="http://schemas.openxmlformats.org/drawingml/2006/main">
              <a:ext uri="{FF2B5EF4-FFF2-40B4-BE49-F238E27FC236}">
                <a16:creationId xmlns:a16="http://schemas.microsoft.com/office/drawing/2014/main" id="{833E5B7E-4F26-4E7F-B3A7-0DD1B635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834993" y="3735046"/>
            <a:ext cx="702945" cy="4686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88E8"/>
            </a:solidFill>
            <a:prstDash val="solid"/>
          </a:ln>
        </p:spPr>
      </p:sp>
      <p:sp>
        <p:nvSpPr>
          <p:cNvPr id="30" name="PPAGENT_QA|parent=fishbone-joint-3">
            <a:extLst xmlns:a="http://schemas.openxmlformats.org/drawingml/2006/main">
              <a:ext uri="{FF2B5EF4-FFF2-40B4-BE49-F238E27FC236}">
                <a16:creationId xmlns:a16="http://schemas.microsoft.com/office/drawing/2014/main" id="{0AD23907-C27E-4A4E-A146-259C75E6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5842" y="3662949"/>
            <a:ext cx="144194" cy="1441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C88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D3DFB3-6C88-44B8-859B-7B4A7043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3782" y="4546136"/>
            <a:ext cx="198266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资源</a:t>
            </a:r>
          </a:p>
        </p:txBody>
      </p:sp>
      <p:sp>
        <p:nvSpPr>
          <p:cNvPr id="32" name="PPAGENT_QA|parent=fishbone-item-3-0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C4A829FC-516B-461D-A4BF-B1C1A1C0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709" y="4203676"/>
            <a:ext cx="1910568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B9DCE8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4843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关键岗位不足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项目延期原因拆解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问题分析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E5CEABAC-B3C5-4A46-9560-9CC98DF8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06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316D7F-E268-457B-BB3A-3B309F8F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77118" y="3735046"/>
            <a:ext cx="823707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F5EA8"/>
            </a:solidFill>
            <a:prstDash val="solid"/>
          </a:ln>
        </p:spPr>
      </p:sp>
      <p:sp>
        <p:nvSpPr>
          <p:cNvPr id="16" name="PPAGENT_QA|parent=fishbone-effect">
            <a:extLst xmlns:a="http://schemas.openxmlformats.org/drawingml/2006/main">
              <a:ext uri="{FF2B5EF4-FFF2-40B4-BE49-F238E27FC236}">
                <a16:creationId xmlns:a16="http://schemas.microsoft.com/office/drawing/2014/main" id="{FABA916E-9B67-4C03-83B0-B5606DC8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4192" y="3230367"/>
            <a:ext cx="2253029" cy="1009357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交付延期</a:t>
            </a:r>
          </a:p>
        </p:txBody>
      </p:sp>
      <p:sp>
        <p:nvSpPr>
          <p:cNvPr id="17" name="PPAGENT_CONNECTOR|from=fishbone-item-0-3|fromSide=bottom|to=fishbone-joint-0|toSide=center">
            <a:extLst xmlns:a="http://schemas.openxmlformats.org/drawingml/2006/main">
              <a:ext uri="{FF2B5EF4-FFF2-40B4-BE49-F238E27FC236}">
                <a16:creationId xmlns:a16="http://schemas.microsoft.com/office/drawing/2014/main" id="{EFB4AD57-6E34-4994-B3A4-FBE51D08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19057" y="3266416"/>
            <a:ext cx="702945" cy="4686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88E8"/>
            </a:solidFill>
            <a:prstDash val="solid"/>
          </a:ln>
        </p:spPr>
      </p:sp>
      <p:sp>
        <p:nvSpPr>
          <p:cNvPr id="18" name="PPAGENT_QA|parent=fishbone-joint-0">
            <a:extLst xmlns:a="http://schemas.openxmlformats.org/drawingml/2006/main">
              <a:ext uri="{FF2B5EF4-FFF2-40B4-BE49-F238E27FC236}">
                <a16:creationId xmlns:a16="http://schemas.microsoft.com/office/drawing/2014/main" id="{00F12EEB-59E1-48DF-8DE9-CF99A6E7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9905" y="3662949"/>
            <a:ext cx="144194" cy="1441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C88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EA4941-098F-4850-A3AC-7025A758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845" y="1788429"/>
            <a:ext cx="198266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人员</a:t>
            </a:r>
          </a:p>
        </p:txBody>
      </p:sp>
      <p:sp>
        <p:nvSpPr>
          <p:cNvPr id="20" name="PPAGENT_QA|parent=fishbone-item-0-0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763A514E-49DF-494B-9871-2D5954F9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991" y="2148913"/>
            <a:ext cx="1910568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B8CCE0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4843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关键岗位不足</a:t>
            </a:r>
          </a:p>
        </p:txBody>
      </p:sp>
      <p:sp>
        <p:nvSpPr>
          <p:cNvPr id="21" name="PPAGENT_QA|parent=fishbone-item-0-1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9E4180DD-04A7-46B2-984E-721BBC1E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918" y="2437301"/>
            <a:ext cx="1910568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B8CCE0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4843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协同边界不清</a:t>
            </a:r>
          </a:p>
        </p:txBody>
      </p:sp>
      <p:sp>
        <p:nvSpPr>
          <p:cNvPr id="22" name="PPAGENT_QA|parent=fishbone-item-0-2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A13AF843-D884-46C7-9909-C3244C1D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845" y="2725689"/>
            <a:ext cx="1910568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B8CCE0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4843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验证覆盖不足</a:t>
            </a:r>
          </a:p>
        </p:txBody>
      </p:sp>
      <p:sp>
        <p:nvSpPr>
          <p:cNvPr id="23" name="PPAGENT_QA|parent=fishbone-item-0-3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03095762-C1C3-48FA-88D2-AB8C41E3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773" y="3014076"/>
            <a:ext cx="1910568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B8CCE0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4843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经验尚未沉淀</a:t>
            </a:r>
          </a:p>
        </p:txBody>
      </p:sp>
      <p:sp>
        <p:nvSpPr>
          <p:cNvPr id="24" name="PPAGENT_CONNECTOR|from=fishbone-item-2-3|fromSide=bottom|to=fishbone-joint-2|toSide=center">
            <a:extLst xmlns:a="http://schemas.openxmlformats.org/drawingml/2006/main">
              <a:ext uri="{FF2B5EF4-FFF2-40B4-BE49-F238E27FC236}">
                <a16:creationId xmlns:a16="http://schemas.microsoft.com/office/drawing/2014/main" id="{E3A627DA-4CF2-4F96-98B5-4EA70423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42449" y="3266416"/>
            <a:ext cx="702945" cy="4686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88E8"/>
            </a:solidFill>
            <a:prstDash val="solid"/>
          </a:ln>
        </p:spPr>
      </p:sp>
      <p:sp>
        <p:nvSpPr>
          <p:cNvPr id="25" name="PPAGENT_QA|parent=fishbone-joint-2">
            <a:extLst xmlns:a="http://schemas.openxmlformats.org/drawingml/2006/main">
              <a:ext uri="{FF2B5EF4-FFF2-40B4-BE49-F238E27FC236}">
                <a16:creationId xmlns:a16="http://schemas.microsoft.com/office/drawing/2014/main" id="{ACAC4A7C-83F6-47E5-9289-2BE0C447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3297" y="3662949"/>
            <a:ext cx="144194" cy="1441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C88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6FDD20-C2EC-4FB8-9DF2-ACCDCBF3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238" y="1788429"/>
            <a:ext cx="198266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技术</a:t>
            </a:r>
          </a:p>
        </p:txBody>
      </p:sp>
      <p:sp>
        <p:nvSpPr>
          <p:cNvPr id="27" name="PPAGENT_QA|parent=fishbone-item-2-0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D1813EA3-3495-4A9D-833F-C4128DD2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9383" y="2148913"/>
            <a:ext cx="1910568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B8CCE0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4843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关键岗位不足</a:t>
            </a:r>
          </a:p>
        </p:txBody>
      </p:sp>
      <p:sp>
        <p:nvSpPr>
          <p:cNvPr id="28" name="PPAGENT_QA|parent=fishbone-item-2-1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FBF3BB75-7554-4B7D-B91C-A2E30747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310" y="2437301"/>
            <a:ext cx="1910568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B8CCE0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4843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协同边界不清</a:t>
            </a:r>
          </a:p>
        </p:txBody>
      </p:sp>
      <p:sp>
        <p:nvSpPr>
          <p:cNvPr id="29" name="PPAGENT_QA|parent=fishbone-item-2-2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A86D265D-D198-4EED-9E0C-96BC7580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238" y="2725689"/>
            <a:ext cx="1910568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B8CCE0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4843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验证覆盖不足</a:t>
            </a:r>
          </a:p>
        </p:txBody>
      </p:sp>
      <p:sp>
        <p:nvSpPr>
          <p:cNvPr id="30" name="PPAGENT_QA|parent=fishbone-item-2-3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F3B77FEA-7BB9-427F-9439-E47FFCE8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7165" y="3014076"/>
            <a:ext cx="1910568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B8CCE0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4843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经验尚未沉淀</a:t>
            </a:r>
          </a:p>
        </p:txBody>
      </p:sp>
      <p:sp>
        <p:nvSpPr>
          <p:cNvPr id="31" name="PPAGENT_CONNECTOR|from=fishbone-item-4-3|fromSide=bottom|to=fishbone-joint-4|toSide=center">
            <a:extLst xmlns:a="http://schemas.openxmlformats.org/drawingml/2006/main">
              <a:ext uri="{FF2B5EF4-FFF2-40B4-BE49-F238E27FC236}">
                <a16:creationId xmlns:a16="http://schemas.microsoft.com/office/drawing/2014/main" id="{E654E797-D315-4032-A417-295C277F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65842" y="3266416"/>
            <a:ext cx="702945" cy="4686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88E8"/>
            </a:solidFill>
            <a:prstDash val="solid"/>
          </a:ln>
        </p:spPr>
      </p:sp>
      <p:sp>
        <p:nvSpPr>
          <p:cNvPr id="32" name="PPAGENT_QA|parent=fishbone-joint-4">
            <a:extLst xmlns:a="http://schemas.openxmlformats.org/drawingml/2006/main">
              <a:ext uri="{FF2B5EF4-FFF2-40B4-BE49-F238E27FC236}">
                <a16:creationId xmlns:a16="http://schemas.microsoft.com/office/drawing/2014/main" id="{9324F199-8285-4239-A523-F67B6471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690" y="3662949"/>
            <a:ext cx="144194" cy="1441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C88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DAA1AC-A7C1-42D5-9DF7-CF540B53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4630" y="1788429"/>
            <a:ext cx="198266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需求</a:t>
            </a:r>
          </a:p>
        </p:txBody>
      </p:sp>
      <p:sp>
        <p:nvSpPr>
          <p:cNvPr id="34" name="PPAGENT_QA|parent=fishbone-item-4-0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21CD3BAE-95B6-413A-B1EC-6D0779E9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2775" y="2148913"/>
            <a:ext cx="1910568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B8CCE0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4843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关键岗位不足</a:t>
            </a:r>
          </a:p>
        </p:txBody>
      </p:sp>
      <p:sp>
        <p:nvSpPr>
          <p:cNvPr id="35" name="PPAGENT_QA|parent=fishbone-item-4-1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4811DE34-E99A-4E22-B5F0-53A04F7C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703" y="2437301"/>
            <a:ext cx="1910568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B8CCE0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4843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协同边界不清</a:t>
            </a:r>
          </a:p>
        </p:txBody>
      </p:sp>
      <p:sp>
        <p:nvSpPr>
          <p:cNvPr id="36" name="PPAGENT_QA|parent=fishbone-item-4-2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BCDC1526-8B25-4EE9-97AD-708EA116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4630" y="2725689"/>
            <a:ext cx="1910568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B8CCE0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4843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验证覆盖不足</a:t>
            </a:r>
          </a:p>
        </p:txBody>
      </p:sp>
      <p:sp>
        <p:nvSpPr>
          <p:cNvPr id="37" name="PPAGENT_QA|parent=fishbone-item-4-3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99810EBC-681B-41CC-8583-5C5080B6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57" y="3014076"/>
            <a:ext cx="1910568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B8CCE0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4843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经验尚未沉淀</a:t>
            </a:r>
          </a:p>
        </p:txBody>
      </p:sp>
      <p:sp>
        <p:nvSpPr>
          <p:cNvPr id="38" name="PPAGENT_CONNECTOR|from=fishbone-item-1-0|fromSide=top|to=fishbone-joint-1|toSide=center">
            <a:extLst xmlns:a="http://schemas.openxmlformats.org/drawingml/2006/main">
              <a:ext uri="{FF2B5EF4-FFF2-40B4-BE49-F238E27FC236}">
                <a16:creationId xmlns:a16="http://schemas.microsoft.com/office/drawing/2014/main" id="{5F63550E-FA44-40EF-AD34-CC6278EA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419057" y="3735046"/>
            <a:ext cx="702945" cy="4686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88E8"/>
            </a:solidFill>
            <a:prstDash val="solid"/>
          </a:ln>
        </p:spPr>
      </p:sp>
      <p:sp>
        <p:nvSpPr>
          <p:cNvPr id="39" name="PPAGENT_QA|parent=fishbone-joint-1">
            <a:extLst xmlns:a="http://schemas.openxmlformats.org/drawingml/2006/main">
              <a:ext uri="{FF2B5EF4-FFF2-40B4-BE49-F238E27FC236}">
                <a16:creationId xmlns:a16="http://schemas.microsoft.com/office/drawing/2014/main" id="{73D2D926-2265-486B-B731-2B6C8B1F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9905" y="3662949"/>
            <a:ext cx="144194" cy="1441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C88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005F9FF-82DB-4E4B-8BE2-B082F8F9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845" y="5411299"/>
            <a:ext cx="198266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流程</a:t>
            </a:r>
          </a:p>
        </p:txBody>
      </p:sp>
      <p:sp>
        <p:nvSpPr>
          <p:cNvPr id="41" name="PPAGENT_QA|parent=fishbone-item-1-0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45E6CA57-31FD-4796-9A9C-13CCE185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773" y="4203676"/>
            <a:ext cx="1910568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B9DCE8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4843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关键岗位不足</a:t>
            </a:r>
          </a:p>
        </p:txBody>
      </p:sp>
      <p:sp>
        <p:nvSpPr>
          <p:cNvPr id="42" name="PPAGENT_QA|parent=fishbone-item-1-1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26184A01-C893-4FE7-A2B3-AE3584C0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845" y="4492063"/>
            <a:ext cx="1910568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B9DCE8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4843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协同边界不清</a:t>
            </a:r>
          </a:p>
        </p:txBody>
      </p:sp>
      <p:sp>
        <p:nvSpPr>
          <p:cNvPr id="43" name="PPAGENT_QA|parent=fishbone-item-1-2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A6A2EEB5-0DEC-4747-9798-DCB29380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918" y="4780451"/>
            <a:ext cx="1910568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B9DCE8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4843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验证覆盖不足</a:t>
            </a:r>
          </a:p>
        </p:txBody>
      </p:sp>
      <p:sp>
        <p:nvSpPr>
          <p:cNvPr id="44" name="PPAGENT_QA|parent=fishbone-item-1-3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700D5FC8-519C-4C22-A84B-947414C9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991" y="5068839"/>
            <a:ext cx="1910568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B9DCE8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4843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经验尚未沉淀</a:t>
            </a:r>
          </a:p>
        </p:txBody>
      </p:sp>
      <p:sp>
        <p:nvSpPr>
          <p:cNvPr id="45" name="PPAGENT_CONNECTOR|from=fishbone-item-3-0|fromSide=top|to=fishbone-joint-3|toSide=center">
            <a:extLst xmlns:a="http://schemas.openxmlformats.org/drawingml/2006/main">
              <a:ext uri="{FF2B5EF4-FFF2-40B4-BE49-F238E27FC236}">
                <a16:creationId xmlns:a16="http://schemas.microsoft.com/office/drawing/2014/main" id="{7CCD757A-62DB-4FCF-9D3D-70F484B7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942449" y="3735046"/>
            <a:ext cx="702945" cy="4686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88E8"/>
            </a:solidFill>
            <a:prstDash val="solid"/>
          </a:ln>
        </p:spPr>
      </p:sp>
      <p:sp>
        <p:nvSpPr>
          <p:cNvPr id="46" name="PPAGENT_QA|parent=fishbone-joint-3">
            <a:extLst xmlns:a="http://schemas.openxmlformats.org/drawingml/2006/main">
              <a:ext uri="{FF2B5EF4-FFF2-40B4-BE49-F238E27FC236}">
                <a16:creationId xmlns:a16="http://schemas.microsoft.com/office/drawing/2014/main" id="{9F364EFE-A353-4C26-B58A-59C4C8144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3297" y="3662949"/>
            <a:ext cx="144194" cy="1441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C88E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62B494D-85D1-4738-9479-C8185AC2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238" y="5411299"/>
            <a:ext cx="198266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资源</a:t>
            </a:r>
          </a:p>
        </p:txBody>
      </p:sp>
      <p:sp>
        <p:nvSpPr>
          <p:cNvPr id="48" name="PPAGENT_QA|parent=fishbone-item-3-0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790F255B-FD23-4725-84DF-94830CF5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7165" y="4203676"/>
            <a:ext cx="1910568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B9DCE8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4843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关键岗位不足</a:t>
            </a:r>
          </a:p>
        </p:txBody>
      </p:sp>
      <p:sp>
        <p:nvSpPr>
          <p:cNvPr id="49" name="PPAGENT_QA|parent=fishbone-item-3-1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A44D45E1-D0A0-4315-872C-ECB047EF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238" y="4492063"/>
            <a:ext cx="1910568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B9DCE8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4843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协同边界不清</a:t>
            </a:r>
          </a:p>
        </p:txBody>
      </p:sp>
      <p:sp>
        <p:nvSpPr>
          <p:cNvPr id="50" name="PPAGENT_QA|parent=fishbone-item-3-2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302E3709-C99E-4BA2-B0A3-D5CBF609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310" y="4780451"/>
            <a:ext cx="1910568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B9DCE8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4843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验证覆盖不足</a:t>
            </a:r>
          </a:p>
        </p:txBody>
      </p:sp>
      <p:sp>
        <p:nvSpPr>
          <p:cNvPr id="51" name="PPAGENT_QA|parent=fishbone-item-3-3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0D6D9C4F-06A1-4430-9628-79D02787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9383" y="5068839"/>
            <a:ext cx="1910568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B9DCE8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4843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经验尚未沉淀</a:t>
            </a:r>
          </a:p>
        </p:txBody>
      </p:sp>
      <p:sp>
        <p:nvSpPr>
          <p:cNvPr id="52" name="PPAGENT_CONNECTOR|from=fishbone-item-5-0|fromSide=top|to=fishbone-joint-5|toSide=center">
            <a:extLst xmlns:a="http://schemas.openxmlformats.org/drawingml/2006/main">
              <a:ext uri="{FF2B5EF4-FFF2-40B4-BE49-F238E27FC236}">
                <a16:creationId xmlns:a16="http://schemas.microsoft.com/office/drawing/2014/main" id="{7768202D-BDC3-414B-9B3D-3BB7388C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465842" y="3735046"/>
            <a:ext cx="702945" cy="4686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88E8"/>
            </a:solidFill>
            <a:prstDash val="solid"/>
          </a:ln>
        </p:spPr>
      </p:sp>
      <p:sp>
        <p:nvSpPr>
          <p:cNvPr id="53" name="PPAGENT_QA|parent=fishbone-joint-5">
            <a:extLst xmlns:a="http://schemas.openxmlformats.org/drawingml/2006/main">
              <a:ext uri="{FF2B5EF4-FFF2-40B4-BE49-F238E27FC236}">
                <a16:creationId xmlns:a16="http://schemas.microsoft.com/office/drawing/2014/main" id="{8E739546-1C5E-4B13-8247-C15199F6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690" y="3662949"/>
            <a:ext cx="144194" cy="1441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C88E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71A7C37-EDD6-4061-A5E9-FEEDBC9F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4630" y="5411299"/>
            <a:ext cx="198266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环境</a:t>
            </a:r>
          </a:p>
        </p:txBody>
      </p:sp>
      <p:sp>
        <p:nvSpPr>
          <p:cNvPr id="55" name="PPAGENT_QA|parent=fishbone-item-5-0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197F5A5B-3569-4748-ACAE-2C263D2A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57" y="4203676"/>
            <a:ext cx="1910568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B9DCE8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4843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关键岗位不足</a:t>
            </a:r>
          </a:p>
        </p:txBody>
      </p:sp>
      <p:sp>
        <p:nvSpPr>
          <p:cNvPr id="56" name="PPAGENT_QA|parent=fishbone-item-5-1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F7F30BC2-58BD-4179-B54D-AAA0C11C2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4630" y="4492063"/>
            <a:ext cx="1910568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B9DCE8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4843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协同边界不清</a:t>
            </a:r>
          </a:p>
        </p:txBody>
      </p:sp>
      <p:sp>
        <p:nvSpPr>
          <p:cNvPr id="57" name="PPAGENT_QA|parent=fishbone-item-5-2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F7D2634C-E942-4F26-A31E-00035BDB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703" y="4780451"/>
            <a:ext cx="1910568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B9DCE8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4843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验证覆盖不足</a:t>
            </a:r>
          </a:p>
        </p:txBody>
      </p:sp>
      <p:sp>
        <p:nvSpPr>
          <p:cNvPr id="58" name="PPAGENT_QA|parent=fishbone-item-5-3|domains=fishbone-items">
            <a:extLst xmlns:a="http://schemas.openxmlformats.org/drawingml/2006/main">
              <a:ext uri="{FF2B5EF4-FFF2-40B4-BE49-F238E27FC236}">
                <a16:creationId xmlns:a16="http://schemas.microsoft.com/office/drawing/2014/main" id="{E2017F0C-C8A6-4D16-9924-CDED2B21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2775" y="5068839"/>
            <a:ext cx="1910568" cy="252339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B9DCE8"/>
            </a:solidFill>
            <a:prstDash val="solid"/>
          </a:ln>
        </p:spPr>
        <p:txBody>
          <a:bodyPr xmlns:a="http://schemas.openxmlformats.org/drawingml/2006/main" lIns="114300" tIns="9525" rIns="114300" bIns="9525" anchor="ctr">
            <a:normAutofit fontScale="94843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经验尚未沉淀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业务与技术双轨演进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发展路线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E5CEABAC-B3C5-4A46-9560-9CC98DF8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07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9BE108-D26D-4DB0-8E6D-1981B7E7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118" y="3392585"/>
            <a:ext cx="1351817" cy="13518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A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dual-track-start">
            <a:extLst xmlns:a="http://schemas.openxmlformats.org/drawingml/2006/main">
              <a:ext uri="{FF2B5EF4-FFF2-40B4-BE49-F238E27FC236}">
                <a16:creationId xmlns:a16="http://schemas.microsoft.com/office/drawing/2014/main" id="{A051FBAF-D570-47AD-B095-91398350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361" y="3572828"/>
            <a:ext cx="991333" cy="9913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2F5E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共同起点</a:t>
            </a:r>
          </a:p>
        </p:txBody>
      </p:sp>
      <p:sp>
        <p:nvSpPr>
          <p:cNvPr id="17" name="PPAGENT_CONNECTOR|from=dual-track-start|fromSide=right|to=dual-track-lane-a|toSide=left">
            <a:extLst xmlns:a="http://schemas.openxmlformats.org/drawingml/2006/main">
              <a:ext uri="{FF2B5EF4-FFF2-40B4-BE49-F238E27FC236}">
                <a16:creationId xmlns:a16="http://schemas.microsoft.com/office/drawing/2014/main" id="{E66BB265-6D21-4400-9A1D-1172E636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148693" y="3212343"/>
            <a:ext cx="522703" cy="8561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5EA8"/>
            </a:solidFill>
            <a:prstDash val="solid"/>
          </a:ln>
        </p:spPr>
      </p:sp>
      <p:sp>
        <p:nvSpPr>
          <p:cNvPr id="18" name="PPAGENT_CONNECTOR|from=dual-track-start|fromSide=right|to=dual-track-lane-b|toSide=left">
            <a:extLst xmlns:a="http://schemas.openxmlformats.org/drawingml/2006/main">
              <a:ext uri="{FF2B5EF4-FFF2-40B4-BE49-F238E27FC236}">
                <a16:creationId xmlns:a16="http://schemas.microsoft.com/office/drawing/2014/main" id="{0719DCAF-AFC1-4DFA-B94C-01002AC2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48693" y="4068494"/>
            <a:ext cx="522703" cy="8561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88E8"/>
            </a:solidFill>
            <a:prstDash val="solid"/>
          </a:ln>
        </p:spPr>
      </p:sp>
      <p:sp>
        <p:nvSpPr>
          <p:cNvPr id="19" name="PPAGENT_QA|parent=dual-track-lane-a">
            <a:extLst xmlns:a="http://schemas.openxmlformats.org/drawingml/2006/main">
              <a:ext uri="{FF2B5EF4-FFF2-40B4-BE49-F238E27FC236}">
                <a16:creationId xmlns:a16="http://schemas.microsoft.com/office/drawing/2014/main" id="{08E08C2A-9A72-4F2F-B602-366E2E40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396" y="2851858"/>
            <a:ext cx="8561510" cy="720969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PAGENT_QA|parent=dual-track-lane-b">
            <a:extLst xmlns:a="http://schemas.openxmlformats.org/drawingml/2006/main">
              <a:ext uri="{FF2B5EF4-FFF2-40B4-BE49-F238E27FC236}">
                <a16:creationId xmlns:a16="http://schemas.microsoft.com/office/drawing/2014/main" id="{F3EBDCE5-8D3D-46E3-9BEB-8D4D5D93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396" y="4564160"/>
            <a:ext cx="8561510" cy="720969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D91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988F1E-0288-41E8-8783-6D6A0D44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14" y="3032101"/>
            <a:ext cx="1081454" cy="360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业务主线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FA888C-B503-469D-B005-54CA1DDD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14" y="4744403"/>
            <a:ext cx="1081454" cy="360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技术主线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CF41D4-B0D4-4470-BADF-39207E294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65674" y="2779761"/>
            <a:ext cx="0" cy="257746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2CE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02AD18-E37B-47BD-AF37-479ACC01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7407" y="3014076"/>
            <a:ext cx="396533" cy="3965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F5E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AC0298-A38C-4434-83C9-9F15531C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7407" y="4726378"/>
            <a:ext cx="396533" cy="3965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4C88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1EC339-2B3A-4082-AD0E-93E9EE2D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1117" y="3735046"/>
            <a:ext cx="829115" cy="324436"/>
          </a:xfrm>
          <a:prstGeom xmlns:a="http://schemas.openxmlformats.org/drawingml/2006/main" prst="roundRect">
            <a:avLst>
              <a:gd name="adj" fmla="val 352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99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99923"/>
                </a:solidFill>
                <a:latin typeface="Microsoft YaHei"/>
                <a:ea typeface="Microsoft YaHei"/>
                <a:cs typeface="Microsoft YaHei"/>
              </a:rPr>
              <a:t>2025</a:t>
            </a:r>
          </a:p>
        </p:txBody>
      </p:sp>
      <p:sp>
        <p:nvSpPr>
          <p:cNvPr id="27" name="PPAGENT_QA|parent=dual-track-a-0|domains=dual-track-a-cards">
            <a:extLst xmlns:a="http://schemas.openxmlformats.org/drawingml/2006/main">
              <a:ext uri="{FF2B5EF4-FFF2-40B4-BE49-F238E27FC236}">
                <a16:creationId xmlns:a16="http://schemas.microsoft.com/office/drawing/2014/main" id="{FA269815-FE91-4FEE-8EA8-4621C1A8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4583" y="1680283"/>
            <a:ext cx="1622181" cy="1009357"/>
          </a:xfrm>
          <a:prstGeom xmlns:a="http://schemas.openxmlformats.org/drawingml/2006/main" prst="roundRect">
            <a:avLst>
              <a:gd name="adj" fmla="val 11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4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8EC02D-6CD9-4560-BB1D-7F2133C3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729" y="1788429"/>
            <a:ext cx="1405890" cy="306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验证场景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8BCBF5-7785-4433-8DCE-9FC7A3D0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729" y="2148913"/>
            <a:ext cx="1405890" cy="432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完成真实业务闭环</a:t>
            </a:r>
          </a:p>
        </p:txBody>
      </p:sp>
      <p:sp>
        <p:nvSpPr>
          <p:cNvPr id="30" name="PPAGENT_QA|parent=dual-track-b-0|domains=dual-track-b-cards">
            <a:extLst xmlns:a="http://schemas.openxmlformats.org/drawingml/2006/main">
              <a:ext uri="{FF2B5EF4-FFF2-40B4-BE49-F238E27FC236}">
                <a16:creationId xmlns:a16="http://schemas.microsoft.com/office/drawing/2014/main" id="{14ECB853-D25A-4C87-AB02-54676C81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4583" y="5429323"/>
            <a:ext cx="1622181" cy="865163"/>
          </a:xfrm>
          <a:prstGeom xmlns:a="http://schemas.openxmlformats.org/drawingml/2006/main" prst="roundRect">
            <a:avLst>
              <a:gd name="adj" fmla="val 13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4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8B8903-8D83-4144-B37D-F3EA3CDF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729" y="5519444"/>
            <a:ext cx="1405890" cy="288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搭建基础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27EB83-16AE-4594-A431-0BBE20BF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729" y="5843881"/>
            <a:ext cx="1405890" cy="360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形成稳定生成能力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03E0F0-F7F3-43CD-B44C-8AFEC918C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48684" y="2779761"/>
            <a:ext cx="0" cy="257746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2CED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6585B3-CE8C-4EB2-AA25-B045FE50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418" y="3014076"/>
            <a:ext cx="396533" cy="3965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F5E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A3424A-1E24-4B97-A189-F950838D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418" y="4726378"/>
            <a:ext cx="396533" cy="3965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4C88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123BDD-F36D-4037-B568-93D56BC71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127" y="3735046"/>
            <a:ext cx="829115" cy="324436"/>
          </a:xfrm>
          <a:prstGeom xmlns:a="http://schemas.openxmlformats.org/drawingml/2006/main" prst="roundRect">
            <a:avLst>
              <a:gd name="adj" fmla="val 352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99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99923"/>
                </a:solidFill>
                <a:latin typeface="Microsoft YaHei"/>
                <a:ea typeface="Microsoft YaHei"/>
                <a:cs typeface="Microsoft YaHei"/>
              </a:rPr>
              <a:t>2026</a:t>
            </a:r>
          </a:p>
        </p:txBody>
      </p:sp>
      <p:sp>
        <p:nvSpPr>
          <p:cNvPr id="37" name="PPAGENT_QA|parent=dual-track-a-1|domains=dual-track-a-cards">
            <a:extLst xmlns:a="http://schemas.openxmlformats.org/drawingml/2006/main">
              <a:ext uri="{FF2B5EF4-FFF2-40B4-BE49-F238E27FC236}">
                <a16:creationId xmlns:a16="http://schemas.microsoft.com/office/drawing/2014/main" id="{3F038662-B204-4060-8B11-A88E3144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594" y="1680283"/>
            <a:ext cx="1622181" cy="1009357"/>
          </a:xfrm>
          <a:prstGeom xmlns:a="http://schemas.openxmlformats.org/drawingml/2006/main" prst="roundRect">
            <a:avLst>
              <a:gd name="adj" fmla="val 11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4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D98F67B-A9D8-41BE-99FA-080C970D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5739" y="1788429"/>
            <a:ext cx="1405890" cy="306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标准流程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C99BE76-3126-4CC5-9521-65CC31A0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5739" y="2148913"/>
            <a:ext cx="1405890" cy="432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明确交付与协作边界</a:t>
            </a:r>
          </a:p>
        </p:txBody>
      </p:sp>
      <p:sp>
        <p:nvSpPr>
          <p:cNvPr id="40" name="PPAGENT_QA|parent=dual-track-b-1|domains=dual-track-b-cards">
            <a:extLst xmlns:a="http://schemas.openxmlformats.org/drawingml/2006/main">
              <a:ext uri="{FF2B5EF4-FFF2-40B4-BE49-F238E27FC236}">
                <a16:creationId xmlns:a16="http://schemas.microsoft.com/office/drawing/2014/main" id="{27FEC488-0DB2-4980-A905-1FA35986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594" y="5429323"/>
            <a:ext cx="1622181" cy="865163"/>
          </a:xfrm>
          <a:prstGeom xmlns:a="http://schemas.openxmlformats.org/drawingml/2006/main" prst="roundRect">
            <a:avLst>
              <a:gd name="adj" fmla="val 13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4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204C303-C7AA-4FF4-A827-191C2CE9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5739" y="5519444"/>
            <a:ext cx="1405890" cy="288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沉淀组件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524AAC0-496D-4D0E-8F4D-5374E3AF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5739" y="5843881"/>
            <a:ext cx="1405890" cy="360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积累规则与运行代码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AFB7FA6-95FF-449E-843B-D820DBD9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331694" y="2779761"/>
            <a:ext cx="0" cy="257746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2CED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34CD63C-7D5C-4A81-845B-6A10E4A0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3428" y="3014076"/>
            <a:ext cx="396533" cy="3965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F5E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E76FF76-DFAA-4075-8427-9FFDAF4E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3428" y="4726378"/>
            <a:ext cx="396533" cy="3965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4C88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A875860-637C-4E99-BBAA-AE921B28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7137" y="3735046"/>
            <a:ext cx="829115" cy="324436"/>
          </a:xfrm>
          <a:prstGeom xmlns:a="http://schemas.openxmlformats.org/drawingml/2006/main" prst="roundRect">
            <a:avLst>
              <a:gd name="adj" fmla="val 352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99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99923"/>
                </a:solidFill>
                <a:latin typeface="Microsoft YaHei"/>
                <a:ea typeface="Microsoft YaHei"/>
                <a:cs typeface="Microsoft YaHei"/>
              </a:rPr>
              <a:t>2027</a:t>
            </a:r>
          </a:p>
        </p:txBody>
      </p:sp>
      <p:sp>
        <p:nvSpPr>
          <p:cNvPr id="47" name="PPAGENT_QA|parent=dual-track-a-2|domains=dual-track-a-cards">
            <a:extLst xmlns:a="http://schemas.openxmlformats.org/drawingml/2006/main">
              <a:ext uri="{FF2B5EF4-FFF2-40B4-BE49-F238E27FC236}">
                <a16:creationId xmlns:a16="http://schemas.microsoft.com/office/drawing/2014/main" id="{3A74EE20-24CA-4F08-957D-41B30985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0604" y="1680283"/>
            <a:ext cx="1622181" cy="1009357"/>
          </a:xfrm>
          <a:prstGeom xmlns:a="http://schemas.openxmlformats.org/drawingml/2006/main" prst="roundRect">
            <a:avLst>
              <a:gd name="adj" fmla="val 11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4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AAA43C3-009A-47A4-A2DB-19839D12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8749" y="1788429"/>
            <a:ext cx="1405890" cy="306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扩展场景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A5BE0F7-5A01-4028-B3F1-8364E76D3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8749" y="2148913"/>
            <a:ext cx="1405890" cy="432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覆盖更多组织用途</a:t>
            </a:r>
          </a:p>
        </p:txBody>
      </p:sp>
      <p:sp>
        <p:nvSpPr>
          <p:cNvPr id="50" name="PPAGENT_QA|parent=dual-track-b-2|domains=dual-track-b-cards">
            <a:extLst xmlns:a="http://schemas.openxmlformats.org/drawingml/2006/main">
              <a:ext uri="{FF2B5EF4-FFF2-40B4-BE49-F238E27FC236}">
                <a16:creationId xmlns:a16="http://schemas.microsoft.com/office/drawing/2014/main" id="{9A4BEFCC-8367-4D01-95C6-6755BC6D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0604" y="5429323"/>
            <a:ext cx="1622181" cy="865163"/>
          </a:xfrm>
          <a:prstGeom xmlns:a="http://schemas.openxmlformats.org/drawingml/2006/main" prst="roundRect">
            <a:avLst>
              <a:gd name="adj" fmla="val 13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4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E3D0BAD-2296-4322-9ACA-D461F147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8749" y="5519444"/>
            <a:ext cx="1405890" cy="288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统一内核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B86DDF9-D892-4CBA-8EBA-BC874BDA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8749" y="5843881"/>
            <a:ext cx="1405890" cy="360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复用契约与质量门禁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业务与技术双轨演进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发展路线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E5CEABAC-B3C5-4A46-9560-9CC98DF8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08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ED3FD0-0A99-4577-BE26-46C57D13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118" y="3392585"/>
            <a:ext cx="1351817" cy="13518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A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dual-track-start">
            <a:extLst xmlns:a="http://schemas.openxmlformats.org/drawingml/2006/main">
              <a:ext uri="{FF2B5EF4-FFF2-40B4-BE49-F238E27FC236}">
                <a16:creationId xmlns:a16="http://schemas.microsoft.com/office/drawing/2014/main" id="{75577370-26BB-455C-9FE1-1944B1DE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361" y="3572828"/>
            <a:ext cx="991333" cy="9913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2F5E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共同起点</a:t>
            </a:r>
          </a:p>
        </p:txBody>
      </p:sp>
      <p:sp>
        <p:nvSpPr>
          <p:cNvPr id="17" name="PPAGENT_CONNECTOR|from=dual-track-start|fromSide=right|to=dual-track-lane-a|toSide=left">
            <a:extLst xmlns:a="http://schemas.openxmlformats.org/drawingml/2006/main">
              <a:ext uri="{FF2B5EF4-FFF2-40B4-BE49-F238E27FC236}">
                <a16:creationId xmlns:a16="http://schemas.microsoft.com/office/drawing/2014/main" id="{FE537BEA-220A-4F45-8D2D-524F46625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148693" y="3212343"/>
            <a:ext cx="522703" cy="8561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5EA8"/>
            </a:solidFill>
            <a:prstDash val="solid"/>
          </a:ln>
        </p:spPr>
      </p:sp>
      <p:sp>
        <p:nvSpPr>
          <p:cNvPr id="18" name="PPAGENT_CONNECTOR|from=dual-track-start|fromSide=right|to=dual-track-lane-b|toSide=left">
            <a:extLst xmlns:a="http://schemas.openxmlformats.org/drawingml/2006/main">
              <a:ext uri="{FF2B5EF4-FFF2-40B4-BE49-F238E27FC236}">
                <a16:creationId xmlns:a16="http://schemas.microsoft.com/office/drawing/2014/main" id="{BD8F506D-F99C-4206-83A1-FD2794FB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48693" y="4068494"/>
            <a:ext cx="522703" cy="8561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88E8"/>
            </a:solidFill>
            <a:prstDash val="solid"/>
          </a:ln>
        </p:spPr>
      </p:sp>
      <p:sp>
        <p:nvSpPr>
          <p:cNvPr id="19" name="PPAGENT_QA|parent=dual-track-lane-a">
            <a:extLst xmlns:a="http://schemas.openxmlformats.org/drawingml/2006/main">
              <a:ext uri="{FF2B5EF4-FFF2-40B4-BE49-F238E27FC236}">
                <a16:creationId xmlns:a16="http://schemas.microsoft.com/office/drawing/2014/main" id="{B61E80B2-84C3-4934-8338-9660F9DB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396" y="2851858"/>
            <a:ext cx="8561510" cy="720969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PAGENT_QA|parent=dual-track-lane-b">
            <a:extLst xmlns:a="http://schemas.openxmlformats.org/drawingml/2006/main">
              <a:ext uri="{FF2B5EF4-FFF2-40B4-BE49-F238E27FC236}">
                <a16:creationId xmlns:a16="http://schemas.microsoft.com/office/drawing/2014/main" id="{5AC17475-CB1F-45A0-A2C7-3406F64B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396" y="4564160"/>
            <a:ext cx="8561510" cy="720969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D91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089A86-C930-4FAA-9CD5-3C0DC940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14" y="3032101"/>
            <a:ext cx="1081454" cy="360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业务主线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96BD67-8FAD-4DD7-ABB2-439CB068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14" y="4744403"/>
            <a:ext cx="1081454" cy="360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技术主线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596957-631D-421C-AD4A-01A4CC0C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65674" y="2779761"/>
            <a:ext cx="0" cy="257746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2CE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5ABCDD-263D-4B6B-A037-C904B39E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7407" y="3014076"/>
            <a:ext cx="396533" cy="3965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F5E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BF4E84-AA5A-4857-BEE1-67B00047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7407" y="4726378"/>
            <a:ext cx="396533" cy="3965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4C88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DFA1CD-9878-444A-9BF0-0B4015A4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1117" y="3735046"/>
            <a:ext cx="829115" cy="324436"/>
          </a:xfrm>
          <a:prstGeom xmlns:a="http://schemas.openxmlformats.org/drawingml/2006/main" prst="roundRect">
            <a:avLst>
              <a:gd name="adj" fmla="val 352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99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99923"/>
                </a:solidFill>
                <a:latin typeface="Microsoft YaHei"/>
                <a:ea typeface="Microsoft YaHei"/>
                <a:cs typeface="Microsoft YaHei"/>
              </a:rPr>
              <a:t>2025</a:t>
            </a:r>
          </a:p>
        </p:txBody>
      </p:sp>
      <p:sp>
        <p:nvSpPr>
          <p:cNvPr id="27" name="PPAGENT_QA|parent=dual-track-a-0|domains=dual-track-a-cards">
            <a:extLst xmlns:a="http://schemas.openxmlformats.org/drawingml/2006/main">
              <a:ext uri="{FF2B5EF4-FFF2-40B4-BE49-F238E27FC236}">
                <a16:creationId xmlns:a16="http://schemas.microsoft.com/office/drawing/2014/main" id="{FF205DFC-48A8-4B1F-83D8-105D68AB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9765" y="1680283"/>
            <a:ext cx="1351817" cy="1009357"/>
          </a:xfrm>
          <a:prstGeom xmlns:a="http://schemas.openxmlformats.org/drawingml/2006/main" prst="roundRect">
            <a:avLst>
              <a:gd name="adj" fmla="val 11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4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EE73DD-4841-485B-AB90-83CBC462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7911" y="1788429"/>
            <a:ext cx="1135527" cy="306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验证场景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6ECD0D-A3C5-44CB-9E02-C782CC02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7911" y="2148913"/>
            <a:ext cx="1135527" cy="432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完成真实</a:t>
            </a:r>
          </a:p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业务闭环</a:t>
            </a:r>
          </a:p>
        </p:txBody>
      </p:sp>
      <p:sp>
        <p:nvSpPr>
          <p:cNvPr id="30" name="PPAGENT_QA|parent=dual-track-b-0|domains=dual-track-b-cards">
            <a:extLst xmlns:a="http://schemas.openxmlformats.org/drawingml/2006/main">
              <a:ext uri="{FF2B5EF4-FFF2-40B4-BE49-F238E27FC236}">
                <a16:creationId xmlns:a16="http://schemas.microsoft.com/office/drawing/2014/main" id="{BB21249F-C316-457B-972C-8921221F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9765" y="5429323"/>
            <a:ext cx="1351817" cy="865163"/>
          </a:xfrm>
          <a:prstGeom xmlns:a="http://schemas.openxmlformats.org/drawingml/2006/main" prst="roundRect">
            <a:avLst>
              <a:gd name="adj" fmla="val 13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4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528BC6-5257-474F-9ECE-71F49EDE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7911" y="5519444"/>
            <a:ext cx="1135527" cy="288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搭建基础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EBC148-A8EE-4254-9B77-DA632AD8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7911" y="5843881"/>
            <a:ext cx="1135527" cy="360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形成稳定</a:t>
            </a:r>
          </a:p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生成能力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F032C5-8A33-4FA0-8500-EF8CEA87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57179" y="2779761"/>
            <a:ext cx="0" cy="257746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2CED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7AB633-9A6E-4B6A-85B7-861DA00E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8912" y="3014076"/>
            <a:ext cx="396533" cy="3965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F5E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96A9AB-EC3C-4A44-9A8A-37637DBD6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8912" y="4726378"/>
            <a:ext cx="396533" cy="3965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4C88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D73DB2D-267A-43BD-82B4-46FBC84D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2622" y="3735046"/>
            <a:ext cx="829115" cy="324436"/>
          </a:xfrm>
          <a:prstGeom xmlns:a="http://schemas.openxmlformats.org/drawingml/2006/main" prst="roundRect">
            <a:avLst>
              <a:gd name="adj" fmla="val 352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99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99923"/>
                </a:solidFill>
                <a:latin typeface="Microsoft YaHei"/>
                <a:ea typeface="Microsoft YaHei"/>
                <a:cs typeface="Microsoft YaHei"/>
              </a:rPr>
              <a:t>2026</a:t>
            </a:r>
          </a:p>
        </p:txBody>
      </p:sp>
      <p:sp>
        <p:nvSpPr>
          <p:cNvPr id="37" name="PPAGENT_QA|parent=dual-track-a-1|domains=dual-track-a-cards">
            <a:extLst xmlns:a="http://schemas.openxmlformats.org/drawingml/2006/main">
              <a:ext uri="{FF2B5EF4-FFF2-40B4-BE49-F238E27FC236}">
                <a16:creationId xmlns:a16="http://schemas.microsoft.com/office/drawing/2014/main" id="{BA1385E5-21AC-4661-B4F7-3BA4A9DA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270" y="1680283"/>
            <a:ext cx="1351817" cy="1009357"/>
          </a:xfrm>
          <a:prstGeom xmlns:a="http://schemas.openxmlformats.org/drawingml/2006/main" prst="roundRect">
            <a:avLst>
              <a:gd name="adj" fmla="val 11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4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E0349E-5613-47FE-8DE2-3E14FA3F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9416" y="1788429"/>
            <a:ext cx="1135527" cy="306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标准流程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0E18C0-1A04-4F07-B34D-7F55B8EF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9416" y="2148913"/>
            <a:ext cx="1135527" cy="432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明确交付</a:t>
            </a:r>
          </a:p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与协作边界</a:t>
            </a:r>
          </a:p>
        </p:txBody>
      </p:sp>
      <p:sp>
        <p:nvSpPr>
          <p:cNvPr id="40" name="PPAGENT_QA|parent=dual-track-b-1|domains=dual-track-b-cards">
            <a:extLst xmlns:a="http://schemas.openxmlformats.org/drawingml/2006/main">
              <a:ext uri="{FF2B5EF4-FFF2-40B4-BE49-F238E27FC236}">
                <a16:creationId xmlns:a16="http://schemas.microsoft.com/office/drawing/2014/main" id="{967CC132-287F-44AA-A350-EEC34E4C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270" y="5429323"/>
            <a:ext cx="1351817" cy="865163"/>
          </a:xfrm>
          <a:prstGeom xmlns:a="http://schemas.openxmlformats.org/drawingml/2006/main" prst="roundRect">
            <a:avLst>
              <a:gd name="adj" fmla="val 13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4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1B14F22-BE16-4B3C-B7D4-BCE0C21F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9416" y="5519444"/>
            <a:ext cx="1135527" cy="288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沉淀组件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A5D928A-6334-4B03-9753-98BD618B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9416" y="5843881"/>
            <a:ext cx="1135527" cy="360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积累规则</a:t>
            </a:r>
          </a:p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与运行代码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3EC2E2E-E4B6-4390-8315-EC49F47B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48684" y="2779761"/>
            <a:ext cx="0" cy="257746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2CED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813A454-D4FD-4ECC-9CE3-C513C0E7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418" y="3014076"/>
            <a:ext cx="396533" cy="3965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F5E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6C4B30-C8F0-4CCD-A21E-D1DA2EFB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418" y="4726378"/>
            <a:ext cx="396533" cy="3965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4C88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5EE8D4D-FF91-4584-B682-5B3F9489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127" y="3735046"/>
            <a:ext cx="829115" cy="324436"/>
          </a:xfrm>
          <a:prstGeom xmlns:a="http://schemas.openxmlformats.org/drawingml/2006/main" prst="roundRect">
            <a:avLst>
              <a:gd name="adj" fmla="val 352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99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99923"/>
                </a:solidFill>
                <a:latin typeface="Microsoft YaHei"/>
                <a:ea typeface="Microsoft YaHei"/>
                <a:cs typeface="Microsoft YaHei"/>
              </a:rPr>
              <a:t>2027</a:t>
            </a:r>
          </a:p>
        </p:txBody>
      </p:sp>
      <p:sp>
        <p:nvSpPr>
          <p:cNvPr id="47" name="PPAGENT_QA|parent=dual-track-a-2|domains=dual-track-a-cards">
            <a:extLst xmlns:a="http://schemas.openxmlformats.org/drawingml/2006/main">
              <a:ext uri="{FF2B5EF4-FFF2-40B4-BE49-F238E27FC236}">
                <a16:creationId xmlns:a16="http://schemas.microsoft.com/office/drawing/2014/main" id="{3224E3AB-A489-4C45-954B-B7F916C43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2775" y="1680283"/>
            <a:ext cx="1351817" cy="1009357"/>
          </a:xfrm>
          <a:prstGeom xmlns:a="http://schemas.openxmlformats.org/drawingml/2006/main" prst="roundRect">
            <a:avLst>
              <a:gd name="adj" fmla="val 11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4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6FCFFF5-7623-46D2-BDF9-EF6F16CF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0921" y="1788429"/>
            <a:ext cx="1135527" cy="306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扩展场景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FA0E328-E515-452B-ADC6-74B8B12D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0921" y="2148913"/>
            <a:ext cx="1135527" cy="432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覆盖更多</a:t>
            </a:r>
          </a:p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组织用途</a:t>
            </a:r>
          </a:p>
        </p:txBody>
      </p:sp>
      <p:sp>
        <p:nvSpPr>
          <p:cNvPr id="50" name="PPAGENT_QA|parent=dual-track-b-2|domains=dual-track-b-cards">
            <a:extLst xmlns:a="http://schemas.openxmlformats.org/drawingml/2006/main">
              <a:ext uri="{FF2B5EF4-FFF2-40B4-BE49-F238E27FC236}">
                <a16:creationId xmlns:a16="http://schemas.microsoft.com/office/drawing/2014/main" id="{DF1E201A-A363-4695-AB40-FE0D7414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2775" y="5429323"/>
            <a:ext cx="1351817" cy="865163"/>
          </a:xfrm>
          <a:prstGeom xmlns:a="http://schemas.openxmlformats.org/drawingml/2006/main" prst="roundRect">
            <a:avLst>
              <a:gd name="adj" fmla="val 13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4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383E19B-1741-4295-A0EC-3F809FA9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0921" y="5519444"/>
            <a:ext cx="1135527" cy="288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统一内核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314A510-9DE4-4756-9389-6C91301B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0921" y="5843881"/>
            <a:ext cx="1135527" cy="360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复用契约</a:t>
            </a:r>
          </a:p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与质量门禁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B7E4ABE-1A8E-4CF2-B730-BBDFD533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840189" y="2779761"/>
            <a:ext cx="0" cy="257746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2CED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93FDB5A-6765-48A5-B1C7-0554F5DD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923" y="3014076"/>
            <a:ext cx="396533" cy="3965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F5E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D1C4C1A-57D0-457D-82B0-62ADC07F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923" y="4726378"/>
            <a:ext cx="396533" cy="3965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4C88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49F2184-9E88-494A-9E70-04D01E79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5632" y="3735046"/>
            <a:ext cx="829115" cy="324436"/>
          </a:xfrm>
          <a:prstGeom xmlns:a="http://schemas.openxmlformats.org/drawingml/2006/main" prst="roundRect">
            <a:avLst>
              <a:gd name="adj" fmla="val 352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99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99923"/>
                </a:solidFill>
                <a:latin typeface="Microsoft YaHei"/>
                <a:ea typeface="Microsoft YaHei"/>
                <a:cs typeface="Microsoft YaHei"/>
              </a:rPr>
              <a:t>2028</a:t>
            </a:r>
          </a:p>
        </p:txBody>
      </p:sp>
      <p:sp>
        <p:nvSpPr>
          <p:cNvPr id="57" name="PPAGENT_QA|parent=dual-track-a-3|domains=dual-track-a-cards">
            <a:extLst xmlns:a="http://schemas.openxmlformats.org/drawingml/2006/main">
              <a:ext uri="{FF2B5EF4-FFF2-40B4-BE49-F238E27FC236}">
                <a16:creationId xmlns:a16="http://schemas.microsoft.com/office/drawing/2014/main" id="{4B821773-870E-4BC4-BE1F-E95D4899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4280" y="1680283"/>
            <a:ext cx="1351817" cy="1009357"/>
          </a:xfrm>
          <a:prstGeom xmlns:a="http://schemas.openxmlformats.org/drawingml/2006/main" prst="roundRect">
            <a:avLst>
              <a:gd name="adj" fmla="val 11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4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4F51142-4CB2-42D0-8433-AB74A7F3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426" y="1788429"/>
            <a:ext cx="1135527" cy="306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规模运营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37ED7EE-DDCF-4D41-BD28-CBD2EDB3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426" y="2148913"/>
            <a:ext cx="1135527" cy="432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让生产流程</a:t>
            </a:r>
          </a:p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稳定运行</a:t>
            </a:r>
          </a:p>
        </p:txBody>
      </p:sp>
      <p:sp>
        <p:nvSpPr>
          <p:cNvPr id="60" name="PPAGENT_QA|parent=dual-track-b-3|domains=dual-track-b-cards">
            <a:extLst xmlns:a="http://schemas.openxmlformats.org/drawingml/2006/main">
              <a:ext uri="{FF2B5EF4-FFF2-40B4-BE49-F238E27FC236}">
                <a16:creationId xmlns:a16="http://schemas.microsoft.com/office/drawing/2014/main" id="{9614EC8A-3F24-4BB6-A8AF-9D925D9B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4280" y="5429323"/>
            <a:ext cx="1351817" cy="865163"/>
          </a:xfrm>
          <a:prstGeom xmlns:a="http://schemas.openxmlformats.org/drawingml/2006/main" prst="roundRect">
            <a:avLst>
              <a:gd name="adj" fmla="val 13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4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C8A1CBB-91A5-448B-8D77-BF6986CD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426" y="5519444"/>
            <a:ext cx="1135527" cy="288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智能协同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1B701CD-2F5A-4B17-8A7B-15C7DB599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426" y="5843881"/>
            <a:ext cx="1135527" cy="360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双导演与</a:t>
            </a:r>
          </a:p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资产协同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4A60603-9142-4078-891E-9EF44EB6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331694" y="2779761"/>
            <a:ext cx="0" cy="257746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2CEDB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6EE1FB6-0123-49C9-9EE3-15139AD1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3428" y="3014076"/>
            <a:ext cx="396533" cy="3965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F5E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BBFE9D7-B28B-4BC0-9B02-39AA45FF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3428" y="4726378"/>
            <a:ext cx="396533" cy="3965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4C88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7F058E2-BC02-4A74-957E-470CC04D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7137" y="3735046"/>
            <a:ext cx="829115" cy="324436"/>
          </a:xfrm>
          <a:prstGeom xmlns:a="http://schemas.openxmlformats.org/drawingml/2006/main" prst="roundRect">
            <a:avLst>
              <a:gd name="adj" fmla="val 352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99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99923"/>
                </a:solidFill>
                <a:latin typeface="Microsoft YaHei"/>
                <a:ea typeface="Microsoft YaHei"/>
                <a:cs typeface="Microsoft YaHei"/>
              </a:rPr>
              <a:t>2029</a:t>
            </a:r>
          </a:p>
        </p:txBody>
      </p:sp>
      <p:sp>
        <p:nvSpPr>
          <p:cNvPr id="67" name="PPAGENT_QA|parent=dual-track-a-4|domains=dual-track-a-cards">
            <a:extLst xmlns:a="http://schemas.openxmlformats.org/drawingml/2006/main">
              <a:ext uri="{FF2B5EF4-FFF2-40B4-BE49-F238E27FC236}">
                <a16:creationId xmlns:a16="http://schemas.microsoft.com/office/drawing/2014/main" id="{D258C150-CF5D-4391-A8A9-FCB73E29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5786" y="1680283"/>
            <a:ext cx="1351817" cy="1009357"/>
          </a:xfrm>
          <a:prstGeom xmlns:a="http://schemas.openxmlformats.org/drawingml/2006/main" prst="roundRect">
            <a:avLst>
              <a:gd name="adj" fmla="val 11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4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19F96E3-DAD6-49B9-8587-6BF63A76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931" y="1788429"/>
            <a:ext cx="1135527" cy="306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生态协作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F9879D9-673B-42AD-9077-0EF3EF4D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931" y="2148913"/>
            <a:ext cx="1135527" cy="432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形成伙伴</a:t>
            </a:r>
          </a:p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协作网络</a:t>
            </a:r>
          </a:p>
        </p:txBody>
      </p:sp>
      <p:sp>
        <p:nvSpPr>
          <p:cNvPr id="70" name="PPAGENT_QA|parent=dual-track-b-4|domains=dual-track-b-cards">
            <a:extLst xmlns:a="http://schemas.openxmlformats.org/drawingml/2006/main">
              <a:ext uri="{FF2B5EF4-FFF2-40B4-BE49-F238E27FC236}">
                <a16:creationId xmlns:a16="http://schemas.microsoft.com/office/drawing/2014/main" id="{9A0A4435-E94A-4E08-AFA6-E69F2547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5786" y="5429323"/>
            <a:ext cx="1351817" cy="865163"/>
          </a:xfrm>
          <a:prstGeom xmlns:a="http://schemas.openxmlformats.org/drawingml/2006/main" prst="roundRect">
            <a:avLst>
              <a:gd name="adj" fmla="val 13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4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97B8780-896A-44C6-8AE6-316AE2E8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931" y="5519444"/>
            <a:ext cx="1135527" cy="288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开放能力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803974B-3439-4248-B3DD-D4165B09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931" y="5843881"/>
            <a:ext cx="1135527" cy="360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提供标准</a:t>
            </a:r>
          </a:p>
          <a:p xmlns:a="http://schemas.openxmlformats.org/drawingml/2006/main">
            <a:pPr algn="ctr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能力接口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研究方法与样本说明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研究设计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E5CEABAC-B3C5-4A46-9560-9CC98DF8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09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8EC8A7-71BD-4DE9-B470-520A5BFC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46" y="1518065"/>
            <a:ext cx="11535508" cy="1982665"/>
          </a:xfrm>
          <a:prstGeom xmlns:a="http://schemas.openxmlformats.org/drawingml/2006/main" prst="roundRect">
            <a:avLst>
              <a:gd name="adj" fmla="val 5765"/>
            </a:avLst>
          </a:prstGeom>
          <a:solidFill xmlns:a="http://schemas.openxmlformats.org/drawingml/2006/main">
            <a:srgbClr val="173F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700EE3-A453-46B2-A621-945CE4FC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094" y="1752380"/>
            <a:ext cx="4686300" cy="324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样本及数据收集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FC5C63-176C-4134-98DA-ED0C7336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094" y="2184962"/>
            <a:ext cx="5407269" cy="973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4EE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4EEF8"/>
                </a:solidFill>
                <a:latin typeface="Microsoft YaHei"/>
                <a:ea typeface="Microsoft YaHei"/>
                <a:cs typeface="Microsoft YaHei"/>
              </a:rPr>
              <a:t>采用分层抽样与结构化问卷相结合的方法，覆盖不同规模、行业和发展阶段的研究对象。</a:t>
            </a:r>
          </a:p>
        </p:txBody>
      </p:sp>
      <p:sp>
        <p:nvSpPr>
          <p:cNvPr id="18" name="PPAGENT_QA|parent=research-sample">
            <a:extLst xmlns:a="http://schemas.openxmlformats.org/drawingml/2006/main">
              <a:ext uri="{FF2B5EF4-FFF2-40B4-BE49-F238E27FC236}">
                <a16:creationId xmlns:a16="http://schemas.microsoft.com/office/drawing/2014/main" id="{0B231590-892B-4201-8B39-3A08EFF5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7454" y="1878550"/>
            <a:ext cx="1279720" cy="1279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68"/>
          </a:solidFill>
          <a:ln xmlns:a="http://schemas.openxmlformats.org/drawingml/2006/main" w="66675">
            <a:solidFill>
              <a:srgbClr val="F0B78D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5830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发放样本</a:t>
            </a:r>
          </a:p>
        </p:txBody>
      </p:sp>
      <p:sp>
        <p:nvSpPr>
          <p:cNvPr id="19" name="PPAGENT_CONNECTOR|from=research-sample|fromSide=right|to=research-response|toSide=left">
            <a:extLst xmlns:a="http://schemas.openxmlformats.org/drawingml/2006/main">
              <a:ext uri="{FF2B5EF4-FFF2-40B4-BE49-F238E27FC236}">
                <a16:creationId xmlns:a16="http://schemas.microsoft.com/office/drawing/2014/main" id="{B4DA2B19-EF0A-43A7-B717-001EA8A1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57174" y="2518410"/>
            <a:ext cx="8110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0">
            <a:solidFill>
              <a:srgbClr val="D7A57F"/>
            </a:solidFill>
            <a:prstDash val="solid"/>
          </a:ln>
        </p:spPr>
      </p:sp>
      <p:sp>
        <p:nvSpPr>
          <p:cNvPr id="20" name="PPAGENT_QA|parent=research-response">
            <a:extLst xmlns:a="http://schemas.openxmlformats.org/drawingml/2006/main">
              <a:ext uri="{FF2B5EF4-FFF2-40B4-BE49-F238E27FC236}">
                <a16:creationId xmlns:a16="http://schemas.microsoft.com/office/drawing/2014/main" id="{B7381948-0C9A-4E1A-95B6-2647EC7A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8265" y="1878550"/>
            <a:ext cx="1279720" cy="1279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379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B3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B3828"/>
                </a:solidFill>
                <a:latin typeface="Microsoft YaHei"/>
                <a:ea typeface="Microsoft YaHei"/>
                <a:cs typeface="Microsoft YaHei"/>
              </a:rPr>
              <a:t>4280</a:t>
            </a:r>
          </a:p>
          <a:p xmlns:a="http://schemas.openxmlformats.org/drawingml/2006/main">
            <a:pPr algn="ctr">
              <a:defRPr sz="1500" b="1">
                <a:solidFill>
                  <a:srgbClr val="5B3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B3828"/>
                </a:solidFill>
                <a:latin typeface="Microsoft YaHei"/>
                <a:ea typeface="Microsoft YaHei"/>
                <a:cs typeface="Microsoft YaHei"/>
              </a:rPr>
              <a:t>有效回收</a:t>
            </a:r>
          </a:p>
        </p:txBody>
      </p:sp>
      <p:sp>
        <p:nvSpPr>
          <p:cNvPr id="21" name="PPAGENT_QA|parent=research-dimension-0|domains=research-dimension-cards">
            <a:extLst xmlns:a="http://schemas.openxmlformats.org/drawingml/2006/main">
              <a:ext uri="{FF2B5EF4-FFF2-40B4-BE49-F238E27FC236}">
                <a16:creationId xmlns:a16="http://schemas.microsoft.com/office/drawing/2014/main" id="{6398B501-E759-4311-8072-8D210042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3807143"/>
            <a:ext cx="3364523" cy="2397223"/>
          </a:xfrm>
          <a:prstGeom xmlns:a="http://schemas.openxmlformats.org/drawingml/2006/main" prst="roundRect">
            <a:avLst>
              <a:gd name="adj" fmla="val 4768"/>
            </a:avLst>
          </a:prstGeom>
          <a:solidFill xmlns:a="http://schemas.openxmlformats.org/drawingml/2006/main">
            <a:srgbClr val="E9BE9E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27AA65-695F-4AAC-9F37-4E656864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968" y="3987385"/>
            <a:ext cx="540727" cy="5407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D8C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A56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A5613B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524120-D7E8-4D5D-9B2A-854C4726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288" y="4654281"/>
            <a:ext cx="3040087" cy="378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A3F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A3F2A"/>
                </a:solidFill>
                <a:latin typeface="Microsoft YaHei"/>
                <a:ea typeface="Microsoft YaHei"/>
                <a:cs typeface="Microsoft YaHei"/>
              </a:rPr>
              <a:t>研究对象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2D04E3-FFE6-41D9-B6F5-FA659C57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288" y="5140936"/>
            <a:ext cx="3040087" cy="8471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4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463A"/>
                </a:solidFill>
                <a:latin typeface="Microsoft YaHei"/>
                <a:ea typeface="Microsoft YaHei"/>
                <a:cs typeface="Microsoft YaHei"/>
              </a:rPr>
              <a:t>明确纳入标准、覆盖范围与样本单位。</a:t>
            </a:r>
          </a:p>
        </p:txBody>
      </p:sp>
      <p:sp>
        <p:nvSpPr>
          <p:cNvPr id="25" name="PPAGENT_QA|parent=research-dimension-1|domains=research-dimension-cards">
            <a:extLst xmlns:a="http://schemas.openxmlformats.org/drawingml/2006/main">
              <a:ext uri="{FF2B5EF4-FFF2-40B4-BE49-F238E27FC236}">
                <a16:creationId xmlns:a16="http://schemas.microsoft.com/office/drawing/2014/main" id="{925051E0-731C-4EEE-A003-FC2FD4B5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738" y="3807143"/>
            <a:ext cx="3364523" cy="2397223"/>
          </a:xfrm>
          <a:prstGeom xmlns:a="http://schemas.openxmlformats.org/drawingml/2006/main" prst="roundRect">
            <a:avLst>
              <a:gd name="adj" fmla="val 4768"/>
            </a:avLst>
          </a:prstGeom>
          <a:solidFill xmlns:a="http://schemas.openxmlformats.org/drawingml/2006/main">
            <a:srgbClr val="E5B18C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29A1E5-8ED4-4841-95D5-623CF39F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5637" y="3987385"/>
            <a:ext cx="540727" cy="5407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D8C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A56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A5613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46AFA9-B0CA-421F-B6AB-B77FDFF3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957" y="4654281"/>
            <a:ext cx="3040087" cy="378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A3F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A3F2A"/>
                </a:solidFill>
                <a:latin typeface="Microsoft YaHei"/>
                <a:ea typeface="Microsoft YaHei"/>
                <a:cs typeface="Microsoft YaHei"/>
              </a:rPr>
              <a:t>成立年限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A74400-3861-4CF8-A75C-F4E4CFC2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957" y="5140936"/>
            <a:ext cx="3040087" cy="8471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4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463A"/>
                </a:solidFill>
                <a:latin typeface="Microsoft YaHei"/>
                <a:ea typeface="Microsoft YaHei"/>
                <a:cs typeface="Microsoft YaHei"/>
              </a:rPr>
              <a:t>区分早期、成长与成熟阶段。</a:t>
            </a:r>
          </a:p>
        </p:txBody>
      </p:sp>
      <p:sp>
        <p:nvSpPr>
          <p:cNvPr id="29" name="PPAGENT_QA|parent=research-dimension-2|domains=research-dimension-cards">
            <a:extLst xmlns:a="http://schemas.openxmlformats.org/drawingml/2006/main">
              <a:ext uri="{FF2B5EF4-FFF2-40B4-BE49-F238E27FC236}">
                <a16:creationId xmlns:a16="http://schemas.microsoft.com/office/drawing/2014/main" id="{025AFE12-83DA-4827-AC67-DEDD0091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407" y="3807143"/>
            <a:ext cx="3364523" cy="2397223"/>
          </a:xfrm>
          <a:prstGeom xmlns:a="http://schemas.openxmlformats.org/drawingml/2006/main" prst="roundRect">
            <a:avLst>
              <a:gd name="adj" fmla="val 4768"/>
            </a:avLst>
          </a:prstGeom>
          <a:solidFill xmlns:a="http://schemas.openxmlformats.org/drawingml/2006/main">
            <a:srgbClr val="E9BE9E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499BD7-A26C-4EB9-9A73-632839BD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8305" y="3987385"/>
            <a:ext cx="540727" cy="5407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D8C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A56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A5613B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377118-B932-4F67-A68C-33618469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654281"/>
            <a:ext cx="3040087" cy="378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A3F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A3F2A"/>
                </a:solidFill>
                <a:latin typeface="Microsoft YaHei"/>
                <a:ea typeface="Microsoft YaHei"/>
                <a:cs typeface="Microsoft YaHei"/>
              </a:rPr>
              <a:t>收入来源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402702-EBF1-4DB8-9972-9AE35668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140936"/>
            <a:ext cx="3040087" cy="8471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4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463A"/>
                </a:solidFill>
                <a:latin typeface="Microsoft YaHei"/>
                <a:ea typeface="Microsoft YaHei"/>
                <a:cs typeface="Microsoft YaHei"/>
              </a:rPr>
              <a:t>识别主要业务结构和交易特征。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研究方法与样本说明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研究设计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E5CEABAC-B3C5-4A46-9560-9CC98DF8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10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977D31-2DB4-49F6-9C50-70A4A1A78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46" y="1518065"/>
            <a:ext cx="11535508" cy="1982665"/>
          </a:xfrm>
          <a:prstGeom xmlns:a="http://schemas.openxmlformats.org/drawingml/2006/main" prst="roundRect">
            <a:avLst>
              <a:gd name="adj" fmla="val 5765"/>
            </a:avLst>
          </a:prstGeom>
          <a:solidFill xmlns:a="http://schemas.openxmlformats.org/drawingml/2006/main">
            <a:srgbClr val="173F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84D186-F9D3-4EE5-85E0-1EACCD3FE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094" y="1752380"/>
            <a:ext cx="4686300" cy="324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样本及数据收集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1AE18C-3D97-4848-A5B5-E454E172A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094" y="2184962"/>
            <a:ext cx="5407269" cy="973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4EE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4EEF8"/>
                </a:solidFill>
                <a:latin typeface="Microsoft YaHei"/>
                <a:ea typeface="Microsoft YaHei"/>
                <a:cs typeface="Microsoft YaHei"/>
              </a:rPr>
              <a:t>采用分层抽样与结构化问卷相结合的方法，覆盖不同规模、行业和发展阶段的研究对象。</a:t>
            </a:r>
          </a:p>
        </p:txBody>
      </p:sp>
      <p:sp>
        <p:nvSpPr>
          <p:cNvPr id="18" name="PPAGENT_QA|parent=research-sample">
            <a:extLst xmlns:a="http://schemas.openxmlformats.org/drawingml/2006/main">
              <a:ext uri="{FF2B5EF4-FFF2-40B4-BE49-F238E27FC236}">
                <a16:creationId xmlns:a16="http://schemas.microsoft.com/office/drawing/2014/main" id="{2946E0D8-81F1-4C62-8316-55FAB9A37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7454" y="1878550"/>
            <a:ext cx="1279720" cy="1279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68"/>
          </a:solidFill>
          <a:ln xmlns:a="http://schemas.openxmlformats.org/drawingml/2006/main" w="66675">
            <a:solidFill>
              <a:srgbClr val="F0B78D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5830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发放样本</a:t>
            </a:r>
          </a:p>
        </p:txBody>
      </p:sp>
      <p:sp>
        <p:nvSpPr>
          <p:cNvPr id="19" name="PPAGENT_CONNECTOR|from=research-sample|fromSide=right|to=research-response|toSide=left">
            <a:extLst xmlns:a="http://schemas.openxmlformats.org/drawingml/2006/main">
              <a:ext uri="{FF2B5EF4-FFF2-40B4-BE49-F238E27FC236}">
                <a16:creationId xmlns:a16="http://schemas.microsoft.com/office/drawing/2014/main" id="{AE1340B6-0799-4C1E-8034-5D3C1CEB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57174" y="2518410"/>
            <a:ext cx="8110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0">
            <a:solidFill>
              <a:srgbClr val="D7A57F"/>
            </a:solidFill>
            <a:prstDash val="solid"/>
          </a:ln>
        </p:spPr>
      </p:sp>
      <p:sp>
        <p:nvSpPr>
          <p:cNvPr id="20" name="PPAGENT_QA|parent=research-response">
            <a:extLst xmlns:a="http://schemas.openxmlformats.org/drawingml/2006/main">
              <a:ext uri="{FF2B5EF4-FFF2-40B4-BE49-F238E27FC236}">
                <a16:creationId xmlns:a16="http://schemas.microsoft.com/office/drawing/2014/main" id="{E22BE055-B70E-486B-B432-33F3C17F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8265" y="1878550"/>
            <a:ext cx="1279720" cy="1279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379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B3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B3828"/>
                </a:solidFill>
                <a:latin typeface="Microsoft YaHei"/>
                <a:ea typeface="Microsoft YaHei"/>
                <a:cs typeface="Microsoft YaHei"/>
              </a:rPr>
              <a:t>4280</a:t>
            </a:r>
          </a:p>
          <a:p xmlns:a="http://schemas.openxmlformats.org/drawingml/2006/main">
            <a:pPr algn="ctr">
              <a:defRPr sz="1500" b="1">
                <a:solidFill>
                  <a:srgbClr val="5B3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B3828"/>
                </a:solidFill>
                <a:latin typeface="Microsoft YaHei"/>
                <a:ea typeface="Microsoft YaHei"/>
                <a:cs typeface="Microsoft YaHei"/>
              </a:rPr>
              <a:t>有效回收</a:t>
            </a:r>
          </a:p>
        </p:txBody>
      </p:sp>
      <p:sp>
        <p:nvSpPr>
          <p:cNvPr id="21" name="PPAGENT_QA|parent=research-dimension-0|domains=research-dimension-cards">
            <a:extLst xmlns:a="http://schemas.openxmlformats.org/drawingml/2006/main">
              <a:ext uri="{FF2B5EF4-FFF2-40B4-BE49-F238E27FC236}">
                <a16:creationId xmlns:a16="http://schemas.microsoft.com/office/drawing/2014/main" id="{77431FB6-4E1D-46EA-BA7A-F3F0B411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3807143"/>
            <a:ext cx="1975456" cy="2397223"/>
          </a:xfrm>
          <a:prstGeom xmlns:a="http://schemas.openxmlformats.org/drawingml/2006/main" prst="roundRect">
            <a:avLst>
              <a:gd name="adj" fmla="val 5786"/>
            </a:avLst>
          </a:prstGeom>
          <a:solidFill xmlns:a="http://schemas.openxmlformats.org/drawingml/2006/main">
            <a:srgbClr val="E9BE9E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05BC93-D957-4588-885B-26D26ACD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8434" y="3987385"/>
            <a:ext cx="540727" cy="5407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D8C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A56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A5613B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B8599E-8292-4B29-A857-14C7E53D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288" y="4654281"/>
            <a:ext cx="1651020" cy="378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A3F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A3F2A"/>
                </a:solidFill>
                <a:latin typeface="Microsoft YaHei"/>
                <a:ea typeface="Microsoft YaHei"/>
                <a:cs typeface="Microsoft YaHei"/>
              </a:rPr>
              <a:t>研究对象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A259A3-C694-4CD8-84F6-1808D903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288" y="5140936"/>
            <a:ext cx="1651020" cy="8471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4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463A"/>
                </a:solidFill>
                <a:latin typeface="Microsoft YaHei"/>
                <a:ea typeface="Microsoft YaHei"/>
                <a:cs typeface="Microsoft YaHei"/>
              </a:rPr>
              <a:t>明确纳入标准、覆盖范围与样本单位。</a:t>
            </a:r>
          </a:p>
        </p:txBody>
      </p:sp>
      <p:sp>
        <p:nvSpPr>
          <p:cNvPr id="25" name="PPAGENT_QA|parent=research-dimension-1|domains=research-dimension-cards">
            <a:extLst xmlns:a="http://schemas.openxmlformats.org/drawingml/2006/main">
              <a:ext uri="{FF2B5EF4-FFF2-40B4-BE49-F238E27FC236}">
                <a16:creationId xmlns:a16="http://schemas.microsoft.com/office/drawing/2014/main" id="{43D4560D-4528-480B-858B-3EE68765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4671" y="3807143"/>
            <a:ext cx="1975456" cy="2397223"/>
          </a:xfrm>
          <a:prstGeom xmlns:a="http://schemas.openxmlformats.org/drawingml/2006/main" prst="roundRect">
            <a:avLst>
              <a:gd name="adj" fmla="val 5786"/>
            </a:avLst>
          </a:prstGeom>
          <a:solidFill xmlns:a="http://schemas.openxmlformats.org/drawingml/2006/main">
            <a:srgbClr val="E5B18C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108C40-6FD7-4858-A521-ED84A923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035" y="3987385"/>
            <a:ext cx="540727" cy="5407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D8C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A56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A5613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8F45B1-5C55-47D4-828B-7ECA5EBD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889" y="4654281"/>
            <a:ext cx="1651020" cy="378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A3F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A3F2A"/>
                </a:solidFill>
                <a:latin typeface="Microsoft YaHei"/>
                <a:ea typeface="Microsoft YaHei"/>
                <a:cs typeface="Microsoft YaHei"/>
              </a:rPr>
              <a:t>成立年限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916919-3EF2-4B1C-BF8E-926D5648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889" y="5140936"/>
            <a:ext cx="1651020" cy="8471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4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463A"/>
                </a:solidFill>
                <a:latin typeface="Microsoft YaHei"/>
                <a:ea typeface="Microsoft YaHei"/>
                <a:cs typeface="Microsoft YaHei"/>
              </a:rPr>
              <a:t>区分早期、成长与成熟阶段。</a:t>
            </a:r>
          </a:p>
        </p:txBody>
      </p:sp>
      <p:sp>
        <p:nvSpPr>
          <p:cNvPr id="29" name="PPAGENT_QA|parent=research-dimension-2|domains=research-dimension-cards">
            <a:extLst xmlns:a="http://schemas.openxmlformats.org/drawingml/2006/main">
              <a:ext uri="{FF2B5EF4-FFF2-40B4-BE49-F238E27FC236}">
                <a16:creationId xmlns:a16="http://schemas.microsoft.com/office/drawing/2014/main" id="{73623CC4-7B1E-4E64-BA8D-80E50E90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272" y="3807143"/>
            <a:ext cx="1975456" cy="2397223"/>
          </a:xfrm>
          <a:prstGeom xmlns:a="http://schemas.openxmlformats.org/drawingml/2006/main" prst="roundRect">
            <a:avLst>
              <a:gd name="adj" fmla="val 5786"/>
            </a:avLst>
          </a:prstGeom>
          <a:solidFill xmlns:a="http://schemas.openxmlformats.org/drawingml/2006/main">
            <a:srgbClr val="E9BE9E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61454A-0BB2-473B-98E4-C3F51633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5637" y="3987385"/>
            <a:ext cx="540727" cy="5407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D8C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A56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A5613B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FB9F1A-9D61-4613-8594-63EA30BD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0490" y="4654281"/>
            <a:ext cx="1651020" cy="378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A3F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A3F2A"/>
                </a:solidFill>
                <a:latin typeface="Microsoft YaHei"/>
                <a:ea typeface="Microsoft YaHei"/>
                <a:cs typeface="Microsoft YaHei"/>
              </a:rPr>
              <a:t>收入来源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1E3301-D63D-4767-A00A-CB0381AA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0490" y="5140936"/>
            <a:ext cx="1651020" cy="8471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4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463A"/>
                </a:solidFill>
                <a:latin typeface="Microsoft YaHei"/>
                <a:ea typeface="Microsoft YaHei"/>
                <a:cs typeface="Microsoft YaHei"/>
              </a:rPr>
              <a:t>识别主要业务结构和交易特征。</a:t>
            </a:r>
          </a:p>
        </p:txBody>
      </p:sp>
      <p:sp>
        <p:nvSpPr>
          <p:cNvPr id="33" name="PPAGENT_QA|parent=research-dimension-3|domains=research-dimension-cards">
            <a:extLst xmlns:a="http://schemas.openxmlformats.org/drawingml/2006/main">
              <a:ext uri="{FF2B5EF4-FFF2-40B4-BE49-F238E27FC236}">
                <a16:creationId xmlns:a16="http://schemas.microsoft.com/office/drawing/2014/main" id="{23DDD64D-E8C1-4BEC-BC61-6BC7DD2A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873" y="3807143"/>
            <a:ext cx="1975456" cy="2397223"/>
          </a:xfrm>
          <a:prstGeom xmlns:a="http://schemas.openxmlformats.org/drawingml/2006/main" prst="roundRect">
            <a:avLst>
              <a:gd name="adj" fmla="val 5786"/>
            </a:avLst>
          </a:prstGeom>
          <a:solidFill xmlns:a="http://schemas.openxmlformats.org/drawingml/2006/main">
            <a:srgbClr val="E5B18C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1878796-A3B5-4661-A9D4-59ABE2C4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238" y="3987385"/>
            <a:ext cx="540727" cy="5407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D8C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A56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A5613B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8CF913-DC1B-4631-ACF2-0969F5AC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4091" y="4654281"/>
            <a:ext cx="1651020" cy="378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A3F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A3F2A"/>
                </a:solidFill>
                <a:latin typeface="Microsoft YaHei"/>
                <a:ea typeface="Microsoft YaHei"/>
                <a:cs typeface="Microsoft YaHei"/>
              </a:rPr>
              <a:t>偏差检验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3637D4E-B4D1-43C8-B05D-A1E1A15D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4091" y="5140936"/>
            <a:ext cx="1651020" cy="8471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4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463A"/>
                </a:solidFill>
                <a:latin typeface="Microsoft YaHei"/>
                <a:ea typeface="Microsoft YaHei"/>
                <a:cs typeface="Microsoft YaHei"/>
              </a:rPr>
              <a:t>比较早晚期样本并检验非应答偏差。</a:t>
            </a:r>
          </a:p>
        </p:txBody>
      </p:sp>
      <p:sp>
        <p:nvSpPr>
          <p:cNvPr id="37" name="PPAGENT_QA|parent=research-dimension-4|domains=research-dimension-cards">
            <a:extLst xmlns:a="http://schemas.openxmlformats.org/drawingml/2006/main">
              <a:ext uri="{FF2B5EF4-FFF2-40B4-BE49-F238E27FC236}">
                <a16:creationId xmlns:a16="http://schemas.microsoft.com/office/drawing/2014/main" id="{47DA2EBD-DED6-4AA2-8BC4-D82AADCA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5474" y="3807143"/>
            <a:ext cx="1975456" cy="2397223"/>
          </a:xfrm>
          <a:prstGeom xmlns:a="http://schemas.openxmlformats.org/drawingml/2006/main" prst="roundRect">
            <a:avLst>
              <a:gd name="adj" fmla="val 5786"/>
            </a:avLst>
          </a:prstGeom>
          <a:solidFill xmlns:a="http://schemas.openxmlformats.org/drawingml/2006/main">
            <a:srgbClr val="E9BE9E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15C59E1-3202-49E9-9E17-4C2C90F7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2839" y="3987385"/>
            <a:ext cx="540727" cy="5407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D8C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A56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A5613B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B62B9E4-22D1-46AE-A919-34405361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692" y="4654281"/>
            <a:ext cx="1651020" cy="378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A3F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A3F2A"/>
                </a:solidFill>
                <a:latin typeface="Microsoft YaHei"/>
                <a:ea typeface="Microsoft YaHei"/>
                <a:cs typeface="Microsoft YaHei"/>
              </a:rPr>
              <a:t>稳健分析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7752894-DA54-4076-BA0B-1EF16081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692" y="5140936"/>
            <a:ext cx="1651020" cy="8471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4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463A"/>
                </a:solidFill>
                <a:latin typeface="Microsoft YaHei"/>
                <a:ea typeface="Microsoft YaHei"/>
                <a:cs typeface="Microsoft YaHei"/>
              </a:rPr>
              <a:t>更换口径后重复估计并核对方向。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2026-08-10T13:30:55.6320000Z</dcterms:created>
  <dcterms:modified xsi:type="dcterms:W3CDTF">2026-08-10T13:30:55.6320000Z</dcterms:modified>
</coreProperties>
</file>