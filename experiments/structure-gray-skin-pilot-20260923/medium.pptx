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1ebd1e2c5433c" /><Relationship Type="http://schemas.openxmlformats.org/officeDocument/2006/relationships/extended-properties" Target="/docProps/app.xml" Id="Re8efe2121f8447a0" /><Relationship Type="http://schemas.openxmlformats.org/officeDocument/2006/relationships/officeDocument" Target="/ppt/presentation.xml" Id="R9057f870b96346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9c9cf45ae42a7"/>
    <p:sldMasterId xmlns:r="http://schemas.openxmlformats.org/officeDocument/2006/relationships" id="2147483660" r:id="R17ae780523c04004"/>
    <p:sldMasterId xmlns:r="http://schemas.openxmlformats.org/officeDocument/2006/relationships" id="2147483663" r:id="R6bd8587b56d74a29"/>
  </p:sldMasterIdLst>
  <p:notesMasterIdLst>
    <p:notesMasterId xmlns:r="http://schemas.openxmlformats.org/officeDocument/2006/relationships" r:id="Rb6540ede8d204fd5"/>
  </p:notesMasterIdLst>
  <p:sldIdLst>
    <p:sldId xmlns:r="http://schemas.openxmlformats.org/officeDocument/2006/relationships" id="256" r:id="R7815863dbe3b4f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1c5c0696a4c64" /><Relationship Type="http://schemas.openxmlformats.org/officeDocument/2006/relationships/slideMaster" Target="/ppt/slideMasters/slideMaster1.xml" Id="R99c9c9cf45ae42a7" /><Relationship Type="http://schemas.openxmlformats.org/officeDocument/2006/relationships/slideMaster" Target="/ppt/slideMasters/slideMaster2.xml" Id="R17ae780523c04004" /><Relationship Type="http://schemas.openxmlformats.org/officeDocument/2006/relationships/slideMaster" Target="/ppt/slideMasters/slideMaster3.xml" Id="R6bd8587b56d74a29" /><Relationship Type="http://schemas.openxmlformats.org/officeDocument/2006/relationships/notesMaster" Target="/ppt/notesMasters/notesMaster1.xml" Id="Rb6540ede8d204fd5" /><Relationship Type="http://schemas.openxmlformats.org/officeDocument/2006/relationships/presProps" Target="/ppt/presProps.xml" Id="R8e450bfcb3f04eda" /><Relationship Type="http://schemas.openxmlformats.org/officeDocument/2006/relationships/viewProps" Target="/ppt/viewProps.xml" Id="Rbd15b8ef6eea478d" /><Relationship Type="http://schemas.openxmlformats.org/officeDocument/2006/relationships/tableStyles" Target="/ppt/tableStyles.xml" Id="Re1ee4251ae1d4971" /><Relationship Type="http://schemas.openxmlformats.org/officeDocument/2006/relationships/slide" Target="/ppt/slides/slide1.xml" Id="R7815863dbe3b4f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ba50efc1fe2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43180" dist="61360" dir="5400000">
              <a:srgbClr val="3361AE">
                <a:alpha val="14000"/>
              </a:srgbClr>
            </a:outerShdw>
          </a:effectLst>
        </a:effectStyle>
        <a:effectStyle>
          <a:effectLst>
            <a:outerShdw blurRad="122720" dist="54540" dir="5400000">
              <a:srgbClr val="274A84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76d5e268bc427d" /><Relationship Type="http://schemas.openxmlformats.org/officeDocument/2006/relationships/notesMaster" Target="/ppt/notesMasters/notesMaster1.xml" Id="R9a9caaa2d86f4e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内容：PPA 看板 State 预览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PPagenT：dashboard-matrix-quadrant-priority-001 → matrix-quadrant-priority-001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4454e209f4a1a" /><Relationship Type="http://schemas.openxmlformats.org/officeDocument/2006/relationships/image" Target="/ppt/media/image.jpeg" Id="Rd8952992220a494c" /><Relationship Type="http://schemas.openxmlformats.org/officeDocument/2006/relationships/image" Target="/ppt/media/image.png" Id="R2f90379f0d9e4665" /><Relationship Type="http://schemas.openxmlformats.org/officeDocument/2006/relationships/image" Target="/ppt/media/image2.png" Id="R221129f3fb1d4e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12bd645aa43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50457f0604a46" /><Relationship Type="http://schemas.openxmlformats.org/officeDocument/2006/relationships/image" Target="/ppt/media/image3.png" Id="Rd8744ce3c7554a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bd8bcdff94542" /><Relationship Type="http://schemas.openxmlformats.org/officeDocument/2006/relationships/image" Target="/ppt/media/image4.png" Id="R95f6053d353342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bd28678134d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3434e84644e1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f72369be240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bea881e0e46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54f0d0df640d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a86b210fa43b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0a30abece4a3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26a52ab30b481a" /><Relationship Type="http://schemas.openxmlformats.org/officeDocument/2006/relationships/image" Target="/ppt/media/image5.png" Id="R9dd4dd4b7c48439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986923a7744aa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e7b6a3a8b0b4254" /><Relationship Type="http://schemas.openxmlformats.org/officeDocument/2006/relationships/image" Target="/ppt/media/image5.png" Id="R80f1aa277cbc4c1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42ebc1e475f44c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52992220a494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0379f0d9e466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129f3fb1d4e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44ce3c7554a4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6053d3533428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4dd4b7c48439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1aa277cbc4c1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a0a4d217214637" /><Relationship Type="http://schemas.openxmlformats.org/officeDocument/2006/relationships/slideLayout" Target="/ppt/slideLayouts/slideLayout1.xml" Id="R1bb62949cd5b4894" /><Relationship Type="http://schemas.openxmlformats.org/officeDocument/2006/relationships/slideLayout" Target="/ppt/slideLayouts/slideLayout2.xml" Id="R952699653ea24613" /><Relationship Type="http://schemas.openxmlformats.org/officeDocument/2006/relationships/slideLayout" Target="/ppt/slideLayouts/slideLayout3.xml" Id="R51c04e816cfb450f" /><Relationship Type="http://schemas.openxmlformats.org/officeDocument/2006/relationships/slideLayout" Target="/ppt/slideLayouts/slideLayout4.xml" Id="Rf3633833f7ee466b" /><Relationship Type="http://schemas.openxmlformats.org/officeDocument/2006/relationships/slideLayout" Target="/ppt/slideLayouts/slideLayout5.xml" Id="R65e760003f18454b" /><Relationship Type="http://schemas.openxmlformats.org/officeDocument/2006/relationships/slideLayout" Target="/ppt/slideLayouts/slideLayout6.xml" Id="R10c6d669bf2f4775" /><Relationship Type="http://schemas.openxmlformats.org/officeDocument/2006/relationships/slideLayout" Target="/ppt/slideLayouts/slideLayout7.xml" Id="R1db266b19cf649f6" /><Relationship Type="http://schemas.openxmlformats.org/officeDocument/2006/relationships/slideLayout" Target="/ppt/slideLayouts/slideLayout8.xml" Id="R93b8d470503d4e4f" /><Relationship Type="http://schemas.openxmlformats.org/officeDocument/2006/relationships/slideLayout" Target="/ppt/slideLayouts/slideLayout9.xml" Id="R4cb68d874df94927" /><Relationship Type="http://schemas.openxmlformats.org/officeDocument/2006/relationships/slideLayout" Target="/ppt/slideLayouts/slideLayout10.xml" Id="R189b790a218140d5" /><Relationship Type="http://schemas.openxmlformats.org/officeDocument/2006/relationships/slideLayout" Target="/ppt/slideLayouts/slideLayout11.xml" Id="R7716b9882271445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17107c330554540" /><Relationship Type="http://schemas.openxmlformats.org/officeDocument/2006/relationships/slideLayout" Target="/ppt/slideLayouts/slideLayout12.xml" Id="Rf1aec09c4d2f4972" /><Relationship Type="http://schemas.openxmlformats.org/officeDocument/2006/relationships/slideLayout" Target="/ppt/slideLayouts/slideLayout13.xml" Id="Rf356d72937684c5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ff918ad449b45dd" /><Relationship Type="http://schemas.openxmlformats.org/officeDocument/2006/relationships/slideLayout" Target="/ppt/slideLayouts/slideLayout14.xml" Id="R53e437a433874076" /><Relationship Type="http://schemas.openxmlformats.org/officeDocument/2006/relationships/slideLayout" Target="/ppt/slideLayouts/slideLayout15.xml" Id="Rf4bf289970d748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b62949cd5b4894"/>
    <p:sldLayoutId xmlns:r="http://schemas.openxmlformats.org/officeDocument/2006/relationships" id="2147483650" r:id="R952699653ea24613"/>
    <p:sldLayoutId xmlns:r="http://schemas.openxmlformats.org/officeDocument/2006/relationships" id="2147483651" r:id="R51c04e816cfb450f"/>
    <p:sldLayoutId xmlns:r="http://schemas.openxmlformats.org/officeDocument/2006/relationships" id="2147483652" r:id="Rf3633833f7ee466b"/>
    <p:sldLayoutId xmlns:r="http://schemas.openxmlformats.org/officeDocument/2006/relationships" id="2147483653" r:id="R65e760003f18454b"/>
    <p:sldLayoutId xmlns:r="http://schemas.openxmlformats.org/officeDocument/2006/relationships" id="2147483654" r:id="R10c6d669bf2f4775"/>
    <p:sldLayoutId xmlns:r="http://schemas.openxmlformats.org/officeDocument/2006/relationships" id="2147483655" r:id="R1db266b19cf649f6"/>
    <p:sldLayoutId xmlns:r="http://schemas.openxmlformats.org/officeDocument/2006/relationships" id="2147483656" r:id="R93b8d470503d4e4f"/>
    <p:sldLayoutId xmlns:r="http://schemas.openxmlformats.org/officeDocument/2006/relationships" id="2147483657" r:id="R4cb68d874df94927"/>
    <p:sldLayoutId xmlns:r="http://schemas.openxmlformats.org/officeDocument/2006/relationships" id="2147483658" r:id="R189b790a218140d5"/>
    <p:sldLayoutId xmlns:r="http://schemas.openxmlformats.org/officeDocument/2006/relationships" id="2147483659" r:id="R7716b9882271445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1aec09c4d2f4972"/>
    <p:sldLayoutId xmlns:r="http://schemas.openxmlformats.org/officeDocument/2006/relationships" id="2147483662" r:id="Rf356d72937684c5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3e437a433874076"/>
    <p:sldLayoutId xmlns:r="http://schemas.openxmlformats.org/officeDocument/2006/relationships" id="2147483665" r:id="Rf4bf289970d7486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c9f875bb9f45da" /><Relationship Type="http://schemas.openxmlformats.org/officeDocument/2006/relationships/notesSlide" Target="/ppt/notesSlides/notesSlide1.xml" Id="Rc00072912f3341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高价值、低难度事项应优先推进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结构图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ay-preview-structure-heading">
            <a:extLst xmlns:a="http://schemas.openxmlformats.org/drawingml/2006/main">
              <a:ext uri="{FF2B5EF4-FFF2-40B4-BE49-F238E27FC236}">
                <a16:creationId xmlns:a16="http://schemas.microsoft.com/office/drawing/2014/main" id="{B42D85AB-AA38-4FF5-B794-1C282AC8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04975"/>
            <a:ext cx="750057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项目组合定位</a:t>
            </a:r>
          </a:p>
        </p:txBody>
      </p:sp>
      <p:sp>
        <p:nvSpPr>
          <p:cNvPr id="16" name="gray-preview-card-1">
            <a:extLst xmlns:a="http://schemas.openxmlformats.org/drawingml/2006/main">
              <a:ext uri="{FF2B5EF4-FFF2-40B4-BE49-F238E27FC236}">
                <a16:creationId xmlns:a16="http://schemas.microsoft.com/office/drawing/2014/main" id="{25CE26E1-968B-486E-9405-85A0BED3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002" y="1885950"/>
            <a:ext cx="3053123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gray-preview-heading-1">
            <a:extLst xmlns:a="http://schemas.openxmlformats.org/drawingml/2006/main">
              <a:ext uri="{FF2B5EF4-FFF2-40B4-BE49-F238E27FC236}">
                <a16:creationId xmlns:a16="http://schemas.microsoft.com/office/drawing/2014/main" id="{1AE77ED8-E7BF-43B2-BC23-58837C2F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52" y="2028825"/>
            <a:ext cx="271022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8" name="gray-preview-body-1">
            <a:extLst xmlns:a="http://schemas.openxmlformats.org/drawingml/2006/main">
              <a:ext uri="{FF2B5EF4-FFF2-40B4-BE49-F238E27FC236}">
                <a16:creationId xmlns:a16="http://schemas.microsoft.com/office/drawing/2014/main" id="{09257B4E-F991-4D31-A196-2F97D2D4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52" y="2409825"/>
            <a:ext cx="271022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用业务价值与实施难度两轴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定位事项，再决定投入顺序。</a:t>
            </a:r>
          </a:p>
        </p:txBody>
      </p:sp>
      <p:sp>
        <p:nvSpPr>
          <p:cNvPr id="19" name="gray-preview-card-2">
            <a:extLst xmlns:a="http://schemas.openxmlformats.org/drawingml/2006/main">
              <a:ext uri="{FF2B5EF4-FFF2-40B4-BE49-F238E27FC236}">
                <a16:creationId xmlns:a16="http://schemas.microsoft.com/office/drawing/2014/main" id="{6702B3BA-D0D5-47B4-A259-D312AA45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002" y="3295650"/>
            <a:ext cx="3053123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0" name="gray-preview-heading-2">
            <a:extLst xmlns:a="http://schemas.openxmlformats.org/drawingml/2006/main">
              <a:ext uri="{FF2B5EF4-FFF2-40B4-BE49-F238E27FC236}">
                <a16:creationId xmlns:a16="http://schemas.microsoft.com/office/drawing/2014/main" id="{A0D7EA34-A84B-4DAB-A9F4-102E803F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52" y="3438525"/>
            <a:ext cx="271022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优先动作</a:t>
            </a:r>
          </a:p>
        </p:txBody>
      </p:sp>
      <p:sp>
        <p:nvSpPr>
          <p:cNvPr id="21" name="gray-preview-body-2">
            <a:extLst xmlns:a="http://schemas.openxmlformats.org/drawingml/2006/main">
              <a:ext uri="{FF2B5EF4-FFF2-40B4-BE49-F238E27FC236}">
                <a16:creationId xmlns:a16="http://schemas.microsoft.com/office/drawing/2014/main" id="{6D0687AE-B318-4854-B8DF-65B6B9C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52" y="3819525"/>
            <a:ext cx="271022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异常预警位于高价值、低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难度象限，适合先行试点。</a:t>
            </a:r>
          </a:p>
        </p:txBody>
      </p:sp>
      <p:sp>
        <p:nvSpPr>
          <p:cNvPr id="22" name="gray-preview-card-3">
            <a:extLst xmlns:a="http://schemas.openxmlformats.org/drawingml/2006/main">
              <a:ext uri="{FF2B5EF4-FFF2-40B4-BE49-F238E27FC236}">
                <a16:creationId xmlns:a16="http://schemas.microsoft.com/office/drawing/2014/main" id="{18CA0EF3-E9B2-4CDD-8EF1-348949AB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002" y="4705350"/>
            <a:ext cx="3053123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3" name="gray-preview-heading-3">
            <a:extLst xmlns:a="http://schemas.openxmlformats.org/drawingml/2006/main">
              <a:ext uri="{FF2B5EF4-FFF2-40B4-BE49-F238E27FC236}">
                <a16:creationId xmlns:a16="http://schemas.microsoft.com/office/drawing/2014/main" id="{0B7DCB0C-D25F-4ED3-8AD5-83637C4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52" y="4848225"/>
            <a:ext cx="271022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投入边界</a:t>
            </a:r>
          </a:p>
        </p:txBody>
      </p:sp>
      <p:sp>
        <p:nvSpPr>
          <p:cNvPr id="24" name="gray-preview-body-3">
            <a:extLst xmlns:a="http://schemas.openxmlformats.org/drawingml/2006/main">
              <a:ext uri="{FF2B5EF4-FFF2-40B4-BE49-F238E27FC236}">
                <a16:creationId xmlns:a16="http://schemas.microsoft.com/office/drawing/2014/main" id="{C7FB186C-921C-4F15-876A-90A15E2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52" y="5229225"/>
            <a:ext cx="271022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数据平台需要集中资源；系统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重构先验证收益与复用范围。</a:t>
            </a:r>
          </a:p>
        </p:txBody>
      </p:sp>
      <p:sp>
        <p:nvSpPr>
          <p:cNvPr id="25" name="quadrant-field-0">
            <a:extLst xmlns:a="http://schemas.openxmlformats.org/drawingml/2006/main">
              <a:ext uri="{FF2B5EF4-FFF2-40B4-BE49-F238E27FC236}">
                <a16:creationId xmlns:a16="http://schemas.microsoft.com/office/drawing/2014/main" id="{E8B15A5C-1682-4BF8-B07C-BB81D57C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77" y="2362842"/>
            <a:ext cx="3770333" cy="145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quadrant-field-1">
            <a:extLst xmlns:a="http://schemas.openxmlformats.org/drawingml/2006/main">
              <a:ext uri="{FF2B5EF4-FFF2-40B4-BE49-F238E27FC236}">
                <a16:creationId xmlns:a16="http://schemas.microsoft.com/office/drawing/2014/main" id="{B90868F6-F77E-4677-9B1D-8070E9AD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7888" y="2362842"/>
            <a:ext cx="3511220" cy="145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quadrant-field-2">
            <a:extLst xmlns:a="http://schemas.openxmlformats.org/drawingml/2006/main">
              <a:ext uri="{FF2B5EF4-FFF2-40B4-BE49-F238E27FC236}">
                <a16:creationId xmlns:a16="http://schemas.microsoft.com/office/drawing/2014/main" id="{B75C669A-4D82-4500-AF17-09831682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77" y="4012784"/>
            <a:ext cx="3770333" cy="145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quadrant-field-3">
            <a:extLst xmlns:a="http://schemas.openxmlformats.org/drawingml/2006/main">
              <a:ext uri="{FF2B5EF4-FFF2-40B4-BE49-F238E27FC236}">
                <a16:creationId xmlns:a16="http://schemas.microsoft.com/office/drawing/2014/main" id="{A9030332-10D5-44D0-A6E9-5702336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7888" y="4012784"/>
            <a:ext cx="3511220" cy="145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atrix-item-0-0">
            <a:extLst xmlns:a="http://schemas.openxmlformats.org/drawingml/2006/main">
              <a:ext uri="{FF2B5EF4-FFF2-40B4-BE49-F238E27FC236}">
                <a16:creationId xmlns:a16="http://schemas.microsoft.com/office/drawing/2014/main" id="{7146D890-A1D5-4B22-84D8-D7FA1578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2797" y="2771825"/>
            <a:ext cx="790885" cy="79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79000"/>
            </a:srgbClr>
          </a:solidFill>
          <a:ln xmlns:a="http://schemas.openxmlformats.org/drawingml/2006/main" w="9525">
            <a:solidFill>
              <a:srgbClr val="FFFFFF">
                <a:alpha val="8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matrix-item-title-0-0">
            <a:extLst xmlns:a="http://schemas.openxmlformats.org/drawingml/2006/main">
              <a:ext uri="{FF2B5EF4-FFF2-40B4-BE49-F238E27FC236}">
                <a16:creationId xmlns:a16="http://schemas.microsoft.com/office/drawing/2014/main" id="{E98ED508-A2A7-4BD1-B4AC-C6601AE9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0816" y="3075887"/>
            <a:ext cx="654856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异常预警</a:t>
            </a:r>
          </a:p>
        </p:txBody>
      </p:sp>
      <p:sp>
        <p:nvSpPr>
          <p:cNvPr id="31" name="matrix-item-1-0">
            <a:extLst xmlns:a="http://schemas.openxmlformats.org/drawingml/2006/main">
              <a:ext uri="{FF2B5EF4-FFF2-40B4-BE49-F238E27FC236}">
                <a16:creationId xmlns:a16="http://schemas.microsoft.com/office/drawing/2014/main" id="{514C32A0-6D61-4014-99E4-F79FC21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477" y="2826299"/>
            <a:ext cx="790885" cy="79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68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32" name="matrix-item-title-1-0">
            <a:extLst xmlns:a="http://schemas.openxmlformats.org/drawingml/2006/main">
              <a:ext uri="{FF2B5EF4-FFF2-40B4-BE49-F238E27FC236}">
                <a16:creationId xmlns:a16="http://schemas.microsoft.com/office/drawing/2014/main" id="{EF9B80EF-64DE-40A0-9DE9-B13C36C0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4496" y="3130362"/>
            <a:ext cx="654856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数据平台</a:t>
            </a:r>
          </a:p>
        </p:txBody>
      </p:sp>
      <p:sp>
        <p:nvSpPr>
          <p:cNvPr id="33" name="matrix-item-2-0">
            <a:extLst xmlns:a="http://schemas.openxmlformats.org/drawingml/2006/main">
              <a:ext uri="{FF2B5EF4-FFF2-40B4-BE49-F238E27FC236}">
                <a16:creationId xmlns:a16="http://schemas.microsoft.com/office/drawing/2014/main" id="{2FAB6180-8137-4BA4-8A5D-23F5A8E1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2797" y="4271745"/>
            <a:ext cx="790885" cy="79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68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34" name="matrix-item-title-2-0">
            <a:extLst xmlns:a="http://schemas.openxmlformats.org/drawingml/2006/main">
              <a:ext uri="{FF2B5EF4-FFF2-40B4-BE49-F238E27FC236}">
                <a16:creationId xmlns:a16="http://schemas.microsoft.com/office/drawing/2014/main" id="{78D9CC9E-8082-435C-9E2E-166773F8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0816" y="4575808"/>
            <a:ext cx="654856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报表美化</a:t>
            </a:r>
          </a:p>
        </p:txBody>
      </p:sp>
      <p:sp>
        <p:nvSpPr>
          <p:cNvPr id="35" name="matrix-item-3-0">
            <a:extLst xmlns:a="http://schemas.openxmlformats.org/drawingml/2006/main">
              <a:ext uri="{FF2B5EF4-FFF2-40B4-BE49-F238E27FC236}">
                <a16:creationId xmlns:a16="http://schemas.microsoft.com/office/drawing/2014/main" id="{3FE886E5-7ADA-41D4-B66F-4B08134A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477" y="4230968"/>
            <a:ext cx="790885" cy="79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74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36" name="matrix-item-title-3-0">
            <a:extLst xmlns:a="http://schemas.openxmlformats.org/drawingml/2006/main">
              <a:ext uri="{FF2B5EF4-FFF2-40B4-BE49-F238E27FC236}">
                <a16:creationId xmlns:a16="http://schemas.microsoft.com/office/drawing/2014/main" id="{4B728A23-8201-446A-8C27-CDBAF609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4496" y="4535031"/>
            <a:ext cx="654856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系统重构</a:t>
            </a:r>
          </a:p>
        </p:txBody>
      </p:sp>
      <p:sp>
        <p:nvSpPr>
          <p:cNvPr id="37" name="quadrant-title-0">
            <a:extLst xmlns:a="http://schemas.openxmlformats.org/drawingml/2006/main">
              <a:ext uri="{FF2B5EF4-FFF2-40B4-BE49-F238E27FC236}">
                <a16:creationId xmlns:a16="http://schemas.microsoft.com/office/drawing/2014/main" id="{9C325EE6-5D30-49FE-9236-C4390E05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6930" y="3554232"/>
            <a:ext cx="621813" cy="185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</p:txBody>
      </p:sp>
      <p:sp>
        <p:nvSpPr>
          <p:cNvPr id="38" name="quadrant-title-1">
            <a:extLst xmlns:a="http://schemas.openxmlformats.org/drawingml/2006/main">
              <a:ext uri="{FF2B5EF4-FFF2-40B4-BE49-F238E27FC236}">
                <a16:creationId xmlns:a16="http://schemas.microsoft.com/office/drawing/2014/main" id="{46D5777D-3F77-4A50-A934-49F97B75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1445" y="3554232"/>
            <a:ext cx="621813" cy="185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战略投入</a:t>
            </a:r>
          </a:p>
        </p:txBody>
      </p:sp>
      <p:sp>
        <p:nvSpPr>
          <p:cNvPr id="39" name="quadrant-title-2">
            <a:extLst xmlns:a="http://schemas.openxmlformats.org/drawingml/2006/main">
              <a:ext uri="{FF2B5EF4-FFF2-40B4-BE49-F238E27FC236}">
                <a16:creationId xmlns:a16="http://schemas.microsoft.com/office/drawing/2014/main" id="{27BA4366-6D98-4B92-8E97-238086DB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6930" y="4094491"/>
            <a:ext cx="621813" cy="185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择机优化</a:t>
            </a:r>
          </a:p>
        </p:txBody>
      </p:sp>
      <p:sp>
        <p:nvSpPr>
          <p:cNvPr id="40" name="quadrant-title-3">
            <a:extLst xmlns:a="http://schemas.openxmlformats.org/drawingml/2006/main">
              <a:ext uri="{FF2B5EF4-FFF2-40B4-BE49-F238E27FC236}">
                <a16:creationId xmlns:a16="http://schemas.microsoft.com/office/drawing/2014/main" id="{09384DE4-DE15-4F03-A33D-687263C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1445" y="4094491"/>
            <a:ext cx="621813" cy="185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谨慎评估</a:t>
            </a:r>
          </a:p>
        </p:txBody>
      </p:sp>
      <p:sp>
        <p:nvSpPr>
          <p:cNvPr id="41" name="matrix-x-axis">
            <a:extLst xmlns:a="http://schemas.openxmlformats.org/drawingml/2006/main">
              <a:ext uri="{FF2B5EF4-FFF2-40B4-BE49-F238E27FC236}">
                <a16:creationId xmlns:a16="http://schemas.microsoft.com/office/drawing/2014/main" id="{F87EBC8C-4813-4382-B53C-40B7CD59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3851" y="3917456"/>
            <a:ext cx="58226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61AE"/>
            </a:solidFill>
            <a:prstDash val="solid"/>
          </a:ln>
        </p:spPr>
      </p:sp>
      <p:sp>
        <p:nvSpPr>
          <p:cNvPr id="42" name="matrix-x-low-arrow">
            <a:extLst xmlns:a="http://schemas.openxmlformats.org/drawingml/2006/main">
              <a:ext uri="{FF2B5EF4-FFF2-40B4-BE49-F238E27FC236}">
                <a16:creationId xmlns:a16="http://schemas.microsoft.com/office/drawing/2014/main" id="{256A480B-9F68-4CC4-8B5B-F7746EC0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3851" y="3871078"/>
            <a:ext cx="88632" cy="92747"/>
          </a:xfrm>
          <a:custGeom xmlns:a="http://schemas.openxmlformats.org/drawingml/2006/main">
            <a:pathLst>
              <a:path w="88630" h="92745">
                <a:moveTo>
                  <a:pt x="0" y="46368"/>
                </a:moveTo>
                <a:lnTo>
                  <a:pt x="8163" y="41977"/>
                </a:lnTo>
                <a:lnTo>
                  <a:pt x="16335" y="37576"/>
                </a:lnTo>
                <a:lnTo>
                  <a:pt x="24498" y="33185"/>
                </a:lnTo>
                <a:lnTo>
                  <a:pt x="32661" y="28785"/>
                </a:lnTo>
                <a:lnTo>
                  <a:pt x="40834" y="24384"/>
                </a:lnTo>
                <a:lnTo>
                  <a:pt x="48997" y="19993"/>
                </a:lnTo>
                <a:lnTo>
                  <a:pt x="57160" y="15592"/>
                </a:lnTo>
                <a:lnTo>
                  <a:pt x="65332" y="11192"/>
                </a:lnTo>
                <a:lnTo>
                  <a:pt x="73495" y="6801"/>
                </a:lnTo>
                <a:lnTo>
                  <a:pt x="81658" y="2400"/>
                </a:lnTo>
                <a:lnTo>
                  <a:pt x="88630" y="0"/>
                </a:lnTo>
                <a:lnTo>
                  <a:pt x="88630" y="9277"/>
                </a:lnTo>
                <a:lnTo>
                  <a:pt x="88630" y="18545"/>
                </a:lnTo>
                <a:lnTo>
                  <a:pt x="88630" y="27823"/>
                </a:lnTo>
                <a:lnTo>
                  <a:pt x="88630" y="37100"/>
                </a:lnTo>
                <a:lnTo>
                  <a:pt x="88630" y="46368"/>
                </a:lnTo>
                <a:lnTo>
                  <a:pt x="88630" y="55645"/>
                </a:lnTo>
                <a:lnTo>
                  <a:pt x="88630" y="64922"/>
                </a:lnTo>
                <a:lnTo>
                  <a:pt x="88630" y="74200"/>
                </a:lnTo>
                <a:lnTo>
                  <a:pt x="88630" y="83468"/>
                </a:lnTo>
                <a:lnTo>
                  <a:pt x="88630" y="92745"/>
                </a:lnTo>
                <a:lnTo>
                  <a:pt x="81658" y="90345"/>
                </a:lnTo>
                <a:lnTo>
                  <a:pt x="73495" y="85944"/>
                </a:lnTo>
                <a:lnTo>
                  <a:pt x="65332" y="81553"/>
                </a:lnTo>
                <a:lnTo>
                  <a:pt x="57160" y="77153"/>
                </a:lnTo>
                <a:lnTo>
                  <a:pt x="48997" y="72752"/>
                </a:lnTo>
                <a:lnTo>
                  <a:pt x="40834" y="68361"/>
                </a:lnTo>
                <a:lnTo>
                  <a:pt x="32661" y="63960"/>
                </a:lnTo>
                <a:lnTo>
                  <a:pt x="24498" y="59560"/>
                </a:lnTo>
                <a:lnTo>
                  <a:pt x="16335" y="55169"/>
                </a:lnTo>
                <a:lnTo>
                  <a:pt x="8163" y="50768"/>
                </a:lnTo>
                <a:lnTo>
                  <a:pt x="0" y="46368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matrix-x-high-arrow">
            <a:extLst xmlns:a="http://schemas.openxmlformats.org/drawingml/2006/main">
              <a:ext uri="{FF2B5EF4-FFF2-40B4-BE49-F238E27FC236}">
                <a16:creationId xmlns:a16="http://schemas.microsoft.com/office/drawing/2014/main" id="{E6B4A934-1DDE-4BFB-A52F-78C98EB2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7857" y="3871078"/>
            <a:ext cx="88632" cy="92747"/>
          </a:xfrm>
          <a:custGeom xmlns:a="http://schemas.openxmlformats.org/drawingml/2006/main">
            <a:pathLst>
              <a:path w="88630" h="92745">
                <a:moveTo>
                  <a:pt x="88630" y="46368"/>
                </a:moveTo>
                <a:lnTo>
                  <a:pt x="80467" y="41977"/>
                </a:lnTo>
                <a:lnTo>
                  <a:pt x="72304" y="37576"/>
                </a:lnTo>
                <a:lnTo>
                  <a:pt x="64132" y="33185"/>
                </a:lnTo>
                <a:lnTo>
                  <a:pt x="55969" y="28785"/>
                </a:lnTo>
                <a:lnTo>
                  <a:pt x="47806" y="24384"/>
                </a:lnTo>
                <a:lnTo>
                  <a:pt x="39634" y="19993"/>
                </a:lnTo>
                <a:lnTo>
                  <a:pt x="31471" y="15592"/>
                </a:lnTo>
                <a:lnTo>
                  <a:pt x="23308" y="11192"/>
                </a:lnTo>
                <a:lnTo>
                  <a:pt x="15145" y="6801"/>
                </a:lnTo>
                <a:lnTo>
                  <a:pt x="6972" y="2400"/>
                </a:lnTo>
                <a:lnTo>
                  <a:pt x="0" y="0"/>
                </a:lnTo>
                <a:lnTo>
                  <a:pt x="0" y="9277"/>
                </a:lnTo>
                <a:lnTo>
                  <a:pt x="0" y="18545"/>
                </a:lnTo>
                <a:lnTo>
                  <a:pt x="0" y="27823"/>
                </a:lnTo>
                <a:lnTo>
                  <a:pt x="0" y="37100"/>
                </a:lnTo>
                <a:lnTo>
                  <a:pt x="0" y="46368"/>
                </a:lnTo>
                <a:lnTo>
                  <a:pt x="0" y="55645"/>
                </a:lnTo>
                <a:lnTo>
                  <a:pt x="0" y="64922"/>
                </a:lnTo>
                <a:lnTo>
                  <a:pt x="0" y="74200"/>
                </a:lnTo>
                <a:lnTo>
                  <a:pt x="0" y="83468"/>
                </a:lnTo>
                <a:lnTo>
                  <a:pt x="0" y="92745"/>
                </a:lnTo>
                <a:lnTo>
                  <a:pt x="6972" y="90345"/>
                </a:lnTo>
                <a:lnTo>
                  <a:pt x="15145" y="85944"/>
                </a:lnTo>
                <a:lnTo>
                  <a:pt x="23308" y="81553"/>
                </a:lnTo>
                <a:lnTo>
                  <a:pt x="31471" y="77153"/>
                </a:lnTo>
                <a:lnTo>
                  <a:pt x="39634" y="72752"/>
                </a:lnTo>
                <a:lnTo>
                  <a:pt x="47806" y="68361"/>
                </a:lnTo>
                <a:lnTo>
                  <a:pt x="55969" y="63960"/>
                </a:lnTo>
                <a:lnTo>
                  <a:pt x="64132" y="59560"/>
                </a:lnTo>
                <a:lnTo>
                  <a:pt x="72304" y="55169"/>
                </a:lnTo>
                <a:lnTo>
                  <a:pt x="80467" y="50768"/>
                </a:lnTo>
                <a:lnTo>
                  <a:pt x="88630" y="46368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matrix-y-axis">
            <a:extLst xmlns:a="http://schemas.openxmlformats.org/drawingml/2006/main">
              <a:ext uri="{FF2B5EF4-FFF2-40B4-BE49-F238E27FC236}">
                <a16:creationId xmlns:a16="http://schemas.microsoft.com/office/drawing/2014/main" id="{C7C6529D-636E-4CD2-9B5E-A2EFCE17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5175" y="2512930"/>
            <a:ext cx="0" cy="28090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61AE"/>
            </a:solidFill>
            <a:prstDash val="solid"/>
          </a:ln>
        </p:spPr>
      </p:sp>
      <p:sp>
        <p:nvSpPr>
          <p:cNvPr id="45" name="matrix-y-high-arrow">
            <a:extLst xmlns:a="http://schemas.openxmlformats.org/drawingml/2006/main">
              <a:ext uri="{FF2B5EF4-FFF2-40B4-BE49-F238E27FC236}">
                <a16:creationId xmlns:a16="http://schemas.microsoft.com/office/drawing/2014/main" id="{5FBFFA86-8188-4438-A93D-F4760DB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8797" y="2512930"/>
            <a:ext cx="92747" cy="88632"/>
          </a:xfrm>
          <a:custGeom xmlns:a="http://schemas.openxmlformats.org/drawingml/2006/main">
            <a:pathLst>
              <a:path w="92745" h="88630">
                <a:moveTo>
                  <a:pt x="46368" y="0"/>
                </a:moveTo>
                <a:lnTo>
                  <a:pt x="41977" y="8163"/>
                </a:lnTo>
                <a:lnTo>
                  <a:pt x="37576" y="16335"/>
                </a:lnTo>
                <a:lnTo>
                  <a:pt x="33185" y="24498"/>
                </a:lnTo>
                <a:lnTo>
                  <a:pt x="28785" y="32661"/>
                </a:lnTo>
                <a:lnTo>
                  <a:pt x="24384" y="40834"/>
                </a:lnTo>
                <a:lnTo>
                  <a:pt x="19993" y="48997"/>
                </a:lnTo>
                <a:lnTo>
                  <a:pt x="15592" y="57160"/>
                </a:lnTo>
                <a:lnTo>
                  <a:pt x="11192" y="65332"/>
                </a:lnTo>
                <a:lnTo>
                  <a:pt x="6801" y="73495"/>
                </a:lnTo>
                <a:lnTo>
                  <a:pt x="2400" y="81658"/>
                </a:lnTo>
                <a:lnTo>
                  <a:pt x="0" y="88630"/>
                </a:lnTo>
                <a:lnTo>
                  <a:pt x="9277" y="88630"/>
                </a:lnTo>
                <a:lnTo>
                  <a:pt x="18545" y="88630"/>
                </a:lnTo>
                <a:lnTo>
                  <a:pt x="27823" y="88630"/>
                </a:lnTo>
                <a:lnTo>
                  <a:pt x="37100" y="88630"/>
                </a:lnTo>
                <a:lnTo>
                  <a:pt x="46368" y="88630"/>
                </a:lnTo>
                <a:lnTo>
                  <a:pt x="55645" y="88630"/>
                </a:lnTo>
                <a:lnTo>
                  <a:pt x="64922" y="88630"/>
                </a:lnTo>
                <a:lnTo>
                  <a:pt x="74200" y="88630"/>
                </a:lnTo>
                <a:lnTo>
                  <a:pt x="83468" y="88630"/>
                </a:lnTo>
                <a:lnTo>
                  <a:pt x="92745" y="88630"/>
                </a:lnTo>
                <a:lnTo>
                  <a:pt x="90345" y="81658"/>
                </a:lnTo>
                <a:lnTo>
                  <a:pt x="85944" y="73495"/>
                </a:lnTo>
                <a:lnTo>
                  <a:pt x="81553" y="65332"/>
                </a:lnTo>
                <a:lnTo>
                  <a:pt x="77153" y="57160"/>
                </a:lnTo>
                <a:lnTo>
                  <a:pt x="72752" y="48997"/>
                </a:lnTo>
                <a:lnTo>
                  <a:pt x="68361" y="40834"/>
                </a:lnTo>
                <a:lnTo>
                  <a:pt x="63960" y="32661"/>
                </a:lnTo>
                <a:lnTo>
                  <a:pt x="59560" y="24498"/>
                </a:lnTo>
                <a:lnTo>
                  <a:pt x="55169" y="16335"/>
                </a:lnTo>
                <a:lnTo>
                  <a:pt x="50768" y="8163"/>
                </a:lnTo>
                <a:lnTo>
                  <a:pt x="46368" y="0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matrix-y-low-arrow">
            <a:extLst xmlns:a="http://schemas.openxmlformats.org/drawingml/2006/main">
              <a:ext uri="{FF2B5EF4-FFF2-40B4-BE49-F238E27FC236}">
                <a16:creationId xmlns:a16="http://schemas.microsoft.com/office/drawing/2014/main" id="{2813A61F-20C3-44A7-81AC-0684A02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8797" y="5233350"/>
            <a:ext cx="92747" cy="88632"/>
          </a:xfrm>
          <a:custGeom xmlns:a="http://schemas.openxmlformats.org/drawingml/2006/main">
            <a:pathLst>
              <a:path w="92745" h="88630">
                <a:moveTo>
                  <a:pt x="46368" y="88630"/>
                </a:moveTo>
                <a:lnTo>
                  <a:pt x="41977" y="80467"/>
                </a:lnTo>
                <a:lnTo>
                  <a:pt x="37576" y="72304"/>
                </a:lnTo>
                <a:lnTo>
                  <a:pt x="33185" y="64132"/>
                </a:lnTo>
                <a:lnTo>
                  <a:pt x="28785" y="55969"/>
                </a:lnTo>
                <a:lnTo>
                  <a:pt x="24384" y="47806"/>
                </a:lnTo>
                <a:lnTo>
                  <a:pt x="19993" y="39634"/>
                </a:lnTo>
                <a:lnTo>
                  <a:pt x="15592" y="31471"/>
                </a:lnTo>
                <a:lnTo>
                  <a:pt x="11192" y="23308"/>
                </a:lnTo>
                <a:lnTo>
                  <a:pt x="6801" y="15145"/>
                </a:lnTo>
                <a:lnTo>
                  <a:pt x="2400" y="6972"/>
                </a:lnTo>
                <a:lnTo>
                  <a:pt x="0" y="0"/>
                </a:lnTo>
                <a:lnTo>
                  <a:pt x="9277" y="0"/>
                </a:lnTo>
                <a:lnTo>
                  <a:pt x="18545" y="0"/>
                </a:lnTo>
                <a:lnTo>
                  <a:pt x="27823" y="0"/>
                </a:lnTo>
                <a:lnTo>
                  <a:pt x="37100" y="0"/>
                </a:lnTo>
                <a:lnTo>
                  <a:pt x="46368" y="0"/>
                </a:lnTo>
                <a:lnTo>
                  <a:pt x="55645" y="0"/>
                </a:lnTo>
                <a:lnTo>
                  <a:pt x="64922" y="0"/>
                </a:lnTo>
                <a:lnTo>
                  <a:pt x="74200" y="0"/>
                </a:lnTo>
                <a:lnTo>
                  <a:pt x="83468" y="0"/>
                </a:lnTo>
                <a:lnTo>
                  <a:pt x="92745" y="0"/>
                </a:lnTo>
                <a:lnTo>
                  <a:pt x="90345" y="6972"/>
                </a:lnTo>
                <a:lnTo>
                  <a:pt x="85944" y="15145"/>
                </a:lnTo>
                <a:lnTo>
                  <a:pt x="81553" y="23308"/>
                </a:lnTo>
                <a:lnTo>
                  <a:pt x="77153" y="31471"/>
                </a:lnTo>
                <a:lnTo>
                  <a:pt x="72752" y="39634"/>
                </a:lnTo>
                <a:lnTo>
                  <a:pt x="68361" y="47806"/>
                </a:lnTo>
                <a:lnTo>
                  <a:pt x="63960" y="55969"/>
                </a:lnTo>
                <a:lnTo>
                  <a:pt x="59560" y="64132"/>
                </a:lnTo>
                <a:lnTo>
                  <a:pt x="55169" y="72304"/>
                </a:lnTo>
                <a:lnTo>
                  <a:pt x="50768" y="80467"/>
                </a:lnTo>
                <a:lnTo>
                  <a:pt x="46368" y="88630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matrix-origin">
            <a:extLst xmlns:a="http://schemas.openxmlformats.org/drawingml/2006/main">
              <a:ext uri="{FF2B5EF4-FFF2-40B4-BE49-F238E27FC236}">
                <a16:creationId xmlns:a16="http://schemas.microsoft.com/office/drawing/2014/main" id="{91C3B05B-5241-4210-A245-9C675268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7320" y="3869602"/>
            <a:ext cx="95404" cy="954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61AE"/>
            </a:solidFill>
            <a:prstDash val="solid"/>
          </a:ln>
        </p:spPr>
      </p:sp>
      <p:sp>
        <p:nvSpPr>
          <p:cNvPr id="48" name="axis-x-low">
            <a:extLst xmlns:a="http://schemas.openxmlformats.org/drawingml/2006/main">
              <a:ext uri="{FF2B5EF4-FFF2-40B4-BE49-F238E27FC236}">
                <a16:creationId xmlns:a16="http://schemas.microsoft.com/office/drawing/2014/main" id="{FE9FA96E-3D96-4A70-BF26-1DA094D5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8288" y="3743393"/>
            <a:ext cx="762014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实施难度低</a:t>
            </a:r>
          </a:p>
        </p:txBody>
      </p:sp>
      <p:sp>
        <p:nvSpPr>
          <p:cNvPr id="49" name="axis-x-high">
            <a:extLst xmlns:a="http://schemas.openxmlformats.org/drawingml/2006/main">
              <a:ext uri="{FF2B5EF4-FFF2-40B4-BE49-F238E27FC236}">
                <a16:creationId xmlns:a16="http://schemas.microsoft.com/office/drawing/2014/main" id="{82F71E99-5E3A-4296-A048-1A0B332C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0038" y="3743393"/>
            <a:ext cx="762014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实施难度高</a:t>
            </a:r>
          </a:p>
        </p:txBody>
      </p:sp>
      <p:sp>
        <p:nvSpPr>
          <p:cNvPr id="50" name="axis-y-high">
            <a:extLst xmlns:a="http://schemas.openxmlformats.org/drawingml/2006/main">
              <a:ext uri="{FF2B5EF4-FFF2-40B4-BE49-F238E27FC236}">
                <a16:creationId xmlns:a16="http://schemas.microsoft.com/office/drawing/2014/main" id="{3B208E06-9041-4EE2-AA5C-AEC62789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4092" y="2308367"/>
            <a:ext cx="762014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业务价值高</a:t>
            </a:r>
          </a:p>
        </p:txBody>
      </p:sp>
      <p:sp>
        <p:nvSpPr>
          <p:cNvPr id="51" name="axis-y-low">
            <a:extLst xmlns:a="http://schemas.openxmlformats.org/drawingml/2006/main">
              <a:ext uri="{FF2B5EF4-FFF2-40B4-BE49-F238E27FC236}">
                <a16:creationId xmlns:a16="http://schemas.microsoft.com/office/drawing/2014/main" id="{AA105BC9-5EF2-461B-93AF-ABF45D9E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4092" y="5357473"/>
            <a:ext cx="762014" cy="182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业务价值低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43180" dist="61360" dir="5400000">
              <a:srgbClr val="3361AE">
                <a:alpha val="14000"/>
              </a:srgbClr>
            </a:outerShdw>
          </a:effectLst>
        </a:effectStyle>
        <a:effectStyle>
          <a:effectLst>
            <a:outerShdw blurRad="122720" dist="54540" dir="5400000">
              <a:srgbClr val="274A84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2026-09-23T07:39:14.2510000Z</dcterms:created>
  <dcterms:modified xsi:type="dcterms:W3CDTF">2026-09-23T07:39:14.2510000Z</dcterms:modified>
</coreProperties>
</file>