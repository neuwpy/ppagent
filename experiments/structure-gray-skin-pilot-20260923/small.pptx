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6037c9a2cc4059" /><Relationship Type="http://schemas.openxmlformats.org/officeDocument/2006/relationships/extended-properties" Target="/docProps/app.xml" Id="R9bb65d1a070a4fb6" /><Relationship Type="http://schemas.openxmlformats.org/officeDocument/2006/relationships/officeDocument" Target="/ppt/presentation.xml" Id="Rb51ef10e0bf947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0d4b5b078043f9"/>
    <p:sldMasterId xmlns:r="http://schemas.openxmlformats.org/officeDocument/2006/relationships" id="2147483660" r:id="R05601bf9b7194d1d"/>
    <p:sldMasterId xmlns:r="http://schemas.openxmlformats.org/officeDocument/2006/relationships" id="2147483663" r:id="Rb9f1bc2a76f84e19"/>
  </p:sldMasterIdLst>
  <p:notesMasterIdLst>
    <p:notesMasterId xmlns:r="http://schemas.openxmlformats.org/officeDocument/2006/relationships" r:id="R6f33420f7dee424a"/>
  </p:notesMasterIdLst>
  <p:sldIdLst>
    <p:sldId xmlns:r="http://schemas.openxmlformats.org/officeDocument/2006/relationships" id="256" r:id="R6f20ed5c1b4343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35a07290d14f15" /><Relationship Type="http://schemas.openxmlformats.org/officeDocument/2006/relationships/slideMaster" Target="/ppt/slideMasters/slideMaster1.xml" Id="R3c0d4b5b078043f9" /><Relationship Type="http://schemas.openxmlformats.org/officeDocument/2006/relationships/slideMaster" Target="/ppt/slideMasters/slideMaster2.xml" Id="R05601bf9b7194d1d" /><Relationship Type="http://schemas.openxmlformats.org/officeDocument/2006/relationships/slideMaster" Target="/ppt/slideMasters/slideMaster3.xml" Id="Rb9f1bc2a76f84e19" /><Relationship Type="http://schemas.openxmlformats.org/officeDocument/2006/relationships/notesMaster" Target="/ppt/notesMasters/notesMaster1.xml" Id="R6f33420f7dee424a" /><Relationship Type="http://schemas.openxmlformats.org/officeDocument/2006/relationships/presProps" Target="/ppt/presProps.xml" Id="R692877ebc1b54d1b" /><Relationship Type="http://schemas.openxmlformats.org/officeDocument/2006/relationships/viewProps" Target="/ppt/viewProps.xml" Id="Rba122629a9d94ee9" /><Relationship Type="http://schemas.openxmlformats.org/officeDocument/2006/relationships/tableStyles" Target="/ppt/tableStyles.xml" Id="R2ae5bc5761d74ba4" /><Relationship Type="http://schemas.openxmlformats.org/officeDocument/2006/relationships/slide" Target="/ppt/slides/slide1.xml" Id="R6f20ed5c1b4343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ea8e49ffe974b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16900" dist="50102" dir="5400000">
              <a:srgbClr val="3361AE">
                <a:alpha val="14000"/>
              </a:srgbClr>
            </a:outerShdw>
          </a:effectLst>
        </a:effectStyle>
        <a:effectStyle>
          <a:effectLst>
            <a:outerShdw blurRad="100203" dist="44539" dir="5400000">
              <a:srgbClr val="274A84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88d8d938ff475a" /><Relationship Type="http://schemas.openxmlformats.org/officeDocument/2006/relationships/notesMaster" Target="/ppt/notesMasters/notesMaster1.xml" Id="R14b563764af64a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内容：PPA 看板 State 预览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PPagenT：dashboard-matrix-quadrant-priority-001 → matrix-quadrant-priority-001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f2eea6685407d" /><Relationship Type="http://schemas.openxmlformats.org/officeDocument/2006/relationships/image" Target="/ppt/media/image.jpeg" Id="Rce22478ff1cc4863" /><Relationship Type="http://schemas.openxmlformats.org/officeDocument/2006/relationships/image" Target="/ppt/media/image.png" Id="R6b00ab6260104208" /><Relationship Type="http://schemas.openxmlformats.org/officeDocument/2006/relationships/image" Target="/ppt/media/image2.png" Id="R79d41604637c45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9a318bac045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853f1d7b24ab0" /><Relationship Type="http://schemas.openxmlformats.org/officeDocument/2006/relationships/image" Target="/ppt/media/image3.png" Id="R8e555664674e4c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2d83eb51040c6" /><Relationship Type="http://schemas.openxmlformats.org/officeDocument/2006/relationships/image" Target="/ppt/media/image4.png" Id="R343efb17659543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25c23012a49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82656e32a416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f65d932f147d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445edca3847b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512b4b34841d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eb33a57094c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5ea37ceb04a8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ad63a8827d44aa" /><Relationship Type="http://schemas.openxmlformats.org/officeDocument/2006/relationships/image" Target="/ppt/media/image5.png" Id="Ra5df4de2baa74b7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039084b5274f9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7e0779af3c84cde" /><Relationship Type="http://schemas.openxmlformats.org/officeDocument/2006/relationships/image" Target="/ppt/media/image5.png" Id="Re6b125ef744d434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91260984e9c473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2478ff1cc486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0ab626010420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41604637c45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55664674e4c8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efb17659543f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f4de2baa74b7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125ef744d434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0ca6fadba548b0" /><Relationship Type="http://schemas.openxmlformats.org/officeDocument/2006/relationships/slideLayout" Target="/ppt/slideLayouts/slideLayout1.xml" Id="R835e0308ec6e4b46" /><Relationship Type="http://schemas.openxmlformats.org/officeDocument/2006/relationships/slideLayout" Target="/ppt/slideLayouts/slideLayout2.xml" Id="R818970a8bf4c4b99" /><Relationship Type="http://schemas.openxmlformats.org/officeDocument/2006/relationships/slideLayout" Target="/ppt/slideLayouts/slideLayout3.xml" Id="R6a2efed4eea348ea" /><Relationship Type="http://schemas.openxmlformats.org/officeDocument/2006/relationships/slideLayout" Target="/ppt/slideLayouts/slideLayout4.xml" Id="R7678fc9566a74592" /><Relationship Type="http://schemas.openxmlformats.org/officeDocument/2006/relationships/slideLayout" Target="/ppt/slideLayouts/slideLayout5.xml" Id="Rffc2cd5b9179413d" /><Relationship Type="http://schemas.openxmlformats.org/officeDocument/2006/relationships/slideLayout" Target="/ppt/slideLayouts/slideLayout6.xml" Id="Ra47c2d2f289d41be" /><Relationship Type="http://schemas.openxmlformats.org/officeDocument/2006/relationships/slideLayout" Target="/ppt/slideLayouts/slideLayout7.xml" Id="Ra5b99d5d25f440eb" /><Relationship Type="http://schemas.openxmlformats.org/officeDocument/2006/relationships/slideLayout" Target="/ppt/slideLayouts/slideLayout8.xml" Id="Re8bf2164404648fd" /><Relationship Type="http://schemas.openxmlformats.org/officeDocument/2006/relationships/slideLayout" Target="/ppt/slideLayouts/slideLayout9.xml" Id="R7b0ba86b65de45e9" /><Relationship Type="http://schemas.openxmlformats.org/officeDocument/2006/relationships/slideLayout" Target="/ppt/slideLayouts/slideLayout10.xml" Id="Rd13cdfabcd694649" /><Relationship Type="http://schemas.openxmlformats.org/officeDocument/2006/relationships/slideLayout" Target="/ppt/slideLayouts/slideLayout11.xml" Id="R8c46159f9ae442c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e0c564dc7244a61" /><Relationship Type="http://schemas.openxmlformats.org/officeDocument/2006/relationships/slideLayout" Target="/ppt/slideLayouts/slideLayout12.xml" Id="Rb06c06c9af68484e" /><Relationship Type="http://schemas.openxmlformats.org/officeDocument/2006/relationships/slideLayout" Target="/ppt/slideLayouts/slideLayout13.xml" Id="Rd4f57f845bff47b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d01baed0e974229" /><Relationship Type="http://schemas.openxmlformats.org/officeDocument/2006/relationships/slideLayout" Target="/ppt/slideLayouts/slideLayout14.xml" Id="R12cb8c3005614eda" /><Relationship Type="http://schemas.openxmlformats.org/officeDocument/2006/relationships/slideLayout" Target="/ppt/slideLayouts/slideLayout15.xml" Id="R886ae34faa5744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e0308ec6e4b46"/>
    <p:sldLayoutId xmlns:r="http://schemas.openxmlformats.org/officeDocument/2006/relationships" id="2147483650" r:id="R818970a8bf4c4b99"/>
    <p:sldLayoutId xmlns:r="http://schemas.openxmlformats.org/officeDocument/2006/relationships" id="2147483651" r:id="R6a2efed4eea348ea"/>
    <p:sldLayoutId xmlns:r="http://schemas.openxmlformats.org/officeDocument/2006/relationships" id="2147483652" r:id="R7678fc9566a74592"/>
    <p:sldLayoutId xmlns:r="http://schemas.openxmlformats.org/officeDocument/2006/relationships" id="2147483653" r:id="Rffc2cd5b9179413d"/>
    <p:sldLayoutId xmlns:r="http://schemas.openxmlformats.org/officeDocument/2006/relationships" id="2147483654" r:id="Ra47c2d2f289d41be"/>
    <p:sldLayoutId xmlns:r="http://schemas.openxmlformats.org/officeDocument/2006/relationships" id="2147483655" r:id="Ra5b99d5d25f440eb"/>
    <p:sldLayoutId xmlns:r="http://schemas.openxmlformats.org/officeDocument/2006/relationships" id="2147483656" r:id="Re8bf2164404648fd"/>
    <p:sldLayoutId xmlns:r="http://schemas.openxmlformats.org/officeDocument/2006/relationships" id="2147483657" r:id="R7b0ba86b65de45e9"/>
    <p:sldLayoutId xmlns:r="http://schemas.openxmlformats.org/officeDocument/2006/relationships" id="2147483658" r:id="Rd13cdfabcd694649"/>
    <p:sldLayoutId xmlns:r="http://schemas.openxmlformats.org/officeDocument/2006/relationships" id="2147483659" r:id="R8c46159f9ae442c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06c06c9af68484e"/>
    <p:sldLayoutId xmlns:r="http://schemas.openxmlformats.org/officeDocument/2006/relationships" id="2147483662" r:id="Rd4f57f845bff47b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12cb8c3005614eda"/>
    <p:sldLayoutId xmlns:r="http://schemas.openxmlformats.org/officeDocument/2006/relationships" id="2147483665" r:id="R886ae34faa57448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4d333c97ef4423" /><Relationship Type="http://schemas.openxmlformats.org/officeDocument/2006/relationships/notesSlide" Target="/ppt/notesSlides/notesSlide1.xml" Id="Rf927924d4c0c4b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高价值、低难度事项应优先推进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结构图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gray-preview-structure-heading">
            <a:extLst xmlns:a="http://schemas.openxmlformats.org/drawingml/2006/main">
              <a:ext uri="{FF2B5EF4-FFF2-40B4-BE49-F238E27FC236}">
                <a16:creationId xmlns:a16="http://schemas.microsoft.com/office/drawing/2014/main" id="{3DBE3ACB-DF9A-4E57-82F9-E39EA6FB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04975"/>
            <a:ext cx="609052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项目组合定位</a:t>
            </a:r>
          </a:p>
        </p:txBody>
      </p:sp>
      <p:sp>
        <p:nvSpPr>
          <p:cNvPr id="16" name="gray-preview-card-1">
            <a:extLst xmlns:a="http://schemas.openxmlformats.org/drawingml/2006/main">
              <a:ext uri="{FF2B5EF4-FFF2-40B4-BE49-F238E27FC236}">
                <a16:creationId xmlns:a16="http://schemas.microsoft.com/office/drawing/2014/main" id="{2FBB28A0-1585-4903-82DF-349C7E4D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953" y="2266950"/>
            <a:ext cx="4463172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17" name="gray-preview-heading-1">
            <a:extLst xmlns:a="http://schemas.openxmlformats.org/drawingml/2006/main">
              <a:ext uri="{FF2B5EF4-FFF2-40B4-BE49-F238E27FC236}">
                <a16:creationId xmlns:a16="http://schemas.microsoft.com/office/drawing/2014/main" id="{6EE37418-5D66-474F-A2C8-C03CBD84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3" y="2409825"/>
            <a:ext cx="41202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18" name="gray-preview-body-1">
            <a:extLst xmlns:a="http://schemas.openxmlformats.org/drawingml/2006/main">
              <a:ext uri="{FF2B5EF4-FFF2-40B4-BE49-F238E27FC236}">
                <a16:creationId xmlns:a16="http://schemas.microsoft.com/office/drawing/2014/main" id="{C21139AE-D40D-4E6B-809E-2A807345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3" y="2790825"/>
            <a:ext cx="4120272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按业务价值和实施难度定位事项，再确定先后顺序。</a:t>
            </a:r>
          </a:p>
        </p:txBody>
      </p:sp>
      <p:sp>
        <p:nvSpPr>
          <p:cNvPr id="19" name="gray-preview-card-2">
            <a:extLst xmlns:a="http://schemas.openxmlformats.org/drawingml/2006/main">
              <a:ext uri="{FF2B5EF4-FFF2-40B4-BE49-F238E27FC236}">
                <a16:creationId xmlns:a16="http://schemas.microsoft.com/office/drawing/2014/main" id="{C08A301B-68FE-47E2-8227-1776C2D4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953" y="4019550"/>
            <a:ext cx="4463172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2"/>
            </a:solidFill>
            <a:prstDash val="solid"/>
          </a:ln>
        </p:spPr>
      </p:sp>
      <p:sp>
        <p:nvSpPr>
          <p:cNvPr id="20" name="gray-preview-heading-2">
            <a:extLst xmlns:a="http://schemas.openxmlformats.org/drawingml/2006/main">
              <a:ext uri="{FF2B5EF4-FFF2-40B4-BE49-F238E27FC236}">
                <a16:creationId xmlns:a16="http://schemas.microsoft.com/office/drawing/2014/main" id="{D84B68C6-B218-4B3C-9C0F-4735A09C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3" y="4162425"/>
            <a:ext cx="41202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行动解释</a:t>
            </a:r>
          </a:p>
        </p:txBody>
      </p:sp>
      <p:sp>
        <p:nvSpPr>
          <p:cNvPr id="21" name="gray-preview-body-2">
            <a:extLst xmlns:a="http://schemas.openxmlformats.org/drawingml/2006/main">
              <a:ext uri="{FF2B5EF4-FFF2-40B4-BE49-F238E27FC236}">
                <a16:creationId xmlns:a16="http://schemas.microsoft.com/office/drawing/2014/main" id="{9DE7ECF0-5002-4743-AA10-5E827DF6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3" y="4543425"/>
            <a:ext cx="4120272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异常预警先行；数据平台重点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投入；系统重构先验证收益。</a:t>
            </a:r>
          </a:p>
        </p:txBody>
      </p:sp>
      <p:sp>
        <p:nvSpPr>
          <p:cNvPr id="22" name="quadrant-field-0">
            <a:extLst xmlns:a="http://schemas.openxmlformats.org/drawingml/2006/main">
              <a:ext uri="{FF2B5EF4-FFF2-40B4-BE49-F238E27FC236}">
                <a16:creationId xmlns:a16="http://schemas.microsoft.com/office/drawing/2014/main" id="{49D2B597-93B1-4299-9D90-E7932EC2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54" y="2649351"/>
            <a:ext cx="3078397" cy="11912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quadrant-field-1">
            <a:extLst xmlns:a="http://schemas.openxmlformats.org/drawingml/2006/main">
              <a:ext uri="{FF2B5EF4-FFF2-40B4-BE49-F238E27FC236}">
                <a16:creationId xmlns:a16="http://schemas.microsoft.com/office/drawing/2014/main" id="{8569DF32-5C39-4E92-9CDA-5068D183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6569" y="2649351"/>
            <a:ext cx="2866902" cy="11912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quadrant-field-2">
            <a:extLst xmlns:a="http://schemas.openxmlformats.org/drawingml/2006/main">
              <a:ext uri="{FF2B5EF4-FFF2-40B4-BE49-F238E27FC236}">
                <a16:creationId xmlns:a16="http://schemas.microsoft.com/office/drawing/2014/main" id="{89EDD60C-075D-4DC9-A5D1-6B04300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54" y="3996553"/>
            <a:ext cx="3078397" cy="11912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quadrant-field-3">
            <a:extLst xmlns:a="http://schemas.openxmlformats.org/drawingml/2006/main">
              <a:ext uri="{FF2B5EF4-FFF2-40B4-BE49-F238E27FC236}">
                <a16:creationId xmlns:a16="http://schemas.microsoft.com/office/drawing/2014/main" id="{E6A28950-5517-4350-9205-06913784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6569" y="3996553"/>
            <a:ext cx="2866902" cy="11912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atrix-item-0-0">
            <a:extLst xmlns:a="http://schemas.openxmlformats.org/drawingml/2006/main">
              <a:ext uri="{FF2B5EF4-FFF2-40B4-BE49-F238E27FC236}">
                <a16:creationId xmlns:a16="http://schemas.microsoft.com/office/drawing/2014/main" id="{B94BBD05-F7EF-45BE-9AEC-CE1415C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2926" y="2983320"/>
            <a:ext cx="645621" cy="645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>
              <a:alpha val="79000"/>
            </a:srgbClr>
          </a:solidFill>
          <a:ln xmlns:a="http://schemas.openxmlformats.org/drawingml/2006/main" w="9525">
            <a:solidFill>
              <a:srgbClr val="FFFFFF">
                <a:alpha val="8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matrix-item-title-0-0">
            <a:extLst xmlns:a="http://schemas.openxmlformats.org/drawingml/2006/main">
              <a:ext uri="{FF2B5EF4-FFF2-40B4-BE49-F238E27FC236}">
                <a16:creationId xmlns:a16="http://schemas.microsoft.com/office/drawing/2014/main" id="{537AE779-F6E8-44EE-AB87-1ED5939A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1447" y="3123377"/>
            <a:ext cx="548589" cy="365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异常预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警</a:t>
            </a:r>
          </a:p>
        </p:txBody>
      </p:sp>
      <p:sp>
        <p:nvSpPr>
          <p:cNvPr id="28" name="matrix-item-1-0">
            <a:extLst xmlns:a="http://schemas.openxmlformats.org/drawingml/2006/main">
              <a:ext uri="{FF2B5EF4-FFF2-40B4-BE49-F238E27FC236}">
                <a16:creationId xmlns:a16="http://schemas.microsoft.com/office/drawing/2014/main" id="{369AB89B-4644-493D-AC35-4E45BBFC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879" y="3027822"/>
            <a:ext cx="645621" cy="645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>
              <a:alpha val="68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29" name="matrix-item-title-1-0">
            <a:extLst xmlns:a="http://schemas.openxmlformats.org/drawingml/2006/main">
              <a:ext uri="{FF2B5EF4-FFF2-40B4-BE49-F238E27FC236}">
                <a16:creationId xmlns:a16="http://schemas.microsoft.com/office/drawing/2014/main" id="{B2C3855A-E3FD-4D20-ABD8-F6D8DA8F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2390" y="3167869"/>
            <a:ext cx="548589" cy="365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数据平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台</a:t>
            </a:r>
          </a:p>
        </p:txBody>
      </p:sp>
      <p:sp>
        <p:nvSpPr>
          <p:cNvPr id="30" name="matrix-item-2-0">
            <a:extLst xmlns:a="http://schemas.openxmlformats.org/drawingml/2006/main">
              <a:ext uri="{FF2B5EF4-FFF2-40B4-BE49-F238E27FC236}">
                <a16:creationId xmlns:a16="http://schemas.microsoft.com/office/drawing/2014/main" id="{E3928FF9-241D-414A-9B3D-107C40E6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2926" y="4208048"/>
            <a:ext cx="645621" cy="645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>
              <a:alpha val="68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31" name="matrix-item-title-2-0">
            <a:extLst xmlns:a="http://schemas.openxmlformats.org/drawingml/2006/main">
              <a:ext uri="{FF2B5EF4-FFF2-40B4-BE49-F238E27FC236}">
                <a16:creationId xmlns:a16="http://schemas.microsoft.com/office/drawing/2014/main" id="{65B22FC8-8CE1-4B2E-9858-6215C730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1447" y="4348095"/>
            <a:ext cx="548589" cy="365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报表美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化</a:t>
            </a:r>
          </a:p>
        </p:txBody>
      </p:sp>
      <p:sp>
        <p:nvSpPr>
          <p:cNvPr id="32" name="matrix-item-3-0">
            <a:extLst xmlns:a="http://schemas.openxmlformats.org/drawingml/2006/main">
              <a:ext uri="{FF2B5EF4-FFF2-40B4-BE49-F238E27FC236}">
                <a16:creationId xmlns:a16="http://schemas.microsoft.com/office/drawing/2014/main" id="{E5CFACBE-9783-4DE3-8B0D-CEBD9213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3879" y="4174710"/>
            <a:ext cx="645621" cy="64562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1AE">
              <a:alpha val="74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33" name="matrix-item-title-3-0">
            <a:extLst xmlns:a="http://schemas.openxmlformats.org/drawingml/2006/main">
              <a:ext uri="{FF2B5EF4-FFF2-40B4-BE49-F238E27FC236}">
                <a16:creationId xmlns:a16="http://schemas.microsoft.com/office/drawing/2014/main" id="{2688A648-DA35-4ABF-BE46-4C18BD7D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2390" y="4314758"/>
            <a:ext cx="548589" cy="365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系统重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</a:t>
            </a:r>
          </a:p>
        </p:txBody>
      </p:sp>
      <p:sp>
        <p:nvSpPr>
          <p:cNvPr id="34" name="quadrant-title-0">
            <a:extLst xmlns:a="http://schemas.openxmlformats.org/drawingml/2006/main">
              <a:ext uri="{FF2B5EF4-FFF2-40B4-BE49-F238E27FC236}">
                <a16:creationId xmlns:a16="http://schemas.microsoft.com/office/drawing/2014/main" id="{962950D5-8763-4A76-AD4D-109CAA18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640" y="3588021"/>
            <a:ext cx="621808" cy="18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优先推进</a:t>
            </a:r>
          </a:p>
        </p:txBody>
      </p:sp>
      <p:sp>
        <p:nvSpPr>
          <p:cNvPr id="35" name="quadrant-title-1">
            <a:extLst xmlns:a="http://schemas.openxmlformats.org/drawingml/2006/main">
              <a:ext uri="{FF2B5EF4-FFF2-40B4-BE49-F238E27FC236}">
                <a16:creationId xmlns:a16="http://schemas.microsoft.com/office/drawing/2014/main" id="{CD8817D6-8EA8-4CB2-8C5D-484C50EA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0073" y="3588021"/>
            <a:ext cx="621808" cy="18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战略投入</a:t>
            </a:r>
          </a:p>
        </p:txBody>
      </p:sp>
      <p:sp>
        <p:nvSpPr>
          <p:cNvPr id="36" name="quadrant-title-2">
            <a:extLst xmlns:a="http://schemas.openxmlformats.org/drawingml/2006/main">
              <a:ext uri="{FF2B5EF4-FFF2-40B4-BE49-F238E27FC236}">
                <a16:creationId xmlns:a16="http://schemas.microsoft.com/office/drawing/2014/main" id="{D4B21EC1-4FFC-420B-BF53-B6E0C739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640" y="4063228"/>
            <a:ext cx="621808" cy="18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择机优化</a:t>
            </a:r>
          </a:p>
        </p:txBody>
      </p:sp>
      <p:sp>
        <p:nvSpPr>
          <p:cNvPr id="37" name="quadrant-title-3">
            <a:extLst xmlns:a="http://schemas.openxmlformats.org/drawingml/2006/main">
              <a:ext uri="{FF2B5EF4-FFF2-40B4-BE49-F238E27FC236}">
                <a16:creationId xmlns:a16="http://schemas.microsoft.com/office/drawing/2014/main" id="{8F3DCE45-3D44-4AC5-89D8-958AB41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0073" y="4063228"/>
            <a:ext cx="621808" cy="18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谨慎评估</a:t>
            </a:r>
          </a:p>
        </p:txBody>
      </p:sp>
      <p:sp>
        <p:nvSpPr>
          <p:cNvPr id="38" name="matrix-x-axis">
            <a:extLst xmlns:a="http://schemas.openxmlformats.org/drawingml/2006/main">
              <a:ext uri="{FF2B5EF4-FFF2-40B4-BE49-F238E27FC236}">
                <a16:creationId xmlns:a16="http://schemas.microsoft.com/office/drawing/2014/main" id="{27CF3D1C-1907-41CD-A43A-CA3B0649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282" y="3918647"/>
            <a:ext cx="475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61AE"/>
            </a:solidFill>
            <a:prstDash val="solid"/>
          </a:ln>
        </p:spPr>
      </p:sp>
      <p:sp>
        <p:nvSpPr>
          <p:cNvPr id="39" name="matrix-x-low-arrow">
            <a:extLst xmlns:a="http://schemas.openxmlformats.org/drawingml/2006/main">
              <a:ext uri="{FF2B5EF4-FFF2-40B4-BE49-F238E27FC236}">
                <a16:creationId xmlns:a16="http://schemas.microsoft.com/office/drawing/2014/main" id="{06FC1330-F06C-477F-A8D1-88712E1E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282" y="3880785"/>
            <a:ext cx="72372" cy="75725"/>
          </a:xfrm>
          <a:custGeom xmlns:a="http://schemas.openxmlformats.org/drawingml/2006/main">
            <a:pathLst>
              <a:path w="72371" h="75724">
                <a:moveTo>
                  <a:pt x="0" y="37862"/>
                </a:moveTo>
                <a:lnTo>
                  <a:pt x="6668" y="34271"/>
                </a:lnTo>
                <a:lnTo>
                  <a:pt x="13335" y="30680"/>
                </a:lnTo>
                <a:lnTo>
                  <a:pt x="20003" y="27089"/>
                </a:lnTo>
                <a:lnTo>
                  <a:pt x="26670" y="23498"/>
                </a:lnTo>
                <a:lnTo>
                  <a:pt x="33338" y="19917"/>
                </a:lnTo>
                <a:lnTo>
                  <a:pt x="40005" y="16326"/>
                </a:lnTo>
                <a:lnTo>
                  <a:pt x="46673" y="12735"/>
                </a:lnTo>
                <a:lnTo>
                  <a:pt x="53340" y="9144"/>
                </a:lnTo>
                <a:lnTo>
                  <a:pt x="60008" y="5553"/>
                </a:lnTo>
                <a:lnTo>
                  <a:pt x="66675" y="1962"/>
                </a:lnTo>
                <a:lnTo>
                  <a:pt x="72371" y="0"/>
                </a:lnTo>
                <a:lnTo>
                  <a:pt x="72371" y="7572"/>
                </a:lnTo>
                <a:lnTo>
                  <a:pt x="72371" y="15145"/>
                </a:lnTo>
                <a:lnTo>
                  <a:pt x="72371" y="22717"/>
                </a:lnTo>
                <a:lnTo>
                  <a:pt x="72371" y="30290"/>
                </a:lnTo>
                <a:lnTo>
                  <a:pt x="72371" y="37862"/>
                </a:lnTo>
                <a:lnTo>
                  <a:pt x="72371" y="45434"/>
                </a:lnTo>
                <a:lnTo>
                  <a:pt x="72371" y="53007"/>
                </a:lnTo>
                <a:lnTo>
                  <a:pt x="72371" y="60579"/>
                </a:lnTo>
                <a:lnTo>
                  <a:pt x="72371" y="68151"/>
                </a:lnTo>
                <a:lnTo>
                  <a:pt x="72371" y="75724"/>
                </a:lnTo>
                <a:lnTo>
                  <a:pt x="66675" y="73762"/>
                </a:lnTo>
                <a:lnTo>
                  <a:pt x="60008" y="70171"/>
                </a:lnTo>
                <a:lnTo>
                  <a:pt x="53340" y="66580"/>
                </a:lnTo>
                <a:lnTo>
                  <a:pt x="46673" y="62998"/>
                </a:lnTo>
                <a:lnTo>
                  <a:pt x="40005" y="59407"/>
                </a:lnTo>
                <a:lnTo>
                  <a:pt x="33338" y="55817"/>
                </a:lnTo>
                <a:lnTo>
                  <a:pt x="26670" y="52226"/>
                </a:lnTo>
                <a:lnTo>
                  <a:pt x="20003" y="48635"/>
                </a:lnTo>
                <a:lnTo>
                  <a:pt x="13335" y="45044"/>
                </a:lnTo>
                <a:lnTo>
                  <a:pt x="6668" y="41453"/>
                </a:lnTo>
                <a:lnTo>
                  <a:pt x="0" y="37862"/>
                </a:lnTo>
                <a:close/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matrix-x-high-arrow">
            <a:extLst xmlns:a="http://schemas.openxmlformats.org/drawingml/2006/main">
              <a:ext uri="{FF2B5EF4-FFF2-40B4-BE49-F238E27FC236}">
                <a16:creationId xmlns:a16="http://schemas.microsoft.com/office/drawing/2014/main" id="{59E6C4F7-B597-4328-8471-1A92C7ED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1011" y="3880785"/>
            <a:ext cx="72372" cy="75725"/>
          </a:xfrm>
          <a:custGeom xmlns:a="http://schemas.openxmlformats.org/drawingml/2006/main">
            <a:pathLst>
              <a:path w="72371" h="75724">
                <a:moveTo>
                  <a:pt x="72371" y="37862"/>
                </a:moveTo>
                <a:lnTo>
                  <a:pt x="65703" y="34271"/>
                </a:lnTo>
                <a:lnTo>
                  <a:pt x="59036" y="30680"/>
                </a:lnTo>
                <a:lnTo>
                  <a:pt x="52368" y="27089"/>
                </a:lnTo>
                <a:lnTo>
                  <a:pt x="45701" y="23498"/>
                </a:lnTo>
                <a:lnTo>
                  <a:pt x="39033" y="19917"/>
                </a:lnTo>
                <a:lnTo>
                  <a:pt x="32366" y="16326"/>
                </a:lnTo>
                <a:lnTo>
                  <a:pt x="25698" y="12735"/>
                </a:lnTo>
                <a:lnTo>
                  <a:pt x="19031" y="9144"/>
                </a:lnTo>
                <a:lnTo>
                  <a:pt x="12363" y="5553"/>
                </a:lnTo>
                <a:lnTo>
                  <a:pt x="5696" y="1962"/>
                </a:lnTo>
                <a:lnTo>
                  <a:pt x="0" y="0"/>
                </a:lnTo>
                <a:lnTo>
                  <a:pt x="0" y="7572"/>
                </a:lnTo>
                <a:lnTo>
                  <a:pt x="0" y="15145"/>
                </a:lnTo>
                <a:lnTo>
                  <a:pt x="0" y="22717"/>
                </a:lnTo>
                <a:lnTo>
                  <a:pt x="0" y="30290"/>
                </a:lnTo>
                <a:lnTo>
                  <a:pt x="0" y="37862"/>
                </a:lnTo>
                <a:lnTo>
                  <a:pt x="0" y="45434"/>
                </a:lnTo>
                <a:lnTo>
                  <a:pt x="0" y="53007"/>
                </a:lnTo>
                <a:lnTo>
                  <a:pt x="0" y="60579"/>
                </a:lnTo>
                <a:lnTo>
                  <a:pt x="0" y="68151"/>
                </a:lnTo>
                <a:lnTo>
                  <a:pt x="0" y="75724"/>
                </a:lnTo>
                <a:lnTo>
                  <a:pt x="5696" y="73762"/>
                </a:lnTo>
                <a:lnTo>
                  <a:pt x="12363" y="70171"/>
                </a:lnTo>
                <a:lnTo>
                  <a:pt x="19031" y="66580"/>
                </a:lnTo>
                <a:lnTo>
                  <a:pt x="25698" y="62998"/>
                </a:lnTo>
                <a:lnTo>
                  <a:pt x="32366" y="59407"/>
                </a:lnTo>
                <a:lnTo>
                  <a:pt x="39033" y="55817"/>
                </a:lnTo>
                <a:lnTo>
                  <a:pt x="45701" y="52226"/>
                </a:lnTo>
                <a:lnTo>
                  <a:pt x="52368" y="48635"/>
                </a:lnTo>
                <a:lnTo>
                  <a:pt x="59036" y="45044"/>
                </a:lnTo>
                <a:lnTo>
                  <a:pt x="65703" y="41453"/>
                </a:lnTo>
                <a:lnTo>
                  <a:pt x="72371" y="37862"/>
                </a:lnTo>
                <a:close/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matrix-y-axis">
            <a:extLst xmlns:a="http://schemas.openxmlformats.org/drawingml/2006/main">
              <a:ext uri="{FF2B5EF4-FFF2-40B4-BE49-F238E27FC236}">
                <a16:creationId xmlns:a16="http://schemas.microsoft.com/office/drawing/2014/main" id="{25CCA31C-947E-4730-AEAB-F109F2FF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6337" y="2771873"/>
            <a:ext cx="0" cy="22935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61AE"/>
            </a:solidFill>
            <a:prstDash val="solid"/>
          </a:ln>
        </p:spPr>
      </p:sp>
      <p:sp>
        <p:nvSpPr>
          <p:cNvPr id="42" name="matrix-y-high-arrow">
            <a:extLst xmlns:a="http://schemas.openxmlformats.org/drawingml/2006/main">
              <a:ext uri="{FF2B5EF4-FFF2-40B4-BE49-F238E27FC236}">
                <a16:creationId xmlns:a16="http://schemas.microsoft.com/office/drawing/2014/main" id="{2241C343-0799-4128-81A0-4CB0AA00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8465" y="2771873"/>
            <a:ext cx="75725" cy="72372"/>
          </a:xfrm>
          <a:custGeom xmlns:a="http://schemas.openxmlformats.org/drawingml/2006/main">
            <a:pathLst>
              <a:path w="75724" h="72371">
                <a:moveTo>
                  <a:pt x="37862" y="0"/>
                </a:moveTo>
                <a:lnTo>
                  <a:pt x="34271" y="6668"/>
                </a:lnTo>
                <a:lnTo>
                  <a:pt x="30680" y="13335"/>
                </a:lnTo>
                <a:lnTo>
                  <a:pt x="27089" y="20003"/>
                </a:lnTo>
                <a:lnTo>
                  <a:pt x="23498" y="26670"/>
                </a:lnTo>
                <a:lnTo>
                  <a:pt x="19907" y="33338"/>
                </a:lnTo>
                <a:lnTo>
                  <a:pt x="16326" y="40005"/>
                </a:lnTo>
                <a:lnTo>
                  <a:pt x="12735" y="46673"/>
                </a:lnTo>
                <a:lnTo>
                  <a:pt x="9144" y="53340"/>
                </a:lnTo>
                <a:lnTo>
                  <a:pt x="5553" y="60008"/>
                </a:lnTo>
                <a:lnTo>
                  <a:pt x="1962" y="66675"/>
                </a:lnTo>
                <a:lnTo>
                  <a:pt x="0" y="72371"/>
                </a:lnTo>
                <a:lnTo>
                  <a:pt x="7572" y="72371"/>
                </a:lnTo>
                <a:lnTo>
                  <a:pt x="15145" y="72371"/>
                </a:lnTo>
                <a:lnTo>
                  <a:pt x="22717" y="72371"/>
                </a:lnTo>
                <a:lnTo>
                  <a:pt x="30290" y="72371"/>
                </a:lnTo>
                <a:lnTo>
                  <a:pt x="37862" y="72371"/>
                </a:lnTo>
                <a:lnTo>
                  <a:pt x="45434" y="72371"/>
                </a:lnTo>
                <a:lnTo>
                  <a:pt x="53007" y="72371"/>
                </a:lnTo>
                <a:lnTo>
                  <a:pt x="60579" y="72371"/>
                </a:lnTo>
                <a:lnTo>
                  <a:pt x="68151" y="72371"/>
                </a:lnTo>
                <a:lnTo>
                  <a:pt x="75724" y="72371"/>
                </a:lnTo>
                <a:lnTo>
                  <a:pt x="73762" y="66675"/>
                </a:lnTo>
                <a:lnTo>
                  <a:pt x="70171" y="60008"/>
                </a:lnTo>
                <a:lnTo>
                  <a:pt x="66580" y="53340"/>
                </a:lnTo>
                <a:lnTo>
                  <a:pt x="62989" y="46673"/>
                </a:lnTo>
                <a:lnTo>
                  <a:pt x="59407" y="40005"/>
                </a:lnTo>
                <a:lnTo>
                  <a:pt x="55817" y="33338"/>
                </a:lnTo>
                <a:lnTo>
                  <a:pt x="52226" y="26670"/>
                </a:lnTo>
                <a:lnTo>
                  <a:pt x="48635" y="20003"/>
                </a:lnTo>
                <a:lnTo>
                  <a:pt x="45044" y="13335"/>
                </a:lnTo>
                <a:lnTo>
                  <a:pt x="41453" y="6668"/>
                </a:lnTo>
                <a:lnTo>
                  <a:pt x="37862" y="0"/>
                </a:lnTo>
                <a:close/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matrix-y-low-arrow">
            <a:extLst xmlns:a="http://schemas.openxmlformats.org/drawingml/2006/main">
              <a:ext uri="{FF2B5EF4-FFF2-40B4-BE49-F238E27FC236}">
                <a16:creationId xmlns:a16="http://schemas.microsoft.com/office/drawing/2014/main" id="{27E9EA63-EE70-4A5B-826A-9A5F1A98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8465" y="4993049"/>
            <a:ext cx="75725" cy="72372"/>
          </a:xfrm>
          <a:custGeom xmlns:a="http://schemas.openxmlformats.org/drawingml/2006/main">
            <a:pathLst>
              <a:path w="75724" h="72371">
                <a:moveTo>
                  <a:pt x="37862" y="72371"/>
                </a:moveTo>
                <a:lnTo>
                  <a:pt x="34271" y="65703"/>
                </a:lnTo>
                <a:lnTo>
                  <a:pt x="30680" y="59036"/>
                </a:lnTo>
                <a:lnTo>
                  <a:pt x="27089" y="52368"/>
                </a:lnTo>
                <a:lnTo>
                  <a:pt x="23498" y="45701"/>
                </a:lnTo>
                <a:lnTo>
                  <a:pt x="19907" y="39033"/>
                </a:lnTo>
                <a:lnTo>
                  <a:pt x="16326" y="32366"/>
                </a:lnTo>
                <a:lnTo>
                  <a:pt x="12735" y="25698"/>
                </a:lnTo>
                <a:lnTo>
                  <a:pt x="9144" y="19031"/>
                </a:lnTo>
                <a:lnTo>
                  <a:pt x="5553" y="12363"/>
                </a:lnTo>
                <a:lnTo>
                  <a:pt x="1962" y="5696"/>
                </a:lnTo>
                <a:lnTo>
                  <a:pt x="0" y="0"/>
                </a:lnTo>
                <a:lnTo>
                  <a:pt x="7572" y="0"/>
                </a:lnTo>
                <a:lnTo>
                  <a:pt x="15145" y="0"/>
                </a:lnTo>
                <a:lnTo>
                  <a:pt x="22717" y="0"/>
                </a:lnTo>
                <a:lnTo>
                  <a:pt x="30290" y="0"/>
                </a:lnTo>
                <a:lnTo>
                  <a:pt x="37862" y="0"/>
                </a:lnTo>
                <a:lnTo>
                  <a:pt x="45434" y="0"/>
                </a:lnTo>
                <a:lnTo>
                  <a:pt x="53007" y="0"/>
                </a:lnTo>
                <a:lnTo>
                  <a:pt x="60579" y="0"/>
                </a:lnTo>
                <a:lnTo>
                  <a:pt x="68151" y="0"/>
                </a:lnTo>
                <a:lnTo>
                  <a:pt x="75724" y="0"/>
                </a:lnTo>
                <a:lnTo>
                  <a:pt x="73762" y="5696"/>
                </a:lnTo>
                <a:lnTo>
                  <a:pt x="70171" y="12363"/>
                </a:lnTo>
                <a:lnTo>
                  <a:pt x="66580" y="19031"/>
                </a:lnTo>
                <a:lnTo>
                  <a:pt x="62989" y="25698"/>
                </a:lnTo>
                <a:lnTo>
                  <a:pt x="59407" y="32366"/>
                </a:lnTo>
                <a:lnTo>
                  <a:pt x="55817" y="39033"/>
                </a:lnTo>
                <a:lnTo>
                  <a:pt x="52226" y="45701"/>
                </a:lnTo>
                <a:lnTo>
                  <a:pt x="48635" y="52368"/>
                </a:lnTo>
                <a:lnTo>
                  <a:pt x="45044" y="59036"/>
                </a:lnTo>
                <a:lnTo>
                  <a:pt x="41453" y="65703"/>
                </a:lnTo>
                <a:lnTo>
                  <a:pt x="37862" y="72371"/>
                </a:lnTo>
                <a:close/>
              </a:path>
            </a:pathLst>
          </a:custGeom>
          <a:solidFill xmlns:a="http://schemas.openxmlformats.org/drawingml/2006/main">
            <a:srgbClr val="3361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matrix-origin">
            <a:extLst xmlns:a="http://schemas.openxmlformats.org/drawingml/2006/main">
              <a:ext uri="{FF2B5EF4-FFF2-40B4-BE49-F238E27FC236}">
                <a16:creationId xmlns:a16="http://schemas.microsoft.com/office/drawing/2014/main" id="{51AD2AD6-E409-4CAD-8AF1-41F9440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7265" y="3879575"/>
            <a:ext cx="77839" cy="778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361AE"/>
            </a:solidFill>
            <a:prstDash val="solid"/>
          </a:ln>
        </p:spPr>
      </p:sp>
      <p:sp>
        <p:nvSpPr>
          <p:cNvPr id="45" name="axis-x-low">
            <a:extLst xmlns:a="http://schemas.openxmlformats.org/drawingml/2006/main">
              <a:ext uri="{FF2B5EF4-FFF2-40B4-BE49-F238E27FC236}">
                <a16:creationId xmlns:a16="http://schemas.microsoft.com/office/drawing/2014/main" id="{FA3A5F4C-B3D8-41FF-BD9C-76ED6BB0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3802" y="3963072"/>
            <a:ext cx="762008" cy="18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实施难度低</a:t>
            </a:r>
          </a:p>
        </p:txBody>
      </p:sp>
      <p:sp>
        <p:nvSpPr>
          <p:cNvPr id="46" name="axis-x-high">
            <a:extLst xmlns:a="http://schemas.openxmlformats.org/drawingml/2006/main">
              <a:ext uri="{FF2B5EF4-FFF2-40B4-BE49-F238E27FC236}">
                <a16:creationId xmlns:a16="http://schemas.microsoft.com/office/drawing/2014/main" id="{C027A9E3-49FA-4D44-B8E2-FADE838D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6854" y="3963072"/>
            <a:ext cx="762008" cy="18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实施难度高</a:t>
            </a:r>
          </a:p>
        </p:txBody>
      </p:sp>
      <p:sp>
        <p:nvSpPr>
          <p:cNvPr id="47" name="axis-y-high">
            <a:extLst xmlns:a="http://schemas.openxmlformats.org/drawingml/2006/main">
              <a:ext uri="{FF2B5EF4-FFF2-40B4-BE49-F238E27FC236}">
                <a16:creationId xmlns:a16="http://schemas.microsoft.com/office/drawing/2014/main" id="{6A93C173-5AE6-40A2-960D-6C0B156D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5257" y="2604850"/>
            <a:ext cx="762008" cy="18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业务价值高</a:t>
            </a:r>
          </a:p>
        </p:txBody>
      </p:sp>
      <p:sp>
        <p:nvSpPr>
          <p:cNvPr id="48" name="axis-y-low">
            <a:extLst xmlns:a="http://schemas.openxmlformats.org/drawingml/2006/main">
              <a:ext uri="{FF2B5EF4-FFF2-40B4-BE49-F238E27FC236}">
                <a16:creationId xmlns:a16="http://schemas.microsoft.com/office/drawing/2014/main" id="{FB3940C3-5053-4853-BA70-E12EF075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5257" y="5060840"/>
            <a:ext cx="762008" cy="182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业务价值低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16900" dist="50102" dir="5400000">
              <a:srgbClr val="3361AE">
                <a:alpha val="14000"/>
              </a:srgbClr>
            </a:outerShdw>
          </a:effectLst>
        </a:effectStyle>
        <a:effectStyle>
          <a:effectLst>
            <a:outerShdw blurRad="100203" dist="44539" dir="5400000">
              <a:srgbClr val="274A84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2026-09-23T07:39:14.4570000Z</dcterms:created>
  <dcterms:modified xsi:type="dcterms:W3CDTF">2026-09-23T07:39:14.4570000Z</dcterms:modified>
</coreProperties>
</file>