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ea7cf7abb2454d" /><Relationship Type="http://schemas.openxmlformats.org/officeDocument/2006/relationships/extended-properties" Target="/docProps/app.xml" Id="Rd266377e66ce4f1d" /><Relationship Type="http://schemas.openxmlformats.org/officeDocument/2006/relationships/officeDocument" Target="/ppt/presentation.xml" Id="R75d649e977b94c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4a9da2dde84112"/>
    <p:sldMasterId xmlns:r="http://schemas.openxmlformats.org/officeDocument/2006/relationships" id="2147483660" r:id="Rd6edf54ff5824ed3"/>
    <p:sldMasterId xmlns:r="http://schemas.openxmlformats.org/officeDocument/2006/relationships" id="2147483663" r:id="Rde5c1919e2bd4b8c"/>
  </p:sldMasterIdLst>
  <p:notesMasterIdLst>
    <p:notesMasterId xmlns:r="http://schemas.openxmlformats.org/officeDocument/2006/relationships" r:id="Rc7a0c40301f54a6c"/>
  </p:notesMasterIdLst>
  <p:sldIdLst>
    <p:sldId xmlns:r="http://schemas.openxmlformats.org/officeDocument/2006/relationships" id="256" r:id="R0cdcb2f4d2a34f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a07e6cc9444c08" /><Relationship Type="http://schemas.openxmlformats.org/officeDocument/2006/relationships/slideMaster" Target="/ppt/slideMasters/slideMaster1.xml" Id="Rbb4a9da2dde84112" /><Relationship Type="http://schemas.openxmlformats.org/officeDocument/2006/relationships/slideMaster" Target="/ppt/slideMasters/slideMaster2.xml" Id="Rd6edf54ff5824ed3" /><Relationship Type="http://schemas.openxmlformats.org/officeDocument/2006/relationships/slideMaster" Target="/ppt/slideMasters/slideMaster3.xml" Id="Rde5c1919e2bd4b8c" /><Relationship Type="http://schemas.openxmlformats.org/officeDocument/2006/relationships/notesMaster" Target="/ppt/notesMasters/notesMaster1.xml" Id="Rc7a0c40301f54a6c" /><Relationship Type="http://schemas.openxmlformats.org/officeDocument/2006/relationships/presProps" Target="/ppt/presProps.xml" Id="R5c0592801d264791" /><Relationship Type="http://schemas.openxmlformats.org/officeDocument/2006/relationships/viewProps" Target="/ppt/viewProps.xml" Id="R7d3d7eaeffa24fb0" /><Relationship Type="http://schemas.openxmlformats.org/officeDocument/2006/relationships/tableStyles" Target="/ppt/tableStyles.xml" Id="Rc913e0d45bc64d1b" /><Relationship Type="http://schemas.openxmlformats.org/officeDocument/2006/relationships/slide" Target="/ppt/slides/slide1.xml" Id="R0cdcb2f4d2a34f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57f90a4704f244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06dd4158fa4a78" /><Relationship Type="http://schemas.openxmlformats.org/officeDocument/2006/relationships/notesMaster" Target="/ppt/notesMasters/notesMaster1.xml" Id="R47e1f8c9189248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Frozen gray input: experiments/home-gray-magazine-20260919/input/gray-state.json and gray.pptx</a:t>
            </a:r>
            <a:endParaRPr/>
          </a:p>
          <a:p xmlns:a="http://schemas.openxmlformats.org/drawingml/2006/main">
            <a:r>
              <a:t>- Source manuscript is retained in gray-state.json:sources.</a:t>
            </a:r>
            <a:endParaRPr/>
          </a:p>
          <a:p xmlns:a="http://schemas.openxmlformats.org/drawingml/2006/main">
            <a:r>
              <a:t>- Style: rules/排版体系/麦肯锡式.md and original Northeastern University template</a:t>
            </a:r>
            <a:endParaRPr/>
          </a:p>
          <a:p xmlns:a="http://schemas.openxmlformats.org/drawingml/2006/main">
            <a:r>
              <a:t>- Visual direction: docs/方向讨论/20260920.md and user image Pasted image 20260920005649.png; visual principles only, no added factual copy</a:t>
            </a:r>
            <a:endParaRPr/>
          </a:p>
          <a:p xmlns:a="http://schemas.openxmlformats.org/drawingml/2006/main">
            <a:r>
              <a:t>- Structure: convergence-many-to-one-003, task-local geometry adaptation from review.mjs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d04be515e04211" /><Relationship Type="http://schemas.openxmlformats.org/officeDocument/2006/relationships/image" Target="/ppt/media/image.jpeg" Id="R389689fdc9d04931" /><Relationship Type="http://schemas.openxmlformats.org/officeDocument/2006/relationships/image" Target="/ppt/media/image.png" Id="R30ec5996fceb49f9" /><Relationship Type="http://schemas.openxmlformats.org/officeDocument/2006/relationships/image" Target="/ppt/media/image2.png" Id="R61b184a2e7f649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a7d684028642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f198579b1c47fe" /><Relationship Type="http://schemas.openxmlformats.org/officeDocument/2006/relationships/image" Target="/ppt/media/image3.png" Id="Rd18d5d6b32ff46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1afe5bba934388" /><Relationship Type="http://schemas.openxmlformats.org/officeDocument/2006/relationships/image" Target="/ppt/media/image4.png" Id="R75e70ea7be7845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61d4605f2d45e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f94e3e1059445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8263ce68ca45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81eeca0601469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89757a9ad74f5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f2e220bdb542e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125c8700674fc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ed6892bb9f4201" /><Relationship Type="http://schemas.openxmlformats.org/officeDocument/2006/relationships/image" Target="/ppt/media/image5.png" Id="R690efb5f97c0435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00aa6d531746c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203ef8f2c4a429e" /><Relationship Type="http://schemas.openxmlformats.org/officeDocument/2006/relationships/image" Target="/ppt/media/image5.png" Id="R8a7846321a0946c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6064f06b7be47de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689fdc9d04931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ec5996fceb49f9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184a2e7f649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d5d6b32ff461d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e70ea7be784579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efb5f97c0435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846321a0946c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761a041fcc4baf" /><Relationship Type="http://schemas.openxmlformats.org/officeDocument/2006/relationships/slideLayout" Target="/ppt/slideLayouts/slideLayout1.xml" Id="Rcfc9e4ba219a48d3" /><Relationship Type="http://schemas.openxmlformats.org/officeDocument/2006/relationships/slideLayout" Target="/ppt/slideLayouts/slideLayout2.xml" Id="R1f82b61e13e04d50" /><Relationship Type="http://schemas.openxmlformats.org/officeDocument/2006/relationships/slideLayout" Target="/ppt/slideLayouts/slideLayout3.xml" Id="Rab6a13b9676f4b09" /><Relationship Type="http://schemas.openxmlformats.org/officeDocument/2006/relationships/slideLayout" Target="/ppt/slideLayouts/slideLayout4.xml" Id="R5989f270272b427f" /><Relationship Type="http://schemas.openxmlformats.org/officeDocument/2006/relationships/slideLayout" Target="/ppt/slideLayouts/slideLayout5.xml" Id="R16ae664e9d59428b" /><Relationship Type="http://schemas.openxmlformats.org/officeDocument/2006/relationships/slideLayout" Target="/ppt/slideLayouts/slideLayout6.xml" Id="R104702493ada4b44" /><Relationship Type="http://schemas.openxmlformats.org/officeDocument/2006/relationships/slideLayout" Target="/ppt/slideLayouts/slideLayout7.xml" Id="Re8af5a55a05142cb" /><Relationship Type="http://schemas.openxmlformats.org/officeDocument/2006/relationships/slideLayout" Target="/ppt/slideLayouts/slideLayout8.xml" Id="R96436330e44045fb" /><Relationship Type="http://schemas.openxmlformats.org/officeDocument/2006/relationships/slideLayout" Target="/ppt/slideLayouts/slideLayout9.xml" Id="R4d2202b1600240bb" /><Relationship Type="http://schemas.openxmlformats.org/officeDocument/2006/relationships/slideLayout" Target="/ppt/slideLayouts/slideLayout10.xml" Id="R49a5ceee9488445c" /><Relationship Type="http://schemas.openxmlformats.org/officeDocument/2006/relationships/slideLayout" Target="/ppt/slideLayouts/slideLayout11.xml" Id="R4aaa229438844e6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d40b12ad30e46ea" /><Relationship Type="http://schemas.openxmlformats.org/officeDocument/2006/relationships/slideLayout" Target="/ppt/slideLayouts/slideLayout12.xml" Id="R8b2461e518a8464e" /><Relationship Type="http://schemas.openxmlformats.org/officeDocument/2006/relationships/slideLayout" Target="/ppt/slideLayouts/slideLayout13.xml" Id="Rda97c840667048f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65c1b6dd92e34ab0" /><Relationship Type="http://schemas.openxmlformats.org/officeDocument/2006/relationships/slideLayout" Target="/ppt/slideLayouts/slideLayout14.xml" Id="R32048cd7705f47ca" /><Relationship Type="http://schemas.openxmlformats.org/officeDocument/2006/relationships/slideLayout" Target="/ppt/slideLayouts/slideLayout15.xml" Id="R407c8614de864e7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c9e4ba219a48d3"/>
    <p:sldLayoutId xmlns:r="http://schemas.openxmlformats.org/officeDocument/2006/relationships" id="2147483650" r:id="R1f82b61e13e04d50"/>
    <p:sldLayoutId xmlns:r="http://schemas.openxmlformats.org/officeDocument/2006/relationships" id="2147483651" r:id="Rab6a13b9676f4b09"/>
    <p:sldLayoutId xmlns:r="http://schemas.openxmlformats.org/officeDocument/2006/relationships" id="2147483652" r:id="R5989f270272b427f"/>
    <p:sldLayoutId xmlns:r="http://schemas.openxmlformats.org/officeDocument/2006/relationships" id="2147483653" r:id="R16ae664e9d59428b"/>
    <p:sldLayoutId xmlns:r="http://schemas.openxmlformats.org/officeDocument/2006/relationships" id="2147483654" r:id="R104702493ada4b44"/>
    <p:sldLayoutId xmlns:r="http://schemas.openxmlformats.org/officeDocument/2006/relationships" id="2147483655" r:id="Re8af5a55a05142cb"/>
    <p:sldLayoutId xmlns:r="http://schemas.openxmlformats.org/officeDocument/2006/relationships" id="2147483656" r:id="R96436330e44045fb"/>
    <p:sldLayoutId xmlns:r="http://schemas.openxmlformats.org/officeDocument/2006/relationships" id="2147483657" r:id="R4d2202b1600240bb"/>
    <p:sldLayoutId xmlns:r="http://schemas.openxmlformats.org/officeDocument/2006/relationships" id="2147483658" r:id="R49a5ceee9488445c"/>
    <p:sldLayoutId xmlns:r="http://schemas.openxmlformats.org/officeDocument/2006/relationships" id="2147483659" r:id="R4aaa229438844e6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b2461e518a8464e"/>
    <p:sldLayoutId xmlns:r="http://schemas.openxmlformats.org/officeDocument/2006/relationships" id="2147483662" r:id="Rda97c840667048fd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32048cd7705f47ca"/>
    <p:sldLayoutId xmlns:r="http://schemas.openxmlformats.org/officeDocument/2006/relationships" id="2147483665" r:id="R407c8614de864e7e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d3161b11c794df8" /><Relationship Type="http://schemas.openxmlformats.org/officeDocument/2006/relationships/notesSlide" Target="/ppt/notesSlides/notesSlide1.xml" Id="Rb9dd5f290d6f4ba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变革落地仍存三项短板，合规基础管理亦待压实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不足感悟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issues-0">
            <a:extLst xmlns:a="http://schemas.openxmlformats.org/drawingml/2006/main">
              <a:ext uri="{FF2B5EF4-FFF2-40B4-BE49-F238E27FC236}">
                <a16:creationId xmlns:a16="http://schemas.microsoft.com/office/drawing/2014/main" id="{79725DD8-ACEB-4F83-89E0-93FA3F31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51616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两点不足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B09A3B-2D89-4E5D-AC9E-2A8085B2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17" name="implementation-number-0">
            <a:extLst xmlns:a="http://schemas.openxmlformats.org/drawingml/2006/main">
              <a:ext uri="{FF2B5EF4-FFF2-40B4-BE49-F238E27FC236}">
                <a16:creationId xmlns:a16="http://schemas.microsoft.com/office/drawing/2014/main" id="{9F7FD09A-1A25-41AA-AE2A-C3A99492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implementation-label-0">
            <a:extLst xmlns:a="http://schemas.openxmlformats.org/drawingml/2006/main">
              <a:ext uri="{FF2B5EF4-FFF2-40B4-BE49-F238E27FC236}">
                <a16:creationId xmlns:a16="http://schemas.microsoft.com/office/drawing/2014/main" id="{9129CEED-1658-46D2-8C72-41CBF5F7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000250"/>
            <a:ext cx="46282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变革落地阻力重重</a:t>
            </a:r>
          </a:p>
        </p:txBody>
      </p:sp>
      <p:sp>
        <p:nvSpPr>
          <p:cNvPr id="19" name="implementation-context-0">
            <a:extLst xmlns:a="http://schemas.openxmlformats.org/drawingml/2006/main">
              <a:ext uri="{FF2B5EF4-FFF2-40B4-BE49-F238E27FC236}">
                <a16:creationId xmlns:a16="http://schemas.microsoft.com/office/drawing/2014/main" id="{2D7956C4-8ABA-4AED-B3B9-0A01D1B6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42960"/>
            <a:ext cx="46282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顶层设计已完成</a:t>
            </a:r>
          </a:p>
        </p:txBody>
      </p:sp>
      <p:sp>
        <p:nvSpPr>
          <p:cNvPr id="20" name="implementation-lane-0">
            <a:extLst xmlns:a="http://schemas.openxmlformats.org/drawingml/2006/main">
              <a:ext uri="{FF2B5EF4-FFF2-40B4-BE49-F238E27FC236}">
                <a16:creationId xmlns:a16="http://schemas.microsoft.com/office/drawing/2014/main" id="{712A2178-5FDF-4F3F-836B-AF5A7013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114" y="2995422"/>
            <a:ext cx="1087637" cy="657225"/>
          </a:xfrm>
          <a:custGeom xmlns:a="http://schemas.openxmlformats.org/drawingml/2006/main">
            <a:pathLst>
              <a:path w="1087637" h="657225">
                <a:moveTo>
                  <a:pt x="0" y="0"/>
                </a:moveTo>
                <a:lnTo>
                  <a:pt x="27023" y="844"/>
                </a:lnTo>
                <a:lnTo>
                  <a:pt x="53715" y="3328"/>
                </a:lnTo>
                <a:lnTo>
                  <a:pt x="80086" y="7381"/>
                </a:lnTo>
                <a:lnTo>
                  <a:pt x="106145" y="12932"/>
                </a:lnTo>
                <a:lnTo>
                  <a:pt x="131903" y="19908"/>
                </a:lnTo>
                <a:lnTo>
                  <a:pt x="157367" y="28240"/>
                </a:lnTo>
                <a:lnTo>
                  <a:pt x="182549" y="37856"/>
                </a:lnTo>
                <a:lnTo>
                  <a:pt x="207457" y="48683"/>
                </a:lnTo>
                <a:lnTo>
                  <a:pt x="232100" y="60652"/>
                </a:lnTo>
                <a:lnTo>
                  <a:pt x="256488" y="73691"/>
                </a:lnTo>
                <a:lnTo>
                  <a:pt x="280631" y="87727"/>
                </a:lnTo>
                <a:lnTo>
                  <a:pt x="304538" y="102691"/>
                </a:lnTo>
                <a:lnTo>
                  <a:pt x="328219" y="118511"/>
                </a:lnTo>
                <a:lnTo>
                  <a:pt x="351682" y="135115"/>
                </a:lnTo>
                <a:lnTo>
                  <a:pt x="374937" y="152433"/>
                </a:lnTo>
                <a:lnTo>
                  <a:pt x="397995" y="170392"/>
                </a:lnTo>
                <a:lnTo>
                  <a:pt x="420863" y="188921"/>
                </a:lnTo>
                <a:lnTo>
                  <a:pt x="443552" y="207950"/>
                </a:lnTo>
                <a:lnTo>
                  <a:pt x="466071" y="227407"/>
                </a:lnTo>
                <a:lnTo>
                  <a:pt x="488430" y="247220"/>
                </a:lnTo>
                <a:lnTo>
                  <a:pt x="510637" y="267319"/>
                </a:lnTo>
                <a:lnTo>
                  <a:pt x="532703" y="287631"/>
                </a:lnTo>
                <a:lnTo>
                  <a:pt x="554637" y="308086"/>
                </a:lnTo>
                <a:lnTo>
                  <a:pt x="576448" y="328613"/>
                </a:lnTo>
                <a:lnTo>
                  <a:pt x="598145" y="349139"/>
                </a:lnTo>
                <a:lnTo>
                  <a:pt x="619739" y="369594"/>
                </a:lnTo>
                <a:lnTo>
                  <a:pt x="641239" y="389906"/>
                </a:lnTo>
                <a:lnTo>
                  <a:pt x="662653" y="410005"/>
                </a:lnTo>
                <a:lnTo>
                  <a:pt x="683992" y="429818"/>
                </a:lnTo>
                <a:lnTo>
                  <a:pt x="705265" y="449275"/>
                </a:lnTo>
                <a:lnTo>
                  <a:pt x="726481" y="468304"/>
                </a:lnTo>
                <a:lnTo>
                  <a:pt x="747650" y="486833"/>
                </a:lnTo>
                <a:lnTo>
                  <a:pt x="768781" y="504792"/>
                </a:lnTo>
                <a:lnTo>
                  <a:pt x="789884" y="522110"/>
                </a:lnTo>
                <a:lnTo>
                  <a:pt x="810968" y="538714"/>
                </a:lnTo>
                <a:lnTo>
                  <a:pt x="832042" y="554534"/>
                </a:lnTo>
                <a:lnTo>
                  <a:pt x="853117" y="569498"/>
                </a:lnTo>
                <a:lnTo>
                  <a:pt x="874201" y="583534"/>
                </a:lnTo>
                <a:lnTo>
                  <a:pt x="895304" y="596573"/>
                </a:lnTo>
                <a:lnTo>
                  <a:pt x="916435" y="608542"/>
                </a:lnTo>
                <a:lnTo>
                  <a:pt x="937604" y="619369"/>
                </a:lnTo>
                <a:lnTo>
                  <a:pt x="958820" y="628985"/>
                </a:lnTo>
                <a:lnTo>
                  <a:pt x="980093" y="637317"/>
                </a:lnTo>
                <a:lnTo>
                  <a:pt x="1001432" y="644293"/>
                </a:lnTo>
                <a:lnTo>
                  <a:pt x="1022846" y="649844"/>
                </a:lnTo>
                <a:lnTo>
                  <a:pt x="1044346" y="653897"/>
                </a:lnTo>
                <a:lnTo>
                  <a:pt x="1065939" y="656381"/>
                </a:lnTo>
                <a:lnTo>
                  <a:pt x="1087637" y="657225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8C8E3"/>
            </a:solidFill>
          </a:ln>
        </p:spPr>
      </p:sp>
      <p:sp>
        <p:nvSpPr>
          <p:cNvPr id="21" name="implementation-lane-1">
            <a:extLst xmlns:a="http://schemas.openxmlformats.org/drawingml/2006/main">
              <a:ext uri="{FF2B5EF4-FFF2-40B4-BE49-F238E27FC236}">
                <a16:creationId xmlns:a16="http://schemas.microsoft.com/office/drawing/2014/main" id="{5880C4E9-AEBB-4AE0-8F23-878C139C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114" y="3652647"/>
            <a:ext cx="1087637" cy="9525"/>
          </a:xfrm>
          <a:custGeom xmlns:a="http://schemas.openxmlformats.org/drawingml/2006/main">
            <a:pathLst>
              <a:path w="1087637" h="9525">
                <a:moveTo>
                  <a:pt x="0" y="0"/>
                </a:moveTo>
                <a:lnTo>
                  <a:pt x="27023" y="0"/>
                </a:lnTo>
                <a:lnTo>
                  <a:pt x="53715" y="0"/>
                </a:lnTo>
                <a:lnTo>
                  <a:pt x="80086" y="0"/>
                </a:lnTo>
                <a:lnTo>
                  <a:pt x="106145" y="0"/>
                </a:lnTo>
                <a:lnTo>
                  <a:pt x="131903" y="0"/>
                </a:lnTo>
                <a:lnTo>
                  <a:pt x="157367" y="0"/>
                </a:lnTo>
                <a:lnTo>
                  <a:pt x="182549" y="0"/>
                </a:lnTo>
                <a:lnTo>
                  <a:pt x="207457" y="0"/>
                </a:lnTo>
                <a:lnTo>
                  <a:pt x="232100" y="0"/>
                </a:lnTo>
                <a:lnTo>
                  <a:pt x="256488" y="0"/>
                </a:lnTo>
                <a:lnTo>
                  <a:pt x="280631" y="0"/>
                </a:lnTo>
                <a:lnTo>
                  <a:pt x="304538" y="0"/>
                </a:lnTo>
                <a:lnTo>
                  <a:pt x="328219" y="0"/>
                </a:lnTo>
                <a:lnTo>
                  <a:pt x="351682" y="0"/>
                </a:lnTo>
                <a:lnTo>
                  <a:pt x="374937" y="0"/>
                </a:lnTo>
                <a:lnTo>
                  <a:pt x="397995" y="0"/>
                </a:lnTo>
                <a:lnTo>
                  <a:pt x="420863" y="0"/>
                </a:lnTo>
                <a:lnTo>
                  <a:pt x="443552" y="0"/>
                </a:lnTo>
                <a:lnTo>
                  <a:pt x="466071" y="0"/>
                </a:lnTo>
                <a:lnTo>
                  <a:pt x="488430" y="0"/>
                </a:lnTo>
                <a:lnTo>
                  <a:pt x="510637" y="0"/>
                </a:lnTo>
                <a:lnTo>
                  <a:pt x="532703" y="0"/>
                </a:lnTo>
                <a:lnTo>
                  <a:pt x="554637" y="0"/>
                </a:lnTo>
                <a:lnTo>
                  <a:pt x="576448" y="0"/>
                </a:lnTo>
                <a:lnTo>
                  <a:pt x="598145" y="0"/>
                </a:lnTo>
                <a:lnTo>
                  <a:pt x="619739" y="0"/>
                </a:lnTo>
                <a:lnTo>
                  <a:pt x="641239" y="0"/>
                </a:lnTo>
                <a:lnTo>
                  <a:pt x="662653" y="0"/>
                </a:lnTo>
                <a:lnTo>
                  <a:pt x="683992" y="0"/>
                </a:lnTo>
                <a:lnTo>
                  <a:pt x="705265" y="0"/>
                </a:lnTo>
                <a:lnTo>
                  <a:pt x="726481" y="0"/>
                </a:lnTo>
                <a:lnTo>
                  <a:pt x="747650" y="0"/>
                </a:lnTo>
                <a:lnTo>
                  <a:pt x="768781" y="0"/>
                </a:lnTo>
                <a:lnTo>
                  <a:pt x="789884" y="0"/>
                </a:lnTo>
                <a:lnTo>
                  <a:pt x="810968" y="0"/>
                </a:lnTo>
                <a:lnTo>
                  <a:pt x="832042" y="0"/>
                </a:lnTo>
                <a:lnTo>
                  <a:pt x="853117" y="0"/>
                </a:lnTo>
                <a:lnTo>
                  <a:pt x="874201" y="0"/>
                </a:lnTo>
                <a:lnTo>
                  <a:pt x="895304" y="0"/>
                </a:lnTo>
                <a:lnTo>
                  <a:pt x="916435" y="0"/>
                </a:lnTo>
                <a:lnTo>
                  <a:pt x="937604" y="0"/>
                </a:lnTo>
                <a:lnTo>
                  <a:pt x="958820" y="0"/>
                </a:lnTo>
                <a:lnTo>
                  <a:pt x="980093" y="0"/>
                </a:lnTo>
                <a:lnTo>
                  <a:pt x="1001432" y="0"/>
                </a:lnTo>
                <a:lnTo>
                  <a:pt x="1022846" y="0"/>
                </a:lnTo>
                <a:lnTo>
                  <a:pt x="1044346" y="0"/>
                </a:lnTo>
                <a:lnTo>
                  <a:pt x="1065939" y="0"/>
                </a:lnTo>
                <a:lnTo>
                  <a:pt x="10876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7897CA"/>
            </a:solidFill>
          </a:ln>
        </p:spPr>
      </p:sp>
      <p:sp>
        <p:nvSpPr>
          <p:cNvPr id="22" name="implementation-lane-2">
            <a:extLst xmlns:a="http://schemas.openxmlformats.org/drawingml/2006/main">
              <a:ext uri="{FF2B5EF4-FFF2-40B4-BE49-F238E27FC236}">
                <a16:creationId xmlns:a16="http://schemas.microsoft.com/office/drawing/2014/main" id="{7C1FA9AA-00A6-42CD-AA16-CB23B12C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114" y="3652647"/>
            <a:ext cx="1087637" cy="657225"/>
          </a:xfrm>
          <a:custGeom xmlns:a="http://schemas.openxmlformats.org/drawingml/2006/main">
            <a:pathLst>
              <a:path w="1087637" h="657225">
                <a:moveTo>
                  <a:pt x="0" y="657225"/>
                </a:moveTo>
                <a:lnTo>
                  <a:pt x="27023" y="656381"/>
                </a:lnTo>
                <a:lnTo>
                  <a:pt x="53715" y="653897"/>
                </a:lnTo>
                <a:lnTo>
                  <a:pt x="80086" y="649844"/>
                </a:lnTo>
                <a:lnTo>
                  <a:pt x="106145" y="644293"/>
                </a:lnTo>
                <a:lnTo>
                  <a:pt x="131903" y="637317"/>
                </a:lnTo>
                <a:lnTo>
                  <a:pt x="157367" y="628985"/>
                </a:lnTo>
                <a:lnTo>
                  <a:pt x="182549" y="619369"/>
                </a:lnTo>
                <a:lnTo>
                  <a:pt x="207457" y="608542"/>
                </a:lnTo>
                <a:lnTo>
                  <a:pt x="232100" y="596573"/>
                </a:lnTo>
                <a:lnTo>
                  <a:pt x="256488" y="583534"/>
                </a:lnTo>
                <a:lnTo>
                  <a:pt x="280631" y="569498"/>
                </a:lnTo>
                <a:lnTo>
                  <a:pt x="304538" y="554534"/>
                </a:lnTo>
                <a:lnTo>
                  <a:pt x="328219" y="538714"/>
                </a:lnTo>
                <a:lnTo>
                  <a:pt x="351682" y="522110"/>
                </a:lnTo>
                <a:lnTo>
                  <a:pt x="374937" y="504792"/>
                </a:lnTo>
                <a:lnTo>
                  <a:pt x="397995" y="486833"/>
                </a:lnTo>
                <a:lnTo>
                  <a:pt x="420863" y="468304"/>
                </a:lnTo>
                <a:lnTo>
                  <a:pt x="443552" y="449275"/>
                </a:lnTo>
                <a:lnTo>
                  <a:pt x="466071" y="429818"/>
                </a:lnTo>
                <a:lnTo>
                  <a:pt x="488430" y="410005"/>
                </a:lnTo>
                <a:lnTo>
                  <a:pt x="510637" y="389906"/>
                </a:lnTo>
                <a:lnTo>
                  <a:pt x="532703" y="369594"/>
                </a:lnTo>
                <a:lnTo>
                  <a:pt x="554637" y="349139"/>
                </a:lnTo>
                <a:lnTo>
                  <a:pt x="576448" y="328613"/>
                </a:lnTo>
                <a:lnTo>
                  <a:pt x="598145" y="308086"/>
                </a:lnTo>
                <a:lnTo>
                  <a:pt x="619739" y="287631"/>
                </a:lnTo>
                <a:lnTo>
                  <a:pt x="641239" y="267319"/>
                </a:lnTo>
                <a:lnTo>
                  <a:pt x="662653" y="247220"/>
                </a:lnTo>
                <a:lnTo>
                  <a:pt x="683992" y="227407"/>
                </a:lnTo>
                <a:lnTo>
                  <a:pt x="705265" y="207950"/>
                </a:lnTo>
                <a:lnTo>
                  <a:pt x="726481" y="188921"/>
                </a:lnTo>
                <a:lnTo>
                  <a:pt x="747650" y="170392"/>
                </a:lnTo>
                <a:lnTo>
                  <a:pt x="768781" y="152433"/>
                </a:lnTo>
                <a:lnTo>
                  <a:pt x="789884" y="135115"/>
                </a:lnTo>
                <a:lnTo>
                  <a:pt x="810968" y="118511"/>
                </a:lnTo>
                <a:lnTo>
                  <a:pt x="832042" y="102691"/>
                </a:lnTo>
                <a:lnTo>
                  <a:pt x="853117" y="87727"/>
                </a:lnTo>
                <a:lnTo>
                  <a:pt x="874201" y="73691"/>
                </a:lnTo>
                <a:lnTo>
                  <a:pt x="895304" y="60652"/>
                </a:lnTo>
                <a:lnTo>
                  <a:pt x="916435" y="48683"/>
                </a:lnTo>
                <a:lnTo>
                  <a:pt x="937604" y="37856"/>
                </a:lnTo>
                <a:lnTo>
                  <a:pt x="958820" y="28240"/>
                </a:lnTo>
                <a:lnTo>
                  <a:pt x="980093" y="19908"/>
                </a:lnTo>
                <a:lnTo>
                  <a:pt x="1001432" y="12932"/>
                </a:lnTo>
                <a:lnTo>
                  <a:pt x="1022846" y="7381"/>
                </a:lnTo>
                <a:lnTo>
                  <a:pt x="1044346" y="3328"/>
                </a:lnTo>
                <a:lnTo>
                  <a:pt x="1065939" y="844"/>
                </a:lnTo>
                <a:lnTo>
                  <a:pt x="10876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587DBD"/>
            </a:solidFill>
          </a:ln>
        </p:spPr>
      </p:sp>
      <p:sp>
        <p:nvSpPr>
          <p:cNvPr id="23" name="implementation-input-0">
            <a:extLst xmlns:a="http://schemas.openxmlformats.org/drawingml/2006/main">
              <a:ext uri="{FF2B5EF4-FFF2-40B4-BE49-F238E27FC236}">
                <a16:creationId xmlns:a16="http://schemas.microsoft.com/office/drawing/2014/main" id="{A86A2E73-708A-4D3C-B985-9C99070F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04910"/>
            <a:ext cx="2267839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24" name="implementation-input-accent-0">
            <a:extLst xmlns:a="http://schemas.openxmlformats.org/drawingml/2006/main">
              <a:ext uri="{FF2B5EF4-FFF2-40B4-BE49-F238E27FC236}">
                <a16:creationId xmlns:a16="http://schemas.microsoft.com/office/drawing/2014/main" id="{2E962D5F-2CD0-43C7-AB39-3039C12D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62060"/>
            <a:ext cx="47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E3"/>
          </a:solidFill>
          <a:ln xmlns:a="http://schemas.openxmlformats.org/drawingml/2006/main" w="0">
            <a:noFill/>
          </a:ln>
        </p:spPr>
      </p:sp>
      <p:sp>
        <p:nvSpPr>
          <p:cNvPr id="25" name="implementation-input-0-0">
            <a:extLst xmlns:a="http://schemas.openxmlformats.org/drawingml/2006/main">
              <a:ext uri="{FF2B5EF4-FFF2-40B4-BE49-F238E27FC236}">
                <a16:creationId xmlns:a16="http://schemas.microsoft.com/office/drawing/2014/main" id="{A24D4492-AAAF-4862-917A-3189BC4A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81110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公司内部人力资源</a:t>
            </a:r>
          </a:p>
        </p:txBody>
      </p:sp>
      <p:sp>
        <p:nvSpPr>
          <p:cNvPr id="26" name="implementation-input-0-1">
            <a:extLst xmlns:a="http://schemas.openxmlformats.org/drawingml/2006/main">
              <a:ext uri="{FF2B5EF4-FFF2-40B4-BE49-F238E27FC236}">
                <a16:creationId xmlns:a16="http://schemas.microsoft.com/office/drawing/2014/main" id="{293458D6-4F9B-42C4-B8CE-76295F8A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995422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变革氛围尚未完全形成</a:t>
            </a:r>
          </a:p>
        </p:txBody>
      </p:sp>
      <p:sp>
        <p:nvSpPr>
          <p:cNvPr id="27" name="implementation-input-1">
            <a:extLst xmlns:a="http://schemas.openxmlformats.org/drawingml/2006/main">
              <a:ext uri="{FF2B5EF4-FFF2-40B4-BE49-F238E27FC236}">
                <a16:creationId xmlns:a16="http://schemas.microsoft.com/office/drawing/2014/main" id="{D76B1408-1226-4F22-AB08-D32041A6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62135"/>
            <a:ext cx="2267839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28" name="implementation-input-accent-1">
            <a:extLst xmlns:a="http://schemas.openxmlformats.org/drawingml/2006/main">
              <a:ext uri="{FF2B5EF4-FFF2-40B4-BE49-F238E27FC236}">
                <a16:creationId xmlns:a16="http://schemas.microsoft.com/office/drawing/2014/main" id="{4C1FD4CA-B6A7-4EDD-B0C0-1351BC7C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19285"/>
            <a:ext cx="47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7CA"/>
          </a:solidFill>
          <a:ln xmlns:a="http://schemas.openxmlformats.org/drawingml/2006/main" w="0">
            <a:noFill/>
          </a:ln>
        </p:spPr>
      </p:sp>
      <p:sp>
        <p:nvSpPr>
          <p:cNvPr id="29" name="implementation-input-1-0">
            <a:extLst xmlns:a="http://schemas.openxmlformats.org/drawingml/2006/main">
              <a:ext uri="{FF2B5EF4-FFF2-40B4-BE49-F238E27FC236}">
                <a16:creationId xmlns:a16="http://schemas.microsoft.com/office/drawing/2014/main" id="{3D8BAB4E-DE36-43EE-9892-5E1E7C2D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438335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信息系统支撑</a:t>
            </a:r>
          </a:p>
        </p:txBody>
      </p:sp>
      <p:sp>
        <p:nvSpPr>
          <p:cNvPr id="30" name="implementation-input-1-1">
            <a:extLst xmlns:a="http://schemas.openxmlformats.org/drawingml/2006/main">
              <a:ext uri="{FF2B5EF4-FFF2-40B4-BE49-F238E27FC236}">
                <a16:creationId xmlns:a16="http://schemas.microsoft.com/office/drawing/2014/main" id="{618CA0B2-638B-4FE4-B451-84843494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2647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能力仍有差距</a:t>
            </a:r>
          </a:p>
        </p:txBody>
      </p:sp>
      <p:sp>
        <p:nvSpPr>
          <p:cNvPr id="31" name="implementation-input-2">
            <a:extLst xmlns:a="http://schemas.openxmlformats.org/drawingml/2006/main">
              <a:ext uri="{FF2B5EF4-FFF2-40B4-BE49-F238E27FC236}">
                <a16:creationId xmlns:a16="http://schemas.microsoft.com/office/drawing/2014/main" id="{73361D0A-8D18-4E59-B550-69F222A4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1272"/>
            <a:ext cx="2267839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2" name="implementation-input-accent-2">
            <a:extLst xmlns:a="http://schemas.openxmlformats.org/drawingml/2006/main">
              <a:ext uri="{FF2B5EF4-FFF2-40B4-BE49-F238E27FC236}">
                <a16:creationId xmlns:a16="http://schemas.microsoft.com/office/drawing/2014/main" id="{19F688E4-161B-48BB-8892-FACB4548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38422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DBD"/>
          </a:solidFill>
          <a:ln xmlns:a="http://schemas.openxmlformats.org/drawingml/2006/main" w="0">
            <a:noFill/>
          </a:ln>
        </p:spPr>
      </p:sp>
      <p:sp>
        <p:nvSpPr>
          <p:cNvPr id="33" name="implementation-input-2-0">
            <a:extLst xmlns:a="http://schemas.openxmlformats.org/drawingml/2006/main">
              <a:ext uri="{FF2B5EF4-FFF2-40B4-BE49-F238E27FC236}">
                <a16:creationId xmlns:a16="http://schemas.microsoft.com/office/drawing/2014/main" id="{BF1E19BF-CA15-439E-91F5-27B55D27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202716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缺乏市场化管理机制</a:t>
            </a:r>
          </a:p>
        </p:txBody>
      </p:sp>
      <p:sp>
        <p:nvSpPr>
          <p:cNvPr id="34" name="implementation-result">
            <a:extLst xmlns:a="http://schemas.openxmlformats.org/drawingml/2006/main">
              <a:ext uri="{FF2B5EF4-FFF2-40B4-BE49-F238E27FC236}">
                <a16:creationId xmlns:a16="http://schemas.microsoft.com/office/drawing/2014/main" id="{A3903659-8E87-453E-872B-ED2ABA93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751" y="3176397"/>
            <a:ext cx="1272767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361AE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5" name="implementation-result-0">
            <a:extLst xmlns:a="http://schemas.openxmlformats.org/drawingml/2006/main">
              <a:ext uri="{FF2B5EF4-FFF2-40B4-BE49-F238E27FC236}">
                <a16:creationId xmlns:a16="http://schemas.microsoft.com/office/drawing/2014/main" id="{CAD8A56E-BD5D-417F-99A6-8CDEB977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051" y="3438335"/>
            <a:ext cx="104416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变革落地</a:t>
            </a:r>
          </a:p>
        </p:txBody>
      </p:sp>
      <p:sp>
        <p:nvSpPr>
          <p:cNvPr id="36" name="implementation-result-1">
            <a:extLst xmlns:a="http://schemas.openxmlformats.org/drawingml/2006/main">
              <a:ext uri="{FF2B5EF4-FFF2-40B4-BE49-F238E27FC236}">
                <a16:creationId xmlns:a16="http://schemas.microsoft.com/office/drawing/2014/main" id="{E21593E5-D92F-43A2-86C7-DE84F4F2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051" y="3652647"/>
            <a:ext cx="104416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阻力重重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C5A604-B9C3-4BB2-B9A0-7B96C53B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21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8" name="compliance-number-0">
            <a:extLst xmlns:a="http://schemas.openxmlformats.org/drawingml/2006/main">
              <a:ext uri="{FF2B5EF4-FFF2-40B4-BE49-F238E27FC236}">
                <a16:creationId xmlns:a16="http://schemas.microsoft.com/office/drawing/2014/main" id="{2E41C04D-4CD0-4544-ADC3-2104872C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310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9" name="compliance-label-0">
            <a:extLst xmlns:a="http://schemas.openxmlformats.org/drawingml/2006/main">
              <a:ext uri="{FF2B5EF4-FFF2-40B4-BE49-F238E27FC236}">
                <a16:creationId xmlns:a16="http://schemas.microsoft.com/office/drawing/2014/main" id="{89CE404A-72AA-492E-8824-272BC74A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809935"/>
            <a:ext cx="46282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合规管理短板亟待提升</a:t>
            </a:r>
          </a:p>
        </p:txBody>
      </p:sp>
      <p:sp>
        <p:nvSpPr>
          <p:cNvPr id="40" name="compliance-intro-0">
            <a:extLst xmlns:a="http://schemas.openxmlformats.org/drawingml/2006/main">
              <a:ext uri="{FF2B5EF4-FFF2-40B4-BE49-F238E27FC236}">
                <a16:creationId xmlns:a16="http://schemas.microsoft.com/office/drawing/2014/main" id="{2895610E-8794-454C-A448-0DE29FFD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152644"/>
            <a:ext cx="46282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2017年巡视整改取得一定成效，</a:t>
            </a:r>
          </a:p>
        </p:txBody>
      </p:sp>
      <p:sp>
        <p:nvSpPr>
          <p:cNvPr id="41" name="compliance-intro-1">
            <a:extLst xmlns:a="http://schemas.openxmlformats.org/drawingml/2006/main">
              <a:ext uri="{FF2B5EF4-FFF2-40B4-BE49-F238E27FC236}">
                <a16:creationId xmlns:a16="http://schemas.microsoft.com/office/drawing/2014/main" id="{FE45786D-5F88-48D8-A734-FB84587F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400294"/>
            <a:ext cx="46282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也暴露人力条线基础管理薄弱：</a:t>
            </a:r>
          </a:p>
        </p:txBody>
      </p:sp>
      <p:sp>
        <p:nvSpPr>
          <p:cNvPr id="42" name="compliance-detail-strip">
            <a:extLst xmlns:a="http://schemas.openxmlformats.org/drawingml/2006/main">
              <a:ext uri="{FF2B5EF4-FFF2-40B4-BE49-F238E27FC236}">
                <a16:creationId xmlns:a16="http://schemas.microsoft.com/office/drawing/2014/main" id="{96EDDF06-873D-496D-B45A-1E0C8472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24144"/>
            <a:ext cx="516164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5"/>
          </a:solidFill>
          <a:ln xmlns:a="http://schemas.openxmlformats.org/drawingml/2006/main" w="0">
            <a:noFill/>
          </a:ln>
        </p:spPr>
      </p:sp>
      <p:sp>
        <p:nvSpPr>
          <p:cNvPr id="43" name="compliance-detail-lead-surface">
            <a:extLst xmlns:a="http://schemas.openxmlformats.org/drawingml/2006/main">
              <a:ext uri="{FF2B5EF4-FFF2-40B4-BE49-F238E27FC236}">
                <a16:creationId xmlns:a16="http://schemas.microsoft.com/office/drawing/2014/main" id="{82A4B57B-7BB9-4CFF-91A3-4EAFD0CE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24144"/>
            <a:ext cx="8382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61AE"/>
          </a:solidFill>
          <a:ln xmlns:a="http://schemas.openxmlformats.org/drawingml/2006/main" w="0">
            <a:noFill/>
          </a:ln>
        </p:spPr>
      </p:sp>
      <p:sp>
        <p:nvSpPr>
          <p:cNvPr id="44" name="compliance-detail-lead-0">
            <a:extLst xmlns:a="http://schemas.openxmlformats.org/drawingml/2006/main">
              <a:ext uri="{FF2B5EF4-FFF2-40B4-BE49-F238E27FC236}">
                <a16:creationId xmlns:a16="http://schemas.microsoft.com/office/drawing/2014/main" id="{8AA142E5-65A3-4B70-93D6-60912855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869400"/>
            <a:ext cx="76200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主要表现</a:t>
            </a:r>
          </a:p>
        </p:txBody>
      </p:sp>
      <p:sp>
        <p:nvSpPr>
          <p:cNvPr id="45" name="compliance-detail-label-0-0">
            <a:extLst xmlns:a="http://schemas.openxmlformats.org/drawingml/2006/main">
              <a:ext uri="{FF2B5EF4-FFF2-40B4-BE49-F238E27FC236}">
                <a16:creationId xmlns:a16="http://schemas.microsoft.com/office/drawing/2014/main" id="{6F230EA5-0CC6-4775-B78C-CB8B0088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762244"/>
            <a:ext cx="92846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认识</a:t>
            </a:r>
          </a:p>
        </p:txBody>
      </p:sp>
      <p:sp>
        <p:nvSpPr>
          <p:cNvPr id="46" name="compliance-detail-body-0-0">
            <a:extLst xmlns:a="http://schemas.openxmlformats.org/drawingml/2006/main">
              <a:ext uri="{FF2B5EF4-FFF2-40B4-BE49-F238E27FC236}">
                <a16:creationId xmlns:a16="http://schemas.microsoft.com/office/drawing/2014/main" id="{FC33F0FB-6F9A-493F-A2BF-E644B119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976557"/>
            <a:ext cx="92846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待提升</a:t>
            </a:r>
          </a:p>
        </p:txBody>
      </p:sp>
      <p:sp>
        <p:nvSpPr>
          <p:cNvPr id="47" name="compliance-detail-label-1-0">
            <a:extLst xmlns:a="http://schemas.openxmlformats.org/drawingml/2006/main">
              <a:ext uri="{FF2B5EF4-FFF2-40B4-BE49-F238E27FC236}">
                <a16:creationId xmlns:a16="http://schemas.microsoft.com/office/drawing/2014/main" id="{D2FB817A-BFCD-4073-9311-35CC95D9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136" y="5762244"/>
            <a:ext cx="92846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作风</a:t>
            </a:r>
          </a:p>
        </p:txBody>
      </p:sp>
      <p:sp>
        <p:nvSpPr>
          <p:cNvPr id="48" name="compliance-detail-body-1-0">
            <a:extLst xmlns:a="http://schemas.openxmlformats.org/drawingml/2006/main">
              <a:ext uri="{FF2B5EF4-FFF2-40B4-BE49-F238E27FC236}">
                <a16:creationId xmlns:a16="http://schemas.microsoft.com/office/drawing/2014/main" id="{ECF53BCE-2D69-44C1-990F-28FE21D5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136" y="5976557"/>
            <a:ext cx="92846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待转变</a:t>
            </a:r>
          </a:p>
        </p:txBody>
      </p:sp>
      <p:sp>
        <p:nvSpPr>
          <p:cNvPr id="49" name="compliance-detail-divider-1">
            <a:extLst xmlns:a="http://schemas.openxmlformats.org/drawingml/2006/main">
              <a:ext uri="{FF2B5EF4-FFF2-40B4-BE49-F238E27FC236}">
                <a16:creationId xmlns:a16="http://schemas.microsoft.com/office/drawing/2014/main" id="{AEC1F9B0-96BF-4F0F-AFC4-996D1176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936" y="5800344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50" name="compliance-detail-label-2-0">
            <a:extLst xmlns:a="http://schemas.openxmlformats.org/drawingml/2006/main">
              <a:ext uri="{FF2B5EF4-FFF2-40B4-BE49-F238E27FC236}">
                <a16:creationId xmlns:a16="http://schemas.microsoft.com/office/drawing/2014/main" id="{85CE1CE1-C521-4E6F-998D-FC96CFF7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96" y="5762244"/>
            <a:ext cx="92846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51" name="compliance-detail-body-2-0">
            <a:extLst xmlns:a="http://schemas.openxmlformats.org/drawingml/2006/main">
              <a:ext uri="{FF2B5EF4-FFF2-40B4-BE49-F238E27FC236}">
                <a16:creationId xmlns:a16="http://schemas.microsoft.com/office/drawing/2014/main" id="{0697E6F4-5F68-47A9-BC62-B41F5814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996" y="5976557"/>
            <a:ext cx="92846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待增强</a:t>
            </a:r>
          </a:p>
        </p:txBody>
      </p:sp>
      <p:sp>
        <p:nvSpPr>
          <p:cNvPr id="52" name="compliance-detail-divider-2">
            <a:extLst xmlns:a="http://schemas.openxmlformats.org/drawingml/2006/main">
              <a:ext uri="{FF2B5EF4-FFF2-40B4-BE49-F238E27FC236}">
                <a16:creationId xmlns:a16="http://schemas.microsoft.com/office/drawing/2014/main" id="{21702863-7D09-4103-8FA6-E8E3B4EE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796" y="5800344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53" name="compliance-detail-label-3-0">
            <a:extLst xmlns:a="http://schemas.openxmlformats.org/drawingml/2006/main">
              <a:ext uri="{FF2B5EF4-FFF2-40B4-BE49-F238E27FC236}">
                <a16:creationId xmlns:a16="http://schemas.microsoft.com/office/drawing/2014/main" id="{E643AE2F-6B92-4279-9C41-43BB18A0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857" y="5762244"/>
            <a:ext cx="92846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</p:txBody>
      </p:sp>
      <p:sp>
        <p:nvSpPr>
          <p:cNvPr id="54" name="compliance-detail-body-3-0">
            <a:extLst xmlns:a="http://schemas.openxmlformats.org/drawingml/2006/main">
              <a:ext uri="{FF2B5EF4-FFF2-40B4-BE49-F238E27FC236}">
                <a16:creationId xmlns:a16="http://schemas.microsoft.com/office/drawing/2014/main" id="{7D2BD345-D9BD-4A18-8819-4DD9CD2E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857" y="5976557"/>
            <a:ext cx="92846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待深化</a:t>
            </a:r>
          </a:p>
        </p:txBody>
      </p:sp>
      <p:sp>
        <p:nvSpPr>
          <p:cNvPr id="55" name="compliance-detail-divider-3">
            <a:extLst xmlns:a="http://schemas.openxmlformats.org/drawingml/2006/main">
              <a:ext uri="{FF2B5EF4-FFF2-40B4-BE49-F238E27FC236}">
                <a16:creationId xmlns:a16="http://schemas.microsoft.com/office/drawing/2014/main" id="{86FB1A66-BA48-453B-84E5-5C27736C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4657" y="5800344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56" name="insights-0">
            <a:extLst xmlns:a="http://schemas.openxmlformats.org/drawingml/2006/main">
              <a:ext uri="{FF2B5EF4-FFF2-40B4-BE49-F238E27FC236}">
                <a16:creationId xmlns:a16="http://schemas.microsoft.com/office/drawing/2014/main" id="{F533FCC0-2F3A-4751-9633-0304E318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581150"/>
            <a:ext cx="56778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四点感悟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E7C8BE1-4B12-4061-9D64-20776271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905000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58" name="group-divider-1">
            <a:extLst xmlns:a="http://schemas.openxmlformats.org/drawingml/2006/main">
              <a:ext uri="{FF2B5EF4-FFF2-40B4-BE49-F238E27FC236}">
                <a16:creationId xmlns:a16="http://schemas.microsoft.com/office/drawing/2014/main" id="{6FA5C543-EC3C-4840-92B1-E1142F22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7918" y="1600200"/>
            <a:ext cx="0" cy="466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59" name="index-rail-insights">
            <a:extLst xmlns:a="http://schemas.openxmlformats.org/drawingml/2006/main">
              <a:ext uri="{FF2B5EF4-FFF2-40B4-BE49-F238E27FC236}">
                <a16:creationId xmlns:a16="http://schemas.microsoft.com/office/drawing/2014/main" id="{DD2FBB16-5D65-46A5-A1E4-5C967735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118" y="2228850"/>
            <a:ext cx="0" cy="3086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BDDD"/>
            </a:solidFill>
          </a:ln>
        </p:spPr>
      </p:sp>
      <p:sp>
        <p:nvSpPr>
          <p:cNvPr id="60" name="language-reading-band">
            <a:extLst xmlns:a="http://schemas.openxmlformats.org/drawingml/2006/main">
              <a:ext uri="{FF2B5EF4-FFF2-40B4-BE49-F238E27FC236}">
                <a16:creationId xmlns:a16="http://schemas.microsoft.com/office/drawing/2014/main" id="{C71DE901-5BE0-4FC9-8D37-35D15C2D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918" y="2000250"/>
            <a:ext cx="5068207" cy="933259"/>
          </a:xfrm>
          <a:custGeom xmlns:a="http://schemas.openxmlformats.org/drawingml/2006/main">
            <a:pathLst>
              <a:path w="5068207" h="933259">
                <a:moveTo>
                  <a:pt x="0" y="0"/>
                </a:moveTo>
                <a:lnTo>
                  <a:pt x="4953907" y="0"/>
                </a:lnTo>
                <a:lnTo>
                  <a:pt x="5068207" y="466630"/>
                </a:lnTo>
                <a:lnTo>
                  <a:pt x="4953907" y="933259"/>
                </a:lnTo>
                <a:lnTo>
                  <a:pt x="0" y="933259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/>
              </a:gs>
              <a:gs pos="100000">
                <a:srgbClr val="F0F3F9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61" name="language-index-circle">
            <a:extLst xmlns:a="http://schemas.openxmlformats.org/drawingml/2006/main">
              <a:ext uri="{FF2B5EF4-FFF2-40B4-BE49-F238E27FC236}">
                <a16:creationId xmlns:a16="http://schemas.microsoft.com/office/drawing/2014/main" id="{70D1DB0F-CF42-4839-BCA8-9A79BBB0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518" y="2000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6F2"/>
          </a:solidFill>
          <a:ln xmlns:a="http://schemas.openxmlformats.org/drawingml/2006/main" w="0">
            <a:noFill/>
          </a:ln>
        </p:spPr>
      </p:sp>
      <p:sp>
        <p:nvSpPr>
          <p:cNvPr id="62" name="language-number-0">
            <a:extLst xmlns:a="http://schemas.openxmlformats.org/drawingml/2006/main">
              <a:ext uri="{FF2B5EF4-FFF2-40B4-BE49-F238E27FC236}">
                <a16:creationId xmlns:a16="http://schemas.microsoft.com/office/drawing/2014/main" id="{55F73A8A-B11D-4F13-B574-44704A9B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518" y="2057972"/>
            <a:ext cx="457200" cy="34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3" name="language-label-0">
            <a:extLst xmlns:a="http://schemas.openxmlformats.org/drawingml/2006/main">
              <a:ext uri="{FF2B5EF4-FFF2-40B4-BE49-F238E27FC236}">
                <a16:creationId xmlns:a16="http://schemas.microsoft.com/office/drawing/2014/main" id="{89E402E8-6211-49AD-B342-D0B2417C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2047875"/>
            <a:ext cx="48777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统一语言，促进业务与人力协同</a:t>
            </a:r>
          </a:p>
        </p:txBody>
      </p:sp>
      <p:sp>
        <p:nvSpPr>
          <p:cNvPr id="64" name="language-body-0">
            <a:extLst xmlns:a="http://schemas.openxmlformats.org/drawingml/2006/main">
              <a:ext uri="{FF2B5EF4-FFF2-40B4-BE49-F238E27FC236}">
                <a16:creationId xmlns:a16="http://schemas.microsoft.com/office/drawing/2014/main" id="{0C81E19B-F594-4BFE-889C-34BBCE4B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2390585"/>
            <a:ext cx="48777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沿BLM管理模型统一语言、目标、策略，贯通业务战略、</a:t>
            </a:r>
          </a:p>
        </p:txBody>
      </p:sp>
      <p:sp>
        <p:nvSpPr>
          <p:cNvPr id="65" name="language-body-1">
            <a:extLst xmlns:a="http://schemas.openxmlformats.org/drawingml/2006/main">
              <a:ext uri="{FF2B5EF4-FFF2-40B4-BE49-F238E27FC236}">
                <a16:creationId xmlns:a16="http://schemas.microsoft.com/office/drawing/2014/main" id="{81B0B79B-816F-4066-8B14-55FEBFDD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2638235"/>
            <a:ext cx="48777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人力战略规划与落地方案，达成“三个市场化”转型目标。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417B640-8428-4BDB-B290-D745256B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3022537"/>
            <a:ext cx="49920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67" name="criterion-reading-band">
            <a:extLst xmlns:a="http://schemas.openxmlformats.org/drawingml/2006/main">
              <a:ext uri="{FF2B5EF4-FFF2-40B4-BE49-F238E27FC236}">
                <a16:creationId xmlns:a16="http://schemas.microsoft.com/office/drawing/2014/main" id="{3062078C-5630-4581-9452-13D40BE4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918" y="3111564"/>
            <a:ext cx="5068207" cy="685609"/>
          </a:xfrm>
          <a:custGeom xmlns:a="http://schemas.openxmlformats.org/drawingml/2006/main">
            <a:pathLst>
              <a:path w="5068207" h="685609">
                <a:moveTo>
                  <a:pt x="0" y="0"/>
                </a:moveTo>
                <a:lnTo>
                  <a:pt x="4953907" y="0"/>
                </a:lnTo>
                <a:lnTo>
                  <a:pt x="5068207" y="342805"/>
                </a:lnTo>
                <a:lnTo>
                  <a:pt x="4953907" y="685609"/>
                </a:lnTo>
                <a:lnTo>
                  <a:pt x="0" y="685609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/>
              </a:gs>
              <a:gs pos="100000">
                <a:srgbClr val="F0F3F9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68" name="criterion-index-circle">
            <a:extLst xmlns:a="http://schemas.openxmlformats.org/drawingml/2006/main">
              <a:ext uri="{FF2B5EF4-FFF2-40B4-BE49-F238E27FC236}">
                <a16:creationId xmlns:a16="http://schemas.microsoft.com/office/drawing/2014/main" id="{561D7429-0745-4078-8FA4-4E24E0B6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518" y="3111564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6F2"/>
          </a:solidFill>
          <a:ln xmlns:a="http://schemas.openxmlformats.org/drawingml/2006/main" w="0">
            <a:noFill/>
          </a:ln>
        </p:spPr>
      </p:sp>
      <p:sp>
        <p:nvSpPr>
          <p:cNvPr id="69" name="criterion-number-0">
            <a:extLst xmlns:a="http://schemas.openxmlformats.org/drawingml/2006/main">
              <a:ext uri="{FF2B5EF4-FFF2-40B4-BE49-F238E27FC236}">
                <a16:creationId xmlns:a16="http://schemas.microsoft.com/office/drawing/2014/main" id="{597FBC71-6FF9-4ACA-A12C-8EC412AB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518" y="3169285"/>
            <a:ext cx="457200" cy="34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0" name="criterion-label-0">
            <a:extLst xmlns:a="http://schemas.openxmlformats.org/drawingml/2006/main">
              <a:ext uri="{FF2B5EF4-FFF2-40B4-BE49-F238E27FC236}">
                <a16:creationId xmlns:a16="http://schemas.microsoft.com/office/drawing/2014/main" id="{9B1738E3-3FA9-4BDB-8746-2AFE9A45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3159189"/>
            <a:ext cx="48777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解决实际问题是唯一检验标准</a:t>
            </a:r>
          </a:p>
        </p:txBody>
      </p:sp>
      <p:sp>
        <p:nvSpPr>
          <p:cNvPr id="71" name="criterion-body-0">
            <a:extLst xmlns:a="http://schemas.openxmlformats.org/drawingml/2006/main">
              <a:ext uri="{FF2B5EF4-FFF2-40B4-BE49-F238E27FC236}">
                <a16:creationId xmlns:a16="http://schemas.microsoft.com/office/drawing/2014/main" id="{5E3D455D-49F5-434C-8A51-8D4EEA33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3501898"/>
            <a:ext cx="48777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以能否解决实际问题检验变革成效，力求落地有实效。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CD8C340-D08B-4B8C-B1DD-0250EFC0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3886200"/>
            <a:ext cx="49920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73" name="iteration-reading-band">
            <a:extLst xmlns:a="http://schemas.openxmlformats.org/drawingml/2006/main">
              <a:ext uri="{FF2B5EF4-FFF2-40B4-BE49-F238E27FC236}">
                <a16:creationId xmlns:a16="http://schemas.microsoft.com/office/drawing/2014/main" id="{E01D843A-9CC3-4084-87CE-F65C7B64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918" y="3975227"/>
            <a:ext cx="5068207" cy="933259"/>
          </a:xfrm>
          <a:custGeom xmlns:a="http://schemas.openxmlformats.org/drawingml/2006/main">
            <a:pathLst>
              <a:path w="5068207" h="933259">
                <a:moveTo>
                  <a:pt x="0" y="0"/>
                </a:moveTo>
                <a:lnTo>
                  <a:pt x="4953907" y="0"/>
                </a:lnTo>
                <a:lnTo>
                  <a:pt x="5068207" y="466630"/>
                </a:lnTo>
                <a:lnTo>
                  <a:pt x="4953907" y="933259"/>
                </a:lnTo>
                <a:lnTo>
                  <a:pt x="0" y="933259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/>
              </a:gs>
              <a:gs pos="100000">
                <a:srgbClr val="F0F3F9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4" name="iteration-index-circle">
            <a:extLst xmlns:a="http://schemas.openxmlformats.org/drawingml/2006/main">
              <a:ext uri="{FF2B5EF4-FFF2-40B4-BE49-F238E27FC236}">
                <a16:creationId xmlns:a16="http://schemas.microsoft.com/office/drawing/2014/main" id="{A2BC77E5-3CAC-430C-B4CF-A1BB2842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518" y="3975227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6F2"/>
          </a:solidFill>
          <a:ln xmlns:a="http://schemas.openxmlformats.org/drawingml/2006/main" w="0">
            <a:noFill/>
          </a:ln>
        </p:spPr>
      </p:sp>
      <p:sp>
        <p:nvSpPr>
          <p:cNvPr id="75" name="iteration-number-0">
            <a:extLst xmlns:a="http://schemas.openxmlformats.org/drawingml/2006/main">
              <a:ext uri="{FF2B5EF4-FFF2-40B4-BE49-F238E27FC236}">
                <a16:creationId xmlns:a16="http://schemas.microsoft.com/office/drawing/2014/main" id="{D66B2FE5-B9E9-4501-997A-2321934F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518" y="4032949"/>
            <a:ext cx="457200" cy="34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6" name="iteration-label-0">
            <a:extLst xmlns:a="http://schemas.openxmlformats.org/drawingml/2006/main">
              <a:ext uri="{FF2B5EF4-FFF2-40B4-BE49-F238E27FC236}">
                <a16:creationId xmlns:a16="http://schemas.microsoft.com/office/drawing/2014/main" id="{2EFDA352-DC43-463E-8F61-DF472C3E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4022852"/>
            <a:ext cx="48777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顶层设计持续迭代</a:t>
            </a:r>
          </a:p>
        </p:txBody>
      </p:sp>
      <p:sp>
        <p:nvSpPr>
          <p:cNvPr id="77" name="iteration-body-0">
            <a:extLst xmlns:a="http://schemas.openxmlformats.org/drawingml/2006/main">
              <a:ext uri="{FF2B5EF4-FFF2-40B4-BE49-F238E27FC236}">
                <a16:creationId xmlns:a16="http://schemas.microsoft.com/office/drawing/2014/main" id="{2981DCED-6394-4977-852A-91FB8651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4365562"/>
            <a:ext cx="48777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加速试点、小步快跑；对标行业优秀</a:t>
            </a:r>
          </a:p>
        </p:txBody>
      </p:sp>
      <p:sp>
        <p:nvSpPr>
          <p:cNvPr id="78" name="iteration-body-1">
            <a:extLst xmlns:a="http://schemas.openxmlformats.org/drawingml/2006/main">
              <a:ext uri="{FF2B5EF4-FFF2-40B4-BE49-F238E27FC236}">
                <a16:creationId xmlns:a16="http://schemas.microsoft.com/office/drawing/2014/main" id="{B61441EE-48E4-4D81-BD20-64B5AB68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4613212"/>
            <a:ext cx="48777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实践，结合落地成效持续优化体系。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26456D9-2373-4F68-84DE-8EF28BB7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4997514"/>
            <a:ext cx="49920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80" name="coordination-reading-band">
            <a:extLst xmlns:a="http://schemas.openxmlformats.org/drawingml/2006/main">
              <a:ext uri="{FF2B5EF4-FFF2-40B4-BE49-F238E27FC236}">
                <a16:creationId xmlns:a16="http://schemas.microsoft.com/office/drawing/2014/main" id="{643D66A7-C84B-49B4-8FB3-99BA6064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9918" y="5086541"/>
            <a:ext cx="5068207" cy="1180910"/>
          </a:xfrm>
          <a:custGeom xmlns:a="http://schemas.openxmlformats.org/drawingml/2006/main">
            <a:pathLst>
              <a:path w="5068207" h="1180910">
                <a:moveTo>
                  <a:pt x="0" y="0"/>
                </a:moveTo>
                <a:lnTo>
                  <a:pt x="4953907" y="0"/>
                </a:lnTo>
                <a:lnTo>
                  <a:pt x="5068207" y="590455"/>
                </a:lnTo>
                <a:lnTo>
                  <a:pt x="4953907" y="1180910"/>
                </a:lnTo>
                <a:lnTo>
                  <a:pt x="0" y="118091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FFF"/>
              </a:gs>
              <a:gs pos="100000">
                <a:srgbClr val="F0F3F9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81" name="coordination-index-circle">
            <a:extLst xmlns:a="http://schemas.openxmlformats.org/drawingml/2006/main">
              <a:ext uri="{FF2B5EF4-FFF2-40B4-BE49-F238E27FC236}">
                <a16:creationId xmlns:a16="http://schemas.microsoft.com/office/drawing/2014/main" id="{F71C0F8F-C537-4F60-BCC8-C939DA97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518" y="5086541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E6F2"/>
          </a:solidFill>
          <a:ln xmlns:a="http://schemas.openxmlformats.org/drawingml/2006/main" w="0">
            <a:noFill/>
          </a:ln>
        </p:spPr>
      </p:sp>
      <p:sp>
        <p:nvSpPr>
          <p:cNvPr id="82" name="coordination-number-0">
            <a:extLst xmlns:a="http://schemas.openxmlformats.org/drawingml/2006/main">
              <a:ext uri="{FF2B5EF4-FFF2-40B4-BE49-F238E27FC236}">
                <a16:creationId xmlns:a16="http://schemas.microsoft.com/office/drawing/2014/main" id="{67B4B956-658B-4610-82FA-715EA141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518" y="5144262"/>
            <a:ext cx="457200" cy="34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3" name="coordination-label-0">
            <a:extLst xmlns:a="http://schemas.openxmlformats.org/drawingml/2006/main">
              <a:ext uri="{FF2B5EF4-FFF2-40B4-BE49-F238E27FC236}">
                <a16:creationId xmlns:a16="http://schemas.microsoft.com/office/drawing/2014/main" id="{BEB080C5-3FAA-41C7-A4C6-EE507A9E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5134166"/>
            <a:ext cx="48777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统筹变革、合规与作风</a:t>
            </a:r>
          </a:p>
        </p:txBody>
      </p:sp>
      <p:sp>
        <p:nvSpPr>
          <p:cNvPr id="84" name="coordination-body-0">
            <a:extLst xmlns:a="http://schemas.openxmlformats.org/drawingml/2006/main">
              <a:ext uri="{FF2B5EF4-FFF2-40B4-BE49-F238E27FC236}">
                <a16:creationId xmlns:a16="http://schemas.microsoft.com/office/drawing/2014/main" id="{FE1C7C20-0316-42A2-980C-87CF0E1C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5476875"/>
            <a:ext cx="48777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变革是硬道理，合规是硬要求，作风是硬</a:t>
            </a:r>
          </a:p>
        </p:txBody>
      </p:sp>
      <p:sp>
        <p:nvSpPr>
          <p:cNvPr id="85" name="coordination-body-1">
            <a:extLst xmlns:a="http://schemas.openxmlformats.org/drawingml/2006/main">
              <a:ext uri="{FF2B5EF4-FFF2-40B4-BE49-F238E27FC236}">
                <a16:creationId xmlns:a16="http://schemas.microsoft.com/office/drawing/2014/main" id="{C8884E88-C955-41F3-8F05-54D1F1FE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5724525"/>
            <a:ext cx="48777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标准；以规范管理的效率强化转型力度，</a:t>
            </a:r>
          </a:p>
        </p:txBody>
      </p:sp>
      <p:sp>
        <p:nvSpPr>
          <p:cNvPr id="86" name="coordination-body-2">
            <a:extLst xmlns:a="http://schemas.openxmlformats.org/drawingml/2006/main">
              <a:ext uri="{FF2B5EF4-FFF2-40B4-BE49-F238E27FC236}">
                <a16:creationId xmlns:a16="http://schemas.microsoft.com/office/drawing/2014/main" id="{B51413AD-7965-4F2A-B31A-62207E03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118" y="5972175"/>
            <a:ext cx="48777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以优良的思想、工作和战斗作风加快转型。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2026-09-20T02:03:45.6810000Z</dcterms:created>
  <dcterms:modified xsi:type="dcterms:W3CDTF">2026-09-20T02:03:45.6810000Z</dcterms:modified>
</coreProperties>
</file>