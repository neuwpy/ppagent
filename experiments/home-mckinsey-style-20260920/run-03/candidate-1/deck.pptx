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1165ba236d46f1" /><Relationship Type="http://schemas.openxmlformats.org/officeDocument/2006/relationships/extended-properties" Target="/docProps/app.xml" Id="Rccadbdba7103401e" /><Relationship Type="http://schemas.openxmlformats.org/officeDocument/2006/relationships/officeDocument" Target="/ppt/presentation.xml" Id="R51c5500c29fb4b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bc3c6d804f4a9b"/>
    <p:sldMasterId xmlns:r="http://schemas.openxmlformats.org/officeDocument/2006/relationships" id="2147483660" r:id="R5b336ab47c794382"/>
    <p:sldMasterId xmlns:r="http://schemas.openxmlformats.org/officeDocument/2006/relationships" id="2147483663" r:id="R03616bf8fbc049d3"/>
  </p:sldMasterIdLst>
  <p:notesMasterIdLst>
    <p:notesMasterId xmlns:r="http://schemas.openxmlformats.org/officeDocument/2006/relationships" r:id="R44c3a78846ff473a"/>
  </p:notesMasterIdLst>
  <p:sldIdLst>
    <p:sldId xmlns:r="http://schemas.openxmlformats.org/officeDocument/2006/relationships" id="256" r:id="R3cbf6ca7963b40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47a135c10a473c" /><Relationship Type="http://schemas.openxmlformats.org/officeDocument/2006/relationships/slideMaster" Target="/ppt/slideMasters/slideMaster1.xml" Id="R5dbc3c6d804f4a9b" /><Relationship Type="http://schemas.openxmlformats.org/officeDocument/2006/relationships/slideMaster" Target="/ppt/slideMasters/slideMaster2.xml" Id="R5b336ab47c794382" /><Relationship Type="http://schemas.openxmlformats.org/officeDocument/2006/relationships/slideMaster" Target="/ppt/slideMasters/slideMaster3.xml" Id="R03616bf8fbc049d3" /><Relationship Type="http://schemas.openxmlformats.org/officeDocument/2006/relationships/notesMaster" Target="/ppt/notesMasters/notesMaster1.xml" Id="R44c3a78846ff473a" /><Relationship Type="http://schemas.openxmlformats.org/officeDocument/2006/relationships/presProps" Target="/ppt/presProps.xml" Id="Rc7a67651d40045e1" /><Relationship Type="http://schemas.openxmlformats.org/officeDocument/2006/relationships/viewProps" Target="/ppt/viewProps.xml" Id="R1a7ffa602c0742fc" /><Relationship Type="http://schemas.openxmlformats.org/officeDocument/2006/relationships/tableStyles" Target="/ppt/tableStyles.xml" Id="R3d209730c6f84630" /><Relationship Type="http://schemas.openxmlformats.org/officeDocument/2006/relationships/slide" Target="/ppt/slides/slide1.xml" Id="R3cbf6ca7963b40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a3172d1ee33641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e0412fac504b75" /><Relationship Type="http://schemas.openxmlformats.org/officeDocument/2006/relationships/notesMaster" Target="/ppt/notesMasters/notesMaster1.xml" Id="R08770d3f777742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Frozen gray input: experiments/home-gray-magazine-20260919/input/gray-state.json and gray.pptx</a:t>
            </a:r>
            <a:endParaRPr/>
          </a:p>
          <a:p xmlns:a="http://schemas.openxmlformats.org/drawingml/2006/main">
            <a:r>
              <a:t>- Source manuscript is retained in gray-state.json:sources.</a:t>
            </a:r>
            <a:endParaRPr/>
          </a:p>
          <a:p xmlns:a="http://schemas.openxmlformats.org/drawingml/2006/main">
            <a:r>
              <a:t>- Style: rules/排版体系/麦肯锡式.md and original Northeastern University template</a:t>
            </a:r>
            <a:endParaRPr/>
          </a:p>
          <a:p xmlns:a="http://schemas.openxmlformats.org/drawingml/2006/main">
            <a:r>
              <a:t>- Structure: convergence-many-to-one-003, task-local geometry adaptation from review.mjs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d09e4452574c13" /><Relationship Type="http://schemas.openxmlformats.org/officeDocument/2006/relationships/image" Target="/ppt/media/image.jpeg" Id="R35c326a6ab7748dd" /><Relationship Type="http://schemas.openxmlformats.org/officeDocument/2006/relationships/image" Target="/ppt/media/image.png" Id="Ra657bf37fa804b68" /><Relationship Type="http://schemas.openxmlformats.org/officeDocument/2006/relationships/image" Target="/ppt/media/image2.png" Id="Rff1521f1c41d42d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ca50932df343f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3214ca1e9d40e5" /><Relationship Type="http://schemas.openxmlformats.org/officeDocument/2006/relationships/image" Target="/ppt/media/image3.png" Id="R18f1fdefcdd14cd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89ffb1d0df4fd5" /><Relationship Type="http://schemas.openxmlformats.org/officeDocument/2006/relationships/image" Target="/ppt/media/image4.png" Id="R74d2696125a3418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bda7b2daeb4c7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c7b9752d854a7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cdbcabb76b4e2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6a4ea3256d418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07ff2dc7fc44e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6b41382bab4b4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901502ec2343a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4751fd7bee24da0" /><Relationship Type="http://schemas.openxmlformats.org/officeDocument/2006/relationships/image" Target="/ppt/media/image5.png" Id="Red8d31ee2324436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f01c235af49462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d9b9593670d4dfb" /><Relationship Type="http://schemas.openxmlformats.org/officeDocument/2006/relationships/image" Target="/ppt/media/image5.png" Id="Re1eeff7f8b2c423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b590728dcf7469a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326a6ab7748dd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7bf37fa804b68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1521f1c41d42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f1fdefcdd14cda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d2696125a3418f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d31ee23244366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eeff7f8b2c423b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9079aa67d442f5" /><Relationship Type="http://schemas.openxmlformats.org/officeDocument/2006/relationships/slideLayout" Target="/ppt/slideLayouts/slideLayout1.xml" Id="Re2f74fdc853b4dcf" /><Relationship Type="http://schemas.openxmlformats.org/officeDocument/2006/relationships/slideLayout" Target="/ppt/slideLayouts/slideLayout2.xml" Id="Rfef5785e7f494f9a" /><Relationship Type="http://schemas.openxmlformats.org/officeDocument/2006/relationships/slideLayout" Target="/ppt/slideLayouts/slideLayout3.xml" Id="R07da9a358a6a4205" /><Relationship Type="http://schemas.openxmlformats.org/officeDocument/2006/relationships/slideLayout" Target="/ppt/slideLayouts/slideLayout4.xml" Id="R94b6800ca4d64b85" /><Relationship Type="http://schemas.openxmlformats.org/officeDocument/2006/relationships/slideLayout" Target="/ppt/slideLayouts/slideLayout5.xml" Id="R197102bb72a149bd" /><Relationship Type="http://schemas.openxmlformats.org/officeDocument/2006/relationships/slideLayout" Target="/ppt/slideLayouts/slideLayout6.xml" Id="R95aed9f5afe7488a" /><Relationship Type="http://schemas.openxmlformats.org/officeDocument/2006/relationships/slideLayout" Target="/ppt/slideLayouts/slideLayout7.xml" Id="R4e03d82fa63d4b71" /><Relationship Type="http://schemas.openxmlformats.org/officeDocument/2006/relationships/slideLayout" Target="/ppt/slideLayouts/slideLayout8.xml" Id="R47a5f5f388154dee" /><Relationship Type="http://schemas.openxmlformats.org/officeDocument/2006/relationships/slideLayout" Target="/ppt/slideLayouts/slideLayout9.xml" Id="R69b0d5f335844e8a" /><Relationship Type="http://schemas.openxmlformats.org/officeDocument/2006/relationships/slideLayout" Target="/ppt/slideLayouts/slideLayout10.xml" Id="Re8a0f80644df4593" /><Relationship Type="http://schemas.openxmlformats.org/officeDocument/2006/relationships/slideLayout" Target="/ppt/slideLayouts/slideLayout11.xml" Id="Rc78bd9a305a84a0d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141e21ebbf84b1b" /><Relationship Type="http://schemas.openxmlformats.org/officeDocument/2006/relationships/slideLayout" Target="/ppt/slideLayouts/slideLayout12.xml" Id="Rbf80291a60604e7a" /><Relationship Type="http://schemas.openxmlformats.org/officeDocument/2006/relationships/slideLayout" Target="/ppt/slideLayouts/slideLayout13.xml" Id="R597794f25e954f9d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f427f1090c864238" /><Relationship Type="http://schemas.openxmlformats.org/officeDocument/2006/relationships/slideLayout" Target="/ppt/slideLayouts/slideLayout14.xml" Id="R3aec5c2b1019489b" /><Relationship Type="http://schemas.openxmlformats.org/officeDocument/2006/relationships/slideLayout" Target="/ppt/slideLayouts/slideLayout15.xml" Id="Rf337f77125ed46c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f74fdc853b4dcf"/>
    <p:sldLayoutId xmlns:r="http://schemas.openxmlformats.org/officeDocument/2006/relationships" id="2147483650" r:id="Rfef5785e7f494f9a"/>
    <p:sldLayoutId xmlns:r="http://schemas.openxmlformats.org/officeDocument/2006/relationships" id="2147483651" r:id="R07da9a358a6a4205"/>
    <p:sldLayoutId xmlns:r="http://schemas.openxmlformats.org/officeDocument/2006/relationships" id="2147483652" r:id="R94b6800ca4d64b85"/>
    <p:sldLayoutId xmlns:r="http://schemas.openxmlformats.org/officeDocument/2006/relationships" id="2147483653" r:id="R197102bb72a149bd"/>
    <p:sldLayoutId xmlns:r="http://schemas.openxmlformats.org/officeDocument/2006/relationships" id="2147483654" r:id="R95aed9f5afe7488a"/>
    <p:sldLayoutId xmlns:r="http://schemas.openxmlformats.org/officeDocument/2006/relationships" id="2147483655" r:id="R4e03d82fa63d4b71"/>
    <p:sldLayoutId xmlns:r="http://schemas.openxmlformats.org/officeDocument/2006/relationships" id="2147483656" r:id="R47a5f5f388154dee"/>
    <p:sldLayoutId xmlns:r="http://schemas.openxmlformats.org/officeDocument/2006/relationships" id="2147483657" r:id="R69b0d5f335844e8a"/>
    <p:sldLayoutId xmlns:r="http://schemas.openxmlformats.org/officeDocument/2006/relationships" id="2147483658" r:id="Re8a0f80644df4593"/>
    <p:sldLayoutId xmlns:r="http://schemas.openxmlformats.org/officeDocument/2006/relationships" id="2147483659" r:id="Rc78bd9a305a84a0d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bf80291a60604e7a"/>
    <p:sldLayoutId xmlns:r="http://schemas.openxmlformats.org/officeDocument/2006/relationships" id="2147483662" r:id="R597794f25e954f9d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3aec5c2b1019489b"/>
    <p:sldLayoutId xmlns:r="http://schemas.openxmlformats.org/officeDocument/2006/relationships" id="2147483665" r:id="Rf337f77125ed46c8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7258e125d8a47c1" /><Relationship Type="http://schemas.openxmlformats.org/officeDocument/2006/relationships/notesSlide" Target="/ppt/notesSlides/notesSlide1.xml" Id="Rac07a4824b644dd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变革落地仍存三项短板，合规基础管理亦待压实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不足感悟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issues-0">
            <a:extLst xmlns:a="http://schemas.openxmlformats.org/drawingml/2006/main">
              <a:ext uri="{FF2B5EF4-FFF2-40B4-BE49-F238E27FC236}">
                <a16:creationId xmlns:a16="http://schemas.microsoft.com/office/drawing/2014/main" id="{755785BA-5458-4A5C-8E4C-175F0638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51616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两点不足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B9F541-4372-4126-9F1D-9A834275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51616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17" name="implementation-heading-wash">
            <a:extLst xmlns:a="http://schemas.openxmlformats.org/drawingml/2006/main">
              <a:ext uri="{FF2B5EF4-FFF2-40B4-BE49-F238E27FC236}">
                <a16:creationId xmlns:a16="http://schemas.microsoft.com/office/drawing/2014/main" id="{67667A02-209D-4420-AF7E-95EE6560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990725"/>
            <a:ext cx="4704443" cy="3046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5"/>
          </a:solidFill>
          <a:ln xmlns:a="http://schemas.openxmlformats.org/drawingml/2006/main" w="0">
            <a:noFill/>
          </a:ln>
        </p:spPr>
      </p:sp>
      <p:sp>
        <p:nvSpPr>
          <p:cNvPr id="18" name="implementation-number-0">
            <a:extLst xmlns:a="http://schemas.openxmlformats.org/drawingml/2006/main">
              <a:ext uri="{FF2B5EF4-FFF2-40B4-BE49-F238E27FC236}">
                <a16:creationId xmlns:a16="http://schemas.microsoft.com/office/drawing/2014/main" id="{19706029-6E1D-4750-910B-68545FD1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419100" cy="368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897CA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100" b="0">
                <a:solidFill>
                  <a:srgbClr val="7897CA"/>
                </a:solidFill>
                <a:latin typeface="HYWenRunSongYun U"/>
                <a:ea typeface="HYWenRunSongYun U"/>
                <a:cs typeface="HYWenRunSongYun U"/>
              </a:rPr>
              <a:t>01</a:t>
            </a:r>
          </a:p>
        </p:txBody>
      </p:sp>
      <p:sp>
        <p:nvSpPr>
          <p:cNvPr id="19" name="implementation-label-0">
            <a:extLst xmlns:a="http://schemas.openxmlformats.org/drawingml/2006/main">
              <a:ext uri="{FF2B5EF4-FFF2-40B4-BE49-F238E27FC236}">
                <a16:creationId xmlns:a16="http://schemas.microsoft.com/office/drawing/2014/main" id="{7C863D29-5F5E-4536-9160-2B529A6F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000250"/>
            <a:ext cx="46282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变革落地阻力重重</a:t>
            </a:r>
          </a:p>
        </p:txBody>
      </p:sp>
      <p:sp>
        <p:nvSpPr>
          <p:cNvPr id="20" name="implementation-context-0">
            <a:extLst xmlns:a="http://schemas.openxmlformats.org/drawingml/2006/main">
              <a:ext uri="{FF2B5EF4-FFF2-40B4-BE49-F238E27FC236}">
                <a16:creationId xmlns:a16="http://schemas.microsoft.com/office/drawing/2014/main" id="{98E3CDAE-38B3-4341-8885-55A94F34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42960"/>
            <a:ext cx="46282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顶层设计已完成</a:t>
            </a:r>
          </a:p>
        </p:txBody>
      </p:sp>
      <p:sp>
        <p:nvSpPr>
          <p:cNvPr id="21" name="implementation-lane-0">
            <a:extLst xmlns:a="http://schemas.openxmlformats.org/drawingml/2006/main">
              <a:ext uri="{FF2B5EF4-FFF2-40B4-BE49-F238E27FC236}">
                <a16:creationId xmlns:a16="http://schemas.microsoft.com/office/drawing/2014/main" id="{3E846B5F-2D21-46E9-92D2-5E2EB68D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114" y="2995422"/>
            <a:ext cx="1087637" cy="657225"/>
          </a:xfrm>
          <a:custGeom xmlns:a="http://schemas.openxmlformats.org/drawingml/2006/main">
            <a:pathLst>
              <a:path w="1087637" h="657225">
                <a:moveTo>
                  <a:pt x="0" y="0"/>
                </a:moveTo>
                <a:lnTo>
                  <a:pt x="27023" y="844"/>
                </a:lnTo>
                <a:lnTo>
                  <a:pt x="53715" y="3328"/>
                </a:lnTo>
                <a:lnTo>
                  <a:pt x="80086" y="7381"/>
                </a:lnTo>
                <a:lnTo>
                  <a:pt x="106145" y="12932"/>
                </a:lnTo>
                <a:lnTo>
                  <a:pt x="131903" y="19908"/>
                </a:lnTo>
                <a:lnTo>
                  <a:pt x="157367" y="28240"/>
                </a:lnTo>
                <a:lnTo>
                  <a:pt x="182549" y="37856"/>
                </a:lnTo>
                <a:lnTo>
                  <a:pt x="207457" y="48683"/>
                </a:lnTo>
                <a:lnTo>
                  <a:pt x="232100" y="60652"/>
                </a:lnTo>
                <a:lnTo>
                  <a:pt x="256488" y="73691"/>
                </a:lnTo>
                <a:lnTo>
                  <a:pt x="280631" y="87727"/>
                </a:lnTo>
                <a:lnTo>
                  <a:pt x="304538" y="102691"/>
                </a:lnTo>
                <a:lnTo>
                  <a:pt x="328219" y="118511"/>
                </a:lnTo>
                <a:lnTo>
                  <a:pt x="351682" y="135115"/>
                </a:lnTo>
                <a:lnTo>
                  <a:pt x="374937" y="152433"/>
                </a:lnTo>
                <a:lnTo>
                  <a:pt x="397995" y="170392"/>
                </a:lnTo>
                <a:lnTo>
                  <a:pt x="420863" y="188921"/>
                </a:lnTo>
                <a:lnTo>
                  <a:pt x="443552" y="207950"/>
                </a:lnTo>
                <a:lnTo>
                  <a:pt x="466071" y="227407"/>
                </a:lnTo>
                <a:lnTo>
                  <a:pt x="488430" y="247220"/>
                </a:lnTo>
                <a:lnTo>
                  <a:pt x="510637" y="267319"/>
                </a:lnTo>
                <a:lnTo>
                  <a:pt x="532703" y="287631"/>
                </a:lnTo>
                <a:lnTo>
                  <a:pt x="554637" y="308086"/>
                </a:lnTo>
                <a:lnTo>
                  <a:pt x="576448" y="328613"/>
                </a:lnTo>
                <a:lnTo>
                  <a:pt x="598145" y="349139"/>
                </a:lnTo>
                <a:lnTo>
                  <a:pt x="619739" y="369594"/>
                </a:lnTo>
                <a:lnTo>
                  <a:pt x="641239" y="389906"/>
                </a:lnTo>
                <a:lnTo>
                  <a:pt x="662653" y="410005"/>
                </a:lnTo>
                <a:lnTo>
                  <a:pt x="683992" y="429818"/>
                </a:lnTo>
                <a:lnTo>
                  <a:pt x="705265" y="449275"/>
                </a:lnTo>
                <a:lnTo>
                  <a:pt x="726481" y="468304"/>
                </a:lnTo>
                <a:lnTo>
                  <a:pt x="747650" y="486833"/>
                </a:lnTo>
                <a:lnTo>
                  <a:pt x="768781" y="504792"/>
                </a:lnTo>
                <a:lnTo>
                  <a:pt x="789884" y="522110"/>
                </a:lnTo>
                <a:lnTo>
                  <a:pt x="810968" y="538714"/>
                </a:lnTo>
                <a:lnTo>
                  <a:pt x="832042" y="554534"/>
                </a:lnTo>
                <a:lnTo>
                  <a:pt x="853117" y="569498"/>
                </a:lnTo>
                <a:lnTo>
                  <a:pt x="874201" y="583534"/>
                </a:lnTo>
                <a:lnTo>
                  <a:pt x="895304" y="596573"/>
                </a:lnTo>
                <a:lnTo>
                  <a:pt x="916435" y="608542"/>
                </a:lnTo>
                <a:lnTo>
                  <a:pt x="937604" y="619369"/>
                </a:lnTo>
                <a:lnTo>
                  <a:pt x="958820" y="628985"/>
                </a:lnTo>
                <a:lnTo>
                  <a:pt x="980093" y="637317"/>
                </a:lnTo>
                <a:lnTo>
                  <a:pt x="1001432" y="644293"/>
                </a:lnTo>
                <a:lnTo>
                  <a:pt x="1022846" y="649844"/>
                </a:lnTo>
                <a:lnTo>
                  <a:pt x="1044346" y="653897"/>
                </a:lnTo>
                <a:lnTo>
                  <a:pt x="1065939" y="656381"/>
                </a:lnTo>
                <a:lnTo>
                  <a:pt x="1087637" y="657225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B8C8E3"/>
            </a:solidFill>
          </a:ln>
        </p:spPr>
      </p:sp>
      <p:sp>
        <p:nvSpPr>
          <p:cNvPr id="22" name="implementation-lane-1">
            <a:extLst xmlns:a="http://schemas.openxmlformats.org/drawingml/2006/main">
              <a:ext uri="{FF2B5EF4-FFF2-40B4-BE49-F238E27FC236}">
                <a16:creationId xmlns:a16="http://schemas.microsoft.com/office/drawing/2014/main" id="{73D496E6-C539-4F2C-9251-70A6668D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114" y="3652647"/>
            <a:ext cx="1087637" cy="9525"/>
          </a:xfrm>
          <a:custGeom xmlns:a="http://schemas.openxmlformats.org/drawingml/2006/main">
            <a:pathLst>
              <a:path w="1087637" h="9525">
                <a:moveTo>
                  <a:pt x="0" y="0"/>
                </a:moveTo>
                <a:lnTo>
                  <a:pt x="27023" y="0"/>
                </a:lnTo>
                <a:lnTo>
                  <a:pt x="53715" y="0"/>
                </a:lnTo>
                <a:lnTo>
                  <a:pt x="80086" y="0"/>
                </a:lnTo>
                <a:lnTo>
                  <a:pt x="106145" y="0"/>
                </a:lnTo>
                <a:lnTo>
                  <a:pt x="131903" y="0"/>
                </a:lnTo>
                <a:lnTo>
                  <a:pt x="157367" y="0"/>
                </a:lnTo>
                <a:lnTo>
                  <a:pt x="182549" y="0"/>
                </a:lnTo>
                <a:lnTo>
                  <a:pt x="207457" y="0"/>
                </a:lnTo>
                <a:lnTo>
                  <a:pt x="232100" y="0"/>
                </a:lnTo>
                <a:lnTo>
                  <a:pt x="256488" y="0"/>
                </a:lnTo>
                <a:lnTo>
                  <a:pt x="280631" y="0"/>
                </a:lnTo>
                <a:lnTo>
                  <a:pt x="304538" y="0"/>
                </a:lnTo>
                <a:lnTo>
                  <a:pt x="328219" y="0"/>
                </a:lnTo>
                <a:lnTo>
                  <a:pt x="351682" y="0"/>
                </a:lnTo>
                <a:lnTo>
                  <a:pt x="374937" y="0"/>
                </a:lnTo>
                <a:lnTo>
                  <a:pt x="397995" y="0"/>
                </a:lnTo>
                <a:lnTo>
                  <a:pt x="420863" y="0"/>
                </a:lnTo>
                <a:lnTo>
                  <a:pt x="443552" y="0"/>
                </a:lnTo>
                <a:lnTo>
                  <a:pt x="466071" y="0"/>
                </a:lnTo>
                <a:lnTo>
                  <a:pt x="488430" y="0"/>
                </a:lnTo>
                <a:lnTo>
                  <a:pt x="510637" y="0"/>
                </a:lnTo>
                <a:lnTo>
                  <a:pt x="532703" y="0"/>
                </a:lnTo>
                <a:lnTo>
                  <a:pt x="554637" y="0"/>
                </a:lnTo>
                <a:lnTo>
                  <a:pt x="576448" y="0"/>
                </a:lnTo>
                <a:lnTo>
                  <a:pt x="598145" y="0"/>
                </a:lnTo>
                <a:lnTo>
                  <a:pt x="619739" y="0"/>
                </a:lnTo>
                <a:lnTo>
                  <a:pt x="641239" y="0"/>
                </a:lnTo>
                <a:lnTo>
                  <a:pt x="662653" y="0"/>
                </a:lnTo>
                <a:lnTo>
                  <a:pt x="683992" y="0"/>
                </a:lnTo>
                <a:lnTo>
                  <a:pt x="705265" y="0"/>
                </a:lnTo>
                <a:lnTo>
                  <a:pt x="726481" y="0"/>
                </a:lnTo>
                <a:lnTo>
                  <a:pt x="747650" y="0"/>
                </a:lnTo>
                <a:lnTo>
                  <a:pt x="768781" y="0"/>
                </a:lnTo>
                <a:lnTo>
                  <a:pt x="789884" y="0"/>
                </a:lnTo>
                <a:lnTo>
                  <a:pt x="810968" y="0"/>
                </a:lnTo>
                <a:lnTo>
                  <a:pt x="832042" y="0"/>
                </a:lnTo>
                <a:lnTo>
                  <a:pt x="853117" y="0"/>
                </a:lnTo>
                <a:lnTo>
                  <a:pt x="874201" y="0"/>
                </a:lnTo>
                <a:lnTo>
                  <a:pt x="895304" y="0"/>
                </a:lnTo>
                <a:lnTo>
                  <a:pt x="916435" y="0"/>
                </a:lnTo>
                <a:lnTo>
                  <a:pt x="937604" y="0"/>
                </a:lnTo>
                <a:lnTo>
                  <a:pt x="958820" y="0"/>
                </a:lnTo>
                <a:lnTo>
                  <a:pt x="980093" y="0"/>
                </a:lnTo>
                <a:lnTo>
                  <a:pt x="1001432" y="0"/>
                </a:lnTo>
                <a:lnTo>
                  <a:pt x="1022846" y="0"/>
                </a:lnTo>
                <a:lnTo>
                  <a:pt x="1044346" y="0"/>
                </a:lnTo>
                <a:lnTo>
                  <a:pt x="1065939" y="0"/>
                </a:lnTo>
                <a:lnTo>
                  <a:pt x="10876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7897CA"/>
            </a:solidFill>
          </a:ln>
        </p:spPr>
      </p:sp>
      <p:sp>
        <p:nvSpPr>
          <p:cNvPr id="23" name="implementation-lane-2">
            <a:extLst xmlns:a="http://schemas.openxmlformats.org/drawingml/2006/main">
              <a:ext uri="{FF2B5EF4-FFF2-40B4-BE49-F238E27FC236}">
                <a16:creationId xmlns:a16="http://schemas.microsoft.com/office/drawing/2014/main" id="{A4B2555D-9AD9-4395-B874-492E7896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5114" y="3652647"/>
            <a:ext cx="1087637" cy="657225"/>
          </a:xfrm>
          <a:custGeom xmlns:a="http://schemas.openxmlformats.org/drawingml/2006/main">
            <a:pathLst>
              <a:path w="1087637" h="657225">
                <a:moveTo>
                  <a:pt x="0" y="657225"/>
                </a:moveTo>
                <a:lnTo>
                  <a:pt x="27023" y="656381"/>
                </a:lnTo>
                <a:lnTo>
                  <a:pt x="53715" y="653897"/>
                </a:lnTo>
                <a:lnTo>
                  <a:pt x="80086" y="649844"/>
                </a:lnTo>
                <a:lnTo>
                  <a:pt x="106145" y="644293"/>
                </a:lnTo>
                <a:lnTo>
                  <a:pt x="131903" y="637317"/>
                </a:lnTo>
                <a:lnTo>
                  <a:pt x="157367" y="628985"/>
                </a:lnTo>
                <a:lnTo>
                  <a:pt x="182549" y="619369"/>
                </a:lnTo>
                <a:lnTo>
                  <a:pt x="207457" y="608542"/>
                </a:lnTo>
                <a:lnTo>
                  <a:pt x="232100" y="596573"/>
                </a:lnTo>
                <a:lnTo>
                  <a:pt x="256488" y="583534"/>
                </a:lnTo>
                <a:lnTo>
                  <a:pt x="280631" y="569498"/>
                </a:lnTo>
                <a:lnTo>
                  <a:pt x="304538" y="554534"/>
                </a:lnTo>
                <a:lnTo>
                  <a:pt x="328219" y="538714"/>
                </a:lnTo>
                <a:lnTo>
                  <a:pt x="351682" y="522110"/>
                </a:lnTo>
                <a:lnTo>
                  <a:pt x="374937" y="504792"/>
                </a:lnTo>
                <a:lnTo>
                  <a:pt x="397995" y="486833"/>
                </a:lnTo>
                <a:lnTo>
                  <a:pt x="420863" y="468304"/>
                </a:lnTo>
                <a:lnTo>
                  <a:pt x="443552" y="449275"/>
                </a:lnTo>
                <a:lnTo>
                  <a:pt x="466071" y="429818"/>
                </a:lnTo>
                <a:lnTo>
                  <a:pt x="488430" y="410005"/>
                </a:lnTo>
                <a:lnTo>
                  <a:pt x="510637" y="389906"/>
                </a:lnTo>
                <a:lnTo>
                  <a:pt x="532703" y="369594"/>
                </a:lnTo>
                <a:lnTo>
                  <a:pt x="554637" y="349139"/>
                </a:lnTo>
                <a:lnTo>
                  <a:pt x="576448" y="328613"/>
                </a:lnTo>
                <a:lnTo>
                  <a:pt x="598145" y="308086"/>
                </a:lnTo>
                <a:lnTo>
                  <a:pt x="619739" y="287631"/>
                </a:lnTo>
                <a:lnTo>
                  <a:pt x="641239" y="267319"/>
                </a:lnTo>
                <a:lnTo>
                  <a:pt x="662653" y="247220"/>
                </a:lnTo>
                <a:lnTo>
                  <a:pt x="683992" y="227407"/>
                </a:lnTo>
                <a:lnTo>
                  <a:pt x="705265" y="207950"/>
                </a:lnTo>
                <a:lnTo>
                  <a:pt x="726481" y="188921"/>
                </a:lnTo>
                <a:lnTo>
                  <a:pt x="747650" y="170392"/>
                </a:lnTo>
                <a:lnTo>
                  <a:pt x="768781" y="152433"/>
                </a:lnTo>
                <a:lnTo>
                  <a:pt x="789884" y="135115"/>
                </a:lnTo>
                <a:lnTo>
                  <a:pt x="810968" y="118511"/>
                </a:lnTo>
                <a:lnTo>
                  <a:pt x="832042" y="102691"/>
                </a:lnTo>
                <a:lnTo>
                  <a:pt x="853117" y="87727"/>
                </a:lnTo>
                <a:lnTo>
                  <a:pt x="874201" y="73691"/>
                </a:lnTo>
                <a:lnTo>
                  <a:pt x="895304" y="60652"/>
                </a:lnTo>
                <a:lnTo>
                  <a:pt x="916435" y="48683"/>
                </a:lnTo>
                <a:lnTo>
                  <a:pt x="937604" y="37856"/>
                </a:lnTo>
                <a:lnTo>
                  <a:pt x="958820" y="28240"/>
                </a:lnTo>
                <a:lnTo>
                  <a:pt x="980093" y="19908"/>
                </a:lnTo>
                <a:lnTo>
                  <a:pt x="1001432" y="12932"/>
                </a:lnTo>
                <a:lnTo>
                  <a:pt x="1022846" y="7381"/>
                </a:lnTo>
                <a:lnTo>
                  <a:pt x="1044346" y="3328"/>
                </a:lnTo>
                <a:lnTo>
                  <a:pt x="1065939" y="844"/>
                </a:lnTo>
                <a:lnTo>
                  <a:pt x="10876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587DBD"/>
            </a:solidFill>
          </a:ln>
        </p:spPr>
      </p:sp>
      <p:sp>
        <p:nvSpPr>
          <p:cNvPr id="24" name="implementation-input-0">
            <a:extLst xmlns:a="http://schemas.openxmlformats.org/drawingml/2006/main">
              <a:ext uri="{FF2B5EF4-FFF2-40B4-BE49-F238E27FC236}">
                <a16:creationId xmlns:a16="http://schemas.microsoft.com/office/drawing/2014/main" id="{E1A2BE93-F6AE-4CB2-9A74-F4A11CA5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04910"/>
            <a:ext cx="2267839" cy="581025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25" name="implementation-input-accent-0">
            <a:extLst xmlns:a="http://schemas.openxmlformats.org/drawingml/2006/main">
              <a:ext uri="{FF2B5EF4-FFF2-40B4-BE49-F238E27FC236}">
                <a16:creationId xmlns:a16="http://schemas.microsoft.com/office/drawing/2014/main" id="{E63A178C-2C10-4C37-874A-4B596670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762060"/>
            <a:ext cx="47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8E3"/>
          </a:solidFill>
          <a:ln xmlns:a="http://schemas.openxmlformats.org/drawingml/2006/main" w="0">
            <a:noFill/>
          </a:ln>
        </p:spPr>
      </p:sp>
      <p:sp>
        <p:nvSpPr>
          <p:cNvPr id="26" name="implementation-input-0-0">
            <a:extLst xmlns:a="http://schemas.openxmlformats.org/drawingml/2006/main">
              <a:ext uri="{FF2B5EF4-FFF2-40B4-BE49-F238E27FC236}">
                <a16:creationId xmlns:a16="http://schemas.microsoft.com/office/drawing/2014/main" id="{0420CE3D-236F-49CB-9E49-D8DD7F31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781110"/>
            <a:ext cx="203923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公司内部人力资源</a:t>
            </a:r>
          </a:p>
        </p:txBody>
      </p:sp>
      <p:sp>
        <p:nvSpPr>
          <p:cNvPr id="27" name="implementation-input-0-1">
            <a:extLst xmlns:a="http://schemas.openxmlformats.org/drawingml/2006/main">
              <a:ext uri="{FF2B5EF4-FFF2-40B4-BE49-F238E27FC236}">
                <a16:creationId xmlns:a16="http://schemas.microsoft.com/office/drawing/2014/main" id="{04557FC2-5219-4D17-8DE7-9E8412D3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995422"/>
            <a:ext cx="203923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变革氛围尚未完全形成</a:t>
            </a:r>
          </a:p>
        </p:txBody>
      </p:sp>
      <p:sp>
        <p:nvSpPr>
          <p:cNvPr id="28" name="implementation-input-1">
            <a:extLst xmlns:a="http://schemas.openxmlformats.org/drawingml/2006/main">
              <a:ext uri="{FF2B5EF4-FFF2-40B4-BE49-F238E27FC236}">
                <a16:creationId xmlns:a16="http://schemas.microsoft.com/office/drawing/2014/main" id="{67F84FE0-0A02-4D9A-9B98-9615EECF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362135"/>
            <a:ext cx="2267839" cy="581025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29" name="implementation-input-accent-1">
            <a:extLst xmlns:a="http://schemas.openxmlformats.org/drawingml/2006/main">
              <a:ext uri="{FF2B5EF4-FFF2-40B4-BE49-F238E27FC236}">
                <a16:creationId xmlns:a16="http://schemas.microsoft.com/office/drawing/2014/main" id="{57DC87ED-02C5-449B-9B9C-194F4DA2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419285"/>
            <a:ext cx="476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7CA"/>
          </a:solidFill>
          <a:ln xmlns:a="http://schemas.openxmlformats.org/drawingml/2006/main" w="0">
            <a:noFill/>
          </a:ln>
        </p:spPr>
      </p:sp>
      <p:sp>
        <p:nvSpPr>
          <p:cNvPr id="30" name="implementation-input-1-0">
            <a:extLst xmlns:a="http://schemas.openxmlformats.org/drawingml/2006/main">
              <a:ext uri="{FF2B5EF4-FFF2-40B4-BE49-F238E27FC236}">
                <a16:creationId xmlns:a16="http://schemas.microsoft.com/office/drawing/2014/main" id="{B582CB37-FE30-49AF-9EA7-F7B6954F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438335"/>
            <a:ext cx="203923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信息系统支撑</a:t>
            </a:r>
          </a:p>
        </p:txBody>
      </p:sp>
      <p:sp>
        <p:nvSpPr>
          <p:cNvPr id="31" name="implementation-input-1-1">
            <a:extLst xmlns:a="http://schemas.openxmlformats.org/drawingml/2006/main">
              <a:ext uri="{FF2B5EF4-FFF2-40B4-BE49-F238E27FC236}">
                <a16:creationId xmlns:a16="http://schemas.microsoft.com/office/drawing/2014/main" id="{03598B14-5E09-4790-807A-FAEA1C80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652647"/>
            <a:ext cx="203923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能力仍有差距</a:t>
            </a:r>
          </a:p>
        </p:txBody>
      </p:sp>
      <p:sp>
        <p:nvSpPr>
          <p:cNvPr id="32" name="implementation-input-2">
            <a:extLst xmlns:a="http://schemas.openxmlformats.org/drawingml/2006/main">
              <a:ext uri="{FF2B5EF4-FFF2-40B4-BE49-F238E27FC236}">
                <a16:creationId xmlns:a16="http://schemas.microsoft.com/office/drawing/2014/main" id="{B34D2DF6-FDCA-4DE2-914A-06CE2739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81272"/>
            <a:ext cx="2267839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33" name="implementation-input-accent-2">
            <a:extLst xmlns:a="http://schemas.openxmlformats.org/drawingml/2006/main">
              <a:ext uri="{FF2B5EF4-FFF2-40B4-BE49-F238E27FC236}">
                <a16:creationId xmlns:a16="http://schemas.microsoft.com/office/drawing/2014/main" id="{E4AEC5C7-4990-4D62-A376-C0AF8D1E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138422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7DBD"/>
          </a:solidFill>
          <a:ln xmlns:a="http://schemas.openxmlformats.org/drawingml/2006/main" w="0">
            <a:noFill/>
          </a:ln>
        </p:spPr>
      </p:sp>
      <p:sp>
        <p:nvSpPr>
          <p:cNvPr id="34" name="implementation-input-2-0">
            <a:extLst xmlns:a="http://schemas.openxmlformats.org/drawingml/2006/main">
              <a:ext uri="{FF2B5EF4-FFF2-40B4-BE49-F238E27FC236}">
                <a16:creationId xmlns:a16="http://schemas.microsoft.com/office/drawing/2014/main" id="{8EC32F04-E6D1-462F-9191-208E5DCC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202716"/>
            <a:ext cx="2039239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缺乏市场化管理机制</a:t>
            </a:r>
          </a:p>
        </p:txBody>
      </p:sp>
      <p:sp>
        <p:nvSpPr>
          <p:cNvPr id="35" name="implementation-result">
            <a:extLst xmlns:a="http://schemas.openxmlformats.org/drawingml/2006/main">
              <a:ext uri="{FF2B5EF4-FFF2-40B4-BE49-F238E27FC236}">
                <a16:creationId xmlns:a16="http://schemas.microsoft.com/office/drawing/2014/main" id="{EEF0C711-AC01-4487-A85B-A236EA61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751" y="3176397"/>
            <a:ext cx="1272767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3361AE"/>
          </a:solidFill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36" name="implementation-result-0">
            <a:extLst xmlns:a="http://schemas.openxmlformats.org/drawingml/2006/main">
              <a:ext uri="{FF2B5EF4-FFF2-40B4-BE49-F238E27FC236}">
                <a16:creationId xmlns:a16="http://schemas.microsoft.com/office/drawing/2014/main" id="{89EF5787-A413-423B-80E3-DB6E9157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051" y="3438335"/>
            <a:ext cx="1044167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变革落地</a:t>
            </a:r>
          </a:p>
        </p:txBody>
      </p:sp>
      <p:sp>
        <p:nvSpPr>
          <p:cNvPr id="37" name="implementation-result-1">
            <a:extLst xmlns:a="http://schemas.openxmlformats.org/drawingml/2006/main">
              <a:ext uri="{FF2B5EF4-FFF2-40B4-BE49-F238E27FC236}">
                <a16:creationId xmlns:a16="http://schemas.microsoft.com/office/drawing/2014/main" id="{2A50660A-6D4D-4446-BD2A-440FF8D3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051" y="3652647"/>
            <a:ext cx="1044167" cy="214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阻力重重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8FBC92-7C31-4CC6-9896-E63505010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24210"/>
            <a:ext cx="51616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39" name="compliance-heading-wash">
            <a:extLst xmlns:a="http://schemas.openxmlformats.org/drawingml/2006/main">
              <a:ext uri="{FF2B5EF4-FFF2-40B4-BE49-F238E27FC236}">
                <a16:creationId xmlns:a16="http://schemas.microsoft.com/office/drawing/2014/main" id="{0BDE943B-E525-493D-8EC8-58ED354D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800410"/>
            <a:ext cx="4704443" cy="3046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5"/>
          </a:solidFill>
          <a:ln xmlns:a="http://schemas.openxmlformats.org/drawingml/2006/main" w="0">
            <a:noFill/>
          </a:ln>
        </p:spPr>
      </p:sp>
      <p:sp>
        <p:nvSpPr>
          <p:cNvPr id="40" name="compliance-number-0">
            <a:extLst xmlns:a="http://schemas.openxmlformats.org/drawingml/2006/main">
              <a:ext uri="{FF2B5EF4-FFF2-40B4-BE49-F238E27FC236}">
                <a16:creationId xmlns:a16="http://schemas.microsoft.com/office/drawing/2014/main" id="{763C3B34-2A3A-4FC1-8C52-E7533CD4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310"/>
            <a:ext cx="419100" cy="368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897CA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100" b="0">
                <a:solidFill>
                  <a:srgbClr val="7897CA"/>
                </a:solidFill>
                <a:latin typeface="HYWenRunSongYun U"/>
                <a:ea typeface="HYWenRunSongYun U"/>
                <a:cs typeface="HYWenRunSongYun U"/>
              </a:rPr>
              <a:t>02</a:t>
            </a:r>
          </a:p>
        </p:txBody>
      </p:sp>
      <p:sp>
        <p:nvSpPr>
          <p:cNvPr id="41" name="compliance-label-0">
            <a:extLst xmlns:a="http://schemas.openxmlformats.org/drawingml/2006/main">
              <a:ext uri="{FF2B5EF4-FFF2-40B4-BE49-F238E27FC236}">
                <a16:creationId xmlns:a16="http://schemas.microsoft.com/office/drawing/2014/main" id="{4CBC7B83-EE75-4943-AD42-4ACD4C5F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809935"/>
            <a:ext cx="4628243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合规管理短板亟待提升</a:t>
            </a:r>
          </a:p>
        </p:txBody>
      </p:sp>
      <p:sp>
        <p:nvSpPr>
          <p:cNvPr id="42" name="compliance-body-0">
            <a:extLst xmlns:a="http://schemas.openxmlformats.org/drawingml/2006/main">
              <a:ext uri="{FF2B5EF4-FFF2-40B4-BE49-F238E27FC236}">
                <a16:creationId xmlns:a16="http://schemas.microsoft.com/office/drawing/2014/main" id="{A800902D-EB8E-41B0-827A-EE206B0E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152644"/>
            <a:ext cx="46282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2017年巡视整改取得一定成效，也暴露</a:t>
            </a:r>
          </a:p>
        </p:txBody>
      </p:sp>
      <p:sp>
        <p:nvSpPr>
          <p:cNvPr id="43" name="compliance-body-1">
            <a:extLst xmlns:a="http://schemas.openxmlformats.org/drawingml/2006/main">
              <a:ext uri="{FF2B5EF4-FFF2-40B4-BE49-F238E27FC236}">
                <a16:creationId xmlns:a16="http://schemas.microsoft.com/office/drawing/2014/main" id="{0FF9888D-92F8-4268-A473-855184DE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400294"/>
            <a:ext cx="46282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人力条线基础管理薄弱：认识待提升、</a:t>
            </a:r>
          </a:p>
        </p:txBody>
      </p:sp>
      <p:sp>
        <p:nvSpPr>
          <p:cNvPr id="44" name="compliance-body-2">
            <a:extLst xmlns:a="http://schemas.openxmlformats.org/drawingml/2006/main">
              <a:ext uri="{FF2B5EF4-FFF2-40B4-BE49-F238E27FC236}">
                <a16:creationId xmlns:a16="http://schemas.microsoft.com/office/drawing/2014/main" id="{F03D2A0F-F79F-4379-8ED4-56DDEC6D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647944"/>
            <a:ext cx="462824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作风待转变、能力待增强、协同待深化。</a:t>
            </a:r>
          </a:p>
        </p:txBody>
      </p:sp>
      <p:sp>
        <p:nvSpPr>
          <p:cNvPr id="45" name="insights-0">
            <a:extLst xmlns:a="http://schemas.openxmlformats.org/drawingml/2006/main">
              <a:ext uri="{FF2B5EF4-FFF2-40B4-BE49-F238E27FC236}">
                <a16:creationId xmlns:a16="http://schemas.microsoft.com/office/drawing/2014/main" id="{F42826EF-78E2-46BF-9166-75ABCBB8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1581150"/>
            <a:ext cx="56778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四点感悟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EADD1C-FCC2-4BBF-AD19-D65C0760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1905000"/>
            <a:ext cx="56778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47" name="index-rail-insights">
            <a:extLst xmlns:a="http://schemas.openxmlformats.org/drawingml/2006/main">
              <a:ext uri="{FF2B5EF4-FFF2-40B4-BE49-F238E27FC236}">
                <a16:creationId xmlns:a16="http://schemas.microsoft.com/office/drawing/2014/main" id="{87F1DD24-1F90-4B1E-AB4E-A67E4997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1768" y="2171700"/>
            <a:ext cx="0" cy="329507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48" name="language-heading-wash">
            <a:extLst xmlns:a="http://schemas.openxmlformats.org/drawingml/2006/main">
              <a:ext uri="{FF2B5EF4-FFF2-40B4-BE49-F238E27FC236}">
                <a16:creationId xmlns:a16="http://schemas.microsoft.com/office/drawing/2014/main" id="{3C55A1DD-FC4B-44B2-BEA1-9B21612E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518" y="1990725"/>
            <a:ext cx="5220607" cy="3046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5"/>
          </a:solidFill>
          <a:ln xmlns:a="http://schemas.openxmlformats.org/drawingml/2006/main" w="0">
            <a:noFill/>
          </a:ln>
        </p:spPr>
      </p:sp>
      <p:sp>
        <p:nvSpPr>
          <p:cNvPr id="49" name="language-index-backing">
            <a:extLst xmlns:a="http://schemas.openxmlformats.org/drawingml/2006/main">
              <a:ext uri="{FF2B5EF4-FFF2-40B4-BE49-F238E27FC236}">
                <a16:creationId xmlns:a16="http://schemas.microsoft.com/office/drawing/2014/main" id="{E20D6DA4-DD70-4FBE-BD3E-48F4D5007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1962150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0" name="language-number-0">
            <a:extLst xmlns:a="http://schemas.openxmlformats.org/drawingml/2006/main">
              <a:ext uri="{FF2B5EF4-FFF2-40B4-BE49-F238E27FC236}">
                <a16:creationId xmlns:a16="http://schemas.microsoft.com/office/drawing/2014/main" id="{0598F21B-2A85-4BA0-B549-70E1584C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1952625"/>
            <a:ext cx="419100" cy="368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361AE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100" b="0">
                <a:solidFill>
                  <a:srgbClr val="3361AE"/>
                </a:solidFill>
                <a:latin typeface="HYWenRunSongYun U"/>
                <a:ea typeface="HYWenRunSongYun U"/>
                <a:cs typeface="HYWenRunSongYun U"/>
              </a:rPr>
              <a:t>01</a:t>
            </a:r>
          </a:p>
        </p:txBody>
      </p:sp>
      <p:sp>
        <p:nvSpPr>
          <p:cNvPr id="51" name="language-label-0">
            <a:extLst xmlns:a="http://schemas.openxmlformats.org/drawingml/2006/main">
              <a:ext uri="{FF2B5EF4-FFF2-40B4-BE49-F238E27FC236}">
                <a16:creationId xmlns:a16="http://schemas.microsoft.com/office/drawing/2014/main" id="{94E1CA4A-28A6-4EDC-8CF6-6BE69480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2000250"/>
            <a:ext cx="51444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统一语言，促进业务与人力协同</a:t>
            </a:r>
          </a:p>
        </p:txBody>
      </p:sp>
      <p:sp>
        <p:nvSpPr>
          <p:cNvPr id="52" name="language-body-0">
            <a:extLst xmlns:a="http://schemas.openxmlformats.org/drawingml/2006/main">
              <a:ext uri="{FF2B5EF4-FFF2-40B4-BE49-F238E27FC236}">
                <a16:creationId xmlns:a16="http://schemas.microsoft.com/office/drawing/2014/main" id="{6C5213FD-FF75-4D66-9B5A-A4020AF1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2342960"/>
            <a:ext cx="51444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沿BLM管理模型统一语言、目标、策略，贯通业务战略、</a:t>
            </a:r>
          </a:p>
        </p:txBody>
      </p:sp>
      <p:sp>
        <p:nvSpPr>
          <p:cNvPr id="53" name="language-body-1">
            <a:extLst xmlns:a="http://schemas.openxmlformats.org/drawingml/2006/main">
              <a:ext uri="{FF2B5EF4-FFF2-40B4-BE49-F238E27FC236}">
                <a16:creationId xmlns:a16="http://schemas.microsoft.com/office/drawing/2014/main" id="{5B9EB57C-0270-4476-A3B7-683B0412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2590610"/>
            <a:ext cx="51444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人力战略规划与落地方案，达成“三个市场化”转型目标。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F56E57F-0444-401A-9A8F-7FFAA472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3009710"/>
            <a:ext cx="51444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55" name="criterion-heading-wash">
            <a:extLst xmlns:a="http://schemas.openxmlformats.org/drawingml/2006/main">
              <a:ext uri="{FF2B5EF4-FFF2-40B4-BE49-F238E27FC236}">
                <a16:creationId xmlns:a16="http://schemas.microsoft.com/office/drawing/2014/main" id="{18B6CD7A-F22F-46D1-90F8-563A775D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518" y="3171635"/>
            <a:ext cx="5220607" cy="3046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5"/>
          </a:solidFill>
          <a:ln xmlns:a="http://schemas.openxmlformats.org/drawingml/2006/main" w="0">
            <a:noFill/>
          </a:ln>
        </p:spPr>
      </p:sp>
      <p:sp>
        <p:nvSpPr>
          <p:cNvPr id="56" name="criterion-index-backing">
            <a:extLst xmlns:a="http://schemas.openxmlformats.org/drawingml/2006/main">
              <a:ext uri="{FF2B5EF4-FFF2-40B4-BE49-F238E27FC236}">
                <a16:creationId xmlns:a16="http://schemas.microsoft.com/office/drawing/2014/main" id="{6225888E-836A-417B-BC8A-F19C930A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3143060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7" name="criterion-number-0">
            <a:extLst xmlns:a="http://schemas.openxmlformats.org/drawingml/2006/main">
              <a:ext uri="{FF2B5EF4-FFF2-40B4-BE49-F238E27FC236}">
                <a16:creationId xmlns:a16="http://schemas.microsoft.com/office/drawing/2014/main" id="{5B757E85-75DF-4D5B-9F4D-42B158F4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3133535"/>
            <a:ext cx="419100" cy="368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361AE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100" b="0">
                <a:solidFill>
                  <a:srgbClr val="3361AE"/>
                </a:solidFill>
                <a:latin typeface="HYWenRunSongYun U"/>
                <a:ea typeface="HYWenRunSongYun U"/>
                <a:cs typeface="HYWenRunSongYun U"/>
              </a:rPr>
              <a:t>02</a:t>
            </a:r>
          </a:p>
        </p:txBody>
      </p:sp>
      <p:sp>
        <p:nvSpPr>
          <p:cNvPr id="58" name="criterion-label-0">
            <a:extLst xmlns:a="http://schemas.openxmlformats.org/drawingml/2006/main">
              <a:ext uri="{FF2B5EF4-FFF2-40B4-BE49-F238E27FC236}">
                <a16:creationId xmlns:a16="http://schemas.microsoft.com/office/drawing/2014/main" id="{D85152F7-274B-4541-825B-2D2C99D6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3181160"/>
            <a:ext cx="51444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解决实际问题是唯一检验标准</a:t>
            </a:r>
          </a:p>
        </p:txBody>
      </p:sp>
      <p:sp>
        <p:nvSpPr>
          <p:cNvPr id="59" name="criterion-body-0">
            <a:extLst xmlns:a="http://schemas.openxmlformats.org/drawingml/2006/main">
              <a:ext uri="{FF2B5EF4-FFF2-40B4-BE49-F238E27FC236}">
                <a16:creationId xmlns:a16="http://schemas.microsoft.com/office/drawing/2014/main" id="{283DC870-8494-49A2-B976-DF1CA7AE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3523869"/>
            <a:ext cx="51444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以能否解决实际问题检验变革成效，力求落地有实效。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9D5D3B7-91E3-44B8-B348-0F92BFC8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3942969"/>
            <a:ext cx="51444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61" name="iteration-heading-wash">
            <a:extLst xmlns:a="http://schemas.openxmlformats.org/drawingml/2006/main">
              <a:ext uri="{FF2B5EF4-FFF2-40B4-BE49-F238E27FC236}">
                <a16:creationId xmlns:a16="http://schemas.microsoft.com/office/drawing/2014/main" id="{C364CEC1-9AE4-4D85-8CA6-A09C1043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518" y="4104894"/>
            <a:ext cx="5220607" cy="3046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5"/>
          </a:solidFill>
          <a:ln xmlns:a="http://schemas.openxmlformats.org/drawingml/2006/main" w="0">
            <a:noFill/>
          </a:ln>
        </p:spPr>
      </p:sp>
      <p:sp>
        <p:nvSpPr>
          <p:cNvPr id="62" name="iteration-index-backing">
            <a:extLst xmlns:a="http://schemas.openxmlformats.org/drawingml/2006/main">
              <a:ext uri="{FF2B5EF4-FFF2-40B4-BE49-F238E27FC236}">
                <a16:creationId xmlns:a16="http://schemas.microsoft.com/office/drawing/2014/main" id="{31332B39-9F7E-4B84-8AE8-692EDB10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4076319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3" name="iteration-number-0">
            <a:extLst xmlns:a="http://schemas.openxmlformats.org/drawingml/2006/main">
              <a:ext uri="{FF2B5EF4-FFF2-40B4-BE49-F238E27FC236}">
                <a16:creationId xmlns:a16="http://schemas.microsoft.com/office/drawing/2014/main" id="{408CE865-2056-4EB7-B0C3-FE55A0FA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4066794"/>
            <a:ext cx="419100" cy="368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361AE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100" b="0">
                <a:solidFill>
                  <a:srgbClr val="3361AE"/>
                </a:solidFill>
                <a:latin typeface="HYWenRunSongYun U"/>
                <a:ea typeface="HYWenRunSongYun U"/>
                <a:cs typeface="HYWenRunSongYun U"/>
              </a:rPr>
              <a:t>03</a:t>
            </a:r>
          </a:p>
        </p:txBody>
      </p:sp>
      <p:sp>
        <p:nvSpPr>
          <p:cNvPr id="64" name="iteration-label-0">
            <a:extLst xmlns:a="http://schemas.openxmlformats.org/drawingml/2006/main">
              <a:ext uri="{FF2B5EF4-FFF2-40B4-BE49-F238E27FC236}">
                <a16:creationId xmlns:a16="http://schemas.microsoft.com/office/drawing/2014/main" id="{5F715A4D-C824-4C28-999B-77CD1D0F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4114419"/>
            <a:ext cx="51444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顶层设计持续迭代</a:t>
            </a:r>
          </a:p>
        </p:txBody>
      </p:sp>
      <p:sp>
        <p:nvSpPr>
          <p:cNvPr id="65" name="iteration-body-0">
            <a:extLst xmlns:a="http://schemas.openxmlformats.org/drawingml/2006/main">
              <a:ext uri="{FF2B5EF4-FFF2-40B4-BE49-F238E27FC236}">
                <a16:creationId xmlns:a16="http://schemas.microsoft.com/office/drawing/2014/main" id="{FF3E9691-1351-4840-9406-48E2F193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4457129"/>
            <a:ext cx="51444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加速试点、小步快跑；对标行业优秀</a:t>
            </a:r>
          </a:p>
        </p:txBody>
      </p:sp>
      <p:sp>
        <p:nvSpPr>
          <p:cNvPr id="66" name="iteration-body-1">
            <a:extLst xmlns:a="http://schemas.openxmlformats.org/drawingml/2006/main">
              <a:ext uri="{FF2B5EF4-FFF2-40B4-BE49-F238E27FC236}">
                <a16:creationId xmlns:a16="http://schemas.microsoft.com/office/drawing/2014/main" id="{76A0D596-FAB1-4B5B-B99F-A2693CFF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4704779"/>
            <a:ext cx="51444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实践，结合落地成效持续优化体系。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6565C47-2B5B-464F-864B-0EE2C199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5123879"/>
            <a:ext cx="514440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6C6E2"/>
            </a:solidFill>
          </a:ln>
        </p:spPr>
      </p:sp>
      <p:sp>
        <p:nvSpPr>
          <p:cNvPr id="68" name="coordination-heading-wash">
            <a:extLst xmlns:a="http://schemas.openxmlformats.org/drawingml/2006/main">
              <a:ext uri="{FF2B5EF4-FFF2-40B4-BE49-F238E27FC236}">
                <a16:creationId xmlns:a16="http://schemas.microsoft.com/office/drawing/2014/main" id="{345FF442-96CE-4CEC-B8B0-BAF45FA1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7518" y="5285804"/>
            <a:ext cx="5220607" cy="3046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CF5"/>
          </a:solidFill>
          <a:ln xmlns:a="http://schemas.openxmlformats.org/drawingml/2006/main" w="0">
            <a:noFill/>
          </a:ln>
        </p:spPr>
      </p:sp>
      <p:sp>
        <p:nvSpPr>
          <p:cNvPr id="69" name="coordination-index-backing">
            <a:extLst xmlns:a="http://schemas.openxmlformats.org/drawingml/2006/main">
              <a:ext uri="{FF2B5EF4-FFF2-40B4-BE49-F238E27FC236}">
                <a16:creationId xmlns:a16="http://schemas.microsoft.com/office/drawing/2014/main" id="{400B3E34-FF1E-4699-8C37-98A882AF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5257229"/>
            <a:ext cx="361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0" name="coordination-number-0">
            <a:extLst xmlns:a="http://schemas.openxmlformats.org/drawingml/2006/main">
              <a:ext uri="{FF2B5EF4-FFF2-40B4-BE49-F238E27FC236}">
                <a16:creationId xmlns:a16="http://schemas.microsoft.com/office/drawing/2014/main" id="{EA6543E1-A9DC-4BFE-A0D9-5A86438A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318" y="5247704"/>
            <a:ext cx="419100" cy="3680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361AE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100" b="0">
                <a:solidFill>
                  <a:srgbClr val="3361AE"/>
                </a:solidFill>
                <a:latin typeface="HYWenRunSongYun U"/>
                <a:ea typeface="HYWenRunSongYun U"/>
                <a:cs typeface="HYWenRunSongYun U"/>
              </a:rPr>
              <a:t>04</a:t>
            </a:r>
          </a:p>
        </p:txBody>
      </p:sp>
      <p:sp>
        <p:nvSpPr>
          <p:cNvPr id="71" name="coordination-label-0">
            <a:extLst xmlns:a="http://schemas.openxmlformats.org/drawingml/2006/main">
              <a:ext uri="{FF2B5EF4-FFF2-40B4-BE49-F238E27FC236}">
                <a16:creationId xmlns:a16="http://schemas.microsoft.com/office/drawing/2014/main" id="{E69331E6-2409-4384-8E93-45D3CB88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5295329"/>
            <a:ext cx="5144407" cy="276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3865"/>
                </a:solidFill>
                <a:latin typeface="Microsoft YaHei"/>
                <a:ea typeface="Microsoft YaHei"/>
                <a:cs typeface="Microsoft YaHei"/>
              </a:rPr>
              <a:t>统筹变革、合规与作风</a:t>
            </a:r>
          </a:p>
        </p:txBody>
      </p:sp>
      <p:sp>
        <p:nvSpPr>
          <p:cNvPr id="72" name="coordination-body-0">
            <a:extLst xmlns:a="http://schemas.openxmlformats.org/drawingml/2006/main">
              <a:ext uri="{FF2B5EF4-FFF2-40B4-BE49-F238E27FC236}">
                <a16:creationId xmlns:a16="http://schemas.microsoft.com/office/drawing/2014/main" id="{DD9E9F34-2313-44AB-B790-F696A5C7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5638038"/>
            <a:ext cx="51444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变革是硬道理，合规是硬要求，作风是硬标准；以规范管理的</a:t>
            </a:r>
          </a:p>
        </p:txBody>
      </p:sp>
      <p:sp>
        <p:nvSpPr>
          <p:cNvPr id="73" name="coordination-body-1">
            <a:extLst xmlns:a="http://schemas.openxmlformats.org/drawingml/2006/main">
              <a:ext uri="{FF2B5EF4-FFF2-40B4-BE49-F238E27FC236}">
                <a16:creationId xmlns:a16="http://schemas.microsoft.com/office/drawing/2014/main" id="{A0AB412A-0E46-44A1-BAE9-8E64CB32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3718" y="5885688"/>
            <a:ext cx="5144407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效率强化转型力度，以优良的思想、工作和战斗作风加快转型。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2026-09-19T20:55:29.0920000Z</dcterms:created>
  <dcterms:modified xsi:type="dcterms:W3CDTF">2026-09-19T20:55:29.0920000Z</dcterms:modified>
</coreProperties>
</file>