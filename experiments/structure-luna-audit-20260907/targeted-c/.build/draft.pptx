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2854ccfc940c7" /><Relationship Type="http://schemas.openxmlformats.org/officeDocument/2006/relationships/extended-properties" Target="/docProps/app.xml" Id="Rd512b96eb00947e5" /><Relationship Type="http://schemas.openxmlformats.org/officeDocument/2006/relationships/officeDocument" Target="/ppt/presentation.xml" Id="R0a0c4128c76b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e62a8f3ed42af"/>
  </p:sldMasterIdLst>
  <p:notesMasterIdLst>
    <p:notesMasterId xmlns:r="http://schemas.openxmlformats.org/officeDocument/2006/relationships" r:id="R34dda11ea39a4988"/>
  </p:notesMasterIdLst>
  <p:sldIdLst>
    <p:sldId xmlns:r="http://schemas.openxmlformats.org/officeDocument/2006/relationships" id="256" r:id="Rfd99079cde124144"/>
    <p:sldId xmlns:r="http://schemas.openxmlformats.org/officeDocument/2006/relationships" id="257" r:id="R922c291c6cb24599"/>
    <p:sldId xmlns:r="http://schemas.openxmlformats.org/officeDocument/2006/relationships" id="258" r:id="R364b7eb8c2064d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0157868d024c52" /><Relationship Type="http://schemas.openxmlformats.org/officeDocument/2006/relationships/slideMaster" Target="/ppt/slideMasters/slideMaster1.xml" Id="R395e62a8f3ed42af" /><Relationship Type="http://schemas.openxmlformats.org/officeDocument/2006/relationships/notesMaster" Target="/ppt/notesMasters/notesMaster1.xml" Id="R34dda11ea39a4988" /><Relationship Type="http://schemas.openxmlformats.org/officeDocument/2006/relationships/presProps" Target="/ppt/presProps.xml" Id="R51545b81da524211" /><Relationship Type="http://schemas.openxmlformats.org/officeDocument/2006/relationships/tableStyles" Target="/ppt/tableStyles.xml" Id="Rcf4ce0fa22c94ae9" /><Relationship Type="http://schemas.openxmlformats.org/officeDocument/2006/relationships/slide" Target="/ppt/slides/slide1.xml" Id="Rfd99079cde124144" /><Relationship Type="http://schemas.openxmlformats.org/officeDocument/2006/relationships/slide" Target="/ppt/slides/slide2.xml" Id="R922c291c6cb24599" /><Relationship Type="http://schemas.openxmlformats.org/officeDocument/2006/relationships/slide" Target="/ppt/slides/slide3.xml" Id="R364b7eb8c2064d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1e2b61ff0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04f9624784dff" /><Relationship Type="http://schemas.openxmlformats.org/officeDocument/2006/relationships/notesMaster" Target="/ppt/notesMasters/notesMaster1.xml" Id="R87ec8293ec884d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42351f87f4c10" /><Relationship Type="http://schemas.openxmlformats.org/officeDocument/2006/relationships/notesMaster" Target="/ppt/notesMasters/notesMaster1.xml" Id="R4194a6d215a8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dd7a7c3b34f69" /><Relationship Type="http://schemas.openxmlformats.org/officeDocument/2006/relationships/notesMaster" Target="/ppt/notesMasters/notesMaster1.xml" Id="R384b656239324b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来源稿件：case-12 把初步想法逐层筛成可验证假设</a:t>
            </a:r>
          </a:p>
          <a:p xmlns:a="http://schemas.openxmlformats.org/drawingml/2006/main">
            <a:r>
              <a:t>结构 Skill：convergence-simple-funnel-001</a:t>
            </a:r>
          </a:p>
          <a:p xmlns:a="http://schemas.openxmlformats.org/drawingml/2006/main">
            <a:r>
              <a:t>本次保留：独立曲面层共享中轴并逐层收窄；由上到下渐强的随形导流箭头；入口想法与末端可验证假设保持清楚留白</a:t>
            </a:r>
          </a:p>
          <a:p xmlns:a="http://schemas.openxmlformats.org/drawingml/2006/main">
            <a:r>
              <a:t>指定补测原因：五道筛选连续收窄，漏斗比阶段门禁更贴合稿件的范围收敛语义。</a:t>
            </a:r>
          </a:p>
          <a:p xmlns:a="http://schemas.openxmlformats.org/drawingml/2006/main">
            <a:r>
              <a:t>验证：invokeStructure 返回 rendered-unreviewed，随后导出、重新导入、layout 与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来源稿件：case-18 统一知识入口支持多项工作</a:t>
            </a:r>
          </a:p>
          <a:p xmlns:a="http://schemas.openxmlformats.org/drawingml/2006/main">
            <a:r>
              <a:t>结构 Skill：hub-directed-outcomes-002</a:t>
            </a:r>
          </a:p>
          <a:p xmlns:a="http://schemas.openxmlformats.org/drawingml/2006/main">
            <a:r>
              <a:t>本次保留：唯一中心连接同级外围节点；中心向外的连续径向箭头承担支持语义；七项外围工作不形成先后流程</a:t>
            </a:r>
          </a:p>
          <a:p xmlns:a="http://schemas.openxmlformats.org/drawingml/2006/main">
            <a:r>
              <a:t>指定补测原因：唯一知识入口向七项并列工作提供支持，外围之间没有流程。</a:t>
            </a:r>
          </a:p>
          <a:p xmlns:a="http://schemas.openxmlformats.org/drawingml/2006/main">
            <a:r>
              <a:t>验证：invokeStructure 返回 rendered-unreviewed，随后导出、重新导入、layout 与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来源稿件：case-30 能力成长经历持续攀升的里程点</a:t>
            </a:r>
          </a:p>
          <a:p xmlns:a="http://schemas.openxmlformats.org/drawingml/2006/main">
            <a:r>
              <a:t>结构 Skill：progression-growth-curve-004</a:t>
            </a:r>
          </a:p>
          <a:p xmlns:a="http://schemas.openxmlformats.org/drawingml/2006/main">
            <a:r>
              <a:t>本次保留：同色阶多边形构成共享山脉；上山路径连接五个关键峰顶；里程点与局部峰节点对应并持续抬升</a:t>
            </a:r>
          </a:p>
          <a:p xmlns:a="http://schemas.openxmlformats.org/drawingml/2006/main">
            <a:r>
              <a:t>指定补测原因：稿件强调连续攀升和里程点，采用共享山脊与上山路径，而非离散矩形阶梯。</a:t>
            </a:r>
          </a:p>
          <a:p xmlns:a="http://schemas.openxmlformats.org/drawingml/2006/main">
            <a:r>
              <a:t>验证：invokeStructure 返回 rendered-unreviewed，随后导出、重新导入、layout 与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e381c897b4f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ccba2f5a14a49" /><Relationship Type="http://schemas.openxmlformats.org/officeDocument/2006/relationships/slideLayout" Target="/ppt/slideLayouts/slideLayout1.xml" Id="R4dc700a66acf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c700a66acf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0e4db56764acd" /><Relationship Type="http://schemas.openxmlformats.org/officeDocument/2006/relationships/notesSlide" Target="/ppt/notesSlides/notesSlide1.xml" Id="Rb62c9148d25448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cfd8597ce4f34" /><Relationship Type="http://schemas.openxmlformats.org/officeDocument/2006/relationships/notesSlide" Target="/ppt/notesSlides/notesSlide2.xml" Id="Rd968dbf3056344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e7732d49d4586" /><Relationship Type="http://schemas.openxmlformats.org/officeDocument/2006/relationships/notesSlide" Target="/ppt/notesSlides/notesSlide3.xml" Id="R24c956c5cb9a43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62590D-52CE-4073-8B39-06C7E34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7D09F-0763-4480-BDFF-8E30DB0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把初步想法逐层筛成可验证假设</a:t>
            </a:r>
          </a:p>
        </p:txBody>
      </p:sp>
      <p:sp>
        <p:nvSpPr>
          <p:cNvPr id="3" name="header-rule-0">
            <a:extLst xmlns:a="http://schemas.openxmlformats.org/drawingml/2006/main">
              <a:ext uri="{FF2B5EF4-FFF2-40B4-BE49-F238E27FC236}">
                <a16:creationId xmlns:a16="http://schemas.microsoft.com/office/drawing/2014/main" id="{B0D94A3F-841F-4813-B8CF-F353463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EEAD1-0732-4E1A-A1DD-F8C94F61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指定结构补测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DF9F4-AFD3-4F94-839F-957BA7C8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原生结构按稿件重算</a:t>
            </a:r>
          </a:p>
        </p:txBody>
      </p:sp>
      <p:sp>
        <p:nvSpPr>
          <p:cNvPr id="6" name="funnel-layer-1">
            <a:extLst xmlns:a="http://schemas.openxmlformats.org/drawingml/2006/main">
              <a:ext uri="{FF2B5EF4-FFF2-40B4-BE49-F238E27FC236}">
                <a16:creationId xmlns:a16="http://schemas.microsoft.com/office/drawing/2014/main" id="{BB0DF092-E110-4CE8-956E-A8B6CE4F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85975"/>
            <a:ext cx="3905250" cy="636270"/>
          </a:xfrm>
          <a:custGeom xmlns:a="http://schemas.openxmlformats.org/drawingml/2006/main">
            <a:pathLst>
              <a:path w="3905250" h="636270">
                <a:moveTo>
                  <a:pt x="0" y="0"/>
                </a:moveTo>
                <a:lnTo>
                  <a:pt x="19050" y="117958"/>
                </a:lnTo>
                <a:lnTo>
                  <a:pt x="271535" y="388620"/>
                </a:lnTo>
                <a:lnTo>
                  <a:pt x="347735" y="493395"/>
                </a:lnTo>
                <a:lnTo>
                  <a:pt x="1952625" y="636270"/>
                </a:lnTo>
                <a:lnTo>
                  <a:pt x="3557515" y="493395"/>
                </a:lnTo>
                <a:lnTo>
                  <a:pt x="3633715" y="388620"/>
                </a:lnTo>
                <a:lnTo>
                  <a:pt x="3886200" y="117958"/>
                </a:lnTo>
                <a:lnTo>
                  <a:pt x="390525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funnel-top-cap-1">
            <a:extLst xmlns:a="http://schemas.openxmlformats.org/drawingml/2006/main">
              <a:ext uri="{FF2B5EF4-FFF2-40B4-BE49-F238E27FC236}">
                <a16:creationId xmlns:a16="http://schemas.microsoft.com/office/drawing/2014/main" id="{F17B8F10-FA82-41F6-8287-921C042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18811"/>
            <a:ext cx="39052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funnel-bottom-cap-1">
            <a:extLst xmlns:a="http://schemas.openxmlformats.org/drawingml/2006/main">
              <a:ext uri="{FF2B5EF4-FFF2-40B4-BE49-F238E27FC236}">
                <a16:creationId xmlns:a16="http://schemas.microsoft.com/office/drawing/2014/main" id="{2C654A71-2FA1-4476-A673-C69FBB3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910" y="2474595"/>
            <a:ext cx="3362181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funnel-layer-2">
            <a:extLst xmlns:a="http://schemas.openxmlformats.org/drawingml/2006/main">
              <a:ext uri="{FF2B5EF4-FFF2-40B4-BE49-F238E27FC236}">
                <a16:creationId xmlns:a16="http://schemas.microsoft.com/office/drawing/2014/main" id="{A70AD497-D793-4E93-8E5D-ACD52B2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00" y="2798445"/>
            <a:ext cx="3309399" cy="636270"/>
          </a:xfrm>
          <a:custGeom xmlns:a="http://schemas.openxmlformats.org/drawingml/2006/main">
            <a:pathLst>
              <a:path w="3309399" h="636270">
                <a:moveTo>
                  <a:pt x="0" y="0"/>
                </a:moveTo>
                <a:lnTo>
                  <a:pt x="19050" y="117958"/>
                </a:lnTo>
                <a:lnTo>
                  <a:pt x="204857" y="388620"/>
                </a:lnTo>
                <a:lnTo>
                  <a:pt x="281057" y="493395"/>
                </a:lnTo>
                <a:lnTo>
                  <a:pt x="1654700" y="636270"/>
                </a:lnTo>
                <a:lnTo>
                  <a:pt x="3028342" y="493395"/>
                </a:lnTo>
                <a:lnTo>
                  <a:pt x="3104542" y="388620"/>
                </a:lnTo>
                <a:lnTo>
                  <a:pt x="3290349" y="117958"/>
                </a:lnTo>
                <a:lnTo>
                  <a:pt x="3309399" y="0"/>
                </a:lnTo>
                <a:close/>
              </a:path>
            </a:pathLst>
          </a:cu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funnel-top-cap-2">
            <a:extLst xmlns:a="http://schemas.openxmlformats.org/drawingml/2006/main">
              <a:ext uri="{FF2B5EF4-FFF2-40B4-BE49-F238E27FC236}">
                <a16:creationId xmlns:a16="http://schemas.microsoft.com/office/drawing/2014/main" id="{C929C13A-AD51-4D41-956D-AB63937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00" y="2631281"/>
            <a:ext cx="3309399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funnel-bottom-cap-2">
            <a:extLst xmlns:a="http://schemas.openxmlformats.org/drawingml/2006/main">
              <a:ext uri="{FF2B5EF4-FFF2-40B4-BE49-F238E27FC236}">
                <a16:creationId xmlns:a16="http://schemas.microsoft.com/office/drawing/2014/main" id="{F3170B1F-0204-4702-8933-266D7AB5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158" y="3187065"/>
            <a:ext cx="2899685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funnel-layer-3">
            <a:extLst xmlns:a="http://schemas.openxmlformats.org/drawingml/2006/main">
              <a:ext uri="{FF2B5EF4-FFF2-40B4-BE49-F238E27FC236}">
                <a16:creationId xmlns:a16="http://schemas.microsoft.com/office/drawing/2014/main" id="{1507BBDE-C5D6-4AE8-9391-ED6BDB82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334" y="3510915"/>
            <a:ext cx="2853331" cy="636270"/>
          </a:xfrm>
          <a:custGeom xmlns:a="http://schemas.openxmlformats.org/drawingml/2006/main">
            <a:pathLst>
              <a:path w="2853331" h="636270">
                <a:moveTo>
                  <a:pt x="0" y="0"/>
                </a:moveTo>
                <a:lnTo>
                  <a:pt x="19050" y="117958"/>
                </a:lnTo>
                <a:lnTo>
                  <a:pt x="185941" y="388620"/>
                </a:lnTo>
                <a:lnTo>
                  <a:pt x="262141" y="493395"/>
                </a:lnTo>
                <a:lnTo>
                  <a:pt x="1426666" y="636270"/>
                </a:lnTo>
                <a:lnTo>
                  <a:pt x="2591190" y="493395"/>
                </a:lnTo>
                <a:lnTo>
                  <a:pt x="2667390" y="388620"/>
                </a:lnTo>
                <a:lnTo>
                  <a:pt x="2834281" y="117958"/>
                </a:lnTo>
                <a:lnTo>
                  <a:pt x="2853331" y="0"/>
                </a:lnTo>
                <a:close/>
              </a:path>
            </a:pathLst>
          </a:custGeom>
          <a:solidFill xmlns:a="http://schemas.openxmlformats.org/drawingml/2006/main">
            <a:srgbClr val="D1DDDD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funnel-top-cap-3">
            <a:extLst xmlns:a="http://schemas.openxmlformats.org/drawingml/2006/main">
              <a:ext uri="{FF2B5EF4-FFF2-40B4-BE49-F238E27FC236}">
                <a16:creationId xmlns:a16="http://schemas.microsoft.com/office/drawing/2014/main" id="{23FB28AA-9884-43FA-AAFB-2E31F39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334" y="3343751"/>
            <a:ext cx="2853331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DDD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funnel-bottom-cap-3">
            <a:extLst xmlns:a="http://schemas.openxmlformats.org/drawingml/2006/main">
              <a:ext uri="{FF2B5EF4-FFF2-40B4-BE49-F238E27FC236}">
                <a16:creationId xmlns:a16="http://schemas.microsoft.com/office/drawing/2014/main" id="{0A5174D4-216D-4D24-8934-08724C4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275" y="3899535"/>
            <a:ext cx="2481449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DDDD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funnel-layer-4">
            <a:extLst xmlns:a="http://schemas.openxmlformats.org/drawingml/2006/main">
              <a:ext uri="{FF2B5EF4-FFF2-40B4-BE49-F238E27FC236}">
                <a16:creationId xmlns:a16="http://schemas.microsoft.com/office/drawing/2014/main" id="{2D0EFF41-E69C-4062-B303-D442B5B5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785" y="4223385"/>
            <a:ext cx="2438429" cy="636270"/>
          </a:xfrm>
          <a:custGeom xmlns:a="http://schemas.openxmlformats.org/drawingml/2006/main">
            <a:pathLst>
              <a:path w="2438429" h="636270">
                <a:moveTo>
                  <a:pt x="0" y="0"/>
                </a:moveTo>
                <a:lnTo>
                  <a:pt x="19050" y="117958"/>
                </a:lnTo>
                <a:lnTo>
                  <a:pt x="174714" y="388620"/>
                </a:lnTo>
                <a:lnTo>
                  <a:pt x="250914" y="493395"/>
                </a:lnTo>
                <a:lnTo>
                  <a:pt x="1219215" y="636270"/>
                </a:lnTo>
                <a:lnTo>
                  <a:pt x="2187515" y="493395"/>
                </a:lnTo>
                <a:lnTo>
                  <a:pt x="2263715" y="388620"/>
                </a:lnTo>
                <a:lnTo>
                  <a:pt x="2419379" y="117958"/>
                </a:lnTo>
                <a:lnTo>
                  <a:pt x="2438429" y="0"/>
                </a:lnTo>
                <a:close/>
              </a:path>
            </a:pathLst>
          </a:custGeom>
          <a:solidFill xmlns:a="http://schemas.openxmlformats.org/drawingml/2006/main">
            <a:srgbClr val="B9CCD0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funnel-top-cap-4">
            <a:extLst xmlns:a="http://schemas.openxmlformats.org/drawingml/2006/main">
              <a:ext uri="{FF2B5EF4-FFF2-40B4-BE49-F238E27FC236}">
                <a16:creationId xmlns:a16="http://schemas.microsoft.com/office/drawing/2014/main" id="{084A4C61-94A0-405F-9E8C-673F6626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785" y="4056221"/>
            <a:ext cx="2438429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CD0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funnel-bottom-cap-4">
            <a:extLst xmlns:a="http://schemas.openxmlformats.org/drawingml/2006/main">
              <a:ext uri="{FF2B5EF4-FFF2-40B4-BE49-F238E27FC236}">
                <a16:creationId xmlns:a16="http://schemas.microsoft.com/office/drawing/2014/main" id="{7472E05A-24BD-4226-974F-54446710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99" y="4612005"/>
            <a:ext cx="2089002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CD0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funnel-layer-5">
            <a:extLst xmlns:a="http://schemas.openxmlformats.org/drawingml/2006/main">
              <a:ext uri="{FF2B5EF4-FFF2-40B4-BE49-F238E27FC236}">
                <a16:creationId xmlns:a16="http://schemas.microsoft.com/office/drawing/2014/main" id="{EBB4D75E-922C-4497-A86B-15774D89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07" y="4935855"/>
            <a:ext cx="2048186" cy="636270"/>
          </a:xfrm>
          <a:custGeom xmlns:a="http://schemas.openxmlformats.org/drawingml/2006/main">
            <a:pathLst>
              <a:path w="2048186" h="636270">
                <a:moveTo>
                  <a:pt x="0" y="0"/>
                </a:moveTo>
                <a:lnTo>
                  <a:pt x="19050" y="117958"/>
                </a:lnTo>
                <a:lnTo>
                  <a:pt x="166843" y="388620"/>
                </a:lnTo>
                <a:lnTo>
                  <a:pt x="243043" y="493395"/>
                </a:lnTo>
                <a:lnTo>
                  <a:pt x="1024093" y="636270"/>
                </a:lnTo>
                <a:lnTo>
                  <a:pt x="1805143" y="493395"/>
                </a:lnTo>
                <a:lnTo>
                  <a:pt x="1881343" y="388620"/>
                </a:lnTo>
                <a:lnTo>
                  <a:pt x="2029136" y="117958"/>
                </a:lnTo>
                <a:lnTo>
                  <a:pt x="2048186" y="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funnel-top-cap-5">
            <a:extLst xmlns:a="http://schemas.openxmlformats.org/drawingml/2006/main">
              <a:ext uri="{FF2B5EF4-FFF2-40B4-BE49-F238E27FC236}">
                <a16:creationId xmlns:a16="http://schemas.microsoft.com/office/drawing/2014/main" id="{2DFDEEFB-15E5-4BF8-83F5-08B94EA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907" y="4768691"/>
            <a:ext cx="2048186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funnel-bottom-cap-5">
            <a:extLst xmlns:a="http://schemas.openxmlformats.org/drawingml/2006/main">
              <a:ext uri="{FF2B5EF4-FFF2-40B4-BE49-F238E27FC236}">
                <a16:creationId xmlns:a16="http://schemas.microsoft.com/office/drawing/2014/main" id="{D24BA865-9F1E-4DE4-961D-B2618794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24475"/>
            <a:ext cx="171450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1" name="funnel-flow-arrow-1">
            <a:extLst xmlns:a="http://schemas.openxmlformats.org/drawingml/2006/main">
              <a:ext uri="{FF2B5EF4-FFF2-40B4-BE49-F238E27FC236}">
                <a16:creationId xmlns:a16="http://schemas.microsoft.com/office/drawing/2014/main" id="{5541A026-8264-462C-A955-C0F9AA3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591" y="1676400"/>
            <a:ext cx="444818" cy="285750"/>
          </a:xfrm>
          <a:custGeom xmlns:a="http://schemas.openxmlformats.org/drawingml/2006/main">
            <a:pathLst>
              <a:path w="444818" h="285750">
                <a:moveTo>
                  <a:pt x="85725" y="0"/>
                </a:moveTo>
                <a:lnTo>
                  <a:pt x="359093" y="0"/>
                </a:lnTo>
                <a:lnTo>
                  <a:pt x="359093" y="200025"/>
                </a:lnTo>
                <a:lnTo>
                  <a:pt x="444818" y="200025"/>
                </a:lnTo>
                <a:lnTo>
                  <a:pt x="222409" y="285750"/>
                </a:lnTo>
                <a:lnTo>
                  <a:pt x="0" y="200025"/>
                </a:lnTo>
                <a:lnTo>
                  <a:pt x="85725" y="200025"/>
                </a:lnTo>
                <a:close/>
              </a:path>
            </a:pathLst>
          </a:custGeom>
          <a:solidFill xmlns:a="http://schemas.openxmlformats.org/drawingml/2006/main">
            <a:srgbClr val="D9E8EA"/>
          </a:solidFill>
          <a:ln xmlns:a="http://schemas.openxmlformats.org/drawingml/2006/main" w="0">
            <a:solidFill>
              <a:srgbClr val="D9E8EA"/>
            </a:solidFill>
            <a:prstDash val="solid"/>
          </a:ln>
        </p:spPr>
      </p:sp>
      <p:sp>
        <p:nvSpPr>
          <p:cNvPr id="22" name="funnel-flow-arrow-2">
            <a:extLst xmlns:a="http://schemas.openxmlformats.org/drawingml/2006/main">
              <a:ext uri="{FF2B5EF4-FFF2-40B4-BE49-F238E27FC236}">
                <a16:creationId xmlns:a16="http://schemas.microsoft.com/office/drawing/2014/main" id="{797EDA54-28E1-435F-A9EF-1053DE9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80" y="1962150"/>
            <a:ext cx="403841" cy="697230"/>
          </a:xfrm>
          <a:custGeom xmlns:a="http://schemas.openxmlformats.org/drawingml/2006/main">
            <a:pathLst>
              <a:path w="403841" h="697230">
                <a:moveTo>
                  <a:pt x="65237" y="0"/>
                </a:moveTo>
                <a:lnTo>
                  <a:pt x="338604" y="0"/>
                </a:lnTo>
                <a:lnTo>
                  <a:pt x="318116" y="611505"/>
                </a:lnTo>
                <a:lnTo>
                  <a:pt x="403841" y="611505"/>
                </a:lnTo>
                <a:lnTo>
                  <a:pt x="201920" y="697230"/>
                </a:lnTo>
                <a:lnTo>
                  <a:pt x="0" y="611505"/>
                </a:lnTo>
                <a:lnTo>
                  <a:pt x="85725" y="611505"/>
                </a:lnTo>
                <a:close/>
              </a:path>
            </a:pathLst>
          </a:custGeom>
          <a:solidFill xmlns:a="http://schemas.openxmlformats.org/drawingml/2006/main">
            <a:srgbClr val="C8DDE0"/>
          </a:solidFill>
          <a:ln xmlns:a="http://schemas.openxmlformats.org/drawingml/2006/main" w="0">
            <a:solidFill>
              <a:srgbClr val="C8DDE0"/>
            </a:solidFill>
            <a:prstDash val="solid"/>
          </a:ln>
        </p:spPr>
      </p:sp>
      <p:sp>
        <p:nvSpPr>
          <p:cNvPr id="23" name="funnel-flow-arrow-3">
            <a:extLst xmlns:a="http://schemas.openxmlformats.org/drawingml/2006/main">
              <a:ext uri="{FF2B5EF4-FFF2-40B4-BE49-F238E27FC236}">
                <a16:creationId xmlns:a16="http://schemas.microsoft.com/office/drawing/2014/main" id="{CFF8BA69-2ABA-4C9B-BAE1-DEDE4B0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761" y="2659380"/>
            <a:ext cx="372477" cy="697230"/>
          </a:xfrm>
          <a:custGeom xmlns:a="http://schemas.openxmlformats.org/drawingml/2006/main">
            <a:pathLst>
              <a:path w="372477" h="697230">
                <a:moveTo>
                  <a:pt x="70043" y="0"/>
                </a:moveTo>
                <a:lnTo>
                  <a:pt x="302434" y="0"/>
                </a:lnTo>
                <a:lnTo>
                  <a:pt x="286752" y="611505"/>
                </a:lnTo>
                <a:lnTo>
                  <a:pt x="372477" y="611505"/>
                </a:lnTo>
                <a:lnTo>
                  <a:pt x="186239" y="697230"/>
                </a:lnTo>
                <a:lnTo>
                  <a:pt x="0" y="611505"/>
                </a:lnTo>
                <a:lnTo>
                  <a:pt x="85725" y="611505"/>
                </a:lnTo>
                <a:close/>
              </a:path>
            </a:pathLst>
          </a:custGeom>
          <a:solidFill xmlns:a="http://schemas.openxmlformats.org/drawingml/2006/main">
            <a:srgbClr val="B5D0D5"/>
          </a:solidFill>
          <a:ln xmlns:a="http://schemas.openxmlformats.org/drawingml/2006/main" w="0">
            <a:solidFill>
              <a:srgbClr val="B5D0D5"/>
            </a:solidFill>
            <a:prstDash val="solid"/>
          </a:ln>
        </p:spPr>
      </p:sp>
      <p:sp>
        <p:nvSpPr>
          <p:cNvPr id="24" name="funnel-flow-arrow-4">
            <a:extLst xmlns:a="http://schemas.openxmlformats.org/drawingml/2006/main">
              <a:ext uri="{FF2B5EF4-FFF2-40B4-BE49-F238E27FC236}">
                <a16:creationId xmlns:a16="http://schemas.microsoft.com/office/drawing/2014/main" id="{BD4B8588-6589-4BB4-A460-E8D49CA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028" y="3356610"/>
            <a:ext cx="343945" cy="697230"/>
          </a:xfrm>
          <a:custGeom xmlns:a="http://schemas.openxmlformats.org/drawingml/2006/main">
            <a:pathLst>
              <a:path w="343945" h="697230">
                <a:moveTo>
                  <a:pt x="71459" y="0"/>
                </a:moveTo>
                <a:lnTo>
                  <a:pt x="272486" y="0"/>
                </a:lnTo>
                <a:lnTo>
                  <a:pt x="258220" y="611505"/>
                </a:lnTo>
                <a:lnTo>
                  <a:pt x="343945" y="611505"/>
                </a:lnTo>
                <a:lnTo>
                  <a:pt x="171972" y="697230"/>
                </a:lnTo>
                <a:lnTo>
                  <a:pt x="0" y="611505"/>
                </a:lnTo>
                <a:lnTo>
                  <a:pt x="85725" y="611505"/>
                </a:lnTo>
                <a:close/>
              </a:path>
            </a:pathLst>
          </a:custGeom>
          <a:solidFill xmlns:a="http://schemas.openxmlformats.org/drawingml/2006/main">
            <a:srgbClr val="A2C2C9"/>
          </a:solidFill>
          <a:ln xmlns:a="http://schemas.openxmlformats.org/drawingml/2006/main" w="0">
            <a:solidFill>
              <a:srgbClr val="A2C2C9"/>
            </a:solidFill>
            <a:prstDash val="solid"/>
          </a:ln>
        </p:spPr>
      </p:sp>
      <p:sp>
        <p:nvSpPr>
          <p:cNvPr id="25" name="funnel-flow-arrow-5">
            <a:extLst xmlns:a="http://schemas.openxmlformats.org/drawingml/2006/main">
              <a:ext uri="{FF2B5EF4-FFF2-40B4-BE49-F238E27FC236}">
                <a16:creationId xmlns:a16="http://schemas.microsoft.com/office/drawing/2014/main" id="{67EDBD0B-8935-4A36-8B23-C683148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446" y="4053840"/>
            <a:ext cx="317108" cy="697230"/>
          </a:xfrm>
          <a:custGeom xmlns:a="http://schemas.openxmlformats.org/drawingml/2006/main">
            <a:pathLst>
              <a:path w="317108" h="697230">
                <a:moveTo>
                  <a:pt x="72307" y="0"/>
                </a:moveTo>
                <a:lnTo>
                  <a:pt x="244801" y="0"/>
                </a:lnTo>
                <a:lnTo>
                  <a:pt x="231383" y="611505"/>
                </a:lnTo>
                <a:lnTo>
                  <a:pt x="317108" y="611505"/>
                </a:lnTo>
                <a:lnTo>
                  <a:pt x="158554" y="697230"/>
                </a:lnTo>
                <a:lnTo>
                  <a:pt x="0" y="611505"/>
                </a:lnTo>
                <a:lnTo>
                  <a:pt x="85725" y="611505"/>
                </a:lnTo>
                <a:close/>
              </a:path>
            </a:pathLst>
          </a:custGeom>
          <a:solidFill xmlns:a="http://schemas.openxmlformats.org/drawingml/2006/main">
            <a:srgbClr val="8EADB6"/>
          </a:solidFill>
          <a:ln xmlns:a="http://schemas.openxmlformats.org/drawingml/2006/main" w="0">
            <a:solidFill>
              <a:srgbClr val="8EADB6"/>
            </a:solidFill>
            <a:prstDash val="solid"/>
          </a:ln>
        </p:spPr>
      </p:sp>
      <p:sp>
        <p:nvSpPr>
          <p:cNvPr id="26" name="funnel-flow-arrow-6">
            <a:extLst xmlns:a="http://schemas.openxmlformats.org/drawingml/2006/main">
              <a:ext uri="{FF2B5EF4-FFF2-40B4-BE49-F238E27FC236}">
                <a16:creationId xmlns:a16="http://schemas.microsoft.com/office/drawing/2014/main" id="{E9E3E82B-12DA-407B-A48F-37D93DD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68" y="4751070"/>
            <a:ext cx="443865" cy="811530"/>
          </a:xfrm>
          <a:custGeom xmlns:a="http://schemas.openxmlformats.org/drawingml/2006/main">
            <a:pathLst>
              <a:path w="443865" h="811530">
                <a:moveTo>
                  <a:pt x="149104" y="0"/>
                </a:moveTo>
                <a:lnTo>
                  <a:pt x="294761" y="0"/>
                </a:lnTo>
                <a:lnTo>
                  <a:pt x="281940" y="649605"/>
                </a:lnTo>
                <a:lnTo>
                  <a:pt x="443865" y="649605"/>
                </a:lnTo>
                <a:lnTo>
                  <a:pt x="221932" y="811530"/>
                </a:lnTo>
                <a:lnTo>
                  <a:pt x="0" y="649605"/>
                </a:lnTo>
                <a:lnTo>
                  <a:pt x="161925" y="649605"/>
                </a:lnTo>
                <a:close/>
              </a:path>
            </a:pathLst>
          </a:custGeom>
          <a:solidFill xmlns:a="http://schemas.openxmlformats.org/drawingml/2006/main">
            <a:srgbClr val="7B9FA9"/>
          </a:solidFill>
          <a:ln xmlns:a="http://schemas.openxmlformats.org/drawingml/2006/main" w="0">
            <a:solidFill>
              <a:srgbClr val="7B9FA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63188-FFA8-4C24-8255-CB99C0FF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240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D0343-FAF8-4243-BC6C-000D736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074" y="2057400"/>
            <a:ext cx="168387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相关性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22E1E-594D-4F8E-AB98-485010A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650" y="283654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BA46F1-A338-4916-80B7-1F9F4EC4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9870"/>
            <a:ext cx="1397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可解释性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1C137B-F936-4316-9B77-AC92835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84" y="354901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3BF45-6B08-4697-81BC-DA7C24F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2340"/>
            <a:ext cx="11694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可观察性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9164F-FA60-4E93-90A1-E8661A90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35" y="426148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65D04-B4FD-46B8-8653-0530578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4810"/>
            <a:ext cx="9620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可验证性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3A4E03-6BC3-4055-B964-C16E78B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257" y="497395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E99863-07A8-4574-A4DC-2A33818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7280"/>
            <a:ext cx="76691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成本可承担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0166A-F3CB-4113-9A96-030D4684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想法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9A3E7-C10A-4207-851F-6C5BA30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14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可验证假设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90AE13-6A40-4315-B7DB-D1868121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769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连续筛选，范围持续收窄</a:t>
            </a:r>
          </a:p>
        </p:txBody>
      </p:sp>
      <p:sp>
        <p:nvSpPr>
          <p:cNvPr id="40" name="footer-rule-0">
            <a:extLst xmlns:a="http://schemas.openxmlformats.org/drawingml/2006/main">
              <a:ext uri="{FF2B5EF4-FFF2-40B4-BE49-F238E27FC236}">
                <a16:creationId xmlns:a16="http://schemas.microsoft.com/office/drawing/2014/main" id="{4DD8258A-3D0D-4353-91AC-96523347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972F5A-A288-4013-B980-599174B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4842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216AFA-AE59-49C2-9577-6F2E070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F6701-13F3-4AAB-A5D4-DAF6603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统一知识入口支持多项工作</a:t>
            </a:r>
          </a:p>
        </p:txBody>
      </p:sp>
      <p:sp>
        <p:nvSpPr>
          <p:cNvPr id="3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2CE1BA4E-1582-4BEE-ABF8-222CEB4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93D04-059A-46FB-BC7C-D842C6E5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指定结构补测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0A704-732E-4F4B-BDBA-2136FF11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原生结构按稿件重算</a:t>
            </a:r>
          </a:p>
        </p:txBody>
      </p:sp>
      <p:sp>
        <p:nvSpPr>
          <p:cNvPr id="6" name="hub-center">
            <a:extLst xmlns:a="http://schemas.openxmlformats.org/drawingml/2006/main">
              <a:ext uri="{FF2B5EF4-FFF2-40B4-BE49-F238E27FC236}">
                <a16:creationId xmlns:a16="http://schemas.microsoft.com/office/drawing/2014/main" id="{D9BFF61C-0B47-4A4E-94A1-B3B79B0F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05150"/>
            <a:ext cx="22860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018CA-105C-4CAE-B5A8-9B71E19F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76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统一知识入口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F4195-555D-4425-8806-E640D6C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E6D4C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6D4CE"/>
                </a:solidFill>
                <a:latin typeface="Noto Sans SC"/>
                <a:ea typeface="Noto Sans SC"/>
                <a:cs typeface="Noto Sans SC"/>
              </a:rPr>
              <a:t>唯一中心</a:t>
            </a:r>
          </a:p>
        </p:txBody>
      </p:sp>
      <p:sp>
        <p:nvSpPr>
          <p:cNvPr id="9" name="hub-outward-spoke-1">
            <a:extLst xmlns:a="http://schemas.openxmlformats.org/drawingml/2006/main">
              <a:ext uri="{FF2B5EF4-FFF2-40B4-BE49-F238E27FC236}">
                <a16:creationId xmlns:a16="http://schemas.microsoft.com/office/drawing/2014/main" id="{155B526D-87A3-41B1-A29F-EBAD51B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708268" y="2334986"/>
            <a:ext cx="2474782" cy="1229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C7D"/>
            </a:solidFill>
            <a:prstDash val="solid"/>
          </a:ln>
        </p:spPr>
      </p:sp>
      <p:sp>
        <p:nvSpPr>
          <p:cNvPr id="10" name="hub-outward-arrow-1">
            <a:extLst xmlns:a="http://schemas.openxmlformats.org/drawingml/2006/main">
              <a:ext uri="{FF2B5EF4-FFF2-40B4-BE49-F238E27FC236}">
                <a16:creationId xmlns:a16="http://schemas.microsoft.com/office/drawing/2014/main" id="{9361E692-8C68-4BE0-93F9-8CCAD7C8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106" y="2272352"/>
            <a:ext cx="166023" cy="125267"/>
          </a:xfrm>
          <a:custGeom xmlns:a="http://schemas.openxmlformats.org/drawingml/2006/main">
            <a:pathLst>
              <a:path w="166023" h="125267">
                <a:moveTo>
                  <a:pt x="0" y="10382"/>
                </a:moveTo>
                <a:lnTo>
                  <a:pt x="166023" y="0"/>
                </a:lnTo>
                <a:lnTo>
                  <a:pt x="120303" y="125267"/>
                </a:lnTo>
                <a:close/>
              </a:path>
            </a:pathLst>
          </a:custGeom>
          <a:solidFill xmlns:a="http://schemas.openxmlformats.org/drawingml/2006/main">
            <a:srgbClr val="416C7D"/>
          </a:solidFill>
          <a:ln xmlns:a="http://schemas.openxmlformats.org/drawingml/2006/main" w="0">
            <a:solidFill>
              <a:srgbClr val="416C7D"/>
            </a:solidFill>
            <a:prstDash val="solid"/>
          </a:ln>
        </p:spPr>
      </p:sp>
      <p:sp>
        <p:nvSpPr>
          <p:cNvPr id="11" name="hub-node-1">
            <a:extLst xmlns:a="http://schemas.openxmlformats.org/drawingml/2006/main">
              <a:ext uri="{FF2B5EF4-FFF2-40B4-BE49-F238E27FC236}">
                <a16:creationId xmlns:a16="http://schemas.microsoft.com/office/drawing/2014/main" id="{F3FFEF81-0563-4DA7-AB55-6139AD7C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B6FF9-9841-438E-8D29-BE969537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新人培训</a:t>
            </a:r>
          </a:p>
        </p:txBody>
      </p:sp>
      <p:sp>
        <p:nvSpPr>
          <p:cNvPr id="13" name="hub-outward-spoke-2">
            <a:extLst xmlns:a="http://schemas.openxmlformats.org/drawingml/2006/main">
              <a:ext uri="{FF2B5EF4-FFF2-40B4-BE49-F238E27FC236}">
                <a16:creationId xmlns:a16="http://schemas.microsoft.com/office/drawing/2014/main" id="{3AAFC34B-C911-4542-A36C-EB1B349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97554" y="2294886"/>
            <a:ext cx="95857" cy="9164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8D9A"/>
            </a:solidFill>
            <a:prstDash val="solid"/>
          </a:ln>
        </p:spPr>
      </p:sp>
      <p:sp>
        <p:nvSpPr>
          <p:cNvPr id="14" name="hub-outward-arrow-2">
            <a:extLst xmlns:a="http://schemas.openxmlformats.org/drawingml/2006/main">
              <a:ext uri="{FF2B5EF4-FFF2-40B4-BE49-F238E27FC236}">
                <a16:creationId xmlns:a16="http://schemas.microsoft.com/office/drawing/2014/main" id="{F8371FA4-55D3-4532-94AD-7048D2BA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33" y="2170122"/>
            <a:ext cx="142105" cy="163054"/>
          </a:xfrm>
          <a:custGeom xmlns:a="http://schemas.openxmlformats.org/drawingml/2006/main">
            <a:pathLst>
              <a:path w="142105" h="163054">
                <a:moveTo>
                  <a:pt x="0" y="0"/>
                </a:moveTo>
                <a:lnTo>
                  <a:pt x="142105" y="86473"/>
                </a:lnTo>
                <a:lnTo>
                  <a:pt x="32937" y="163054"/>
                </a:lnTo>
                <a:close/>
              </a:path>
            </a:pathLst>
          </a:custGeom>
          <a:solidFill xmlns:a="http://schemas.openxmlformats.org/drawingml/2006/main">
            <a:srgbClr val="688D9A"/>
          </a:solidFill>
          <a:ln xmlns:a="http://schemas.openxmlformats.org/drawingml/2006/main" w="0">
            <a:solidFill>
              <a:srgbClr val="688D9A"/>
            </a:solidFill>
            <a:prstDash val="solid"/>
          </a:ln>
        </p:spPr>
      </p:sp>
      <p:sp>
        <p:nvSpPr>
          <p:cNvPr id="15" name="hub-node-2">
            <a:extLst xmlns:a="http://schemas.openxmlformats.org/drawingml/2006/main">
              <a:ext uri="{FF2B5EF4-FFF2-40B4-BE49-F238E27FC236}">
                <a16:creationId xmlns:a16="http://schemas.microsoft.com/office/drawing/2014/main" id="{5904B82A-C641-42E7-9247-C991951C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0AEE-C33F-43E1-A99F-0E7443E9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811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问题定位</a:t>
            </a:r>
          </a:p>
        </p:txBody>
      </p:sp>
      <p:sp>
        <p:nvSpPr>
          <p:cNvPr id="17" name="hub-outward-spoke-3">
            <a:extLst xmlns:a="http://schemas.openxmlformats.org/drawingml/2006/main">
              <a:ext uri="{FF2B5EF4-FFF2-40B4-BE49-F238E27FC236}">
                <a16:creationId xmlns:a16="http://schemas.microsoft.com/office/drawing/2014/main" id="{FA4BEF73-3758-4A99-9068-A5CB9AD8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22283" y="2421350"/>
            <a:ext cx="1043080" cy="1038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DB6"/>
            </a:solidFill>
            <a:prstDash val="solid"/>
          </a:ln>
        </p:spPr>
      </p:sp>
      <p:sp>
        <p:nvSpPr>
          <p:cNvPr id="18" name="hub-outward-arrow-3">
            <a:extLst xmlns:a="http://schemas.openxmlformats.org/drawingml/2006/main">
              <a:ext uri="{FF2B5EF4-FFF2-40B4-BE49-F238E27FC236}">
                <a16:creationId xmlns:a16="http://schemas.microsoft.com/office/drawing/2014/main" id="{1D2E8DD1-B18B-47BB-9ADE-85DC73F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79" y="2347558"/>
            <a:ext cx="165628" cy="132130"/>
          </a:xfrm>
          <a:custGeom xmlns:a="http://schemas.openxmlformats.org/drawingml/2006/main">
            <a:pathLst>
              <a:path w="165628" h="132130">
                <a:moveTo>
                  <a:pt x="165628" y="0"/>
                </a:moveTo>
                <a:lnTo>
                  <a:pt x="64568" y="132130"/>
                </a:lnTo>
                <a:lnTo>
                  <a:pt x="0" y="15454"/>
                </a:lnTo>
                <a:close/>
              </a:path>
            </a:pathLst>
          </a:custGeom>
          <a:solidFill xmlns:a="http://schemas.openxmlformats.org/drawingml/2006/main">
            <a:srgbClr val="8EADB6"/>
          </a:solidFill>
          <a:ln xmlns:a="http://schemas.openxmlformats.org/drawingml/2006/main" w="0">
            <a:solidFill>
              <a:srgbClr val="8EADB6"/>
            </a:solidFill>
            <a:prstDash val="solid"/>
          </a:ln>
        </p:spPr>
      </p:sp>
      <p:sp>
        <p:nvSpPr>
          <p:cNvPr id="19" name="hub-node-3">
            <a:extLst xmlns:a="http://schemas.openxmlformats.org/drawingml/2006/main">
              <a:ext uri="{FF2B5EF4-FFF2-40B4-BE49-F238E27FC236}">
                <a16:creationId xmlns:a16="http://schemas.microsoft.com/office/drawing/2014/main" id="{AF464B0D-0F5C-4BA3-8870-07EB3952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750AE-E976-4D93-AD46-821E91A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669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方案复用</a:t>
            </a:r>
          </a:p>
        </p:txBody>
      </p:sp>
      <p:sp>
        <p:nvSpPr>
          <p:cNvPr id="21" name="hub-outward-spoke-4">
            <a:extLst xmlns:a="http://schemas.openxmlformats.org/drawingml/2006/main">
              <a:ext uri="{FF2B5EF4-FFF2-40B4-BE49-F238E27FC236}">
                <a16:creationId xmlns:a16="http://schemas.microsoft.com/office/drawing/2014/main" id="{5AB29B96-CA7B-4BD8-8CCE-23DCC05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62154" y="3693100"/>
            <a:ext cx="1963446" cy="100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CD0"/>
            </a:solidFill>
            <a:prstDash val="solid"/>
          </a:ln>
        </p:spPr>
      </p:sp>
      <p:sp>
        <p:nvSpPr>
          <p:cNvPr id="22" name="hub-outward-arrow-4">
            <a:extLst xmlns:a="http://schemas.openxmlformats.org/drawingml/2006/main">
              <a:ext uri="{FF2B5EF4-FFF2-40B4-BE49-F238E27FC236}">
                <a16:creationId xmlns:a16="http://schemas.microsoft.com/office/drawing/2014/main" id="{52D6746F-2C69-478E-AC3E-EC5AB43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97" y="3626465"/>
            <a:ext cx="154612" cy="133270"/>
          </a:xfrm>
          <a:custGeom xmlns:a="http://schemas.openxmlformats.org/drawingml/2006/main">
            <a:pathLst>
              <a:path w="154612" h="133270">
                <a:moveTo>
                  <a:pt x="154612" y="61371"/>
                </a:moveTo>
                <a:lnTo>
                  <a:pt x="4606" y="13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CCD0"/>
          </a:solidFill>
          <a:ln xmlns:a="http://schemas.openxmlformats.org/drawingml/2006/main" w="0">
            <a:solidFill>
              <a:srgbClr val="B9CCD0"/>
            </a:solidFill>
            <a:prstDash val="solid"/>
          </a:ln>
        </p:spPr>
      </p:sp>
      <p:sp>
        <p:nvSpPr>
          <p:cNvPr id="23" name="hub-node-4">
            <a:extLst xmlns:a="http://schemas.openxmlformats.org/drawingml/2006/main">
              <a:ext uri="{FF2B5EF4-FFF2-40B4-BE49-F238E27FC236}">
                <a16:creationId xmlns:a16="http://schemas.microsoft.com/office/drawing/2014/main" id="{2BDB1ACC-368C-4E59-8B85-3D469CE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EC430-E66E-4A60-87FA-CE703190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52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变更查询</a:t>
            </a:r>
          </a:p>
        </p:txBody>
      </p:sp>
      <p:sp>
        <p:nvSpPr>
          <p:cNvPr id="25" name="hub-outward-spoke-5">
            <a:extLst xmlns:a="http://schemas.openxmlformats.org/drawingml/2006/main">
              <a:ext uri="{FF2B5EF4-FFF2-40B4-BE49-F238E27FC236}">
                <a16:creationId xmlns:a16="http://schemas.microsoft.com/office/drawing/2014/main" id="{1438E86F-2209-460B-81FD-15FC97A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4775" y="4123012"/>
            <a:ext cx="1103853" cy="8830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8D9A"/>
            </a:solidFill>
            <a:prstDash val="solid"/>
          </a:ln>
        </p:spPr>
      </p:sp>
      <p:sp>
        <p:nvSpPr>
          <p:cNvPr id="26" name="hub-outward-arrow-5">
            <a:extLst xmlns:a="http://schemas.openxmlformats.org/drawingml/2006/main">
              <a:ext uri="{FF2B5EF4-FFF2-40B4-BE49-F238E27FC236}">
                <a16:creationId xmlns:a16="http://schemas.microsoft.com/office/drawing/2014/main" id="{3455CF3B-9BEF-422B-AAE7-BE92BEF8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92" y="4945248"/>
            <a:ext cx="166341" cy="123112"/>
          </a:xfrm>
          <a:custGeom xmlns:a="http://schemas.openxmlformats.org/drawingml/2006/main">
            <a:pathLst>
              <a:path w="166341" h="123112">
                <a:moveTo>
                  <a:pt x="166341" y="123112"/>
                </a:moveTo>
                <a:lnTo>
                  <a:pt x="0" y="121717"/>
                </a:lnTo>
                <a:lnTo>
                  <a:pt x="54472" y="0"/>
                </a:lnTo>
                <a:close/>
              </a:path>
            </a:pathLst>
          </a:custGeom>
          <a:solidFill xmlns:a="http://schemas.openxmlformats.org/drawingml/2006/main">
            <a:srgbClr val="688D9A"/>
          </a:solidFill>
          <a:ln xmlns:a="http://schemas.openxmlformats.org/drawingml/2006/main" w="0">
            <a:solidFill>
              <a:srgbClr val="688D9A"/>
            </a:solidFill>
            <a:prstDash val="solid"/>
          </a:ln>
        </p:spPr>
      </p:sp>
      <p:sp>
        <p:nvSpPr>
          <p:cNvPr id="27" name="hub-node-5">
            <a:extLst xmlns:a="http://schemas.openxmlformats.org/drawingml/2006/main">
              <a:ext uri="{FF2B5EF4-FFF2-40B4-BE49-F238E27FC236}">
                <a16:creationId xmlns:a16="http://schemas.microsoft.com/office/drawing/2014/main" id="{2CCE8AFB-73FF-4917-ACFA-40259B02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5C461-983E-4067-AC3F-9C6DF0F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76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经验检索</a:t>
            </a:r>
          </a:p>
        </p:txBody>
      </p:sp>
      <p:sp>
        <p:nvSpPr>
          <p:cNvPr id="29" name="hub-outward-spoke-6">
            <a:extLst xmlns:a="http://schemas.openxmlformats.org/drawingml/2006/main">
              <a:ext uri="{FF2B5EF4-FFF2-40B4-BE49-F238E27FC236}">
                <a16:creationId xmlns:a16="http://schemas.microsoft.com/office/drawing/2014/main" id="{F53712F4-A27C-4AF7-BE6A-6CE3FC7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18120" y="4337665"/>
            <a:ext cx="215249" cy="8737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DB6"/>
            </a:solidFill>
            <a:prstDash val="solid"/>
          </a:ln>
        </p:spPr>
      </p:sp>
      <p:sp>
        <p:nvSpPr>
          <p:cNvPr id="30" name="hub-outward-arrow-6">
            <a:extLst xmlns:a="http://schemas.openxmlformats.org/drawingml/2006/main">
              <a:ext uri="{FF2B5EF4-FFF2-40B4-BE49-F238E27FC236}">
                <a16:creationId xmlns:a16="http://schemas.microsoft.com/office/drawing/2014/main" id="{F69DE611-6686-4339-BD96-821BAD4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899" y="5163625"/>
            <a:ext cx="155721" cy="154069"/>
          </a:xfrm>
          <a:custGeom xmlns:a="http://schemas.openxmlformats.org/drawingml/2006/main">
            <a:pathLst>
              <a:path w="155721" h="154069">
                <a:moveTo>
                  <a:pt x="0" y="154069"/>
                </a:moveTo>
                <a:lnTo>
                  <a:pt x="62721" y="0"/>
                </a:lnTo>
                <a:lnTo>
                  <a:pt x="155721" y="95568"/>
                </a:lnTo>
                <a:close/>
              </a:path>
            </a:pathLst>
          </a:custGeom>
          <a:solidFill xmlns:a="http://schemas.openxmlformats.org/drawingml/2006/main">
            <a:srgbClr val="8EADB6"/>
          </a:solidFill>
          <a:ln xmlns:a="http://schemas.openxmlformats.org/drawingml/2006/main" w="0">
            <a:solidFill>
              <a:srgbClr val="8EADB6"/>
            </a:solidFill>
            <a:prstDash val="solid"/>
          </a:ln>
        </p:spPr>
      </p:sp>
      <p:sp>
        <p:nvSpPr>
          <p:cNvPr id="31" name="hub-node-6">
            <a:extLst xmlns:a="http://schemas.openxmlformats.org/drawingml/2006/main">
              <a:ext uri="{FF2B5EF4-FFF2-40B4-BE49-F238E27FC236}">
                <a16:creationId xmlns:a16="http://schemas.microsoft.com/office/drawing/2014/main" id="{D971DB30-D5FE-4E0D-943F-E2970CA5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49496-827C-40E8-9D75-AEA02F9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197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责任查找</a:t>
            </a:r>
          </a:p>
        </p:txBody>
      </p:sp>
      <p:sp>
        <p:nvSpPr>
          <p:cNvPr id="33" name="hub-outward-spoke-7">
            <a:extLst xmlns:a="http://schemas.openxmlformats.org/drawingml/2006/main">
              <a:ext uri="{FF2B5EF4-FFF2-40B4-BE49-F238E27FC236}">
                <a16:creationId xmlns:a16="http://schemas.microsoft.com/office/drawing/2014/main" id="{D2D3BB82-A846-4D90-A75B-1B688427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22270" y="3903128"/>
            <a:ext cx="2299794" cy="367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CD0"/>
            </a:solidFill>
            <a:prstDash val="solid"/>
          </a:ln>
        </p:spPr>
      </p:sp>
      <p:sp>
        <p:nvSpPr>
          <p:cNvPr id="34" name="hub-outward-arrow-7">
            <a:extLst xmlns:a="http://schemas.openxmlformats.org/drawingml/2006/main">
              <a:ext uri="{FF2B5EF4-FFF2-40B4-BE49-F238E27FC236}">
                <a16:creationId xmlns:a16="http://schemas.microsoft.com/office/drawing/2014/main" id="{785C8B74-F83E-468A-B398-8666EDE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38" y="4204507"/>
            <a:ext cx="158935" cy="132503"/>
          </a:xfrm>
          <a:custGeom xmlns:a="http://schemas.openxmlformats.org/drawingml/2006/main">
            <a:pathLst>
              <a:path w="158935" h="132503">
                <a:moveTo>
                  <a:pt x="0" y="83401"/>
                </a:moveTo>
                <a:lnTo>
                  <a:pt x="143929" y="0"/>
                </a:lnTo>
                <a:lnTo>
                  <a:pt x="158935" y="132503"/>
                </a:lnTo>
                <a:close/>
              </a:path>
            </a:pathLst>
          </a:custGeom>
          <a:solidFill xmlns:a="http://schemas.openxmlformats.org/drawingml/2006/main">
            <a:srgbClr val="B9CCD0"/>
          </a:solidFill>
          <a:ln xmlns:a="http://schemas.openxmlformats.org/drawingml/2006/main" w="0">
            <a:solidFill>
              <a:srgbClr val="B9CCD0"/>
            </a:solidFill>
            <a:prstDash val="solid"/>
          </a:ln>
        </p:spPr>
      </p:sp>
      <p:sp>
        <p:nvSpPr>
          <p:cNvPr id="35" name="hub-node-7">
            <a:extLst xmlns:a="http://schemas.openxmlformats.org/drawingml/2006/main">
              <a:ext uri="{FF2B5EF4-FFF2-40B4-BE49-F238E27FC236}">
                <a16:creationId xmlns:a16="http://schemas.microsoft.com/office/drawing/2014/main" id="{ADF2A878-E821-4D6C-A4D6-9B113750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695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9B09A4-51EC-4745-AC8D-9FAD990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合规检查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F148E4-2AC1-45BC-BAA9-94F782F8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531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中心向外提供支持，外围七项工作彼此同级</a:t>
            </a:r>
          </a:p>
        </p:txBody>
      </p:sp>
      <p:sp>
        <p:nvSpPr>
          <p:cNvPr id="3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335D3EB9-E909-4AAE-B9B5-4A006FA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242B21-1D88-46C0-BE29-0216749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0190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C2EFB-42EB-4655-902F-0324E81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4515-F241-4087-B03E-5EBDE58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能力成长经历持续攀升的里程点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389BD4A1-CB60-4541-8F15-D2CC0CE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933B-F274-44BF-8CDC-DD1F51F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指定结构补测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95633-F166-480F-811A-3A7C3213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原生结构按稿件重算</a:t>
            </a:r>
          </a:p>
        </p:txBody>
      </p:sp>
      <p:sp>
        <p:nvSpPr>
          <p:cNvPr id="6" name="mountain-silhouette">
            <a:extLst xmlns:a="http://schemas.openxmlformats.org/drawingml/2006/main">
              <a:ext uri="{FF2B5EF4-FFF2-40B4-BE49-F238E27FC236}">
                <a16:creationId xmlns:a16="http://schemas.microsoft.com/office/drawing/2014/main" id="{F131492C-FB83-44B5-8CD4-596417C5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668000" cy="2867025"/>
          </a:xfrm>
          <a:custGeom xmlns:a="http://schemas.openxmlformats.org/drawingml/2006/main">
            <a:pathLst>
              <a:path w="10668000" h="2867025">
                <a:moveTo>
                  <a:pt x="0" y="2867025"/>
                </a:moveTo>
                <a:lnTo>
                  <a:pt x="85725" y="2533650"/>
                </a:lnTo>
                <a:lnTo>
                  <a:pt x="828675" y="2057400"/>
                </a:lnTo>
                <a:lnTo>
                  <a:pt x="1514475" y="2609850"/>
                </a:lnTo>
                <a:lnTo>
                  <a:pt x="2276475" y="2019300"/>
                </a:lnTo>
                <a:lnTo>
                  <a:pt x="3019425" y="1543050"/>
                </a:lnTo>
                <a:lnTo>
                  <a:pt x="3705225" y="2095500"/>
                </a:lnTo>
                <a:lnTo>
                  <a:pt x="4467225" y="1409700"/>
                </a:lnTo>
                <a:lnTo>
                  <a:pt x="5210175" y="933450"/>
                </a:lnTo>
                <a:lnTo>
                  <a:pt x="5895975" y="1485900"/>
                </a:lnTo>
                <a:lnTo>
                  <a:pt x="6657975" y="1028700"/>
                </a:lnTo>
                <a:lnTo>
                  <a:pt x="7400925" y="552450"/>
                </a:lnTo>
                <a:lnTo>
                  <a:pt x="8086725" y="1104900"/>
                </a:lnTo>
                <a:lnTo>
                  <a:pt x="8848725" y="476250"/>
                </a:lnTo>
                <a:lnTo>
                  <a:pt x="9591675" y="0"/>
                </a:lnTo>
                <a:lnTo>
                  <a:pt x="10277475" y="552450"/>
                </a:lnTo>
                <a:lnTo>
                  <a:pt x="10668000" y="2867025"/>
                </a:lnTo>
                <a:close/>
              </a:path>
            </a:pathLst>
          </a:custGeom>
          <a:solidFill xmlns:a="http://schemas.openxmlformats.org/drawingml/2006/main">
            <a:srgbClr val="D6E1E2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mountain-light-face-1">
            <a:extLst xmlns:a="http://schemas.openxmlformats.org/drawingml/2006/main">
              <a:ext uri="{FF2B5EF4-FFF2-40B4-BE49-F238E27FC236}">
                <a16:creationId xmlns:a16="http://schemas.microsoft.com/office/drawing/2014/main" id="{900C7E6A-427F-4C6D-B87A-EE08BC2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9625"/>
            <a:ext cx="1428750" cy="809625"/>
          </a:xfrm>
          <a:custGeom xmlns:a="http://schemas.openxmlformats.org/drawingml/2006/main">
            <a:pathLst>
              <a:path w="1428750" h="809625">
                <a:moveTo>
                  <a:pt x="0" y="809625"/>
                </a:moveTo>
                <a:lnTo>
                  <a:pt x="0" y="476250"/>
                </a:lnTo>
                <a:lnTo>
                  <a:pt x="742950" y="0"/>
                </a:lnTo>
                <a:lnTo>
                  <a:pt x="685800" y="638175"/>
                </a:lnTo>
                <a:lnTo>
                  <a:pt x="914400" y="800100"/>
                </a:lnTo>
                <a:lnTo>
                  <a:pt x="1428750" y="809625"/>
                </a:lnTo>
                <a:close/>
              </a:path>
            </a:pathLst>
          </a:custGeom>
          <a:solidFill xmlns:a="http://schemas.openxmlformats.org/drawingml/2006/main">
            <a:srgbClr val="DDE4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untain-shade-face-1">
            <a:extLst xmlns:a="http://schemas.openxmlformats.org/drawingml/2006/main">
              <a:ext uri="{FF2B5EF4-FFF2-40B4-BE49-F238E27FC236}">
                <a16:creationId xmlns:a16="http://schemas.microsoft.com/office/drawing/2014/main" id="{10D38374-2BC1-4AC6-94BE-CFDC9D30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19625"/>
            <a:ext cx="742950" cy="809625"/>
          </a:xfrm>
          <a:custGeom xmlns:a="http://schemas.openxmlformats.org/drawingml/2006/main">
            <a:pathLst>
              <a:path w="742950" h="809625">
                <a:moveTo>
                  <a:pt x="0" y="638175"/>
                </a:moveTo>
                <a:lnTo>
                  <a:pt x="57150" y="0"/>
                </a:lnTo>
                <a:lnTo>
                  <a:pt x="742950" y="552450"/>
                </a:lnTo>
                <a:lnTo>
                  <a:pt x="742950" y="809625"/>
                </a:lnTo>
                <a:close/>
              </a:path>
            </a:pathLst>
          </a:custGeom>
          <a:solidFill xmlns:a="http://schemas.openxmlformats.org/drawingml/2006/main">
            <a:srgbClr val="B5CA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untain-light-face-2">
            <a:extLst xmlns:a="http://schemas.openxmlformats.org/drawingml/2006/main">
              <a:ext uri="{FF2B5EF4-FFF2-40B4-BE49-F238E27FC236}">
                <a16:creationId xmlns:a16="http://schemas.microsoft.com/office/drawing/2014/main" id="{F65C05CE-F665-49DC-9C22-7CDA92A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05275"/>
            <a:ext cx="1428750" cy="1323975"/>
          </a:xfrm>
          <a:custGeom xmlns:a="http://schemas.openxmlformats.org/drawingml/2006/main">
            <a:pathLst>
              <a:path w="1428750" h="1323975">
                <a:moveTo>
                  <a:pt x="0" y="1323975"/>
                </a:moveTo>
                <a:lnTo>
                  <a:pt x="0" y="476250"/>
                </a:lnTo>
                <a:lnTo>
                  <a:pt x="742950" y="0"/>
                </a:lnTo>
                <a:lnTo>
                  <a:pt x="685800" y="1123950"/>
                </a:lnTo>
                <a:lnTo>
                  <a:pt x="914400" y="800100"/>
                </a:lnTo>
                <a:lnTo>
                  <a:pt x="1428750" y="1323975"/>
                </a:lnTo>
                <a:close/>
              </a:path>
            </a:pathLst>
          </a:custGeom>
          <a:solidFill xmlns:a="http://schemas.openxmlformats.org/drawingml/2006/main">
            <a:srgbClr val="CAD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untain-shade-face-2">
            <a:extLst xmlns:a="http://schemas.openxmlformats.org/drawingml/2006/main">
              <a:ext uri="{FF2B5EF4-FFF2-40B4-BE49-F238E27FC236}">
                <a16:creationId xmlns:a16="http://schemas.microsoft.com/office/drawing/2014/main" id="{2D4BA43C-2660-453E-8EC9-E134002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05275"/>
            <a:ext cx="742950" cy="1323975"/>
          </a:xfrm>
          <a:custGeom xmlns:a="http://schemas.openxmlformats.org/drawingml/2006/main">
            <a:pathLst>
              <a:path w="742950" h="1323975">
                <a:moveTo>
                  <a:pt x="0" y="1123950"/>
                </a:moveTo>
                <a:lnTo>
                  <a:pt x="57150" y="0"/>
                </a:lnTo>
                <a:lnTo>
                  <a:pt x="742950" y="552450"/>
                </a:lnTo>
                <a:lnTo>
                  <a:pt x="742950" y="1323975"/>
                </a:lnTo>
                <a:close/>
              </a:path>
            </a:pathLst>
          </a:custGeom>
          <a:solidFill xmlns:a="http://schemas.openxmlformats.org/drawingml/2006/main">
            <a:srgbClr val="A8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untain-light-face-3">
            <a:extLst xmlns:a="http://schemas.openxmlformats.org/drawingml/2006/main">
              <a:ext uri="{FF2B5EF4-FFF2-40B4-BE49-F238E27FC236}">
                <a16:creationId xmlns:a16="http://schemas.microsoft.com/office/drawing/2014/main" id="{41DCEB15-E849-4846-A5C3-4B23A96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95675"/>
            <a:ext cx="1428750" cy="1933575"/>
          </a:xfrm>
          <a:custGeom xmlns:a="http://schemas.openxmlformats.org/drawingml/2006/main">
            <a:pathLst>
              <a:path w="1428750" h="1933575">
                <a:moveTo>
                  <a:pt x="0" y="1933575"/>
                </a:moveTo>
                <a:lnTo>
                  <a:pt x="0" y="476250"/>
                </a:lnTo>
                <a:lnTo>
                  <a:pt x="742950" y="0"/>
                </a:lnTo>
                <a:lnTo>
                  <a:pt x="685800" y="1123950"/>
                </a:lnTo>
                <a:lnTo>
                  <a:pt x="914400" y="800100"/>
                </a:lnTo>
                <a:lnTo>
                  <a:pt x="1428750" y="1933575"/>
                </a:lnTo>
                <a:close/>
              </a:path>
            </a:pathLst>
          </a:custGeom>
          <a:solidFill xmlns:a="http://schemas.openxmlformats.org/drawingml/2006/main">
            <a:srgbClr val="BD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untain-shade-face-3">
            <a:extLst xmlns:a="http://schemas.openxmlformats.org/drawingml/2006/main">
              <a:ext uri="{FF2B5EF4-FFF2-40B4-BE49-F238E27FC236}">
                <a16:creationId xmlns:a16="http://schemas.microsoft.com/office/drawing/2014/main" id="{A8751B8E-79D5-4CD6-85BA-959F632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95675"/>
            <a:ext cx="742950" cy="1933575"/>
          </a:xfrm>
          <a:custGeom xmlns:a="http://schemas.openxmlformats.org/drawingml/2006/main">
            <a:pathLst>
              <a:path w="742950" h="1933575">
                <a:moveTo>
                  <a:pt x="0" y="1123950"/>
                </a:moveTo>
                <a:lnTo>
                  <a:pt x="57150" y="0"/>
                </a:lnTo>
                <a:lnTo>
                  <a:pt x="742950" y="552450"/>
                </a:lnTo>
                <a:lnTo>
                  <a:pt x="742950" y="1933575"/>
                </a:lnTo>
                <a:close/>
              </a:path>
            </a:pathLst>
          </a:custGeom>
          <a:solidFill xmlns:a="http://schemas.openxmlformats.org/drawingml/2006/main">
            <a:srgbClr val="99B4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ountain-light-face-4">
            <a:extLst xmlns:a="http://schemas.openxmlformats.org/drawingml/2006/main">
              <a:ext uri="{FF2B5EF4-FFF2-40B4-BE49-F238E27FC236}">
                <a16:creationId xmlns:a16="http://schemas.microsoft.com/office/drawing/2014/main" id="{AC0FBBB5-FA26-4980-A5EC-0BECAF08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14675"/>
            <a:ext cx="1428750" cy="2314575"/>
          </a:xfrm>
          <a:custGeom xmlns:a="http://schemas.openxmlformats.org/drawingml/2006/main">
            <a:pathLst>
              <a:path w="1428750" h="2314575">
                <a:moveTo>
                  <a:pt x="0" y="2314575"/>
                </a:moveTo>
                <a:lnTo>
                  <a:pt x="0" y="476250"/>
                </a:lnTo>
                <a:lnTo>
                  <a:pt x="742950" y="0"/>
                </a:lnTo>
                <a:lnTo>
                  <a:pt x="685800" y="1123950"/>
                </a:lnTo>
                <a:lnTo>
                  <a:pt x="914400" y="800100"/>
                </a:lnTo>
                <a:lnTo>
                  <a:pt x="1428750" y="2314575"/>
                </a:lnTo>
                <a:close/>
              </a:path>
            </a:pathLst>
          </a:custGeom>
          <a:solidFill xmlns:a="http://schemas.openxmlformats.org/drawingml/2006/main">
            <a:srgbClr val="AE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untain-shade-face-4">
            <a:extLst xmlns:a="http://schemas.openxmlformats.org/drawingml/2006/main">
              <a:ext uri="{FF2B5EF4-FFF2-40B4-BE49-F238E27FC236}">
                <a16:creationId xmlns:a16="http://schemas.microsoft.com/office/drawing/2014/main" id="{74792466-9D49-4B68-BF13-77F08F6C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14675"/>
            <a:ext cx="742950" cy="2314575"/>
          </a:xfrm>
          <a:custGeom xmlns:a="http://schemas.openxmlformats.org/drawingml/2006/main">
            <a:pathLst>
              <a:path w="742950" h="2314575">
                <a:moveTo>
                  <a:pt x="0" y="1123950"/>
                </a:moveTo>
                <a:lnTo>
                  <a:pt x="57150" y="0"/>
                </a:lnTo>
                <a:lnTo>
                  <a:pt x="742950" y="552450"/>
                </a:lnTo>
                <a:lnTo>
                  <a:pt x="742950" y="2314575"/>
                </a:lnTo>
                <a:close/>
              </a:path>
            </a:pathLst>
          </a:custGeom>
          <a:solidFill xmlns:a="http://schemas.openxmlformats.org/drawingml/2006/main">
            <a:srgbClr val="8EAA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untain-light-face-5">
            <a:extLst xmlns:a="http://schemas.openxmlformats.org/drawingml/2006/main">
              <a:ext uri="{FF2B5EF4-FFF2-40B4-BE49-F238E27FC236}">
                <a16:creationId xmlns:a16="http://schemas.microsoft.com/office/drawing/2014/main" id="{F0C5A4EB-BD66-448D-9F67-D94F6FBE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62225"/>
            <a:ext cx="1428750" cy="2867025"/>
          </a:xfrm>
          <a:custGeom xmlns:a="http://schemas.openxmlformats.org/drawingml/2006/main">
            <a:pathLst>
              <a:path w="1428750" h="2867025">
                <a:moveTo>
                  <a:pt x="0" y="2867025"/>
                </a:moveTo>
                <a:lnTo>
                  <a:pt x="0" y="476250"/>
                </a:lnTo>
                <a:lnTo>
                  <a:pt x="742950" y="0"/>
                </a:lnTo>
                <a:lnTo>
                  <a:pt x="685800" y="1123950"/>
                </a:lnTo>
                <a:lnTo>
                  <a:pt x="914400" y="800100"/>
                </a:lnTo>
                <a:lnTo>
                  <a:pt x="1428750" y="2867025"/>
                </a:lnTo>
                <a:close/>
              </a:path>
            </a:pathLst>
          </a:custGeom>
          <a:solidFill xmlns:a="http://schemas.openxmlformats.org/drawingml/2006/main">
            <a:srgbClr val="9EB9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untain-shade-face-5">
            <a:extLst xmlns:a="http://schemas.openxmlformats.org/drawingml/2006/main">
              <a:ext uri="{FF2B5EF4-FFF2-40B4-BE49-F238E27FC236}">
                <a16:creationId xmlns:a16="http://schemas.microsoft.com/office/drawing/2014/main" id="{13897602-376A-437C-81AD-48C449D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62225"/>
            <a:ext cx="742950" cy="2867025"/>
          </a:xfrm>
          <a:custGeom xmlns:a="http://schemas.openxmlformats.org/drawingml/2006/main">
            <a:pathLst>
              <a:path w="742950" h="2867025">
                <a:moveTo>
                  <a:pt x="0" y="1123950"/>
                </a:moveTo>
                <a:lnTo>
                  <a:pt x="57150" y="0"/>
                </a:lnTo>
                <a:lnTo>
                  <a:pt x="742950" y="552450"/>
                </a:lnTo>
                <a:lnTo>
                  <a:pt x="742950" y="2867025"/>
                </a:lnTo>
                <a:close/>
              </a:path>
            </a:pathLst>
          </a:custGeom>
          <a:solidFill xmlns:a="http://schemas.openxmlformats.org/drawingml/2006/main">
            <a:srgbClr val="688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untain-route-1">
            <a:extLst xmlns:a="http://schemas.openxmlformats.org/drawingml/2006/main">
              <a:ext uri="{FF2B5EF4-FFF2-40B4-BE49-F238E27FC236}">
                <a16:creationId xmlns:a16="http://schemas.microsoft.com/office/drawing/2014/main" id="{954FFFA7-11A0-4943-9577-236BD80C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66875" y="4105275"/>
            <a:ext cx="219075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8" name="mountain-route-2">
            <a:extLst xmlns:a="http://schemas.openxmlformats.org/drawingml/2006/main">
              <a:ext uri="{FF2B5EF4-FFF2-40B4-BE49-F238E27FC236}">
                <a16:creationId xmlns:a16="http://schemas.microsoft.com/office/drawing/2014/main" id="{E7DB54F1-306A-42F7-A936-ADEA5D0B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57625" y="3495675"/>
            <a:ext cx="21907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9" name="mountain-route-3">
            <a:extLst xmlns:a="http://schemas.openxmlformats.org/drawingml/2006/main">
              <a:ext uri="{FF2B5EF4-FFF2-40B4-BE49-F238E27FC236}">
                <a16:creationId xmlns:a16="http://schemas.microsoft.com/office/drawing/2014/main" id="{21986A7E-A9A4-4A3A-99F8-11D20962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48375" y="3114675"/>
            <a:ext cx="21907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20" name="mountain-route-4">
            <a:extLst xmlns:a="http://schemas.openxmlformats.org/drawingml/2006/main">
              <a:ext uri="{FF2B5EF4-FFF2-40B4-BE49-F238E27FC236}">
                <a16:creationId xmlns:a16="http://schemas.microsoft.com/office/drawing/2014/main" id="{DADADE46-FE3E-4C87-8D2F-7CD59B2C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39125" y="2562225"/>
            <a:ext cx="21907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21" name="mountain-milestone-1">
            <a:extLst xmlns:a="http://schemas.openxmlformats.org/drawingml/2006/main">
              <a:ext uri="{FF2B5EF4-FFF2-40B4-BE49-F238E27FC236}">
                <a16:creationId xmlns:a16="http://schemas.microsoft.com/office/drawing/2014/main" id="{C66C87A5-E68E-40A8-91DA-BF284BE6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C7671-574D-49A5-89D9-2C7A39F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2E71C-A942-4E36-8A9B-F19851DD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24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基础操作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ACE4E-0853-4CA0-8B15-84EAF25C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909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熟悉基本工具</a:t>
            </a:r>
          </a:p>
        </p:txBody>
      </p:sp>
      <p:sp>
        <p:nvSpPr>
          <p:cNvPr id="25" name="mountain-milestone-2">
            <a:extLst xmlns:a="http://schemas.openxmlformats.org/drawingml/2006/main">
              <a:ext uri="{FF2B5EF4-FFF2-40B4-BE49-F238E27FC236}">
                <a16:creationId xmlns:a16="http://schemas.microsoft.com/office/drawing/2014/main" id="{885799A2-1EC3-41CC-BA8A-C61620CC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70BF8-E125-4862-B937-639C2CB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29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E5BE5-3A2E-4E50-B493-D618A71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9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独立处理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80E23-2A76-4B58-985C-C2412C20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76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可独立完成任务</a:t>
            </a:r>
          </a:p>
        </p:txBody>
      </p:sp>
      <p:sp>
        <p:nvSpPr>
          <p:cNvPr id="29" name="mountain-milestone-3">
            <a:extLst xmlns:a="http://schemas.openxmlformats.org/drawingml/2006/main">
              <a:ext uri="{FF2B5EF4-FFF2-40B4-BE49-F238E27FC236}">
                <a16:creationId xmlns:a16="http://schemas.microsoft.com/office/drawing/2014/main" id="{2096E528-AFCD-4251-9D4E-1D14779F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6F2910-31AE-4D94-80B1-DF025194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1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0AE69-80DF-494E-BAD4-D1AD4B65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00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跨组协作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B45DC-FE9A-4172-B1C7-B6EBBC53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867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能在接口处协同</a:t>
            </a:r>
          </a:p>
        </p:txBody>
      </p:sp>
      <p:sp>
        <p:nvSpPr>
          <p:cNvPr id="33" name="mountain-milestone-4">
            <a:extLst xmlns:a="http://schemas.openxmlformats.org/drawingml/2006/main">
              <a:ext uri="{FF2B5EF4-FFF2-40B4-BE49-F238E27FC236}">
                <a16:creationId xmlns:a16="http://schemas.microsoft.com/office/drawing/2014/main" id="{C7FCF7E7-CCEE-457E-A1D4-0F390FE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43482-6140-4059-BEE7-DBF6A1D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ABBFCF-A425-43CF-AA3C-93A2B5D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19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系统优化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D79D5-30C8-4CD3-B1C9-C7E816D7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86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主动改善系统</a:t>
            </a:r>
          </a:p>
        </p:txBody>
      </p:sp>
      <p:sp>
        <p:nvSpPr>
          <p:cNvPr id="37" name="mountain-milestone-5">
            <a:extLst xmlns:a="http://schemas.openxmlformats.org/drawingml/2006/main">
              <a:ext uri="{FF2B5EF4-FFF2-40B4-BE49-F238E27FC236}">
                <a16:creationId xmlns:a16="http://schemas.microsoft.com/office/drawing/2014/main" id="{F1016883-D7E2-46DF-BFFB-342E4F8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3CFE1B-1014-4AEC-84F6-C986F2A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86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E18525-F5B6-4B0C-B552-67EFCD5B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66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带教复用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C1FE2-70ED-4BF2-AB50-81AC875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33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把能力传给他人</a:t>
            </a:r>
          </a:p>
        </p:txBody>
      </p:sp>
      <p:sp>
        <p:nvSpPr>
          <p:cNvPr id="41" name="summit-flag-pole">
            <a:extLst xmlns:a="http://schemas.openxmlformats.org/drawingml/2006/main">
              <a:ext uri="{FF2B5EF4-FFF2-40B4-BE49-F238E27FC236}">
                <a16:creationId xmlns:a16="http://schemas.microsoft.com/office/drawing/2014/main" id="{352D74C8-A414-4D8A-AF63-AE04EB89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29875" y="1952625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42" name="summit-flag">
            <a:extLst xmlns:a="http://schemas.openxmlformats.org/drawingml/2006/main">
              <a:ext uri="{FF2B5EF4-FFF2-40B4-BE49-F238E27FC236}">
                <a16:creationId xmlns:a16="http://schemas.microsoft.com/office/drawing/2014/main" id="{0839EB02-A033-4ADD-9F5D-C202B67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52625"/>
            <a:ext cx="266700" cy="161925"/>
          </a:xfrm>
          <a:custGeom xmlns:a="http://schemas.openxmlformats.org/drawingml/2006/main">
            <a:pathLst>
              <a:path w="266700" h="161925">
                <a:moveTo>
                  <a:pt x="0" y="0"/>
                </a:moveTo>
                <a:lnTo>
                  <a:pt x="266700" y="76200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2C266C-C5B6-421A-81E3-1B599D9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531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能力要求持续提高，里程点落在连续上山路径</a:t>
            </a:r>
          </a:p>
        </p:txBody>
      </p:sp>
      <p:sp>
        <p:nvSpPr>
          <p:cNvPr id="4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04852D8-2FB5-47B6-BF7F-05B8F9DC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21C2A8-1498-4751-B98F-BB4AA4A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6015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2026-09-07T05:31:04.2020000Z</dcterms:created>
  <dcterms:modified xsi:type="dcterms:W3CDTF">2026-09-07T05:31:04.2020000Z</dcterms:modified>
</coreProperties>
</file>