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6a7e2270beb432f" /><Relationship Type="http://schemas.openxmlformats.org/officeDocument/2006/relationships/extended-properties" Target="/docProps/app.xml" Id="R3a4dce86c0a94432" /><Relationship Type="http://schemas.openxmlformats.org/officeDocument/2006/relationships/officeDocument" Target="/ppt/presentation.xml" Id="R38b53a4160ee465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426ba6fed614a2e"/>
  </p:sldMasterIdLst>
  <p:notesMasterIdLst>
    <p:notesMasterId xmlns:r="http://schemas.openxmlformats.org/officeDocument/2006/relationships" r:id="R6cb65d154e0048aa"/>
  </p:notesMasterIdLst>
  <p:sldIdLst>
    <p:sldId xmlns:r="http://schemas.openxmlformats.org/officeDocument/2006/relationships" id="256" r:id="R2ffb0a25f5534676"/>
    <p:sldId xmlns:r="http://schemas.openxmlformats.org/officeDocument/2006/relationships" id="257" r:id="R00ff739aeca44379"/>
    <p:sldId xmlns:r="http://schemas.openxmlformats.org/officeDocument/2006/relationships" id="258" r:id="R93bd37166dbf4441"/>
    <p:sldId xmlns:r="http://schemas.openxmlformats.org/officeDocument/2006/relationships" id="259" r:id="R972ac6903f6a4d01"/>
    <p:sldId xmlns:r="http://schemas.openxmlformats.org/officeDocument/2006/relationships" id="260" r:id="Re3f185ea9004443b"/>
    <p:sldId xmlns:r="http://schemas.openxmlformats.org/officeDocument/2006/relationships" id="261" r:id="Rd01669d112be4ada"/>
    <p:sldId xmlns:r="http://schemas.openxmlformats.org/officeDocument/2006/relationships" id="262" r:id="R50c3cc2c12bf4a63"/>
    <p:sldId xmlns:r="http://schemas.openxmlformats.org/officeDocument/2006/relationships" id="263" r:id="Re37c5478c2f94ac9"/>
    <p:sldId xmlns:r="http://schemas.openxmlformats.org/officeDocument/2006/relationships" id="264" r:id="R0c2726ca80df4e41"/>
    <p:sldId xmlns:r="http://schemas.openxmlformats.org/officeDocument/2006/relationships" id="265" r:id="Rdad9c441e80046d0"/>
    <p:sldId xmlns:r="http://schemas.openxmlformats.org/officeDocument/2006/relationships" id="266" r:id="Rcc3e02ea58cc478a"/>
    <p:sldId xmlns:r="http://schemas.openxmlformats.org/officeDocument/2006/relationships" id="267" r:id="R8f2a2e13527c4e4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a272c14635b430e" /><Relationship Type="http://schemas.openxmlformats.org/officeDocument/2006/relationships/slideMaster" Target="/ppt/slideMasters/slideMaster1.xml" Id="Re426ba6fed614a2e" /><Relationship Type="http://schemas.openxmlformats.org/officeDocument/2006/relationships/notesMaster" Target="/ppt/notesMasters/notesMaster1.xml" Id="R6cb65d154e0048aa" /><Relationship Type="http://schemas.openxmlformats.org/officeDocument/2006/relationships/presProps" Target="/ppt/presProps.xml" Id="Ra619aaf2a9844bab" /><Relationship Type="http://schemas.openxmlformats.org/officeDocument/2006/relationships/tableStyles" Target="/ppt/tableStyles.xml" Id="R43addb5bd9904688" /><Relationship Type="http://schemas.openxmlformats.org/officeDocument/2006/relationships/slide" Target="/ppt/slides/slide1.xml" Id="R2ffb0a25f5534676" /><Relationship Type="http://schemas.openxmlformats.org/officeDocument/2006/relationships/slide" Target="/ppt/slides/slide2.xml" Id="R00ff739aeca44379" /><Relationship Type="http://schemas.openxmlformats.org/officeDocument/2006/relationships/slide" Target="/ppt/slides/slide3.xml" Id="R93bd37166dbf4441" /><Relationship Type="http://schemas.openxmlformats.org/officeDocument/2006/relationships/slide" Target="/ppt/slides/slide4.xml" Id="R972ac6903f6a4d01" /><Relationship Type="http://schemas.openxmlformats.org/officeDocument/2006/relationships/slide" Target="/ppt/slides/slide5.xml" Id="Re3f185ea9004443b" /><Relationship Type="http://schemas.openxmlformats.org/officeDocument/2006/relationships/slide" Target="/ppt/slides/slide6.xml" Id="Rd01669d112be4ada" /><Relationship Type="http://schemas.openxmlformats.org/officeDocument/2006/relationships/slide" Target="/ppt/slides/slide7.xml" Id="R50c3cc2c12bf4a63" /><Relationship Type="http://schemas.openxmlformats.org/officeDocument/2006/relationships/slide" Target="/ppt/slides/slide8.xml" Id="Re37c5478c2f94ac9" /><Relationship Type="http://schemas.openxmlformats.org/officeDocument/2006/relationships/slide" Target="/ppt/slides/slide9.xml" Id="R0c2726ca80df4e41" /><Relationship Type="http://schemas.openxmlformats.org/officeDocument/2006/relationships/slide" Target="/ppt/slides/slide10.xml" Id="Rdad9c441e80046d0" /><Relationship Type="http://schemas.openxmlformats.org/officeDocument/2006/relationships/slide" Target="/ppt/slides/slide11.xml" Id="Rcc3e02ea58cc478a" /><Relationship Type="http://schemas.openxmlformats.org/officeDocument/2006/relationships/slide" Target="/ppt/slides/slide12.xml" Id="R8f2a2e13527c4e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20e0a8d3f20419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dc816351444c45" /><Relationship Type="http://schemas.openxmlformats.org/officeDocument/2006/relationships/notesMaster" Target="/ppt/notesMasters/notesMaster1.xml" Id="Rdf28360bcb75425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2a0e988da444dc3" /><Relationship Type="http://schemas.openxmlformats.org/officeDocument/2006/relationships/notesMaster" Target="/ppt/notesMasters/notesMaster1.xml" Id="R6c887fb4aad1438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5ba8cdd0b654580" /><Relationship Type="http://schemas.openxmlformats.org/officeDocument/2006/relationships/notesMaster" Target="/ppt/notesMasters/notesMaster1.xml" Id="R952b4acabb184b0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d472a451e0a4446" /><Relationship Type="http://schemas.openxmlformats.org/officeDocument/2006/relationships/notesMaster" Target="/ppt/notesMasters/notesMaster1.xml" Id="R01861dc5603e4be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7102968240a4fbc" /><Relationship Type="http://schemas.openxmlformats.org/officeDocument/2006/relationships/notesMaster" Target="/ppt/notesMasters/notesMaster1.xml" Id="R71b4fa3fde4043f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f8916eab6a04b4d" /><Relationship Type="http://schemas.openxmlformats.org/officeDocument/2006/relationships/notesMaster" Target="/ppt/notesMasters/notesMaster1.xml" Id="R6cc36c0d82a14b2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7fe039f28b143ef" /><Relationship Type="http://schemas.openxmlformats.org/officeDocument/2006/relationships/notesMaster" Target="/ppt/notesMasters/notesMaster1.xml" Id="Red612d9642c9446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1c094b43c5540a0" /><Relationship Type="http://schemas.openxmlformats.org/officeDocument/2006/relationships/notesMaster" Target="/ppt/notesMasters/notesMaster1.xml" Id="Rf75465b2c97b432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897f319ac804f68" /><Relationship Type="http://schemas.openxmlformats.org/officeDocument/2006/relationships/notesMaster" Target="/ppt/notesMasters/notesMaster1.xml" Id="Rccd374f74ea842a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342b7aafca44796" /><Relationship Type="http://schemas.openxmlformats.org/officeDocument/2006/relationships/notesMaster" Target="/ppt/notesMasters/notesMaster1.xml" Id="R4022b95f4eb24ac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69279e2fc7b4d80" /><Relationship Type="http://schemas.openxmlformats.org/officeDocument/2006/relationships/notesMaster" Target="/ppt/notesMasters/notesMaster1.xml" Id="R480187c050a04f4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639e918956d485b" /><Relationship Type="http://schemas.openxmlformats.org/officeDocument/2006/relationships/notesMaster" Target="/ppt/notesMasters/notesMaster1.xml" Id="R6bda81ce3e7242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来源内容：experiments/structure-luna-audit-20260907/batch-2/input.json · case-02</a:t>
            </a:r>
          </a:p>
          <a:p xmlns:a="http://schemas.openxmlformats.org/drawingml/2006/main">
            <a:r>
              <a:t>结构参考：branching-scenario-fan-004</a:t>
            </a:r>
          </a:p>
          <a:p xmlns:a="http://schemas.openxmlformats.org/drawingml/2006/main">
            <a:r>
              <a:t>保留特征：共同假设位于扇面起点；向下扇出的五条情景路径；每条路径把触发条件与预期结果配对</a:t>
            </a:r>
          </a:p>
          <a:p xmlns:a="http://schemas.openxmlformats.org/drawingml/2006/main">
            <a:r>
              <a:t>适配变化：将情景卡改为材料状态与处理动作；保留五路扇面并用中性编辑 Skin 适配</a:t>
            </a:r>
          </a:p>
          <a:p xmlns:a="http://schemas.openxmlformats.org/drawingml/2006/main">
            <a:r>
              <a:t>本页由 invokeStructure 新接口执行，图形与文字均为原生可编辑对象。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来源内容：experiments/structure-luna-audit-20260907/batch-2/input.json · case-05</a:t>
            </a:r>
          </a:p>
          <a:p xmlns:a="http://schemas.openxmlformats.org/drawingml/2006/main">
            <a:r>
              <a:t>结构参考：causal-mediator-chain-003</a:t>
            </a:r>
          </a:p>
          <a:p xmlns:a="http://schemas.openxmlformats.org/drawingml/2006/main">
            <a:r>
              <a:t>保留特征：连续上升箭带；节点沿共同因果脊线收缩；阶梯说明块与圆盘节点成对连接</a:t>
            </a:r>
          </a:p>
          <a:p xmlns:a="http://schemas.openxmlformats.org/drawingml/2006/main">
            <a:r>
              <a:t>适配变化：使用四个中介机制与一个明确结果；弱化透视装饰以保持文字可读</a:t>
            </a:r>
          </a:p>
          <a:p xmlns:a="http://schemas.openxmlformats.org/drawingml/2006/main">
            <a:r>
              <a:t>本页由 invokeStructure 新接口执行，图形与文字均为原生可编辑对象。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来源内容：experiments/structure-luna-audit-20260907/batch-2/input.json · case-08</a:t>
            </a:r>
          </a:p>
          <a:p xmlns:a="http://schemas.openxmlformats.org/drawingml/2006/main">
            <a:r>
              <a:t>结构参考：convergence-many-to-one-003</a:t>
            </a:r>
          </a:p>
          <a:p xmlns:a="http://schemas.openxmlformats.org/drawingml/2006/main">
            <a:r>
              <a:t>保留特征：五路独立输入；多条路径平滑汇聚；唯一共同结果承接所有输入</a:t>
            </a:r>
          </a:p>
          <a:p xmlns:a="http://schemas.openxmlformats.org/drawingml/2006/main">
            <a:r>
              <a:t>适配变化：共同结果拆为三条并列约定；保留输入与结果的单向汇聚</a:t>
            </a:r>
          </a:p>
          <a:p xmlns:a="http://schemas.openxmlformats.org/drawingml/2006/main">
            <a:r>
              <a:t>本页由 invokeStructure 新接口执行，图形与文字均为原生可编辑对象。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来源内容：experiments/structure-luna-audit-20260907/batch-2/input.json · case-11</a:t>
            </a:r>
          </a:p>
          <a:p xmlns:a="http://schemas.openxmlformats.org/drawingml/2006/main">
            <a:r>
              <a:t>结构参考：convergence-many-to-one-003</a:t>
            </a:r>
          </a:p>
          <a:p xmlns:a="http://schemas.openxmlformats.org/drawingml/2006/main">
            <a:r>
              <a:t>保留特征：多路输入起点彼此分离；粗路径平滑汇聚到同一点；唯一共同结果承接所有输入</a:t>
            </a:r>
          </a:p>
          <a:p xmlns:a="http://schemas.openxmlformats.org/drawingml/2006/main">
            <a:r>
              <a:t>适配变化：扩展为六路输入；结果内部标注范围、优先级、行动安排</a:t>
            </a:r>
          </a:p>
          <a:p xmlns:a="http://schemas.openxmlformats.org/drawingml/2006/main">
            <a:r>
              <a:t>本页由 invokeStructure 新接口执行，图形与文字均为原生可编辑对象。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来源内容：experiments/structure-luna-audit-20260907/batch-2/input.json · case-14</a:t>
            </a:r>
          </a:p>
          <a:p xmlns:a="http://schemas.openxmlformats.org/drawingml/2006/main">
            <a:r>
              <a:t>结构参考：cycle-racetrack-loop-005</a:t>
            </a:r>
          </a:p>
          <a:p xmlns:a="http://schemas.openxmlformats.org/drawingml/2006/main">
            <a:r>
              <a:t>保留特征：阶段按顺序排列在回环轨道上；末端返回起点；阶段说明与路线同步对齐</a:t>
            </a:r>
          </a:p>
          <a:p xmlns:a="http://schemas.openxmlformats.org/drawingml/2006/main">
            <a:r>
              <a:t>适配变化：改为六步周循环；在每个阶段下方放置动作说明</a:t>
            </a:r>
          </a:p>
          <a:p xmlns:a="http://schemas.openxmlformats.org/drawingml/2006/main">
            <a:r>
              <a:t>本页由 invokeStructure 新接口执行，图形与文字均为原生可编辑对象。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来源内容：experiments/structure-luna-audit-20260907/batch-2/input.json · case-17</a:t>
            </a:r>
          </a:p>
          <a:p xmlns:a="http://schemas.openxmlformats.org/drawingml/2006/main">
            <a:r>
              <a:t>结构参考：hierarchy-grouped-breakdown-005</a:t>
            </a:r>
          </a:p>
          <a:p xmlns:a="http://schemas.openxmlformats.org/drawingml/2006/main">
            <a:r>
              <a:t>保留特征：总主题到具名分组的层级；分组包含连续子项区域；子项单一归属</a:t>
            </a:r>
          </a:p>
          <a:p xmlns:a="http://schemas.openxmlformats.org/drawingml/2006/main">
            <a:r>
              <a:t>适配变化：使用三组职责并重算分组宽度；取消负责人层级</a:t>
            </a:r>
          </a:p>
          <a:p xmlns:a="http://schemas.openxmlformats.org/drawingml/2006/main">
            <a:r>
              <a:t>本页由 invokeStructure 新接口执行，图形与文字均为原生可编辑对象。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来源内容：experiments/structure-luna-audit-20260907/batch-2/input.json · case-20</a:t>
            </a:r>
          </a:p>
          <a:p xmlns:a="http://schemas.openxmlformats.org/drawingml/2006/main">
            <a:r>
              <a:t>结构参考：hub-two-tier-capabilities-004</a:t>
            </a:r>
          </a:p>
          <a:p xmlns:a="http://schemas.openxmlformats.org/drawingml/2006/main">
            <a:r>
              <a:t>保留特征：核心与直接能力的内圈；外围生态形成共同外圈；两层轨道共享平台中心</a:t>
            </a:r>
          </a:p>
          <a:p xmlns:a="http://schemas.openxmlformats.org/drawingml/2006/main">
            <a:r>
              <a:t>适配变化：以项目平台为中心；外围生态不归属于单一能力</a:t>
            </a:r>
          </a:p>
          <a:p xmlns:a="http://schemas.openxmlformats.org/drawingml/2006/main">
            <a:r>
              <a:t>本页由 invokeStructure 新接口执行，图形与文字均为原生可编辑对象。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来源内容：experiments/structure-luna-audit-20260907/batch-2/input.json · case-23</a:t>
            </a:r>
          </a:p>
          <a:p xmlns:a="http://schemas.openxmlformats.org/drawingml/2006/main">
            <a:r>
              <a:t>结构参考：matrix-cross-grid-003</a:t>
            </a:r>
          </a:p>
          <a:p xmlns:a="http://schemas.openxmlformats.org/drawingml/2006/main">
            <a:r>
              <a:t>保留特征：离散行列两个维度；完整单元格交叉；行列标题与单元格严格对齐</a:t>
            </a:r>
          </a:p>
          <a:p xmlns:a="http://schemas.openxmlformats.org/drawingml/2006/main">
            <a:r>
              <a:t>适配变化：采用三行四列；每格只保留一组检查重点</a:t>
            </a:r>
          </a:p>
          <a:p xmlns:a="http://schemas.openxmlformats.org/drawingml/2006/main">
            <a:r>
              <a:t>本页由 invokeStructure 新接口执行，图形与文字均为原生可编辑对象。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来源内容：experiments/structure-luna-audit-20260907/batch-2/input.json · case-26</a:t>
            </a:r>
          </a:p>
          <a:p xmlns:a="http://schemas.openxmlformats.org/drawingml/2006/main">
            <a:r>
              <a:t>结构参考：parallel-equal-cards-001</a:t>
            </a:r>
          </a:p>
          <a:p xmlns:a="http://schemas.openxmlformats.org/drawingml/2006/main">
            <a:r>
              <a:t>保留特征：同级对象等权并列；统一锚点与等距节奏；无先后连接</a:t>
            </a:r>
          </a:p>
          <a:p xmlns:a="http://schemas.openxmlformats.org/drawingml/2006/main">
            <a:r>
              <a:t>适配变化：使用三个准备项；将长说明放入卡片下半部</a:t>
            </a:r>
          </a:p>
          <a:p xmlns:a="http://schemas.openxmlformats.org/drawingml/2006/main">
            <a:r>
              <a:t>本页由 invokeStructure 新接口执行，图形与文字均为原生可编辑对象。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来源内容：experiments/structure-luna-audit-20260907/batch-2/input.json · case-29</a:t>
            </a:r>
          </a:p>
          <a:p xmlns:a="http://schemas.openxmlformats.org/drawingml/2006/main">
            <a:r>
              <a:t>结构参考：problem-solution-outcome-001</a:t>
            </a:r>
          </a:p>
          <a:p xmlns:a="http://schemas.openxmlformats.org/drawingml/2006/main">
            <a:r>
              <a:t>保留特征：问题与方案逐组对应；从左向右阅读；所有方案汇入唯一结果</a:t>
            </a:r>
          </a:p>
          <a:p xmlns:a="http://schemas.openxmlformats.org/drawingml/2006/main">
            <a:r>
              <a:t>适配变化：使用三组问题方案；结果以可陈述的预期方向表达</a:t>
            </a:r>
          </a:p>
          <a:p xmlns:a="http://schemas.openxmlformats.org/drawingml/2006/main">
            <a:r>
              <a:t>本页由 invokeStructure 新接口执行，图形与文字均为原生可编辑对象。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来源内容：experiments/structure-luna-audit-20260907/batch-2/input.json · case-32</a:t>
            </a:r>
          </a:p>
          <a:p xmlns:a="http://schemas.openxmlformats.org/drawingml/2006/main">
            <a:r>
              <a:t>结构参考：progression-spectrum-focus-001</a:t>
            </a:r>
          </a:p>
          <a:p xmlns:a="http://schemas.openxmlformats.org/drawingml/2006/main">
            <a:r>
              <a:t>保留特征：单一横轴承载连续顺序；唯一重点区域视觉抬升；没有对象间连线</a:t>
            </a:r>
          </a:p>
          <a:p xmlns:a="http://schemas.openxmlformats.org/drawingml/2006/main">
            <a:r>
              <a:t>适配变化：保留六个区间以完整呈现原稿；将规范到执行作为连续重点带</a:t>
            </a:r>
          </a:p>
          <a:p xmlns:a="http://schemas.openxmlformats.org/drawingml/2006/main">
            <a:r>
              <a:t>本页由 invokeStructure 新接口执行，图形与文字均为原生可编辑对象。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来源内容：experiments/structure-luna-audit-20260907/batch-2/input.json · case-35</a:t>
            </a:r>
          </a:p>
          <a:p xmlns:a="http://schemas.openxmlformats.org/drawingml/2006/main">
            <a:r>
              <a:t>结构参考：sequence-phase-gates-004</a:t>
            </a:r>
          </a:p>
          <a:p xmlns:a="http://schemas.openxmlformats.org/drawingml/2006/main">
            <a:r>
              <a:t>保留特征：蜿蜒收窄的箭形河道；横跨河道的阶段门闸；阶段、河道和门闸共享阅读方向</a:t>
            </a:r>
          </a:p>
          <a:p xmlns:a="http://schemas.openxmlformats.org/drawingml/2006/main">
            <a:r>
              <a:t>适配变化：使用四阶段三门槛；条件标签紧邻对应门闸</a:t>
            </a:r>
          </a:p>
          <a:p xmlns:a="http://schemas.openxmlformats.org/drawingml/2006/main">
            <a:r>
              <a:t>本页由 invokeStructure 新接口执行，图形与文字均为原生可编辑对象。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a3d9da181c45d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836225d569a4184" /><Relationship Type="http://schemas.openxmlformats.org/officeDocument/2006/relationships/slideLayout" Target="/ppt/slideLayouts/slideLayout1.xml" Id="R03935a0bb1d242a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935a0bb1d242a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ac6f6937d74055" /><Relationship Type="http://schemas.openxmlformats.org/officeDocument/2006/relationships/notesSlide" Target="/ppt/notesSlides/notesSlide1.xml" Id="Rbfbd19654759495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9a47666eee4ef4" /><Relationship Type="http://schemas.openxmlformats.org/officeDocument/2006/relationships/notesSlide" Target="/ppt/notesSlides/notesSlide2.xml" Id="Rfd6d4d4f0e60453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aeafd9fb1441b6" /><Relationship Type="http://schemas.openxmlformats.org/officeDocument/2006/relationships/notesSlide" Target="/ppt/notesSlides/notesSlide3.xml" Id="Red00b7922b1b437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a09d91bcd54f55" /><Relationship Type="http://schemas.openxmlformats.org/officeDocument/2006/relationships/notesSlide" Target="/ppt/notesSlides/notesSlide4.xml" Id="Re1de7638eadf488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a7d463b0054652" /><Relationship Type="http://schemas.openxmlformats.org/officeDocument/2006/relationships/notesSlide" Target="/ppt/notesSlides/notesSlide5.xml" Id="R5ddf67e9b0e94e9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ebf91207f34fda" /><Relationship Type="http://schemas.openxmlformats.org/officeDocument/2006/relationships/notesSlide" Target="/ppt/notesSlides/notesSlide6.xml" Id="R899faa96291e499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983f9dc9ca4955" /><Relationship Type="http://schemas.openxmlformats.org/officeDocument/2006/relationships/notesSlide" Target="/ppt/notesSlides/notesSlide7.xml" Id="R29d085b27d854d1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e5225a368d4e8d" /><Relationship Type="http://schemas.openxmlformats.org/officeDocument/2006/relationships/notesSlide" Target="/ppt/notesSlides/notesSlide8.xml" Id="Rfd6a391453154f3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33934e8c564703" /><Relationship Type="http://schemas.openxmlformats.org/officeDocument/2006/relationships/notesSlide" Target="/ppt/notesSlides/notesSlide9.xml" Id="R02b98d6ac46a4ac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ca0b7163cf40fe" /><Relationship Type="http://schemas.openxmlformats.org/officeDocument/2006/relationships/notesSlide" Target="/ppt/notesSlides/notesSlide10.xml" Id="R3f15945c2923483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e249e626704db2" /><Relationship Type="http://schemas.openxmlformats.org/officeDocument/2006/relationships/notesSlide" Target="/ppt/notesSlides/notesSlide11.xml" Id="Rc1d4d0cc35b84e2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f80b1880174f61" /><Relationship Type="http://schemas.openxmlformats.org/officeDocument/2006/relationships/notesSlide" Target="/ppt/notesSlides/notesSlide12.xml" Id="Rfaef7338b79940d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page-1-index">
            <a:extLst xmlns:a="http://schemas.openxmlformats.org/drawingml/2006/main">
              <a:ext uri="{FF2B5EF4-FFF2-40B4-BE49-F238E27FC236}">
                <a16:creationId xmlns:a16="http://schemas.microsoft.com/office/drawing/2014/main" id="{26604C7C-AC9C-45C6-B3B3-AAEB59150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01</a:t>
            </a:r>
          </a:p>
        </p:txBody>
      </p:sp>
      <p:sp>
        <p:nvSpPr>
          <p:cNvPr id="2" name="page-1-title">
            <a:extLst xmlns:a="http://schemas.openxmlformats.org/drawingml/2006/main">
              <a:ext uri="{FF2B5EF4-FFF2-40B4-BE49-F238E27FC236}">
                <a16:creationId xmlns:a16="http://schemas.microsoft.com/office/drawing/2014/main" id="{27C76D01-B025-4D85-90EA-FABC507BA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材料完整性决定下一步处理</a:t>
            </a:r>
          </a:p>
        </p:txBody>
      </p:sp>
      <p:sp>
        <p:nvSpPr>
          <p:cNvPr id="3" name="page-1-rule">
            <a:extLst xmlns:a="http://schemas.openxmlformats.org/drawingml/2006/main">
              <a:ext uri="{FF2B5EF4-FFF2-40B4-BE49-F238E27FC236}">
                <a16:creationId xmlns:a16="http://schemas.microsoft.com/office/drawing/2014/main" id="{A8E52098-FB8C-4B6E-BBD8-2CC4DE0A8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01000" y="457200"/>
            <a:ext cx="36385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page-1-lead">
            <a:extLst xmlns:a="http://schemas.openxmlformats.org/drawingml/2006/main">
              <a:ext uri="{FF2B5EF4-FFF2-40B4-BE49-F238E27FC236}">
                <a16:creationId xmlns:a16="http://schemas.microsoft.com/office/drawing/2014/main" id="{2B8DCF30-7F92-4B4D-9191-098937B61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五种材料状态各自对应一条互斥路径</a:t>
            </a:r>
          </a:p>
        </p:txBody>
      </p:sp>
      <p:sp>
        <p:nvSpPr>
          <p:cNvPr id="5" name="page-1-folio">
            <a:extLst xmlns:a="http://schemas.openxmlformats.org/drawingml/2006/main">
              <a:ext uri="{FF2B5EF4-FFF2-40B4-BE49-F238E27FC236}">
                <a16:creationId xmlns:a16="http://schemas.microsoft.com/office/drawing/2014/main" id="{89F0FF1E-6F05-40F5-BF48-74A44E948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6" name="branch-assumption">
            <a:extLst xmlns:a="http://schemas.openxmlformats.org/drawingml/2006/main">
              <a:ext uri="{FF2B5EF4-FFF2-40B4-BE49-F238E27FC236}">
                <a16:creationId xmlns:a16="http://schemas.microsoft.com/office/drawing/2014/main" id="{19C8D5B5-8D13-4482-82DD-F43A9C505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847850"/>
            <a:ext cx="29527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355C7D"/>
          </a:solidFill>
          <a:ln xmlns:a="http://schemas.openxmlformats.org/drawingml/2006/main" w="9525">
            <a:solidFill>
              <a:srgbClr val="355C7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0DF8EC-39E8-4263-AC58-B7EE39CCA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9240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BFAF6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FBFAF6"/>
                </a:solidFill>
                <a:latin typeface="Noto Sans SC"/>
                <a:ea typeface="Noto Sans SC"/>
                <a:cs typeface="Noto Sans SC"/>
              </a:rPr>
              <a:t>当前材料状态</a:t>
            </a:r>
          </a:p>
        </p:txBody>
      </p:sp>
      <p:sp>
        <p:nvSpPr>
          <p:cNvPr id="8" name="branch-hub">
            <a:extLst xmlns:a="http://schemas.openxmlformats.org/drawingml/2006/main">
              <a:ext uri="{FF2B5EF4-FFF2-40B4-BE49-F238E27FC236}">
                <a16:creationId xmlns:a16="http://schemas.microsoft.com/office/drawing/2014/main" id="{21DE1530-7A61-4957-B4C1-D505958CD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6670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19050">
            <a:solidFill>
              <a:srgbClr val="355C7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C86118-8EA6-4042-82A2-712F64C44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8003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355C7D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355C7D"/>
                </a:solidFill>
                <a:latin typeface="Noto Sans SC"/>
                <a:ea typeface="Noto Sans SC"/>
                <a:cs typeface="Noto Sans SC"/>
              </a:rPr>
              <a:t>判定</a:t>
            </a:r>
          </a:p>
        </p:txBody>
      </p:sp>
      <p:sp>
        <p:nvSpPr>
          <p:cNvPr id="10" name="branch-entry">
            <a:extLst xmlns:a="http://schemas.openxmlformats.org/drawingml/2006/main">
              <a:ext uri="{FF2B5EF4-FFF2-40B4-BE49-F238E27FC236}">
                <a16:creationId xmlns:a16="http://schemas.microsoft.com/office/drawing/2014/main" id="{D980368A-DFAB-43D1-90E5-7BC3FEB0B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86475" y="2305050"/>
            <a:ext cx="9525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55C7D"/>
            </a:solidFill>
            <a:prstDash val="solid"/>
          </a:ln>
        </p:spPr>
      </p:sp>
      <p:sp>
        <p:nvSpPr>
          <p:cNvPr id="11" name="branch-entry-head">
            <a:extLst xmlns:a="http://schemas.openxmlformats.org/drawingml/2006/main">
              <a:ext uri="{FF2B5EF4-FFF2-40B4-BE49-F238E27FC236}">
                <a16:creationId xmlns:a16="http://schemas.microsoft.com/office/drawing/2014/main" id="{08BFCA04-F87C-4E9E-92DD-4D5E16B94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3138" y="2609258"/>
            <a:ext cx="76200" cy="76200"/>
          </a:xfrm>
          <a:custGeom xmlns:a="http://schemas.openxmlformats.org/drawingml/2006/main">
            <a:pathLst>
              <a:path w="76200" h="76200">
                <a:moveTo>
                  <a:pt x="33338" y="57742"/>
                </a:moveTo>
                <a:lnTo>
                  <a:pt x="0" y="0"/>
                </a:lnTo>
                <a:lnTo>
                  <a:pt x="66675" y="0"/>
                </a:lnTo>
                <a:close/>
              </a:path>
            </a:pathLst>
          </a:custGeom>
          <a:solidFill xmlns:a="http://schemas.openxmlformats.org/drawingml/2006/main">
            <a:srgbClr val="355C7D"/>
          </a:solidFill>
          <a:ln xmlns:a="http://schemas.openxmlformats.org/drawingml/2006/main" w="0">
            <a:solidFill>
              <a:srgbClr val="355C7D"/>
            </a:solidFill>
            <a:prstDash val="solid"/>
          </a:ln>
        </p:spPr>
      </p:sp>
      <p:sp>
        <p:nvSpPr>
          <p:cNvPr id="12" name="branch-spine">
            <a:extLst xmlns:a="http://schemas.openxmlformats.org/drawingml/2006/main">
              <a:ext uri="{FF2B5EF4-FFF2-40B4-BE49-F238E27FC236}">
                <a16:creationId xmlns:a16="http://schemas.microsoft.com/office/drawing/2014/main" id="{E9EFDF03-8EED-4224-8374-B0058FC13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86475" y="3200400"/>
            <a:ext cx="9525" cy="590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55C7D"/>
            </a:solidFill>
            <a:prstDash val="solid"/>
          </a:ln>
        </p:spPr>
      </p:sp>
      <p:sp>
        <p:nvSpPr>
          <p:cNvPr id="13" name="branch-rail">
            <a:extLst xmlns:a="http://schemas.openxmlformats.org/drawingml/2006/main">
              <a:ext uri="{FF2B5EF4-FFF2-40B4-BE49-F238E27FC236}">
                <a16:creationId xmlns:a16="http://schemas.microsoft.com/office/drawing/2014/main" id="{A72C5CAF-521A-499A-9EB7-E462F80A5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85825" y="3790950"/>
            <a:ext cx="832104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55C7D"/>
            </a:solidFill>
            <a:prstDash val="solid"/>
          </a:ln>
        </p:spPr>
      </p:sp>
      <p:sp>
        <p:nvSpPr>
          <p:cNvPr id="14" name="branch-drop-0">
            <a:extLst xmlns:a="http://schemas.openxmlformats.org/drawingml/2006/main">
              <a:ext uri="{FF2B5EF4-FFF2-40B4-BE49-F238E27FC236}">
                <a16:creationId xmlns:a16="http://schemas.microsoft.com/office/drawing/2014/main" id="{3FFBE140-C506-41B5-BC3F-E5B115A8B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85825" y="3790950"/>
            <a:ext cx="9525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55C7D"/>
            </a:solidFill>
            <a:prstDash val="solid"/>
          </a:ln>
        </p:spPr>
      </p:sp>
      <p:sp>
        <p:nvSpPr>
          <p:cNvPr id="15" name="branch-card-0">
            <a:extLst xmlns:a="http://schemas.openxmlformats.org/drawingml/2006/main">
              <a:ext uri="{FF2B5EF4-FFF2-40B4-BE49-F238E27FC236}">
                <a16:creationId xmlns:a16="http://schemas.microsoft.com/office/drawing/2014/main" id="{CB8C586E-5202-4CD6-AF73-61524379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" y="3981450"/>
            <a:ext cx="180975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3EDF3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46CAE4-200B-49B6-A6F2-00E833505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411480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355C7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355C7D"/>
                </a:solidFill>
                <a:latin typeface="Noto Sans SC"/>
                <a:ea typeface="Noto Sans SC"/>
                <a:cs typeface="Noto Sans SC"/>
              </a:rPr>
              <a:t>齐全且有效</a:t>
            </a:r>
          </a:p>
        </p:txBody>
      </p:sp>
      <p:sp>
        <p:nvSpPr>
          <p:cNvPr id="17" name="branch-rule-0">
            <a:extLst xmlns:a="http://schemas.openxmlformats.org/drawingml/2006/main">
              <a:ext uri="{FF2B5EF4-FFF2-40B4-BE49-F238E27FC236}">
                <a16:creationId xmlns:a16="http://schemas.microsoft.com/office/drawing/2014/main" id="{2A011838-5B79-4C3C-B0EB-B8049D16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5750" y="4467225"/>
            <a:ext cx="12001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8343CA-F874-477A-8EF3-1DB204324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4600575"/>
            <a:ext cx="1562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进入评审</a:t>
            </a:r>
          </a:p>
        </p:txBody>
      </p:sp>
      <p:sp>
        <p:nvSpPr>
          <p:cNvPr id="19" name="branch-drop-1">
            <a:extLst xmlns:a="http://schemas.openxmlformats.org/drawingml/2006/main">
              <a:ext uri="{FF2B5EF4-FFF2-40B4-BE49-F238E27FC236}">
                <a16:creationId xmlns:a16="http://schemas.microsoft.com/office/drawing/2014/main" id="{95F2A516-F921-427A-B084-3786A83FF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66085" y="3790950"/>
            <a:ext cx="9525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55C7D"/>
            </a:solidFill>
            <a:prstDash val="solid"/>
          </a:ln>
        </p:spPr>
      </p:sp>
      <p:sp>
        <p:nvSpPr>
          <p:cNvPr id="20" name="branch-card-1">
            <a:extLst xmlns:a="http://schemas.openxmlformats.org/drawingml/2006/main">
              <a:ext uri="{FF2B5EF4-FFF2-40B4-BE49-F238E27FC236}">
                <a16:creationId xmlns:a16="http://schemas.microsoft.com/office/drawing/2014/main" id="{167647B6-3033-4D36-93B2-BFBA32E43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210" y="3981450"/>
            <a:ext cx="180975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E2C7CA-4270-471D-BC54-AA67996A8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5510" y="411480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355C7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355C7D"/>
                </a:solidFill>
                <a:latin typeface="Noto Sans SC"/>
                <a:ea typeface="Noto Sans SC"/>
                <a:cs typeface="Noto Sans SC"/>
              </a:rPr>
              <a:t>缺证明</a:t>
            </a:r>
          </a:p>
        </p:txBody>
      </p:sp>
      <p:sp>
        <p:nvSpPr>
          <p:cNvPr id="22" name="branch-rule-1">
            <a:extLst xmlns:a="http://schemas.openxmlformats.org/drawingml/2006/main">
              <a:ext uri="{FF2B5EF4-FFF2-40B4-BE49-F238E27FC236}">
                <a16:creationId xmlns:a16="http://schemas.microsoft.com/office/drawing/2014/main" id="{4CF2F9D3-6204-4990-B4DA-2FEA4786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366010" y="4467225"/>
            <a:ext cx="12001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6E51AD-A1FF-4E38-A6F5-EE7A2A1E1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5035" y="4600575"/>
            <a:ext cx="1562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通知补交</a:t>
            </a:r>
          </a:p>
        </p:txBody>
      </p:sp>
      <p:sp>
        <p:nvSpPr>
          <p:cNvPr id="24" name="branch-drop-2">
            <a:extLst xmlns:a="http://schemas.openxmlformats.org/drawingml/2006/main">
              <a:ext uri="{FF2B5EF4-FFF2-40B4-BE49-F238E27FC236}">
                <a16:creationId xmlns:a16="http://schemas.microsoft.com/office/drawing/2014/main" id="{004CBC26-BF6B-467C-825D-1BC39A5A2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046345" y="3790950"/>
            <a:ext cx="9525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55C7D"/>
            </a:solidFill>
            <a:prstDash val="solid"/>
          </a:ln>
        </p:spPr>
      </p:sp>
      <p:sp>
        <p:nvSpPr>
          <p:cNvPr id="25" name="branch-card-2">
            <a:extLst xmlns:a="http://schemas.openxmlformats.org/drawingml/2006/main">
              <a:ext uri="{FF2B5EF4-FFF2-40B4-BE49-F238E27FC236}">
                <a16:creationId xmlns:a16="http://schemas.microsoft.com/office/drawing/2014/main" id="{17EDC2CD-1B09-45CA-844B-BBE596F36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1470" y="3981450"/>
            <a:ext cx="180975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52DA36-F0A0-4615-83E4-87EF77D76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411480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355C7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355C7D"/>
                </a:solidFill>
                <a:latin typeface="Noto Sans SC"/>
                <a:ea typeface="Noto Sans SC"/>
                <a:cs typeface="Noto Sans SC"/>
              </a:rPr>
              <a:t>文件过期</a:t>
            </a:r>
          </a:p>
        </p:txBody>
      </p:sp>
      <p:sp>
        <p:nvSpPr>
          <p:cNvPr id="27" name="branch-rule-2">
            <a:extLst xmlns:a="http://schemas.openxmlformats.org/drawingml/2006/main">
              <a:ext uri="{FF2B5EF4-FFF2-40B4-BE49-F238E27FC236}">
                <a16:creationId xmlns:a16="http://schemas.microsoft.com/office/drawing/2014/main" id="{F28A46E4-06CC-4BD3-A4E3-54257B20A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46270" y="4467225"/>
            <a:ext cx="12001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7A7474-D7F4-4F6F-AA32-41E159434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5295" y="4600575"/>
            <a:ext cx="1562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要求更新</a:t>
            </a:r>
          </a:p>
        </p:txBody>
      </p:sp>
      <p:sp>
        <p:nvSpPr>
          <p:cNvPr id="29" name="branch-drop-3">
            <a:extLst xmlns:a="http://schemas.openxmlformats.org/drawingml/2006/main">
              <a:ext uri="{FF2B5EF4-FFF2-40B4-BE49-F238E27FC236}">
                <a16:creationId xmlns:a16="http://schemas.microsoft.com/office/drawing/2014/main" id="{F83E57EE-5352-4EA6-8BE4-B4C75D456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126605" y="3790950"/>
            <a:ext cx="9525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55C7D"/>
            </a:solidFill>
            <a:prstDash val="solid"/>
          </a:ln>
        </p:spPr>
      </p:sp>
      <p:sp>
        <p:nvSpPr>
          <p:cNvPr id="30" name="branch-card-3">
            <a:extLst xmlns:a="http://schemas.openxmlformats.org/drawingml/2006/main">
              <a:ext uri="{FF2B5EF4-FFF2-40B4-BE49-F238E27FC236}">
                <a16:creationId xmlns:a16="http://schemas.microsoft.com/office/drawing/2014/main" id="{3EF0AA92-DC2D-4D3D-8351-4463AC4C1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1730" y="3981450"/>
            <a:ext cx="180975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6FC77A-5E91-4F27-8A37-F30C047AA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030" y="411480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355C7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355C7D"/>
                </a:solidFill>
                <a:latin typeface="Noto Sans SC"/>
                <a:ea typeface="Noto Sans SC"/>
                <a:cs typeface="Noto Sans SC"/>
              </a:rPr>
              <a:t>特殊权限</a:t>
            </a:r>
          </a:p>
        </p:txBody>
      </p:sp>
      <p:sp>
        <p:nvSpPr>
          <p:cNvPr id="32" name="branch-rule-3">
            <a:extLst xmlns:a="http://schemas.openxmlformats.org/drawingml/2006/main">
              <a:ext uri="{FF2B5EF4-FFF2-40B4-BE49-F238E27FC236}">
                <a16:creationId xmlns:a16="http://schemas.microsoft.com/office/drawing/2014/main" id="{8058DC54-30AF-40D8-83E5-93D13C842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526530" y="4467225"/>
            <a:ext cx="12001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352B3AA-8AAD-4929-91F0-DF65A60D6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5555" y="4600575"/>
            <a:ext cx="1562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转专人确认</a:t>
            </a:r>
          </a:p>
        </p:txBody>
      </p:sp>
      <p:sp>
        <p:nvSpPr>
          <p:cNvPr id="34" name="branch-drop-4">
            <a:extLst xmlns:a="http://schemas.openxmlformats.org/drawingml/2006/main">
              <a:ext uri="{FF2B5EF4-FFF2-40B4-BE49-F238E27FC236}">
                <a16:creationId xmlns:a16="http://schemas.microsoft.com/office/drawing/2014/main" id="{205D8FAB-6CF6-463C-A310-00A4F4149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206865" y="3790950"/>
            <a:ext cx="9525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55C7D"/>
            </a:solidFill>
            <a:prstDash val="solid"/>
          </a:ln>
        </p:spPr>
      </p:sp>
      <p:sp>
        <p:nvSpPr>
          <p:cNvPr id="35" name="branch-card-4">
            <a:extLst xmlns:a="http://schemas.openxmlformats.org/drawingml/2006/main">
              <a:ext uri="{FF2B5EF4-FFF2-40B4-BE49-F238E27FC236}">
                <a16:creationId xmlns:a16="http://schemas.microsoft.com/office/drawing/2014/main" id="{34D84E3C-9A60-4814-BFD8-917334995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1990" y="3981450"/>
            <a:ext cx="180975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778A799-00BE-4546-80CF-4B30F7C21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290" y="411480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355C7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355C7D"/>
                </a:solidFill>
                <a:latin typeface="Noto Sans SC"/>
                <a:ea typeface="Noto Sans SC"/>
                <a:cs typeface="Noto Sans SC"/>
              </a:rPr>
              <a:t>主动撤回</a:t>
            </a:r>
          </a:p>
        </p:txBody>
      </p:sp>
      <p:sp>
        <p:nvSpPr>
          <p:cNvPr id="37" name="branch-rule-4">
            <a:extLst xmlns:a="http://schemas.openxmlformats.org/drawingml/2006/main">
              <a:ext uri="{FF2B5EF4-FFF2-40B4-BE49-F238E27FC236}">
                <a16:creationId xmlns:a16="http://schemas.microsoft.com/office/drawing/2014/main" id="{25565D23-7130-472D-B776-07FCA7D98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606790" y="4467225"/>
            <a:ext cx="12001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7CBDF82-2047-430A-A70F-09F70CE8A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5815" y="4600575"/>
            <a:ext cx="1562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终止处理</a:t>
            </a:r>
          </a:p>
        </p:txBody>
      </p:sp>
    </p:spTree>
    <p:extLst>
      <p:ext uri="{BB962C8B-B14F-4D97-AF65-F5344CB8AC3E}">
        <p14:creationId xmlns:p14="http://schemas.microsoft.com/office/powerpoint/2010/main" val="64091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page-2-index">
            <a:extLst xmlns:a="http://schemas.openxmlformats.org/drawingml/2006/main">
              <a:ext uri="{FF2B5EF4-FFF2-40B4-BE49-F238E27FC236}">
                <a16:creationId xmlns:a16="http://schemas.microsoft.com/office/drawing/2014/main" id="{2B4DFB7E-7E5D-423C-8DF5-E041E79D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02</a:t>
            </a:r>
          </a:p>
        </p:txBody>
      </p:sp>
      <p:sp>
        <p:nvSpPr>
          <p:cNvPr id="2" name="page-2-title">
            <a:extLst xmlns:a="http://schemas.openxmlformats.org/drawingml/2006/main">
              <a:ext uri="{FF2B5EF4-FFF2-40B4-BE49-F238E27FC236}">
                <a16:creationId xmlns:a16="http://schemas.microsoft.com/office/drawing/2014/main" id="{E46DB166-C1A1-49CD-B4D0-49ECB5569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信息延迟怎样扩大交付偏差</a:t>
            </a:r>
          </a:p>
        </p:txBody>
      </p:sp>
      <p:sp>
        <p:nvSpPr>
          <p:cNvPr id="3" name="page-2-rule">
            <a:extLst xmlns:a="http://schemas.openxmlformats.org/drawingml/2006/main">
              <a:ext uri="{FF2B5EF4-FFF2-40B4-BE49-F238E27FC236}">
                <a16:creationId xmlns:a16="http://schemas.microsoft.com/office/drawing/2014/main" id="{0EC8F112-15F0-4DDB-BA3B-11094BABE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01000" y="457200"/>
            <a:ext cx="36385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page-2-lead">
            <a:extLst xmlns:a="http://schemas.openxmlformats.org/drawingml/2006/main">
              <a:ext uri="{FF2B5EF4-FFF2-40B4-BE49-F238E27FC236}">
                <a16:creationId xmlns:a16="http://schemas.microsoft.com/office/drawing/2014/main" id="{7BB82CB5-2989-49BA-9604-71790AAF6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滞后的变更沿一条因果机制链逐级放大</a:t>
            </a:r>
          </a:p>
        </p:txBody>
      </p:sp>
      <p:sp>
        <p:nvSpPr>
          <p:cNvPr id="5" name="page-2-folio">
            <a:extLst xmlns:a="http://schemas.openxmlformats.org/drawingml/2006/main">
              <a:ext uri="{FF2B5EF4-FFF2-40B4-BE49-F238E27FC236}">
                <a16:creationId xmlns:a16="http://schemas.microsoft.com/office/drawing/2014/main" id="{BA1AE038-2869-4D30-B1F1-5353124F2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6" name="causal-ribbon">
            <a:extLst xmlns:a="http://schemas.openxmlformats.org/drawingml/2006/main">
              <a:ext uri="{FF2B5EF4-FFF2-40B4-BE49-F238E27FC236}">
                <a16:creationId xmlns:a16="http://schemas.microsoft.com/office/drawing/2014/main" id="{4CCB05BA-618A-4FB4-B8C9-0A3A379BD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90750"/>
            <a:ext cx="10115550" cy="2762250"/>
          </a:xfrm>
          <a:custGeom xmlns:a="http://schemas.openxmlformats.org/drawingml/2006/main">
            <a:pathLst>
              <a:path w="10115550" h="2762250">
                <a:moveTo>
                  <a:pt x="0" y="2647950"/>
                </a:moveTo>
                <a:lnTo>
                  <a:pt x="9601200" y="495300"/>
                </a:lnTo>
                <a:lnTo>
                  <a:pt x="10115550" y="0"/>
                </a:lnTo>
                <a:lnTo>
                  <a:pt x="9886950" y="628650"/>
                </a:lnTo>
                <a:lnTo>
                  <a:pt x="342900" y="2762250"/>
                </a:lnTo>
                <a:close/>
              </a:path>
            </a:pathLst>
          </a:custGeom>
          <a:solidFill xmlns:a="http://schemas.openxmlformats.org/drawingml/2006/main">
            <a:srgbClr val="DCE8EF"/>
          </a:solidFill>
          <a:ln xmlns:a="http://schemas.openxmlformats.org/drawingml/2006/main" w="9525">
            <a:solidFill>
              <a:srgbClr val="6F97B5"/>
            </a:solidFill>
            <a:prstDash val="solid"/>
          </a:ln>
        </p:spPr>
      </p:sp>
      <p:sp>
        <p:nvSpPr>
          <p:cNvPr id="7" name="causal-node-0">
            <a:extLst xmlns:a="http://schemas.openxmlformats.org/drawingml/2006/main">
              <a:ext uri="{FF2B5EF4-FFF2-40B4-BE49-F238E27FC236}">
                <a16:creationId xmlns:a16="http://schemas.microsoft.com/office/drawing/2014/main" id="{6511C9E7-4CBF-4BBC-9F6E-9D6A90CF5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685" y="385191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19050">
            <a:solidFill>
              <a:srgbClr val="355C7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E00FA6-7498-4DF9-B36D-4AB8534C3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685" y="398526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355C7D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355C7D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9" name="causal-note-0">
            <a:extLst xmlns:a="http://schemas.openxmlformats.org/drawingml/2006/main">
              <a:ext uri="{FF2B5EF4-FFF2-40B4-BE49-F238E27FC236}">
                <a16:creationId xmlns:a16="http://schemas.microsoft.com/office/drawing/2014/main" id="{E8FC8291-17AA-4551-A06D-2387F0CFE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7410" y="4480560"/>
            <a:ext cx="18288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AB1EB8-A688-431D-B1C0-E54A86D14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1710" y="4566285"/>
            <a:ext cx="1600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变更传递滞后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E3894D-B42B-488E-AF65-D1E7BE4CB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1710" y="478536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计划仍使用旧版本</a:t>
            </a:r>
          </a:p>
        </p:txBody>
      </p:sp>
      <p:sp>
        <p:nvSpPr>
          <p:cNvPr id="12" name="causal-node-1">
            <a:extLst xmlns:a="http://schemas.openxmlformats.org/drawingml/2006/main">
              <a:ext uri="{FF2B5EF4-FFF2-40B4-BE49-F238E27FC236}">
                <a16:creationId xmlns:a16="http://schemas.microsoft.com/office/drawing/2014/main" id="{7EBB2E05-E901-414B-AE8C-3B99FFC95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6795" y="332232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19050">
            <a:solidFill>
              <a:srgbClr val="355C7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42AAF8-20A8-4377-AC4D-48A730F60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6795" y="345567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355C7D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355C7D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14" name="causal-note-1">
            <a:extLst xmlns:a="http://schemas.openxmlformats.org/drawingml/2006/main">
              <a:ext uri="{FF2B5EF4-FFF2-40B4-BE49-F238E27FC236}">
                <a16:creationId xmlns:a16="http://schemas.microsoft.com/office/drawing/2014/main" id="{35F4A929-5158-45BF-940D-C12677F09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3950970"/>
            <a:ext cx="18288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177283-B2B7-42E1-8D70-17B70B869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4820" y="4036695"/>
            <a:ext cx="1600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旧计划延续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323A58-844D-486F-86BD-CA2B1A07C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4820" y="425577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采购按旧规格下单</a:t>
            </a:r>
          </a:p>
        </p:txBody>
      </p:sp>
      <p:sp>
        <p:nvSpPr>
          <p:cNvPr id="17" name="causal-node-2">
            <a:extLst xmlns:a="http://schemas.openxmlformats.org/drawingml/2006/main">
              <a:ext uri="{FF2B5EF4-FFF2-40B4-BE49-F238E27FC236}">
                <a16:creationId xmlns:a16="http://schemas.microsoft.com/office/drawing/2014/main" id="{B408DC44-167F-46E5-AF11-9660EEDB6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9905" y="279273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19050">
            <a:solidFill>
              <a:srgbClr val="355C7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DC03D7-5D92-49F0-B7D2-6EC39ADE9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9905" y="292608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355C7D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355C7D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19" name="causal-note-2">
            <a:extLst xmlns:a="http://schemas.openxmlformats.org/drawingml/2006/main">
              <a:ext uri="{FF2B5EF4-FFF2-40B4-BE49-F238E27FC236}">
                <a16:creationId xmlns:a16="http://schemas.microsoft.com/office/drawing/2014/main" id="{0DAB98A8-1AF9-4EF3-828F-E6977CFE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3421380"/>
            <a:ext cx="18288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29BD4C-290D-4D93-8D40-9D1CF7E9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7930" y="3507105"/>
            <a:ext cx="1600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规格不符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918FB3-570C-4B04-AE30-DC03D3ECA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7930" y="372618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到货与需求不一致</a:t>
            </a:r>
          </a:p>
        </p:txBody>
      </p:sp>
      <p:sp>
        <p:nvSpPr>
          <p:cNvPr id="22" name="causal-node-3">
            <a:extLst xmlns:a="http://schemas.openxmlformats.org/drawingml/2006/main">
              <a:ext uri="{FF2B5EF4-FFF2-40B4-BE49-F238E27FC236}">
                <a16:creationId xmlns:a16="http://schemas.microsoft.com/office/drawing/2014/main" id="{F44909EB-E181-4C79-B1FE-C372429DC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3015" y="226314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19050">
            <a:solidFill>
              <a:srgbClr val="355C7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BBF6CC-E763-490C-B24D-4BB153A8D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3015" y="239649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355C7D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355C7D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sp>
        <p:nvSpPr>
          <p:cNvPr id="24" name="causal-note-3">
            <a:extLst xmlns:a="http://schemas.openxmlformats.org/drawingml/2006/main">
              <a:ext uri="{FF2B5EF4-FFF2-40B4-BE49-F238E27FC236}">
                <a16:creationId xmlns:a16="http://schemas.microsoft.com/office/drawing/2014/main" id="{C9488768-AFB9-4D70-B132-E8E1FCAA9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6740" y="2891790"/>
            <a:ext cx="18288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1322B6-9A82-419C-A15B-ED00E60A2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977515"/>
            <a:ext cx="1600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现场等待补料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76A71B-53C8-497C-ACA1-8F314A6D3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319659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装配窗口被挤占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0C83E4-0FB0-40FA-9D73-54783F9FD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43125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交付偏差扩大</a:t>
            </a:r>
          </a:p>
        </p:txBody>
      </p:sp>
    </p:spTree>
    <p:extLst>
      <p:ext uri="{BB962C8B-B14F-4D97-AF65-F5344CB8AC3E}">
        <p14:creationId xmlns:p14="http://schemas.microsoft.com/office/powerpoint/2010/main" val="3282167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page-3-index">
            <a:extLst xmlns:a="http://schemas.openxmlformats.org/drawingml/2006/main">
              <a:ext uri="{FF2B5EF4-FFF2-40B4-BE49-F238E27FC236}">
                <a16:creationId xmlns:a16="http://schemas.microsoft.com/office/drawing/2014/main" id="{1B826067-9329-448A-9A4B-BECF2D106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03</a:t>
            </a:r>
          </a:p>
        </p:txBody>
      </p:sp>
      <p:sp>
        <p:nvSpPr>
          <p:cNvPr id="2" name="page-3-title">
            <a:extLst xmlns:a="http://schemas.openxmlformats.org/drawingml/2006/main">
              <a:ext uri="{FF2B5EF4-FFF2-40B4-BE49-F238E27FC236}">
                <a16:creationId xmlns:a16="http://schemas.microsoft.com/office/drawing/2014/main" id="{F10287C9-20F1-4286-B316-E4BE2FB61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不同参与方形成共同交付约定</a:t>
            </a:r>
          </a:p>
        </p:txBody>
      </p:sp>
      <p:sp>
        <p:nvSpPr>
          <p:cNvPr id="3" name="page-3-rule">
            <a:extLst xmlns:a="http://schemas.openxmlformats.org/drawingml/2006/main">
              <a:ext uri="{FF2B5EF4-FFF2-40B4-BE49-F238E27FC236}">
                <a16:creationId xmlns:a16="http://schemas.microsoft.com/office/drawing/2014/main" id="{F6C972DC-4C66-4A6D-9588-88A9639A2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01000" y="457200"/>
            <a:ext cx="36385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page-3-lead">
            <a:extLst xmlns:a="http://schemas.openxmlformats.org/drawingml/2006/main">
              <a:ext uri="{FF2B5EF4-FFF2-40B4-BE49-F238E27FC236}">
                <a16:creationId xmlns:a16="http://schemas.microsoft.com/office/drawing/2014/main" id="{8D740F52-7F13-4468-B874-CEB1A8959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五方独立关注共同汇入三条交付约定</a:t>
            </a:r>
          </a:p>
        </p:txBody>
      </p:sp>
      <p:sp>
        <p:nvSpPr>
          <p:cNvPr id="5" name="page-3-folio">
            <a:extLst xmlns:a="http://schemas.openxmlformats.org/drawingml/2006/main">
              <a:ext uri="{FF2B5EF4-FFF2-40B4-BE49-F238E27FC236}">
                <a16:creationId xmlns:a16="http://schemas.microsoft.com/office/drawing/2014/main" id="{C9CF04CA-DF99-4E63-B0CB-88FEC4C87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6" name="roles-input-0">
            <a:extLst xmlns:a="http://schemas.openxmlformats.org/drawingml/2006/main">
              <a:ext uri="{FF2B5EF4-FFF2-40B4-BE49-F238E27FC236}">
                <a16:creationId xmlns:a16="http://schemas.microsoft.com/office/drawing/2014/main" id="{41A283DB-FDAB-47FA-8FDA-029E3D2B9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2038350"/>
            <a:ext cx="1809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3EDF3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F59C2F-C8BF-46F7-AAA9-8D88E8B8D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21336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研发</a:t>
            </a:r>
          </a:p>
        </p:txBody>
      </p:sp>
      <p:sp>
        <p:nvSpPr>
          <p:cNvPr id="8" name="roles-lane-0">
            <a:extLst xmlns:a="http://schemas.openxmlformats.org/drawingml/2006/main">
              <a:ext uri="{FF2B5EF4-FFF2-40B4-BE49-F238E27FC236}">
                <a16:creationId xmlns:a16="http://schemas.microsoft.com/office/drawing/2014/main" id="{337C395A-850A-49E2-A237-249E356A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48075" y="2266950"/>
            <a:ext cx="5114925" cy="152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55C7D"/>
            </a:solidFill>
            <a:prstDash val="solid"/>
          </a:ln>
        </p:spPr>
      </p:sp>
      <p:sp>
        <p:nvSpPr>
          <p:cNvPr id="9" name="roles-input-1">
            <a:extLst xmlns:a="http://schemas.openxmlformats.org/drawingml/2006/main">
              <a:ext uri="{FF2B5EF4-FFF2-40B4-BE49-F238E27FC236}">
                <a16:creationId xmlns:a16="http://schemas.microsoft.com/office/drawing/2014/main" id="{AB00AC1F-890A-4E8D-9D0F-965E7BC2F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2667000"/>
            <a:ext cx="1809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1C4659-BB86-4ED4-BF86-879C7AEED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27622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业务</a:t>
            </a:r>
          </a:p>
        </p:txBody>
      </p:sp>
      <p:sp>
        <p:nvSpPr>
          <p:cNvPr id="11" name="roles-lane-1">
            <a:extLst xmlns:a="http://schemas.openxmlformats.org/drawingml/2006/main">
              <a:ext uri="{FF2B5EF4-FFF2-40B4-BE49-F238E27FC236}">
                <a16:creationId xmlns:a16="http://schemas.microsoft.com/office/drawing/2014/main" id="{62C7BCAB-8595-464E-B33C-11239B611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48075" y="2895600"/>
            <a:ext cx="5114925" cy="895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F97B5"/>
            </a:solidFill>
            <a:prstDash val="solid"/>
          </a:ln>
        </p:spPr>
      </p:sp>
      <p:sp>
        <p:nvSpPr>
          <p:cNvPr id="12" name="roles-input-2">
            <a:extLst xmlns:a="http://schemas.openxmlformats.org/drawingml/2006/main">
              <a:ext uri="{FF2B5EF4-FFF2-40B4-BE49-F238E27FC236}">
                <a16:creationId xmlns:a16="http://schemas.microsoft.com/office/drawing/2014/main" id="{083B612A-6CFE-4ED9-8CE7-059483962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3295650"/>
            <a:ext cx="1809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3EDF3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E225A4-56E3-4A46-8823-88C9897B3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33909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运营</a:t>
            </a:r>
          </a:p>
        </p:txBody>
      </p:sp>
      <p:sp>
        <p:nvSpPr>
          <p:cNvPr id="14" name="roles-lane-2">
            <a:extLst xmlns:a="http://schemas.openxmlformats.org/drawingml/2006/main">
              <a:ext uri="{FF2B5EF4-FFF2-40B4-BE49-F238E27FC236}">
                <a16:creationId xmlns:a16="http://schemas.microsoft.com/office/drawing/2014/main" id="{A8D91AC7-F039-4A6F-A10B-5A306C122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48075" y="3524250"/>
            <a:ext cx="5114925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55C7D"/>
            </a:solidFill>
            <a:prstDash val="solid"/>
          </a:ln>
        </p:spPr>
      </p:sp>
      <p:sp>
        <p:nvSpPr>
          <p:cNvPr id="15" name="roles-input-3">
            <a:extLst xmlns:a="http://schemas.openxmlformats.org/drawingml/2006/main">
              <a:ext uri="{FF2B5EF4-FFF2-40B4-BE49-F238E27FC236}">
                <a16:creationId xmlns:a16="http://schemas.microsoft.com/office/drawing/2014/main" id="{7065BD0E-C872-4895-B908-DFF097F0B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3924300"/>
            <a:ext cx="1809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EF2A4E-C6EA-43D3-91AD-7509F8BF4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40195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质量</a:t>
            </a:r>
          </a:p>
        </p:txBody>
      </p:sp>
      <p:sp>
        <p:nvSpPr>
          <p:cNvPr id="17" name="roles-lane-3">
            <a:extLst xmlns:a="http://schemas.openxmlformats.org/drawingml/2006/main">
              <a:ext uri="{FF2B5EF4-FFF2-40B4-BE49-F238E27FC236}">
                <a16:creationId xmlns:a16="http://schemas.microsoft.com/office/drawing/2014/main" id="{DBA445A4-0BFE-420A-A0F6-4D83E4A1A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648075" y="3790950"/>
            <a:ext cx="5114925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F97B5"/>
            </a:solidFill>
            <a:prstDash val="solid"/>
          </a:ln>
        </p:spPr>
      </p:sp>
      <p:sp>
        <p:nvSpPr>
          <p:cNvPr id="18" name="roles-input-4">
            <a:extLst xmlns:a="http://schemas.openxmlformats.org/drawingml/2006/main">
              <a:ext uri="{FF2B5EF4-FFF2-40B4-BE49-F238E27FC236}">
                <a16:creationId xmlns:a16="http://schemas.microsoft.com/office/drawing/2014/main" id="{B7DC524E-BDCA-4235-89DB-D54BC334B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4552950"/>
            <a:ext cx="1809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3EDF3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05C53F-A830-49A0-A2F8-68493F071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46482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客户</a:t>
            </a:r>
          </a:p>
        </p:txBody>
      </p:sp>
      <p:sp>
        <p:nvSpPr>
          <p:cNvPr id="20" name="roles-lane-4">
            <a:extLst xmlns:a="http://schemas.openxmlformats.org/drawingml/2006/main">
              <a:ext uri="{FF2B5EF4-FFF2-40B4-BE49-F238E27FC236}">
                <a16:creationId xmlns:a16="http://schemas.microsoft.com/office/drawing/2014/main" id="{FB6A0072-6186-4D37-A0EE-537B69B02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648075" y="3790950"/>
            <a:ext cx="5114925" cy="990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55C7D"/>
            </a:solidFill>
            <a:prstDash val="solid"/>
          </a:ln>
        </p:spPr>
      </p:sp>
      <p:sp>
        <p:nvSpPr>
          <p:cNvPr id="21" name="roles-result">
            <a:extLst xmlns:a="http://schemas.openxmlformats.org/drawingml/2006/main">
              <a:ext uri="{FF2B5EF4-FFF2-40B4-BE49-F238E27FC236}">
                <a16:creationId xmlns:a16="http://schemas.microsoft.com/office/drawing/2014/main" id="{CE5E7E8C-FDC2-47FD-8712-422056AE0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19450"/>
            <a:ext cx="2476500" cy="11430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355C7D"/>
          </a:solidFill>
          <a:ln xmlns:a="http://schemas.openxmlformats.org/drawingml/2006/main" w="9525">
            <a:solidFill>
              <a:srgbClr val="355C7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558AEE-0686-4B33-846F-79A4AA127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37185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BFAF6"/>
                </a:solidFill>
                <a:latin typeface="Noto Serif SC"/>
                <a:ea typeface="Noto Serif SC"/>
                <a:cs typeface="Noto Serif SC"/>
              </a:defRPr>
            </a:pPr>
            <a:r>
              <a:rPr sz="1500" b="1">
                <a:solidFill>
                  <a:srgbClr val="FBFAF6"/>
                </a:solidFill>
                <a:latin typeface="Noto Serif SC"/>
                <a:ea typeface="Noto Serif SC"/>
                <a:cs typeface="Noto Serif SC"/>
              </a:rPr>
              <a:t>共同交付约定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E27079-2A77-4868-A193-1237115C5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75285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FBFAF6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FBFAF6"/>
                </a:solidFill>
                <a:latin typeface="Noto Sans SC"/>
                <a:ea typeface="Noto Sans SC"/>
                <a:cs typeface="Noto Sans SC"/>
              </a:rPr>
              <a:t>验收依据 · 问题记录 · 反馈责任</a:t>
            </a:r>
          </a:p>
        </p:txBody>
      </p:sp>
    </p:spTree>
    <p:extLst>
      <p:ext uri="{BB962C8B-B14F-4D97-AF65-F5344CB8AC3E}">
        <p14:creationId xmlns:p14="http://schemas.microsoft.com/office/powerpoint/2010/main" val="4415667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page-4-index">
            <a:extLst xmlns:a="http://schemas.openxmlformats.org/drawingml/2006/main">
              <a:ext uri="{FF2B5EF4-FFF2-40B4-BE49-F238E27FC236}">
                <a16:creationId xmlns:a16="http://schemas.microsoft.com/office/drawing/2014/main" id="{FE1C87F3-AA02-448E-8EE3-0EAB72696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04</a:t>
            </a:r>
          </a:p>
        </p:txBody>
      </p:sp>
      <p:sp>
        <p:nvSpPr>
          <p:cNvPr id="2" name="page-4-title">
            <a:extLst xmlns:a="http://schemas.openxmlformats.org/drawingml/2006/main">
              <a:ext uri="{FF2B5EF4-FFF2-40B4-BE49-F238E27FC236}">
                <a16:creationId xmlns:a16="http://schemas.microsoft.com/office/drawing/2014/main" id="{3F077304-4527-4659-9CDD-D68ABCFDC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多种输入共同形成一份实施建议</a:t>
            </a:r>
          </a:p>
        </p:txBody>
      </p:sp>
      <p:sp>
        <p:nvSpPr>
          <p:cNvPr id="3" name="page-4-rule">
            <a:extLst xmlns:a="http://schemas.openxmlformats.org/drawingml/2006/main">
              <a:ext uri="{FF2B5EF4-FFF2-40B4-BE49-F238E27FC236}">
                <a16:creationId xmlns:a16="http://schemas.microsoft.com/office/drawing/2014/main" id="{2759E347-D95F-43C1-AC95-AACDD3E3E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01000" y="457200"/>
            <a:ext cx="36385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page-4-lead">
            <a:extLst xmlns:a="http://schemas.openxmlformats.org/drawingml/2006/main">
              <a:ext uri="{FF2B5EF4-FFF2-40B4-BE49-F238E27FC236}">
                <a16:creationId xmlns:a16="http://schemas.microsoft.com/office/drawing/2014/main" id="{14E3ED27-9690-4F0B-84C9-ECF5F47D7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六路独立证据共同进入一份实施建议</a:t>
            </a:r>
          </a:p>
        </p:txBody>
      </p:sp>
      <p:sp>
        <p:nvSpPr>
          <p:cNvPr id="5" name="page-4-folio">
            <a:extLst xmlns:a="http://schemas.openxmlformats.org/drawingml/2006/main">
              <a:ext uri="{FF2B5EF4-FFF2-40B4-BE49-F238E27FC236}">
                <a16:creationId xmlns:a16="http://schemas.microsoft.com/office/drawing/2014/main" id="{4878C764-4C14-4834-8F9C-538378B47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6" name="inputs-input-0">
            <a:extLst xmlns:a="http://schemas.openxmlformats.org/drawingml/2006/main">
              <a:ext uri="{FF2B5EF4-FFF2-40B4-BE49-F238E27FC236}">
                <a16:creationId xmlns:a16="http://schemas.microsoft.com/office/drawing/2014/main" id="{88B6CD59-909E-4007-9CD1-766EAB988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2038350"/>
            <a:ext cx="1809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3EDF3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724A45-E240-460B-8D51-F89B6E2C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21336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现场访谈</a:t>
            </a:r>
          </a:p>
        </p:txBody>
      </p:sp>
      <p:sp>
        <p:nvSpPr>
          <p:cNvPr id="8" name="inputs-lane-0">
            <a:extLst xmlns:a="http://schemas.openxmlformats.org/drawingml/2006/main">
              <a:ext uri="{FF2B5EF4-FFF2-40B4-BE49-F238E27FC236}">
                <a16:creationId xmlns:a16="http://schemas.microsoft.com/office/drawing/2014/main" id="{8AF191F0-FB9D-4A14-A16E-10D81E846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48075" y="2266950"/>
            <a:ext cx="5114925" cy="152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55C7D"/>
            </a:solidFill>
            <a:prstDash val="solid"/>
          </a:ln>
        </p:spPr>
      </p:sp>
      <p:sp>
        <p:nvSpPr>
          <p:cNvPr id="9" name="inputs-input-1">
            <a:extLst xmlns:a="http://schemas.openxmlformats.org/drawingml/2006/main">
              <a:ext uri="{FF2B5EF4-FFF2-40B4-BE49-F238E27FC236}">
                <a16:creationId xmlns:a16="http://schemas.microsoft.com/office/drawing/2014/main" id="{07CDCBD3-3944-4805-8BC9-83A2D62A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2622550"/>
            <a:ext cx="1809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813674-1A40-4FBF-88F0-48C3E0618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27178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运行日志</a:t>
            </a:r>
          </a:p>
        </p:txBody>
      </p:sp>
      <p:sp>
        <p:nvSpPr>
          <p:cNvPr id="11" name="inputs-lane-1">
            <a:extLst xmlns:a="http://schemas.openxmlformats.org/drawingml/2006/main">
              <a:ext uri="{FF2B5EF4-FFF2-40B4-BE49-F238E27FC236}">
                <a16:creationId xmlns:a16="http://schemas.microsoft.com/office/drawing/2014/main" id="{C787AC9B-2A3E-42BD-B4DA-FB8EBD204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48075" y="2851150"/>
            <a:ext cx="5114925" cy="939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F97B5"/>
            </a:solidFill>
            <a:prstDash val="solid"/>
          </a:ln>
        </p:spPr>
      </p:sp>
      <p:sp>
        <p:nvSpPr>
          <p:cNvPr id="12" name="inputs-input-2">
            <a:extLst xmlns:a="http://schemas.openxmlformats.org/drawingml/2006/main">
              <a:ext uri="{FF2B5EF4-FFF2-40B4-BE49-F238E27FC236}">
                <a16:creationId xmlns:a16="http://schemas.microsoft.com/office/drawing/2014/main" id="{25B32E63-67FA-494C-9489-B1577A46F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3206750"/>
            <a:ext cx="1809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3EDF3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565602-DF95-417F-BC3D-07B16F77C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33020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用户反馈</a:t>
            </a:r>
          </a:p>
        </p:txBody>
      </p:sp>
      <p:sp>
        <p:nvSpPr>
          <p:cNvPr id="14" name="inputs-lane-2">
            <a:extLst xmlns:a="http://schemas.openxmlformats.org/drawingml/2006/main">
              <a:ext uri="{FF2B5EF4-FFF2-40B4-BE49-F238E27FC236}">
                <a16:creationId xmlns:a16="http://schemas.microsoft.com/office/drawing/2014/main" id="{D29B91DE-1237-470A-B149-61C819EA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48075" y="3435350"/>
            <a:ext cx="5114925" cy="35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55C7D"/>
            </a:solidFill>
            <a:prstDash val="solid"/>
          </a:ln>
        </p:spPr>
      </p:sp>
      <p:sp>
        <p:nvSpPr>
          <p:cNvPr id="15" name="inputs-input-3">
            <a:extLst xmlns:a="http://schemas.openxmlformats.org/drawingml/2006/main">
              <a:ext uri="{FF2B5EF4-FFF2-40B4-BE49-F238E27FC236}">
                <a16:creationId xmlns:a16="http://schemas.microsoft.com/office/drawing/2014/main" id="{75B9BC41-FBB3-48F8-BCC6-A287EBB3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3790950"/>
            <a:ext cx="1809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944341-F516-43DC-ABBD-972B85D1B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38862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历史故障</a:t>
            </a:r>
          </a:p>
        </p:txBody>
      </p:sp>
      <p:sp>
        <p:nvSpPr>
          <p:cNvPr id="17" name="inputs-lane-3">
            <a:extLst xmlns:a="http://schemas.openxmlformats.org/drawingml/2006/main">
              <a:ext uri="{FF2B5EF4-FFF2-40B4-BE49-F238E27FC236}">
                <a16:creationId xmlns:a16="http://schemas.microsoft.com/office/drawing/2014/main" id="{1CA35E21-57E6-4D33-A8AC-918AED2E0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648075" y="3790950"/>
            <a:ext cx="5114925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F97B5"/>
            </a:solidFill>
            <a:prstDash val="solid"/>
          </a:ln>
        </p:spPr>
      </p:sp>
      <p:sp>
        <p:nvSpPr>
          <p:cNvPr id="18" name="inputs-input-4">
            <a:extLst xmlns:a="http://schemas.openxmlformats.org/drawingml/2006/main">
              <a:ext uri="{FF2B5EF4-FFF2-40B4-BE49-F238E27FC236}">
                <a16:creationId xmlns:a16="http://schemas.microsoft.com/office/drawing/2014/main" id="{93B9353D-8B19-4C23-8381-30F99CBEE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4375150"/>
            <a:ext cx="1809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3EDF3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530040-9E52-4AFA-95A4-C59F359CF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44704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资源清单</a:t>
            </a:r>
          </a:p>
        </p:txBody>
      </p:sp>
      <p:sp>
        <p:nvSpPr>
          <p:cNvPr id="20" name="inputs-lane-4">
            <a:extLst xmlns:a="http://schemas.openxmlformats.org/drawingml/2006/main">
              <a:ext uri="{FF2B5EF4-FFF2-40B4-BE49-F238E27FC236}">
                <a16:creationId xmlns:a16="http://schemas.microsoft.com/office/drawing/2014/main" id="{1F1D37A5-0972-4E5E-B7ED-00C135412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648075" y="3790950"/>
            <a:ext cx="5114925" cy="812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55C7D"/>
            </a:solidFill>
            <a:prstDash val="solid"/>
          </a:ln>
        </p:spPr>
      </p:sp>
      <p:sp>
        <p:nvSpPr>
          <p:cNvPr id="21" name="inputs-input-5">
            <a:extLst xmlns:a="http://schemas.openxmlformats.org/drawingml/2006/main">
              <a:ext uri="{FF2B5EF4-FFF2-40B4-BE49-F238E27FC236}">
                <a16:creationId xmlns:a16="http://schemas.microsoft.com/office/drawing/2014/main" id="{B0E482F0-583D-4532-8101-228C1B3FB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4959350"/>
            <a:ext cx="1809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B18478-3ADE-49D4-90C7-EC855816A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50546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测试结果</a:t>
            </a:r>
          </a:p>
        </p:txBody>
      </p:sp>
      <p:sp>
        <p:nvSpPr>
          <p:cNvPr id="23" name="inputs-lane-5">
            <a:extLst xmlns:a="http://schemas.openxmlformats.org/drawingml/2006/main">
              <a:ext uri="{FF2B5EF4-FFF2-40B4-BE49-F238E27FC236}">
                <a16:creationId xmlns:a16="http://schemas.microsoft.com/office/drawing/2014/main" id="{CB88DE5B-50F0-4C00-BA4E-5C5B86568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648075" y="3790950"/>
            <a:ext cx="5114925" cy="139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F97B5"/>
            </a:solidFill>
            <a:prstDash val="solid"/>
          </a:ln>
        </p:spPr>
      </p:sp>
      <p:sp>
        <p:nvSpPr>
          <p:cNvPr id="24" name="inputs-result">
            <a:extLst xmlns:a="http://schemas.openxmlformats.org/drawingml/2006/main">
              <a:ext uri="{FF2B5EF4-FFF2-40B4-BE49-F238E27FC236}">
                <a16:creationId xmlns:a16="http://schemas.microsoft.com/office/drawing/2014/main" id="{59150142-08A0-49A2-A1E8-CCA62D7B0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19450"/>
            <a:ext cx="2476500" cy="11430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355C7D"/>
          </a:solidFill>
          <a:ln xmlns:a="http://schemas.openxmlformats.org/drawingml/2006/main" w="9525">
            <a:solidFill>
              <a:srgbClr val="355C7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D17112-B054-46FF-A116-9CFD59399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37185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BFAF6"/>
                </a:solidFill>
                <a:latin typeface="Noto Serif SC"/>
                <a:ea typeface="Noto Serif SC"/>
                <a:cs typeface="Noto Serif SC"/>
              </a:defRPr>
            </a:pPr>
            <a:r>
              <a:rPr sz="1500" b="1">
                <a:solidFill>
                  <a:srgbClr val="FBFAF6"/>
                </a:solidFill>
                <a:latin typeface="Noto Serif SC"/>
                <a:ea typeface="Noto Serif SC"/>
                <a:cs typeface="Noto Serif SC"/>
              </a:rPr>
              <a:t>实施建议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B2D3C7-FD2F-4726-B5E3-B04B32EB9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75285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FBFAF6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FBFAF6"/>
                </a:solidFill>
                <a:latin typeface="Noto Sans SC"/>
                <a:ea typeface="Noto Sans SC"/>
                <a:cs typeface="Noto Sans SC"/>
              </a:rPr>
              <a:t>问题范围 · 优先级 · 行动安排</a:t>
            </a:r>
          </a:p>
        </p:txBody>
      </p:sp>
    </p:spTree>
    <p:extLst>
      <p:ext uri="{BB962C8B-B14F-4D97-AF65-F5344CB8AC3E}">
        <p14:creationId xmlns:p14="http://schemas.microsoft.com/office/powerpoint/2010/main" val="4052324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page-5-index">
            <a:extLst xmlns:a="http://schemas.openxmlformats.org/drawingml/2006/main">
              <a:ext uri="{FF2B5EF4-FFF2-40B4-BE49-F238E27FC236}">
                <a16:creationId xmlns:a16="http://schemas.microsoft.com/office/drawing/2014/main" id="{78917F2F-BEF7-48B9-B116-09B8E04D1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05</a:t>
            </a:r>
          </a:p>
        </p:txBody>
      </p:sp>
      <p:sp>
        <p:nvSpPr>
          <p:cNvPr id="2" name="page-5-title">
            <a:extLst xmlns:a="http://schemas.openxmlformats.org/drawingml/2006/main">
              <a:ext uri="{FF2B5EF4-FFF2-40B4-BE49-F238E27FC236}">
                <a16:creationId xmlns:a16="http://schemas.microsoft.com/office/drawing/2014/main" id="{C39856C9-8E22-42CF-B43F-EFFD3351B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例行运维按周循环</a:t>
            </a:r>
          </a:p>
        </p:txBody>
      </p:sp>
      <p:sp>
        <p:nvSpPr>
          <p:cNvPr id="3" name="page-5-rule">
            <a:extLst xmlns:a="http://schemas.openxmlformats.org/drawingml/2006/main">
              <a:ext uri="{FF2B5EF4-FFF2-40B4-BE49-F238E27FC236}">
                <a16:creationId xmlns:a16="http://schemas.microsoft.com/office/drawing/2014/main" id="{4F8D2081-7ACB-4A39-A567-4B0D73D10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01000" y="457200"/>
            <a:ext cx="36385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page-5-lead">
            <a:extLst xmlns:a="http://schemas.openxmlformats.org/drawingml/2006/main">
              <a:ext uri="{FF2B5EF4-FFF2-40B4-BE49-F238E27FC236}">
                <a16:creationId xmlns:a16="http://schemas.microsoft.com/office/drawing/2014/main" id="{A1A19E1A-486A-45AC-BFD8-59F32DA69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六个动作沿闭合路线循环，并保留每步说明</a:t>
            </a:r>
          </a:p>
        </p:txBody>
      </p:sp>
      <p:sp>
        <p:nvSpPr>
          <p:cNvPr id="5" name="page-5-folio">
            <a:extLst xmlns:a="http://schemas.openxmlformats.org/drawingml/2006/main">
              <a:ext uri="{FF2B5EF4-FFF2-40B4-BE49-F238E27FC236}">
                <a16:creationId xmlns:a16="http://schemas.microsoft.com/office/drawing/2014/main" id="{AD5D123E-7E1D-464A-8256-825835EB2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  <p:sp>
        <p:nvSpPr>
          <p:cNvPr id="6" name="cycle-track-h">
            <a:extLst xmlns:a="http://schemas.openxmlformats.org/drawingml/2006/main">
              <a:ext uri="{FF2B5EF4-FFF2-40B4-BE49-F238E27FC236}">
                <a16:creationId xmlns:a16="http://schemas.microsoft.com/office/drawing/2014/main" id="{8A1B0109-DAF4-4D8D-B544-9623DA423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371725" y="3838575"/>
            <a:ext cx="742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25">
            <a:solidFill>
              <a:srgbClr val="DCE8EF"/>
            </a:solidFill>
            <a:prstDash val="solid"/>
          </a:ln>
        </p:spPr>
      </p:sp>
      <p:sp>
        <p:nvSpPr>
          <p:cNvPr id="7" name="cycle-track-v">
            <a:extLst xmlns:a="http://schemas.openxmlformats.org/drawingml/2006/main">
              <a:ext uri="{FF2B5EF4-FFF2-40B4-BE49-F238E27FC236}">
                <a16:creationId xmlns:a16="http://schemas.microsoft.com/office/drawing/2014/main" id="{9A7AAD45-AF1A-4184-96FC-EBED3448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86475" y="2409825"/>
            <a:ext cx="9525" cy="2857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25">
            <a:solidFill>
              <a:srgbClr val="DCE8EF"/>
            </a:solidFill>
            <a:prstDash val="solid"/>
          </a:ln>
        </p:spPr>
      </p:sp>
      <p:sp>
        <p:nvSpPr>
          <p:cNvPr id="8" name="cycle-arrow-0">
            <a:extLst xmlns:a="http://schemas.openxmlformats.org/drawingml/2006/main">
              <a:ext uri="{FF2B5EF4-FFF2-40B4-BE49-F238E27FC236}">
                <a16:creationId xmlns:a16="http://schemas.microsoft.com/office/drawing/2014/main" id="{0E43F5B7-1D59-4976-8711-2DD71A41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86475" y="2409825"/>
            <a:ext cx="3217068" cy="714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55C7D"/>
            </a:solidFill>
            <a:prstDash val="solid"/>
          </a:ln>
        </p:spPr>
      </p:sp>
      <p:sp>
        <p:nvSpPr>
          <p:cNvPr id="9" name="cycle-arrow-0-head">
            <a:extLst xmlns:a="http://schemas.openxmlformats.org/drawingml/2006/main">
              <a:ext uri="{FF2B5EF4-FFF2-40B4-BE49-F238E27FC236}">
                <a16:creationId xmlns:a16="http://schemas.microsoft.com/office/drawing/2014/main" id="{DA964336-9242-434B-9FA1-C5B603F82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947" y="3079138"/>
            <a:ext cx="76200" cy="76200"/>
          </a:xfrm>
          <a:custGeom xmlns:a="http://schemas.openxmlformats.org/drawingml/2006/main">
            <a:pathLst>
              <a:path w="76200" h="76200">
                <a:moveTo>
                  <a:pt x="63596" y="45062"/>
                </a:moveTo>
                <a:lnTo>
                  <a:pt x="0" y="65090"/>
                </a:lnTo>
                <a:lnTo>
                  <a:pt x="14454" y="0"/>
                </a:lnTo>
                <a:close/>
              </a:path>
            </a:pathLst>
          </a:custGeom>
          <a:solidFill xmlns:a="http://schemas.openxmlformats.org/drawingml/2006/main">
            <a:srgbClr val="355C7D"/>
          </a:solidFill>
          <a:ln xmlns:a="http://schemas.openxmlformats.org/drawingml/2006/main" w="0">
            <a:solidFill>
              <a:srgbClr val="355C7D"/>
            </a:solidFill>
            <a:prstDash val="solid"/>
          </a:ln>
        </p:spPr>
      </p:sp>
      <p:sp>
        <p:nvSpPr>
          <p:cNvPr id="10" name="cycle-arrow-1">
            <a:extLst xmlns:a="http://schemas.openxmlformats.org/drawingml/2006/main">
              <a:ext uri="{FF2B5EF4-FFF2-40B4-BE49-F238E27FC236}">
                <a16:creationId xmlns:a16="http://schemas.microsoft.com/office/drawing/2014/main" id="{A8C541E2-AD43-48B2-8CB0-20FC06EAF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303543" y="3124200"/>
            <a:ext cx="0" cy="1428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55C7D"/>
            </a:solidFill>
            <a:prstDash val="solid"/>
          </a:ln>
        </p:spPr>
      </p:sp>
      <p:sp>
        <p:nvSpPr>
          <p:cNvPr id="11" name="cycle-arrow-1-head">
            <a:extLst xmlns:a="http://schemas.openxmlformats.org/drawingml/2006/main">
              <a:ext uri="{FF2B5EF4-FFF2-40B4-BE49-F238E27FC236}">
                <a16:creationId xmlns:a16="http://schemas.microsoft.com/office/drawing/2014/main" id="{F0D7111E-32A0-4C65-8C3B-0A13AC910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0205" y="4495208"/>
            <a:ext cx="76200" cy="76200"/>
          </a:xfrm>
          <a:custGeom xmlns:a="http://schemas.openxmlformats.org/drawingml/2006/main">
            <a:pathLst>
              <a:path w="76200" h="76200">
                <a:moveTo>
                  <a:pt x="33338" y="57742"/>
                </a:moveTo>
                <a:lnTo>
                  <a:pt x="0" y="0"/>
                </a:lnTo>
                <a:lnTo>
                  <a:pt x="66675" y="0"/>
                </a:lnTo>
                <a:close/>
              </a:path>
            </a:pathLst>
          </a:custGeom>
          <a:solidFill xmlns:a="http://schemas.openxmlformats.org/drawingml/2006/main">
            <a:srgbClr val="355C7D"/>
          </a:solidFill>
          <a:ln xmlns:a="http://schemas.openxmlformats.org/drawingml/2006/main" w="0">
            <a:solidFill>
              <a:srgbClr val="355C7D"/>
            </a:solidFill>
            <a:prstDash val="solid"/>
          </a:ln>
        </p:spPr>
      </p:sp>
      <p:sp>
        <p:nvSpPr>
          <p:cNvPr id="12" name="cycle-arrow-2">
            <a:extLst xmlns:a="http://schemas.openxmlformats.org/drawingml/2006/main">
              <a:ext uri="{FF2B5EF4-FFF2-40B4-BE49-F238E27FC236}">
                <a16:creationId xmlns:a16="http://schemas.microsoft.com/office/drawing/2014/main" id="{FB4B5FCD-7465-467D-9340-2DDD52995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6086475" y="4552950"/>
            <a:ext cx="3217068" cy="714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55C7D"/>
            </a:solidFill>
            <a:prstDash val="solid"/>
          </a:ln>
        </p:spPr>
      </p:sp>
      <p:sp>
        <p:nvSpPr>
          <p:cNvPr id="13" name="cycle-arrow-2-head">
            <a:extLst xmlns:a="http://schemas.openxmlformats.org/drawingml/2006/main">
              <a:ext uri="{FF2B5EF4-FFF2-40B4-BE49-F238E27FC236}">
                <a16:creationId xmlns:a16="http://schemas.microsoft.com/office/drawing/2014/main" id="{00D91EF3-AA56-4C46-B756-91314F447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5222263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45062"/>
                </a:moveTo>
                <a:lnTo>
                  <a:pt x="49142" y="0"/>
                </a:lnTo>
                <a:lnTo>
                  <a:pt x="63596" y="65090"/>
                </a:lnTo>
                <a:close/>
              </a:path>
            </a:pathLst>
          </a:custGeom>
          <a:solidFill xmlns:a="http://schemas.openxmlformats.org/drawingml/2006/main">
            <a:srgbClr val="355C7D"/>
          </a:solidFill>
          <a:ln xmlns:a="http://schemas.openxmlformats.org/drawingml/2006/main" w="0">
            <a:solidFill>
              <a:srgbClr val="355C7D"/>
            </a:solidFill>
            <a:prstDash val="solid"/>
          </a:ln>
        </p:spPr>
      </p:sp>
      <p:sp>
        <p:nvSpPr>
          <p:cNvPr id="14" name="cycle-arrow-3">
            <a:extLst xmlns:a="http://schemas.openxmlformats.org/drawingml/2006/main">
              <a:ext uri="{FF2B5EF4-FFF2-40B4-BE49-F238E27FC236}">
                <a16:creationId xmlns:a16="http://schemas.microsoft.com/office/drawing/2014/main" id="{5A0EA7D7-A0E2-4871-88B5-1E033BFB6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2869407" y="4552950"/>
            <a:ext cx="3217068" cy="714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55C7D"/>
            </a:solidFill>
            <a:prstDash val="solid"/>
          </a:ln>
        </p:spPr>
      </p:sp>
      <p:sp>
        <p:nvSpPr>
          <p:cNvPr id="15" name="cycle-arrow-3-head">
            <a:extLst xmlns:a="http://schemas.openxmlformats.org/drawingml/2006/main">
              <a:ext uri="{FF2B5EF4-FFF2-40B4-BE49-F238E27FC236}">
                <a16:creationId xmlns:a16="http://schemas.microsoft.com/office/drawing/2014/main" id="{A313E1B4-467F-431D-B2B3-C334407A1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9407" y="4532922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20028"/>
                </a:moveTo>
                <a:lnTo>
                  <a:pt x="63596" y="0"/>
                </a:lnTo>
                <a:lnTo>
                  <a:pt x="49142" y="65090"/>
                </a:lnTo>
                <a:close/>
              </a:path>
            </a:pathLst>
          </a:custGeom>
          <a:solidFill xmlns:a="http://schemas.openxmlformats.org/drawingml/2006/main">
            <a:srgbClr val="355C7D"/>
          </a:solidFill>
          <a:ln xmlns:a="http://schemas.openxmlformats.org/drawingml/2006/main" w="0">
            <a:solidFill>
              <a:srgbClr val="355C7D"/>
            </a:solidFill>
            <a:prstDash val="solid"/>
          </a:ln>
        </p:spPr>
      </p:sp>
      <p:sp>
        <p:nvSpPr>
          <p:cNvPr id="16" name="cycle-arrow-4">
            <a:extLst xmlns:a="http://schemas.openxmlformats.org/drawingml/2006/main">
              <a:ext uri="{FF2B5EF4-FFF2-40B4-BE49-F238E27FC236}">
                <a16:creationId xmlns:a16="http://schemas.microsoft.com/office/drawing/2014/main" id="{81F18715-FFF7-4D94-BAC0-53ADD40F5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869407" y="3124200"/>
            <a:ext cx="9525" cy="1428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55C7D"/>
            </a:solidFill>
            <a:prstDash val="solid"/>
          </a:ln>
        </p:spPr>
      </p:sp>
      <p:sp>
        <p:nvSpPr>
          <p:cNvPr id="17" name="cycle-arrow-4-head">
            <a:extLst xmlns:a="http://schemas.openxmlformats.org/drawingml/2006/main">
              <a:ext uri="{FF2B5EF4-FFF2-40B4-BE49-F238E27FC236}">
                <a16:creationId xmlns:a16="http://schemas.microsoft.com/office/drawing/2014/main" id="{16CFBAE2-FA95-4C49-A367-D41D7060B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6070" y="3124200"/>
            <a:ext cx="76200" cy="76200"/>
          </a:xfrm>
          <a:custGeom xmlns:a="http://schemas.openxmlformats.org/drawingml/2006/main">
            <a:pathLst>
              <a:path w="76200" h="76200">
                <a:moveTo>
                  <a:pt x="33338" y="0"/>
                </a:moveTo>
                <a:lnTo>
                  <a:pt x="66675" y="57742"/>
                </a:lnTo>
                <a:lnTo>
                  <a:pt x="0" y="57742"/>
                </a:lnTo>
                <a:close/>
              </a:path>
            </a:pathLst>
          </a:custGeom>
          <a:solidFill xmlns:a="http://schemas.openxmlformats.org/drawingml/2006/main">
            <a:srgbClr val="355C7D"/>
          </a:solidFill>
          <a:ln xmlns:a="http://schemas.openxmlformats.org/drawingml/2006/main" w="0">
            <a:solidFill>
              <a:srgbClr val="355C7D"/>
            </a:solidFill>
            <a:prstDash val="solid"/>
          </a:ln>
        </p:spPr>
      </p:sp>
      <p:sp>
        <p:nvSpPr>
          <p:cNvPr id="18" name="cycle-arrow-5">
            <a:extLst xmlns:a="http://schemas.openxmlformats.org/drawingml/2006/main">
              <a:ext uri="{FF2B5EF4-FFF2-40B4-BE49-F238E27FC236}">
                <a16:creationId xmlns:a16="http://schemas.microsoft.com/office/drawing/2014/main" id="{A924DE51-7288-47C0-B2DB-D4FE5C4F5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869407" y="2409825"/>
            <a:ext cx="3217068" cy="714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55C7D"/>
            </a:solidFill>
            <a:prstDash val="solid"/>
          </a:ln>
        </p:spPr>
      </p:sp>
      <p:sp>
        <p:nvSpPr>
          <p:cNvPr id="19" name="cycle-arrow-5-head">
            <a:extLst xmlns:a="http://schemas.openxmlformats.org/drawingml/2006/main">
              <a:ext uri="{FF2B5EF4-FFF2-40B4-BE49-F238E27FC236}">
                <a16:creationId xmlns:a16="http://schemas.microsoft.com/office/drawing/2014/main" id="{81AC4E3A-190E-4FA3-B6DB-004AD6A47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2879" y="2389797"/>
            <a:ext cx="76200" cy="76200"/>
          </a:xfrm>
          <a:custGeom xmlns:a="http://schemas.openxmlformats.org/drawingml/2006/main">
            <a:pathLst>
              <a:path w="76200" h="76200">
                <a:moveTo>
                  <a:pt x="63596" y="20028"/>
                </a:moveTo>
                <a:lnTo>
                  <a:pt x="14454" y="6509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55C7D"/>
          </a:solidFill>
          <a:ln xmlns:a="http://schemas.openxmlformats.org/drawingml/2006/main" w="0">
            <a:solidFill>
              <a:srgbClr val="355C7D"/>
            </a:solidFill>
            <a:prstDash val="solid"/>
          </a:ln>
        </p:spPr>
      </p:sp>
      <p:sp>
        <p:nvSpPr>
          <p:cNvPr id="20" name="cycle-node-0">
            <a:extLst xmlns:a="http://schemas.openxmlformats.org/drawingml/2006/main">
              <a:ext uri="{FF2B5EF4-FFF2-40B4-BE49-F238E27FC236}">
                <a16:creationId xmlns:a16="http://schemas.microsoft.com/office/drawing/2014/main" id="{6B096375-8ADE-4844-8E5B-BCCB4FAEE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1952625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5C7D"/>
          </a:solidFill>
          <a:ln xmlns:a="http://schemas.openxmlformats.org/drawingml/2006/main" w="19050">
            <a:solidFill>
              <a:srgbClr val="355C7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796AF2-C128-4FF3-A62C-931C8CB12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200275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BFAF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BFAF6"/>
                </a:solidFill>
                <a:latin typeface="Noto Sans SC"/>
                <a:ea typeface="Noto Sans SC"/>
                <a:cs typeface="Noto Sans SC"/>
              </a:rPr>
              <a:t>检查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C2AE48-C2B1-453D-A0A8-CD5A3C403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505075"/>
            <a:ext cx="81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>
                <a:solidFill>
                  <a:srgbClr val="DCE8E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DCE8EF"/>
                </a:solidFill>
                <a:latin typeface="Noto Sans SC"/>
                <a:ea typeface="Noto Sans SC"/>
                <a:cs typeface="Noto Sans SC"/>
              </a:rPr>
              <a:t>看状态</a:t>
            </a:r>
          </a:p>
        </p:txBody>
      </p:sp>
      <p:sp>
        <p:nvSpPr>
          <p:cNvPr id="23" name="cycle-node-1">
            <a:extLst xmlns:a="http://schemas.openxmlformats.org/drawingml/2006/main">
              <a:ext uri="{FF2B5EF4-FFF2-40B4-BE49-F238E27FC236}">
                <a16:creationId xmlns:a16="http://schemas.microsoft.com/office/drawing/2014/main" id="{6D83C84D-BD09-4A8A-9D7C-A2DCDFE92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6343" y="266700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19050">
            <a:solidFill>
              <a:srgbClr val="355C7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B21B1F-27B3-466F-95ED-2D77EADF2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3968" y="291465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记录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F7C34C-EA54-4087-8E87-54D7B7623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3968" y="3219450"/>
            <a:ext cx="81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写异常</a:t>
            </a:r>
          </a:p>
        </p:txBody>
      </p:sp>
      <p:sp>
        <p:nvSpPr>
          <p:cNvPr id="26" name="cycle-node-2">
            <a:extLst xmlns:a="http://schemas.openxmlformats.org/drawingml/2006/main">
              <a:ext uri="{FF2B5EF4-FFF2-40B4-BE49-F238E27FC236}">
                <a16:creationId xmlns:a16="http://schemas.microsoft.com/office/drawing/2014/main" id="{226EA9C9-0066-4D25-B4FF-6970393C7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6343" y="40957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19050">
            <a:solidFill>
              <a:srgbClr val="355C7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1C8393-0500-4419-8093-E524AE94C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3968" y="43434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判断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C0E2A5-B052-40CD-98EF-40814E2AD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3968" y="4648200"/>
            <a:ext cx="81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定优先</a:t>
            </a:r>
          </a:p>
        </p:txBody>
      </p:sp>
      <p:sp>
        <p:nvSpPr>
          <p:cNvPr id="29" name="cycle-node-3">
            <a:extLst xmlns:a="http://schemas.openxmlformats.org/drawingml/2006/main">
              <a:ext uri="{FF2B5EF4-FFF2-40B4-BE49-F238E27FC236}">
                <a16:creationId xmlns:a16="http://schemas.microsoft.com/office/drawing/2014/main" id="{618E7BB6-EE79-457B-9D22-5361826B7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4810125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19050">
            <a:solidFill>
              <a:srgbClr val="355C7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A671EF-A6FA-4523-9153-C94646C96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057775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处理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9EA0AA-F259-4C14-A33C-EE0480F0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362575"/>
            <a:ext cx="81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做修复</a:t>
            </a:r>
          </a:p>
        </p:txBody>
      </p:sp>
      <p:sp>
        <p:nvSpPr>
          <p:cNvPr id="32" name="cycle-node-4">
            <a:extLst xmlns:a="http://schemas.openxmlformats.org/drawingml/2006/main">
              <a:ext uri="{FF2B5EF4-FFF2-40B4-BE49-F238E27FC236}">
                <a16:creationId xmlns:a16="http://schemas.microsoft.com/office/drawing/2014/main" id="{9D53F453-C21D-4004-A911-DF2CFD838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2207" y="40957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19050">
            <a:solidFill>
              <a:srgbClr val="355C7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53578C8-0C12-4D40-A971-32DA1B4B0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9832" y="43434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复核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59A67A-1384-4471-B55E-A07BA0702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9832" y="4648200"/>
            <a:ext cx="81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验效果</a:t>
            </a:r>
          </a:p>
        </p:txBody>
      </p:sp>
      <p:sp>
        <p:nvSpPr>
          <p:cNvPr id="35" name="cycle-node-5">
            <a:extLst xmlns:a="http://schemas.openxmlformats.org/drawingml/2006/main">
              <a:ext uri="{FF2B5EF4-FFF2-40B4-BE49-F238E27FC236}">
                <a16:creationId xmlns:a16="http://schemas.microsoft.com/office/drawing/2014/main" id="{8EABDE56-5E94-4664-B498-58E6448F7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2207" y="266700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19050">
            <a:solidFill>
              <a:srgbClr val="355C7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F650ED6-4EFA-4E14-A10E-846887D53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9832" y="291465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交接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FC45EC0-FEED-4DEC-A095-26B8BD8B9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9832" y="3219450"/>
            <a:ext cx="81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交责任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65B0B1C-AF4F-49FB-8868-3C9ECB7E8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370522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355C7D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355C7D"/>
                </a:solidFill>
                <a:latin typeface="Noto Sans SC"/>
                <a:ea typeface="Noto Sans SC"/>
                <a:cs typeface="Noto Sans SC"/>
              </a:rPr>
              <a:t>下一周继续从检查开始</a:t>
            </a:r>
          </a:p>
        </p:txBody>
      </p:sp>
    </p:spTree>
    <p:extLst>
      <p:ext uri="{BB962C8B-B14F-4D97-AF65-F5344CB8AC3E}">
        <p14:creationId xmlns:p14="http://schemas.microsoft.com/office/powerpoint/2010/main" val="20216816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page-6-index">
            <a:extLst xmlns:a="http://schemas.openxmlformats.org/drawingml/2006/main">
              <a:ext uri="{FF2B5EF4-FFF2-40B4-BE49-F238E27FC236}">
                <a16:creationId xmlns:a16="http://schemas.microsoft.com/office/drawing/2014/main" id="{C2E3463B-4578-43C0-864F-5EBB0BB53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06</a:t>
            </a:r>
          </a:p>
        </p:txBody>
      </p:sp>
      <p:sp>
        <p:nvSpPr>
          <p:cNvPr id="2" name="page-6-title">
            <a:extLst xmlns:a="http://schemas.openxmlformats.org/drawingml/2006/main">
              <a:ext uri="{FF2B5EF4-FFF2-40B4-BE49-F238E27FC236}">
                <a16:creationId xmlns:a16="http://schemas.microsoft.com/office/drawing/2014/main" id="{30974A72-5B05-4B07-A574-F257C526F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项目保障分成三组职责</a:t>
            </a:r>
          </a:p>
        </p:txBody>
      </p:sp>
      <p:sp>
        <p:nvSpPr>
          <p:cNvPr id="3" name="page-6-rule">
            <a:extLst xmlns:a="http://schemas.openxmlformats.org/drawingml/2006/main">
              <a:ext uri="{FF2B5EF4-FFF2-40B4-BE49-F238E27FC236}">
                <a16:creationId xmlns:a16="http://schemas.microsoft.com/office/drawing/2014/main" id="{891E001A-8690-48BC-A3B4-B02D7CD95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01000" y="457200"/>
            <a:ext cx="36385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page-6-lead">
            <a:extLst xmlns:a="http://schemas.openxmlformats.org/drawingml/2006/main">
              <a:ext uri="{FF2B5EF4-FFF2-40B4-BE49-F238E27FC236}">
                <a16:creationId xmlns:a16="http://schemas.microsoft.com/office/drawing/2014/main" id="{8E3F6BBA-FFF6-4A81-9F4B-7682930A8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项目保障拆为三组，每项职责只属于一个组</a:t>
            </a:r>
          </a:p>
        </p:txBody>
      </p:sp>
      <p:sp>
        <p:nvSpPr>
          <p:cNvPr id="5" name="page-6-folio">
            <a:extLst xmlns:a="http://schemas.openxmlformats.org/drawingml/2006/main">
              <a:ext uri="{FF2B5EF4-FFF2-40B4-BE49-F238E27FC236}">
                <a16:creationId xmlns:a16="http://schemas.microsoft.com/office/drawing/2014/main" id="{A24DCB25-BE37-4277-AD0F-446403E4E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06</a:t>
            </a:r>
          </a:p>
        </p:txBody>
      </p:sp>
      <p:sp>
        <p:nvSpPr>
          <p:cNvPr id="6" name="hier-root">
            <a:extLst xmlns:a="http://schemas.openxmlformats.org/drawingml/2006/main">
              <a:ext uri="{FF2B5EF4-FFF2-40B4-BE49-F238E27FC236}">
                <a16:creationId xmlns:a16="http://schemas.microsoft.com/office/drawing/2014/main" id="{3889E451-71C6-4516-B52B-299A94AA7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790700"/>
            <a:ext cx="25717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355C7D"/>
          </a:solidFill>
          <a:ln xmlns:a="http://schemas.openxmlformats.org/drawingml/2006/main" w="9525">
            <a:solidFill>
              <a:srgbClr val="355C7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9B98C4-87EA-4268-8D05-74EA17393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9050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FBFAF6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FBFAF6"/>
                </a:solidFill>
                <a:latin typeface="Noto Serif SC"/>
                <a:ea typeface="Noto Serif SC"/>
                <a:cs typeface="Noto Serif SC"/>
              </a:rPr>
              <a:t>项目保障</a:t>
            </a:r>
          </a:p>
        </p:txBody>
      </p:sp>
      <p:sp>
        <p:nvSpPr>
          <p:cNvPr id="8" name="hier-line-0">
            <a:extLst xmlns:a="http://schemas.openxmlformats.org/drawingml/2006/main">
              <a:ext uri="{FF2B5EF4-FFF2-40B4-BE49-F238E27FC236}">
                <a16:creationId xmlns:a16="http://schemas.microsoft.com/office/drawing/2014/main" id="{951129B3-AF6C-45A6-8A7A-6F7788413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2454275" y="2286000"/>
            <a:ext cx="3632200" cy="695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F97B5"/>
            </a:solidFill>
            <a:prstDash val="solid"/>
          </a:ln>
        </p:spPr>
      </p:sp>
      <p:sp>
        <p:nvSpPr>
          <p:cNvPr id="9" name="hier-group-0">
            <a:extLst xmlns:a="http://schemas.openxmlformats.org/drawingml/2006/main">
              <a:ext uri="{FF2B5EF4-FFF2-40B4-BE49-F238E27FC236}">
                <a16:creationId xmlns:a16="http://schemas.microsoft.com/office/drawing/2014/main" id="{0BB0B6B4-9E9C-43BD-9435-C115F883C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81325"/>
            <a:ext cx="342265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BE506C-145F-49DD-90E6-6C8D813BE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52775"/>
            <a:ext cx="3117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355C7D"/>
                </a:solidFill>
                <a:latin typeface="Noto Serif SC"/>
                <a:ea typeface="Noto Serif SC"/>
                <a:cs typeface="Noto Serif SC"/>
              </a:defRPr>
            </a:pPr>
            <a:r>
              <a:rPr sz="1500" b="1">
                <a:solidFill>
                  <a:srgbClr val="355C7D"/>
                </a:solidFill>
                <a:latin typeface="Noto Serif SC"/>
                <a:ea typeface="Noto Serif SC"/>
                <a:cs typeface="Noto Serif SC"/>
              </a:rPr>
              <a:t>内容组</a:t>
            </a:r>
          </a:p>
        </p:txBody>
      </p:sp>
      <p:sp>
        <p:nvSpPr>
          <p:cNvPr id="11" name="hier-rule-0">
            <a:extLst xmlns:a="http://schemas.openxmlformats.org/drawingml/2006/main">
              <a:ext uri="{FF2B5EF4-FFF2-40B4-BE49-F238E27FC236}">
                <a16:creationId xmlns:a16="http://schemas.microsoft.com/office/drawing/2014/main" id="{EBDBA76D-110F-4ACE-AA44-F73752BF2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3581400"/>
            <a:ext cx="30035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2" name="hier-dot-0-0">
            <a:extLst xmlns:a="http://schemas.openxmlformats.org/drawingml/2006/main">
              <a:ext uri="{FF2B5EF4-FFF2-40B4-BE49-F238E27FC236}">
                <a16:creationId xmlns:a16="http://schemas.microsoft.com/office/drawing/2014/main" id="{32799536-2865-4F60-884D-D7346780C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00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solidFill>
              <a:srgbClr val="A35D4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4F5C1F-4627-4E78-ABD3-4E4BECED3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62375"/>
            <a:ext cx="275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材料收集</a:t>
            </a:r>
          </a:p>
        </p:txBody>
      </p:sp>
      <p:sp>
        <p:nvSpPr>
          <p:cNvPr id="14" name="hier-dot-0-1">
            <a:extLst xmlns:a="http://schemas.openxmlformats.org/drawingml/2006/main">
              <a:ext uri="{FF2B5EF4-FFF2-40B4-BE49-F238E27FC236}">
                <a16:creationId xmlns:a16="http://schemas.microsoft.com/office/drawing/2014/main" id="{342FE136-48BB-4F04-98DB-3B68CDE35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24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solidFill>
              <a:srgbClr val="A35D4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43EA39-F1A7-4EE9-9B06-7163104B2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86225"/>
            <a:ext cx="275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事实核对</a:t>
            </a:r>
          </a:p>
        </p:txBody>
      </p:sp>
      <p:sp>
        <p:nvSpPr>
          <p:cNvPr id="16" name="hier-dot-0-2">
            <a:extLst xmlns:a="http://schemas.openxmlformats.org/drawingml/2006/main">
              <a:ext uri="{FF2B5EF4-FFF2-40B4-BE49-F238E27FC236}">
                <a16:creationId xmlns:a16="http://schemas.microsoft.com/office/drawing/2014/main" id="{80B9EBC9-F37B-4E80-BD13-2A94DD062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48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solidFill>
              <a:srgbClr val="A35D4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9A607C-2047-4700-828E-29B25395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10075"/>
            <a:ext cx="275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版本管理</a:t>
            </a:r>
          </a:p>
        </p:txBody>
      </p:sp>
      <p:sp>
        <p:nvSpPr>
          <p:cNvPr id="18" name="hier-line-1">
            <a:extLst xmlns:a="http://schemas.openxmlformats.org/drawingml/2006/main">
              <a:ext uri="{FF2B5EF4-FFF2-40B4-BE49-F238E27FC236}">
                <a16:creationId xmlns:a16="http://schemas.microsoft.com/office/drawing/2014/main" id="{793E3DAA-0866-433E-8F8A-07A5EB9C1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86475" y="2286000"/>
            <a:ext cx="9525" cy="695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F97B5"/>
            </a:solidFill>
            <a:prstDash val="solid"/>
          </a:ln>
        </p:spPr>
      </p:sp>
      <p:sp>
        <p:nvSpPr>
          <p:cNvPr id="19" name="hier-group-1">
            <a:extLst xmlns:a="http://schemas.openxmlformats.org/drawingml/2006/main">
              <a:ext uri="{FF2B5EF4-FFF2-40B4-BE49-F238E27FC236}">
                <a16:creationId xmlns:a16="http://schemas.microsoft.com/office/drawing/2014/main" id="{78B35246-9984-4EA7-81C7-17247A879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2981325"/>
            <a:ext cx="342265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7D9CB6-51F8-427D-906F-BF61609DF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3152775"/>
            <a:ext cx="3117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355C7D"/>
                </a:solidFill>
                <a:latin typeface="Noto Serif SC"/>
                <a:ea typeface="Noto Serif SC"/>
                <a:cs typeface="Noto Serif SC"/>
              </a:defRPr>
            </a:pPr>
            <a:r>
              <a:rPr sz="1500" b="1">
                <a:solidFill>
                  <a:srgbClr val="355C7D"/>
                </a:solidFill>
                <a:latin typeface="Noto Serif SC"/>
                <a:ea typeface="Noto Serif SC"/>
                <a:cs typeface="Noto Serif SC"/>
              </a:rPr>
              <a:t>技术组</a:t>
            </a:r>
          </a:p>
        </p:txBody>
      </p:sp>
      <p:sp>
        <p:nvSpPr>
          <p:cNvPr id="21" name="hier-rule-1">
            <a:extLst xmlns:a="http://schemas.openxmlformats.org/drawingml/2006/main">
              <a:ext uri="{FF2B5EF4-FFF2-40B4-BE49-F238E27FC236}">
                <a16:creationId xmlns:a16="http://schemas.microsoft.com/office/drawing/2014/main" id="{E0582961-BDF3-4105-BCE2-22F4D4F8C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84700" y="3581400"/>
            <a:ext cx="30035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2" name="hier-dot-1-0">
            <a:extLst xmlns:a="http://schemas.openxmlformats.org/drawingml/2006/main">
              <a:ext uri="{FF2B5EF4-FFF2-40B4-BE49-F238E27FC236}">
                <a16:creationId xmlns:a16="http://schemas.microsoft.com/office/drawing/2014/main" id="{6FA94B91-753A-4093-BF4E-F147C38FD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800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solidFill>
              <a:srgbClr val="A35D4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5E4854-3150-41BA-8278-F495C3C53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3762375"/>
            <a:ext cx="275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接口验证</a:t>
            </a:r>
          </a:p>
        </p:txBody>
      </p:sp>
      <p:sp>
        <p:nvSpPr>
          <p:cNvPr id="24" name="hier-dot-1-1">
            <a:extLst xmlns:a="http://schemas.openxmlformats.org/drawingml/2006/main">
              <a:ext uri="{FF2B5EF4-FFF2-40B4-BE49-F238E27FC236}">
                <a16:creationId xmlns:a16="http://schemas.microsoft.com/office/drawing/2014/main" id="{DD0629CB-5797-4791-9E2D-035A88E24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124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solidFill>
              <a:srgbClr val="A35D4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1C0DB5-3956-4B2C-87A1-E5DC24692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086225"/>
            <a:ext cx="275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构建发布</a:t>
            </a:r>
          </a:p>
        </p:txBody>
      </p:sp>
      <p:sp>
        <p:nvSpPr>
          <p:cNvPr id="26" name="hier-line-2">
            <a:extLst xmlns:a="http://schemas.openxmlformats.org/drawingml/2006/main">
              <a:ext uri="{FF2B5EF4-FFF2-40B4-BE49-F238E27FC236}">
                <a16:creationId xmlns:a16="http://schemas.microsoft.com/office/drawing/2014/main" id="{E824E35D-E4BE-4EC7-9CFA-79B2FB0E6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86475" y="2286000"/>
            <a:ext cx="3632200" cy="695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F97B5"/>
            </a:solidFill>
            <a:prstDash val="solid"/>
          </a:ln>
        </p:spPr>
      </p:sp>
      <p:sp>
        <p:nvSpPr>
          <p:cNvPr id="27" name="hier-group-2">
            <a:extLst xmlns:a="http://schemas.openxmlformats.org/drawingml/2006/main">
              <a:ext uri="{FF2B5EF4-FFF2-40B4-BE49-F238E27FC236}">
                <a16:creationId xmlns:a16="http://schemas.microsoft.com/office/drawing/2014/main" id="{CA2C2862-E00F-4143-A6EE-12E6FCC77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981325"/>
            <a:ext cx="342265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87C0E0-7427-4C75-8C15-9276EBC57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9750" y="3152775"/>
            <a:ext cx="3117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355C7D"/>
                </a:solidFill>
                <a:latin typeface="Noto Serif SC"/>
                <a:ea typeface="Noto Serif SC"/>
                <a:cs typeface="Noto Serif SC"/>
              </a:defRPr>
            </a:pPr>
            <a:r>
              <a:rPr sz="1500" b="1">
                <a:solidFill>
                  <a:srgbClr val="355C7D"/>
                </a:solidFill>
                <a:latin typeface="Noto Serif SC"/>
                <a:ea typeface="Noto Serif SC"/>
                <a:cs typeface="Noto Serif SC"/>
              </a:rPr>
              <a:t>运营组</a:t>
            </a:r>
          </a:p>
        </p:txBody>
      </p:sp>
      <p:sp>
        <p:nvSpPr>
          <p:cNvPr id="29" name="hier-rule-2">
            <a:extLst xmlns:a="http://schemas.openxmlformats.org/drawingml/2006/main">
              <a:ext uri="{FF2B5EF4-FFF2-40B4-BE49-F238E27FC236}">
                <a16:creationId xmlns:a16="http://schemas.microsoft.com/office/drawing/2014/main" id="{6A5F162C-0750-4F0E-80E9-742EE9313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216900" y="3581400"/>
            <a:ext cx="30035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30" name="hier-dot-2-0">
            <a:extLst xmlns:a="http://schemas.openxmlformats.org/drawingml/2006/main">
              <a:ext uri="{FF2B5EF4-FFF2-40B4-BE49-F238E27FC236}">
                <a16:creationId xmlns:a16="http://schemas.microsoft.com/office/drawing/2014/main" id="{A550158F-E0AE-4B5D-9C04-EDE485025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3800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solidFill>
              <a:srgbClr val="A35D4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08FD2C-5E13-4115-9509-E6D4C3D2E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4550" y="3762375"/>
            <a:ext cx="275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培训</a:t>
            </a:r>
          </a:p>
        </p:txBody>
      </p:sp>
      <p:sp>
        <p:nvSpPr>
          <p:cNvPr id="32" name="hier-dot-2-1">
            <a:extLst xmlns:a="http://schemas.openxmlformats.org/drawingml/2006/main">
              <a:ext uri="{FF2B5EF4-FFF2-40B4-BE49-F238E27FC236}">
                <a16:creationId xmlns:a16="http://schemas.microsoft.com/office/drawing/2014/main" id="{5937CE5F-B282-46AF-B02F-38705CD18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124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solidFill>
              <a:srgbClr val="A35D4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3BABD89-EE54-4103-AEC7-685C14E6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4550" y="4086225"/>
            <a:ext cx="275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答疑</a:t>
            </a:r>
          </a:p>
        </p:txBody>
      </p:sp>
      <p:sp>
        <p:nvSpPr>
          <p:cNvPr id="34" name="hier-dot-2-2">
            <a:extLst xmlns:a="http://schemas.openxmlformats.org/drawingml/2006/main">
              <a:ext uri="{FF2B5EF4-FFF2-40B4-BE49-F238E27FC236}">
                <a16:creationId xmlns:a16="http://schemas.microsoft.com/office/drawing/2014/main" id="{65F9B5A9-96EA-4E5B-9C01-06CD50E75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448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solidFill>
              <a:srgbClr val="A35D4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2AAAF8E-8AEE-4549-9799-51C29280A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4550" y="4410075"/>
            <a:ext cx="275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问题登记</a:t>
            </a:r>
          </a:p>
        </p:txBody>
      </p:sp>
      <p:sp>
        <p:nvSpPr>
          <p:cNvPr id="36" name="hier-dot-2-3">
            <a:extLst xmlns:a="http://schemas.openxmlformats.org/drawingml/2006/main">
              <a:ext uri="{FF2B5EF4-FFF2-40B4-BE49-F238E27FC236}">
                <a16:creationId xmlns:a16="http://schemas.microsoft.com/office/drawing/2014/main" id="{7F17C105-1710-4398-A327-851557D65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772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solidFill>
              <a:srgbClr val="A35D4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E3BA7DE-AA93-4926-BAF2-45EDE56E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4550" y="4733925"/>
            <a:ext cx="275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移交确认</a:t>
            </a:r>
          </a:p>
        </p:txBody>
      </p:sp>
    </p:spTree>
    <p:extLst>
      <p:ext uri="{BB962C8B-B14F-4D97-AF65-F5344CB8AC3E}">
        <p14:creationId xmlns:p14="http://schemas.microsoft.com/office/powerpoint/2010/main" val="1395726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page-7-index">
            <a:extLst xmlns:a="http://schemas.openxmlformats.org/drawingml/2006/main">
              <a:ext uri="{FF2B5EF4-FFF2-40B4-BE49-F238E27FC236}">
                <a16:creationId xmlns:a16="http://schemas.microsoft.com/office/drawing/2014/main" id="{B682FEF3-B710-4A3C-9B07-A1022179F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07</a:t>
            </a:r>
          </a:p>
        </p:txBody>
      </p:sp>
      <p:sp>
        <p:nvSpPr>
          <p:cNvPr id="2" name="page-7-title">
            <a:extLst xmlns:a="http://schemas.openxmlformats.org/drawingml/2006/main">
              <a:ext uri="{FF2B5EF4-FFF2-40B4-BE49-F238E27FC236}">
                <a16:creationId xmlns:a16="http://schemas.microsoft.com/office/drawing/2014/main" id="{BE7EE525-104C-427B-B505-E3EAFB731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平台核心连接直接能力与外围生态</a:t>
            </a:r>
          </a:p>
        </p:txBody>
      </p:sp>
      <p:sp>
        <p:nvSpPr>
          <p:cNvPr id="3" name="page-7-rule">
            <a:extLst xmlns:a="http://schemas.openxmlformats.org/drawingml/2006/main">
              <a:ext uri="{FF2B5EF4-FFF2-40B4-BE49-F238E27FC236}">
                <a16:creationId xmlns:a16="http://schemas.microsoft.com/office/drawing/2014/main" id="{F69741FC-5A04-47EE-B6FF-4DA327659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01000" y="457200"/>
            <a:ext cx="36385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page-7-lead">
            <a:extLst xmlns:a="http://schemas.openxmlformats.org/drawingml/2006/main">
              <a:ext uri="{FF2B5EF4-FFF2-40B4-BE49-F238E27FC236}">
                <a16:creationId xmlns:a16="http://schemas.microsoft.com/office/drawing/2014/main" id="{4C6E851D-0D0F-48DA-A48B-9E37DC616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直接能力组成核心，外围生态整体围绕平台</a:t>
            </a:r>
          </a:p>
        </p:txBody>
      </p:sp>
      <p:sp>
        <p:nvSpPr>
          <p:cNvPr id="5" name="page-7-folio">
            <a:extLst xmlns:a="http://schemas.openxmlformats.org/drawingml/2006/main">
              <a:ext uri="{FF2B5EF4-FFF2-40B4-BE49-F238E27FC236}">
                <a16:creationId xmlns:a16="http://schemas.microsoft.com/office/drawing/2014/main" id="{D5C68076-E7D0-4BB6-B21B-0104E061C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07</a:t>
            </a:r>
          </a:p>
        </p:txBody>
      </p:sp>
      <p:sp>
        <p:nvSpPr>
          <p:cNvPr id="6" name="hub-outer">
            <a:extLst xmlns:a="http://schemas.openxmlformats.org/drawingml/2006/main">
              <a:ext uri="{FF2B5EF4-FFF2-40B4-BE49-F238E27FC236}">
                <a16:creationId xmlns:a16="http://schemas.microsoft.com/office/drawing/2014/main" id="{C58229D0-D977-45F0-B1EC-0429627B4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409825"/>
            <a:ext cx="7429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FF3"/>
          </a:solidFill>
          <a:ln xmlns:a="http://schemas.openxmlformats.org/drawingml/2006/main" w="19050">
            <a:solidFill>
              <a:srgbClr val="6F97B5"/>
            </a:solidFill>
            <a:prstDash val="solid"/>
          </a:ln>
        </p:spPr>
      </p:sp>
      <p:sp>
        <p:nvSpPr>
          <p:cNvPr id="7" name="hub-inner">
            <a:extLst xmlns:a="http://schemas.openxmlformats.org/drawingml/2006/main">
              <a:ext uri="{FF2B5EF4-FFF2-40B4-BE49-F238E27FC236}">
                <a16:creationId xmlns:a16="http://schemas.microsoft.com/office/drawing/2014/main" id="{CB5DF628-6711-462C-8AD7-3956DA8D9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886075"/>
            <a:ext cx="4572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E2EB"/>
          </a:solidFill>
          <a:ln xmlns:a="http://schemas.openxmlformats.org/drawingml/2006/main" w="19050">
            <a:solidFill>
              <a:srgbClr val="355C7D"/>
            </a:solidFill>
            <a:prstDash val="solid"/>
          </a:ln>
        </p:spPr>
      </p:sp>
      <p:sp>
        <p:nvSpPr>
          <p:cNvPr id="8" name="hub-core">
            <a:extLst xmlns:a="http://schemas.openxmlformats.org/drawingml/2006/main">
              <a:ext uri="{FF2B5EF4-FFF2-40B4-BE49-F238E27FC236}">
                <a16:creationId xmlns:a16="http://schemas.microsoft.com/office/drawing/2014/main" id="{335CCF05-0412-42AE-B48D-3678EB4A2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133725"/>
            <a:ext cx="1409700" cy="1409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5C7D"/>
          </a:solidFill>
          <a:ln xmlns:a="http://schemas.openxmlformats.org/drawingml/2006/main" w="19050">
            <a:solidFill>
              <a:srgbClr val="355C7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720C4D-7917-4517-BB4B-298CC4326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37242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FBFAF6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FBFAF6"/>
                </a:solidFill>
                <a:latin typeface="Noto Serif SC"/>
                <a:ea typeface="Noto Serif SC"/>
                <a:cs typeface="Noto Serif SC"/>
              </a:rPr>
              <a:t>项目平台</a:t>
            </a:r>
          </a:p>
        </p:txBody>
      </p:sp>
      <p:sp>
        <p:nvSpPr>
          <p:cNvPr id="10" name="hub-direct-0">
            <a:extLst xmlns:a="http://schemas.openxmlformats.org/drawingml/2006/main">
              <a:ext uri="{FF2B5EF4-FFF2-40B4-BE49-F238E27FC236}">
                <a16:creationId xmlns:a16="http://schemas.microsoft.com/office/drawing/2014/main" id="{E369CD0A-F82E-4340-855A-69A70CA18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895600"/>
            <a:ext cx="8001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14288">
            <a:solidFill>
              <a:srgbClr val="355C7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67AC72-369F-4A60-81E4-1FACE03F8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38475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权限</a:t>
            </a:r>
          </a:p>
        </p:txBody>
      </p:sp>
      <p:sp>
        <p:nvSpPr>
          <p:cNvPr id="12" name="hub-link-0">
            <a:extLst xmlns:a="http://schemas.openxmlformats.org/drawingml/2006/main">
              <a:ext uri="{FF2B5EF4-FFF2-40B4-BE49-F238E27FC236}">
                <a16:creationId xmlns:a16="http://schemas.microsoft.com/office/drawing/2014/main" id="{44E9263E-49E9-4F92-BE93-5216F5062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076950" y="3124200"/>
            <a:ext cx="9525" cy="714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F97B5"/>
            </a:solidFill>
            <a:prstDash val="solid"/>
          </a:ln>
        </p:spPr>
      </p:sp>
      <p:sp>
        <p:nvSpPr>
          <p:cNvPr id="13" name="hub-direct-1">
            <a:extLst xmlns:a="http://schemas.openxmlformats.org/drawingml/2006/main">
              <a:ext uri="{FF2B5EF4-FFF2-40B4-BE49-F238E27FC236}">
                <a16:creationId xmlns:a16="http://schemas.microsoft.com/office/drawing/2014/main" id="{CBDDB665-BACD-4E5B-84F7-7F550308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609975"/>
            <a:ext cx="8001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14288">
            <a:solidFill>
              <a:srgbClr val="355C7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2EDF4B-C109-4812-AF58-1654D2360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75285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文档</a:t>
            </a:r>
          </a:p>
        </p:txBody>
      </p:sp>
      <p:sp>
        <p:nvSpPr>
          <p:cNvPr id="15" name="hub-link-1">
            <a:extLst xmlns:a="http://schemas.openxmlformats.org/drawingml/2006/main">
              <a:ext uri="{FF2B5EF4-FFF2-40B4-BE49-F238E27FC236}">
                <a16:creationId xmlns:a16="http://schemas.microsoft.com/office/drawing/2014/main" id="{9E5DB4EC-CDBF-4D0D-B62F-42BFC0684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76950" y="3838575"/>
            <a:ext cx="18573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F97B5"/>
            </a:solidFill>
            <a:prstDash val="solid"/>
          </a:ln>
        </p:spPr>
      </p:sp>
      <p:sp>
        <p:nvSpPr>
          <p:cNvPr id="16" name="hub-direct-2">
            <a:extLst xmlns:a="http://schemas.openxmlformats.org/drawingml/2006/main">
              <a:ext uri="{FF2B5EF4-FFF2-40B4-BE49-F238E27FC236}">
                <a16:creationId xmlns:a16="http://schemas.microsoft.com/office/drawing/2014/main" id="{A6F4A602-5A12-49B4-B0D9-90D5AEB57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324350"/>
            <a:ext cx="8001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14288">
            <a:solidFill>
              <a:srgbClr val="355C7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503BD1-DEC3-48AD-8239-F2253D886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467225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任务</a:t>
            </a:r>
          </a:p>
        </p:txBody>
      </p:sp>
      <p:sp>
        <p:nvSpPr>
          <p:cNvPr id="18" name="hub-link-2">
            <a:extLst xmlns:a="http://schemas.openxmlformats.org/drawingml/2006/main">
              <a:ext uri="{FF2B5EF4-FFF2-40B4-BE49-F238E27FC236}">
                <a16:creationId xmlns:a16="http://schemas.microsoft.com/office/drawing/2014/main" id="{4E924A02-8D42-4C1A-AC93-CDDD7C583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76950" y="3838575"/>
            <a:ext cx="9525" cy="714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F97B5"/>
            </a:solidFill>
            <a:prstDash val="solid"/>
          </a:ln>
        </p:spPr>
      </p:sp>
      <p:sp>
        <p:nvSpPr>
          <p:cNvPr id="19" name="hub-direct-3">
            <a:extLst xmlns:a="http://schemas.openxmlformats.org/drawingml/2006/main">
              <a:ext uri="{FF2B5EF4-FFF2-40B4-BE49-F238E27FC236}">
                <a16:creationId xmlns:a16="http://schemas.microsoft.com/office/drawing/2014/main" id="{26FE0B39-98FB-40F4-AA4B-B3E25A7F2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609975"/>
            <a:ext cx="8001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14288">
            <a:solidFill>
              <a:srgbClr val="355C7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471568-552E-4F1E-A594-92EB089AE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75285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检索</a:t>
            </a:r>
          </a:p>
        </p:txBody>
      </p:sp>
      <p:sp>
        <p:nvSpPr>
          <p:cNvPr id="21" name="hub-link-3">
            <a:extLst xmlns:a="http://schemas.openxmlformats.org/drawingml/2006/main">
              <a:ext uri="{FF2B5EF4-FFF2-40B4-BE49-F238E27FC236}">
                <a16:creationId xmlns:a16="http://schemas.microsoft.com/office/drawing/2014/main" id="{8F9F17B1-ADA2-41BC-89D6-F789A4A3A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4219575" y="3838575"/>
            <a:ext cx="18573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F97B5"/>
            </a:solidFill>
            <a:prstDash val="solid"/>
          </a:ln>
        </p:spPr>
      </p:sp>
      <p:sp>
        <p:nvSpPr>
          <p:cNvPr id="22" name="hub-outer-node-0">
            <a:extLst xmlns:a="http://schemas.openxmlformats.org/drawingml/2006/main">
              <a:ext uri="{FF2B5EF4-FFF2-40B4-BE49-F238E27FC236}">
                <a16:creationId xmlns:a16="http://schemas.microsoft.com/office/drawing/2014/main" id="{D8189C72-0E85-4A04-A834-EB8D52A28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314575"/>
            <a:ext cx="11049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14288">
            <a:solidFill>
              <a:srgbClr val="6F97B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8C8AD1-85BE-4819-965B-008C3F961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447925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培训</a:t>
            </a:r>
          </a:p>
        </p:txBody>
      </p:sp>
      <p:sp>
        <p:nvSpPr>
          <p:cNvPr id="24" name="hub-outer-node-1">
            <a:extLst xmlns:a="http://schemas.openxmlformats.org/drawingml/2006/main">
              <a:ext uri="{FF2B5EF4-FFF2-40B4-BE49-F238E27FC236}">
                <a16:creationId xmlns:a16="http://schemas.microsoft.com/office/drawing/2014/main" id="{48646A16-D080-4892-9B7F-D2DC639E9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1555" y="3222838"/>
            <a:ext cx="11049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14288">
            <a:solidFill>
              <a:srgbClr val="6F97B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E6A3B6-13FD-4E84-BF01-6893A43BF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9655" y="3356188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咨询</a:t>
            </a:r>
          </a:p>
        </p:txBody>
      </p:sp>
      <p:sp>
        <p:nvSpPr>
          <p:cNvPr id="26" name="hub-outer-node-2">
            <a:extLst xmlns:a="http://schemas.openxmlformats.org/drawingml/2006/main">
              <a:ext uri="{FF2B5EF4-FFF2-40B4-BE49-F238E27FC236}">
                <a16:creationId xmlns:a16="http://schemas.microsoft.com/office/drawing/2014/main" id="{E506972A-5834-40B5-82AE-020C7A661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3995" y="4692437"/>
            <a:ext cx="11049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14288">
            <a:solidFill>
              <a:srgbClr val="6F97B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54A006-1C03-4745-A758-163ECEE63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2095" y="4825787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社区</a:t>
            </a:r>
          </a:p>
        </p:txBody>
      </p:sp>
      <p:sp>
        <p:nvSpPr>
          <p:cNvPr id="28" name="hub-outer-node-3">
            <a:extLst xmlns:a="http://schemas.openxmlformats.org/drawingml/2006/main">
              <a:ext uri="{FF2B5EF4-FFF2-40B4-BE49-F238E27FC236}">
                <a16:creationId xmlns:a16="http://schemas.microsoft.com/office/drawing/2014/main" id="{E6763738-0852-4E49-AC68-49A1A3E46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5005" y="4692437"/>
            <a:ext cx="11049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14288">
            <a:solidFill>
              <a:srgbClr val="6F97B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1DBA85-7E46-4F4E-9728-2E2297B0B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3105" y="4825787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第三方工具</a:t>
            </a:r>
          </a:p>
        </p:txBody>
      </p:sp>
      <p:sp>
        <p:nvSpPr>
          <p:cNvPr id="30" name="hub-outer-node-4">
            <a:extLst xmlns:a="http://schemas.openxmlformats.org/drawingml/2006/main">
              <a:ext uri="{FF2B5EF4-FFF2-40B4-BE49-F238E27FC236}">
                <a16:creationId xmlns:a16="http://schemas.microsoft.com/office/drawing/2014/main" id="{B58343B4-8FA7-4DE3-B29E-57780F685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7445" y="3222838"/>
            <a:ext cx="11049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14288">
            <a:solidFill>
              <a:srgbClr val="6F97B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21CEA5-4100-495C-B0D5-235D75CE5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5545" y="3356188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支持服务</a:t>
            </a:r>
          </a:p>
        </p:txBody>
      </p:sp>
    </p:spTree>
    <p:extLst>
      <p:ext uri="{BB962C8B-B14F-4D97-AF65-F5344CB8AC3E}">
        <p14:creationId xmlns:p14="http://schemas.microsoft.com/office/powerpoint/2010/main" val="2558781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page-8-index">
            <a:extLst xmlns:a="http://schemas.openxmlformats.org/drawingml/2006/main">
              <a:ext uri="{FF2B5EF4-FFF2-40B4-BE49-F238E27FC236}">
                <a16:creationId xmlns:a16="http://schemas.microsoft.com/office/drawing/2014/main" id="{F9FA7C4B-C61C-4712-A49B-7E54A50F5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08</a:t>
            </a:r>
          </a:p>
        </p:txBody>
      </p:sp>
      <p:sp>
        <p:nvSpPr>
          <p:cNvPr id="2" name="page-8-title">
            <a:extLst xmlns:a="http://schemas.openxmlformats.org/drawingml/2006/main">
              <a:ext uri="{FF2B5EF4-FFF2-40B4-BE49-F238E27FC236}">
                <a16:creationId xmlns:a16="http://schemas.microsoft.com/office/drawing/2014/main" id="{833F11C9-C357-4F70-8CCB-36B5B50BD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按角色和阶段分配检查重点</a:t>
            </a:r>
          </a:p>
        </p:txBody>
      </p:sp>
      <p:sp>
        <p:nvSpPr>
          <p:cNvPr id="3" name="page-8-rule">
            <a:extLst xmlns:a="http://schemas.openxmlformats.org/drawingml/2006/main">
              <a:ext uri="{FF2B5EF4-FFF2-40B4-BE49-F238E27FC236}">
                <a16:creationId xmlns:a16="http://schemas.microsoft.com/office/drawing/2014/main" id="{EDD5B2E8-4B32-451F-9397-F6D0AEA3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01000" y="457200"/>
            <a:ext cx="36385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page-8-lead">
            <a:extLst xmlns:a="http://schemas.openxmlformats.org/drawingml/2006/main">
              <a:ext uri="{FF2B5EF4-FFF2-40B4-BE49-F238E27FC236}">
                <a16:creationId xmlns:a16="http://schemas.microsoft.com/office/drawing/2014/main" id="{75B8FC41-3C25-455F-8590-9A6363B09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三个角色与四个阶段形成完整交叉矩阵</a:t>
            </a:r>
          </a:p>
        </p:txBody>
      </p:sp>
      <p:sp>
        <p:nvSpPr>
          <p:cNvPr id="5" name="page-8-folio">
            <a:extLst xmlns:a="http://schemas.openxmlformats.org/drawingml/2006/main">
              <a:ext uri="{FF2B5EF4-FFF2-40B4-BE49-F238E27FC236}">
                <a16:creationId xmlns:a16="http://schemas.microsoft.com/office/drawing/2014/main" id="{576341AC-D4F5-4BDC-83BA-E862CAD35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08</a:t>
            </a:r>
          </a:p>
        </p:txBody>
      </p:sp>
      <p:sp>
        <p:nvSpPr>
          <p:cNvPr id="6" name="matrix-col-0">
            <a:extLst xmlns:a="http://schemas.openxmlformats.org/drawingml/2006/main">
              <a:ext uri="{FF2B5EF4-FFF2-40B4-BE49-F238E27FC236}">
                <a16:creationId xmlns:a16="http://schemas.microsoft.com/office/drawing/2014/main" id="{BFA02FDB-945D-4DFA-8AE2-679E61D65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209800"/>
            <a:ext cx="1876425" cy="4000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355C7D"/>
          </a:solidFill>
          <a:ln xmlns:a="http://schemas.openxmlformats.org/drawingml/2006/main" w="9525">
            <a:solidFill>
              <a:srgbClr val="355C7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ED1A31-CE57-4077-8D9E-1CBEE744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286000"/>
            <a:ext cx="18764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BFAF6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FBFAF6"/>
                </a:solidFill>
                <a:latin typeface="Noto Sans SC"/>
                <a:ea typeface="Noto Sans SC"/>
                <a:cs typeface="Noto Sans SC"/>
              </a:rPr>
              <a:t>准备</a:t>
            </a:r>
          </a:p>
        </p:txBody>
      </p:sp>
      <p:sp>
        <p:nvSpPr>
          <p:cNvPr id="8" name="matrix-col-1">
            <a:extLst xmlns:a="http://schemas.openxmlformats.org/drawingml/2006/main">
              <a:ext uri="{FF2B5EF4-FFF2-40B4-BE49-F238E27FC236}">
                <a16:creationId xmlns:a16="http://schemas.microsoft.com/office/drawing/2014/main" id="{D95B229B-D294-468C-AF38-16ACAFFD4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209800"/>
            <a:ext cx="1876425" cy="4000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355C7D"/>
          </a:solidFill>
          <a:ln xmlns:a="http://schemas.openxmlformats.org/drawingml/2006/main" w="9525">
            <a:solidFill>
              <a:srgbClr val="355C7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E605B8-2270-40AB-B8DA-35E4042BF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286000"/>
            <a:ext cx="18764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BFAF6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FBFAF6"/>
                </a:solidFill>
                <a:latin typeface="Noto Sans SC"/>
                <a:ea typeface="Noto Sans SC"/>
                <a:cs typeface="Noto Sans SC"/>
              </a:rPr>
              <a:t>执行</a:t>
            </a:r>
          </a:p>
        </p:txBody>
      </p:sp>
      <p:sp>
        <p:nvSpPr>
          <p:cNvPr id="10" name="matrix-col-2">
            <a:extLst xmlns:a="http://schemas.openxmlformats.org/drawingml/2006/main">
              <a:ext uri="{FF2B5EF4-FFF2-40B4-BE49-F238E27FC236}">
                <a16:creationId xmlns:a16="http://schemas.microsoft.com/office/drawing/2014/main" id="{6873A377-DC65-4AC5-BFEE-92D6F334D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209800"/>
            <a:ext cx="1876425" cy="4000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355C7D"/>
          </a:solidFill>
          <a:ln xmlns:a="http://schemas.openxmlformats.org/drawingml/2006/main" w="9525">
            <a:solidFill>
              <a:srgbClr val="355C7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C8614D-4B18-4A84-A22A-5E57A01EE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286000"/>
            <a:ext cx="18764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BFAF6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FBFAF6"/>
                </a:solidFill>
                <a:latin typeface="Noto Sans SC"/>
                <a:ea typeface="Noto Sans SC"/>
                <a:cs typeface="Noto Sans SC"/>
              </a:rPr>
              <a:t>移交</a:t>
            </a:r>
          </a:p>
        </p:txBody>
      </p:sp>
      <p:sp>
        <p:nvSpPr>
          <p:cNvPr id="12" name="matrix-col-3">
            <a:extLst xmlns:a="http://schemas.openxmlformats.org/drawingml/2006/main">
              <a:ext uri="{FF2B5EF4-FFF2-40B4-BE49-F238E27FC236}">
                <a16:creationId xmlns:a16="http://schemas.microsoft.com/office/drawing/2014/main" id="{56A75EAE-06B1-4F5B-A589-507DB6BA6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09800"/>
            <a:ext cx="1876425" cy="4000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355C7D"/>
          </a:solidFill>
          <a:ln xmlns:a="http://schemas.openxmlformats.org/drawingml/2006/main" w="9525">
            <a:solidFill>
              <a:srgbClr val="355C7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CC82F9-1A49-4339-BBF1-E309CE039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86000"/>
            <a:ext cx="18764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BFAF6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FBFAF6"/>
                </a:solidFill>
                <a:latin typeface="Noto Sans SC"/>
                <a:ea typeface="Noto Sans SC"/>
                <a:cs typeface="Noto Sans SC"/>
              </a:rPr>
              <a:t>复盘</a:t>
            </a:r>
          </a:p>
        </p:txBody>
      </p:sp>
      <p:sp>
        <p:nvSpPr>
          <p:cNvPr id="14" name="matrix-row-0">
            <a:extLst xmlns:a="http://schemas.openxmlformats.org/drawingml/2006/main">
              <a:ext uri="{FF2B5EF4-FFF2-40B4-BE49-F238E27FC236}">
                <a16:creationId xmlns:a16="http://schemas.microsoft.com/office/drawing/2014/main" id="{3E7E8733-CDAF-4540-B3B0-762525B03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43200"/>
            <a:ext cx="1143000" cy="533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3EDF3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AE8FE0-2BDA-4145-9E0D-CA2B922DE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956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355C7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355C7D"/>
                </a:solidFill>
                <a:latin typeface="Noto Sans SC"/>
                <a:ea typeface="Noto Sans SC"/>
                <a:cs typeface="Noto Sans SC"/>
              </a:rPr>
              <a:t>研发</a:t>
            </a:r>
          </a:p>
        </p:txBody>
      </p:sp>
      <p:sp>
        <p:nvSpPr>
          <p:cNvPr id="16" name="matrix-cell-0-0">
            <a:extLst xmlns:a="http://schemas.openxmlformats.org/drawingml/2006/main">
              <a:ext uri="{FF2B5EF4-FFF2-40B4-BE49-F238E27FC236}">
                <a16:creationId xmlns:a16="http://schemas.microsoft.com/office/drawing/2014/main" id="{AA0C2817-5ECA-4F3A-AF45-0925A6A9C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743200"/>
            <a:ext cx="1876425" cy="533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E44250-F77A-4337-B853-9163BF4A4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895600"/>
            <a:ext cx="1724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接口</a:t>
            </a:r>
          </a:p>
        </p:txBody>
      </p:sp>
      <p:sp>
        <p:nvSpPr>
          <p:cNvPr id="18" name="matrix-cell-0-1">
            <a:extLst xmlns:a="http://schemas.openxmlformats.org/drawingml/2006/main">
              <a:ext uri="{FF2B5EF4-FFF2-40B4-BE49-F238E27FC236}">
                <a16:creationId xmlns:a16="http://schemas.microsoft.com/office/drawing/2014/main" id="{F1319BD6-17C5-4E89-A279-227349407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743200"/>
            <a:ext cx="1876425" cy="533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4D8354-0C4A-4898-9407-79BC92118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895600"/>
            <a:ext cx="1724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错误</a:t>
            </a:r>
          </a:p>
        </p:txBody>
      </p:sp>
      <p:sp>
        <p:nvSpPr>
          <p:cNvPr id="20" name="matrix-cell-0-2">
            <a:extLst xmlns:a="http://schemas.openxmlformats.org/drawingml/2006/main">
              <a:ext uri="{FF2B5EF4-FFF2-40B4-BE49-F238E27FC236}">
                <a16:creationId xmlns:a16="http://schemas.microsoft.com/office/drawing/2014/main" id="{203D3143-40D3-4CAB-9D22-53B0285D6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743200"/>
            <a:ext cx="1876425" cy="533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5DE307-DE07-4488-B5E1-430CD76A7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895600"/>
            <a:ext cx="1724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部署</a:t>
            </a:r>
          </a:p>
        </p:txBody>
      </p:sp>
      <p:sp>
        <p:nvSpPr>
          <p:cNvPr id="22" name="matrix-cell-0-3">
            <a:extLst xmlns:a="http://schemas.openxmlformats.org/drawingml/2006/main">
              <a:ext uri="{FF2B5EF4-FFF2-40B4-BE49-F238E27FC236}">
                <a16:creationId xmlns:a16="http://schemas.microsoft.com/office/drawing/2014/main" id="{53BDE0D9-6734-4BDE-8610-A2473EC1A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43200"/>
            <a:ext cx="1876425" cy="533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534A43-6922-48B8-A6D3-0D2EA162C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95600"/>
            <a:ext cx="1724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技术债</a:t>
            </a:r>
          </a:p>
        </p:txBody>
      </p:sp>
      <p:sp>
        <p:nvSpPr>
          <p:cNvPr id="24" name="matrix-row-1">
            <a:extLst xmlns:a="http://schemas.openxmlformats.org/drawingml/2006/main">
              <a:ext uri="{FF2B5EF4-FFF2-40B4-BE49-F238E27FC236}">
                <a16:creationId xmlns:a16="http://schemas.microsoft.com/office/drawing/2014/main" id="{EF02CEB5-1870-47ED-AADD-226499190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52800"/>
            <a:ext cx="1143000" cy="533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3EDF3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C4192E-FB3A-482E-B38C-F104D7F06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052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355C7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355C7D"/>
                </a:solidFill>
                <a:latin typeface="Noto Sans SC"/>
                <a:ea typeface="Noto Sans SC"/>
                <a:cs typeface="Noto Sans SC"/>
              </a:rPr>
              <a:t>业务</a:t>
            </a:r>
          </a:p>
        </p:txBody>
      </p:sp>
      <p:sp>
        <p:nvSpPr>
          <p:cNvPr id="26" name="matrix-cell-1-0">
            <a:extLst xmlns:a="http://schemas.openxmlformats.org/drawingml/2006/main">
              <a:ext uri="{FF2B5EF4-FFF2-40B4-BE49-F238E27FC236}">
                <a16:creationId xmlns:a16="http://schemas.microsoft.com/office/drawing/2014/main" id="{78DF2F44-E598-4F09-BC83-50FF50A0B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352800"/>
            <a:ext cx="1876425" cy="533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414667-4DF5-4579-9EA6-FEA737F00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505200"/>
            <a:ext cx="1724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目标</a:t>
            </a:r>
          </a:p>
        </p:txBody>
      </p:sp>
      <p:sp>
        <p:nvSpPr>
          <p:cNvPr id="28" name="matrix-cell-1-1">
            <a:extLst xmlns:a="http://schemas.openxmlformats.org/drawingml/2006/main">
              <a:ext uri="{FF2B5EF4-FFF2-40B4-BE49-F238E27FC236}">
                <a16:creationId xmlns:a16="http://schemas.microsoft.com/office/drawing/2014/main" id="{FF6751AF-09B0-4319-B12D-A570EEA2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352800"/>
            <a:ext cx="1876425" cy="533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05D6A9-8FB0-42EB-9AD6-BA292138F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505200"/>
            <a:ext cx="1724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适用</a:t>
            </a:r>
          </a:p>
        </p:txBody>
      </p:sp>
      <p:sp>
        <p:nvSpPr>
          <p:cNvPr id="30" name="matrix-cell-1-2">
            <a:extLst xmlns:a="http://schemas.openxmlformats.org/drawingml/2006/main">
              <a:ext uri="{FF2B5EF4-FFF2-40B4-BE49-F238E27FC236}">
                <a16:creationId xmlns:a16="http://schemas.microsoft.com/office/drawing/2014/main" id="{E65CC0A2-308E-412B-AAF7-EDE9F8904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352800"/>
            <a:ext cx="1876425" cy="533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8D2381-39B3-4AEC-B1E3-93B03AC6B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505200"/>
            <a:ext cx="1724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培训</a:t>
            </a:r>
          </a:p>
        </p:txBody>
      </p:sp>
      <p:sp>
        <p:nvSpPr>
          <p:cNvPr id="32" name="matrix-cell-1-3">
            <a:extLst xmlns:a="http://schemas.openxmlformats.org/drawingml/2006/main">
              <a:ext uri="{FF2B5EF4-FFF2-40B4-BE49-F238E27FC236}">
                <a16:creationId xmlns:a16="http://schemas.microsoft.com/office/drawing/2014/main" id="{E7761DE9-2048-4FB0-A3E6-9AA8B0275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352800"/>
            <a:ext cx="1876425" cy="533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384114-47CA-4B45-A9E3-6D32E991C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505200"/>
            <a:ext cx="1724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需求变化</a:t>
            </a:r>
          </a:p>
        </p:txBody>
      </p:sp>
      <p:sp>
        <p:nvSpPr>
          <p:cNvPr id="34" name="matrix-row-2">
            <a:extLst xmlns:a="http://schemas.openxmlformats.org/drawingml/2006/main">
              <a:ext uri="{FF2B5EF4-FFF2-40B4-BE49-F238E27FC236}">
                <a16:creationId xmlns:a16="http://schemas.microsoft.com/office/drawing/2014/main" id="{9D703C17-961D-471A-A530-A4CCEADB8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62400"/>
            <a:ext cx="1143000" cy="533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3EDF3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010348-1A16-437E-82CA-50EE63B5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148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355C7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355C7D"/>
                </a:solidFill>
                <a:latin typeface="Noto Sans SC"/>
                <a:ea typeface="Noto Sans SC"/>
                <a:cs typeface="Noto Sans SC"/>
              </a:rPr>
              <a:t>质量</a:t>
            </a:r>
          </a:p>
        </p:txBody>
      </p:sp>
      <p:sp>
        <p:nvSpPr>
          <p:cNvPr id="36" name="matrix-cell-2-0">
            <a:extLst xmlns:a="http://schemas.openxmlformats.org/drawingml/2006/main">
              <a:ext uri="{FF2B5EF4-FFF2-40B4-BE49-F238E27FC236}">
                <a16:creationId xmlns:a16="http://schemas.microsoft.com/office/drawing/2014/main" id="{1F44B070-4DF4-4212-ABDB-C2895539E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962400"/>
            <a:ext cx="1876425" cy="533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54D739E-3A18-47A0-9535-4AE10C19D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4114800"/>
            <a:ext cx="1724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依据</a:t>
            </a:r>
          </a:p>
        </p:txBody>
      </p:sp>
      <p:sp>
        <p:nvSpPr>
          <p:cNvPr id="38" name="matrix-cell-2-1">
            <a:extLst xmlns:a="http://schemas.openxmlformats.org/drawingml/2006/main">
              <a:ext uri="{FF2B5EF4-FFF2-40B4-BE49-F238E27FC236}">
                <a16:creationId xmlns:a16="http://schemas.microsoft.com/office/drawing/2014/main" id="{D0F2614A-0475-4391-BEE3-20A5D61D1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962400"/>
            <a:ext cx="1876425" cy="533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711DDAC-E24A-4E9D-B8EB-6DBB0AEC2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114800"/>
            <a:ext cx="1724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记录</a:t>
            </a:r>
          </a:p>
        </p:txBody>
      </p:sp>
      <p:sp>
        <p:nvSpPr>
          <p:cNvPr id="40" name="matrix-cell-2-2">
            <a:extLst xmlns:a="http://schemas.openxmlformats.org/drawingml/2006/main">
              <a:ext uri="{FF2B5EF4-FFF2-40B4-BE49-F238E27FC236}">
                <a16:creationId xmlns:a16="http://schemas.microsoft.com/office/drawing/2014/main" id="{F40D50F6-8594-472E-A4F6-07DCE5C48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962400"/>
            <a:ext cx="1876425" cy="533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2F4E89F-C990-459E-919D-50E193516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114800"/>
            <a:ext cx="1724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验收</a:t>
            </a:r>
          </a:p>
        </p:txBody>
      </p:sp>
      <p:sp>
        <p:nvSpPr>
          <p:cNvPr id="42" name="matrix-cell-2-3">
            <a:extLst xmlns:a="http://schemas.openxmlformats.org/drawingml/2006/main">
              <a:ext uri="{FF2B5EF4-FFF2-40B4-BE49-F238E27FC236}">
                <a16:creationId xmlns:a16="http://schemas.microsoft.com/office/drawing/2014/main" id="{77DFB67A-C21D-4ED2-A927-EBC2543E7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962400"/>
            <a:ext cx="1876425" cy="533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8FB9D5E-E9B7-4EE3-9D2F-F6409A215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114800"/>
            <a:ext cx="1724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改进</a:t>
            </a:r>
          </a:p>
        </p:txBody>
      </p:sp>
    </p:spTree>
    <p:extLst>
      <p:ext uri="{BB962C8B-B14F-4D97-AF65-F5344CB8AC3E}">
        <p14:creationId xmlns:p14="http://schemas.microsoft.com/office/powerpoint/2010/main" val="69365769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page-9-index">
            <a:extLst xmlns:a="http://schemas.openxmlformats.org/drawingml/2006/main">
              <a:ext uri="{FF2B5EF4-FFF2-40B4-BE49-F238E27FC236}">
                <a16:creationId xmlns:a16="http://schemas.microsoft.com/office/drawing/2014/main" id="{C44BE548-B8DA-43FA-9B27-608DC06E0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09</a:t>
            </a:r>
          </a:p>
        </p:txBody>
      </p:sp>
      <p:sp>
        <p:nvSpPr>
          <p:cNvPr id="2" name="page-9-title">
            <a:extLst xmlns:a="http://schemas.openxmlformats.org/drawingml/2006/main">
              <a:ext uri="{FF2B5EF4-FFF2-40B4-BE49-F238E27FC236}">
                <a16:creationId xmlns:a16="http://schemas.microsoft.com/office/drawing/2014/main" id="{693280CD-D9D3-4ABE-8A40-55CF32445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上线前需要完成三个同级准备</a:t>
            </a:r>
          </a:p>
        </p:txBody>
      </p:sp>
      <p:sp>
        <p:nvSpPr>
          <p:cNvPr id="3" name="page-9-rule">
            <a:extLst xmlns:a="http://schemas.openxmlformats.org/drawingml/2006/main">
              <a:ext uri="{FF2B5EF4-FFF2-40B4-BE49-F238E27FC236}">
                <a16:creationId xmlns:a16="http://schemas.microsoft.com/office/drawing/2014/main" id="{C76D08E5-49CC-4628-904C-660572294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01000" y="457200"/>
            <a:ext cx="36385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page-9-lead">
            <a:extLst xmlns:a="http://schemas.openxmlformats.org/drawingml/2006/main">
              <a:ext uri="{FF2B5EF4-FFF2-40B4-BE49-F238E27FC236}">
                <a16:creationId xmlns:a16="http://schemas.microsoft.com/office/drawing/2014/main" id="{4CFFDEC2-40E5-4BED-BC0E-CF3D7DA2D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范围、责任、回退三项准备同等重要</a:t>
            </a:r>
          </a:p>
        </p:txBody>
      </p:sp>
      <p:sp>
        <p:nvSpPr>
          <p:cNvPr id="5" name="page-9-folio">
            <a:extLst xmlns:a="http://schemas.openxmlformats.org/drawingml/2006/main">
              <a:ext uri="{FF2B5EF4-FFF2-40B4-BE49-F238E27FC236}">
                <a16:creationId xmlns:a16="http://schemas.microsoft.com/office/drawing/2014/main" id="{20B617DC-4078-4B3B-80E3-5865D42DE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09</a:t>
            </a:r>
          </a:p>
        </p:txBody>
      </p:sp>
      <p:sp>
        <p:nvSpPr>
          <p:cNvPr id="6" name="parallel-anchor-0">
            <a:extLst xmlns:a="http://schemas.openxmlformats.org/drawingml/2006/main">
              <a:ext uri="{FF2B5EF4-FFF2-40B4-BE49-F238E27FC236}">
                <a16:creationId xmlns:a16="http://schemas.microsoft.com/office/drawing/2014/main" id="{69F0E64C-C92D-4D88-B5B0-86543FBD7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0288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19050">
            <a:solidFill>
              <a:srgbClr val="355C7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FD922D-7BF0-47FB-A03A-F8517C89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2098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355C7D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355C7D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8" name="parallel-card-0">
            <a:extLst xmlns:a="http://schemas.openxmlformats.org/drawingml/2006/main">
              <a:ext uri="{FF2B5EF4-FFF2-40B4-BE49-F238E27FC236}">
                <a16:creationId xmlns:a16="http://schemas.microsoft.com/office/drawing/2014/main" id="{ADDB52FE-41E2-4A3C-88F6-48C1F5D11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81325"/>
            <a:ext cx="29527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85B87C-F0F5-4E02-94FD-8A2C6DA98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004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确认范围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BC1AF2-8848-4323-98B9-46E9294E1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95700"/>
            <a:ext cx="2495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列清包含与不包含的事项</a:t>
            </a:r>
          </a:p>
        </p:txBody>
      </p:sp>
      <p:sp>
        <p:nvSpPr>
          <p:cNvPr id="11" name="parallel-anchor-1">
            <a:extLst xmlns:a="http://schemas.openxmlformats.org/drawingml/2006/main">
              <a:ext uri="{FF2B5EF4-FFF2-40B4-BE49-F238E27FC236}">
                <a16:creationId xmlns:a16="http://schemas.microsoft.com/office/drawing/2014/main" id="{33025868-FC42-434A-932A-52F7321E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0288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5C7D"/>
          </a:solidFill>
          <a:ln xmlns:a="http://schemas.openxmlformats.org/drawingml/2006/main" w="19050">
            <a:solidFill>
              <a:srgbClr val="355C7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FB90C4-6CAA-4D8D-AB74-5563CE89E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2098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BFAF6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FBFAF6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13" name="parallel-card-1">
            <a:extLst xmlns:a="http://schemas.openxmlformats.org/drawingml/2006/main">
              <a:ext uri="{FF2B5EF4-FFF2-40B4-BE49-F238E27FC236}">
                <a16:creationId xmlns:a16="http://schemas.microsoft.com/office/drawing/2014/main" id="{227F48F2-C460-4319-A22D-DA9A992FF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81325"/>
            <a:ext cx="29527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FB0178-1D02-4608-95C5-761EC2768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2004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明确责任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36A9F5-54F4-4543-AA9D-D361A1A8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695700"/>
            <a:ext cx="2495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确认支持和升级联系人</a:t>
            </a:r>
          </a:p>
        </p:txBody>
      </p:sp>
      <p:sp>
        <p:nvSpPr>
          <p:cNvPr id="16" name="parallel-anchor-2">
            <a:extLst xmlns:a="http://schemas.openxmlformats.org/drawingml/2006/main">
              <a:ext uri="{FF2B5EF4-FFF2-40B4-BE49-F238E27FC236}">
                <a16:creationId xmlns:a16="http://schemas.microsoft.com/office/drawing/2014/main" id="{AE99C958-A2FD-437A-A4A5-524493220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288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19050">
            <a:solidFill>
              <a:srgbClr val="355C7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F5E05E-6162-4088-A043-12F1AC916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2098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355C7D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355C7D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18" name="parallel-card-2">
            <a:extLst xmlns:a="http://schemas.openxmlformats.org/drawingml/2006/main">
              <a:ext uri="{FF2B5EF4-FFF2-40B4-BE49-F238E27FC236}">
                <a16:creationId xmlns:a16="http://schemas.microsoft.com/office/drawing/2014/main" id="{BF196A0A-64A6-40A3-9DF4-5674E2A87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81325"/>
            <a:ext cx="29527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EF3FA6-87D4-4D00-92A1-295297A28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004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验证回退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E7ED23-AEF0-4619-A650-12C5392DF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95700"/>
            <a:ext cx="2495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实际走通恢复步骤</a:t>
            </a:r>
          </a:p>
        </p:txBody>
      </p:sp>
    </p:spTree>
    <p:extLst>
      <p:ext uri="{BB962C8B-B14F-4D97-AF65-F5344CB8AC3E}">
        <p14:creationId xmlns:p14="http://schemas.microsoft.com/office/powerpoint/2010/main" val="175655516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page-10-index">
            <a:extLst xmlns:a="http://schemas.openxmlformats.org/drawingml/2006/main">
              <a:ext uri="{FF2B5EF4-FFF2-40B4-BE49-F238E27FC236}">
                <a16:creationId xmlns:a16="http://schemas.microsoft.com/office/drawing/2014/main" id="{F8124A89-344C-4CFA-AF8D-BA45F94AB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10</a:t>
            </a:r>
          </a:p>
        </p:txBody>
      </p:sp>
      <p:sp>
        <p:nvSpPr>
          <p:cNvPr id="2" name="page-10-title">
            <a:extLst xmlns:a="http://schemas.openxmlformats.org/drawingml/2006/main">
              <a:ext uri="{FF2B5EF4-FFF2-40B4-BE49-F238E27FC236}">
                <a16:creationId xmlns:a16="http://schemas.microsoft.com/office/drawing/2014/main" id="{36141D54-7F34-4687-ADE8-AFCB83CED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针对三类问题形成配对方案</a:t>
            </a:r>
          </a:p>
        </p:txBody>
      </p:sp>
      <p:sp>
        <p:nvSpPr>
          <p:cNvPr id="3" name="page-10-rule">
            <a:extLst xmlns:a="http://schemas.openxmlformats.org/drawingml/2006/main">
              <a:ext uri="{FF2B5EF4-FFF2-40B4-BE49-F238E27FC236}">
                <a16:creationId xmlns:a16="http://schemas.microsoft.com/office/drawing/2014/main" id="{41B659BB-48DE-48B9-88AF-0F908511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01000" y="457200"/>
            <a:ext cx="36385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page-10-lead">
            <a:extLst xmlns:a="http://schemas.openxmlformats.org/drawingml/2006/main">
              <a:ext uri="{FF2B5EF4-FFF2-40B4-BE49-F238E27FC236}">
                <a16:creationId xmlns:a16="http://schemas.microsoft.com/office/drawing/2014/main" id="{5D947C10-9B45-4829-97B2-CAF4E31AC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三个问题分别配对方案，共同指向交接清晰度</a:t>
            </a:r>
          </a:p>
        </p:txBody>
      </p:sp>
      <p:sp>
        <p:nvSpPr>
          <p:cNvPr id="5" name="page-10-folio">
            <a:extLst xmlns:a="http://schemas.openxmlformats.org/drawingml/2006/main">
              <a:ext uri="{FF2B5EF4-FFF2-40B4-BE49-F238E27FC236}">
                <a16:creationId xmlns:a16="http://schemas.microsoft.com/office/drawing/2014/main" id="{895B1BD1-5BE7-41CB-ADA5-5F4F1098A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591777-A857-4912-8913-F18BB95BB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288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86172F-1D94-49AB-90BB-43CF55653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8288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355C7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355C7D"/>
                </a:solidFill>
                <a:latin typeface="Noto Sans SC"/>
                <a:ea typeface="Noto Sans SC"/>
                <a:cs typeface="Noto Sans SC"/>
              </a:rPr>
              <a:t>对应方案</a:t>
            </a:r>
          </a:p>
        </p:txBody>
      </p:sp>
      <p:sp>
        <p:nvSpPr>
          <p:cNvPr id="8" name="problem-0">
            <a:extLst xmlns:a="http://schemas.openxmlformats.org/drawingml/2006/main">
              <a:ext uri="{FF2B5EF4-FFF2-40B4-BE49-F238E27FC236}">
                <a16:creationId xmlns:a16="http://schemas.microsoft.com/office/drawing/2014/main" id="{5DA2BBBA-943F-4BE9-B295-898C6C00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2476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6E4DE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6D4C4B-73B2-42A0-846C-877BA173D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38400"/>
            <a:ext cx="224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资料难找</a:t>
            </a:r>
          </a:p>
        </p:txBody>
      </p:sp>
      <p:sp>
        <p:nvSpPr>
          <p:cNvPr id="10" name="problem-arrow-0">
            <a:extLst xmlns:a="http://schemas.openxmlformats.org/drawingml/2006/main">
              <a:ext uri="{FF2B5EF4-FFF2-40B4-BE49-F238E27FC236}">
                <a16:creationId xmlns:a16="http://schemas.microsoft.com/office/drawing/2014/main" id="{5866C56B-052B-4B8A-97FE-DE7B1F59B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09950" y="2562225"/>
            <a:ext cx="1219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6F97B5"/>
            </a:solidFill>
            <a:prstDash val="solid"/>
          </a:ln>
        </p:spPr>
      </p:sp>
      <p:sp>
        <p:nvSpPr>
          <p:cNvPr id="11" name="problem-arrow-0-head">
            <a:extLst xmlns:a="http://schemas.openxmlformats.org/drawingml/2006/main">
              <a:ext uri="{FF2B5EF4-FFF2-40B4-BE49-F238E27FC236}">
                <a16:creationId xmlns:a16="http://schemas.microsoft.com/office/drawing/2014/main" id="{E294434E-397C-4A3D-916D-39A6D654D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1408" y="2528888"/>
            <a:ext cx="76200" cy="76200"/>
          </a:xfrm>
          <a:custGeom xmlns:a="http://schemas.openxmlformats.org/drawingml/2006/main">
            <a:pathLst>
              <a:path w="76200" h="76200">
                <a:moveTo>
                  <a:pt x="57742" y="33338"/>
                </a:moveTo>
                <a:lnTo>
                  <a:pt x="0" y="666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F97B5"/>
          </a:solidFill>
          <a:ln xmlns:a="http://schemas.openxmlformats.org/drawingml/2006/main" w="0">
            <a:solidFill>
              <a:srgbClr val="6F97B5"/>
            </a:solidFill>
            <a:prstDash val="solid"/>
          </a:ln>
        </p:spPr>
      </p:sp>
      <p:sp>
        <p:nvSpPr>
          <p:cNvPr id="12" name="solution-0">
            <a:extLst xmlns:a="http://schemas.openxmlformats.org/drawingml/2006/main">
              <a:ext uri="{FF2B5EF4-FFF2-40B4-BE49-F238E27FC236}">
                <a16:creationId xmlns:a16="http://schemas.microsoft.com/office/drawing/2014/main" id="{E3311CFF-E64A-4321-93A9-C69AF1EC6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286000"/>
            <a:ext cx="261937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6F97B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0D8C1A-6F9E-41B2-B280-F7B1E321D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38400"/>
            <a:ext cx="2390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355C7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355C7D"/>
                </a:solidFill>
                <a:latin typeface="Noto Sans SC"/>
                <a:ea typeface="Noto Sans SC"/>
                <a:cs typeface="Noto Sans SC"/>
              </a:rPr>
              <a:t>统一入口</a:t>
            </a:r>
          </a:p>
        </p:txBody>
      </p:sp>
      <p:sp>
        <p:nvSpPr>
          <p:cNvPr id="14" name="solution-merge-0">
            <a:extLst xmlns:a="http://schemas.openxmlformats.org/drawingml/2006/main">
              <a:ext uri="{FF2B5EF4-FFF2-40B4-BE49-F238E27FC236}">
                <a16:creationId xmlns:a16="http://schemas.microsoft.com/office/drawing/2014/main" id="{850C92DC-F2A2-4019-9F8F-6050825E3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62825" y="2562225"/>
            <a:ext cx="1352550" cy="752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F97B5"/>
            </a:solidFill>
            <a:prstDash val="solid"/>
          </a:ln>
        </p:spPr>
      </p:sp>
      <p:sp>
        <p:nvSpPr>
          <p:cNvPr id="15" name="problem-1">
            <a:extLst xmlns:a="http://schemas.openxmlformats.org/drawingml/2006/main">
              <a:ext uri="{FF2B5EF4-FFF2-40B4-BE49-F238E27FC236}">
                <a16:creationId xmlns:a16="http://schemas.microsoft.com/office/drawing/2014/main" id="{EFC7A792-60CD-4960-93B4-3CA50BECF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14675"/>
            <a:ext cx="2476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6E4DE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9ACCBF-9B10-4F4C-8041-EA20D3127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67075"/>
            <a:ext cx="224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版本混乱</a:t>
            </a:r>
          </a:p>
        </p:txBody>
      </p:sp>
      <p:sp>
        <p:nvSpPr>
          <p:cNvPr id="17" name="problem-arrow-1">
            <a:extLst xmlns:a="http://schemas.openxmlformats.org/drawingml/2006/main">
              <a:ext uri="{FF2B5EF4-FFF2-40B4-BE49-F238E27FC236}">
                <a16:creationId xmlns:a16="http://schemas.microsoft.com/office/drawing/2014/main" id="{B0F818E0-067E-46F8-A1CE-BEC9D0A92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09950" y="3390900"/>
            <a:ext cx="1219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6F97B5"/>
            </a:solidFill>
            <a:prstDash val="solid"/>
          </a:ln>
        </p:spPr>
      </p:sp>
      <p:sp>
        <p:nvSpPr>
          <p:cNvPr id="18" name="problem-arrow-1-head">
            <a:extLst xmlns:a="http://schemas.openxmlformats.org/drawingml/2006/main">
              <a:ext uri="{FF2B5EF4-FFF2-40B4-BE49-F238E27FC236}">
                <a16:creationId xmlns:a16="http://schemas.microsoft.com/office/drawing/2014/main" id="{C91CB50B-72F2-45C9-9167-F465165FA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1408" y="3357563"/>
            <a:ext cx="76200" cy="76200"/>
          </a:xfrm>
          <a:custGeom xmlns:a="http://schemas.openxmlformats.org/drawingml/2006/main">
            <a:pathLst>
              <a:path w="76200" h="76200">
                <a:moveTo>
                  <a:pt x="57742" y="33338"/>
                </a:moveTo>
                <a:lnTo>
                  <a:pt x="0" y="666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F97B5"/>
          </a:solidFill>
          <a:ln xmlns:a="http://schemas.openxmlformats.org/drawingml/2006/main" w="0">
            <a:solidFill>
              <a:srgbClr val="6F97B5"/>
            </a:solidFill>
            <a:prstDash val="solid"/>
          </a:ln>
        </p:spPr>
      </p:sp>
      <p:sp>
        <p:nvSpPr>
          <p:cNvPr id="19" name="solution-1">
            <a:extLst xmlns:a="http://schemas.openxmlformats.org/drawingml/2006/main">
              <a:ext uri="{FF2B5EF4-FFF2-40B4-BE49-F238E27FC236}">
                <a16:creationId xmlns:a16="http://schemas.microsoft.com/office/drawing/2014/main" id="{C1F5D455-9FBF-48BF-B81F-6C1947927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114675"/>
            <a:ext cx="261937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6F97B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207DFC-2DA3-49D8-ADD5-3418A17F9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267075"/>
            <a:ext cx="2390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355C7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355C7D"/>
                </a:solidFill>
                <a:latin typeface="Noto Sans SC"/>
                <a:ea typeface="Noto Sans SC"/>
                <a:cs typeface="Noto Sans SC"/>
              </a:rPr>
              <a:t>保留版本标识</a:t>
            </a:r>
          </a:p>
        </p:txBody>
      </p:sp>
      <p:sp>
        <p:nvSpPr>
          <p:cNvPr id="21" name="solution-merge-1">
            <a:extLst xmlns:a="http://schemas.openxmlformats.org/drawingml/2006/main">
              <a:ext uri="{FF2B5EF4-FFF2-40B4-BE49-F238E27FC236}">
                <a16:creationId xmlns:a16="http://schemas.microsoft.com/office/drawing/2014/main" id="{4C9FFB15-8EE4-4811-A18E-283F73786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362825" y="3314700"/>
            <a:ext cx="1352550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F97B5"/>
            </a:solidFill>
            <a:prstDash val="solid"/>
          </a:ln>
        </p:spPr>
      </p:sp>
      <p:sp>
        <p:nvSpPr>
          <p:cNvPr id="22" name="problem-2">
            <a:extLst xmlns:a="http://schemas.openxmlformats.org/drawingml/2006/main">
              <a:ext uri="{FF2B5EF4-FFF2-40B4-BE49-F238E27FC236}">
                <a16:creationId xmlns:a16="http://schemas.microsoft.com/office/drawing/2014/main" id="{A30293E2-42BE-41BF-BDA0-762391901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43350"/>
            <a:ext cx="2476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6E4DE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D84939-070A-419A-96F0-760FA3C13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224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责任不清</a:t>
            </a:r>
          </a:p>
        </p:txBody>
      </p:sp>
      <p:sp>
        <p:nvSpPr>
          <p:cNvPr id="24" name="problem-arrow-2">
            <a:extLst xmlns:a="http://schemas.openxmlformats.org/drawingml/2006/main">
              <a:ext uri="{FF2B5EF4-FFF2-40B4-BE49-F238E27FC236}">
                <a16:creationId xmlns:a16="http://schemas.microsoft.com/office/drawing/2014/main" id="{BE1780AC-16B9-45EE-9FF7-52F8C60DB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09950" y="4219575"/>
            <a:ext cx="1219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6F97B5"/>
            </a:solidFill>
            <a:prstDash val="solid"/>
          </a:ln>
        </p:spPr>
      </p:sp>
      <p:sp>
        <p:nvSpPr>
          <p:cNvPr id="25" name="problem-arrow-2-head">
            <a:extLst xmlns:a="http://schemas.openxmlformats.org/drawingml/2006/main">
              <a:ext uri="{FF2B5EF4-FFF2-40B4-BE49-F238E27FC236}">
                <a16:creationId xmlns:a16="http://schemas.microsoft.com/office/drawing/2014/main" id="{07C376BC-BFBD-4D37-A383-DFC4BFA0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1408" y="4186238"/>
            <a:ext cx="76200" cy="76200"/>
          </a:xfrm>
          <a:custGeom xmlns:a="http://schemas.openxmlformats.org/drawingml/2006/main">
            <a:pathLst>
              <a:path w="76200" h="76200">
                <a:moveTo>
                  <a:pt x="57742" y="33338"/>
                </a:moveTo>
                <a:lnTo>
                  <a:pt x="0" y="666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F97B5"/>
          </a:solidFill>
          <a:ln xmlns:a="http://schemas.openxmlformats.org/drawingml/2006/main" w="0">
            <a:solidFill>
              <a:srgbClr val="6F97B5"/>
            </a:solidFill>
            <a:prstDash val="solid"/>
          </a:ln>
        </p:spPr>
      </p:sp>
      <p:sp>
        <p:nvSpPr>
          <p:cNvPr id="26" name="solution-2">
            <a:extLst xmlns:a="http://schemas.openxmlformats.org/drawingml/2006/main">
              <a:ext uri="{FF2B5EF4-FFF2-40B4-BE49-F238E27FC236}">
                <a16:creationId xmlns:a16="http://schemas.microsoft.com/office/drawing/2014/main" id="{6D4EC079-A806-42D8-B65C-FBADB40D1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943350"/>
            <a:ext cx="261937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6F97B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D15A33-5F4A-4075-AFFA-6BFBB2DCD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95750"/>
            <a:ext cx="2390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355C7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355C7D"/>
                </a:solidFill>
                <a:latin typeface="Noto Sans SC"/>
                <a:ea typeface="Noto Sans SC"/>
                <a:cs typeface="Noto Sans SC"/>
              </a:rPr>
              <a:t>明确接口人</a:t>
            </a:r>
          </a:p>
        </p:txBody>
      </p:sp>
      <p:sp>
        <p:nvSpPr>
          <p:cNvPr id="28" name="solution-merge-2">
            <a:extLst xmlns:a="http://schemas.openxmlformats.org/drawingml/2006/main">
              <a:ext uri="{FF2B5EF4-FFF2-40B4-BE49-F238E27FC236}">
                <a16:creationId xmlns:a16="http://schemas.microsoft.com/office/drawing/2014/main" id="{522E1765-D611-4D98-8C0C-09CE071A7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362825" y="3314700"/>
            <a:ext cx="1352550" cy="904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F97B5"/>
            </a:solidFill>
            <a:prstDash val="solid"/>
          </a:ln>
        </p:spPr>
      </p:sp>
      <p:sp>
        <p:nvSpPr>
          <p:cNvPr id="29" name="problem-result">
            <a:extLst xmlns:a="http://schemas.openxmlformats.org/drawingml/2006/main">
              <a:ext uri="{FF2B5EF4-FFF2-40B4-BE49-F238E27FC236}">
                <a16:creationId xmlns:a16="http://schemas.microsoft.com/office/drawing/2014/main" id="{7955BAAE-E394-49AB-BA07-D2CC3B5C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790825"/>
            <a:ext cx="209550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E6EE"/>
          </a:solidFill>
          <a:ln xmlns:a="http://schemas.openxmlformats.org/drawingml/2006/main" w="19050">
            <a:solidFill>
              <a:srgbClr val="355C7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267672-C6C1-4B51-A83E-E4C2CC611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152775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355C7D"/>
                </a:solidFill>
                <a:latin typeface="Noto Serif SC"/>
                <a:ea typeface="Noto Serif SC"/>
                <a:cs typeface="Noto Serif SC"/>
              </a:defRPr>
            </a:pPr>
            <a:r>
              <a:rPr sz="1425" b="1">
                <a:solidFill>
                  <a:srgbClr val="355C7D"/>
                </a:solidFill>
                <a:latin typeface="Noto Serif SC"/>
                <a:ea typeface="Noto Serif SC"/>
                <a:cs typeface="Noto Serif SC"/>
              </a:rPr>
              <a:t>提高交接清晰度</a:t>
            </a:r>
          </a:p>
        </p:txBody>
      </p:sp>
    </p:spTree>
    <p:extLst>
      <p:ext uri="{BB962C8B-B14F-4D97-AF65-F5344CB8AC3E}">
        <p14:creationId xmlns:p14="http://schemas.microsoft.com/office/powerpoint/2010/main" val="41473297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page-11-index">
            <a:extLst xmlns:a="http://schemas.openxmlformats.org/drawingml/2006/main">
              <a:ext uri="{FF2B5EF4-FFF2-40B4-BE49-F238E27FC236}">
                <a16:creationId xmlns:a16="http://schemas.microsoft.com/office/drawing/2014/main" id="{E7A76AF4-6246-40DF-9B8C-6823927B0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11</a:t>
            </a:r>
          </a:p>
        </p:txBody>
      </p:sp>
      <p:sp>
        <p:nvSpPr>
          <p:cNvPr id="2" name="page-11-title">
            <a:extLst xmlns:a="http://schemas.openxmlformats.org/drawingml/2006/main">
              <a:ext uri="{FF2B5EF4-FFF2-40B4-BE49-F238E27FC236}">
                <a16:creationId xmlns:a16="http://schemas.microsoft.com/office/drawing/2014/main" id="{3118D47F-CA7F-4330-A52C-44CE23028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本轮优先关注从规范到执行的区间</a:t>
            </a:r>
          </a:p>
        </p:txBody>
      </p:sp>
      <p:sp>
        <p:nvSpPr>
          <p:cNvPr id="3" name="page-11-rule">
            <a:extLst xmlns:a="http://schemas.openxmlformats.org/drawingml/2006/main">
              <a:ext uri="{FF2B5EF4-FFF2-40B4-BE49-F238E27FC236}">
                <a16:creationId xmlns:a16="http://schemas.microsoft.com/office/drawing/2014/main" id="{05990EB8-C034-441F-B254-0E37539AD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01000" y="457200"/>
            <a:ext cx="36385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page-11-lead">
            <a:extLst xmlns:a="http://schemas.openxmlformats.org/drawingml/2006/main">
              <a:ext uri="{FF2B5EF4-FFF2-40B4-BE49-F238E27FC236}">
                <a16:creationId xmlns:a16="http://schemas.microsoft.com/office/drawing/2014/main" id="{E05317F6-8D0A-4DA5-9B6D-E2504F65E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六个成熟度区间沿一条连续轴排列，重点落在局部区间</a:t>
            </a:r>
          </a:p>
        </p:txBody>
      </p:sp>
      <p:sp>
        <p:nvSpPr>
          <p:cNvPr id="5" name="page-11-folio">
            <a:extLst xmlns:a="http://schemas.openxmlformats.org/drawingml/2006/main">
              <a:ext uri="{FF2B5EF4-FFF2-40B4-BE49-F238E27FC236}">
                <a16:creationId xmlns:a16="http://schemas.microsoft.com/office/drawing/2014/main" id="{E5558809-BC1F-4024-AD2D-84EED8034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11</a:t>
            </a:r>
          </a:p>
        </p:txBody>
      </p:sp>
      <p:sp>
        <p:nvSpPr>
          <p:cNvPr id="6" name="spectrum-axis">
            <a:extLst xmlns:a="http://schemas.openxmlformats.org/drawingml/2006/main">
              <a:ext uri="{FF2B5EF4-FFF2-40B4-BE49-F238E27FC236}">
                <a16:creationId xmlns:a16="http://schemas.microsoft.com/office/drawing/2014/main" id="{1E985FDC-AEEF-49BA-82AE-02C0919D2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23950" y="4305300"/>
            <a:ext cx="9925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F97B5"/>
            </a:solidFill>
            <a:prstDash val="solid"/>
          </a:ln>
        </p:spPr>
      </p:sp>
      <p:sp>
        <p:nvSpPr>
          <p:cNvPr id="7" name="spectrum-stage-0">
            <a:extLst xmlns:a="http://schemas.openxmlformats.org/drawingml/2006/main">
              <a:ext uri="{FF2B5EF4-FFF2-40B4-BE49-F238E27FC236}">
                <a16:creationId xmlns:a16="http://schemas.microsoft.com/office/drawing/2014/main" id="{D77E45E7-30E8-4BF6-B3CE-8442E42F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52800"/>
            <a:ext cx="1539875" cy="952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C104BF-FDC9-4976-9628-1B2075B58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524250"/>
            <a:ext cx="1349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认识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59C2A8-C14B-44F0-9992-3006616C3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410075"/>
            <a:ext cx="1349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10" name="spectrum-stage-1">
            <a:extLst xmlns:a="http://schemas.openxmlformats.org/drawingml/2006/main">
              <a:ext uri="{FF2B5EF4-FFF2-40B4-BE49-F238E27FC236}">
                <a16:creationId xmlns:a16="http://schemas.microsoft.com/office/drawing/2014/main" id="{39A10F45-9E77-4DEB-BE69-F33D4C0C2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5275" y="3352800"/>
            <a:ext cx="1539875" cy="952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4E3F35-8EC6-43AB-94DC-099E0E85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0525" y="3524250"/>
            <a:ext cx="1349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记录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6927C4-BAA3-47CB-9EBE-B9ABF0A3F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0525" y="4410075"/>
            <a:ext cx="1349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3" name="spectrum-stage-2">
            <a:extLst xmlns:a="http://schemas.openxmlformats.org/drawingml/2006/main">
              <a:ext uri="{FF2B5EF4-FFF2-40B4-BE49-F238E27FC236}">
                <a16:creationId xmlns:a16="http://schemas.microsoft.com/office/drawing/2014/main" id="{55400E52-FA0F-43A3-BFF5-1F503022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450" y="2971800"/>
            <a:ext cx="1539875" cy="13335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355C7D"/>
          </a:solidFill>
          <a:ln xmlns:a="http://schemas.openxmlformats.org/drawingml/2006/main" w="9525">
            <a:solidFill>
              <a:srgbClr val="355C7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7B9EF5-5134-4FBD-8F3D-7217FC67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3143250"/>
            <a:ext cx="1349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BFAF6"/>
                </a:solidFill>
                <a:latin typeface="Noto Serif SC"/>
                <a:ea typeface="Noto Serif SC"/>
                <a:cs typeface="Noto Serif SC"/>
              </a:defRPr>
            </a:pPr>
            <a:r>
              <a:rPr sz="1500" b="1">
                <a:solidFill>
                  <a:srgbClr val="FBFAF6"/>
                </a:solidFill>
                <a:latin typeface="Noto Serif SC"/>
                <a:ea typeface="Noto Serif SC"/>
                <a:cs typeface="Noto Serif SC"/>
              </a:rPr>
              <a:t>规范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3C1A6F-12F7-4DE0-BCD4-D7BA6B68C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3562350"/>
            <a:ext cx="1349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DCE8E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DCE8EF"/>
                </a:solidFill>
                <a:latin typeface="Noto Sans SC"/>
                <a:ea typeface="Noto Sans SC"/>
                <a:cs typeface="Noto Sans SC"/>
              </a:rPr>
              <a:t>本轮重点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3BB024-4F57-493E-8EE7-99B41BBDE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4410075"/>
            <a:ext cx="1349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17" name="spectrum-stage-3">
            <a:extLst xmlns:a="http://schemas.openxmlformats.org/drawingml/2006/main">
              <a:ext uri="{FF2B5EF4-FFF2-40B4-BE49-F238E27FC236}">
                <a16:creationId xmlns:a16="http://schemas.microsoft.com/office/drawing/2014/main" id="{2F209E16-C924-435E-9D7E-C451E484C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971800"/>
            <a:ext cx="1539875" cy="13335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355C7D"/>
          </a:solidFill>
          <a:ln xmlns:a="http://schemas.openxmlformats.org/drawingml/2006/main" w="9525">
            <a:solidFill>
              <a:srgbClr val="355C7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93E94B-799B-4654-9244-7CDEA6626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143250"/>
            <a:ext cx="1349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BFAF6"/>
                </a:solidFill>
                <a:latin typeface="Noto Serif SC"/>
                <a:ea typeface="Noto Serif SC"/>
                <a:cs typeface="Noto Serif SC"/>
              </a:defRPr>
            </a:pPr>
            <a:r>
              <a:rPr sz="1500" b="1">
                <a:solidFill>
                  <a:srgbClr val="FBFAF6"/>
                </a:solidFill>
                <a:latin typeface="Noto Serif SC"/>
                <a:ea typeface="Noto Serif SC"/>
                <a:cs typeface="Noto Serif SC"/>
              </a:rPr>
              <a:t>执行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A8A69B-E4C8-4EB0-96DF-F3A6F72D6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562350"/>
            <a:ext cx="1349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DCE8E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DCE8EF"/>
                </a:solidFill>
                <a:latin typeface="Noto Sans SC"/>
                <a:ea typeface="Noto Sans SC"/>
                <a:cs typeface="Noto Sans SC"/>
              </a:rPr>
              <a:t>本轮重点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D14796-6FAA-43E8-907E-66FDFCD04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410075"/>
            <a:ext cx="1349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21" name="spectrum-stage-4">
            <a:extLst xmlns:a="http://schemas.openxmlformats.org/drawingml/2006/main">
              <a:ext uri="{FF2B5EF4-FFF2-40B4-BE49-F238E27FC236}">
                <a16:creationId xmlns:a16="http://schemas.microsoft.com/office/drawing/2014/main" id="{216C8C63-1029-456E-9267-B04597805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800" y="3352800"/>
            <a:ext cx="1539875" cy="952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8965E5-8A02-4968-8F02-F5B0FD67D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3050" y="3524250"/>
            <a:ext cx="1349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反馈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B6710C-6701-4DAD-A582-8BBF213F1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3050" y="4410075"/>
            <a:ext cx="1349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  <p:sp>
        <p:nvSpPr>
          <p:cNvPr id="24" name="spectrum-stage-5">
            <a:extLst xmlns:a="http://schemas.openxmlformats.org/drawingml/2006/main">
              <a:ext uri="{FF2B5EF4-FFF2-40B4-BE49-F238E27FC236}">
                <a16:creationId xmlns:a16="http://schemas.microsoft.com/office/drawing/2014/main" id="{667D6160-8B77-43AD-912D-034ECEADA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1975" y="3352800"/>
            <a:ext cx="1539875" cy="952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8586CE-071E-485F-BFAB-93B990854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7225" y="3524250"/>
            <a:ext cx="1349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优化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5E258F-D13A-4AE8-822B-2ECBE33EF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7225" y="4410075"/>
            <a:ext cx="1349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DF4A42-C9E3-4D95-B024-E4F71CB6B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339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低成熟度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56D9F6-FE86-4254-99E9-B66A066A0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339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高成熟度</a:t>
            </a:r>
          </a:p>
        </p:txBody>
      </p:sp>
      <p:sp>
        <p:nvSpPr>
          <p:cNvPr id="29" name="spectrum-focus-band">
            <a:extLst xmlns:a="http://schemas.openxmlformats.org/drawingml/2006/main">
              <a:ext uri="{FF2B5EF4-FFF2-40B4-BE49-F238E27FC236}">
                <a16:creationId xmlns:a16="http://schemas.microsoft.com/office/drawing/2014/main" id="{19E68E80-3EBF-4F75-ACD2-0B2E3A30C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32300" y="2762250"/>
            <a:ext cx="33083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A35D4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B2BF15-F311-4030-B887-AF45680D5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2300" y="2486025"/>
            <a:ext cx="330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规范到执行</a:t>
            </a:r>
          </a:p>
        </p:txBody>
      </p:sp>
    </p:spTree>
    <p:extLst>
      <p:ext uri="{BB962C8B-B14F-4D97-AF65-F5344CB8AC3E}">
        <p14:creationId xmlns:p14="http://schemas.microsoft.com/office/powerpoint/2010/main" val="20445157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page-12-index">
            <a:extLst xmlns:a="http://schemas.openxmlformats.org/drawingml/2006/main">
              <a:ext uri="{FF2B5EF4-FFF2-40B4-BE49-F238E27FC236}">
                <a16:creationId xmlns:a16="http://schemas.microsoft.com/office/drawing/2014/main" id="{97C519FB-154A-4469-ABFB-33F59E853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12</a:t>
            </a:r>
          </a:p>
        </p:txBody>
      </p:sp>
      <p:sp>
        <p:nvSpPr>
          <p:cNvPr id="2" name="page-12-title">
            <a:extLst xmlns:a="http://schemas.openxmlformats.org/drawingml/2006/main">
              <a:ext uri="{FF2B5EF4-FFF2-40B4-BE49-F238E27FC236}">
                <a16:creationId xmlns:a16="http://schemas.microsoft.com/office/drawing/2014/main" id="{4361FBB1-6B8F-44AC-B241-ADFFCC0A1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四阶段推进必须通过三个门槛</a:t>
            </a:r>
          </a:p>
        </p:txBody>
      </p:sp>
      <p:sp>
        <p:nvSpPr>
          <p:cNvPr id="3" name="page-12-rule">
            <a:extLst xmlns:a="http://schemas.openxmlformats.org/drawingml/2006/main">
              <a:ext uri="{FF2B5EF4-FFF2-40B4-BE49-F238E27FC236}">
                <a16:creationId xmlns:a16="http://schemas.microsoft.com/office/drawing/2014/main" id="{6BA40CEC-DE97-41FB-8476-B32FC0202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01000" y="457200"/>
            <a:ext cx="36385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page-12-lead">
            <a:extLst xmlns:a="http://schemas.openxmlformats.org/drawingml/2006/main">
              <a:ext uri="{FF2B5EF4-FFF2-40B4-BE49-F238E27FC236}">
                <a16:creationId xmlns:a16="http://schemas.microsoft.com/office/drawing/2014/main" id="{1C951710-7595-4A62-B6EA-84B99CB7C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每个相邻阶段边界都设置必须通过的检查门槛</a:t>
            </a:r>
          </a:p>
        </p:txBody>
      </p:sp>
      <p:sp>
        <p:nvSpPr>
          <p:cNvPr id="5" name="page-12-folio">
            <a:extLst xmlns:a="http://schemas.openxmlformats.org/drawingml/2006/main">
              <a:ext uri="{FF2B5EF4-FFF2-40B4-BE49-F238E27FC236}">
                <a16:creationId xmlns:a16="http://schemas.microsoft.com/office/drawing/2014/main" id="{549BB5B6-131D-4970-B988-5F3CCDE2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12</a:t>
            </a:r>
          </a:p>
        </p:txBody>
      </p:sp>
      <p:sp>
        <p:nvSpPr>
          <p:cNvPr id="6" name="gate-phase-0">
            <a:extLst xmlns:a="http://schemas.openxmlformats.org/drawingml/2006/main">
              <a:ext uri="{FF2B5EF4-FFF2-40B4-BE49-F238E27FC236}">
                <a16:creationId xmlns:a16="http://schemas.microsoft.com/office/drawing/2014/main" id="{897E571B-B792-439B-9587-C0CEFCEE0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43325"/>
            <a:ext cx="238125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EBEEAA-C28A-49D9-8C8B-044C1E96B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5287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6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调研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03A3CB-01A8-4EEF-A94D-30AC931C1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100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阶段工作</a:t>
            </a:r>
          </a:p>
        </p:txBody>
      </p:sp>
      <p:sp>
        <p:nvSpPr>
          <p:cNvPr id="9" name="gate-0">
            <a:extLst xmlns:a="http://schemas.openxmlformats.org/drawingml/2006/main">
              <a:ext uri="{FF2B5EF4-FFF2-40B4-BE49-F238E27FC236}">
                <a16:creationId xmlns:a16="http://schemas.microsoft.com/office/drawing/2014/main" id="{13D34ECC-CF1B-400A-9EDA-5C7EA679D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371975"/>
            <a:ext cx="7239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A35D4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953641-3149-43CF-8F14-3146F41FB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4467225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BFAF6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FBFAF6"/>
                </a:solidFill>
                <a:latin typeface="Noto Sans SC"/>
                <a:ea typeface="Noto Sans SC"/>
                <a:cs typeface="Noto Sans SC"/>
              </a:rPr>
              <a:t>门槛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83AC55-F461-4EF8-A593-60F94BE58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733925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确认范围</a:t>
            </a:r>
          </a:p>
        </p:txBody>
      </p:sp>
      <p:sp>
        <p:nvSpPr>
          <p:cNvPr id="12" name="gate-in-0">
            <a:extLst xmlns:a="http://schemas.openxmlformats.org/drawingml/2006/main">
              <a:ext uri="{FF2B5EF4-FFF2-40B4-BE49-F238E27FC236}">
                <a16:creationId xmlns:a16="http://schemas.microsoft.com/office/drawing/2014/main" id="{CEB735FF-43D4-4690-86D7-ED4321617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3228975" y="4486275"/>
            <a:ext cx="2762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35D4F"/>
            </a:solidFill>
            <a:prstDash val="solid"/>
          </a:ln>
        </p:spPr>
      </p:sp>
      <p:sp>
        <p:nvSpPr>
          <p:cNvPr id="13" name="gate-in-0-head">
            <a:extLst xmlns:a="http://schemas.openxmlformats.org/drawingml/2006/main">
              <a:ext uri="{FF2B5EF4-FFF2-40B4-BE49-F238E27FC236}">
                <a16:creationId xmlns:a16="http://schemas.microsoft.com/office/drawing/2014/main" id="{C0487DE8-FEC1-4713-A7D3-7BFC352C3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4452938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33338"/>
                </a:moveTo>
                <a:lnTo>
                  <a:pt x="57742" y="0"/>
                </a:lnTo>
                <a:lnTo>
                  <a:pt x="57742" y="66675"/>
                </a:lnTo>
                <a:close/>
              </a:path>
            </a:pathLst>
          </a:custGeom>
          <a:solidFill xmlns:a="http://schemas.openxmlformats.org/drawingml/2006/main">
            <a:srgbClr val="A35D4F"/>
          </a:solidFill>
          <a:ln xmlns:a="http://schemas.openxmlformats.org/drawingml/2006/main" w="0">
            <a:solidFill>
              <a:srgbClr val="A35D4F"/>
            </a:solidFill>
            <a:prstDash val="solid"/>
          </a:ln>
        </p:spPr>
      </p:sp>
      <p:sp>
        <p:nvSpPr>
          <p:cNvPr id="14" name="gate-out-0">
            <a:extLst xmlns:a="http://schemas.openxmlformats.org/drawingml/2006/main">
              <a:ext uri="{FF2B5EF4-FFF2-40B4-BE49-F238E27FC236}">
                <a16:creationId xmlns:a16="http://schemas.microsoft.com/office/drawing/2014/main" id="{E8633F49-1A3B-47C8-9C99-AB9C10639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3752850" y="4486275"/>
            <a:ext cx="2762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35D4F"/>
            </a:solidFill>
            <a:prstDash val="solid"/>
          </a:ln>
        </p:spPr>
      </p:sp>
      <p:sp>
        <p:nvSpPr>
          <p:cNvPr id="15" name="gate-out-0-head">
            <a:extLst xmlns:a="http://schemas.openxmlformats.org/drawingml/2006/main">
              <a:ext uri="{FF2B5EF4-FFF2-40B4-BE49-F238E27FC236}">
                <a16:creationId xmlns:a16="http://schemas.microsoft.com/office/drawing/2014/main" id="{DA9DDE4C-C540-4858-BA10-09E189942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452938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33338"/>
                </a:moveTo>
                <a:lnTo>
                  <a:pt x="57742" y="0"/>
                </a:lnTo>
                <a:lnTo>
                  <a:pt x="57742" y="66675"/>
                </a:lnTo>
                <a:close/>
              </a:path>
            </a:pathLst>
          </a:custGeom>
          <a:solidFill xmlns:a="http://schemas.openxmlformats.org/drawingml/2006/main">
            <a:srgbClr val="A35D4F"/>
          </a:solidFill>
          <a:ln xmlns:a="http://schemas.openxmlformats.org/drawingml/2006/main" w="0">
            <a:solidFill>
              <a:srgbClr val="A35D4F"/>
            </a:solidFill>
            <a:prstDash val="solid"/>
          </a:ln>
        </p:spPr>
      </p:sp>
      <p:sp>
        <p:nvSpPr>
          <p:cNvPr id="16" name="gate-phase-1">
            <a:extLst xmlns:a="http://schemas.openxmlformats.org/drawingml/2006/main">
              <a:ext uri="{FF2B5EF4-FFF2-40B4-BE49-F238E27FC236}">
                <a16:creationId xmlns:a16="http://schemas.microsoft.com/office/drawing/2014/main" id="{3020B4B8-A269-4D86-8861-9DE9D461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933825"/>
            <a:ext cx="238125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023B1C-9507-4E0E-93D8-77D2EA37C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14337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6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设计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CC9895-9956-408E-A3A6-09E9227ED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6005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阶段工作</a:t>
            </a:r>
          </a:p>
        </p:txBody>
      </p:sp>
      <p:sp>
        <p:nvSpPr>
          <p:cNvPr id="19" name="gate-1">
            <a:extLst xmlns:a="http://schemas.openxmlformats.org/drawingml/2006/main">
              <a:ext uri="{FF2B5EF4-FFF2-40B4-BE49-F238E27FC236}">
                <a16:creationId xmlns:a16="http://schemas.microsoft.com/office/drawing/2014/main" id="{17374C67-D715-4951-83F5-CAAEFA6F9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4371975"/>
            <a:ext cx="7239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A35D4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865A8C-3266-449E-A452-52DE47E29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4467225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BFAF6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FBFAF6"/>
                </a:solidFill>
                <a:latin typeface="Noto Sans SC"/>
                <a:ea typeface="Noto Sans SC"/>
                <a:cs typeface="Noto Sans SC"/>
              </a:rPr>
              <a:t>门槛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32AD4F-FF23-4939-BFE3-29784C8E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4733925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方案评审</a:t>
            </a:r>
          </a:p>
        </p:txBody>
      </p:sp>
      <p:sp>
        <p:nvSpPr>
          <p:cNvPr id="22" name="gate-in-1">
            <a:extLst xmlns:a="http://schemas.openxmlformats.org/drawingml/2006/main">
              <a:ext uri="{FF2B5EF4-FFF2-40B4-BE49-F238E27FC236}">
                <a16:creationId xmlns:a16="http://schemas.microsoft.com/office/drawing/2014/main" id="{69D3855D-DEDE-4474-BFAE-1DE97E63D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5857875" y="4486275"/>
            <a:ext cx="2762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35D4F"/>
            </a:solidFill>
            <a:prstDash val="solid"/>
          </a:ln>
        </p:spPr>
      </p:sp>
      <p:sp>
        <p:nvSpPr>
          <p:cNvPr id="23" name="gate-in-1-head">
            <a:extLst xmlns:a="http://schemas.openxmlformats.org/drawingml/2006/main">
              <a:ext uri="{FF2B5EF4-FFF2-40B4-BE49-F238E27FC236}">
                <a16:creationId xmlns:a16="http://schemas.microsoft.com/office/drawing/2014/main" id="{BE26F976-4686-460A-81FA-9671631F0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452938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33338"/>
                </a:moveTo>
                <a:lnTo>
                  <a:pt x="57742" y="0"/>
                </a:lnTo>
                <a:lnTo>
                  <a:pt x="57742" y="66675"/>
                </a:lnTo>
                <a:close/>
              </a:path>
            </a:pathLst>
          </a:custGeom>
          <a:solidFill xmlns:a="http://schemas.openxmlformats.org/drawingml/2006/main">
            <a:srgbClr val="A35D4F"/>
          </a:solidFill>
          <a:ln xmlns:a="http://schemas.openxmlformats.org/drawingml/2006/main" w="0">
            <a:solidFill>
              <a:srgbClr val="A35D4F"/>
            </a:solidFill>
            <a:prstDash val="solid"/>
          </a:ln>
        </p:spPr>
      </p:sp>
      <p:sp>
        <p:nvSpPr>
          <p:cNvPr id="24" name="gate-out-1">
            <a:extLst xmlns:a="http://schemas.openxmlformats.org/drawingml/2006/main">
              <a:ext uri="{FF2B5EF4-FFF2-40B4-BE49-F238E27FC236}">
                <a16:creationId xmlns:a16="http://schemas.microsoft.com/office/drawing/2014/main" id="{942341FF-CE84-47A9-B363-C6FB47CCA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6381750" y="4486275"/>
            <a:ext cx="2762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35D4F"/>
            </a:solidFill>
            <a:prstDash val="solid"/>
          </a:ln>
        </p:spPr>
      </p:sp>
      <p:sp>
        <p:nvSpPr>
          <p:cNvPr id="25" name="gate-out-1-head">
            <a:extLst xmlns:a="http://schemas.openxmlformats.org/drawingml/2006/main">
              <a:ext uri="{FF2B5EF4-FFF2-40B4-BE49-F238E27FC236}">
                <a16:creationId xmlns:a16="http://schemas.microsoft.com/office/drawing/2014/main" id="{060A590B-1351-48B7-818C-9EB2C599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52938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33338"/>
                </a:moveTo>
                <a:lnTo>
                  <a:pt x="57742" y="0"/>
                </a:lnTo>
                <a:lnTo>
                  <a:pt x="57742" y="66675"/>
                </a:lnTo>
                <a:close/>
              </a:path>
            </a:pathLst>
          </a:custGeom>
          <a:solidFill xmlns:a="http://schemas.openxmlformats.org/drawingml/2006/main">
            <a:srgbClr val="A35D4F"/>
          </a:solidFill>
          <a:ln xmlns:a="http://schemas.openxmlformats.org/drawingml/2006/main" w="0">
            <a:solidFill>
              <a:srgbClr val="A35D4F"/>
            </a:solidFill>
            <a:prstDash val="solid"/>
          </a:ln>
        </p:spPr>
      </p:sp>
      <p:sp>
        <p:nvSpPr>
          <p:cNvPr id="26" name="gate-phase-2">
            <a:extLst xmlns:a="http://schemas.openxmlformats.org/drawingml/2006/main">
              <a:ext uri="{FF2B5EF4-FFF2-40B4-BE49-F238E27FC236}">
                <a16:creationId xmlns:a16="http://schemas.microsoft.com/office/drawing/2014/main" id="{6C5DC4B8-0BBB-4052-89E7-7B3D90B29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43325"/>
            <a:ext cx="238125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98840F-871F-43C7-B06A-EE5E7D262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5287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6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试制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B1C359-3389-4C07-9496-474CC862B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100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阶段工作</a:t>
            </a:r>
          </a:p>
        </p:txBody>
      </p:sp>
      <p:sp>
        <p:nvSpPr>
          <p:cNvPr id="29" name="gate-2">
            <a:extLst xmlns:a="http://schemas.openxmlformats.org/drawingml/2006/main">
              <a:ext uri="{FF2B5EF4-FFF2-40B4-BE49-F238E27FC236}">
                <a16:creationId xmlns:a16="http://schemas.microsoft.com/office/drawing/2014/main" id="{47ABA49B-E7E5-4CB6-A80E-BF5621C3E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371975"/>
            <a:ext cx="7239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A35D4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DF7771-20AF-4116-9B13-9855218C8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467225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BFAF6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FBFAF6"/>
                </a:solidFill>
                <a:latin typeface="Noto Sans SC"/>
                <a:ea typeface="Noto Sans SC"/>
                <a:cs typeface="Noto Sans SC"/>
              </a:rPr>
              <a:t>门槛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46EDBE-5973-4B09-8541-3F97D516A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4733925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完成验收</a:t>
            </a:r>
          </a:p>
        </p:txBody>
      </p:sp>
      <p:sp>
        <p:nvSpPr>
          <p:cNvPr id="32" name="gate-in-2">
            <a:extLst xmlns:a="http://schemas.openxmlformats.org/drawingml/2006/main">
              <a:ext uri="{FF2B5EF4-FFF2-40B4-BE49-F238E27FC236}">
                <a16:creationId xmlns:a16="http://schemas.microsoft.com/office/drawing/2014/main" id="{760D233F-A09D-4F0D-A9D3-F8FABD1F0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8486775" y="4486275"/>
            <a:ext cx="2762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35D4F"/>
            </a:solidFill>
            <a:prstDash val="solid"/>
          </a:ln>
        </p:spPr>
      </p:sp>
      <p:sp>
        <p:nvSpPr>
          <p:cNvPr id="33" name="gate-in-2-head">
            <a:extLst xmlns:a="http://schemas.openxmlformats.org/drawingml/2006/main">
              <a:ext uri="{FF2B5EF4-FFF2-40B4-BE49-F238E27FC236}">
                <a16:creationId xmlns:a16="http://schemas.microsoft.com/office/drawing/2014/main" id="{0DE5F9DB-79E2-41F0-8247-4EFD5BE65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4452938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33338"/>
                </a:moveTo>
                <a:lnTo>
                  <a:pt x="57742" y="0"/>
                </a:lnTo>
                <a:lnTo>
                  <a:pt x="57742" y="66675"/>
                </a:lnTo>
                <a:close/>
              </a:path>
            </a:pathLst>
          </a:custGeom>
          <a:solidFill xmlns:a="http://schemas.openxmlformats.org/drawingml/2006/main">
            <a:srgbClr val="A35D4F"/>
          </a:solidFill>
          <a:ln xmlns:a="http://schemas.openxmlformats.org/drawingml/2006/main" w="0">
            <a:solidFill>
              <a:srgbClr val="A35D4F"/>
            </a:solidFill>
            <a:prstDash val="solid"/>
          </a:ln>
        </p:spPr>
      </p:sp>
      <p:sp>
        <p:nvSpPr>
          <p:cNvPr id="34" name="gate-out-2">
            <a:extLst xmlns:a="http://schemas.openxmlformats.org/drawingml/2006/main">
              <a:ext uri="{FF2B5EF4-FFF2-40B4-BE49-F238E27FC236}">
                <a16:creationId xmlns:a16="http://schemas.microsoft.com/office/drawing/2014/main" id="{D224C8FD-AD4A-4B12-88BA-2E7BB12B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9010650" y="4486275"/>
            <a:ext cx="2762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35D4F"/>
            </a:solidFill>
            <a:prstDash val="solid"/>
          </a:ln>
        </p:spPr>
      </p:sp>
      <p:sp>
        <p:nvSpPr>
          <p:cNvPr id="35" name="gate-out-2-head">
            <a:extLst xmlns:a="http://schemas.openxmlformats.org/drawingml/2006/main">
              <a:ext uri="{FF2B5EF4-FFF2-40B4-BE49-F238E27FC236}">
                <a16:creationId xmlns:a16="http://schemas.microsoft.com/office/drawing/2014/main" id="{EA121A26-54C5-426C-824A-2D9FED83E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452938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33338"/>
                </a:moveTo>
                <a:lnTo>
                  <a:pt x="57742" y="0"/>
                </a:lnTo>
                <a:lnTo>
                  <a:pt x="57742" y="66675"/>
                </a:lnTo>
                <a:close/>
              </a:path>
            </a:pathLst>
          </a:custGeom>
          <a:solidFill xmlns:a="http://schemas.openxmlformats.org/drawingml/2006/main">
            <a:srgbClr val="A35D4F"/>
          </a:solidFill>
          <a:ln xmlns:a="http://schemas.openxmlformats.org/drawingml/2006/main" w="0">
            <a:solidFill>
              <a:srgbClr val="A35D4F"/>
            </a:solidFill>
            <a:prstDash val="solid"/>
          </a:ln>
        </p:spPr>
      </p:sp>
      <p:sp>
        <p:nvSpPr>
          <p:cNvPr id="36" name="gate-phase-3">
            <a:extLst xmlns:a="http://schemas.openxmlformats.org/drawingml/2006/main">
              <a:ext uri="{FF2B5EF4-FFF2-40B4-BE49-F238E27FC236}">
                <a16:creationId xmlns:a16="http://schemas.microsoft.com/office/drawing/2014/main" id="{0B1767E5-2024-4621-9D95-B7D240B58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933825"/>
            <a:ext cx="238125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355C7D"/>
          </a:solidFill>
          <a:ln xmlns:a="http://schemas.openxmlformats.org/drawingml/2006/main" w="9525">
            <a:solidFill>
              <a:srgbClr val="355C7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5CE2392-09E1-4FC4-A00E-6E60D4535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14337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BFAF6"/>
                </a:solidFill>
                <a:latin typeface="Noto Serif SC"/>
                <a:ea typeface="Noto Serif SC"/>
                <a:cs typeface="Noto Serif SC"/>
              </a:defRPr>
            </a:pPr>
            <a:r>
              <a:rPr sz="1650" b="1">
                <a:solidFill>
                  <a:srgbClr val="FBFAF6"/>
                </a:solidFill>
                <a:latin typeface="Noto Serif SC"/>
                <a:ea typeface="Noto Serif SC"/>
                <a:cs typeface="Noto Serif SC"/>
              </a:rPr>
              <a:t>交付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321297A-9E28-4356-AC19-D6FAA70A3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6005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DCE8E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DCE8EF"/>
                </a:solidFill>
                <a:latin typeface="Noto Sans SC"/>
                <a:ea typeface="Noto Sans SC"/>
                <a:cs typeface="Noto Sans SC"/>
              </a:rPr>
              <a:t>交付结果</a:t>
            </a:r>
          </a:p>
        </p:txBody>
      </p:sp>
    </p:spTree>
    <p:extLst>
      <p:ext uri="{BB962C8B-B14F-4D97-AF65-F5344CB8AC3E}">
        <p14:creationId xmlns:p14="http://schemas.microsoft.com/office/powerpoint/2010/main" val="4962030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2026-09-07T05:04:51.8360000Z</dcterms:created>
  <dcterms:modified xsi:type="dcterms:W3CDTF">2026-09-07T05:04:51.8360000Z</dcterms:modified>
</coreProperties>
</file>