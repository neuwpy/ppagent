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99f92399fe4959" /><Relationship Type="http://schemas.openxmlformats.org/officeDocument/2006/relationships/extended-properties" Target="/docProps/app.xml" Id="R08797a863fc14421" /><Relationship Type="http://schemas.openxmlformats.org/officeDocument/2006/relationships/officeDocument" Target="/ppt/presentation.xml" Id="R56c0ad690e3a4b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29a8e8c18243d3"/>
  </p:sldMasterIdLst>
  <p:notesMasterIdLst>
    <p:notesMasterId xmlns:r="http://schemas.openxmlformats.org/officeDocument/2006/relationships" r:id="R81fd00e7d80f4c80"/>
  </p:notesMasterIdLst>
  <p:sldIdLst>
    <p:sldId xmlns:r="http://schemas.openxmlformats.org/officeDocument/2006/relationships" id="256" r:id="Rab4e80cb892949fd"/>
    <p:sldId xmlns:r="http://schemas.openxmlformats.org/officeDocument/2006/relationships" id="257" r:id="R4622ce712b57488c"/>
    <p:sldId xmlns:r="http://schemas.openxmlformats.org/officeDocument/2006/relationships" id="258" r:id="R3c03f2ca95f645f6"/>
    <p:sldId xmlns:r="http://schemas.openxmlformats.org/officeDocument/2006/relationships" id="259" r:id="R8d44e85ec20a4070"/>
    <p:sldId xmlns:r="http://schemas.openxmlformats.org/officeDocument/2006/relationships" id="260" r:id="R92741b14a8804af7"/>
    <p:sldId xmlns:r="http://schemas.openxmlformats.org/officeDocument/2006/relationships" id="261" r:id="R16cb41592a5a4c9e"/>
    <p:sldId xmlns:r="http://schemas.openxmlformats.org/officeDocument/2006/relationships" id="262" r:id="Rce73991f1c2344e7"/>
    <p:sldId xmlns:r="http://schemas.openxmlformats.org/officeDocument/2006/relationships" id="263" r:id="R1a464086899a43b4"/>
    <p:sldId xmlns:r="http://schemas.openxmlformats.org/officeDocument/2006/relationships" id="264" r:id="R05d8255cc3164f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f2ac9abe834366" /><Relationship Type="http://schemas.openxmlformats.org/officeDocument/2006/relationships/slideMaster" Target="/ppt/slideMasters/slideMaster1.xml" Id="R9329a8e8c18243d3" /><Relationship Type="http://schemas.openxmlformats.org/officeDocument/2006/relationships/notesMaster" Target="/ppt/notesMasters/notesMaster1.xml" Id="R81fd00e7d80f4c80" /><Relationship Type="http://schemas.openxmlformats.org/officeDocument/2006/relationships/presProps" Target="/ppt/presProps.xml" Id="Rcf8428945bd74712" /><Relationship Type="http://schemas.openxmlformats.org/officeDocument/2006/relationships/tableStyles" Target="/ppt/tableStyles.xml" Id="Re32882996961476f" /><Relationship Type="http://schemas.openxmlformats.org/officeDocument/2006/relationships/slide" Target="/ppt/slides/slide1.xml" Id="Rab4e80cb892949fd" /><Relationship Type="http://schemas.openxmlformats.org/officeDocument/2006/relationships/slide" Target="/ppt/slides/slide2.xml" Id="R4622ce712b57488c" /><Relationship Type="http://schemas.openxmlformats.org/officeDocument/2006/relationships/slide" Target="/ppt/slides/slide3.xml" Id="R3c03f2ca95f645f6" /><Relationship Type="http://schemas.openxmlformats.org/officeDocument/2006/relationships/slide" Target="/ppt/slides/slide4.xml" Id="R8d44e85ec20a4070" /><Relationship Type="http://schemas.openxmlformats.org/officeDocument/2006/relationships/slide" Target="/ppt/slides/slide5.xml" Id="R92741b14a8804af7" /><Relationship Type="http://schemas.openxmlformats.org/officeDocument/2006/relationships/slide" Target="/ppt/slides/slide6.xml" Id="R16cb41592a5a4c9e" /><Relationship Type="http://schemas.openxmlformats.org/officeDocument/2006/relationships/slide" Target="/ppt/slides/slide7.xml" Id="Rce73991f1c2344e7" /><Relationship Type="http://schemas.openxmlformats.org/officeDocument/2006/relationships/slide" Target="/ppt/slides/slide8.xml" Id="R1a464086899a43b4" /><Relationship Type="http://schemas.openxmlformats.org/officeDocument/2006/relationships/slide" Target="/ppt/slides/slide9.xml" Id="R05d8255cc3164f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9c7557ac7b43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7c58ac2a804f34" /><Relationship Type="http://schemas.openxmlformats.org/officeDocument/2006/relationships/notesMaster" Target="/ppt/notesMasters/notesMaster1.xml" Id="Red11120821d946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271df4131840db" /><Relationship Type="http://schemas.openxmlformats.org/officeDocument/2006/relationships/notesMaster" Target="/ppt/notesMasters/notesMaster1.xml" Id="Ra481c48b8aab4b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02b41f1f7c4016" /><Relationship Type="http://schemas.openxmlformats.org/officeDocument/2006/relationships/notesMaster" Target="/ppt/notesMasters/notesMaster1.xml" Id="R6439368abdb048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f65170a0024e8f" /><Relationship Type="http://schemas.openxmlformats.org/officeDocument/2006/relationships/notesMaster" Target="/ppt/notesMasters/notesMaster1.xml" Id="R052930066fcc46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ebdd7857b74e08" /><Relationship Type="http://schemas.openxmlformats.org/officeDocument/2006/relationships/notesMaster" Target="/ppt/notesMasters/notesMaster1.xml" Id="Ra1fc53eebbc042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e44af7b60e4286" /><Relationship Type="http://schemas.openxmlformats.org/officeDocument/2006/relationships/notesMaster" Target="/ppt/notesMasters/notesMaster1.xml" Id="R01e90c9ff92d4e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10e50f676d458b" /><Relationship Type="http://schemas.openxmlformats.org/officeDocument/2006/relationships/notesMaster" Target="/ppt/notesMasters/notesMaster1.xml" Id="R5e402558dcd346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20fe42b7c4427a" /><Relationship Type="http://schemas.openxmlformats.org/officeDocument/2006/relationships/notesMaster" Target="/ppt/notesMasters/notesMaster1.xml" Id="Rac3d539a7a7b4e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49dab3dc7e4e96" /><Relationship Type="http://schemas.openxmlformats.org/officeDocument/2006/relationships/notesMaster" Target="/ppt/notesMasters/notesMaster1.xml" Id="R1e72a899568847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cfe58e7fb4d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c0e3b34fb646e2" /><Relationship Type="http://schemas.openxmlformats.org/officeDocument/2006/relationships/slideLayout" Target="/ppt/slideLayouts/slideLayout1.xml" Id="Rb66e8ef799c542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6e8ef799c542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d332f01d644bc" /><Relationship Type="http://schemas.openxmlformats.org/officeDocument/2006/relationships/notesSlide" Target="/ppt/notesSlides/notesSlide1.xml" Id="R0b580547924344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314b9a9b24703" /><Relationship Type="http://schemas.openxmlformats.org/officeDocument/2006/relationships/notesSlide" Target="/ppt/notesSlides/notesSlide2.xml" Id="R4d98a8edc3344f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e718f981145bc" /><Relationship Type="http://schemas.openxmlformats.org/officeDocument/2006/relationships/notesSlide" Target="/ppt/notesSlides/notesSlide3.xml" Id="R0f1e817723a14b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89f4647894f08" /><Relationship Type="http://schemas.openxmlformats.org/officeDocument/2006/relationships/notesSlide" Target="/ppt/notesSlides/notesSlide4.xml" Id="Rf5525782348343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f00e6ba384b1d" /><Relationship Type="http://schemas.openxmlformats.org/officeDocument/2006/relationships/notesSlide" Target="/ppt/notesSlides/notesSlide5.xml" Id="R93355b7b003c41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17f4cc14d444c" /><Relationship Type="http://schemas.openxmlformats.org/officeDocument/2006/relationships/notesSlide" Target="/ppt/notesSlides/notesSlide6.xml" Id="Re232b2be646842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8ea46af4d435f" /><Relationship Type="http://schemas.openxmlformats.org/officeDocument/2006/relationships/notesSlide" Target="/ppt/notesSlides/notesSlide7.xml" Id="R6448a59a956f48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c21e5d13040a2" /><Relationship Type="http://schemas.openxmlformats.org/officeDocument/2006/relationships/notesSlide" Target="/ppt/notesSlides/notesSlide8.xml" Id="Rd75a14fbabd240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1c2aeb685425a" /><Relationship Type="http://schemas.openxmlformats.org/officeDocument/2006/relationships/notesSlide" Target="/ppt/notesSlides/notesSlide9.xml" Id="R759a2f4d100c41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1-primary-rail">
            <a:extLst xmlns:a="http://schemas.openxmlformats.org/drawingml/2006/main">
              <a:ext uri="{FF2B5EF4-FFF2-40B4-BE49-F238E27FC236}">
                <a16:creationId xmlns:a16="http://schemas.microsoft.com/office/drawing/2014/main" id="{281E741F-283C-48A3-883C-D633AB11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76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-cover-title">
            <a:extLst xmlns:a="http://schemas.openxmlformats.org/drawingml/2006/main">
              <a:ext uri="{FF2B5EF4-FFF2-40B4-BE49-F238E27FC236}">
                <a16:creationId xmlns:a16="http://schemas.microsoft.com/office/drawing/2014/main" id="{7CFEE98E-A10F-4543-B824-B255BBB5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668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先把一次结果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说明白</a:t>
            </a:r>
          </a:p>
        </p:txBody>
      </p:sp>
      <p:sp>
        <p:nvSpPr>
          <p:cNvPr id="3" name="p1-cover-subtitle">
            <a:extLst xmlns:a="http://schemas.openxmlformats.org/drawingml/2006/main">
              <a:ext uri="{FF2B5EF4-FFF2-40B4-BE49-F238E27FC236}">
                <a16:creationId xmlns:a16="http://schemas.microsoft.com/office/drawing/2014/main" id="{D660EE6A-2DDB-41CF-9673-9A56E249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四周小范围归档试点讨论稿</a:t>
            </a:r>
          </a:p>
        </p:txBody>
      </p:sp>
      <p:sp>
        <p:nvSpPr>
          <p:cNvPr id="4" name="p1-cover-audience">
            <a:extLst xmlns:a="http://schemas.openxmlformats.org/drawingml/2006/main">
              <a:ext uri="{FF2B5EF4-FFF2-40B4-BE49-F238E27FC236}">
                <a16:creationId xmlns:a16="http://schemas.microsoft.com/office/drawing/2014/main" id="{E64CDE36-EEB4-48B9-A82D-6FE4ABEA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面向课题组教师与研究生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目标：讨论一项有限尝试，而非宣布成效</a:t>
            </a:r>
          </a:p>
        </p:txBody>
      </p:sp>
      <p:sp>
        <p:nvSpPr>
          <p:cNvPr id="5" name="p1-cover-relation">
            <a:extLst xmlns:a="http://schemas.openxmlformats.org/drawingml/2006/main">
              <a:ext uri="{FF2B5EF4-FFF2-40B4-BE49-F238E27FC236}">
                <a16:creationId xmlns:a16="http://schemas.microsoft.com/office/drawing/2014/main" id="{2E02E791-47FE-466E-B587-C08D9B9E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574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结果  ↔  依据  ↔  责任边界</a:t>
            </a:r>
          </a:p>
        </p:txBody>
      </p:sp>
      <p:sp>
        <p:nvSpPr>
          <p:cNvPr id="6" name="p1-relation-rule">
            <a:extLst xmlns:a="http://schemas.openxmlformats.org/drawingml/2006/main">
              <a:ext uri="{FF2B5EF4-FFF2-40B4-BE49-F238E27FC236}">
                <a16:creationId xmlns:a16="http://schemas.microsoft.com/office/drawing/2014/main" id="{EF75FF8F-17FB-4A63-B3FA-4D43AC57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52775"/>
            <a:ext cx="287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7" name="p1-cover-footnote">
            <a:extLst xmlns:a="http://schemas.openxmlformats.org/drawingml/2006/main">
              <a:ext uri="{FF2B5EF4-FFF2-40B4-BE49-F238E27FC236}">
                <a16:creationId xmlns:a16="http://schemas.microsoft.com/office/drawing/2014/main" id="{301703F7-C0C6-492D-93F7-A15AA2E7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813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 · 原稿事实范围内的方案讨论</a:t>
            </a:r>
          </a:p>
        </p:txBody>
      </p:sp>
      <p:sp>
        <p:nvSpPr>
          <p:cNvPr id="8" name="p1-cover-page">
            <a:extLst xmlns:a="http://schemas.openxmlformats.org/drawingml/2006/main">
              <a:ext uri="{FF2B5EF4-FFF2-40B4-BE49-F238E27FC236}">
                <a16:creationId xmlns:a16="http://schemas.microsoft.com/office/drawing/2014/main" id="{EE98D6EB-1DDA-4F3B-9A19-471000F0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8282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2-title">
            <a:extLst xmlns:a="http://schemas.openxmlformats.org/drawingml/2006/main">
              <a:ext uri="{FF2B5EF4-FFF2-40B4-BE49-F238E27FC236}">
                <a16:creationId xmlns:a16="http://schemas.microsoft.com/office/drawing/2014/main" id="{F39443D4-6E66-47AE-8E1D-EC5B5C72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文件存在，不等于结果可以解释</a:t>
            </a:r>
          </a:p>
        </p:txBody>
      </p:sp>
      <p:sp>
        <p:nvSpPr>
          <p:cNvPr id="2" name="p2-kicker">
            <a:extLst xmlns:a="http://schemas.openxmlformats.org/drawingml/2006/main">
              <a:ext uri="{FF2B5EF4-FFF2-40B4-BE49-F238E27FC236}">
                <a16:creationId xmlns:a16="http://schemas.microsoft.com/office/drawing/2014/main" id="{8BF2DCC4-7FCB-490A-BFEC-F97764F4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问题界定</a:t>
            </a:r>
          </a:p>
        </p:txBody>
      </p:sp>
      <p:sp>
        <p:nvSpPr>
          <p:cNvPr id="3" name="p2-title-rule">
            <a:extLst xmlns:a="http://schemas.openxmlformats.org/drawingml/2006/main">
              <a:ext uri="{FF2B5EF4-FFF2-40B4-BE49-F238E27FC236}">
                <a16:creationId xmlns:a16="http://schemas.microsoft.com/office/drawing/2014/main" id="{EF106B91-3A2D-48FC-862C-E63F16E5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4" name="p2-lead">
            <a:extLst xmlns:a="http://schemas.openxmlformats.org/drawingml/2006/main">
              <a:ext uri="{FF2B5EF4-FFF2-40B4-BE49-F238E27FC236}">
                <a16:creationId xmlns:a16="http://schemas.microsoft.com/office/drawing/2014/main" id="{0F07F4A4-9752-4C31-A35E-7175CBE4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033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问题不只是文件有没有上传，而是结果与依据的联系是否留在记录里。</a:t>
            </a:r>
          </a:p>
        </p:txBody>
      </p:sp>
      <p:sp>
        <p:nvSpPr>
          <p:cNvPr id="5" name="p2-analysis-surface">
            <a:extLst xmlns:a="http://schemas.openxmlformats.org/drawingml/2006/main">
              <a:ext uri="{FF2B5EF4-FFF2-40B4-BE49-F238E27FC236}">
                <a16:creationId xmlns:a16="http://schemas.microsoft.com/office/drawing/2014/main" id="{92FCE77F-FF96-4B39-B93C-35967D86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1114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2-left-label">
            <a:extLst xmlns:a="http://schemas.openxmlformats.org/drawingml/2006/main">
              <a:ext uri="{FF2B5EF4-FFF2-40B4-BE49-F238E27FC236}">
                <a16:creationId xmlns:a16="http://schemas.microsoft.com/office/drawing/2014/main" id="{84B5C146-E580-45D3-8E13-492AC7D4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已有结果图</a:t>
            </a:r>
          </a:p>
        </p:txBody>
      </p:sp>
      <p:sp>
        <p:nvSpPr>
          <p:cNvPr id="7" name="p2-left-body">
            <a:extLst xmlns:a="http://schemas.openxmlformats.org/drawingml/2006/main">
              <a:ext uri="{FF2B5EF4-FFF2-40B4-BE49-F238E27FC236}">
                <a16:creationId xmlns:a16="http://schemas.microsoft.com/office/drawing/2014/main" id="{B3B95DE1-07B4-44E1-9AB1-E0034B94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71775"/>
            <a:ext cx="428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经常能找到最终图片，却不能快速说明它来自哪批样本、用了哪版脚本、哪些数据被排除。</a:t>
            </a:r>
          </a:p>
        </p:txBody>
      </p:sp>
      <p:sp>
        <p:nvSpPr>
          <p:cNvPr id="8" name="p2-center-rule">
            <a:extLst xmlns:a="http://schemas.openxmlformats.org/drawingml/2006/main">
              <a:ext uri="{FF2B5EF4-FFF2-40B4-BE49-F238E27FC236}">
                <a16:creationId xmlns:a16="http://schemas.microsoft.com/office/drawing/2014/main" id="{FA16D432-FC30-45D0-A831-C3CBCB8A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9525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9" name="p2-right-label">
            <a:extLst xmlns:a="http://schemas.openxmlformats.org/drawingml/2006/main">
              <a:ext uri="{FF2B5EF4-FFF2-40B4-BE49-F238E27FC236}">
                <a16:creationId xmlns:a16="http://schemas.microsoft.com/office/drawing/2014/main" id="{D785C687-A324-4822-BC1B-B04639D2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归档要保存的关系</a:t>
            </a:r>
          </a:p>
        </p:txBody>
      </p:sp>
      <p:sp>
        <p:nvSpPr>
          <p:cNvPr id="10" name="p2-right-body">
            <a:extLst xmlns:a="http://schemas.openxmlformats.org/drawingml/2006/main">
              <a:ext uri="{FF2B5EF4-FFF2-40B4-BE49-F238E27FC236}">
                <a16:creationId xmlns:a16="http://schemas.microsoft.com/office/drawing/2014/main" id="{0FB70797-F03C-4546-AB05-6DFD72FD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71775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把样本、脚本和排除说明系在同一记录上，其他成员才有机会理解结果如何产生。先保存结果与依据的关系，再讨论扩大共享范围。</a:t>
            </a:r>
          </a:p>
        </p:txBody>
      </p:sp>
      <p:sp>
        <p:nvSpPr>
          <p:cNvPr id="11" name="p2-footer-rule">
            <a:extLst xmlns:a="http://schemas.openxmlformats.org/drawingml/2006/main">
              <a:ext uri="{FF2B5EF4-FFF2-40B4-BE49-F238E27FC236}">
                <a16:creationId xmlns:a16="http://schemas.microsoft.com/office/drawing/2014/main" id="{FA15F6F9-31F3-4AED-8A64-12BCCBC9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2" name="p2-footer-label">
            <a:extLst xmlns:a="http://schemas.openxmlformats.org/drawingml/2006/main">
              <a:ext uri="{FF2B5EF4-FFF2-40B4-BE49-F238E27FC236}">
                <a16:creationId xmlns:a16="http://schemas.microsoft.com/office/drawing/2014/main" id="{D2943452-5C62-4E5F-9B78-86C6E7E3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 · 讨论稿</a:t>
            </a:r>
          </a:p>
        </p:txBody>
      </p:sp>
      <p:sp>
        <p:nvSpPr>
          <p:cNvPr id="13" name="p2-footer-page">
            <a:extLst xmlns:a="http://schemas.openxmlformats.org/drawingml/2006/main">
              <a:ext uri="{FF2B5EF4-FFF2-40B4-BE49-F238E27FC236}">
                <a16:creationId xmlns:a16="http://schemas.microsoft.com/office/drawing/2014/main" id="{92D6E839-9E43-461B-85DA-8CDB315E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43618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3-title">
            <a:extLst xmlns:a="http://schemas.openxmlformats.org/drawingml/2006/main">
              <a:ext uri="{FF2B5EF4-FFF2-40B4-BE49-F238E27FC236}">
                <a16:creationId xmlns:a16="http://schemas.microsoft.com/office/drawing/2014/main" id="{3A8F12FB-4373-454A-B110-6BF61FBC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一个记录单元，把结果和依据绑在一起</a:t>
            </a:r>
          </a:p>
        </p:txBody>
      </p:sp>
      <p:sp>
        <p:nvSpPr>
          <p:cNvPr id="2" name="p3-kicker">
            <a:extLst xmlns:a="http://schemas.openxmlformats.org/drawingml/2006/main">
              <a:ext uri="{FF2B5EF4-FFF2-40B4-BE49-F238E27FC236}">
                <a16:creationId xmlns:a16="http://schemas.microsoft.com/office/drawing/2014/main" id="{0F24A4F5-0C47-49E0-820E-F940568E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记录结构</a:t>
            </a:r>
          </a:p>
        </p:txBody>
      </p:sp>
      <p:sp>
        <p:nvSpPr>
          <p:cNvPr id="3" name="p3-title-rule">
            <a:extLst xmlns:a="http://schemas.openxmlformats.org/drawingml/2006/main">
              <a:ext uri="{FF2B5EF4-FFF2-40B4-BE49-F238E27FC236}">
                <a16:creationId xmlns:a16="http://schemas.microsoft.com/office/drawing/2014/main" id="{D72ADFD9-EB67-4B6B-A258-6341DA68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4" name="p3-lead">
            <a:extLst xmlns:a="http://schemas.openxmlformats.org/drawingml/2006/main">
              <a:ext uri="{FF2B5EF4-FFF2-40B4-BE49-F238E27FC236}">
                <a16:creationId xmlns:a16="http://schemas.microsoft.com/office/drawing/2014/main" id="{951E81EC-33A6-4E72-8B97-07570788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一次可讨论的实验结果，不是一个孤立文件，而是一组共同解释它的记录。</a:t>
            </a:r>
          </a:p>
        </p:txBody>
      </p:sp>
      <p:sp>
        <p:nvSpPr>
          <p:cNvPr id="5" name="p3-record-surface">
            <a:extLst xmlns:a="http://schemas.openxmlformats.org/drawingml/2006/main">
              <a:ext uri="{FF2B5EF4-FFF2-40B4-BE49-F238E27FC236}">
                <a16:creationId xmlns:a16="http://schemas.microsoft.com/office/drawing/2014/main" id="{E0D30952-7A82-4EE6-9302-57885D01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11144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3-record-label">
            <a:extLst xmlns:a="http://schemas.openxmlformats.org/drawingml/2006/main">
              <a:ext uri="{FF2B5EF4-FFF2-40B4-BE49-F238E27FC236}">
                <a16:creationId xmlns:a16="http://schemas.microsoft.com/office/drawing/2014/main" id="{31D0ACDF-4E78-41A4-ABA9-8B94D8A5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一次可讨论的实验结果</a:t>
            </a:r>
          </a:p>
        </p:txBody>
      </p:sp>
      <p:sp>
        <p:nvSpPr>
          <p:cNvPr id="7" name="p3-item-1-accent">
            <a:extLst xmlns:a="http://schemas.openxmlformats.org/drawingml/2006/main">
              <a:ext uri="{FF2B5EF4-FFF2-40B4-BE49-F238E27FC236}">
                <a16:creationId xmlns:a16="http://schemas.microsoft.com/office/drawing/2014/main" id="{D0BB0241-18E1-45BE-9E2E-765C94A8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8605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3-item-1-title">
            <a:extLst xmlns:a="http://schemas.openxmlformats.org/drawingml/2006/main">
              <a:ext uri="{FF2B5EF4-FFF2-40B4-BE49-F238E27FC236}">
                <a16:creationId xmlns:a16="http://schemas.microsoft.com/office/drawing/2014/main" id="{515A88EE-DFB2-42F5-A76F-0393260C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47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原始数据与派生处理</a:t>
            </a:r>
          </a:p>
        </p:txBody>
      </p:sp>
      <p:sp>
        <p:nvSpPr>
          <p:cNvPr id="9" name="p3-item-1-body">
            <a:extLst xmlns:a="http://schemas.openxmlformats.org/drawingml/2006/main">
              <a:ext uri="{FF2B5EF4-FFF2-40B4-BE49-F238E27FC236}">
                <a16:creationId xmlns:a16="http://schemas.microsoft.com/office/drawing/2014/main" id="{22F75BEE-7945-4309-9D8C-506C6232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原始数据保持原貌；清洗与处理另存为派生文件，保留两者边界。</a:t>
            </a:r>
          </a:p>
        </p:txBody>
      </p:sp>
      <p:sp>
        <p:nvSpPr>
          <p:cNvPr id="10" name="p3-item-2-accent">
            <a:extLst xmlns:a="http://schemas.openxmlformats.org/drawingml/2006/main">
              <a:ext uri="{FF2B5EF4-FFF2-40B4-BE49-F238E27FC236}">
                <a16:creationId xmlns:a16="http://schemas.microsoft.com/office/drawing/2014/main" id="{69A15950-1E5F-40D3-9CA1-530459DE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8605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3-item-2-title">
            <a:extLst xmlns:a="http://schemas.openxmlformats.org/drawingml/2006/main">
              <a:ext uri="{FF2B5EF4-FFF2-40B4-BE49-F238E27FC236}">
                <a16:creationId xmlns:a16="http://schemas.microsoft.com/office/drawing/2014/main" id="{1868224D-15AD-47B0-9E47-A6A30B7A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47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样本与采集条件</a:t>
            </a:r>
          </a:p>
        </p:txBody>
      </p:sp>
      <p:sp>
        <p:nvSpPr>
          <p:cNvPr id="12" name="p3-item-2-body">
            <a:extLst xmlns:a="http://schemas.openxmlformats.org/drawingml/2006/main">
              <a:ext uri="{FF2B5EF4-FFF2-40B4-BE49-F238E27FC236}">
                <a16:creationId xmlns:a16="http://schemas.microsoft.com/office/drawing/2014/main" id="{D853DB7C-ABE0-422C-A2CE-C32DF47F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718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说明这批样本及其采集条件。</a:t>
            </a:r>
          </a:p>
        </p:txBody>
      </p:sp>
      <p:sp>
        <p:nvSpPr>
          <p:cNvPr id="13" name="p3-item-3-accent">
            <a:extLst xmlns:a="http://schemas.openxmlformats.org/drawingml/2006/main">
              <a:ext uri="{FF2B5EF4-FFF2-40B4-BE49-F238E27FC236}">
                <a16:creationId xmlns:a16="http://schemas.microsoft.com/office/drawing/2014/main" id="{856ADF11-13A1-456C-8621-CC170C9E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0047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3-item-3-title">
            <a:extLst xmlns:a="http://schemas.openxmlformats.org/drawingml/2006/main">
              <a:ext uri="{FF2B5EF4-FFF2-40B4-BE49-F238E27FC236}">
                <a16:creationId xmlns:a16="http://schemas.microsoft.com/office/drawing/2014/main" id="{A817C351-F8D0-4CF4-A7E9-8C9547FA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处理脚本版本</a:t>
            </a:r>
          </a:p>
        </p:txBody>
      </p:sp>
      <p:sp>
        <p:nvSpPr>
          <p:cNvPr id="15" name="p3-item-3-body">
            <a:extLst xmlns:a="http://schemas.openxmlformats.org/drawingml/2006/main">
              <a:ext uri="{FF2B5EF4-FFF2-40B4-BE49-F238E27FC236}">
                <a16:creationId xmlns:a16="http://schemas.microsoft.com/office/drawing/2014/main" id="{10C62C28-164C-4756-89D4-1ED9B4FB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862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能够定位实际运行的代码版本。</a:t>
            </a:r>
          </a:p>
        </p:txBody>
      </p:sp>
      <p:sp>
        <p:nvSpPr>
          <p:cNvPr id="16" name="p3-item-4-accent">
            <a:extLst xmlns:a="http://schemas.openxmlformats.org/drawingml/2006/main">
              <a:ext uri="{FF2B5EF4-FFF2-40B4-BE49-F238E27FC236}">
                <a16:creationId xmlns:a16="http://schemas.microsoft.com/office/drawing/2014/main" id="{0A02AFE4-9EE4-4FC7-A9B7-6C997F7A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0047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3-item-4-title">
            <a:extLst xmlns:a="http://schemas.openxmlformats.org/drawingml/2006/main">
              <a:ext uri="{FF2B5EF4-FFF2-40B4-BE49-F238E27FC236}">
                <a16:creationId xmlns:a16="http://schemas.microsoft.com/office/drawing/2014/main" id="{AC1F207C-B7A6-4287-96B0-AFFFDF3C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62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18" name="p3-item-4-body">
            <a:extLst xmlns:a="http://schemas.openxmlformats.org/drawingml/2006/main">
              <a:ext uri="{FF2B5EF4-FFF2-40B4-BE49-F238E27FC236}">
                <a16:creationId xmlns:a16="http://schemas.microsoft.com/office/drawing/2014/main" id="{0E494A2A-50FF-4607-BB59-0A9AF012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862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与本次讨论的结果图建立对应。</a:t>
            </a:r>
          </a:p>
        </p:txBody>
      </p:sp>
      <p:sp>
        <p:nvSpPr>
          <p:cNvPr id="19" name="p3-item-5-accent">
            <a:extLst xmlns:a="http://schemas.openxmlformats.org/drawingml/2006/main">
              <a:ext uri="{FF2B5EF4-FFF2-40B4-BE49-F238E27FC236}">
                <a16:creationId xmlns:a16="http://schemas.microsoft.com/office/drawing/2014/main" id="{DDEE7F18-3395-439E-BB10-544397C1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149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3-item-5-title">
            <a:extLst xmlns:a="http://schemas.openxmlformats.org/drawingml/2006/main">
              <a:ext uri="{FF2B5EF4-FFF2-40B4-BE49-F238E27FC236}">
                <a16:creationId xmlns:a16="http://schemas.microsoft.com/office/drawing/2014/main" id="{7BB2A1A9-B349-420A-831E-4DBCE62D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76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异常与排除说明</a:t>
            </a:r>
          </a:p>
        </p:txBody>
      </p:sp>
      <p:sp>
        <p:nvSpPr>
          <p:cNvPr id="21" name="p3-item-5-body">
            <a:extLst xmlns:a="http://schemas.openxmlformats.org/drawingml/2006/main">
              <a:ext uri="{FF2B5EF4-FFF2-40B4-BE49-F238E27FC236}">
                <a16:creationId xmlns:a16="http://schemas.microsoft.com/office/drawing/2014/main" id="{E452256D-8B4A-482D-B974-DE98E373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006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保留判断依据，解释哪些样本未纳入结果。</a:t>
            </a:r>
          </a:p>
        </p:txBody>
      </p:sp>
      <p:sp>
        <p:nvSpPr>
          <p:cNvPr id="22" name="p3-bottom-rule">
            <a:extLst xmlns:a="http://schemas.openxmlformats.org/drawingml/2006/main">
              <a:ext uri="{FF2B5EF4-FFF2-40B4-BE49-F238E27FC236}">
                <a16:creationId xmlns:a16="http://schemas.microsoft.com/office/drawing/2014/main" id="{6C98CE2B-7684-4BD7-BC03-56E08426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674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23" name="p3-bottom-note">
            <a:extLst xmlns:a="http://schemas.openxmlformats.org/drawingml/2006/main">
              <a:ext uri="{FF2B5EF4-FFF2-40B4-BE49-F238E27FC236}">
                <a16:creationId xmlns:a16="http://schemas.microsoft.com/office/drawing/2014/main" id="{B13837AD-1A16-4B04-9B82-E6BCDAEF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626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这几项共同解释一个结果，并不是必须依次执行的五个步骤。</a:t>
            </a:r>
          </a:p>
        </p:txBody>
      </p:sp>
      <p:sp>
        <p:nvSpPr>
          <p:cNvPr id="24" name="p3-counterexample">
            <a:extLst xmlns:a="http://schemas.openxmlformats.org/drawingml/2006/main">
              <a:ext uri="{FF2B5EF4-FFF2-40B4-BE49-F238E27FC236}">
                <a16:creationId xmlns:a16="http://schemas.microsoft.com/office/drawing/2014/main" id="{6474C4D4-F4A1-47AA-ACA2-23186AE6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103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反例：字段全部填满但脚本版本无法定位实际运行代码，追溯问题仍未解决。</a:t>
            </a:r>
          </a:p>
        </p:txBody>
      </p:sp>
      <p:sp>
        <p:nvSpPr>
          <p:cNvPr id="25" name="p3-footer-rule">
            <a:extLst xmlns:a="http://schemas.openxmlformats.org/drawingml/2006/main">
              <a:ext uri="{FF2B5EF4-FFF2-40B4-BE49-F238E27FC236}">
                <a16:creationId xmlns:a16="http://schemas.microsoft.com/office/drawing/2014/main" id="{950F6F85-3A9A-4CC9-A1BB-76F836F6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26" name="p3-footer-label">
            <a:extLst xmlns:a="http://schemas.openxmlformats.org/drawingml/2006/main">
              <a:ext uri="{FF2B5EF4-FFF2-40B4-BE49-F238E27FC236}">
                <a16:creationId xmlns:a16="http://schemas.microsoft.com/office/drawing/2014/main" id="{B0F4DA93-6475-4C6B-8B9A-12965599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 · 讨论稿</a:t>
            </a:r>
          </a:p>
        </p:txBody>
      </p:sp>
      <p:sp>
        <p:nvSpPr>
          <p:cNvPr id="27" name="p3-footer-page">
            <a:extLst xmlns:a="http://schemas.openxmlformats.org/drawingml/2006/main">
              <a:ext uri="{FF2B5EF4-FFF2-40B4-BE49-F238E27FC236}">
                <a16:creationId xmlns:a16="http://schemas.microsoft.com/office/drawing/2014/main" id="{C5AF4390-46E8-4739-9809-3FAC2F7A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76895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4-title">
            <a:extLst xmlns:a="http://schemas.openxmlformats.org/drawingml/2006/main">
              <a:ext uri="{FF2B5EF4-FFF2-40B4-BE49-F238E27FC236}">
                <a16:creationId xmlns:a16="http://schemas.microsoft.com/office/drawing/2014/main" id="{E9B14322-C2DB-4432-99BB-A0E152A4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记录完整，不会自动扩大访问权</a:t>
            </a:r>
          </a:p>
        </p:txBody>
      </p:sp>
      <p:sp>
        <p:nvSpPr>
          <p:cNvPr id="2" name="p4-kicker">
            <a:extLst xmlns:a="http://schemas.openxmlformats.org/drawingml/2006/main">
              <a:ext uri="{FF2B5EF4-FFF2-40B4-BE49-F238E27FC236}">
                <a16:creationId xmlns:a16="http://schemas.microsoft.com/office/drawing/2014/main" id="{EDC8246E-01F2-4CC2-815E-04558314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权限边界</a:t>
            </a:r>
          </a:p>
        </p:txBody>
      </p:sp>
      <p:sp>
        <p:nvSpPr>
          <p:cNvPr id="3" name="p4-title-rule">
            <a:extLst xmlns:a="http://schemas.openxmlformats.org/drawingml/2006/main">
              <a:ext uri="{FF2B5EF4-FFF2-40B4-BE49-F238E27FC236}">
                <a16:creationId xmlns:a16="http://schemas.microsoft.com/office/drawing/2014/main" id="{3C6CF01A-9895-415C-9D11-83B5DFEE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4" name="p4-lead">
            <a:extLst xmlns:a="http://schemas.openxmlformats.org/drawingml/2006/main">
              <a:ext uri="{FF2B5EF4-FFF2-40B4-BE49-F238E27FC236}">
                <a16:creationId xmlns:a16="http://schemas.microsoft.com/office/drawing/2014/main" id="{BAC106EE-6C9D-4B6F-B4B1-B5F5DA26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归档要让结果可理解，同时保留原有授权边界。</a:t>
            </a:r>
          </a:p>
        </p:txBody>
      </p:sp>
      <p:sp>
        <p:nvSpPr>
          <p:cNvPr id="5" name="p4-analysis-band">
            <a:extLst xmlns:a="http://schemas.openxmlformats.org/drawingml/2006/main">
              <a:ext uri="{FF2B5EF4-FFF2-40B4-BE49-F238E27FC236}">
                <a16:creationId xmlns:a16="http://schemas.microsoft.com/office/drawing/2014/main" id="{5214F4A6-2448-44DD-8F7E-1D4FCEC2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11144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4-public-label">
            <a:extLst xmlns:a="http://schemas.openxmlformats.org/drawingml/2006/main">
              <a:ext uri="{FF2B5EF4-FFF2-40B4-BE49-F238E27FC236}">
                <a16:creationId xmlns:a16="http://schemas.microsoft.com/office/drawing/2014/main" id="{50C1FD62-3013-4E6B-AB54-B518F8CA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讨论材料</a:t>
            </a:r>
          </a:p>
        </p:txBody>
      </p:sp>
      <p:sp>
        <p:nvSpPr>
          <p:cNvPr id="7" name="p4-public-body">
            <a:extLst xmlns:a="http://schemas.openxmlformats.org/drawingml/2006/main">
              <a:ext uri="{FF2B5EF4-FFF2-40B4-BE49-F238E27FC236}">
                <a16:creationId xmlns:a16="http://schemas.microsoft.com/office/drawing/2014/main" id="{FBDA51AF-EDF2-48A3-9110-BF0EDC9C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717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结果图和可公开的解释可以进入讨论材料。</a:t>
            </a:r>
          </a:p>
        </p:txBody>
      </p:sp>
      <p:sp>
        <p:nvSpPr>
          <p:cNvPr id="8" name="p4-mid-rule">
            <a:extLst xmlns:a="http://schemas.openxmlformats.org/drawingml/2006/main">
              <a:ext uri="{FF2B5EF4-FFF2-40B4-BE49-F238E27FC236}">
                <a16:creationId xmlns:a16="http://schemas.microsoft.com/office/drawing/2014/main" id="{145CA5AE-6992-4152-92FE-3AF4CAC1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9525" cy="1666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9" name="p4-restricted-label">
            <a:extLst xmlns:a="http://schemas.openxmlformats.org/drawingml/2006/main">
              <a:ext uri="{FF2B5EF4-FFF2-40B4-BE49-F238E27FC236}">
                <a16:creationId xmlns:a16="http://schemas.microsoft.com/office/drawing/2014/main" id="{C0A74029-39B9-44DF-9697-388E5F4D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受限原始数据</a:t>
            </a:r>
          </a:p>
        </p:txBody>
      </p:sp>
      <p:sp>
        <p:nvSpPr>
          <p:cNvPr id="10" name="p4-restricted-body">
            <a:extLst xmlns:a="http://schemas.openxmlformats.org/drawingml/2006/main">
              <a:ext uri="{FF2B5EF4-FFF2-40B4-BE49-F238E27FC236}">
                <a16:creationId xmlns:a16="http://schemas.microsoft.com/office/drawing/2014/main" id="{D0225404-29DD-4EFE-B0ED-9C9D6D8B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71775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仍放在原授权位置；记录中只保留受控引用和访问条件。</a:t>
            </a:r>
          </a:p>
        </p:txBody>
      </p:sp>
      <p:sp>
        <p:nvSpPr>
          <p:cNvPr id="11" name="p4-public-node-label">
            <a:extLst xmlns:a="http://schemas.openxmlformats.org/drawingml/2006/main">
              <a:ext uri="{FF2B5EF4-FFF2-40B4-BE49-F238E27FC236}">
                <a16:creationId xmlns:a16="http://schemas.microsoft.com/office/drawing/2014/main" id="{EC29627F-9D41-4977-A45C-37572AA7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可公开的解释</a:t>
            </a:r>
          </a:p>
        </p:txBody>
      </p:sp>
      <p:sp>
        <p:nvSpPr>
          <p:cNvPr id="12" name="p4-restricted-node-label">
            <a:extLst xmlns:a="http://schemas.openxmlformats.org/drawingml/2006/main">
              <a:ext uri="{FF2B5EF4-FFF2-40B4-BE49-F238E27FC236}">
                <a16:creationId xmlns:a16="http://schemas.microsoft.com/office/drawing/2014/main" id="{0E878758-CA8D-4016-B197-AF671ACF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受控引用</a:t>
            </a:r>
          </a:p>
        </p:txBody>
      </p:sp>
      <p:sp>
        <p:nvSpPr>
          <p:cNvPr id="13" name="p4-boundary-band">
            <a:extLst xmlns:a="http://schemas.openxmlformats.org/drawingml/2006/main">
              <a:ext uri="{FF2B5EF4-FFF2-40B4-BE49-F238E27FC236}">
                <a16:creationId xmlns:a16="http://schemas.microsoft.com/office/drawing/2014/main" id="{C31493D9-6BBC-4FF1-AB94-54F9952B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62475"/>
            <a:ext cx="11144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4-boundary-label">
            <a:extLst xmlns:a="http://schemas.openxmlformats.org/drawingml/2006/main">
              <a:ext uri="{FF2B5EF4-FFF2-40B4-BE49-F238E27FC236}">
                <a16:creationId xmlns:a16="http://schemas.microsoft.com/office/drawing/2014/main" id="{27764749-37D5-4A9D-9741-0019380A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38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路径 ≠ 授权</a:t>
            </a:r>
          </a:p>
        </p:txBody>
      </p:sp>
      <p:sp>
        <p:nvSpPr>
          <p:cNvPr id="15" name="p4-boundary-body">
            <a:extLst xmlns:a="http://schemas.openxmlformats.org/drawingml/2006/main">
              <a:ext uri="{FF2B5EF4-FFF2-40B4-BE49-F238E27FC236}">
                <a16:creationId xmlns:a16="http://schemas.microsoft.com/office/drawing/2014/main" id="{E63A05F5-15A7-456C-A29B-2A1ECC19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815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记录表中出现一个路径，也不代表其他成员已经取得访问权。涉及个人信息或合作限制的内容，不能因为归档而改变授权。</a:t>
            </a:r>
          </a:p>
        </p:txBody>
      </p:sp>
      <p:sp>
        <p:nvSpPr>
          <p:cNvPr id="16" name="p4-footer-rule">
            <a:extLst xmlns:a="http://schemas.openxmlformats.org/drawingml/2006/main">
              <a:ext uri="{FF2B5EF4-FFF2-40B4-BE49-F238E27FC236}">
                <a16:creationId xmlns:a16="http://schemas.microsoft.com/office/drawing/2014/main" id="{BE842514-E1C6-494B-8DDC-B969F961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7" name="p4-footer-label">
            <a:extLst xmlns:a="http://schemas.openxmlformats.org/drawingml/2006/main">
              <a:ext uri="{FF2B5EF4-FFF2-40B4-BE49-F238E27FC236}">
                <a16:creationId xmlns:a16="http://schemas.microsoft.com/office/drawing/2014/main" id="{2D042F12-C218-4AFF-AE32-B8C85EBA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 · 讨论稿</a:t>
            </a:r>
          </a:p>
        </p:txBody>
      </p:sp>
      <p:sp>
        <p:nvSpPr>
          <p:cNvPr id="18" name="p4-footer-page">
            <a:extLst xmlns:a="http://schemas.openxmlformats.org/drawingml/2006/main">
              <a:ext uri="{FF2B5EF4-FFF2-40B4-BE49-F238E27FC236}">
                <a16:creationId xmlns:a16="http://schemas.microsoft.com/office/drawing/2014/main" id="{C03F04B0-3432-4B43-AED3-E60F3B83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35589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5-title">
            <a:extLst xmlns:a="http://schemas.openxmlformats.org/drawingml/2006/main">
              <a:ext uri="{FF2B5EF4-FFF2-40B4-BE49-F238E27FC236}">
                <a16:creationId xmlns:a16="http://schemas.microsoft.com/office/drawing/2014/main" id="{399965D0-D7D9-4FCD-9AFF-949F530E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新增实验优先，能保留清楚上下文；历史补档仍要逐项判断</a:t>
            </a:r>
          </a:p>
        </p:txBody>
      </p:sp>
      <p:sp>
        <p:nvSpPr>
          <p:cNvPr id="2" name="p5-kicker">
            <a:extLst xmlns:a="http://schemas.openxmlformats.org/drawingml/2006/main">
              <a:ext uri="{FF2B5EF4-FFF2-40B4-BE49-F238E27FC236}">
                <a16:creationId xmlns:a16="http://schemas.microsoft.com/office/drawing/2014/main" id="{1F85393E-CDC5-476E-A162-1FDE0B2C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范围取舍</a:t>
            </a:r>
          </a:p>
        </p:txBody>
      </p:sp>
      <p:sp>
        <p:nvSpPr>
          <p:cNvPr id="3" name="p5-title-rule">
            <a:extLst xmlns:a="http://schemas.openxmlformats.org/drawingml/2006/main">
              <a:ext uri="{FF2B5EF4-FFF2-40B4-BE49-F238E27FC236}">
                <a16:creationId xmlns:a16="http://schemas.microsoft.com/office/drawing/2014/main" id="{46CFD076-7B56-49E8-B80C-EFADA455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4" name="p5-lead">
            <a:extLst xmlns:a="http://schemas.openxmlformats.org/drawingml/2006/main">
              <a:ext uri="{FF2B5EF4-FFF2-40B4-BE49-F238E27FC236}">
                <a16:creationId xmlns:a16="http://schemas.microsoft.com/office/drawing/2014/main" id="{570B5F67-1950-4996-BCB2-D606D6AB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两种推进思路的差别，关键在于上下文是否仍清楚，以及短期能覆盖到什么。</a:t>
            </a:r>
          </a:p>
        </p:txBody>
      </p:sp>
      <p:sp>
        <p:nvSpPr>
          <p:cNvPr id="5" name="p5-dim-header">
            <a:extLst xmlns:a="http://schemas.openxmlformats.org/drawingml/2006/main">
              <a:ext uri="{FF2B5EF4-FFF2-40B4-BE49-F238E27FC236}">
                <a16:creationId xmlns:a16="http://schemas.microsoft.com/office/drawing/2014/main" id="{B3ED116B-4B8C-41B2-8425-274B6986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共同维度</a:t>
            </a:r>
          </a:p>
        </p:txBody>
      </p:sp>
      <p:sp>
        <p:nvSpPr>
          <p:cNvPr id="6" name="p5-a-header-bg">
            <a:extLst xmlns:a="http://schemas.openxmlformats.org/drawingml/2006/main">
              <a:ext uri="{FF2B5EF4-FFF2-40B4-BE49-F238E27FC236}">
                <a16:creationId xmlns:a16="http://schemas.microsoft.com/office/drawing/2014/main" id="{A621E978-410F-43C6-8787-3505BDB9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85950"/>
            <a:ext cx="385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5-b-header-bg">
            <a:extLst xmlns:a="http://schemas.openxmlformats.org/drawingml/2006/main">
              <a:ext uri="{FF2B5EF4-FFF2-40B4-BE49-F238E27FC236}">
                <a16:creationId xmlns:a16="http://schemas.microsoft.com/office/drawing/2014/main" id="{4086EADD-9100-42D3-8A6A-9E46BAF7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85950"/>
            <a:ext cx="385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5-a-header">
            <a:extLst xmlns:a="http://schemas.openxmlformats.org/drawingml/2006/main">
              <a:ext uri="{FF2B5EF4-FFF2-40B4-BE49-F238E27FC236}">
                <a16:creationId xmlns:a16="http://schemas.microsoft.com/office/drawing/2014/main" id="{FB866A54-0F02-434A-89FC-E5F57302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193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集中补历史档案</a:t>
            </a:r>
          </a:p>
        </p:txBody>
      </p:sp>
      <p:sp>
        <p:nvSpPr>
          <p:cNvPr id="9" name="p5-b-header">
            <a:extLst xmlns:a="http://schemas.openxmlformats.org/drawingml/2006/main">
              <a:ext uri="{FF2B5EF4-FFF2-40B4-BE49-F238E27FC236}">
                <a16:creationId xmlns:a16="http://schemas.microsoft.com/office/drawing/2014/main" id="{3429882E-B092-4BFA-9A6C-5C8E9D62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先从新增实验开始</a:t>
            </a:r>
          </a:p>
        </p:txBody>
      </p:sp>
      <p:sp>
        <p:nvSpPr>
          <p:cNvPr id="10" name="p5-row-1-rule">
            <a:extLst xmlns:a="http://schemas.openxmlformats.org/drawingml/2006/main">
              <a:ext uri="{FF2B5EF4-FFF2-40B4-BE49-F238E27FC236}">
                <a16:creationId xmlns:a16="http://schemas.microsoft.com/office/drawing/2014/main" id="{22D57815-2C1A-49EE-BCF1-5081A576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527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1" name="p5-row-1-label">
            <a:extLst xmlns:a="http://schemas.openxmlformats.org/drawingml/2006/main">
              <a:ext uri="{FF2B5EF4-FFF2-40B4-BE49-F238E27FC236}">
                <a16:creationId xmlns:a16="http://schemas.microsoft.com/office/drawing/2014/main" id="{0A80AD02-6C37-45E5-9B53-6D184B26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24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能得到什么</a:t>
            </a:r>
          </a:p>
        </p:txBody>
      </p:sp>
      <p:sp>
        <p:nvSpPr>
          <p:cNvPr id="12" name="p5-row-1-a">
            <a:extLst xmlns:a="http://schemas.openxmlformats.org/drawingml/2006/main">
              <a:ext uri="{FF2B5EF4-FFF2-40B4-BE49-F238E27FC236}">
                <a16:creationId xmlns:a16="http://schemas.microsoft.com/office/drawing/2014/main" id="{C77DA84D-EE61-4390-A59C-0B3CE6A6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241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一次形成较大的目录。</a:t>
            </a:r>
          </a:p>
        </p:txBody>
      </p:sp>
      <p:sp>
        <p:nvSpPr>
          <p:cNvPr id="13" name="p5-row-1-b">
            <a:extLst xmlns:a="http://schemas.openxmlformats.org/drawingml/2006/main">
              <a:ext uri="{FF2B5EF4-FFF2-40B4-BE49-F238E27FC236}">
                <a16:creationId xmlns:a16="http://schemas.microsoft.com/office/drawing/2014/main" id="{5C85EB6F-054F-4C81-A977-6D7E65BA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在上下文尚清楚时记录。</a:t>
            </a:r>
          </a:p>
        </p:txBody>
      </p:sp>
      <p:sp>
        <p:nvSpPr>
          <p:cNvPr id="14" name="p5-row-2-rule">
            <a:extLst xmlns:a="http://schemas.openxmlformats.org/drawingml/2006/main">
              <a:ext uri="{FF2B5EF4-FFF2-40B4-BE49-F238E27FC236}">
                <a16:creationId xmlns:a16="http://schemas.microsoft.com/office/drawing/2014/main" id="{917271C3-1FD3-4281-B001-59C6A153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38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5" name="p5-row-2-label">
            <a:extLst xmlns:a="http://schemas.openxmlformats.org/drawingml/2006/main">
              <a:ext uri="{FF2B5EF4-FFF2-40B4-BE49-F238E27FC236}">
                <a16:creationId xmlns:a16="http://schemas.microsoft.com/office/drawing/2014/main" id="{0EA3FC96-421F-4660-9E0D-DDA7BA61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099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主要代价</a:t>
            </a:r>
          </a:p>
        </p:txBody>
      </p:sp>
      <p:sp>
        <p:nvSpPr>
          <p:cNvPr id="16" name="p5-row-2-a">
            <a:extLst xmlns:a="http://schemas.openxmlformats.org/drawingml/2006/main">
              <a:ext uri="{FF2B5EF4-FFF2-40B4-BE49-F238E27FC236}">
                <a16:creationId xmlns:a16="http://schemas.microsoft.com/office/drawing/2014/main" id="{26CB5D45-EA0A-4CDF-8E88-5B3E7D3E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099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追查遗失上下文耗时，也可能把不确定记忆写成确定说明。</a:t>
            </a:r>
          </a:p>
        </p:txBody>
      </p:sp>
      <p:sp>
        <p:nvSpPr>
          <p:cNvPr id="17" name="p5-row-2-b">
            <a:extLst xmlns:a="http://schemas.openxmlformats.org/drawingml/2006/main">
              <a:ext uri="{FF2B5EF4-FFF2-40B4-BE49-F238E27FC236}">
                <a16:creationId xmlns:a16="http://schemas.microsoft.com/office/drawing/2014/main" id="{D5B35CE8-EB29-4EF1-A7D4-3D021A99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99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短期内无法解决全部历史材料的追溯问题。</a:t>
            </a:r>
          </a:p>
        </p:txBody>
      </p:sp>
      <p:sp>
        <p:nvSpPr>
          <p:cNvPr id="18" name="p5-row-3-rule">
            <a:extLst xmlns:a="http://schemas.openxmlformats.org/drawingml/2006/main">
              <a:ext uri="{FF2B5EF4-FFF2-40B4-BE49-F238E27FC236}">
                <a16:creationId xmlns:a16="http://schemas.microsoft.com/office/drawing/2014/main" id="{23B56516-D301-4EDA-BAA7-1D8F7B74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243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9" name="p5-row-3-label">
            <a:extLst xmlns:a="http://schemas.openxmlformats.org/drawingml/2006/main">
              <a:ext uri="{FF2B5EF4-FFF2-40B4-BE49-F238E27FC236}">
                <a16:creationId xmlns:a16="http://schemas.microsoft.com/office/drawing/2014/main" id="{48EC3291-3C96-4B5D-B0BF-832068A1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95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使用方式</a:t>
            </a:r>
          </a:p>
        </p:txBody>
      </p:sp>
      <p:sp>
        <p:nvSpPr>
          <p:cNvPr id="20" name="p5-row-3-a">
            <a:extLst xmlns:a="http://schemas.openxmlformats.org/drawingml/2006/main">
              <a:ext uri="{FF2B5EF4-FFF2-40B4-BE49-F238E27FC236}">
                <a16:creationId xmlns:a16="http://schemas.microsoft.com/office/drawing/2014/main" id="{682969D2-61C2-48C5-B46E-96306529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9580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不宜一口气覆盖历史。</a:t>
            </a:r>
          </a:p>
        </p:txBody>
      </p:sp>
      <p:sp>
        <p:nvSpPr>
          <p:cNvPr id="21" name="p5-row-3-b">
            <a:extLst xmlns:a="http://schemas.openxmlformats.org/drawingml/2006/main">
              <a:ext uri="{FF2B5EF4-FFF2-40B4-BE49-F238E27FC236}">
                <a16:creationId xmlns:a16="http://schemas.microsoft.com/office/drawing/2014/main" id="{DFC790A2-941B-4FE9-81DE-EE77E53E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先对新增实验试行；真正需要复核的历史结果逐项补充。</a:t>
            </a:r>
          </a:p>
        </p:txBody>
      </p:sp>
      <p:sp>
        <p:nvSpPr>
          <p:cNvPr id="22" name="p5-bottom-rule">
            <a:extLst xmlns:a="http://schemas.openxmlformats.org/drawingml/2006/main">
              <a:ext uri="{FF2B5EF4-FFF2-40B4-BE49-F238E27FC236}">
                <a16:creationId xmlns:a16="http://schemas.microsoft.com/office/drawing/2014/main" id="{5D9DAE90-1912-465E-8B15-8477507C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435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3" name="p5-bottom-note">
            <a:extLst xmlns:a="http://schemas.openxmlformats.org/drawingml/2006/main">
              <a:ext uri="{FF2B5EF4-FFF2-40B4-BE49-F238E27FC236}">
                <a16:creationId xmlns:a16="http://schemas.microsoft.com/office/drawing/2014/main" id="{44F963A3-213B-413E-8386-3AC5BC1C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29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建议先对新增实验试行。这是一种范围选择，不能表述为已经证明新方式更高效。</a:t>
            </a:r>
          </a:p>
        </p:txBody>
      </p:sp>
      <p:sp>
        <p:nvSpPr>
          <p:cNvPr id="24" name="p5-footer-rule">
            <a:extLst xmlns:a="http://schemas.openxmlformats.org/drawingml/2006/main">
              <a:ext uri="{FF2B5EF4-FFF2-40B4-BE49-F238E27FC236}">
                <a16:creationId xmlns:a16="http://schemas.microsoft.com/office/drawing/2014/main" id="{C15DD2FF-1847-428B-87A2-646D0189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25" name="p5-footer-label">
            <a:extLst xmlns:a="http://schemas.openxmlformats.org/drawingml/2006/main">
              <a:ext uri="{FF2B5EF4-FFF2-40B4-BE49-F238E27FC236}">
                <a16:creationId xmlns:a16="http://schemas.microsoft.com/office/drawing/2014/main" id="{2DC1974C-0D19-47AB-8DDC-2A15E1D4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 · 讨论稿</a:t>
            </a:r>
          </a:p>
        </p:txBody>
      </p:sp>
      <p:sp>
        <p:nvSpPr>
          <p:cNvPr id="26" name="p5-footer-page">
            <a:extLst xmlns:a="http://schemas.openxmlformats.org/drawingml/2006/main">
              <a:ext uri="{FF2B5EF4-FFF2-40B4-BE49-F238E27FC236}">
                <a16:creationId xmlns:a16="http://schemas.microsoft.com/office/drawing/2014/main" id="{8E7D77E0-DBBE-4947-BF8D-98910758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84546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6-title">
            <a:extLst xmlns:a="http://schemas.openxmlformats.org/drawingml/2006/main">
              <a:ext uri="{FF2B5EF4-FFF2-40B4-BE49-F238E27FC236}">
                <a16:creationId xmlns:a16="http://schemas.microsoft.com/office/drawing/2014/main" id="{CDFADC91-FB21-4B37-B9C9-EB421231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复核是一条有责任边界的协作链</a:t>
            </a:r>
          </a:p>
        </p:txBody>
      </p:sp>
      <p:sp>
        <p:nvSpPr>
          <p:cNvPr id="2" name="p6-kicker">
            <a:extLst xmlns:a="http://schemas.openxmlformats.org/drawingml/2006/main">
              <a:ext uri="{FF2B5EF4-FFF2-40B4-BE49-F238E27FC236}">
                <a16:creationId xmlns:a16="http://schemas.microsoft.com/office/drawing/2014/main" id="{9D2BDB32-76FD-4D80-BE58-427D6485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工作顺序</a:t>
            </a:r>
          </a:p>
        </p:txBody>
      </p:sp>
      <p:sp>
        <p:nvSpPr>
          <p:cNvPr id="3" name="p6-title-rule">
            <a:extLst xmlns:a="http://schemas.openxmlformats.org/drawingml/2006/main">
              <a:ext uri="{FF2B5EF4-FFF2-40B4-BE49-F238E27FC236}">
                <a16:creationId xmlns:a16="http://schemas.microsoft.com/office/drawing/2014/main" id="{04593A51-399F-45C6-A423-FA7B7FE3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4" name="p6-lead">
            <a:extLst xmlns:a="http://schemas.openxmlformats.org/drawingml/2006/main">
              <a:ext uri="{FF2B5EF4-FFF2-40B4-BE49-F238E27FC236}">
                <a16:creationId xmlns:a16="http://schemas.microsoft.com/office/drawing/2014/main" id="{28E62259-7B14-4AAE-A133-A59B5EFA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先检查别人是否能理解这个结果怎么产生，再进入可讨论版本；复核不要求复做整项实验。</a:t>
            </a:r>
          </a:p>
        </p:txBody>
      </p:sp>
      <p:sp>
        <p:nvSpPr>
          <p:cNvPr id="5" name="p6-node-1-box">
            <a:extLst xmlns:a="http://schemas.openxmlformats.org/drawingml/2006/main">
              <a:ext uri="{FF2B5EF4-FFF2-40B4-BE49-F238E27FC236}">
                <a16:creationId xmlns:a16="http://schemas.microsoft.com/office/drawing/2014/main" id="{6E9748F0-1A69-40B7-B894-2E64E448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190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6" name="p6-node-1-title">
            <a:extLst xmlns:a="http://schemas.openxmlformats.org/drawingml/2006/main">
              <a:ext uri="{FF2B5EF4-FFF2-40B4-BE49-F238E27FC236}">
                <a16:creationId xmlns:a16="http://schemas.microsoft.com/office/drawing/2014/main" id="{829D9F6C-A618-419B-AA3B-FD3EABD2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24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提交记录</a:t>
            </a:r>
          </a:p>
        </p:txBody>
      </p:sp>
      <p:sp>
        <p:nvSpPr>
          <p:cNvPr id="7" name="p6-node-1-body">
            <a:extLst xmlns:a="http://schemas.openxmlformats.org/drawingml/2006/main">
              <a:ext uri="{FF2B5EF4-FFF2-40B4-BE49-F238E27FC236}">
                <a16:creationId xmlns:a16="http://schemas.microsoft.com/office/drawing/2014/main" id="{0D717545-1DC8-4395-BB02-B4C7F919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执行者提交一个结果记录及受控引用。</a:t>
            </a:r>
          </a:p>
        </p:txBody>
      </p:sp>
      <p:sp>
        <p:nvSpPr>
          <p:cNvPr id="8" name="p6-node-2-box">
            <a:extLst xmlns:a="http://schemas.openxmlformats.org/drawingml/2006/main">
              <a:ext uri="{FF2B5EF4-FFF2-40B4-BE49-F238E27FC236}">
                <a16:creationId xmlns:a16="http://schemas.microsoft.com/office/drawing/2014/main" id="{9406F3D7-A3C7-4F8D-8BD9-638BF71A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190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9" name="p6-node-2-title">
            <a:extLst xmlns:a="http://schemas.openxmlformats.org/drawingml/2006/main">
              <a:ext uri="{FF2B5EF4-FFF2-40B4-BE49-F238E27FC236}">
                <a16:creationId xmlns:a16="http://schemas.microsoft.com/office/drawing/2014/main" id="{073155DE-A764-47AD-BD6E-14C2859C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24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尝试定位</a:t>
            </a:r>
          </a:p>
        </p:txBody>
      </p:sp>
      <p:sp>
        <p:nvSpPr>
          <p:cNvPr id="10" name="p6-node-2-body">
            <a:extLst xmlns:a="http://schemas.openxmlformats.org/drawingml/2006/main">
              <a:ext uri="{FF2B5EF4-FFF2-40B4-BE49-F238E27FC236}">
                <a16:creationId xmlns:a16="http://schemas.microsoft.com/office/drawing/2014/main" id="{3FAE1D71-6517-4DEC-BED5-53452D4A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622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另一位成员依据记录定位数据、脚本和条件，并提出缺项。</a:t>
            </a:r>
          </a:p>
        </p:txBody>
      </p:sp>
      <p:sp>
        <p:nvSpPr>
          <p:cNvPr id="11" name="p6-node-3-box">
            <a:extLst xmlns:a="http://schemas.openxmlformats.org/drawingml/2006/main">
              <a:ext uri="{FF2B5EF4-FFF2-40B4-BE49-F238E27FC236}">
                <a16:creationId xmlns:a16="http://schemas.microsoft.com/office/drawing/2014/main" id="{EAA79DC5-CA77-48A7-9147-1BA1A66C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2190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2" name="p6-node-3-title">
            <a:extLst xmlns:a="http://schemas.openxmlformats.org/drawingml/2006/main">
              <a:ext uri="{FF2B5EF4-FFF2-40B4-BE49-F238E27FC236}">
                <a16:creationId xmlns:a16="http://schemas.microsoft.com/office/drawing/2014/main" id="{2305A59E-EEE4-433C-A8D2-1A6D05C7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24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补充说明</a:t>
            </a:r>
          </a:p>
        </p:txBody>
      </p:sp>
      <p:sp>
        <p:nvSpPr>
          <p:cNvPr id="13" name="p6-node-3-body">
            <a:extLst xmlns:a="http://schemas.openxmlformats.org/drawingml/2006/main">
              <a:ext uri="{FF2B5EF4-FFF2-40B4-BE49-F238E27FC236}">
                <a16:creationId xmlns:a16="http://schemas.microsoft.com/office/drawing/2014/main" id="{1ADF134A-5BA2-45AE-9EED-D24D7BCF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执行者补充缺项后交给负责人确认。</a:t>
            </a:r>
          </a:p>
        </p:txBody>
      </p:sp>
      <p:sp>
        <p:nvSpPr>
          <p:cNvPr id="14" name="p6-node-4-box">
            <a:extLst xmlns:a="http://schemas.openxmlformats.org/drawingml/2006/main">
              <a:ext uri="{FF2B5EF4-FFF2-40B4-BE49-F238E27FC236}">
                <a16:creationId xmlns:a16="http://schemas.microsoft.com/office/drawing/2014/main" id="{C42ABDEC-58B7-430C-9DD7-BBE42AC0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2190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5" name="p6-node-4-title">
            <a:extLst xmlns:a="http://schemas.openxmlformats.org/drawingml/2006/main">
              <a:ext uri="{FF2B5EF4-FFF2-40B4-BE49-F238E27FC236}">
                <a16:creationId xmlns:a16="http://schemas.microsoft.com/office/drawing/2014/main" id="{292064BC-B01A-4787-9DD1-514974C0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24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确认版本</a:t>
            </a:r>
          </a:p>
        </p:txBody>
      </p:sp>
      <p:sp>
        <p:nvSpPr>
          <p:cNvPr id="16" name="p6-node-4-body">
            <a:extLst xmlns:a="http://schemas.openxmlformats.org/drawingml/2006/main">
              <a:ext uri="{FF2B5EF4-FFF2-40B4-BE49-F238E27FC236}">
                <a16:creationId xmlns:a16="http://schemas.microsoft.com/office/drawing/2014/main" id="{EC855A0C-B5D6-4AB8-B141-8927805B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622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负责人确认，记录进入可讨论版本。</a:t>
            </a:r>
          </a:p>
        </p:txBody>
      </p: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14625" y="2857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572125" y="2857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429625" y="2857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20" name="p6-condition-band">
            <a:extLst xmlns:a="http://schemas.openxmlformats.org/drawingml/2006/main">
              <a:ext uri="{FF2B5EF4-FFF2-40B4-BE49-F238E27FC236}">
                <a16:creationId xmlns:a16="http://schemas.microsoft.com/office/drawing/2014/main" id="{4F26E83A-E63A-4D22-8C4D-1ED6808A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24350"/>
            <a:ext cx="1114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6-condition-label">
            <a:extLst xmlns:a="http://schemas.openxmlformats.org/drawingml/2006/main">
              <a:ext uri="{FF2B5EF4-FFF2-40B4-BE49-F238E27FC236}">
                <a16:creationId xmlns:a16="http://schemas.microsoft.com/office/drawing/2014/main" id="{31F55C60-9DE3-4870-90C2-BFEE3B82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0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授权条件</a:t>
            </a:r>
          </a:p>
        </p:txBody>
      </p:sp>
      <p:sp>
        <p:nvSpPr>
          <p:cNvPr id="22" name="p6-condition-body">
            <a:extLst xmlns:a="http://schemas.openxmlformats.org/drawingml/2006/main">
              <a:ext uri="{FF2B5EF4-FFF2-40B4-BE49-F238E27FC236}">
                <a16:creationId xmlns:a16="http://schemas.microsoft.com/office/drawing/2014/main" id="{F2F20F5B-69CF-42B8-BF97-15B5CC72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72000"/>
            <a:ext cx="866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涉及新的访问授权时，暂停共享，由负责人处理授权后再继续。复核只检查可理解性，不代替科学结论审查。</a:t>
            </a:r>
          </a:p>
        </p:txBody>
      </p:sp>
      <p:sp>
        <p:nvSpPr>
          <p:cNvPr id="23" name="p6-footer-rule">
            <a:extLst xmlns:a="http://schemas.openxmlformats.org/drawingml/2006/main">
              <a:ext uri="{FF2B5EF4-FFF2-40B4-BE49-F238E27FC236}">
                <a16:creationId xmlns:a16="http://schemas.microsoft.com/office/drawing/2014/main" id="{8153EE9D-573A-4093-983F-285F8E0B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24" name="p6-footer-label">
            <a:extLst xmlns:a="http://schemas.openxmlformats.org/drawingml/2006/main">
              <a:ext uri="{FF2B5EF4-FFF2-40B4-BE49-F238E27FC236}">
                <a16:creationId xmlns:a16="http://schemas.microsoft.com/office/drawing/2014/main" id="{F4FEB69E-4847-4AEA-8683-36D232E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 · 讨论稿</a:t>
            </a:r>
          </a:p>
        </p:txBody>
      </p:sp>
      <p:sp>
        <p:nvSpPr>
          <p:cNvPr id="25" name="p6-footer-page">
            <a:extLst xmlns:a="http://schemas.openxmlformats.org/drawingml/2006/main">
              <a:ext uri="{FF2B5EF4-FFF2-40B4-BE49-F238E27FC236}">
                <a16:creationId xmlns:a16="http://schemas.microsoft.com/office/drawing/2014/main" id="{94726168-C86C-4C1D-9C31-12FE68D1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216189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7-title">
            <a:extLst xmlns:a="http://schemas.openxmlformats.org/drawingml/2006/main">
              <a:ext uri="{FF2B5EF4-FFF2-40B4-BE49-F238E27FC236}">
                <a16:creationId xmlns:a16="http://schemas.microsoft.com/office/drawing/2014/main" id="{B96CB6EB-3728-42DE-96E1-F932082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四周试点，先观察能否持续解释结果</a:t>
            </a:r>
          </a:p>
        </p:txBody>
      </p:sp>
      <p:sp>
        <p:nvSpPr>
          <p:cNvPr id="2" name="p7-kicker">
            <a:extLst xmlns:a="http://schemas.openxmlformats.org/drawingml/2006/main">
              <a:ext uri="{FF2B5EF4-FFF2-40B4-BE49-F238E27FC236}">
                <a16:creationId xmlns:a16="http://schemas.microsoft.com/office/drawing/2014/main" id="{90E14A5F-0532-49DF-950E-8A0C3EEC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试点边界</a:t>
            </a:r>
          </a:p>
        </p:txBody>
      </p:sp>
      <p:sp>
        <p:nvSpPr>
          <p:cNvPr id="3" name="p7-title-rule">
            <a:extLst xmlns:a="http://schemas.openxmlformats.org/drawingml/2006/main">
              <a:ext uri="{FF2B5EF4-FFF2-40B4-BE49-F238E27FC236}">
                <a16:creationId xmlns:a16="http://schemas.microsoft.com/office/drawing/2014/main" id="{4FA0F9C9-47C9-49BE-AA1C-EEC1E981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4" name="p7-lead">
            <a:extLst xmlns:a="http://schemas.openxmlformats.org/drawingml/2006/main">
              <a:ext uri="{FF2B5EF4-FFF2-40B4-BE49-F238E27FC236}">
                <a16:creationId xmlns:a16="http://schemas.microsoft.com/office/drawing/2014/main" id="{33D02009-75A3-4C39-BF7A-ADCF382D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范围是拟定的：一个课题方向、两名自愿成员，只记录新增实验。</a:t>
            </a:r>
          </a:p>
        </p:txBody>
      </p:sp>
      <p:sp>
        <p:nvSpPr>
          <p:cNvPr id="5" name="p7-scope-band">
            <a:extLst xmlns:a="http://schemas.openxmlformats.org/drawingml/2006/main">
              <a:ext uri="{FF2B5EF4-FFF2-40B4-BE49-F238E27FC236}">
                <a16:creationId xmlns:a16="http://schemas.microsoft.com/office/drawing/2014/main" id="{0A31EF63-6629-47C0-A583-C5AE7DFA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1114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-scope-metric-1">
            <a:extLst xmlns:a="http://schemas.openxmlformats.org/drawingml/2006/main">
              <a:ext uri="{FF2B5EF4-FFF2-40B4-BE49-F238E27FC236}">
                <a16:creationId xmlns:a16="http://schemas.microsoft.com/office/drawing/2014/main" id="{AB48A6BC-21CA-4C60-B59A-2588BAC7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4周</a:t>
            </a:r>
          </a:p>
        </p:txBody>
      </p:sp>
      <p:sp>
        <p:nvSpPr>
          <p:cNvPr id="7" name="p7-scope-label-1">
            <a:extLst xmlns:a="http://schemas.openxmlformats.org/drawingml/2006/main">
              <a:ext uri="{FF2B5EF4-FFF2-40B4-BE49-F238E27FC236}">
                <a16:creationId xmlns:a16="http://schemas.microsoft.com/office/drawing/2014/main" id="{8553D328-A503-4FCE-A1AA-DE141943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955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试点周期</a:t>
            </a:r>
          </a:p>
        </p:txBody>
      </p:sp>
      <p:sp>
        <p:nvSpPr>
          <p:cNvPr id="8" name="p7-scope-metric-2">
            <a:extLst xmlns:a="http://schemas.openxmlformats.org/drawingml/2006/main">
              <a:ext uri="{FF2B5EF4-FFF2-40B4-BE49-F238E27FC236}">
                <a16:creationId xmlns:a16="http://schemas.microsoft.com/office/drawing/2014/main" id="{C7D16E83-313A-4710-BBB4-D9F82D37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2名</a:t>
            </a:r>
          </a:p>
        </p:txBody>
      </p:sp>
      <p:sp>
        <p:nvSpPr>
          <p:cNvPr id="9" name="p7-scope-label-2">
            <a:extLst xmlns:a="http://schemas.openxmlformats.org/drawingml/2006/main">
              <a:ext uri="{FF2B5EF4-FFF2-40B4-BE49-F238E27FC236}">
                <a16:creationId xmlns:a16="http://schemas.microsoft.com/office/drawing/2014/main" id="{C06E9E33-4B3F-4A4E-B542-876B5AF2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955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自愿成员</a:t>
            </a:r>
          </a:p>
        </p:txBody>
      </p:sp>
      <p:sp>
        <p:nvSpPr>
          <p:cNvPr id="10" name="p7-scope-label-3">
            <a:extLst xmlns:a="http://schemas.openxmlformats.org/drawingml/2006/main">
              <a:ext uri="{FF2B5EF4-FFF2-40B4-BE49-F238E27FC236}">
                <a16:creationId xmlns:a16="http://schemas.microsoft.com/office/drawing/2014/main" id="{B27F8411-1C14-4719-AEED-B98E8F33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1个课题方向</a:t>
            </a:r>
          </a:p>
        </p:txBody>
      </p:sp>
      <p:sp>
        <p:nvSpPr>
          <p:cNvPr id="11" name="p7-scope-body-3">
            <a:extLst xmlns:a="http://schemas.openxmlformats.org/drawingml/2006/main">
              <a:ext uri="{FF2B5EF4-FFF2-40B4-BE49-F238E27FC236}">
                <a16:creationId xmlns:a16="http://schemas.microsoft.com/office/drawing/2014/main" id="{7ACD0450-55CC-4284-937C-3E799FE3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95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记录新增实验</a:t>
            </a:r>
          </a:p>
        </p:txBody>
      </p:sp>
      <p:sp>
        <p:nvSpPr>
          <p:cNvPr id="12" name="p7-timeline-main">
            <a:extLst xmlns:a="http://schemas.openxmlformats.org/drawingml/2006/main">
              <a:ext uri="{FF2B5EF4-FFF2-40B4-BE49-F238E27FC236}">
                <a16:creationId xmlns:a16="http://schemas.microsoft.com/office/drawing/2014/main" id="{B7C93353-32A4-4882-BD7F-47E04289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33775"/>
            <a:ext cx="100298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3" name="p7-week-1-dot">
            <a:extLst xmlns:a="http://schemas.openxmlformats.org/drawingml/2006/main">
              <a:ext uri="{FF2B5EF4-FFF2-40B4-BE49-F238E27FC236}">
                <a16:creationId xmlns:a16="http://schemas.microsoft.com/office/drawing/2014/main" id="{F660DA8D-153E-40F8-B110-488659A1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4" name="p7-week-1-title">
            <a:extLst xmlns:a="http://schemas.openxmlformats.org/drawingml/2006/main">
              <a:ext uri="{FF2B5EF4-FFF2-40B4-BE49-F238E27FC236}">
                <a16:creationId xmlns:a16="http://schemas.microsoft.com/office/drawing/2014/main" id="{080B3FDB-198D-4CFF-B9A8-CDBC8247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718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第一周</a:t>
            </a:r>
          </a:p>
        </p:txBody>
      </p:sp>
      <p:sp>
        <p:nvSpPr>
          <p:cNvPr id="15" name="p7-week-1-body">
            <a:extLst xmlns:a="http://schemas.openxmlformats.org/drawingml/2006/main">
              <a:ext uri="{FF2B5EF4-FFF2-40B4-BE49-F238E27FC236}">
                <a16:creationId xmlns:a16="http://schemas.microsoft.com/office/drawing/2014/main" id="{2F621116-9B74-4817-81BA-70B86013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67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共同明确最少字段，用一个结果试填。</a:t>
            </a:r>
          </a:p>
        </p:txBody>
      </p:sp>
      <p:sp>
        <p:nvSpPr>
          <p:cNvPr id="16" name="p7-week-2-dot">
            <a:extLst xmlns:a="http://schemas.openxmlformats.org/drawingml/2006/main">
              <a:ext uri="{FF2B5EF4-FFF2-40B4-BE49-F238E27FC236}">
                <a16:creationId xmlns:a16="http://schemas.microsoft.com/office/drawing/2014/main" id="{3E662564-7C21-4DFA-A4DB-010960B4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90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7" name="p7-week-2-title">
            <a:extLst xmlns:a="http://schemas.openxmlformats.org/drawingml/2006/main">
              <a:ext uri="{FF2B5EF4-FFF2-40B4-BE49-F238E27FC236}">
                <a16:creationId xmlns:a16="http://schemas.microsoft.com/office/drawing/2014/main" id="{D66F75EA-97FC-45EF-9A6E-61D6F9E4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718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第二周</a:t>
            </a:r>
          </a:p>
        </p:txBody>
      </p:sp>
      <p:sp>
        <p:nvSpPr>
          <p:cNvPr id="18" name="p7-week-2-body">
            <a:extLst xmlns:a="http://schemas.openxmlformats.org/drawingml/2006/main">
              <a:ext uri="{FF2B5EF4-FFF2-40B4-BE49-F238E27FC236}">
                <a16:creationId xmlns:a16="http://schemas.microsoft.com/office/drawing/2014/main" id="{C9A96178-1403-48A3-A6E3-3A73BCA9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667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在实际工作中记录缺项与填写负担。</a:t>
            </a:r>
          </a:p>
        </p:txBody>
      </p:sp>
      <p:sp>
        <p:nvSpPr>
          <p:cNvPr id="19" name="p7-week-3-dot">
            <a:extLst xmlns:a="http://schemas.openxmlformats.org/drawingml/2006/main">
              <a:ext uri="{FF2B5EF4-FFF2-40B4-BE49-F238E27FC236}">
                <a16:creationId xmlns:a16="http://schemas.microsoft.com/office/drawing/2014/main" id="{E58AC696-8C14-401C-8F45-0C2C41DA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0" name="p7-week-3-title">
            <a:extLst xmlns:a="http://schemas.openxmlformats.org/drawingml/2006/main">
              <a:ext uri="{FF2B5EF4-FFF2-40B4-BE49-F238E27FC236}">
                <a16:creationId xmlns:a16="http://schemas.microsoft.com/office/drawing/2014/main" id="{1E539C68-BA65-43CA-B4EC-54786FC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718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第三周</a:t>
            </a:r>
          </a:p>
        </p:txBody>
      </p:sp>
      <p:sp>
        <p:nvSpPr>
          <p:cNvPr id="21" name="p7-week-3-body">
            <a:extLst xmlns:a="http://schemas.openxmlformats.org/drawingml/2006/main">
              <a:ext uri="{FF2B5EF4-FFF2-40B4-BE49-F238E27FC236}">
                <a16:creationId xmlns:a16="http://schemas.microsoft.com/office/drawing/2014/main" id="{EBC6B4D9-B1CF-4F07-A13D-8B0F44E9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67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继续记录缺项与填写负担。</a:t>
            </a:r>
          </a:p>
        </p:txBody>
      </p:sp>
      <p:sp>
        <p:nvSpPr>
          <p:cNvPr id="22" name="p7-week-4-dot">
            <a:extLst xmlns:a="http://schemas.openxmlformats.org/drawingml/2006/main">
              <a:ext uri="{FF2B5EF4-FFF2-40B4-BE49-F238E27FC236}">
                <a16:creationId xmlns:a16="http://schemas.microsoft.com/office/drawing/2014/main" id="{AA6259C5-73BE-4CDB-A955-E0BF544D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90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3" name="p7-week-4-title">
            <a:extLst xmlns:a="http://schemas.openxmlformats.org/drawingml/2006/main">
              <a:ext uri="{FF2B5EF4-FFF2-40B4-BE49-F238E27FC236}">
                <a16:creationId xmlns:a16="http://schemas.microsoft.com/office/drawing/2014/main" id="{AC07141A-8C62-424F-9242-DC1C8A6F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718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第四周</a:t>
            </a:r>
          </a:p>
        </p:txBody>
      </p:sp>
      <p:sp>
        <p:nvSpPr>
          <p:cNvPr id="24" name="p7-week-4-body">
            <a:extLst xmlns:a="http://schemas.openxmlformats.org/drawingml/2006/main">
              <a:ext uri="{FF2B5EF4-FFF2-40B4-BE49-F238E27FC236}">
                <a16:creationId xmlns:a16="http://schemas.microsoft.com/office/drawing/2014/main" id="{D15366B9-41CF-4CE9-892B-0AD4D7D5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667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讨论保留、修改或停止。</a:t>
            </a:r>
          </a:p>
        </p:txBody>
      </p:sp>
      <p:sp>
        <p:nvSpPr>
          <p:cNvPr id="25" name="p7-observe-note">
            <a:extLst xmlns:a="http://schemas.openxmlformats.org/drawingml/2006/main">
              <a:ext uri="{FF2B5EF4-FFF2-40B4-BE49-F238E27FC236}">
                <a16:creationId xmlns:a16="http://schemas.microsoft.com/office/drawing/2014/main" id="{546D9EE3-3F9F-43A5-BA63-0E88AE8C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958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第二、三周并行记录缺项与填写负担，保留具体复核过程。</a:t>
            </a:r>
          </a:p>
        </p:txBody>
      </p:sp>
      <p:sp>
        <p:nvSpPr>
          <p:cNvPr id="26" name="p7-footer-rule">
            <a:extLst xmlns:a="http://schemas.openxmlformats.org/drawingml/2006/main">
              <a:ext uri="{FF2B5EF4-FFF2-40B4-BE49-F238E27FC236}">
                <a16:creationId xmlns:a16="http://schemas.microsoft.com/office/drawing/2014/main" id="{24B6B1EB-72CC-4746-B089-EF6D98CE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27" name="p7-footer-label">
            <a:extLst xmlns:a="http://schemas.openxmlformats.org/drawingml/2006/main">
              <a:ext uri="{FF2B5EF4-FFF2-40B4-BE49-F238E27FC236}">
                <a16:creationId xmlns:a16="http://schemas.microsoft.com/office/drawing/2014/main" id="{880535A2-9081-4F3A-85A3-0DC298E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 · 讨论稿</a:t>
            </a:r>
          </a:p>
        </p:txBody>
      </p:sp>
      <p:sp>
        <p:nvSpPr>
          <p:cNvPr id="28" name="p7-footer-page">
            <a:extLst xmlns:a="http://schemas.openxmlformats.org/drawingml/2006/main">
              <a:ext uri="{FF2B5EF4-FFF2-40B4-BE49-F238E27FC236}">
                <a16:creationId xmlns:a16="http://schemas.microsoft.com/office/drawing/2014/main" id="{871F7F89-08ED-473A-A230-DFA58E4D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70716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8-title">
            <a:extLst xmlns:a="http://schemas.openxmlformats.org/drawingml/2006/main">
              <a:ext uri="{FF2B5EF4-FFF2-40B4-BE49-F238E27FC236}">
                <a16:creationId xmlns:a16="http://schemas.microsoft.com/office/drawing/2014/main" id="{B4978403-33FE-4520-9C77-A2CA51C0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评估看能否沿记录解释结果</a:t>
            </a:r>
          </a:p>
        </p:txBody>
      </p:sp>
      <p:sp>
        <p:nvSpPr>
          <p:cNvPr id="2" name="p8-kicker">
            <a:extLst xmlns:a="http://schemas.openxmlformats.org/drawingml/2006/main">
              <a:ext uri="{FF2B5EF4-FFF2-40B4-BE49-F238E27FC236}">
                <a16:creationId xmlns:a16="http://schemas.microsoft.com/office/drawing/2014/main" id="{3F6E3113-489C-44CD-8FCF-A490408C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评估口径</a:t>
            </a:r>
          </a:p>
        </p:txBody>
      </p:sp>
      <p:sp>
        <p:nvSpPr>
          <p:cNvPr id="3" name="p8-title-rule">
            <a:extLst xmlns:a="http://schemas.openxmlformats.org/drawingml/2006/main">
              <a:ext uri="{FF2B5EF4-FFF2-40B4-BE49-F238E27FC236}">
                <a16:creationId xmlns:a16="http://schemas.microsoft.com/office/drawing/2014/main" id="{FC0B3EDA-8E6F-468A-A813-20086160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4" name="p8-lead">
            <a:extLst xmlns:a="http://schemas.openxmlformats.org/drawingml/2006/main">
              <a:ext uri="{FF2B5EF4-FFF2-40B4-BE49-F238E27FC236}">
                <a16:creationId xmlns:a16="http://schemas.microsoft.com/office/drawing/2014/main" id="{1CEA9B46-ABB4-465E-9089-34DECE04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收集具体复核过程和当事人反馈，不先给一个统一“合格分数”。</a:t>
            </a:r>
          </a:p>
        </p:txBody>
      </p:sp>
      <p:sp>
        <p:nvSpPr>
          <p:cNvPr id="5" name="p8-eval-surface">
            <a:extLst xmlns:a="http://schemas.openxmlformats.org/drawingml/2006/main">
              <a:ext uri="{FF2B5EF4-FFF2-40B4-BE49-F238E27FC236}">
                <a16:creationId xmlns:a16="http://schemas.microsoft.com/office/drawing/2014/main" id="{B928B500-7212-43A6-ABCC-D4B2C3C2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11144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8-eval-heading">
            <a:extLst xmlns:a="http://schemas.openxmlformats.org/drawingml/2006/main">
              <a:ext uri="{FF2B5EF4-FFF2-40B4-BE49-F238E27FC236}">
                <a16:creationId xmlns:a16="http://schemas.microsoft.com/office/drawing/2014/main" id="{5CE88D78-F4F0-4D64-AE89-E212A139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三个需要回答的问题</a:t>
            </a:r>
          </a:p>
        </p:txBody>
      </p:sp>
      <p:sp>
        <p:nvSpPr>
          <p:cNvPr id="7" name="p8-eval-label-1">
            <a:extLst xmlns:a="http://schemas.openxmlformats.org/drawingml/2006/main">
              <a:ext uri="{FF2B5EF4-FFF2-40B4-BE49-F238E27FC236}">
                <a16:creationId xmlns:a16="http://schemas.microsoft.com/office/drawing/2014/main" id="{C302655A-F74E-4C4F-86ED-BBFCE592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来源定位</a:t>
            </a:r>
          </a:p>
        </p:txBody>
      </p:sp>
      <p:sp>
        <p:nvSpPr>
          <p:cNvPr id="8" name="p8-eval-body-1">
            <a:extLst xmlns:a="http://schemas.openxmlformats.org/drawingml/2006/main">
              <a:ext uri="{FF2B5EF4-FFF2-40B4-BE49-F238E27FC236}">
                <a16:creationId xmlns:a16="http://schemas.microsoft.com/office/drawing/2014/main" id="{4AF5E5A1-6E9A-4751-8F16-F3ED009F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其他成员能否沿记录定位结果的来源？</a:t>
            </a:r>
          </a:p>
        </p:txBody>
      </p:sp>
      <p:sp>
        <p:nvSpPr>
          <p:cNvPr id="9" name="p8-eval-rule-1">
            <a:extLst xmlns:a="http://schemas.openxmlformats.org/drawingml/2006/main">
              <a:ext uri="{FF2B5EF4-FFF2-40B4-BE49-F238E27FC236}">
                <a16:creationId xmlns:a16="http://schemas.microsoft.com/office/drawing/2014/main" id="{3631936F-4AB1-4D02-8B66-EADC61A5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0" name="p8-eval-label-2">
            <a:extLst xmlns:a="http://schemas.openxmlformats.org/drawingml/2006/main">
              <a:ext uri="{FF2B5EF4-FFF2-40B4-BE49-F238E27FC236}">
                <a16:creationId xmlns:a16="http://schemas.microsoft.com/office/drawing/2014/main" id="{ED110D2F-CFF8-4E82-AADD-CE122EB9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依据理解</a:t>
            </a:r>
          </a:p>
        </p:txBody>
      </p:sp>
      <p:sp>
        <p:nvSpPr>
          <p:cNvPr id="11" name="p8-eval-body-2">
            <a:extLst xmlns:a="http://schemas.openxmlformats.org/drawingml/2006/main">
              <a:ext uri="{FF2B5EF4-FFF2-40B4-BE49-F238E27FC236}">
                <a16:creationId xmlns:a16="http://schemas.microsoft.com/office/drawing/2014/main" id="{D34B2C20-4E85-4715-B7BC-4F79EC71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480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关键处理与排除是否有可理解的依据？</a:t>
            </a:r>
          </a:p>
        </p:txBody>
      </p:sp>
      <p:sp>
        <p:nvSpPr>
          <p:cNvPr id="12" name="p8-eval-rule-2">
            <a:extLst xmlns:a="http://schemas.openxmlformats.org/drawingml/2006/main">
              <a:ext uri="{FF2B5EF4-FFF2-40B4-BE49-F238E27FC236}">
                <a16:creationId xmlns:a16="http://schemas.microsoft.com/office/drawing/2014/main" id="{EEA3F227-A45D-4F24-8EB5-210468AD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3" name="p8-eval-label-3">
            <a:extLst xmlns:a="http://schemas.openxmlformats.org/drawingml/2006/main">
              <a:ext uri="{FF2B5EF4-FFF2-40B4-BE49-F238E27FC236}">
                <a16:creationId xmlns:a16="http://schemas.microsoft.com/office/drawing/2014/main" id="{440ADD4D-D3A3-408D-A48E-9B1B1E47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持续负担</a:t>
            </a:r>
          </a:p>
        </p:txBody>
      </p:sp>
      <p:sp>
        <p:nvSpPr>
          <p:cNvPr id="14" name="p8-eval-body-3">
            <a:extLst xmlns:a="http://schemas.openxmlformats.org/drawingml/2006/main">
              <a:ext uri="{FF2B5EF4-FFF2-40B4-BE49-F238E27FC236}">
                <a16:creationId xmlns:a16="http://schemas.microsoft.com/office/drawing/2014/main" id="{4FC63EAB-DC06-4664-9C03-BFCC9F58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910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记录负担是否在成员愿意持续承担的范围内？</a:t>
            </a:r>
          </a:p>
        </p:txBody>
      </p:sp>
      <p:sp>
        <p:nvSpPr>
          <p:cNvPr id="15" name="p8-eval-note">
            <a:extLst xmlns:a="http://schemas.openxmlformats.org/drawingml/2006/main">
              <a:ext uri="{FF2B5EF4-FFF2-40B4-BE49-F238E27FC236}">
                <a16:creationId xmlns:a16="http://schemas.microsoft.com/office/drawing/2014/main" id="{16BEEC3D-E826-46A8-B4AD-DD129438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四周安排、两名成员和周次都是拟定范围，不代表已有实测效率提升或完成率数字。</a:t>
            </a:r>
          </a:p>
        </p:txBody>
      </p:sp>
      <p:sp>
        <p:nvSpPr>
          <p:cNvPr id="16" name="p8-footer-rule">
            <a:extLst xmlns:a="http://schemas.openxmlformats.org/drawingml/2006/main">
              <a:ext uri="{FF2B5EF4-FFF2-40B4-BE49-F238E27FC236}">
                <a16:creationId xmlns:a16="http://schemas.microsoft.com/office/drawing/2014/main" id="{C72E04C3-D3E2-427A-ABE6-E75387E3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7" name="p8-footer-label">
            <a:extLst xmlns:a="http://schemas.openxmlformats.org/drawingml/2006/main">
              <a:ext uri="{FF2B5EF4-FFF2-40B4-BE49-F238E27FC236}">
                <a16:creationId xmlns:a16="http://schemas.microsoft.com/office/drawing/2014/main" id="{7C9F21AE-45F5-48FF-803F-342A4963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 · 讨论稿</a:t>
            </a:r>
          </a:p>
        </p:txBody>
      </p:sp>
      <p:sp>
        <p:nvSpPr>
          <p:cNvPr id="18" name="p8-footer-page">
            <a:extLst xmlns:a="http://schemas.openxmlformats.org/drawingml/2006/main">
              <a:ext uri="{FF2B5EF4-FFF2-40B4-BE49-F238E27FC236}">
                <a16:creationId xmlns:a16="http://schemas.microsoft.com/office/drawing/2014/main" id="{9C08DC97-7DB6-4BF4-9498-63099D97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885421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9-title">
            <a:extLst xmlns:a="http://schemas.openxmlformats.org/drawingml/2006/main">
              <a:ext uri="{FF2B5EF4-FFF2-40B4-BE49-F238E27FC236}">
                <a16:creationId xmlns:a16="http://schemas.microsoft.com/office/drawing/2014/main" id="{7548D46D-5901-4958-B982-D12A1E45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先让一次结果可以被理解，再决定长期保存什么</a:t>
            </a:r>
          </a:p>
        </p:txBody>
      </p:sp>
      <p:sp>
        <p:nvSpPr>
          <p:cNvPr id="2" name="p9-kicker">
            <a:extLst xmlns:a="http://schemas.openxmlformats.org/drawingml/2006/main">
              <a:ext uri="{FF2B5EF4-FFF2-40B4-BE49-F238E27FC236}">
                <a16:creationId xmlns:a16="http://schemas.microsoft.com/office/drawing/2014/main" id="{D02968E6-1F83-4DF9-89C4-1E65BA93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讨论收束</a:t>
            </a:r>
          </a:p>
        </p:txBody>
      </p:sp>
      <p:sp>
        <p:nvSpPr>
          <p:cNvPr id="3" name="p9-title-rule">
            <a:extLst xmlns:a="http://schemas.openxmlformats.org/drawingml/2006/main">
              <a:ext uri="{FF2B5EF4-FFF2-40B4-BE49-F238E27FC236}">
                <a16:creationId xmlns:a16="http://schemas.microsoft.com/office/drawing/2014/main" id="{27D2CE72-73E2-400D-B47A-EF9E9701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4" name="p9-lead">
            <a:extLst xmlns:a="http://schemas.openxmlformats.org/drawingml/2006/main">
              <a:ext uri="{FF2B5EF4-FFF2-40B4-BE49-F238E27FC236}">
                <a16:creationId xmlns:a16="http://schemas.microsoft.com/office/drawing/2014/main" id="{5CC64316-DC71-44EB-B5BB-49069D13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现在需要确认的是一项有限尝试，以及它可以被停止或修改的边界。</a:t>
            </a:r>
          </a:p>
        </p:txBody>
      </p:sp>
      <p:sp>
        <p:nvSpPr>
          <p:cNvPr id="5" name="p9-start-label">
            <a:extLst xmlns:a="http://schemas.openxmlformats.org/drawingml/2006/main">
              <a:ext uri="{FF2B5EF4-FFF2-40B4-BE49-F238E27FC236}">
                <a16:creationId xmlns:a16="http://schemas.microsoft.com/office/drawing/2014/main" id="{043480B7-3BA9-4503-A307-8E7CF40A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开始前需要确认</a:t>
            </a:r>
          </a:p>
        </p:txBody>
      </p:sp>
      <p:sp>
        <p:nvSpPr>
          <p:cNvPr id="6" name="p9-start-1-accent">
            <a:extLst xmlns:a="http://schemas.openxmlformats.org/drawingml/2006/main">
              <a:ext uri="{FF2B5EF4-FFF2-40B4-BE49-F238E27FC236}">
                <a16:creationId xmlns:a16="http://schemas.microsoft.com/office/drawing/2014/main" id="{A2C4F40F-149E-4650-A8FE-6E121BC9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38425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9-start-1">
            <a:extLst xmlns:a="http://schemas.openxmlformats.org/drawingml/2006/main">
              <a:ext uri="{FF2B5EF4-FFF2-40B4-BE49-F238E27FC236}">
                <a16:creationId xmlns:a16="http://schemas.microsoft.com/office/drawing/2014/main" id="{2E42CD56-CA27-4B0E-9EF5-EDA5F656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461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负责人确认范围与授权联系人</a:t>
            </a:r>
          </a:p>
        </p:txBody>
      </p:sp>
      <p:sp>
        <p:nvSpPr>
          <p:cNvPr id="8" name="p9-start-2-accent">
            <a:extLst xmlns:a="http://schemas.openxmlformats.org/drawingml/2006/main">
              <a:ext uri="{FF2B5EF4-FFF2-40B4-BE49-F238E27FC236}">
                <a16:creationId xmlns:a16="http://schemas.microsoft.com/office/drawing/2014/main" id="{398F2C65-AA30-4B7E-A2C3-87F3AB1C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9925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9-start-2">
            <a:extLst xmlns:a="http://schemas.openxmlformats.org/drawingml/2006/main">
              <a:ext uri="{FF2B5EF4-FFF2-40B4-BE49-F238E27FC236}">
                <a16:creationId xmlns:a16="http://schemas.microsoft.com/office/drawing/2014/main" id="{F43EF8E5-7DA5-4DE1-8A1F-EDA43893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461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参与成员认可最少字段</a:t>
            </a:r>
          </a:p>
        </p:txBody>
      </p:sp>
      <p:sp>
        <p:nvSpPr>
          <p:cNvPr id="10" name="p9-start-3-accent">
            <a:extLst xmlns:a="http://schemas.openxmlformats.org/drawingml/2006/main">
              <a:ext uri="{FF2B5EF4-FFF2-40B4-BE49-F238E27FC236}">
                <a16:creationId xmlns:a16="http://schemas.microsoft.com/office/drawing/2014/main" id="{F6F186DB-9FD0-40A3-B7FD-1973D382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81425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9-start-3">
            <a:extLst xmlns:a="http://schemas.openxmlformats.org/drawingml/2006/main">
              <a:ext uri="{FF2B5EF4-FFF2-40B4-BE49-F238E27FC236}">
                <a16:creationId xmlns:a16="http://schemas.microsoft.com/office/drawing/2014/main" id="{3959922C-64F8-4AEB-84A6-88B3B592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461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确定谁负责复核</a:t>
            </a:r>
          </a:p>
        </p:txBody>
      </p:sp>
      <p:sp>
        <p:nvSpPr>
          <p:cNvPr id="12" name="p9-mid-rule">
            <a:extLst xmlns:a="http://schemas.openxmlformats.org/drawingml/2006/main">
              <a:ext uri="{FF2B5EF4-FFF2-40B4-BE49-F238E27FC236}">
                <a16:creationId xmlns:a16="http://schemas.microsoft.com/office/drawing/2014/main" id="{56A69897-FB05-4B04-B4DE-69C22D3E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19300"/>
            <a:ext cx="9525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3" name="p9-stop-label">
            <a:extLst xmlns:a="http://schemas.openxmlformats.org/drawingml/2006/main">
              <a:ext uri="{FF2B5EF4-FFF2-40B4-BE49-F238E27FC236}">
                <a16:creationId xmlns:a16="http://schemas.microsoft.com/office/drawing/2014/main" id="{586E4BA9-CC4D-489E-A686-76D7A76C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需要缩小或停止的信号</a:t>
            </a:r>
          </a:p>
        </p:txBody>
      </p:sp>
      <p:sp>
        <p:nvSpPr>
          <p:cNvPr id="14" name="p9-stop-1-accent">
            <a:extLst xmlns:a="http://schemas.openxmlformats.org/drawingml/2006/main">
              <a:ext uri="{FF2B5EF4-FFF2-40B4-BE49-F238E27FC236}">
                <a16:creationId xmlns:a16="http://schemas.microsoft.com/office/drawing/2014/main" id="{E61F1381-67F4-48EF-99CD-30E1DE8B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38425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9-stop-1">
            <a:extLst xmlns:a="http://schemas.openxmlformats.org/drawingml/2006/main">
              <a:ext uri="{FF2B5EF4-FFF2-40B4-BE49-F238E27FC236}">
                <a16:creationId xmlns:a16="http://schemas.microsoft.com/office/drawing/2014/main" id="{BE0A32D8-6A01-4D7C-8431-70AF0757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098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填写持续挤占必要实验时间</a:t>
            </a:r>
          </a:p>
        </p:txBody>
      </p:sp>
      <p:sp>
        <p:nvSpPr>
          <p:cNvPr id="16" name="p9-stop-2-accent">
            <a:extLst xmlns:a="http://schemas.openxmlformats.org/drawingml/2006/main">
              <a:ext uri="{FF2B5EF4-FFF2-40B4-BE49-F238E27FC236}">
                <a16:creationId xmlns:a16="http://schemas.microsoft.com/office/drawing/2014/main" id="{8C8C99A6-CBBA-49A4-8C62-2B44E28A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09925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9-stop-2">
            <a:extLst xmlns:a="http://schemas.openxmlformats.org/drawingml/2006/main">
              <a:ext uri="{FF2B5EF4-FFF2-40B4-BE49-F238E27FC236}">
                <a16:creationId xmlns:a16="http://schemas.microsoft.com/office/drawing/2014/main" id="{B54525DF-DD4F-411E-89F0-0CBCFF6B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813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权限边界无法说明</a:t>
            </a:r>
          </a:p>
        </p:txBody>
      </p:sp>
      <p:sp>
        <p:nvSpPr>
          <p:cNvPr id="18" name="p9-stop-3-accent">
            <a:extLst xmlns:a="http://schemas.openxmlformats.org/drawingml/2006/main">
              <a:ext uri="{FF2B5EF4-FFF2-40B4-BE49-F238E27FC236}">
                <a16:creationId xmlns:a16="http://schemas.microsoft.com/office/drawing/2014/main" id="{5B8388BB-C449-4D7D-9BB9-12206DFC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81425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9-stop-3">
            <a:extLst xmlns:a="http://schemas.openxmlformats.org/drawingml/2006/main">
              <a:ext uri="{FF2B5EF4-FFF2-40B4-BE49-F238E27FC236}">
                <a16:creationId xmlns:a16="http://schemas.microsoft.com/office/drawing/2014/main" id="{D0E65E8F-EE68-44EC-B024-5879BCFF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7528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记录只增加重复抄写，没有帮助解释结果</a:t>
            </a:r>
          </a:p>
        </p:txBody>
      </p:sp>
      <p:sp>
        <p:nvSpPr>
          <p:cNvPr id="20" name="p9-close-band">
            <a:extLst xmlns:a="http://schemas.openxmlformats.org/drawingml/2006/main">
              <a:ext uri="{FF2B5EF4-FFF2-40B4-BE49-F238E27FC236}">
                <a16:creationId xmlns:a16="http://schemas.microsoft.com/office/drawing/2014/main" id="{DDB615EE-B9AA-48B1-85F1-57BA6EDD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86300"/>
            <a:ext cx="111442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9-close-title">
            <a:extLst xmlns:a="http://schemas.openxmlformats.org/drawingml/2006/main">
              <a:ext uri="{FF2B5EF4-FFF2-40B4-BE49-F238E27FC236}">
                <a16:creationId xmlns:a16="http://schemas.microsoft.com/office/drawing/2014/main" id="{79818C78-D4EF-4429-9C7C-2478CED9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33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工具只是承载方式</a:t>
            </a:r>
          </a:p>
        </p:txBody>
      </p:sp>
      <p:sp>
        <p:nvSpPr>
          <p:cNvPr id="22" name="p9-close-body">
            <a:extLst xmlns:a="http://schemas.openxmlformats.org/drawingml/2006/main">
              <a:ext uri="{FF2B5EF4-FFF2-40B4-BE49-F238E27FC236}">
                <a16:creationId xmlns:a16="http://schemas.microsoft.com/office/drawing/2014/main" id="{B9578D41-071B-492A-B214-F3ECAEB8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958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本次试点要验证的是：结果、依据和责任边界能否在一次真实记录中保持联系。</a:t>
            </a:r>
          </a:p>
        </p:txBody>
      </p:sp>
      <p:sp>
        <p:nvSpPr>
          <p:cNvPr id="23" name="p9-stop-note">
            <a:extLst xmlns:a="http://schemas.openxmlformats.org/drawingml/2006/main">
              <a:ext uri="{FF2B5EF4-FFF2-40B4-BE49-F238E27FC236}">
                <a16:creationId xmlns:a16="http://schemas.microsoft.com/office/drawing/2014/main" id="{40AE2D15-44AD-4058-A0CE-61B179F8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5312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如果边界无法说明，先缩小要求或停止试点，不能为了完成试点目标强行推广。</a:t>
            </a:r>
          </a:p>
        </p:txBody>
      </p:sp>
      <p:sp>
        <p:nvSpPr>
          <p:cNvPr id="24" name="p9-footer-rule">
            <a:extLst xmlns:a="http://schemas.openxmlformats.org/drawingml/2006/main">
              <a:ext uri="{FF2B5EF4-FFF2-40B4-BE49-F238E27FC236}">
                <a16:creationId xmlns:a16="http://schemas.microsoft.com/office/drawing/2014/main" id="{A55AA9AC-EE6E-45AE-9605-C27D07AA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25" name="p9-footer-label">
            <a:extLst xmlns:a="http://schemas.openxmlformats.org/drawingml/2006/main">
              <a:ext uri="{FF2B5EF4-FFF2-40B4-BE49-F238E27FC236}">
                <a16:creationId xmlns:a16="http://schemas.microsoft.com/office/drawing/2014/main" id="{BCAB9A6B-CD10-4134-8308-6A7E649F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 · 讨论稿</a:t>
            </a:r>
          </a:p>
        </p:txBody>
      </p:sp>
      <p:sp>
        <p:nvSpPr>
          <p:cNvPr id="26" name="p9-footer-page">
            <a:extLst xmlns:a="http://schemas.openxmlformats.org/drawingml/2006/main">
              <a:ext uri="{FF2B5EF4-FFF2-40B4-BE49-F238E27FC236}">
                <a16:creationId xmlns:a16="http://schemas.microsoft.com/office/drawing/2014/main" id="{B2A3809B-E019-426F-BEC0-1C8AA485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29100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2026-09-06T05:59:33.4290000Z</dcterms:created>
  <dcterms:modified xsi:type="dcterms:W3CDTF">2026-09-06T05:59:33.4290000Z</dcterms:modified>
</coreProperties>
</file>