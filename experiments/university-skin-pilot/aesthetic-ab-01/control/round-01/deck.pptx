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edd816513d4d96" /><Relationship Type="http://schemas.openxmlformats.org/officeDocument/2006/relationships/extended-properties" Target="/docProps/app.xml" Id="Red88c474e967422a" /><Relationship Type="http://schemas.openxmlformats.org/officeDocument/2006/relationships/officeDocument" Target="/ppt/presentation.xml" Id="R9ade2bb25df349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9b2f40ae1a4375"/>
  </p:sldMasterIdLst>
  <p:notesMasterIdLst>
    <p:notesMasterId xmlns:r="http://schemas.openxmlformats.org/officeDocument/2006/relationships" r:id="R5d984ffec8214fdc"/>
  </p:notesMasterIdLst>
  <p:sldIdLst>
    <p:sldId xmlns:r="http://schemas.openxmlformats.org/officeDocument/2006/relationships" id="256" r:id="R7533bf53719a4b86"/>
    <p:sldId xmlns:r="http://schemas.openxmlformats.org/officeDocument/2006/relationships" id="257" r:id="R277469f575384bad"/>
    <p:sldId xmlns:r="http://schemas.openxmlformats.org/officeDocument/2006/relationships" id="258" r:id="R0725011d8e294b8c"/>
    <p:sldId xmlns:r="http://schemas.openxmlformats.org/officeDocument/2006/relationships" id="259" r:id="R02cbf1e01288443d"/>
    <p:sldId xmlns:r="http://schemas.openxmlformats.org/officeDocument/2006/relationships" id="260" r:id="R74f89fd320734e37"/>
    <p:sldId xmlns:r="http://schemas.openxmlformats.org/officeDocument/2006/relationships" id="261" r:id="R9cc354f2ad1d49d5"/>
    <p:sldId xmlns:r="http://schemas.openxmlformats.org/officeDocument/2006/relationships" id="262" r:id="R2b408291cd4047f4"/>
    <p:sldId xmlns:r="http://schemas.openxmlformats.org/officeDocument/2006/relationships" id="263" r:id="R6bf2d7251b8b4b8c"/>
    <p:sldId xmlns:r="http://schemas.openxmlformats.org/officeDocument/2006/relationships" id="264" r:id="Rb0d52106910846ea"/>
    <p:sldId xmlns:r="http://schemas.openxmlformats.org/officeDocument/2006/relationships" id="265" r:id="R4d4842ab6632461e"/>
    <p:sldId xmlns:r="http://schemas.openxmlformats.org/officeDocument/2006/relationships" id="266" r:id="R31f26950f4954e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75c027cd72402b" /><Relationship Type="http://schemas.openxmlformats.org/officeDocument/2006/relationships/slideMaster" Target="/ppt/slideMasters/slideMaster1.xml" Id="R3a9b2f40ae1a4375" /><Relationship Type="http://schemas.openxmlformats.org/officeDocument/2006/relationships/notesMaster" Target="/ppt/notesMasters/notesMaster1.xml" Id="R5d984ffec8214fdc" /><Relationship Type="http://schemas.openxmlformats.org/officeDocument/2006/relationships/presProps" Target="/ppt/presProps.xml" Id="R864431cefa4c4f90" /><Relationship Type="http://schemas.openxmlformats.org/officeDocument/2006/relationships/tableStyles" Target="/ppt/tableStyles.xml" Id="Rea3ef1e1cd1e42c7" /><Relationship Type="http://schemas.openxmlformats.org/officeDocument/2006/relationships/slide" Target="/ppt/slides/slide1.xml" Id="R7533bf53719a4b86" /><Relationship Type="http://schemas.openxmlformats.org/officeDocument/2006/relationships/slide" Target="/ppt/slides/slide2.xml" Id="R277469f575384bad" /><Relationship Type="http://schemas.openxmlformats.org/officeDocument/2006/relationships/slide" Target="/ppt/slides/slide3.xml" Id="R0725011d8e294b8c" /><Relationship Type="http://schemas.openxmlformats.org/officeDocument/2006/relationships/slide" Target="/ppt/slides/slide4.xml" Id="R02cbf1e01288443d" /><Relationship Type="http://schemas.openxmlformats.org/officeDocument/2006/relationships/slide" Target="/ppt/slides/slide5.xml" Id="R74f89fd320734e37" /><Relationship Type="http://schemas.openxmlformats.org/officeDocument/2006/relationships/slide" Target="/ppt/slides/slide6.xml" Id="R9cc354f2ad1d49d5" /><Relationship Type="http://schemas.openxmlformats.org/officeDocument/2006/relationships/slide" Target="/ppt/slides/slide7.xml" Id="R2b408291cd4047f4" /><Relationship Type="http://schemas.openxmlformats.org/officeDocument/2006/relationships/slide" Target="/ppt/slides/slide8.xml" Id="R6bf2d7251b8b4b8c" /><Relationship Type="http://schemas.openxmlformats.org/officeDocument/2006/relationships/slide" Target="/ppt/slides/slide9.xml" Id="Rb0d52106910846ea" /><Relationship Type="http://schemas.openxmlformats.org/officeDocument/2006/relationships/slide" Target="/ppt/slides/slide10.xml" Id="R4d4842ab6632461e" /><Relationship Type="http://schemas.openxmlformats.org/officeDocument/2006/relationships/slide" Target="/ppt/slides/slide11.xml" Id="R31f26950f4954e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bcca5a856245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d755526efe40c5" /><Relationship Type="http://schemas.openxmlformats.org/officeDocument/2006/relationships/notesMaster" Target="/ppt/notesMasters/notesMaster1.xml" Id="Rf7425efd996146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14fee331994bcd" /><Relationship Type="http://schemas.openxmlformats.org/officeDocument/2006/relationships/notesMaster" Target="/ppt/notesMasters/notesMaster1.xml" Id="R1089ead438af48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9687d470dd4b04" /><Relationship Type="http://schemas.openxmlformats.org/officeDocument/2006/relationships/notesMaster" Target="/ppt/notesMasters/notesMaster1.xml" Id="R2c9dbab1400243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0d79d6c2ad4ee0" /><Relationship Type="http://schemas.openxmlformats.org/officeDocument/2006/relationships/notesMaster" Target="/ppt/notesMasters/notesMaster1.xml" Id="R8133f2eeeab14d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aedd3fb0e94c19" /><Relationship Type="http://schemas.openxmlformats.org/officeDocument/2006/relationships/notesMaster" Target="/ppt/notesMasters/notesMaster1.xml" Id="Rabe7b8fbc87840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c27bd0083a47de" /><Relationship Type="http://schemas.openxmlformats.org/officeDocument/2006/relationships/notesMaster" Target="/ppt/notesMasters/notesMaster1.xml" Id="Rebe0e22a09fb49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4d803815564799" /><Relationship Type="http://schemas.openxmlformats.org/officeDocument/2006/relationships/notesMaster" Target="/ppt/notesMasters/notesMaster1.xml" Id="Rdeffc73b8c604c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4dc1b00cb54a70" /><Relationship Type="http://schemas.openxmlformats.org/officeDocument/2006/relationships/notesMaster" Target="/ppt/notesMasters/notesMaster1.xml" Id="R271c5a04acac45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71ba906f184ad8" /><Relationship Type="http://schemas.openxmlformats.org/officeDocument/2006/relationships/notesMaster" Target="/ppt/notesMasters/notesMaster1.xml" Id="Raae100c61bd14c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da0031adf24e4f" /><Relationship Type="http://schemas.openxmlformats.org/officeDocument/2006/relationships/notesMaster" Target="/ppt/notesMasters/notesMaster1.xml" Id="R39eca9c4dccc4c4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e5483c6a6d44f06" /><Relationship Type="http://schemas.openxmlformats.org/officeDocument/2006/relationships/notesMaster" Target="/ppt/notesMasters/notesMaster1.xml" Id="R60c6f85998cf4a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本页内容来自 experiments/university-skin-pilot/aesthetic-ab-01/inputs/product.txt；主题来自 inputs/theme.json。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本页内容来自 experiments/university-skin-pilot/aesthetic-ab-01/inputs/product.txt；主题来自 inputs/theme.json。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本页内容来自 experiments/university-skin-pilot/aesthetic-ab-01/inputs/product.txt；主题来自 inputs/theme.json。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本页内容来自 experiments/university-skin-pilot/aesthetic-ab-01/inputs/product.txt；主题来自 inputs/theme.json。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本页内容来自 experiments/university-skin-pilot/aesthetic-ab-01/inputs/product.txt；主题来自 inputs/theme.json。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本页内容来自 experiments/university-skin-pilot/aesthetic-ab-01/inputs/product.txt；主题来自 inputs/theme.json。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本页内容来自 experiments/university-skin-pilot/aesthetic-ab-01/inputs/product.txt；主题来自 inputs/theme.json。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本页内容来自 experiments/university-skin-pilot/aesthetic-ab-01/inputs/product.txt；主题来自 inputs/theme.json。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本页内容来自 experiments/university-skin-pilot/aesthetic-ab-01/inputs/product.txt；主题来自 inputs/theme.json。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9986f40e9a48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38593cded54674" /><Relationship Type="http://schemas.openxmlformats.org/officeDocument/2006/relationships/slideLayout" Target="/ppt/slideLayouts/slideLayout1.xml" Id="R8f44e151aa4f4b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44e151aa4f4b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834e5b51cf42b9" /><Relationship Type="http://schemas.openxmlformats.org/officeDocument/2006/relationships/notesSlide" Target="/ppt/notesSlides/notesSlide1.xml" Id="Rbb7d15fec31542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3a6aac8f994c30" /><Relationship Type="http://schemas.openxmlformats.org/officeDocument/2006/relationships/notesSlide" Target="/ppt/notesSlides/notesSlide2.xml" Id="R0ab0755c192b46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fc573f47d84106" /><Relationship Type="http://schemas.openxmlformats.org/officeDocument/2006/relationships/notesSlide" Target="/ppt/notesSlides/notesSlide3.xml" Id="R2747c8fd817345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9d925eb15748de" /><Relationship Type="http://schemas.openxmlformats.org/officeDocument/2006/relationships/notesSlide" Target="/ppt/notesSlides/notesSlide4.xml" Id="Rdc2bbbdcf01d45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c57b663e664a38" /><Relationship Type="http://schemas.openxmlformats.org/officeDocument/2006/relationships/notesSlide" Target="/ppt/notesSlides/notesSlide5.xml" Id="R0c65eedc88574f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45f7f328134932" /><Relationship Type="http://schemas.openxmlformats.org/officeDocument/2006/relationships/notesSlide" Target="/ppt/notesSlides/notesSlide6.xml" Id="R11b34238d63047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9f5b71d1c54077" /><Relationship Type="http://schemas.openxmlformats.org/officeDocument/2006/relationships/notesSlide" Target="/ppt/notesSlides/notesSlide7.xml" Id="R38f105755c514b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ccbfd4bd5a41aa" /><Relationship Type="http://schemas.openxmlformats.org/officeDocument/2006/relationships/notesSlide" Target="/ppt/notesSlides/notesSlide8.xml" Id="R806103e2ebe34ca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42242069a34cf9" /><Relationship Type="http://schemas.openxmlformats.org/officeDocument/2006/relationships/notesSlide" Target="/ppt/notesSlides/notesSlide9.xml" Id="R18df9310335a42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86065073694863" /><Relationship Type="http://schemas.openxmlformats.org/officeDocument/2006/relationships/notesSlide" Target="/ppt/notesSlides/notesSlide10.xml" Id="R9185f9440b0c4b4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5ed047dc74076" /><Relationship Type="http://schemas.openxmlformats.org/officeDocument/2006/relationships/notesSlide" Target="/ppt/notesSlides/notesSlide11.xml" Id="Rc643d1d878454c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15F9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over-band">
            <a:extLst xmlns:a="http://schemas.openxmlformats.org/drawingml/2006/main">
              <a:ext uri="{FF2B5EF4-FFF2-40B4-BE49-F238E27FC236}">
                <a16:creationId xmlns:a16="http://schemas.microsoft.com/office/drawing/2014/main" id="{27896C5F-1BD6-4944-8CED-63E5644C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3B01F88B-FF56-4CC4-88AC-0B9F61C4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CE8F3"/>
                </a:solidFill>
              </a:defRPr>
            </a:pPr>
            <a:r>
              <a:rPr sz="1350" b="1" i="0">
                <a:solidFill>
                  <a:srgbClr val="DCE8F3"/>
                </a:solidFill>
              </a:rPr>
              <a:t>PPagenT / 产品叙事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A9E05C7-74FD-4646-9B6A-12542AD1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905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FFFF"/>
                </a:solidFill>
              </a:defRPr>
            </a:pPr>
            <a:r>
              <a:rPr sz="3450" b="1" i="0">
                <a:solidFill>
                  <a:srgbClr val="FFFFFF"/>
                </a:solidFill>
              </a:rPr>
              <a:t>把 PPT 生成</a:t>
            </a:r>
          </a:p>
          <a:p xmlns:a="http://schemas.openxmlformats.org/drawingml/2006/main">
            <a:pPr algn="l">
              <a:defRPr sz="3450" b="1" i="0">
                <a:solidFill>
                  <a:srgbClr val="FFFFFF"/>
                </a:solidFill>
              </a:defRPr>
            </a:pPr>
            <a:r>
              <a:rPr sz="3450" b="1" i="0">
                <a:solidFill>
                  <a:srgbClr val="FFFFFF"/>
                </a:solidFill>
              </a:rPr>
              <a:t>变成可靠的生产过程</a:t>
            </a:r>
          </a:p>
        </p:txBody>
      </p:sp>
      <p:sp>
        <p:nvSpPr>
          <p:cNvPr id="4" name="cover-sub">
            <a:extLst xmlns:a="http://schemas.openxmlformats.org/drawingml/2006/main">
              <a:ext uri="{FF2B5EF4-FFF2-40B4-BE49-F238E27FC236}">
                <a16:creationId xmlns:a16="http://schemas.microsoft.com/office/drawing/2014/main" id="{41ADE6B6-B51A-481C-92F9-044FF0AE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33750"/>
            <a:ext cx="552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E5EEF7"/>
                </a:solidFill>
              </a:defRPr>
            </a:pPr>
            <a:r>
              <a:rPr sz="1650" b="0" i="0">
                <a:solidFill>
                  <a:srgbClr val="E5EEF7"/>
                </a:solidFill>
              </a:rPr>
              <a:t>让 AI 读懂稿子，让规则做判断，让代码完成重复劳动。</a:t>
            </a:r>
          </a:p>
        </p:txBody>
      </p:sp>
      <p:sp>
        <p:nvSpPr>
          <p:cNvPr id="5" name="cover-a">
            <a:extLst xmlns:a="http://schemas.openxmlformats.org/drawingml/2006/main">
              <a:ext uri="{FF2B5EF4-FFF2-40B4-BE49-F238E27FC236}">
                <a16:creationId xmlns:a16="http://schemas.microsoft.com/office/drawing/2014/main" id="{4BBE1612-62DA-4EF6-8D15-A2AF611C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619250"/>
            <a:ext cx="3143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4774A3"/>
          </a:solidFill>
          <a:ln xmlns:a="http://schemas.openxmlformats.org/drawingml/2006/main" w="9525">
            <a:solidFill>
              <a:srgbClr val="4774A3"/>
            </a:solidFill>
            <a:prstDash val="solid"/>
          </a:ln>
        </p:spPr>
      </p:sp>
      <p:sp>
        <p:nvSpPr>
          <p:cNvPr id="6" name="cover-a-label">
            <a:extLst xmlns:a="http://schemas.openxmlformats.org/drawingml/2006/main">
              <a:ext uri="{FF2B5EF4-FFF2-40B4-BE49-F238E27FC236}">
                <a16:creationId xmlns:a16="http://schemas.microsoft.com/office/drawing/2014/main" id="{B6A77C93-26A1-46DB-B620-FA7B32A0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526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一次生成</a:t>
            </a:r>
          </a:p>
        </p:txBody>
      </p:sp>
      <p:sp>
        <p:nvSpPr>
          <p:cNvPr id="7" name="cover-a-copy">
            <a:extLst xmlns:a="http://schemas.openxmlformats.org/drawingml/2006/main">
              <a:ext uri="{FF2B5EF4-FFF2-40B4-BE49-F238E27FC236}">
                <a16:creationId xmlns:a16="http://schemas.microsoft.com/office/drawing/2014/main" id="{CAB425B6-6467-42F0-A876-64A7B1AC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76450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E5EEF7"/>
                </a:solidFill>
              </a:defRPr>
            </a:pPr>
            <a:r>
              <a:rPr sz="1350" b="0" i="0">
                <a:solidFill>
                  <a:srgbClr val="E5EEF7"/>
                </a:solidFill>
              </a:rPr>
              <a:t>偶然惊艳</a:t>
            </a:r>
          </a:p>
        </p:txBody>
      </p:sp>
      <p:sp>
        <p:nvSpPr>
          <p:cNvPr id="8" name="cover-b">
            <a:extLst xmlns:a="http://schemas.openxmlformats.org/drawingml/2006/main">
              <a:ext uri="{FF2B5EF4-FFF2-40B4-BE49-F238E27FC236}">
                <a16:creationId xmlns:a16="http://schemas.microsoft.com/office/drawing/2014/main" id="{16EA6B46-A5C8-41CA-AA34-A1DC5898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85750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cover-b-label">
            <a:extLst xmlns:a="http://schemas.openxmlformats.org/drawingml/2006/main">
              <a:ext uri="{FF2B5EF4-FFF2-40B4-BE49-F238E27FC236}">
                <a16:creationId xmlns:a16="http://schemas.microsoft.com/office/drawing/2014/main" id="{31F98BE5-E274-4598-A650-99EF3FC0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432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26496F"/>
                </a:solidFill>
              </a:defRPr>
            </a:pPr>
            <a:r>
              <a:rPr sz="1800" b="1" i="0">
                <a:solidFill>
                  <a:srgbClr val="26496F"/>
                </a:solidFill>
              </a:rPr>
              <a:t>稳定交付</a:t>
            </a:r>
          </a:p>
        </p:txBody>
      </p:sp>
      <p:sp>
        <p:nvSpPr>
          <p:cNvPr id="10" name="cover-b-copy">
            <a:extLst xmlns:a="http://schemas.openxmlformats.org/drawingml/2006/main">
              <a:ext uri="{FF2B5EF4-FFF2-40B4-BE49-F238E27FC236}">
                <a16:creationId xmlns:a16="http://schemas.microsoft.com/office/drawing/2014/main" id="{03736E5A-1DC5-4C3A-B53A-8C7B2E77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86150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315F91"/>
                </a:solidFill>
              </a:defRPr>
            </a:pPr>
            <a:r>
              <a:rPr sz="1350" b="0" i="0">
                <a:solidFill>
                  <a:srgbClr val="315F91"/>
                </a:solidFill>
              </a:rPr>
              <a:t>可直接讲 · 可继续改</a:t>
            </a:r>
          </a:p>
        </p:txBody>
      </p:sp>
      <p:sp>
        <p:nvSpPr>
          <p:cNvPr id="11" name="cover-rule">
            <a:extLst xmlns:a="http://schemas.openxmlformats.org/drawingml/2006/main">
              <a:ext uri="{FF2B5EF4-FFF2-40B4-BE49-F238E27FC236}">
                <a16:creationId xmlns:a16="http://schemas.microsoft.com/office/drawing/2014/main" id="{F7969FD5-2FA8-4EC2-8ECC-1B024ED3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391025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1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ver-foot">
            <a:extLst xmlns:a="http://schemas.openxmlformats.org/drawingml/2006/main">
              <a:ext uri="{FF2B5EF4-FFF2-40B4-BE49-F238E27FC236}">
                <a16:creationId xmlns:a16="http://schemas.microsoft.com/office/drawing/2014/main" id="{B0D4181F-BFDB-4005-8896-8B39A809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5529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E5EEF7"/>
                </a:solidFill>
              </a:defRPr>
            </a:pPr>
            <a:r>
              <a:rPr sz="1200" b="0" i="0">
                <a:solidFill>
                  <a:srgbClr val="E5EEF7"/>
                </a:solidFill>
              </a:rPr>
              <a:t>工作型 PPT 的可靠度命题</a:t>
            </a:r>
          </a:p>
        </p:txBody>
      </p:sp>
    </p:spTree>
    <p:extLst>
      <p:ext uri="{BB962C8B-B14F-4D97-AF65-F5344CB8AC3E}">
        <p14:creationId xmlns:p14="http://schemas.microsoft.com/office/powerpoint/2010/main" val="12953867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C219BA-6979-44E8-9984-A747DAFC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52B33"/>
                </a:solidFill>
              </a:defRPr>
            </a:pPr>
            <a:r>
              <a:rPr sz="2400" b="1" i="0">
                <a:solidFill>
                  <a:srgbClr val="252B33"/>
                </a:solidFill>
              </a:rPr>
              <a:t>真正昂贵的，是一连串判断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20DDD6DA-F2F6-42D8-8324-84039B7C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620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-sub">
            <a:extLst xmlns:a="http://schemas.openxmlformats.org/drawingml/2006/main">
              <a:ext uri="{FF2B5EF4-FFF2-40B4-BE49-F238E27FC236}">
                <a16:creationId xmlns:a16="http://schemas.microsoft.com/office/drawing/2014/main" id="{E75AB290-9EF3-4125-BD6D-C8DA8DB0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114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07780"/>
                </a:solidFill>
              </a:defRPr>
            </a:pPr>
            <a:r>
              <a:rPr sz="1200" b="0" i="0">
                <a:solidFill>
                  <a:srgbClr val="707780"/>
                </a:solidFill>
              </a:rPr>
              <a:t>拖动文本框只是表面，决定一套稿子能不能讲的是结构与取舍。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D07554E-4340-4154-930F-65AC9409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707780"/>
                </a:solidFill>
              </a:defRPr>
            </a:pPr>
            <a:r>
              <a:rPr sz="1050" b="1" i="0">
                <a:solidFill>
                  <a:srgbClr val="707780"/>
                </a:solidFill>
              </a:rPr>
              <a:t>02</a:t>
            </a:r>
          </a:p>
        </p:txBody>
      </p:sp>
      <p:sp>
        <p:nvSpPr>
          <p:cNvPr id="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EF7BAF6-0392-4EDD-A9BD-FAD0EC17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07780"/>
                </a:solidFill>
              </a:defRPr>
            </a:pPr>
            <a:r>
              <a:rPr sz="1050" b="0" i="0">
                <a:solidFill>
                  <a:srgbClr val="707780"/>
                </a:solidFill>
              </a:rPr>
              <a:t>来源：PPagenT 产品叙事（分配原稿）</a:t>
            </a:r>
          </a:p>
        </p:txBody>
      </p:sp>
      <p:sp>
        <p:nvSpPr>
          <p:cNvPr id="6" name="pain-lead">
            <a:extLst xmlns:a="http://schemas.openxmlformats.org/drawingml/2006/main">
              <a:ext uri="{FF2B5EF4-FFF2-40B4-BE49-F238E27FC236}">
                <a16:creationId xmlns:a16="http://schemas.microsoft.com/office/drawing/2014/main" id="{0E92B8B6-3D7D-4B2D-AA42-05E702D0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6496F"/>
                </a:solidFill>
              </a:defRPr>
            </a:pPr>
            <a:r>
              <a:rPr sz="1800" b="1" i="0">
                <a:solidFill>
                  <a:srgbClr val="26496F"/>
                </a:solidFill>
              </a:rPr>
              <a:t>一套答辩、汇报或讲课用 PPT，最费时间的部分始终重复发生。</a:t>
            </a:r>
          </a:p>
        </p:txBody>
      </p:sp>
      <p:sp>
        <p:nvSpPr>
          <p:cNvPr id="7" name="pain-copy">
            <a:extLst xmlns:a="http://schemas.openxmlformats.org/drawingml/2006/main">
              <a:ext uri="{FF2B5EF4-FFF2-40B4-BE49-F238E27FC236}">
                <a16:creationId xmlns:a16="http://schemas.microsoft.com/office/drawing/2014/main" id="{F6AF688F-F17F-45FC-A736-9F4EDDD2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574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52B33"/>
                </a:solidFill>
              </a:defRPr>
            </a:pPr>
            <a:r>
              <a:rPr sz="1500" b="0" i="0">
                <a:solidFill>
                  <a:srgbClr val="252B33"/>
                </a:solidFill>
              </a:rPr>
              <a:t>怎么讲</a:t>
            </a:r>
          </a:p>
          <a:p xmlns:a="http://schemas.openxmlformats.org/drawingml/2006/main">
            <a:pPr algn="l">
              <a:defRPr sz="1500" b="0" i="0">
                <a:solidFill>
                  <a:srgbClr val="252B33"/>
                </a:solidFill>
              </a:defRPr>
            </a:pPr>
            <a:r>
              <a:rPr sz="1500" b="0" i="0">
                <a:solidFill>
                  <a:srgbClr val="252B33"/>
                </a:solidFill>
              </a:rPr>
              <a:t>长稿拆成多少页</a:t>
            </a:r>
          </a:p>
          <a:p xmlns:a="http://schemas.openxmlformats.org/drawingml/2006/main">
            <a:pPr algn="l">
              <a:defRPr sz="1500" b="0" i="0">
                <a:solidFill>
                  <a:srgbClr val="252B33"/>
                </a:solidFill>
              </a:defRPr>
            </a:pPr>
            <a:r>
              <a:rPr sz="1500" b="0" i="0">
                <a:solidFill>
                  <a:srgbClr val="252B33"/>
                </a:solidFill>
              </a:rPr>
              <a:t>每页承担什么职责</a:t>
            </a:r>
          </a:p>
          <a:p xmlns:a="http://schemas.openxmlformats.org/drawingml/2006/main">
            <a:pPr algn="l">
              <a:defRPr sz="1500" b="0" i="0">
                <a:solidFill>
                  <a:srgbClr val="252B33"/>
                </a:solidFill>
              </a:defRPr>
            </a:pPr>
            <a:r>
              <a:rPr sz="1500" b="0" i="0">
                <a:solidFill>
                  <a:srgbClr val="252B33"/>
                </a:solidFill>
              </a:rPr>
              <a:t>观点是并列、递进、因果还是流程</a:t>
            </a:r>
          </a:p>
          <a:p xmlns:a="http://schemas.openxmlformats.org/drawingml/2006/main">
            <a:pPr algn="l">
              <a:defRPr sz="1500" b="0" i="0">
                <a:solidFill>
                  <a:srgbClr val="252B33"/>
                </a:solidFill>
              </a:defRPr>
            </a:pPr>
            <a:r>
              <a:rPr sz="1500" b="0" i="0">
                <a:solidFill>
                  <a:srgbClr val="252B33"/>
                </a:solidFill>
              </a:rPr>
              <a:t>哪里该突出，什么时候一句话更有力量</a:t>
            </a:r>
          </a:p>
        </p:txBody>
      </p:sp>
      <p:sp>
        <p:nvSpPr>
          <p:cNvPr id="8" name="pain-num-0">
            <a:extLst xmlns:a="http://schemas.openxmlformats.org/drawingml/2006/main">
              <a:ext uri="{FF2B5EF4-FFF2-40B4-BE49-F238E27FC236}">
                <a16:creationId xmlns:a16="http://schemas.microsoft.com/office/drawing/2014/main" id="{1381848B-2E18-47E5-B1DB-251CD1C3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00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15F91"/>
                </a:solidFill>
              </a:defRPr>
            </a:pPr>
            <a:r>
              <a:rPr sz="1350" b="1" i="0">
                <a:solidFill>
                  <a:srgbClr val="315F91"/>
                </a:solidFill>
              </a:rPr>
              <a:t>01</a:t>
            </a:r>
          </a:p>
        </p:txBody>
      </p:sp>
      <p:sp>
        <p:nvSpPr>
          <p:cNvPr id="9" name="pain-line-0">
            <a:extLst xmlns:a="http://schemas.openxmlformats.org/drawingml/2006/main">
              <a:ext uri="{FF2B5EF4-FFF2-40B4-BE49-F238E27FC236}">
                <a16:creationId xmlns:a16="http://schemas.microsoft.com/office/drawing/2014/main" id="{30A952E8-921D-4828-B91A-8C936520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52600"/>
            <a:ext cx="47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in-head-0">
            <a:extLst xmlns:a="http://schemas.openxmlformats.org/drawingml/2006/main">
              <a:ext uri="{FF2B5EF4-FFF2-40B4-BE49-F238E27FC236}">
                <a16:creationId xmlns:a16="http://schemas.microsoft.com/office/drawing/2014/main" id="{D78D6BFC-1D8B-4ECD-B5DC-686A3BE6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571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52B33"/>
                </a:solidFill>
              </a:defRPr>
            </a:pPr>
            <a:r>
              <a:rPr sz="1650" b="1" i="0">
                <a:solidFill>
                  <a:srgbClr val="252B33"/>
                </a:solidFill>
              </a:rPr>
              <a:t>理解汇报目的</a:t>
            </a:r>
          </a:p>
        </p:txBody>
      </p:sp>
      <p:sp>
        <p:nvSpPr>
          <p:cNvPr id="11" name="pain-desc-0">
            <a:extLst xmlns:a="http://schemas.openxmlformats.org/drawingml/2006/main">
              <a:ext uri="{FF2B5EF4-FFF2-40B4-BE49-F238E27FC236}">
                <a16:creationId xmlns:a16="http://schemas.microsoft.com/office/drawing/2014/main" id="{3A89F1A6-E6AA-41D4-A5F1-E1683926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9050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07780"/>
                </a:solidFill>
              </a:defRPr>
            </a:pPr>
            <a:r>
              <a:rPr sz="1350" b="0" i="0">
                <a:solidFill>
                  <a:srgbClr val="707780"/>
                </a:solidFill>
              </a:rPr>
              <a:t>先确定这场汇报到底要让人明白什么</a:t>
            </a:r>
          </a:p>
        </p:txBody>
      </p:sp>
      <p:sp>
        <p:nvSpPr>
          <p:cNvPr id="12" name="pain-num-1">
            <a:extLst xmlns:a="http://schemas.openxmlformats.org/drawingml/2006/main">
              <a:ext uri="{FF2B5EF4-FFF2-40B4-BE49-F238E27FC236}">
                <a16:creationId xmlns:a16="http://schemas.microsoft.com/office/drawing/2014/main" id="{3C3DA98B-876B-4AED-BBA0-59B5239E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670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15F91"/>
                </a:solidFill>
              </a:defRPr>
            </a:pPr>
            <a:r>
              <a:rPr sz="1350" b="1" i="0">
                <a:solidFill>
                  <a:srgbClr val="315F91"/>
                </a:solidFill>
              </a:rPr>
              <a:t>02</a:t>
            </a:r>
          </a:p>
        </p:txBody>
      </p:sp>
      <p:sp>
        <p:nvSpPr>
          <p:cNvPr id="13" name="pain-line-1">
            <a:extLst xmlns:a="http://schemas.openxmlformats.org/drawingml/2006/main">
              <a:ext uri="{FF2B5EF4-FFF2-40B4-BE49-F238E27FC236}">
                <a16:creationId xmlns:a16="http://schemas.microsoft.com/office/drawing/2014/main" id="{E981A1AF-AEEC-48FE-B4FB-B23A21C6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19400"/>
            <a:ext cx="47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in-head-1">
            <a:extLst xmlns:a="http://schemas.openxmlformats.org/drawingml/2006/main">
              <a:ext uri="{FF2B5EF4-FFF2-40B4-BE49-F238E27FC236}">
                <a16:creationId xmlns:a16="http://schemas.microsoft.com/office/drawing/2014/main" id="{653FDEB2-7E7A-4E30-8979-8FA138EB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384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52B33"/>
                </a:solidFill>
              </a:defRPr>
            </a:pPr>
            <a:r>
              <a:rPr sz="1650" b="1" i="0">
                <a:solidFill>
                  <a:srgbClr val="252B33"/>
                </a:solidFill>
              </a:rPr>
              <a:t>拆出页面职责</a:t>
            </a:r>
          </a:p>
        </p:txBody>
      </p:sp>
      <p:sp>
        <p:nvSpPr>
          <p:cNvPr id="15" name="pain-desc-1">
            <a:extLst xmlns:a="http://schemas.openxmlformats.org/drawingml/2006/main">
              <a:ext uri="{FF2B5EF4-FFF2-40B4-BE49-F238E27FC236}">
                <a16:creationId xmlns:a16="http://schemas.microsoft.com/office/drawing/2014/main" id="{3A233831-00C9-4698-A4A1-F15D9DF4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718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07780"/>
                </a:solidFill>
              </a:defRPr>
            </a:pPr>
            <a:r>
              <a:rPr sz="1350" b="0" i="0">
                <a:solidFill>
                  <a:srgbClr val="707780"/>
                </a:solidFill>
              </a:rPr>
              <a:t>让每一页只承担一个清楚的任务</a:t>
            </a:r>
          </a:p>
        </p:txBody>
      </p:sp>
      <p:sp>
        <p:nvSpPr>
          <p:cNvPr id="16" name="pain-num-2">
            <a:extLst xmlns:a="http://schemas.openxmlformats.org/drawingml/2006/main">
              <a:ext uri="{FF2B5EF4-FFF2-40B4-BE49-F238E27FC236}">
                <a16:creationId xmlns:a16="http://schemas.microsoft.com/office/drawing/2014/main" id="{7016513E-4B42-4434-BEB2-2230F1BE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15F91"/>
                </a:solidFill>
              </a:defRPr>
            </a:pPr>
            <a:r>
              <a:rPr sz="1350" b="1" i="0">
                <a:solidFill>
                  <a:srgbClr val="315F91"/>
                </a:solidFill>
              </a:rPr>
              <a:t>03</a:t>
            </a:r>
          </a:p>
        </p:txBody>
      </p:sp>
      <p:sp>
        <p:nvSpPr>
          <p:cNvPr id="17" name="pain-line-2">
            <a:extLst xmlns:a="http://schemas.openxmlformats.org/drawingml/2006/main">
              <a:ext uri="{FF2B5EF4-FFF2-40B4-BE49-F238E27FC236}">
                <a16:creationId xmlns:a16="http://schemas.microsoft.com/office/drawing/2014/main" id="{CE439121-8A76-453C-903C-3F8740ED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86200"/>
            <a:ext cx="47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in-head-2">
            <a:extLst xmlns:a="http://schemas.openxmlformats.org/drawingml/2006/main">
              <a:ext uri="{FF2B5EF4-FFF2-40B4-BE49-F238E27FC236}">
                <a16:creationId xmlns:a16="http://schemas.microsoft.com/office/drawing/2014/main" id="{022B3848-5A73-4AF3-A579-D65927E3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052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52B33"/>
                </a:solidFill>
              </a:defRPr>
            </a:pPr>
            <a:r>
              <a:rPr sz="1650" b="1" i="0">
                <a:solidFill>
                  <a:srgbClr val="252B33"/>
                </a:solidFill>
              </a:rPr>
              <a:t>选择表达关系</a:t>
            </a:r>
          </a:p>
        </p:txBody>
      </p:sp>
      <p:sp>
        <p:nvSpPr>
          <p:cNvPr id="19" name="pain-desc-2">
            <a:extLst xmlns:a="http://schemas.openxmlformats.org/drawingml/2006/main">
              <a:ext uri="{FF2B5EF4-FFF2-40B4-BE49-F238E27FC236}">
                <a16:creationId xmlns:a16="http://schemas.microsoft.com/office/drawing/2014/main" id="{9CB10D2A-4185-4766-89E5-F7AB840E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0386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07780"/>
                </a:solidFill>
              </a:defRPr>
            </a:pPr>
            <a:r>
              <a:rPr sz="1350" b="0" i="0">
                <a:solidFill>
                  <a:srgbClr val="707780"/>
                </a:solidFill>
              </a:rPr>
              <a:t>并列、递进、因果、流程不能混用</a:t>
            </a:r>
          </a:p>
        </p:txBody>
      </p:sp>
      <p:sp>
        <p:nvSpPr>
          <p:cNvPr id="20" name="pain-num-3">
            <a:extLst xmlns:a="http://schemas.openxmlformats.org/drawingml/2006/main">
              <a:ext uri="{FF2B5EF4-FFF2-40B4-BE49-F238E27FC236}">
                <a16:creationId xmlns:a16="http://schemas.microsoft.com/office/drawing/2014/main" id="{6BCB1E96-1F07-4D72-90AD-9E20B9EC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00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15F91"/>
                </a:solidFill>
              </a:defRPr>
            </a:pPr>
            <a:r>
              <a:rPr sz="1350" b="1" i="0">
                <a:solidFill>
                  <a:srgbClr val="315F91"/>
                </a:solidFill>
              </a:rPr>
              <a:t>04</a:t>
            </a:r>
          </a:p>
        </p:txBody>
      </p:sp>
      <p:sp>
        <p:nvSpPr>
          <p:cNvPr id="21" name="pain-line-3">
            <a:extLst xmlns:a="http://schemas.openxmlformats.org/drawingml/2006/main">
              <a:ext uri="{FF2B5EF4-FFF2-40B4-BE49-F238E27FC236}">
                <a16:creationId xmlns:a16="http://schemas.microsoft.com/office/drawing/2014/main" id="{0C76CCB1-1ACA-4B8E-99BD-2703C641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953000"/>
            <a:ext cx="47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ain-head-3">
            <a:extLst xmlns:a="http://schemas.openxmlformats.org/drawingml/2006/main">
              <a:ext uri="{FF2B5EF4-FFF2-40B4-BE49-F238E27FC236}">
                <a16:creationId xmlns:a16="http://schemas.microsoft.com/office/drawing/2014/main" id="{AF0E9415-5B36-41B6-8BE8-4C5306ED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7720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52B33"/>
                </a:solidFill>
              </a:defRPr>
            </a:pPr>
            <a:r>
              <a:rPr sz="1650" b="1" i="0">
                <a:solidFill>
                  <a:srgbClr val="252B33"/>
                </a:solidFill>
              </a:rPr>
              <a:t>反复统一细节</a:t>
            </a:r>
          </a:p>
        </p:txBody>
      </p:sp>
      <p:sp>
        <p:nvSpPr>
          <p:cNvPr id="23" name="pain-desc-3">
            <a:extLst xmlns:a="http://schemas.openxmlformats.org/drawingml/2006/main">
              <a:ext uri="{FF2B5EF4-FFF2-40B4-BE49-F238E27FC236}">
                <a16:creationId xmlns:a16="http://schemas.microsoft.com/office/drawing/2014/main" id="{FF0D4D06-843C-46E4-9098-BC01DCFE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1054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07780"/>
                </a:solidFill>
              </a:defRPr>
            </a:pPr>
            <a:r>
              <a:rPr sz="1350" b="0" i="0">
                <a:solidFill>
                  <a:srgbClr val="707780"/>
                </a:solidFill>
              </a:rPr>
              <a:t>字体、颜色、间距和既有页面都要回看</a:t>
            </a:r>
          </a:p>
        </p:txBody>
      </p:sp>
    </p:spTree>
    <p:extLst>
      <p:ext uri="{BB962C8B-B14F-4D97-AF65-F5344CB8AC3E}">
        <p14:creationId xmlns:p14="http://schemas.microsoft.com/office/powerpoint/2010/main" val="8111402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599C70A-E195-4502-9A02-2454900B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52B33"/>
                </a:solidFill>
              </a:defRPr>
            </a:pPr>
            <a:r>
              <a:rPr sz="2400" b="1" i="0">
                <a:solidFill>
                  <a:srgbClr val="252B33"/>
                </a:solidFill>
              </a:rPr>
              <a:t>PPagenT 选择概率密度最大的工作型 PPT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C74EEED7-07C8-45A0-866C-2D8B2CDA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620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-sub">
            <a:extLst xmlns:a="http://schemas.openxmlformats.org/drawingml/2006/main">
              <a:ext uri="{FF2B5EF4-FFF2-40B4-BE49-F238E27FC236}">
                <a16:creationId xmlns:a16="http://schemas.microsoft.com/office/drawing/2014/main" id="{32003EED-F301-4FB3-8699-2E625E25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114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07780"/>
                </a:solidFill>
              </a:defRPr>
            </a:pPr>
            <a:r>
              <a:rPr sz="1200" b="0" i="0">
                <a:solidFill>
                  <a:srgbClr val="707780"/>
                </a:solidFill>
              </a:rPr>
              <a:t>目标不是覆盖所有需求，而是在重复发生的场景里稳定过线。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459B8C7-07DD-4F5F-A4E9-E8072185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707780"/>
                </a:solidFill>
              </a:defRPr>
            </a:pPr>
            <a:r>
              <a:rPr sz="1050" b="1" i="0">
                <a:solidFill>
                  <a:srgbClr val="707780"/>
                </a:solidFill>
              </a:rPr>
              <a:t>03</a:t>
            </a:r>
          </a:p>
        </p:txBody>
      </p:sp>
      <p:sp>
        <p:nvSpPr>
          <p:cNvPr id="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ACC08DA9-154B-4BF6-8428-BF2966C1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07780"/>
                </a:solidFill>
              </a:defRPr>
            </a:pPr>
            <a:r>
              <a:rPr sz="1050" b="0" i="0">
                <a:solidFill>
                  <a:srgbClr val="707780"/>
                </a:solidFill>
              </a:rPr>
              <a:t>来源：PPagenT 产品叙事（分配原稿）</a:t>
            </a:r>
          </a:p>
        </p:txBody>
      </p:sp>
      <p:sp>
        <p:nvSpPr>
          <p:cNvPr id="6" name="market-lead">
            <a:extLst xmlns:a="http://schemas.openxmlformats.org/drawingml/2006/main">
              <a:ext uri="{FF2B5EF4-FFF2-40B4-BE49-F238E27FC236}">
                <a16:creationId xmlns:a16="http://schemas.microsoft.com/office/drawing/2014/main" id="{C485FB7C-0EA1-46E7-B025-89BDA7D3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6496F"/>
                </a:solidFill>
              </a:defRPr>
            </a:pPr>
            <a:r>
              <a:rPr sz="1950" b="1" i="0">
                <a:solidFill>
                  <a:srgbClr val="26496F"/>
                </a:solidFill>
              </a:rPr>
              <a:t>更多需求位于中间：</a:t>
            </a:r>
          </a:p>
          <a:p xmlns:a="http://schemas.openxmlformats.org/drawingml/2006/main">
            <a:pPr algn="l">
              <a:defRPr sz="1950" b="1" i="0">
                <a:solidFill>
                  <a:srgbClr val="26496F"/>
                </a:solidFill>
              </a:defRPr>
            </a:pPr>
            <a:r>
              <a:rPr sz="1950" b="1" i="0">
                <a:solidFill>
                  <a:srgbClr val="26496F"/>
                </a:solidFill>
              </a:rPr>
              <a:t>要快、清楚、体面、符合规范，</a:t>
            </a:r>
          </a:p>
          <a:p xmlns:a="http://schemas.openxmlformats.org/drawingml/2006/main">
            <a:pPr algn="l">
              <a:defRPr sz="1950" b="1" i="0">
                <a:solidFill>
                  <a:srgbClr val="26496F"/>
                </a:solidFill>
              </a:defRPr>
            </a:pPr>
            <a:r>
              <a:rPr sz="1950" b="1" i="0">
                <a:solidFill>
                  <a:srgbClr val="26496F"/>
                </a:solidFill>
              </a:rPr>
              <a:t>还要能继续修改。</a:t>
            </a:r>
          </a:p>
        </p:txBody>
      </p:sp>
      <p:sp>
        <p:nvSpPr>
          <p:cNvPr id="7" name="market-detail">
            <a:extLst xmlns:a="http://schemas.openxmlformats.org/drawingml/2006/main">
              <a:ext uri="{FF2B5EF4-FFF2-40B4-BE49-F238E27FC236}">
                <a16:creationId xmlns:a16="http://schemas.microsoft.com/office/drawing/2014/main" id="{3D651AE5-2305-4D0D-A20A-55647370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52B33"/>
                </a:solidFill>
              </a:defRPr>
            </a:pPr>
            <a:r>
              <a:rPr sz="1500" b="0" i="0">
                <a:solidFill>
                  <a:srgbClr val="252B33"/>
                </a:solidFill>
              </a:rPr>
              <a:t>发布会与高水平比赛需要高度定制；</a:t>
            </a:r>
          </a:p>
          <a:p xmlns:a="http://schemas.openxmlformats.org/drawingml/2006/main">
            <a:pPr algn="l">
              <a:defRPr sz="1500" b="0" i="0">
                <a:solidFill>
                  <a:srgbClr val="252B33"/>
                </a:solidFill>
              </a:defRPr>
            </a:pPr>
            <a:r>
              <a:rPr sz="1500" b="0" i="0">
                <a:solidFill>
                  <a:srgbClr val="252B33"/>
                </a:solidFill>
              </a:rPr>
              <a:t>纯粹“把文字放上去”又几乎不在意版式。</a:t>
            </a:r>
          </a:p>
          <a:p xmlns:a="http://schemas.openxmlformats.org/drawingml/2006/main">
            <a:pPr algn="l">
              <a:defRPr sz="1500" b="0" i="0">
                <a:solidFill>
                  <a:srgbClr val="252B33"/>
                </a:solidFill>
              </a:defRPr>
            </a:pPr>
            <a:r>
              <a:rPr sz="1500" b="0" i="0">
                <a:solidFill>
                  <a:srgbClr val="252B33"/>
                </a:solidFill>
              </a:rPr>
              <a:t>PPagenT 先服务学校、科研院所、事业单位、</a:t>
            </a:r>
          </a:p>
          <a:p xmlns:a="http://schemas.openxmlformats.org/drawingml/2006/main">
            <a:pPr algn="l">
              <a:defRPr sz="1500" b="0" i="0">
                <a:solidFill>
                  <a:srgbClr val="252B33"/>
                </a:solidFill>
              </a:defRPr>
            </a:pPr>
            <a:r>
              <a:rPr sz="1500" b="0" i="0">
                <a:solidFill>
                  <a:srgbClr val="252B33"/>
                </a:solidFill>
              </a:rPr>
              <a:t>央国企和普通企业的工作型 PPT。</a:t>
            </a:r>
          </a:p>
        </p:txBody>
      </p:sp>
      <p:sp>
        <p:nvSpPr>
          <p:cNvPr id="8" name="market-spectrum">
            <a:extLst xmlns:a="http://schemas.openxmlformats.org/drawingml/2006/main">
              <a:ext uri="{FF2B5EF4-FFF2-40B4-BE49-F238E27FC236}">
                <a16:creationId xmlns:a16="http://schemas.microsoft.com/office/drawing/2014/main" id="{775E639D-C4AE-4709-930A-944CD319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62125"/>
            <a:ext cx="4953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5ECF4"/>
            </a:solidFill>
            <a:prstDash val="solid"/>
          </a:ln>
        </p:spPr>
      </p:sp>
      <p:sp>
        <p:nvSpPr>
          <p:cNvPr id="9" name="market-left">
            <a:extLst xmlns:a="http://schemas.openxmlformats.org/drawingml/2006/main">
              <a:ext uri="{FF2B5EF4-FFF2-40B4-BE49-F238E27FC236}">
                <a16:creationId xmlns:a16="http://schemas.microsoft.com/office/drawing/2014/main" id="{2CF57851-9C75-4CE8-973A-6A693FE2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707780"/>
                </a:solidFill>
              </a:defRPr>
            </a:pPr>
            <a:r>
              <a:rPr sz="1350" b="1" i="0">
                <a:solidFill>
                  <a:srgbClr val="707780"/>
                </a:solidFill>
              </a:rPr>
              <a:t>高度定制</a:t>
            </a:r>
          </a:p>
          <a:p xmlns:a="http://schemas.openxmlformats.org/drawingml/2006/main">
            <a:pPr algn="ctr">
              <a:defRPr sz="1350" b="1" i="0">
                <a:solidFill>
                  <a:srgbClr val="707780"/>
                </a:solidFill>
              </a:defRPr>
            </a:pPr>
            <a:r>
              <a:rPr sz="1350" b="1" i="0">
                <a:solidFill>
                  <a:srgbClr val="707780"/>
                </a:solidFill>
              </a:rPr>
              <a:t>视觉创意</a:t>
            </a:r>
          </a:p>
        </p:txBody>
      </p:sp>
      <p:sp>
        <p:nvSpPr>
          <p:cNvPr id="10" name="market-right">
            <a:extLst xmlns:a="http://schemas.openxmlformats.org/drawingml/2006/main">
              <a:ext uri="{FF2B5EF4-FFF2-40B4-BE49-F238E27FC236}">
                <a16:creationId xmlns:a16="http://schemas.microsoft.com/office/drawing/2014/main" id="{6F60D773-CD53-417A-BA35-C2C1C40E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765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707780"/>
                </a:solidFill>
              </a:defRPr>
            </a:pPr>
            <a:r>
              <a:rPr sz="1350" b="1" i="0">
                <a:solidFill>
                  <a:srgbClr val="707780"/>
                </a:solidFill>
              </a:rPr>
              <a:t>只要有字</a:t>
            </a:r>
          </a:p>
          <a:p xmlns:a="http://schemas.openxmlformats.org/drawingml/2006/main">
            <a:pPr algn="ctr">
              <a:defRPr sz="1350" b="1" i="0">
                <a:solidFill>
                  <a:srgbClr val="707780"/>
                </a:solidFill>
              </a:defRPr>
            </a:pPr>
            <a:r>
              <a:rPr sz="1350" b="1" i="0">
                <a:solidFill>
                  <a:srgbClr val="707780"/>
                </a:solidFill>
              </a:rPr>
              <a:t>即可</a:t>
            </a:r>
          </a:p>
        </p:txBody>
      </p:sp>
      <p:sp>
        <p:nvSpPr>
          <p:cNvPr id="11" name="market-middle">
            <a:extLst xmlns:a="http://schemas.openxmlformats.org/drawingml/2006/main">
              <a:ext uri="{FF2B5EF4-FFF2-40B4-BE49-F238E27FC236}">
                <a16:creationId xmlns:a16="http://schemas.microsoft.com/office/drawing/2014/main" id="{0A012E69-A253-43E1-B2B2-04981325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95500"/>
            <a:ext cx="1524000" cy="16192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2" name="market-middle-title">
            <a:extLst xmlns:a="http://schemas.openxmlformats.org/drawingml/2006/main">
              <a:ext uri="{FF2B5EF4-FFF2-40B4-BE49-F238E27FC236}">
                <a16:creationId xmlns:a16="http://schemas.microsoft.com/office/drawing/2014/main" id="{CD31DC3B-47EE-491F-8BAD-4F69940D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812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工作型</a:t>
            </a:r>
          </a:p>
          <a:p xmlns:a="http://schemas.openxmlformats.org/drawingml/2006/main">
            <a:pPr algn="ctr"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PPT</a:t>
            </a:r>
          </a:p>
        </p:txBody>
      </p:sp>
      <p:sp>
        <p:nvSpPr>
          <p:cNvPr id="13" name="market-middle-copy">
            <a:extLst xmlns:a="http://schemas.openxmlformats.org/drawingml/2006/main">
              <a:ext uri="{FF2B5EF4-FFF2-40B4-BE49-F238E27FC236}">
                <a16:creationId xmlns:a16="http://schemas.microsoft.com/office/drawing/2014/main" id="{5144B417-03D0-4871-A614-ED8A3DED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480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E5EEF7"/>
                </a:solidFill>
              </a:defRPr>
            </a:pPr>
            <a:r>
              <a:rPr sz="1350" b="0" i="0">
                <a:solidFill>
                  <a:srgbClr val="E5EEF7"/>
                </a:solidFill>
              </a:rPr>
              <a:t>清楚 · 体面</a:t>
            </a:r>
          </a:p>
          <a:p xmlns:a="http://schemas.openxmlformats.org/drawingml/2006/main">
            <a:pPr algn="ctr">
              <a:defRPr sz="1350" b="0" i="0">
                <a:solidFill>
                  <a:srgbClr val="E5EEF7"/>
                </a:solidFill>
              </a:defRPr>
            </a:pPr>
            <a:r>
              <a:rPr sz="1350" b="0" i="0">
                <a:solidFill>
                  <a:srgbClr val="E5EEF7"/>
                </a:solidFill>
              </a:rPr>
              <a:t>可修改</a:t>
            </a:r>
          </a:p>
        </p:txBody>
      </p:sp>
      <p:sp>
        <p:nvSpPr>
          <p:cNvPr id="14" name="market-axis">
            <a:extLst xmlns:a="http://schemas.openxmlformats.org/drawingml/2006/main">
              <a:ext uri="{FF2B5EF4-FFF2-40B4-BE49-F238E27FC236}">
                <a16:creationId xmlns:a16="http://schemas.microsoft.com/office/drawing/2014/main" id="{414E5CFE-A5C2-4B48-AA63-C9BE8FCF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38625"/>
            <a:ext cx="2714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1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arket-axis-label">
            <a:extLst xmlns:a="http://schemas.openxmlformats.org/drawingml/2006/main">
              <a:ext uri="{FF2B5EF4-FFF2-40B4-BE49-F238E27FC236}">
                <a16:creationId xmlns:a16="http://schemas.microsoft.com/office/drawing/2014/main" id="{23A35437-0797-468E-9032-E123EA1F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624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707780"/>
                </a:solidFill>
              </a:defRPr>
            </a:pPr>
            <a:r>
              <a:rPr sz="1200" b="0" i="0">
                <a:solidFill>
                  <a:srgbClr val="707780"/>
                </a:solidFill>
              </a:rPr>
              <a:t>需求分布（概念示意，不是测量）</a:t>
            </a:r>
          </a:p>
        </p:txBody>
      </p:sp>
      <p:sp>
        <p:nvSpPr>
          <p:cNvPr id="16" name="market-r">
            <a:extLst xmlns:a="http://schemas.openxmlformats.org/drawingml/2006/main">
              <a:ext uri="{FF2B5EF4-FFF2-40B4-BE49-F238E27FC236}">
                <a16:creationId xmlns:a16="http://schemas.microsoft.com/office/drawing/2014/main" id="{98D37AAF-1D5D-4C87-A855-697D556B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191125"/>
            <a:ext cx="4905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26496F"/>
                </a:solidFill>
              </a:defRPr>
            </a:pPr>
            <a:r>
              <a:rPr sz="1800" b="1" i="0">
                <a:solidFill>
                  <a:srgbClr val="26496F"/>
                </a:solidFill>
              </a:rPr>
              <a:t>R = P(Q ≥ Q可用 | 目标工作场景)</a:t>
            </a:r>
          </a:p>
        </p:txBody>
      </p:sp>
    </p:spTree>
    <p:extLst>
      <p:ext uri="{BB962C8B-B14F-4D97-AF65-F5344CB8AC3E}">
        <p14:creationId xmlns:p14="http://schemas.microsoft.com/office/powerpoint/2010/main" val="16274732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99DA15-A1D6-4F10-B5A0-82180BED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52B33"/>
                </a:solidFill>
              </a:defRPr>
            </a:pPr>
            <a:r>
              <a:rPr sz="2400" b="1" i="0">
                <a:solidFill>
                  <a:srgbClr val="252B33"/>
                </a:solidFill>
              </a:rPr>
              <a:t>产品价值在于稳定跨过可用线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7F4DB82E-E17F-43C4-9606-DAD6139B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620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-sub">
            <a:extLst xmlns:a="http://schemas.openxmlformats.org/drawingml/2006/main">
              <a:ext uri="{FF2B5EF4-FFF2-40B4-BE49-F238E27FC236}">
                <a16:creationId xmlns:a16="http://schemas.microsoft.com/office/drawing/2014/main" id="{9C956C20-9BD2-4F8C-A694-A6028B64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114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07780"/>
                </a:solidFill>
              </a:defRPr>
            </a:pPr>
            <a:r>
              <a:rPr sz="1200" b="0" i="0">
                <a:solidFill>
                  <a:srgbClr val="707780"/>
                </a:solidFill>
              </a:rPr>
              <a:t>“80 分”和“95 分”是形象比喻，不是测量结果。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9043BA7-1A4A-4887-B38C-A6D873CD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707780"/>
                </a:solidFill>
              </a:defRPr>
            </a:pPr>
            <a:r>
              <a:rPr sz="1050" b="1" i="0">
                <a:solidFill>
                  <a:srgbClr val="707780"/>
                </a:solidFill>
              </a:rPr>
              <a:t>04</a:t>
            </a:r>
          </a:p>
        </p:txBody>
      </p:sp>
      <p:sp>
        <p:nvSpPr>
          <p:cNvPr id="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2A7B94C-4DF4-48AD-8F15-41044D6E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07780"/>
                </a:solidFill>
              </a:defRPr>
            </a:pPr>
            <a:r>
              <a:rPr sz="1050" b="0" i="0">
                <a:solidFill>
                  <a:srgbClr val="707780"/>
                </a:solidFill>
              </a:rPr>
              <a:t>来源：PPagenT 产品叙事（分配原稿）</a:t>
            </a:r>
          </a:p>
        </p:txBody>
      </p:sp>
      <p:sp>
        <p:nvSpPr>
          <p:cNvPr id="6" name="score-lead">
            <a:extLst xmlns:a="http://schemas.openxmlformats.org/drawingml/2006/main">
              <a:ext uri="{FF2B5EF4-FFF2-40B4-BE49-F238E27FC236}">
                <a16:creationId xmlns:a16="http://schemas.microsoft.com/office/drawing/2014/main" id="{2B9C6860-AC21-44A8-BA3D-3AC06F7E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39528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26496F"/>
                </a:solidFill>
              </a:defRPr>
            </a:pPr>
            <a:r>
              <a:rPr sz="2250" b="1" i="0">
                <a:solidFill>
                  <a:srgbClr val="26496F"/>
                </a:solidFill>
              </a:rPr>
              <a:t>对工作来说，</a:t>
            </a:r>
          </a:p>
          <a:p xmlns:a="http://schemas.openxmlformats.org/drawingml/2006/main">
            <a:pPr algn="l">
              <a:defRPr sz="2250" b="1" i="0">
                <a:solidFill>
                  <a:srgbClr val="26496F"/>
                </a:solidFill>
              </a:defRPr>
            </a:pPr>
            <a:r>
              <a:rPr sz="2250" b="1" i="0">
                <a:solidFill>
                  <a:srgbClr val="26496F"/>
                </a:solidFill>
              </a:rPr>
              <a:t>稳定的 80 分，</a:t>
            </a:r>
          </a:p>
          <a:p xmlns:a="http://schemas.openxmlformats.org/drawingml/2006/main">
            <a:pPr algn="l">
              <a:defRPr sz="2250" b="1" i="0">
                <a:solidFill>
                  <a:srgbClr val="26496F"/>
                </a:solidFill>
              </a:defRPr>
            </a:pPr>
            <a:r>
              <a:rPr sz="2250" b="1" i="0">
                <a:solidFill>
                  <a:srgbClr val="26496F"/>
                </a:solidFill>
              </a:rPr>
              <a:t>很多时候比随机的 95 分更值钱。</a:t>
            </a:r>
          </a:p>
        </p:txBody>
      </p:sp>
      <p:sp>
        <p:nvSpPr>
          <p:cNvPr id="7" name="score-body">
            <a:extLst xmlns:a="http://schemas.openxmlformats.org/drawingml/2006/main">
              <a:ext uri="{FF2B5EF4-FFF2-40B4-BE49-F238E27FC236}">
                <a16:creationId xmlns:a16="http://schemas.microsoft.com/office/drawing/2014/main" id="{29D819BF-F43C-4D7C-8533-02ACD33C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52B33"/>
                </a:solidFill>
              </a:defRPr>
            </a:pPr>
            <a:r>
              <a:rPr sz="1500" b="0" i="0">
                <a:solidFill>
                  <a:srgbClr val="252B33"/>
                </a:solidFill>
              </a:rPr>
              <a:t>明天上午九点要汇报时，真正需要的是：</a:t>
            </a:r>
          </a:p>
          <a:p xmlns:a="http://schemas.openxmlformats.org/drawingml/2006/main">
            <a:pPr algn="l">
              <a:defRPr sz="1500" b="0" i="0">
                <a:solidFill>
                  <a:srgbClr val="252B33"/>
                </a:solidFill>
              </a:defRPr>
            </a:pPr>
            <a:r>
              <a:rPr sz="1500" b="0" i="0">
                <a:solidFill>
                  <a:srgbClr val="252B33"/>
                </a:solidFill>
              </a:rPr>
              <a:t>逻辑清楚、版式规范、符合单位风格，</a:t>
            </a:r>
          </a:p>
          <a:p xmlns:a="http://schemas.openxmlformats.org/drawingml/2006/main">
            <a:pPr algn="l">
              <a:defRPr sz="1500" b="0" i="0">
                <a:solidFill>
                  <a:srgbClr val="252B33"/>
                </a:solidFill>
              </a:defRPr>
            </a:pPr>
            <a:r>
              <a:rPr sz="1500" b="0" i="0">
                <a:solidFill>
                  <a:srgbClr val="252B33"/>
                </a:solidFill>
              </a:rPr>
              <a:t>第二天仍然可以继续修改。</a:t>
            </a:r>
          </a:p>
        </p:txBody>
      </p:sp>
      <p:sp>
        <p:nvSpPr>
          <p:cNvPr id="8" name="score-axis">
            <a:extLst xmlns:a="http://schemas.openxmlformats.org/drawingml/2006/main">
              <a:ext uri="{FF2B5EF4-FFF2-40B4-BE49-F238E27FC236}">
                <a16:creationId xmlns:a16="http://schemas.microsoft.com/office/drawing/2014/main" id="{5922574C-282C-4BD4-A15D-F8369716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7675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1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core-axis-left">
            <a:extLst xmlns:a="http://schemas.openxmlformats.org/drawingml/2006/main">
              <a:ext uri="{FF2B5EF4-FFF2-40B4-BE49-F238E27FC236}">
                <a16:creationId xmlns:a16="http://schemas.microsoft.com/office/drawing/2014/main" id="{1CCDA2BB-1C73-4498-A5B5-EEC57734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6863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707780"/>
                </a:solidFill>
              </a:defRPr>
            </a:pPr>
            <a:r>
              <a:rPr sz="1200" b="0" i="0">
                <a:solidFill>
                  <a:srgbClr val="707780"/>
                </a:solidFill>
              </a:rPr>
              <a:t>不可用</a:t>
            </a:r>
          </a:p>
        </p:txBody>
      </p:sp>
      <p:sp>
        <p:nvSpPr>
          <p:cNvPr id="10" name="score-80">
            <a:extLst xmlns:a="http://schemas.openxmlformats.org/drawingml/2006/main">
              <a:ext uri="{FF2B5EF4-FFF2-40B4-BE49-F238E27FC236}">
                <a16:creationId xmlns:a16="http://schemas.microsoft.com/office/drawing/2014/main" id="{3548E115-A9BE-4115-85F0-A140B0F5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43350"/>
            <a:ext cx="13811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1" name="score-80-text">
            <a:extLst xmlns:a="http://schemas.openxmlformats.org/drawingml/2006/main">
              <a:ext uri="{FF2B5EF4-FFF2-40B4-BE49-F238E27FC236}">
                <a16:creationId xmlns:a16="http://schemas.microsoft.com/office/drawing/2014/main" id="{7BB3D0F1-8F43-492D-8595-06E7574C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195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80 分</a:t>
            </a:r>
          </a:p>
        </p:txBody>
      </p:sp>
      <p:sp>
        <p:nvSpPr>
          <p:cNvPr id="12" name="score-80-note">
            <a:extLst xmlns:a="http://schemas.openxmlformats.org/drawingml/2006/main">
              <a:ext uri="{FF2B5EF4-FFF2-40B4-BE49-F238E27FC236}">
                <a16:creationId xmlns:a16="http://schemas.microsoft.com/office/drawing/2014/main" id="{3FC6D4B0-6277-4063-B573-05524C62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29150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6496F"/>
                </a:solidFill>
              </a:defRPr>
            </a:pPr>
            <a:r>
              <a:rPr sz="1350" b="1" i="0">
                <a:solidFill>
                  <a:srgbClr val="26496F"/>
                </a:solidFill>
              </a:rPr>
              <a:t>稳定可用</a:t>
            </a:r>
          </a:p>
        </p:txBody>
      </p:sp>
      <p:sp>
        <p:nvSpPr>
          <p:cNvPr id="13" name="score-95">
            <a:extLst xmlns:a="http://schemas.openxmlformats.org/drawingml/2006/main">
              <a:ext uri="{FF2B5EF4-FFF2-40B4-BE49-F238E27FC236}">
                <a16:creationId xmlns:a16="http://schemas.microsoft.com/office/drawing/2014/main" id="{DA7B1A6D-313A-4255-A708-890BDB7B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14675"/>
            <a:ext cx="1381125" cy="1362075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4" name="score-95-text">
            <a:extLst xmlns:a="http://schemas.openxmlformats.org/drawingml/2006/main">
              <a:ext uri="{FF2B5EF4-FFF2-40B4-BE49-F238E27FC236}">
                <a16:creationId xmlns:a16="http://schemas.microsoft.com/office/drawing/2014/main" id="{14216E3D-48FF-4FC2-96C2-BD4B9FB0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27660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6496F"/>
                </a:solidFill>
              </a:defRPr>
            </a:pPr>
            <a:r>
              <a:rPr sz="2250" b="1" i="0">
                <a:solidFill>
                  <a:srgbClr val="26496F"/>
                </a:solidFill>
              </a:rPr>
              <a:t>95 分</a:t>
            </a:r>
          </a:p>
        </p:txBody>
      </p:sp>
      <p:sp>
        <p:nvSpPr>
          <p:cNvPr id="15" name="score-95-note">
            <a:extLst xmlns:a="http://schemas.openxmlformats.org/drawingml/2006/main">
              <a:ext uri="{FF2B5EF4-FFF2-40B4-BE49-F238E27FC236}">
                <a16:creationId xmlns:a16="http://schemas.microsoft.com/office/drawing/2014/main" id="{6F7A4A49-6126-4E65-982C-F56664D5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781425"/>
            <a:ext cx="1190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707780"/>
                </a:solidFill>
              </a:defRPr>
            </a:pPr>
            <a:r>
              <a:rPr sz="1200" b="0" i="0">
                <a:solidFill>
                  <a:srgbClr val="707780"/>
                </a:solidFill>
              </a:rPr>
              <a:t>偶然惊艳</a:t>
            </a:r>
          </a:p>
          <a:p xmlns:a="http://schemas.openxmlformats.org/drawingml/2006/main">
            <a:pPr algn="ctr">
              <a:defRPr sz="1200" b="0" i="0">
                <a:solidFill>
                  <a:srgbClr val="707780"/>
                </a:solidFill>
              </a:defRPr>
            </a:pPr>
            <a:r>
              <a:rPr sz="1200" b="0" i="0">
                <a:solidFill>
                  <a:srgbClr val="707780"/>
                </a:solidFill>
              </a:rPr>
              <a:t>成本可能迅速上升</a:t>
            </a:r>
          </a:p>
        </p:txBody>
      </p:sp>
      <p:sp>
        <p:nvSpPr>
          <p:cNvPr id="16" name="score-target">
            <a:extLst xmlns:a="http://schemas.openxmlformats.org/drawingml/2006/main">
              <a:ext uri="{FF2B5EF4-FFF2-40B4-BE49-F238E27FC236}">
                <a16:creationId xmlns:a16="http://schemas.microsoft.com/office/drawing/2014/main" id="{230CA8B7-6E58-4441-A9E2-85096B8C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8101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6496F"/>
                </a:solidFill>
              </a:defRPr>
            </a:pPr>
            <a:r>
              <a:rPr sz="1200" b="1" i="0">
                <a:solidFill>
                  <a:srgbClr val="26496F"/>
                </a:solidFill>
              </a:rPr>
              <a:t>Q可用</a:t>
            </a:r>
          </a:p>
        </p:txBody>
      </p:sp>
      <p:sp>
        <p:nvSpPr>
          <p:cNvPr id="17" name="score-foot">
            <a:extLst xmlns:a="http://schemas.openxmlformats.org/drawingml/2006/main">
              <a:ext uri="{FF2B5EF4-FFF2-40B4-BE49-F238E27FC236}">
                <a16:creationId xmlns:a16="http://schemas.microsoft.com/office/drawing/2014/main" id="{11422493-3D39-4DE6-82E5-61E19A15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72125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52B33"/>
                </a:solidFill>
              </a:defRPr>
            </a:pPr>
            <a:r>
              <a:rPr sz="1350" b="1" i="0">
                <a:solidFill>
                  <a:srgbClr val="252B33"/>
                </a:solidFill>
              </a:rPr>
              <a:t>PPagenT 最大化的是随机工作稿被可靠转化为可直接使用 PPT 的概率。</a:t>
            </a:r>
          </a:p>
        </p:txBody>
      </p:sp>
    </p:spTree>
    <p:extLst>
      <p:ext uri="{BB962C8B-B14F-4D97-AF65-F5344CB8AC3E}">
        <p14:creationId xmlns:p14="http://schemas.microsoft.com/office/powerpoint/2010/main" val="11042752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A13B8FB-7540-4707-83B9-5825841C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52B33"/>
                </a:solidFill>
              </a:defRPr>
            </a:pPr>
            <a:r>
              <a:rPr sz="2400" b="1" i="0">
                <a:solidFill>
                  <a:srgbClr val="252B33"/>
                </a:solidFill>
              </a:rPr>
              <a:t>限制一部分自由，换取可预测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1840683A-558C-499A-A6F8-B02B5FF2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620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-sub">
            <a:extLst xmlns:a="http://schemas.openxmlformats.org/drawingml/2006/main">
              <a:ext uri="{FF2B5EF4-FFF2-40B4-BE49-F238E27FC236}">
                <a16:creationId xmlns:a16="http://schemas.microsoft.com/office/drawing/2014/main" id="{B1A71413-1873-42E6-B8AB-ED6B0583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114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07780"/>
                </a:solidFill>
              </a:defRPr>
            </a:pPr>
            <a:r>
              <a:rPr sz="1200" b="0" i="0">
                <a:solidFill>
                  <a:srgbClr val="707780"/>
                </a:solidFill>
              </a:rPr>
              <a:t>正式工作更需要已经验证过的边界，而不是每次都从零决定。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BC3F998-E162-4BE5-92E8-2D980177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707780"/>
                </a:solidFill>
              </a:defRPr>
            </a:pPr>
            <a:r>
              <a:rPr sz="1050" b="1" i="0">
                <a:solidFill>
                  <a:srgbClr val="707780"/>
                </a:solidFill>
              </a:rPr>
              <a:t>05</a:t>
            </a:r>
          </a:p>
        </p:txBody>
      </p:sp>
      <p:sp>
        <p:nvSpPr>
          <p:cNvPr id="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B50260C9-62EA-4508-B847-34DB84F5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07780"/>
                </a:solidFill>
              </a:defRPr>
            </a:pPr>
            <a:r>
              <a:rPr sz="1050" b="0" i="0">
                <a:solidFill>
                  <a:srgbClr val="707780"/>
                </a:solidFill>
              </a:rPr>
              <a:t>来源：PPagenT 产品叙事（分配原稿）</a:t>
            </a:r>
          </a:p>
        </p:txBody>
      </p:sp>
      <p:sp>
        <p:nvSpPr>
          <p:cNvPr id="6" name="constraint-lead">
            <a:extLst xmlns:a="http://schemas.openxmlformats.org/drawingml/2006/main">
              <a:ext uri="{FF2B5EF4-FFF2-40B4-BE49-F238E27FC236}">
                <a16:creationId xmlns:a16="http://schemas.microsoft.com/office/drawing/2014/main" id="{78946E7D-0CD6-436D-B225-9793E34F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447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26496F"/>
                </a:solidFill>
              </a:defRPr>
            </a:pPr>
            <a:r>
              <a:rPr sz="2025" b="1" i="0">
                <a:solidFill>
                  <a:srgbClr val="26496F"/>
                </a:solidFill>
              </a:rPr>
              <a:t>自由度越高，理论上限越高；</a:t>
            </a:r>
          </a:p>
          <a:p xmlns:a="http://schemas.openxmlformats.org/drawingml/2006/main">
            <a:pPr algn="l">
              <a:defRPr sz="2025" b="1" i="0">
                <a:solidFill>
                  <a:srgbClr val="26496F"/>
                </a:solidFill>
              </a:defRPr>
            </a:pPr>
            <a:r>
              <a:rPr sz="2025" b="1" i="0">
                <a:solidFill>
                  <a:srgbClr val="26496F"/>
                </a:solidFill>
              </a:rPr>
              <a:t>状态空间越大，失败模式也越多。</a:t>
            </a:r>
          </a:p>
        </p:txBody>
      </p:sp>
      <p:sp>
        <p:nvSpPr>
          <p:cNvPr id="7" name="constraint-body">
            <a:extLst xmlns:a="http://schemas.openxmlformats.org/drawingml/2006/main">
              <a:ext uri="{FF2B5EF4-FFF2-40B4-BE49-F238E27FC236}">
                <a16:creationId xmlns:a16="http://schemas.microsoft.com/office/drawing/2014/main" id="{C89D3074-8C8B-438E-9153-9858B399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0375"/>
            <a:ext cx="4333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52B33"/>
                </a:solidFill>
              </a:defRPr>
            </a:pPr>
            <a:r>
              <a:rPr sz="1500" b="0" i="0">
                <a:solidFill>
                  <a:srgbClr val="252B33"/>
                </a:solidFill>
              </a:rPr>
              <a:t>学校、企业和团队都有长期形成的表达方式。</a:t>
            </a:r>
          </a:p>
          <a:p xmlns:a="http://schemas.openxmlformats.org/drawingml/2006/main">
            <a:pPr algn="l">
              <a:defRPr sz="1500" b="0" i="0">
                <a:solidFill>
                  <a:srgbClr val="252B33"/>
                </a:solidFill>
              </a:defRPr>
            </a:pPr>
            <a:r>
              <a:rPr sz="1500" b="0" i="0">
                <a:solidFill>
                  <a:srgbClr val="252B33"/>
                </a:solidFill>
              </a:rPr>
              <a:t>颜色、字体、Logo、页眉页脚与好用结构</a:t>
            </a:r>
          </a:p>
          <a:p xmlns:a="http://schemas.openxmlformats.org/drawingml/2006/main">
            <a:pPr algn="l">
              <a:defRPr sz="1500" b="0" i="0">
                <a:solidFill>
                  <a:srgbClr val="252B33"/>
                </a:solidFill>
              </a:defRPr>
            </a:pPr>
            <a:r>
              <a:rPr sz="1500" b="0" i="0">
                <a:solidFill>
                  <a:srgbClr val="252B33"/>
                </a:solidFill>
              </a:rPr>
              <a:t>本来就应该保持稳定。</a:t>
            </a:r>
          </a:p>
        </p:txBody>
      </p:sp>
      <p:sp>
        <p:nvSpPr>
          <p:cNvPr id="8" name="constraint-quote">
            <a:extLst xmlns:a="http://schemas.openxmlformats.org/drawingml/2006/main">
              <a:ext uri="{FF2B5EF4-FFF2-40B4-BE49-F238E27FC236}">
                <a16:creationId xmlns:a16="http://schemas.microsoft.com/office/drawing/2014/main" id="{F8946F98-3EB7-45FA-9D31-3044D38B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006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15F91"/>
                </a:solidFill>
              </a:defRPr>
            </a:pPr>
            <a:r>
              <a:rPr sz="1650" b="1" i="0">
                <a:solidFill>
                  <a:srgbClr val="315F91"/>
                </a:solidFill>
              </a:rPr>
              <a:t>每次都不一样，有时候才是缺点。</a:t>
            </a:r>
          </a:p>
        </p:txBody>
      </p:sp>
      <p:sp>
        <p:nvSpPr>
          <p:cNvPr id="9" name="constraint-0">
            <a:extLst xmlns:a="http://schemas.openxmlformats.org/drawingml/2006/main">
              <a:ext uri="{FF2B5EF4-FFF2-40B4-BE49-F238E27FC236}">
                <a16:creationId xmlns:a16="http://schemas.microsoft.com/office/drawing/2014/main" id="{911016FA-C185-418B-BED6-2CB7134B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66875"/>
            <a:ext cx="476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5ECF4"/>
            </a:solidFill>
            <a:prstDash val="solid"/>
          </a:ln>
        </p:spPr>
      </p:sp>
      <p:sp>
        <p:nvSpPr>
          <p:cNvPr id="10" name="constraint-head-0">
            <a:extLst xmlns:a="http://schemas.openxmlformats.org/drawingml/2006/main">
              <a:ext uri="{FF2B5EF4-FFF2-40B4-BE49-F238E27FC236}">
                <a16:creationId xmlns:a16="http://schemas.microsoft.com/office/drawing/2014/main" id="{2E1AD9D3-0A5E-47E9-9F52-A88A506B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1927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52B33"/>
                </a:solidFill>
              </a:defRPr>
            </a:pPr>
            <a:r>
              <a:rPr sz="1650" b="1" i="0">
                <a:solidFill>
                  <a:srgbClr val="252B33"/>
                </a:solidFill>
              </a:rPr>
              <a:t>组织视觉规范</a:t>
            </a:r>
          </a:p>
        </p:txBody>
      </p:sp>
      <p:sp>
        <p:nvSpPr>
          <p:cNvPr id="11" name="constraint-desc-0">
            <a:extLst xmlns:a="http://schemas.openxmlformats.org/drawingml/2006/main">
              <a:ext uri="{FF2B5EF4-FFF2-40B4-BE49-F238E27FC236}">
                <a16:creationId xmlns:a16="http://schemas.microsoft.com/office/drawing/2014/main" id="{CF5F6752-C878-4034-8C2E-63B7D95F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24075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707780"/>
                </a:solidFill>
              </a:defRPr>
            </a:pPr>
            <a:r>
              <a:rPr sz="1350" b="0" i="0">
                <a:solidFill>
                  <a:srgbClr val="707780"/>
                </a:solidFill>
              </a:rPr>
              <a:t>固定颜色、字体、Logo 与页面骨架</a:t>
            </a:r>
          </a:p>
        </p:txBody>
      </p:sp>
      <p:sp>
        <p:nvSpPr>
          <p:cNvPr id="12" name="constraint-1">
            <a:extLst xmlns:a="http://schemas.openxmlformats.org/drawingml/2006/main">
              <a:ext uri="{FF2B5EF4-FFF2-40B4-BE49-F238E27FC236}">
                <a16:creationId xmlns:a16="http://schemas.microsoft.com/office/drawing/2014/main" id="{1E4035D6-0C79-469A-A8EE-D8935F7B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67025"/>
            <a:ext cx="476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3" name="constraint-head-1">
            <a:extLst xmlns:a="http://schemas.openxmlformats.org/drawingml/2006/main">
              <a:ext uri="{FF2B5EF4-FFF2-40B4-BE49-F238E27FC236}">
                <a16:creationId xmlns:a16="http://schemas.microsoft.com/office/drawing/2014/main" id="{F9BBA9DF-36D5-4A7A-AF0B-D425DE89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1942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经验证的表达能力</a:t>
            </a:r>
          </a:p>
        </p:txBody>
      </p:sp>
      <p:sp>
        <p:nvSpPr>
          <p:cNvPr id="14" name="constraint-desc-1">
            <a:extLst xmlns:a="http://schemas.openxmlformats.org/drawingml/2006/main">
              <a:ext uri="{FF2B5EF4-FFF2-40B4-BE49-F238E27FC236}">
                <a16:creationId xmlns:a16="http://schemas.microsoft.com/office/drawing/2014/main" id="{09C1AF84-5D87-4948-974B-BE43FB7A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24225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E5EEF7"/>
                </a:solidFill>
              </a:defRPr>
            </a:pPr>
            <a:r>
              <a:rPr sz="1350" b="0" i="0">
                <a:solidFill>
                  <a:srgbClr val="E5EEF7"/>
                </a:solidFill>
              </a:rPr>
              <a:t>只调用已经确认的并列、顺序、对比与层级</a:t>
            </a:r>
          </a:p>
        </p:txBody>
      </p:sp>
      <p:sp>
        <p:nvSpPr>
          <p:cNvPr id="15" name="constraint-2">
            <a:extLst xmlns:a="http://schemas.openxmlformats.org/drawingml/2006/main">
              <a:ext uri="{FF2B5EF4-FFF2-40B4-BE49-F238E27FC236}">
                <a16:creationId xmlns:a16="http://schemas.microsoft.com/office/drawing/2014/main" id="{ACC5236A-DEC6-45DE-9FDD-CA7F5B76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67175"/>
            <a:ext cx="476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5ECF4"/>
            </a:solidFill>
            <a:prstDash val="solid"/>
          </a:ln>
        </p:spPr>
      </p:sp>
      <p:sp>
        <p:nvSpPr>
          <p:cNvPr id="16" name="constraint-head-2">
            <a:extLst xmlns:a="http://schemas.openxmlformats.org/drawingml/2006/main">
              <a:ext uri="{FF2B5EF4-FFF2-40B4-BE49-F238E27FC236}">
                <a16:creationId xmlns:a16="http://schemas.microsoft.com/office/drawing/2014/main" id="{B4837389-68CE-4F5E-BDAA-37D241C4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1957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52B33"/>
                </a:solidFill>
              </a:defRPr>
            </a:pPr>
            <a:r>
              <a:rPr sz="1650" b="1" i="0">
                <a:solidFill>
                  <a:srgbClr val="252B33"/>
                </a:solidFill>
              </a:rPr>
              <a:t>明确的失败边界</a:t>
            </a:r>
          </a:p>
        </p:txBody>
      </p:sp>
      <p:sp>
        <p:nvSpPr>
          <p:cNvPr id="17" name="constraint-desc-2">
            <a:extLst xmlns:a="http://schemas.openxmlformats.org/drawingml/2006/main">
              <a:ext uri="{FF2B5EF4-FFF2-40B4-BE49-F238E27FC236}">
                <a16:creationId xmlns:a16="http://schemas.microsoft.com/office/drawing/2014/main" id="{A6B7C2FE-1FA7-411E-B605-73402FC5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24375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707780"/>
                </a:solidFill>
              </a:defRPr>
            </a:pPr>
            <a:r>
              <a:rPr sz="1350" b="0" i="0">
                <a:solidFill>
                  <a:srgbClr val="707780"/>
                </a:solidFill>
              </a:rPr>
              <a:t>超出容量时换样式、拆页或退回简单排版</a:t>
            </a:r>
          </a:p>
        </p:txBody>
      </p:sp>
    </p:spTree>
    <p:extLst>
      <p:ext uri="{BB962C8B-B14F-4D97-AF65-F5344CB8AC3E}">
        <p14:creationId xmlns:p14="http://schemas.microsoft.com/office/powerpoint/2010/main" val="18934701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406D211-63B9-4F44-9287-FB1392A0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52B33"/>
                </a:solidFill>
              </a:defRPr>
            </a:pPr>
            <a:r>
              <a:rPr sz="2400" b="1" i="0">
                <a:solidFill>
                  <a:srgbClr val="252B33"/>
                </a:solidFill>
              </a:rPr>
              <a:t>AI 负责理解和路由，规则负责约束，代码负责生成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88B5CDC1-216D-4270-9885-8A1D8358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620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-sub">
            <a:extLst xmlns:a="http://schemas.openxmlformats.org/drawingml/2006/main">
              <a:ext uri="{FF2B5EF4-FFF2-40B4-BE49-F238E27FC236}">
                <a16:creationId xmlns:a16="http://schemas.microsoft.com/office/drawing/2014/main" id="{B5FF1300-CB26-46BB-AEB5-6843D667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114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07780"/>
                </a:solidFill>
              </a:defRPr>
            </a:pPr>
            <a:r>
              <a:rPr sz="1200" b="0" i="0">
                <a:solidFill>
                  <a:srgbClr val="707780"/>
                </a:solidFill>
              </a:rPr>
              <a:t>两个导演做判断，确定性能力把判断落实成可编辑对象。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018F000-BFDE-45C2-AF04-893E33A1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707780"/>
                </a:solidFill>
              </a:defRPr>
            </a:pPr>
            <a:r>
              <a:rPr sz="1050" b="1" i="0">
                <a:solidFill>
                  <a:srgbClr val="707780"/>
                </a:solidFill>
              </a:rPr>
              <a:t>06</a:t>
            </a:r>
          </a:p>
        </p:txBody>
      </p:sp>
      <p:sp>
        <p:nvSpPr>
          <p:cNvPr id="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132CF0A-5AE9-4300-81AC-3BAB0418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07780"/>
                </a:solidFill>
              </a:defRPr>
            </a:pPr>
            <a:r>
              <a:rPr sz="1050" b="0" i="0">
                <a:solidFill>
                  <a:srgbClr val="707780"/>
                </a:solidFill>
              </a:rPr>
              <a:t>来源：PPagenT 产品叙事（分配原稿）</a:t>
            </a:r>
          </a:p>
        </p:txBody>
      </p:sp>
      <p:sp>
        <p:nvSpPr>
          <p:cNvPr id="6" name="content-director">
            <a:extLst xmlns:a="http://schemas.openxmlformats.org/drawingml/2006/main">
              <a:ext uri="{FF2B5EF4-FFF2-40B4-BE49-F238E27FC236}">
                <a16:creationId xmlns:a16="http://schemas.microsoft.com/office/drawing/2014/main" id="{4CFE7448-9AD1-4E61-9E89-7A4158D0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223837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5ECF4"/>
            </a:solidFill>
            <a:prstDash val="solid"/>
          </a:ln>
        </p:spPr>
      </p:sp>
      <p:sp>
        <p:nvSpPr>
          <p:cNvPr id="7" name="content-director-title">
            <a:extLst xmlns:a="http://schemas.openxmlformats.org/drawingml/2006/main">
              <a:ext uri="{FF2B5EF4-FFF2-40B4-BE49-F238E27FC236}">
                <a16:creationId xmlns:a16="http://schemas.microsoft.com/office/drawing/2014/main" id="{EFC68B58-EA65-4F07-A921-80B3CBD4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71700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26496F"/>
                </a:solidFill>
              </a:defRPr>
            </a:pPr>
            <a:r>
              <a:rPr sz="1800" b="1" i="0">
                <a:solidFill>
                  <a:srgbClr val="26496F"/>
                </a:solidFill>
              </a:rPr>
              <a:t>内容导演</a:t>
            </a:r>
          </a:p>
        </p:txBody>
      </p:sp>
      <p:sp>
        <p:nvSpPr>
          <p:cNvPr id="8" name="content-director-copy">
            <a:extLst xmlns:a="http://schemas.openxmlformats.org/drawingml/2006/main">
              <a:ext uri="{FF2B5EF4-FFF2-40B4-BE49-F238E27FC236}">
                <a16:creationId xmlns:a16="http://schemas.microsoft.com/office/drawing/2014/main" id="{C45D4BD0-2A47-43F7-AA39-DAB88722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252B33"/>
                </a:solidFill>
              </a:defRPr>
            </a:pPr>
            <a:r>
              <a:rPr sz="1350" b="0" i="0">
                <a:solidFill>
                  <a:srgbClr val="252B33"/>
                </a:solidFill>
              </a:rPr>
              <a:t>理解稿件</a:t>
            </a:r>
          </a:p>
          <a:p xmlns:a="http://schemas.openxmlformats.org/drawingml/2006/main">
            <a:pPr algn="ctr">
              <a:defRPr sz="1350" b="0" i="0">
                <a:solidFill>
                  <a:srgbClr val="252B33"/>
                </a:solidFill>
              </a:defRPr>
            </a:pPr>
            <a:r>
              <a:rPr sz="1350" b="0" i="0">
                <a:solidFill>
                  <a:srgbClr val="252B33"/>
                </a:solidFill>
              </a:rPr>
              <a:t>组织叙事 · 拆页</a:t>
            </a:r>
          </a:p>
        </p:txBody>
      </p:sp>
      <p:sp>
        <p:nvSpPr>
          <p:cNvPr id="9" name="visual-director">
            <a:extLst xmlns:a="http://schemas.openxmlformats.org/drawingml/2006/main">
              <a:ext uri="{FF2B5EF4-FFF2-40B4-BE49-F238E27FC236}">
                <a16:creationId xmlns:a16="http://schemas.microsoft.com/office/drawing/2014/main" id="{286F4843-CDF6-4818-BF54-E04E4DB8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71875"/>
            <a:ext cx="223837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5ECF4"/>
            </a:solidFill>
            <a:prstDash val="solid"/>
          </a:ln>
        </p:spPr>
      </p:sp>
      <p:sp>
        <p:nvSpPr>
          <p:cNvPr id="10" name="visual-director-title">
            <a:extLst xmlns:a="http://schemas.openxmlformats.org/drawingml/2006/main">
              <a:ext uri="{FF2B5EF4-FFF2-40B4-BE49-F238E27FC236}">
                <a16:creationId xmlns:a16="http://schemas.microsoft.com/office/drawing/2014/main" id="{E685E9D0-B859-4957-AA35-9D46881D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43325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26496F"/>
                </a:solidFill>
              </a:defRPr>
            </a:pPr>
            <a:r>
              <a:rPr sz="1800" b="1" i="0">
                <a:solidFill>
                  <a:srgbClr val="26496F"/>
                </a:solidFill>
              </a:rPr>
              <a:t>视觉导演</a:t>
            </a:r>
          </a:p>
        </p:txBody>
      </p:sp>
      <p:sp>
        <p:nvSpPr>
          <p:cNvPr id="11" name="visual-director-copy">
            <a:extLst xmlns:a="http://schemas.openxmlformats.org/drawingml/2006/main">
              <a:ext uri="{FF2B5EF4-FFF2-40B4-BE49-F238E27FC236}">
                <a16:creationId xmlns:a16="http://schemas.microsoft.com/office/drawing/2014/main" id="{B0050A66-D2FA-468C-88B3-029A71A9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43375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252B33"/>
                </a:solidFill>
              </a:defRPr>
            </a:pPr>
            <a:r>
              <a:rPr sz="1350" b="0" i="0">
                <a:solidFill>
                  <a:srgbClr val="252B33"/>
                </a:solidFill>
              </a:rPr>
              <a:t>判断怎样表达</a:t>
            </a:r>
          </a:p>
          <a:p xmlns:a="http://schemas.openxmlformats.org/drawingml/2006/main">
            <a:pPr algn="ctr">
              <a:defRPr sz="1350" b="0" i="0">
                <a:solidFill>
                  <a:srgbClr val="252B33"/>
                </a:solidFill>
              </a:defRPr>
            </a:pPr>
            <a:r>
              <a:rPr sz="1350" b="0" i="0">
                <a:solidFill>
                  <a:srgbClr val="252B33"/>
                </a:solidFill>
              </a:rPr>
              <a:t>选择合适结构</a:t>
            </a:r>
          </a:p>
        </p:txBody>
      </p:sp>
      <p:sp>
        <p:nvSpPr>
          <p:cNvPr id="12" name="ai-route">
            <a:extLst xmlns:a="http://schemas.openxmlformats.org/drawingml/2006/main">
              <a:ext uri="{FF2B5EF4-FFF2-40B4-BE49-F238E27FC236}">
                <a16:creationId xmlns:a16="http://schemas.microsoft.com/office/drawing/2014/main" id="{EDA58427-B59A-4BC0-9C91-A481F022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476500"/>
            <a:ext cx="23336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3" name="ai-route-title">
            <a:extLst xmlns:a="http://schemas.openxmlformats.org/drawingml/2006/main">
              <a:ext uri="{FF2B5EF4-FFF2-40B4-BE49-F238E27FC236}">
                <a16:creationId xmlns:a16="http://schemas.microsoft.com/office/drawing/2014/main" id="{AEF0367E-C049-4E38-A245-37DAD7B5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8130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AI 控制器</a:t>
            </a:r>
          </a:p>
        </p:txBody>
      </p:sp>
      <p:sp>
        <p:nvSpPr>
          <p:cNvPr id="14" name="ai-route-copy">
            <a:extLst xmlns:a="http://schemas.openxmlformats.org/drawingml/2006/main">
              <a:ext uri="{FF2B5EF4-FFF2-40B4-BE49-F238E27FC236}">
                <a16:creationId xmlns:a16="http://schemas.microsoft.com/office/drawing/2014/main" id="{9F36A705-AD2E-4073-BB86-0FE3505F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95650"/>
            <a:ext cx="1857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E5EEF7"/>
                </a:solidFill>
              </a:defRPr>
            </a:pPr>
            <a:r>
              <a:rPr sz="1575" b="0" i="0">
                <a:solidFill>
                  <a:srgbClr val="E5EEF7"/>
                </a:solidFill>
              </a:rPr>
              <a:t>理解 · 组织</a:t>
            </a:r>
          </a:p>
          <a:p xmlns:a="http://schemas.openxmlformats.org/drawingml/2006/main">
            <a:pPr algn="ctr">
              <a:defRPr sz="1575" b="0" i="0">
                <a:solidFill>
                  <a:srgbClr val="E5EEF7"/>
                </a:solidFill>
              </a:defRPr>
            </a:pPr>
            <a:r>
              <a:rPr sz="1575" b="0" i="0">
                <a:solidFill>
                  <a:srgbClr val="E5EEF7"/>
                </a:solidFill>
              </a:rPr>
              <a:t>分类 · 路由 · 填参</a:t>
            </a:r>
          </a:p>
        </p:txBody>
      </p:sp>
      <p:sp>
        <p:nvSpPr>
          <p:cNvPr id="15" name="rules">
            <a:extLst xmlns:a="http://schemas.openxmlformats.org/drawingml/2006/main">
              <a:ext uri="{FF2B5EF4-FFF2-40B4-BE49-F238E27FC236}">
                <a16:creationId xmlns:a16="http://schemas.microsoft.com/office/drawing/2014/main" id="{2D1E8260-7178-4219-A4DC-D4A8B654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809750"/>
            <a:ext cx="21431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5ECF4"/>
            </a:solidFill>
            <a:prstDash val="solid"/>
          </a:ln>
        </p:spPr>
      </p:sp>
      <p:sp>
        <p:nvSpPr>
          <p:cNvPr id="16" name="rules-title">
            <a:extLst xmlns:a="http://schemas.openxmlformats.org/drawingml/2006/main">
              <a:ext uri="{FF2B5EF4-FFF2-40B4-BE49-F238E27FC236}">
                <a16:creationId xmlns:a16="http://schemas.microsoft.com/office/drawing/2014/main" id="{037BD4AA-B097-4E08-A3D0-2D864986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26496F"/>
                </a:solidFill>
              </a:defRPr>
            </a:pPr>
            <a:r>
              <a:rPr sz="1725" b="1" i="0">
                <a:solidFill>
                  <a:srgbClr val="26496F"/>
                </a:solidFill>
              </a:rPr>
              <a:t>规则</a:t>
            </a:r>
          </a:p>
        </p:txBody>
      </p:sp>
      <p:sp>
        <p:nvSpPr>
          <p:cNvPr id="17" name="rules-copy">
            <a:extLst xmlns:a="http://schemas.openxmlformats.org/drawingml/2006/main">
              <a:ext uri="{FF2B5EF4-FFF2-40B4-BE49-F238E27FC236}">
                <a16:creationId xmlns:a16="http://schemas.microsoft.com/office/drawing/2014/main" id="{07CE45B6-A1B0-40E0-8D4E-2C15C78A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62200"/>
            <a:ext cx="1762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252B33"/>
                </a:solidFill>
              </a:defRPr>
            </a:pPr>
            <a:r>
              <a:rPr sz="1350" b="0" i="0">
                <a:solidFill>
                  <a:srgbClr val="252B33"/>
                </a:solidFill>
              </a:rPr>
              <a:t>约束与选择</a:t>
            </a:r>
          </a:p>
        </p:txBody>
      </p:sp>
      <p:sp>
        <p:nvSpPr>
          <p:cNvPr id="18" name="code">
            <a:extLst xmlns:a="http://schemas.openxmlformats.org/drawingml/2006/main">
              <a:ext uri="{FF2B5EF4-FFF2-40B4-BE49-F238E27FC236}">
                <a16:creationId xmlns:a16="http://schemas.microsoft.com/office/drawing/2014/main" id="{25B489A9-E7D8-44ED-A6B9-C5515F46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714750"/>
            <a:ext cx="21431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26496F"/>
          </a:solidFill>
          <a:ln xmlns:a="http://schemas.openxmlformats.org/drawingml/2006/main" w="9525">
            <a:solidFill>
              <a:srgbClr val="26496F"/>
            </a:solidFill>
            <a:prstDash val="solid"/>
          </a:ln>
        </p:spPr>
      </p:sp>
      <p:sp>
        <p:nvSpPr>
          <p:cNvPr id="19" name="code-title">
            <a:extLst xmlns:a="http://schemas.openxmlformats.org/drawingml/2006/main">
              <a:ext uri="{FF2B5EF4-FFF2-40B4-BE49-F238E27FC236}">
                <a16:creationId xmlns:a16="http://schemas.microsoft.com/office/drawing/2014/main" id="{F5B7252E-D34F-4953-AB4D-0A59CDBA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90525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代码</a:t>
            </a:r>
          </a:p>
        </p:txBody>
      </p:sp>
      <p:sp>
        <p:nvSpPr>
          <p:cNvPr id="20" name="code-copy">
            <a:extLst xmlns:a="http://schemas.openxmlformats.org/drawingml/2006/main">
              <a:ext uri="{FF2B5EF4-FFF2-40B4-BE49-F238E27FC236}">
                <a16:creationId xmlns:a16="http://schemas.microsoft.com/office/drawing/2014/main" id="{33B0CFC5-7CE7-46A3-8742-E2525F11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267200"/>
            <a:ext cx="1762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E5EEF7"/>
                </a:solidFill>
              </a:defRPr>
            </a:pPr>
            <a:r>
              <a:rPr sz="1350" b="0" i="0">
                <a:solidFill>
                  <a:srgbClr val="E5EEF7"/>
                </a:solidFill>
              </a:rPr>
              <a:t>稳定生成 PPTX</a:t>
            </a:r>
          </a:p>
        </p:txBody>
      </p:sp>
      <p:sp>
        <p:nvSpPr>
          <p:cNvPr id="21" name="native-output">
            <a:extLst xmlns:a="http://schemas.openxmlformats.org/drawingml/2006/main">
              <a:ext uri="{FF2B5EF4-FFF2-40B4-BE49-F238E27FC236}">
                <a16:creationId xmlns:a16="http://schemas.microsoft.com/office/drawing/2014/main" id="{16FD1D2E-8A59-4C66-9451-5D1F9D28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647950"/>
            <a:ext cx="1571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5ECF4"/>
            </a:solidFill>
            <a:prstDash val="solid"/>
          </a:ln>
        </p:spPr>
      </p:sp>
      <p:sp>
        <p:nvSpPr>
          <p:cNvPr id="22" name="native-output-title">
            <a:extLst xmlns:a="http://schemas.openxmlformats.org/drawingml/2006/main">
              <a:ext uri="{FF2B5EF4-FFF2-40B4-BE49-F238E27FC236}">
                <a16:creationId xmlns:a16="http://schemas.microsoft.com/office/drawing/2014/main" id="{1EF8C853-04F9-457A-AE92-05153873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8765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26496F"/>
                </a:solidFill>
              </a:defRPr>
            </a:pPr>
            <a:r>
              <a:rPr sz="1875" b="1" i="0">
                <a:solidFill>
                  <a:srgbClr val="26496F"/>
                </a:solidFill>
              </a:rPr>
              <a:t>原生</a:t>
            </a:r>
          </a:p>
          <a:p xmlns:a="http://schemas.openxmlformats.org/drawingml/2006/main">
            <a:pPr algn="ctr">
              <a:defRPr sz="1875" b="1" i="0">
                <a:solidFill>
                  <a:srgbClr val="26496F"/>
                </a:solidFill>
              </a:defRPr>
            </a:pPr>
            <a:r>
              <a:rPr sz="1875" b="1" i="0">
                <a:solidFill>
                  <a:srgbClr val="26496F"/>
                </a:solidFill>
              </a:rPr>
              <a:t>可编辑</a:t>
            </a:r>
          </a:p>
        </p:txBody>
      </p:sp>
      <p:sp>
        <p:nvSpPr>
          <p:cNvPr id="23" name="native-output-copy">
            <a:extLst xmlns:a="http://schemas.openxmlformats.org/drawingml/2006/main">
              <a:ext uri="{FF2B5EF4-FFF2-40B4-BE49-F238E27FC236}">
                <a16:creationId xmlns:a16="http://schemas.microsoft.com/office/drawing/2014/main" id="{2921E1BD-7E1C-4F29-A767-8734264A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6004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707780"/>
                </a:solidFill>
              </a:defRPr>
            </a:pPr>
            <a:r>
              <a:rPr sz="1350" b="0" i="0">
                <a:solidFill>
                  <a:srgbClr val="707780"/>
                </a:solidFill>
              </a:rPr>
              <a:t>PowerPoint</a:t>
            </a:r>
          </a:p>
        </p:txBody>
      </p:sp>
      <p:cxnSp>
        <p:nvCxnSpPr>
          <p:cNvPr id="54" name=""/>
          <p:cNvCxnSpPr>
            <a:stCxn xmlns:a="http://schemas.openxmlformats.org/drawingml/2006/main" id="6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952750" y="2595563"/>
            <a:ext cx="1095375" cy="7858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cxnSp>
        <p:nvCxnSpPr>
          <p:cNvPr id="55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2952750" y="3381375"/>
            <a:ext cx="1095375" cy="7858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cxnSp>
        <p:nvCxnSpPr>
          <p:cNvPr id="56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6381750" y="2309813"/>
            <a:ext cx="1095375" cy="10715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cxnSp>
        <p:nvCxnSpPr>
          <p:cNvPr id="57" name=""/>
          <p:cNvCxnSpPr>
            <a:stCxn xmlns:a="http://schemas.openxmlformats.org/drawingml/2006/main" id="12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6381750" y="3381375"/>
            <a:ext cx="1095375" cy="8334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cxnSp>
        <p:nvCxnSpPr>
          <p:cNvPr id="58" name=""/>
          <p:cNvCxnSpPr>
            <a:stCxn xmlns:a="http://schemas.openxmlformats.org/drawingml/2006/main" id="15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9620250" y="2309813"/>
            <a:ext cx="428625" cy="10525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cxnSp>
        <p:nvCxnSpPr>
          <p:cNvPr id="59" name=""/>
          <p:cNvCxnSpPr>
            <a:stCxn xmlns:a="http://schemas.openxmlformats.org/drawingml/2006/main" id="18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9620250" y="3362325"/>
            <a:ext cx="428625" cy="8524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sp>
        <p:nvSpPr>
          <p:cNvPr id="30" name="controller-foot">
            <a:extLst xmlns:a="http://schemas.openxmlformats.org/drawingml/2006/main">
              <a:ext uri="{FF2B5EF4-FFF2-40B4-BE49-F238E27FC236}">
                <a16:creationId xmlns:a16="http://schemas.microsoft.com/office/drawing/2014/main" id="{0643D4EC-E861-4097-A459-8E61A7E6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863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52B33"/>
                </a:solidFill>
              </a:defRPr>
            </a:pPr>
            <a:r>
              <a:rPr sz="1500" b="1" i="0">
                <a:solidFill>
                  <a:srgbClr val="252B33"/>
                </a:solidFill>
              </a:rPr>
              <a:t>AI 不直接自由绘制整份 PPT；它调用人已经提前做好的好东西。</a:t>
            </a:r>
          </a:p>
        </p:txBody>
      </p:sp>
    </p:spTree>
    <p:extLst>
      <p:ext uri="{BB962C8B-B14F-4D97-AF65-F5344CB8AC3E}">
        <p14:creationId xmlns:p14="http://schemas.microsoft.com/office/powerpoint/2010/main" val="11843678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897DBB-D591-4186-9514-B5914CEF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52B33"/>
                </a:solidFill>
              </a:defRPr>
            </a:pPr>
            <a:r>
              <a:rPr sz="2400" b="1" i="0">
                <a:solidFill>
                  <a:srgbClr val="252B33"/>
                </a:solidFill>
              </a:rPr>
              <a:t>建设能力与稳定调用，唯一交汇点是核心资产库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3B693384-F746-4E78-867C-A0CC103E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620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-sub">
            <a:extLst xmlns:a="http://schemas.openxmlformats.org/drawingml/2006/main">
              <a:ext uri="{FF2B5EF4-FFF2-40B4-BE49-F238E27FC236}">
                <a16:creationId xmlns:a16="http://schemas.microsoft.com/office/drawing/2014/main" id="{C35DAB17-B951-4A95-82EE-B438B071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114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07780"/>
                </a:solidFill>
              </a:defRPr>
            </a:pPr>
            <a:r>
              <a:rPr sz="1200" b="0" i="0">
                <a:solidFill>
                  <a:srgbClr val="707780"/>
                </a:solidFill>
              </a:rPr>
              <a:t>入库线负责把经验变成能力，正式生成线负责把能力稳定地用出来。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9ADD1FD-EA54-44E0-9D96-80349780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707780"/>
                </a:solidFill>
              </a:defRPr>
            </a:pPr>
            <a:r>
              <a:rPr sz="1050" b="1" i="0">
                <a:solidFill>
                  <a:srgbClr val="707780"/>
                </a:solidFill>
              </a:rPr>
              <a:t>07</a:t>
            </a:r>
          </a:p>
        </p:txBody>
      </p:sp>
      <p:sp>
        <p:nvSpPr>
          <p:cNvPr id="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EE477EA-36EE-4A9A-9C9E-96D275F5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07780"/>
                </a:solidFill>
              </a:defRPr>
            </a:pPr>
            <a:r>
              <a:rPr sz="1050" b="0" i="0">
                <a:solidFill>
                  <a:srgbClr val="707780"/>
                </a:solidFill>
              </a:rPr>
              <a:t>来源：PPagenT 产品叙事（分配原稿）</a:t>
            </a:r>
          </a:p>
        </p:txBody>
      </p:sp>
      <p:sp>
        <p:nvSpPr>
          <p:cNvPr id="6" name="lane-build">
            <a:extLst xmlns:a="http://schemas.openxmlformats.org/drawingml/2006/main">
              <a:ext uri="{FF2B5EF4-FFF2-40B4-BE49-F238E27FC236}">
                <a16:creationId xmlns:a16="http://schemas.microsoft.com/office/drawing/2014/main" id="{39A46FD5-3199-404D-8699-5B3219D4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716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6496F"/>
                </a:solidFill>
              </a:defRPr>
            </a:pPr>
            <a:r>
              <a:rPr sz="1650" b="1" i="0">
                <a:solidFill>
                  <a:srgbClr val="26496F"/>
                </a:solidFill>
              </a:rPr>
              <a:t>资产入库线</a:t>
            </a:r>
          </a:p>
        </p:txBody>
      </p:sp>
      <p:sp>
        <p:nvSpPr>
          <p:cNvPr id="7" name="lane-run">
            <a:extLst xmlns:a="http://schemas.openxmlformats.org/drawingml/2006/main">
              <a:ext uri="{FF2B5EF4-FFF2-40B4-BE49-F238E27FC236}">
                <a16:creationId xmlns:a16="http://schemas.microsoft.com/office/drawing/2014/main" id="{C1FCC974-AB65-4019-B17B-7EA50566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528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6496F"/>
                </a:solidFill>
              </a:defRPr>
            </a:pPr>
            <a:r>
              <a:rPr sz="1650" b="1" i="0">
                <a:solidFill>
                  <a:srgbClr val="26496F"/>
                </a:solidFill>
              </a:rPr>
              <a:t>正式生成线</a:t>
            </a:r>
          </a:p>
        </p:txBody>
      </p:sp>
      <p:sp>
        <p:nvSpPr>
          <p:cNvPr id="8" name="build-0">
            <a:extLst xmlns:a="http://schemas.openxmlformats.org/drawingml/2006/main">
              <a:ext uri="{FF2B5EF4-FFF2-40B4-BE49-F238E27FC236}">
                <a16:creationId xmlns:a16="http://schemas.microsoft.com/office/drawing/2014/main" id="{6CBD981C-93DB-4AC6-A93C-EC49C160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428750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5ECF4"/>
            </a:solidFill>
            <a:prstDash val="solid"/>
          </a:ln>
        </p:spPr>
      </p:sp>
      <p:sp>
        <p:nvSpPr>
          <p:cNvPr id="9" name="build-0-label">
            <a:extLst xmlns:a="http://schemas.openxmlformats.org/drawingml/2006/main">
              <a:ext uri="{FF2B5EF4-FFF2-40B4-BE49-F238E27FC236}">
                <a16:creationId xmlns:a16="http://schemas.microsoft.com/office/drawing/2014/main" id="{ABFDE186-0E9E-4D1A-9D0A-5A6A9E4E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638300"/>
            <a:ext cx="120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52B33"/>
                </a:solidFill>
              </a:defRPr>
            </a:pPr>
            <a:r>
              <a:rPr sz="1425" b="1" i="0">
                <a:solidFill>
                  <a:srgbClr val="252B33"/>
                </a:solidFill>
              </a:rPr>
              <a:t>优秀参考</a:t>
            </a:r>
          </a:p>
        </p:txBody>
      </p:sp>
      <p:sp>
        <p:nvSpPr>
          <p:cNvPr id="10" name="build-1">
            <a:extLst xmlns:a="http://schemas.openxmlformats.org/drawingml/2006/main">
              <a:ext uri="{FF2B5EF4-FFF2-40B4-BE49-F238E27FC236}">
                <a16:creationId xmlns:a16="http://schemas.microsoft.com/office/drawing/2014/main" id="{1CC6E43F-94F3-40CF-A6E0-7F078FD3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28750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5ECF4"/>
            </a:solidFill>
            <a:prstDash val="solid"/>
          </a:ln>
        </p:spPr>
      </p:sp>
      <p:sp>
        <p:nvSpPr>
          <p:cNvPr id="11" name="build-1-label">
            <a:extLst xmlns:a="http://schemas.openxmlformats.org/drawingml/2006/main">
              <a:ext uri="{FF2B5EF4-FFF2-40B4-BE49-F238E27FC236}">
                <a16:creationId xmlns:a16="http://schemas.microsoft.com/office/drawing/2014/main" id="{B9D05832-FB74-4488-98A3-23335031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38300"/>
            <a:ext cx="120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52B33"/>
                </a:solidFill>
              </a:defRPr>
            </a:pPr>
            <a:r>
              <a:rPr sz="1425" b="1" i="0">
                <a:solidFill>
                  <a:srgbClr val="252B33"/>
                </a:solidFill>
              </a:rPr>
              <a:t>提炼逻辑与</a:t>
            </a:r>
          </a:p>
          <a:p xmlns:a="http://schemas.openxmlformats.org/drawingml/2006/main">
            <a:pPr algn="ctr">
              <a:defRPr sz="1425" b="1" i="0">
                <a:solidFill>
                  <a:srgbClr val="252B33"/>
                </a:solidFill>
              </a:defRPr>
            </a:pPr>
            <a:r>
              <a:rPr sz="1425" b="1" i="0">
                <a:solidFill>
                  <a:srgbClr val="252B33"/>
                </a:solidFill>
              </a:rPr>
              <a:t>设计规律</a:t>
            </a:r>
          </a:p>
        </p:txBody>
      </p:sp>
      <p:sp>
        <p:nvSpPr>
          <p:cNvPr id="12" name="build-2">
            <a:extLst xmlns:a="http://schemas.openxmlformats.org/drawingml/2006/main">
              <a:ext uri="{FF2B5EF4-FFF2-40B4-BE49-F238E27FC236}">
                <a16:creationId xmlns:a16="http://schemas.microsoft.com/office/drawing/2014/main" id="{BA5186B3-DAC5-4C76-B594-123651D8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28750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5ECF4"/>
            </a:solidFill>
            <a:prstDash val="solid"/>
          </a:ln>
        </p:spPr>
      </p:sp>
      <p:sp>
        <p:nvSpPr>
          <p:cNvPr id="13" name="build-2-label">
            <a:extLst xmlns:a="http://schemas.openxmlformats.org/drawingml/2006/main">
              <a:ext uri="{FF2B5EF4-FFF2-40B4-BE49-F238E27FC236}">
                <a16:creationId xmlns:a16="http://schemas.microsoft.com/office/drawing/2014/main" id="{23C442FC-FC2C-4F27-940A-E0D3B656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38300"/>
            <a:ext cx="120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52B33"/>
                </a:solidFill>
              </a:defRPr>
            </a:pPr>
            <a:r>
              <a:rPr sz="1425" b="1" i="0">
                <a:solidFill>
                  <a:srgbClr val="252B33"/>
                </a:solidFill>
              </a:rPr>
              <a:t>扩展为</a:t>
            </a:r>
          </a:p>
          <a:p xmlns:a="http://schemas.openxmlformats.org/drawingml/2006/main">
            <a:pPr algn="ctr">
              <a:defRPr sz="1425" b="1" i="0">
                <a:solidFill>
                  <a:srgbClr val="252B33"/>
                </a:solidFill>
              </a:defRPr>
            </a:pPr>
            <a:r>
              <a:rPr sz="1425" b="1" i="0">
                <a:solidFill>
                  <a:srgbClr val="252B33"/>
                </a:solidFill>
              </a:rPr>
              <a:t>可复用能力</a:t>
            </a:r>
          </a:p>
        </p:txBody>
      </p:sp>
      <p:sp>
        <p:nvSpPr>
          <p:cNvPr id="14" name="build-3">
            <a:extLst xmlns:a="http://schemas.openxmlformats.org/drawingml/2006/main">
              <a:ext uri="{FF2B5EF4-FFF2-40B4-BE49-F238E27FC236}">
                <a16:creationId xmlns:a16="http://schemas.microsoft.com/office/drawing/2014/main" id="{1AC73C54-08FC-455F-AE51-DFDFED97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28750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5ECF4"/>
            </a:solidFill>
            <a:prstDash val="solid"/>
          </a:ln>
        </p:spPr>
      </p:sp>
      <p:sp>
        <p:nvSpPr>
          <p:cNvPr id="15" name="build-3-label">
            <a:extLst xmlns:a="http://schemas.openxmlformats.org/drawingml/2006/main">
              <a:ext uri="{FF2B5EF4-FFF2-40B4-BE49-F238E27FC236}">
                <a16:creationId xmlns:a16="http://schemas.microsoft.com/office/drawing/2014/main" id="{AE9CF583-CC37-4611-BD93-223DBB10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38300"/>
            <a:ext cx="120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52B33"/>
                </a:solidFill>
              </a:defRPr>
            </a:pPr>
            <a:r>
              <a:rPr sz="1425" b="1" i="0">
                <a:solidFill>
                  <a:srgbClr val="252B33"/>
                </a:solidFill>
              </a:rPr>
              <a:t>用户确认</a:t>
            </a:r>
          </a:p>
        </p:txBody>
      </p:sp>
      <p:sp>
        <p:nvSpPr>
          <p:cNvPr id="16" name="build-4">
            <a:extLst xmlns:a="http://schemas.openxmlformats.org/drawingml/2006/main">
              <a:ext uri="{FF2B5EF4-FFF2-40B4-BE49-F238E27FC236}">
                <a16:creationId xmlns:a16="http://schemas.microsoft.com/office/drawing/2014/main" id="{C65180CB-35C7-4638-96F5-07CDA28A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428750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7" name="build-4-label">
            <a:extLst xmlns:a="http://schemas.openxmlformats.org/drawingml/2006/main">
              <a:ext uri="{FF2B5EF4-FFF2-40B4-BE49-F238E27FC236}">
                <a16:creationId xmlns:a16="http://schemas.microsoft.com/office/drawing/2014/main" id="{E36049C5-D131-4A2C-9797-8D789860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638300"/>
            <a:ext cx="120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核心资产库</a:t>
            </a:r>
          </a:p>
        </p:txBody>
      </p:sp>
      <p:sp>
        <p:nvSpPr>
          <p:cNvPr id="18" name="run-0">
            <a:extLst xmlns:a="http://schemas.openxmlformats.org/drawingml/2006/main">
              <a:ext uri="{FF2B5EF4-FFF2-40B4-BE49-F238E27FC236}">
                <a16:creationId xmlns:a16="http://schemas.microsoft.com/office/drawing/2014/main" id="{278644F2-C93E-4516-AAF1-8A1565EF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10000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5ECF4"/>
            </a:solidFill>
            <a:prstDash val="solid"/>
          </a:ln>
        </p:spPr>
      </p:sp>
      <p:sp>
        <p:nvSpPr>
          <p:cNvPr id="19" name="run-0-label">
            <a:extLst xmlns:a="http://schemas.openxmlformats.org/drawingml/2006/main">
              <a:ext uri="{FF2B5EF4-FFF2-40B4-BE49-F238E27FC236}">
                <a16:creationId xmlns:a16="http://schemas.microsoft.com/office/drawing/2014/main" id="{BF885CFD-4FC3-486C-9758-6E471E8C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19550"/>
            <a:ext cx="120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52B33"/>
                </a:solidFill>
              </a:defRPr>
            </a:pPr>
            <a:r>
              <a:rPr sz="1425" b="1" i="0">
                <a:solidFill>
                  <a:srgbClr val="252B33"/>
                </a:solidFill>
              </a:rPr>
              <a:t>原始稿件</a:t>
            </a:r>
          </a:p>
          <a:p xmlns:a="http://schemas.openxmlformats.org/drawingml/2006/main">
            <a:pPr algn="ctr">
              <a:defRPr sz="1425" b="1" i="0">
                <a:solidFill>
                  <a:srgbClr val="252B33"/>
                </a:solidFill>
              </a:defRPr>
            </a:pPr>
            <a:r>
              <a:rPr sz="1425" b="1" i="0">
                <a:solidFill>
                  <a:srgbClr val="252B33"/>
                </a:solidFill>
              </a:rPr>
              <a:t>+ 组织主题</a:t>
            </a:r>
          </a:p>
        </p:txBody>
      </p:sp>
      <p:sp>
        <p:nvSpPr>
          <p:cNvPr id="20" name="run-1">
            <a:extLst xmlns:a="http://schemas.openxmlformats.org/drawingml/2006/main">
              <a:ext uri="{FF2B5EF4-FFF2-40B4-BE49-F238E27FC236}">
                <a16:creationId xmlns:a16="http://schemas.microsoft.com/office/drawing/2014/main" id="{4355BDFC-1AAA-4CCB-B87D-7F2B5752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10000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5ECF4"/>
            </a:solidFill>
            <a:prstDash val="solid"/>
          </a:ln>
        </p:spPr>
      </p:sp>
      <p:sp>
        <p:nvSpPr>
          <p:cNvPr id="21" name="run-1-label">
            <a:extLst xmlns:a="http://schemas.openxmlformats.org/drawingml/2006/main">
              <a:ext uri="{FF2B5EF4-FFF2-40B4-BE49-F238E27FC236}">
                <a16:creationId xmlns:a16="http://schemas.microsoft.com/office/drawing/2014/main" id="{A4EF7BBB-540C-4201-A9D3-11EF3EB5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019550"/>
            <a:ext cx="120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52B33"/>
                </a:solidFill>
              </a:defRPr>
            </a:pPr>
            <a:r>
              <a:rPr sz="1425" b="1" i="0">
                <a:solidFill>
                  <a:srgbClr val="252B33"/>
                </a:solidFill>
              </a:rPr>
              <a:t>AI 理解与</a:t>
            </a:r>
          </a:p>
          <a:p xmlns:a="http://schemas.openxmlformats.org/drawingml/2006/main">
            <a:pPr algn="ctr">
              <a:defRPr sz="1425" b="1" i="0">
                <a:solidFill>
                  <a:srgbClr val="252B33"/>
                </a:solidFill>
              </a:defRPr>
            </a:pPr>
            <a:r>
              <a:rPr sz="1425" b="1" i="0">
                <a:solidFill>
                  <a:srgbClr val="252B33"/>
                </a:solidFill>
              </a:rPr>
              <a:t>编排</a:t>
            </a:r>
          </a:p>
        </p:txBody>
      </p:sp>
      <p:sp>
        <p:nvSpPr>
          <p:cNvPr id="22" name="run-2">
            <a:extLst xmlns:a="http://schemas.openxmlformats.org/drawingml/2006/main">
              <a:ext uri="{FF2B5EF4-FFF2-40B4-BE49-F238E27FC236}">
                <a16:creationId xmlns:a16="http://schemas.microsoft.com/office/drawing/2014/main" id="{E68B6D29-8037-4AF5-B310-FED1A9ED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10000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3" name="run-2-label">
            <a:extLst xmlns:a="http://schemas.openxmlformats.org/drawingml/2006/main">
              <a:ext uri="{FF2B5EF4-FFF2-40B4-BE49-F238E27FC236}">
                <a16:creationId xmlns:a16="http://schemas.microsoft.com/office/drawing/2014/main" id="{D06DE120-FBFA-4038-AECC-598D1890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019550"/>
            <a:ext cx="120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选择合法</a:t>
            </a:r>
          </a:p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能力</a:t>
            </a:r>
          </a:p>
        </p:txBody>
      </p:sp>
      <p:sp>
        <p:nvSpPr>
          <p:cNvPr id="24" name="run-3">
            <a:extLst xmlns:a="http://schemas.openxmlformats.org/drawingml/2006/main">
              <a:ext uri="{FF2B5EF4-FFF2-40B4-BE49-F238E27FC236}">
                <a16:creationId xmlns:a16="http://schemas.microsoft.com/office/drawing/2014/main" id="{FFD99A5D-1508-45C9-96C1-4B5B82A9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10000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5ECF4"/>
            </a:solidFill>
            <a:prstDash val="solid"/>
          </a:ln>
        </p:spPr>
      </p:sp>
      <p:sp>
        <p:nvSpPr>
          <p:cNvPr id="25" name="run-3-label">
            <a:extLst xmlns:a="http://schemas.openxmlformats.org/drawingml/2006/main">
              <a:ext uri="{FF2B5EF4-FFF2-40B4-BE49-F238E27FC236}">
                <a16:creationId xmlns:a16="http://schemas.microsoft.com/office/drawing/2014/main" id="{695F2DBB-025E-45BF-BD73-236C9AEE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19550"/>
            <a:ext cx="120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52B33"/>
                </a:solidFill>
              </a:defRPr>
            </a:pPr>
            <a:r>
              <a:rPr sz="1425" b="1" i="0">
                <a:solidFill>
                  <a:srgbClr val="252B33"/>
                </a:solidFill>
              </a:rPr>
              <a:t>确定性排版</a:t>
            </a:r>
          </a:p>
          <a:p xmlns:a="http://schemas.openxmlformats.org/drawingml/2006/main">
            <a:pPr algn="ctr">
              <a:defRPr sz="1425" b="1" i="0">
                <a:solidFill>
                  <a:srgbClr val="252B33"/>
                </a:solidFill>
              </a:defRPr>
            </a:pPr>
            <a:r>
              <a:rPr sz="1425" b="1" i="0">
                <a:solidFill>
                  <a:srgbClr val="252B33"/>
                </a:solidFill>
              </a:rPr>
              <a:t>与编译</a:t>
            </a:r>
          </a:p>
        </p:txBody>
      </p:sp>
      <p:sp>
        <p:nvSpPr>
          <p:cNvPr id="26" name="run-4">
            <a:extLst xmlns:a="http://schemas.openxmlformats.org/drawingml/2006/main">
              <a:ext uri="{FF2B5EF4-FFF2-40B4-BE49-F238E27FC236}">
                <a16:creationId xmlns:a16="http://schemas.microsoft.com/office/drawing/2014/main" id="{E2143E6F-AF07-44B8-BD2E-5A75624E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10000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5ECF4"/>
            </a:solidFill>
            <a:prstDash val="solid"/>
          </a:ln>
        </p:spPr>
      </p:sp>
      <p:sp>
        <p:nvSpPr>
          <p:cNvPr id="27" name="run-4-label">
            <a:extLst xmlns:a="http://schemas.openxmlformats.org/drawingml/2006/main">
              <a:ext uri="{FF2B5EF4-FFF2-40B4-BE49-F238E27FC236}">
                <a16:creationId xmlns:a16="http://schemas.microsoft.com/office/drawing/2014/main" id="{484BA8E7-7C74-4B2A-B278-86F3213A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019550"/>
            <a:ext cx="120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52B33"/>
                </a:solidFill>
              </a:defRPr>
            </a:pPr>
            <a:r>
              <a:rPr sz="1425" b="1" i="0">
                <a:solidFill>
                  <a:srgbClr val="252B33"/>
                </a:solidFill>
              </a:rPr>
              <a:t>原生可编辑</a:t>
            </a:r>
          </a:p>
          <a:p xmlns:a="http://schemas.openxmlformats.org/drawingml/2006/main">
            <a:pPr algn="ctr">
              <a:defRPr sz="1425" b="1" i="0">
                <a:solidFill>
                  <a:srgbClr val="252B33"/>
                </a:solidFill>
              </a:defRPr>
            </a:pPr>
            <a:r>
              <a:rPr sz="1425" b="1" i="0">
                <a:solidFill>
                  <a:srgbClr val="252B33"/>
                </a:solidFill>
              </a:rPr>
              <a:t>PPTX</a:t>
            </a:r>
          </a:p>
        </p:txBody>
      </p:sp>
      <p:cxnSp>
        <p:nvCxnSpPr>
          <p:cNvPr id="68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619500" y="19050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cxnSp>
        <p:nvCxnSpPr>
          <p:cNvPr id="69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429250" y="19050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cxnSp>
        <p:nvCxnSpPr>
          <p:cNvPr id="70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239000" y="19050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cxnSp>
        <p:nvCxnSpPr>
          <p:cNvPr id="71" name=""/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048750" y="19050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cxnSp>
        <p:nvCxnSpPr>
          <p:cNvPr id="72" name=""/>
          <p:cNvCxnSpPr>
            <a:stCxn xmlns:a="http://schemas.openxmlformats.org/drawingml/2006/main" id="1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3619500" y="42862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cxnSp>
        <p:nvCxnSpPr>
          <p:cNvPr id="73" name=""/>
          <p:cNvCxnSpPr>
            <a:stCxn xmlns:a="http://schemas.openxmlformats.org/drawingml/2006/main" id="20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5429250" y="42862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cxnSp>
        <p:nvCxnSpPr>
          <p:cNvPr id="74" name=""/>
          <p:cNvCxnSpPr>
            <a:stCxn xmlns:a="http://schemas.openxmlformats.org/drawingml/2006/main" id="22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7239000" y="42862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cxnSp>
        <p:nvCxnSpPr>
          <p:cNvPr id="75" name=""/>
          <p:cNvCxnSpPr>
            <a:stCxn xmlns:a="http://schemas.openxmlformats.org/drawingml/2006/main" id="24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9048750" y="42862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cxnSp>
        <p:nvCxnSpPr>
          <p:cNvPr id="76" name=""/>
          <p:cNvCxnSpPr>
            <a:stCxn xmlns:a="http://schemas.openxmlformats.org/drawingml/2006/main" id="16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 flipH="1">
            <a:off x="6524625" y="2381250"/>
            <a:ext cx="3619500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dash"/>
            <a:tailEnd type="arrow" w="sm" len="sm"/>
          </a:ln>
        </p:spPr>
      </p:cxnSp>
      <p:sp>
        <p:nvSpPr>
          <p:cNvPr id="37" name="bridge-label">
            <a:extLst xmlns:a="http://schemas.openxmlformats.org/drawingml/2006/main">
              <a:ext uri="{FF2B5EF4-FFF2-40B4-BE49-F238E27FC236}">
                <a16:creationId xmlns:a16="http://schemas.microsoft.com/office/drawing/2014/main" id="{9099247E-BD56-4D5C-A72A-51A6F99E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575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6496F"/>
                </a:solidFill>
              </a:defRPr>
            </a:pPr>
            <a:r>
              <a:rPr sz="1200" b="1" i="0">
                <a:solidFill>
                  <a:srgbClr val="26496F"/>
                </a:solidFill>
              </a:rPr>
              <a:t>只读调用</a:t>
            </a:r>
          </a:p>
        </p:txBody>
      </p:sp>
      <p:sp>
        <p:nvSpPr>
          <p:cNvPr id="38" name="fallback">
            <a:extLst xmlns:a="http://schemas.openxmlformats.org/drawingml/2006/main">
              <a:ext uri="{FF2B5EF4-FFF2-40B4-BE49-F238E27FC236}">
                <a16:creationId xmlns:a16="http://schemas.microsoft.com/office/drawing/2014/main" id="{2B4078A5-962E-4778-A7E9-5051BC60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381625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5ECF4"/>
            </a:solidFill>
            <a:prstDash val="solid"/>
          </a:ln>
        </p:spPr>
      </p:sp>
      <p:sp>
        <p:nvSpPr>
          <p:cNvPr id="39" name="fallback-label">
            <a:extLst xmlns:a="http://schemas.openxmlformats.org/drawingml/2006/main">
              <a:ext uri="{FF2B5EF4-FFF2-40B4-BE49-F238E27FC236}">
                <a16:creationId xmlns:a16="http://schemas.microsoft.com/office/drawing/2014/main" id="{608F2BB7-DCBB-486C-A0D6-A8FF873B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05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52B33"/>
                </a:solidFill>
              </a:defRPr>
            </a:pPr>
            <a:r>
              <a:rPr sz="1350" b="1" i="0">
                <a:solidFill>
                  <a:srgbClr val="252B33"/>
                </a:solidFill>
              </a:rPr>
              <a:t>没有合适结构 → 简单排版 / 拆页</a:t>
            </a:r>
          </a:p>
        </p:txBody>
      </p:sp>
      <p:cxnSp>
        <p:nvCxnSpPr>
          <p:cNvPr id="80" name=""/>
          <p:cNvCxnSpPr>
            <a:stCxn xmlns:a="http://schemas.openxmlformats.org/drawingml/2006/main" id="22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>
            <a:off x="6524625" y="4762500"/>
            <a:ext cx="904875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dash"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13405980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3A372C-92C6-44E3-9C9B-2D36871D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52B33"/>
                </a:solidFill>
              </a:defRPr>
            </a:pPr>
            <a:r>
              <a:rPr sz="2400" b="1" i="0">
                <a:solidFill>
                  <a:srgbClr val="252B33"/>
                </a:solidFill>
              </a:rPr>
              <a:t>把昂贵的视觉理解前移，运行期只做路由与填参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60ECD93B-8C6B-4F1D-8EC3-2E548A1C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620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-sub">
            <a:extLst xmlns:a="http://schemas.openxmlformats.org/drawingml/2006/main">
              <a:ext uri="{FF2B5EF4-FFF2-40B4-BE49-F238E27FC236}">
                <a16:creationId xmlns:a16="http://schemas.microsoft.com/office/drawing/2014/main" id="{125BED41-E4FB-443B-9AAE-8965ECBC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114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07780"/>
                </a:solidFill>
              </a:defRPr>
            </a:pPr>
            <a:r>
              <a:rPr sz="1200" b="0" i="0">
                <a:solidFill>
                  <a:srgbClr val="707780"/>
                </a:solidFill>
              </a:rPr>
              <a:t>一次建设、多次复用，把不确定的在线成本变成可复用的离线资产。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46627D6-3A9E-4E01-A5C2-87B003EB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707780"/>
                </a:solidFill>
              </a:defRPr>
            </a:pPr>
            <a:r>
              <a:rPr sz="1050" b="1" i="0">
                <a:solidFill>
                  <a:srgbClr val="707780"/>
                </a:solidFill>
              </a:rPr>
              <a:t>08</a:t>
            </a:r>
          </a:p>
        </p:txBody>
      </p:sp>
      <p:sp>
        <p:nvSpPr>
          <p:cNvPr id="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B18793D6-1E69-46EE-8CA1-01A1D316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07780"/>
                </a:solidFill>
              </a:defRPr>
            </a:pPr>
            <a:r>
              <a:rPr sz="1050" b="0" i="0">
                <a:solidFill>
                  <a:srgbClr val="707780"/>
                </a:solidFill>
              </a:rPr>
              <a:t>来源：PPagenT 产品叙事（分配原稿）</a:t>
            </a:r>
          </a:p>
        </p:txBody>
      </p:sp>
      <p:sp>
        <p:nvSpPr>
          <p:cNvPr id="6" name="build-head">
            <a:extLst xmlns:a="http://schemas.openxmlformats.org/drawingml/2006/main">
              <a:ext uri="{FF2B5EF4-FFF2-40B4-BE49-F238E27FC236}">
                <a16:creationId xmlns:a16="http://schemas.microsoft.com/office/drawing/2014/main" id="{B7622346-09FF-461D-87FD-F9763F94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811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6496F"/>
                </a:solidFill>
              </a:defRPr>
            </a:pPr>
            <a:r>
              <a:rPr sz="1950" b="1" i="0">
                <a:solidFill>
                  <a:srgbClr val="26496F"/>
                </a:solidFill>
              </a:rPr>
              <a:t>建设期</a:t>
            </a:r>
          </a:p>
        </p:txBody>
      </p:sp>
      <p:sp>
        <p:nvSpPr>
          <p:cNvPr id="7" name="run-head">
            <a:extLst xmlns:a="http://schemas.openxmlformats.org/drawingml/2006/main">
              <a:ext uri="{FF2B5EF4-FFF2-40B4-BE49-F238E27FC236}">
                <a16:creationId xmlns:a16="http://schemas.microsoft.com/office/drawing/2014/main" id="{D3CD4126-968B-4E2C-B680-EA151C34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5811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6496F"/>
                </a:solidFill>
              </a:defRPr>
            </a:pPr>
            <a:r>
              <a:rPr sz="1950" b="1" i="0">
                <a:solidFill>
                  <a:srgbClr val="26496F"/>
                </a:solidFill>
              </a:rPr>
              <a:t>运行期</a:t>
            </a:r>
          </a:p>
        </p:txBody>
      </p:sp>
      <p:sp>
        <p:nvSpPr>
          <p:cNvPr id="8" name="cost-divider">
            <a:extLst xmlns:a="http://schemas.openxmlformats.org/drawingml/2006/main">
              <a:ext uri="{FF2B5EF4-FFF2-40B4-BE49-F238E27FC236}">
                <a16:creationId xmlns:a16="http://schemas.microsoft.com/office/drawing/2014/main" id="{C40AD720-5F51-45A3-8F30-2FDB4B79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9525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st-build-0">
            <a:extLst xmlns:a="http://schemas.openxmlformats.org/drawingml/2006/main">
              <a:ext uri="{FF2B5EF4-FFF2-40B4-BE49-F238E27FC236}">
                <a16:creationId xmlns:a16="http://schemas.microsoft.com/office/drawing/2014/main" id="{B6E451C2-94EC-4094-8FF7-AA7EC89C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38375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5ECF4"/>
            </a:solidFill>
            <a:prstDash val="solid"/>
          </a:ln>
        </p:spPr>
      </p:sp>
      <p:sp>
        <p:nvSpPr>
          <p:cNvPr id="10" name="cost-build-0-h">
            <a:extLst xmlns:a="http://schemas.openxmlformats.org/drawingml/2006/main">
              <a:ext uri="{FF2B5EF4-FFF2-40B4-BE49-F238E27FC236}">
                <a16:creationId xmlns:a16="http://schemas.microsoft.com/office/drawing/2014/main" id="{8B00B3C4-45C2-426C-B56B-EB96B609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4315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52B33"/>
                </a:solidFill>
              </a:defRPr>
            </a:pPr>
            <a:r>
              <a:rPr sz="1575" b="1" i="0">
                <a:solidFill>
                  <a:srgbClr val="252B33"/>
                </a:solidFill>
              </a:rPr>
              <a:t>筛选优秀页面</a:t>
            </a:r>
          </a:p>
        </p:txBody>
      </p:sp>
      <p:sp>
        <p:nvSpPr>
          <p:cNvPr id="11" name="cost-build-0-d">
            <a:extLst xmlns:a="http://schemas.openxmlformats.org/drawingml/2006/main">
              <a:ext uri="{FF2B5EF4-FFF2-40B4-BE49-F238E27FC236}">
                <a16:creationId xmlns:a16="http://schemas.microsoft.com/office/drawing/2014/main" id="{C6795423-7C41-4D7D-B825-9F81620D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38425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707780"/>
                </a:solidFill>
              </a:defRPr>
            </a:pPr>
            <a:r>
              <a:rPr sz="1275" b="0" i="0">
                <a:solidFill>
                  <a:srgbClr val="707780"/>
                </a:solidFill>
              </a:rPr>
              <a:t>理解为什么好看</a:t>
            </a:r>
          </a:p>
        </p:txBody>
      </p:sp>
      <p:sp>
        <p:nvSpPr>
          <p:cNvPr id="12" name="cost-build-1">
            <a:extLst xmlns:a="http://schemas.openxmlformats.org/drawingml/2006/main">
              <a:ext uri="{FF2B5EF4-FFF2-40B4-BE49-F238E27FC236}">
                <a16:creationId xmlns:a16="http://schemas.microsoft.com/office/drawing/2014/main" id="{67AB5B6D-B38C-45E8-8F82-B1BAB987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05175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5ECF4"/>
            </a:solidFill>
            <a:prstDash val="solid"/>
          </a:ln>
        </p:spPr>
      </p:sp>
      <p:sp>
        <p:nvSpPr>
          <p:cNvPr id="13" name="cost-build-1-h">
            <a:extLst xmlns:a="http://schemas.openxmlformats.org/drawingml/2006/main">
              <a:ext uri="{FF2B5EF4-FFF2-40B4-BE49-F238E27FC236}">
                <a16:creationId xmlns:a16="http://schemas.microsoft.com/office/drawing/2014/main" id="{ED1EBE17-D551-4B3E-983E-6F685462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0995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52B33"/>
                </a:solidFill>
              </a:defRPr>
            </a:pPr>
            <a:r>
              <a:rPr sz="1575" b="1" i="0">
                <a:solidFill>
                  <a:srgbClr val="252B33"/>
                </a:solidFill>
              </a:rPr>
              <a:t>内容与数量参数化</a:t>
            </a:r>
          </a:p>
        </p:txBody>
      </p:sp>
      <p:sp>
        <p:nvSpPr>
          <p:cNvPr id="14" name="cost-build-1-d">
            <a:extLst xmlns:a="http://schemas.openxmlformats.org/drawingml/2006/main">
              <a:ext uri="{FF2B5EF4-FFF2-40B4-BE49-F238E27FC236}">
                <a16:creationId xmlns:a16="http://schemas.microsoft.com/office/drawing/2014/main" id="{1BAFCC7B-C709-408D-9702-C548A046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05225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707780"/>
                </a:solidFill>
              </a:defRPr>
            </a:pPr>
            <a:r>
              <a:rPr sz="1275" b="0" i="0">
                <a:solidFill>
                  <a:srgbClr val="707780"/>
                </a:solidFill>
              </a:rPr>
              <a:t>验证不同状态</a:t>
            </a:r>
          </a:p>
        </p:txBody>
      </p:sp>
      <p:sp>
        <p:nvSpPr>
          <p:cNvPr id="15" name="cost-build-2">
            <a:extLst xmlns:a="http://schemas.openxmlformats.org/drawingml/2006/main">
              <a:ext uri="{FF2B5EF4-FFF2-40B4-BE49-F238E27FC236}">
                <a16:creationId xmlns:a16="http://schemas.microsoft.com/office/drawing/2014/main" id="{57EAB337-CF2C-4432-BF77-97F778EC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71975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6" name="cost-build-2-h">
            <a:extLst xmlns:a="http://schemas.openxmlformats.org/drawingml/2006/main">
              <a:ext uri="{FF2B5EF4-FFF2-40B4-BE49-F238E27FC236}">
                <a16:creationId xmlns:a16="http://schemas.microsoft.com/office/drawing/2014/main" id="{C274DB4E-2F36-4A35-9B0A-872C9326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7675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用户确认能力</a:t>
            </a:r>
          </a:p>
        </p:txBody>
      </p:sp>
      <p:sp>
        <p:nvSpPr>
          <p:cNvPr id="17" name="cost-build-2-d">
            <a:extLst xmlns:a="http://schemas.openxmlformats.org/drawingml/2006/main">
              <a:ext uri="{FF2B5EF4-FFF2-40B4-BE49-F238E27FC236}">
                <a16:creationId xmlns:a16="http://schemas.microsoft.com/office/drawing/2014/main" id="{727E8291-37F3-4754-BBE5-60029678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72025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E5EEF7"/>
                </a:solidFill>
              </a:defRPr>
            </a:pPr>
            <a:r>
              <a:rPr sz="1275" b="0" i="0">
                <a:solidFill>
                  <a:srgbClr val="E5EEF7"/>
                </a:solidFill>
              </a:rPr>
              <a:t>进入正式资产库</a:t>
            </a:r>
          </a:p>
        </p:txBody>
      </p:sp>
      <p:sp>
        <p:nvSpPr>
          <p:cNvPr id="18" name="cost-run-0">
            <a:extLst xmlns:a="http://schemas.openxmlformats.org/drawingml/2006/main">
              <a:ext uri="{FF2B5EF4-FFF2-40B4-BE49-F238E27FC236}">
                <a16:creationId xmlns:a16="http://schemas.microsoft.com/office/drawing/2014/main" id="{7A5EF5F5-1D62-43F3-B452-CDD94292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38375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5ECF4"/>
            </a:solidFill>
            <a:prstDash val="solid"/>
          </a:ln>
        </p:spPr>
      </p:sp>
      <p:sp>
        <p:nvSpPr>
          <p:cNvPr id="19" name="cost-run-0-h">
            <a:extLst xmlns:a="http://schemas.openxmlformats.org/drawingml/2006/main">
              <a:ext uri="{FF2B5EF4-FFF2-40B4-BE49-F238E27FC236}">
                <a16:creationId xmlns:a16="http://schemas.microsoft.com/office/drawing/2014/main" id="{91ABAC86-625D-47C5-AFFD-028E0669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4315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52B33"/>
                </a:solidFill>
              </a:defRPr>
            </a:pPr>
            <a:r>
              <a:rPr sz="1575" b="1" i="0">
                <a:solidFill>
                  <a:srgbClr val="252B33"/>
                </a:solidFill>
              </a:rPr>
              <a:t>理解、分类、路由</a:t>
            </a:r>
          </a:p>
        </p:txBody>
      </p:sp>
      <p:sp>
        <p:nvSpPr>
          <p:cNvPr id="20" name="cost-run-0-d">
            <a:extLst xmlns:a="http://schemas.openxmlformats.org/drawingml/2006/main">
              <a:ext uri="{FF2B5EF4-FFF2-40B4-BE49-F238E27FC236}">
                <a16:creationId xmlns:a16="http://schemas.microsoft.com/office/drawing/2014/main" id="{39876472-ADAF-4416-A338-2566C18F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38425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707780"/>
                </a:solidFill>
              </a:defRPr>
            </a:pPr>
            <a:r>
              <a:rPr sz="1275" b="0" i="0">
                <a:solidFill>
                  <a:srgbClr val="707780"/>
                </a:solidFill>
              </a:rPr>
              <a:t>低成本模型承担</a:t>
            </a:r>
          </a:p>
        </p:txBody>
      </p:sp>
      <p:sp>
        <p:nvSpPr>
          <p:cNvPr id="21" name="cost-run-1">
            <a:extLst xmlns:a="http://schemas.openxmlformats.org/drawingml/2006/main">
              <a:ext uri="{FF2B5EF4-FFF2-40B4-BE49-F238E27FC236}">
                <a16:creationId xmlns:a16="http://schemas.microsoft.com/office/drawing/2014/main" id="{0BCC7210-5824-42C1-8D39-CC4B31EF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05175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2" name="cost-run-1-h">
            <a:extLst xmlns:a="http://schemas.openxmlformats.org/drawingml/2006/main">
              <a:ext uri="{FF2B5EF4-FFF2-40B4-BE49-F238E27FC236}">
                <a16:creationId xmlns:a16="http://schemas.microsoft.com/office/drawing/2014/main" id="{1DABF337-9C80-43B3-B1AA-BD308AEB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0995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调用已确认能力</a:t>
            </a:r>
          </a:p>
        </p:txBody>
      </p:sp>
      <p:sp>
        <p:nvSpPr>
          <p:cNvPr id="23" name="cost-run-1-d">
            <a:extLst xmlns:a="http://schemas.openxmlformats.org/drawingml/2006/main">
              <a:ext uri="{FF2B5EF4-FFF2-40B4-BE49-F238E27FC236}">
                <a16:creationId xmlns:a16="http://schemas.microsoft.com/office/drawing/2014/main" id="{F9ACF9B3-B2DC-4A9D-95E3-B2355C4D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05225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E5EEF7"/>
                </a:solidFill>
              </a:defRPr>
            </a:pPr>
            <a:r>
              <a:rPr sz="1275" b="0" i="0">
                <a:solidFill>
                  <a:srgbClr val="E5EEF7"/>
                </a:solidFill>
              </a:rPr>
              <a:t>确定性代码绘制</a:t>
            </a:r>
          </a:p>
        </p:txBody>
      </p:sp>
      <p:sp>
        <p:nvSpPr>
          <p:cNvPr id="24" name="cost-run-2">
            <a:extLst xmlns:a="http://schemas.openxmlformats.org/drawingml/2006/main">
              <a:ext uri="{FF2B5EF4-FFF2-40B4-BE49-F238E27FC236}">
                <a16:creationId xmlns:a16="http://schemas.microsoft.com/office/drawing/2014/main" id="{7D5E1C9C-4C56-4E14-94CE-8613C20E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371975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5ECF4"/>
            </a:solidFill>
            <a:prstDash val="solid"/>
          </a:ln>
        </p:spPr>
      </p:sp>
      <p:sp>
        <p:nvSpPr>
          <p:cNvPr id="25" name="cost-run-2-h">
            <a:extLst xmlns:a="http://schemas.openxmlformats.org/drawingml/2006/main">
              <a:ext uri="{FF2B5EF4-FFF2-40B4-BE49-F238E27FC236}">
                <a16:creationId xmlns:a16="http://schemas.microsoft.com/office/drawing/2014/main" id="{2CB34F3D-9DE9-450C-A49C-68A2D703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7675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52B33"/>
                </a:solidFill>
              </a:defRPr>
            </a:pPr>
            <a:r>
              <a:rPr sz="1575" b="1" i="0">
                <a:solidFill>
                  <a:srgbClr val="252B33"/>
                </a:solidFill>
              </a:rPr>
              <a:t>持续真实任务校准</a:t>
            </a:r>
          </a:p>
        </p:txBody>
      </p:sp>
      <p:sp>
        <p:nvSpPr>
          <p:cNvPr id="26" name="cost-run-2-d">
            <a:extLst xmlns:a="http://schemas.openxmlformats.org/drawingml/2006/main">
              <a:ext uri="{FF2B5EF4-FFF2-40B4-BE49-F238E27FC236}">
                <a16:creationId xmlns:a16="http://schemas.microsoft.com/office/drawing/2014/main" id="{CFCD4EBF-7C00-4CFC-A794-8A88DBB8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72025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707780"/>
                </a:solidFill>
              </a:defRPr>
            </a:pPr>
            <a:r>
              <a:rPr sz="1275" b="0" i="0">
                <a:solidFill>
                  <a:srgbClr val="707780"/>
                </a:solidFill>
              </a:rPr>
              <a:t>视觉模型不是必要成本</a:t>
            </a:r>
          </a:p>
        </p:txBody>
      </p:sp>
      <p:sp>
        <p:nvSpPr>
          <p:cNvPr id="27" name="cost-foot">
            <a:extLst xmlns:a="http://schemas.openxmlformats.org/drawingml/2006/main">
              <a:ext uri="{FF2B5EF4-FFF2-40B4-BE49-F238E27FC236}">
                <a16:creationId xmlns:a16="http://schemas.microsoft.com/office/drawing/2014/main" id="{148456FA-BFAD-497A-92CD-2861299A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90550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52B33"/>
                </a:solidFill>
              </a:defRPr>
            </a:pPr>
            <a:r>
              <a:rPr sz="1425" b="1" i="0">
                <a:solidFill>
                  <a:srgbClr val="252B33"/>
                </a:solidFill>
              </a:rPr>
              <a:t>视觉理解没有消失，而是从“每次生成都重新支付”变成“一次建设、多次复用”。</a:t>
            </a:r>
          </a:p>
        </p:txBody>
      </p:sp>
    </p:spTree>
    <p:extLst>
      <p:ext uri="{BB962C8B-B14F-4D97-AF65-F5344CB8AC3E}">
        <p14:creationId xmlns:p14="http://schemas.microsoft.com/office/powerpoint/2010/main" val="2552350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932735-798D-4640-A75E-DF7444FC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52B33"/>
                </a:solidFill>
              </a:defRPr>
            </a:pPr>
            <a:r>
              <a:rPr sz="2400" b="1" i="0">
                <a:solidFill>
                  <a:srgbClr val="252B33"/>
                </a:solidFill>
              </a:rPr>
              <a:t>真正积累的不是一万个模板，而是表达能力包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99EBCF2B-E085-4CDD-8122-FE59021A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620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-sub">
            <a:extLst xmlns:a="http://schemas.openxmlformats.org/drawingml/2006/main">
              <a:ext uri="{FF2B5EF4-FFF2-40B4-BE49-F238E27FC236}">
                <a16:creationId xmlns:a16="http://schemas.microsoft.com/office/drawing/2014/main" id="{57E563FA-0685-466E-BD5A-6B2DEF87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114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07780"/>
                </a:solidFill>
              </a:defRPr>
            </a:pPr>
            <a:r>
              <a:rPr sz="1200" b="0" i="0">
                <a:solidFill>
                  <a:srgbClr val="707780"/>
                </a:solidFill>
              </a:rPr>
              <a:t>页面只有把规律提炼出来，才能从一件作品变成一种能力。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25E3361-ABD3-4395-A187-954FF3DA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707780"/>
                </a:solidFill>
              </a:defRPr>
            </a:pPr>
            <a:r>
              <a:rPr sz="1050" b="1" i="0">
                <a:solidFill>
                  <a:srgbClr val="707780"/>
                </a:solidFill>
              </a:rPr>
              <a:t>09</a:t>
            </a:r>
          </a:p>
        </p:txBody>
      </p:sp>
      <p:sp>
        <p:nvSpPr>
          <p:cNvPr id="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FEA46D5F-8C13-4D15-AC7A-1A828109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07780"/>
                </a:solidFill>
              </a:defRPr>
            </a:pPr>
            <a:r>
              <a:rPr sz="1050" b="0" i="0">
                <a:solidFill>
                  <a:srgbClr val="707780"/>
                </a:solidFill>
              </a:rPr>
              <a:t>来源：PPagenT 产品叙事（分配原稿）</a:t>
            </a:r>
          </a:p>
        </p:txBody>
      </p:sp>
      <p:sp>
        <p:nvSpPr>
          <p:cNvPr id="6" name="moat-lead">
            <a:extLst xmlns:a="http://schemas.openxmlformats.org/drawingml/2006/main">
              <a:ext uri="{FF2B5EF4-FFF2-40B4-BE49-F238E27FC236}">
                <a16:creationId xmlns:a16="http://schemas.microsoft.com/office/drawing/2014/main" id="{01A89095-E092-4D93-8BD6-6894F153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3810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6496F"/>
                </a:solidFill>
              </a:defRPr>
            </a:pPr>
            <a:r>
              <a:rPr sz="1950" b="1" i="0">
                <a:solidFill>
                  <a:srgbClr val="26496F"/>
                </a:solidFill>
              </a:rPr>
              <a:t>现实内容永远会变：</a:t>
            </a:r>
          </a:p>
          <a:p xmlns:a="http://schemas.openxmlformats.org/drawingml/2006/main">
            <a:pPr algn="l">
              <a:defRPr sz="1950" b="1" i="0">
                <a:solidFill>
                  <a:srgbClr val="26496F"/>
                </a:solidFill>
              </a:defRPr>
            </a:pPr>
            <a:r>
              <a:rPr sz="1950" b="1" i="0">
                <a:solidFill>
                  <a:srgbClr val="26496F"/>
                </a:solidFill>
              </a:rPr>
              <a:t>三个观点会变成四个，</a:t>
            </a:r>
          </a:p>
          <a:p xmlns:a="http://schemas.openxmlformats.org/drawingml/2006/main">
            <a:pPr algn="l">
              <a:defRPr sz="1950" b="1" i="0">
                <a:solidFill>
                  <a:srgbClr val="26496F"/>
                </a:solidFill>
              </a:defRPr>
            </a:pPr>
            <a:r>
              <a:rPr sz="1950" b="1" i="0">
                <a:solidFill>
                  <a:srgbClr val="26496F"/>
                </a:solidFill>
              </a:rPr>
              <a:t>十个字会变成六十个字。</a:t>
            </a:r>
          </a:p>
        </p:txBody>
      </p:sp>
      <p:sp>
        <p:nvSpPr>
          <p:cNvPr id="7" name="moat-body">
            <a:extLst xmlns:a="http://schemas.openxmlformats.org/drawingml/2006/main">
              <a:ext uri="{FF2B5EF4-FFF2-40B4-BE49-F238E27FC236}">
                <a16:creationId xmlns:a16="http://schemas.microsoft.com/office/drawing/2014/main" id="{0592FB9E-AB3C-4B21-BFEC-AD8E2432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8137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52B33"/>
                </a:solidFill>
              </a:defRPr>
            </a:pPr>
            <a:r>
              <a:rPr sz="1500" b="0" i="0">
                <a:solidFill>
                  <a:srgbClr val="252B33"/>
                </a:solidFill>
              </a:rPr>
              <a:t>能力要回答的不是“这一页长什么样”，</a:t>
            </a:r>
          </a:p>
          <a:p xmlns:a="http://schemas.openxmlformats.org/drawingml/2006/main">
            <a:pPr algn="l">
              <a:defRPr sz="1500" b="0" i="0">
                <a:solidFill>
                  <a:srgbClr val="252B33"/>
                </a:solidFill>
              </a:defRPr>
            </a:pPr>
            <a:r>
              <a:rPr sz="1500" b="0" i="0">
                <a:solidFill>
                  <a:srgbClr val="252B33"/>
                </a:solidFill>
              </a:rPr>
              <a:t>而是判断：内容怎样表达，边界在哪里。</a:t>
            </a:r>
          </a:p>
        </p:txBody>
      </p:sp>
      <p:sp>
        <p:nvSpPr>
          <p:cNvPr id="8" name="capability-package">
            <a:extLst xmlns:a="http://schemas.openxmlformats.org/drawingml/2006/main">
              <a:ext uri="{FF2B5EF4-FFF2-40B4-BE49-F238E27FC236}">
                <a16:creationId xmlns:a16="http://schemas.microsoft.com/office/drawing/2014/main" id="{7DA3967D-DF01-42CE-BABF-2FCC5B9A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24000"/>
            <a:ext cx="5810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5ECF4"/>
            </a:solidFill>
            <a:prstDash val="solid"/>
          </a:ln>
        </p:spPr>
      </p:sp>
      <p:sp>
        <p:nvSpPr>
          <p:cNvPr id="9" name="capability-title">
            <a:extLst xmlns:a="http://schemas.openxmlformats.org/drawingml/2006/main">
              <a:ext uri="{FF2B5EF4-FFF2-40B4-BE49-F238E27FC236}">
                <a16:creationId xmlns:a16="http://schemas.microsoft.com/office/drawing/2014/main" id="{0CD08B2A-AFA1-4B22-AC50-E4F4C43F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8097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6496F"/>
                </a:solidFill>
              </a:defRPr>
            </a:pPr>
            <a:r>
              <a:rPr sz="1875" b="1" i="0">
                <a:solidFill>
                  <a:srgbClr val="26496F"/>
                </a:solidFill>
              </a:rPr>
              <a:t>经过验证的表达能力包</a:t>
            </a:r>
          </a:p>
        </p:txBody>
      </p:sp>
      <p:sp>
        <p:nvSpPr>
          <p:cNvPr id="10" name="moat-row-rule-0">
            <a:extLst xmlns:a="http://schemas.openxmlformats.org/drawingml/2006/main">
              <a:ext uri="{FF2B5EF4-FFF2-40B4-BE49-F238E27FC236}">
                <a16:creationId xmlns:a16="http://schemas.microsoft.com/office/drawing/2014/main" id="{7B2087D9-4CC7-4200-8B1D-A55BC9E0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31457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oat-row-h-0">
            <a:extLst xmlns:a="http://schemas.openxmlformats.org/drawingml/2006/main">
              <a:ext uri="{FF2B5EF4-FFF2-40B4-BE49-F238E27FC236}">
                <a16:creationId xmlns:a16="http://schemas.microsoft.com/office/drawing/2014/main" id="{33F8B147-D700-410E-9DAA-8AE3AE9E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4288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6496F"/>
                </a:solidFill>
              </a:defRPr>
            </a:pPr>
            <a:r>
              <a:rPr sz="1425" b="1" i="0">
                <a:solidFill>
                  <a:srgbClr val="26496F"/>
                </a:solidFill>
              </a:rPr>
              <a:t>适配什么</a:t>
            </a:r>
          </a:p>
        </p:txBody>
      </p:sp>
      <p:sp>
        <p:nvSpPr>
          <p:cNvPr id="12" name="moat-row-d-0">
            <a:extLst xmlns:a="http://schemas.openxmlformats.org/drawingml/2006/main">
              <a:ext uri="{FF2B5EF4-FFF2-40B4-BE49-F238E27FC236}">
                <a16:creationId xmlns:a16="http://schemas.microsoft.com/office/drawing/2014/main" id="{671AC6D3-5A8E-400B-BE41-5CAAF84B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428875"/>
            <a:ext cx="338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52B33"/>
                </a:solidFill>
              </a:defRPr>
            </a:pPr>
            <a:r>
              <a:rPr sz="1425" b="0" i="0">
                <a:solidFill>
                  <a:srgbClr val="252B33"/>
                </a:solidFill>
              </a:rPr>
              <a:t>什么内容适合怎样表达</a:t>
            </a:r>
          </a:p>
        </p:txBody>
      </p:sp>
      <p:sp>
        <p:nvSpPr>
          <p:cNvPr id="13" name="moat-row-rule-1">
            <a:extLst xmlns:a="http://schemas.openxmlformats.org/drawingml/2006/main">
              <a:ext uri="{FF2B5EF4-FFF2-40B4-BE49-F238E27FC236}">
                <a16:creationId xmlns:a16="http://schemas.microsoft.com/office/drawing/2014/main" id="{E1E862A5-431F-4901-B536-ADBAE150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9337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oat-row-h-1">
            <a:extLst xmlns:a="http://schemas.openxmlformats.org/drawingml/2006/main">
              <a:ext uri="{FF2B5EF4-FFF2-40B4-BE49-F238E27FC236}">
                <a16:creationId xmlns:a16="http://schemas.microsoft.com/office/drawing/2014/main" id="{74218FEE-0776-4BCE-82EA-26302F25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048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6496F"/>
                </a:solidFill>
              </a:defRPr>
            </a:pPr>
            <a:r>
              <a:rPr sz="1425" b="1" i="0">
                <a:solidFill>
                  <a:srgbClr val="26496F"/>
                </a:solidFill>
              </a:rPr>
              <a:t>能装多少</a:t>
            </a:r>
          </a:p>
        </p:txBody>
      </p:sp>
      <p:sp>
        <p:nvSpPr>
          <p:cNvPr id="15" name="moat-row-d-1">
            <a:extLst xmlns:a="http://schemas.openxmlformats.org/drawingml/2006/main">
              <a:ext uri="{FF2B5EF4-FFF2-40B4-BE49-F238E27FC236}">
                <a16:creationId xmlns:a16="http://schemas.microsoft.com/office/drawing/2014/main" id="{D2DC7795-CCF5-464A-A946-C99FFEBF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48000"/>
            <a:ext cx="338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52B33"/>
                </a:solidFill>
              </a:defRPr>
            </a:pPr>
            <a:r>
              <a:rPr sz="1425" b="0" i="0">
                <a:solidFill>
                  <a:srgbClr val="252B33"/>
                </a:solidFill>
              </a:rPr>
              <a:t>数量与文字变长时怎样重排</a:t>
            </a:r>
          </a:p>
        </p:txBody>
      </p:sp>
      <p:sp>
        <p:nvSpPr>
          <p:cNvPr id="16" name="moat-row-rule-2">
            <a:extLst xmlns:a="http://schemas.openxmlformats.org/drawingml/2006/main">
              <a:ext uri="{FF2B5EF4-FFF2-40B4-BE49-F238E27FC236}">
                <a16:creationId xmlns:a16="http://schemas.microsoft.com/office/drawing/2014/main" id="{1A17C063-294F-4CEE-B639-CB222CB3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55282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oat-row-h-2">
            <a:extLst xmlns:a="http://schemas.openxmlformats.org/drawingml/2006/main">
              <a:ext uri="{FF2B5EF4-FFF2-40B4-BE49-F238E27FC236}">
                <a16:creationId xmlns:a16="http://schemas.microsoft.com/office/drawing/2014/main" id="{FBDBA340-4C87-4AB6-9ED5-E209AAD1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6671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6496F"/>
                </a:solidFill>
              </a:defRPr>
            </a:pPr>
            <a:r>
              <a:rPr sz="1425" b="1" i="0">
                <a:solidFill>
                  <a:srgbClr val="26496F"/>
                </a:solidFill>
              </a:rPr>
              <a:t>如何变化</a:t>
            </a:r>
          </a:p>
        </p:txBody>
      </p:sp>
      <p:sp>
        <p:nvSpPr>
          <p:cNvPr id="18" name="moat-row-d-2">
            <a:extLst xmlns:a="http://schemas.openxmlformats.org/drawingml/2006/main">
              <a:ext uri="{FF2B5EF4-FFF2-40B4-BE49-F238E27FC236}">
                <a16:creationId xmlns:a16="http://schemas.microsoft.com/office/drawing/2014/main" id="{991500A2-0605-4673-B822-3EE55406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67125"/>
            <a:ext cx="338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52B33"/>
                </a:solidFill>
              </a:defRPr>
            </a:pPr>
            <a:r>
              <a:rPr sz="1425" b="0" i="0">
                <a:solidFill>
                  <a:srgbClr val="252B33"/>
                </a:solidFill>
              </a:rPr>
              <a:t>状态变化时怎样保持结构关系</a:t>
            </a:r>
          </a:p>
        </p:txBody>
      </p:sp>
      <p:sp>
        <p:nvSpPr>
          <p:cNvPr id="19" name="moat-row-rule-3">
            <a:extLst xmlns:a="http://schemas.openxmlformats.org/drawingml/2006/main">
              <a:ext uri="{FF2B5EF4-FFF2-40B4-BE49-F238E27FC236}">
                <a16:creationId xmlns:a16="http://schemas.microsoft.com/office/drawing/2014/main" id="{5CBBEB7F-EBAB-4906-9927-C390ECC6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1719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moat-row-h-3">
            <a:extLst xmlns:a="http://schemas.openxmlformats.org/drawingml/2006/main">
              <a:ext uri="{FF2B5EF4-FFF2-40B4-BE49-F238E27FC236}">
                <a16:creationId xmlns:a16="http://schemas.microsoft.com/office/drawing/2014/main" id="{16472EB6-89C4-48BE-B181-B3F3F72E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2862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6496F"/>
                </a:solidFill>
              </a:defRPr>
            </a:pPr>
            <a:r>
              <a:rPr sz="1425" b="1" i="0">
                <a:solidFill>
                  <a:srgbClr val="26496F"/>
                </a:solidFill>
              </a:rPr>
              <a:t>何时退化</a:t>
            </a:r>
          </a:p>
        </p:txBody>
      </p:sp>
      <p:sp>
        <p:nvSpPr>
          <p:cNvPr id="21" name="moat-row-d-3">
            <a:extLst xmlns:a="http://schemas.openxmlformats.org/drawingml/2006/main">
              <a:ext uri="{FF2B5EF4-FFF2-40B4-BE49-F238E27FC236}">
                <a16:creationId xmlns:a16="http://schemas.microsoft.com/office/drawing/2014/main" id="{CB7966D2-2DEC-4018-9552-E481A1BA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286250"/>
            <a:ext cx="338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52B33"/>
                </a:solidFill>
              </a:defRPr>
            </a:pPr>
            <a:r>
              <a:rPr sz="1425" b="0" i="0">
                <a:solidFill>
                  <a:srgbClr val="252B33"/>
                </a:solidFill>
              </a:rPr>
              <a:t>换样式、拆页还是简单排版</a:t>
            </a:r>
          </a:p>
        </p:txBody>
      </p:sp>
      <p:sp>
        <p:nvSpPr>
          <p:cNvPr id="22" name="moat-bottom">
            <a:extLst xmlns:a="http://schemas.openxmlformats.org/drawingml/2006/main">
              <a:ext uri="{FF2B5EF4-FFF2-40B4-BE49-F238E27FC236}">
                <a16:creationId xmlns:a16="http://schemas.microsoft.com/office/drawing/2014/main" id="{4AC9463E-0A4A-4C75-AE51-C736DA32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715000"/>
            <a:ext cx="581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52B33"/>
                </a:solidFill>
              </a:defRPr>
            </a:pPr>
            <a:r>
              <a:rPr sz="1500" b="1" i="0">
                <a:solidFill>
                  <a:srgbClr val="252B33"/>
                </a:solidFill>
              </a:rPr>
              <a:t>真正的壁垒：有效能力 × 正确路由 × 清楚边界 × 稳定生成</a:t>
            </a:r>
          </a:p>
        </p:txBody>
      </p:sp>
    </p:spTree>
    <p:extLst>
      <p:ext uri="{BB962C8B-B14F-4D97-AF65-F5344CB8AC3E}">
        <p14:creationId xmlns:p14="http://schemas.microsoft.com/office/powerpoint/2010/main" val="11730864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41E57E-F71D-44C7-A39A-9232564B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52B33"/>
                </a:solidFill>
              </a:defRPr>
            </a:pPr>
            <a:r>
              <a:rPr sz="2400" b="1" i="0">
                <a:solidFill>
                  <a:srgbClr val="252B33"/>
                </a:solidFill>
              </a:rPr>
              <a:t>从一个学校，走向更多组织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D6AC524A-AE3E-489E-B121-83F7AE44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620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-sub">
            <a:extLst xmlns:a="http://schemas.openxmlformats.org/drawingml/2006/main">
              <a:ext uri="{FF2B5EF4-FFF2-40B4-BE49-F238E27FC236}">
                <a16:creationId xmlns:a16="http://schemas.microsoft.com/office/drawing/2014/main" id="{E447313E-53CB-4168-8E14-2D71B480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114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07780"/>
                </a:solidFill>
              </a:defRPr>
            </a:pPr>
            <a:r>
              <a:rPr sz="1200" b="0" i="0">
                <a:solidFill>
                  <a:srgbClr val="707780"/>
                </a:solidFill>
              </a:rPr>
              <a:t>先在有规范、有需求、有边界的场景里落地，再把验证过的能力复用出去。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4519161-5A0E-46DB-9C0D-1C3A6B96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707780"/>
                </a:solidFill>
              </a:defRPr>
            </a:pPr>
            <a:r>
              <a:rPr sz="1050" b="1" i="0">
                <a:solidFill>
                  <a:srgbClr val="707780"/>
                </a:solidFill>
              </a:rPr>
              <a:t>10</a:t>
            </a:r>
          </a:p>
        </p:txBody>
      </p:sp>
      <p:sp>
        <p:nvSpPr>
          <p:cNvPr id="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4044766-866F-411A-A3E6-AB473321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07780"/>
                </a:solidFill>
              </a:defRPr>
            </a:pPr>
            <a:r>
              <a:rPr sz="1050" b="0" i="0">
                <a:solidFill>
                  <a:srgbClr val="707780"/>
                </a:solidFill>
              </a:rPr>
              <a:t>来源：PPagenT 产品叙事（分配原稿）</a:t>
            </a:r>
          </a:p>
        </p:txBody>
      </p:sp>
      <p:sp>
        <p:nvSpPr>
          <p:cNvPr id="6" name="neu">
            <a:extLst xmlns:a="http://schemas.openxmlformats.org/drawingml/2006/main">
              <a:ext uri="{FF2B5EF4-FFF2-40B4-BE49-F238E27FC236}">
                <a16:creationId xmlns:a16="http://schemas.microsoft.com/office/drawing/2014/main" id="{A1D47F50-AEE7-4D61-9059-500A2CEF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38375"/>
            <a:ext cx="2857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7" name="neu-title">
            <a:extLst xmlns:a="http://schemas.openxmlformats.org/drawingml/2006/main">
              <a:ext uri="{FF2B5EF4-FFF2-40B4-BE49-F238E27FC236}">
                <a16:creationId xmlns:a16="http://schemas.microsoft.com/office/drawing/2014/main" id="{15390214-37D5-4694-81DD-3B6382CA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5241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FFFFFF"/>
                </a:solidFill>
              </a:defRPr>
            </a:pPr>
            <a:r>
              <a:rPr sz="2175" b="1" i="0">
                <a:solidFill>
                  <a:srgbClr val="FFFFFF"/>
                </a:solidFill>
              </a:rPr>
              <a:t>东北大学</a:t>
            </a:r>
          </a:p>
        </p:txBody>
      </p:sp>
      <p:sp>
        <p:nvSpPr>
          <p:cNvPr id="8" name="neu-copy">
            <a:extLst xmlns:a="http://schemas.openxmlformats.org/drawingml/2006/main">
              <a:ext uri="{FF2B5EF4-FFF2-40B4-BE49-F238E27FC236}">
                <a16:creationId xmlns:a16="http://schemas.microsoft.com/office/drawing/2014/main" id="{3B04164A-DC75-43F6-B3F1-B000DC3D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48000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E5EEF7"/>
                </a:solidFill>
              </a:defRPr>
            </a:pPr>
            <a:r>
              <a:rPr sz="1350" b="0" i="0">
                <a:solidFill>
                  <a:srgbClr val="E5EEF7"/>
                </a:solidFill>
              </a:rPr>
              <a:t>第一个正式落地场景</a:t>
            </a:r>
          </a:p>
          <a:p xmlns:a="http://schemas.openxmlformats.org/drawingml/2006/main">
            <a:pPr algn="ctr">
              <a:defRPr sz="1350" b="0" i="0">
                <a:solidFill>
                  <a:srgbClr val="E5EEF7"/>
                </a:solidFill>
              </a:defRPr>
            </a:pPr>
            <a:r>
              <a:rPr sz="1350" b="0" i="0">
                <a:solidFill>
                  <a:srgbClr val="E5EEF7"/>
                </a:solidFill>
              </a:rPr>
              <a:t>规范明确 · 需求持续 · 可检验</a:t>
            </a:r>
          </a:p>
        </p:txBody>
      </p:sp>
      <p:sp>
        <p:nvSpPr>
          <p:cNvPr id="9" name="orgs">
            <a:extLst xmlns:a="http://schemas.openxmlformats.org/drawingml/2006/main">
              <a:ext uri="{FF2B5EF4-FFF2-40B4-BE49-F238E27FC236}">
                <a16:creationId xmlns:a16="http://schemas.microsoft.com/office/drawing/2014/main" id="{A7F3C2D2-A4EC-415D-8B4E-BDC56803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14500"/>
            <a:ext cx="3095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5ECF4"/>
            </a:solidFill>
            <a:prstDash val="solid"/>
          </a:ln>
        </p:spPr>
      </p:sp>
      <p:sp>
        <p:nvSpPr>
          <p:cNvPr id="10" name="org-title">
            <a:extLst xmlns:a="http://schemas.openxmlformats.org/drawingml/2006/main">
              <a:ext uri="{FF2B5EF4-FFF2-40B4-BE49-F238E27FC236}">
                <a16:creationId xmlns:a16="http://schemas.microsoft.com/office/drawing/2014/main" id="{B88A8B96-48B4-442B-8939-F02C6FFF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26496F"/>
                </a:solidFill>
              </a:defRPr>
            </a:pPr>
            <a:r>
              <a:rPr sz="1875" b="1" i="0">
                <a:solidFill>
                  <a:srgbClr val="26496F"/>
                </a:solidFill>
              </a:rPr>
              <a:t>更多组织</a:t>
            </a:r>
          </a:p>
        </p:txBody>
      </p:sp>
      <p:sp>
        <p:nvSpPr>
          <p:cNvPr id="11" name="org-copy">
            <a:extLst xmlns:a="http://schemas.openxmlformats.org/drawingml/2006/main">
              <a:ext uri="{FF2B5EF4-FFF2-40B4-BE49-F238E27FC236}">
                <a16:creationId xmlns:a16="http://schemas.microsoft.com/office/drawing/2014/main" id="{D1504B65-8DA6-4846-872B-E44E20E8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43175"/>
            <a:ext cx="23336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252B33"/>
                </a:solidFill>
              </a:defRPr>
            </a:pPr>
            <a:r>
              <a:rPr sz="1500" b="0" i="0">
                <a:solidFill>
                  <a:srgbClr val="252B33"/>
                </a:solidFill>
              </a:rPr>
              <a:t>其他学校</a:t>
            </a:r>
          </a:p>
          <a:p xmlns:a="http://schemas.openxmlformats.org/drawingml/2006/main">
            <a:pPr algn="ctr">
              <a:defRPr sz="1500" b="0" i="0">
                <a:solidFill>
                  <a:srgbClr val="252B33"/>
                </a:solidFill>
              </a:defRPr>
            </a:pPr>
            <a:r>
              <a:rPr sz="1500" b="0" i="0">
                <a:solidFill>
                  <a:srgbClr val="252B33"/>
                </a:solidFill>
              </a:rPr>
              <a:t>科研院所 / 实验室</a:t>
            </a:r>
          </a:p>
          <a:p xmlns:a="http://schemas.openxmlformats.org/drawingml/2006/main">
            <a:pPr algn="ctr">
              <a:defRPr sz="1500" b="0" i="0">
                <a:solidFill>
                  <a:srgbClr val="252B33"/>
                </a:solidFill>
              </a:defRPr>
            </a:pPr>
            <a:r>
              <a:rPr sz="1500" b="0" i="0">
                <a:solidFill>
                  <a:srgbClr val="252B33"/>
                </a:solidFill>
              </a:rPr>
              <a:t>企业 / 团队</a:t>
            </a:r>
          </a:p>
          <a:p xmlns:a="http://schemas.openxmlformats.org/drawingml/2006/main">
            <a:pPr algn="ctr">
              <a:defRPr sz="1500" b="0" i="0">
                <a:solidFill>
                  <a:srgbClr val="252B33"/>
                </a:solidFill>
              </a:defRPr>
            </a:pPr>
            <a:r>
              <a:rPr sz="1500" b="0" i="0">
                <a:solidFill>
                  <a:srgbClr val="252B33"/>
                </a:solidFill>
              </a:rPr>
              <a:t>个人长期风格</a:t>
            </a:r>
          </a:p>
        </p:txBody>
      </p:sp>
      <p:cxnSp>
        <p:nvCxnSpPr>
          <p:cNvPr id="29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3762375" y="2952750"/>
            <a:ext cx="3952875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sp>
        <p:nvSpPr>
          <p:cNvPr id="13" name="theme-reuse">
            <a:extLst xmlns:a="http://schemas.openxmlformats.org/drawingml/2006/main">
              <a:ext uri="{FF2B5EF4-FFF2-40B4-BE49-F238E27FC236}">
                <a16:creationId xmlns:a16="http://schemas.microsoft.com/office/drawing/2014/main" id="{EBD5117A-4782-457F-8859-51191AD9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0955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6496F"/>
                </a:solidFill>
              </a:defRPr>
            </a:pPr>
            <a:r>
              <a:rPr sz="1650" b="1" i="0">
                <a:solidFill>
                  <a:srgbClr val="26496F"/>
                </a:solidFill>
              </a:rPr>
              <a:t>主题可替换</a:t>
            </a:r>
          </a:p>
        </p:txBody>
      </p:sp>
      <p:sp>
        <p:nvSpPr>
          <p:cNvPr id="14" name="theme-reuse-copy">
            <a:extLst xmlns:a="http://schemas.openxmlformats.org/drawingml/2006/main">
              <a:ext uri="{FF2B5EF4-FFF2-40B4-BE49-F238E27FC236}">
                <a16:creationId xmlns:a16="http://schemas.microsoft.com/office/drawing/2014/main" id="{690C0C0E-B4E1-45EC-9F56-A0145866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707780"/>
                </a:solidFill>
              </a:defRPr>
            </a:pPr>
            <a:r>
              <a:rPr sz="1275" b="0" i="0">
                <a:solidFill>
                  <a:srgbClr val="707780"/>
                </a:solidFill>
              </a:rPr>
              <a:t>颜色 · Logo · 字体 · 页眉页脚</a:t>
            </a:r>
          </a:p>
        </p:txBody>
      </p:sp>
      <p:sp>
        <p:nvSpPr>
          <p:cNvPr id="15" name="cap-reuse">
            <a:extLst xmlns:a="http://schemas.openxmlformats.org/drawingml/2006/main">
              <a:ext uri="{FF2B5EF4-FFF2-40B4-BE49-F238E27FC236}">
                <a16:creationId xmlns:a16="http://schemas.microsoft.com/office/drawing/2014/main" id="{64C12C71-869E-499E-B185-AADA0127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385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6496F"/>
                </a:solidFill>
              </a:defRPr>
            </a:pPr>
            <a:r>
              <a:rPr sz="1650" b="1" i="0">
                <a:solidFill>
                  <a:srgbClr val="26496F"/>
                </a:solidFill>
              </a:rPr>
              <a:t>能力可复用</a:t>
            </a:r>
          </a:p>
        </p:txBody>
      </p:sp>
      <p:sp>
        <p:nvSpPr>
          <p:cNvPr id="16" name="cap-reuse-copy">
            <a:extLst xmlns:a="http://schemas.openxmlformats.org/drawingml/2006/main">
              <a:ext uri="{FF2B5EF4-FFF2-40B4-BE49-F238E27FC236}">
                <a16:creationId xmlns:a16="http://schemas.microsoft.com/office/drawing/2014/main" id="{2D22FD70-E0C2-4996-965C-6D368212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195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707780"/>
                </a:solidFill>
              </a:defRPr>
            </a:pPr>
            <a:r>
              <a:rPr sz="1275" b="0" i="0">
                <a:solidFill>
                  <a:srgbClr val="707780"/>
                </a:solidFill>
              </a:rPr>
              <a:t>内容理解与表达规律继续沉淀</a:t>
            </a:r>
          </a:p>
        </p:txBody>
      </p:sp>
      <p:sp>
        <p:nvSpPr>
          <p:cNvPr id="17" name="expand-foot">
            <a:extLst xmlns:a="http://schemas.openxmlformats.org/drawingml/2006/main">
              <a:ext uri="{FF2B5EF4-FFF2-40B4-BE49-F238E27FC236}">
                <a16:creationId xmlns:a16="http://schemas.microsoft.com/office/drawing/2014/main" id="{40D25909-B0B0-4A03-B305-EFDBC107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985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52B33"/>
                </a:solidFill>
              </a:defRPr>
            </a:pPr>
            <a:r>
              <a:rPr sz="1500" b="1" i="0">
                <a:solidFill>
                  <a:srgbClr val="252B33"/>
                </a:solidFill>
              </a:rPr>
              <a:t>把只存在于少数人头脑和电脑里的能力，变成更多人可以低成本获得的生产能力。</a:t>
            </a:r>
          </a:p>
        </p:txBody>
      </p:sp>
    </p:spTree>
    <p:extLst>
      <p:ext uri="{BB962C8B-B14F-4D97-AF65-F5344CB8AC3E}">
        <p14:creationId xmlns:p14="http://schemas.microsoft.com/office/powerpoint/2010/main" val="13642022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315F9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32480800-9254-4351-9698-3BB648A0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CE8F3"/>
                </a:solidFill>
              </a:defRPr>
            </a:pPr>
            <a:r>
              <a:rPr sz="1350" b="1" i="0">
                <a:solidFill>
                  <a:srgbClr val="DCE8F3"/>
                </a:solidFill>
              </a:rPr>
              <a:t>PPagenT / 收束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97DBD2CF-CDFE-4D8F-8891-43D9DE81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477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</a:defRPr>
            </a:pPr>
            <a:r>
              <a:rPr sz="3150" b="1" i="0">
                <a:solidFill>
                  <a:srgbClr val="FFFFFF"/>
                </a:solidFill>
              </a:rPr>
              <a:t>把不可预测的 PPT 生成，</a:t>
            </a:r>
          </a:p>
          <a:p xmlns:a="http://schemas.openxmlformats.org/drawingml/2006/main">
            <a:pPr algn="l">
              <a:defRPr sz="3150" b="1" i="0">
                <a:solidFill>
                  <a:srgbClr val="FFFFFF"/>
                </a:solidFill>
              </a:defRPr>
            </a:pPr>
            <a:r>
              <a:rPr sz="3150" b="1" i="0">
                <a:solidFill>
                  <a:srgbClr val="FFFFFF"/>
                </a:solidFill>
              </a:rPr>
              <a:t>变成概率上高度可预测的交付</a:t>
            </a:r>
          </a:p>
        </p:txBody>
      </p:sp>
      <p:sp>
        <p:nvSpPr>
          <p:cNvPr id="3" name="close-rule">
            <a:extLst xmlns:a="http://schemas.openxmlformats.org/drawingml/2006/main">
              <a:ext uri="{FF2B5EF4-FFF2-40B4-BE49-F238E27FC236}">
                <a16:creationId xmlns:a16="http://schemas.microsoft.com/office/drawing/2014/main" id="{37DA2F7A-E21B-4CBF-9A67-792CEA5F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988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1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lose-body">
            <a:extLst xmlns:a="http://schemas.openxmlformats.org/drawingml/2006/main">
              <a:ext uri="{FF2B5EF4-FFF2-40B4-BE49-F238E27FC236}">
                <a16:creationId xmlns:a16="http://schemas.microsoft.com/office/drawing/2014/main" id="{7A409C94-E353-46FF-BD53-D7710FB8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609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E5EEF7"/>
                </a:solidFill>
              </a:defRPr>
            </a:pPr>
            <a:r>
              <a:rPr sz="2025" b="1" i="0">
                <a:solidFill>
                  <a:srgbClr val="E5EEF7"/>
                </a:solidFill>
              </a:rPr>
              <a:t>不一定惊艳，但靠谱；</a:t>
            </a:r>
          </a:p>
          <a:p xmlns:a="http://schemas.openxmlformats.org/drawingml/2006/main">
            <a:pPr algn="l">
              <a:defRPr sz="2025" b="1" i="0">
                <a:solidFill>
                  <a:srgbClr val="E5EEF7"/>
                </a:solidFill>
              </a:defRPr>
            </a:pPr>
            <a:r>
              <a:rPr sz="2025" b="1" i="0">
                <a:solidFill>
                  <a:srgbClr val="E5EEF7"/>
                </a:solidFill>
              </a:rPr>
              <a:t>不一定独一无二，但真的好用；</a:t>
            </a:r>
          </a:p>
          <a:p xmlns:a="http://schemas.openxmlformats.org/drawingml/2006/main">
            <a:pPr algn="l">
              <a:defRPr sz="2025" b="1" i="0">
                <a:solidFill>
                  <a:srgbClr val="E5EEF7"/>
                </a:solidFill>
              </a:defRPr>
            </a:pPr>
            <a:r>
              <a:rPr sz="2025" b="1" i="0">
                <a:solidFill>
                  <a:srgbClr val="E5EEF7"/>
                </a:solidFill>
              </a:rPr>
              <a:t>可以立刻拿去讲，也可以继续修改。</a:t>
            </a:r>
          </a:p>
        </p:txBody>
      </p:sp>
      <p:sp>
        <p:nvSpPr>
          <p:cNvPr id="5" name="close-tag">
            <a:extLst xmlns:a="http://schemas.openxmlformats.org/drawingml/2006/main">
              <a:ext uri="{FF2B5EF4-FFF2-40B4-BE49-F238E27FC236}">
                <a16:creationId xmlns:a16="http://schemas.microsoft.com/office/drawing/2014/main" id="{20B9F23A-E2D0-4E76-AF84-9B68F60B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48125"/>
            <a:ext cx="2476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close-tag-text">
            <a:extLst xmlns:a="http://schemas.openxmlformats.org/drawingml/2006/main">
              <a:ext uri="{FF2B5EF4-FFF2-40B4-BE49-F238E27FC236}">
                <a16:creationId xmlns:a16="http://schemas.microsoft.com/office/drawing/2014/main" id="{EAA6652D-C1B9-4C46-AFDC-90463328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243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26496F"/>
                </a:solidFill>
              </a:defRPr>
            </a:pPr>
            <a:r>
              <a:rPr sz="1800" b="1" i="0">
                <a:solidFill>
                  <a:srgbClr val="26496F"/>
                </a:solidFill>
              </a:rPr>
              <a:t>可靠的产品能力</a:t>
            </a:r>
          </a:p>
        </p:txBody>
      </p:sp>
      <p:sp>
        <p:nvSpPr>
          <p:cNvPr id="7" name="close-foot">
            <a:extLst xmlns:a="http://schemas.openxmlformats.org/drawingml/2006/main">
              <a:ext uri="{FF2B5EF4-FFF2-40B4-BE49-F238E27FC236}">
                <a16:creationId xmlns:a16="http://schemas.microsoft.com/office/drawing/2014/main" id="{492B7942-B8A4-43E9-8ACA-E946D239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E5EEF7"/>
                </a:solidFill>
              </a:defRPr>
            </a:pPr>
            <a:r>
              <a:rPr sz="1500" b="0" i="0">
                <a:solidFill>
                  <a:srgbClr val="E5EEF7"/>
                </a:solidFill>
              </a:rPr>
              <a:t>让一个普通问题，成为一项可靠的生产能力。</a:t>
            </a:r>
          </a:p>
        </p:txBody>
      </p:sp>
    </p:spTree>
    <p:extLst>
      <p:ext uri="{BB962C8B-B14F-4D97-AF65-F5344CB8AC3E}">
        <p14:creationId xmlns:p14="http://schemas.microsoft.com/office/powerpoint/2010/main" val="18313359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2026-09-06T05:08:40.8180000Z</dcterms:created>
  <dcterms:modified xsi:type="dcterms:W3CDTF">2026-09-06T05:08:40.8180000Z</dcterms:modified>
</coreProperties>
</file>