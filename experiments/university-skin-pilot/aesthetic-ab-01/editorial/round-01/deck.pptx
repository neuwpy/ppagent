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ac6ee7ac4f4f8f" /><Relationship Type="http://schemas.openxmlformats.org/officeDocument/2006/relationships/extended-properties" Target="/docProps/app.xml" Id="R9d902b70874c4e8d" /><Relationship Type="http://schemas.openxmlformats.org/officeDocument/2006/relationships/officeDocument" Target="/ppt/presentation.xml" Id="Rf3cf8cd1e34c4a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1caa7e1a714e75"/>
  </p:sldMasterIdLst>
  <p:notesMasterIdLst>
    <p:notesMasterId xmlns:r="http://schemas.openxmlformats.org/officeDocument/2006/relationships" r:id="Rfacf1deafbe84b3a"/>
  </p:notesMasterIdLst>
  <p:sldIdLst>
    <p:sldId xmlns:r="http://schemas.openxmlformats.org/officeDocument/2006/relationships" id="256" r:id="R7445bf1634ee4d20"/>
    <p:sldId xmlns:r="http://schemas.openxmlformats.org/officeDocument/2006/relationships" id="257" r:id="R0fe95bfe8b6b468e"/>
    <p:sldId xmlns:r="http://schemas.openxmlformats.org/officeDocument/2006/relationships" id="258" r:id="R25e83fce35264487"/>
    <p:sldId xmlns:r="http://schemas.openxmlformats.org/officeDocument/2006/relationships" id="259" r:id="R9336cacf5bef4190"/>
    <p:sldId xmlns:r="http://schemas.openxmlformats.org/officeDocument/2006/relationships" id="260" r:id="Rc9169099d82e441d"/>
    <p:sldId xmlns:r="http://schemas.openxmlformats.org/officeDocument/2006/relationships" id="261" r:id="Re9b33f9348834a23"/>
    <p:sldId xmlns:r="http://schemas.openxmlformats.org/officeDocument/2006/relationships" id="262" r:id="R447f794893694baf"/>
    <p:sldId xmlns:r="http://schemas.openxmlformats.org/officeDocument/2006/relationships" id="263" r:id="R020fe038b7744ab6"/>
    <p:sldId xmlns:r="http://schemas.openxmlformats.org/officeDocument/2006/relationships" id="264" r:id="R95a568916a3b4894"/>
    <p:sldId xmlns:r="http://schemas.openxmlformats.org/officeDocument/2006/relationships" id="265" r:id="R620f034bd067450f"/>
    <p:sldId xmlns:r="http://schemas.openxmlformats.org/officeDocument/2006/relationships" id="266" r:id="Rb7174af2c6ce41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d0335b37094e79" /><Relationship Type="http://schemas.openxmlformats.org/officeDocument/2006/relationships/slideMaster" Target="/ppt/slideMasters/slideMaster1.xml" Id="Re21caa7e1a714e75" /><Relationship Type="http://schemas.openxmlformats.org/officeDocument/2006/relationships/notesMaster" Target="/ppt/notesMasters/notesMaster1.xml" Id="Rfacf1deafbe84b3a" /><Relationship Type="http://schemas.openxmlformats.org/officeDocument/2006/relationships/presProps" Target="/ppt/presProps.xml" Id="R9cb33de0a908407c" /><Relationship Type="http://schemas.openxmlformats.org/officeDocument/2006/relationships/tableStyles" Target="/ppt/tableStyles.xml" Id="R1b20469fbdc74133" /><Relationship Type="http://schemas.openxmlformats.org/officeDocument/2006/relationships/slide" Target="/ppt/slides/slide1.xml" Id="R7445bf1634ee4d20" /><Relationship Type="http://schemas.openxmlformats.org/officeDocument/2006/relationships/slide" Target="/ppt/slides/slide2.xml" Id="R0fe95bfe8b6b468e" /><Relationship Type="http://schemas.openxmlformats.org/officeDocument/2006/relationships/slide" Target="/ppt/slides/slide3.xml" Id="R25e83fce35264487" /><Relationship Type="http://schemas.openxmlformats.org/officeDocument/2006/relationships/slide" Target="/ppt/slides/slide4.xml" Id="R9336cacf5bef4190" /><Relationship Type="http://schemas.openxmlformats.org/officeDocument/2006/relationships/slide" Target="/ppt/slides/slide5.xml" Id="Rc9169099d82e441d" /><Relationship Type="http://schemas.openxmlformats.org/officeDocument/2006/relationships/slide" Target="/ppt/slides/slide6.xml" Id="Re9b33f9348834a23" /><Relationship Type="http://schemas.openxmlformats.org/officeDocument/2006/relationships/slide" Target="/ppt/slides/slide7.xml" Id="R447f794893694baf" /><Relationship Type="http://schemas.openxmlformats.org/officeDocument/2006/relationships/slide" Target="/ppt/slides/slide8.xml" Id="R020fe038b7744ab6" /><Relationship Type="http://schemas.openxmlformats.org/officeDocument/2006/relationships/slide" Target="/ppt/slides/slide9.xml" Id="R95a568916a3b4894" /><Relationship Type="http://schemas.openxmlformats.org/officeDocument/2006/relationships/slide" Target="/ppt/slides/slide10.xml" Id="R620f034bd067450f" /><Relationship Type="http://schemas.openxmlformats.org/officeDocument/2006/relationships/slide" Target="/ppt/slides/slide11.xml" Id="Rb7174af2c6ce41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32f611e58d41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54f0a743b84395" /><Relationship Type="http://schemas.openxmlformats.org/officeDocument/2006/relationships/notesMaster" Target="/ppt/notesMasters/notesMaster1.xml" Id="R9c4ec3d219b148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4e467ea20c46bf" /><Relationship Type="http://schemas.openxmlformats.org/officeDocument/2006/relationships/notesMaster" Target="/ppt/notesMasters/notesMaster1.xml" Id="R3a64ec89d0e64a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4426243fb44864" /><Relationship Type="http://schemas.openxmlformats.org/officeDocument/2006/relationships/notesMaster" Target="/ppt/notesMasters/notesMaster1.xml" Id="Rf7cd3f296a784a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1657de242a4882" /><Relationship Type="http://schemas.openxmlformats.org/officeDocument/2006/relationships/notesMaster" Target="/ppt/notesMasters/notesMaster1.xml" Id="R8209d98279fe46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2411d7dc3049cb" /><Relationship Type="http://schemas.openxmlformats.org/officeDocument/2006/relationships/notesMaster" Target="/ppt/notesMasters/notesMaster1.xml" Id="R611767a2631842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741db3dd134c8e" /><Relationship Type="http://schemas.openxmlformats.org/officeDocument/2006/relationships/notesMaster" Target="/ppt/notesMasters/notesMaster1.xml" Id="Rb4864bd12c5140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b2c0e5992241b5" /><Relationship Type="http://schemas.openxmlformats.org/officeDocument/2006/relationships/notesMaster" Target="/ppt/notesMasters/notesMaster1.xml" Id="R3352d7405034454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d50219c12b4622" /><Relationship Type="http://schemas.openxmlformats.org/officeDocument/2006/relationships/notesMaster" Target="/ppt/notesMasters/notesMaster1.xml" Id="Rd5ef759afeb74d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e2500887cd4a2c" /><Relationship Type="http://schemas.openxmlformats.org/officeDocument/2006/relationships/notesMaster" Target="/ppt/notesMasters/notesMaster1.xml" Id="R6fef557eef1b43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ddcd7875e64b36" /><Relationship Type="http://schemas.openxmlformats.org/officeDocument/2006/relationships/notesMaster" Target="/ppt/notesMasters/notesMaster1.xml" Id="R6b270ae7921e4d5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56d2f220bb4d23" /><Relationship Type="http://schemas.openxmlformats.org/officeDocument/2006/relationships/notesMaster" Target="/ppt/notesMasters/notesMaster1.xml" Id="R9b4b34e8fe624c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933761addf42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afef64e1d04acf" /><Relationship Type="http://schemas.openxmlformats.org/officeDocument/2006/relationships/slideLayout" Target="/ppt/slideLayouts/slideLayout1.xml" Id="R625d331c8d6d40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5d331c8d6d40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a81af825154ede" /><Relationship Type="http://schemas.openxmlformats.org/officeDocument/2006/relationships/notesSlide" Target="/ppt/notesSlides/notesSlide1.xml" Id="R7e4011ecc8074e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76d7fa8544cdb" /><Relationship Type="http://schemas.openxmlformats.org/officeDocument/2006/relationships/notesSlide" Target="/ppt/notesSlides/notesSlide2.xml" Id="R4e51f7485c5449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17691709a4332" /><Relationship Type="http://schemas.openxmlformats.org/officeDocument/2006/relationships/notesSlide" Target="/ppt/notesSlides/notesSlide3.xml" Id="R447aa996586a45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12e5de59284dc8" /><Relationship Type="http://schemas.openxmlformats.org/officeDocument/2006/relationships/notesSlide" Target="/ppt/notesSlides/notesSlide4.xml" Id="R0091ee004e2b4d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7ac4cfffdd4374" /><Relationship Type="http://schemas.openxmlformats.org/officeDocument/2006/relationships/notesSlide" Target="/ppt/notesSlides/notesSlide5.xml" Id="Re44c8053a4c04c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e528b6b46450c" /><Relationship Type="http://schemas.openxmlformats.org/officeDocument/2006/relationships/notesSlide" Target="/ppt/notesSlides/notesSlide6.xml" Id="R2a07ca083c1c46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79fdbe0fec41d0" /><Relationship Type="http://schemas.openxmlformats.org/officeDocument/2006/relationships/notesSlide" Target="/ppt/notesSlides/notesSlide7.xml" Id="Rdcdf97ef97934a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ce31b89eca496b" /><Relationship Type="http://schemas.openxmlformats.org/officeDocument/2006/relationships/notesSlide" Target="/ppt/notesSlides/notesSlide8.xml" Id="R0e4050617c7d4e1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0baffa08e4628" /><Relationship Type="http://schemas.openxmlformats.org/officeDocument/2006/relationships/notesSlide" Target="/ppt/notesSlides/notesSlide9.xml" Id="R762d8a7d77254c5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ca1fe894e4845" /><Relationship Type="http://schemas.openxmlformats.org/officeDocument/2006/relationships/notesSlide" Target="/ppt/notesSlides/notesSlide10.xml" Id="R815dc35d816145e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2319732454efe" /><Relationship Type="http://schemas.openxmlformats.org/officeDocument/2006/relationships/notesSlide" Target="/ppt/notesSlides/notesSlide11.xml" Id="R99deac49fa4e49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band">
            <a:extLst xmlns:a="http://schemas.openxmlformats.org/drawingml/2006/main">
              <a:ext uri="{FF2B5EF4-FFF2-40B4-BE49-F238E27FC236}">
                <a16:creationId xmlns:a16="http://schemas.microsoft.com/office/drawing/2014/main" id="{F5F7A9B4-9DF9-4099-B64C-5A6BAF82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3875"/>
            <a:ext cx="9525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9811C184-D5F4-4B0E-98D3-FBCEEE27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144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F91"/>
                </a:solidFill>
              </a:defRPr>
            </a:pPr>
            <a:r>
              <a:rPr sz="975" b="1">
                <a:solidFill>
                  <a:srgbClr val="315F91"/>
                </a:solidFill>
              </a:rPr>
              <a:t>PPAGENT / 产品叙事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73EBDB3-6A04-41F7-A8A6-EBF37117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19250"/>
            <a:ext cx="714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52B33"/>
                </a:solidFill>
              </a:defRPr>
            </a:pPr>
            <a:r>
              <a:rPr sz="3300" b="1">
                <a:solidFill>
                  <a:srgbClr val="252B33"/>
                </a:solidFill>
              </a:rPr>
              <a:t>把 PPT 生成</a:t>
            </a:r>
          </a:p>
          <a:p xmlns:a="http://schemas.openxmlformats.org/drawingml/2006/main">
            <a:pPr algn="l">
              <a:defRPr sz="3300" b="1">
                <a:solidFill>
                  <a:srgbClr val="252B33"/>
                </a:solidFill>
              </a:defRPr>
            </a:pPr>
            <a:r>
              <a:rPr sz="3300" b="1">
                <a:solidFill>
                  <a:srgbClr val="252B33"/>
                </a:solidFill>
              </a:rPr>
              <a:t>变成可靠的生产过程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9D7F4CF-0F39-4A58-94DB-8622E5E5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242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07780"/>
                </a:solidFill>
              </a:defRPr>
            </a:pPr>
            <a:r>
              <a:rPr sz="1575" b="0">
                <a:solidFill>
                  <a:srgbClr val="707780"/>
                </a:solidFill>
              </a:rPr>
              <a:t>让 AI 读稿，让规则做判断，让代码完成重复劳动。</a:t>
            </a:r>
          </a:p>
        </p:txBody>
      </p:sp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DDFD0D50-E77C-4FB0-AAE1-F8858335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33875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EE6"/>
            </a:solidFill>
            <a:prstDash val="solid"/>
          </a:ln>
        </p:spPr>
      </p:sp>
      <p:sp>
        <p:nvSpPr>
          <p:cNvPr id="6" name="cover-note">
            <a:extLst xmlns:a="http://schemas.openxmlformats.org/drawingml/2006/main">
              <a:ext uri="{FF2B5EF4-FFF2-40B4-BE49-F238E27FC236}">
                <a16:creationId xmlns:a16="http://schemas.microsoft.com/office/drawing/2014/main" id="{DAD9632D-5AD3-4ECF-99C6-3F3A85EE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96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</a:defRPr>
            </a:pPr>
            <a:r>
              <a:rPr sz="1350" b="1">
                <a:solidFill>
                  <a:srgbClr val="315F91"/>
                </a:solidFill>
              </a:rPr>
              <a:t>稳定可用 · 原生可编辑 · 符合组织规范</a:t>
            </a:r>
          </a:p>
        </p:txBody>
      </p:sp>
      <p:sp>
        <p:nvSpPr>
          <p:cNvPr id="7" name="cover-page">
            <a:extLst xmlns:a="http://schemas.openxmlformats.org/drawingml/2006/main">
              <a:ext uri="{FF2B5EF4-FFF2-40B4-BE49-F238E27FC236}">
                <a16:creationId xmlns:a16="http://schemas.microsoft.com/office/drawing/2014/main" id="{1065B3C9-DD0F-4E74-BE5C-ED95B759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1912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07780"/>
                </a:solidFill>
              </a:defRPr>
            </a:pPr>
            <a:r>
              <a:rPr sz="900" b="0">
                <a:solidFill>
                  <a:srgbClr val="707780"/>
                </a:solidFill>
              </a:rPr>
              <a:t>01 / 11</a:t>
            </a:r>
          </a:p>
        </p:txBody>
      </p:sp>
    </p:spTree>
    <p:extLst>
      <p:ext uri="{BB962C8B-B14F-4D97-AF65-F5344CB8AC3E}">
        <p14:creationId xmlns:p14="http://schemas.microsoft.com/office/powerpoint/2010/main" val="7980956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-2">
            <a:extLst xmlns:a="http://schemas.openxmlformats.org/drawingml/2006/main">
              <a:ext uri="{FF2B5EF4-FFF2-40B4-BE49-F238E27FC236}">
                <a16:creationId xmlns:a16="http://schemas.microsoft.com/office/drawing/2014/main" id="{10890B2B-1D8C-4973-BAD5-A26574A8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5F91"/>
                </a:solidFill>
              </a:defRPr>
            </a:pPr>
            <a:r>
              <a:rPr sz="900" b="1">
                <a:solidFill>
                  <a:srgbClr val="315F91"/>
                </a:solidFill>
              </a:rPr>
              <a:t>PPAGENT / 产品叙事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653295AF-CB7C-4DBD-B0FE-8573AEC7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3400"/>
            <a:ext cx="1114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B33"/>
                </a:solidFill>
              </a:defRPr>
            </a:pPr>
            <a:r>
              <a:rPr sz="2250" b="1">
                <a:solidFill>
                  <a:srgbClr val="252B33"/>
                </a:solidFill>
              </a:rPr>
              <a:t>昂贵的部分不是画，而是连续判断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D1A42C7A-6AF2-4C28-8F6F-2177174D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811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FAFFC6C9-E028-4E3C-B436-F103E5E4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76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07780"/>
                </a:solidFill>
              </a:defRPr>
            </a:pPr>
            <a:r>
              <a:rPr sz="900" b="0">
                <a:solidFill>
                  <a:srgbClr val="707780"/>
                </a:solidFill>
              </a:rPr>
              <a:t>02</a:t>
            </a:r>
          </a:p>
        </p:txBody>
      </p:sp>
      <p:sp>
        <p:nvSpPr>
          <p:cNvPr id="5" name="s2-lead">
            <a:extLst xmlns:a="http://schemas.openxmlformats.org/drawingml/2006/main">
              <a:ext uri="{FF2B5EF4-FFF2-40B4-BE49-F238E27FC236}">
                <a16:creationId xmlns:a16="http://schemas.microsoft.com/office/drawing/2014/main" id="{80217F77-5426-4540-875B-95D15E5F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B33"/>
                </a:solidFill>
              </a:defRPr>
            </a:pPr>
            <a:r>
              <a:rPr sz="1500" b="0">
                <a:solidFill>
                  <a:srgbClr val="252B33"/>
                </a:solidFill>
              </a:rPr>
              <a:t>认真完成一套答辩、汇报或讲课用的演示，时间主要花在反复判断上。</a:t>
            </a:r>
          </a:p>
        </p:txBody>
      </p:sp>
      <p:sp>
        <p:nvSpPr>
          <p:cNvPr id="6" name="s2-box-0">
            <a:extLst xmlns:a="http://schemas.openxmlformats.org/drawingml/2006/main">
              <a:ext uri="{FF2B5EF4-FFF2-40B4-BE49-F238E27FC236}">
                <a16:creationId xmlns:a16="http://schemas.microsoft.com/office/drawing/2014/main" id="{6DA3150A-8062-41E1-AFBD-69EDF713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81250"/>
            <a:ext cx="1952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7" name="s2-h-0">
            <a:extLst xmlns:a="http://schemas.openxmlformats.org/drawingml/2006/main">
              <a:ext uri="{FF2B5EF4-FFF2-40B4-BE49-F238E27FC236}">
                <a16:creationId xmlns:a16="http://schemas.microsoft.com/office/drawing/2014/main" id="{8BCF6464-C4AB-4ED3-A51B-4A55CF2F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71750"/>
            <a:ext cx="1609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2B33"/>
                </a:solidFill>
              </a:defRPr>
            </a:pPr>
            <a:r>
              <a:rPr sz="1575" b="1">
                <a:solidFill>
                  <a:srgbClr val="252B33"/>
                </a:solidFill>
              </a:rPr>
              <a:t>拆页</a:t>
            </a:r>
          </a:p>
        </p:txBody>
      </p:sp>
      <p:sp>
        <p:nvSpPr>
          <p:cNvPr id="8" name="s2-b-0">
            <a:extLst xmlns:a="http://schemas.openxmlformats.org/drawingml/2006/main">
              <a:ext uri="{FF2B5EF4-FFF2-40B4-BE49-F238E27FC236}">
                <a16:creationId xmlns:a16="http://schemas.microsoft.com/office/drawing/2014/main" id="{32F86EE6-9C06-426A-BAC9-38A7FDB9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00375"/>
            <a:ext cx="16097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B33"/>
                </a:solidFill>
              </a:defRPr>
            </a:pPr>
            <a:r>
              <a:rPr sz="1275" b="0">
                <a:solidFill>
                  <a:srgbClr val="252B33"/>
                </a:solidFill>
              </a:rPr>
              <a:t>一篇长稿应该拆成多少页</a:t>
            </a:r>
          </a:p>
        </p:txBody>
      </p:sp>
      <p:sp>
        <p:nvSpPr>
          <p:cNvPr id="9" name="s2-box-1">
            <a:extLst xmlns:a="http://schemas.openxmlformats.org/drawingml/2006/main">
              <a:ext uri="{FF2B5EF4-FFF2-40B4-BE49-F238E27FC236}">
                <a16:creationId xmlns:a16="http://schemas.microsoft.com/office/drawing/2014/main" id="{6EAF4B2E-C09F-4D26-AC78-C8E5F67A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381250"/>
            <a:ext cx="1952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0" name="s2-h-1">
            <a:extLst xmlns:a="http://schemas.openxmlformats.org/drawingml/2006/main">
              <a:ext uri="{FF2B5EF4-FFF2-40B4-BE49-F238E27FC236}">
                <a16:creationId xmlns:a16="http://schemas.microsoft.com/office/drawing/2014/main" id="{F7C59F09-3910-4BB0-A5DF-4A892E19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71750"/>
            <a:ext cx="1609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2B33"/>
                </a:solidFill>
              </a:defRPr>
            </a:pPr>
            <a:r>
              <a:rPr sz="1575" b="1">
                <a:solidFill>
                  <a:srgbClr val="252B33"/>
                </a:solidFill>
              </a:rPr>
              <a:t>定责</a:t>
            </a:r>
          </a:p>
        </p:txBody>
      </p:sp>
      <p:sp>
        <p:nvSpPr>
          <p:cNvPr id="11" name="s2-b-1">
            <a:extLst xmlns:a="http://schemas.openxmlformats.org/drawingml/2006/main">
              <a:ext uri="{FF2B5EF4-FFF2-40B4-BE49-F238E27FC236}">
                <a16:creationId xmlns:a16="http://schemas.microsoft.com/office/drawing/2014/main" id="{BA48D2C1-2737-4A22-A003-F3743B5F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00375"/>
            <a:ext cx="16097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B33"/>
                </a:solidFill>
              </a:defRPr>
            </a:pPr>
            <a:r>
              <a:rPr sz="1275" b="0">
                <a:solidFill>
                  <a:srgbClr val="252B33"/>
                </a:solidFill>
              </a:rPr>
              <a:t>每一页只承担什么职责</a:t>
            </a:r>
          </a:p>
        </p:txBody>
      </p:sp>
      <p:sp>
        <p:nvSpPr>
          <p:cNvPr id="12" name="s2-box-2">
            <a:extLst xmlns:a="http://schemas.openxmlformats.org/drawingml/2006/main">
              <a:ext uri="{FF2B5EF4-FFF2-40B4-BE49-F238E27FC236}">
                <a16:creationId xmlns:a16="http://schemas.microsoft.com/office/drawing/2014/main" id="{E65535B2-402B-4330-93ED-6A6FF9D6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381250"/>
            <a:ext cx="1952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3" name="s2-h-2">
            <a:extLst xmlns:a="http://schemas.openxmlformats.org/drawingml/2006/main">
              <a:ext uri="{FF2B5EF4-FFF2-40B4-BE49-F238E27FC236}">
                <a16:creationId xmlns:a16="http://schemas.microsoft.com/office/drawing/2014/main" id="{502CABC5-EAF4-4947-B56E-09BCB006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571750"/>
            <a:ext cx="1609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</a:defRPr>
            </a:pPr>
            <a:r>
              <a:rPr sz="1575" b="1">
                <a:solidFill>
                  <a:srgbClr val="315F91"/>
                </a:solidFill>
              </a:rPr>
              <a:t>理关系</a:t>
            </a:r>
          </a:p>
        </p:txBody>
      </p:sp>
      <p:sp>
        <p:nvSpPr>
          <p:cNvPr id="14" name="s2-b-2">
            <a:extLst xmlns:a="http://schemas.openxmlformats.org/drawingml/2006/main">
              <a:ext uri="{FF2B5EF4-FFF2-40B4-BE49-F238E27FC236}">
                <a16:creationId xmlns:a16="http://schemas.microsoft.com/office/drawing/2014/main" id="{6D118F34-304E-4B5E-BF5D-7BEC615C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000375"/>
            <a:ext cx="16097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B33"/>
                </a:solidFill>
              </a:defRPr>
            </a:pPr>
            <a:r>
              <a:rPr sz="1275" b="0">
                <a:solidFill>
                  <a:srgbClr val="252B33"/>
                </a:solidFill>
              </a:rPr>
              <a:t>观点是并列、递进、因果还是流程</a:t>
            </a:r>
          </a:p>
        </p:txBody>
      </p:sp>
      <p:sp>
        <p:nvSpPr>
          <p:cNvPr id="15" name="s2-box-3">
            <a:extLst xmlns:a="http://schemas.openxmlformats.org/drawingml/2006/main">
              <a:ext uri="{FF2B5EF4-FFF2-40B4-BE49-F238E27FC236}">
                <a16:creationId xmlns:a16="http://schemas.microsoft.com/office/drawing/2014/main" id="{4B4CF2B7-7B49-452C-A31D-C5D2D2C2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381250"/>
            <a:ext cx="1952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6" name="s2-h-3">
            <a:extLst xmlns:a="http://schemas.openxmlformats.org/drawingml/2006/main">
              <a:ext uri="{FF2B5EF4-FFF2-40B4-BE49-F238E27FC236}">
                <a16:creationId xmlns:a16="http://schemas.microsoft.com/office/drawing/2014/main" id="{7A217619-2418-4626-9950-9E044BB7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571750"/>
            <a:ext cx="1609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2B33"/>
                </a:solidFill>
              </a:defRPr>
            </a:pPr>
            <a:r>
              <a:rPr sz="1575" b="1">
                <a:solidFill>
                  <a:srgbClr val="252B33"/>
                </a:solidFill>
              </a:rPr>
              <a:t>定焦点</a:t>
            </a:r>
          </a:p>
        </p:txBody>
      </p:sp>
      <p:sp>
        <p:nvSpPr>
          <p:cNvPr id="17" name="s2-b-3">
            <a:extLst xmlns:a="http://schemas.openxmlformats.org/drawingml/2006/main">
              <a:ext uri="{FF2B5EF4-FFF2-40B4-BE49-F238E27FC236}">
                <a16:creationId xmlns:a16="http://schemas.microsoft.com/office/drawing/2014/main" id="{131ECBE6-1CF0-46A3-815E-4D0E630C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000375"/>
            <a:ext cx="16097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B33"/>
                </a:solidFill>
              </a:defRPr>
            </a:pPr>
            <a:r>
              <a:rPr sz="1275" b="0">
                <a:solidFill>
                  <a:srgbClr val="252B33"/>
                </a:solidFill>
              </a:rPr>
              <a:t>哪里应该突出，何时用图或一句话</a:t>
            </a:r>
          </a:p>
        </p:txBody>
      </p:sp>
      <p:sp>
        <p:nvSpPr>
          <p:cNvPr id="18" name="s2-box-4">
            <a:extLst xmlns:a="http://schemas.openxmlformats.org/drawingml/2006/main">
              <a:ext uri="{FF2B5EF4-FFF2-40B4-BE49-F238E27FC236}">
                <a16:creationId xmlns:a16="http://schemas.microsoft.com/office/drawing/2014/main" id="{B156E552-AD48-4D2A-B77D-996B078B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381250"/>
            <a:ext cx="1952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9" name="s2-h-4">
            <a:extLst xmlns:a="http://schemas.openxmlformats.org/drawingml/2006/main">
              <a:ext uri="{FF2B5EF4-FFF2-40B4-BE49-F238E27FC236}">
                <a16:creationId xmlns:a16="http://schemas.microsoft.com/office/drawing/2014/main" id="{D3A4209D-444C-4F3D-9642-53FC9341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571750"/>
            <a:ext cx="1609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2B33"/>
                </a:solidFill>
              </a:defRPr>
            </a:pPr>
            <a:r>
              <a:rPr sz="1575" b="1">
                <a:solidFill>
                  <a:srgbClr val="252B33"/>
                </a:solidFill>
              </a:rPr>
              <a:t>再统一</a:t>
            </a:r>
          </a:p>
        </p:txBody>
      </p:sp>
      <p:sp>
        <p:nvSpPr>
          <p:cNvPr id="20" name="s2-b-4">
            <a:extLst xmlns:a="http://schemas.openxmlformats.org/drawingml/2006/main">
              <a:ext uri="{FF2B5EF4-FFF2-40B4-BE49-F238E27FC236}">
                <a16:creationId xmlns:a16="http://schemas.microsoft.com/office/drawing/2014/main" id="{31E0220D-BF81-4D56-96EF-5F8F431A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000375"/>
            <a:ext cx="16097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B33"/>
                </a:solidFill>
              </a:defRPr>
            </a:pPr>
            <a:r>
              <a:rPr sz="1275" b="0">
                <a:solidFill>
                  <a:srgbClr val="252B33"/>
                </a:solidFill>
              </a:rPr>
              <a:t>替换结构后统一字体、颜色与间距</a:t>
            </a:r>
          </a:p>
        </p:txBody>
      </p:sp>
      <p:sp>
        <p:nvSpPr>
          <p:cNvPr id="21" name="s2-tail">
            <a:extLst xmlns:a="http://schemas.openxmlformats.org/drawingml/2006/main">
              <a:ext uri="{FF2B5EF4-FFF2-40B4-BE49-F238E27FC236}">
                <a16:creationId xmlns:a16="http://schemas.microsoft.com/office/drawing/2014/main" id="{3285C30B-C5B5-4991-BC4B-E40C8E4A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767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34569"/>
                </a:solidFill>
              </a:defRPr>
            </a:pPr>
            <a:r>
              <a:rPr sz="1650" b="1">
                <a:solidFill>
                  <a:srgbClr val="234569"/>
                </a:solidFill>
              </a:rPr>
              <a:t>一个 PPT 做得很好的人，脑子里已经积累了大量答案。PPagenT 从这里发问：为什么每次还要重新做一遍？</a:t>
            </a:r>
          </a:p>
        </p:txBody>
      </p:sp>
      <p:sp>
        <p:nvSpPr>
          <p:cNvPr id="22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AF2FF1B8-8425-4C95-84B5-3297A78E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23" name="footer-2">
            <a:extLst xmlns:a="http://schemas.openxmlformats.org/drawingml/2006/main">
              <a:ext uri="{FF2B5EF4-FFF2-40B4-BE49-F238E27FC236}">
                <a16:creationId xmlns:a16="http://schemas.microsoft.com/office/drawing/2014/main" id="{38429DDD-CEF2-4213-B0BF-73BB58F0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</a:defRPr>
            </a:pPr>
            <a:r>
              <a:rPr sz="900" b="0">
                <a:solidFill>
                  <a:srgbClr val="707780"/>
                </a:solidFill>
              </a:rPr>
              <a:t>PPagenT 产品叙事</a:t>
            </a:r>
          </a:p>
        </p:txBody>
      </p:sp>
    </p:spTree>
    <p:extLst>
      <p:ext uri="{BB962C8B-B14F-4D97-AF65-F5344CB8AC3E}">
        <p14:creationId xmlns:p14="http://schemas.microsoft.com/office/powerpoint/2010/main" val="1465943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3">
            <a:extLst xmlns:a="http://schemas.openxmlformats.org/drawingml/2006/main">
              <a:ext uri="{FF2B5EF4-FFF2-40B4-BE49-F238E27FC236}">
                <a16:creationId xmlns:a16="http://schemas.microsoft.com/office/drawing/2014/main" id="{B25D541B-ADB0-4F46-ADDF-592A323B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5F91"/>
                </a:solidFill>
              </a:defRPr>
            </a:pPr>
            <a:r>
              <a:rPr sz="900" b="1">
                <a:solidFill>
                  <a:srgbClr val="315F91"/>
                </a:solidFill>
              </a:rPr>
              <a:t>PPAGENT / 产品叙事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C4F4548A-7E8C-44F8-A799-5DF3368E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3400"/>
            <a:ext cx="1114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B33"/>
                </a:solidFill>
              </a:defRPr>
            </a:pPr>
            <a:r>
              <a:rPr sz="2250" b="1">
                <a:solidFill>
                  <a:srgbClr val="252B33"/>
                </a:solidFill>
              </a:rPr>
              <a:t>工作型 PPT 位于需求分布的中间，也是最适合标准化的场景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12EEAC5B-4AE9-4FDA-B1C5-EB60FDAA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811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475040D1-7203-4C04-9D49-C606BE46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76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07780"/>
                </a:solidFill>
              </a:defRPr>
            </a:pPr>
            <a:r>
              <a:rPr sz="900" b="0">
                <a:solidFill>
                  <a:srgbClr val="707780"/>
                </a:solidFill>
              </a:rPr>
              <a:t>03</a:t>
            </a:r>
          </a:p>
        </p:txBody>
      </p:sp>
      <p:sp>
        <p:nvSpPr>
          <p:cNvPr id="5" name="s3-intro">
            <a:extLst xmlns:a="http://schemas.openxmlformats.org/drawingml/2006/main">
              <a:ext uri="{FF2B5EF4-FFF2-40B4-BE49-F238E27FC236}">
                <a16:creationId xmlns:a16="http://schemas.microsoft.com/office/drawing/2014/main" id="{68A61645-FB25-4723-99AB-FF1FECD6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09700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需求两端都真实存在，但更多需求来自需要快速交付、结构清楚、视觉体面且符合组织规范的日常工作。</a:t>
            </a:r>
          </a:p>
        </p:txBody>
      </p:sp>
      <p:sp>
        <p:nvSpPr>
          <p:cNvPr id="6" name="s3-left">
            <a:extLst xmlns:a="http://schemas.openxmlformats.org/drawingml/2006/main">
              <a:ext uri="{FF2B5EF4-FFF2-40B4-BE49-F238E27FC236}">
                <a16:creationId xmlns:a16="http://schemas.microsoft.com/office/drawing/2014/main" id="{8A71E211-6069-49EE-9D35-98272AA1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90750"/>
            <a:ext cx="31908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7" name="s3-left-h">
            <a:extLst xmlns:a="http://schemas.openxmlformats.org/drawingml/2006/main">
              <a:ext uri="{FF2B5EF4-FFF2-40B4-BE49-F238E27FC236}">
                <a16:creationId xmlns:a16="http://schemas.microsoft.com/office/drawing/2014/main" id="{7344252C-06EC-41B9-BB52-B38806DF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2B33"/>
                </a:solidFill>
              </a:defRPr>
            </a:pPr>
            <a:r>
              <a:rPr sz="1575" b="1">
                <a:solidFill>
                  <a:srgbClr val="252B33"/>
                </a:solidFill>
              </a:rPr>
              <a:t>只要把文字放上去</a:t>
            </a:r>
          </a:p>
        </p:txBody>
      </p:sp>
      <p:sp>
        <p:nvSpPr>
          <p:cNvPr id="8" name="s3-left-b">
            <a:extLst xmlns:a="http://schemas.openxmlformats.org/drawingml/2006/main">
              <a:ext uri="{FF2B5EF4-FFF2-40B4-BE49-F238E27FC236}">
                <a16:creationId xmlns:a16="http://schemas.microsoft.com/office/drawing/2014/main" id="{1F224282-CDF6-45C8-AFFE-D52CC765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2571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07780"/>
                </a:solidFill>
              </a:defRPr>
            </a:pPr>
            <a:r>
              <a:rPr sz="1275" b="0">
                <a:solidFill>
                  <a:srgbClr val="707780"/>
                </a:solidFill>
              </a:rPr>
              <a:t>几乎不在意版式</a:t>
            </a:r>
          </a:p>
          <a:p xmlns:a="http://schemas.openxmlformats.org/drawingml/2006/main">
            <a:pPr algn="l">
              <a:defRPr sz="1275" b="0">
                <a:solidFill>
                  <a:srgbClr val="707780"/>
                </a:solidFill>
              </a:defRPr>
            </a:pPr>
            <a:r>
              <a:rPr sz="1275" b="0">
                <a:solidFill>
                  <a:srgbClr val="707780"/>
                </a:solidFill>
              </a:rPr>
              <a:t>需求存在，但不是 PPagenT 的首要切入点。</a:t>
            </a:r>
          </a:p>
        </p:txBody>
      </p:sp>
      <p:sp>
        <p:nvSpPr>
          <p:cNvPr id="9" name="s3-mid">
            <a:extLst xmlns:a="http://schemas.openxmlformats.org/drawingml/2006/main">
              <a:ext uri="{FF2B5EF4-FFF2-40B4-BE49-F238E27FC236}">
                <a16:creationId xmlns:a16="http://schemas.microsoft.com/office/drawing/2014/main" id="{65EFA07B-0F53-4198-9ADF-F7CA05BE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38350"/>
            <a:ext cx="4191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0" name="s3-mid-h">
            <a:extLst xmlns:a="http://schemas.openxmlformats.org/drawingml/2006/main">
              <a:ext uri="{FF2B5EF4-FFF2-40B4-BE49-F238E27FC236}">
                <a16:creationId xmlns:a16="http://schemas.microsoft.com/office/drawing/2014/main" id="{839524BB-EB57-41C6-A306-7F3187D7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0505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F91"/>
                </a:solidFill>
              </a:defRPr>
            </a:pPr>
            <a:r>
              <a:rPr sz="1650" b="1">
                <a:solidFill>
                  <a:srgbClr val="315F91"/>
                </a:solidFill>
              </a:rPr>
              <a:t>概率密度最大的工作型 PPT</a:t>
            </a:r>
          </a:p>
        </p:txBody>
      </p:sp>
      <p:sp>
        <p:nvSpPr>
          <p:cNvPr id="11" name="s3-mid-b">
            <a:extLst xmlns:a="http://schemas.openxmlformats.org/drawingml/2006/main">
              <a:ext uri="{FF2B5EF4-FFF2-40B4-BE49-F238E27FC236}">
                <a16:creationId xmlns:a16="http://schemas.microsoft.com/office/drawing/2014/main" id="{98EA4185-896F-4A42-8E9F-AC52AB1F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62250"/>
            <a:ext cx="3667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</a:defRPr>
            </a:pPr>
            <a:r>
              <a:rPr sz="1350" b="0">
                <a:solidFill>
                  <a:srgbClr val="252B33"/>
                </a:solidFill>
              </a:rPr>
              <a:t>学校 · 科研院所 · 事业单位</a:t>
            </a:r>
          </a:p>
          <a:p xmlns:a="http://schemas.openxmlformats.org/drawingml/2006/main">
            <a:pPr algn="l">
              <a:defRPr sz="1350" b="0">
                <a:solidFill>
                  <a:srgbClr val="252B33"/>
                </a:solidFill>
              </a:defRPr>
            </a:pPr>
            <a:r>
              <a:rPr sz="1350" b="0">
                <a:solidFill>
                  <a:srgbClr val="252B33"/>
                </a:solidFill>
              </a:rPr>
              <a:t>央国企 · 普通企业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252B33"/>
                </a:solidFill>
              </a:defRPr>
            </a:pPr>
            <a:r>
              <a:rPr sz="1350" b="0">
                <a:solidFill>
                  <a:srgbClr val="252B33"/>
                </a:solidFill>
              </a:rPr>
              <a:t>底线：不能乱、不能丑、不能掉价、生成后仍可修改。</a:t>
            </a:r>
          </a:p>
        </p:txBody>
      </p:sp>
      <p:sp>
        <p:nvSpPr>
          <p:cNvPr id="12" name="s3-right">
            <a:extLst xmlns:a="http://schemas.openxmlformats.org/drawingml/2006/main">
              <a:ext uri="{FF2B5EF4-FFF2-40B4-BE49-F238E27FC236}">
                <a16:creationId xmlns:a16="http://schemas.microsoft.com/office/drawing/2014/main" id="{6E4B48EA-DBC0-49A0-81A6-8E7D5B05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90750"/>
            <a:ext cx="31908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3" name="s3-right-h">
            <a:extLst xmlns:a="http://schemas.openxmlformats.org/drawingml/2006/main">
              <a:ext uri="{FF2B5EF4-FFF2-40B4-BE49-F238E27FC236}">
                <a16:creationId xmlns:a16="http://schemas.microsoft.com/office/drawing/2014/main" id="{F03C994D-F9F0-44BE-9562-4F25C22E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428875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2B33"/>
                </a:solidFill>
              </a:defRPr>
            </a:pPr>
            <a:r>
              <a:rPr sz="1575" b="1">
                <a:solidFill>
                  <a:srgbClr val="252B33"/>
                </a:solidFill>
              </a:rPr>
              <a:t>高度定制的视觉创意</a:t>
            </a:r>
          </a:p>
        </p:txBody>
      </p:sp>
      <p:sp>
        <p:nvSpPr>
          <p:cNvPr id="14" name="s3-right-b">
            <a:extLst xmlns:a="http://schemas.openxmlformats.org/drawingml/2006/main">
              <a:ext uri="{FF2B5EF4-FFF2-40B4-BE49-F238E27FC236}">
                <a16:creationId xmlns:a16="http://schemas.microsoft.com/office/drawing/2014/main" id="{9DC8EA1E-1A02-4B30-9677-3E87D618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876550"/>
            <a:ext cx="2571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07780"/>
                </a:solidFill>
              </a:defRPr>
            </a:pPr>
            <a:r>
              <a:rPr sz="1275" b="0">
                <a:solidFill>
                  <a:srgbClr val="707780"/>
                </a:solidFill>
              </a:rPr>
              <a:t>发布会、品牌路演、高水平比赛</a:t>
            </a:r>
          </a:p>
          <a:p xmlns:a="http://schemas.openxmlformats.org/drawingml/2006/main">
            <a:pPr algn="l">
              <a:defRPr sz="1275" b="0">
                <a:solidFill>
                  <a:srgbClr val="707780"/>
                </a:solidFill>
              </a:defRPr>
            </a:pPr>
            <a:r>
              <a:rPr sz="1275" b="0">
                <a:solidFill>
                  <a:srgbClr val="707780"/>
                </a:solidFill>
              </a:rPr>
              <a:t>需求真实，但标准化难度更高。</a:t>
            </a:r>
          </a:p>
        </p:txBody>
      </p:sp>
      <p:sp>
        <p:nvSpPr>
          <p:cNvPr id="15" name="s3-formula-label">
            <a:extLst xmlns:a="http://schemas.openxmlformats.org/drawingml/2006/main">
              <a:ext uri="{FF2B5EF4-FFF2-40B4-BE49-F238E27FC236}">
                <a16:creationId xmlns:a16="http://schemas.microsoft.com/office/drawing/2014/main" id="{9FC6C5AC-1E26-478F-A62E-14C0FB3D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</a:defRPr>
            </a:pPr>
            <a:r>
              <a:rPr sz="1350" b="1">
                <a:solidFill>
                  <a:srgbClr val="315F91"/>
                </a:solidFill>
              </a:rPr>
              <a:t>产品可靠度（概念定义）</a:t>
            </a:r>
          </a:p>
        </p:txBody>
      </p:sp>
      <p:sp>
        <p:nvSpPr>
          <p:cNvPr id="16" name="s3-formula">
            <a:extLst xmlns:a="http://schemas.openxmlformats.org/drawingml/2006/main">
              <a:ext uri="{FF2B5EF4-FFF2-40B4-BE49-F238E27FC236}">
                <a16:creationId xmlns:a16="http://schemas.microsoft.com/office/drawing/2014/main" id="{211E4A76-E274-4A37-ACF5-4447F908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05375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34569"/>
                </a:solidFill>
              </a:defRPr>
            </a:pPr>
            <a:r>
              <a:rPr sz="2700" b="1">
                <a:solidFill>
                  <a:srgbClr val="234569"/>
                </a:solidFill>
              </a:rPr>
              <a:t>R = P(Q ≥ Q可用 | 目标工作场景)</a:t>
            </a:r>
          </a:p>
        </p:txBody>
      </p:sp>
      <p:sp>
        <p:nvSpPr>
          <p:cNvPr id="17" name="s3-formula-note">
            <a:extLst xmlns:a="http://schemas.openxmlformats.org/drawingml/2006/main">
              <a:ext uri="{FF2B5EF4-FFF2-40B4-BE49-F238E27FC236}">
                <a16:creationId xmlns:a16="http://schemas.microsoft.com/office/drawing/2014/main" id="{54F10B80-F57E-4AF6-9433-6548954D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10125"/>
            <a:ext cx="4238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</a:defRPr>
            </a:pPr>
            <a:r>
              <a:rPr sz="1350" b="0">
                <a:solidFill>
                  <a:srgbClr val="252B33"/>
                </a:solidFill>
              </a:rPr>
              <a:t>R 关注的是：随机工作稿达到“可以直接拿去讲”的最低标准的概率，而不是一次生成的最高分。</a:t>
            </a:r>
          </a:p>
        </p:txBody>
      </p:sp>
      <p:sp>
        <p:nvSpPr>
          <p:cNvPr id="18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97AD6143-87AA-4F15-A7FC-0D184694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9" name="footer-3">
            <a:extLst xmlns:a="http://schemas.openxmlformats.org/drawingml/2006/main">
              <a:ext uri="{FF2B5EF4-FFF2-40B4-BE49-F238E27FC236}">
                <a16:creationId xmlns:a16="http://schemas.microsoft.com/office/drawing/2014/main" id="{0610AA18-8987-4F67-B8D5-B98673D5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</a:defRPr>
            </a:pPr>
            <a:r>
              <a:rPr sz="900" b="0">
                <a:solidFill>
                  <a:srgbClr val="707780"/>
                </a:solidFill>
              </a:rPr>
              <a:t>PPagenT 产品叙事</a:t>
            </a:r>
          </a:p>
        </p:txBody>
      </p:sp>
    </p:spTree>
    <p:extLst>
      <p:ext uri="{BB962C8B-B14F-4D97-AF65-F5344CB8AC3E}">
        <p14:creationId xmlns:p14="http://schemas.microsoft.com/office/powerpoint/2010/main" val="18954920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4">
            <a:extLst xmlns:a="http://schemas.openxmlformats.org/drawingml/2006/main">
              <a:ext uri="{FF2B5EF4-FFF2-40B4-BE49-F238E27FC236}">
                <a16:creationId xmlns:a16="http://schemas.microsoft.com/office/drawing/2014/main" id="{A5E50D1A-E466-4E5B-B5D1-48022B29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5F91"/>
                </a:solidFill>
              </a:defRPr>
            </a:pPr>
            <a:r>
              <a:rPr sz="900" b="1">
                <a:solidFill>
                  <a:srgbClr val="315F91"/>
                </a:solidFill>
              </a:rPr>
              <a:t>PPAGENT / 产品叙事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14CF69AF-C95D-4BE5-AC74-0072A9CF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3400"/>
            <a:ext cx="1114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B33"/>
                </a:solidFill>
              </a:defRPr>
            </a:pPr>
            <a:r>
              <a:rPr sz="2250" b="1">
                <a:solidFill>
                  <a:srgbClr val="252B33"/>
                </a:solidFill>
              </a:rPr>
              <a:t>稳定跨过可用线，比偶然惊艳更重要</a:t>
            </a:r>
          </a:p>
        </p:txBody>
      </p:sp>
      <p:sp>
        <p:nvSpPr>
          <p:cNvPr id="3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37FC9805-9C18-4E4B-A1E2-E3651165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811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9F93180E-D86D-4698-B6E3-11E02756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76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07780"/>
                </a:solidFill>
              </a:defRPr>
            </a:pPr>
            <a:r>
              <a:rPr sz="900" b="0">
                <a:solidFill>
                  <a:srgbClr val="707780"/>
                </a:solidFill>
              </a:rPr>
              <a:t>04</a:t>
            </a:r>
          </a:p>
        </p:txBody>
      </p:sp>
      <p:sp>
        <p:nvSpPr>
          <p:cNvPr id="5" name="s4-lead">
            <a:extLst xmlns:a="http://schemas.openxmlformats.org/drawingml/2006/main">
              <a:ext uri="{FF2B5EF4-FFF2-40B4-BE49-F238E27FC236}">
                <a16:creationId xmlns:a16="http://schemas.microsoft.com/office/drawing/2014/main" id="{9F6F2400-E5FE-4A07-932B-AB67E0C9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B33"/>
                </a:solidFill>
              </a:defRPr>
            </a:pPr>
            <a:r>
              <a:rPr sz="1500" b="0">
                <a:solidFill>
                  <a:srgbClr val="252B33"/>
                </a:solidFill>
              </a:rPr>
              <a:t>明天上午九点要汇报，今晚交稿；第二天仍要能继续修改。工作需要的是确定的交付。</a:t>
            </a:r>
          </a:p>
        </p:txBody>
      </p:sp>
      <p:sp>
        <p:nvSpPr>
          <p:cNvPr id="6" name="s4-80">
            <a:extLst xmlns:a="http://schemas.openxmlformats.org/drawingml/2006/main">
              <a:ext uri="{FF2B5EF4-FFF2-40B4-BE49-F238E27FC236}">
                <a16:creationId xmlns:a16="http://schemas.microsoft.com/office/drawing/2014/main" id="{5C422946-6379-4C62-8D77-CAD31244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4953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7" name="s4-80-num">
            <a:extLst xmlns:a="http://schemas.openxmlformats.org/drawingml/2006/main">
              <a:ext uri="{FF2B5EF4-FFF2-40B4-BE49-F238E27FC236}">
                <a16:creationId xmlns:a16="http://schemas.microsoft.com/office/drawing/2014/main" id="{95A593F5-FB40-4DE7-B8FF-6FDDE7AC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1571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315F91"/>
                </a:solidFill>
              </a:defRPr>
            </a:pPr>
            <a:r>
              <a:rPr sz="4800" b="1">
                <a:solidFill>
                  <a:srgbClr val="315F91"/>
                </a:solidFill>
              </a:rPr>
              <a:t>80</a:t>
            </a:r>
          </a:p>
        </p:txBody>
      </p:sp>
      <p:sp>
        <p:nvSpPr>
          <p:cNvPr id="8" name="s4-80-h">
            <a:extLst xmlns:a="http://schemas.openxmlformats.org/drawingml/2006/main">
              <a:ext uri="{FF2B5EF4-FFF2-40B4-BE49-F238E27FC236}">
                <a16:creationId xmlns:a16="http://schemas.microsoft.com/office/drawing/2014/main" id="{8B58D65D-E22F-466A-AAB7-DF073F32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6860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F91"/>
                </a:solidFill>
              </a:defRPr>
            </a:pPr>
            <a:r>
              <a:rPr sz="1875" b="1">
                <a:solidFill>
                  <a:srgbClr val="315F91"/>
                </a:solidFill>
              </a:rPr>
              <a:t>稳定可用状态</a:t>
            </a:r>
          </a:p>
        </p:txBody>
      </p:sp>
      <p:sp>
        <p:nvSpPr>
          <p:cNvPr id="9" name="s4-80-b">
            <a:extLst xmlns:a="http://schemas.openxmlformats.org/drawingml/2006/main">
              <a:ext uri="{FF2B5EF4-FFF2-40B4-BE49-F238E27FC236}">
                <a16:creationId xmlns:a16="http://schemas.microsoft.com/office/drawing/2014/main" id="{15C29FEC-E5A5-40E3-A5EE-38C351D5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67125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B33"/>
                </a:solidFill>
              </a:defRPr>
            </a:pPr>
            <a:r>
              <a:rPr sz="1500" b="0">
                <a:solidFill>
                  <a:srgbClr val="252B33"/>
                </a:solidFill>
              </a:rPr>
              <a:t>直接使用不失专业</a:t>
            </a:r>
          </a:p>
          <a:p xmlns:a="http://schemas.openxmlformats.org/drawingml/2006/main">
            <a:pPr algn="l">
              <a:defRPr sz="1500" b="0">
                <a:solidFill>
                  <a:srgbClr val="252B33"/>
                </a:solidFill>
              </a:defRPr>
            </a:pPr>
            <a:r>
              <a:rPr sz="1500" b="0">
                <a:solidFill>
                  <a:srgbClr val="252B33"/>
                </a:solidFill>
              </a:rPr>
              <a:t>继续修改有可靠基础</a:t>
            </a:r>
          </a:p>
          <a:p xmlns:a="http://schemas.openxmlformats.org/drawingml/2006/main">
            <a:pPr algn="l">
              <a:defRPr sz="1500" b="0">
                <a:solidFill>
                  <a:srgbClr val="252B33"/>
                </a:solidFill>
              </a:defRPr>
            </a:pPr>
            <a:r>
              <a:rPr sz="1500" b="0">
                <a:solidFill>
                  <a:srgbClr val="252B33"/>
                </a:solidFill>
              </a:rPr>
              <a:t>投入与收益相匹配</a:t>
            </a:r>
          </a:p>
        </p:txBody>
      </p:sp>
      <p:sp>
        <p:nvSpPr>
          <p:cNvPr id="10" name="s4-95">
            <a:extLst xmlns:a="http://schemas.openxmlformats.org/drawingml/2006/main">
              <a:ext uri="{FF2B5EF4-FFF2-40B4-BE49-F238E27FC236}">
                <a16:creationId xmlns:a16="http://schemas.microsoft.com/office/drawing/2014/main" id="{6DBDF3CD-48A1-4E57-9064-FF71229B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54768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1" name="s4-95-num">
            <a:extLst xmlns:a="http://schemas.openxmlformats.org/drawingml/2006/main">
              <a:ext uri="{FF2B5EF4-FFF2-40B4-BE49-F238E27FC236}">
                <a16:creationId xmlns:a16="http://schemas.microsoft.com/office/drawing/2014/main" id="{2B746CDB-B589-428B-A804-83FF95AD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1571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707780"/>
                </a:solidFill>
              </a:defRPr>
            </a:pPr>
            <a:r>
              <a:rPr sz="4800" b="1">
                <a:solidFill>
                  <a:srgbClr val="707780"/>
                </a:solidFill>
              </a:rPr>
              <a:t>95</a:t>
            </a:r>
          </a:p>
        </p:txBody>
      </p:sp>
      <p:sp>
        <p:nvSpPr>
          <p:cNvPr id="12" name="s4-95-h">
            <a:extLst xmlns:a="http://schemas.openxmlformats.org/drawingml/2006/main">
              <a:ext uri="{FF2B5EF4-FFF2-40B4-BE49-F238E27FC236}">
                <a16:creationId xmlns:a16="http://schemas.microsoft.com/office/drawing/2014/main" id="{6EC843EB-F6C8-4DD7-9BC5-AFF5E2F2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860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2B33"/>
                </a:solidFill>
              </a:defRPr>
            </a:pPr>
            <a:r>
              <a:rPr sz="1875" b="1">
                <a:solidFill>
                  <a:srgbClr val="252B33"/>
                </a:solidFill>
              </a:rPr>
              <a:t>随机惊艳作品</a:t>
            </a:r>
          </a:p>
        </p:txBody>
      </p:sp>
      <p:sp>
        <p:nvSpPr>
          <p:cNvPr id="13" name="s4-95-b">
            <a:extLst xmlns:a="http://schemas.openxmlformats.org/drawingml/2006/main">
              <a:ext uri="{FF2B5EF4-FFF2-40B4-BE49-F238E27FC236}">
                <a16:creationId xmlns:a16="http://schemas.microsoft.com/office/drawing/2014/main" id="{D85958A9-2BD9-4D3B-87CE-68E99FC7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67125"/>
            <a:ext cx="4667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B33"/>
                </a:solidFill>
              </a:defRPr>
            </a:pPr>
            <a:r>
              <a:rPr sz="1500" b="0">
                <a:solidFill>
                  <a:srgbClr val="252B33"/>
                </a:solidFill>
              </a:rPr>
              <a:t>偶尔让所有人惊叹</a:t>
            </a:r>
          </a:p>
          <a:p xmlns:a="http://schemas.openxmlformats.org/drawingml/2006/main">
            <a:pPr algn="l">
              <a:defRPr sz="1500" b="0">
                <a:solidFill>
                  <a:srgbClr val="252B33"/>
                </a:solidFill>
              </a:defRPr>
            </a:pPr>
            <a:r>
              <a:rPr sz="1500" b="0">
                <a:solidFill>
                  <a:srgbClr val="252B33"/>
                </a:solidFill>
              </a:rPr>
              <a:t>从可用到高度定制，成本可能迅速上升</a:t>
            </a:r>
          </a:p>
          <a:p xmlns:a="http://schemas.openxmlformats.org/drawingml/2006/main">
            <a:pPr algn="l">
              <a:defRPr sz="1500" b="0">
                <a:solidFill>
                  <a:srgbClr val="252B33"/>
                </a:solidFill>
              </a:defRPr>
            </a:pPr>
            <a:r>
              <a:rPr sz="1500" b="0">
                <a:solidFill>
                  <a:srgbClr val="252B33"/>
                </a:solidFill>
              </a:rPr>
              <a:t>许多内部汇报不需要为增量付出同等代价</a:t>
            </a:r>
          </a:p>
        </p:txBody>
      </p:sp>
      <p:sp>
        <p:nvSpPr>
          <p:cNvPr id="14" name="s4-tail">
            <a:extLst xmlns:a="http://schemas.openxmlformats.org/drawingml/2006/main">
              <a:ext uri="{FF2B5EF4-FFF2-40B4-BE49-F238E27FC236}">
                <a16:creationId xmlns:a16="http://schemas.microsoft.com/office/drawing/2014/main" id="{F72EF100-37BD-48FC-9943-CDBE4CF7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14950"/>
            <a:ext cx="1081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34569"/>
                </a:solidFill>
              </a:defRPr>
            </a:pPr>
            <a:r>
              <a:rPr sz="1650" b="1">
                <a:solidFill>
                  <a:srgbClr val="234569"/>
                </a:solidFill>
              </a:rPr>
              <a:t>PPagenT 最大化的是：一份随机工作稿被可靠转化为可直接使用 PPT 的概率。</a:t>
            </a:r>
          </a:p>
        </p:txBody>
      </p:sp>
      <p:sp>
        <p:nvSpPr>
          <p:cNvPr id="15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E613BC8C-787A-44D2-982A-B46AD5B5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6" name="footer-4">
            <a:extLst xmlns:a="http://schemas.openxmlformats.org/drawingml/2006/main">
              <a:ext uri="{FF2B5EF4-FFF2-40B4-BE49-F238E27FC236}">
                <a16:creationId xmlns:a16="http://schemas.microsoft.com/office/drawing/2014/main" id="{56796D6D-0682-4C26-85E4-09010F7D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</a:defRPr>
            </a:pPr>
            <a:r>
              <a:rPr sz="900" b="0">
                <a:solidFill>
                  <a:srgbClr val="707780"/>
                </a:solidFill>
              </a:rPr>
              <a:t>PPagenT 产品叙事</a:t>
            </a:r>
          </a:p>
        </p:txBody>
      </p:sp>
    </p:spTree>
    <p:extLst>
      <p:ext uri="{BB962C8B-B14F-4D97-AF65-F5344CB8AC3E}">
        <p14:creationId xmlns:p14="http://schemas.microsoft.com/office/powerpoint/2010/main" val="2761947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5">
            <a:extLst xmlns:a="http://schemas.openxmlformats.org/drawingml/2006/main">
              <a:ext uri="{FF2B5EF4-FFF2-40B4-BE49-F238E27FC236}">
                <a16:creationId xmlns:a16="http://schemas.microsoft.com/office/drawing/2014/main" id="{6B541814-74F6-4A50-A4B2-089F9FE7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5F91"/>
                </a:solidFill>
              </a:defRPr>
            </a:pPr>
            <a:r>
              <a:rPr sz="900" b="1">
                <a:solidFill>
                  <a:srgbClr val="315F91"/>
                </a:solidFill>
              </a:rPr>
              <a:t>PPAGENT / 产品叙事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4CF2645D-5272-4511-950E-017259A2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3400"/>
            <a:ext cx="1114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B33"/>
                </a:solidFill>
              </a:defRPr>
            </a:pPr>
            <a:r>
              <a:rPr sz="2250" b="1">
                <a:solidFill>
                  <a:srgbClr val="252B33"/>
                </a:solidFill>
              </a:rPr>
              <a:t>限制一部分自由，换取正式工作的可预测性</a:t>
            </a:r>
          </a:p>
        </p:txBody>
      </p:sp>
      <p:sp>
        <p:nvSpPr>
          <p:cNvPr id="3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A9D2915F-AA0A-4D84-89E3-78ECC3F7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811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BB859AC3-0F3B-4A9D-B985-F841EE31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76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07780"/>
                </a:solidFill>
              </a:defRPr>
            </a:pPr>
            <a:r>
              <a:rPr sz="900" b="0">
                <a:solidFill>
                  <a:srgbClr val="707780"/>
                </a:solidFill>
              </a:rPr>
              <a:t>05</a:t>
            </a:r>
          </a:p>
        </p:txBody>
      </p:sp>
      <p:sp>
        <p:nvSpPr>
          <p:cNvPr id="5" name="s5-lead">
            <a:extLst xmlns:a="http://schemas.openxmlformats.org/drawingml/2006/main">
              <a:ext uri="{FF2B5EF4-FFF2-40B4-BE49-F238E27FC236}">
                <a16:creationId xmlns:a16="http://schemas.microsoft.com/office/drawing/2014/main" id="{0CC6F658-9A9C-4AA3-8FA6-7D9620F5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097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自由度越高，理论上限越高；状态空间也越大，失败模式随之增加。正式工作不需要每次都重来。</a:t>
            </a:r>
          </a:p>
        </p:txBody>
      </p:sp>
      <p:sp>
        <p:nvSpPr>
          <p:cNvPr id="6" name="s5-left">
            <a:extLst xmlns:a="http://schemas.openxmlformats.org/drawingml/2006/main">
              <a:ext uri="{FF2B5EF4-FFF2-40B4-BE49-F238E27FC236}">
                <a16:creationId xmlns:a16="http://schemas.microsoft.com/office/drawing/2014/main" id="{975A9B45-32B0-4CB2-8C6C-C8576D81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90750"/>
            <a:ext cx="49053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7" name="s5-left-h">
            <a:extLst xmlns:a="http://schemas.openxmlformats.org/drawingml/2006/main">
              <a:ext uri="{FF2B5EF4-FFF2-40B4-BE49-F238E27FC236}">
                <a16:creationId xmlns:a16="http://schemas.microsoft.com/office/drawing/2014/main" id="{F181C47B-6122-4E50-B39D-0F9CB58A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F91"/>
                </a:solidFill>
              </a:defRPr>
            </a:pPr>
            <a:r>
              <a:rPr sz="1650" b="1">
                <a:solidFill>
                  <a:srgbClr val="315F91"/>
                </a:solidFill>
              </a:rPr>
              <a:t>稳定的组织表达</a:t>
            </a:r>
          </a:p>
        </p:txBody>
      </p:sp>
      <p:sp>
        <p:nvSpPr>
          <p:cNvPr id="8" name="s5-left-b">
            <a:extLst xmlns:a="http://schemas.openxmlformats.org/drawingml/2006/main">
              <a:ext uri="{FF2B5EF4-FFF2-40B4-BE49-F238E27FC236}">
                <a16:creationId xmlns:a16="http://schemas.microsoft.com/office/drawing/2014/main" id="{F672A5FA-7E21-47F2-97C0-1B7301FD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4191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学校有学校的样子，企业有企业的样子。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颜色、字体、Logo、页眉页脚和已证明好用的页面结构，本来就应该保持稳定。</a:t>
            </a:r>
          </a:p>
        </p:txBody>
      </p:sp>
      <p:sp>
        <p:nvSpPr>
          <p:cNvPr id="9" name="s5-left-q">
            <a:extLst xmlns:a="http://schemas.openxmlformats.org/drawingml/2006/main">
              <a:ext uri="{FF2B5EF4-FFF2-40B4-BE49-F238E27FC236}">
                <a16:creationId xmlns:a16="http://schemas.microsoft.com/office/drawing/2014/main" id="{7D01AEAE-6DAC-43A9-AF7D-E7E93A11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4569"/>
                </a:solidFill>
              </a:defRPr>
            </a:pPr>
            <a:r>
              <a:rPr sz="1350" b="1">
                <a:solidFill>
                  <a:srgbClr val="234569"/>
                </a:solidFill>
              </a:rPr>
              <a:t>每次都不一样，有时候才是缺点。</a:t>
            </a:r>
          </a:p>
        </p:txBody>
      </p:sp>
      <p:sp>
        <p:nvSpPr>
          <p:cNvPr id="10" name="s5-right">
            <a:extLst xmlns:a="http://schemas.openxmlformats.org/drawingml/2006/main">
              <a:ext uri="{FF2B5EF4-FFF2-40B4-BE49-F238E27FC236}">
                <a16:creationId xmlns:a16="http://schemas.microsoft.com/office/drawing/2014/main" id="{1EBA1BDC-0F56-455C-92DE-AAB5CCA7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90750"/>
            <a:ext cx="5762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1" name="s5-right-h">
            <a:extLst xmlns:a="http://schemas.openxmlformats.org/drawingml/2006/main">
              <a:ext uri="{FF2B5EF4-FFF2-40B4-BE49-F238E27FC236}">
                <a16:creationId xmlns:a16="http://schemas.microsoft.com/office/drawing/2014/main" id="{B93BE656-DD39-44C4-AA6A-0816DD31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574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F91"/>
                </a:solidFill>
              </a:defRPr>
            </a:pPr>
            <a:r>
              <a:rPr sz="1650" b="1">
                <a:solidFill>
                  <a:srgbClr val="315F91"/>
                </a:solidFill>
              </a:rPr>
              <a:t>主动登记的约束</a:t>
            </a:r>
          </a:p>
        </p:txBody>
      </p:sp>
      <p:sp>
        <p:nvSpPr>
          <p:cNvPr id="12" name="s5-right-b">
            <a:extLst xmlns:a="http://schemas.openxmlformats.org/drawingml/2006/main">
              <a:ext uri="{FF2B5EF4-FFF2-40B4-BE49-F238E27FC236}">
                <a16:creationId xmlns:a16="http://schemas.microsoft.com/office/drawing/2014/main" id="{CC143217-0349-4223-A660-AAC8601D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B33"/>
                </a:solidFill>
              </a:defRPr>
            </a:pPr>
            <a:r>
              <a:rPr sz="1575" b="0">
                <a:solidFill>
                  <a:srgbClr val="252B33"/>
                </a:solidFill>
              </a:rPr>
              <a:t>确定的组织视觉规范</a:t>
            </a:r>
          </a:p>
          <a:p xmlns:a="http://schemas.openxmlformats.org/drawingml/2006/main">
            <a:pPr algn="l">
              <a:defRPr sz="1575" b="0">
                <a:solidFill>
                  <a:srgbClr val="252B33"/>
                </a:solidFill>
              </a:defRPr>
            </a:pPr>
            <a:r>
              <a:rPr sz="1575" b="0">
                <a:solidFill>
                  <a:srgbClr val="252B33"/>
                </a:solidFill>
              </a:rPr>
              <a:t>经过验证的表达能力</a:t>
            </a:r>
          </a:p>
          <a:p xmlns:a="http://schemas.openxmlformats.org/drawingml/2006/main">
            <a:pPr algn="l">
              <a:defRPr sz="1575" b="0">
                <a:solidFill>
                  <a:srgbClr val="252B33"/>
                </a:solidFill>
              </a:defRPr>
            </a:pPr>
            <a:r>
              <a:rPr sz="1575" b="0">
                <a:solidFill>
                  <a:srgbClr val="252B33"/>
                </a:solidFill>
              </a:rPr>
              <a:t>明确的数量与容量边界</a:t>
            </a:r>
          </a:p>
          <a:p xmlns:a="http://schemas.openxmlformats.org/drawingml/2006/main">
            <a:pPr algn="l">
              <a:defRPr sz="1575" b="0">
                <a:solidFill>
                  <a:srgbClr val="252B33"/>
                </a:solidFill>
              </a:defRPr>
            </a:pPr>
            <a:r>
              <a:rPr sz="1575" b="0">
                <a:solidFill>
                  <a:srgbClr val="252B33"/>
                </a:solidFill>
              </a:rPr>
              <a:t>已经登记的退化方式</a:t>
            </a:r>
          </a:p>
        </p:txBody>
      </p:sp>
      <p:sp>
        <p:nvSpPr>
          <p:cNvPr id="13" name="s5-tail">
            <a:extLst xmlns:a="http://schemas.openxmlformats.org/drawingml/2006/main">
              <a:ext uri="{FF2B5EF4-FFF2-40B4-BE49-F238E27FC236}">
                <a16:creationId xmlns:a16="http://schemas.microsoft.com/office/drawing/2014/main" id="{2A6754CF-02A1-4127-859C-F84BD04F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7687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34569"/>
                </a:solidFill>
              </a:defRPr>
            </a:pPr>
            <a:r>
              <a:rPr sz="1500" b="1">
                <a:solidFill>
                  <a:srgbClr val="234569"/>
                </a:solidFill>
              </a:rPr>
              <a:t>这可能降低一次生成的理论峰值，却大幅减少结果落到不可用区间的机会。固定，往往意味着已经验证过。</a:t>
            </a:r>
          </a:p>
        </p:txBody>
      </p:sp>
      <p:sp>
        <p:nvSpPr>
          <p:cNvPr id="14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D15DDA2D-AF01-4EF1-AB10-CFCE248D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5" name="footer-5">
            <a:extLst xmlns:a="http://schemas.openxmlformats.org/drawingml/2006/main">
              <a:ext uri="{FF2B5EF4-FFF2-40B4-BE49-F238E27FC236}">
                <a16:creationId xmlns:a16="http://schemas.microsoft.com/office/drawing/2014/main" id="{CA2C1B38-6E61-4489-B6D8-39B0C119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</a:defRPr>
            </a:pPr>
            <a:r>
              <a:rPr sz="900" b="0">
                <a:solidFill>
                  <a:srgbClr val="707780"/>
                </a:solidFill>
              </a:rPr>
              <a:t>PPagenT 产品叙事</a:t>
            </a:r>
          </a:p>
        </p:txBody>
      </p:sp>
    </p:spTree>
    <p:extLst>
      <p:ext uri="{BB962C8B-B14F-4D97-AF65-F5344CB8AC3E}">
        <p14:creationId xmlns:p14="http://schemas.microsoft.com/office/powerpoint/2010/main" val="1032388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-6">
            <a:extLst xmlns:a="http://schemas.openxmlformats.org/drawingml/2006/main">
              <a:ext uri="{FF2B5EF4-FFF2-40B4-BE49-F238E27FC236}">
                <a16:creationId xmlns:a16="http://schemas.microsoft.com/office/drawing/2014/main" id="{90BF9170-7576-4B3F-85BC-4E7EC1CD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5F91"/>
                </a:solidFill>
              </a:defRPr>
            </a:pPr>
            <a:r>
              <a:rPr sz="900" b="1">
                <a:solidFill>
                  <a:srgbClr val="315F91"/>
                </a:solidFill>
              </a:rPr>
              <a:t>PPAGENT / 产品叙事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5E87C5D9-4CA6-4D7C-8C64-A2DB7B33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3400"/>
            <a:ext cx="1114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B33"/>
                </a:solidFill>
              </a:defRPr>
            </a:pPr>
            <a:r>
              <a:rPr sz="2250" b="1">
                <a:solidFill>
                  <a:srgbClr val="252B33"/>
                </a:solidFill>
              </a:rPr>
              <a:t>两位导演把 AI 放在控制器位置</a:t>
            </a:r>
          </a:p>
        </p:txBody>
      </p:sp>
      <p:sp>
        <p:nvSpPr>
          <p:cNvPr id="3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572EBF02-5A69-4595-880C-5ABFD4BD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811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8BCEA696-FFCD-47DE-88DC-4FBFED17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76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07780"/>
                </a:solidFill>
              </a:defRPr>
            </a:pPr>
            <a:r>
              <a:rPr sz="900" b="0">
                <a:solidFill>
                  <a:srgbClr val="707780"/>
                </a:solidFill>
              </a:rPr>
              <a:t>06</a:t>
            </a:r>
          </a:p>
        </p:txBody>
      </p:sp>
      <p:sp>
        <p:nvSpPr>
          <p:cNvPr id="5" name="s6-lead">
            <a:extLst xmlns:a="http://schemas.openxmlformats.org/drawingml/2006/main">
              <a:ext uri="{FF2B5EF4-FFF2-40B4-BE49-F238E27FC236}">
                <a16:creationId xmlns:a16="http://schemas.microsoft.com/office/drawing/2014/main" id="{9C98AC24-2D9D-4677-B763-19BA3153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097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AI 不直接自由绘制整份 PPT；它理解稿件、组织叙事，再从已确认能力中选择合法表达。</a:t>
            </a:r>
          </a:p>
        </p:txBody>
      </p:sp>
      <p:sp>
        <p:nvSpPr>
          <p:cNvPr id="6" name="content-director">
            <a:extLst xmlns:a="http://schemas.openxmlformats.org/drawingml/2006/main">
              <a:ext uri="{FF2B5EF4-FFF2-40B4-BE49-F238E27FC236}">
                <a16:creationId xmlns:a16="http://schemas.microsoft.com/office/drawing/2014/main" id="{B4921DC4-10D7-4D25-A3A6-1B69DA2C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90750"/>
            <a:ext cx="4953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7" name="s6-c-h">
            <a:extLst xmlns:a="http://schemas.openxmlformats.org/drawingml/2006/main">
              <a:ext uri="{FF2B5EF4-FFF2-40B4-BE49-F238E27FC236}">
                <a16:creationId xmlns:a16="http://schemas.microsoft.com/office/drawing/2014/main" id="{2B2B1864-A8F6-4B4D-9EC4-734D8AB8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00300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15F91"/>
                </a:solidFill>
              </a:defRPr>
            </a:pPr>
            <a:r>
              <a:rPr sz="1650" b="1">
                <a:solidFill>
                  <a:srgbClr val="315F91"/>
                </a:solidFill>
              </a:rPr>
              <a:t>内容导演</a:t>
            </a:r>
          </a:p>
        </p:txBody>
      </p:sp>
      <p:sp>
        <p:nvSpPr>
          <p:cNvPr id="8" name="s6-c-b">
            <a:extLst xmlns:a="http://schemas.openxmlformats.org/drawingml/2006/main">
              <a:ext uri="{FF2B5EF4-FFF2-40B4-BE49-F238E27FC236}">
                <a16:creationId xmlns:a16="http://schemas.microsoft.com/office/drawing/2014/main" id="{F6151175-FD04-4540-AE78-D3C68639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5750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理解稿件 · 组织叙事 · 拆页</a:t>
            </a:r>
          </a:p>
          <a:p xmlns:a="http://schemas.openxmlformats.org/drawingml/2006/main">
            <a:pPr algn="ctr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形成每页承担的页面内容</a:t>
            </a:r>
          </a:p>
        </p:txBody>
      </p:sp>
      <p:sp>
        <p:nvSpPr>
          <p:cNvPr id="9" name="visual-director">
            <a:extLst xmlns:a="http://schemas.openxmlformats.org/drawingml/2006/main">
              <a:ext uri="{FF2B5EF4-FFF2-40B4-BE49-F238E27FC236}">
                <a16:creationId xmlns:a16="http://schemas.microsoft.com/office/drawing/2014/main" id="{369D972D-9C7C-4EBC-8D91-30D424E1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54768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0" name="s6-v-h">
            <a:extLst xmlns:a="http://schemas.openxmlformats.org/drawingml/2006/main">
              <a:ext uri="{FF2B5EF4-FFF2-40B4-BE49-F238E27FC236}">
                <a16:creationId xmlns:a16="http://schemas.microsoft.com/office/drawing/2014/main" id="{8D7C16CF-BC2F-4020-A2AC-211C8647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00300"/>
            <a:ext cx="5248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15F91"/>
                </a:solidFill>
              </a:defRPr>
            </a:pPr>
            <a:r>
              <a:rPr sz="1650" b="1">
                <a:solidFill>
                  <a:srgbClr val="315F91"/>
                </a:solidFill>
              </a:rPr>
              <a:t>视觉导演</a:t>
            </a:r>
          </a:p>
        </p:txBody>
      </p:sp>
      <p:sp>
        <p:nvSpPr>
          <p:cNvPr id="11" name="s6-v-b">
            <a:extLst xmlns:a="http://schemas.openxmlformats.org/drawingml/2006/main">
              <a:ext uri="{FF2B5EF4-FFF2-40B4-BE49-F238E27FC236}">
                <a16:creationId xmlns:a16="http://schemas.microsoft.com/office/drawing/2014/main" id="{CBDB0914-4638-42E6-A18A-C53B10B5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57500"/>
            <a:ext cx="52482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判断每页适合怎样表达</a:t>
            </a:r>
          </a:p>
          <a:p xmlns:a="http://schemas.openxmlformats.org/drawingml/2006/main">
            <a:pPr algn="ctr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从已经确认的能力中选择合适结构</a:t>
            </a:r>
          </a:p>
        </p:txBody>
      </p:sp>
      <p:sp>
        <p:nvSpPr>
          <p:cNvPr id="12" name="ai-understands">
            <a:extLst xmlns:a="http://schemas.openxmlformats.org/drawingml/2006/main">
              <a:ext uri="{FF2B5EF4-FFF2-40B4-BE49-F238E27FC236}">
                <a16:creationId xmlns:a16="http://schemas.microsoft.com/office/drawing/2014/main" id="{F170DA20-6E52-444C-B122-B4085C3F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24375"/>
            <a:ext cx="2333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569"/>
          </a:solidFill>
          <a:ln xmlns:a="http://schemas.openxmlformats.org/drawingml/2006/main" w="9525">
            <a:solidFill>
              <a:srgbClr val="234569"/>
            </a:solidFill>
            <a:prstDash val="solid"/>
          </a:ln>
        </p:spPr>
      </p:sp>
      <p:sp>
        <p:nvSpPr>
          <p:cNvPr id="13" name="rules-constrain">
            <a:extLst xmlns:a="http://schemas.openxmlformats.org/drawingml/2006/main">
              <a:ext uri="{FF2B5EF4-FFF2-40B4-BE49-F238E27FC236}">
                <a16:creationId xmlns:a16="http://schemas.microsoft.com/office/drawing/2014/main" id="{102A4D29-01FC-4D0F-821D-423799E0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524375"/>
            <a:ext cx="2333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4" name="code-stable">
            <a:extLst xmlns:a="http://schemas.openxmlformats.org/drawingml/2006/main">
              <a:ext uri="{FF2B5EF4-FFF2-40B4-BE49-F238E27FC236}">
                <a16:creationId xmlns:a16="http://schemas.microsoft.com/office/drawing/2014/main" id="{1EF76A8B-72C1-484D-B616-42BA6E4B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524375"/>
            <a:ext cx="2333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5" name="native-pptx">
            <a:extLst xmlns:a="http://schemas.openxmlformats.org/drawingml/2006/main">
              <a:ext uri="{FF2B5EF4-FFF2-40B4-BE49-F238E27FC236}">
                <a16:creationId xmlns:a16="http://schemas.microsoft.com/office/drawing/2014/main" id="{14E591A7-2CD4-4A8E-86D9-B98FDF9A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524375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6" name="s6-ai">
            <a:extLst xmlns:a="http://schemas.openxmlformats.org/drawingml/2006/main">
              <a:ext uri="{FF2B5EF4-FFF2-40B4-BE49-F238E27FC236}">
                <a16:creationId xmlns:a16="http://schemas.microsoft.com/office/drawing/2014/main" id="{E6084CC4-2D72-47B6-BA93-DFB37681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686300"/>
            <a:ext cx="2105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AI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理解与路由</a:t>
            </a:r>
          </a:p>
        </p:txBody>
      </p:sp>
      <p:sp>
        <p:nvSpPr>
          <p:cNvPr id="17" name="s6-rules">
            <a:extLst xmlns:a="http://schemas.openxmlformats.org/drawingml/2006/main">
              <a:ext uri="{FF2B5EF4-FFF2-40B4-BE49-F238E27FC236}">
                <a16:creationId xmlns:a16="http://schemas.microsoft.com/office/drawing/2014/main" id="{62B957AD-B7E8-4029-87A8-1951D02F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686300"/>
            <a:ext cx="2105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52B33"/>
                </a:solidFill>
              </a:defRPr>
            </a:pPr>
            <a:r>
              <a:rPr sz="1575" b="1">
                <a:solidFill>
                  <a:srgbClr val="252B33"/>
                </a:solidFill>
              </a:rPr>
              <a:t>规则</a:t>
            </a:r>
          </a:p>
          <a:p xmlns:a="http://schemas.openxmlformats.org/drawingml/2006/main">
            <a:pPr algn="ctr">
              <a:defRPr sz="1575" b="1">
                <a:solidFill>
                  <a:srgbClr val="252B33"/>
                </a:solidFill>
              </a:defRPr>
            </a:pPr>
            <a:r>
              <a:rPr sz="1575" b="1">
                <a:solidFill>
                  <a:srgbClr val="252B33"/>
                </a:solidFill>
              </a:rPr>
              <a:t>约束与选择</a:t>
            </a:r>
          </a:p>
        </p:txBody>
      </p:sp>
      <p:sp>
        <p:nvSpPr>
          <p:cNvPr id="18" name="s6-code">
            <a:extLst xmlns:a="http://schemas.openxmlformats.org/drawingml/2006/main">
              <a:ext uri="{FF2B5EF4-FFF2-40B4-BE49-F238E27FC236}">
                <a16:creationId xmlns:a16="http://schemas.microsoft.com/office/drawing/2014/main" id="{DE00D10A-87E1-42E8-8DB6-BE5C3874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686300"/>
            <a:ext cx="2105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52B33"/>
                </a:solidFill>
              </a:defRPr>
            </a:pPr>
            <a:r>
              <a:rPr sz="1575" b="1">
                <a:solidFill>
                  <a:srgbClr val="252B33"/>
                </a:solidFill>
              </a:rPr>
              <a:t>代码</a:t>
            </a:r>
          </a:p>
          <a:p xmlns:a="http://schemas.openxmlformats.org/drawingml/2006/main">
            <a:pPr algn="ctr">
              <a:defRPr sz="1575" b="1">
                <a:solidFill>
                  <a:srgbClr val="252B33"/>
                </a:solidFill>
              </a:defRPr>
            </a:pPr>
            <a:r>
              <a:rPr sz="1575" b="1">
                <a:solidFill>
                  <a:srgbClr val="252B33"/>
                </a:solidFill>
              </a:rPr>
              <a:t>稳定生成</a:t>
            </a:r>
          </a:p>
        </p:txBody>
      </p:sp>
      <p:sp>
        <p:nvSpPr>
          <p:cNvPr id="19" name="s6-pptx">
            <a:extLst xmlns:a="http://schemas.openxmlformats.org/drawingml/2006/main">
              <a:ext uri="{FF2B5EF4-FFF2-40B4-BE49-F238E27FC236}">
                <a16:creationId xmlns:a16="http://schemas.microsoft.com/office/drawing/2014/main" id="{3049F39F-7ACB-4E49-B35F-39DE0C23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686300"/>
            <a:ext cx="2343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15F91"/>
                </a:solidFill>
              </a:defRPr>
            </a:pPr>
            <a:r>
              <a:rPr sz="1575" b="1">
                <a:solidFill>
                  <a:srgbClr val="315F91"/>
                </a:solidFill>
              </a:rPr>
              <a:t>原生可编辑</a:t>
            </a:r>
          </a:p>
          <a:p xmlns:a="http://schemas.openxmlformats.org/drawingml/2006/main">
            <a:pPr algn="ctr">
              <a:defRPr sz="1575" b="1">
                <a:solidFill>
                  <a:srgbClr val="315F91"/>
                </a:solidFill>
              </a:defRPr>
            </a:pPr>
            <a:r>
              <a:rPr sz="1575" b="1">
                <a:solidFill>
                  <a:srgbClr val="315F91"/>
                </a:solidFill>
              </a:rPr>
              <a:t>PowerPoint</a:t>
            </a:r>
          </a:p>
        </p:txBody>
      </p:sp>
      <p:cxnSp>
        <p:nvCxnSpPr>
          <p:cNvPr id="44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857500" y="49625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tailEnd type="arrow" w="sm" len="sm"/>
          </a:ln>
        </p:spPr>
      </p:cxnSp>
      <p:cxnSp>
        <p:nvCxnSpPr>
          <p:cNvPr id="45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715000" y="49625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tailEnd type="arrow" w="sm" len="sm"/>
          </a:ln>
        </p:spPr>
      </p:cxnSp>
      <p:cxnSp>
        <p:nvCxnSpPr>
          <p:cNvPr id="46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572500" y="49625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tailEnd type="arrow" w="sm" len="sm"/>
          </a:ln>
        </p:spPr>
      </p:cxnSp>
      <p:sp>
        <p:nvSpPr>
          <p:cNvPr id="23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E3ECD23C-B16E-4C3E-BA06-00F1A82A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24" name="footer-6">
            <a:extLst xmlns:a="http://schemas.openxmlformats.org/drawingml/2006/main">
              <a:ext uri="{FF2B5EF4-FFF2-40B4-BE49-F238E27FC236}">
                <a16:creationId xmlns:a16="http://schemas.microsoft.com/office/drawing/2014/main" id="{D52C765F-DEAC-4016-833D-F43BD4F7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</a:defRPr>
            </a:pPr>
            <a:r>
              <a:rPr sz="900" b="0">
                <a:solidFill>
                  <a:srgbClr val="707780"/>
                </a:solidFill>
              </a:rPr>
              <a:t>PPagenT 产品叙事</a:t>
            </a:r>
          </a:p>
        </p:txBody>
      </p:sp>
    </p:spTree>
    <p:extLst>
      <p:ext uri="{BB962C8B-B14F-4D97-AF65-F5344CB8AC3E}">
        <p14:creationId xmlns:p14="http://schemas.microsoft.com/office/powerpoint/2010/main" val="3130071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eyebrow-7">
            <a:extLst xmlns:a="http://schemas.openxmlformats.org/drawingml/2006/main">
              <a:ext uri="{FF2B5EF4-FFF2-40B4-BE49-F238E27FC236}">
                <a16:creationId xmlns:a16="http://schemas.microsoft.com/office/drawing/2014/main" id="{182315E2-0FA8-40C8-8D1C-FFE882B4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5F91"/>
                </a:solidFill>
              </a:defRPr>
            </a:pPr>
            <a:r>
              <a:rPr sz="900" b="1">
                <a:solidFill>
                  <a:srgbClr val="315F91"/>
                </a:solidFill>
              </a:rPr>
              <a:t>PPAGENT / 产品叙事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D284A084-A08F-4A28-96FD-0867F84B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3400"/>
            <a:ext cx="1114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B33"/>
                </a:solidFill>
              </a:defRPr>
            </a:pPr>
            <a:r>
              <a:rPr sz="2250" b="1">
                <a:solidFill>
                  <a:srgbClr val="252B33"/>
                </a:solidFill>
              </a:rPr>
              <a:t>核心资产库是建设线与正式生成线的唯一交汇点</a:t>
            </a:r>
          </a:p>
        </p:txBody>
      </p:sp>
      <p:sp>
        <p:nvSpPr>
          <p:cNvPr id="3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82A4B46F-B35D-400D-8B8A-6ED38010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811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1D0B20FB-BB40-411A-AE42-09A887EA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76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07780"/>
                </a:solidFill>
              </a:defRPr>
            </a:pPr>
            <a:r>
              <a:rPr sz="900" b="0">
                <a:solidFill>
                  <a:srgbClr val="707780"/>
                </a:solidFill>
              </a:rPr>
              <a:t>07</a:t>
            </a:r>
          </a:p>
        </p:txBody>
      </p:sp>
      <p:sp>
        <p:nvSpPr>
          <p:cNvPr id="5" name="s7-lead">
            <a:extLst xmlns:a="http://schemas.openxmlformats.org/drawingml/2006/main">
              <a:ext uri="{FF2B5EF4-FFF2-40B4-BE49-F238E27FC236}">
                <a16:creationId xmlns:a16="http://schemas.microsoft.com/office/drawing/2014/main" id="{1334C5AA-A227-499E-A5A4-E695E352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只有用户明确确认的能力才能进入正式生成线；交付现场只读核心库。</a:t>
            </a:r>
          </a:p>
        </p:txBody>
      </p:sp>
      <p:sp>
        <p:nvSpPr>
          <p:cNvPr id="6" name="s7-build-label">
            <a:extLst xmlns:a="http://schemas.openxmlformats.org/drawingml/2006/main">
              <a:ext uri="{FF2B5EF4-FFF2-40B4-BE49-F238E27FC236}">
                <a16:creationId xmlns:a16="http://schemas.microsoft.com/office/drawing/2014/main" id="{53A6528A-0118-4EBD-8B43-3901248A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812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</a:defRPr>
            </a:pPr>
            <a:r>
              <a:rPr sz="1350" b="1">
                <a:solidFill>
                  <a:srgbClr val="315F91"/>
                </a:solidFill>
              </a:rPr>
              <a:t>资产入库线 / 把经验变成能力</a:t>
            </a:r>
          </a:p>
        </p:txBody>
      </p:sp>
      <p:sp>
        <p:nvSpPr>
          <p:cNvPr id="7" name="excellent-reference">
            <a:extLst xmlns:a="http://schemas.openxmlformats.org/drawingml/2006/main">
              <a:ext uri="{FF2B5EF4-FFF2-40B4-BE49-F238E27FC236}">
                <a16:creationId xmlns:a16="http://schemas.microsoft.com/office/drawing/2014/main" id="{4E2385CE-42E9-4B47-A140-01BC0C26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8" name="design-rules">
            <a:extLst xmlns:a="http://schemas.openxmlformats.org/drawingml/2006/main">
              <a:ext uri="{FF2B5EF4-FFF2-40B4-BE49-F238E27FC236}">
                <a16:creationId xmlns:a16="http://schemas.microsoft.com/office/drawing/2014/main" id="{25E74D63-01DC-41EC-9678-E866C0A0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57175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9" name="reusable-ability">
            <a:extLst xmlns:a="http://schemas.openxmlformats.org/drawingml/2006/main">
              <a:ext uri="{FF2B5EF4-FFF2-40B4-BE49-F238E27FC236}">
                <a16:creationId xmlns:a16="http://schemas.microsoft.com/office/drawing/2014/main" id="{E510D0E5-4EA8-4D3B-8846-61F20662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57175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0" name="user-confirm">
            <a:extLst xmlns:a="http://schemas.openxmlformats.org/drawingml/2006/main">
              <a:ext uri="{FF2B5EF4-FFF2-40B4-BE49-F238E27FC236}">
                <a16:creationId xmlns:a16="http://schemas.microsoft.com/office/drawing/2014/main" id="{F95BC18F-DC8F-4F34-8F55-229AC3C2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57175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1" name="core-asset-library">
            <a:extLst xmlns:a="http://schemas.openxmlformats.org/drawingml/2006/main">
              <a:ext uri="{FF2B5EF4-FFF2-40B4-BE49-F238E27FC236}">
                <a16:creationId xmlns:a16="http://schemas.microsoft.com/office/drawing/2014/main" id="{E2F41B89-B54A-4A4B-A691-5B944EE5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7175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569"/>
          </a:solidFill>
          <a:ln xmlns:a="http://schemas.openxmlformats.org/drawingml/2006/main" w="9525">
            <a:solidFill>
              <a:srgbClr val="234569"/>
            </a:solidFill>
            <a:prstDash val="solid"/>
          </a:ln>
        </p:spPr>
      </p:sp>
      <p:sp>
        <p:nvSpPr>
          <p:cNvPr id="12" name="s7-ref">
            <a:extLst xmlns:a="http://schemas.openxmlformats.org/drawingml/2006/main">
              <a:ext uri="{FF2B5EF4-FFF2-40B4-BE49-F238E27FC236}">
                <a16:creationId xmlns:a16="http://schemas.microsoft.com/office/drawing/2014/main" id="{AE87F14D-063E-40E0-B7B6-FBCD608F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52725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B33"/>
                </a:solidFill>
              </a:defRPr>
            </a:pPr>
            <a:r>
              <a:rPr sz="1425" b="1">
                <a:solidFill>
                  <a:srgbClr val="252B33"/>
                </a:solidFill>
              </a:rPr>
              <a:t>优秀参考</a:t>
            </a:r>
          </a:p>
        </p:txBody>
      </p:sp>
      <p:sp>
        <p:nvSpPr>
          <p:cNvPr id="13" name="s7-rules">
            <a:extLst xmlns:a="http://schemas.openxmlformats.org/drawingml/2006/main">
              <a:ext uri="{FF2B5EF4-FFF2-40B4-BE49-F238E27FC236}">
                <a16:creationId xmlns:a16="http://schemas.microsoft.com/office/drawing/2014/main" id="{F6A6E2D4-C547-4ADA-9F08-549511C4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752725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B33"/>
                </a:solidFill>
              </a:defRPr>
            </a:pPr>
            <a:r>
              <a:rPr sz="1425" b="1">
                <a:solidFill>
                  <a:srgbClr val="252B33"/>
                </a:solidFill>
              </a:rPr>
              <a:t>提炼规律</a:t>
            </a:r>
          </a:p>
        </p:txBody>
      </p:sp>
      <p:sp>
        <p:nvSpPr>
          <p:cNvPr id="14" name="s7-ability">
            <a:extLst xmlns:a="http://schemas.openxmlformats.org/drawingml/2006/main">
              <a:ext uri="{FF2B5EF4-FFF2-40B4-BE49-F238E27FC236}">
                <a16:creationId xmlns:a16="http://schemas.microsoft.com/office/drawing/2014/main" id="{52B9C13E-9D30-4BDC-ABBF-D92BF7A7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752725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B33"/>
                </a:solidFill>
              </a:defRPr>
            </a:pPr>
            <a:r>
              <a:rPr sz="1425" b="1">
                <a:solidFill>
                  <a:srgbClr val="252B33"/>
                </a:solidFill>
              </a:rPr>
              <a:t>可复用能力</a:t>
            </a:r>
          </a:p>
        </p:txBody>
      </p:sp>
      <p:sp>
        <p:nvSpPr>
          <p:cNvPr id="15" name="s7-confirm">
            <a:extLst xmlns:a="http://schemas.openxmlformats.org/drawingml/2006/main">
              <a:ext uri="{FF2B5EF4-FFF2-40B4-BE49-F238E27FC236}">
                <a16:creationId xmlns:a16="http://schemas.microsoft.com/office/drawing/2014/main" id="{9E178E02-F1D1-4A70-9289-765E4480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752725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15F91"/>
                </a:solidFill>
              </a:defRPr>
            </a:pPr>
            <a:r>
              <a:rPr sz="1425" b="1">
                <a:solidFill>
                  <a:srgbClr val="315F91"/>
                </a:solidFill>
              </a:rPr>
              <a:t>用户确认</a:t>
            </a:r>
          </a:p>
        </p:txBody>
      </p:sp>
      <p:sp>
        <p:nvSpPr>
          <p:cNvPr id="16" name="s7-core">
            <a:extLst xmlns:a="http://schemas.openxmlformats.org/drawingml/2006/main">
              <a:ext uri="{FF2B5EF4-FFF2-40B4-BE49-F238E27FC236}">
                <a16:creationId xmlns:a16="http://schemas.microsoft.com/office/drawing/2014/main" id="{552F0055-E274-4E6D-83C7-12C673BB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752725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核心资产库</a:t>
            </a:r>
          </a:p>
        </p:txBody>
      </p:sp>
      <p:cxnSp>
        <p:nvCxnSpPr>
          <p:cNvPr id="5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333625" y="29622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tailEnd type="arrow" w="sm" len="sm"/>
          </a:ln>
        </p:spPr>
      </p:cxnSp>
      <p:cxnSp>
        <p:nvCxnSpPr>
          <p:cNvPr id="5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524375" y="29622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tailEnd type="arrow" w="sm" len="sm"/>
          </a:ln>
        </p:spPr>
      </p:cxnSp>
      <p:cxnSp>
        <p:nvCxnSpPr>
          <p:cNvPr id="58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715125" y="29622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tailEnd type="arrow" w="sm" len="sm"/>
          </a:ln>
        </p:spPr>
      </p:cxnSp>
      <p:cxnSp>
        <p:nvCxnSpPr>
          <p:cNvPr id="59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905875" y="29622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tailEnd type="arrow" w="sm" len="sm"/>
          </a:ln>
        </p:spPr>
      </p:cxnSp>
      <p:sp>
        <p:nvSpPr>
          <p:cNvPr id="21" name="s7-run-label">
            <a:extLst xmlns:a="http://schemas.openxmlformats.org/drawingml/2006/main">
              <a:ext uri="{FF2B5EF4-FFF2-40B4-BE49-F238E27FC236}">
                <a16:creationId xmlns:a16="http://schemas.microsoft.com/office/drawing/2014/main" id="{FED24AD1-6BC2-4108-B620-0DBD8918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766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</a:defRPr>
            </a:pPr>
            <a:r>
              <a:rPr sz="1350" b="1">
                <a:solidFill>
                  <a:srgbClr val="315F91"/>
                </a:solidFill>
              </a:rPr>
              <a:t>正式生成线 / 只读调用能力</a:t>
            </a:r>
          </a:p>
        </p:txBody>
      </p:sp>
      <p:sp>
        <p:nvSpPr>
          <p:cNvPr id="22" name="raw-manuscript">
            <a:extLst xmlns:a="http://schemas.openxmlformats.org/drawingml/2006/main">
              <a:ext uri="{FF2B5EF4-FFF2-40B4-BE49-F238E27FC236}">
                <a16:creationId xmlns:a16="http://schemas.microsoft.com/office/drawing/2014/main" id="{541C1C28-527F-48D6-8AF0-5E3A099A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29125"/>
            <a:ext cx="204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23" name="ai-orchestration">
            <a:extLst xmlns:a="http://schemas.openxmlformats.org/drawingml/2006/main">
              <a:ext uri="{FF2B5EF4-FFF2-40B4-BE49-F238E27FC236}">
                <a16:creationId xmlns:a16="http://schemas.microsoft.com/office/drawing/2014/main" id="{1D9CDC5B-E78E-402A-BF44-A8EB5603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429125"/>
            <a:ext cx="204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24" name="select-legal-ability">
            <a:extLst xmlns:a="http://schemas.openxmlformats.org/drawingml/2006/main">
              <a:ext uri="{FF2B5EF4-FFF2-40B4-BE49-F238E27FC236}">
                <a16:creationId xmlns:a16="http://schemas.microsoft.com/office/drawing/2014/main" id="{93F5EEBB-9419-43DA-A431-0D4D1570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429125"/>
            <a:ext cx="204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5" name="deterministic-compile">
            <a:extLst xmlns:a="http://schemas.openxmlformats.org/drawingml/2006/main">
              <a:ext uri="{FF2B5EF4-FFF2-40B4-BE49-F238E27FC236}">
                <a16:creationId xmlns:a16="http://schemas.microsoft.com/office/drawing/2014/main" id="{6B88FC6F-9668-49A5-A1E6-18691F3D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29125"/>
            <a:ext cx="204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26" name="editable-output">
            <a:extLst xmlns:a="http://schemas.openxmlformats.org/drawingml/2006/main">
              <a:ext uri="{FF2B5EF4-FFF2-40B4-BE49-F238E27FC236}">
                <a16:creationId xmlns:a16="http://schemas.microsoft.com/office/drawing/2014/main" id="{50001259-D7E8-4F2D-9216-500B0CF0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429125"/>
            <a:ext cx="123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569"/>
          </a:solidFill>
          <a:ln xmlns:a="http://schemas.openxmlformats.org/drawingml/2006/main" w="9525">
            <a:solidFill>
              <a:srgbClr val="234569"/>
            </a:solidFill>
            <a:prstDash val="solid"/>
          </a:ln>
        </p:spPr>
      </p:sp>
      <p:sp>
        <p:nvSpPr>
          <p:cNvPr id="27" name="s7-raw">
            <a:extLst xmlns:a="http://schemas.openxmlformats.org/drawingml/2006/main">
              <a:ext uri="{FF2B5EF4-FFF2-40B4-BE49-F238E27FC236}">
                <a16:creationId xmlns:a16="http://schemas.microsoft.com/office/drawing/2014/main" id="{FC2186F6-C0A1-4A30-9664-5C7264D1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610100"/>
            <a:ext cx="18192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2B33"/>
                </a:solidFill>
              </a:defRPr>
            </a:pPr>
            <a:r>
              <a:rPr sz="1350" b="1">
                <a:solidFill>
                  <a:srgbClr val="252B33"/>
                </a:solidFill>
              </a:rPr>
              <a:t>原始稿件 +</a:t>
            </a:r>
          </a:p>
          <a:p xmlns:a="http://schemas.openxmlformats.org/drawingml/2006/main">
            <a:pPr algn="ctr">
              <a:defRPr sz="1350" b="1">
                <a:solidFill>
                  <a:srgbClr val="252B33"/>
                </a:solidFill>
              </a:defRPr>
            </a:pPr>
            <a:r>
              <a:rPr sz="1350" b="1">
                <a:solidFill>
                  <a:srgbClr val="252B33"/>
                </a:solidFill>
              </a:rPr>
              <a:t>组织主题</a:t>
            </a:r>
          </a:p>
        </p:txBody>
      </p:sp>
      <p:sp>
        <p:nvSpPr>
          <p:cNvPr id="28" name="s7-organize">
            <a:extLst xmlns:a="http://schemas.openxmlformats.org/drawingml/2006/main">
              <a:ext uri="{FF2B5EF4-FFF2-40B4-BE49-F238E27FC236}">
                <a16:creationId xmlns:a16="http://schemas.microsoft.com/office/drawing/2014/main" id="{C4F4FEDB-6290-486B-B3BB-84CC602B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610100"/>
            <a:ext cx="18192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2B33"/>
                </a:solidFill>
              </a:defRPr>
            </a:pPr>
            <a:r>
              <a:rPr sz="1350" b="1">
                <a:solidFill>
                  <a:srgbClr val="252B33"/>
                </a:solidFill>
              </a:rPr>
              <a:t>AI 理解与</a:t>
            </a:r>
          </a:p>
          <a:p xmlns:a="http://schemas.openxmlformats.org/drawingml/2006/main">
            <a:pPr algn="ctr">
              <a:defRPr sz="1350" b="1">
                <a:solidFill>
                  <a:srgbClr val="252B33"/>
                </a:solidFill>
              </a:defRPr>
            </a:pPr>
            <a:r>
              <a:rPr sz="1350" b="1">
                <a:solidFill>
                  <a:srgbClr val="252B33"/>
                </a:solidFill>
              </a:rPr>
              <a:t>编排</a:t>
            </a:r>
          </a:p>
        </p:txBody>
      </p:sp>
      <p:sp>
        <p:nvSpPr>
          <p:cNvPr id="29" name="s7-select">
            <a:extLst xmlns:a="http://schemas.openxmlformats.org/drawingml/2006/main">
              <a:ext uri="{FF2B5EF4-FFF2-40B4-BE49-F238E27FC236}">
                <a16:creationId xmlns:a16="http://schemas.microsoft.com/office/drawing/2014/main" id="{DA6FE10C-4EB3-4C19-A4BE-D1AA5569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610100"/>
            <a:ext cx="18192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15F91"/>
                </a:solidFill>
              </a:defRPr>
            </a:pPr>
            <a:r>
              <a:rPr sz="1350" b="1">
                <a:solidFill>
                  <a:srgbClr val="315F91"/>
                </a:solidFill>
              </a:rPr>
              <a:t>选择合法</a:t>
            </a:r>
          </a:p>
          <a:p xmlns:a="http://schemas.openxmlformats.org/drawingml/2006/main">
            <a:pPr algn="ctr">
              <a:defRPr sz="1350" b="1">
                <a:solidFill>
                  <a:srgbClr val="315F91"/>
                </a:solidFill>
              </a:defRPr>
            </a:pPr>
            <a:r>
              <a:rPr sz="1350" b="1">
                <a:solidFill>
                  <a:srgbClr val="315F91"/>
                </a:solidFill>
              </a:rPr>
              <a:t>能力</a:t>
            </a:r>
          </a:p>
        </p:txBody>
      </p:sp>
      <p:sp>
        <p:nvSpPr>
          <p:cNvPr id="30" name="s7-compile">
            <a:extLst xmlns:a="http://schemas.openxmlformats.org/drawingml/2006/main">
              <a:ext uri="{FF2B5EF4-FFF2-40B4-BE49-F238E27FC236}">
                <a16:creationId xmlns:a16="http://schemas.microsoft.com/office/drawing/2014/main" id="{E951E528-8A6A-4E97-B3BE-80FA0143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610100"/>
            <a:ext cx="18192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2B33"/>
                </a:solidFill>
              </a:defRPr>
            </a:pPr>
            <a:r>
              <a:rPr sz="1350" b="1">
                <a:solidFill>
                  <a:srgbClr val="252B33"/>
                </a:solidFill>
              </a:rPr>
              <a:t>确定性排版</a:t>
            </a:r>
          </a:p>
          <a:p xmlns:a="http://schemas.openxmlformats.org/drawingml/2006/main">
            <a:pPr algn="ctr">
              <a:defRPr sz="1350" b="1">
                <a:solidFill>
                  <a:srgbClr val="252B33"/>
                </a:solidFill>
              </a:defRPr>
            </a:pPr>
            <a:r>
              <a:rPr sz="1350" b="1">
                <a:solidFill>
                  <a:srgbClr val="252B33"/>
                </a:solidFill>
              </a:rPr>
              <a:t>与编译</a:t>
            </a:r>
          </a:p>
        </p:txBody>
      </p:sp>
      <p:sp>
        <p:nvSpPr>
          <p:cNvPr id="31" name="s7-out">
            <a:extLst xmlns:a="http://schemas.openxmlformats.org/drawingml/2006/main">
              <a:ext uri="{FF2B5EF4-FFF2-40B4-BE49-F238E27FC236}">
                <a16:creationId xmlns:a16="http://schemas.microsoft.com/office/drawing/2014/main" id="{0081D9B7-DEC4-4BD7-B30F-94835FCD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4610100"/>
            <a:ext cx="1009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原生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PPTX</a:t>
            </a:r>
          </a:p>
        </p:txBody>
      </p:sp>
      <p:cxnSp>
        <p:nvCxnSpPr>
          <p:cNvPr id="71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2571750" y="48196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tailEnd type="arrow" w="sm" len="sm"/>
          </a:ln>
        </p:spPr>
      </p:cxnSp>
      <p:cxnSp>
        <p:nvCxnSpPr>
          <p:cNvPr id="72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5048250" y="48196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tailEnd type="arrow" w="sm" len="sm"/>
          </a:ln>
        </p:spPr>
      </p:cxnSp>
      <p:cxnSp>
        <p:nvCxnSpPr>
          <p:cNvPr id="73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7524750" y="48196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tailEnd type="arrow" w="sm" len="sm"/>
          </a:ln>
        </p:spPr>
      </p:cxnSp>
      <p:cxnSp>
        <p:nvCxnSpPr>
          <p:cNvPr id="74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0001250" y="48196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tailEnd type="arrow" w="sm" len="sm"/>
          </a:ln>
        </p:spPr>
      </p:cxnSp>
      <p:cxnSp>
        <p:nvCxnSpPr>
          <p:cNvPr id="75" name=""/>
          <p:cNvCxnSpPr>
            <a:stCxn xmlns:a="http://schemas.openxmlformats.org/drawingml/2006/main" id="11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 flipH="1">
            <a:off x="6500813" y="3352800"/>
            <a:ext cx="3976688" cy="1076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tailEnd type="arrow" w="sm" len="sm"/>
          </a:ln>
        </p:spPr>
      </p:cxnSp>
      <p:sp>
        <p:nvSpPr>
          <p:cNvPr id="37" name="s7-fallback">
            <a:extLst xmlns:a="http://schemas.openxmlformats.org/drawingml/2006/main">
              <a:ext uri="{FF2B5EF4-FFF2-40B4-BE49-F238E27FC236}">
                <a16:creationId xmlns:a16="http://schemas.microsoft.com/office/drawing/2014/main" id="{2ECA840C-6B0E-4175-B89B-05B232F6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626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07780"/>
                </a:solidFill>
              </a:defRPr>
            </a:pPr>
            <a:r>
              <a:rPr sz="1275" b="0">
                <a:solidFill>
                  <a:srgbClr val="707780"/>
                </a:solidFill>
              </a:rPr>
              <a:t>没有合适结构 → 已登记的简单文字排版 / 拆页；缺口只向用户说明，由用户决定是否另行入库。</a:t>
            </a:r>
          </a:p>
        </p:txBody>
      </p:sp>
      <p:sp>
        <p:nvSpPr>
          <p:cNvPr id="38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F2B8F107-3C32-4B03-8241-111B6948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39" name="footer-7">
            <a:extLst xmlns:a="http://schemas.openxmlformats.org/drawingml/2006/main">
              <a:ext uri="{FF2B5EF4-FFF2-40B4-BE49-F238E27FC236}">
                <a16:creationId xmlns:a16="http://schemas.microsoft.com/office/drawing/2014/main" id="{CF3CD3D6-542E-4F20-AA4A-8A9CDFF9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</a:defRPr>
            </a:pPr>
            <a:r>
              <a:rPr sz="900" b="0">
                <a:solidFill>
                  <a:srgbClr val="707780"/>
                </a:solidFill>
              </a:rPr>
              <a:t>PPagenT 产品叙事</a:t>
            </a:r>
          </a:p>
        </p:txBody>
      </p:sp>
    </p:spTree>
    <p:extLst>
      <p:ext uri="{BB962C8B-B14F-4D97-AF65-F5344CB8AC3E}">
        <p14:creationId xmlns:p14="http://schemas.microsoft.com/office/powerpoint/2010/main" val="855547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8">
            <a:extLst xmlns:a="http://schemas.openxmlformats.org/drawingml/2006/main">
              <a:ext uri="{FF2B5EF4-FFF2-40B4-BE49-F238E27FC236}">
                <a16:creationId xmlns:a16="http://schemas.microsoft.com/office/drawing/2014/main" id="{DA5D4AA9-9B60-4F40-8F77-540280AB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5F91"/>
                </a:solidFill>
              </a:defRPr>
            </a:pPr>
            <a:r>
              <a:rPr sz="900" b="1">
                <a:solidFill>
                  <a:srgbClr val="315F91"/>
                </a:solidFill>
              </a:rPr>
              <a:t>PPAGENT / 产品叙事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93E89042-EEBA-4454-8F83-3A49F349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3400"/>
            <a:ext cx="1114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B33"/>
                </a:solidFill>
              </a:defRPr>
            </a:pPr>
            <a:r>
              <a:rPr sz="2250" b="1">
                <a:solidFill>
                  <a:srgbClr val="252B33"/>
                </a:solidFill>
              </a:rPr>
              <a:t>把昂贵的视觉理解前移，运行期只支付必要成本</a:t>
            </a:r>
          </a:p>
        </p:txBody>
      </p:sp>
      <p:sp>
        <p:nvSpPr>
          <p:cNvPr id="3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89A321D9-1ECB-4D2A-9731-DFB98186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811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21FCFB3F-0738-497B-8991-473A3366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76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07780"/>
                </a:solidFill>
              </a:defRPr>
            </a:pPr>
            <a:r>
              <a:rPr sz="900" b="0">
                <a:solidFill>
                  <a:srgbClr val="707780"/>
                </a:solidFill>
              </a:rPr>
              <a:t>08</a:t>
            </a:r>
          </a:p>
        </p:txBody>
      </p:sp>
      <p:sp>
        <p:nvSpPr>
          <p:cNvPr id="5" name="s8-lead">
            <a:extLst xmlns:a="http://schemas.openxmlformats.org/drawingml/2006/main">
              <a:ext uri="{FF2B5EF4-FFF2-40B4-BE49-F238E27FC236}">
                <a16:creationId xmlns:a16="http://schemas.microsoft.com/office/drawing/2014/main" id="{473E3984-DE2B-4C88-BC23-2928A526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视觉理解没有消失：它从每次交付都要重新支付的在线成本，变成一次建设、多次复用的离线资产。</a:t>
            </a:r>
          </a:p>
        </p:txBody>
      </p:sp>
      <p:sp>
        <p:nvSpPr>
          <p:cNvPr id="6" name="s8-build">
            <a:extLst xmlns:a="http://schemas.openxmlformats.org/drawingml/2006/main">
              <a:ext uri="{FF2B5EF4-FFF2-40B4-BE49-F238E27FC236}">
                <a16:creationId xmlns:a16="http://schemas.microsoft.com/office/drawing/2014/main" id="{57EC9462-6004-4F7C-8E6A-362867AC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90750"/>
            <a:ext cx="5048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7" name="s8-build-h">
            <a:extLst xmlns:a="http://schemas.openxmlformats.org/drawingml/2006/main">
              <a:ext uri="{FF2B5EF4-FFF2-40B4-BE49-F238E27FC236}">
                <a16:creationId xmlns:a16="http://schemas.microsoft.com/office/drawing/2014/main" id="{1C2DE150-50D2-442C-89EB-D56BB0B0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574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F91"/>
                </a:solidFill>
              </a:defRPr>
            </a:pPr>
            <a:r>
              <a:rPr sz="1650" b="1">
                <a:solidFill>
                  <a:srgbClr val="315F91"/>
                </a:solidFill>
              </a:rPr>
              <a:t>建设期 / 一次投入</a:t>
            </a:r>
          </a:p>
        </p:txBody>
      </p:sp>
      <p:sp>
        <p:nvSpPr>
          <p:cNvPr id="8" name="s8-build-b">
            <a:extLst xmlns:a="http://schemas.openxmlformats.org/drawingml/2006/main">
              <a:ext uri="{FF2B5EF4-FFF2-40B4-BE49-F238E27FC236}">
                <a16:creationId xmlns:a16="http://schemas.microsoft.com/office/drawing/2014/main" id="{03FFDBC7-2C7A-4D2C-8797-AD01DFFE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48000"/>
            <a:ext cx="4095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B33"/>
                </a:solidFill>
              </a:defRPr>
            </a:pPr>
            <a:r>
              <a:rPr sz="1500" b="0">
                <a:solidFill>
                  <a:srgbClr val="252B33"/>
                </a:solidFill>
              </a:rPr>
              <a:t>筛选优秀页面</a:t>
            </a:r>
          </a:p>
          <a:p xmlns:a="http://schemas.openxmlformats.org/drawingml/2006/main">
            <a:pPr algn="l">
              <a:defRPr sz="1500" b="0">
                <a:solidFill>
                  <a:srgbClr val="252B33"/>
                </a:solidFill>
              </a:defRPr>
            </a:pPr>
            <a:r>
              <a:rPr sz="1500" b="0">
                <a:solidFill>
                  <a:srgbClr val="252B33"/>
                </a:solidFill>
              </a:rPr>
              <a:t>理解为何有效</a:t>
            </a:r>
          </a:p>
          <a:p xmlns:a="http://schemas.openxmlformats.org/drawingml/2006/main">
            <a:pPr algn="l">
              <a:defRPr sz="1500" b="0">
                <a:solidFill>
                  <a:srgbClr val="252B33"/>
                </a:solidFill>
              </a:defRPr>
            </a:pPr>
            <a:r>
              <a:rPr sz="1500" b="0">
                <a:solidFill>
                  <a:srgbClr val="252B33"/>
                </a:solidFill>
              </a:rPr>
              <a:t>内容、图片、数量参数化</a:t>
            </a:r>
          </a:p>
          <a:p xmlns:a="http://schemas.openxmlformats.org/drawingml/2006/main">
            <a:pPr algn="l">
              <a:defRPr sz="1500" b="0">
                <a:solidFill>
                  <a:srgbClr val="252B33"/>
                </a:solidFill>
              </a:defRPr>
            </a:pPr>
            <a:r>
              <a:rPr sz="1500" b="0">
                <a:solidFill>
                  <a:srgbClr val="252B33"/>
                </a:solidFill>
              </a:rPr>
              <a:t>验证不同状态</a:t>
            </a:r>
          </a:p>
          <a:p xmlns:a="http://schemas.openxmlformats.org/drawingml/2006/main">
            <a:pPr algn="l">
              <a:defRPr sz="1500" b="0">
                <a:solidFill>
                  <a:srgbClr val="252B33"/>
                </a:solidFill>
              </a:defRPr>
            </a:pPr>
            <a:r>
              <a:rPr sz="1500" b="0">
                <a:solidFill>
                  <a:srgbClr val="252B33"/>
                </a:solidFill>
              </a:rPr>
              <a:t>用户确认进入正式资产库</a:t>
            </a:r>
          </a:p>
        </p:txBody>
      </p:sp>
      <p:sp>
        <p:nvSpPr>
          <p:cNvPr id="9" name="s8-build-cost">
            <a:extLst xmlns:a="http://schemas.openxmlformats.org/drawingml/2006/main">
              <a:ext uri="{FF2B5EF4-FFF2-40B4-BE49-F238E27FC236}">
                <a16:creationId xmlns:a16="http://schemas.microsoft.com/office/drawing/2014/main" id="{B8221D06-EC74-449B-9EA2-2BBD99DE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1012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7780"/>
                </a:solidFill>
              </a:defRPr>
            </a:pPr>
            <a:r>
              <a:rPr sz="1200" b="0">
                <a:solidFill>
                  <a:srgbClr val="707780"/>
                </a:solidFill>
              </a:rPr>
              <a:t>视觉模型可用于资产理解与审查。</a:t>
            </a:r>
          </a:p>
        </p:txBody>
      </p:sp>
      <p:sp>
        <p:nvSpPr>
          <p:cNvPr id="10" name="s8-run">
            <a:extLst xmlns:a="http://schemas.openxmlformats.org/drawingml/2006/main">
              <a:ext uri="{FF2B5EF4-FFF2-40B4-BE49-F238E27FC236}">
                <a16:creationId xmlns:a16="http://schemas.microsoft.com/office/drawing/2014/main" id="{B87525C7-F527-4E82-9B3C-190742C9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55721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1" name="s8-run-h">
            <a:extLst xmlns:a="http://schemas.openxmlformats.org/drawingml/2006/main">
              <a:ext uri="{FF2B5EF4-FFF2-40B4-BE49-F238E27FC236}">
                <a16:creationId xmlns:a16="http://schemas.microsoft.com/office/drawing/2014/main" id="{A50497B1-C382-4A8C-A652-001EE861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2B33"/>
                </a:solidFill>
              </a:defRPr>
            </a:pPr>
            <a:r>
              <a:rPr sz="1650" b="1">
                <a:solidFill>
                  <a:srgbClr val="252B33"/>
                </a:solidFill>
              </a:rPr>
              <a:t>正式生成期 / 反复复用</a:t>
            </a:r>
          </a:p>
        </p:txBody>
      </p:sp>
      <p:sp>
        <p:nvSpPr>
          <p:cNvPr id="12" name="s8-run-b">
            <a:extLst xmlns:a="http://schemas.openxmlformats.org/drawingml/2006/main">
              <a:ext uri="{FF2B5EF4-FFF2-40B4-BE49-F238E27FC236}">
                <a16:creationId xmlns:a16="http://schemas.microsoft.com/office/drawing/2014/main" id="{6F54B43B-2AFA-4238-B8ED-C628831A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4800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B33"/>
                </a:solidFill>
              </a:defRPr>
            </a:pPr>
            <a:r>
              <a:rPr sz="1500" b="0">
                <a:solidFill>
                  <a:srgbClr val="252B33"/>
                </a:solidFill>
              </a:rPr>
              <a:t>模型：理解、分类、路由、填参</a:t>
            </a:r>
          </a:p>
          <a:p xmlns:a="http://schemas.openxmlformats.org/drawingml/2006/main">
            <a:pPr algn="l">
              <a:defRPr sz="1500" b="0">
                <a:solidFill>
                  <a:srgbClr val="252B33"/>
                </a:solidFill>
              </a:defRPr>
            </a:pPr>
            <a:r>
              <a:rPr sz="1500" b="0">
                <a:solidFill>
                  <a:srgbClr val="252B33"/>
                </a:solidFill>
              </a:rPr>
              <a:t>代码：确定性绘制与检查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252B33"/>
                </a:solidFill>
              </a:defRPr>
            </a:pPr>
            <a:r>
              <a:rPr sz="1500" b="0">
                <a:solidFill>
                  <a:srgbClr val="252B33"/>
                </a:solidFill>
              </a:rPr>
              <a:t>不要求视觉大模型重新设计每一页。</a:t>
            </a:r>
          </a:p>
          <a:p xmlns:a="http://schemas.openxmlformats.org/drawingml/2006/main">
            <a:pPr algn="l">
              <a:defRPr sz="1500" b="0">
                <a:solidFill>
                  <a:srgbClr val="252B33"/>
                </a:solidFill>
              </a:defRPr>
            </a:pPr>
            <a:r>
              <a:rPr sz="1500" b="0">
                <a:solidFill>
                  <a:srgbClr val="252B33"/>
                </a:solidFill>
              </a:rPr>
              <a:t>低成本纯文字模型承担有限任务，稳定性在真实任务中持续校准。</a:t>
            </a:r>
          </a:p>
        </p:txBody>
      </p:sp>
      <p:sp>
        <p:nvSpPr>
          <p:cNvPr id="13" name="s8-run-cost">
            <a:extLst xmlns:a="http://schemas.openxmlformats.org/drawingml/2006/main">
              <a:ext uri="{FF2B5EF4-FFF2-40B4-BE49-F238E27FC236}">
                <a16:creationId xmlns:a16="http://schemas.microsoft.com/office/drawing/2014/main" id="{3217B056-801A-44E9-BC56-ED7057BE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101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7780"/>
                </a:solidFill>
              </a:defRPr>
            </a:pPr>
            <a:r>
              <a:rPr sz="1200" b="0">
                <a:solidFill>
                  <a:srgbClr val="707780"/>
                </a:solidFill>
              </a:rPr>
              <a:t>视觉模型不成为每次交付的必要成本。</a:t>
            </a:r>
          </a:p>
        </p:txBody>
      </p:sp>
      <p:sp>
        <p:nvSpPr>
          <p:cNvPr id="14" name="s8-tail">
            <a:extLst xmlns:a="http://schemas.openxmlformats.org/drawingml/2006/main">
              <a:ext uri="{FF2B5EF4-FFF2-40B4-BE49-F238E27FC236}">
                <a16:creationId xmlns:a16="http://schemas.microsoft.com/office/drawing/2014/main" id="{7DD17700-6ED5-433C-98A0-4C6F9BA6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34569"/>
                </a:solidFill>
              </a:defRPr>
            </a:pPr>
            <a:r>
              <a:rPr sz="1650" b="1">
                <a:solidFill>
                  <a:srgbClr val="234569"/>
                </a:solidFill>
              </a:rPr>
              <a:t>目标：把一次性手工业变成可以重复运行的标准化生产过程。</a:t>
            </a:r>
          </a:p>
        </p:txBody>
      </p:sp>
      <p:sp>
        <p:nvSpPr>
          <p:cNvPr id="15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8E34909B-78B8-4BDA-8BF6-FB4019C8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6" name="footer-8">
            <a:extLst xmlns:a="http://schemas.openxmlformats.org/drawingml/2006/main">
              <a:ext uri="{FF2B5EF4-FFF2-40B4-BE49-F238E27FC236}">
                <a16:creationId xmlns:a16="http://schemas.microsoft.com/office/drawing/2014/main" id="{B80E22A9-6A8A-411F-B4B6-10933841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</a:defRPr>
            </a:pPr>
            <a:r>
              <a:rPr sz="900" b="0">
                <a:solidFill>
                  <a:srgbClr val="707780"/>
                </a:solidFill>
              </a:rPr>
              <a:t>PPagenT 产品叙事</a:t>
            </a:r>
          </a:p>
        </p:txBody>
      </p:sp>
    </p:spTree>
    <p:extLst>
      <p:ext uri="{BB962C8B-B14F-4D97-AF65-F5344CB8AC3E}">
        <p14:creationId xmlns:p14="http://schemas.microsoft.com/office/powerpoint/2010/main" val="6321769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9">
            <a:extLst xmlns:a="http://schemas.openxmlformats.org/drawingml/2006/main">
              <a:ext uri="{FF2B5EF4-FFF2-40B4-BE49-F238E27FC236}">
                <a16:creationId xmlns:a16="http://schemas.microsoft.com/office/drawing/2014/main" id="{9CD7EBC8-B696-40D9-AFBF-D4A04624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5F91"/>
                </a:solidFill>
              </a:defRPr>
            </a:pPr>
            <a:r>
              <a:rPr sz="900" b="1">
                <a:solidFill>
                  <a:srgbClr val="315F91"/>
                </a:solidFill>
              </a:rPr>
              <a:t>PPAGENT / 产品叙事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D21AA82B-9556-4CF6-BC69-C7ACA812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3400"/>
            <a:ext cx="1114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B33"/>
                </a:solidFill>
              </a:defRPr>
            </a:pPr>
            <a:r>
              <a:rPr sz="2250" b="1">
                <a:solidFill>
                  <a:srgbClr val="252B33"/>
                </a:solidFill>
              </a:rPr>
              <a:t>真正积累的是表达能力的边界，不是一万个模板</a:t>
            </a:r>
          </a:p>
        </p:txBody>
      </p:sp>
      <p:sp>
        <p:nvSpPr>
          <p:cNvPr id="3" name="title-rule-9">
            <a:extLst xmlns:a="http://schemas.openxmlformats.org/drawingml/2006/main">
              <a:ext uri="{FF2B5EF4-FFF2-40B4-BE49-F238E27FC236}">
                <a16:creationId xmlns:a16="http://schemas.microsoft.com/office/drawing/2014/main" id="{33A72D71-B6B0-4F57-9151-06E2A533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811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1FFA6E57-9CDA-4AB3-B5A4-3A3FDDC3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76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07780"/>
                </a:solidFill>
              </a:defRPr>
            </a:pPr>
            <a:r>
              <a:rPr sz="900" b="0">
                <a:solidFill>
                  <a:srgbClr val="707780"/>
                </a:solidFill>
              </a:rPr>
              <a:t>09</a:t>
            </a:r>
          </a:p>
        </p:txBody>
      </p:sp>
      <p:sp>
        <p:nvSpPr>
          <p:cNvPr id="5" name="s9-lead">
            <a:extLst xmlns:a="http://schemas.openxmlformats.org/drawingml/2006/main">
              <a:ext uri="{FF2B5EF4-FFF2-40B4-BE49-F238E27FC236}">
                <a16:creationId xmlns:a16="http://schemas.microsoft.com/office/drawing/2014/main" id="{CE893C7F-4D82-411D-99F0-1886361B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</a:defRPr>
            </a:pPr>
            <a:r>
              <a:rPr sz="1350" b="0">
                <a:solidFill>
                  <a:srgbClr val="252B33"/>
                </a:solidFill>
              </a:rPr>
              <a:t>原页面有三个观点，新稿件可能有四个；原页面每项十个字，新内容可能每项六十个字。静态模板无法穷尽变化。</a:t>
            </a:r>
          </a:p>
        </p:txBody>
      </p:sp>
      <p:sp>
        <p:nvSpPr>
          <p:cNvPr id="6" name="s9-left">
            <a:extLst xmlns:a="http://schemas.openxmlformats.org/drawingml/2006/main">
              <a:ext uri="{FF2B5EF4-FFF2-40B4-BE49-F238E27FC236}">
                <a16:creationId xmlns:a16="http://schemas.microsoft.com/office/drawing/2014/main" id="{3D0FC1AD-ADCA-48B9-A23A-02A6CB2D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90750"/>
            <a:ext cx="4286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7" name="s9-left-h">
            <a:extLst xmlns:a="http://schemas.openxmlformats.org/drawingml/2006/main">
              <a:ext uri="{FF2B5EF4-FFF2-40B4-BE49-F238E27FC236}">
                <a16:creationId xmlns:a16="http://schemas.microsoft.com/office/drawing/2014/main" id="{F7302E7F-28B9-4A68-B3E4-B8926B08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F91"/>
                </a:solidFill>
              </a:defRPr>
            </a:pPr>
            <a:r>
              <a:rPr sz="1650" b="1">
                <a:solidFill>
                  <a:srgbClr val="315F91"/>
                </a:solidFill>
              </a:rPr>
              <a:t>能力要回答</a:t>
            </a:r>
          </a:p>
        </p:txBody>
      </p:sp>
      <p:sp>
        <p:nvSpPr>
          <p:cNvPr id="8" name="s9-left-b">
            <a:extLst xmlns:a="http://schemas.openxmlformats.org/drawingml/2006/main">
              <a:ext uri="{FF2B5EF4-FFF2-40B4-BE49-F238E27FC236}">
                <a16:creationId xmlns:a16="http://schemas.microsoft.com/office/drawing/2014/main" id="{80F25103-5ECE-4EB7-A6FD-695CA0D2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3619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什么内容适合怎样表达？</a:t>
            </a:r>
          </a:p>
          <a:p xmlns:a="http://schemas.openxmlformats.org/drawingml/2006/main">
            <a:pPr algn="l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一个版式能处理多少内容？</a:t>
            </a:r>
          </a:p>
          <a:p xmlns:a="http://schemas.openxmlformats.org/drawingml/2006/main">
            <a:pPr algn="l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数量变化时怎样重新排布？</a:t>
            </a:r>
          </a:p>
          <a:p xmlns:a="http://schemas.openxmlformats.org/drawingml/2006/main">
            <a:pPr algn="l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超过边界：换样式、拆页，还是退化？</a:t>
            </a:r>
          </a:p>
          <a:p xmlns:a="http://schemas.openxmlformats.org/drawingml/2006/main">
            <a:pPr algn="l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哪些结构即使能画，也不应该使用？</a:t>
            </a:r>
          </a:p>
        </p:txBody>
      </p:sp>
      <p:sp>
        <p:nvSpPr>
          <p:cNvPr id="9" name="s9-right">
            <a:extLst xmlns:a="http://schemas.openxmlformats.org/drawingml/2006/main">
              <a:ext uri="{FF2B5EF4-FFF2-40B4-BE49-F238E27FC236}">
                <a16:creationId xmlns:a16="http://schemas.microsoft.com/office/drawing/2014/main" id="{76A3F7F8-F39C-48C9-965C-E53B45CA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190750"/>
            <a:ext cx="6381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0" name="s9-right-h">
            <a:extLst xmlns:a="http://schemas.openxmlformats.org/drawingml/2006/main">
              <a:ext uri="{FF2B5EF4-FFF2-40B4-BE49-F238E27FC236}">
                <a16:creationId xmlns:a16="http://schemas.microsoft.com/office/drawing/2014/main" id="{3A64A192-2657-497E-8580-93619133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4574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F91"/>
                </a:solidFill>
              </a:defRPr>
            </a:pPr>
            <a:r>
              <a:rPr sz="1650" b="1">
                <a:solidFill>
                  <a:srgbClr val="315F91"/>
                </a:solidFill>
              </a:rPr>
              <a:t>经过验证的表达能力包，形成真正壁垒</a:t>
            </a:r>
          </a:p>
        </p:txBody>
      </p:sp>
      <p:sp>
        <p:nvSpPr>
          <p:cNvPr id="11" name="s9-right-b">
            <a:extLst xmlns:a="http://schemas.openxmlformats.org/drawingml/2006/main">
              <a:ext uri="{FF2B5EF4-FFF2-40B4-BE49-F238E27FC236}">
                <a16:creationId xmlns:a16="http://schemas.microsoft.com/office/drawing/2014/main" id="{019E250F-CCAD-4EFC-9FF0-C1EBF193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095625"/>
            <a:ext cx="5524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B33"/>
                </a:solidFill>
              </a:defRPr>
            </a:pPr>
            <a:r>
              <a:rPr sz="1500" b="0">
                <a:solidFill>
                  <a:srgbClr val="252B33"/>
                </a:solidFill>
              </a:rPr>
              <a:t>积累多少真正有效的表达能力</a:t>
            </a:r>
          </a:p>
          <a:p xmlns:a="http://schemas.openxmlformats.org/drawingml/2006/main">
            <a:pPr algn="l">
              <a:defRPr sz="1500" b="0">
                <a:solidFill>
                  <a:srgbClr val="252B33"/>
                </a:solidFill>
              </a:defRPr>
            </a:pPr>
            <a:r>
              <a:rPr sz="1500" b="0">
                <a:solidFill>
                  <a:srgbClr val="252B33"/>
                </a:solidFill>
              </a:rPr>
              <a:t>能否可靠路由到正确能力</a:t>
            </a:r>
          </a:p>
          <a:p xmlns:a="http://schemas.openxmlformats.org/drawingml/2006/main">
            <a:pPr algn="l">
              <a:defRPr sz="1500" b="0">
                <a:solidFill>
                  <a:srgbClr val="252B33"/>
                </a:solidFill>
              </a:defRPr>
            </a:pPr>
            <a:r>
              <a:rPr sz="1500" b="0">
                <a:solidFill>
                  <a:srgbClr val="252B33"/>
                </a:solidFill>
              </a:rPr>
              <a:t>是否知道每种能力的容量、变化方式和失败边界</a:t>
            </a:r>
          </a:p>
          <a:p xmlns:a="http://schemas.openxmlformats.org/drawingml/2006/main">
            <a:pPr algn="l">
              <a:defRPr sz="1500" b="0">
                <a:solidFill>
                  <a:srgbClr val="252B33"/>
                </a:solidFill>
              </a:defRPr>
            </a:pPr>
            <a:r>
              <a:rPr sz="1500" b="0">
                <a:solidFill>
                  <a:srgbClr val="252B33"/>
                </a:solidFill>
              </a:rPr>
              <a:t>能否稳定生成符合组织规范、原生可编辑的结果</a:t>
            </a:r>
          </a:p>
        </p:txBody>
      </p:sp>
      <p:sp>
        <p:nvSpPr>
          <p:cNvPr id="12" name="s9-tail">
            <a:extLst xmlns:a="http://schemas.openxmlformats.org/drawingml/2006/main">
              <a:ext uri="{FF2B5EF4-FFF2-40B4-BE49-F238E27FC236}">
                <a16:creationId xmlns:a16="http://schemas.microsoft.com/office/drawing/2014/main" id="{551D0E35-1FE7-4613-999F-74C44985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34569"/>
                </a:solidFill>
              </a:defRPr>
            </a:pPr>
            <a:r>
              <a:rPr sz="1575" b="1">
                <a:solidFill>
                  <a:srgbClr val="234569"/>
                </a:solidFill>
              </a:rPr>
              <a:t>模型会继续变强、变便宜；真实任务验证过的表达经验不会自动出现。</a:t>
            </a:r>
          </a:p>
        </p:txBody>
      </p:sp>
      <p:sp>
        <p:nvSpPr>
          <p:cNvPr id="13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F3B9FA22-E252-420B-BE30-D0A977C1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4" name="footer-9">
            <a:extLst xmlns:a="http://schemas.openxmlformats.org/drawingml/2006/main">
              <a:ext uri="{FF2B5EF4-FFF2-40B4-BE49-F238E27FC236}">
                <a16:creationId xmlns:a16="http://schemas.microsoft.com/office/drawing/2014/main" id="{B6395C87-1377-493D-8BEA-612FB2E0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</a:defRPr>
            </a:pPr>
            <a:r>
              <a:rPr sz="900" b="0">
                <a:solidFill>
                  <a:srgbClr val="707780"/>
                </a:solidFill>
              </a:rPr>
              <a:t>PPagenT 产品叙事</a:t>
            </a:r>
          </a:p>
        </p:txBody>
      </p:sp>
    </p:spTree>
    <p:extLst>
      <p:ext uri="{BB962C8B-B14F-4D97-AF65-F5344CB8AC3E}">
        <p14:creationId xmlns:p14="http://schemas.microsoft.com/office/powerpoint/2010/main" val="4119363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10">
            <a:extLst xmlns:a="http://schemas.openxmlformats.org/drawingml/2006/main">
              <a:ext uri="{FF2B5EF4-FFF2-40B4-BE49-F238E27FC236}">
                <a16:creationId xmlns:a16="http://schemas.microsoft.com/office/drawing/2014/main" id="{82B8652F-B8DA-4A69-AEFB-172E66B0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5F91"/>
                </a:solidFill>
              </a:defRPr>
            </a:pPr>
            <a:r>
              <a:rPr sz="900" b="1">
                <a:solidFill>
                  <a:srgbClr val="315F91"/>
                </a:solidFill>
              </a:rPr>
              <a:t>PPAGENT / 产品叙事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A86AC7EF-3813-4DF7-8639-99E61405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3400"/>
            <a:ext cx="1114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B33"/>
                </a:solidFill>
              </a:defRPr>
            </a:pPr>
            <a:r>
              <a:rPr sz="2250" b="1">
                <a:solidFill>
                  <a:srgbClr val="252B33"/>
                </a:solidFill>
              </a:rPr>
              <a:t>从东北大学开始，能力可以扩展到更多组织</a:t>
            </a:r>
          </a:p>
        </p:txBody>
      </p:sp>
      <p:sp>
        <p:nvSpPr>
          <p:cNvPr id="3" name="title-rule-10">
            <a:extLst xmlns:a="http://schemas.openxmlformats.org/drawingml/2006/main">
              <a:ext uri="{FF2B5EF4-FFF2-40B4-BE49-F238E27FC236}">
                <a16:creationId xmlns:a16="http://schemas.microsoft.com/office/drawing/2014/main" id="{031E0B6A-F4CD-404E-A24E-62F1AEF0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811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9FB0ADC1-75D1-4501-94C6-6130C126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76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07780"/>
                </a:solidFill>
              </a:defRPr>
            </a:pPr>
            <a:r>
              <a:rPr sz="900" b="0">
                <a:solidFill>
                  <a:srgbClr val="707780"/>
                </a:solidFill>
              </a:rPr>
              <a:t>10</a:t>
            </a:r>
          </a:p>
        </p:txBody>
      </p:sp>
      <p:sp>
        <p:nvSpPr>
          <p:cNvPr id="5" name="s10-origin">
            <a:extLst xmlns:a="http://schemas.openxmlformats.org/drawingml/2006/main">
              <a:ext uri="{FF2B5EF4-FFF2-40B4-BE49-F238E27FC236}">
                <a16:creationId xmlns:a16="http://schemas.microsoft.com/office/drawing/2014/main" id="{F02BCDF4-E28F-443B-83C4-B5D1FC27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30003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6" name="s10-origin-h">
            <a:extLst xmlns:a="http://schemas.openxmlformats.org/drawingml/2006/main">
              <a:ext uri="{FF2B5EF4-FFF2-40B4-BE49-F238E27FC236}">
                <a16:creationId xmlns:a16="http://schemas.microsoft.com/office/drawing/2014/main" id="{5F4D1065-947E-478F-B0CB-5DC9E341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47875"/>
            <a:ext cx="2428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15F91"/>
                </a:solidFill>
              </a:defRPr>
            </a:pPr>
            <a:r>
              <a:rPr sz="2025" b="1">
                <a:solidFill>
                  <a:srgbClr val="315F91"/>
                </a:solidFill>
              </a:rPr>
              <a:t>东北大学</a:t>
            </a:r>
          </a:p>
          <a:p xmlns:a="http://schemas.openxmlformats.org/drawingml/2006/main">
            <a:pPr algn="l">
              <a:defRPr sz="2025" b="1">
                <a:solidFill>
                  <a:srgbClr val="315F91"/>
                </a:solidFill>
              </a:defRPr>
            </a:pPr>
            <a:r>
              <a:rPr sz="2025" b="1">
                <a:solidFill>
                  <a:srgbClr val="315F91"/>
                </a:solidFill>
              </a:rPr>
              <a:t>首个正式落地场景</a:t>
            </a:r>
          </a:p>
        </p:txBody>
      </p:sp>
      <p:sp>
        <p:nvSpPr>
          <p:cNvPr id="7" name="s10-origin-b">
            <a:extLst xmlns:a="http://schemas.openxmlformats.org/drawingml/2006/main">
              <a:ext uri="{FF2B5EF4-FFF2-40B4-BE49-F238E27FC236}">
                <a16:creationId xmlns:a16="http://schemas.microsoft.com/office/drawing/2014/main" id="{09640FB7-ACDF-4524-8006-7594120E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2428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明确的视觉规范</a:t>
            </a:r>
          </a:p>
          <a:p xmlns:a="http://schemas.openxmlformats.org/drawingml/2006/main">
            <a:pPr algn="l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持续发生的汇报需求</a:t>
            </a:r>
          </a:p>
          <a:p xmlns:a="http://schemas.openxmlformats.org/drawingml/2006/main">
            <a:pPr algn="l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真实可检验的使用边界</a:t>
            </a:r>
          </a:p>
        </p:txBody>
      </p:sp>
      <p:sp>
        <p:nvSpPr>
          <p:cNvPr id="8" name="s10-theme">
            <a:extLst xmlns:a="http://schemas.openxmlformats.org/drawingml/2006/main">
              <a:ext uri="{FF2B5EF4-FFF2-40B4-BE49-F238E27FC236}">
                <a16:creationId xmlns:a16="http://schemas.microsoft.com/office/drawing/2014/main" id="{645691E5-FECE-45EB-B631-550FE4B7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1450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9" name="s10-theme-h">
            <a:extLst xmlns:a="http://schemas.openxmlformats.org/drawingml/2006/main">
              <a:ext uri="{FF2B5EF4-FFF2-40B4-BE49-F238E27FC236}">
                <a16:creationId xmlns:a16="http://schemas.microsoft.com/office/drawing/2014/main" id="{B7E69E2D-13E9-4F9B-BBAA-9DC438FD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478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2B33"/>
                </a:solidFill>
              </a:defRPr>
            </a:pPr>
            <a:r>
              <a:rPr sz="1650" b="1">
                <a:solidFill>
                  <a:srgbClr val="252B33"/>
                </a:solidFill>
              </a:rPr>
              <a:t>主题配置可替换</a:t>
            </a:r>
          </a:p>
        </p:txBody>
      </p:sp>
      <p:sp>
        <p:nvSpPr>
          <p:cNvPr id="10" name="s10-theme-b">
            <a:extLst xmlns:a="http://schemas.openxmlformats.org/drawingml/2006/main">
              <a:ext uri="{FF2B5EF4-FFF2-40B4-BE49-F238E27FC236}">
                <a16:creationId xmlns:a16="http://schemas.microsoft.com/office/drawing/2014/main" id="{F34778A2-9B20-4C6C-A10A-47CAF61E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62250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B33"/>
                </a:solidFill>
              </a:defRPr>
            </a:pPr>
            <a:r>
              <a:rPr sz="1575" b="0">
                <a:solidFill>
                  <a:srgbClr val="252B33"/>
                </a:solidFill>
              </a:rPr>
              <a:t>学校或组织的</a:t>
            </a:r>
          </a:p>
          <a:p xmlns:a="http://schemas.openxmlformats.org/drawingml/2006/main">
            <a:pPr algn="l">
              <a:defRPr sz="1575" b="0">
                <a:solidFill>
                  <a:srgbClr val="252B33"/>
                </a:solidFill>
              </a:defRPr>
            </a:pPr>
            <a:r>
              <a:rPr sz="1575" b="0">
                <a:solidFill>
                  <a:srgbClr val="252B33"/>
                </a:solidFill>
              </a:rPr>
              <a:t>颜色 · Logo · 字体</a:t>
            </a:r>
          </a:p>
          <a:p xmlns:a="http://schemas.openxmlformats.org/drawingml/2006/main">
            <a:pPr algn="l">
              <a:defRPr sz="1575" b="0">
                <a:solidFill>
                  <a:srgbClr val="252B33"/>
                </a:solidFill>
              </a:defRPr>
            </a:pPr>
            <a:r>
              <a:rPr sz="1575" b="0">
                <a:solidFill>
                  <a:srgbClr val="252B33"/>
                </a:solidFill>
              </a:rPr>
              <a:t>页眉页脚</a:t>
            </a:r>
          </a:p>
        </p:txBody>
      </p:sp>
      <p:sp>
        <p:nvSpPr>
          <p:cNvPr id="11" name="s10-reuse">
            <a:extLst xmlns:a="http://schemas.openxmlformats.org/drawingml/2006/main">
              <a:ext uri="{FF2B5EF4-FFF2-40B4-BE49-F238E27FC236}">
                <a16:creationId xmlns:a16="http://schemas.microsoft.com/office/drawing/2014/main" id="{28A1EA1A-7B1E-44E7-9094-F6D2DD70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0"/>
            <a:ext cx="3857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2" name="s10-reuse-h">
            <a:extLst xmlns:a="http://schemas.openxmlformats.org/drawingml/2006/main">
              <a:ext uri="{FF2B5EF4-FFF2-40B4-BE49-F238E27FC236}">
                <a16:creationId xmlns:a16="http://schemas.microsoft.com/office/drawing/2014/main" id="{44C797A7-2B28-4C52-A8EA-532FA906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F91"/>
                </a:solidFill>
              </a:defRPr>
            </a:pPr>
            <a:r>
              <a:rPr sz="1650" b="1">
                <a:solidFill>
                  <a:srgbClr val="315F91"/>
                </a:solidFill>
              </a:rPr>
              <a:t>能力继续复用</a:t>
            </a:r>
          </a:p>
        </p:txBody>
      </p:sp>
      <p:sp>
        <p:nvSpPr>
          <p:cNvPr id="13" name="s10-reuse-b">
            <a:extLst xmlns:a="http://schemas.openxmlformats.org/drawingml/2006/main">
              <a:ext uri="{FF2B5EF4-FFF2-40B4-BE49-F238E27FC236}">
                <a16:creationId xmlns:a16="http://schemas.microsoft.com/office/drawing/2014/main" id="{6995D309-F714-4819-96A8-ED35F6BE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622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B33"/>
                </a:solidFill>
              </a:defRPr>
            </a:pPr>
            <a:r>
              <a:rPr sz="1500" b="0">
                <a:solidFill>
                  <a:srgbClr val="252B33"/>
                </a:solidFill>
              </a:rPr>
              <a:t>学校 · 科研院所 · 实验室</a:t>
            </a:r>
          </a:p>
          <a:p xmlns:a="http://schemas.openxmlformats.org/drawingml/2006/main">
            <a:pPr algn="l">
              <a:defRPr sz="1500" b="0">
                <a:solidFill>
                  <a:srgbClr val="252B33"/>
                </a:solidFill>
              </a:defRPr>
            </a:pPr>
            <a:r>
              <a:rPr sz="1500" b="0">
                <a:solidFill>
                  <a:srgbClr val="252B33"/>
                </a:solidFill>
              </a:rPr>
              <a:t>企业 · 团队 · 个人长期风格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252B33"/>
                </a:solidFill>
              </a:defRPr>
            </a:pPr>
            <a:r>
              <a:rPr sz="1500" b="0">
                <a:solidFill>
                  <a:srgbClr val="252B33"/>
                </a:solidFill>
              </a:rPr>
              <a:t>让更多人低成本获得生产能力。</a:t>
            </a:r>
          </a:p>
        </p:txBody>
      </p:sp>
      <p:sp>
        <p:nvSpPr>
          <p:cNvPr id="14" name="s10-line-1">
            <a:extLst xmlns:a="http://schemas.openxmlformats.org/drawingml/2006/main">
              <a:ext uri="{FF2B5EF4-FFF2-40B4-BE49-F238E27FC236}">
                <a16:creationId xmlns:a16="http://schemas.microsoft.com/office/drawing/2014/main" id="{9F8EDCC9-1C8E-43EB-951D-7DFEE6A5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00375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15" name="s10-line-2">
            <a:extLst xmlns:a="http://schemas.openxmlformats.org/drawingml/2006/main">
              <a:ext uri="{FF2B5EF4-FFF2-40B4-BE49-F238E27FC236}">
                <a16:creationId xmlns:a16="http://schemas.microsoft.com/office/drawing/2014/main" id="{27656C94-4DA7-4F3A-8775-52F77285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00375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16" name="s10-tail">
            <a:extLst xmlns:a="http://schemas.openxmlformats.org/drawingml/2006/main">
              <a:ext uri="{FF2B5EF4-FFF2-40B4-BE49-F238E27FC236}">
                <a16:creationId xmlns:a16="http://schemas.microsoft.com/office/drawing/2014/main" id="{1878366B-5371-40F7-98F6-7A88DE0D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9587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34569"/>
                </a:solidFill>
              </a:defRPr>
            </a:pPr>
            <a:r>
              <a:rPr sz="1575" b="1">
                <a:solidFill>
                  <a:srgbClr val="234569"/>
                </a:solidFill>
              </a:rPr>
              <a:t>它不只是模板工具：组织不必要求每名成员都成为设计师，也能让日常输出稳定达到基本标准。</a:t>
            </a:r>
          </a:p>
        </p:txBody>
      </p:sp>
      <p:sp>
        <p:nvSpPr>
          <p:cNvPr id="17" name="footer-rule-10">
            <a:extLst xmlns:a="http://schemas.openxmlformats.org/drawingml/2006/main">
              <a:ext uri="{FF2B5EF4-FFF2-40B4-BE49-F238E27FC236}">
                <a16:creationId xmlns:a16="http://schemas.microsoft.com/office/drawing/2014/main" id="{510B6722-2CF6-4781-995E-D1E41D54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8" name="footer-10">
            <a:extLst xmlns:a="http://schemas.openxmlformats.org/drawingml/2006/main">
              <a:ext uri="{FF2B5EF4-FFF2-40B4-BE49-F238E27FC236}">
                <a16:creationId xmlns:a16="http://schemas.microsoft.com/office/drawing/2014/main" id="{40550BFC-2BA1-4119-AD28-A1AE080C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</a:defRPr>
            </a:pPr>
            <a:r>
              <a:rPr sz="900" b="0">
                <a:solidFill>
                  <a:srgbClr val="707780"/>
                </a:solidFill>
              </a:rPr>
              <a:t>PPagenT 产品叙事</a:t>
            </a:r>
          </a:p>
        </p:txBody>
      </p:sp>
    </p:spTree>
    <p:extLst>
      <p:ext uri="{BB962C8B-B14F-4D97-AF65-F5344CB8AC3E}">
        <p14:creationId xmlns:p14="http://schemas.microsoft.com/office/powerpoint/2010/main" val="272059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11">
            <a:extLst xmlns:a="http://schemas.openxmlformats.org/drawingml/2006/main">
              <a:ext uri="{FF2B5EF4-FFF2-40B4-BE49-F238E27FC236}">
                <a16:creationId xmlns:a16="http://schemas.microsoft.com/office/drawing/2014/main" id="{F4AB1792-5582-45F4-ABEC-F006D05D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5F91"/>
                </a:solidFill>
              </a:defRPr>
            </a:pPr>
            <a:r>
              <a:rPr sz="900" b="1">
                <a:solidFill>
                  <a:srgbClr val="315F91"/>
                </a:solidFill>
              </a:rPr>
              <a:t>PPAGENT / 产品叙事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E8431741-1232-4D5D-8335-2FE3C966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3400"/>
            <a:ext cx="1114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B33"/>
                </a:solidFill>
              </a:defRPr>
            </a:pPr>
            <a:r>
              <a:rPr sz="2250" b="1">
                <a:solidFill>
                  <a:srgbClr val="252B33"/>
                </a:solidFill>
              </a:rPr>
              <a:t>最终价值很普通：靠谱、好用，而且真的能继续修改</a:t>
            </a:r>
          </a:p>
        </p:txBody>
      </p:sp>
      <p:sp>
        <p:nvSpPr>
          <p:cNvPr id="3" name="title-rule-11">
            <a:extLst xmlns:a="http://schemas.openxmlformats.org/drawingml/2006/main">
              <a:ext uri="{FF2B5EF4-FFF2-40B4-BE49-F238E27FC236}">
                <a16:creationId xmlns:a16="http://schemas.microsoft.com/office/drawing/2014/main" id="{9A776D2D-7243-4AF7-8955-6B7E8B5B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811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1DEC250C-0CFB-44AF-A9B8-D322FD55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76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07780"/>
                </a:solidFill>
              </a:defRPr>
            </a:pPr>
            <a:r>
              <a:rPr sz="900" b="0">
                <a:solidFill>
                  <a:srgbClr val="707780"/>
                </a:solidFill>
              </a:rPr>
              <a:t>11</a:t>
            </a:r>
          </a:p>
        </p:txBody>
      </p:sp>
      <p:sp>
        <p:nvSpPr>
          <p:cNvPr id="5" name="s11-lead">
            <a:extLst xmlns:a="http://schemas.openxmlformats.org/drawingml/2006/main">
              <a:ext uri="{FF2B5EF4-FFF2-40B4-BE49-F238E27FC236}">
                <a16:creationId xmlns:a16="http://schemas.microsoft.com/office/drawing/2014/main" id="{B279FF35-368A-4BF5-9752-FCB9E05B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B33"/>
                </a:solidFill>
              </a:defRPr>
            </a:pPr>
            <a:r>
              <a:rPr sz="1575" b="0">
                <a:solidFill>
                  <a:srgbClr val="252B33"/>
                </a:solidFill>
              </a:rPr>
              <a:t>做一套好 PPT 太费时间了，其中很多时间花在以前已经有人解决过的问题上。</a:t>
            </a:r>
          </a:p>
        </p:txBody>
      </p:sp>
      <p:sp>
        <p:nvSpPr>
          <p:cNvPr id="6" name="s11-steps">
            <a:extLst xmlns:a="http://schemas.openxmlformats.org/drawingml/2006/main">
              <a:ext uri="{FF2B5EF4-FFF2-40B4-BE49-F238E27FC236}">
                <a16:creationId xmlns:a16="http://schemas.microsoft.com/office/drawing/2014/main" id="{8F5150CC-EDAC-4FAF-B20C-78A0784A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28875"/>
            <a:ext cx="3619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F91"/>
                </a:solidFill>
              </a:defRPr>
            </a:pPr>
            <a:r>
              <a:rPr sz="1875" b="1">
                <a:solidFill>
                  <a:srgbClr val="315F91"/>
                </a:solidFill>
              </a:rPr>
              <a:t>AI 帮我们读稿子</a:t>
            </a:r>
          </a:p>
          <a:p xmlns:a="http://schemas.openxmlformats.org/drawingml/2006/main">
            <a:pPr algn="l">
              <a:defRPr sz="1875" b="1">
                <a:solidFill>
                  <a:srgbClr val="315F91"/>
                </a:solidFill>
              </a:defRPr>
            </a:pPr>
            <a:r>
              <a:rPr sz="1875" b="1">
                <a:solidFill>
                  <a:srgbClr val="315F91"/>
                </a:solidFill>
              </a:rPr>
              <a:t>规则帮我们做判断</a:t>
            </a:r>
          </a:p>
          <a:p xmlns:a="http://schemas.openxmlformats.org/drawingml/2006/main">
            <a:pPr algn="l">
              <a:defRPr sz="1875" b="1">
                <a:solidFill>
                  <a:srgbClr val="315F91"/>
                </a:solidFill>
              </a:defRPr>
            </a:pPr>
            <a:r>
              <a:rPr sz="1875" b="1">
                <a:solidFill>
                  <a:srgbClr val="315F91"/>
                </a:solidFill>
              </a:rPr>
              <a:t>代码完成重复劳动</a:t>
            </a:r>
          </a:p>
        </p:txBody>
      </p:sp>
      <p:sp>
        <p:nvSpPr>
          <p:cNvPr id="7" name="s11-rule">
            <a:extLst xmlns:a="http://schemas.openxmlformats.org/drawingml/2006/main">
              <a:ext uri="{FF2B5EF4-FFF2-40B4-BE49-F238E27FC236}">
                <a16:creationId xmlns:a16="http://schemas.microsoft.com/office/drawing/2014/main" id="{32FB2C8F-6512-4628-A9F2-47826260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86000"/>
            <a:ext cx="9525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8" name="s11-result">
            <a:extLst xmlns:a="http://schemas.openxmlformats.org/drawingml/2006/main">
              <a:ext uri="{FF2B5EF4-FFF2-40B4-BE49-F238E27FC236}">
                <a16:creationId xmlns:a16="http://schemas.microsoft.com/office/drawing/2014/main" id="{D41390B0-E538-414B-A9A8-2E6FE37C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90750"/>
            <a:ext cx="63341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9" name="s11-result-h">
            <a:extLst xmlns:a="http://schemas.openxmlformats.org/drawingml/2006/main">
              <a:ext uri="{FF2B5EF4-FFF2-40B4-BE49-F238E27FC236}">
                <a16:creationId xmlns:a16="http://schemas.microsoft.com/office/drawing/2014/main" id="{CC2E6E0B-51EB-4051-ADC2-9D57BBFB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524125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2B33"/>
                </a:solidFill>
              </a:defRPr>
            </a:pPr>
            <a:r>
              <a:rPr sz="1575" b="1">
                <a:solidFill>
                  <a:srgbClr val="252B33"/>
                </a:solidFill>
              </a:rPr>
              <a:t>一个原本不太会做 PPT 的人，也能很快得到一套</a:t>
            </a:r>
          </a:p>
        </p:txBody>
      </p:sp>
      <p:sp>
        <p:nvSpPr>
          <p:cNvPr id="10" name="s11-result-b">
            <a:extLst xmlns:a="http://schemas.openxmlformats.org/drawingml/2006/main">
              <a:ext uri="{FF2B5EF4-FFF2-40B4-BE49-F238E27FC236}">
                <a16:creationId xmlns:a16="http://schemas.microsoft.com/office/drawing/2014/main" id="{5F82F14E-9CA0-4529-BFD2-69DC8767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143250"/>
            <a:ext cx="561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F91"/>
                </a:solidFill>
              </a:defRPr>
            </a:pPr>
            <a:r>
              <a:rPr sz="1875" b="1">
                <a:solidFill>
                  <a:srgbClr val="315F91"/>
                </a:solidFill>
              </a:rPr>
              <a:t>不一定惊艳，但靠谱；</a:t>
            </a:r>
          </a:p>
          <a:p xmlns:a="http://schemas.openxmlformats.org/drawingml/2006/main">
            <a:pPr algn="l">
              <a:defRPr sz="1875" b="1">
                <a:solidFill>
                  <a:srgbClr val="315F91"/>
                </a:solidFill>
              </a:defRPr>
            </a:pPr>
            <a:r>
              <a:rPr sz="1875" b="1">
                <a:solidFill>
                  <a:srgbClr val="315F91"/>
                </a:solidFill>
              </a:rPr>
              <a:t>不一定独一无二，但真的好用；</a:t>
            </a:r>
          </a:p>
          <a:p xmlns:a="http://schemas.openxmlformats.org/drawingml/2006/main">
            <a:pPr algn="l">
              <a:defRPr sz="1875" b="1">
                <a:solidFill>
                  <a:srgbClr val="315F91"/>
                </a:solidFill>
              </a:defRPr>
            </a:pPr>
            <a:r>
              <a:rPr sz="1875" b="1">
                <a:solidFill>
                  <a:srgbClr val="315F91"/>
                </a:solidFill>
              </a:rPr>
              <a:t>可以立刻拿去讲，也可以继续修改。</a:t>
            </a:r>
          </a:p>
        </p:txBody>
      </p:sp>
      <p:sp>
        <p:nvSpPr>
          <p:cNvPr id="11" name="s11-tail">
            <a:extLst xmlns:a="http://schemas.openxmlformats.org/drawingml/2006/main">
              <a:ext uri="{FF2B5EF4-FFF2-40B4-BE49-F238E27FC236}">
                <a16:creationId xmlns:a16="http://schemas.microsoft.com/office/drawing/2014/main" id="{C684AB03-A7D3-4C9A-BDD3-7DDDD68F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816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34569"/>
                </a:solidFill>
              </a:defRPr>
            </a:pPr>
            <a:r>
              <a:rPr sz="1650" b="1">
                <a:solidFill>
                  <a:srgbClr val="234569"/>
                </a:solidFill>
              </a:rPr>
              <a:t>如果能持续做到这一点，普通问题就能成为可靠的产品能力，也有机会形成一门真正的生意。</a:t>
            </a:r>
          </a:p>
        </p:txBody>
      </p:sp>
      <p:sp>
        <p:nvSpPr>
          <p:cNvPr id="12" name="footer-rule-11">
            <a:extLst xmlns:a="http://schemas.openxmlformats.org/drawingml/2006/main">
              <a:ext uri="{FF2B5EF4-FFF2-40B4-BE49-F238E27FC236}">
                <a16:creationId xmlns:a16="http://schemas.microsoft.com/office/drawing/2014/main" id="{623EAD56-1ADA-435F-B40D-B01DF72C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3" name="footer-11">
            <a:extLst xmlns:a="http://schemas.openxmlformats.org/drawingml/2006/main">
              <a:ext uri="{FF2B5EF4-FFF2-40B4-BE49-F238E27FC236}">
                <a16:creationId xmlns:a16="http://schemas.microsoft.com/office/drawing/2014/main" id="{64C6E084-B977-4900-860D-E2931F4E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</a:defRPr>
            </a:pPr>
            <a:r>
              <a:rPr sz="900" b="0">
                <a:solidFill>
                  <a:srgbClr val="707780"/>
                </a:solidFill>
              </a:rPr>
              <a:t>PPagenT / 可靠的生产过程</a:t>
            </a:r>
          </a:p>
        </p:txBody>
      </p:sp>
    </p:spTree>
    <p:extLst>
      <p:ext uri="{BB962C8B-B14F-4D97-AF65-F5344CB8AC3E}">
        <p14:creationId xmlns:p14="http://schemas.microsoft.com/office/powerpoint/2010/main" val="13134764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2026-09-06T05:07:47.6140000Z</dcterms:created>
  <dcterms:modified xsi:type="dcterms:W3CDTF">2026-09-06T05:07:47.6140000Z</dcterms:modified>
</coreProperties>
</file>