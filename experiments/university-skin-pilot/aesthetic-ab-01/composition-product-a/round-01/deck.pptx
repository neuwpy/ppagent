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7822d6eaaa4f1c" /><Relationship Type="http://schemas.openxmlformats.org/officeDocument/2006/relationships/extended-properties" Target="/docProps/app.xml" Id="R90c47c11635549c7" /><Relationship Type="http://schemas.openxmlformats.org/officeDocument/2006/relationships/officeDocument" Target="/ppt/presentation.xml" Id="Re60c5f10037140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028fe00c194031"/>
  </p:sldMasterIdLst>
  <p:notesMasterIdLst>
    <p:notesMasterId xmlns:r="http://schemas.openxmlformats.org/officeDocument/2006/relationships" r:id="R2e46d0fdc720405a"/>
  </p:notesMasterIdLst>
  <p:sldIdLst>
    <p:sldId xmlns:r="http://schemas.openxmlformats.org/officeDocument/2006/relationships" id="256" r:id="R22d159d5f7c54ea6"/>
    <p:sldId xmlns:r="http://schemas.openxmlformats.org/officeDocument/2006/relationships" id="257" r:id="Rf8c8d0030f4840b0"/>
    <p:sldId xmlns:r="http://schemas.openxmlformats.org/officeDocument/2006/relationships" id="258" r:id="R73088f6eadcb4879"/>
    <p:sldId xmlns:r="http://schemas.openxmlformats.org/officeDocument/2006/relationships" id="259" r:id="R63a15db770ef4828"/>
    <p:sldId xmlns:r="http://schemas.openxmlformats.org/officeDocument/2006/relationships" id="260" r:id="R63420f6f19074b7b"/>
    <p:sldId xmlns:r="http://schemas.openxmlformats.org/officeDocument/2006/relationships" id="261" r:id="Rb261a9f2dc544222"/>
    <p:sldId xmlns:r="http://schemas.openxmlformats.org/officeDocument/2006/relationships" id="262" r:id="R147a0d9266ce4c80"/>
    <p:sldId xmlns:r="http://schemas.openxmlformats.org/officeDocument/2006/relationships" id="263" r:id="R2ea653eb26014c71"/>
    <p:sldId xmlns:r="http://schemas.openxmlformats.org/officeDocument/2006/relationships" id="264" r:id="Rc6e429f8b7d442e9"/>
    <p:sldId xmlns:r="http://schemas.openxmlformats.org/officeDocument/2006/relationships" id="265" r:id="R9fd7062b699e466b"/>
    <p:sldId xmlns:r="http://schemas.openxmlformats.org/officeDocument/2006/relationships" id="266" r:id="R822f14d85d80471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dca2519bd54df0" /><Relationship Type="http://schemas.openxmlformats.org/officeDocument/2006/relationships/slideMaster" Target="/ppt/slideMasters/slideMaster1.xml" Id="R7e028fe00c194031" /><Relationship Type="http://schemas.openxmlformats.org/officeDocument/2006/relationships/notesMaster" Target="/ppt/notesMasters/notesMaster1.xml" Id="R2e46d0fdc720405a" /><Relationship Type="http://schemas.openxmlformats.org/officeDocument/2006/relationships/presProps" Target="/ppt/presProps.xml" Id="R1d336015f2344072" /><Relationship Type="http://schemas.openxmlformats.org/officeDocument/2006/relationships/tableStyles" Target="/ppt/tableStyles.xml" Id="Rbd475ef500e84e90" /><Relationship Type="http://schemas.openxmlformats.org/officeDocument/2006/relationships/slide" Target="/ppt/slides/slide1.xml" Id="R22d159d5f7c54ea6" /><Relationship Type="http://schemas.openxmlformats.org/officeDocument/2006/relationships/slide" Target="/ppt/slides/slide2.xml" Id="Rf8c8d0030f4840b0" /><Relationship Type="http://schemas.openxmlformats.org/officeDocument/2006/relationships/slide" Target="/ppt/slides/slide3.xml" Id="R73088f6eadcb4879" /><Relationship Type="http://schemas.openxmlformats.org/officeDocument/2006/relationships/slide" Target="/ppt/slides/slide4.xml" Id="R63a15db770ef4828" /><Relationship Type="http://schemas.openxmlformats.org/officeDocument/2006/relationships/slide" Target="/ppt/slides/slide5.xml" Id="R63420f6f19074b7b" /><Relationship Type="http://schemas.openxmlformats.org/officeDocument/2006/relationships/slide" Target="/ppt/slides/slide6.xml" Id="Rb261a9f2dc544222" /><Relationship Type="http://schemas.openxmlformats.org/officeDocument/2006/relationships/slide" Target="/ppt/slides/slide7.xml" Id="R147a0d9266ce4c80" /><Relationship Type="http://schemas.openxmlformats.org/officeDocument/2006/relationships/slide" Target="/ppt/slides/slide8.xml" Id="R2ea653eb26014c71" /><Relationship Type="http://schemas.openxmlformats.org/officeDocument/2006/relationships/slide" Target="/ppt/slides/slide9.xml" Id="Rc6e429f8b7d442e9" /><Relationship Type="http://schemas.openxmlformats.org/officeDocument/2006/relationships/slide" Target="/ppt/slides/slide10.xml" Id="R9fd7062b699e466b" /><Relationship Type="http://schemas.openxmlformats.org/officeDocument/2006/relationships/slide" Target="/ppt/slides/slide11.xml" Id="R822f14d85d8047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020ed7246a45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d7d11d1dc44977" /><Relationship Type="http://schemas.openxmlformats.org/officeDocument/2006/relationships/notesMaster" Target="/ppt/notesMasters/notesMaster1.xml" Id="R3cd7ef014bc44e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c42247b2a44116" /><Relationship Type="http://schemas.openxmlformats.org/officeDocument/2006/relationships/notesMaster" Target="/ppt/notesMasters/notesMaster1.xml" Id="R98137c654f774e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7be67421fa499b" /><Relationship Type="http://schemas.openxmlformats.org/officeDocument/2006/relationships/notesMaster" Target="/ppt/notesMasters/notesMaster1.xml" Id="Rb7608a6499764b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5aa165e0f94de4" /><Relationship Type="http://schemas.openxmlformats.org/officeDocument/2006/relationships/notesMaster" Target="/ppt/notesMasters/notesMaster1.xml" Id="Reccf433cf3604a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b60750540f42f0" /><Relationship Type="http://schemas.openxmlformats.org/officeDocument/2006/relationships/notesMaster" Target="/ppt/notesMasters/notesMaster1.xml" Id="R909e6eb46f3146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ea32d8d9cd477a" /><Relationship Type="http://schemas.openxmlformats.org/officeDocument/2006/relationships/notesMaster" Target="/ppt/notesMasters/notesMaster1.xml" Id="R6ff6a4b82e2c45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163bf7f0a74b04" /><Relationship Type="http://schemas.openxmlformats.org/officeDocument/2006/relationships/notesMaster" Target="/ppt/notesMasters/notesMaster1.xml" Id="R33c181c115c64f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26f9616c06408c" /><Relationship Type="http://schemas.openxmlformats.org/officeDocument/2006/relationships/notesMaster" Target="/ppt/notesMasters/notesMaster1.xml" Id="R733f678dc4a942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4238a2fba946c6" /><Relationship Type="http://schemas.openxmlformats.org/officeDocument/2006/relationships/notesMaster" Target="/ppt/notesMasters/notesMaster1.xml" Id="Rbdbea359e7854c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c7e277892c4f9e" /><Relationship Type="http://schemas.openxmlformats.org/officeDocument/2006/relationships/notesMaster" Target="/ppt/notesMasters/notesMaster1.xml" Id="R8b99745a18d64a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6feab25abd04c13" /><Relationship Type="http://schemas.openxmlformats.org/officeDocument/2006/relationships/notesMaster" Target="/ppt/notesMasters/notesMaster1.xml" Id="R6372f6188e594f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d98e03539e43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b553cd9f6e49c7" /><Relationship Type="http://schemas.openxmlformats.org/officeDocument/2006/relationships/slideLayout" Target="/ppt/slideLayouts/slideLayout1.xml" Id="Rda97591bfd1a4a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97591bfd1a4a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16659170c496e" /><Relationship Type="http://schemas.openxmlformats.org/officeDocument/2006/relationships/notesSlide" Target="/ppt/notesSlides/notesSlide1.xml" Id="R3052ce33e97a4e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3214aeb3024973" /><Relationship Type="http://schemas.openxmlformats.org/officeDocument/2006/relationships/notesSlide" Target="/ppt/notesSlides/notesSlide2.xml" Id="R5a58159bbe604d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08ca29e9d475e" /><Relationship Type="http://schemas.openxmlformats.org/officeDocument/2006/relationships/notesSlide" Target="/ppt/notesSlides/notesSlide3.xml" Id="R33b97ba770144a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a185932af4a11" /><Relationship Type="http://schemas.openxmlformats.org/officeDocument/2006/relationships/notesSlide" Target="/ppt/notesSlides/notesSlide4.xml" Id="R77976e9f4bc84a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fdcc91f994947" /><Relationship Type="http://schemas.openxmlformats.org/officeDocument/2006/relationships/notesSlide" Target="/ppt/notesSlides/notesSlide5.xml" Id="Rc49489c5d11646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f3a3afc494f58" /><Relationship Type="http://schemas.openxmlformats.org/officeDocument/2006/relationships/notesSlide" Target="/ppt/notesSlides/notesSlide6.xml" Id="Ra8eec3ec4b0b46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5eb15b0154982" /><Relationship Type="http://schemas.openxmlformats.org/officeDocument/2006/relationships/notesSlide" Target="/ppt/notesSlides/notesSlide7.xml" Id="R39057f3529e14d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1d4da2bad4d6a" /><Relationship Type="http://schemas.openxmlformats.org/officeDocument/2006/relationships/notesSlide" Target="/ppt/notesSlides/notesSlide8.xml" Id="R2e74a81602b34a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4f73a42ac401d" /><Relationship Type="http://schemas.openxmlformats.org/officeDocument/2006/relationships/notesSlide" Target="/ppt/notesSlides/notesSlide9.xml" Id="R0a0e4f953b0f4e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fc6e5c1414aa3" /><Relationship Type="http://schemas.openxmlformats.org/officeDocument/2006/relationships/notesSlide" Target="/ppt/notesSlides/notesSlide10.xml" Id="R36f4c13dd5c24d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cb34d64044882" /><Relationship Type="http://schemas.openxmlformats.org/officeDocument/2006/relationships/notesSlide" Target="/ppt/notesSlides/notesSlide11.xml" Id="Rb8b822a3429449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1-accent">
            <a:extLst xmlns:a="http://schemas.openxmlformats.org/drawingml/2006/main">
              <a:ext uri="{FF2B5EF4-FFF2-40B4-BE49-F238E27FC236}">
                <a16:creationId xmlns:a16="http://schemas.microsoft.com/office/drawing/2014/main" id="{79CC02B6-216D-48F8-BE04-E48ACF8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286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-kicker">
            <a:extLst xmlns:a="http://schemas.openxmlformats.org/drawingml/2006/main">
              <a:ext uri="{FF2B5EF4-FFF2-40B4-BE49-F238E27FC236}">
                <a16:creationId xmlns:a16="http://schemas.microsoft.com/office/drawing/2014/main" id="{7027E09B-B69A-4B30-A608-19EAD3CB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85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产品叙事</a:t>
            </a:r>
          </a:p>
        </p:txBody>
      </p:sp>
      <p:sp>
        <p:nvSpPr>
          <p:cNvPr id="3" name="p1-title">
            <a:extLst xmlns:a="http://schemas.openxmlformats.org/drawingml/2006/main">
              <a:ext uri="{FF2B5EF4-FFF2-40B4-BE49-F238E27FC236}">
                <a16:creationId xmlns:a16="http://schemas.microsoft.com/office/drawing/2014/main" id="{4915008D-1AC8-40A2-9845-2B91116F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19200"/>
            <a:ext cx="847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33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把 PPT 生成变成可靠的生产过程</a:t>
            </a:r>
          </a:p>
        </p:txBody>
      </p:sp>
      <p:sp>
        <p:nvSpPr>
          <p:cNvPr id="4" name="p1-subtitle">
            <a:extLst xmlns:a="http://schemas.openxmlformats.org/drawingml/2006/main">
              <a:ext uri="{FF2B5EF4-FFF2-40B4-BE49-F238E27FC236}">
                <a16:creationId xmlns:a16="http://schemas.microsoft.com/office/drawing/2014/main" id="{DFA84354-F0B2-42F9-B763-EA2E24EC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让 AI 帮我们读稿子，让规则帮我们做判断，让代码完成重复劳动。</a:t>
            </a:r>
          </a:p>
        </p:txBody>
      </p:sp>
      <p:sp>
        <p:nvSpPr>
          <p:cNvPr id="5" name="p1-divider">
            <a:extLst xmlns:a="http://schemas.openxmlformats.org/drawingml/2006/main">
              <a:ext uri="{FF2B5EF4-FFF2-40B4-BE49-F238E27FC236}">
                <a16:creationId xmlns:a16="http://schemas.microsoft.com/office/drawing/2014/main" id="{9194B1CE-1256-4CF7-B5B8-E294DB44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432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1-foot">
            <a:extLst xmlns:a="http://schemas.openxmlformats.org/drawingml/2006/main">
              <a:ext uri="{FF2B5EF4-FFF2-40B4-BE49-F238E27FC236}">
                <a16:creationId xmlns:a16="http://schemas.microsoft.com/office/drawing/2014/main" id="{BA78FEBF-2EC3-432B-B282-0F6C10A9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一份关于产品道路、能力建设与交付可靠度的说明</a:t>
            </a:r>
          </a:p>
        </p:txBody>
      </p:sp>
      <p:sp>
        <p:nvSpPr>
          <p:cNvPr id="7" name="p1-page">
            <a:extLst xmlns:a="http://schemas.openxmlformats.org/drawingml/2006/main">
              <a:ext uri="{FF2B5EF4-FFF2-40B4-BE49-F238E27FC236}">
                <a16:creationId xmlns:a16="http://schemas.microsoft.com/office/drawing/2014/main" id="{226BCB58-EA0B-40C9-A96C-A255964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865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01 / 11</a:t>
            </a:r>
          </a:p>
        </p:txBody>
      </p:sp>
    </p:spTree>
    <p:extLst>
      <p:ext uri="{BB962C8B-B14F-4D97-AF65-F5344CB8AC3E}">
        <p14:creationId xmlns:p14="http://schemas.microsoft.com/office/powerpoint/2010/main" val="186861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p2-eyebrow">
            <a:extLst xmlns:a="http://schemas.openxmlformats.org/drawingml/2006/main">
              <a:ext uri="{FF2B5EF4-FFF2-40B4-BE49-F238E27FC236}">
                <a16:creationId xmlns:a16="http://schemas.microsoft.com/office/drawing/2014/main" id="{16F1FB2F-1364-4A0E-A7FA-A095689D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2-title">
            <a:extLst xmlns:a="http://schemas.openxmlformats.org/drawingml/2006/main">
              <a:ext uri="{FF2B5EF4-FFF2-40B4-BE49-F238E27FC236}">
                <a16:creationId xmlns:a16="http://schemas.microsoft.com/office/drawing/2014/main" id="{BA0871F0-06B7-4008-8C01-F4367C5A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做 PPT，真正昂贵的是判断</a:t>
            </a:r>
          </a:p>
        </p:txBody>
      </p:sp>
      <p:sp>
        <p:nvSpPr>
          <p:cNvPr id="3" name="p2-divider">
            <a:extLst xmlns:a="http://schemas.openxmlformats.org/drawingml/2006/main">
              <a:ext uri="{FF2B5EF4-FFF2-40B4-BE49-F238E27FC236}">
                <a16:creationId xmlns:a16="http://schemas.microsoft.com/office/drawing/2014/main" id="{88825506-1B48-4C14-8AD0-0E2FB44F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2-footer">
            <a:extLst xmlns:a="http://schemas.openxmlformats.org/drawingml/2006/main">
              <a:ext uri="{FF2B5EF4-FFF2-40B4-BE49-F238E27FC236}">
                <a16:creationId xmlns:a16="http://schemas.microsoft.com/office/drawing/2014/main" id="{B90F4597-89E5-4592-A20E-46E43445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02 / 11</a:t>
            </a:r>
          </a:p>
        </p:txBody>
      </p:sp>
      <p:sp>
        <p:nvSpPr>
          <p:cNvPr id="5" name="p2-lead">
            <a:extLst xmlns:a="http://schemas.openxmlformats.org/drawingml/2006/main">
              <a:ext uri="{FF2B5EF4-FFF2-40B4-BE49-F238E27FC236}">
                <a16:creationId xmlns:a16="http://schemas.microsoft.com/office/drawing/2014/main" id="{BE0EC3FA-24A6-4D2C-8810-46E7A32B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真正费时间的不是把文本框拖到左边还是右边，而是一连串判断。</a:t>
            </a:r>
          </a:p>
        </p:txBody>
      </p:sp>
      <p:sp>
        <p:nvSpPr>
          <p:cNvPr id="6" name="p2-g1-label">
            <a:extLst xmlns:a="http://schemas.openxmlformats.org/drawingml/2006/main">
              <a:ext uri="{FF2B5EF4-FFF2-40B4-BE49-F238E27FC236}">
                <a16:creationId xmlns:a16="http://schemas.microsoft.com/office/drawing/2014/main" id="{68EEAFC9-371A-48B1-8D63-B7FAD5EB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怎么讲</a:t>
            </a:r>
          </a:p>
        </p:txBody>
      </p:sp>
      <p:sp>
        <p:nvSpPr>
          <p:cNvPr id="7" name="p2-g1-body">
            <a:extLst xmlns:a="http://schemas.openxmlformats.org/drawingml/2006/main">
              <a:ext uri="{FF2B5EF4-FFF2-40B4-BE49-F238E27FC236}">
                <a16:creationId xmlns:a16="http://schemas.microsoft.com/office/drawing/2014/main" id="{D71C2B19-00B3-463F-94F8-8E87E843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76450"/>
            <a:ext cx="3543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这场汇报到底怎么讲，一篇长稿应该拆成多少页。</a:t>
            </a:r>
          </a:p>
        </p:txBody>
      </p:sp>
      <p:sp>
        <p:nvSpPr>
          <p:cNvPr id="8" name="p2-g2-label">
            <a:extLst xmlns:a="http://schemas.openxmlformats.org/drawingml/2006/main">
              <a:ext uri="{FF2B5EF4-FFF2-40B4-BE49-F238E27FC236}">
                <a16:creationId xmlns:a16="http://schemas.microsoft.com/office/drawing/2014/main" id="{D6C76641-8EB0-483C-9FEC-8380FC9E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页职责</a:t>
            </a:r>
          </a:p>
        </p:txBody>
      </p:sp>
      <p:sp>
        <p:nvSpPr>
          <p:cNvPr id="9" name="p2-g2-body">
            <a:extLst xmlns:a="http://schemas.openxmlformats.org/drawingml/2006/main">
              <a:ext uri="{FF2B5EF4-FFF2-40B4-BE49-F238E27FC236}">
                <a16:creationId xmlns:a16="http://schemas.microsoft.com/office/drawing/2014/main" id="{31B8DED8-0E96-4B37-8CD2-07E234AC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24200"/>
            <a:ext cx="3543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每一页只承担什么职责，这几个观点是并列、递进、因果还是流程。</a:t>
            </a:r>
          </a:p>
        </p:txBody>
      </p:sp>
      <p:sp>
        <p:nvSpPr>
          <p:cNvPr id="10" name="p2-g3-label">
            <a:extLst xmlns:a="http://schemas.openxmlformats.org/drawingml/2006/main">
              <a:ext uri="{FF2B5EF4-FFF2-40B4-BE49-F238E27FC236}">
                <a16:creationId xmlns:a16="http://schemas.microsoft.com/office/drawing/2014/main" id="{515A7C1B-3CC9-46DE-8736-CE417899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视觉判断</a:t>
            </a:r>
          </a:p>
        </p:txBody>
      </p:sp>
      <p:sp>
        <p:nvSpPr>
          <p:cNvPr id="11" name="p2-g3-body">
            <a:extLst xmlns:a="http://schemas.openxmlformats.org/drawingml/2006/main">
              <a:ext uri="{FF2B5EF4-FFF2-40B4-BE49-F238E27FC236}">
                <a16:creationId xmlns:a16="http://schemas.microsoft.com/office/drawing/2014/main" id="{C1DC1FDD-12DC-4849-9124-C091B48D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71950"/>
            <a:ext cx="3543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哪里应该突出，什么时候应该用图，什么时候一句话反而更有力量。</a:t>
            </a:r>
          </a:p>
        </p:txBody>
      </p:sp>
      <p:sp>
        <p:nvSpPr>
          <p:cNvPr id="12" name="p2-analysis-surface">
            <a:extLst xmlns:a="http://schemas.openxmlformats.org/drawingml/2006/main">
              <a:ext uri="{FF2B5EF4-FFF2-40B4-BE49-F238E27FC236}">
                <a16:creationId xmlns:a16="http://schemas.microsoft.com/office/drawing/2014/main" id="{10B4D059-7B07-4B23-ADB4-9C4653B8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7625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2-side-title">
            <a:extLst xmlns:a="http://schemas.openxmlformats.org/drawingml/2006/main">
              <a:ext uri="{FF2B5EF4-FFF2-40B4-BE49-F238E27FC236}">
                <a16:creationId xmlns:a16="http://schemas.microsoft.com/office/drawing/2014/main" id="{0EFA8A70-DDEB-4E65-8A9E-F2A803F1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812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高手积累的是一套答案</a:t>
            </a:r>
          </a:p>
        </p:txBody>
      </p:sp>
      <p:sp>
        <p:nvSpPr>
          <p:cNvPr id="14" name="p2-side-body">
            <a:extLst xmlns:a="http://schemas.openxmlformats.org/drawingml/2006/main">
              <a:ext uri="{FF2B5EF4-FFF2-40B4-BE49-F238E27FC236}">
                <a16:creationId xmlns:a16="http://schemas.microsoft.com/office/drawing/2014/main" id="{3B23215F-4CA1-4363-8171-FD212BA3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337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一个 PPT 做得很好的人，脑子里已经积累了大量答案。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但每次接到新稿件，仍要重新拆页、找结构、调字体、统一间距。</a:t>
            </a:r>
          </a:p>
        </p:txBody>
      </p:sp>
      <p:sp>
        <p:nvSpPr>
          <p:cNvPr id="15" name="p2-side-note">
            <a:extLst xmlns:a="http://schemas.openxmlformats.org/drawingml/2006/main">
              <a:ext uri="{FF2B5EF4-FFF2-40B4-BE49-F238E27FC236}">
                <a16:creationId xmlns:a16="http://schemas.microsoft.com/office/drawing/2014/main" id="{CEE48F8F-A723-4E6D-97F6-BD742BE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62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昂贵的部分，是判断反复发生。</a:t>
            </a:r>
          </a:p>
        </p:txBody>
      </p:sp>
    </p:spTree>
    <p:extLst>
      <p:ext uri="{BB962C8B-B14F-4D97-AF65-F5344CB8AC3E}">
        <p14:creationId xmlns:p14="http://schemas.microsoft.com/office/powerpoint/2010/main" val="15169875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p3-eyebrow">
            <a:extLst xmlns:a="http://schemas.openxmlformats.org/drawingml/2006/main">
              <a:ext uri="{FF2B5EF4-FFF2-40B4-BE49-F238E27FC236}">
                <a16:creationId xmlns:a16="http://schemas.microsoft.com/office/drawing/2014/main" id="{5CDFC71D-826F-40F4-BF99-A72A9566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3-title">
            <a:extLst xmlns:a="http://schemas.openxmlformats.org/drawingml/2006/main">
              <a:ext uri="{FF2B5EF4-FFF2-40B4-BE49-F238E27FC236}">
                <a16:creationId xmlns:a16="http://schemas.microsoft.com/office/drawing/2014/main" id="{30AAA836-E32E-4760-8D4E-85B7EA17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PPagenT 先服务概率密度最大的工作型 PPT</a:t>
            </a:r>
          </a:p>
        </p:txBody>
      </p:sp>
      <p:sp>
        <p:nvSpPr>
          <p:cNvPr id="3" name="p3-divider">
            <a:extLst xmlns:a="http://schemas.openxmlformats.org/drawingml/2006/main">
              <a:ext uri="{FF2B5EF4-FFF2-40B4-BE49-F238E27FC236}">
                <a16:creationId xmlns:a16="http://schemas.microsoft.com/office/drawing/2014/main" id="{6D68AE00-6F7A-4E1B-ACC9-FD37AAD1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3-footer">
            <a:extLst xmlns:a="http://schemas.openxmlformats.org/drawingml/2006/main">
              <a:ext uri="{FF2B5EF4-FFF2-40B4-BE49-F238E27FC236}">
                <a16:creationId xmlns:a16="http://schemas.microsoft.com/office/drawing/2014/main" id="{32A59D0D-8657-4144-94A0-E30046DE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03 / 11</a:t>
            </a:r>
          </a:p>
        </p:txBody>
      </p:sp>
      <p:sp>
        <p:nvSpPr>
          <p:cNvPr id="5" name="p3-intro">
            <a:extLst xmlns:a="http://schemas.openxmlformats.org/drawingml/2006/main">
              <a:ext uri="{FF2B5EF4-FFF2-40B4-BE49-F238E27FC236}">
                <a16:creationId xmlns:a16="http://schemas.microsoft.com/office/drawing/2014/main" id="{4F749F59-9389-491D-B84A-BE7BFD51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需求从“只要把文字放上去”到“高度定制的视觉创意”分布很宽，更多场景位于中间。</a:t>
            </a:r>
          </a:p>
        </p:txBody>
      </p:sp>
      <p:sp>
        <p:nvSpPr>
          <p:cNvPr id="6" name="p3-left-label">
            <a:extLst xmlns:a="http://schemas.openxmlformats.org/drawingml/2006/main">
              <a:ext uri="{FF2B5EF4-FFF2-40B4-BE49-F238E27FC236}">
                <a16:creationId xmlns:a16="http://schemas.microsoft.com/office/drawing/2014/main" id="{4E46F418-3B93-4C78-A560-8E8763F4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需求分布</a:t>
            </a:r>
          </a:p>
        </p:txBody>
      </p:sp>
      <p:sp>
        <p:nvSpPr>
          <p:cNvPr id="7" name="p3-axis">
            <a:extLst xmlns:a="http://schemas.openxmlformats.org/drawingml/2006/main">
              <a:ext uri="{FF2B5EF4-FFF2-40B4-BE49-F238E27FC236}">
                <a16:creationId xmlns:a16="http://schemas.microsoft.com/office/drawing/2014/main" id="{69BE1FFE-8662-4966-9F01-286289AD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3-target-band">
            <a:extLst xmlns:a="http://schemas.openxmlformats.org/drawingml/2006/main">
              <a:ext uri="{FF2B5EF4-FFF2-40B4-BE49-F238E27FC236}">
                <a16:creationId xmlns:a16="http://schemas.microsoft.com/office/drawing/2014/main" id="{D35D442F-7D97-4467-BF26-A0EA6C59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09900"/>
            <a:ext cx="2333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3-low">
            <a:extLst xmlns:a="http://schemas.openxmlformats.org/drawingml/2006/main">
              <a:ext uri="{FF2B5EF4-FFF2-40B4-BE49-F238E27FC236}">
                <a16:creationId xmlns:a16="http://schemas.microsoft.com/office/drawing/2014/main" id="{76DC3B13-F504-4A94-AA9B-4FCBBAEB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只要能用</a:t>
            </a:r>
          </a:p>
        </p:txBody>
      </p:sp>
      <p:sp>
        <p:nvSpPr>
          <p:cNvPr id="10" name="p3-target">
            <a:extLst xmlns:a="http://schemas.openxmlformats.org/drawingml/2006/main">
              <a:ext uri="{FF2B5EF4-FFF2-40B4-BE49-F238E27FC236}">
                <a16:creationId xmlns:a16="http://schemas.microsoft.com/office/drawing/2014/main" id="{CBF81A1E-BB60-4BF0-B89C-94CFE40F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670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工作型 PPT</a:t>
            </a:r>
          </a:p>
        </p:txBody>
      </p:sp>
      <p:sp>
        <p:nvSpPr>
          <p:cNvPr id="11" name="p3-high">
            <a:extLst xmlns:a="http://schemas.openxmlformats.org/drawingml/2006/main">
              <a:ext uri="{FF2B5EF4-FFF2-40B4-BE49-F238E27FC236}">
                <a16:creationId xmlns:a16="http://schemas.microsoft.com/office/drawing/2014/main" id="{2C6E1AC4-1EA8-4506-972D-54BF4D13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52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高度定制</a:t>
            </a:r>
          </a:p>
        </p:txBody>
      </p:sp>
      <p:sp>
        <p:nvSpPr>
          <p:cNvPr id="12" name="p3-band-note">
            <a:extLst xmlns:a="http://schemas.openxmlformats.org/drawingml/2006/main">
              <a:ext uri="{FF2B5EF4-FFF2-40B4-BE49-F238E27FC236}">
                <a16:creationId xmlns:a16="http://schemas.microsoft.com/office/drawing/2014/main" id="{AF942EC7-F823-40D6-94E3-2E0BB96C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不能乱、不能丑、不能掉价、不能生成完以后无法修改。</a:t>
            </a:r>
          </a:p>
        </p:txBody>
      </p:sp>
      <p:sp>
        <p:nvSpPr>
          <p:cNvPr id="13" name="p3-formula-surface">
            <a:extLst xmlns:a="http://schemas.openxmlformats.org/drawingml/2006/main">
              <a:ext uri="{FF2B5EF4-FFF2-40B4-BE49-F238E27FC236}">
                <a16:creationId xmlns:a16="http://schemas.microsoft.com/office/drawing/2014/main" id="{022ED6DE-2A11-415F-B3BE-C7AD01BE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38350"/>
            <a:ext cx="44767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3-formula-label">
            <a:extLst xmlns:a="http://schemas.openxmlformats.org/drawingml/2006/main">
              <a:ext uri="{FF2B5EF4-FFF2-40B4-BE49-F238E27FC236}">
                <a16:creationId xmlns:a16="http://schemas.microsoft.com/office/drawing/2014/main" id="{20AAAB4A-620C-4CE4-9C84-93D69EDF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产品可靠度 R</a:t>
            </a:r>
          </a:p>
        </p:txBody>
      </p:sp>
      <p:sp>
        <p:nvSpPr>
          <p:cNvPr id="15" name="p3-formula">
            <a:extLst xmlns:a="http://schemas.openxmlformats.org/drawingml/2006/main">
              <a:ext uri="{FF2B5EF4-FFF2-40B4-BE49-F238E27FC236}">
                <a16:creationId xmlns:a16="http://schemas.microsoft.com/office/drawing/2014/main" id="{725A16C4-8783-4220-9F16-57CE5069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81300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27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R = P(Q ≥ Q可用 | 目标工作场景)</a:t>
            </a:r>
          </a:p>
        </p:txBody>
      </p:sp>
      <p:sp>
        <p:nvSpPr>
          <p:cNvPr id="16" name="p3-formula-body">
            <a:extLst xmlns:a="http://schemas.openxmlformats.org/drawingml/2006/main">
              <a:ext uri="{FF2B5EF4-FFF2-40B4-BE49-F238E27FC236}">
                <a16:creationId xmlns:a16="http://schemas.microsoft.com/office/drawing/2014/main" id="{5ABF53A6-EACE-4CD3-8929-5FF10CBE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862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真正想提高的，是随机工作稿达到可用标准的概率。</a:t>
            </a:r>
          </a:p>
        </p:txBody>
      </p:sp>
    </p:spTree>
    <p:extLst>
      <p:ext uri="{BB962C8B-B14F-4D97-AF65-F5344CB8AC3E}">
        <p14:creationId xmlns:p14="http://schemas.microsoft.com/office/powerpoint/2010/main" val="2392562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p4-eyebrow">
            <a:extLst xmlns:a="http://schemas.openxmlformats.org/drawingml/2006/main">
              <a:ext uri="{FF2B5EF4-FFF2-40B4-BE49-F238E27FC236}">
                <a16:creationId xmlns:a16="http://schemas.microsoft.com/office/drawing/2014/main" id="{9E85F78B-0C39-47CA-B056-44910B9E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4-title">
            <a:extLst xmlns:a="http://schemas.openxmlformats.org/drawingml/2006/main">
              <a:ext uri="{FF2B5EF4-FFF2-40B4-BE49-F238E27FC236}">
                <a16:creationId xmlns:a16="http://schemas.microsoft.com/office/drawing/2014/main" id="{D8ECDF6F-6E0E-40F8-A0EC-B08122CB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稳定跨过可用线，比偶然惊艳更有价值</a:t>
            </a:r>
          </a:p>
        </p:txBody>
      </p:sp>
      <p:sp>
        <p:nvSpPr>
          <p:cNvPr id="3" name="p4-divider">
            <a:extLst xmlns:a="http://schemas.openxmlformats.org/drawingml/2006/main">
              <a:ext uri="{FF2B5EF4-FFF2-40B4-BE49-F238E27FC236}">
                <a16:creationId xmlns:a16="http://schemas.microsoft.com/office/drawing/2014/main" id="{9CF6DADF-41CE-4D3E-B41C-C9554467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4-footer">
            <a:extLst xmlns:a="http://schemas.openxmlformats.org/drawingml/2006/main">
              <a:ext uri="{FF2B5EF4-FFF2-40B4-BE49-F238E27FC236}">
                <a16:creationId xmlns:a16="http://schemas.microsoft.com/office/drawing/2014/main" id="{01511E9A-33B8-436A-AD54-D99BFA9A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04 / 11</a:t>
            </a:r>
          </a:p>
        </p:txBody>
      </p:sp>
      <p:sp>
        <p:nvSpPr>
          <p:cNvPr id="5" name="p4-intro">
            <a:extLst xmlns:a="http://schemas.openxmlformats.org/drawingml/2006/main">
              <a:ext uri="{FF2B5EF4-FFF2-40B4-BE49-F238E27FC236}">
                <a16:creationId xmlns:a16="http://schemas.microsoft.com/office/drawing/2014/main" id="{8032B867-86E4-4AE3-A0D0-7E0217E3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“80 分”是稳定可用状态的形象称呼，不是产品给自己设置的质量上限。</a:t>
            </a:r>
          </a:p>
        </p:txBody>
      </p:sp>
      <p:sp>
        <p:nvSpPr>
          <p:cNvPr id="6" name="p4-dim">
            <a:extLst xmlns:a="http://schemas.openxmlformats.org/drawingml/2006/main">
              <a:ext uri="{FF2B5EF4-FFF2-40B4-BE49-F238E27FC236}">
                <a16:creationId xmlns:a16="http://schemas.microsoft.com/office/drawing/2014/main" id="{9242F761-6553-421A-BB71-7762B4BB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共同维度</a:t>
            </a:r>
          </a:p>
        </p:txBody>
      </p:sp>
      <p:sp>
        <p:nvSpPr>
          <p:cNvPr id="7" name="p4-a-title">
            <a:extLst xmlns:a="http://schemas.openxmlformats.org/drawingml/2006/main">
              <a:ext uri="{FF2B5EF4-FFF2-40B4-BE49-F238E27FC236}">
                <a16:creationId xmlns:a16="http://schemas.microsoft.com/office/drawing/2014/main" id="{A878E55F-C5A3-49C1-B666-9DFA59B7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9812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偶然的 95 分</a:t>
            </a:r>
          </a:p>
        </p:txBody>
      </p:sp>
      <p:sp>
        <p:nvSpPr>
          <p:cNvPr id="8" name="p4-b-title">
            <a:extLst xmlns:a="http://schemas.openxmlformats.org/drawingml/2006/main">
              <a:ext uri="{FF2B5EF4-FFF2-40B4-BE49-F238E27FC236}">
                <a16:creationId xmlns:a16="http://schemas.microsoft.com/office/drawing/2014/main" id="{6F429063-4EF6-468B-8636-67387D75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812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稳定的 80 分</a:t>
            </a:r>
          </a:p>
        </p:txBody>
      </p:sp>
      <p:sp>
        <p:nvSpPr>
          <p:cNvPr id="9" name="p4-b-surface">
            <a:extLst xmlns:a="http://schemas.openxmlformats.org/drawingml/2006/main">
              <a:ext uri="{FF2B5EF4-FFF2-40B4-BE49-F238E27FC236}">
                <a16:creationId xmlns:a16="http://schemas.microsoft.com/office/drawing/2014/main" id="{66F9AEAB-E9C5-4325-9F66-FA14370A3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28800"/>
            <a:ext cx="3619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4-r0-label">
            <a:extLst xmlns:a="http://schemas.openxmlformats.org/drawingml/2006/main">
              <a:ext uri="{FF2B5EF4-FFF2-40B4-BE49-F238E27FC236}">
                <a16:creationId xmlns:a16="http://schemas.microsoft.com/office/drawing/2014/main" id="{F586F1EF-F6BE-4E0C-A3E3-119BAFE8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价值</a:t>
            </a:r>
          </a:p>
        </p:txBody>
      </p:sp>
      <p:sp>
        <p:nvSpPr>
          <p:cNvPr id="11" name="p4-r0-a">
            <a:extLst xmlns:a="http://schemas.openxmlformats.org/drawingml/2006/main">
              <a:ext uri="{FF2B5EF4-FFF2-40B4-BE49-F238E27FC236}">
                <a16:creationId xmlns:a16="http://schemas.microsoft.com/office/drawing/2014/main" id="{B5DA4790-EBB4-48D6-8619-F19CC4CE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908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偶尔让人惊叹</a:t>
            </a:r>
          </a:p>
        </p:txBody>
      </p:sp>
      <p:sp>
        <p:nvSpPr>
          <p:cNvPr id="12" name="p4-r0-b">
            <a:extLst xmlns:a="http://schemas.openxmlformats.org/drawingml/2006/main">
              <a:ext uri="{FF2B5EF4-FFF2-40B4-BE49-F238E27FC236}">
                <a16:creationId xmlns:a16="http://schemas.microsoft.com/office/drawing/2014/main" id="{083A3451-F030-45DF-A260-FD90B25F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90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直接使用不失专业</a:t>
            </a:r>
          </a:p>
        </p:txBody>
      </p:sp>
      <p:sp>
        <p:nvSpPr>
          <p:cNvPr id="13" name="p4-row-line-0">
            <a:extLst xmlns:a="http://schemas.openxmlformats.org/drawingml/2006/main">
              <a:ext uri="{FF2B5EF4-FFF2-40B4-BE49-F238E27FC236}">
                <a16:creationId xmlns:a16="http://schemas.microsoft.com/office/drawing/2014/main" id="{A9081E58-E144-4E92-AD84-86C469BD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0563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4-r1-label">
            <a:extLst xmlns:a="http://schemas.openxmlformats.org/drawingml/2006/main">
              <a:ext uri="{FF2B5EF4-FFF2-40B4-BE49-F238E27FC236}">
                <a16:creationId xmlns:a16="http://schemas.microsoft.com/office/drawing/2014/main" id="{AEDFCCA0-8EFF-41A6-8B34-0701CBB7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场景</a:t>
            </a:r>
          </a:p>
        </p:txBody>
      </p:sp>
      <p:sp>
        <p:nvSpPr>
          <p:cNvPr id="15" name="p4-r1-a">
            <a:extLst xmlns:a="http://schemas.openxmlformats.org/drawingml/2006/main">
              <a:ext uri="{FF2B5EF4-FFF2-40B4-BE49-F238E27FC236}">
                <a16:creationId xmlns:a16="http://schemas.microsoft.com/office/drawing/2014/main" id="{1E362562-D190-44CC-AB33-047A55E6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1813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高度定制的视觉作品</a:t>
            </a:r>
          </a:p>
        </p:txBody>
      </p:sp>
      <p:sp>
        <p:nvSpPr>
          <p:cNvPr id="16" name="p4-r1-b">
            <a:extLst xmlns:a="http://schemas.openxmlformats.org/drawingml/2006/main">
              <a:ext uri="{FF2B5EF4-FFF2-40B4-BE49-F238E27FC236}">
                <a16:creationId xmlns:a16="http://schemas.microsoft.com/office/drawing/2014/main" id="{9A1B87F3-59F6-4925-AEC1-56890D25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1813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明天要汇报的普通工作</a:t>
            </a:r>
          </a:p>
        </p:txBody>
      </p:sp>
      <p:sp>
        <p:nvSpPr>
          <p:cNvPr id="17" name="p4-row-line-1">
            <a:extLst xmlns:a="http://schemas.openxmlformats.org/drawingml/2006/main">
              <a:ext uri="{FF2B5EF4-FFF2-40B4-BE49-F238E27FC236}">
                <a16:creationId xmlns:a16="http://schemas.microsoft.com/office/drawing/2014/main" id="{A11AE679-C10C-4378-B712-C950BE04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0563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4-r2-label">
            <a:extLst xmlns:a="http://schemas.openxmlformats.org/drawingml/2006/main">
              <a:ext uri="{FF2B5EF4-FFF2-40B4-BE49-F238E27FC236}">
                <a16:creationId xmlns:a16="http://schemas.microsoft.com/office/drawing/2014/main" id="{4870C0CD-19F5-4263-98D4-7A3D48E8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后续</a:t>
            </a:r>
          </a:p>
        </p:txBody>
      </p:sp>
      <p:sp>
        <p:nvSpPr>
          <p:cNvPr id="19" name="p4-r2-a">
            <a:extLst xmlns:a="http://schemas.openxmlformats.org/drawingml/2006/main">
              <a:ext uri="{FF2B5EF4-FFF2-40B4-BE49-F238E27FC236}">
                <a16:creationId xmlns:a16="http://schemas.microsoft.com/office/drawing/2014/main" id="{7578E100-5246-4DF6-A05B-C1DD6B75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71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为增量付出更高成本</a:t>
            </a:r>
          </a:p>
        </p:txBody>
      </p:sp>
      <p:sp>
        <p:nvSpPr>
          <p:cNvPr id="20" name="p4-r2-b">
            <a:extLst xmlns:a="http://schemas.openxmlformats.org/drawingml/2006/main">
              <a:ext uri="{FF2B5EF4-FFF2-40B4-BE49-F238E27FC236}">
                <a16:creationId xmlns:a16="http://schemas.microsoft.com/office/drawing/2014/main" id="{4370B22D-89C1-4268-9AC8-32FB9EA1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719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继续修改有可靠基础</a:t>
            </a:r>
          </a:p>
        </p:txBody>
      </p:sp>
      <p:sp>
        <p:nvSpPr>
          <p:cNvPr id="21" name="p4-row-line-2">
            <a:extLst xmlns:a="http://schemas.openxmlformats.org/drawingml/2006/main">
              <a:ext uri="{FF2B5EF4-FFF2-40B4-BE49-F238E27FC236}">
                <a16:creationId xmlns:a16="http://schemas.microsoft.com/office/drawing/2014/main" id="{7DAF86DF-D476-4C34-ADE4-94DBCA24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0563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4-r3-label">
            <a:extLst xmlns:a="http://schemas.openxmlformats.org/drawingml/2006/main">
              <a:ext uri="{FF2B5EF4-FFF2-40B4-BE49-F238E27FC236}">
                <a16:creationId xmlns:a16="http://schemas.microsoft.com/office/drawing/2014/main" id="{EB3A167D-0A37-4F73-9E14-59425DAD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3" name="p4-r3-a">
            <a:extLst xmlns:a="http://schemas.openxmlformats.org/drawingml/2006/main">
              <a:ext uri="{FF2B5EF4-FFF2-40B4-BE49-F238E27FC236}">
                <a16:creationId xmlns:a16="http://schemas.microsoft.com/office/drawing/2014/main" id="{BDD5F077-A8E3-4D90-8374-FE33F999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上限更高，但结果随机</a:t>
            </a:r>
          </a:p>
        </p:txBody>
      </p:sp>
      <p:sp>
        <p:nvSpPr>
          <p:cNvPr id="24" name="p4-r3-b">
            <a:extLst xmlns:a="http://schemas.openxmlformats.org/drawingml/2006/main">
              <a:ext uri="{FF2B5EF4-FFF2-40B4-BE49-F238E27FC236}">
                <a16:creationId xmlns:a16="http://schemas.microsoft.com/office/drawing/2014/main" id="{F1C894C8-2142-468E-814B-72A5932F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362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投入与收益相匹配</a:t>
            </a:r>
          </a:p>
        </p:txBody>
      </p:sp>
      <p:sp>
        <p:nvSpPr>
          <p:cNvPr id="25" name="p4-row-line-3">
            <a:extLst xmlns:a="http://schemas.openxmlformats.org/drawingml/2006/main">
              <a:ext uri="{FF2B5EF4-FFF2-40B4-BE49-F238E27FC236}">
                <a16:creationId xmlns:a16="http://schemas.microsoft.com/office/drawing/2014/main" id="{FDF807B2-F2D1-4AF0-8681-B601D569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10563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4-note">
            <a:extLst xmlns:a="http://schemas.openxmlformats.org/drawingml/2006/main">
              <a:ext uri="{FF2B5EF4-FFF2-40B4-BE49-F238E27FC236}">
                <a16:creationId xmlns:a16="http://schemas.microsoft.com/office/drawing/2014/main" id="{324F6366-97DA-48AE-A187-CFEF5592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对工作来说，稳定的 80 分，很多时候比随机的 95 分更值钱。</a:t>
            </a:r>
          </a:p>
        </p:txBody>
      </p:sp>
    </p:spTree>
    <p:extLst>
      <p:ext uri="{BB962C8B-B14F-4D97-AF65-F5344CB8AC3E}">
        <p14:creationId xmlns:p14="http://schemas.microsoft.com/office/powerpoint/2010/main" val="4561373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p5-eyebrow">
            <a:extLst xmlns:a="http://schemas.openxmlformats.org/drawingml/2006/main">
              <a:ext uri="{FF2B5EF4-FFF2-40B4-BE49-F238E27FC236}">
                <a16:creationId xmlns:a16="http://schemas.microsoft.com/office/drawing/2014/main" id="{85BE0F2A-D318-467B-8B27-AD2B4ED5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5-title">
            <a:extLst xmlns:a="http://schemas.openxmlformats.org/drawingml/2006/main">
              <a:ext uri="{FF2B5EF4-FFF2-40B4-BE49-F238E27FC236}">
                <a16:creationId xmlns:a16="http://schemas.microsoft.com/office/drawing/2014/main" id="{46869692-3BE7-4BD2-8D74-EDA9B306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限制一部分自由，换取更少的不可用状态</a:t>
            </a:r>
          </a:p>
        </p:txBody>
      </p:sp>
      <p:sp>
        <p:nvSpPr>
          <p:cNvPr id="3" name="p5-divider">
            <a:extLst xmlns:a="http://schemas.openxmlformats.org/drawingml/2006/main">
              <a:ext uri="{FF2B5EF4-FFF2-40B4-BE49-F238E27FC236}">
                <a16:creationId xmlns:a16="http://schemas.microsoft.com/office/drawing/2014/main" id="{D4103F7C-A8C2-4B73-8012-16994C99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5-footer">
            <a:extLst xmlns:a="http://schemas.openxmlformats.org/drawingml/2006/main">
              <a:ext uri="{FF2B5EF4-FFF2-40B4-BE49-F238E27FC236}">
                <a16:creationId xmlns:a16="http://schemas.microsoft.com/office/drawing/2014/main" id="{39EF2E0A-E3A4-464C-BBDA-B8722DB1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05 / 11</a:t>
            </a:r>
          </a:p>
        </p:txBody>
      </p:sp>
      <p:sp>
        <p:nvSpPr>
          <p:cNvPr id="5" name="p5-intro">
            <a:extLst xmlns:a="http://schemas.openxmlformats.org/drawingml/2006/main">
              <a:ext uri="{FF2B5EF4-FFF2-40B4-BE49-F238E27FC236}">
                <a16:creationId xmlns:a16="http://schemas.microsoft.com/office/drawing/2014/main" id="{3008325C-C8AA-4C62-8D36-79B267A6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自由度越高，理论上的上限越高；但状态空间更大，失败模式也随之增加。</a:t>
            </a:r>
          </a:p>
        </p:txBody>
      </p:sp>
      <p:sp>
        <p:nvSpPr>
          <p:cNvPr id="6" name="p5-node-0">
            <a:extLst xmlns:a="http://schemas.openxmlformats.org/drawingml/2006/main">
              <a:ext uri="{FF2B5EF4-FFF2-40B4-BE49-F238E27FC236}">
                <a16:creationId xmlns:a16="http://schemas.microsoft.com/office/drawing/2014/main" id="{0F27A0FB-13CC-4290-905B-6EEC95E5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2476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5-node-0-title">
            <a:extLst xmlns:a="http://schemas.openxmlformats.org/drawingml/2006/main">
              <a:ext uri="{FF2B5EF4-FFF2-40B4-BE49-F238E27FC236}">
                <a16:creationId xmlns:a16="http://schemas.microsoft.com/office/drawing/2014/main" id="{3256B56C-6040-45CA-B24D-E72EDB21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自由度越高</a:t>
            </a:r>
          </a:p>
        </p:txBody>
      </p:sp>
      <p:sp>
        <p:nvSpPr>
          <p:cNvPr id="8" name="p5-node-0-body">
            <a:extLst xmlns:a="http://schemas.openxmlformats.org/drawingml/2006/main">
              <a:ext uri="{FF2B5EF4-FFF2-40B4-BE49-F238E27FC236}">
                <a16:creationId xmlns:a16="http://schemas.microsoft.com/office/drawing/2014/main" id="{126BA75E-6088-4697-9759-30C73093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颜色、字体、结构、版式、元素每次重来</a:t>
            </a:r>
          </a:p>
        </p:txBody>
      </p:sp>
      <p:sp>
        <p:nvSpPr>
          <p:cNvPr id="9" name="p5-node-1">
            <a:extLst xmlns:a="http://schemas.openxmlformats.org/drawingml/2006/main">
              <a:ext uri="{FF2B5EF4-FFF2-40B4-BE49-F238E27FC236}">
                <a16:creationId xmlns:a16="http://schemas.microsoft.com/office/drawing/2014/main" id="{F04E93B1-96B7-4F2A-8EFC-4CBF6E0C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05050"/>
            <a:ext cx="2476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5-node-1-title">
            <a:extLst xmlns:a="http://schemas.openxmlformats.org/drawingml/2006/main">
              <a:ext uri="{FF2B5EF4-FFF2-40B4-BE49-F238E27FC236}">
                <a16:creationId xmlns:a16="http://schemas.microsoft.com/office/drawing/2014/main" id="{71B416D0-8113-4BA5-A1E9-1CBC9447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状态空间变大</a:t>
            </a:r>
          </a:p>
        </p:txBody>
      </p:sp>
      <p:sp>
        <p:nvSpPr>
          <p:cNvPr id="11" name="p5-node-1-body">
            <a:extLst xmlns:a="http://schemas.openxmlformats.org/drawingml/2006/main">
              <a:ext uri="{FF2B5EF4-FFF2-40B4-BE49-F238E27FC236}">
                <a16:creationId xmlns:a16="http://schemas.microsoft.com/office/drawing/2014/main" id="{A979A141-5003-447F-ADE5-2066A9C5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051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失败模式随之增加</a:t>
            </a:r>
          </a:p>
        </p:txBody>
      </p:sp>
      <p:sp>
        <p:nvSpPr>
          <p:cNvPr id="12" name="p5-node-2">
            <a:extLst xmlns:a="http://schemas.openxmlformats.org/drawingml/2006/main">
              <a:ext uri="{FF2B5EF4-FFF2-40B4-BE49-F238E27FC236}">
                <a16:creationId xmlns:a16="http://schemas.microsoft.com/office/drawing/2014/main" id="{E03778DB-2C23-4CE1-9B2D-7A4B2AC4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05050"/>
            <a:ext cx="2476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5-node-2-title">
            <a:extLst xmlns:a="http://schemas.openxmlformats.org/drawingml/2006/main">
              <a:ext uri="{FF2B5EF4-FFF2-40B4-BE49-F238E27FC236}">
                <a16:creationId xmlns:a16="http://schemas.microsoft.com/office/drawing/2014/main" id="{E6DCD113-7933-458C-89D5-D6254BEE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71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主动限制自由</a:t>
            </a:r>
          </a:p>
        </p:txBody>
      </p:sp>
      <p:sp>
        <p:nvSpPr>
          <p:cNvPr id="14" name="p5-node-2-body">
            <a:extLst xmlns:a="http://schemas.openxmlformats.org/drawingml/2006/main">
              <a:ext uri="{FF2B5EF4-FFF2-40B4-BE49-F238E27FC236}">
                <a16:creationId xmlns:a16="http://schemas.microsoft.com/office/drawing/2014/main" id="{D510EDB6-606C-4FA4-A32B-9665A0F2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051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规范、能力、边界和退化方式更确定</a:t>
            </a:r>
          </a:p>
        </p:txBody>
      </p:sp>
      <p:cxnSp>
        <p:nvCxnSpPr>
          <p:cNvPr id="33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28950" y="2733675"/>
            <a:ext cx="1276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362700" y="2733675"/>
            <a:ext cx="1276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sp>
        <p:nvSpPr>
          <p:cNvPr id="17" name="p5-bottom">
            <a:extLst xmlns:a="http://schemas.openxmlformats.org/drawingml/2006/main">
              <a:ext uri="{FF2B5EF4-FFF2-40B4-BE49-F238E27FC236}">
                <a16:creationId xmlns:a16="http://schemas.microsoft.com/office/drawing/2014/main" id="{BBBDBD6A-1C54-4D43-B5DC-ECB04A28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正式工作更需要可预测。</a:t>
            </a:r>
          </a:p>
        </p:txBody>
      </p:sp>
      <p:sp>
        <p:nvSpPr>
          <p:cNvPr id="18" name="p5-bottom-body">
            <a:extLst xmlns:a="http://schemas.openxmlformats.org/drawingml/2006/main">
              <a:ext uri="{FF2B5EF4-FFF2-40B4-BE49-F238E27FC236}">
                <a16:creationId xmlns:a16="http://schemas.microsoft.com/office/drawing/2014/main" id="{31FF1B3B-34CF-4ED2-95E2-4996A9FB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固定的组织视觉规范、经过验证的表达能力、明确的数量与容量边界，以及已经登记的退化方式，共同减少结果落到不可用区间的机会。</a:t>
            </a:r>
          </a:p>
        </p:txBody>
      </p:sp>
    </p:spTree>
    <p:extLst>
      <p:ext uri="{BB962C8B-B14F-4D97-AF65-F5344CB8AC3E}">
        <p14:creationId xmlns:p14="http://schemas.microsoft.com/office/powerpoint/2010/main" val="16017427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p6-eyebrow">
            <a:extLst xmlns:a="http://schemas.openxmlformats.org/drawingml/2006/main">
              <a:ext uri="{FF2B5EF4-FFF2-40B4-BE49-F238E27FC236}">
                <a16:creationId xmlns:a16="http://schemas.microsoft.com/office/drawing/2014/main" id="{DB1ED358-77BC-434D-9EBD-3F69E33C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6-title">
            <a:extLst xmlns:a="http://schemas.openxmlformats.org/drawingml/2006/main">
              <a:ext uri="{FF2B5EF4-FFF2-40B4-BE49-F238E27FC236}">
                <a16:creationId xmlns:a16="http://schemas.microsoft.com/office/drawing/2014/main" id="{0CE31080-979B-4DAA-983D-7B885EA0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AI 在 PPagenT 里负责理解与路由</a:t>
            </a:r>
          </a:p>
        </p:txBody>
      </p:sp>
      <p:sp>
        <p:nvSpPr>
          <p:cNvPr id="3" name="p6-divider">
            <a:extLst xmlns:a="http://schemas.openxmlformats.org/drawingml/2006/main">
              <a:ext uri="{FF2B5EF4-FFF2-40B4-BE49-F238E27FC236}">
                <a16:creationId xmlns:a16="http://schemas.microsoft.com/office/drawing/2014/main" id="{0DA488C1-81D4-4388-8B83-8BFD001A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6-footer">
            <a:extLst xmlns:a="http://schemas.openxmlformats.org/drawingml/2006/main">
              <a:ext uri="{FF2B5EF4-FFF2-40B4-BE49-F238E27FC236}">
                <a16:creationId xmlns:a16="http://schemas.microsoft.com/office/drawing/2014/main" id="{AA17F927-4F79-42E8-93C3-F4D04099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06 / 11</a:t>
            </a:r>
          </a:p>
        </p:txBody>
      </p:sp>
      <p:sp>
        <p:nvSpPr>
          <p:cNvPr id="5" name="p6-intro">
            <a:extLst xmlns:a="http://schemas.openxmlformats.org/drawingml/2006/main">
              <a:ext uri="{FF2B5EF4-FFF2-40B4-BE49-F238E27FC236}">
                <a16:creationId xmlns:a16="http://schemas.microsoft.com/office/drawing/2014/main" id="{6DC1ACA7-A952-489B-AEBD-1BB870E2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AI 不直接自由绘制整份 PPT；视觉结果由提前确认的能力和确定性代码完成。</a:t>
            </a:r>
          </a:p>
        </p:txBody>
      </p:sp>
      <p:sp>
        <p:nvSpPr>
          <p:cNvPr id="6" name="p6-c0-title">
            <a:extLst xmlns:a="http://schemas.openxmlformats.org/drawingml/2006/main">
              <a:ext uri="{FF2B5EF4-FFF2-40B4-BE49-F238E27FC236}">
                <a16:creationId xmlns:a16="http://schemas.microsoft.com/office/drawing/2014/main" id="{931B03ED-900C-465B-A278-E258D911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7" name="p6-c0-line">
            <a:extLst xmlns:a="http://schemas.openxmlformats.org/drawingml/2006/main">
              <a:ext uri="{FF2B5EF4-FFF2-40B4-BE49-F238E27FC236}">
                <a16:creationId xmlns:a16="http://schemas.microsoft.com/office/drawing/2014/main" id="{B313E10B-41C7-43D2-B0FD-318707B0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6-c0-body">
            <a:extLst xmlns:a="http://schemas.openxmlformats.org/drawingml/2006/main">
              <a:ext uri="{FF2B5EF4-FFF2-40B4-BE49-F238E27FC236}">
                <a16:creationId xmlns:a16="http://schemas.microsoft.com/office/drawing/2014/main" id="{FBFCA1F3-AA8B-41C9-B262-99E1C56F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2476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理解稿件、组织叙事、拆页，并判断每一页适合怎样表达。</a:t>
            </a:r>
          </a:p>
        </p:txBody>
      </p:sp>
      <p:sp>
        <p:nvSpPr>
          <p:cNvPr id="9" name="p6-c0-note">
            <a:extLst xmlns:a="http://schemas.openxmlformats.org/drawingml/2006/main">
              <a:ext uri="{FF2B5EF4-FFF2-40B4-BE49-F238E27FC236}">
                <a16:creationId xmlns:a16="http://schemas.microsoft.com/office/drawing/2014/main" id="{3413091C-B43B-4721-8D24-AFFB1861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理解与路由</a:t>
            </a:r>
          </a:p>
        </p:txBody>
      </p:sp>
      <p:sp>
        <p:nvSpPr>
          <p:cNvPr id="10" name="p6-c1-title">
            <a:extLst xmlns:a="http://schemas.openxmlformats.org/drawingml/2006/main">
              <a:ext uri="{FF2B5EF4-FFF2-40B4-BE49-F238E27FC236}">
                <a16:creationId xmlns:a16="http://schemas.microsoft.com/office/drawing/2014/main" id="{5C7F9A09-EEAC-41A5-A4B0-679ABA4D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规则</a:t>
            </a:r>
          </a:p>
        </p:txBody>
      </p:sp>
      <p:sp>
        <p:nvSpPr>
          <p:cNvPr id="11" name="p6-c1-line">
            <a:extLst xmlns:a="http://schemas.openxmlformats.org/drawingml/2006/main">
              <a:ext uri="{FF2B5EF4-FFF2-40B4-BE49-F238E27FC236}">
                <a16:creationId xmlns:a16="http://schemas.microsoft.com/office/drawing/2014/main" id="{8E16E47F-5FB4-473F-B2AD-99B74648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2890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6-c1-body">
            <a:extLst xmlns:a="http://schemas.openxmlformats.org/drawingml/2006/main">
              <a:ext uri="{FF2B5EF4-FFF2-40B4-BE49-F238E27FC236}">
                <a16:creationId xmlns:a16="http://schemas.microsoft.com/office/drawing/2014/main" id="{D86A0600-DBCB-4B9D-B5DD-B91F500C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33700"/>
            <a:ext cx="2476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主题约束组织规范，能力库提供并列、顺序、对比、层级、循环等表达方式。</a:t>
            </a:r>
          </a:p>
        </p:txBody>
      </p:sp>
      <p:sp>
        <p:nvSpPr>
          <p:cNvPr id="13" name="p6-c1-note">
            <a:extLst xmlns:a="http://schemas.openxmlformats.org/drawingml/2006/main">
              <a:ext uri="{FF2B5EF4-FFF2-40B4-BE49-F238E27FC236}">
                <a16:creationId xmlns:a16="http://schemas.microsoft.com/office/drawing/2014/main" id="{F470DF95-99E0-4201-9937-7DB6CB4E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约束与选择</a:t>
            </a:r>
          </a:p>
        </p:txBody>
      </p:sp>
      <p:sp>
        <p:nvSpPr>
          <p:cNvPr id="14" name="p6-c2-title">
            <a:extLst xmlns:a="http://schemas.openxmlformats.org/drawingml/2006/main">
              <a:ext uri="{FF2B5EF4-FFF2-40B4-BE49-F238E27FC236}">
                <a16:creationId xmlns:a16="http://schemas.microsoft.com/office/drawing/2014/main" id="{94761135-224C-46E7-8CB4-5A3C41F5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336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代码</a:t>
            </a:r>
          </a:p>
        </p:txBody>
      </p:sp>
      <p:sp>
        <p:nvSpPr>
          <p:cNvPr id="15" name="p6-c2-line">
            <a:extLst xmlns:a="http://schemas.openxmlformats.org/drawingml/2006/main">
              <a:ext uri="{FF2B5EF4-FFF2-40B4-BE49-F238E27FC236}">
                <a16:creationId xmlns:a16="http://schemas.microsoft.com/office/drawing/2014/main" id="{DA21B15F-13B1-4657-B5F1-22D8B33E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2890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6-c2-body">
            <a:extLst xmlns:a="http://schemas.openxmlformats.org/drawingml/2006/main">
              <a:ext uri="{FF2B5EF4-FFF2-40B4-BE49-F238E27FC236}">
                <a16:creationId xmlns:a16="http://schemas.microsoft.com/office/drawing/2014/main" id="{DF8297E2-807A-4ED7-80EB-E19438AA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33700"/>
            <a:ext cx="2476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确定性排版与编译，把决策变成原生可编辑的 PowerPoint。</a:t>
            </a:r>
          </a:p>
        </p:txBody>
      </p:sp>
      <p:sp>
        <p:nvSpPr>
          <p:cNvPr id="17" name="p6-c2-note">
            <a:extLst xmlns:a="http://schemas.openxmlformats.org/drawingml/2006/main">
              <a:ext uri="{FF2B5EF4-FFF2-40B4-BE49-F238E27FC236}">
                <a16:creationId xmlns:a16="http://schemas.microsoft.com/office/drawing/2014/main" id="{86EDB8EE-5E7C-4DB0-824B-03DD291E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稳定生成</a:t>
            </a:r>
          </a:p>
        </p:txBody>
      </p:sp>
      <p:sp>
        <p:nvSpPr>
          <p:cNvPr id="18" name="p6-quote">
            <a:extLst xmlns:a="http://schemas.openxmlformats.org/drawingml/2006/main">
              <a:ext uri="{FF2B5EF4-FFF2-40B4-BE49-F238E27FC236}">
                <a16:creationId xmlns:a16="http://schemas.microsoft.com/office/drawing/2014/main" id="{94E88165-716A-44D6-A947-A4591071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00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AI 负责理解和路由，规则负责约束和选择，代码负责稳定生成。</a:t>
            </a:r>
          </a:p>
        </p:txBody>
      </p:sp>
    </p:spTree>
    <p:extLst>
      <p:ext uri="{BB962C8B-B14F-4D97-AF65-F5344CB8AC3E}">
        <p14:creationId xmlns:p14="http://schemas.microsoft.com/office/powerpoint/2010/main" val="15075835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7-eyebrow">
            <a:extLst xmlns:a="http://schemas.openxmlformats.org/drawingml/2006/main">
              <a:ext uri="{FF2B5EF4-FFF2-40B4-BE49-F238E27FC236}">
                <a16:creationId xmlns:a16="http://schemas.microsoft.com/office/drawing/2014/main" id="{A3D250C8-4CFE-4170-B5C0-DE64E392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7-title">
            <a:extLst xmlns:a="http://schemas.openxmlformats.org/drawingml/2006/main">
              <a:ext uri="{FF2B5EF4-FFF2-40B4-BE49-F238E27FC236}">
                <a16:creationId xmlns:a16="http://schemas.microsoft.com/office/drawing/2014/main" id="{781C4F67-2E87-40B9-9A69-4AE1207F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能力建设与正式生成，两条路线只在核心资产库交汇</a:t>
            </a:r>
          </a:p>
        </p:txBody>
      </p:sp>
      <p:sp>
        <p:nvSpPr>
          <p:cNvPr id="3" name="p7-divider">
            <a:extLst xmlns:a="http://schemas.openxmlformats.org/drawingml/2006/main">
              <a:ext uri="{FF2B5EF4-FFF2-40B4-BE49-F238E27FC236}">
                <a16:creationId xmlns:a16="http://schemas.microsoft.com/office/drawing/2014/main" id="{9E759A0C-7253-4943-A82C-4C265203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7-footer">
            <a:extLst xmlns:a="http://schemas.openxmlformats.org/drawingml/2006/main">
              <a:ext uri="{FF2B5EF4-FFF2-40B4-BE49-F238E27FC236}">
                <a16:creationId xmlns:a16="http://schemas.microsoft.com/office/drawing/2014/main" id="{4A694727-BF12-4344-B560-C907FECE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07 / 11</a:t>
            </a:r>
          </a:p>
        </p:txBody>
      </p:sp>
      <p:sp>
        <p:nvSpPr>
          <p:cNvPr id="5" name="p7-intro">
            <a:extLst xmlns:a="http://schemas.openxmlformats.org/drawingml/2006/main">
              <a:ext uri="{FF2B5EF4-FFF2-40B4-BE49-F238E27FC236}">
                <a16:creationId xmlns:a16="http://schemas.microsoft.com/office/drawing/2014/main" id="{2BEE529D-45FF-486A-96A8-72DF14A6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资产入库线把经验变成能力，正式生成线把能力稳定地用出来。</a:t>
            </a:r>
          </a:p>
        </p:txBody>
      </p:sp>
      <p:sp>
        <p:nvSpPr>
          <p:cNvPr id="6" name="p7-build-label">
            <a:extLst xmlns:a="http://schemas.openxmlformats.org/drawingml/2006/main">
              <a:ext uri="{FF2B5EF4-FFF2-40B4-BE49-F238E27FC236}">
                <a16:creationId xmlns:a16="http://schemas.microsoft.com/office/drawing/2014/main" id="{E3EDD11C-91AE-4FAC-BCD5-D9DC6DA0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资产入库线</a:t>
            </a:r>
          </a:p>
        </p:txBody>
      </p:sp>
      <p:sp>
        <p:nvSpPr>
          <p:cNvPr id="7" name="p7-run-label">
            <a:extLst xmlns:a="http://schemas.openxmlformats.org/drawingml/2006/main">
              <a:ext uri="{FF2B5EF4-FFF2-40B4-BE49-F238E27FC236}">
                <a16:creationId xmlns:a16="http://schemas.microsoft.com/office/drawing/2014/main" id="{9F075C31-809E-47A0-B350-EA5B71DF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正式生成线</a:t>
            </a:r>
          </a:p>
        </p:txBody>
      </p:sp>
      <p:sp>
        <p:nvSpPr>
          <p:cNvPr id="8" name="p7-b1-bg">
            <a:extLst xmlns:a="http://schemas.openxmlformats.org/drawingml/2006/main">
              <a:ext uri="{FF2B5EF4-FFF2-40B4-BE49-F238E27FC236}">
                <a16:creationId xmlns:a16="http://schemas.microsoft.com/office/drawing/2014/main" id="{FFA5B3B1-71B1-4345-B342-61CE61A8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19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7-b1">
            <a:extLst xmlns:a="http://schemas.openxmlformats.org/drawingml/2006/main">
              <a:ext uri="{FF2B5EF4-FFF2-40B4-BE49-F238E27FC236}">
                <a16:creationId xmlns:a16="http://schemas.microsoft.com/office/drawing/2014/main" id="{A15568D8-6414-4A5D-8A60-15D01B87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优秀参考</a:t>
            </a:r>
          </a:p>
        </p:txBody>
      </p:sp>
      <p:sp>
        <p:nvSpPr>
          <p:cNvPr id="10" name="p7-b2-bg">
            <a:extLst xmlns:a="http://schemas.openxmlformats.org/drawingml/2006/main">
              <a:ext uri="{FF2B5EF4-FFF2-40B4-BE49-F238E27FC236}">
                <a16:creationId xmlns:a16="http://schemas.microsoft.com/office/drawing/2014/main" id="{D034B34F-0776-4A99-ADD2-3CD4878E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1619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7-b2">
            <a:extLst xmlns:a="http://schemas.openxmlformats.org/drawingml/2006/main">
              <a:ext uri="{FF2B5EF4-FFF2-40B4-BE49-F238E27FC236}">
                <a16:creationId xmlns:a16="http://schemas.microsoft.com/office/drawing/2014/main" id="{C84D5C05-8038-4EC3-8210-927A2385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提炼设计规律</a:t>
            </a:r>
          </a:p>
        </p:txBody>
      </p:sp>
      <p:sp>
        <p:nvSpPr>
          <p:cNvPr id="12" name="p7-b3-bg">
            <a:extLst xmlns:a="http://schemas.openxmlformats.org/drawingml/2006/main">
              <a:ext uri="{FF2B5EF4-FFF2-40B4-BE49-F238E27FC236}">
                <a16:creationId xmlns:a16="http://schemas.microsoft.com/office/drawing/2014/main" id="{10587D17-EF40-47EA-BCC6-5CA064AF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66950"/>
            <a:ext cx="1619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7-b3">
            <a:extLst xmlns:a="http://schemas.openxmlformats.org/drawingml/2006/main">
              <a:ext uri="{FF2B5EF4-FFF2-40B4-BE49-F238E27FC236}">
                <a16:creationId xmlns:a16="http://schemas.microsoft.com/office/drawing/2014/main" id="{C563AB3C-4A77-4DB2-B8E4-84827431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扩展复用能力</a:t>
            </a:r>
          </a:p>
        </p:txBody>
      </p: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209800" y="26098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cxnSp>
        <p:nvCxnSpPr>
          <p:cNvPr id="45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981450" y="2609850"/>
            <a:ext cx="561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sp>
        <p:nvSpPr>
          <p:cNvPr id="16" name="p7-core-bg">
            <a:extLst xmlns:a="http://schemas.openxmlformats.org/drawingml/2006/main">
              <a:ext uri="{FF2B5EF4-FFF2-40B4-BE49-F238E27FC236}">
                <a16:creationId xmlns:a16="http://schemas.microsoft.com/office/drawing/2014/main" id="{CF6F0193-797C-45E0-970B-A059A3AD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71800"/>
            <a:ext cx="2095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7-core">
            <a:extLst xmlns:a="http://schemas.openxmlformats.org/drawingml/2006/main">
              <a:ext uri="{FF2B5EF4-FFF2-40B4-BE49-F238E27FC236}">
                <a16:creationId xmlns:a16="http://schemas.microsoft.com/office/drawing/2014/main" id="{849AD9BB-5CC1-4757-BABA-AD23929F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8135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核心资产库</a:t>
            </a:r>
          </a:p>
        </p:txBody>
      </p:sp>
      <p:cxnSp>
        <p:nvCxnSpPr>
          <p:cNvPr id="4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934075" y="2609850"/>
            <a:ext cx="485775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sp>
        <p:nvSpPr>
          <p:cNvPr id="19" name="p7-r1-bg">
            <a:extLst xmlns:a="http://schemas.openxmlformats.org/drawingml/2006/main">
              <a:ext uri="{FF2B5EF4-FFF2-40B4-BE49-F238E27FC236}">
                <a16:creationId xmlns:a16="http://schemas.microsoft.com/office/drawing/2014/main" id="{EB56AFD3-F075-4065-A56D-45B75F7C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7-r1">
            <a:extLst xmlns:a="http://schemas.openxmlformats.org/drawingml/2006/main">
              <a:ext uri="{FF2B5EF4-FFF2-40B4-BE49-F238E27FC236}">
                <a16:creationId xmlns:a16="http://schemas.microsoft.com/office/drawing/2014/main" id="{943E8007-97B7-4370-8992-425DD6F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稿件 + 主题</a:t>
            </a:r>
          </a:p>
        </p:txBody>
      </p:sp>
      <p:sp>
        <p:nvSpPr>
          <p:cNvPr id="21" name="p7-r2-bg">
            <a:extLst xmlns:a="http://schemas.openxmlformats.org/drawingml/2006/main">
              <a:ext uri="{FF2B5EF4-FFF2-40B4-BE49-F238E27FC236}">
                <a16:creationId xmlns:a16="http://schemas.microsoft.com/office/drawing/2014/main" id="{E68B0576-E783-49E7-82FA-B014600C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7-r2">
            <a:extLst xmlns:a="http://schemas.openxmlformats.org/drawingml/2006/main">
              <a:ext uri="{FF2B5EF4-FFF2-40B4-BE49-F238E27FC236}">
                <a16:creationId xmlns:a16="http://schemas.microsoft.com/office/drawing/2014/main" id="{F864F0D5-C730-47CC-BEF5-FB609DF1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648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AI 理解与编排</a:t>
            </a:r>
          </a:p>
        </p:txBody>
      </p:sp>
      <p:sp>
        <p:nvSpPr>
          <p:cNvPr id="23" name="p7-r3-bg">
            <a:extLst xmlns:a="http://schemas.openxmlformats.org/drawingml/2006/main">
              <a:ext uri="{FF2B5EF4-FFF2-40B4-BE49-F238E27FC236}">
                <a16:creationId xmlns:a16="http://schemas.microsoft.com/office/drawing/2014/main" id="{B715FC99-F537-4102-9CA7-7E6EF876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148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7-r3">
            <a:extLst xmlns:a="http://schemas.openxmlformats.org/drawingml/2006/main">
              <a:ext uri="{FF2B5EF4-FFF2-40B4-BE49-F238E27FC236}">
                <a16:creationId xmlns:a16="http://schemas.microsoft.com/office/drawing/2014/main" id="{3BA79FE6-670F-409C-9903-DCBFB01C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48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选择合法能力</a:t>
            </a:r>
          </a:p>
        </p:txBody>
      </p: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2400300" y="48577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cxnSp>
        <p:nvCxnSpPr>
          <p:cNvPr id="56" name=""/>
          <p:cNvCxnSpPr>
            <a:stCxn xmlns:a="http://schemas.openxmlformats.org/drawingml/2006/main" id="22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4552950" y="4857750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2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6267450" y="3448050"/>
            <a:ext cx="152400" cy="1409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sp>
        <p:nvSpPr>
          <p:cNvPr id="28" name="p7-out">
            <a:extLst xmlns:a="http://schemas.openxmlformats.org/drawingml/2006/main">
              <a:ext uri="{FF2B5EF4-FFF2-40B4-BE49-F238E27FC236}">
                <a16:creationId xmlns:a16="http://schemas.microsoft.com/office/drawing/2014/main" id="{71E5CA55-2AD6-4316-9964-C24245B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81350"/>
            <a:ext cx="2714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确定性编译 → 可编辑 PPTX</a:t>
            </a:r>
          </a:p>
        </p:txBody>
      </p:sp>
      <p:cxnSp>
        <p:nvCxnSpPr>
          <p:cNvPr id="59" name=""/>
          <p:cNvCxnSpPr>
            <a:stCxn xmlns:a="http://schemas.openxmlformats.org/drawingml/2006/main" id="17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8058150" y="3448050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tailEnd type="arrow" w="sm" len="sm"/>
          </a:ln>
        </p:spPr>
      </p:cxnSp>
      <p:sp>
        <p:nvSpPr>
          <p:cNvPr id="30" name="p7-note">
            <a:extLst xmlns:a="http://schemas.openxmlformats.org/drawingml/2006/main">
              <a:ext uri="{FF2B5EF4-FFF2-40B4-BE49-F238E27FC236}">
                <a16:creationId xmlns:a16="http://schemas.microsoft.com/office/drawing/2014/main" id="{FBE85D63-336A-4E97-8552-1C7C7B33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34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两条路线的唯一交汇点，是经过确认的核心资产库。</a:t>
            </a:r>
          </a:p>
        </p:txBody>
      </p:sp>
    </p:spTree>
    <p:extLst>
      <p:ext uri="{BB962C8B-B14F-4D97-AF65-F5344CB8AC3E}">
        <p14:creationId xmlns:p14="http://schemas.microsoft.com/office/powerpoint/2010/main" val="156403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p8-eyebrow">
            <a:extLst xmlns:a="http://schemas.openxmlformats.org/drawingml/2006/main">
              <a:ext uri="{FF2B5EF4-FFF2-40B4-BE49-F238E27FC236}">
                <a16:creationId xmlns:a16="http://schemas.microsoft.com/office/drawing/2014/main" id="{ECF615D0-6EE2-4AEA-B148-A3012D80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8-title">
            <a:extLst xmlns:a="http://schemas.openxmlformats.org/drawingml/2006/main">
              <a:ext uri="{FF2B5EF4-FFF2-40B4-BE49-F238E27FC236}">
                <a16:creationId xmlns:a16="http://schemas.microsoft.com/office/drawing/2014/main" id="{DC2A2DF2-29DE-4373-87CA-0423B83E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把昂贵的计算前移，正式生成才能低成本复用</a:t>
            </a:r>
          </a:p>
        </p:txBody>
      </p:sp>
      <p:sp>
        <p:nvSpPr>
          <p:cNvPr id="3" name="p8-divider">
            <a:extLst xmlns:a="http://schemas.openxmlformats.org/drawingml/2006/main">
              <a:ext uri="{FF2B5EF4-FFF2-40B4-BE49-F238E27FC236}">
                <a16:creationId xmlns:a16="http://schemas.microsoft.com/office/drawing/2014/main" id="{966350A8-3419-4093-852E-901E172B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8-footer">
            <a:extLst xmlns:a="http://schemas.openxmlformats.org/drawingml/2006/main">
              <a:ext uri="{FF2B5EF4-FFF2-40B4-BE49-F238E27FC236}">
                <a16:creationId xmlns:a16="http://schemas.microsoft.com/office/drawing/2014/main" id="{2033E034-6EC8-43C0-8A33-85026BC7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08 / 11</a:t>
            </a:r>
          </a:p>
        </p:txBody>
      </p:sp>
      <p:sp>
        <p:nvSpPr>
          <p:cNvPr id="5" name="p8-intro">
            <a:extLst xmlns:a="http://schemas.openxmlformats.org/drawingml/2006/main">
              <a:ext uri="{FF2B5EF4-FFF2-40B4-BE49-F238E27FC236}">
                <a16:creationId xmlns:a16="http://schemas.microsoft.com/office/drawing/2014/main" id="{52035E41-13AD-4877-A2EC-BC29B948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传统路线把理解、设计和失败风险集中在每次运行时；PPagenT 把不确定工作前移到建设期。</a:t>
            </a:r>
          </a:p>
        </p:txBody>
      </p:sp>
      <p:sp>
        <p:nvSpPr>
          <p:cNvPr id="6" name="p8-build-title">
            <a:extLst xmlns:a="http://schemas.openxmlformats.org/drawingml/2006/main">
              <a:ext uri="{FF2B5EF4-FFF2-40B4-BE49-F238E27FC236}">
                <a16:creationId xmlns:a16="http://schemas.microsoft.com/office/drawing/2014/main" id="{916D5A30-E0DB-48C6-A750-CF3429A5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建设期 / 一次建设</a:t>
            </a:r>
          </a:p>
        </p:txBody>
      </p:sp>
      <p:sp>
        <p:nvSpPr>
          <p:cNvPr id="7" name="p8-build-surface">
            <a:extLst xmlns:a="http://schemas.openxmlformats.org/drawingml/2006/main">
              <a:ext uri="{FF2B5EF4-FFF2-40B4-BE49-F238E27FC236}">
                <a16:creationId xmlns:a16="http://schemas.microsoft.com/office/drawing/2014/main" id="{7FB00E14-1F13-4ED0-B1B1-ABF2316E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286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8-build-over">
            <a:extLst xmlns:a="http://schemas.openxmlformats.org/drawingml/2006/main">
              <a:ext uri="{FF2B5EF4-FFF2-40B4-BE49-F238E27FC236}">
                <a16:creationId xmlns:a16="http://schemas.microsoft.com/office/drawing/2014/main" id="{0293891A-D4C5-485C-A00A-CFB167D4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3810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筛选优秀页面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理解为什么好看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内容、图片和数量参数化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反复验证并由用户确认</a:t>
            </a:r>
          </a:p>
        </p:txBody>
      </p:sp>
      <p:sp>
        <p:nvSpPr>
          <p:cNvPr id="9" name="p8-arrow-label">
            <a:extLst xmlns:a="http://schemas.openxmlformats.org/drawingml/2006/main">
              <a:ext uri="{FF2B5EF4-FFF2-40B4-BE49-F238E27FC236}">
                <a16:creationId xmlns:a16="http://schemas.microsoft.com/office/drawing/2014/main" id="{C557C96C-1BFB-4133-A2A5-7B7D6591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43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一次建设，多次复用</a:t>
            </a:r>
          </a:p>
        </p:txBody>
      </p:sp>
      <p:sp>
        <p:nvSpPr>
          <p:cNvPr id="10" name="p8-arrow">
            <a:extLst xmlns:a="http://schemas.openxmlformats.org/drawingml/2006/main">
              <a:ext uri="{FF2B5EF4-FFF2-40B4-BE49-F238E27FC236}">
                <a16:creationId xmlns:a16="http://schemas.microsoft.com/office/drawing/2014/main" id="{68B3E045-4F69-497B-AC52-DD4B6F3A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76625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8-runtime-title">
            <a:extLst xmlns:a="http://schemas.openxmlformats.org/drawingml/2006/main">
              <a:ext uri="{FF2B5EF4-FFF2-40B4-BE49-F238E27FC236}">
                <a16:creationId xmlns:a16="http://schemas.microsoft.com/office/drawing/2014/main" id="{1DFCE75D-6DE1-4ECB-B0C6-FA7DA5AC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正式生成 / 多次运行</a:t>
            </a:r>
          </a:p>
        </p:txBody>
      </p:sp>
      <p:sp>
        <p:nvSpPr>
          <p:cNvPr id="12" name="p8-runtime">
            <a:extLst xmlns:a="http://schemas.openxmlformats.org/drawingml/2006/main">
              <a:ext uri="{FF2B5EF4-FFF2-40B4-BE49-F238E27FC236}">
                <a16:creationId xmlns:a16="http://schemas.microsoft.com/office/drawing/2014/main" id="{10D7A1F1-40E1-4F31-B1DC-A897B09A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098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理解、分类、路由和填参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规则约束与确定性代码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真实任务中持续校准</a:t>
            </a:r>
          </a:p>
        </p:txBody>
      </p:sp>
      <p:sp>
        <p:nvSpPr>
          <p:cNvPr id="13" name="p8-result">
            <a:extLst xmlns:a="http://schemas.openxmlformats.org/drawingml/2006/main">
              <a:ext uri="{FF2B5EF4-FFF2-40B4-BE49-F238E27FC236}">
                <a16:creationId xmlns:a16="http://schemas.microsoft.com/office/drawing/2014/main" id="{BDE2A3DC-F7AF-4845-B99A-9365EE2D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视觉理解从在线成本变成离线资产。</a:t>
            </a:r>
          </a:p>
        </p:txBody>
      </p:sp>
    </p:spTree>
    <p:extLst>
      <p:ext uri="{BB962C8B-B14F-4D97-AF65-F5344CB8AC3E}">
        <p14:creationId xmlns:p14="http://schemas.microsoft.com/office/powerpoint/2010/main" val="1560009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p9-eyebrow">
            <a:extLst xmlns:a="http://schemas.openxmlformats.org/drawingml/2006/main">
              <a:ext uri="{FF2B5EF4-FFF2-40B4-BE49-F238E27FC236}">
                <a16:creationId xmlns:a16="http://schemas.microsoft.com/office/drawing/2014/main" id="{736FB370-735A-457F-BB7E-E936CFD2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9-title">
            <a:extLst xmlns:a="http://schemas.openxmlformats.org/drawingml/2006/main">
              <a:ext uri="{FF2B5EF4-FFF2-40B4-BE49-F238E27FC236}">
                <a16:creationId xmlns:a16="http://schemas.microsoft.com/office/drawing/2014/main" id="{EF4312B1-5E26-4E5A-ABDA-2E9FCA76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真正积累的不是一万个模板，而是可复用的表达能力</a:t>
            </a:r>
          </a:p>
        </p:txBody>
      </p:sp>
      <p:sp>
        <p:nvSpPr>
          <p:cNvPr id="3" name="p9-divider">
            <a:extLst xmlns:a="http://schemas.openxmlformats.org/drawingml/2006/main">
              <a:ext uri="{FF2B5EF4-FFF2-40B4-BE49-F238E27FC236}">
                <a16:creationId xmlns:a16="http://schemas.microsoft.com/office/drawing/2014/main" id="{F13FC52B-6A6B-4CBA-972E-7CA58D2D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9-footer">
            <a:extLst xmlns:a="http://schemas.openxmlformats.org/drawingml/2006/main">
              <a:ext uri="{FF2B5EF4-FFF2-40B4-BE49-F238E27FC236}">
                <a16:creationId xmlns:a16="http://schemas.microsoft.com/office/drawing/2014/main" id="{457590D4-3A27-4FC2-A091-E1CFEFD4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09 / 11</a:t>
            </a:r>
          </a:p>
        </p:txBody>
      </p:sp>
      <p:sp>
        <p:nvSpPr>
          <p:cNvPr id="5" name="p9-intro">
            <a:extLst xmlns:a="http://schemas.openxmlformats.org/drawingml/2006/main">
              <a:ext uri="{FF2B5EF4-FFF2-40B4-BE49-F238E27FC236}">
                <a16:creationId xmlns:a16="http://schemas.microsoft.com/office/drawing/2014/main" id="{A49E46A4-3FCB-4F05-860E-C9A46371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原页面和新稿件的数量、长度会变化，静态模板无法穷尽；真正要留下的是背后的规律。</a:t>
            </a:r>
          </a:p>
        </p:txBody>
      </p:sp>
      <p:sp>
        <p:nvSpPr>
          <p:cNvPr id="6" name="p9-layer-0">
            <a:extLst xmlns:a="http://schemas.openxmlformats.org/drawingml/2006/main">
              <a:ext uri="{FF2B5EF4-FFF2-40B4-BE49-F238E27FC236}">
                <a16:creationId xmlns:a16="http://schemas.microsoft.com/office/drawing/2014/main" id="{584CCBCF-792A-4140-95E4-52020EBA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526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9-layer-0-title">
            <a:extLst xmlns:a="http://schemas.openxmlformats.org/drawingml/2006/main">
              <a:ext uri="{FF2B5EF4-FFF2-40B4-BE49-F238E27FC236}">
                <a16:creationId xmlns:a16="http://schemas.microsoft.com/office/drawing/2014/main" id="{CE55E7DF-907B-40A3-A2BC-724A081C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574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稳定交付</a:t>
            </a:r>
          </a:p>
        </p:txBody>
      </p:sp>
      <p:sp>
        <p:nvSpPr>
          <p:cNvPr id="8" name="p9-layer-0-items">
            <a:extLst xmlns:a="http://schemas.openxmlformats.org/drawingml/2006/main">
              <a:ext uri="{FF2B5EF4-FFF2-40B4-BE49-F238E27FC236}">
                <a16:creationId xmlns:a16="http://schemas.microsoft.com/office/drawing/2014/main" id="{39F68CDB-1354-4933-B4E3-23E1C18D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57425"/>
            <a:ext cx="377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组织规范 / 原生可编辑</a:t>
            </a:r>
          </a:p>
        </p:txBody>
      </p:sp>
      <p:sp>
        <p:nvSpPr>
          <p:cNvPr id="9" name="p9-layer-1">
            <a:extLst xmlns:a="http://schemas.openxmlformats.org/drawingml/2006/main">
              <a:ext uri="{FF2B5EF4-FFF2-40B4-BE49-F238E27FC236}">
                <a16:creationId xmlns:a16="http://schemas.microsoft.com/office/drawing/2014/main" id="{1D465221-F165-463C-A149-BA5AE5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14650"/>
            <a:ext cx="685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9-layer-1-title">
            <a:extLst xmlns:a="http://schemas.openxmlformats.org/drawingml/2006/main">
              <a:ext uri="{FF2B5EF4-FFF2-40B4-BE49-F238E27FC236}">
                <a16:creationId xmlns:a16="http://schemas.microsoft.com/office/drawing/2014/main" id="{AE57A477-3D8F-4570-BF50-12CE582E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194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路由判断</a:t>
            </a:r>
          </a:p>
        </p:txBody>
      </p:sp>
      <p:sp>
        <p:nvSpPr>
          <p:cNvPr id="11" name="p9-layer-1-items">
            <a:extLst xmlns:a="http://schemas.openxmlformats.org/drawingml/2006/main">
              <a:ext uri="{FF2B5EF4-FFF2-40B4-BE49-F238E27FC236}">
                <a16:creationId xmlns:a16="http://schemas.microsoft.com/office/drawing/2014/main" id="{AB019877-FFE4-4403-9CC2-E56D9C4E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19425"/>
            <a:ext cx="472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内容适配 / 表达选择</a:t>
            </a:r>
          </a:p>
        </p:txBody>
      </p:sp>
      <p:sp>
        <p:nvSpPr>
          <p:cNvPr id="12" name="p9-layer-2">
            <a:extLst xmlns:a="http://schemas.openxmlformats.org/drawingml/2006/main">
              <a:ext uri="{FF2B5EF4-FFF2-40B4-BE49-F238E27FC236}">
                <a16:creationId xmlns:a16="http://schemas.microsoft.com/office/drawing/2014/main" id="{F0328E16-0F61-4F24-B3E3-290CC0F4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766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9-layer-2-title">
            <a:extLst xmlns:a="http://schemas.openxmlformats.org/drawingml/2006/main">
              <a:ext uri="{FF2B5EF4-FFF2-40B4-BE49-F238E27FC236}">
                <a16:creationId xmlns:a16="http://schemas.microsoft.com/office/drawing/2014/main" id="{DCAD12DB-9AAE-47BE-951D-4CBC165D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7814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表达能力</a:t>
            </a:r>
          </a:p>
        </p:txBody>
      </p:sp>
      <p:sp>
        <p:nvSpPr>
          <p:cNvPr id="14" name="p9-layer-2-items">
            <a:extLst xmlns:a="http://schemas.openxmlformats.org/drawingml/2006/main">
              <a:ext uri="{FF2B5EF4-FFF2-40B4-BE49-F238E27FC236}">
                <a16:creationId xmlns:a16="http://schemas.microsoft.com/office/drawing/2014/main" id="{DC0D7A4C-A3F7-4DEE-AAC2-DB47D548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81425"/>
            <a:ext cx="5676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并列 / 顺序 / 对比 / 层级</a:t>
            </a:r>
          </a:p>
        </p:txBody>
      </p:sp>
      <p:sp>
        <p:nvSpPr>
          <p:cNvPr id="15" name="p9-layer-3">
            <a:extLst xmlns:a="http://schemas.openxmlformats.org/drawingml/2006/main">
              <a:ext uri="{FF2B5EF4-FFF2-40B4-BE49-F238E27FC236}">
                <a16:creationId xmlns:a16="http://schemas.microsoft.com/office/drawing/2014/main" id="{5A77B20B-B91D-4A72-A52C-2C729B50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9-layer-3-title">
            <a:extLst xmlns:a="http://schemas.openxmlformats.org/drawingml/2006/main">
              <a:ext uri="{FF2B5EF4-FFF2-40B4-BE49-F238E27FC236}">
                <a16:creationId xmlns:a16="http://schemas.microsoft.com/office/drawing/2014/main" id="{763680D6-5534-4A4F-9C81-02528B85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434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容量边界</a:t>
            </a:r>
          </a:p>
        </p:txBody>
      </p:sp>
      <p:sp>
        <p:nvSpPr>
          <p:cNvPr id="17" name="p9-layer-3-items">
            <a:extLst xmlns:a="http://schemas.openxmlformats.org/drawingml/2006/main">
              <a:ext uri="{FF2B5EF4-FFF2-40B4-BE49-F238E27FC236}">
                <a16:creationId xmlns:a16="http://schemas.microsoft.com/office/drawing/2014/main" id="{6A6BA98B-45D2-490E-A7EC-A6116D65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43425"/>
            <a:ext cx="662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换样式 / 拆页 / 简单排版</a:t>
            </a:r>
          </a:p>
        </p:txBody>
      </p:sp>
      <p:sp>
        <p:nvSpPr>
          <p:cNvPr id="18" name="p9-note">
            <a:extLst xmlns:a="http://schemas.openxmlformats.org/drawingml/2006/main">
              <a:ext uri="{FF2B5EF4-FFF2-40B4-BE49-F238E27FC236}">
                <a16:creationId xmlns:a16="http://schemas.microsoft.com/office/drawing/2014/main" id="{02EBF51F-E626-4792-8E31-50688A86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一个漂亮页面，只有在这些规律被提炼出来以后，才能从一件作品变成一种能力。</a:t>
            </a:r>
          </a:p>
        </p:txBody>
      </p:sp>
    </p:spTree>
    <p:extLst>
      <p:ext uri="{BB962C8B-B14F-4D97-AF65-F5344CB8AC3E}">
        <p14:creationId xmlns:p14="http://schemas.microsoft.com/office/powerpoint/2010/main" val="5438681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10-eyebrow">
            <a:extLst xmlns:a="http://schemas.openxmlformats.org/drawingml/2006/main">
              <a:ext uri="{FF2B5EF4-FFF2-40B4-BE49-F238E27FC236}">
                <a16:creationId xmlns:a16="http://schemas.microsoft.com/office/drawing/2014/main" id="{D0CBAD17-B910-45E0-B512-8166F3E2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PRODUCT NARRATIVE</a:t>
            </a:r>
          </a:p>
        </p:txBody>
      </p:sp>
      <p:sp>
        <p:nvSpPr>
          <p:cNvPr id="2" name="p10-title">
            <a:extLst xmlns:a="http://schemas.openxmlformats.org/drawingml/2006/main">
              <a:ext uri="{FF2B5EF4-FFF2-40B4-BE49-F238E27FC236}">
                <a16:creationId xmlns:a16="http://schemas.microsoft.com/office/drawing/2014/main" id="{9159FDAF-E15A-4359-AD5F-96975240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从一个学校走向更多组织，主题替换而能力复用</a:t>
            </a:r>
          </a:p>
        </p:txBody>
      </p:sp>
      <p:sp>
        <p:nvSpPr>
          <p:cNvPr id="3" name="p10-divider">
            <a:extLst xmlns:a="http://schemas.openxmlformats.org/drawingml/2006/main">
              <a:ext uri="{FF2B5EF4-FFF2-40B4-BE49-F238E27FC236}">
                <a16:creationId xmlns:a16="http://schemas.microsoft.com/office/drawing/2014/main" id="{85FA96A5-E15F-4616-BF17-8D298D92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01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0-footer">
            <a:extLst xmlns:a="http://schemas.openxmlformats.org/drawingml/2006/main">
              <a:ext uri="{FF2B5EF4-FFF2-40B4-BE49-F238E27FC236}">
                <a16:creationId xmlns:a16="http://schemas.microsoft.com/office/drawing/2014/main" id="{64F5DF7C-9C13-4262-9751-4381597E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PPagenT  ·  10 / 11</a:t>
            </a:r>
          </a:p>
        </p:txBody>
      </p:sp>
      <p:sp>
        <p:nvSpPr>
          <p:cNvPr id="5" name="p10-intro">
            <a:extLst xmlns:a="http://schemas.openxmlformats.org/drawingml/2006/main">
              <a:ext uri="{FF2B5EF4-FFF2-40B4-BE49-F238E27FC236}">
                <a16:creationId xmlns:a16="http://schemas.microsoft.com/office/drawing/2014/main" id="{8ED595C7-02AD-4296-9F72-E2A5BA4C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东北大学是第一个正式落地场景，但学校或组织的主题可替换，内容理解规则与表达能力可以继续复用。</a:t>
            </a:r>
          </a:p>
        </p:txBody>
      </p:sp>
      <p:sp>
        <p:nvSpPr>
          <p:cNvPr id="6" name="p10-in-0">
            <a:extLst xmlns:a="http://schemas.openxmlformats.org/drawingml/2006/main">
              <a:ext uri="{FF2B5EF4-FFF2-40B4-BE49-F238E27FC236}">
                <a16:creationId xmlns:a16="http://schemas.microsoft.com/office/drawing/2014/main" id="{8713C2BE-29A6-473F-ABC4-1095F57D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0-in-0-text">
            <a:extLst xmlns:a="http://schemas.openxmlformats.org/drawingml/2006/main">
              <a:ext uri="{FF2B5EF4-FFF2-40B4-BE49-F238E27FC236}">
                <a16:creationId xmlns:a16="http://schemas.microsoft.com/office/drawing/2014/main" id="{54C95189-3437-4098-A17D-DD13CA17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学校视觉规范</a:t>
            </a:r>
          </a:p>
        </p:txBody>
      </p:sp>
      <p:sp>
        <p:nvSpPr>
          <p:cNvPr id="8" name="p10-path-0">
            <a:extLst xmlns:a="http://schemas.openxmlformats.org/drawingml/2006/main">
              <a:ext uri="{FF2B5EF4-FFF2-40B4-BE49-F238E27FC236}">
                <a16:creationId xmlns:a16="http://schemas.microsoft.com/office/drawing/2014/main" id="{62C2CB4C-2B0E-40B2-8503-8BD465E8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09800"/>
            <a:ext cx="295275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0-in-1">
            <a:extLst xmlns:a="http://schemas.openxmlformats.org/drawingml/2006/main">
              <a:ext uri="{FF2B5EF4-FFF2-40B4-BE49-F238E27FC236}">
                <a16:creationId xmlns:a16="http://schemas.microsoft.com/office/drawing/2014/main" id="{DEA0AA77-6F09-4FB5-AEF4-5D236D7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0-in-1-text">
            <a:extLst xmlns:a="http://schemas.openxmlformats.org/drawingml/2006/main">
              <a:ext uri="{FF2B5EF4-FFF2-40B4-BE49-F238E27FC236}">
                <a16:creationId xmlns:a16="http://schemas.microsoft.com/office/drawing/2014/main" id="{80A2057D-BE20-4B4B-A183-3FFD32C3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科研院所</a:t>
            </a:r>
          </a:p>
        </p:txBody>
      </p:sp>
      <p:sp>
        <p:nvSpPr>
          <p:cNvPr id="11" name="p10-path-1">
            <a:extLst xmlns:a="http://schemas.openxmlformats.org/drawingml/2006/main">
              <a:ext uri="{FF2B5EF4-FFF2-40B4-BE49-F238E27FC236}">
                <a16:creationId xmlns:a16="http://schemas.microsoft.com/office/drawing/2014/main" id="{8D02E0E9-9910-4496-9C70-13BAF4B4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95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0-in-2">
            <a:extLst xmlns:a="http://schemas.openxmlformats.org/drawingml/2006/main">
              <a:ext uri="{FF2B5EF4-FFF2-40B4-BE49-F238E27FC236}">
                <a16:creationId xmlns:a16="http://schemas.microsoft.com/office/drawing/2014/main" id="{D6311A91-7444-4253-AA24-7138D343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671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0-in-2-text">
            <a:extLst xmlns:a="http://schemas.openxmlformats.org/drawingml/2006/main">
              <a:ext uri="{FF2B5EF4-FFF2-40B4-BE49-F238E27FC236}">
                <a16:creationId xmlns:a16="http://schemas.microsoft.com/office/drawing/2014/main" id="{DED2BCD2-CA0D-407D-B708-75C9D189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企业团队</a:t>
            </a:r>
          </a:p>
        </p:txBody>
      </p:sp>
      <p:sp>
        <p:nvSpPr>
          <p:cNvPr id="14" name="p10-path-2">
            <a:extLst xmlns:a="http://schemas.openxmlformats.org/drawingml/2006/main">
              <a:ext uri="{FF2B5EF4-FFF2-40B4-BE49-F238E27FC236}">
                <a16:creationId xmlns:a16="http://schemas.microsoft.com/office/drawing/2014/main" id="{37DCECFE-B4F1-40F0-9A08-C371DE92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62325"/>
            <a:ext cx="29527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0-in-3">
            <a:extLst xmlns:a="http://schemas.openxmlformats.org/drawingml/2006/main">
              <a:ext uri="{FF2B5EF4-FFF2-40B4-BE49-F238E27FC236}">
                <a16:creationId xmlns:a16="http://schemas.microsoft.com/office/drawing/2014/main" id="{928963F7-50EB-4AA3-98B6-4BE6100A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0-in-3-text">
            <a:extLst xmlns:a="http://schemas.openxmlformats.org/drawingml/2006/main">
              <a:ext uri="{FF2B5EF4-FFF2-40B4-BE49-F238E27FC236}">
                <a16:creationId xmlns:a16="http://schemas.microsoft.com/office/drawing/2014/main" id="{0D63DA5A-6D1E-4B47-9575-688C90A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个人长期风格</a:t>
            </a:r>
          </a:p>
        </p:txBody>
      </p:sp>
      <p:sp>
        <p:nvSpPr>
          <p:cNvPr id="17" name="p10-path-3">
            <a:extLst xmlns:a="http://schemas.openxmlformats.org/drawingml/2006/main">
              <a:ext uri="{FF2B5EF4-FFF2-40B4-BE49-F238E27FC236}">
                <a16:creationId xmlns:a16="http://schemas.microsoft.com/office/drawing/2014/main" id="{C16B9A2A-8491-4FFF-ABB5-EF5B1815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62325"/>
            <a:ext cx="29527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10-output-bg">
            <a:extLst xmlns:a="http://schemas.openxmlformats.org/drawingml/2006/main">
              <a:ext uri="{FF2B5EF4-FFF2-40B4-BE49-F238E27FC236}">
                <a16:creationId xmlns:a16="http://schemas.microsoft.com/office/drawing/2014/main" id="{90325F26-E1BE-4EAC-8134-C646F18C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05100"/>
            <a:ext cx="3905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0-output-title">
            <a:extLst xmlns:a="http://schemas.openxmlformats.org/drawingml/2006/main">
              <a:ext uri="{FF2B5EF4-FFF2-40B4-BE49-F238E27FC236}">
                <a16:creationId xmlns:a16="http://schemas.microsoft.com/office/drawing/2014/main" id="{83C78E9F-3615-4036-A70C-8A8199D3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19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更多组织的工作型 PPT</a:t>
            </a:r>
          </a:p>
        </p:txBody>
      </p:sp>
      <p:sp>
        <p:nvSpPr>
          <p:cNvPr id="20" name="p10-output-body">
            <a:extLst xmlns:a="http://schemas.openxmlformats.org/drawingml/2006/main">
              <a:ext uri="{FF2B5EF4-FFF2-40B4-BE49-F238E27FC236}">
                <a16:creationId xmlns:a16="http://schemas.microsoft.com/office/drawing/2014/main" id="{64EEA906-46C2-468D-9912-52EE5C9A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主题配置替换颜色、Logo、字体和页眉页脚；能力继续复用。</a:t>
            </a:r>
          </a:p>
        </p:txBody>
      </p:sp>
      <p:sp>
        <p:nvSpPr>
          <p:cNvPr id="21" name="p10-note">
            <a:extLst xmlns:a="http://schemas.openxmlformats.org/drawingml/2006/main">
              <a:ext uri="{FF2B5EF4-FFF2-40B4-BE49-F238E27FC236}">
                <a16:creationId xmlns:a16="http://schemas.microsoft.com/office/drawing/2014/main" id="{DEA4311E-009C-43D2-B561-8D8E3305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不用要求每名成员都成为设计师，也能让日常输出稳定达到基本标准。</a:t>
            </a:r>
          </a:p>
        </p:txBody>
      </p:sp>
    </p:spTree>
    <p:extLst>
      <p:ext uri="{BB962C8B-B14F-4D97-AF65-F5344CB8AC3E}">
        <p14:creationId xmlns:p14="http://schemas.microsoft.com/office/powerpoint/2010/main" val="10109794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11-accent">
            <a:extLst xmlns:a="http://schemas.openxmlformats.org/drawingml/2006/main">
              <a:ext uri="{FF2B5EF4-FFF2-40B4-BE49-F238E27FC236}">
                <a16:creationId xmlns:a16="http://schemas.microsoft.com/office/drawing/2014/main" id="{D49B4020-56A9-4FBB-BC2B-9E7570DE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7700"/>
            <a:ext cx="76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1-kicker">
            <a:extLst xmlns:a="http://schemas.openxmlformats.org/drawingml/2006/main">
              <a:ext uri="{FF2B5EF4-FFF2-40B4-BE49-F238E27FC236}">
                <a16:creationId xmlns:a16="http://schemas.microsoft.com/office/drawing/2014/main" id="{0CE0C1CE-92E0-4E4C-95EA-00C36C24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85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PPagenT / CLOSE</a:t>
            </a:r>
          </a:p>
        </p:txBody>
      </p:sp>
      <p:sp>
        <p:nvSpPr>
          <p:cNvPr id="3" name="p11-title">
            <a:extLst xmlns:a="http://schemas.openxmlformats.org/drawingml/2006/main">
              <a:ext uri="{FF2B5EF4-FFF2-40B4-BE49-F238E27FC236}">
                <a16:creationId xmlns:a16="http://schemas.microsoft.com/office/drawing/2014/main" id="{ECE9641F-41DD-4E8D-AB89-B2FAA1C9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38250"/>
            <a:ext cx="1000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33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它卖的不是一次偶然惊艳，而是概率上高度可预测的交付。</a:t>
            </a:r>
          </a:p>
        </p:txBody>
      </p:sp>
      <p:sp>
        <p:nvSpPr>
          <p:cNvPr id="4" name="p11-quote">
            <a:extLst xmlns:a="http://schemas.openxmlformats.org/drawingml/2006/main">
              <a:ext uri="{FF2B5EF4-FFF2-40B4-BE49-F238E27FC236}">
                <a16:creationId xmlns:a16="http://schemas.microsoft.com/office/drawing/2014/main" id="{8C10A437-A4A3-493A-A2AB-7FAFD9A6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不一定惊艳，但靠谱；不一定独一无二，但真的好用；可以立刻拿去讲，也可以继续修改的 PPT。</a:t>
            </a:r>
          </a:p>
        </p:txBody>
      </p:sp>
      <p:sp>
        <p:nvSpPr>
          <p:cNvPr id="5" name="p11-divider">
            <a:extLst xmlns:a="http://schemas.openxmlformats.org/drawingml/2006/main">
              <a:ext uri="{FF2B5EF4-FFF2-40B4-BE49-F238E27FC236}">
                <a16:creationId xmlns:a16="http://schemas.microsoft.com/office/drawing/2014/main" id="{B53586C4-98CB-4C07-A5FC-C7A993F9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433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11-last">
            <a:extLst xmlns:a="http://schemas.openxmlformats.org/drawingml/2006/main">
              <a:ext uri="{FF2B5EF4-FFF2-40B4-BE49-F238E27FC236}">
                <a16:creationId xmlns:a16="http://schemas.microsoft.com/office/drawing/2014/main" id="{CC8608AA-1E5E-49B1-9B52-5B578CA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如果能持续做到这一点，这个普通问题就能成为一项可靠的产品能力。</a:t>
            </a:r>
          </a:p>
        </p:txBody>
      </p:sp>
      <p:sp>
        <p:nvSpPr>
          <p:cNvPr id="7" name="p11-page">
            <a:extLst xmlns:a="http://schemas.openxmlformats.org/drawingml/2006/main">
              <a:ext uri="{FF2B5EF4-FFF2-40B4-BE49-F238E27FC236}">
                <a16:creationId xmlns:a16="http://schemas.microsoft.com/office/drawing/2014/main" id="{CC3C6BCD-4AD1-44D1-A5D7-8269C896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865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11 / 11</a:t>
            </a:r>
          </a:p>
        </p:txBody>
      </p:sp>
    </p:spTree>
    <p:extLst>
      <p:ext uri="{BB962C8B-B14F-4D97-AF65-F5344CB8AC3E}">
        <p14:creationId xmlns:p14="http://schemas.microsoft.com/office/powerpoint/2010/main" val="764207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2026-09-06T05:37:38.9410000Z</dcterms:created>
  <dcterms:modified xsi:type="dcterms:W3CDTF">2026-09-06T05:37:38.9410000Z</dcterms:modified>
</coreProperties>
</file>