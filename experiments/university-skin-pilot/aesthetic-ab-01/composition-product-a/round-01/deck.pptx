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43c5acd064b89" /><Relationship Type="http://schemas.openxmlformats.org/officeDocument/2006/relationships/extended-properties" Target="/docProps/app.xml" Id="R76d350f7ac844a24" /><Relationship Type="http://schemas.openxmlformats.org/officeDocument/2006/relationships/officeDocument" Target="/ppt/presentation.xml" Id="R26b9dac3f68b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904d117194ebb"/>
  </p:sldMasterIdLst>
  <p:notesMasterIdLst>
    <p:notesMasterId xmlns:r="http://schemas.openxmlformats.org/officeDocument/2006/relationships" r:id="R3f7dd37ee2e64c14"/>
  </p:notesMasterIdLst>
  <p:sldIdLst>
    <p:sldId xmlns:r="http://schemas.openxmlformats.org/officeDocument/2006/relationships" id="256" r:id="Rf991aad360644c61"/>
    <p:sldId xmlns:r="http://schemas.openxmlformats.org/officeDocument/2006/relationships" id="257" r:id="R1bcd455f216e4cbb"/>
    <p:sldId xmlns:r="http://schemas.openxmlformats.org/officeDocument/2006/relationships" id="258" r:id="Rebb6600408354859"/>
    <p:sldId xmlns:r="http://schemas.openxmlformats.org/officeDocument/2006/relationships" id="259" r:id="Ra7f86e4eb2c64b40"/>
    <p:sldId xmlns:r="http://schemas.openxmlformats.org/officeDocument/2006/relationships" id="260" r:id="Rfaa8c35423454c42"/>
    <p:sldId xmlns:r="http://schemas.openxmlformats.org/officeDocument/2006/relationships" id="261" r:id="Rea0b398a6c6f485d"/>
    <p:sldId xmlns:r="http://schemas.openxmlformats.org/officeDocument/2006/relationships" id="262" r:id="Ra4f656417f144f75"/>
    <p:sldId xmlns:r="http://schemas.openxmlformats.org/officeDocument/2006/relationships" id="263" r:id="R1f091a300eb242a9"/>
    <p:sldId xmlns:r="http://schemas.openxmlformats.org/officeDocument/2006/relationships" id="264" r:id="R040fb346243c410e"/>
    <p:sldId xmlns:r="http://schemas.openxmlformats.org/officeDocument/2006/relationships" id="265" r:id="R767f3e5b1c9a4ea4"/>
    <p:sldId xmlns:r="http://schemas.openxmlformats.org/officeDocument/2006/relationships" id="266" r:id="R4c416d5b817347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26a46b810404e" /><Relationship Type="http://schemas.openxmlformats.org/officeDocument/2006/relationships/slideMaster" Target="/ppt/slideMasters/slideMaster1.xml" Id="R1b3904d117194ebb" /><Relationship Type="http://schemas.openxmlformats.org/officeDocument/2006/relationships/notesMaster" Target="/ppt/notesMasters/notesMaster1.xml" Id="R3f7dd37ee2e64c14" /><Relationship Type="http://schemas.openxmlformats.org/officeDocument/2006/relationships/presProps" Target="/ppt/presProps.xml" Id="R462a96032ebb4d44" /><Relationship Type="http://schemas.openxmlformats.org/officeDocument/2006/relationships/tableStyles" Target="/ppt/tableStyles.xml" Id="R292a9b96ffc344c3" /><Relationship Type="http://schemas.openxmlformats.org/officeDocument/2006/relationships/slide" Target="/ppt/slides/slide1.xml" Id="Rf991aad360644c61" /><Relationship Type="http://schemas.openxmlformats.org/officeDocument/2006/relationships/slide" Target="/ppt/slides/slide2.xml" Id="R1bcd455f216e4cbb" /><Relationship Type="http://schemas.openxmlformats.org/officeDocument/2006/relationships/slide" Target="/ppt/slides/slide3.xml" Id="Rebb6600408354859" /><Relationship Type="http://schemas.openxmlformats.org/officeDocument/2006/relationships/slide" Target="/ppt/slides/slide4.xml" Id="Ra7f86e4eb2c64b40" /><Relationship Type="http://schemas.openxmlformats.org/officeDocument/2006/relationships/slide" Target="/ppt/slides/slide5.xml" Id="Rfaa8c35423454c42" /><Relationship Type="http://schemas.openxmlformats.org/officeDocument/2006/relationships/slide" Target="/ppt/slides/slide6.xml" Id="Rea0b398a6c6f485d" /><Relationship Type="http://schemas.openxmlformats.org/officeDocument/2006/relationships/slide" Target="/ppt/slides/slide7.xml" Id="Ra4f656417f144f75" /><Relationship Type="http://schemas.openxmlformats.org/officeDocument/2006/relationships/slide" Target="/ppt/slides/slide8.xml" Id="R1f091a300eb242a9" /><Relationship Type="http://schemas.openxmlformats.org/officeDocument/2006/relationships/slide" Target="/ppt/slides/slide9.xml" Id="R040fb346243c410e" /><Relationship Type="http://schemas.openxmlformats.org/officeDocument/2006/relationships/slide" Target="/ppt/slides/slide10.xml" Id="R767f3e5b1c9a4ea4" /><Relationship Type="http://schemas.openxmlformats.org/officeDocument/2006/relationships/slide" Target="/ppt/slides/slide11.xml" Id="R4c416d5b817347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157598eac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bd7ea136c94cc9" /><Relationship Type="http://schemas.openxmlformats.org/officeDocument/2006/relationships/notesMaster" Target="/ppt/notesMasters/notesMaster1.xml" Id="Rcb4600d4c9044b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4c70defa745c1" /><Relationship Type="http://schemas.openxmlformats.org/officeDocument/2006/relationships/notesMaster" Target="/ppt/notesMasters/notesMaster1.xml" Id="R6acb79146c2e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ba66b28ada441e" /><Relationship Type="http://schemas.openxmlformats.org/officeDocument/2006/relationships/notesMaster" Target="/ppt/notesMasters/notesMaster1.xml" Id="R03f853f931f845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b78f8b7d54e59" /><Relationship Type="http://schemas.openxmlformats.org/officeDocument/2006/relationships/notesMaster" Target="/ppt/notesMasters/notesMaster1.xml" Id="R8f9741b6787445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06a683f82845a6" /><Relationship Type="http://schemas.openxmlformats.org/officeDocument/2006/relationships/notesMaster" Target="/ppt/notesMasters/notesMaster1.xml" Id="R6f178d97be9341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7a51ccd6614bee" /><Relationship Type="http://schemas.openxmlformats.org/officeDocument/2006/relationships/notesMaster" Target="/ppt/notesMasters/notesMaster1.xml" Id="R17578a74b6ed4f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773690a69a484b" /><Relationship Type="http://schemas.openxmlformats.org/officeDocument/2006/relationships/notesMaster" Target="/ppt/notesMasters/notesMaster1.xml" Id="R6cfd72254b9a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2a8335767b4aae" /><Relationship Type="http://schemas.openxmlformats.org/officeDocument/2006/relationships/notesMaster" Target="/ppt/notesMasters/notesMaster1.xml" Id="R99ee2ffa5d88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403e0fba184f55" /><Relationship Type="http://schemas.openxmlformats.org/officeDocument/2006/relationships/notesMaster" Target="/ppt/notesMasters/notesMaster1.xml" Id="R1d6e0e3b410445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9e6c24b671433d" /><Relationship Type="http://schemas.openxmlformats.org/officeDocument/2006/relationships/notesMaster" Target="/ppt/notesMasters/notesMaster1.xml" Id="Rf7cac04484274e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4b7fb3f2ae4eb6" /><Relationship Type="http://schemas.openxmlformats.org/officeDocument/2006/relationships/notesMaster" Target="/ppt/notesMasters/notesMaster1.xml" Id="R0225fc8b9f91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b9111762f4c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89a06f1f643a6" /><Relationship Type="http://schemas.openxmlformats.org/officeDocument/2006/relationships/slideLayout" Target="/ppt/slideLayouts/slideLayout1.xml" Id="R79cad5eed5e3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cad5eed5e3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ec663ca57463c" /><Relationship Type="http://schemas.openxmlformats.org/officeDocument/2006/relationships/notesSlide" Target="/ppt/notesSlides/notesSlide1.xml" Id="Rd5f8453f34aa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fd0428ad64b2b" /><Relationship Type="http://schemas.openxmlformats.org/officeDocument/2006/relationships/notesSlide" Target="/ppt/notesSlides/notesSlide2.xml" Id="R05c7e9d5b9b3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5022ed4524bcd" /><Relationship Type="http://schemas.openxmlformats.org/officeDocument/2006/relationships/notesSlide" Target="/ppt/notesSlides/notesSlide3.xml" Id="R4f7f1ec6d78f45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2233f5f9f40e8" /><Relationship Type="http://schemas.openxmlformats.org/officeDocument/2006/relationships/notesSlide" Target="/ppt/notesSlides/notesSlide4.xml" Id="R85420fa74615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6eea390747f6" /><Relationship Type="http://schemas.openxmlformats.org/officeDocument/2006/relationships/notesSlide" Target="/ppt/notesSlides/notesSlide5.xml" Id="R524b618af4c2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f6a113b6c44b1" /><Relationship Type="http://schemas.openxmlformats.org/officeDocument/2006/relationships/notesSlide" Target="/ppt/notesSlides/notesSlide6.xml" Id="R6856d9de1ceb4f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3e1caaf5480d" /><Relationship Type="http://schemas.openxmlformats.org/officeDocument/2006/relationships/notesSlide" Target="/ppt/notesSlides/notesSlide7.xml" Id="Rd427a589270a49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bc3cbb7af40bc" /><Relationship Type="http://schemas.openxmlformats.org/officeDocument/2006/relationships/notesSlide" Target="/ppt/notesSlides/notesSlide8.xml" Id="R5d758a90ed75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883a86d064ad2" /><Relationship Type="http://schemas.openxmlformats.org/officeDocument/2006/relationships/notesSlide" Target="/ppt/notesSlides/notesSlide9.xml" Id="R41cdc027dcc544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b8ee9836246f3" /><Relationship Type="http://schemas.openxmlformats.org/officeDocument/2006/relationships/notesSlide" Target="/ppt/notesSlides/notesSlide10.xml" Id="R8bd30a985d8c49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3709da8bf4201" /><Relationship Type="http://schemas.openxmlformats.org/officeDocument/2006/relationships/notesSlide" Target="/ppt/notesSlides/notesSlide11.xml" Id="Rf527a1503428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-accent">
            <a:extLst xmlns:a="http://schemas.openxmlformats.org/drawingml/2006/main">
              <a:ext uri="{FF2B5EF4-FFF2-40B4-BE49-F238E27FC236}">
                <a16:creationId xmlns:a16="http://schemas.microsoft.com/office/drawing/2014/main" id="{188E3DD4-9024-4981-8F29-2F1A14A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-kicker">
            <a:extLst xmlns:a="http://schemas.openxmlformats.org/drawingml/2006/main">
              <a:ext uri="{FF2B5EF4-FFF2-40B4-BE49-F238E27FC236}">
                <a16:creationId xmlns:a16="http://schemas.microsoft.com/office/drawing/2014/main" id="{192ABB8B-1E10-4516-9E1D-AF52EEF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3" name="p1-title">
            <a:extLst xmlns:a="http://schemas.openxmlformats.org/drawingml/2006/main">
              <a:ext uri="{FF2B5EF4-FFF2-40B4-BE49-F238E27FC236}">
                <a16:creationId xmlns:a16="http://schemas.microsoft.com/office/drawing/2014/main" id="{B830A1C0-C451-424A-816E-D159A4D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19200"/>
            <a:ext cx="847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生成变成可靠的生产过程</a:t>
            </a:r>
          </a:p>
        </p:txBody>
      </p:sp>
      <p:sp>
        <p:nvSpPr>
          <p:cNvPr id="4" name="p1-subtitle">
            <a:extLst xmlns:a="http://schemas.openxmlformats.org/drawingml/2006/main">
              <a:ext uri="{FF2B5EF4-FFF2-40B4-BE49-F238E27FC236}">
                <a16:creationId xmlns:a16="http://schemas.microsoft.com/office/drawing/2014/main" id="{D0746937-0763-41D1-A176-AAF72E11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 AI 帮我们读稿子，让规则帮我们做判断，让代码完成重复劳动。</a:t>
            </a:r>
          </a:p>
        </p:txBody>
      </p:sp>
      <p:sp>
        <p:nvSpPr>
          <p:cNvPr id="5" name="p1-divider">
            <a:extLst xmlns:a="http://schemas.openxmlformats.org/drawingml/2006/main">
              <a:ext uri="{FF2B5EF4-FFF2-40B4-BE49-F238E27FC236}">
                <a16:creationId xmlns:a16="http://schemas.microsoft.com/office/drawing/2014/main" id="{C0973186-5D26-40AB-879D-71B61C7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-foot">
            <a:extLst xmlns:a="http://schemas.openxmlformats.org/drawingml/2006/main">
              <a:ext uri="{FF2B5EF4-FFF2-40B4-BE49-F238E27FC236}">
                <a16:creationId xmlns:a16="http://schemas.microsoft.com/office/drawing/2014/main" id="{1B83FA6D-6D27-4C55-9E0A-CBB1C07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一份关于产品道路、能力建设与交付可靠度的说明</a:t>
            </a:r>
          </a:p>
        </p:txBody>
      </p:sp>
      <p:sp>
        <p:nvSpPr>
          <p:cNvPr id="7" name="p1-page">
            <a:extLst xmlns:a="http://schemas.openxmlformats.org/drawingml/2006/main">
              <a:ext uri="{FF2B5EF4-FFF2-40B4-BE49-F238E27FC236}">
                <a16:creationId xmlns:a16="http://schemas.microsoft.com/office/drawing/2014/main" id="{48C4F360-68C0-4ECF-B1E8-7DD81E6D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33087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2-eyebrow">
            <a:extLst xmlns:a="http://schemas.openxmlformats.org/drawingml/2006/main">
              <a:ext uri="{FF2B5EF4-FFF2-40B4-BE49-F238E27FC236}">
                <a16:creationId xmlns:a16="http://schemas.microsoft.com/office/drawing/2014/main" id="{91D00527-22D6-4EC6-AAC1-FCA5E99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2-title">
            <a:extLst xmlns:a="http://schemas.openxmlformats.org/drawingml/2006/main">
              <a:ext uri="{FF2B5EF4-FFF2-40B4-BE49-F238E27FC236}">
                <a16:creationId xmlns:a16="http://schemas.microsoft.com/office/drawing/2014/main" id="{99985816-4AA7-46D9-A068-A8A1E5AF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 PPT，真正昂贵的是判断</a:t>
            </a:r>
          </a:p>
        </p:txBody>
      </p:sp>
      <p:sp>
        <p:nvSpPr>
          <p:cNvPr id="3" name="p2-divider">
            <a:extLst xmlns:a="http://schemas.openxmlformats.org/drawingml/2006/main">
              <a:ext uri="{FF2B5EF4-FFF2-40B4-BE49-F238E27FC236}">
                <a16:creationId xmlns:a16="http://schemas.microsoft.com/office/drawing/2014/main" id="{85CA2643-0C67-4A5F-BD6D-B27469E3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-footer">
            <a:extLst xmlns:a="http://schemas.openxmlformats.org/drawingml/2006/main">
              <a:ext uri="{FF2B5EF4-FFF2-40B4-BE49-F238E27FC236}">
                <a16:creationId xmlns:a16="http://schemas.microsoft.com/office/drawing/2014/main" id="{4AADEBDE-0D0A-4AC6-8564-9DDF3A8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02 / 11</a:t>
            </a:r>
          </a:p>
        </p:txBody>
      </p:sp>
      <p:sp>
        <p:nvSpPr>
          <p:cNvPr id="5" name="p2-lead">
            <a:extLst xmlns:a="http://schemas.openxmlformats.org/drawingml/2006/main">
              <a:ext uri="{FF2B5EF4-FFF2-40B4-BE49-F238E27FC236}">
                <a16:creationId xmlns:a16="http://schemas.microsoft.com/office/drawing/2014/main" id="{7BA8076B-1AC2-4FAF-BA9D-06A3D24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真正费时间的不是把文本框拖到左边还是右边，而是一连串判断。</a:t>
            </a:r>
          </a:p>
        </p:txBody>
      </p:sp>
      <p:sp>
        <p:nvSpPr>
          <p:cNvPr id="6" name="p2-g1-label">
            <a:extLst xmlns:a="http://schemas.openxmlformats.org/drawingml/2006/main">
              <a:ext uri="{FF2B5EF4-FFF2-40B4-BE49-F238E27FC236}">
                <a16:creationId xmlns:a16="http://schemas.microsoft.com/office/drawing/2014/main" id="{C42A6AE4-9703-4172-BD0B-8DE46ED0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7" name="p2-g1-body">
            <a:extLst xmlns:a="http://schemas.openxmlformats.org/drawingml/2006/main">
              <a:ext uri="{FF2B5EF4-FFF2-40B4-BE49-F238E27FC236}">
                <a16:creationId xmlns:a16="http://schemas.microsoft.com/office/drawing/2014/main" id="{AA012E2F-F53C-4AED-BBC6-87CAA0E3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这场汇报到底怎么讲，一篇长稿应该拆成多少页。</a:t>
            </a:r>
          </a:p>
        </p:txBody>
      </p:sp>
      <p:sp>
        <p:nvSpPr>
          <p:cNvPr id="8" name="p2-g2-label">
            <a:extLst xmlns:a="http://schemas.openxmlformats.org/drawingml/2006/main">
              <a:ext uri="{FF2B5EF4-FFF2-40B4-BE49-F238E27FC236}">
                <a16:creationId xmlns:a16="http://schemas.microsoft.com/office/drawing/2014/main" id="{BA1B1AF8-5E43-4B37-AEF5-2E1D2E31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页职责</a:t>
            </a:r>
          </a:p>
        </p:txBody>
      </p:sp>
      <p:sp>
        <p:nvSpPr>
          <p:cNvPr id="9" name="p2-g2-body">
            <a:extLst xmlns:a="http://schemas.openxmlformats.org/drawingml/2006/main">
              <a:ext uri="{FF2B5EF4-FFF2-40B4-BE49-F238E27FC236}">
                <a16:creationId xmlns:a16="http://schemas.microsoft.com/office/drawing/2014/main" id="{1BD41B72-E18E-4BB4-8CD6-66C247FC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每一页只承担什么职责，这几个观点是并列、递进、因果还是流程。</a:t>
            </a:r>
          </a:p>
        </p:txBody>
      </p:sp>
      <p:sp>
        <p:nvSpPr>
          <p:cNvPr id="10" name="p2-g3-label">
            <a:extLst xmlns:a="http://schemas.openxmlformats.org/drawingml/2006/main">
              <a:ext uri="{FF2B5EF4-FFF2-40B4-BE49-F238E27FC236}">
                <a16:creationId xmlns:a16="http://schemas.microsoft.com/office/drawing/2014/main" id="{F93303BA-5B7B-43DA-A8B8-DFBB84D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视觉判断</a:t>
            </a:r>
          </a:p>
        </p:txBody>
      </p:sp>
      <p:sp>
        <p:nvSpPr>
          <p:cNvPr id="11" name="p2-g3-body">
            <a:extLst xmlns:a="http://schemas.openxmlformats.org/drawingml/2006/main">
              <a:ext uri="{FF2B5EF4-FFF2-40B4-BE49-F238E27FC236}">
                <a16:creationId xmlns:a16="http://schemas.microsoft.com/office/drawing/2014/main" id="{5C9A59BC-4EBE-4F2F-B6FE-44D19C4A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哪里应该突出，什么时候应该用图，什么时候一句话反而更有力量。</a:t>
            </a:r>
          </a:p>
        </p:txBody>
      </p:sp>
      <p:sp>
        <p:nvSpPr>
          <p:cNvPr id="12" name="p2-analysis-surface">
            <a:extLst xmlns:a="http://schemas.openxmlformats.org/drawingml/2006/main">
              <a:ext uri="{FF2B5EF4-FFF2-40B4-BE49-F238E27FC236}">
                <a16:creationId xmlns:a16="http://schemas.microsoft.com/office/drawing/2014/main" id="{88F9302B-2B6B-426B-8835-718CBEC5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62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2-side-title">
            <a:extLst xmlns:a="http://schemas.openxmlformats.org/drawingml/2006/main">
              <a:ext uri="{FF2B5EF4-FFF2-40B4-BE49-F238E27FC236}">
                <a16:creationId xmlns:a16="http://schemas.microsoft.com/office/drawing/2014/main" id="{D8B927CA-A922-401A-96BF-675BB17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高手积累的是一套答案</a:t>
            </a:r>
          </a:p>
        </p:txBody>
      </p:sp>
      <p:sp>
        <p:nvSpPr>
          <p:cNvPr id="14" name="p2-side-body">
            <a:extLst xmlns:a="http://schemas.openxmlformats.org/drawingml/2006/main">
              <a:ext uri="{FF2B5EF4-FFF2-40B4-BE49-F238E27FC236}">
                <a16:creationId xmlns:a16="http://schemas.microsoft.com/office/drawing/2014/main" id="{0665C3EB-B64B-4427-B3DB-5D9B15A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 PPT 做得很好的人，脑子里已经积累了大量答案。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但每次接到新稿件，仍要重新拆页、找结构、调字体、统一间距。</a:t>
            </a:r>
          </a:p>
        </p:txBody>
      </p:sp>
      <p:sp>
        <p:nvSpPr>
          <p:cNvPr id="15" name="p2-side-note">
            <a:extLst xmlns:a="http://schemas.openxmlformats.org/drawingml/2006/main">
              <a:ext uri="{FF2B5EF4-FFF2-40B4-BE49-F238E27FC236}">
                <a16:creationId xmlns:a16="http://schemas.microsoft.com/office/drawing/2014/main" id="{ED9DF428-16B8-47FF-A62C-52992E83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昂贵的部分，是判断反复发生。</a:t>
            </a:r>
          </a:p>
        </p:txBody>
      </p:sp>
    </p:spTree>
    <p:extLst>
      <p:ext uri="{BB962C8B-B14F-4D97-AF65-F5344CB8AC3E}">
        <p14:creationId xmlns:p14="http://schemas.microsoft.com/office/powerpoint/2010/main" val="118166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3-eyebrow">
            <a:extLst xmlns:a="http://schemas.openxmlformats.org/drawingml/2006/main">
              <a:ext uri="{FF2B5EF4-FFF2-40B4-BE49-F238E27FC236}">
                <a16:creationId xmlns:a16="http://schemas.microsoft.com/office/drawing/2014/main" id="{757A2921-F398-4359-B393-FEC4A09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3-title">
            <a:extLst xmlns:a="http://schemas.openxmlformats.org/drawingml/2006/main">
              <a:ext uri="{FF2B5EF4-FFF2-40B4-BE49-F238E27FC236}">
                <a16:creationId xmlns:a16="http://schemas.microsoft.com/office/drawing/2014/main" id="{F5773CBD-6501-4724-B021-0B5B7961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先服务概率密度最大的工作型 PPT</a:t>
            </a:r>
          </a:p>
        </p:txBody>
      </p:sp>
      <p:sp>
        <p:nvSpPr>
          <p:cNvPr id="3" name="p3-divider">
            <a:extLst xmlns:a="http://schemas.openxmlformats.org/drawingml/2006/main">
              <a:ext uri="{FF2B5EF4-FFF2-40B4-BE49-F238E27FC236}">
                <a16:creationId xmlns:a16="http://schemas.microsoft.com/office/drawing/2014/main" id="{6E1C84B2-2D89-4116-8A23-A52BD2AD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-footer">
            <a:extLst xmlns:a="http://schemas.openxmlformats.org/drawingml/2006/main">
              <a:ext uri="{FF2B5EF4-FFF2-40B4-BE49-F238E27FC236}">
                <a16:creationId xmlns:a16="http://schemas.microsoft.com/office/drawing/2014/main" id="{071EB223-E5E9-4660-8ED4-659AE59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03 / 11</a:t>
            </a:r>
          </a:p>
        </p:txBody>
      </p:sp>
      <p:sp>
        <p:nvSpPr>
          <p:cNvPr id="5" name="p3-intro">
            <a:extLst xmlns:a="http://schemas.openxmlformats.org/drawingml/2006/main">
              <a:ext uri="{FF2B5EF4-FFF2-40B4-BE49-F238E27FC236}">
                <a16:creationId xmlns:a16="http://schemas.microsoft.com/office/drawing/2014/main" id="{76014DCC-35BB-478C-85E4-82A4B5B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需求从“只要把文字放上去”到“高度定制的视觉创意”分布很宽，更多场景位于中间。</a:t>
            </a:r>
          </a:p>
        </p:txBody>
      </p:sp>
      <p:sp>
        <p:nvSpPr>
          <p:cNvPr id="6" name="p3-left-label">
            <a:extLst xmlns:a="http://schemas.openxmlformats.org/drawingml/2006/main">
              <a:ext uri="{FF2B5EF4-FFF2-40B4-BE49-F238E27FC236}">
                <a16:creationId xmlns:a16="http://schemas.microsoft.com/office/drawing/2014/main" id="{A6519B1F-C5A8-4297-8899-AECAE30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需求分布</a:t>
            </a:r>
          </a:p>
        </p:txBody>
      </p:sp>
      <p:sp>
        <p:nvSpPr>
          <p:cNvPr id="7" name="p3-axis">
            <a:extLst xmlns:a="http://schemas.openxmlformats.org/drawingml/2006/main">
              <a:ext uri="{FF2B5EF4-FFF2-40B4-BE49-F238E27FC236}">
                <a16:creationId xmlns:a16="http://schemas.microsoft.com/office/drawing/2014/main" id="{9075EDBC-4153-42D2-A51A-D0A3D177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3-target-band">
            <a:extLst xmlns:a="http://schemas.openxmlformats.org/drawingml/2006/main">
              <a:ext uri="{FF2B5EF4-FFF2-40B4-BE49-F238E27FC236}">
                <a16:creationId xmlns:a16="http://schemas.microsoft.com/office/drawing/2014/main" id="{B5B3F26D-52E3-42C2-975F-C1B4A9E9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333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3-low">
            <a:extLst xmlns:a="http://schemas.openxmlformats.org/drawingml/2006/main">
              <a:ext uri="{FF2B5EF4-FFF2-40B4-BE49-F238E27FC236}">
                <a16:creationId xmlns:a16="http://schemas.microsoft.com/office/drawing/2014/main" id="{C45CD220-C297-4A1A-976B-14A76EC8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只要能用</a:t>
            </a:r>
          </a:p>
        </p:txBody>
      </p:sp>
      <p:sp>
        <p:nvSpPr>
          <p:cNvPr id="10" name="p3-target">
            <a:extLst xmlns:a="http://schemas.openxmlformats.org/drawingml/2006/main">
              <a:ext uri="{FF2B5EF4-FFF2-40B4-BE49-F238E27FC236}">
                <a16:creationId xmlns:a16="http://schemas.microsoft.com/office/drawing/2014/main" id="{656AFB83-85B8-4DD4-B82A-E5D1252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工作型 PPT</a:t>
            </a:r>
          </a:p>
        </p:txBody>
      </p:sp>
      <p:sp>
        <p:nvSpPr>
          <p:cNvPr id="11" name="p3-high">
            <a:extLst xmlns:a="http://schemas.openxmlformats.org/drawingml/2006/main">
              <a:ext uri="{FF2B5EF4-FFF2-40B4-BE49-F238E27FC236}">
                <a16:creationId xmlns:a16="http://schemas.microsoft.com/office/drawing/2014/main" id="{0A60C1DD-1721-4992-8CDA-85482CDF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52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高度定制</a:t>
            </a:r>
          </a:p>
        </p:txBody>
      </p:sp>
      <p:sp>
        <p:nvSpPr>
          <p:cNvPr id="12" name="p3-band-note">
            <a:extLst xmlns:a="http://schemas.openxmlformats.org/drawingml/2006/main">
              <a:ext uri="{FF2B5EF4-FFF2-40B4-BE49-F238E27FC236}">
                <a16:creationId xmlns:a16="http://schemas.microsoft.com/office/drawing/2014/main" id="{6BD9153D-A1E5-4AC9-BE64-F9223DBE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不能乱、不能丑、不能掉价、不能生成完以后无法修改。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主要场景：学校、科研院所、事业单位、央国企和普通企业。</a:t>
            </a:r>
          </a:p>
        </p:txBody>
      </p:sp>
      <p:sp>
        <p:nvSpPr>
          <p:cNvPr id="13" name="p3-formula-surface">
            <a:extLst xmlns:a="http://schemas.openxmlformats.org/drawingml/2006/main">
              <a:ext uri="{FF2B5EF4-FFF2-40B4-BE49-F238E27FC236}">
                <a16:creationId xmlns:a16="http://schemas.microsoft.com/office/drawing/2014/main" id="{0E146264-CDA7-43DC-BA8D-2A8F8AC2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476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formula-label">
            <a:extLst xmlns:a="http://schemas.openxmlformats.org/drawingml/2006/main">
              <a:ext uri="{FF2B5EF4-FFF2-40B4-BE49-F238E27FC236}">
                <a16:creationId xmlns:a16="http://schemas.microsoft.com/office/drawing/2014/main" id="{6E2215C7-7265-45CD-B169-E3CE2778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产品可靠度 R</a:t>
            </a:r>
          </a:p>
        </p:txBody>
      </p:sp>
      <p:sp>
        <p:nvSpPr>
          <p:cNvPr id="15" name="p3-formula">
            <a:extLst xmlns:a="http://schemas.openxmlformats.org/drawingml/2006/main">
              <a:ext uri="{FF2B5EF4-FFF2-40B4-BE49-F238E27FC236}">
                <a16:creationId xmlns:a16="http://schemas.microsoft.com/office/drawing/2014/main" id="{B4650D00-5046-40CF-8A8E-5075B1CD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R = P(Q ≥ Q可用 | 目标工作场景)</a:t>
            </a:r>
          </a:p>
        </p:txBody>
      </p:sp>
      <p:sp>
        <p:nvSpPr>
          <p:cNvPr id="16" name="p3-formula-body">
            <a:extLst xmlns:a="http://schemas.openxmlformats.org/drawingml/2006/main">
              <a:ext uri="{FF2B5EF4-FFF2-40B4-BE49-F238E27FC236}">
                <a16:creationId xmlns:a16="http://schemas.microsoft.com/office/drawing/2014/main" id="{DDF5DB44-DF02-4EE2-B928-426B2D6E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要提高的，是工作稿达到可用标准的概率。</a:t>
            </a:r>
          </a:p>
        </p:txBody>
      </p:sp>
    </p:spTree>
    <p:extLst>
      <p:ext uri="{BB962C8B-B14F-4D97-AF65-F5344CB8AC3E}">
        <p14:creationId xmlns:p14="http://schemas.microsoft.com/office/powerpoint/2010/main" val="1999020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4-eyebrow">
            <a:extLst xmlns:a="http://schemas.openxmlformats.org/drawingml/2006/main">
              <a:ext uri="{FF2B5EF4-FFF2-40B4-BE49-F238E27FC236}">
                <a16:creationId xmlns:a16="http://schemas.microsoft.com/office/drawing/2014/main" id="{64F7E568-B50B-46C0-A7BB-665C89C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4-title">
            <a:extLst xmlns:a="http://schemas.openxmlformats.org/drawingml/2006/main">
              <a:ext uri="{FF2B5EF4-FFF2-40B4-BE49-F238E27FC236}">
                <a16:creationId xmlns:a16="http://schemas.microsoft.com/office/drawing/2014/main" id="{E3130315-EF2D-4529-B087-889AC01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稳定跨过可用线，比偶然惊艳更有价值</a:t>
            </a:r>
          </a:p>
        </p:txBody>
      </p:sp>
      <p:sp>
        <p:nvSpPr>
          <p:cNvPr id="3" name="p4-divider">
            <a:extLst xmlns:a="http://schemas.openxmlformats.org/drawingml/2006/main">
              <a:ext uri="{FF2B5EF4-FFF2-40B4-BE49-F238E27FC236}">
                <a16:creationId xmlns:a16="http://schemas.microsoft.com/office/drawing/2014/main" id="{272E60B8-88F4-44EF-AC70-5B017D94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4-footer">
            <a:extLst xmlns:a="http://schemas.openxmlformats.org/drawingml/2006/main">
              <a:ext uri="{FF2B5EF4-FFF2-40B4-BE49-F238E27FC236}">
                <a16:creationId xmlns:a16="http://schemas.microsoft.com/office/drawing/2014/main" id="{8DB98773-25B4-430A-8551-B2DC580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04 / 11</a:t>
            </a:r>
          </a:p>
        </p:txBody>
      </p:sp>
      <p:sp>
        <p:nvSpPr>
          <p:cNvPr id="5" name="p4-intro">
            <a:extLst xmlns:a="http://schemas.openxmlformats.org/drawingml/2006/main">
              <a:ext uri="{FF2B5EF4-FFF2-40B4-BE49-F238E27FC236}">
                <a16:creationId xmlns:a16="http://schemas.microsoft.com/office/drawing/2014/main" id="{A4A90CE4-0F86-4EE4-AE3F-6B135B05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分”是稳定可用状态的形象称呼，不是产品给自己设置的质量上限。</a:t>
            </a:r>
          </a:p>
        </p:txBody>
      </p:sp>
      <p:sp>
        <p:nvSpPr>
          <p:cNvPr id="6" name="p4-dim">
            <a:extLst xmlns:a="http://schemas.openxmlformats.org/drawingml/2006/main">
              <a:ext uri="{FF2B5EF4-FFF2-40B4-BE49-F238E27FC236}">
                <a16:creationId xmlns:a16="http://schemas.microsoft.com/office/drawing/2014/main" id="{5BBDC9A5-44CE-41C6-9D2C-44C99D2A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共同维度</a:t>
            </a:r>
          </a:p>
        </p:txBody>
      </p:sp>
      <p:sp>
        <p:nvSpPr>
          <p:cNvPr id="7" name="p4-b-surface">
            <a:extLst xmlns:a="http://schemas.openxmlformats.org/drawingml/2006/main">
              <a:ext uri="{FF2B5EF4-FFF2-40B4-BE49-F238E27FC236}">
                <a16:creationId xmlns:a16="http://schemas.microsoft.com/office/drawing/2014/main" id="{B9838F7A-26CF-4B8C-80AD-DB13683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28800"/>
            <a:ext cx="3619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4-a-title">
            <a:extLst xmlns:a="http://schemas.openxmlformats.org/drawingml/2006/main">
              <a:ext uri="{FF2B5EF4-FFF2-40B4-BE49-F238E27FC236}">
                <a16:creationId xmlns:a16="http://schemas.microsoft.com/office/drawing/2014/main" id="{BB32597A-030C-4DB7-B830-2EE82F64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偶然的 95 分</a:t>
            </a:r>
          </a:p>
        </p:txBody>
      </p:sp>
      <p:sp>
        <p:nvSpPr>
          <p:cNvPr id="9" name="p4-b-title">
            <a:extLst xmlns:a="http://schemas.openxmlformats.org/drawingml/2006/main">
              <a:ext uri="{FF2B5EF4-FFF2-40B4-BE49-F238E27FC236}">
                <a16:creationId xmlns:a16="http://schemas.microsoft.com/office/drawing/2014/main" id="{6BE1EC8A-EC99-4D54-A31F-A033A5DB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10" name="p4-r0-label">
            <a:extLst xmlns:a="http://schemas.openxmlformats.org/drawingml/2006/main">
              <a:ext uri="{FF2B5EF4-FFF2-40B4-BE49-F238E27FC236}">
                <a16:creationId xmlns:a16="http://schemas.microsoft.com/office/drawing/2014/main" id="{A0C370C8-07EB-4544-B4AF-6A8791A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1" name="p4-r0-a">
            <a:extLst xmlns:a="http://schemas.openxmlformats.org/drawingml/2006/main">
              <a:ext uri="{FF2B5EF4-FFF2-40B4-BE49-F238E27FC236}">
                <a16:creationId xmlns:a16="http://schemas.microsoft.com/office/drawing/2014/main" id="{F164FA64-725D-440F-9756-88B0C28D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偶尔让人惊叹</a:t>
            </a:r>
          </a:p>
        </p:txBody>
      </p:sp>
      <p:sp>
        <p:nvSpPr>
          <p:cNvPr id="12" name="p4-r0-b">
            <a:extLst xmlns:a="http://schemas.openxmlformats.org/drawingml/2006/main">
              <a:ext uri="{FF2B5EF4-FFF2-40B4-BE49-F238E27FC236}">
                <a16:creationId xmlns:a16="http://schemas.microsoft.com/office/drawing/2014/main" id="{5B31C2E7-55A1-45DC-B3BB-B84110F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90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13" name="p4-row-line-0">
            <a:extLst xmlns:a="http://schemas.openxmlformats.org/drawingml/2006/main">
              <a:ext uri="{FF2B5EF4-FFF2-40B4-BE49-F238E27FC236}">
                <a16:creationId xmlns:a16="http://schemas.microsoft.com/office/drawing/2014/main" id="{9361D878-6EFD-4773-85D1-9535F3D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4-r1-label">
            <a:extLst xmlns:a="http://schemas.openxmlformats.org/drawingml/2006/main">
              <a:ext uri="{FF2B5EF4-FFF2-40B4-BE49-F238E27FC236}">
                <a16:creationId xmlns:a16="http://schemas.microsoft.com/office/drawing/2014/main" id="{32D18640-7414-451C-8CAF-0AE08557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5" name="p4-r1-a">
            <a:extLst xmlns:a="http://schemas.openxmlformats.org/drawingml/2006/main">
              <a:ext uri="{FF2B5EF4-FFF2-40B4-BE49-F238E27FC236}">
                <a16:creationId xmlns:a16="http://schemas.microsoft.com/office/drawing/2014/main" id="{4A16BB78-83A7-4BF7-BD5C-6F6BBBC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高度定制的视觉作品</a:t>
            </a:r>
          </a:p>
        </p:txBody>
      </p:sp>
      <p:sp>
        <p:nvSpPr>
          <p:cNvPr id="16" name="p4-r1-b">
            <a:extLst xmlns:a="http://schemas.openxmlformats.org/drawingml/2006/main">
              <a:ext uri="{FF2B5EF4-FFF2-40B4-BE49-F238E27FC236}">
                <a16:creationId xmlns:a16="http://schemas.microsoft.com/office/drawing/2014/main" id="{E1832502-9B01-496C-BDD6-B7C5689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81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明天要汇报的普通工作</a:t>
            </a:r>
          </a:p>
        </p:txBody>
      </p:sp>
      <p:sp>
        <p:nvSpPr>
          <p:cNvPr id="17" name="p4-row-line-1">
            <a:extLst xmlns:a="http://schemas.openxmlformats.org/drawingml/2006/main">
              <a:ext uri="{FF2B5EF4-FFF2-40B4-BE49-F238E27FC236}">
                <a16:creationId xmlns:a16="http://schemas.microsoft.com/office/drawing/2014/main" id="{6B130653-F315-4126-BA3A-6BA593F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4-r2-label">
            <a:extLst xmlns:a="http://schemas.openxmlformats.org/drawingml/2006/main">
              <a:ext uri="{FF2B5EF4-FFF2-40B4-BE49-F238E27FC236}">
                <a16:creationId xmlns:a16="http://schemas.microsoft.com/office/drawing/2014/main" id="{0A17BF6A-C1BB-48E5-8C5C-6AB6B28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19" name="p4-r2-a">
            <a:extLst xmlns:a="http://schemas.openxmlformats.org/drawingml/2006/main">
              <a:ext uri="{FF2B5EF4-FFF2-40B4-BE49-F238E27FC236}">
                <a16:creationId xmlns:a16="http://schemas.microsoft.com/office/drawing/2014/main" id="{A971BD1B-0F8C-404D-8D89-50D1323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71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为增量付出更高成本</a:t>
            </a:r>
          </a:p>
        </p:txBody>
      </p:sp>
      <p:sp>
        <p:nvSpPr>
          <p:cNvPr id="20" name="p4-r2-b">
            <a:extLst xmlns:a="http://schemas.openxmlformats.org/drawingml/2006/main">
              <a:ext uri="{FF2B5EF4-FFF2-40B4-BE49-F238E27FC236}">
                <a16:creationId xmlns:a16="http://schemas.microsoft.com/office/drawing/2014/main" id="{52DE4715-17AA-4750-9029-A43E435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71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21" name="p4-row-line-2">
            <a:extLst xmlns:a="http://schemas.openxmlformats.org/drawingml/2006/main">
              <a:ext uri="{FF2B5EF4-FFF2-40B4-BE49-F238E27FC236}">
                <a16:creationId xmlns:a16="http://schemas.microsoft.com/office/drawing/2014/main" id="{E070BA94-1F4D-40B1-BCBA-D1D5C7DA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4-r3-label">
            <a:extLst xmlns:a="http://schemas.openxmlformats.org/drawingml/2006/main">
              <a:ext uri="{FF2B5EF4-FFF2-40B4-BE49-F238E27FC236}">
                <a16:creationId xmlns:a16="http://schemas.microsoft.com/office/drawing/2014/main" id="{8A9351A1-33B4-4CA4-B6CA-92B09D7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p4-r3-a">
            <a:extLst xmlns:a="http://schemas.openxmlformats.org/drawingml/2006/main">
              <a:ext uri="{FF2B5EF4-FFF2-40B4-BE49-F238E27FC236}">
                <a16:creationId xmlns:a16="http://schemas.microsoft.com/office/drawing/2014/main" id="{9BEBF335-CB8D-45B0-ADBD-065625A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上限更高，但结果随机</a:t>
            </a:r>
          </a:p>
        </p:txBody>
      </p:sp>
      <p:sp>
        <p:nvSpPr>
          <p:cNvPr id="24" name="p4-r3-b">
            <a:extLst xmlns:a="http://schemas.openxmlformats.org/drawingml/2006/main">
              <a:ext uri="{FF2B5EF4-FFF2-40B4-BE49-F238E27FC236}">
                <a16:creationId xmlns:a16="http://schemas.microsoft.com/office/drawing/2014/main" id="{75153B0F-677C-42BD-A3BF-FB9B018B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62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25" name="p4-row-line-3">
            <a:extLst xmlns:a="http://schemas.openxmlformats.org/drawingml/2006/main">
              <a:ext uri="{FF2B5EF4-FFF2-40B4-BE49-F238E27FC236}">
                <a16:creationId xmlns:a16="http://schemas.microsoft.com/office/drawing/2014/main" id="{8437F43E-8AC1-4586-8E50-05F9E50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563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4-note">
            <a:extLst xmlns:a="http://schemas.openxmlformats.org/drawingml/2006/main">
              <a:ext uri="{FF2B5EF4-FFF2-40B4-BE49-F238E27FC236}">
                <a16:creationId xmlns:a16="http://schemas.microsoft.com/office/drawing/2014/main" id="{BFBB4538-3579-416D-A2CB-568EB17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对工作来说，稳定的 80 分，很多时候比随机的 95 分更值钱。</a:t>
            </a:r>
          </a:p>
        </p:txBody>
      </p:sp>
    </p:spTree>
    <p:extLst>
      <p:ext uri="{BB962C8B-B14F-4D97-AF65-F5344CB8AC3E}">
        <p14:creationId xmlns:p14="http://schemas.microsoft.com/office/powerpoint/2010/main" val="4276689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5-eyebrow">
            <a:extLst xmlns:a="http://schemas.openxmlformats.org/drawingml/2006/main">
              <a:ext uri="{FF2B5EF4-FFF2-40B4-BE49-F238E27FC236}">
                <a16:creationId xmlns:a16="http://schemas.microsoft.com/office/drawing/2014/main" id="{65F1D728-4686-4832-9538-46F646F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5-title">
            <a:extLst xmlns:a="http://schemas.openxmlformats.org/drawingml/2006/main">
              <a:ext uri="{FF2B5EF4-FFF2-40B4-BE49-F238E27FC236}">
                <a16:creationId xmlns:a16="http://schemas.microsoft.com/office/drawing/2014/main" id="{8C9E91E9-CC12-4317-8E85-C045C940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限制一部分自由，换取更少的不可用状态</a:t>
            </a:r>
          </a:p>
        </p:txBody>
      </p:sp>
      <p:sp>
        <p:nvSpPr>
          <p:cNvPr id="3" name="p5-divider">
            <a:extLst xmlns:a="http://schemas.openxmlformats.org/drawingml/2006/main">
              <a:ext uri="{FF2B5EF4-FFF2-40B4-BE49-F238E27FC236}">
                <a16:creationId xmlns:a16="http://schemas.microsoft.com/office/drawing/2014/main" id="{F5B64B28-30D8-4E8D-A6B3-CF55B88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5-footer">
            <a:extLst xmlns:a="http://schemas.openxmlformats.org/drawingml/2006/main">
              <a:ext uri="{FF2B5EF4-FFF2-40B4-BE49-F238E27FC236}">
                <a16:creationId xmlns:a16="http://schemas.microsoft.com/office/drawing/2014/main" id="{CFB630AA-5336-4580-92C2-39C15D5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05 / 11</a:t>
            </a:r>
          </a:p>
        </p:txBody>
      </p:sp>
      <p:sp>
        <p:nvSpPr>
          <p:cNvPr id="5" name="p5-intro">
            <a:extLst xmlns:a="http://schemas.openxmlformats.org/drawingml/2006/main">
              <a:ext uri="{FF2B5EF4-FFF2-40B4-BE49-F238E27FC236}">
                <a16:creationId xmlns:a16="http://schemas.microsoft.com/office/drawing/2014/main" id="{4E02C225-F017-44B7-B93B-17E20ADD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自由度越高，理论上的上限越高；但状态空间更大，失败模式也随之增加。</a:t>
            </a:r>
          </a:p>
        </p:txBody>
      </p:sp>
      <p:sp>
        <p:nvSpPr>
          <p:cNvPr id="6" name="p5-node-0">
            <a:extLst xmlns:a="http://schemas.openxmlformats.org/drawingml/2006/main">
              <a:ext uri="{FF2B5EF4-FFF2-40B4-BE49-F238E27FC236}">
                <a16:creationId xmlns:a16="http://schemas.microsoft.com/office/drawing/2014/main" id="{5D491589-20F6-455E-9E15-55A8C414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5-node-0-title">
            <a:extLst xmlns:a="http://schemas.openxmlformats.org/drawingml/2006/main">
              <a:ext uri="{FF2B5EF4-FFF2-40B4-BE49-F238E27FC236}">
                <a16:creationId xmlns:a16="http://schemas.microsoft.com/office/drawing/2014/main" id="{D8613B0B-3918-4F4A-973F-2B46054B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自由度越高</a:t>
            </a:r>
          </a:p>
        </p:txBody>
      </p:sp>
      <p:sp>
        <p:nvSpPr>
          <p:cNvPr id="8" name="p5-node-0-body">
            <a:extLst xmlns:a="http://schemas.openxmlformats.org/drawingml/2006/main">
              <a:ext uri="{FF2B5EF4-FFF2-40B4-BE49-F238E27FC236}">
                <a16:creationId xmlns:a16="http://schemas.microsoft.com/office/drawing/2014/main" id="{39B0E0AA-FD1A-4301-BCB3-4A8074D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颜色、字体、结构、版式、元素每次重来</a:t>
            </a:r>
          </a:p>
        </p:txBody>
      </p:sp>
      <p:sp>
        <p:nvSpPr>
          <p:cNvPr id="9" name="p5-node-1">
            <a:extLst xmlns:a="http://schemas.openxmlformats.org/drawingml/2006/main">
              <a:ext uri="{FF2B5EF4-FFF2-40B4-BE49-F238E27FC236}">
                <a16:creationId xmlns:a16="http://schemas.microsoft.com/office/drawing/2014/main" id="{E2F07DCC-C410-45DA-8B89-4924A90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5-node-1-title">
            <a:extLst xmlns:a="http://schemas.openxmlformats.org/drawingml/2006/main">
              <a:ext uri="{FF2B5EF4-FFF2-40B4-BE49-F238E27FC236}">
                <a16:creationId xmlns:a16="http://schemas.microsoft.com/office/drawing/2014/main" id="{19FFF01F-F4EE-4B97-AE9B-EC6A7D5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状态空间变大</a:t>
            </a:r>
          </a:p>
        </p:txBody>
      </p:sp>
      <p:sp>
        <p:nvSpPr>
          <p:cNvPr id="11" name="p5-node-1-body">
            <a:extLst xmlns:a="http://schemas.openxmlformats.org/drawingml/2006/main">
              <a:ext uri="{FF2B5EF4-FFF2-40B4-BE49-F238E27FC236}">
                <a16:creationId xmlns:a16="http://schemas.microsoft.com/office/drawing/2014/main" id="{EAD67339-02AE-411F-957D-09AA02D6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失败模式随之增加</a:t>
            </a:r>
          </a:p>
        </p:txBody>
      </p:sp>
      <p:sp>
        <p:nvSpPr>
          <p:cNvPr id="12" name="p5-node-2">
            <a:extLst xmlns:a="http://schemas.openxmlformats.org/drawingml/2006/main">
              <a:ext uri="{FF2B5EF4-FFF2-40B4-BE49-F238E27FC236}">
                <a16:creationId xmlns:a16="http://schemas.microsoft.com/office/drawing/2014/main" id="{50890636-90E5-484C-BC27-78839CA5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5-node-2-title">
            <a:extLst xmlns:a="http://schemas.openxmlformats.org/drawingml/2006/main">
              <a:ext uri="{FF2B5EF4-FFF2-40B4-BE49-F238E27FC236}">
                <a16:creationId xmlns:a16="http://schemas.microsoft.com/office/drawing/2014/main" id="{FBE64342-6A38-4D8E-BDB6-9C114BC5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主动限制自由</a:t>
            </a:r>
          </a:p>
        </p:txBody>
      </p:sp>
      <p:sp>
        <p:nvSpPr>
          <p:cNvPr id="14" name="p5-node-2-body">
            <a:extLst xmlns:a="http://schemas.openxmlformats.org/drawingml/2006/main">
              <a:ext uri="{FF2B5EF4-FFF2-40B4-BE49-F238E27FC236}">
                <a16:creationId xmlns:a16="http://schemas.microsoft.com/office/drawing/2014/main" id="{FDF16997-FAF6-48B9-83EB-726B1EF2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规范、能力、边界和退化方式更确定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28950" y="273367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62700" y="2733675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7" name="p5-bottom">
            <a:extLst xmlns:a="http://schemas.openxmlformats.org/drawingml/2006/main">
              <a:ext uri="{FF2B5EF4-FFF2-40B4-BE49-F238E27FC236}">
                <a16:creationId xmlns:a16="http://schemas.microsoft.com/office/drawing/2014/main" id="{AE0F9719-052D-4A5D-8F8D-20474FD3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正式工作更需要可预测。</a:t>
            </a:r>
          </a:p>
        </p:txBody>
      </p:sp>
      <p:sp>
        <p:nvSpPr>
          <p:cNvPr id="18" name="p5-bottom-body">
            <a:extLst xmlns:a="http://schemas.openxmlformats.org/drawingml/2006/main">
              <a:ext uri="{FF2B5EF4-FFF2-40B4-BE49-F238E27FC236}">
                <a16:creationId xmlns:a16="http://schemas.microsoft.com/office/drawing/2014/main" id="{43139570-4B13-4EAB-B484-881A864C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固定的组织视觉规范、经过验证的表达能力、明确的数量与容量边界，以及已经登记的退化方式，共同减少结果落到不可用区间的机会。</a:t>
            </a:r>
          </a:p>
        </p:txBody>
      </p:sp>
    </p:spTree>
    <p:extLst>
      <p:ext uri="{BB962C8B-B14F-4D97-AF65-F5344CB8AC3E}">
        <p14:creationId xmlns:p14="http://schemas.microsoft.com/office/powerpoint/2010/main" val="1350353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6-eyebrow">
            <a:extLst xmlns:a="http://schemas.openxmlformats.org/drawingml/2006/main">
              <a:ext uri="{FF2B5EF4-FFF2-40B4-BE49-F238E27FC236}">
                <a16:creationId xmlns:a16="http://schemas.microsoft.com/office/drawing/2014/main" id="{37195B4E-DA02-4F72-8912-3B8943DF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338E7B7C-93B9-4466-BC3F-1F7C02B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在 PPagenT 里负责理解与路由</a:t>
            </a:r>
          </a:p>
        </p:txBody>
      </p:sp>
      <p:sp>
        <p:nvSpPr>
          <p:cNvPr id="3" name="p6-divider">
            <a:extLst xmlns:a="http://schemas.openxmlformats.org/drawingml/2006/main">
              <a:ext uri="{FF2B5EF4-FFF2-40B4-BE49-F238E27FC236}">
                <a16:creationId xmlns:a16="http://schemas.microsoft.com/office/drawing/2014/main" id="{12B046CC-517F-4F79-926D-5294E2F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6-footer">
            <a:extLst xmlns:a="http://schemas.openxmlformats.org/drawingml/2006/main">
              <a:ext uri="{FF2B5EF4-FFF2-40B4-BE49-F238E27FC236}">
                <a16:creationId xmlns:a16="http://schemas.microsoft.com/office/drawing/2014/main" id="{0C7D18BF-3E89-4DDB-BC96-FA602611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06 / 11</a:t>
            </a:r>
          </a:p>
        </p:txBody>
      </p:sp>
      <p:sp>
        <p:nvSpPr>
          <p:cNvPr id="5" name="p6-intro">
            <a:extLst xmlns:a="http://schemas.openxmlformats.org/drawingml/2006/main">
              <a:ext uri="{FF2B5EF4-FFF2-40B4-BE49-F238E27FC236}">
                <a16:creationId xmlns:a16="http://schemas.microsoft.com/office/drawing/2014/main" id="{5227152D-9E68-4590-A31A-DBDDEC4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不直接自由绘制整份 PPT；视觉结果由提前确认的能力和确定性代码完成。</a:t>
            </a:r>
          </a:p>
        </p:txBody>
      </p:sp>
      <p:sp>
        <p:nvSpPr>
          <p:cNvPr id="6" name="p6-c0-title">
            <a:extLst xmlns:a="http://schemas.openxmlformats.org/drawingml/2006/main">
              <a:ext uri="{FF2B5EF4-FFF2-40B4-BE49-F238E27FC236}">
                <a16:creationId xmlns:a16="http://schemas.microsoft.com/office/drawing/2014/main" id="{4C7F9367-901B-4C3D-A367-FF81FD70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7" name="p6-c0-line">
            <a:extLst xmlns:a="http://schemas.openxmlformats.org/drawingml/2006/main">
              <a:ext uri="{FF2B5EF4-FFF2-40B4-BE49-F238E27FC236}">
                <a16:creationId xmlns:a16="http://schemas.microsoft.com/office/drawing/2014/main" id="{EBA15838-EDA7-4F07-9679-5E5F94DC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c0-body">
            <a:extLst xmlns:a="http://schemas.openxmlformats.org/drawingml/2006/main">
              <a:ext uri="{FF2B5EF4-FFF2-40B4-BE49-F238E27FC236}">
                <a16:creationId xmlns:a16="http://schemas.microsoft.com/office/drawing/2014/main" id="{1BCB9D37-2727-496B-AE0A-90A9D24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理解稿件、组织叙事、拆页，并判断每一页适合怎样表达。</a:t>
            </a:r>
          </a:p>
        </p:txBody>
      </p:sp>
      <p:sp>
        <p:nvSpPr>
          <p:cNvPr id="9" name="p6-c0-note">
            <a:extLst xmlns:a="http://schemas.openxmlformats.org/drawingml/2006/main">
              <a:ext uri="{FF2B5EF4-FFF2-40B4-BE49-F238E27FC236}">
                <a16:creationId xmlns:a16="http://schemas.microsoft.com/office/drawing/2014/main" id="{013D3CB1-C6D2-4A10-B62E-F5EDB9A2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理解与路由</a:t>
            </a:r>
          </a:p>
        </p:txBody>
      </p:sp>
      <p:sp>
        <p:nvSpPr>
          <p:cNvPr id="10" name="p6-c1-title">
            <a:extLst xmlns:a="http://schemas.openxmlformats.org/drawingml/2006/main">
              <a:ext uri="{FF2B5EF4-FFF2-40B4-BE49-F238E27FC236}">
                <a16:creationId xmlns:a16="http://schemas.microsoft.com/office/drawing/2014/main" id="{D44F3088-778F-41B4-90E8-069FFF3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33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1" name="p6-c1-line">
            <a:extLst xmlns:a="http://schemas.openxmlformats.org/drawingml/2006/main">
              <a:ext uri="{FF2B5EF4-FFF2-40B4-BE49-F238E27FC236}">
                <a16:creationId xmlns:a16="http://schemas.microsoft.com/office/drawing/2014/main" id="{57F0B473-35FC-46CE-85E6-8F8C8A06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6-c1-body">
            <a:extLst xmlns:a="http://schemas.openxmlformats.org/drawingml/2006/main">
              <a:ext uri="{FF2B5EF4-FFF2-40B4-BE49-F238E27FC236}">
                <a16:creationId xmlns:a16="http://schemas.microsoft.com/office/drawing/2014/main" id="{99CE6CE2-2ED7-4805-9933-70728C9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主题约束组织规范，能力库提供并列、顺序、对比、层级、循环等表达方式。</a:t>
            </a:r>
          </a:p>
        </p:txBody>
      </p:sp>
      <p:sp>
        <p:nvSpPr>
          <p:cNvPr id="13" name="p6-c1-note">
            <a:extLst xmlns:a="http://schemas.openxmlformats.org/drawingml/2006/main">
              <a:ext uri="{FF2B5EF4-FFF2-40B4-BE49-F238E27FC236}">
                <a16:creationId xmlns:a16="http://schemas.microsoft.com/office/drawing/2014/main" id="{15A821C9-06CC-47AA-91B9-7682C1CB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约束与选择</a:t>
            </a:r>
          </a:p>
        </p:txBody>
      </p:sp>
      <p:sp>
        <p:nvSpPr>
          <p:cNvPr id="14" name="p6-c2-title">
            <a:extLst xmlns:a="http://schemas.openxmlformats.org/drawingml/2006/main">
              <a:ext uri="{FF2B5EF4-FFF2-40B4-BE49-F238E27FC236}">
                <a16:creationId xmlns:a16="http://schemas.microsoft.com/office/drawing/2014/main" id="{8D0B108B-2457-48C8-B043-3BEB5AB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5" name="p6-c2-line">
            <a:extLst xmlns:a="http://schemas.openxmlformats.org/drawingml/2006/main">
              <a:ext uri="{FF2B5EF4-FFF2-40B4-BE49-F238E27FC236}">
                <a16:creationId xmlns:a16="http://schemas.microsoft.com/office/drawing/2014/main" id="{E14055AE-C5DF-4F53-98D3-6520A3FB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6-c2-body">
            <a:extLst xmlns:a="http://schemas.openxmlformats.org/drawingml/2006/main">
              <a:ext uri="{FF2B5EF4-FFF2-40B4-BE49-F238E27FC236}">
                <a16:creationId xmlns:a16="http://schemas.microsoft.com/office/drawing/2014/main" id="{EBB2C3DC-CF00-4B90-990D-A8DC6468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确定性排版与编译，把决策变成原生可编辑的 PowerPoint。</a:t>
            </a:r>
          </a:p>
        </p:txBody>
      </p:sp>
      <p:sp>
        <p:nvSpPr>
          <p:cNvPr id="17" name="p6-c2-note">
            <a:extLst xmlns:a="http://schemas.openxmlformats.org/drawingml/2006/main">
              <a:ext uri="{FF2B5EF4-FFF2-40B4-BE49-F238E27FC236}">
                <a16:creationId xmlns:a16="http://schemas.microsoft.com/office/drawing/2014/main" id="{0C07CFE4-925B-417A-A9A7-CDD7F99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  <p:sp>
        <p:nvSpPr>
          <p:cNvPr id="18" name="p6-quote">
            <a:extLst xmlns:a="http://schemas.openxmlformats.org/drawingml/2006/main">
              <a:ext uri="{FF2B5EF4-FFF2-40B4-BE49-F238E27FC236}">
                <a16:creationId xmlns:a16="http://schemas.microsoft.com/office/drawing/2014/main" id="{EDC3FAF2-A260-45BC-9AFB-A28295AD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 负责理解和路由，规则负责约束和选择，代码负责稳定生成。</a:t>
            </a:r>
          </a:p>
        </p:txBody>
      </p:sp>
    </p:spTree>
    <p:extLst>
      <p:ext uri="{BB962C8B-B14F-4D97-AF65-F5344CB8AC3E}">
        <p14:creationId xmlns:p14="http://schemas.microsoft.com/office/powerpoint/2010/main" val="1417329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7-eyebrow">
            <a:extLst xmlns:a="http://schemas.openxmlformats.org/drawingml/2006/main">
              <a:ext uri="{FF2B5EF4-FFF2-40B4-BE49-F238E27FC236}">
                <a16:creationId xmlns:a16="http://schemas.microsoft.com/office/drawing/2014/main" id="{81BF9FD0-C519-48A3-B2EA-4E859B8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7-title">
            <a:extLst xmlns:a="http://schemas.openxmlformats.org/drawingml/2006/main">
              <a:ext uri="{FF2B5EF4-FFF2-40B4-BE49-F238E27FC236}">
                <a16:creationId xmlns:a16="http://schemas.microsoft.com/office/drawing/2014/main" id="{E82B80A1-FF9E-4E3E-9F85-2C9E054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能力建设与正式生成，两条路线只在核心资产库交汇</a:t>
            </a:r>
          </a:p>
        </p:txBody>
      </p:sp>
      <p:sp>
        <p:nvSpPr>
          <p:cNvPr id="3" name="p7-divider">
            <a:extLst xmlns:a="http://schemas.openxmlformats.org/drawingml/2006/main">
              <a:ext uri="{FF2B5EF4-FFF2-40B4-BE49-F238E27FC236}">
                <a16:creationId xmlns:a16="http://schemas.microsoft.com/office/drawing/2014/main" id="{E2D80631-54F9-451E-803D-496B728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7-footer">
            <a:extLst xmlns:a="http://schemas.openxmlformats.org/drawingml/2006/main">
              <a:ext uri="{FF2B5EF4-FFF2-40B4-BE49-F238E27FC236}">
                <a16:creationId xmlns:a16="http://schemas.microsoft.com/office/drawing/2014/main" id="{6C25286F-EC82-41CF-B8E5-0A20D8C9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07 / 11</a:t>
            </a:r>
          </a:p>
        </p:txBody>
      </p:sp>
      <p:sp>
        <p:nvSpPr>
          <p:cNvPr id="5" name="p7-intro">
            <a:extLst xmlns:a="http://schemas.openxmlformats.org/drawingml/2006/main">
              <a:ext uri="{FF2B5EF4-FFF2-40B4-BE49-F238E27FC236}">
                <a16:creationId xmlns:a16="http://schemas.microsoft.com/office/drawing/2014/main" id="{F65A025E-5D02-4AD9-A009-2AF6240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资产入库线把经验变成能力，正式生成线把能力稳定地用出来。</a:t>
            </a:r>
          </a:p>
        </p:txBody>
      </p:sp>
      <p:sp>
        <p:nvSpPr>
          <p:cNvPr id="6" name="p7-build-label">
            <a:extLst xmlns:a="http://schemas.openxmlformats.org/drawingml/2006/main">
              <a:ext uri="{FF2B5EF4-FFF2-40B4-BE49-F238E27FC236}">
                <a16:creationId xmlns:a16="http://schemas.microsoft.com/office/drawing/2014/main" id="{1223EC79-2C5F-4BF9-882F-FB695C61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</a:t>
            </a:r>
          </a:p>
        </p:txBody>
      </p:sp>
      <p:sp>
        <p:nvSpPr>
          <p:cNvPr id="7" name="p7-run-label">
            <a:extLst xmlns:a="http://schemas.openxmlformats.org/drawingml/2006/main">
              <a:ext uri="{FF2B5EF4-FFF2-40B4-BE49-F238E27FC236}">
                <a16:creationId xmlns:a16="http://schemas.microsoft.com/office/drawing/2014/main" id="{D391B1C5-6952-4AFE-8874-4854614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</a:t>
            </a:r>
          </a:p>
        </p:txBody>
      </p:sp>
      <p:sp>
        <p:nvSpPr>
          <p:cNvPr id="8" name="p7-b1-bg">
            <a:extLst xmlns:a="http://schemas.openxmlformats.org/drawingml/2006/main">
              <a:ext uri="{FF2B5EF4-FFF2-40B4-BE49-F238E27FC236}">
                <a16:creationId xmlns:a16="http://schemas.microsoft.com/office/drawing/2014/main" id="{BAD77D26-30A8-48B6-B458-5E8F21A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7-b1">
            <a:extLst xmlns:a="http://schemas.openxmlformats.org/drawingml/2006/main">
              <a:ext uri="{FF2B5EF4-FFF2-40B4-BE49-F238E27FC236}">
                <a16:creationId xmlns:a16="http://schemas.microsoft.com/office/drawing/2014/main" id="{DDBA413E-3A99-4571-A8B2-E4CB88CC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10" name="p7-b2-bg">
            <a:extLst xmlns:a="http://schemas.openxmlformats.org/drawingml/2006/main">
              <a:ext uri="{FF2B5EF4-FFF2-40B4-BE49-F238E27FC236}">
                <a16:creationId xmlns:a16="http://schemas.microsoft.com/office/drawing/2014/main" id="{7BE57918-743A-48B8-A16B-CEEA8DC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66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7-b2">
            <a:extLst xmlns:a="http://schemas.openxmlformats.org/drawingml/2006/main">
              <a:ext uri="{FF2B5EF4-FFF2-40B4-BE49-F238E27FC236}">
                <a16:creationId xmlns:a16="http://schemas.microsoft.com/office/drawing/2014/main" id="{6F650AD5-A91E-4D99-B720-C356771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提炼设计规律</a:t>
            </a:r>
          </a:p>
        </p:txBody>
      </p:sp>
      <p:sp>
        <p:nvSpPr>
          <p:cNvPr id="12" name="p7-b3-bg">
            <a:extLst xmlns:a="http://schemas.openxmlformats.org/drawingml/2006/main">
              <a:ext uri="{FF2B5EF4-FFF2-40B4-BE49-F238E27FC236}">
                <a16:creationId xmlns:a16="http://schemas.microsoft.com/office/drawing/2014/main" id="{A8105799-6CBB-4124-8579-229884E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7-b3">
            <a:extLst xmlns:a="http://schemas.openxmlformats.org/drawingml/2006/main">
              <a:ext uri="{FF2B5EF4-FFF2-40B4-BE49-F238E27FC236}">
                <a16:creationId xmlns:a16="http://schemas.microsoft.com/office/drawing/2014/main" id="{E7878381-DBC8-4DF1-91C4-12CB01D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003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09800" y="26098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81450" y="26098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6" name="p7-core-bg">
            <a:extLst xmlns:a="http://schemas.openxmlformats.org/drawingml/2006/main">
              <a:ext uri="{FF2B5EF4-FFF2-40B4-BE49-F238E27FC236}">
                <a16:creationId xmlns:a16="http://schemas.microsoft.com/office/drawing/2014/main" id="{C897EA53-E2E9-44F9-BF54-1A20B686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7-core">
            <a:extLst xmlns:a="http://schemas.openxmlformats.org/drawingml/2006/main">
              <a:ext uri="{FF2B5EF4-FFF2-40B4-BE49-F238E27FC236}">
                <a16:creationId xmlns:a16="http://schemas.microsoft.com/office/drawing/2014/main" id="{0787D698-389C-4425-A9B1-0CC73F5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核心资产库</a:t>
            </a:r>
          </a:p>
        </p:txBody>
      </p: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34075" y="2609850"/>
            <a:ext cx="48577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9" name="p7-r1-bg">
            <a:extLst xmlns:a="http://schemas.openxmlformats.org/drawingml/2006/main">
              <a:ext uri="{FF2B5EF4-FFF2-40B4-BE49-F238E27FC236}">
                <a16:creationId xmlns:a16="http://schemas.microsoft.com/office/drawing/2014/main" id="{28C44921-2A88-4090-9E4C-E0197FAE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7-r1">
            <a:extLst xmlns:a="http://schemas.openxmlformats.org/drawingml/2006/main">
              <a:ext uri="{FF2B5EF4-FFF2-40B4-BE49-F238E27FC236}">
                <a16:creationId xmlns:a16="http://schemas.microsoft.com/office/drawing/2014/main" id="{2F5F4608-4893-4641-8B1B-78FF27A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稿件 + 主题</a:t>
            </a:r>
          </a:p>
        </p:txBody>
      </p:sp>
      <p:sp>
        <p:nvSpPr>
          <p:cNvPr id="21" name="p7-r2-bg">
            <a:extLst xmlns:a="http://schemas.openxmlformats.org/drawingml/2006/main">
              <a:ext uri="{FF2B5EF4-FFF2-40B4-BE49-F238E27FC236}">
                <a16:creationId xmlns:a16="http://schemas.microsoft.com/office/drawing/2014/main" id="{C0E646ED-8F52-4E2B-A915-ABE9266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7-r2">
            <a:extLst xmlns:a="http://schemas.openxmlformats.org/drawingml/2006/main">
              <a:ext uri="{FF2B5EF4-FFF2-40B4-BE49-F238E27FC236}">
                <a16:creationId xmlns:a16="http://schemas.microsoft.com/office/drawing/2014/main" id="{2D4471B0-6280-40D9-9BDE-0DBB8AF9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 理解与编排</a:t>
            </a:r>
          </a:p>
        </p:txBody>
      </p:sp>
      <p:sp>
        <p:nvSpPr>
          <p:cNvPr id="23" name="p7-r3-bg">
            <a:extLst xmlns:a="http://schemas.openxmlformats.org/drawingml/2006/main">
              <a:ext uri="{FF2B5EF4-FFF2-40B4-BE49-F238E27FC236}">
                <a16:creationId xmlns:a16="http://schemas.microsoft.com/office/drawing/2014/main" id="{EA26D962-EB86-4B7C-8008-BBD325C4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7-r3">
            <a:extLst xmlns:a="http://schemas.openxmlformats.org/drawingml/2006/main">
              <a:ext uri="{FF2B5EF4-FFF2-40B4-BE49-F238E27FC236}">
                <a16:creationId xmlns:a16="http://schemas.microsoft.com/office/drawing/2014/main" id="{1FADA610-2309-4126-85AD-AADE82A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482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400300" y="4857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552950" y="48577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2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267450" y="3448050"/>
            <a:ext cx="15240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28" name="p7-out">
            <a:extLst xmlns:a="http://schemas.openxmlformats.org/drawingml/2006/main">
              <a:ext uri="{FF2B5EF4-FFF2-40B4-BE49-F238E27FC236}">
                <a16:creationId xmlns:a16="http://schemas.microsoft.com/office/drawing/2014/main" id="{4C9950C6-9D6C-4CF7-91A8-91B9DDE5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确定性编译 → 可编辑 PPTX</a:t>
            </a:r>
          </a:p>
        </p:txBody>
      </p: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058150" y="344805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30" name="p7-note">
            <a:extLst xmlns:a="http://schemas.openxmlformats.org/drawingml/2006/main">
              <a:ext uri="{FF2B5EF4-FFF2-40B4-BE49-F238E27FC236}">
                <a16:creationId xmlns:a16="http://schemas.microsoft.com/office/drawing/2014/main" id="{0A97E48C-8B6A-4067-9058-02EEA40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两条路线的唯一交汇点，是经过确认的核心资产库。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没有合适结构时，退回简单排版 / 拆页；缺口是否另行建设，由用户决定。</a:t>
            </a:r>
          </a:p>
        </p:txBody>
      </p:sp>
    </p:spTree>
    <p:extLst>
      <p:ext uri="{BB962C8B-B14F-4D97-AF65-F5344CB8AC3E}">
        <p14:creationId xmlns:p14="http://schemas.microsoft.com/office/powerpoint/2010/main" val="1340379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8-eyebrow">
            <a:extLst xmlns:a="http://schemas.openxmlformats.org/drawingml/2006/main">
              <a:ext uri="{FF2B5EF4-FFF2-40B4-BE49-F238E27FC236}">
                <a16:creationId xmlns:a16="http://schemas.microsoft.com/office/drawing/2014/main" id="{CCE3857D-8377-4975-9232-FAD7958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8-title">
            <a:extLst xmlns:a="http://schemas.openxmlformats.org/drawingml/2006/main">
              <a:ext uri="{FF2B5EF4-FFF2-40B4-BE49-F238E27FC236}">
                <a16:creationId xmlns:a16="http://schemas.microsoft.com/office/drawing/2014/main" id="{0B029BB5-9AF4-4DA4-BA5C-062440E7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把昂贵的计算前移，正式生成才能低成本复用</a:t>
            </a:r>
          </a:p>
        </p:txBody>
      </p:sp>
      <p:sp>
        <p:nvSpPr>
          <p:cNvPr id="3" name="p8-divider">
            <a:extLst xmlns:a="http://schemas.openxmlformats.org/drawingml/2006/main">
              <a:ext uri="{FF2B5EF4-FFF2-40B4-BE49-F238E27FC236}">
                <a16:creationId xmlns:a16="http://schemas.microsoft.com/office/drawing/2014/main" id="{D7CF6E54-0055-4F46-B852-169A1707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8-footer">
            <a:extLst xmlns:a="http://schemas.openxmlformats.org/drawingml/2006/main">
              <a:ext uri="{FF2B5EF4-FFF2-40B4-BE49-F238E27FC236}">
                <a16:creationId xmlns:a16="http://schemas.microsoft.com/office/drawing/2014/main" id="{6B15ED61-F20D-4145-B4E3-C360AF0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08 / 11</a:t>
            </a:r>
          </a:p>
        </p:txBody>
      </p:sp>
      <p:sp>
        <p:nvSpPr>
          <p:cNvPr id="5" name="p8-intro">
            <a:extLst xmlns:a="http://schemas.openxmlformats.org/drawingml/2006/main">
              <a:ext uri="{FF2B5EF4-FFF2-40B4-BE49-F238E27FC236}">
                <a16:creationId xmlns:a16="http://schemas.microsoft.com/office/drawing/2014/main" id="{2634EB34-EE6D-4C0F-9C4E-664B13E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传统路线把理解、设计和失败风险集中在每次运行时；PPagenT 把不确定工作前移到建设期。</a:t>
            </a:r>
          </a:p>
        </p:txBody>
      </p:sp>
      <p:sp>
        <p:nvSpPr>
          <p:cNvPr id="6" name="p8-build-title">
            <a:extLst xmlns:a="http://schemas.openxmlformats.org/drawingml/2006/main">
              <a:ext uri="{FF2B5EF4-FFF2-40B4-BE49-F238E27FC236}">
                <a16:creationId xmlns:a16="http://schemas.microsoft.com/office/drawing/2014/main" id="{F3E858BE-0F1A-4F32-B080-EC38F42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 / 一次建设</a:t>
            </a:r>
          </a:p>
        </p:txBody>
      </p:sp>
      <p:sp>
        <p:nvSpPr>
          <p:cNvPr id="7" name="p8-build-surface">
            <a:extLst xmlns:a="http://schemas.openxmlformats.org/drawingml/2006/main">
              <a:ext uri="{FF2B5EF4-FFF2-40B4-BE49-F238E27FC236}">
                <a16:creationId xmlns:a16="http://schemas.microsoft.com/office/drawing/2014/main" id="{B15D3AC5-6FE6-4ECE-81D8-A582968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8-build-over">
            <a:extLst xmlns:a="http://schemas.openxmlformats.org/drawingml/2006/main">
              <a:ext uri="{FF2B5EF4-FFF2-40B4-BE49-F238E27FC236}">
                <a16:creationId xmlns:a16="http://schemas.microsoft.com/office/drawing/2014/main" id="{17F7587F-41F6-4090-B63C-6D21E5D4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381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理解为什么好看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内容、图片和数量参数化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反复验证并由用户确认</a:t>
            </a:r>
          </a:p>
        </p:txBody>
      </p:sp>
      <p:sp>
        <p:nvSpPr>
          <p:cNvPr id="9" name="p8-arrow-label">
            <a:extLst xmlns:a="http://schemas.openxmlformats.org/drawingml/2006/main">
              <a:ext uri="{FF2B5EF4-FFF2-40B4-BE49-F238E27FC236}">
                <a16:creationId xmlns:a16="http://schemas.microsoft.com/office/drawing/2014/main" id="{1A08A8D7-A508-4BC9-A416-C5157586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一次建设，多次复用</a:t>
            </a:r>
          </a:p>
        </p:txBody>
      </p:sp>
      <p:sp>
        <p:nvSpPr>
          <p:cNvPr id="10" name="p8-arrow">
            <a:extLst xmlns:a="http://schemas.openxmlformats.org/drawingml/2006/main">
              <a:ext uri="{FF2B5EF4-FFF2-40B4-BE49-F238E27FC236}">
                <a16:creationId xmlns:a16="http://schemas.microsoft.com/office/drawing/2014/main" id="{7A595ACE-B345-4ECD-8FAE-0259A38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8-runtime-title">
            <a:extLst xmlns:a="http://schemas.openxmlformats.org/drawingml/2006/main">
              <a:ext uri="{FF2B5EF4-FFF2-40B4-BE49-F238E27FC236}">
                <a16:creationId xmlns:a16="http://schemas.microsoft.com/office/drawing/2014/main" id="{780E5804-FA72-4E9C-ADCE-CC3A555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 / 多次运行</a:t>
            </a:r>
          </a:p>
        </p:txBody>
      </p:sp>
      <p:sp>
        <p:nvSpPr>
          <p:cNvPr id="12" name="p8-runtime">
            <a:extLst xmlns:a="http://schemas.openxmlformats.org/drawingml/2006/main">
              <a:ext uri="{FF2B5EF4-FFF2-40B4-BE49-F238E27FC236}">
                <a16:creationId xmlns:a16="http://schemas.microsoft.com/office/drawing/2014/main" id="{24E87F76-C073-466E-86D2-8B6045B7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理解、分类、路由和填参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规则约束与确定性代码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真实任务中持续校准</a:t>
            </a:r>
          </a:p>
        </p:txBody>
      </p:sp>
      <p:sp>
        <p:nvSpPr>
          <p:cNvPr id="13" name="p8-result">
            <a:extLst xmlns:a="http://schemas.openxmlformats.org/drawingml/2006/main">
              <a:ext uri="{FF2B5EF4-FFF2-40B4-BE49-F238E27FC236}">
                <a16:creationId xmlns:a16="http://schemas.microsoft.com/office/drawing/2014/main" id="{4B079A8A-FFB8-449D-9BB3-A91F3420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视觉理解从在线成本变成离线资产。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视觉模型服务建设期审查，不成为每次交付的必要成本。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1921322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9-eyebrow">
            <a:extLst xmlns:a="http://schemas.openxmlformats.org/drawingml/2006/main">
              <a:ext uri="{FF2B5EF4-FFF2-40B4-BE49-F238E27FC236}">
                <a16:creationId xmlns:a16="http://schemas.microsoft.com/office/drawing/2014/main" id="{3CAEEA33-A28A-4EA3-A9F2-2109038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9-title">
            <a:extLst xmlns:a="http://schemas.openxmlformats.org/drawingml/2006/main">
              <a:ext uri="{FF2B5EF4-FFF2-40B4-BE49-F238E27FC236}">
                <a16:creationId xmlns:a16="http://schemas.microsoft.com/office/drawing/2014/main" id="{5072DC01-64E2-436D-B9E6-EDB9BE99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真正积累的不是一万个模板，而是可复用的表达能力</a:t>
            </a:r>
          </a:p>
        </p:txBody>
      </p:sp>
      <p:sp>
        <p:nvSpPr>
          <p:cNvPr id="3" name="p9-divider">
            <a:extLst xmlns:a="http://schemas.openxmlformats.org/drawingml/2006/main">
              <a:ext uri="{FF2B5EF4-FFF2-40B4-BE49-F238E27FC236}">
                <a16:creationId xmlns:a16="http://schemas.microsoft.com/office/drawing/2014/main" id="{988B73E5-793F-45C5-86CD-6F67D11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9-footer">
            <a:extLst xmlns:a="http://schemas.openxmlformats.org/drawingml/2006/main">
              <a:ext uri="{FF2B5EF4-FFF2-40B4-BE49-F238E27FC236}">
                <a16:creationId xmlns:a16="http://schemas.microsoft.com/office/drawing/2014/main" id="{DA8192F3-169C-4C90-92C2-BEAD919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09 / 11</a:t>
            </a:r>
          </a:p>
        </p:txBody>
      </p:sp>
      <p:sp>
        <p:nvSpPr>
          <p:cNvPr id="5" name="p9-intro">
            <a:extLst xmlns:a="http://schemas.openxmlformats.org/drawingml/2006/main">
              <a:ext uri="{FF2B5EF4-FFF2-40B4-BE49-F238E27FC236}">
                <a16:creationId xmlns:a16="http://schemas.microsoft.com/office/drawing/2014/main" id="{D6CEAFD0-9E14-4EAF-AC4C-12818C7F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原页面和新稿件的数量、长度会变化，静态模板无法穷尽；真正要留下的是背后的规律。</a:t>
            </a:r>
          </a:p>
        </p:txBody>
      </p:sp>
      <p:sp>
        <p:nvSpPr>
          <p:cNvPr id="6" name="p9-layer-0">
            <a:extLst xmlns:a="http://schemas.openxmlformats.org/drawingml/2006/main">
              <a:ext uri="{FF2B5EF4-FFF2-40B4-BE49-F238E27FC236}">
                <a16:creationId xmlns:a16="http://schemas.microsoft.com/office/drawing/2014/main" id="{F8FC5096-71B0-4063-B22E-7EEC76B4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9-layer-0-title">
            <a:extLst xmlns:a="http://schemas.openxmlformats.org/drawingml/2006/main">
              <a:ext uri="{FF2B5EF4-FFF2-40B4-BE49-F238E27FC236}">
                <a16:creationId xmlns:a16="http://schemas.microsoft.com/office/drawing/2014/main" id="{382A22B6-4C70-4DBC-9D9D-6E313D1D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574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</a:p>
        </p:txBody>
      </p:sp>
      <p:sp>
        <p:nvSpPr>
          <p:cNvPr id="8" name="p9-layer-0-items">
            <a:extLst xmlns:a="http://schemas.openxmlformats.org/drawingml/2006/main">
              <a:ext uri="{FF2B5EF4-FFF2-40B4-BE49-F238E27FC236}">
                <a16:creationId xmlns:a16="http://schemas.microsoft.com/office/drawing/2014/main" id="{E5831CD0-7EB4-46FC-99BF-7BF96D1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5742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组织规范 / 原生可编辑</a:t>
            </a:r>
          </a:p>
        </p:txBody>
      </p:sp>
      <p:sp>
        <p:nvSpPr>
          <p:cNvPr id="9" name="p9-layer-1">
            <a:extLst xmlns:a="http://schemas.openxmlformats.org/drawingml/2006/main">
              <a:ext uri="{FF2B5EF4-FFF2-40B4-BE49-F238E27FC236}">
                <a16:creationId xmlns:a16="http://schemas.microsoft.com/office/drawing/2014/main" id="{F430530E-DD58-44C0-BE4A-FDDC2E4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9-layer-1-title">
            <a:extLst xmlns:a="http://schemas.openxmlformats.org/drawingml/2006/main">
              <a:ext uri="{FF2B5EF4-FFF2-40B4-BE49-F238E27FC236}">
                <a16:creationId xmlns:a16="http://schemas.microsoft.com/office/drawing/2014/main" id="{B197E237-B83D-4D0A-A667-732A694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194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路由判断</a:t>
            </a:r>
          </a:p>
        </p:txBody>
      </p:sp>
      <p:sp>
        <p:nvSpPr>
          <p:cNvPr id="11" name="p9-layer-1-items">
            <a:extLst xmlns:a="http://schemas.openxmlformats.org/drawingml/2006/main">
              <a:ext uri="{FF2B5EF4-FFF2-40B4-BE49-F238E27FC236}">
                <a16:creationId xmlns:a16="http://schemas.microsoft.com/office/drawing/2014/main" id="{A57FF7D2-9318-4344-9D9C-51090CD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内容适配 / 表达选择</a:t>
            </a:r>
          </a:p>
        </p:txBody>
      </p:sp>
      <p:sp>
        <p:nvSpPr>
          <p:cNvPr id="12" name="p9-layer-2">
            <a:extLst xmlns:a="http://schemas.openxmlformats.org/drawingml/2006/main">
              <a:ext uri="{FF2B5EF4-FFF2-40B4-BE49-F238E27FC236}">
                <a16:creationId xmlns:a16="http://schemas.microsoft.com/office/drawing/2014/main" id="{34713F06-5DF5-411B-8A9F-C0F05659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9-layer-2-title">
            <a:extLst xmlns:a="http://schemas.openxmlformats.org/drawingml/2006/main">
              <a:ext uri="{FF2B5EF4-FFF2-40B4-BE49-F238E27FC236}">
                <a16:creationId xmlns:a16="http://schemas.microsoft.com/office/drawing/2014/main" id="{44A557A6-0ABB-46C3-93AC-55AA015A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814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14" name="p9-layer-2-items">
            <a:extLst xmlns:a="http://schemas.openxmlformats.org/drawingml/2006/main">
              <a:ext uri="{FF2B5EF4-FFF2-40B4-BE49-F238E27FC236}">
                <a16:creationId xmlns:a16="http://schemas.microsoft.com/office/drawing/2014/main" id="{2C85DF03-DAA4-4169-A2DE-98B09B1F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567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并列 / 顺序 / 对比 / 层级</a:t>
            </a:r>
          </a:p>
        </p:txBody>
      </p:sp>
      <p:sp>
        <p:nvSpPr>
          <p:cNvPr id="15" name="p9-layer-3">
            <a:extLst xmlns:a="http://schemas.openxmlformats.org/drawingml/2006/main">
              <a:ext uri="{FF2B5EF4-FFF2-40B4-BE49-F238E27FC236}">
                <a16:creationId xmlns:a16="http://schemas.microsoft.com/office/drawing/2014/main" id="{88E8A964-DD24-48CF-90FA-2805B33C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9-layer-3-title">
            <a:extLst xmlns:a="http://schemas.openxmlformats.org/drawingml/2006/main">
              <a:ext uri="{FF2B5EF4-FFF2-40B4-BE49-F238E27FC236}">
                <a16:creationId xmlns:a16="http://schemas.microsoft.com/office/drawing/2014/main" id="{DEA34921-7CFC-4B02-A32B-5D79B37C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434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17" name="p9-layer-3-items">
            <a:extLst xmlns:a="http://schemas.openxmlformats.org/drawingml/2006/main">
              <a:ext uri="{FF2B5EF4-FFF2-40B4-BE49-F238E27FC236}">
                <a16:creationId xmlns:a16="http://schemas.microsoft.com/office/drawing/2014/main" id="{F81C85A1-8509-4443-B813-9B42C61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43425"/>
            <a:ext cx="662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换样式 / 拆页 / 简单排版</a:t>
            </a:r>
          </a:p>
        </p:txBody>
      </p:sp>
      <p:sp>
        <p:nvSpPr>
          <p:cNvPr id="18" name="p9-note">
            <a:extLst xmlns:a="http://schemas.openxmlformats.org/drawingml/2006/main">
              <a:ext uri="{FF2B5EF4-FFF2-40B4-BE49-F238E27FC236}">
                <a16:creationId xmlns:a16="http://schemas.microsoft.com/office/drawing/2014/main" id="{F4EC62C3-48CE-4838-B5D2-4AD686B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一个漂亮页面，只有在这些规律被提炼出来以后，才能从一件作品变成一种能力。</a:t>
            </a:r>
          </a:p>
        </p:txBody>
      </p:sp>
    </p:spTree>
    <p:extLst>
      <p:ext uri="{BB962C8B-B14F-4D97-AF65-F5344CB8AC3E}">
        <p14:creationId xmlns:p14="http://schemas.microsoft.com/office/powerpoint/2010/main" val="77977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10-eyebrow">
            <a:extLst xmlns:a="http://schemas.openxmlformats.org/drawingml/2006/main">
              <a:ext uri="{FF2B5EF4-FFF2-40B4-BE49-F238E27FC236}">
                <a16:creationId xmlns:a16="http://schemas.microsoft.com/office/drawing/2014/main" id="{09340E8F-D7C8-47DB-B00B-60E52C3A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PRODUCT NARRATIVE</a:t>
            </a:r>
          </a:p>
        </p:txBody>
      </p:sp>
      <p:sp>
        <p:nvSpPr>
          <p:cNvPr id="2" name="p10-title">
            <a:extLst xmlns:a="http://schemas.openxmlformats.org/drawingml/2006/main">
              <a:ext uri="{FF2B5EF4-FFF2-40B4-BE49-F238E27FC236}">
                <a16:creationId xmlns:a16="http://schemas.microsoft.com/office/drawing/2014/main" id="{E5A4A4C7-81C0-45B1-80FE-68575C14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从一个学校走向更多组织，主题替换而能力复用</a:t>
            </a:r>
          </a:p>
        </p:txBody>
      </p:sp>
      <p:sp>
        <p:nvSpPr>
          <p:cNvPr id="3" name="p10-divider">
            <a:extLst xmlns:a="http://schemas.openxmlformats.org/drawingml/2006/main">
              <a:ext uri="{FF2B5EF4-FFF2-40B4-BE49-F238E27FC236}">
                <a16:creationId xmlns:a16="http://schemas.microsoft.com/office/drawing/2014/main" id="{432D8290-4DA4-41B7-9A54-90FACC2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0-footer">
            <a:extLst xmlns:a="http://schemas.openxmlformats.org/drawingml/2006/main">
              <a:ext uri="{FF2B5EF4-FFF2-40B4-BE49-F238E27FC236}">
                <a16:creationId xmlns:a16="http://schemas.microsoft.com/office/drawing/2014/main" id="{B4B2E8ED-C599-4F6D-A324-0CB7BDD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 ·  10 / 11</a:t>
            </a:r>
          </a:p>
        </p:txBody>
      </p:sp>
      <p:sp>
        <p:nvSpPr>
          <p:cNvPr id="5" name="p10-intro">
            <a:extLst xmlns:a="http://schemas.openxmlformats.org/drawingml/2006/main">
              <a:ext uri="{FF2B5EF4-FFF2-40B4-BE49-F238E27FC236}">
                <a16:creationId xmlns:a16="http://schemas.microsoft.com/office/drawing/2014/main" id="{16F9BB3A-02F2-4D91-9A2E-37A9CF25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东北大学是第一个正式落地场景，但学校或组织的主题可替换，内容理解规则与表达能力可以继续复用。</a:t>
            </a:r>
          </a:p>
        </p:txBody>
      </p:sp>
      <p:sp>
        <p:nvSpPr>
          <p:cNvPr id="6" name="p10-in-0">
            <a:extLst xmlns:a="http://schemas.openxmlformats.org/drawingml/2006/main">
              <a:ext uri="{FF2B5EF4-FFF2-40B4-BE49-F238E27FC236}">
                <a16:creationId xmlns:a16="http://schemas.microsoft.com/office/drawing/2014/main" id="{AD1F3188-1D40-4203-9B8C-5038213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0-in-0-text">
            <a:extLst xmlns:a="http://schemas.openxmlformats.org/drawingml/2006/main">
              <a:ext uri="{FF2B5EF4-FFF2-40B4-BE49-F238E27FC236}">
                <a16:creationId xmlns:a16="http://schemas.microsoft.com/office/drawing/2014/main" id="{43C5289D-98D1-435E-88D9-6A257E1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学校视觉规范</a:t>
            </a:r>
          </a:p>
        </p:txBody>
      </p:sp>
      <p:sp>
        <p:nvSpPr>
          <p:cNvPr id="8" name="p10-path-0">
            <a:extLst xmlns:a="http://schemas.openxmlformats.org/drawingml/2006/main">
              <a:ext uri="{FF2B5EF4-FFF2-40B4-BE49-F238E27FC236}">
                <a16:creationId xmlns:a16="http://schemas.microsoft.com/office/drawing/2014/main" id="{74BDBF5F-B3E5-44C2-B788-3D99F2FA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295275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0-in-1">
            <a:extLst xmlns:a="http://schemas.openxmlformats.org/drawingml/2006/main">
              <a:ext uri="{FF2B5EF4-FFF2-40B4-BE49-F238E27FC236}">
                <a16:creationId xmlns:a16="http://schemas.microsoft.com/office/drawing/2014/main" id="{1E3307C2-6AE6-4D1A-8480-EC98870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0-in-1-text">
            <a:extLst xmlns:a="http://schemas.openxmlformats.org/drawingml/2006/main">
              <a:ext uri="{FF2B5EF4-FFF2-40B4-BE49-F238E27FC236}">
                <a16:creationId xmlns:a16="http://schemas.microsoft.com/office/drawing/2014/main" id="{FFB51860-53B2-4E21-9F4A-5B89E55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科研院所 / 实验室</a:t>
            </a:r>
          </a:p>
        </p:txBody>
      </p:sp>
      <p:sp>
        <p:nvSpPr>
          <p:cNvPr id="11" name="p10-path-1">
            <a:extLst xmlns:a="http://schemas.openxmlformats.org/drawingml/2006/main">
              <a:ext uri="{FF2B5EF4-FFF2-40B4-BE49-F238E27FC236}">
                <a16:creationId xmlns:a16="http://schemas.microsoft.com/office/drawing/2014/main" id="{38D27946-8674-41EC-9F2B-ED0103DF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295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0-in-2">
            <a:extLst xmlns:a="http://schemas.openxmlformats.org/drawingml/2006/main">
              <a:ext uri="{FF2B5EF4-FFF2-40B4-BE49-F238E27FC236}">
                <a16:creationId xmlns:a16="http://schemas.microsoft.com/office/drawing/2014/main" id="{3A36CE35-3B62-43A1-B718-67E94311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0-in-2-text">
            <a:extLst xmlns:a="http://schemas.openxmlformats.org/drawingml/2006/main">
              <a:ext uri="{FF2B5EF4-FFF2-40B4-BE49-F238E27FC236}">
                <a16:creationId xmlns:a16="http://schemas.microsoft.com/office/drawing/2014/main" id="{58BEB0D9-A465-4DE1-9B04-41619B0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企业团队</a:t>
            </a:r>
          </a:p>
        </p:txBody>
      </p:sp>
      <p:sp>
        <p:nvSpPr>
          <p:cNvPr id="14" name="p10-path-2">
            <a:extLst xmlns:a="http://schemas.openxmlformats.org/drawingml/2006/main">
              <a:ext uri="{FF2B5EF4-FFF2-40B4-BE49-F238E27FC236}">
                <a16:creationId xmlns:a16="http://schemas.microsoft.com/office/drawing/2014/main" id="{364F2671-2597-46B7-9B85-D519C37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2952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0-in-3">
            <a:extLst xmlns:a="http://schemas.openxmlformats.org/drawingml/2006/main">
              <a:ext uri="{FF2B5EF4-FFF2-40B4-BE49-F238E27FC236}">
                <a16:creationId xmlns:a16="http://schemas.microsoft.com/office/drawing/2014/main" id="{61FC750D-B7BB-4070-B8BB-1F05F5A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0-in-3-text">
            <a:extLst xmlns:a="http://schemas.openxmlformats.org/drawingml/2006/main">
              <a:ext uri="{FF2B5EF4-FFF2-40B4-BE49-F238E27FC236}">
                <a16:creationId xmlns:a16="http://schemas.microsoft.com/office/drawing/2014/main" id="{5C325215-C1F7-4E2A-B261-B8F46DD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个人长期风格</a:t>
            </a:r>
          </a:p>
        </p:txBody>
      </p:sp>
      <p:sp>
        <p:nvSpPr>
          <p:cNvPr id="17" name="p10-path-3">
            <a:extLst xmlns:a="http://schemas.openxmlformats.org/drawingml/2006/main">
              <a:ext uri="{FF2B5EF4-FFF2-40B4-BE49-F238E27FC236}">
                <a16:creationId xmlns:a16="http://schemas.microsoft.com/office/drawing/2014/main" id="{16812545-B76A-4F3D-B3DE-322864A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62325"/>
            <a:ext cx="2952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0-output-bg">
            <a:extLst xmlns:a="http://schemas.openxmlformats.org/drawingml/2006/main">
              <a:ext uri="{FF2B5EF4-FFF2-40B4-BE49-F238E27FC236}">
                <a16:creationId xmlns:a16="http://schemas.microsoft.com/office/drawing/2014/main" id="{B8E37854-AF83-44CF-9CD6-3A57D0D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0-output-title">
            <a:extLst xmlns:a="http://schemas.openxmlformats.org/drawingml/2006/main">
              <a:ext uri="{FF2B5EF4-FFF2-40B4-BE49-F238E27FC236}">
                <a16:creationId xmlns:a16="http://schemas.microsoft.com/office/drawing/2014/main" id="{E23E03D7-67B3-49FE-9016-2250DBF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更多组织的工作型 PPT</a:t>
            </a:r>
          </a:p>
        </p:txBody>
      </p:sp>
      <p:sp>
        <p:nvSpPr>
          <p:cNvPr id="20" name="p10-output-body">
            <a:extLst xmlns:a="http://schemas.openxmlformats.org/drawingml/2006/main">
              <a:ext uri="{FF2B5EF4-FFF2-40B4-BE49-F238E27FC236}">
                <a16:creationId xmlns:a16="http://schemas.microsoft.com/office/drawing/2014/main" id="{C4ED85B0-E770-4FA1-A819-E483068D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主题配置替换颜色、Logo、字体和页眉页脚；能力继续复用。</a:t>
            </a:r>
          </a:p>
        </p:txBody>
      </p:sp>
      <p:sp>
        <p:nvSpPr>
          <p:cNvPr id="21" name="p10-note">
            <a:extLst xmlns:a="http://schemas.openxmlformats.org/drawingml/2006/main">
              <a:ext uri="{FF2B5EF4-FFF2-40B4-BE49-F238E27FC236}">
                <a16:creationId xmlns:a16="http://schemas.microsoft.com/office/drawing/2014/main" id="{C9A5D041-4AF1-40E0-A05C-89FBFB05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不用要求每名成员都成为设计师，也能让日常输出稳定达到基本标准。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6980361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11-accent">
            <a:extLst xmlns:a="http://schemas.openxmlformats.org/drawingml/2006/main">
              <a:ext uri="{FF2B5EF4-FFF2-40B4-BE49-F238E27FC236}">
                <a16:creationId xmlns:a16="http://schemas.microsoft.com/office/drawing/2014/main" id="{DF837821-73EF-4BA5-99F1-1E79B82D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1-kicker">
            <a:extLst xmlns:a="http://schemas.openxmlformats.org/drawingml/2006/main">
              <a:ext uri="{FF2B5EF4-FFF2-40B4-BE49-F238E27FC236}">
                <a16:creationId xmlns:a16="http://schemas.microsoft.com/office/drawing/2014/main" id="{A91448B7-2D53-4F00-8F2E-A179A43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/ CLOSE</a:t>
            </a:r>
          </a:p>
        </p:txBody>
      </p:sp>
      <p:sp>
        <p:nvSpPr>
          <p:cNvPr id="3" name="p11-title">
            <a:extLst xmlns:a="http://schemas.openxmlformats.org/drawingml/2006/main">
              <a:ext uri="{FF2B5EF4-FFF2-40B4-BE49-F238E27FC236}">
                <a16:creationId xmlns:a16="http://schemas.microsoft.com/office/drawing/2014/main" id="{86C27BEA-EFB9-4CFF-AB32-62794AF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它卖的不是一次偶然惊艳，而是概率上高度可预测的交付。</a:t>
            </a:r>
          </a:p>
        </p:txBody>
      </p:sp>
      <p:sp>
        <p:nvSpPr>
          <p:cNvPr id="4" name="p11-quote">
            <a:extLst xmlns:a="http://schemas.openxmlformats.org/drawingml/2006/main">
              <a:ext uri="{FF2B5EF4-FFF2-40B4-BE49-F238E27FC236}">
                <a16:creationId xmlns:a16="http://schemas.microsoft.com/office/drawing/2014/main" id="{77FE5041-F6F5-419B-97DF-48983D8B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不一定惊艳，但靠谱；不一定独一无二，但真的好用；可以立刻拿去讲，也可以继续修改的 PPT。</a:t>
            </a:r>
          </a:p>
        </p:txBody>
      </p:sp>
      <p:sp>
        <p:nvSpPr>
          <p:cNvPr id="5" name="p11-divider">
            <a:extLst xmlns:a="http://schemas.openxmlformats.org/drawingml/2006/main">
              <a:ext uri="{FF2B5EF4-FFF2-40B4-BE49-F238E27FC236}">
                <a16:creationId xmlns:a16="http://schemas.microsoft.com/office/drawing/2014/main" id="{59756E44-99CD-4A41-8A70-67B372A3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1-last">
            <a:extLst xmlns:a="http://schemas.openxmlformats.org/drawingml/2006/main">
              <a:ext uri="{FF2B5EF4-FFF2-40B4-BE49-F238E27FC236}">
                <a16:creationId xmlns:a16="http://schemas.microsoft.com/office/drawing/2014/main" id="{06B353ED-0B6E-4F64-8307-BED8A01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如果能持续做到这一点，这个普通问题就能成为一项可靠的产品能力。</a:t>
            </a:r>
          </a:p>
        </p:txBody>
      </p:sp>
      <p:sp>
        <p:nvSpPr>
          <p:cNvPr id="7" name="p11-opportunity">
            <a:extLst xmlns:a="http://schemas.openxmlformats.org/drawingml/2006/main">
              <a:ext uri="{FF2B5EF4-FFF2-40B4-BE49-F238E27FC236}">
                <a16:creationId xmlns:a16="http://schemas.microsoft.com/office/drawing/2014/main" id="{4D0B5D29-B8C4-43A6-94E8-885B93AF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也有机会形成一门真正的生意。</a:t>
            </a:r>
          </a:p>
        </p:txBody>
      </p:sp>
      <p:sp>
        <p:nvSpPr>
          <p:cNvPr id="8" name="p11-page">
            <a:extLst xmlns:a="http://schemas.openxmlformats.org/drawingml/2006/main">
              <a:ext uri="{FF2B5EF4-FFF2-40B4-BE49-F238E27FC236}">
                <a16:creationId xmlns:a16="http://schemas.microsoft.com/office/drawing/2014/main" id="{B596098B-CB1A-4152-95D2-8A737C9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231802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2026-09-06T06:00:15.9040000Z</dcterms:created>
  <dcterms:modified xsi:type="dcterms:W3CDTF">2026-09-06T06:00:15.9040000Z</dcterms:modified>
</coreProperties>
</file>