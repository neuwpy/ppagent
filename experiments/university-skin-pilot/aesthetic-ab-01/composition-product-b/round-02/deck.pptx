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0def4bdaf42c6" /><Relationship Type="http://schemas.openxmlformats.org/officeDocument/2006/relationships/extended-properties" Target="/docProps/app.xml" Id="R6d0cf855e6d4452a" /><Relationship Type="http://schemas.openxmlformats.org/officeDocument/2006/relationships/officeDocument" Target="/ppt/presentation.xml" Id="R922ec67a6e1945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6a58da2fa446b"/>
  </p:sldMasterIdLst>
  <p:notesMasterIdLst>
    <p:notesMasterId xmlns:r="http://schemas.openxmlformats.org/officeDocument/2006/relationships" r:id="Rd5a79c55364e4fdd"/>
  </p:notesMasterIdLst>
  <p:sldIdLst>
    <p:sldId xmlns:r="http://schemas.openxmlformats.org/officeDocument/2006/relationships" id="256" r:id="R70bcac12102d4917"/>
    <p:sldId xmlns:r="http://schemas.openxmlformats.org/officeDocument/2006/relationships" id="257" r:id="Rea76cbe36e384551"/>
    <p:sldId xmlns:r="http://schemas.openxmlformats.org/officeDocument/2006/relationships" id="258" r:id="R3a1d16192a8f4c2a"/>
    <p:sldId xmlns:r="http://schemas.openxmlformats.org/officeDocument/2006/relationships" id="259" r:id="R1d350981a1604d9f"/>
    <p:sldId xmlns:r="http://schemas.openxmlformats.org/officeDocument/2006/relationships" id="260" r:id="Rb1e56fbeb53045c2"/>
    <p:sldId xmlns:r="http://schemas.openxmlformats.org/officeDocument/2006/relationships" id="261" r:id="R3ac4142fbc8c4068"/>
    <p:sldId xmlns:r="http://schemas.openxmlformats.org/officeDocument/2006/relationships" id="262" r:id="Rc3a003f5c9234596"/>
    <p:sldId xmlns:r="http://schemas.openxmlformats.org/officeDocument/2006/relationships" id="263" r:id="Rca465e5b714e45d5"/>
    <p:sldId xmlns:r="http://schemas.openxmlformats.org/officeDocument/2006/relationships" id="264" r:id="Rdb4744a02a1b4ced"/>
    <p:sldId xmlns:r="http://schemas.openxmlformats.org/officeDocument/2006/relationships" id="265" r:id="Re03b35bcd4764115"/>
    <p:sldId xmlns:r="http://schemas.openxmlformats.org/officeDocument/2006/relationships" id="266" r:id="Rc1b855390e0745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4939e03b1442fc" /><Relationship Type="http://schemas.openxmlformats.org/officeDocument/2006/relationships/slideMaster" Target="/ppt/slideMasters/slideMaster1.xml" Id="R1c36a58da2fa446b" /><Relationship Type="http://schemas.openxmlformats.org/officeDocument/2006/relationships/notesMaster" Target="/ppt/notesMasters/notesMaster1.xml" Id="Rd5a79c55364e4fdd" /><Relationship Type="http://schemas.openxmlformats.org/officeDocument/2006/relationships/presProps" Target="/ppt/presProps.xml" Id="R6b72288bf8a04eee" /><Relationship Type="http://schemas.openxmlformats.org/officeDocument/2006/relationships/tableStyles" Target="/ppt/tableStyles.xml" Id="R18ac0d00a5b3480e" /><Relationship Type="http://schemas.openxmlformats.org/officeDocument/2006/relationships/slide" Target="/ppt/slides/slide1.xml" Id="R70bcac12102d4917" /><Relationship Type="http://schemas.openxmlformats.org/officeDocument/2006/relationships/slide" Target="/ppt/slides/slide2.xml" Id="Rea76cbe36e384551" /><Relationship Type="http://schemas.openxmlformats.org/officeDocument/2006/relationships/slide" Target="/ppt/slides/slide3.xml" Id="R3a1d16192a8f4c2a" /><Relationship Type="http://schemas.openxmlformats.org/officeDocument/2006/relationships/slide" Target="/ppt/slides/slide4.xml" Id="R1d350981a1604d9f" /><Relationship Type="http://schemas.openxmlformats.org/officeDocument/2006/relationships/slide" Target="/ppt/slides/slide5.xml" Id="Rb1e56fbeb53045c2" /><Relationship Type="http://schemas.openxmlformats.org/officeDocument/2006/relationships/slide" Target="/ppt/slides/slide6.xml" Id="R3ac4142fbc8c4068" /><Relationship Type="http://schemas.openxmlformats.org/officeDocument/2006/relationships/slide" Target="/ppt/slides/slide7.xml" Id="Rc3a003f5c9234596" /><Relationship Type="http://schemas.openxmlformats.org/officeDocument/2006/relationships/slide" Target="/ppt/slides/slide8.xml" Id="Rca465e5b714e45d5" /><Relationship Type="http://schemas.openxmlformats.org/officeDocument/2006/relationships/slide" Target="/ppt/slides/slide9.xml" Id="Rdb4744a02a1b4ced" /><Relationship Type="http://schemas.openxmlformats.org/officeDocument/2006/relationships/slide" Target="/ppt/slides/slide10.xml" Id="Re03b35bcd4764115" /><Relationship Type="http://schemas.openxmlformats.org/officeDocument/2006/relationships/slide" Target="/ppt/slides/slide11.xml" Id="Rc1b855390e07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b48dd2bd0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37acce1144d50" /><Relationship Type="http://schemas.openxmlformats.org/officeDocument/2006/relationships/notesMaster" Target="/ppt/notesMasters/notesMaster1.xml" Id="R5bffac517de145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d482510d44420" /><Relationship Type="http://schemas.openxmlformats.org/officeDocument/2006/relationships/notesMaster" Target="/ppt/notesMasters/notesMaster1.xml" Id="Rbb4a41336802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4c67eec46a4952" /><Relationship Type="http://schemas.openxmlformats.org/officeDocument/2006/relationships/notesMaster" Target="/ppt/notesMasters/notesMaster1.xml" Id="R98c6b97aee8745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75335b948f4e5f" /><Relationship Type="http://schemas.openxmlformats.org/officeDocument/2006/relationships/notesMaster" Target="/ppt/notesMasters/notesMaster1.xml" Id="R077fc6484d414f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591ddd42ef45f8" /><Relationship Type="http://schemas.openxmlformats.org/officeDocument/2006/relationships/notesMaster" Target="/ppt/notesMasters/notesMaster1.xml" Id="R124ff15bfcda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7ef7f3e7b54393" /><Relationship Type="http://schemas.openxmlformats.org/officeDocument/2006/relationships/notesMaster" Target="/ppt/notesMasters/notesMaster1.xml" Id="R59af96e1cdf640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8a2919718c4f8d" /><Relationship Type="http://schemas.openxmlformats.org/officeDocument/2006/relationships/notesMaster" Target="/ppt/notesMasters/notesMaster1.xml" Id="Rae4f8d78c89a4e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a6518b3154453a" /><Relationship Type="http://schemas.openxmlformats.org/officeDocument/2006/relationships/notesMaster" Target="/ppt/notesMasters/notesMaster1.xml" Id="Re2cd31c004ec48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249bc685c2433c" /><Relationship Type="http://schemas.openxmlformats.org/officeDocument/2006/relationships/notesMaster" Target="/ppt/notesMasters/notesMaster1.xml" Id="Reb3e1d70d81b46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bc36d6c1454d76" /><Relationship Type="http://schemas.openxmlformats.org/officeDocument/2006/relationships/notesMaster" Target="/ppt/notesMasters/notesMaster1.xml" Id="R517c8615b91e4e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82047a112c409a" /><Relationship Type="http://schemas.openxmlformats.org/officeDocument/2006/relationships/notesMaster" Target="/ppt/notesMasters/notesMaster1.xml" Id="R22f1caf1364444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cc5e3e66a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254cdb310f4e67" /><Relationship Type="http://schemas.openxmlformats.org/officeDocument/2006/relationships/slideLayout" Target="/ppt/slideLayouts/slideLayout1.xml" Id="R4224def27196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24def27196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60ccf94f44801" /><Relationship Type="http://schemas.openxmlformats.org/officeDocument/2006/relationships/notesSlide" Target="/ppt/notesSlides/notesSlide1.xml" Id="R25bd779b8b9b45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398a8e0c47ea" /><Relationship Type="http://schemas.openxmlformats.org/officeDocument/2006/relationships/notesSlide" Target="/ppt/notesSlides/notesSlide2.xml" Id="R46031b9e85a2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da524ea3e43fb" /><Relationship Type="http://schemas.openxmlformats.org/officeDocument/2006/relationships/notesSlide" Target="/ppt/notesSlides/notesSlide3.xml" Id="R43c2bd84c488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37c22050549c0" /><Relationship Type="http://schemas.openxmlformats.org/officeDocument/2006/relationships/notesSlide" Target="/ppt/notesSlides/notesSlide4.xml" Id="R75dcbce1f28045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f8c422e04063" /><Relationship Type="http://schemas.openxmlformats.org/officeDocument/2006/relationships/notesSlide" Target="/ppt/notesSlides/notesSlide5.xml" Id="R99209bf2962b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d131129874876" /><Relationship Type="http://schemas.openxmlformats.org/officeDocument/2006/relationships/notesSlide" Target="/ppt/notesSlides/notesSlide6.xml" Id="Ra65cd9d29994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43288f9d4d13" /><Relationship Type="http://schemas.openxmlformats.org/officeDocument/2006/relationships/notesSlide" Target="/ppt/notesSlides/notesSlide7.xml" Id="R89de8e89a80544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c3af65fc449cc" /><Relationship Type="http://schemas.openxmlformats.org/officeDocument/2006/relationships/notesSlide" Target="/ppt/notesSlides/notesSlide8.xml" Id="Ra4a778a3273142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45fb498e94ba8" /><Relationship Type="http://schemas.openxmlformats.org/officeDocument/2006/relationships/notesSlide" Target="/ppt/notesSlides/notesSlide9.xml" Id="Rd13ff79b1cbb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c55f4ab674cfc" /><Relationship Type="http://schemas.openxmlformats.org/officeDocument/2006/relationships/notesSlide" Target="/ppt/notesSlides/notesSlide10.xml" Id="R7001efef11c041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c61f964344b9" /><Relationship Type="http://schemas.openxmlformats.org/officeDocument/2006/relationships/notesSlide" Target="/ppt/notesSlides/notesSlide11.xml" Id="R47f9e919882c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and">
            <a:extLst xmlns:a="http://schemas.openxmlformats.org/drawingml/2006/main">
              <a:ext uri="{FF2B5EF4-FFF2-40B4-BE49-F238E27FC236}">
                <a16:creationId xmlns:a16="http://schemas.microsoft.com/office/drawing/2014/main" id="{88D2CE03-AD5D-41AF-8FC8-2B754C96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7620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1-title">
            <a:extLst xmlns:a="http://schemas.openxmlformats.org/drawingml/2006/main">
              <a:ext uri="{FF2B5EF4-FFF2-40B4-BE49-F238E27FC236}">
                <a16:creationId xmlns:a16="http://schemas.microsoft.com/office/drawing/2014/main" id="{86806746-7C17-4F2C-B442-B6FA3D23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 PPT 生成变成可靠的生产过程</a:t>
            </a:r>
          </a:p>
        </p:txBody>
      </p:sp>
      <p:sp>
        <p:nvSpPr>
          <p:cNvPr id="3" name="1-sub">
            <a:extLst xmlns:a="http://schemas.openxmlformats.org/drawingml/2006/main">
              <a:ext uri="{FF2B5EF4-FFF2-40B4-BE49-F238E27FC236}">
                <a16:creationId xmlns:a16="http://schemas.microsoft.com/office/drawing/2014/main" id="{3BB6C32F-C282-4E1F-A5B2-F85B46E2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4" name="1-lead">
            <a:extLst xmlns:a="http://schemas.openxmlformats.org/drawingml/2006/main">
              <a:ext uri="{FF2B5EF4-FFF2-40B4-BE49-F238E27FC236}">
                <a16:creationId xmlns:a16="http://schemas.microsoft.com/office/drawing/2014/main" id="{3FAC038E-E321-4A6C-9F35-7DC7B65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让 AI 帮我们读稿子，让规则帮我们做判断，让代码完成重复劳动。</a:t>
            </a:r>
          </a:p>
        </p:txBody>
      </p:sp>
      <p:sp>
        <p:nvSpPr>
          <p:cNvPr id="5" name="cover-note-bg">
            <a:extLst xmlns:a="http://schemas.openxmlformats.org/drawingml/2006/main">
              <a:ext uri="{FF2B5EF4-FFF2-40B4-BE49-F238E27FC236}">
                <a16:creationId xmlns:a16="http://schemas.microsoft.com/office/drawing/2014/main" id="{2A95A1D5-85CE-450D-9D78-2033B0A1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790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1-cover-note">
            <a:extLst xmlns:a="http://schemas.openxmlformats.org/drawingml/2006/main">
              <a:ext uri="{FF2B5EF4-FFF2-40B4-BE49-F238E27FC236}">
                <a16:creationId xmlns:a16="http://schemas.microsoft.com/office/drawing/2014/main" id="{448E1FAD-4C32-43C8-A2A4-4C54268D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386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目标：在目标工作场景中，稳定跨过“可以直接拿去讲”的可用线。</a:t>
            </a:r>
          </a:p>
        </p:txBody>
      </p:sp>
      <p:sp>
        <p:nvSpPr>
          <p:cNvPr id="7" name="1-footer">
            <a:extLst xmlns:a="http://schemas.openxmlformats.org/drawingml/2006/main">
              <a:ext uri="{FF2B5EF4-FFF2-40B4-BE49-F238E27FC236}">
                <a16:creationId xmlns:a16="http://schemas.microsoft.com/office/drawing/2014/main" id="{E2D8F62D-CDA9-4546-9389-4725121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01</a:t>
            </a:r>
          </a:p>
        </p:txBody>
      </p:sp>
    </p:spTree>
    <p:extLst>
      <p:ext uri="{BB962C8B-B14F-4D97-AF65-F5344CB8AC3E}">
        <p14:creationId xmlns:p14="http://schemas.microsoft.com/office/powerpoint/2010/main" val="80220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2-kicker">
            <a:extLst xmlns:a="http://schemas.openxmlformats.org/drawingml/2006/main">
              <a:ext uri="{FF2B5EF4-FFF2-40B4-BE49-F238E27FC236}">
                <a16:creationId xmlns:a16="http://schemas.microsoft.com/office/drawing/2014/main" id="{555D7B08-3E08-488C-BD8F-1290BF75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" name="2-title">
            <a:extLst xmlns:a="http://schemas.openxmlformats.org/drawingml/2006/main">
              <a:ext uri="{FF2B5EF4-FFF2-40B4-BE49-F238E27FC236}">
                <a16:creationId xmlns:a16="http://schemas.microsoft.com/office/drawing/2014/main" id="{D558B554-953F-4A97-8192-21C1B51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真正昂贵的不是画，而是一连串判断</a:t>
            </a:r>
          </a:p>
        </p:txBody>
      </p:sp>
      <p:sp>
        <p:nvSpPr>
          <p:cNvPr id="3" name="2-title-rule">
            <a:extLst xmlns:a="http://schemas.openxmlformats.org/drawingml/2006/main">
              <a:ext uri="{FF2B5EF4-FFF2-40B4-BE49-F238E27FC236}">
                <a16:creationId xmlns:a16="http://schemas.microsoft.com/office/drawing/2014/main" id="{40F75738-3A5F-4CED-835F-980B968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2-footer">
            <a:extLst xmlns:a="http://schemas.openxmlformats.org/drawingml/2006/main">
              <a:ext uri="{FF2B5EF4-FFF2-40B4-BE49-F238E27FC236}">
                <a16:creationId xmlns:a16="http://schemas.microsoft.com/office/drawing/2014/main" id="{AA8C0963-8458-4FDA-AFAD-72149FA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02</a:t>
            </a:r>
          </a:p>
        </p:txBody>
      </p:sp>
      <p:sp>
        <p:nvSpPr>
          <p:cNvPr id="5" name="2-left-label">
            <a:extLst xmlns:a="http://schemas.openxmlformats.org/drawingml/2006/main">
              <a:ext uri="{FF2B5EF4-FFF2-40B4-BE49-F238E27FC236}">
                <a16:creationId xmlns:a16="http://schemas.microsoft.com/office/drawing/2014/main" id="{65D1F6BE-A641-45A5-9951-0F29D8D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做 PPT</a:t>
            </a:r>
          </a:p>
        </p:txBody>
      </p:sp>
      <p:sp>
        <p:nvSpPr>
          <p:cNvPr id="6" name="2-left-body">
            <a:extLst xmlns:a="http://schemas.openxmlformats.org/drawingml/2006/main">
              <a:ext uri="{FF2B5EF4-FFF2-40B4-BE49-F238E27FC236}">
                <a16:creationId xmlns:a16="http://schemas.microsoft.com/office/drawing/2014/main" id="{2F556A15-1F9E-422F-B88B-EA56D3A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4048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即使熟练完成答辩、汇报或讲课用的演示，仍然需要很长时间。</a:t>
            </a:r>
          </a:p>
        </p:txBody>
      </p:sp>
      <p:sp>
        <p:nvSpPr>
          <p:cNvPr id="7" name="2-analysis-head">
            <a:extLst xmlns:a="http://schemas.openxmlformats.org/drawingml/2006/main">
              <a:ext uri="{FF2B5EF4-FFF2-40B4-BE49-F238E27FC236}">
                <a16:creationId xmlns:a16="http://schemas.microsoft.com/office/drawing/2014/main" id="{0C080268-5BE5-408E-A536-F696FA01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526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时间消耗集中在决定“怎么讲”</a:t>
            </a:r>
          </a:p>
        </p:txBody>
      </p:sp>
      <p:sp>
        <p:nvSpPr>
          <p:cNvPr id="8" name="2-r0-l">
            <a:extLst xmlns:a="http://schemas.openxmlformats.org/drawingml/2006/main">
              <a:ext uri="{FF2B5EF4-FFF2-40B4-BE49-F238E27FC236}">
                <a16:creationId xmlns:a16="http://schemas.microsoft.com/office/drawing/2014/main" id="{B65E71E6-4792-402E-ABAF-58E36DB3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62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拆页</a:t>
            </a:r>
          </a:p>
        </p:txBody>
      </p:sp>
      <p:sp>
        <p:nvSpPr>
          <p:cNvPr id="9" name="2-r0-b">
            <a:extLst xmlns:a="http://schemas.openxmlformats.org/drawingml/2006/main">
              <a:ext uri="{FF2B5EF4-FFF2-40B4-BE49-F238E27FC236}">
                <a16:creationId xmlns:a16="http://schemas.microsoft.com/office/drawing/2014/main" id="{92E1F308-D58C-4E56-885C-34C8400E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62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一篇长稿应该拆成多少页，每一页只承担什么职责</a:t>
            </a:r>
          </a:p>
        </p:txBody>
      </p:sp>
      <p:sp>
        <p:nvSpPr>
          <p:cNvPr id="10" name="2-row0">
            <a:extLst xmlns:a="http://schemas.openxmlformats.org/drawingml/2006/main">
              <a:ext uri="{FF2B5EF4-FFF2-40B4-BE49-F238E27FC236}">
                <a16:creationId xmlns:a16="http://schemas.microsoft.com/office/drawing/2014/main" id="{00D6E435-B94F-4A22-A0F9-06D88CA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619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1" name="2-r1-l">
            <a:extLst xmlns:a="http://schemas.openxmlformats.org/drawingml/2006/main">
              <a:ext uri="{FF2B5EF4-FFF2-40B4-BE49-F238E27FC236}">
                <a16:creationId xmlns:a16="http://schemas.microsoft.com/office/drawing/2014/main" id="{B44435B6-66A6-4EA5-8AD6-53109D25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09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判关系</a:t>
            </a:r>
          </a:p>
        </p:txBody>
      </p:sp>
      <p:sp>
        <p:nvSpPr>
          <p:cNvPr id="12" name="2-r1-b">
            <a:extLst xmlns:a="http://schemas.openxmlformats.org/drawingml/2006/main">
              <a:ext uri="{FF2B5EF4-FFF2-40B4-BE49-F238E27FC236}">
                <a16:creationId xmlns:a16="http://schemas.microsoft.com/office/drawing/2014/main" id="{9ECDBDD1-2627-4CC2-AE5B-00C0D52C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观点是并列、递进、因果还是流程，哪里应该突出</a:t>
            </a:r>
          </a:p>
        </p:txBody>
      </p:sp>
      <p:sp>
        <p:nvSpPr>
          <p:cNvPr id="13" name="2-row1">
            <a:extLst xmlns:a="http://schemas.openxmlformats.org/drawingml/2006/main">
              <a:ext uri="{FF2B5EF4-FFF2-40B4-BE49-F238E27FC236}">
                <a16:creationId xmlns:a16="http://schemas.microsoft.com/office/drawing/2014/main" id="{695AFDEE-7A9D-4896-B6C9-B864204B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24250"/>
            <a:ext cx="619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4" name="2-r2-l">
            <a:extLst xmlns:a="http://schemas.openxmlformats.org/drawingml/2006/main">
              <a:ext uri="{FF2B5EF4-FFF2-40B4-BE49-F238E27FC236}">
                <a16:creationId xmlns:a16="http://schemas.microsoft.com/office/drawing/2014/main" id="{32A5F6E9-A170-435F-9048-75565D6D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57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选表达</a:t>
            </a:r>
          </a:p>
        </p:txBody>
      </p:sp>
      <p:sp>
        <p:nvSpPr>
          <p:cNvPr id="15" name="2-r2-b">
            <a:extLst xmlns:a="http://schemas.openxmlformats.org/drawingml/2006/main">
              <a:ext uri="{FF2B5EF4-FFF2-40B4-BE49-F238E27FC236}">
                <a16:creationId xmlns:a16="http://schemas.microsoft.com/office/drawing/2014/main" id="{2EEE85EC-4D31-4D9C-86A8-168D8BBD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57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什么时候应该用图，什么时候一句话反而更有力量</a:t>
            </a:r>
          </a:p>
        </p:txBody>
      </p:sp>
      <p:sp>
        <p:nvSpPr>
          <p:cNvPr id="16" name="2-row2">
            <a:extLst xmlns:a="http://schemas.openxmlformats.org/drawingml/2006/main">
              <a:ext uri="{FF2B5EF4-FFF2-40B4-BE49-F238E27FC236}">
                <a16:creationId xmlns:a16="http://schemas.microsoft.com/office/drawing/2014/main" id="{A118FAC1-8F71-4F8F-A5E3-DC18B00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71950"/>
            <a:ext cx="619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7" name="2-r3-l">
            <a:extLst xmlns:a="http://schemas.openxmlformats.org/drawingml/2006/main">
              <a:ext uri="{FF2B5EF4-FFF2-40B4-BE49-F238E27FC236}">
                <a16:creationId xmlns:a16="http://schemas.microsoft.com/office/drawing/2014/main" id="{519F53AA-5AB0-4F4A-89D3-A95EB2C2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053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</p:txBody>
      </p:sp>
      <p:sp>
        <p:nvSpPr>
          <p:cNvPr id="18" name="2-r3-b">
            <a:extLst xmlns:a="http://schemas.openxmlformats.org/drawingml/2006/main">
              <a:ext uri="{FF2B5EF4-FFF2-40B4-BE49-F238E27FC236}">
                <a16:creationId xmlns:a16="http://schemas.microsoft.com/office/drawing/2014/main" id="{1F61D197-7E52-4FFA-A22F-A974122E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翻找旧 PPT、替换内容，再统一字体、字号、颜色和间距</a:t>
            </a:r>
          </a:p>
        </p:txBody>
      </p:sp>
    </p:spTree>
    <p:extLst>
      <p:ext uri="{BB962C8B-B14F-4D97-AF65-F5344CB8AC3E}">
        <p14:creationId xmlns:p14="http://schemas.microsoft.com/office/powerpoint/2010/main" val="687906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3-kicker">
            <a:extLst xmlns:a="http://schemas.openxmlformats.org/drawingml/2006/main">
              <a:ext uri="{FF2B5EF4-FFF2-40B4-BE49-F238E27FC236}">
                <a16:creationId xmlns:a16="http://schemas.microsoft.com/office/drawing/2014/main" id="{B78F3526-DAB4-49AB-A88A-6E8B841C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需求与目标</a:t>
            </a:r>
          </a:p>
        </p:txBody>
      </p:sp>
      <p:sp>
        <p:nvSpPr>
          <p:cNvPr id="2" name="3-title">
            <a:extLst xmlns:a="http://schemas.openxmlformats.org/drawingml/2006/main">
              <a:ext uri="{FF2B5EF4-FFF2-40B4-BE49-F238E27FC236}">
                <a16:creationId xmlns:a16="http://schemas.microsoft.com/office/drawing/2014/main" id="{CB1E153B-F575-4892-BD14-3B9F4B04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先选择概率密度最大的工作型 PPT</a:t>
            </a:r>
          </a:p>
        </p:txBody>
      </p:sp>
      <p:sp>
        <p:nvSpPr>
          <p:cNvPr id="3" name="3-title-rule">
            <a:extLst xmlns:a="http://schemas.openxmlformats.org/drawingml/2006/main">
              <a:ext uri="{FF2B5EF4-FFF2-40B4-BE49-F238E27FC236}">
                <a16:creationId xmlns:a16="http://schemas.microsoft.com/office/drawing/2014/main" id="{3D6EFC63-DADB-463F-AA2F-1AF3CFD6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3-footer">
            <a:extLst xmlns:a="http://schemas.openxmlformats.org/drawingml/2006/main">
              <a:ext uri="{FF2B5EF4-FFF2-40B4-BE49-F238E27FC236}">
                <a16:creationId xmlns:a16="http://schemas.microsoft.com/office/drawing/2014/main" id="{90D80E20-C641-4A41-A3B3-6E6E7A5B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03</a:t>
            </a:r>
          </a:p>
        </p:txBody>
      </p:sp>
      <p:sp>
        <p:nvSpPr>
          <p:cNvPr id="5" name="3-end-a-label">
            <a:extLst xmlns:a="http://schemas.openxmlformats.org/drawingml/2006/main">
              <a:ext uri="{FF2B5EF4-FFF2-40B4-BE49-F238E27FC236}">
                <a16:creationId xmlns:a16="http://schemas.microsoft.com/office/drawing/2014/main" id="{F92CF2DC-E242-4E50-84CE-CD1B8F3F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一端</a:t>
            </a:r>
          </a:p>
        </p:txBody>
      </p:sp>
      <p:sp>
        <p:nvSpPr>
          <p:cNvPr id="6" name="3-end-a">
            <a:extLst xmlns:a="http://schemas.openxmlformats.org/drawingml/2006/main">
              <a:ext uri="{FF2B5EF4-FFF2-40B4-BE49-F238E27FC236}">
                <a16:creationId xmlns:a16="http://schemas.microsoft.com/office/drawing/2014/main" id="{777F6D16-D1B2-4239-A88E-D85297BF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几乎不在意版式，只要把文字放上去。</a:t>
            </a:r>
          </a:p>
        </p:txBody>
      </p:sp>
      <p:sp>
        <p:nvSpPr>
          <p:cNvPr id="7" name="3-end-b-label">
            <a:extLst xmlns:a="http://schemas.openxmlformats.org/drawingml/2006/main">
              <a:ext uri="{FF2B5EF4-FFF2-40B4-BE49-F238E27FC236}">
                <a16:creationId xmlns:a16="http://schemas.microsoft.com/office/drawing/2014/main" id="{E80A5710-C18F-4B7E-96F8-83DC069E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另一端</a:t>
            </a:r>
          </a:p>
        </p:txBody>
      </p:sp>
      <p:sp>
        <p:nvSpPr>
          <p:cNvPr id="8" name="3-end-b">
            <a:extLst xmlns:a="http://schemas.openxmlformats.org/drawingml/2006/main">
              <a:ext uri="{FF2B5EF4-FFF2-40B4-BE49-F238E27FC236}">
                <a16:creationId xmlns:a16="http://schemas.microsoft.com/office/drawing/2014/main" id="{93EA8DBD-4156-4A9C-978D-7E619809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发布会、品牌路演和高水平比赛，需要高度定制的视觉创意。</a:t>
            </a:r>
          </a:p>
        </p:txBody>
      </p:sp>
      <p:sp>
        <p:nvSpPr>
          <p:cNvPr id="9" name="3-middle-label">
            <a:extLst xmlns:a="http://schemas.openxmlformats.org/drawingml/2006/main">
              <a:ext uri="{FF2B5EF4-FFF2-40B4-BE49-F238E27FC236}">
                <a16:creationId xmlns:a16="http://schemas.microsoft.com/office/drawing/2014/main" id="{841A95D2-4C40-40C2-A799-9060BF8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中间</a:t>
            </a:r>
          </a:p>
        </p:txBody>
      </p:sp>
      <p:sp>
        <p:nvSpPr>
          <p:cNvPr id="10" name="3-middle">
            <a:extLst xmlns:a="http://schemas.openxmlformats.org/drawingml/2006/main">
              <a:ext uri="{FF2B5EF4-FFF2-40B4-BE49-F238E27FC236}">
                <a16:creationId xmlns:a16="http://schemas.microsoft.com/office/drawing/2014/main" id="{21D12AB6-5B3A-4A30-8207-91FAEF4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9950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更多需求位于中间：学校、科研院所、事业单位、央国企和普通企业，需要快速得到结构清楚、视觉体面、符合组织规范的 PPT。</a:t>
            </a:r>
          </a:p>
        </p:txBody>
      </p:sp>
      <p:sp>
        <p:nvSpPr>
          <p:cNvPr id="11" name="3-floor-label">
            <a:extLst xmlns:a="http://schemas.openxmlformats.org/drawingml/2006/main">
              <a:ext uri="{FF2B5EF4-FFF2-40B4-BE49-F238E27FC236}">
                <a16:creationId xmlns:a16="http://schemas.microsoft.com/office/drawing/2014/main" id="{C2E58A28-1F6B-4E9D-8DF3-E10F7A6C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底线</a:t>
            </a:r>
          </a:p>
        </p:txBody>
      </p:sp>
      <p:sp>
        <p:nvSpPr>
          <p:cNvPr id="12" name="3-floor">
            <a:extLst xmlns:a="http://schemas.openxmlformats.org/drawingml/2006/main">
              <a:ext uri="{FF2B5EF4-FFF2-40B4-BE49-F238E27FC236}">
                <a16:creationId xmlns:a16="http://schemas.microsoft.com/office/drawing/2014/main" id="{7D8BD2D7-F680-49A8-AE65-64641E0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不能乱、不能丑、不能掉价，生成以后还要能继续修改。</a:t>
            </a:r>
          </a:p>
        </p:txBody>
      </p:sp>
      <p:sp>
        <p:nvSpPr>
          <p:cNvPr id="13" name="3-metric-label">
            <a:extLst xmlns:a="http://schemas.openxmlformats.org/drawingml/2006/main">
              <a:ext uri="{FF2B5EF4-FFF2-40B4-BE49-F238E27FC236}">
                <a16:creationId xmlns:a16="http://schemas.microsoft.com/office/drawing/2014/main" id="{996B5F10-21B9-42B9-9AEE-BBADB9C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产品可靠度</a:t>
            </a:r>
          </a:p>
        </p:txBody>
      </p:sp>
      <p:sp>
        <p:nvSpPr>
          <p:cNvPr id="14" name="3-metric-line-1">
            <a:extLst xmlns:a="http://schemas.openxmlformats.org/drawingml/2006/main">
              <a:ext uri="{FF2B5EF4-FFF2-40B4-BE49-F238E27FC236}">
                <a16:creationId xmlns:a16="http://schemas.microsoft.com/office/drawing/2014/main" id="{E76567E9-184E-4BCA-8387-52B21629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R = P(Q ≥ Q可用</a:t>
            </a:r>
          </a:p>
        </p:txBody>
      </p:sp>
      <p:sp>
        <p:nvSpPr>
          <p:cNvPr id="15" name="3-metric-line-2">
            <a:extLst xmlns:a="http://schemas.openxmlformats.org/drawingml/2006/main">
              <a:ext uri="{FF2B5EF4-FFF2-40B4-BE49-F238E27FC236}">
                <a16:creationId xmlns:a16="http://schemas.microsoft.com/office/drawing/2014/main" id="{3EB80420-3607-4380-B686-D14AD27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      | 目标工作场景)</a:t>
            </a:r>
          </a:p>
        </p:txBody>
      </p:sp>
      <p:sp>
        <p:nvSpPr>
          <p:cNvPr id="16" name="3-metric-vars">
            <a:extLst xmlns:a="http://schemas.openxmlformats.org/drawingml/2006/main">
              <a:ext uri="{FF2B5EF4-FFF2-40B4-BE49-F238E27FC236}">
                <a16:creationId xmlns:a16="http://schemas.microsoft.com/office/drawing/2014/main" id="{DB8D3AF1-9671-400C-B75A-107A055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Q 是生成结果的综合质量；Q可用是“可以直接拿去讲”的最低标准。</a:t>
            </a:r>
          </a:p>
        </p:txBody>
      </p:sp>
      <p:sp>
        <p:nvSpPr>
          <p:cNvPr id="17" name="3-metric-goal">
            <a:extLst xmlns:a="http://schemas.openxmlformats.org/drawingml/2006/main">
              <a:ext uri="{FF2B5EF4-FFF2-40B4-BE49-F238E27FC236}">
                <a16:creationId xmlns:a16="http://schemas.microsoft.com/office/drawing/2014/main" id="{BAF991A1-EB49-4624-B8A9-05C28C77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R 表达产品在目标工作场景中达到可用标准的概率，不是现成测量结果，也不是某一次生成的最高分。</a:t>
            </a:r>
          </a:p>
        </p:txBody>
      </p:sp>
    </p:spTree>
    <p:extLst>
      <p:ext uri="{BB962C8B-B14F-4D97-AF65-F5344CB8AC3E}">
        <p14:creationId xmlns:p14="http://schemas.microsoft.com/office/powerpoint/2010/main" val="1927835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4-kicker">
            <a:extLst xmlns:a="http://schemas.openxmlformats.org/drawingml/2006/main">
              <a:ext uri="{FF2B5EF4-FFF2-40B4-BE49-F238E27FC236}">
                <a16:creationId xmlns:a16="http://schemas.microsoft.com/office/drawing/2014/main" id="{C70AD6B3-7784-4A2A-98BE-8573B20B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可靠度</a:t>
            </a:r>
          </a:p>
        </p:txBody>
      </p:sp>
      <p:sp>
        <p:nvSpPr>
          <p:cNvPr id="2" name="4-title">
            <a:extLst xmlns:a="http://schemas.openxmlformats.org/drawingml/2006/main">
              <a:ext uri="{FF2B5EF4-FFF2-40B4-BE49-F238E27FC236}">
                <a16:creationId xmlns:a16="http://schemas.microsoft.com/office/drawing/2014/main" id="{9A4FCCDF-8003-42AE-8CEE-8923C919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稳定跨过可用线，比偶然惊艳更重要</a:t>
            </a:r>
          </a:p>
        </p:txBody>
      </p:sp>
      <p:sp>
        <p:nvSpPr>
          <p:cNvPr id="3" name="4-title-rule">
            <a:extLst xmlns:a="http://schemas.openxmlformats.org/drawingml/2006/main">
              <a:ext uri="{FF2B5EF4-FFF2-40B4-BE49-F238E27FC236}">
                <a16:creationId xmlns:a16="http://schemas.microsoft.com/office/drawing/2014/main" id="{3FF15C80-C613-4216-8A64-E993835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4-footer">
            <a:extLst xmlns:a="http://schemas.openxmlformats.org/drawingml/2006/main">
              <a:ext uri="{FF2B5EF4-FFF2-40B4-BE49-F238E27FC236}">
                <a16:creationId xmlns:a16="http://schemas.microsoft.com/office/drawing/2014/main" id="{2B268D28-188E-4BC3-B2BF-F0D52AE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04</a:t>
            </a:r>
          </a:p>
        </p:txBody>
      </p:sp>
      <p:sp>
        <p:nvSpPr>
          <p:cNvPr id="5" name="4-intro">
            <a:extLst xmlns:a="http://schemas.openxmlformats.org/drawingml/2006/main">
              <a:ext uri="{FF2B5EF4-FFF2-40B4-BE49-F238E27FC236}">
                <a16:creationId xmlns:a16="http://schemas.microsoft.com/office/drawing/2014/main" id="{6AD1E12D-C5C9-4013-A432-D1797FB3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明天上午九点要汇报，晚上交给系统的工作稿，首先需要逻辑清楚、版式规范、符合单位风格，而且第二天仍然可以继续修改。</a:t>
            </a:r>
          </a:p>
        </p:txBody>
      </p:sp>
      <p:sp>
        <p:nvSpPr>
          <p:cNvPr id="6" name="4-dim-head">
            <a:extLst xmlns:a="http://schemas.openxmlformats.org/drawingml/2006/main">
              <a:ext uri="{FF2B5EF4-FFF2-40B4-BE49-F238E27FC236}">
                <a16:creationId xmlns:a16="http://schemas.microsoft.com/office/drawing/2014/main" id="{7898DEC5-94E0-41F6-AE04-6A3396F5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共同维度</a:t>
            </a:r>
          </a:p>
        </p:txBody>
      </p:sp>
      <p:sp>
        <p:nvSpPr>
          <p:cNvPr id="7" name="4-left-head">
            <a:extLst xmlns:a="http://schemas.openxmlformats.org/drawingml/2006/main">
              <a:ext uri="{FF2B5EF4-FFF2-40B4-BE49-F238E27FC236}">
                <a16:creationId xmlns:a16="http://schemas.microsoft.com/office/drawing/2014/main" id="{27013888-B330-4B87-A5EB-5730E8E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19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8" name="4-right-head">
            <a:extLst xmlns:a="http://schemas.openxmlformats.org/drawingml/2006/main">
              <a:ext uri="{FF2B5EF4-FFF2-40B4-BE49-F238E27FC236}">
                <a16:creationId xmlns:a16="http://schemas.microsoft.com/office/drawing/2014/main" id="{4C1D8D5A-3686-4ADA-94A5-57997EB4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9" name="4-dim-0">
            <a:extLst xmlns:a="http://schemas.openxmlformats.org/drawingml/2006/main">
              <a:ext uri="{FF2B5EF4-FFF2-40B4-BE49-F238E27FC236}">
                <a16:creationId xmlns:a16="http://schemas.microsoft.com/office/drawing/2014/main" id="{24571CB3-C137-4B3D-B668-B39BE47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个性与上限</a:t>
            </a:r>
          </a:p>
        </p:txBody>
      </p:sp>
      <p:sp>
        <p:nvSpPr>
          <p:cNvPr id="10" name="4-left-0">
            <a:extLst xmlns:a="http://schemas.openxmlformats.org/drawingml/2006/main">
              <a:ext uri="{FF2B5EF4-FFF2-40B4-BE49-F238E27FC236}">
                <a16:creationId xmlns:a16="http://schemas.microsoft.com/office/drawing/2014/main" id="{9C1E37DE-653C-43F3-A665-6E3874BD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194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偶尔高度定制、让人惊叹</a:t>
            </a:r>
          </a:p>
        </p:txBody>
      </p:sp>
      <p:sp>
        <p:nvSpPr>
          <p:cNvPr id="11" name="4-right-0">
            <a:extLst xmlns:a="http://schemas.openxmlformats.org/drawingml/2006/main">
              <a:ext uri="{FF2B5EF4-FFF2-40B4-BE49-F238E27FC236}">
                <a16:creationId xmlns:a16="http://schemas.microsoft.com/office/drawing/2014/main" id="{5761E446-ECB4-41BE-8874-814B1F92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稳定达到工作需要的专业程度</a:t>
            </a:r>
          </a:p>
        </p:txBody>
      </p:sp>
      <p:sp>
        <p:nvSpPr>
          <p:cNvPr id="12" name="4-row-0">
            <a:extLst xmlns:a="http://schemas.openxmlformats.org/drawingml/2006/main">
              <a:ext uri="{FF2B5EF4-FFF2-40B4-BE49-F238E27FC236}">
                <a16:creationId xmlns:a16="http://schemas.microsoft.com/office/drawing/2014/main" id="{F4FC6B99-3DBD-45FE-B9FA-208B0AE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4-dim-1">
            <a:extLst xmlns:a="http://schemas.openxmlformats.org/drawingml/2006/main">
              <a:ext uri="{FF2B5EF4-FFF2-40B4-BE49-F238E27FC236}">
                <a16:creationId xmlns:a16="http://schemas.microsoft.com/office/drawing/2014/main" id="{9FB65CF5-ED6B-4F19-A308-C712E27D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继续修改</a:t>
            </a:r>
          </a:p>
        </p:txBody>
      </p:sp>
      <p:sp>
        <p:nvSpPr>
          <p:cNvPr id="14" name="4-left-1">
            <a:extLst xmlns:a="http://schemas.openxmlformats.org/drawingml/2006/main">
              <a:ext uri="{FF2B5EF4-FFF2-40B4-BE49-F238E27FC236}">
                <a16:creationId xmlns:a16="http://schemas.microsoft.com/office/drawing/2014/main" id="{0E4DC5FA-2080-449E-BE9F-28221C72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结果落点和修改基础不稳定</a:t>
            </a:r>
          </a:p>
        </p:txBody>
      </p:sp>
      <p:sp>
        <p:nvSpPr>
          <p:cNvPr id="15" name="4-right-1">
            <a:extLst xmlns:a="http://schemas.openxmlformats.org/drawingml/2006/main">
              <a:ext uri="{FF2B5EF4-FFF2-40B4-BE49-F238E27FC236}">
                <a16:creationId xmlns:a16="http://schemas.microsoft.com/office/drawing/2014/main" id="{1788F5EB-711A-4544-938F-4A68E32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第二天仍然可以继续修改</a:t>
            </a:r>
          </a:p>
        </p:txBody>
      </p:sp>
      <p:sp>
        <p:nvSpPr>
          <p:cNvPr id="16" name="4-row-1">
            <a:extLst xmlns:a="http://schemas.openxmlformats.org/drawingml/2006/main">
              <a:ext uri="{FF2B5EF4-FFF2-40B4-BE49-F238E27FC236}">
                <a16:creationId xmlns:a16="http://schemas.microsoft.com/office/drawing/2014/main" id="{26449D5C-0B07-4940-BFB5-D432D2FA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7" name="4-dim-2">
            <a:extLst xmlns:a="http://schemas.openxmlformats.org/drawingml/2006/main">
              <a:ext uri="{FF2B5EF4-FFF2-40B4-BE49-F238E27FC236}">
                <a16:creationId xmlns:a16="http://schemas.microsoft.com/office/drawing/2014/main" id="{190A2081-C978-48B0-B4E9-67DF46F2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投入回报</a:t>
            </a:r>
          </a:p>
        </p:txBody>
      </p:sp>
      <p:sp>
        <p:nvSpPr>
          <p:cNvPr id="18" name="4-left-2">
            <a:extLst xmlns:a="http://schemas.openxmlformats.org/drawingml/2006/main">
              <a:ext uri="{FF2B5EF4-FFF2-40B4-BE49-F238E27FC236}">
                <a16:creationId xmlns:a16="http://schemas.microsoft.com/office/drawing/2014/main" id="{4EE51F7C-073E-489C-B75F-2362B34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91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增量定制成本会迅速上升</a:t>
            </a:r>
          </a:p>
        </p:txBody>
      </p:sp>
      <p:sp>
        <p:nvSpPr>
          <p:cNvPr id="19" name="4-right-2">
            <a:extLst xmlns:a="http://schemas.openxmlformats.org/drawingml/2006/main">
              <a:ext uri="{FF2B5EF4-FFF2-40B4-BE49-F238E27FC236}">
                <a16:creationId xmlns:a16="http://schemas.microsoft.com/office/drawing/2014/main" id="{B56B4483-289D-4BAE-9428-E5A5E206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许多内部汇报不必为这部分增量付出同等代价</a:t>
            </a:r>
          </a:p>
        </p:txBody>
      </p:sp>
      <p:sp>
        <p:nvSpPr>
          <p:cNvPr id="20" name="4-takeaway">
            <a:extLst xmlns:a="http://schemas.openxmlformats.org/drawingml/2006/main">
              <a:ext uri="{FF2B5EF4-FFF2-40B4-BE49-F238E27FC236}">
                <a16:creationId xmlns:a16="http://schemas.microsoft.com/office/drawing/2014/main" id="{0A8C1534-747E-4681-B025-FB76ED24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“80 分”是稳定可用状态的形象称呼，不是产品的质量上限。</a:t>
            </a:r>
          </a:p>
        </p:txBody>
      </p:sp>
    </p:spTree>
    <p:extLst>
      <p:ext uri="{BB962C8B-B14F-4D97-AF65-F5344CB8AC3E}">
        <p14:creationId xmlns:p14="http://schemas.microsoft.com/office/powerpoint/2010/main" val="1895988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5-kicker">
            <a:extLst xmlns:a="http://schemas.openxmlformats.org/drawingml/2006/main">
              <a:ext uri="{FF2B5EF4-FFF2-40B4-BE49-F238E27FC236}">
                <a16:creationId xmlns:a16="http://schemas.microsoft.com/office/drawing/2014/main" id="{F2FD9BB0-4DA2-419F-BECC-3F440A6C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产品选择</a:t>
            </a:r>
          </a:p>
        </p:txBody>
      </p:sp>
      <p:sp>
        <p:nvSpPr>
          <p:cNvPr id="2" name="5-title">
            <a:extLst xmlns:a="http://schemas.openxmlformats.org/drawingml/2006/main">
              <a:ext uri="{FF2B5EF4-FFF2-40B4-BE49-F238E27FC236}">
                <a16:creationId xmlns:a16="http://schemas.microsoft.com/office/drawing/2014/main" id="{88525C86-1FC8-4783-A431-A72DFA3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用限制一部分自由，换取可预测的结果</a:t>
            </a:r>
          </a:p>
        </p:txBody>
      </p:sp>
      <p:sp>
        <p:nvSpPr>
          <p:cNvPr id="3" name="5-title-rule">
            <a:extLst xmlns:a="http://schemas.openxmlformats.org/drawingml/2006/main">
              <a:ext uri="{FF2B5EF4-FFF2-40B4-BE49-F238E27FC236}">
                <a16:creationId xmlns:a16="http://schemas.microsoft.com/office/drawing/2014/main" id="{DA0DC4AE-26B7-43C0-9698-CDACCD3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5-footer">
            <a:extLst xmlns:a="http://schemas.openxmlformats.org/drawingml/2006/main">
              <a:ext uri="{FF2B5EF4-FFF2-40B4-BE49-F238E27FC236}">
                <a16:creationId xmlns:a16="http://schemas.microsoft.com/office/drawing/2014/main" id="{722EEA30-D9B0-49DB-A42D-FA72101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05</a:t>
            </a:r>
          </a:p>
        </p:txBody>
      </p:sp>
      <p:sp>
        <p:nvSpPr>
          <p:cNvPr id="5" name="5-lead">
            <a:extLst xmlns:a="http://schemas.openxmlformats.org/drawingml/2006/main">
              <a:ext uri="{FF2B5EF4-FFF2-40B4-BE49-F238E27FC236}">
                <a16:creationId xmlns:a16="http://schemas.microsoft.com/office/drawing/2014/main" id="{AD33EDE5-53DE-4D6E-B1F0-5D148977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自由度越高，理论上限越高；状态空间越大，失败模式也越多。正式工作的 PPT 更需要可预测。</a:t>
            </a:r>
          </a:p>
        </p:txBody>
      </p:sp>
      <p:sp>
        <p:nvSpPr>
          <p:cNvPr id="6" name="5-i0-l">
            <a:extLst xmlns:a="http://schemas.openxmlformats.org/drawingml/2006/main">
              <a:ext uri="{FF2B5EF4-FFF2-40B4-BE49-F238E27FC236}">
                <a16:creationId xmlns:a16="http://schemas.microsoft.com/office/drawing/2014/main" id="{E132D83C-BB7C-4C87-9305-221DF608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视觉规范</a:t>
            </a:r>
          </a:p>
        </p:txBody>
      </p:sp>
      <p:sp>
        <p:nvSpPr>
          <p:cNvPr id="7" name="5-i0-b">
            <a:extLst xmlns:a="http://schemas.openxmlformats.org/drawingml/2006/main">
              <a:ext uri="{FF2B5EF4-FFF2-40B4-BE49-F238E27FC236}">
                <a16:creationId xmlns:a16="http://schemas.microsoft.com/office/drawing/2014/main" id="{4716ECEF-4665-42A9-AC13-4170E63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学校或企业已有的颜色、字体、Logo、页眉页脚</a:t>
            </a:r>
          </a:p>
        </p:txBody>
      </p:sp>
      <p:sp>
        <p:nvSpPr>
          <p:cNvPr id="8" name="5-i1-l">
            <a:extLst xmlns:a="http://schemas.openxmlformats.org/drawingml/2006/main">
              <a:ext uri="{FF2B5EF4-FFF2-40B4-BE49-F238E27FC236}">
                <a16:creationId xmlns:a16="http://schemas.microsoft.com/office/drawing/2014/main" id="{0ABBC1ED-D510-41D9-B61E-6786A69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9" name="5-i1-b">
            <a:extLst xmlns:a="http://schemas.openxmlformats.org/drawingml/2006/main">
              <a:ext uri="{FF2B5EF4-FFF2-40B4-BE49-F238E27FC236}">
                <a16:creationId xmlns:a16="http://schemas.microsoft.com/office/drawing/2014/main" id="{D8413663-BEE9-4833-8BD5-519F953A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经过验证的并列、顺序、对比、层级、循环等结构</a:t>
            </a:r>
          </a:p>
        </p:txBody>
      </p:sp>
      <p:sp>
        <p:nvSpPr>
          <p:cNvPr id="10" name="5-i2-l">
            <a:extLst xmlns:a="http://schemas.openxmlformats.org/drawingml/2006/main">
              <a:ext uri="{FF2B5EF4-FFF2-40B4-BE49-F238E27FC236}">
                <a16:creationId xmlns:a16="http://schemas.microsoft.com/office/drawing/2014/main" id="{744DBB5B-53FA-48CB-9E3E-DE835E59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11" name="5-i2-b">
            <a:extLst xmlns:a="http://schemas.openxmlformats.org/drawingml/2006/main">
              <a:ext uri="{FF2B5EF4-FFF2-40B4-BE49-F238E27FC236}">
                <a16:creationId xmlns:a16="http://schemas.microsoft.com/office/drawing/2014/main" id="{705626C1-E120-4132-AB11-1AFF1D1B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明确数量和文字容量，超过边界就换样式或拆页</a:t>
            </a:r>
          </a:p>
        </p:txBody>
      </p:sp>
      <p:sp>
        <p:nvSpPr>
          <p:cNvPr id="12" name="5-i3-l">
            <a:extLst xmlns:a="http://schemas.openxmlformats.org/drawingml/2006/main">
              <a:ext uri="{FF2B5EF4-FFF2-40B4-BE49-F238E27FC236}">
                <a16:creationId xmlns:a16="http://schemas.microsoft.com/office/drawing/2014/main" id="{43262E2F-AEE8-4F15-A236-B1F7DBD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0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退化方式</a:t>
            </a:r>
          </a:p>
        </p:txBody>
      </p:sp>
      <p:sp>
        <p:nvSpPr>
          <p:cNvPr id="13" name="5-i3-b">
            <a:extLst xmlns:a="http://schemas.openxmlformats.org/drawingml/2006/main">
              <a:ext uri="{FF2B5EF4-FFF2-40B4-BE49-F238E27FC236}">
                <a16:creationId xmlns:a16="http://schemas.microsoft.com/office/drawing/2014/main" id="{5C6A73ED-00AC-48B3-85E8-C1F815F7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053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没有合适结构时退回已登记的简单文字排版</a:t>
            </a:r>
          </a:p>
        </p:txBody>
      </p:sp>
    </p:spTree>
    <p:extLst>
      <p:ext uri="{BB962C8B-B14F-4D97-AF65-F5344CB8AC3E}">
        <p14:creationId xmlns:p14="http://schemas.microsoft.com/office/powerpoint/2010/main" val="383601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6-kicker">
            <a:extLst xmlns:a="http://schemas.openxmlformats.org/drawingml/2006/main">
              <a:ext uri="{FF2B5EF4-FFF2-40B4-BE49-F238E27FC236}">
                <a16:creationId xmlns:a16="http://schemas.microsoft.com/office/drawing/2014/main" id="{C33E0128-123E-4E5A-9EC6-16BE5C8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控制器</a:t>
            </a:r>
          </a:p>
        </p:txBody>
      </p:sp>
      <p:sp>
        <p:nvSpPr>
          <p:cNvPr id="2" name="6-title">
            <a:extLst xmlns:a="http://schemas.openxmlformats.org/drawingml/2006/main">
              <a:ext uri="{FF2B5EF4-FFF2-40B4-BE49-F238E27FC236}">
                <a16:creationId xmlns:a16="http://schemas.microsoft.com/office/drawing/2014/main" id="{09846822-191D-44D2-839C-ADDA0824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负责理解和路由，规则负责约束和选择，代码负责稳定生成</a:t>
            </a:r>
          </a:p>
        </p:txBody>
      </p:sp>
      <p:sp>
        <p:nvSpPr>
          <p:cNvPr id="3" name="6-title-rule">
            <a:extLst xmlns:a="http://schemas.openxmlformats.org/drawingml/2006/main">
              <a:ext uri="{FF2B5EF4-FFF2-40B4-BE49-F238E27FC236}">
                <a16:creationId xmlns:a16="http://schemas.microsoft.com/office/drawing/2014/main" id="{970EEF75-4448-4853-9DC4-75BD17A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6-footer">
            <a:extLst xmlns:a="http://schemas.openxmlformats.org/drawingml/2006/main">
              <a:ext uri="{FF2B5EF4-FFF2-40B4-BE49-F238E27FC236}">
                <a16:creationId xmlns:a16="http://schemas.microsoft.com/office/drawing/2014/main" id="{E6E5C2B1-173E-47D2-BFAC-A30F8DB6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06</a:t>
            </a:r>
          </a:p>
        </p:txBody>
      </p:sp>
      <p:sp>
        <p:nvSpPr>
          <p:cNvPr id="5" name="6-intro">
            <a:extLst xmlns:a="http://schemas.openxmlformats.org/drawingml/2006/main">
              <a:ext uri="{FF2B5EF4-FFF2-40B4-BE49-F238E27FC236}">
                <a16:creationId xmlns:a16="http://schemas.microsoft.com/office/drawing/2014/main" id="{8F59F09A-D096-479D-B226-B471A8F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不直接自由绘制整份 PPT；内容导演和视觉导演先组织问题与表达，随后由确定性执行链完成生成。</a:t>
            </a:r>
          </a:p>
        </p:txBody>
      </p:sp>
      <p:sp>
        <p:nvSpPr>
          <p:cNvPr id="6" name="6-directors-head">
            <a:extLst xmlns:a="http://schemas.openxmlformats.org/drawingml/2006/main">
              <a:ext uri="{FF2B5EF4-FFF2-40B4-BE49-F238E27FC236}">
                <a16:creationId xmlns:a16="http://schemas.microsoft.com/office/drawing/2014/main" id="{2AAFC5CC-0672-477A-8E2A-10C74C4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导演分工</a:t>
            </a:r>
          </a:p>
        </p:txBody>
      </p:sp>
      <p:sp>
        <p:nvSpPr>
          <p:cNvPr id="7" name="6-content-label">
            <a:extLst xmlns:a="http://schemas.openxmlformats.org/drawingml/2006/main">
              <a:ext uri="{FF2B5EF4-FFF2-40B4-BE49-F238E27FC236}">
                <a16:creationId xmlns:a16="http://schemas.microsoft.com/office/drawing/2014/main" id="{F961FE36-E37B-4197-9C7C-0D683BBF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14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8" name="6-content-body">
            <a:extLst xmlns:a="http://schemas.openxmlformats.org/drawingml/2006/main">
              <a:ext uri="{FF2B5EF4-FFF2-40B4-BE49-F238E27FC236}">
                <a16:creationId xmlns:a16="http://schemas.microsoft.com/office/drawing/2014/main" id="{84C51D1C-C5FF-4B97-8A3B-F50AE1E0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理解稿件、组织叙事、拆页并形成页面内容。</a:t>
            </a:r>
          </a:p>
        </p:txBody>
      </p:sp>
      <p:sp>
        <p:nvSpPr>
          <p:cNvPr id="9" name="6-visual-label">
            <a:extLst xmlns:a="http://schemas.openxmlformats.org/drawingml/2006/main">
              <a:ext uri="{FF2B5EF4-FFF2-40B4-BE49-F238E27FC236}">
                <a16:creationId xmlns:a16="http://schemas.microsoft.com/office/drawing/2014/main" id="{F39C2F57-416B-4252-ADFE-3B7A7AB7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10" name="6-visual-body">
            <a:extLst xmlns:a="http://schemas.openxmlformats.org/drawingml/2006/main">
              <a:ext uri="{FF2B5EF4-FFF2-40B4-BE49-F238E27FC236}">
                <a16:creationId xmlns:a16="http://schemas.microsoft.com/office/drawing/2014/main" id="{7A194FE3-BD66-4976-8E4B-4C228E4D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判断每页适合怎样表达，从已确认的能力中选择结构。</a:t>
            </a:r>
          </a:p>
        </p:txBody>
      </p:sp>
      <p:sp>
        <p:nvSpPr>
          <p:cNvPr id="11" name="6-chain-head">
            <a:extLst xmlns:a="http://schemas.openxmlformats.org/drawingml/2006/main">
              <a:ext uri="{FF2B5EF4-FFF2-40B4-BE49-F238E27FC236}">
                <a16:creationId xmlns:a16="http://schemas.microsoft.com/office/drawing/2014/main" id="{3BCCAF72-B9B0-44AE-838F-F1A71970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确定性执行链</a:t>
            </a:r>
          </a:p>
        </p:txBody>
      </p:sp>
      <p:sp>
        <p:nvSpPr>
          <p:cNvPr id="12" name="node-0">
            <a:extLst xmlns:a="http://schemas.openxmlformats.org/drawingml/2006/main">
              <a:ext uri="{FF2B5EF4-FFF2-40B4-BE49-F238E27FC236}">
                <a16:creationId xmlns:a16="http://schemas.microsoft.com/office/drawing/2014/main" id="{E684C5C4-CD5B-442B-A786-CB21CF68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1">
            <a:extLst xmlns:a="http://schemas.openxmlformats.org/drawingml/2006/main">
              <a:ext uri="{FF2B5EF4-FFF2-40B4-BE49-F238E27FC236}">
                <a16:creationId xmlns:a16="http://schemas.microsoft.com/office/drawing/2014/main" id="{011AAC48-3507-422A-97B4-C6DE02B9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2">
            <a:extLst xmlns:a="http://schemas.openxmlformats.org/drawingml/2006/main">
              <a:ext uri="{FF2B5EF4-FFF2-40B4-BE49-F238E27FC236}">
                <a16:creationId xmlns:a16="http://schemas.microsoft.com/office/drawing/2014/main" id="{D8AF36F6-A18B-4D60-AC4C-42C04350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000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77000" y="3733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3733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17" name="6-node-0-t">
            <a:extLst xmlns:a="http://schemas.openxmlformats.org/drawingml/2006/main">
              <a:ext uri="{FF2B5EF4-FFF2-40B4-BE49-F238E27FC236}">
                <a16:creationId xmlns:a16="http://schemas.microsoft.com/office/drawing/2014/main" id="{3F135934-8629-40E4-8DC5-830E4BE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8" name="6-node-0-b">
            <a:extLst xmlns:a="http://schemas.openxmlformats.org/drawingml/2006/main">
              <a:ext uri="{FF2B5EF4-FFF2-40B4-BE49-F238E27FC236}">
                <a16:creationId xmlns:a16="http://schemas.microsoft.com/office/drawing/2014/main" id="{B9D7A645-6228-4A72-AC87-6A9223C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理解与路由</a:t>
            </a:r>
          </a:p>
        </p:txBody>
      </p:sp>
      <p:sp>
        <p:nvSpPr>
          <p:cNvPr id="19" name="6-node-1-t">
            <a:extLst xmlns:a="http://schemas.openxmlformats.org/drawingml/2006/main">
              <a:ext uri="{FF2B5EF4-FFF2-40B4-BE49-F238E27FC236}">
                <a16:creationId xmlns:a16="http://schemas.microsoft.com/office/drawing/2014/main" id="{CAC41ACF-9371-4BDB-A705-99E2B1E1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0" name="6-node-1-b">
            <a:extLst xmlns:a="http://schemas.openxmlformats.org/drawingml/2006/main">
              <a:ext uri="{FF2B5EF4-FFF2-40B4-BE49-F238E27FC236}">
                <a16:creationId xmlns:a16="http://schemas.microsoft.com/office/drawing/2014/main" id="{32822E6E-8783-4EA5-842C-FEFE3A3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主题规范、能力选择与容量边界</a:t>
            </a:r>
          </a:p>
        </p:txBody>
      </p:sp>
      <p:sp>
        <p:nvSpPr>
          <p:cNvPr id="21" name="6-node-2-t">
            <a:extLst xmlns:a="http://schemas.openxmlformats.org/drawingml/2006/main">
              <a:ext uri="{FF2B5EF4-FFF2-40B4-BE49-F238E27FC236}">
                <a16:creationId xmlns:a16="http://schemas.microsoft.com/office/drawing/2014/main" id="{74A17D47-8991-46D5-9237-0864A65A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2" name="6-node-2-b">
            <a:extLst xmlns:a="http://schemas.openxmlformats.org/drawingml/2006/main">
              <a:ext uri="{FF2B5EF4-FFF2-40B4-BE49-F238E27FC236}">
                <a16:creationId xmlns:a16="http://schemas.microsoft.com/office/drawing/2014/main" id="{A7FF4415-301C-465C-9502-6900EC51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编译原生可编辑 PPTX，并检查</a:t>
            </a:r>
          </a:p>
        </p:txBody>
      </p:sp>
    </p:spTree>
    <p:extLst>
      <p:ext uri="{BB962C8B-B14F-4D97-AF65-F5344CB8AC3E}">
        <p14:creationId xmlns:p14="http://schemas.microsoft.com/office/powerpoint/2010/main" val="1621217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7-kicker">
            <a:extLst xmlns:a="http://schemas.openxmlformats.org/drawingml/2006/main">
              <a:ext uri="{FF2B5EF4-FFF2-40B4-BE49-F238E27FC236}">
                <a16:creationId xmlns:a16="http://schemas.microsoft.com/office/drawing/2014/main" id="{F2E07FDE-114B-42D2-BDC9-03EF9B49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核心架构</a:t>
            </a:r>
          </a:p>
        </p:txBody>
      </p:sp>
      <p:sp>
        <p:nvSpPr>
          <p:cNvPr id="2" name="7-title">
            <a:extLst xmlns:a="http://schemas.openxmlformats.org/drawingml/2006/main">
              <a:ext uri="{FF2B5EF4-FFF2-40B4-BE49-F238E27FC236}">
                <a16:creationId xmlns:a16="http://schemas.microsoft.com/office/drawing/2014/main" id="{7DA34F24-708E-4F3D-8570-3F331BEA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两条路线只在经过确认的核心资产库交汇</a:t>
            </a:r>
          </a:p>
        </p:txBody>
      </p:sp>
      <p:sp>
        <p:nvSpPr>
          <p:cNvPr id="3" name="7-title-rule">
            <a:extLst xmlns:a="http://schemas.openxmlformats.org/drawingml/2006/main">
              <a:ext uri="{FF2B5EF4-FFF2-40B4-BE49-F238E27FC236}">
                <a16:creationId xmlns:a16="http://schemas.microsoft.com/office/drawing/2014/main" id="{5F0E3FA6-B05A-4D72-9D67-C2454BB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7-footer">
            <a:extLst xmlns:a="http://schemas.openxmlformats.org/drawingml/2006/main">
              <a:ext uri="{FF2B5EF4-FFF2-40B4-BE49-F238E27FC236}">
                <a16:creationId xmlns:a16="http://schemas.microsoft.com/office/drawing/2014/main" id="{54CF33E5-9C4E-4E4C-925C-2906EE5B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07</a:t>
            </a:r>
          </a:p>
        </p:txBody>
      </p:sp>
      <p:sp>
        <p:nvSpPr>
          <p:cNvPr id="5" name="7-intro">
            <a:extLst xmlns:a="http://schemas.openxmlformats.org/drawingml/2006/main">
              <a:ext uri="{FF2B5EF4-FFF2-40B4-BE49-F238E27FC236}">
                <a16:creationId xmlns:a16="http://schemas.microsoft.com/office/drawing/2014/main" id="{F546A616-305C-4341-BC38-F0E2015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能力建设发生在运行前；正式生成只读取核心库，必要时退回简单排版。</a:t>
            </a:r>
          </a:p>
        </p:txBody>
      </p:sp>
      <p:sp>
        <p:nvSpPr>
          <p:cNvPr id="6" name="7-intake-title">
            <a:extLst xmlns:a="http://schemas.openxmlformats.org/drawingml/2006/main">
              <a:ext uri="{FF2B5EF4-FFF2-40B4-BE49-F238E27FC236}">
                <a16:creationId xmlns:a16="http://schemas.microsoft.com/office/drawing/2014/main" id="{7E277281-A45F-4C04-A40A-4344E77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</a:t>
            </a:r>
          </a:p>
        </p:txBody>
      </p:sp>
      <p:sp>
        <p:nvSpPr>
          <p:cNvPr id="7" name="7-formal-title">
            <a:extLst xmlns:a="http://schemas.openxmlformats.org/drawingml/2006/main">
              <a:ext uri="{FF2B5EF4-FFF2-40B4-BE49-F238E27FC236}">
                <a16:creationId xmlns:a16="http://schemas.microsoft.com/office/drawing/2014/main" id="{09508776-5D8E-4537-BFD4-9AC382E1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</a:t>
            </a:r>
          </a:p>
        </p:txBody>
      </p:sp>
      <p:sp>
        <p:nvSpPr>
          <p:cNvPr id="8" name="7-ls0">
            <a:extLst xmlns:a="http://schemas.openxmlformats.org/drawingml/2006/main">
              <a:ext uri="{FF2B5EF4-FFF2-40B4-BE49-F238E27FC236}">
                <a16:creationId xmlns:a16="http://schemas.microsoft.com/office/drawing/2014/main" id="{AC8F6971-E8CE-4940-AC3B-0706BC0B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01  优秀参考</a:t>
            </a:r>
          </a:p>
        </p:txBody>
      </p:sp>
      <p:sp>
        <p:nvSpPr>
          <p:cNvPr id="9" name="7-ls1">
            <a:extLst xmlns:a="http://schemas.openxmlformats.org/drawingml/2006/main">
              <a:ext uri="{FF2B5EF4-FFF2-40B4-BE49-F238E27FC236}">
                <a16:creationId xmlns:a16="http://schemas.microsoft.com/office/drawing/2014/main" id="{1D98DCC0-63E7-463D-9587-AD282A46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02  提炼逻辑与设计规律</a:t>
            </a:r>
          </a:p>
        </p:txBody>
      </p:sp>
      <p:sp>
        <p:nvSpPr>
          <p:cNvPr id="10" name="7-ls2">
            <a:extLst xmlns:a="http://schemas.openxmlformats.org/drawingml/2006/main">
              <a:ext uri="{FF2B5EF4-FFF2-40B4-BE49-F238E27FC236}">
                <a16:creationId xmlns:a16="http://schemas.microsoft.com/office/drawing/2014/main" id="{6C316CE3-49A3-4131-9EF3-A2E1B6E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03  扩展为可复用能力</a:t>
            </a:r>
          </a:p>
        </p:txBody>
      </p:sp>
      <p:sp>
        <p:nvSpPr>
          <p:cNvPr id="11" name="7-ls3">
            <a:extLst xmlns:a="http://schemas.openxmlformats.org/drawingml/2006/main">
              <a:ext uri="{FF2B5EF4-FFF2-40B4-BE49-F238E27FC236}">
                <a16:creationId xmlns:a16="http://schemas.microsoft.com/office/drawing/2014/main" id="{E9A0CE26-D4F3-4271-8375-4F6F495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910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04  用户确认</a:t>
            </a:r>
          </a:p>
        </p:txBody>
      </p:sp>
      <p:sp>
        <p:nvSpPr>
          <p:cNvPr id="12" name="7-rs0">
            <a:extLst xmlns:a="http://schemas.openxmlformats.org/drawingml/2006/main">
              <a:ext uri="{FF2B5EF4-FFF2-40B4-BE49-F238E27FC236}">
                <a16:creationId xmlns:a16="http://schemas.microsoft.com/office/drawing/2014/main" id="{9BE43A0E-2566-4692-95CD-B1EA7550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01  原始稿件 + 组织主题</a:t>
            </a:r>
          </a:p>
        </p:txBody>
      </p:sp>
      <p:sp>
        <p:nvSpPr>
          <p:cNvPr id="13" name="7-rs1">
            <a:extLst xmlns:a="http://schemas.openxmlformats.org/drawingml/2006/main">
              <a:ext uri="{FF2B5EF4-FFF2-40B4-BE49-F238E27FC236}">
                <a16:creationId xmlns:a16="http://schemas.microsoft.com/office/drawing/2014/main" id="{C9CBF1E1-193B-4CBE-B644-F25B912D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04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02  AI 理解与编排</a:t>
            </a:r>
          </a:p>
        </p:txBody>
      </p:sp>
      <p:sp>
        <p:nvSpPr>
          <p:cNvPr id="14" name="7-rs2">
            <a:extLst xmlns:a="http://schemas.openxmlformats.org/drawingml/2006/main">
              <a:ext uri="{FF2B5EF4-FFF2-40B4-BE49-F238E27FC236}">
                <a16:creationId xmlns:a16="http://schemas.microsoft.com/office/drawing/2014/main" id="{97BC5477-ED2B-4CFD-871A-C971E4B0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03  选择合法能力</a:t>
            </a:r>
          </a:p>
        </p:txBody>
      </p:sp>
      <p:sp>
        <p:nvSpPr>
          <p:cNvPr id="15" name="7-rs3">
            <a:extLst xmlns:a="http://schemas.openxmlformats.org/drawingml/2006/main">
              <a:ext uri="{FF2B5EF4-FFF2-40B4-BE49-F238E27FC236}">
                <a16:creationId xmlns:a16="http://schemas.microsoft.com/office/drawing/2014/main" id="{1C61A346-CE0E-45A8-84EA-02F8FAF3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04  确定性排版与编译</a:t>
            </a:r>
          </a:p>
        </p:txBody>
      </p:sp>
      <p:sp>
        <p:nvSpPr>
          <p:cNvPr id="16" name="core">
            <a:extLst xmlns:a="http://schemas.openxmlformats.org/drawingml/2006/main">
              <a:ext uri="{FF2B5EF4-FFF2-40B4-BE49-F238E27FC236}">
                <a16:creationId xmlns:a16="http://schemas.microsoft.com/office/drawing/2014/main" id="{C89E7CC6-64DE-4BE2-9D84-6EB83606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4619625" y="4476750"/>
            <a:ext cx="6667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05625" y="4057650"/>
            <a:ext cx="333375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19" name="7-core-t">
            <a:extLst xmlns:a="http://schemas.openxmlformats.org/drawingml/2006/main">
              <a:ext uri="{FF2B5EF4-FFF2-40B4-BE49-F238E27FC236}">
                <a16:creationId xmlns:a16="http://schemas.microsoft.com/office/drawing/2014/main" id="{E3C4F2DE-2265-4786-9BEC-74E3ED51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核心资产库</a:t>
            </a:r>
          </a:p>
        </p:txBody>
      </p:sp>
      <p:sp>
        <p:nvSpPr>
          <p:cNvPr id="20" name="7-core-b">
            <a:extLst xmlns:a="http://schemas.openxmlformats.org/drawingml/2006/main">
              <a:ext uri="{FF2B5EF4-FFF2-40B4-BE49-F238E27FC236}">
                <a16:creationId xmlns:a16="http://schemas.microsoft.com/office/drawing/2014/main" id="{94E9F886-6332-4031-B868-C45B4999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21" name="7-fallback">
            <a:extLst xmlns:a="http://schemas.openxmlformats.org/drawingml/2006/main">
              <a:ext uri="{FF2B5EF4-FFF2-40B4-BE49-F238E27FC236}">
                <a16:creationId xmlns:a16="http://schemas.microsoft.com/office/drawing/2014/main" id="{FCFF7C83-DE9D-4FD3-943F-E5F88B05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没有合适结构 → 简单排版 / 拆页</a:t>
            </a:r>
          </a:p>
        </p:txBody>
      </p:sp>
    </p:spTree>
    <p:extLst>
      <p:ext uri="{BB962C8B-B14F-4D97-AF65-F5344CB8AC3E}">
        <p14:creationId xmlns:p14="http://schemas.microsoft.com/office/powerpoint/2010/main" val="1398503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8-kicker">
            <a:extLst xmlns:a="http://schemas.openxmlformats.org/drawingml/2006/main">
              <a:ext uri="{FF2B5EF4-FFF2-40B4-BE49-F238E27FC236}">
                <a16:creationId xmlns:a16="http://schemas.microsoft.com/office/drawing/2014/main" id="{D12556B1-84BD-4427-A95A-6EB461E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建设期与运行时</a:t>
            </a:r>
          </a:p>
        </p:txBody>
      </p:sp>
      <p:sp>
        <p:nvSpPr>
          <p:cNvPr id="2" name="8-title">
            <a:extLst xmlns:a="http://schemas.openxmlformats.org/drawingml/2006/main">
              <a:ext uri="{FF2B5EF4-FFF2-40B4-BE49-F238E27FC236}">
                <a16:creationId xmlns:a16="http://schemas.microsoft.com/office/drawing/2014/main" id="{B6F53CFC-AB2E-4752-B84E-AAF9C69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把昂贵的计算前移，让运行时主要负责理解、选择和填参</a:t>
            </a:r>
          </a:p>
        </p:txBody>
      </p:sp>
      <p:sp>
        <p:nvSpPr>
          <p:cNvPr id="3" name="8-title-rule">
            <a:extLst xmlns:a="http://schemas.openxmlformats.org/drawingml/2006/main">
              <a:ext uri="{FF2B5EF4-FFF2-40B4-BE49-F238E27FC236}">
                <a16:creationId xmlns:a16="http://schemas.microsoft.com/office/drawing/2014/main" id="{9B5EA202-6E67-41C2-AADF-01ECB9F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8-footer">
            <a:extLst xmlns:a="http://schemas.openxmlformats.org/drawingml/2006/main">
              <a:ext uri="{FF2B5EF4-FFF2-40B4-BE49-F238E27FC236}">
                <a16:creationId xmlns:a16="http://schemas.microsoft.com/office/drawing/2014/main" id="{354541F3-792A-4538-B931-2D2C519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08</a:t>
            </a:r>
          </a:p>
        </p:txBody>
      </p:sp>
      <p:sp>
        <p:nvSpPr>
          <p:cNvPr id="5" name="8-intro">
            <a:extLst xmlns:a="http://schemas.openxmlformats.org/drawingml/2006/main">
              <a:ext uri="{FF2B5EF4-FFF2-40B4-BE49-F238E27FC236}">
                <a16:creationId xmlns:a16="http://schemas.microsoft.com/office/drawing/2014/main" id="{87568CA4-021E-4171-8799-58A180EC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传统路线把理解、设计和失败风险集中在每次交付；PPagenT 把视觉理解前移为一次建设、多次复用的离线资产。</a:t>
            </a:r>
          </a:p>
        </p:txBody>
      </p:sp>
      <p:sp>
        <p:nvSpPr>
          <p:cNvPr id="6" name="8-build-t">
            <a:extLst xmlns:a="http://schemas.openxmlformats.org/drawingml/2006/main">
              <a:ext uri="{FF2B5EF4-FFF2-40B4-BE49-F238E27FC236}">
                <a16:creationId xmlns:a16="http://schemas.microsoft.com/office/drawing/2014/main" id="{C4AECDB1-B1C2-4B2A-8F91-0F0B8F93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</a:t>
            </a:r>
          </a:p>
        </p:txBody>
      </p:sp>
      <p:sp>
        <p:nvSpPr>
          <p:cNvPr id="7" name="8-build-b">
            <a:extLst xmlns:a="http://schemas.openxmlformats.org/drawingml/2006/main">
              <a:ext uri="{FF2B5EF4-FFF2-40B4-BE49-F238E27FC236}">
                <a16:creationId xmlns:a16="http://schemas.microsoft.com/office/drawing/2014/main" id="{77D00BCE-EC2C-49C3-9CBD-943DCF8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筛选优秀页面 → 理解规律 → 参数化内容、图片和数量 → 验证状态 → 用户确认。</a:t>
            </a:r>
          </a:p>
        </p:txBody>
      </p:sp>
      <p:sp>
        <p:nvSpPr>
          <p:cNvPr id="8" name="8-build-note">
            <a:extLst xmlns:a="http://schemas.openxmlformats.org/drawingml/2006/main">
              <a:ext uri="{FF2B5EF4-FFF2-40B4-BE49-F238E27FC236}">
                <a16:creationId xmlns:a16="http://schemas.microsoft.com/office/drawing/2014/main" id="{66800A49-3509-47F8-8805-2EB04ED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视觉模型可用于资产理解与审查。</a:t>
            </a:r>
          </a:p>
        </p:txBody>
      </p:sp>
      <p:sp>
        <p:nvSpPr>
          <p:cNvPr id="9" name="8-run-t">
            <a:extLst xmlns:a="http://schemas.openxmlformats.org/drawingml/2006/main">
              <a:ext uri="{FF2B5EF4-FFF2-40B4-BE49-F238E27FC236}">
                <a16:creationId xmlns:a16="http://schemas.microsoft.com/office/drawing/2014/main" id="{2FE4E6F3-354F-4185-853E-3C75110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正式生成期</a:t>
            </a:r>
          </a:p>
        </p:txBody>
      </p:sp>
      <p:sp>
        <p:nvSpPr>
          <p:cNvPr id="10" name="8-run-b">
            <a:extLst xmlns:a="http://schemas.openxmlformats.org/drawingml/2006/main">
              <a:ext uri="{FF2B5EF4-FFF2-40B4-BE49-F238E27FC236}">
                <a16:creationId xmlns:a16="http://schemas.microsoft.com/office/drawing/2014/main" id="{00A7FC35-8412-4A01-A6A5-BED8A7F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32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模型完成理解、分类、路由和填参；代码负责绘制与检查，纯文字模型承担主要在线任务。</a:t>
            </a:r>
          </a:p>
        </p:txBody>
      </p:sp>
      <p:sp>
        <p:nvSpPr>
          <p:cNvPr id="11" name="8-run-note">
            <a:extLst xmlns:a="http://schemas.openxmlformats.org/drawingml/2006/main">
              <a:ext uri="{FF2B5EF4-FFF2-40B4-BE49-F238E27FC236}">
                <a16:creationId xmlns:a16="http://schemas.microsoft.com/office/drawing/2014/main" id="{72814798-BD12-4F9A-B720-9C32DE00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8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视觉模型不成为每次交付的必要成本。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1601820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9-kicker">
            <a:extLst xmlns:a="http://schemas.openxmlformats.org/drawingml/2006/main">
              <a:ext uri="{FF2B5EF4-FFF2-40B4-BE49-F238E27FC236}">
                <a16:creationId xmlns:a16="http://schemas.microsoft.com/office/drawing/2014/main" id="{591BA35D-87B9-4A48-802F-F1EAB194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能力壁垒</a:t>
            </a:r>
          </a:p>
        </p:txBody>
      </p:sp>
      <p:sp>
        <p:nvSpPr>
          <p:cNvPr id="2" name="9-title">
            <a:extLst xmlns:a="http://schemas.openxmlformats.org/drawingml/2006/main">
              <a:ext uri="{FF2B5EF4-FFF2-40B4-BE49-F238E27FC236}">
                <a16:creationId xmlns:a16="http://schemas.microsoft.com/office/drawing/2014/main" id="{65C07228-9389-45B6-9BCA-4D16F323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真正积累的不是一万个模板，而是表达经验</a:t>
            </a:r>
          </a:p>
        </p:txBody>
      </p:sp>
      <p:sp>
        <p:nvSpPr>
          <p:cNvPr id="3" name="9-title-rule">
            <a:extLst xmlns:a="http://schemas.openxmlformats.org/drawingml/2006/main">
              <a:ext uri="{FF2B5EF4-FFF2-40B4-BE49-F238E27FC236}">
                <a16:creationId xmlns:a16="http://schemas.microsoft.com/office/drawing/2014/main" id="{9456A7CC-5EA5-40D8-9F21-A060C51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9-footer">
            <a:extLst xmlns:a="http://schemas.openxmlformats.org/drawingml/2006/main">
              <a:ext uri="{FF2B5EF4-FFF2-40B4-BE49-F238E27FC236}">
                <a16:creationId xmlns:a16="http://schemas.microsoft.com/office/drawing/2014/main" id="{8E3E9119-E219-4599-96BA-0F74D897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09</a:t>
            </a:r>
          </a:p>
        </p:txBody>
      </p:sp>
      <p:sp>
        <p:nvSpPr>
          <p:cNvPr id="5" name="9-intro">
            <a:extLst xmlns:a="http://schemas.openxmlformats.org/drawingml/2006/main">
              <a:ext uri="{FF2B5EF4-FFF2-40B4-BE49-F238E27FC236}">
                <a16:creationId xmlns:a16="http://schemas.microsoft.com/office/drawing/2014/main" id="{F0485BF3-D7B8-4044-B06D-EE2DC11B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内容数量、字数和关系会变化；只有把规律提炼为可复用能力，漂亮页面才从一件作品变成一种能力。</a:t>
            </a:r>
          </a:p>
        </p:txBody>
      </p:sp>
      <p:sp>
        <p:nvSpPr>
          <p:cNvPr id="6" name="9-w0-t">
            <a:extLst xmlns:a="http://schemas.openxmlformats.org/drawingml/2006/main">
              <a:ext uri="{FF2B5EF4-FFF2-40B4-BE49-F238E27FC236}">
                <a16:creationId xmlns:a16="http://schemas.microsoft.com/office/drawing/2014/main" id="{7004AF95-855C-4B9B-ABFA-AD51820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表达匹配</a:t>
            </a:r>
          </a:p>
        </p:txBody>
      </p:sp>
      <p:sp>
        <p:nvSpPr>
          <p:cNvPr id="7" name="9-w0-b">
            <a:extLst xmlns:a="http://schemas.openxmlformats.org/drawingml/2006/main">
              <a:ext uri="{FF2B5EF4-FFF2-40B4-BE49-F238E27FC236}">
                <a16:creationId xmlns:a16="http://schemas.microsoft.com/office/drawing/2014/main" id="{7AE83490-8B3F-4A96-BC80-5E092BE5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什么内容适合怎样表达</a:t>
            </a:r>
          </a:p>
        </p:txBody>
      </p:sp>
      <p:sp>
        <p:nvSpPr>
          <p:cNvPr id="8" name="9-w1-t">
            <a:extLst xmlns:a="http://schemas.openxmlformats.org/drawingml/2006/main">
              <a:ext uri="{FF2B5EF4-FFF2-40B4-BE49-F238E27FC236}">
                <a16:creationId xmlns:a16="http://schemas.microsoft.com/office/drawing/2014/main" id="{0705F5C5-780B-42F8-B283-49C8EF3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9" name="9-w1-b">
            <a:extLst xmlns:a="http://schemas.openxmlformats.org/drawingml/2006/main">
              <a:ext uri="{FF2B5EF4-FFF2-40B4-BE49-F238E27FC236}">
                <a16:creationId xmlns:a16="http://schemas.microsoft.com/office/drawing/2014/main" id="{4E7961BD-5471-469D-AF0B-627AD907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一个版式能够处理多少内容</a:t>
            </a:r>
          </a:p>
        </p:txBody>
      </p:sp>
      <p:sp>
        <p:nvSpPr>
          <p:cNvPr id="10" name="9-w2-t">
            <a:extLst xmlns:a="http://schemas.openxmlformats.org/drawingml/2006/main">
              <a:ext uri="{FF2B5EF4-FFF2-40B4-BE49-F238E27FC236}">
                <a16:creationId xmlns:a16="http://schemas.microsoft.com/office/drawing/2014/main" id="{3A84EC65-A88B-46E8-8C8D-0FC6904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67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变化方式</a:t>
            </a:r>
          </a:p>
        </p:txBody>
      </p:sp>
      <p:sp>
        <p:nvSpPr>
          <p:cNvPr id="11" name="9-w2-b">
            <a:extLst xmlns:a="http://schemas.openxmlformats.org/drawingml/2006/main">
              <a:ext uri="{FF2B5EF4-FFF2-40B4-BE49-F238E27FC236}">
                <a16:creationId xmlns:a16="http://schemas.microsoft.com/office/drawing/2014/main" id="{88565D10-E7EB-4768-8460-35B1BBB3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43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数量变化时怎样重新排布</a:t>
            </a:r>
          </a:p>
        </p:txBody>
      </p:sp>
      <p:sp>
        <p:nvSpPr>
          <p:cNvPr id="12" name="9-w3-t">
            <a:extLst xmlns:a="http://schemas.openxmlformats.org/drawingml/2006/main">
              <a:ext uri="{FF2B5EF4-FFF2-40B4-BE49-F238E27FC236}">
                <a16:creationId xmlns:a16="http://schemas.microsoft.com/office/drawing/2014/main" id="{8C0E6ADC-A23F-461D-A739-C60474E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13" name="9-w3-b">
            <a:extLst xmlns:a="http://schemas.openxmlformats.org/drawingml/2006/main">
              <a:ext uri="{FF2B5EF4-FFF2-40B4-BE49-F238E27FC236}">
                <a16:creationId xmlns:a16="http://schemas.microsoft.com/office/drawing/2014/main" id="{1D5A7AEB-C782-4967-89EC-DB984386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超出边界时换样式、拆页还是退化</a:t>
            </a:r>
          </a:p>
        </p:txBody>
      </p:sp>
      <p:sp>
        <p:nvSpPr>
          <p:cNvPr id="14" name="9-barrier-note">
            <a:extLst xmlns:a="http://schemas.openxmlformats.org/drawingml/2006/main">
              <a:ext uri="{FF2B5EF4-FFF2-40B4-BE49-F238E27FC236}">
                <a16:creationId xmlns:a16="http://schemas.microsoft.com/office/drawing/2014/main" id="{790D7FAA-CA22-4A8E-90B8-AB172721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这些表达经验共同构成能力壁垒：新稿数量和字数变化时，仍知道如何排布以及何时换样式、拆页或退化。</a:t>
            </a:r>
          </a:p>
        </p:txBody>
      </p:sp>
    </p:spTree>
    <p:extLst>
      <p:ext uri="{BB962C8B-B14F-4D97-AF65-F5344CB8AC3E}">
        <p14:creationId xmlns:p14="http://schemas.microsoft.com/office/powerpoint/2010/main" val="1835280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10-kicker">
            <a:extLst xmlns:a="http://schemas.openxmlformats.org/drawingml/2006/main">
              <a:ext uri="{FF2B5EF4-FFF2-40B4-BE49-F238E27FC236}">
                <a16:creationId xmlns:a16="http://schemas.microsoft.com/office/drawing/2014/main" id="{F0E0FC78-C76C-45F0-804C-135076A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扩展边界</a:t>
            </a:r>
          </a:p>
        </p:txBody>
      </p:sp>
      <p:sp>
        <p:nvSpPr>
          <p:cNvPr id="2" name="10-title">
            <a:extLst xmlns:a="http://schemas.openxmlformats.org/drawingml/2006/main">
              <a:ext uri="{FF2B5EF4-FFF2-40B4-BE49-F238E27FC236}">
                <a16:creationId xmlns:a16="http://schemas.microsoft.com/office/drawing/2014/main" id="{78CDC09F-C9BF-421B-8473-755740D3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从一个学校走向更多组织，复用的是能力，替换的是主题</a:t>
            </a:r>
          </a:p>
        </p:txBody>
      </p:sp>
      <p:sp>
        <p:nvSpPr>
          <p:cNvPr id="3" name="10-title-rule">
            <a:extLst xmlns:a="http://schemas.openxmlformats.org/drawingml/2006/main">
              <a:ext uri="{FF2B5EF4-FFF2-40B4-BE49-F238E27FC236}">
                <a16:creationId xmlns:a16="http://schemas.microsoft.com/office/drawing/2014/main" id="{29F81392-4919-4E0F-A409-FA6CBD6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10-footer">
            <a:extLst xmlns:a="http://schemas.openxmlformats.org/drawingml/2006/main">
              <a:ext uri="{FF2B5EF4-FFF2-40B4-BE49-F238E27FC236}">
                <a16:creationId xmlns:a16="http://schemas.microsoft.com/office/drawing/2014/main" id="{CDB59FF5-0600-4EBC-9585-C1EF680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10</a:t>
            </a:r>
          </a:p>
        </p:txBody>
      </p:sp>
      <p:sp>
        <p:nvSpPr>
          <p:cNvPr id="5" name="10-left-label">
            <a:extLst xmlns:a="http://schemas.openxmlformats.org/drawingml/2006/main">
              <a:ext uri="{FF2B5EF4-FFF2-40B4-BE49-F238E27FC236}">
                <a16:creationId xmlns:a16="http://schemas.microsoft.com/office/drawing/2014/main" id="{132EA609-84D5-4E42-A003-C594A51E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首个场景</a:t>
            </a:r>
          </a:p>
        </p:txBody>
      </p:sp>
      <p:sp>
        <p:nvSpPr>
          <p:cNvPr id="6" name="10-left">
            <a:extLst xmlns:a="http://schemas.openxmlformats.org/drawingml/2006/main">
              <a:ext uri="{FF2B5EF4-FFF2-40B4-BE49-F238E27FC236}">
                <a16:creationId xmlns:a16="http://schemas.microsoft.com/office/drawing/2014/main" id="{57D36723-1965-4F4D-A3F9-FD36E4EC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东北大学有明确的视觉规范、持续发生的汇报需求和真实可检验的使用边界，因此成为第一个正式落地场景。</a:t>
            </a:r>
          </a:p>
        </p:txBody>
      </p:sp>
      <p:sp>
        <p:nvSpPr>
          <p:cNvPr id="7" name="10-orgs-label">
            <a:extLst xmlns:a="http://schemas.openxmlformats.org/drawingml/2006/main">
              <a:ext uri="{FF2B5EF4-FFF2-40B4-BE49-F238E27FC236}">
                <a16:creationId xmlns:a16="http://schemas.microsoft.com/office/drawing/2014/main" id="{D7DB65C2-454F-4BED-A34E-E77D9CD9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扩展对象</a:t>
            </a:r>
          </a:p>
        </p:txBody>
      </p:sp>
      <p:sp>
        <p:nvSpPr>
          <p:cNvPr id="8" name="10-orgs">
            <a:extLst xmlns:a="http://schemas.openxmlformats.org/drawingml/2006/main">
              <a:ext uri="{FF2B5EF4-FFF2-40B4-BE49-F238E27FC236}">
                <a16:creationId xmlns:a16="http://schemas.microsoft.com/office/drawing/2014/main" id="{FAC5484D-D967-4216-8DBC-D2AECDC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其他学校、科研院所、实验室、企业和团队，都可以获得一套可低成本获得的生产能力。</a:t>
            </a:r>
          </a:p>
        </p:txBody>
      </p:sp>
      <p:sp>
        <p:nvSpPr>
          <p:cNvPr id="9" name="10-expand-title">
            <a:extLst xmlns:a="http://schemas.openxmlformats.org/drawingml/2006/main">
              <a:ext uri="{FF2B5EF4-FFF2-40B4-BE49-F238E27FC236}">
                <a16:creationId xmlns:a16="http://schemas.microsoft.com/office/drawing/2014/main" id="{5EF3792E-E172-4980-B3B4-B946DCF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替换与复用</a:t>
            </a:r>
          </a:p>
        </p:txBody>
      </p:sp>
      <p:sp>
        <p:nvSpPr>
          <p:cNvPr id="10" name="10-theme-l">
            <a:extLst xmlns:a="http://schemas.openxmlformats.org/drawingml/2006/main">
              <a:ext uri="{FF2B5EF4-FFF2-40B4-BE49-F238E27FC236}">
                <a16:creationId xmlns:a16="http://schemas.microsoft.com/office/drawing/2014/main" id="{B5E0ED0F-66A3-4978-85BF-994E1194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11" name="10-theme-b">
            <a:extLst xmlns:a="http://schemas.openxmlformats.org/drawingml/2006/main">
              <a:ext uri="{FF2B5EF4-FFF2-40B4-BE49-F238E27FC236}">
                <a16:creationId xmlns:a16="http://schemas.microsoft.com/office/drawing/2014/main" id="{A3DA3F40-C25B-43DC-9B26-909DB5D7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颜色、Logo、字体、页眉页脚可以替换。</a:t>
            </a:r>
          </a:p>
        </p:txBody>
      </p:sp>
      <p:sp>
        <p:nvSpPr>
          <p:cNvPr id="12" name="10-e1">
            <a:extLst xmlns:a="http://schemas.openxmlformats.org/drawingml/2006/main">
              <a:ext uri="{FF2B5EF4-FFF2-40B4-BE49-F238E27FC236}">
                <a16:creationId xmlns:a16="http://schemas.microsoft.com/office/drawing/2014/main" id="{A95F67D6-B6AE-47AE-BA07-4A7E789E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10-cap-l">
            <a:extLst xmlns:a="http://schemas.openxmlformats.org/drawingml/2006/main">
              <a:ext uri="{FF2B5EF4-FFF2-40B4-BE49-F238E27FC236}">
                <a16:creationId xmlns:a16="http://schemas.microsoft.com/office/drawing/2014/main" id="{FB8FD709-01B5-4BD1-A5FB-4DC838F0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14" name="10-cap-b">
            <a:extLst xmlns:a="http://schemas.openxmlformats.org/drawingml/2006/main">
              <a:ext uri="{FF2B5EF4-FFF2-40B4-BE49-F238E27FC236}">
                <a16:creationId xmlns:a16="http://schemas.microsoft.com/office/drawing/2014/main" id="{5AA075BA-46B3-4AD6-9BB3-1960C2C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内容理解规则与表达能力继续复用。</a:t>
            </a:r>
          </a:p>
        </p:txBody>
      </p:sp>
      <p:sp>
        <p:nvSpPr>
          <p:cNvPr id="15" name="10-foot">
            <a:extLst xmlns:a="http://schemas.openxmlformats.org/drawingml/2006/main">
              <a:ext uri="{FF2B5EF4-FFF2-40B4-BE49-F238E27FC236}">
                <a16:creationId xmlns:a16="http://schemas.microsoft.com/office/drawing/2014/main" id="{E7F7D837-9650-426F-8066-8F2C332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组织不用要求每名成员都成为设计师，也能让日常输出稳定达到基本标准。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480758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1-top-rule">
            <a:extLst xmlns:a="http://schemas.openxmlformats.org/drawingml/2006/main">
              <a:ext uri="{FF2B5EF4-FFF2-40B4-BE49-F238E27FC236}">
                <a16:creationId xmlns:a16="http://schemas.microsoft.com/office/drawing/2014/main" id="{93998139-B161-45F3-8997-8608A95A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9625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" name="11-title">
            <a:extLst xmlns:a="http://schemas.openxmlformats.org/drawingml/2006/main">
              <a:ext uri="{FF2B5EF4-FFF2-40B4-BE49-F238E27FC236}">
                <a16:creationId xmlns:a16="http://schemas.microsoft.com/office/drawing/2014/main" id="{09CB1B80-102C-47FF-AA77-F0CAFC4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最后，它仍然只想解决一件普通的事</a:t>
            </a:r>
          </a:p>
        </p:txBody>
      </p:sp>
      <p:sp>
        <p:nvSpPr>
          <p:cNvPr id="3" name="11-body">
            <a:extLst xmlns:a="http://schemas.openxmlformats.org/drawingml/2006/main">
              <a:ext uri="{FF2B5EF4-FFF2-40B4-BE49-F238E27FC236}">
                <a16:creationId xmlns:a16="http://schemas.microsoft.com/office/drawing/2014/main" id="{330BA249-ABC5-4BAF-B28E-43FA3BDA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做一套好 PPT 太费时间了，而其中很多时间花在以前已经有人解决过的问题上。</a:t>
            </a:r>
          </a:p>
        </p:txBody>
      </p:sp>
      <p:sp>
        <p:nvSpPr>
          <p:cNvPr id="4" name="close-bg">
            <a:extLst xmlns:a="http://schemas.openxmlformats.org/drawingml/2006/main">
              <a:ext uri="{FF2B5EF4-FFF2-40B4-BE49-F238E27FC236}">
                <a16:creationId xmlns:a16="http://schemas.microsoft.com/office/drawing/2014/main" id="{ADF6370F-1C0C-450A-AEA4-E6035CE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114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11-close">
            <a:extLst xmlns:a="http://schemas.openxmlformats.org/drawingml/2006/main">
              <a:ext uri="{FF2B5EF4-FFF2-40B4-BE49-F238E27FC236}">
                <a16:creationId xmlns:a16="http://schemas.microsoft.com/office/drawing/2014/main" id="{717CEFD2-F6CA-4530-92F0-FB57C456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不一定惊艳，但靠谱；不一定独一无二，但真的好用；可以立刻拿去讲，也可以继续修改。</a:t>
            </a:r>
          </a:p>
        </p:txBody>
      </p:sp>
      <p:sp>
        <p:nvSpPr>
          <p:cNvPr id="6" name="11-end">
            <a:extLst xmlns:a="http://schemas.openxmlformats.org/drawingml/2006/main">
              <a:ext uri="{FF2B5EF4-FFF2-40B4-BE49-F238E27FC236}">
                <a16:creationId xmlns:a16="http://schemas.microsoft.com/office/drawing/2014/main" id="{D8E6DAA6-5469-4F6F-A4F6-5AB65CBD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如果持续做到这一点，普通问题就能成为可靠的产品能力，也有机会形成一门真正的生意。</a:t>
            </a:r>
          </a:p>
        </p:txBody>
      </p:sp>
      <p:sp>
        <p:nvSpPr>
          <p:cNvPr id="7" name="11-footer">
            <a:extLst xmlns:a="http://schemas.openxmlformats.org/drawingml/2006/main">
              <a:ext uri="{FF2B5EF4-FFF2-40B4-BE49-F238E27FC236}">
                <a16:creationId xmlns:a16="http://schemas.microsoft.com/office/drawing/2014/main" id="{533BD798-A231-403D-8FC8-5FFFE62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11</a:t>
            </a:r>
          </a:p>
        </p:txBody>
      </p:sp>
    </p:spTree>
    <p:extLst>
      <p:ext uri="{BB962C8B-B14F-4D97-AF65-F5344CB8AC3E}">
        <p14:creationId xmlns:p14="http://schemas.microsoft.com/office/powerpoint/2010/main" val="1574269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2026-09-06T06:00:43.9660000Z</dcterms:created>
  <dcterms:modified xsi:type="dcterms:W3CDTF">2026-09-06T06:00:43.9660000Z</dcterms:modified>
</coreProperties>
</file>