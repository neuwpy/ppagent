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e5cd6d4e5049d0" /><Relationship Type="http://schemas.openxmlformats.org/officeDocument/2006/relationships/extended-properties" Target="/docProps/app.xml" Id="R8fbaaccdcf334208" /><Relationship Type="http://schemas.openxmlformats.org/officeDocument/2006/relationships/officeDocument" Target="/ppt/presentation.xml" Id="R8060b2f758ed4b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cd6ca8d46e4ef9"/>
  </p:sldMasterIdLst>
  <p:notesMasterIdLst>
    <p:notesMasterId xmlns:r="http://schemas.openxmlformats.org/officeDocument/2006/relationships" r:id="R3b606d2d2d794156"/>
  </p:notesMasterIdLst>
  <p:sldIdLst>
    <p:sldId xmlns:r="http://schemas.openxmlformats.org/officeDocument/2006/relationships" id="256" r:id="R91958304a3044b03"/>
    <p:sldId xmlns:r="http://schemas.openxmlformats.org/officeDocument/2006/relationships" id="257" r:id="R77423dc3ee104970"/>
    <p:sldId xmlns:r="http://schemas.openxmlformats.org/officeDocument/2006/relationships" id="258" r:id="Re148bbaee4b54b88"/>
    <p:sldId xmlns:r="http://schemas.openxmlformats.org/officeDocument/2006/relationships" id="259" r:id="Re73c3664213f49fd"/>
    <p:sldId xmlns:r="http://schemas.openxmlformats.org/officeDocument/2006/relationships" id="260" r:id="Rb147201c44e64dd6"/>
    <p:sldId xmlns:r="http://schemas.openxmlformats.org/officeDocument/2006/relationships" id="261" r:id="R510a31c707ca4c6f"/>
    <p:sldId xmlns:r="http://schemas.openxmlformats.org/officeDocument/2006/relationships" id="262" r:id="Ra40c3ce7a2f348db"/>
    <p:sldId xmlns:r="http://schemas.openxmlformats.org/officeDocument/2006/relationships" id="263" r:id="Rd4412df0431744ed"/>
    <p:sldId xmlns:r="http://schemas.openxmlformats.org/officeDocument/2006/relationships" id="264" r:id="R9c29af13656b4527"/>
    <p:sldId xmlns:r="http://schemas.openxmlformats.org/officeDocument/2006/relationships" id="265" r:id="Rd5f63e2f4f6549eb"/>
    <p:sldId xmlns:r="http://schemas.openxmlformats.org/officeDocument/2006/relationships" id="266" r:id="R34361d305a6349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11cd67655e4dae" /><Relationship Type="http://schemas.openxmlformats.org/officeDocument/2006/relationships/slideMaster" Target="/ppt/slideMasters/slideMaster1.xml" Id="R5fcd6ca8d46e4ef9" /><Relationship Type="http://schemas.openxmlformats.org/officeDocument/2006/relationships/notesMaster" Target="/ppt/notesMasters/notesMaster1.xml" Id="R3b606d2d2d794156" /><Relationship Type="http://schemas.openxmlformats.org/officeDocument/2006/relationships/presProps" Target="/ppt/presProps.xml" Id="Rd870dfefdc17471c" /><Relationship Type="http://schemas.openxmlformats.org/officeDocument/2006/relationships/tableStyles" Target="/ppt/tableStyles.xml" Id="R5d4089d61627408a" /><Relationship Type="http://schemas.openxmlformats.org/officeDocument/2006/relationships/slide" Target="/ppt/slides/slide1.xml" Id="R91958304a3044b03" /><Relationship Type="http://schemas.openxmlformats.org/officeDocument/2006/relationships/slide" Target="/ppt/slides/slide2.xml" Id="R77423dc3ee104970" /><Relationship Type="http://schemas.openxmlformats.org/officeDocument/2006/relationships/slide" Target="/ppt/slides/slide3.xml" Id="Re148bbaee4b54b88" /><Relationship Type="http://schemas.openxmlformats.org/officeDocument/2006/relationships/slide" Target="/ppt/slides/slide4.xml" Id="Re73c3664213f49fd" /><Relationship Type="http://schemas.openxmlformats.org/officeDocument/2006/relationships/slide" Target="/ppt/slides/slide5.xml" Id="Rb147201c44e64dd6" /><Relationship Type="http://schemas.openxmlformats.org/officeDocument/2006/relationships/slide" Target="/ppt/slides/slide6.xml" Id="R510a31c707ca4c6f" /><Relationship Type="http://schemas.openxmlformats.org/officeDocument/2006/relationships/slide" Target="/ppt/slides/slide7.xml" Id="Ra40c3ce7a2f348db" /><Relationship Type="http://schemas.openxmlformats.org/officeDocument/2006/relationships/slide" Target="/ppt/slides/slide8.xml" Id="Rd4412df0431744ed" /><Relationship Type="http://schemas.openxmlformats.org/officeDocument/2006/relationships/slide" Target="/ppt/slides/slide9.xml" Id="R9c29af13656b4527" /><Relationship Type="http://schemas.openxmlformats.org/officeDocument/2006/relationships/slide" Target="/ppt/slides/slide10.xml" Id="Rd5f63e2f4f6549eb" /><Relationship Type="http://schemas.openxmlformats.org/officeDocument/2006/relationships/slide" Target="/ppt/slides/slide11.xml" Id="R34361d305a6349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cae0eb5aac45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4e1d45915843f8" /><Relationship Type="http://schemas.openxmlformats.org/officeDocument/2006/relationships/notesMaster" Target="/ppt/notesMasters/notesMaster1.xml" Id="R286fea0822ee4a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94de8e39c44bb0" /><Relationship Type="http://schemas.openxmlformats.org/officeDocument/2006/relationships/notesMaster" Target="/ppt/notesMasters/notesMaster1.xml" Id="R2151d835d6e7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dd4944ea6842df" /><Relationship Type="http://schemas.openxmlformats.org/officeDocument/2006/relationships/notesMaster" Target="/ppt/notesMasters/notesMaster1.xml" Id="R42bf553d1abe49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60375099d04b10" /><Relationship Type="http://schemas.openxmlformats.org/officeDocument/2006/relationships/notesMaster" Target="/ppt/notesMasters/notesMaster1.xml" Id="Rbbc74a7d612845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fb1c333c0a4e51" /><Relationship Type="http://schemas.openxmlformats.org/officeDocument/2006/relationships/notesMaster" Target="/ppt/notesMasters/notesMaster1.xml" Id="R85e75048ee8f43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c38d9893014370" /><Relationship Type="http://schemas.openxmlformats.org/officeDocument/2006/relationships/notesMaster" Target="/ppt/notesMasters/notesMaster1.xml" Id="R472f61fa94a743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d34e51d8c44150" /><Relationship Type="http://schemas.openxmlformats.org/officeDocument/2006/relationships/notesMaster" Target="/ppt/notesMasters/notesMaster1.xml" Id="Rab280983b5c045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a69bf6bd9c4b48" /><Relationship Type="http://schemas.openxmlformats.org/officeDocument/2006/relationships/notesMaster" Target="/ppt/notesMasters/notesMaster1.xml" Id="R6bbc1022583e47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10a6c14e204eb9" /><Relationship Type="http://schemas.openxmlformats.org/officeDocument/2006/relationships/notesMaster" Target="/ppt/notesMasters/notesMaster1.xml" Id="Rc1348ca6e1764a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24505437f64939" /><Relationship Type="http://schemas.openxmlformats.org/officeDocument/2006/relationships/notesMaster" Target="/ppt/notesMasters/notesMaster1.xml" Id="R5bfdd06d0af941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27a9b92aa446f7" /><Relationship Type="http://schemas.openxmlformats.org/officeDocument/2006/relationships/notesMaster" Target="/ppt/notesMasters/notesMaster1.xml" Id="Rf77b2f51902849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040f82d30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e8020546b24349" /><Relationship Type="http://schemas.openxmlformats.org/officeDocument/2006/relationships/slideLayout" Target="/ppt/slideLayouts/slideLayout1.xml" Id="R7b7fd6c6e0d149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7fd6c6e0d149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90ab91cb9499c" /><Relationship Type="http://schemas.openxmlformats.org/officeDocument/2006/relationships/notesSlide" Target="/ppt/notesSlides/notesSlide1.xml" Id="R72504b8fa1d940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32dce1c204b17" /><Relationship Type="http://schemas.openxmlformats.org/officeDocument/2006/relationships/notesSlide" Target="/ppt/notesSlides/notesSlide2.xml" Id="R17656a26f83142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ac511b1f7469b" /><Relationship Type="http://schemas.openxmlformats.org/officeDocument/2006/relationships/notesSlide" Target="/ppt/notesSlides/notesSlide3.xml" Id="Rd07aa28619364e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c1ce34f8f4449" /><Relationship Type="http://schemas.openxmlformats.org/officeDocument/2006/relationships/notesSlide" Target="/ppt/notesSlides/notesSlide4.xml" Id="Rf03ad2eeb6ca49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d7ba5748f49ad" /><Relationship Type="http://schemas.openxmlformats.org/officeDocument/2006/relationships/notesSlide" Target="/ppt/notesSlides/notesSlide5.xml" Id="Rafb7d1a7e53647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3e3412f354f2b" /><Relationship Type="http://schemas.openxmlformats.org/officeDocument/2006/relationships/notesSlide" Target="/ppt/notesSlides/notesSlide6.xml" Id="R512d32d74ba14b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3d5cd7eb4cbb" /><Relationship Type="http://schemas.openxmlformats.org/officeDocument/2006/relationships/notesSlide" Target="/ppt/notesSlides/notesSlide7.xml" Id="Rcfc1f8eda2874f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74826466b4d98" /><Relationship Type="http://schemas.openxmlformats.org/officeDocument/2006/relationships/notesSlide" Target="/ppt/notesSlides/notesSlide8.xml" Id="R659c0f5aad1a40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7009bf7f945ef" /><Relationship Type="http://schemas.openxmlformats.org/officeDocument/2006/relationships/notesSlide" Target="/ppt/notesSlides/notesSlide9.xml" Id="Rf6008d5eb5444c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e5be235c64da6" /><Relationship Type="http://schemas.openxmlformats.org/officeDocument/2006/relationships/notesSlide" Target="/ppt/notesSlides/notesSlide10.xml" Id="Rfa68c09db06a4c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6eb98f6254fbb" /><Relationship Type="http://schemas.openxmlformats.org/officeDocument/2006/relationships/notesSlide" Target="/ppt/notesSlides/notesSlide11.xml" Id="R0b00a1457de745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band">
            <a:extLst xmlns:a="http://schemas.openxmlformats.org/drawingml/2006/main">
              <a:ext uri="{FF2B5EF4-FFF2-40B4-BE49-F238E27FC236}">
                <a16:creationId xmlns:a16="http://schemas.microsoft.com/office/drawing/2014/main" id="{AA8DACA6-735F-4984-A53E-1BE1C649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7620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1-title">
            <a:extLst xmlns:a="http://schemas.openxmlformats.org/drawingml/2006/main">
              <a:ext uri="{FF2B5EF4-FFF2-40B4-BE49-F238E27FC236}">
                <a16:creationId xmlns:a16="http://schemas.microsoft.com/office/drawing/2014/main" id="{43951E8C-EE0C-4FFE-ADFF-9E7187DE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38112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 PPT 生成变成可靠的生产过程</a:t>
            </a:r>
          </a:p>
        </p:txBody>
      </p:sp>
      <p:sp>
        <p:nvSpPr>
          <p:cNvPr id="3" name="1-sub">
            <a:extLst xmlns:a="http://schemas.openxmlformats.org/drawingml/2006/main">
              <a:ext uri="{FF2B5EF4-FFF2-40B4-BE49-F238E27FC236}">
                <a16:creationId xmlns:a16="http://schemas.microsoft.com/office/drawing/2014/main" id="{CBC2B0A7-9FB4-4A53-B406-99D9EBC0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产品叙事</a:t>
            </a:r>
          </a:p>
        </p:txBody>
      </p:sp>
      <p:sp>
        <p:nvSpPr>
          <p:cNvPr id="4" name="1-lead">
            <a:extLst xmlns:a="http://schemas.openxmlformats.org/drawingml/2006/main">
              <a:ext uri="{FF2B5EF4-FFF2-40B4-BE49-F238E27FC236}">
                <a16:creationId xmlns:a16="http://schemas.microsoft.com/office/drawing/2014/main" id="{7AB250F7-5A22-4807-ABE7-A2E83846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让 AI 帮我们读稿子，让规则帮我们做判断，让代码完成重复劳动。</a:t>
            </a:r>
          </a:p>
        </p:txBody>
      </p:sp>
      <p:sp>
        <p:nvSpPr>
          <p:cNvPr id="5" name="cover-note-bg">
            <a:extLst xmlns:a="http://schemas.openxmlformats.org/drawingml/2006/main">
              <a:ext uri="{FF2B5EF4-FFF2-40B4-BE49-F238E27FC236}">
                <a16:creationId xmlns:a16="http://schemas.microsoft.com/office/drawing/2014/main" id="{2C4E0B17-BA34-4AEF-A4F7-1A654F16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790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1-cover-note">
            <a:extLst xmlns:a="http://schemas.openxmlformats.org/drawingml/2006/main">
              <a:ext uri="{FF2B5EF4-FFF2-40B4-BE49-F238E27FC236}">
                <a16:creationId xmlns:a16="http://schemas.microsoft.com/office/drawing/2014/main" id="{A3D7A29A-C8D5-4602-98AA-3A6E06FC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386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目标：在目标工作场景中，稳定跨过“可以直接拿去讲”的可用线。</a:t>
            </a:r>
          </a:p>
        </p:txBody>
      </p:sp>
      <p:sp>
        <p:nvSpPr>
          <p:cNvPr id="7" name="1-footer">
            <a:extLst xmlns:a="http://schemas.openxmlformats.org/drawingml/2006/main">
              <a:ext uri="{FF2B5EF4-FFF2-40B4-BE49-F238E27FC236}">
                <a16:creationId xmlns:a16="http://schemas.microsoft.com/office/drawing/2014/main" id="{F34F1C6C-F524-4881-A874-07790924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01</a:t>
            </a:r>
          </a:p>
        </p:txBody>
      </p:sp>
    </p:spTree>
    <p:extLst>
      <p:ext uri="{BB962C8B-B14F-4D97-AF65-F5344CB8AC3E}">
        <p14:creationId xmlns:p14="http://schemas.microsoft.com/office/powerpoint/2010/main" val="282259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2-kicker">
            <a:extLst xmlns:a="http://schemas.openxmlformats.org/drawingml/2006/main">
              <a:ext uri="{FF2B5EF4-FFF2-40B4-BE49-F238E27FC236}">
                <a16:creationId xmlns:a16="http://schemas.microsoft.com/office/drawing/2014/main" id="{DE0DB27D-4BC3-42DF-8EFD-E98A7FB1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2" name="2-title">
            <a:extLst xmlns:a="http://schemas.openxmlformats.org/drawingml/2006/main">
              <a:ext uri="{FF2B5EF4-FFF2-40B4-BE49-F238E27FC236}">
                <a16:creationId xmlns:a16="http://schemas.microsoft.com/office/drawing/2014/main" id="{DFF961BA-9BE7-4CC5-9CDE-EC2EC7F9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真正昂贵的不是画，而是一连串判断</a:t>
            </a:r>
          </a:p>
        </p:txBody>
      </p:sp>
      <p:sp>
        <p:nvSpPr>
          <p:cNvPr id="3" name="2-title-rule">
            <a:extLst xmlns:a="http://schemas.openxmlformats.org/drawingml/2006/main">
              <a:ext uri="{FF2B5EF4-FFF2-40B4-BE49-F238E27FC236}">
                <a16:creationId xmlns:a16="http://schemas.microsoft.com/office/drawing/2014/main" id="{B1D40507-DD98-4E4E-88B2-C6C48BA8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2-footer">
            <a:extLst xmlns:a="http://schemas.openxmlformats.org/drawingml/2006/main">
              <a:ext uri="{FF2B5EF4-FFF2-40B4-BE49-F238E27FC236}">
                <a16:creationId xmlns:a16="http://schemas.microsoft.com/office/drawing/2014/main" id="{6F49E000-8A8D-4174-A559-079EEF6F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02</a:t>
            </a:r>
          </a:p>
        </p:txBody>
      </p:sp>
      <p:sp>
        <p:nvSpPr>
          <p:cNvPr id="5" name="2-left-label">
            <a:extLst xmlns:a="http://schemas.openxmlformats.org/drawingml/2006/main">
              <a:ext uri="{FF2B5EF4-FFF2-40B4-BE49-F238E27FC236}">
                <a16:creationId xmlns:a16="http://schemas.microsoft.com/office/drawing/2014/main" id="{2E67C7B7-2973-40DC-9339-2F30ECBC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52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做 PPT</a:t>
            </a:r>
          </a:p>
        </p:txBody>
      </p:sp>
      <p:sp>
        <p:nvSpPr>
          <p:cNvPr id="6" name="2-left-body">
            <a:extLst xmlns:a="http://schemas.openxmlformats.org/drawingml/2006/main">
              <a:ext uri="{FF2B5EF4-FFF2-40B4-BE49-F238E27FC236}">
                <a16:creationId xmlns:a16="http://schemas.microsoft.com/office/drawing/2014/main" id="{BD9EFC54-E0D4-4598-A89E-703A1444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4048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即使熟练完成答辩、汇报或讲课用的演示，仍然需要很长时间。</a:t>
            </a:r>
          </a:p>
        </p:txBody>
      </p:sp>
      <p:sp>
        <p:nvSpPr>
          <p:cNvPr id="7" name="analysis-bg">
            <a:extLst xmlns:a="http://schemas.openxmlformats.org/drawingml/2006/main">
              <a:ext uri="{FF2B5EF4-FFF2-40B4-BE49-F238E27FC236}">
                <a16:creationId xmlns:a16="http://schemas.microsoft.com/office/drawing/2014/main" id="{FA2B884A-AC63-4B1A-9C6A-504F0F74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695450"/>
            <a:ext cx="6667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2-analysis-head">
            <a:extLst xmlns:a="http://schemas.openxmlformats.org/drawingml/2006/main">
              <a:ext uri="{FF2B5EF4-FFF2-40B4-BE49-F238E27FC236}">
                <a16:creationId xmlns:a16="http://schemas.microsoft.com/office/drawing/2014/main" id="{449D6D86-DF6D-4687-97D8-CECD3E02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52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时间消耗集中在决定“怎么讲”</a:t>
            </a:r>
          </a:p>
        </p:txBody>
      </p:sp>
      <p:sp>
        <p:nvSpPr>
          <p:cNvPr id="9" name="2-r0-l">
            <a:extLst xmlns:a="http://schemas.openxmlformats.org/drawingml/2006/main">
              <a:ext uri="{FF2B5EF4-FFF2-40B4-BE49-F238E27FC236}">
                <a16:creationId xmlns:a16="http://schemas.microsoft.com/office/drawing/2014/main" id="{76840E01-52AA-4FEF-BEC2-C64421DE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拆页</a:t>
            </a:r>
          </a:p>
        </p:txBody>
      </p:sp>
      <p:sp>
        <p:nvSpPr>
          <p:cNvPr id="10" name="2-r0-b">
            <a:extLst xmlns:a="http://schemas.openxmlformats.org/drawingml/2006/main">
              <a:ext uri="{FF2B5EF4-FFF2-40B4-BE49-F238E27FC236}">
                <a16:creationId xmlns:a16="http://schemas.microsoft.com/office/drawing/2014/main" id="{C0B54211-FC19-43B2-84D3-371573CF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一篇长稿应该拆成多少页，每一页只承担什么职责</a:t>
            </a:r>
          </a:p>
        </p:txBody>
      </p:sp>
      <p:sp>
        <p:nvSpPr>
          <p:cNvPr id="11" name="2-row0">
            <a:extLst xmlns:a="http://schemas.openxmlformats.org/drawingml/2006/main">
              <a:ext uri="{FF2B5EF4-FFF2-40B4-BE49-F238E27FC236}">
                <a16:creationId xmlns:a16="http://schemas.microsoft.com/office/drawing/2014/main" id="{F392F3D3-DEBF-4A5B-8D21-E9D33951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67050"/>
            <a:ext cx="5857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2" name="2-r1-l">
            <a:extLst xmlns:a="http://schemas.openxmlformats.org/drawingml/2006/main">
              <a:ext uri="{FF2B5EF4-FFF2-40B4-BE49-F238E27FC236}">
                <a16:creationId xmlns:a16="http://schemas.microsoft.com/office/drawing/2014/main" id="{2F11FCFF-96E3-4C4E-A6DE-655E1E99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004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判关系</a:t>
            </a:r>
          </a:p>
        </p:txBody>
      </p:sp>
      <p:sp>
        <p:nvSpPr>
          <p:cNvPr id="13" name="2-r1-b">
            <a:extLst xmlns:a="http://schemas.openxmlformats.org/drawingml/2006/main">
              <a:ext uri="{FF2B5EF4-FFF2-40B4-BE49-F238E27FC236}">
                <a16:creationId xmlns:a16="http://schemas.microsoft.com/office/drawing/2014/main" id="{765447C2-915F-40DA-B3EA-029DEAA8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00400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观点是并列、递进、因果还是流程，哪里应该突出</a:t>
            </a:r>
          </a:p>
        </p:txBody>
      </p:sp>
      <p:sp>
        <p:nvSpPr>
          <p:cNvPr id="14" name="2-row1">
            <a:extLst xmlns:a="http://schemas.openxmlformats.org/drawingml/2006/main">
              <a:ext uri="{FF2B5EF4-FFF2-40B4-BE49-F238E27FC236}">
                <a16:creationId xmlns:a16="http://schemas.microsoft.com/office/drawing/2014/main" id="{1D658E56-6E1F-4AAB-8A41-20AA83F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95700"/>
            <a:ext cx="5857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5" name="2-r2-l">
            <a:extLst xmlns:a="http://schemas.openxmlformats.org/drawingml/2006/main">
              <a:ext uri="{FF2B5EF4-FFF2-40B4-BE49-F238E27FC236}">
                <a16:creationId xmlns:a16="http://schemas.microsoft.com/office/drawing/2014/main" id="{12AA0C55-8D88-44FC-BD2B-7D759324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290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选表达</a:t>
            </a:r>
          </a:p>
        </p:txBody>
      </p:sp>
      <p:sp>
        <p:nvSpPr>
          <p:cNvPr id="16" name="2-r2-b">
            <a:extLst xmlns:a="http://schemas.openxmlformats.org/drawingml/2006/main">
              <a:ext uri="{FF2B5EF4-FFF2-40B4-BE49-F238E27FC236}">
                <a16:creationId xmlns:a16="http://schemas.microsoft.com/office/drawing/2014/main" id="{8E48D043-665F-42BE-A5EE-67F6B0F5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29050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什么时候应该用图，什么时候一句话反而更有力量</a:t>
            </a:r>
          </a:p>
        </p:txBody>
      </p:sp>
      <p:sp>
        <p:nvSpPr>
          <p:cNvPr id="17" name="2-row2">
            <a:extLst xmlns:a="http://schemas.openxmlformats.org/drawingml/2006/main">
              <a:ext uri="{FF2B5EF4-FFF2-40B4-BE49-F238E27FC236}">
                <a16:creationId xmlns:a16="http://schemas.microsoft.com/office/drawing/2014/main" id="{8BAEEC0C-A658-423E-9216-EBE6927D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24350"/>
            <a:ext cx="5857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8" name="2-r3-l">
            <a:extLst xmlns:a="http://schemas.openxmlformats.org/drawingml/2006/main">
              <a:ext uri="{FF2B5EF4-FFF2-40B4-BE49-F238E27FC236}">
                <a16:creationId xmlns:a16="http://schemas.microsoft.com/office/drawing/2014/main" id="{D0D434CF-B732-4BBE-A337-8B9F061C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4577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统一</a:t>
            </a:r>
          </a:p>
        </p:txBody>
      </p:sp>
      <p:sp>
        <p:nvSpPr>
          <p:cNvPr id="19" name="2-r3-b">
            <a:extLst xmlns:a="http://schemas.openxmlformats.org/drawingml/2006/main">
              <a:ext uri="{FF2B5EF4-FFF2-40B4-BE49-F238E27FC236}">
                <a16:creationId xmlns:a16="http://schemas.microsoft.com/office/drawing/2014/main" id="{37841196-6A3D-4277-99E4-104965B3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57700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翻找旧 PPT、替换内容，再统一字体、字号、颜色和间距</a:t>
            </a:r>
          </a:p>
        </p:txBody>
      </p:sp>
      <p:sp>
        <p:nvSpPr>
          <p:cNvPr id="20" name="2-question">
            <a:extLst xmlns:a="http://schemas.openxmlformats.org/drawingml/2006/main">
              <a:ext uri="{FF2B5EF4-FFF2-40B4-BE49-F238E27FC236}">
                <a16:creationId xmlns:a16="http://schemas.microsoft.com/office/drawing/2014/main" id="{EDD17E74-21F6-4474-AA40-B065689D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既然高手已经知道怎样做是好的，为什么每次还要重新做一遍？</a:t>
            </a:r>
          </a:p>
        </p:txBody>
      </p:sp>
    </p:spTree>
    <p:extLst>
      <p:ext uri="{BB962C8B-B14F-4D97-AF65-F5344CB8AC3E}">
        <p14:creationId xmlns:p14="http://schemas.microsoft.com/office/powerpoint/2010/main" val="1278270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3-kicker">
            <a:extLst xmlns:a="http://schemas.openxmlformats.org/drawingml/2006/main">
              <a:ext uri="{FF2B5EF4-FFF2-40B4-BE49-F238E27FC236}">
                <a16:creationId xmlns:a16="http://schemas.microsoft.com/office/drawing/2014/main" id="{68A0038E-0A94-4544-904F-E106CD7B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需求与目标</a:t>
            </a:r>
          </a:p>
        </p:txBody>
      </p:sp>
      <p:sp>
        <p:nvSpPr>
          <p:cNvPr id="2" name="3-title">
            <a:extLst xmlns:a="http://schemas.openxmlformats.org/drawingml/2006/main">
              <a:ext uri="{FF2B5EF4-FFF2-40B4-BE49-F238E27FC236}">
                <a16:creationId xmlns:a16="http://schemas.microsoft.com/office/drawing/2014/main" id="{31BFBCA6-4F98-411F-B9DA-5A5A44F2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PPagenT 先选择概率密度最大的工作型 PPT</a:t>
            </a:r>
          </a:p>
        </p:txBody>
      </p:sp>
      <p:sp>
        <p:nvSpPr>
          <p:cNvPr id="3" name="3-title-rule">
            <a:extLst xmlns:a="http://schemas.openxmlformats.org/drawingml/2006/main">
              <a:ext uri="{FF2B5EF4-FFF2-40B4-BE49-F238E27FC236}">
                <a16:creationId xmlns:a16="http://schemas.microsoft.com/office/drawing/2014/main" id="{65E13094-5E17-46C6-83E9-0BD5A5E6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3-footer">
            <a:extLst xmlns:a="http://schemas.openxmlformats.org/drawingml/2006/main">
              <a:ext uri="{FF2B5EF4-FFF2-40B4-BE49-F238E27FC236}">
                <a16:creationId xmlns:a16="http://schemas.microsoft.com/office/drawing/2014/main" id="{09342C42-85A6-4055-9D2F-7BFB8223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03</a:t>
            </a:r>
          </a:p>
        </p:txBody>
      </p:sp>
      <p:sp>
        <p:nvSpPr>
          <p:cNvPr id="5" name="3-left">
            <a:extLst xmlns:a="http://schemas.openxmlformats.org/drawingml/2006/main">
              <a:ext uri="{FF2B5EF4-FFF2-40B4-BE49-F238E27FC236}">
                <a16:creationId xmlns:a16="http://schemas.microsoft.com/office/drawing/2014/main" id="{8FB1E786-9B17-48D4-97E7-80748D26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两端需求都存在，但更多需求位于中间：学校、科研院所、事业单位、央国企和普通企业，需要快速得到结构清楚、视觉体面、符合组织规范的 PPT。</a:t>
            </a:r>
          </a:p>
        </p:txBody>
      </p:sp>
      <p:sp>
        <p:nvSpPr>
          <p:cNvPr id="6" name="3-left-note">
            <a:extLst xmlns:a="http://schemas.openxmlformats.org/drawingml/2006/main">
              <a:ext uri="{FF2B5EF4-FFF2-40B4-BE49-F238E27FC236}">
                <a16:creationId xmlns:a16="http://schemas.microsoft.com/office/drawing/2014/main" id="{F6F2A2BB-63C1-4ECA-BAA1-50B6B016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底线：不能乱，不能丑，不能掉价，不能生成以后无法修改。</a:t>
            </a:r>
          </a:p>
        </p:txBody>
      </p:sp>
      <p:sp>
        <p:nvSpPr>
          <p:cNvPr id="7" name="metric-bg">
            <a:extLst xmlns:a="http://schemas.openxmlformats.org/drawingml/2006/main">
              <a:ext uri="{FF2B5EF4-FFF2-40B4-BE49-F238E27FC236}">
                <a16:creationId xmlns:a16="http://schemas.microsoft.com/office/drawing/2014/main" id="{739A172F-B91B-4B13-8912-6C9CBFB4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5476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3-metric-label">
            <a:extLst xmlns:a="http://schemas.openxmlformats.org/drawingml/2006/main">
              <a:ext uri="{FF2B5EF4-FFF2-40B4-BE49-F238E27FC236}">
                <a16:creationId xmlns:a16="http://schemas.microsoft.com/office/drawing/2014/main" id="{CDE4B140-56A8-40E0-A67C-B6F3E310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产品可靠度</a:t>
            </a:r>
          </a:p>
        </p:txBody>
      </p:sp>
      <p:sp>
        <p:nvSpPr>
          <p:cNvPr id="9" name="3-metric">
            <a:extLst xmlns:a="http://schemas.openxmlformats.org/drawingml/2006/main">
              <a:ext uri="{FF2B5EF4-FFF2-40B4-BE49-F238E27FC236}">
                <a16:creationId xmlns:a16="http://schemas.microsoft.com/office/drawing/2014/main" id="{3F5DCDF7-9FF1-45B5-B708-820A69B7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R = P(Q ≥ Q可用 | 目标工作场景)</a:t>
            </a:r>
          </a:p>
        </p:txBody>
      </p:sp>
      <p:sp>
        <p:nvSpPr>
          <p:cNvPr id="10" name="3-metric-body">
            <a:extLst xmlns:a="http://schemas.openxmlformats.org/drawingml/2006/main">
              <a:ext uri="{FF2B5EF4-FFF2-40B4-BE49-F238E27FC236}">
                <a16:creationId xmlns:a16="http://schemas.microsoft.com/office/drawing/2014/main" id="{88FE3F24-385C-4019-A92F-D140DEC6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追求的是随机工作稿达到可用标准的概率，而不是某一次生成的最高分。</a:t>
            </a:r>
          </a:p>
        </p:txBody>
      </p:sp>
      <p:sp>
        <p:nvSpPr>
          <p:cNvPr id="11" name="3-footer-note">
            <a:extLst xmlns:a="http://schemas.openxmlformats.org/drawingml/2006/main">
              <a:ext uri="{FF2B5EF4-FFF2-40B4-BE49-F238E27FC236}">
                <a16:creationId xmlns:a16="http://schemas.microsoft.com/office/drawing/2014/main" id="{D00562A6-7F19-49FC-AA34-988B4C8E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这里的 R 是产品目标的概念表达，不是现成测量结果。</a:t>
            </a:r>
          </a:p>
        </p:txBody>
      </p:sp>
    </p:spTree>
    <p:extLst>
      <p:ext uri="{BB962C8B-B14F-4D97-AF65-F5344CB8AC3E}">
        <p14:creationId xmlns:p14="http://schemas.microsoft.com/office/powerpoint/2010/main" val="1882325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4-kicker">
            <a:extLst xmlns:a="http://schemas.openxmlformats.org/drawingml/2006/main">
              <a:ext uri="{FF2B5EF4-FFF2-40B4-BE49-F238E27FC236}">
                <a16:creationId xmlns:a16="http://schemas.microsoft.com/office/drawing/2014/main" id="{173009AF-EFC7-4AAD-9D85-F6DCDB54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可靠度</a:t>
            </a:r>
          </a:p>
        </p:txBody>
      </p:sp>
      <p:sp>
        <p:nvSpPr>
          <p:cNvPr id="2" name="4-title">
            <a:extLst xmlns:a="http://schemas.openxmlformats.org/drawingml/2006/main">
              <a:ext uri="{FF2B5EF4-FFF2-40B4-BE49-F238E27FC236}">
                <a16:creationId xmlns:a16="http://schemas.microsoft.com/office/drawing/2014/main" id="{6B21E24B-F03D-4691-9FFC-E3F7F0E3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稳定跨过可用线，比偶然惊艳更重要</a:t>
            </a:r>
          </a:p>
        </p:txBody>
      </p:sp>
      <p:sp>
        <p:nvSpPr>
          <p:cNvPr id="3" name="4-title-rule">
            <a:extLst xmlns:a="http://schemas.openxmlformats.org/drawingml/2006/main">
              <a:ext uri="{FF2B5EF4-FFF2-40B4-BE49-F238E27FC236}">
                <a16:creationId xmlns:a16="http://schemas.microsoft.com/office/drawing/2014/main" id="{CBD51420-2A71-4AC3-8CE5-76FBC3CE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4-footer">
            <a:extLst xmlns:a="http://schemas.openxmlformats.org/drawingml/2006/main">
              <a:ext uri="{FF2B5EF4-FFF2-40B4-BE49-F238E27FC236}">
                <a16:creationId xmlns:a16="http://schemas.microsoft.com/office/drawing/2014/main" id="{91DDC8EA-EEFB-4298-98C7-317F0A2C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04</a:t>
            </a:r>
          </a:p>
        </p:txBody>
      </p:sp>
      <p:sp>
        <p:nvSpPr>
          <p:cNvPr id="5" name="4-intro">
            <a:extLst xmlns:a="http://schemas.openxmlformats.org/drawingml/2006/main">
              <a:ext uri="{FF2B5EF4-FFF2-40B4-BE49-F238E27FC236}">
                <a16:creationId xmlns:a16="http://schemas.microsoft.com/office/drawing/2014/main" id="{9A3CDF9C-293C-41AC-8A4F-A7ECFEC1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明天上午九点要汇报，晚上交给系统的工作稿，首先需要逻辑清楚、版式规范、符合单位风格，而且第二天仍然可以继续修改。</a:t>
            </a:r>
          </a:p>
        </p:txBody>
      </p:sp>
      <p:sp>
        <p:nvSpPr>
          <p:cNvPr id="6" name="compare-bg">
            <a:extLst xmlns:a="http://schemas.openxmlformats.org/drawingml/2006/main">
              <a:ext uri="{FF2B5EF4-FFF2-40B4-BE49-F238E27FC236}">
                <a16:creationId xmlns:a16="http://schemas.microsoft.com/office/drawing/2014/main" id="{46EDBD31-9D76-4EDE-862B-C614D167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90800"/>
            <a:ext cx="11144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4-left-head">
            <a:extLst xmlns:a="http://schemas.openxmlformats.org/drawingml/2006/main">
              <a:ext uri="{FF2B5EF4-FFF2-40B4-BE49-F238E27FC236}">
                <a16:creationId xmlns:a16="http://schemas.microsoft.com/office/drawing/2014/main" id="{88DE2D39-7D97-431C-B7D3-509B66DB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随机的 95 分</a:t>
            </a:r>
          </a:p>
        </p:txBody>
      </p:sp>
      <p:sp>
        <p:nvSpPr>
          <p:cNvPr id="8" name="4-left-body">
            <a:extLst xmlns:a="http://schemas.openxmlformats.org/drawingml/2006/main">
              <a:ext uri="{FF2B5EF4-FFF2-40B4-BE49-F238E27FC236}">
                <a16:creationId xmlns:a16="http://schemas.microsoft.com/office/drawing/2014/main" id="{4B2CEA5A-23EC-4BEB-89B5-788191B7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3857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偶尔高度定制、让人惊叹，但结果落点和修改基础不稳定。</a:t>
            </a:r>
          </a:p>
        </p:txBody>
      </p:sp>
      <p:sp>
        <p:nvSpPr>
          <p:cNvPr id="9" name="4-mid">
            <a:extLst xmlns:a="http://schemas.openxmlformats.org/drawingml/2006/main">
              <a:ext uri="{FF2B5EF4-FFF2-40B4-BE49-F238E27FC236}">
                <a16:creationId xmlns:a16="http://schemas.microsoft.com/office/drawing/2014/main" id="{9FDC0FF9-6270-42EB-A426-C36819AE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0" name="4-right-head">
            <a:extLst xmlns:a="http://schemas.openxmlformats.org/drawingml/2006/main">
              <a:ext uri="{FF2B5EF4-FFF2-40B4-BE49-F238E27FC236}">
                <a16:creationId xmlns:a16="http://schemas.microsoft.com/office/drawing/2014/main" id="{C176B039-A3E1-4E79-A1FD-AB4E17A9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稳定的 80 分</a:t>
            </a:r>
          </a:p>
        </p:txBody>
      </p:sp>
      <p:sp>
        <p:nvSpPr>
          <p:cNvPr id="11" name="4-right-body">
            <a:extLst xmlns:a="http://schemas.openxmlformats.org/drawingml/2006/main">
              <a:ext uri="{FF2B5EF4-FFF2-40B4-BE49-F238E27FC236}">
                <a16:creationId xmlns:a16="http://schemas.microsoft.com/office/drawing/2014/main" id="{4738205B-C4A2-42D6-96D6-B71CB3CF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3857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直接使用不失专业，继续修改有可靠基础，投入与收益相匹配。</a:t>
            </a:r>
          </a:p>
        </p:txBody>
      </p:sp>
      <p:sp>
        <p:nvSpPr>
          <p:cNvPr id="12" name="4-takeaway">
            <a:extLst xmlns:a="http://schemas.openxmlformats.org/drawingml/2006/main">
              <a:ext uri="{FF2B5EF4-FFF2-40B4-BE49-F238E27FC236}">
                <a16:creationId xmlns:a16="http://schemas.microsoft.com/office/drawing/2014/main" id="{231AA9D5-9074-4A77-8453-28F56DBE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72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“80 分”是稳定可用状态的形象称呼，不是产品的质量上限。</a:t>
            </a:r>
          </a:p>
        </p:txBody>
      </p:sp>
    </p:spTree>
    <p:extLst>
      <p:ext uri="{BB962C8B-B14F-4D97-AF65-F5344CB8AC3E}">
        <p14:creationId xmlns:p14="http://schemas.microsoft.com/office/powerpoint/2010/main" val="4773757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5-kicker">
            <a:extLst xmlns:a="http://schemas.openxmlformats.org/drawingml/2006/main">
              <a:ext uri="{FF2B5EF4-FFF2-40B4-BE49-F238E27FC236}">
                <a16:creationId xmlns:a16="http://schemas.microsoft.com/office/drawing/2014/main" id="{331E4DC3-25D3-4D71-8593-645E2AC2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产品选择</a:t>
            </a:r>
          </a:p>
        </p:txBody>
      </p:sp>
      <p:sp>
        <p:nvSpPr>
          <p:cNvPr id="2" name="5-title">
            <a:extLst xmlns:a="http://schemas.openxmlformats.org/drawingml/2006/main">
              <a:ext uri="{FF2B5EF4-FFF2-40B4-BE49-F238E27FC236}">
                <a16:creationId xmlns:a16="http://schemas.microsoft.com/office/drawing/2014/main" id="{71E1317E-9BBD-42BA-B74D-85DCDF36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用限制一部分自由，换取可预测的结果</a:t>
            </a:r>
          </a:p>
        </p:txBody>
      </p:sp>
      <p:sp>
        <p:nvSpPr>
          <p:cNvPr id="3" name="5-title-rule">
            <a:extLst xmlns:a="http://schemas.openxmlformats.org/drawingml/2006/main">
              <a:ext uri="{FF2B5EF4-FFF2-40B4-BE49-F238E27FC236}">
                <a16:creationId xmlns:a16="http://schemas.microsoft.com/office/drawing/2014/main" id="{443059F5-361D-4372-AC8C-C680EF83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5-footer">
            <a:extLst xmlns:a="http://schemas.openxmlformats.org/drawingml/2006/main">
              <a:ext uri="{FF2B5EF4-FFF2-40B4-BE49-F238E27FC236}">
                <a16:creationId xmlns:a16="http://schemas.microsoft.com/office/drawing/2014/main" id="{56A49C36-23F1-49E5-8CE0-915C21CE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05</a:t>
            </a:r>
          </a:p>
        </p:txBody>
      </p:sp>
      <p:sp>
        <p:nvSpPr>
          <p:cNvPr id="5" name="5-lead">
            <a:extLst xmlns:a="http://schemas.openxmlformats.org/drawingml/2006/main">
              <a:ext uri="{FF2B5EF4-FFF2-40B4-BE49-F238E27FC236}">
                <a16:creationId xmlns:a16="http://schemas.microsoft.com/office/drawing/2014/main" id="{1AE4F627-9110-4D50-8088-278E7C3E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自由度越高，理论上限越高；状态空间越大，失败模式也越多。正式工作的 PPT 更需要可预测。</a:t>
            </a:r>
          </a:p>
        </p:txBody>
      </p:sp>
      <p:sp>
        <p:nvSpPr>
          <p:cNvPr id="6" name="constraint-bg">
            <a:extLst xmlns:a="http://schemas.openxmlformats.org/drawingml/2006/main">
              <a:ext uri="{FF2B5EF4-FFF2-40B4-BE49-F238E27FC236}">
                <a16:creationId xmlns:a16="http://schemas.microsoft.com/office/drawing/2014/main" id="{255456EA-3508-4A6A-8B7B-597522CD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11144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5-i0-l">
            <a:extLst xmlns:a="http://schemas.openxmlformats.org/drawingml/2006/main">
              <a:ext uri="{FF2B5EF4-FFF2-40B4-BE49-F238E27FC236}">
                <a16:creationId xmlns:a16="http://schemas.microsoft.com/office/drawing/2014/main" id="{506D7AC4-45B1-4915-A328-D7898ABB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视觉规范</a:t>
            </a:r>
          </a:p>
        </p:txBody>
      </p:sp>
      <p:sp>
        <p:nvSpPr>
          <p:cNvPr id="8" name="5-i0-b">
            <a:extLst xmlns:a="http://schemas.openxmlformats.org/drawingml/2006/main">
              <a:ext uri="{FF2B5EF4-FFF2-40B4-BE49-F238E27FC236}">
                <a16:creationId xmlns:a16="http://schemas.microsoft.com/office/drawing/2014/main" id="{1D5777EF-94AC-4B69-B3B8-5CE97500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学校或企业已有的颜色、字体、Logo、页眉页脚</a:t>
            </a:r>
          </a:p>
        </p:txBody>
      </p:sp>
      <p:sp>
        <p:nvSpPr>
          <p:cNvPr id="9" name="5-i1-l">
            <a:extLst xmlns:a="http://schemas.openxmlformats.org/drawingml/2006/main">
              <a:ext uri="{FF2B5EF4-FFF2-40B4-BE49-F238E27FC236}">
                <a16:creationId xmlns:a16="http://schemas.microsoft.com/office/drawing/2014/main" id="{1F5DFA86-9B67-43BE-801C-AB30785B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10" name="5-i1-b">
            <a:extLst xmlns:a="http://schemas.openxmlformats.org/drawingml/2006/main">
              <a:ext uri="{FF2B5EF4-FFF2-40B4-BE49-F238E27FC236}">
                <a16:creationId xmlns:a16="http://schemas.microsoft.com/office/drawing/2014/main" id="{67DBD351-1631-443F-B66B-42371523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经过验证的并列、顺序、对比、层级、循环等结构</a:t>
            </a:r>
          </a:p>
        </p:txBody>
      </p:sp>
      <p:sp>
        <p:nvSpPr>
          <p:cNvPr id="11" name="5-i2-l">
            <a:extLst xmlns:a="http://schemas.openxmlformats.org/drawingml/2006/main">
              <a:ext uri="{FF2B5EF4-FFF2-40B4-BE49-F238E27FC236}">
                <a16:creationId xmlns:a16="http://schemas.microsoft.com/office/drawing/2014/main" id="{0E89ECEE-E448-4317-8961-08F73902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容量边界</a:t>
            </a:r>
          </a:p>
        </p:txBody>
      </p:sp>
      <p:sp>
        <p:nvSpPr>
          <p:cNvPr id="12" name="5-i2-b">
            <a:extLst xmlns:a="http://schemas.openxmlformats.org/drawingml/2006/main">
              <a:ext uri="{FF2B5EF4-FFF2-40B4-BE49-F238E27FC236}">
                <a16:creationId xmlns:a16="http://schemas.microsoft.com/office/drawing/2014/main" id="{0F3D524D-B4EC-4888-B1F0-F6E71AE9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明确数量和文字容量，超过边界就换样式或拆页</a:t>
            </a:r>
          </a:p>
        </p:txBody>
      </p:sp>
      <p:sp>
        <p:nvSpPr>
          <p:cNvPr id="13" name="5-i3-l">
            <a:extLst xmlns:a="http://schemas.openxmlformats.org/drawingml/2006/main">
              <a:ext uri="{FF2B5EF4-FFF2-40B4-BE49-F238E27FC236}">
                <a16:creationId xmlns:a16="http://schemas.microsoft.com/office/drawing/2014/main" id="{27FC2E4C-1EA5-4CB0-9905-C07D29BA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退化方式</a:t>
            </a:r>
          </a:p>
        </p:txBody>
      </p:sp>
      <p:sp>
        <p:nvSpPr>
          <p:cNvPr id="14" name="5-i3-b">
            <a:extLst xmlns:a="http://schemas.openxmlformats.org/drawingml/2006/main">
              <a:ext uri="{FF2B5EF4-FFF2-40B4-BE49-F238E27FC236}">
                <a16:creationId xmlns:a16="http://schemas.microsoft.com/office/drawing/2014/main" id="{42C012FB-3FEA-4E7D-B4A5-CC476025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没有合适结构时退回已登记的简单文字排版</a:t>
            </a:r>
          </a:p>
        </p:txBody>
      </p:sp>
      <p:sp>
        <p:nvSpPr>
          <p:cNvPr id="15" name="5-quote">
            <a:extLst xmlns:a="http://schemas.openxmlformats.org/drawingml/2006/main">
              <a:ext uri="{FF2B5EF4-FFF2-40B4-BE49-F238E27FC236}">
                <a16:creationId xmlns:a16="http://schemas.microsoft.com/office/drawing/2014/main" id="{314C513F-8376-4C41-8BF2-0259CC7F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673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每次都不一样，有时候才是缺点。</a:t>
            </a:r>
          </a:p>
        </p:txBody>
      </p:sp>
    </p:spTree>
    <p:extLst>
      <p:ext uri="{BB962C8B-B14F-4D97-AF65-F5344CB8AC3E}">
        <p14:creationId xmlns:p14="http://schemas.microsoft.com/office/powerpoint/2010/main" val="461471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6-kicker">
            <a:extLst xmlns:a="http://schemas.openxmlformats.org/drawingml/2006/main">
              <a:ext uri="{FF2B5EF4-FFF2-40B4-BE49-F238E27FC236}">
                <a16:creationId xmlns:a16="http://schemas.microsoft.com/office/drawing/2014/main" id="{EE1C5B8C-2017-480B-97E2-63CAE05C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控制器</a:t>
            </a:r>
          </a:p>
        </p:txBody>
      </p:sp>
      <p:sp>
        <p:nvSpPr>
          <p:cNvPr id="2" name="6-title">
            <a:extLst xmlns:a="http://schemas.openxmlformats.org/drawingml/2006/main">
              <a:ext uri="{FF2B5EF4-FFF2-40B4-BE49-F238E27FC236}">
                <a16:creationId xmlns:a16="http://schemas.microsoft.com/office/drawing/2014/main" id="{972C69A7-7F43-4505-BB35-F8B7A6E2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负责理解和路由，规则负责约束和选择，代码负责稳定生成</a:t>
            </a:r>
          </a:p>
        </p:txBody>
      </p:sp>
      <p:sp>
        <p:nvSpPr>
          <p:cNvPr id="3" name="6-title-rule">
            <a:extLst xmlns:a="http://schemas.openxmlformats.org/drawingml/2006/main">
              <a:ext uri="{FF2B5EF4-FFF2-40B4-BE49-F238E27FC236}">
                <a16:creationId xmlns:a16="http://schemas.microsoft.com/office/drawing/2014/main" id="{7CC8E40B-CE3A-47DB-8FD3-1B903276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6-footer">
            <a:extLst xmlns:a="http://schemas.openxmlformats.org/drawingml/2006/main">
              <a:ext uri="{FF2B5EF4-FFF2-40B4-BE49-F238E27FC236}">
                <a16:creationId xmlns:a16="http://schemas.microsoft.com/office/drawing/2014/main" id="{3E5855E5-E449-4513-B7A5-B600B2DE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06</a:t>
            </a:r>
          </a:p>
        </p:txBody>
      </p:sp>
      <p:sp>
        <p:nvSpPr>
          <p:cNvPr id="5" name="6-intro">
            <a:extLst xmlns:a="http://schemas.openxmlformats.org/drawingml/2006/main">
              <a:ext uri="{FF2B5EF4-FFF2-40B4-BE49-F238E27FC236}">
                <a16:creationId xmlns:a16="http://schemas.microsoft.com/office/drawing/2014/main" id="{3D41ABF1-C1D6-4BBE-BE91-3FAA0DAD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不直接自由绘制整份 PPT，而是把稿件变成页面内容，再从已确认的能力中选择合适结构。</a:t>
            </a:r>
          </a:p>
        </p:txBody>
      </p:sp>
      <p:sp>
        <p:nvSpPr>
          <p:cNvPr id="6" name="node-0">
            <a:extLst xmlns:a="http://schemas.openxmlformats.org/drawingml/2006/main">
              <a:ext uri="{FF2B5EF4-FFF2-40B4-BE49-F238E27FC236}">
                <a16:creationId xmlns:a16="http://schemas.microsoft.com/office/drawing/2014/main" id="{64564F16-2F7C-4B67-B3C4-7A63358E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6-node-0-t">
            <a:extLst xmlns:a="http://schemas.openxmlformats.org/drawingml/2006/main">
              <a:ext uri="{FF2B5EF4-FFF2-40B4-BE49-F238E27FC236}">
                <a16:creationId xmlns:a16="http://schemas.microsoft.com/office/drawing/2014/main" id="{D096B5D5-B08F-448D-861F-F2581AA7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905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8" name="6-node-0-b">
            <a:extLst xmlns:a="http://schemas.openxmlformats.org/drawingml/2006/main">
              <a:ext uri="{FF2B5EF4-FFF2-40B4-BE49-F238E27FC236}">
                <a16:creationId xmlns:a16="http://schemas.microsoft.com/office/drawing/2014/main" id="{540BAB88-9B5A-46AA-B0AD-1EA81482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04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理解稿件、组织叙事、拆页、形成页面内容</a:t>
            </a:r>
          </a:p>
        </p:txBody>
      </p:sp>
      <p:sp>
        <p:nvSpPr>
          <p:cNvPr id="9" name="node-1">
            <a:extLst xmlns:a="http://schemas.openxmlformats.org/drawingml/2006/main">
              <a:ext uri="{FF2B5EF4-FFF2-40B4-BE49-F238E27FC236}">
                <a16:creationId xmlns:a16="http://schemas.microsoft.com/office/drawing/2014/main" id="{4234173C-0439-41E6-93B1-794B7E68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1462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6-node-1-t">
            <a:extLst xmlns:a="http://schemas.openxmlformats.org/drawingml/2006/main">
              <a:ext uri="{FF2B5EF4-FFF2-40B4-BE49-F238E27FC236}">
                <a16:creationId xmlns:a16="http://schemas.microsoft.com/office/drawing/2014/main" id="{4ACCCF4E-F076-4392-9089-63B98B36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05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1" name="6-node-1-b">
            <a:extLst xmlns:a="http://schemas.openxmlformats.org/drawingml/2006/main">
              <a:ext uri="{FF2B5EF4-FFF2-40B4-BE49-F238E27FC236}">
                <a16:creationId xmlns:a16="http://schemas.microsoft.com/office/drawing/2014/main" id="{77E28D4B-DDA2-4FA6-A0F0-5A4582E0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004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使用主题规范、能力选择、数量与容量边界</a:t>
            </a:r>
          </a:p>
        </p:txBody>
      </p:sp>
      <p:sp>
        <p:nvSpPr>
          <p:cNvPr id="12" name="node-2">
            <a:extLst xmlns:a="http://schemas.openxmlformats.org/drawingml/2006/main">
              <a:ext uri="{FF2B5EF4-FFF2-40B4-BE49-F238E27FC236}">
                <a16:creationId xmlns:a16="http://schemas.microsoft.com/office/drawing/2014/main" id="{07167666-8637-44F2-BF44-DEBC615A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1462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6-node-2-t">
            <a:extLst xmlns:a="http://schemas.openxmlformats.org/drawingml/2006/main">
              <a:ext uri="{FF2B5EF4-FFF2-40B4-BE49-F238E27FC236}">
                <a16:creationId xmlns:a16="http://schemas.microsoft.com/office/drawing/2014/main" id="{15EB570C-F92F-435E-8CD3-3CDC1DC0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05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14" name="6-node-2-b">
            <a:extLst xmlns:a="http://schemas.openxmlformats.org/drawingml/2006/main">
              <a:ext uri="{FF2B5EF4-FFF2-40B4-BE49-F238E27FC236}">
                <a16:creationId xmlns:a16="http://schemas.microsoft.com/office/drawing/2014/main" id="{F6C10A76-4B88-46C8-947B-E4F7A87A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400425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把决策编译成原生可编辑 PowerPoint，并完成检查</a:t>
            </a:r>
          </a:p>
        </p:txBody>
      </p:sp>
      <p:sp>
        <p:nvSpPr>
          <p:cNvPr id="15" name="6-anchor-a">
            <a:extLst xmlns:a="http://schemas.openxmlformats.org/drawingml/2006/main">
              <a:ext uri="{FF2B5EF4-FFF2-40B4-BE49-F238E27FC236}">
                <a16:creationId xmlns:a16="http://schemas.microsoft.com/office/drawing/2014/main" id="{7F885766-610E-4947-802C-0681B81F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6-anchor-b">
            <a:extLst xmlns:a="http://schemas.openxmlformats.org/drawingml/2006/main">
              <a:ext uri="{FF2B5EF4-FFF2-40B4-BE49-F238E27FC236}">
                <a16:creationId xmlns:a16="http://schemas.microsoft.com/office/drawing/2014/main" id="{0502888B-8435-4080-961B-8F9D7544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8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495675" y="3343275"/>
            <a:ext cx="3600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18" name="6-anchor-c">
            <a:extLst xmlns:a="http://schemas.openxmlformats.org/drawingml/2006/main">
              <a:ext uri="{FF2B5EF4-FFF2-40B4-BE49-F238E27FC236}">
                <a16:creationId xmlns:a16="http://schemas.microsoft.com/office/drawing/2014/main" id="{8F3C72D0-3698-4976-8618-C3650975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86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6-anchor-d">
            <a:extLst xmlns:a="http://schemas.openxmlformats.org/drawingml/2006/main">
              <a:ext uri="{FF2B5EF4-FFF2-40B4-BE49-F238E27FC236}">
                <a16:creationId xmlns:a16="http://schemas.microsoft.com/office/drawing/2014/main" id="{67AD0EB6-7BDC-432F-830D-BEA6B726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86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4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115175" y="4295775"/>
            <a:ext cx="3600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21" name="6-bottom">
            <a:extLst xmlns:a="http://schemas.openxmlformats.org/drawingml/2006/main">
              <a:ext uri="{FF2B5EF4-FFF2-40B4-BE49-F238E27FC236}">
                <a16:creationId xmlns:a16="http://schemas.microsoft.com/office/drawing/2014/main" id="{DD85C296-3B78-448D-8960-7557A7C3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AI 是控制器，不是画师；真正视觉结果由提前确认的能力和确定性代码完成。</a:t>
            </a:r>
          </a:p>
        </p:txBody>
      </p:sp>
    </p:spTree>
    <p:extLst>
      <p:ext uri="{BB962C8B-B14F-4D97-AF65-F5344CB8AC3E}">
        <p14:creationId xmlns:p14="http://schemas.microsoft.com/office/powerpoint/2010/main" val="771055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7-kicker">
            <a:extLst xmlns:a="http://schemas.openxmlformats.org/drawingml/2006/main">
              <a:ext uri="{FF2B5EF4-FFF2-40B4-BE49-F238E27FC236}">
                <a16:creationId xmlns:a16="http://schemas.microsoft.com/office/drawing/2014/main" id="{50126572-2F84-439E-8A76-0D47875A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核心架构</a:t>
            </a:r>
          </a:p>
        </p:txBody>
      </p:sp>
      <p:sp>
        <p:nvSpPr>
          <p:cNvPr id="2" name="7-title">
            <a:extLst xmlns:a="http://schemas.openxmlformats.org/drawingml/2006/main">
              <a:ext uri="{FF2B5EF4-FFF2-40B4-BE49-F238E27FC236}">
                <a16:creationId xmlns:a16="http://schemas.microsoft.com/office/drawing/2014/main" id="{D35E688A-F414-4643-9848-BC193AC8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两条路线只在经过确认的核心资产库交汇</a:t>
            </a:r>
          </a:p>
        </p:txBody>
      </p:sp>
      <p:sp>
        <p:nvSpPr>
          <p:cNvPr id="3" name="7-title-rule">
            <a:extLst xmlns:a="http://schemas.openxmlformats.org/drawingml/2006/main">
              <a:ext uri="{FF2B5EF4-FFF2-40B4-BE49-F238E27FC236}">
                <a16:creationId xmlns:a16="http://schemas.microsoft.com/office/drawing/2014/main" id="{0FC6E268-57A2-4110-985B-720D4C89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7-footer">
            <a:extLst xmlns:a="http://schemas.openxmlformats.org/drawingml/2006/main">
              <a:ext uri="{FF2B5EF4-FFF2-40B4-BE49-F238E27FC236}">
                <a16:creationId xmlns:a16="http://schemas.microsoft.com/office/drawing/2014/main" id="{5A3C9CEB-214F-4747-8C68-D579242F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07</a:t>
            </a:r>
          </a:p>
        </p:txBody>
      </p:sp>
      <p:sp>
        <p:nvSpPr>
          <p:cNvPr id="5" name="7-intro">
            <a:extLst xmlns:a="http://schemas.openxmlformats.org/drawingml/2006/main">
              <a:ext uri="{FF2B5EF4-FFF2-40B4-BE49-F238E27FC236}">
                <a16:creationId xmlns:a16="http://schemas.microsoft.com/office/drawing/2014/main" id="{4436BD34-2177-4D84-801C-E2DFC115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能力建设发生在运行前；正式生成只读取核心库，必要时退回简单排版。</a:t>
            </a:r>
          </a:p>
        </p:txBody>
      </p:sp>
      <p:sp>
        <p:nvSpPr>
          <p:cNvPr id="6" name="intake-bg">
            <a:extLst xmlns:a="http://schemas.openxmlformats.org/drawingml/2006/main">
              <a:ext uri="{FF2B5EF4-FFF2-40B4-BE49-F238E27FC236}">
                <a16:creationId xmlns:a16="http://schemas.microsoft.com/office/drawing/2014/main" id="{3BD95910-B7B1-4A5D-928E-07A40C17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rmal-bg">
            <a:extLst xmlns:a="http://schemas.openxmlformats.org/drawingml/2006/main">
              <a:ext uri="{FF2B5EF4-FFF2-40B4-BE49-F238E27FC236}">
                <a16:creationId xmlns:a16="http://schemas.microsoft.com/office/drawing/2014/main" id="{62640C26-0BAD-4C8D-995B-E019104C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33625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7-intake-title">
            <a:extLst xmlns:a="http://schemas.openxmlformats.org/drawingml/2006/main">
              <a:ext uri="{FF2B5EF4-FFF2-40B4-BE49-F238E27FC236}">
                <a16:creationId xmlns:a16="http://schemas.microsoft.com/office/drawing/2014/main" id="{D82C17B1-2445-49AE-BA9F-05CB70A9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资产入库线</a:t>
            </a:r>
          </a:p>
        </p:txBody>
      </p:sp>
      <p:sp>
        <p:nvSpPr>
          <p:cNvPr id="9" name="7-formal-title">
            <a:extLst xmlns:a="http://schemas.openxmlformats.org/drawingml/2006/main">
              <a:ext uri="{FF2B5EF4-FFF2-40B4-BE49-F238E27FC236}">
                <a16:creationId xmlns:a16="http://schemas.microsoft.com/office/drawing/2014/main" id="{1BC53BA3-913C-4E12-AEAC-A8F439E0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193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正式生成线</a:t>
            </a:r>
          </a:p>
        </p:txBody>
      </p:sp>
      <p:sp>
        <p:nvSpPr>
          <p:cNvPr id="10" name="7-ls0">
            <a:extLst xmlns:a="http://schemas.openxmlformats.org/drawingml/2006/main">
              <a:ext uri="{FF2B5EF4-FFF2-40B4-BE49-F238E27FC236}">
                <a16:creationId xmlns:a16="http://schemas.microsoft.com/office/drawing/2014/main" id="{3C40235A-E360-4BE9-9A75-710C34B1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01  优秀参考</a:t>
            </a:r>
          </a:p>
        </p:txBody>
      </p:sp>
      <p:sp>
        <p:nvSpPr>
          <p:cNvPr id="11" name="7-lh0">
            <a:extLst xmlns:a="http://schemas.openxmlformats.org/drawingml/2006/main">
              <a:ext uri="{FF2B5EF4-FFF2-40B4-BE49-F238E27FC236}">
                <a16:creationId xmlns:a16="http://schemas.microsoft.com/office/drawing/2014/main" id="{D302A45C-8F6C-40F3-93EE-1BB03F38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2" name="7-ls1">
            <a:extLst xmlns:a="http://schemas.openxmlformats.org/drawingml/2006/main">
              <a:ext uri="{FF2B5EF4-FFF2-40B4-BE49-F238E27FC236}">
                <a16:creationId xmlns:a16="http://schemas.microsoft.com/office/drawing/2014/main" id="{514B6953-8FA5-49C8-A121-C1700EC5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02  提炼逻辑与设计规律</a:t>
            </a:r>
          </a:p>
        </p:txBody>
      </p:sp>
      <p:sp>
        <p:nvSpPr>
          <p:cNvPr id="13" name="7-lh1">
            <a:extLst xmlns:a="http://schemas.openxmlformats.org/drawingml/2006/main">
              <a:ext uri="{FF2B5EF4-FFF2-40B4-BE49-F238E27FC236}">
                <a16:creationId xmlns:a16="http://schemas.microsoft.com/office/drawing/2014/main" id="{4F6AE4C4-D5FD-4CC4-BF47-5EFD8A7A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4" name="7-ls2">
            <a:extLst xmlns:a="http://schemas.openxmlformats.org/drawingml/2006/main">
              <a:ext uri="{FF2B5EF4-FFF2-40B4-BE49-F238E27FC236}">
                <a16:creationId xmlns:a16="http://schemas.microsoft.com/office/drawing/2014/main" id="{EE5D2CC6-4E7E-4C58-B410-131188C8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03  扩展为可复用能力</a:t>
            </a:r>
          </a:p>
        </p:txBody>
      </p:sp>
      <p:sp>
        <p:nvSpPr>
          <p:cNvPr id="15" name="7-lh2">
            <a:extLst xmlns:a="http://schemas.openxmlformats.org/drawingml/2006/main">
              <a:ext uri="{FF2B5EF4-FFF2-40B4-BE49-F238E27FC236}">
                <a16:creationId xmlns:a16="http://schemas.microsoft.com/office/drawing/2014/main" id="{B9253715-3590-46AC-8F80-B5F9D0E6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6" name="7-ls3">
            <a:extLst xmlns:a="http://schemas.openxmlformats.org/drawingml/2006/main">
              <a:ext uri="{FF2B5EF4-FFF2-40B4-BE49-F238E27FC236}">
                <a16:creationId xmlns:a16="http://schemas.microsoft.com/office/drawing/2014/main" id="{78CB1BAB-401A-4D08-B094-869DEE09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04  用户确认</a:t>
            </a:r>
          </a:p>
        </p:txBody>
      </p:sp>
      <p:sp>
        <p:nvSpPr>
          <p:cNvPr id="17" name="7-rs0">
            <a:extLst xmlns:a="http://schemas.openxmlformats.org/drawingml/2006/main">
              <a:ext uri="{FF2B5EF4-FFF2-40B4-BE49-F238E27FC236}">
                <a16:creationId xmlns:a16="http://schemas.microsoft.com/office/drawing/2014/main" id="{66ACFCE3-5060-49C8-BA8B-5E7D0D4E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01  原始稿件 + 组织主题</a:t>
            </a:r>
          </a:p>
        </p:txBody>
      </p:sp>
      <p:sp>
        <p:nvSpPr>
          <p:cNvPr id="18" name="7-rh0">
            <a:extLst xmlns:a="http://schemas.openxmlformats.org/drawingml/2006/main">
              <a:ext uri="{FF2B5EF4-FFF2-40B4-BE49-F238E27FC236}">
                <a16:creationId xmlns:a16="http://schemas.microsoft.com/office/drawing/2014/main" id="{8FC90FB1-6B1E-4A4E-80CA-B13B1159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9" name="7-rs1">
            <a:extLst xmlns:a="http://schemas.openxmlformats.org/drawingml/2006/main">
              <a:ext uri="{FF2B5EF4-FFF2-40B4-BE49-F238E27FC236}">
                <a16:creationId xmlns:a16="http://schemas.microsoft.com/office/drawing/2014/main" id="{617EE758-4B2E-41C1-A2D4-EFED4203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0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02  AI 理解与编排</a:t>
            </a:r>
          </a:p>
        </p:txBody>
      </p:sp>
      <p:sp>
        <p:nvSpPr>
          <p:cNvPr id="20" name="7-rh1">
            <a:extLst xmlns:a="http://schemas.openxmlformats.org/drawingml/2006/main">
              <a:ext uri="{FF2B5EF4-FFF2-40B4-BE49-F238E27FC236}">
                <a16:creationId xmlns:a16="http://schemas.microsoft.com/office/drawing/2014/main" id="{1B3DA50C-44A2-48FB-9F82-B1A99E07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1" name="7-rs2">
            <a:extLst xmlns:a="http://schemas.openxmlformats.org/drawingml/2006/main">
              <a:ext uri="{FF2B5EF4-FFF2-40B4-BE49-F238E27FC236}">
                <a16:creationId xmlns:a16="http://schemas.microsoft.com/office/drawing/2014/main" id="{E5B6D4B2-6544-47DC-8A93-EC61D7C8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57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03  选择合法能力</a:t>
            </a:r>
          </a:p>
        </p:txBody>
      </p:sp>
      <p:sp>
        <p:nvSpPr>
          <p:cNvPr id="22" name="7-rh2">
            <a:extLst xmlns:a="http://schemas.openxmlformats.org/drawingml/2006/main">
              <a:ext uri="{FF2B5EF4-FFF2-40B4-BE49-F238E27FC236}">
                <a16:creationId xmlns:a16="http://schemas.microsoft.com/office/drawing/2014/main" id="{B6DC69D4-52F0-463A-A325-58AAB93C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3905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23" name="7-rs3">
            <a:extLst xmlns:a="http://schemas.openxmlformats.org/drawingml/2006/main">
              <a:ext uri="{FF2B5EF4-FFF2-40B4-BE49-F238E27FC236}">
                <a16:creationId xmlns:a16="http://schemas.microsoft.com/office/drawing/2014/main" id="{4F1F0E37-F5E1-442F-9411-1F215B52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04  确定性排版与编译</a:t>
            </a:r>
          </a:p>
        </p:txBody>
      </p:sp>
      <p:sp>
        <p:nvSpPr>
          <p:cNvPr id="24" name="core">
            <a:extLst xmlns:a="http://schemas.openxmlformats.org/drawingml/2006/main">
              <a:ext uri="{FF2B5EF4-FFF2-40B4-BE49-F238E27FC236}">
                <a16:creationId xmlns:a16="http://schemas.microsoft.com/office/drawing/2014/main" id="{0AB8F8A9-5D80-44D6-99E4-C1FBA96B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00375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7-core-t">
            <a:extLst xmlns:a="http://schemas.openxmlformats.org/drawingml/2006/main">
              <a:ext uri="{FF2B5EF4-FFF2-40B4-BE49-F238E27FC236}">
                <a16:creationId xmlns:a16="http://schemas.microsoft.com/office/drawing/2014/main" id="{E554E7B7-CCDC-464C-8861-0126EF6D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908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核心资产库</a:t>
            </a:r>
          </a:p>
        </p:txBody>
      </p:sp>
      <p:sp>
        <p:nvSpPr>
          <p:cNvPr id="26" name="7-core-b">
            <a:extLst xmlns:a="http://schemas.openxmlformats.org/drawingml/2006/main">
              <a:ext uri="{FF2B5EF4-FFF2-40B4-BE49-F238E27FC236}">
                <a16:creationId xmlns:a16="http://schemas.microsoft.com/office/drawing/2014/main" id="{95F108A3-941D-4E14-BDE5-6DB6F6A4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909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只读调用</a:t>
            </a:r>
          </a:p>
        </p:txBody>
      </p:sp>
      <p:sp>
        <p:nvSpPr>
          <p:cNvPr id="27" name="7-anchor-la">
            <a:extLst xmlns:a="http://schemas.openxmlformats.org/drawingml/2006/main">
              <a:ext uri="{FF2B5EF4-FFF2-40B4-BE49-F238E27FC236}">
                <a16:creationId xmlns:a16="http://schemas.microsoft.com/office/drawing/2014/main" id="{B03A80D6-8FE8-4883-93A9-446F49B2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24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7-anchor-lb">
            <a:extLst xmlns:a="http://schemas.openxmlformats.org/drawingml/2006/main">
              <a:ext uri="{FF2B5EF4-FFF2-40B4-BE49-F238E27FC236}">
                <a16:creationId xmlns:a16="http://schemas.microsoft.com/office/drawing/2014/main" id="{E37EAD2D-582E-4AA1-892D-31446F9F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24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62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05425" y="353377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30" name="7-anchor-ra">
            <a:extLst xmlns:a="http://schemas.openxmlformats.org/drawingml/2006/main">
              <a:ext uri="{FF2B5EF4-FFF2-40B4-BE49-F238E27FC236}">
                <a16:creationId xmlns:a16="http://schemas.microsoft.com/office/drawing/2014/main" id="{24943E03-4FC2-4F2A-9B0A-A52A8047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24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7-anchor-rb">
            <a:extLst xmlns:a="http://schemas.openxmlformats.org/drawingml/2006/main">
              <a:ext uri="{FF2B5EF4-FFF2-40B4-BE49-F238E27FC236}">
                <a16:creationId xmlns:a16="http://schemas.microsoft.com/office/drawing/2014/main" id="{ECDE567C-C7E2-45F0-B1F2-BFB842BA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242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6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829425" y="353377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tailEnd type="arrow" w="sm" len="sm"/>
          </a:ln>
        </p:spPr>
      </p:cxnSp>
      <p:sp>
        <p:nvSpPr>
          <p:cNvPr id="33" name="7-fallback">
            <a:extLst xmlns:a="http://schemas.openxmlformats.org/drawingml/2006/main">
              <a:ext uri="{FF2B5EF4-FFF2-40B4-BE49-F238E27FC236}">
                <a16:creationId xmlns:a16="http://schemas.microsoft.com/office/drawing/2014/main" id="{4A3E925C-F573-4F88-ADCA-BC2D8105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29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没有合适结构 → 简单排版 / 拆页</a:t>
            </a:r>
          </a:p>
        </p:txBody>
      </p:sp>
    </p:spTree>
    <p:extLst>
      <p:ext uri="{BB962C8B-B14F-4D97-AF65-F5344CB8AC3E}">
        <p14:creationId xmlns:p14="http://schemas.microsoft.com/office/powerpoint/2010/main" val="1547050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8-kicker">
            <a:extLst xmlns:a="http://schemas.openxmlformats.org/drawingml/2006/main">
              <a:ext uri="{FF2B5EF4-FFF2-40B4-BE49-F238E27FC236}">
                <a16:creationId xmlns:a16="http://schemas.microsoft.com/office/drawing/2014/main" id="{4D297D39-028E-49BD-B4FC-0185FEEA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建设期与运行时</a:t>
            </a:r>
          </a:p>
        </p:txBody>
      </p:sp>
      <p:sp>
        <p:nvSpPr>
          <p:cNvPr id="2" name="8-title">
            <a:extLst xmlns:a="http://schemas.openxmlformats.org/drawingml/2006/main">
              <a:ext uri="{FF2B5EF4-FFF2-40B4-BE49-F238E27FC236}">
                <a16:creationId xmlns:a16="http://schemas.microsoft.com/office/drawing/2014/main" id="{D0530B32-7A9C-4D60-9AD2-8ADAC1DB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把昂贵的计算前移，让运行时主要负责理解、选择和填参</a:t>
            </a:r>
          </a:p>
        </p:txBody>
      </p:sp>
      <p:sp>
        <p:nvSpPr>
          <p:cNvPr id="3" name="8-title-rule">
            <a:extLst xmlns:a="http://schemas.openxmlformats.org/drawingml/2006/main">
              <a:ext uri="{FF2B5EF4-FFF2-40B4-BE49-F238E27FC236}">
                <a16:creationId xmlns:a16="http://schemas.microsoft.com/office/drawing/2014/main" id="{4EF84BAF-881F-4EBC-8424-EF75199D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8-footer">
            <a:extLst xmlns:a="http://schemas.openxmlformats.org/drawingml/2006/main">
              <a:ext uri="{FF2B5EF4-FFF2-40B4-BE49-F238E27FC236}">
                <a16:creationId xmlns:a16="http://schemas.microsoft.com/office/drawing/2014/main" id="{AC9DE7F9-63BB-44F1-B895-CCDA3581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08</a:t>
            </a:r>
          </a:p>
        </p:txBody>
      </p:sp>
      <p:sp>
        <p:nvSpPr>
          <p:cNvPr id="5" name="8-intro">
            <a:extLst xmlns:a="http://schemas.openxmlformats.org/drawingml/2006/main">
              <a:ext uri="{FF2B5EF4-FFF2-40B4-BE49-F238E27FC236}">
                <a16:creationId xmlns:a16="http://schemas.microsoft.com/office/drawing/2014/main" id="{8CF83D0E-3F95-4F7E-B77E-048E0FD9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传统路线把理解、设计和失败风险集中在每次交付；PPagenT 把视觉理解前移为一次建设、多次复用的离线资产。</a:t>
            </a:r>
          </a:p>
        </p:txBody>
      </p:sp>
      <p:sp>
        <p:nvSpPr>
          <p:cNvPr id="6" name="build-bg">
            <a:extLst xmlns:a="http://schemas.openxmlformats.org/drawingml/2006/main">
              <a:ext uri="{FF2B5EF4-FFF2-40B4-BE49-F238E27FC236}">
                <a16:creationId xmlns:a16="http://schemas.microsoft.com/office/drawing/2014/main" id="{62A479C9-E044-49FA-8EF5-B7B9D7DD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5048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n-bg">
            <a:extLst xmlns:a="http://schemas.openxmlformats.org/drawingml/2006/main">
              <a:ext uri="{FF2B5EF4-FFF2-40B4-BE49-F238E27FC236}">
                <a16:creationId xmlns:a16="http://schemas.microsoft.com/office/drawing/2014/main" id="{626B204A-01D6-4A7F-8267-2C74B418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5048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8-build-t">
            <a:extLst xmlns:a="http://schemas.openxmlformats.org/drawingml/2006/main">
              <a:ext uri="{FF2B5EF4-FFF2-40B4-BE49-F238E27FC236}">
                <a16:creationId xmlns:a16="http://schemas.microsoft.com/office/drawing/2014/main" id="{EBF42894-1B5E-42ED-9A2D-037D82BC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建设期</a:t>
            </a:r>
          </a:p>
        </p:txBody>
      </p:sp>
      <p:sp>
        <p:nvSpPr>
          <p:cNvPr id="9" name="8-build-b">
            <a:extLst xmlns:a="http://schemas.openxmlformats.org/drawingml/2006/main">
              <a:ext uri="{FF2B5EF4-FFF2-40B4-BE49-F238E27FC236}">
                <a16:creationId xmlns:a16="http://schemas.microsoft.com/office/drawing/2014/main" id="{7B9C8CAD-6914-4018-940E-C0D73183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筛选优秀页面 → 理解规律 → 参数化内容、图片和数量 → 验证状态 → 用户确认</a:t>
            </a:r>
          </a:p>
        </p:txBody>
      </p:sp>
      <p:sp>
        <p:nvSpPr>
          <p:cNvPr id="10" name="8-run-t">
            <a:extLst xmlns:a="http://schemas.openxmlformats.org/drawingml/2006/main">
              <a:ext uri="{FF2B5EF4-FFF2-40B4-BE49-F238E27FC236}">
                <a16:creationId xmlns:a16="http://schemas.microsoft.com/office/drawing/2014/main" id="{839D57C2-1C66-40EC-9634-44BC9431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正式生成期</a:t>
            </a:r>
          </a:p>
        </p:txBody>
      </p:sp>
      <p:sp>
        <p:nvSpPr>
          <p:cNvPr id="11" name="8-run-b">
            <a:extLst xmlns:a="http://schemas.openxmlformats.org/drawingml/2006/main">
              <a:ext uri="{FF2B5EF4-FFF2-40B4-BE49-F238E27FC236}">
                <a16:creationId xmlns:a16="http://schemas.microsoft.com/office/drawing/2014/main" id="{7C9EB624-0122-417A-8B78-FE135E75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模型完成理解、分类、路由和填参；代码负责绘制与检查，纯文字模型承担主要在线任务。</a:t>
            </a:r>
          </a:p>
        </p:txBody>
      </p:sp>
      <p:sp>
        <p:nvSpPr>
          <p:cNvPr id="12" name="8-foot">
            <a:extLst xmlns:a="http://schemas.openxmlformats.org/drawingml/2006/main">
              <a:ext uri="{FF2B5EF4-FFF2-40B4-BE49-F238E27FC236}">
                <a16:creationId xmlns:a16="http://schemas.microsoft.com/office/drawing/2014/main" id="{33EF035B-C88A-4AD4-A2ED-CCF2C58D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388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视觉模型可以用于建设期的资产理解与审查，但不成为每次交付的必要成本。</a:t>
            </a:r>
          </a:p>
        </p:txBody>
      </p:sp>
    </p:spTree>
    <p:extLst>
      <p:ext uri="{BB962C8B-B14F-4D97-AF65-F5344CB8AC3E}">
        <p14:creationId xmlns:p14="http://schemas.microsoft.com/office/powerpoint/2010/main" val="842081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9-kicker">
            <a:extLst xmlns:a="http://schemas.openxmlformats.org/drawingml/2006/main">
              <a:ext uri="{FF2B5EF4-FFF2-40B4-BE49-F238E27FC236}">
                <a16:creationId xmlns:a16="http://schemas.microsoft.com/office/drawing/2014/main" id="{AFF98B4E-1890-4843-8E02-2FD2A07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能力壁垒</a:t>
            </a:r>
          </a:p>
        </p:txBody>
      </p:sp>
      <p:sp>
        <p:nvSpPr>
          <p:cNvPr id="2" name="9-title">
            <a:extLst xmlns:a="http://schemas.openxmlformats.org/drawingml/2006/main">
              <a:ext uri="{FF2B5EF4-FFF2-40B4-BE49-F238E27FC236}">
                <a16:creationId xmlns:a16="http://schemas.microsoft.com/office/drawing/2014/main" id="{0A645D99-F7A5-4E67-A570-655EC7D6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真正积累的不是一万个模板，而是表达经验</a:t>
            </a:r>
          </a:p>
        </p:txBody>
      </p:sp>
      <p:sp>
        <p:nvSpPr>
          <p:cNvPr id="3" name="9-title-rule">
            <a:extLst xmlns:a="http://schemas.openxmlformats.org/drawingml/2006/main">
              <a:ext uri="{FF2B5EF4-FFF2-40B4-BE49-F238E27FC236}">
                <a16:creationId xmlns:a16="http://schemas.microsoft.com/office/drawing/2014/main" id="{13672506-4B6B-4B51-AF5B-DB4C9BF1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9-footer">
            <a:extLst xmlns:a="http://schemas.openxmlformats.org/drawingml/2006/main">
              <a:ext uri="{FF2B5EF4-FFF2-40B4-BE49-F238E27FC236}">
                <a16:creationId xmlns:a16="http://schemas.microsoft.com/office/drawing/2014/main" id="{5B758035-0C42-4E6A-B639-679DDB4D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09</a:t>
            </a:r>
          </a:p>
        </p:txBody>
      </p:sp>
      <p:sp>
        <p:nvSpPr>
          <p:cNvPr id="5" name="9-intro">
            <a:extLst xmlns:a="http://schemas.openxmlformats.org/drawingml/2006/main">
              <a:ext uri="{FF2B5EF4-FFF2-40B4-BE49-F238E27FC236}">
                <a16:creationId xmlns:a16="http://schemas.microsoft.com/office/drawing/2014/main" id="{0E3C3852-19F0-4042-8CD3-3EB58C0D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内容数量、字数和关系会变化；只有把规律提炼为可复用能力，漂亮页面才从一件作品变成一种能力。</a:t>
            </a:r>
          </a:p>
        </p:txBody>
      </p:sp>
      <p:sp>
        <p:nvSpPr>
          <p:cNvPr id="6" name="wall-bg">
            <a:extLst xmlns:a="http://schemas.openxmlformats.org/drawingml/2006/main">
              <a:ext uri="{FF2B5EF4-FFF2-40B4-BE49-F238E27FC236}">
                <a16:creationId xmlns:a16="http://schemas.microsoft.com/office/drawing/2014/main" id="{916B6C1D-3778-425B-A4F8-B8EC26C4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11144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9-w0-t">
            <a:extLst xmlns:a="http://schemas.openxmlformats.org/drawingml/2006/main">
              <a:ext uri="{FF2B5EF4-FFF2-40B4-BE49-F238E27FC236}">
                <a16:creationId xmlns:a16="http://schemas.microsoft.com/office/drawing/2014/main" id="{C5968AED-4748-4704-B78C-51362783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表达匹配</a:t>
            </a:r>
          </a:p>
        </p:txBody>
      </p:sp>
      <p:sp>
        <p:nvSpPr>
          <p:cNvPr id="8" name="9-w0-b">
            <a:extLst xmlns:a="http://schemas.openxmlformats.org/drawingml/2006/main">
              <a:ext uri="{FF2B5EF4-FFF2-40B4-BE49-F238E27FC236}">
                <a16:creationId xmlns:a16="http://schemas.microsoft.com/office/drawing/2014/main" id="{3D2050E9-8EC5-4073-9B2C-7DE0DAF2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什么内容适合怎样表达</a:t>
            </a:r>
          </a:p>
        </p:txBody>
      </p:sp>
      <p:sp>
        <p:nvSpPr>
          <p:cNvPr id="9" name="9-w1-t">
            <a:extLst xmlns:a="http://schemas.openxmlformats.org/drawingml/2006/main">
              <a:ext uri="{FF2B5EF4-FFF2-40B4-BE49-F238E27FC236}">
                <a16:creationId xmlns:a16="http://schemas.microsoft.com/office/drawing/2014/main" id="{08BE1F0C-25F4-47E5-8462-CF81A02C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容量边界</a:t>
            </a:r>
          </a:p>
        </p:txBody>
      </p:sp>
      <p:sp>
        <p:nvSpPr>
          <p:cNvPr id="10" name="9-w1-b">
            <a:extLst xmlns:a="http://schemas.openxmlformats.org/drawingml/2006/main">
              <a:ext uri="{FF2B5EF4-FFF2-40B4-BE49-F238E27FC236}">
                <a16:creationId xmlns:a16="http://schemas.microsoft.com/office/drawing/2014/main" id="{B4092078-8780-46ED-8CA3-FD5B7DA9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一个版式能够处理多少内容</a:t>
            </a:r>
          </a:p>
        </p:txBody>
      </p:sp>
      <p:sp>
        <p:nvSpPr>
          <p:cNvPr id="11" name="9-w2-t">
            <a:extLst xmlns:a="http://schemas.openxmlformats.org/drawingml/2006/main">
              <a:ext uri="{FF2B5EF4-FFF2-40B4-BE49-F238E27FC236}">
                <a16:creationId xmlns:a16="http://schemas.microsoft.com/office/drawing/2014/main" id="{8906E2B1-C90A-4C75-8DE1-2C118A0F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03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变化方式</a:t>
            </a:r>
          </a:p>
        </p:txBody>
      </p:sp>
      <p:sp>
        <p:nvSpPr>
          <p:cNvPr id="12" name="9-w2-b">
            <a:extLst xmlns:a="http://schemas.openxmlformats.org/drawingml/2006/main">
              <a:ext uri="{FF2B5EF4-FFF2-40B4-BE49-F238E27FC236}">
                <a16:creationId xmlns:a16="http://schemas.microsoft.com/office/drawing/2014/main" id="{EC1DEA63-4454-42C0-85F6-4D2A7FE2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数量变化时怎样重新排布</a:t>
            </a:r>
          </a:p>
        </p:txBody>
      </p:sp>
      <p:sp>
        <p:nvSpPr>
          <p:cNvPr id="13" name="9-w3-t">
            <a:extLst xmlns:a="http://schemas.openxmlformats.org/drawingml/2006/main">
              <a:ext uri="{FF2B5EF4-FFF2-40B4-BE49-F238E27FC236}">
                <a16:creationId xmlns:a16="http://schemas.microsoft.com/office/drawing/2014/main" id="{1D1354E3-1B74-4763-9EBA-0D8509CF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003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失败边界</a:t>
            </a:r>
          </a:p>
        </p:txBody>
      </p:sp>
      <p:sp>
        <p:nvSpPr>
          <p:cNvPr id="14" name="9-w3-b">
            <a:extLst xmlns:a="http://schemas.openxmlformats.org/drawingml/2006/main">
              <a:ext uri="{FF2B5EF4-FFF2-40B4-BE49-F238E27FC236}">
                <a16:creationId xmlns:a16="http://schemas.microsoft.com/office/drawing/2014/main" id="{2E887F16-71F0-478D-8C8D-F32EE07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超出边界时换样式、拆页还是退化</a:t>
            </a:r>
          </a:p>
        </p:txBody>
      </p:sp>
      <p:sp>
        <p:nvSpPr>
          <p:cNvPr id="15" name="9-barrier">
            <a:extLst xmlns:a="http://schemas.openxmlformats.org/drawingml/2006/main">
              <a:ext uri="{FF2B5EF4-FFF2-40B4-BE49-F238E27FC236}">
                <a16:creationId xmlns:a16="http://schemas.microsoft.com/office/drawing/2014/main" id="{1F765370-DE93-49CD-8FBF-DA3277E1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150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真正的壁垒 = 有效表达能力 + 正确路由 + 容量与失败边界 + 稳定生成</a:t>
            </a:r>
          </a:p>
        </p:txBody>
      </p:sp>
    </p:spTree>
    <p:extLst>
      <p:ext uri="{BB962C8B-B14F-4D97-AF65-F5344CB8AC3E}">
        <p14:creationId xmlns:p14="http://schemas.microsoft.com/office/powerpoint/2010/main" val="410100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10-kicker">
            <a:extLst xmlns:a="http://schemas.openxmlformats.org/drawingml/2006/main">
              <a:ext uri="{FF2B5EF4-FFF2-40B4-BE49-F238E27FC236}">
                <a16:creationId xmlns:a16="http://schemas.microsoft.com/office/drawing/2014/main" id="{F8D3B2F4-2214-4DEE-AD79-ADD3FD40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扩展边界</a:t>
            </a:r>
          </a:p>
        </p:txBody>
      </p:sp>
      <p:sp>
        <p:nvSpPr>
          <p:cNvPr id="2" name="10-title">
            <a:extLst xmlns:a="http://schemas.openxmlformats.org/drawingml/2006/main">
              <a:ext uri="{FF2B5EF4-FFF2-40B4-BE49-F238E27FC236}">
                <a16:creationId xmlns:a16="http://schemas.microsoft.com/office/drawing/2014/main" id="{CE6FD5B8-8250-451C-B5AF-4E26A9BB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从一个学校走向更多组织，复用的是能力，替换的是主题</a:t>
            </a:r>
          </a:p>
        </p:txBody>
      </p:sp>
      <p:sp>
        <p:nvSpPr>
          <p:cNvPr id="3" name="10-title-rule">
            <a:extLst xmlns:a="http://schemas.openxmlformats.org/drawingml/2006/main">
              <a:ext uri="{FF2B5EF4-FFF2-40B4-BE49-F238E27FC236}">
                <a16:creationId xmlns:a16="http://schemas.microsoft.com/office/drawing/2014/main" id="{2F59550B-49FD-4E15-8EEB-F72ACC20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10-footer">
            <a:extLst xmlns:a="http://schemas.openxmlformats.org/drawingml/2006/main">
              <a:ext uri="{FF2B5EF4-FFF2-40B4-BE49-F238E27FC236}">
                <a16:creationId xmlns:a16="http://schemas.microsoft.com/office/drawing/2014/main" id="{D166FF18-859B-45EC-8DAF-414D852B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10</a:t>
            </a:r>
          </a:p>
        </p:txBody>
      </p:sp>
      <p:sp>
        <p:nvSpPr>
          <p:cNvPr id="5" name="10-left">
            <a:extLst xmlns:a="http://schemas.openxmlformats.org/drawingml/2006/main">
              <a:ext uri="{FF2B5EF4-FFF2-40B4-BE49-F238E27FC236}">
                <a16:creationId xmlns:a16="http://schemas.microsoft.com/office/drawing/2014/main" id="{96E7360D-C0AD-469C-B95F-6D137D3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东北大学是第一个正式落地场景，因为它有明确的视觉规范、持续发生的汇报需求和真实可检验的使用边界。</a:t>
            </a:r>
          </a:p>
        </p:txBody>
      </p:sp>
      <p:sp>
        <p:nvSpPr>
          <p:cNvPr id="6" name="expand-bg">
            <a:extLst xmlns:a="http://schemas.openxmlformats.org/drawingml/2006/main">
              <a:ext uri="{FF2B5EF4-FFF2-40B4-BE49-F238E27FC236}">
                <a16:creationId xmlns:a16="http://schemas.microsoft.com/office/drawing/2014/main" id="{AF17FB06-1E27-49D9-BF7B-9CF96D02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476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10-expand-title">
            <a:extLst xmlns:a="http://schemas.openxmlformats.org/drawingml/2006/main">
              <a:ext uri="{FF2B5EF4-FFF2-40B4-BE49-F238E27FC236}">
                <a16:creationId xmlns:a16="http://schemas.microsoft.com/office/drawing/2014/main" id="{FCE0C42D-89C0-4300-98E5-DB491354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可以替换与继续复用的两层</a:t>
            </a:r>
          </a:p>
        </p:txBody>
      </p:sp>
      <p:sp>
        <p:nvSpPr>
          <p:cNvPr id="8" name="10-theme-l">
            <a:extLst xmlns:a="http://schemas.openxmlformats.org/drawingml/2006/main">
              <a:ext uri="{FF2B5EF4-FFF2-40B4-BE49-F238E27FC236}">
                <a16:creationId xmlns:a16="http://schemas.microsoft.com/office/drawing/2014/main" id="{37821689-46EF-4355-8609-7B6CA08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9" name="10-theme-b">
            <a:extLst xmlns:a="http://schemas.openxmlformats.org/drawingml/2006/main">
              <a:ext uri="{FF2B5EF4-FFF2-40B4-BE49-F238E27FC236}">
                <a16:creationId xmlns:a16="http://schemas.microsoft.com/office/drawing/2014/main" id="{7D8817D3-2AB8-4A4D-A7B6-FC7F3795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颜色、Logo、字体、页眉页脚</a:t>
            </a:r>
          </a:p>
        </p:txBody>
      </p:sp>
      <p:sp>
        <p:nvSpPr>
          <p:cNvPr id="10" name="10-e1">
            <a:extLst xmlns:a="http://schemas.openxmlformats.org/drawingml/2006/main">
              <a:ext uri="{FF2B5EF4-FFF2-40B4-BE49-F238E27FC236}">
                <a16:creationId xmlns:a16="http://schemas.microsoft.com/office/drawing/2014/main" id="{001D4586-1B98-41F7-A098-80843C6D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57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11" name="10-cap-l">
            <a:extLst xmlns:a="http://schemas.openxmlformats.org/drawingml/2006/main">
              <a:ext uri="{FF2B5EF4-FFF2-40B4-BE49-F238E27FC236}">
                <a16:creationId xmlns:a16="http://schemas.microsoft.com/office/drawing/2014/main" id="{586EAEB8-7D39-40E7-A6FC-576AA9E2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12" name="10-cap-b">
            <a:extLst xmlns:a="http://schemas.openxmlformats.org/drawingml/2006/main">
              <a:ext uri="{FF2B5EF4-FFF2-40B4-BE49-F238E27FC236}">
                <a16:creationId xmlns:a16="http://schemas.microsoft.com/office/drawing/2014/main" id="{97145AA4-A4D2-4528-8EAB-EBF79886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内容理解规则与表达能力继续复用</a:t>
            </a:r>
          </a:p>
        </p:txBody>
      </p:sp>
      <p:sp>
        <p:nvSpPr>
          <p:cNvPr id="13" name="10-orgs">
            <a:extLst xmlns:a="http://schemas.openxmlformats.org/drawingml/2006/main">
              <a:ext uri="{FF2B5EF4-FFF2-40B4-BE49-F238E27FC236}">
                <a16:creationId xmlns:a16="http://schemas.microsoft.com/office/drawing/2014/main" id="{BB14B873-E320-4E15-B3B4-C1C5CFF1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其他学校、科研院所、实验室、企业和团队，都可以获得一套可低成本获得的生产能力。</a:t>
            </a:r>
          </a:p>
        </p:txBody>
      </p:sp>
      <p:sp>
        <p:nvSpPr>
          <p:cNvPr id="14" name="10-foot">
            <a:extLst xmlns:a="http://schemas.openxmlformats.org/drawingml/2006/main">
              <a:ext uri="{FF2B5EF4-FFF2-40B4-BE49-F238E27FC236}">
                <a16:creationId xmlns:a16="http://schemas.microsoft.com/office/drawing/2014/main" id="{2F212B93-3245-435B-A970-D9BF179D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组织不用要求每名成员都成为设计师，也能让日常输出稳定达到基本标准。</a:t>
            </a:r>
          </a:p>
        </p:txBody>
      </p:sp>
    </p:spTree>
    <p:extLst>
      <p:ext uri="{BB962C8B-B14F-4D97-AF65-F5344CB8AC3E}">
        <p14:creationId xmlns:p14="http://schemas.microsoft.com/office/powerpoint/2010/main" val="4740125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11-top-rule">
            <a:extLst xmlns:a="http://schemas.openxmlformats.org/drawingml/2006/main">
              <a:ext uri="{FF2B5EF4-FFF2-40B4-BE49-F238E27FC236}">
                <a16:creationId xmlns:a16="http://schemas.microsoft.com/office/drawing/2014/main" id="{E6A881C4-6E76-4452-A876-0ACD6E7F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9625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" name="11-title">
            <a:extLst xmlns:a="http://schemas.openxmlformats.org/drawingml/2006/main">
              <a:ext uri="{FF2B5EF4-FFF2-40B4-BE49-F238E27FC236}">
                <a16:creationId xmlns:a16="http://schemas.microsoft.com/office/drawing/2014/main" id="{EA906935-BDB5-44DE-9790-EE4AE7DB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85875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最后，它仍然只想解决一件普通的事</a:t>
            </a:r>
          </a:p>
        </p:txBody>
      </p:sp>
      <p:sp>
        <p:nvSpPr>
          <p:cNvPr id="3" name="11-body">
            <a:extLst xmlns:a="http://schemas.openxmlformats.org/drawingml/2006/main">
              <a:ext uri="{FF2B5EF4-FFF2-40B4-BE49-F238E27FC236}">
                <a16:creationId xmlns:a16="http://schemas.microsoft.com/office/drawing/2014/main" id="{3B06D685-DD53-4D3F-8705-5B06278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做一套好 PPT 太费时间了，而其中很多时间花在以前已经有人解决过的问题上。</a:t>
            </a:r>
          </a:p>
        </p:txBody>
      </p:sp>
      <p:sp>
        <p:nvSpPr>
          <p:cNvPr id="4" name="close-bg">
            <a:extLst xmlns:a="http://schemas.openxmlformats.org/drawingml/2006/main">
              <a:ext uri="{FF2B5EF4-FFF2-40B4-BE49-F238E27FC236}">
                <a16:creationId xmlns:a16="http://schemas.microsoft.com/office/drawing/2014/main" id="{AB6D8CAD-61AA-4071-9FFB-596DA94F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1114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11-close">
            <a:extLst xmlns:a="http://schemas.openxmlformats.org/drawingml/2006/main">
              <a:ext uri="{FF2B5EF4-FFF2-40B4-BE49-F238E27FC236}">
                <a16:creationId xmlns:a16="http://schemas.microsoft.com/office/drawing/2014/main" id="{57806847-8557-45DF-82A4-82ED00AD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09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不一定惊艳，但靠谱；不一定独一无二，但真的好用；可以立刻拿去讲，也可以继续修改。</a:t>
            </a:r>
          </a:p>
        </p:txBody>
      </p:sp>
      <p:sp>
        <p:nvSpPr>
          <p:cNvPr id="6" name="11-end">
            <a:extLst xmlns:a="http://schemas.openxmlformats.org/drawingml/2006/main">
              <a:ext uri="{FF2B5EF4-FFF2-40B4-BE49-F238E27FC236}">
                <a16:creationId xmlns:a16="http://schemas.microsoft.com/office/drawing/2014/main" id="{57F9B29F-8058-4CA3-B6A5-ACEF6083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如果持续做到这一点，普通问题就能成为可靠的产品能力，也有机会形成一门真正的生意。</a:t>
            </a:r>
          </a:p>
        </p:txBody>
      </p:sp>
      <p:sp>
        <p:nvSpPr>
          <p:cNvPr id="7" name="11-footer">
            <a:extLst xmlns:a="http://schemas.openxmlformats.org/drawingml/2006/main">
              <a:ext uri="{FF2B5EF4-FFF2-40B4-BE49-F238E27FC236}">
                <a16:creationId xmlns:a16="http://schemas.microsoft.com/office/drawing/2014/main" id="{0E277D84-D751-46BE-A043-DCA03FDB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产品叙事  ·  11</a:t>
            </a:r>
          </a:p>
        </p:txBody>
      </p:sp>
    </p:spTree>
    <p:extLst>
      <p:ext uri="{BB962C8B-B14F-4D97-AF65-F5344CB8AC3E}">
        <p14:creationId xmlns:p14="http://schemas.microsoft.com/office/powerpoint/2010/main" val="1573971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2026-09-06T05:33:53.6170000Z</dcterms:created>
  <dcterms:modified xsi:type="dcterms:W3CDTF">2026-09-06T05:33:53.6170000Z</dcterms:modified>
</coreProperties>
</file>