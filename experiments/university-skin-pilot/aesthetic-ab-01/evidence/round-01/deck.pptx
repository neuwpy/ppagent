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525cd759584205" /><Relationship Type="http://schemas.openxmlformats.org/officeDocument/2006/relationships/extended-properties" Target="/docProps/app.xml" Id="R56597c1c47fa4e25" /><Relationship Type="http://schemas.openxmlformats.org/officeDocument/2006/relationships/officeDocument" Target="/ppt/presentation.xml" Id="R4c518720062c4f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cb680e9e804841"/>
  </p:sldMasterIdLst>
  <p:notesMasterIdLst>
    <p:notesMasterId xmlns:r="http://schemas.openxmlformats.org/officeDocument/2006/relationships" r:id="Red5d1e4c13df48c0"/>
  </p:notesMasterIdLst>
  <p:sldIdLst>
    <p:sldId xmlns:r="http://schemas.openxmlformats.org/officeDocument/2006/relationships" id="256" r:id="R72c66125f15c4d99"/>
    <p:sldId xmlns:r="http://schemas.openxmlformats.org/officeDocument/2006/relationships" id="257" r:id="R9dee89c8068c4c0d"/>
    <p:sldId xmlns:r="http://schemas.openxmlformats.org/officeDocument/2006/relationships" id="258" r:id="R02b8d0c8b18d4646"/>
    <p:sldId xmlns:r="http://schemas.openxmlformats.org/officeDocument/2006/relationships" id="259" r:id="R70d05671edb94760"/>
    <p:sldId xmlns:r="http://schemas.openxmlformats.org/officeDocument/2006/relationships" id="260" r:id="R6198feb1d8de4b65"/>
    <p:sldId xmlns:r="http://schemas.openxmlformats.org/officeDocument/2006/relationships" id="261" r:id="Rac8e3f7655c746aa"/>
    <p:sldId xmlns:r="http://schemas.openxmlformats.org/officeDocument/2006/relationships" id="262" r:id="R6c66883a856a4b36"/>
    <p:sldId xmlns:r="http://schemas.openxmlformats.org/officeDocument/2006/relationships" id="263" r:id="Rf0584500a347429e"/>
    <p:sldId xmlns:r="http://schemas.openxmlformats.org/officeDocument/2006/relationships" id="264" r:id="R04bcf3ea04d841ef"/>
    <p:sldId xmlns:r="http://schemas.openxmlformats.org/officeDocument/2006/relationships" id="265" r:id="R1a2c3bc084144eed"/>
    <p:sldId xmlns:r="http://schemas.openxmlformats.org/officeDocument/2006/relationships" id="266" r:id="Rf71a9a4cc7d841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6aa8af93da4da1" /><Relationship Type="http://schemas.openxmlformats.org/officeDocument/2006/relationships/slideMaster" Target="/ppt/slideMasters/slideMaster1.xml" Id="R26cb680e9e804841" /><Relationship Type="http://schemas.openxmlformats.org/officeDocument/2006/relationships/notesMaster" Target="/ppt/notesMasters/notesMaster1.xml" Id="Red5d1e4c13df48c0" /><Relationship Type="http://schemas.openxmlformats.org/officeDocument/2006/relationships/presProps" Target="/ppt/presProps.xml" Id="Ref1cf01e4d634af3" /><Relationship Type="http://schemas.openxmlformats.org/officeDocument/2006/relationships/tableStyles" Target="/ppt/tableStyles.xml" Id="Rd008c26df4624f69" /><Relationship Type="http://schemas.openxmlformats.org/officeDocument/2006/relationships/slide" Target="/ppt/slides/slide1.xml" Id="R72c66125f15c4d99" /><Relationship Type="http://schemas.openxmlformats.org/officeDocument/2006/relationships/slide" Target="/ppt/slides/slide2.xml" Id="R9dee89c8068c4c0d" /><Relationship Type="http://schemas.openxmlformats.org/officeDocument/2006/relationships/slide" Target="/ppt/slides/slide3.xml" Id="R02b8d0c8b18d4646" /><Relationship Type="http://schemas.openxmlformats.org/officeDocument/2006/relationships/slide" Target="/ppt/slides/slide4.xml" Id="R70d05671edb94760" /><Relationship Type="http://schemas.openxmlformats.org/officeDocument/2006/relationships/slide" Target="/ppt/slides/slide5.xml" Id="R6198feb1d8de4b65" /><Relationship Type="http://schemas.openxmlformats.org/officeDocument/2006/relationships/slide" Target="/ppt/slides/slide6.xml" Id="Rac8e3f7655c746aa" /><Relationship Type="http://schemas.openxmlformats.org/officeDocument/2006/relationships/slide" Target="/ppt/slides/slide7.xml" Id="R6c66883a856a4b36" /><Relationship Type="http://schemas.openxmlformats.org/officeDocument/2006/relationships/slide" Target="/ppt/slides/slide8.xml" Id="Rf0584500a347429e" /><Relationship Type="http://schemas.openxmlformats.org/officeDocument/2006/relationships/slide" Target="/ppt/slides/slide9.xml" Id="R04bcf3ea04d841ef" /><Relationship Type="http://schemas.openxmlformats.org/officeDocument/2006/relationships/slide" Target="/ppt/slides/slide10.xml" Id="R1a2c3bc084144eed" /><Relationship Type="http://schemas.openxmlformats.org/officeDocument/2006/relationships/slide" Target="/ppt/slides/slide11.xml" Id="Rf71a9a4cc7d841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4908208b6a48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3e74977b4a43a9" /><Relationship Type="http://schemas.openxmlformats.org/officeDocument/2006/relationships/notesMaster" Target="/ppt/notesMasters/notesMaster1.xml" Id="R41a2a2f30bf648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237c17efa6474c" /><Relationship Type="http://schemas.openxmlformats.org/officeDocument/2006/relationships/notesMaster" Target="/ppt/notesMasters/notesMaster1.xml" Id="R605f7dbd366747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14471382d94ed8" /><Relationship Type="http://schemas.openxmlformats.org/officeDocument/2006/relationships/notesMaster" Target="/ppt/notesMasters/notesMaster1.xml" Id="Re126d32c2ff847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73b2682dab4466" /><Relationship Type="http://schemas.openxmlformats.org/officeDocument/2006/relationships/notesMaster" Target="/ppt/notesMasters/notesMaster1.xml" Id="R9e2784392b0448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c576079f3f4974" /><Relationship Type="http://schemas.openxmlformats.org/officeDocument/2006/relationships/notesMaster" Target="/ppt/notesMasters/notesMaster1.xml" Id="R8c43d67d86c846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2ba40633464112" /><Relationship Type="http://schemas.openxmlformats.org/officeDocument/2006/relationships/notesMaster" Target="/ppt/notesMasters/notesMaster1.xml" Id="R2e191a47e5264e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a01dc07a034f29" /><Relationship Type="http://schemas.openxmlformats.org/officeDocument/2006/relationships/notesMaster" Target="/ppt/notesMasters/notesMaster1.xml" Id="Rc72e2a9e41b043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fbe85c684c4f06" /><Relationship Type="http://schemas.openxmlformats.org/officeDocument/2006/relationships/notesMaster" Target="/ppt/notesMasters/notesMaster1.xml" Id="Ra225ecde872046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2fbb6ba3ed411d" /><Relationship Type="http://schemas.openxmlformats.org/officeDocument/2006/relationships/notesMaster" Target="/ppt/notesMasters/notesMaster1.xml" Id="R9fc3623f1d1848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bc78a892154a14" /><Relationship Type="http://schemas.openxmlformats.org/officeDocument/2006/relationships/notesMaster" Target="/ppt/notesMasters/notesMaster1.xml" Id="Rd96b40d22a5541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e6b9cfe6644697" /><Relationship Type="http://schemas.openxmlformats.org/officeDocument/2006/relationships/notesMaster" Target="/ppt/notesMasters/notesMaster1.xml" Id="R58dbee36b5e640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35746f4154a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5071533b3b4f4b" /><Relationship Type="http://schemas.openxmlformats.org/officeDocument/2006/relationships/slideLayout" Target="/ppt/slideLayouts/slideLayout1.xml" Id="R4715ec4834454f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15ec4834454f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f350cd8174d3c" /><Relationship Type="http://schemas.openxmlformats.org/officeDocument/2006/relationships/notesSlide" Target="/ppt/notesSlides/notesSlide1.xml" Id="R4544770072c64e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d4299677d4069" /><Relationship Type="http://schemas.openxmlformats.org/officeDocument/2006/relationships/notesSlide" Target="/ppt/notesSlides/notesSlide2.xml" Id="Rccaf53d217a44b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870b084b84df6" /><Relationship Type="http://schemas.openxmlformats.org/officeDocument/2006/relationships/notesSlide" Target="/ppt/notesSlides/notesSlide3.xml" Id="R57b112d66ce048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1ddf29da744c6" /><Relationship Type="http://schemas.openxmlformats.org/officeDocument/2006/relationships/notesSlide" Target="/ppt/notesSlides/notesSlide4.xml" Id="Ra7c489736b7744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1c66dff5e4df8" /><Relationship Type="http://schemas.openxmlformats.org/officeDocument/2006/relationships/notesSlide" Target="/ppt/notesSlides/notesSlide5.xml" Id="R1459c6f01d7c46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9abdabc0c4920" /><Relationship Type="http://schemas.openxmlformats.org/officeDocument/2006/relationships/notesSlide" Target="/ppt/notesSlides/notesSlide6.xml" Id="Rdb2c059ce4424a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62577074248b8" /><Relationship Type="http://schemas.openxmlformats.org/officeDocument/2006/relationships/notesSlide" Target="/ppt/notesSlides/notesSlide7.xml" Id="Rb904597446394d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33db46cab4d19" /><Relationship Type="http://schemas.openxmlformats.org/officeDocument/2006/relationships/notesSlide" Target="/ppt/notesSlides/notesSlide8.xml" Id="Rf4e96f7ff54942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9d0f8080d47f8" /><Relationship Type="http://schemas.openxmlformats.org/officeDocument/2006/relationships/notesSlide" Target="/ppt/notesSlides/notesSlide9.xml" Id="R34f3e170bad84f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48a1d3d5b4497" /><Relationship Type="http://schemas.openxmlformats.org/officeDocument/2006/relationships/notesSlide" Target="/ppt/notesSlides/notesSlide10.xml" Id="Rf83b5a59f9c044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7fa703acd430f" /><Relationship Type="http://schemas.openxmlformats.org/officeDocument/2006/relationships/notesSlide" Target="/ppt/notesSlides/notesSlide11.xml" Id="R2706f76c8c674e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B6084-78BC-441B-B263-A9D45D15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1915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0C4FC-E730-4384-BD58-5FC5EE93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 PPT 生成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变成可靠的生产过程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C9A18-4B6B-42A2-8E61-8CD4CDF6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PPagenT 产品叙事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89054-43AC-401D-96C2-438780F0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让 AI 读稿，让规则判断，让代码完成重复劳动。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0A098-BD00-488C-964E-A8311F97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97847-C9D5-4B51-9329-D69D60A8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可靠交付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B9988-B522-4215-AC1B-C6A08267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不一定惊艳，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但靠谱；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可以立刻拿去讲，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也可以继续修改。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CF630-6820-4DCC-BA8D-5CCCB3D6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341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面向学校、科研院所与组织工作型 PPT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16F56-CB2B-44B2-8F99-44E78160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3410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 / 11</a:t>
            </a:r>
          </a:p>
        </p:txBody>
      </p:sp>
    </p:spTree>
    <p:extLst>
      <p:ext uri="{BB962C8B-B14F-4D97-AF65-F5344CB8AC3E}">
        <p14:creationId xmlns:p14="http://schemas.microsoft.com/office/powerpoint/2010/main" val="10683503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A75E49-6B45-4624-900A-1A96D563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B75B2-DDC7-4F67-8E50-44041602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PPT 真正昂贵的是反复判断，不是拖动文本框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EA9E3-0647-4F20-8B1A-340841F6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ACF73-0217-4822-8381-8F811C9A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12FBC-F2AA-4E0C-8468-34DDE0EE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· 产品叙事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C21AA-864B-4D1A-9853-A4BDA117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 /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692CC-1E60-4737-97DC-2E875F01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高手已经知道怎样做得好，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但每次仍要重新做一遍。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7D61C-8447-4493-8E9C-8D92FBBA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28950"/>
            <a:ext cx="4095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成本集中在一连串决定：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如何讲、如何拆、如何对应、何时突出。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BE882-96B1-4513-847B-1368F379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430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DAF48-406A-4DD7-852A-ABDACFCE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33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叙事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2FD06-84A4-4F59-AE1C-F877D3B4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481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这场汇报到底怎么讲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7A992-B1E4-4A6B-97E6-DFD9DE49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95525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8BF4D-AEE9-4184-B946-899C420B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14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拆页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E810B-D36D-4E0B-8B03-4010ACA3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481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一篇长稿应该拆成多少页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BB69B-84A1-47EA-8FB4-FEBC492D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76575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CDAF8-0FC1-4619-AE74-4B58A67C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95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123DC-7CF3-4F3C-B67B-C077307C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95650"/>
            <a:ext cx="481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观点是并列、递进、因果还是流程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6D189-438B-4EFD-97C4-8C54BB31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57625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3D1DF-EA01-459F-82BF-B5DFB8B6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76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表达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9F77C-0F1F-4812-A7AF-E5A3CEF1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76700"/>
            <a:ext cx="481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哪里突出、何时用图、何时一句话更有力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EB78E7-8D05-4C11-A5E3-24C7D32B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38675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AF0514-5426-491C-943E-035B849F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57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复用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DD917F-E0D1-4435-982F-862AFF4C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481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找旧页面、换内容、调结构、统一规范</a:t>
            </a:r>
          </a:p>
        </p:txBody>
      </p:sp>
    </p:spTree>
    <p:extLst>
      <p:ext uri="{BB962C8B-B14F-4D97-AF65-F5344CB8AC3E}">
        <p14:creationId xmlns:p14="http://schemas.microsoft.com/office/powerpoint/2010/main" val="3599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038F41-14E9-48F9-B973-C7376D5D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选择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224DE-94DA-4E7D-8A8E-65D1F09A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先服务最适合标准化的工作型 PPT，可靠度才有明确对象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1AFC9-9F5F-4F6F-97A2-B161BE07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2913D-53A9-4DC6-8B5F-773B84BE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68D24-1C70-4AE6-875D-D83B36C1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· 产品叙事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B86AA-978E-4130-ACEA-69B0DFAD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03 /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FABEF-3110-4667-BBDD-F63AB364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需求两端都真实存在，但更大的密度位于中间。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D43CE-4EE6-4662-A7B7-0ADCD359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24100"/>
            <a:ext cx="2667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2AE64-5B00-47A5-81F8-3C4DEC79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只要文字放上去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1D9EE-1A65-4761-AE18-DC73F22D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几乎不在意版式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B115D-96B1-43E5-BD09-54A9FBB9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24100"/>
            <a:ext cx="2667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266FC-81AE-4CAA-94A7-D3C67129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33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高度定制创意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73BBF-D972-436B-AAF9-A9458126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432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发布会、路演、比赛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0965A-F580-40B5-9A24-0DCF9ED5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43125"/>
            <a:ext cx="40957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DE8D1-9A37-420C-8532-54797BC1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5267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PPagenT 的起点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FA60EA-32C9-4160-AAC2-D110D611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813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学校、科研院所、事业单位、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央国企与普通企业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71573-5DDD-4047-90D0-FFE9821A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底线：不能乱、不能丑、不能掉价、不能无法修改。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CC2F6-BFCF-46CD-8E1C-B2FB6748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49434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1E819-4804-440F-BF56-865DA4D1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可靠度 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0E8CF9-CDDD-487A-A622-B0106D6B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910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 = P(Q ≥ Q可用 | 目标工作场景)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DB4F78-1A44-4C88-AAA8-E8836EE8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244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DC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8F4"/>
                </a:solidFill>
                <a:latin typeface="Microsoft YaHei"/>
                <a:ea typeface="Microsoft YaHei"/>
                <a:cs typeface="Microsoft YaHei"/>
              </a:rPr>
              <a:t>目标：跨过可用线的概率</a:t>
            </a:r>
          </a:p>
        </p:txBody>
      </p:sp>
    </p:spTree>
    <p:extLst>
      <p:ext uri="{BB962C8B-B14F-4D97-AF65-F5344CB8AC3E}">
        <p14:creationId xmlns:p14="http://schemas.microsoft.com/office/powerpoint/2010/main" val="506841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4D2C6-3C9C-49C2-8816-E814FFC8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90C9C-D1B9-47EB-88E9-03704513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工作场景更在意稳定跨过可用线，而不是偶然的 95 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993AF-4A94-4EA7-AFEB-04568820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7DDCF-E76C-4FBD-B002-5949F0BE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05E81-F0C6-45C6-9CC5-A6483A50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· 产品叙事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73AA4-BCB0-468E-A759-DA3B23B8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04 /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3A32D-E029-4F65-B6C4-A6FAAB1C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5048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ABFC6-E0E0-4738-86B9-9C2C1FBB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80 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2E314-444C-40A9-A6DD-50EE5238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稳定可用状态的比喻：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直接使用不失专业，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继续修改有可靠基础，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投入与收益相匹配。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C40CC-49DF-47EB-9FE1-78540781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5572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50B76-34EB-4543-8DFE-E4C5D2ED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574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7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95 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F0230-C33B-45D9-AC13-0FA5C4D4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479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偶然惊艳的峰值，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不等于工作交付的可靠性。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C873A-F77A-41E2-A200-6A6E161B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2FDCD-3F37-48FD-88F3-76AE0359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578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明天上午九点要汇报：前一晚交稿，第二天仍能继续修改。</a:t>
            </a:r>
          </a:p>
        </p:txBody>
      </p:sp>
    </p:spTree>
    <p:extLst>
      <p:ext uri="{BB962C8B-B14F-4D97-AF65-F5344CB8AC3E}">
        <p14:creationId xmlns:p14="http://schemas.microsoft.com/office/powerpoint/2010/main" val="14546983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DE9F11-6C95-497A-BA25-21F21DEE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694A0-D59C-42B1-8FB4-D343D100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限制自由，是为了减少结果落入不可用区间的机会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B88C1-2C7F-4CFC-B24D-271CBFA5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0F260-4F80-4703-B9C9-AD4FFA2B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4B8DC-E24E-4038-BAEF-C80A81DF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· 产品叙事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7E05B-8D5C-4A14-B819-92EF1036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05 /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2CCFD-6EF6-4A83-883C-DB36CF13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自由度越高，理论上限越高；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状态空间与失败模式也会一起扩大。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E630A-8F71-417D-83CB-8F5B3D41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43200"/>
            <a:ext cx="5238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29963-698C-4102-8BF8-D1DDB54C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主动保留的约束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4E9AD-6D6D-4FE2-98AE-27506EC1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D293B-0355-4520-BEF7-9890A113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组织视觉规范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36515-EFAE-4DCD-8F47-B3BF7354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14775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62AB9-FC13-4D22-9ABD-227AE20C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3382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经过验证的表达能力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CCAFA-F05E-4147-BF57-D972DA2A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53BEF-E85E-4BE2-A94F-74A646FA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明确的数量与容量边界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CBB68-18E6-45B1-9130-B0C79AAC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F89E7-1C08-4F4D-9E48-4E21DC81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107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已经登记的退化方式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6036C0-6739-4E87-9381-3A88A8E4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43200"/>
            <a:ext cx="5238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E19687-3388-4D54-B45E-09C4C891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09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超出边界时的退路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A85917-F6D2-4C43-97B0-A9B8300A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428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换样式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拆页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退化为简单文字排版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7EB78C-4E27-465F-8974-D49F5625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53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理论峰值可能降低，落入不可用区间的机会也降低。</a:t>
            </a:r>
          </a:p>
        </p:txBody>
      </p:sp>
    </p:spTree>
    <p:extLst>
      <p:ext uri="{BB962C8B-B14F-4D97-AF65-F5344CB8AC3E}">
        <p14:creationId xmlns:p14="http://schemas.microsoft.com/office/powerpoint/2010/main" val="1917239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0A238-B72B-4C04-8D34-DF19F6A2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FCA3E-2873-4F9B-96D6-B7CB9C0C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AI 是控制器：理解与路由交给模型，稳定生成交给规则和代码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FE4DC-D813-41F6-B886-7B254B20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5FD0B-03EC-45FF-AD3D-B2C2F741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0FECC-DEE8-4825-9369-7BB33383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· 产品叙事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19680-3C3A-4D69-A33E-03B593E5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06 /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7F276-6969-4970-8BE8-1A170621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F26DC-4586-4787-964E-CD11E47E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145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内容导演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6A601-23B5-43D4-8736-3175671F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24150"/>
            <a:ext cx="2762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理解稿件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组织叙事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拆页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形成页面内容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A304F-0B81-4F8B-AC17-29079230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1B74A-3146-4B24-9EE4-560865C8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视觉导演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B77DA-3E8C-4A8C-8DB3-535AC057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24150"/>
            <a:ext cx="2762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判断表达方式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从已确认能力中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选择合适结构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必要时有限补充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EC36C-C56E-4F83-8BD7-DED95F6A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3679F-016A-47AC-B7AC-AAAA6364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145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确定性执行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B5BCF-E840-40F6-B441-50AE653C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24150"/>
            <a:ext cx="2762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主题约束规范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核心库提供能力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代码绘制与检查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编译原生可编辑 PPTX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94AA4-7D38-4E0D-81D7-42941D00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75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AI 负责理解和路由 · 规则负责约束和选择 · 代码负责稳定生成</a:t>
            </a:r>
          </a:p>
        </p:txBody>
      </p:sp>
    </p:spTree>
    <p:extLst>
      <p:ext uri="{BB962C8B-B14F-4D97-AF65-F5344CB8AC3E}">
        <p14:creationId xmlns:p14="http://schemas.microsoft.com/office/powerpoint/2010/main" val="2457985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963BB-B2F0-426C-9EB7-B2BFB011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B8522-6CA3-442A-A73B-E3144F53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建设视觉能力与使用视觉能力分成两条路线，核心库是唯一交汇点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92FB4-BEC0-4F06-8684-B2C788CD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05BD9-5758-4A83-9C48-49854A58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737E3-7B98-487D-AC54-5C5F067D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· 产品叙事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2291D-CB82-4A6C-B83E-C3EFF160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07 / 11</a:t>
            </a:r>
          </a:p>
        </p:txBody>
      </p:sp>
      <p:sp>
        <p:nvSpPr>
          <p:cNvPr id="7" name="优秀参考">
            <a:extLst xmlns:a="http://schemas.openxmlformats.org/drawingml/2006/main">
              <a:ext uri="{FF2B5EF4-FFF2-40B4-BE49-F238E27FC236}">
                <a16:creationId xmlns:a16="http://schemas.microsoft.com/office/drawing/2014/main" id="{56E336D2-308F-4102-B25D-CA98D000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190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提炼规律">
            <a:extLst xmlns:a="http://schemas.openxmlformats.org/drawingml/2006/main">
              <a:ext uri="{FF2B5EF4-FFF2-40B4-BE49-F238E27FC236}">
                <a16:creationId xmlns:a16="http://schemas.microsoft.com/office/drawing/2014/main" id="{780FF987-D4E1-42AD-82AA-0D667EC1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2190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适应数量">
            <a:extLst xmlns:a="http://schemas.openxmlformats.org/drawingml/2006/main">
              <a:ext uri="{FF2B5EF4-FFF2-40B4-BE49-F238E27FC236}">
                <a16:creationId xmlns:a16="http://schemas.microsoft.com/office/drawing/2014/main" id="{B5B0B7DD-CE55-4AC7-8DFF-3A184E5A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2190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核心资产库">
            <a:extLst xmlns:a="http://schemas.openxmlformats.org/drawingml/2006/main">
              <a:ext uri="{FF2B5EF4-FFF2-40B4-BE49-F238E27FC236}">
                <a16:creationId xmlns:a16="http://schemas.microsoft.com/office/drawing/2014/main" id="{5AA39CEF-CF99-4810-BD37-FDF09CE0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24050"/>
            <a:ext cx="23336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原始稿件">
            <a:extLst xmlns:a="http://schemas.openxmlformats.org/drawingml/2006/main">
              <a:ext uri="{FF2B5EF4-FFF2-40B4-BE49-F238E27FC236}">
                <a16:creationId xmlns:a16="http://schemas.microsoft.com/office/drawing/2014/main" id="{6C518422-36CE-4850-8C00-898D77A7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2190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理解与编排">
            <a:extLst xmlns:a="http://schemas.openxmlformats.org/drawingml/2006/main">
              <a:ext uri="{FF2B5EF4-FFF2-40B4-BE49-F238E27FC236}">
                <a16:creationId xmlns:a16="http://schemas.microsoft.com/office/drawing/2014/main" id="{CA596A52-50AC-4129-B92E-C7173242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48150"/>
            <a:ext cx="2190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选择合法能力">
            <a:extLst xmlns:a="http://schemas.openxmlformats.org/drawingml/2006/main">
              <a:ext uri="{FF2B5EF4-FFF2-40B4-BE49-F238E27FC236}">
                <a16:creationId xmlns:a16="http://schemas.microsoft.com/office/drawing/2014/main" id="{29EAC03E-840A-4A68-936B-12D2BE13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48150"/>
            <a:ext cx="2190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原生可编辑 PPTX">
            <a:extLst xmlns:a="http://schemas.openxmlformats.org/drawingml/2006/main">
              <a:ext uri="{FF2B5EF4-FFF2-40B4-BE49-F238E27FC236}">
                <a16:creationId xmlns:a16="http://schemas.microsoft.com/office/drawing/2014/main" id="{6C3996A0-4B47-4FC2-96FC-646A10CE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48150"/>
            <a:ext cx="233362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DCE8F4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48000" y="25527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572125" y="25527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096250" y="25527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048000" y="46101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572125" y="46101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096250" y="4610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10" idx="2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8096250" y="3181350"/>
            <a:ext cx="1643063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dash"/>
            <a:tailEnd type="arrow" w="sm" len="sm"/>
          </a:ln>
        </p:spPr>
      </p:cxnSp>
      <p:sp>
        <p:nvSpPr>
          <p:cNvPr id="22" name="node-label-1">
            <a:extLst xmlns:a="http://schemas.openxmlformats.org/drawingml/2006/main">
              <a:ext uri="{FF2B5EF4-FFF2-40B4-BE49-F238E27FC236}">
                <a16:creationId xmlns:a16="http://schemas.microsoft.com/office/drawing/2014/main" id="{7D8382AE-4F17-4EDE-85F0-206D927F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优秀参考</a:t>
            </a:r>
          </a:p>
        </p:txBody>
      </p:sp>
      <p:sp>
        <p:nvSpPr>
          <p:cNvPr id="23" name="node-label-2">
            <a:extLst xmlns:a="http://schemas.openxmlformats.org/drawingml/2006/main">
              <a:ext uri="{FF2B5EF4-FFF2-40B4-BE49-F238E27FC236}">
                <a16:creationId xmlns:a16="http://schemas.microsoft.com/office/drawing/2014/main" id="{B8689617-E76E-4DD1-9B1C-7B83C447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4003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提炼规律</a:t>
            </a:r>
          </a:p>
        </p:txBody>
      </p:sp>
      <p:sp>
        <p:nvSpPr>
          <p:cNvPr id="24" name="node-label-3">
            <a:extLst xmlns:a="http://schemas.openxmlformats.org/drawingml/2006/main">
              <a:ext uri="{FF2B5EF4-FFF2-40B4-BE49-F238E27FC236}">
                <a16:creationId xmlns:a16="http://schemas.microsoft.com/office/drawing/2014/main" id="{31A76EBB-6A41-46DA-9EA3-76471D37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003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适应数量</a:t>
            </a:r>
          </a:p>
        </p:txBody>
      </p:sp>
      <p:sp>
        <p:nvSpPr>
          <p:cNvPr id="25" name="node-label-4">
            <a:extLst xmlns:a="http://schemas.openxmlformats.org/drawingml/2006/main">
              <a:ext uri="{FF2B5EF4-FFF2-40B4-BE49-F238E27FC236}">
                <a16:creationId xmlns:a16="http://schemas.microsoft.com/office/drawing/2014/main" id="{B5D41D3E-17FD-4DF0-84CC-FBF65EAC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原始稿件</a:t>
            </a:r>
          </a:p>
        </p:txBody>
      </p:sp>
      <p:sp>
        <p:nvSpPr>
          <p:cNvPr id="26" name="node-label-5">
            <a:extLst xmlns:a="http://schemas.openxmlformats.org/drawingml/2006/main">
              <a:ext uri="{FF2B5EF4-FFF2-40B4-BE49-F238E27FC236}">
                <a16:creationId xmlns:a16="http://schemas.microsoft.com/office/drawing/2014/main" id="{273AE133-878B-46E2-8143-5A4AB5E6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577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理解与编排</a:t>
            </a:r>
          </a:p>
        </p:txBody>
      </p:sp>
      <p:sp>
        <p:nvSpPr>
          <p:cNvPr id="27" name="node-label-6">
            <a:extLst xmlns:a="http://schemas.openxmlformats.org/drawingml/2006/main">
              <a:ext uri="{FF2B5EF4-FFF2-40B4-BE49-F238E27FC236}">
                <a16:creationId xmlns:a16="http://schemas.microsoft.com/office/drawing/2014/main" id="{22467541-11C6-4800-9E3C-CB870677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577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选择合法能力</a:t>
            </a:r>
          </a:p>
        </p:txBody>
      </p:sp>
      <p:sp>
        <p:nvSpPr>
          <p:cNvPr id="28" name="node-label-7">
            <a:extLst xmlns:a="http://schemas.openxmlformats.org/drawingml/2006/main">
              <a:ext uri="{FF2B5EF4-FFF2-40B4-BE49-F238E27FC236}">
                <a16:creationId xmlns:a16="http://schemas.microsoft.com/office/drawing/2014/main" id="{FFA656B5-2C0C-480A-B673-77080259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57700"/>
            <a:ext cx="2181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原生可编辑 PPTX</a:t>
            </a:r>
          </a:p>
        </p:txBody>
      </p:sp>
      <p:sp>
        <p:nvSpPr>
          <p:cNvPr id="29" name="core-label-title">
            <a:extLst xmlns:a="http://schemas.openxmlformats.org/drawingml/2006/main">
              <a:ext uri="{FF2B5EF4-FFF2-40B4-BE49-F238E27FC236}">
                <a16:creationId xmlns:a16="http://schemas.microsoft.com/office/drawing/2014/main" id="{A83BBA5F-5138-499F-BCD6-CE0631C6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00250"/>
            <a:ext cx="2181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核心资产库</a:t>
            </a:r>
          </a:p>
        </p:txBody>
      </p:sp>
      <p:sp>
        <p:nvSpPr>
          <p:cNvPr id="30" name="core-label-desc">
            <a:extLst xmlns:a="http://schemas.openxmlformats.org/drawingml/2006/main">
              <a:ext uri="{FF2B5EF4-FFF2-40B4-BE49-F238E27FC236}">
                <a16:creationId xmlns:a16="http://schemas.microsoft.com/office/drawing/2014/main" id="{EF999CEE-CE16-46ED-8FE3-E0A028BD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05050"/>
            <a:ext cx="21812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用户确认后入库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只读调用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已验证能力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300CAC-2743-41FC-BA26-28AA7A4A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资产入库线：把经验变成能力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8DFCD6-EFE2-4479-8917-FAF7EFB1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正式生成线：把能力稳定地用出来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8F94E6-F051-4FB1-A9EE-3E1F50CC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若缺少 Logic 或 Structure Group，只说明缺口及对应页面；是否启动入库由用户决定。</a:t>
            </a:r>
          </a:p>
        </p:txBody>
      </p:sp>
    </p:spTree>
    <p:extLst>
      <p:ext uri="{BB962C8B-B14F-4D97-AF65-F5344CB8AC3E}">
        <p14:creationId xmlns:p14="http://schemas.microsoft.com/office/powerpoint/2010/main" val="12814562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5BA3C5-B7CC-46E1-8180-31CD181D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1027D-62C1-4594-B9F3-5C164252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把昂贵的视觉理解前移到建设期，运行期才能重复调用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6DD99-A83B-4905-BF17-5E9B01FC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593A7-7072-4CB8-8638-52F052D5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2CC42-EBB0-4A42-BCB1-9D0AE542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· 产品叙事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850E6-127D-4768-A06A-EDAC8580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08 /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A7D6B-7029-4737-B4EC-4D92EB7C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传统路线：每来一个用户，就重新理解、设计、绘制。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0AA4F-A81D-4D5A-9D15-4B8553AD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098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计算、审美判断和失败风险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全部集中在运行时。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B9884-7F77-4017-8CB5-8043CCAA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D19A4-D685-4103-B06B-87BB2FDC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PPagenT：建设一次，多次复用。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F8F7D-BB4F-4830-9B33-D4D6E4BC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10001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0A8BC-89E8-41A3-8943-50F54E0F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86000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筛选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6D5CD-177F-45E6-A973-DA9426B7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955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优秀页面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C5365-FBB6-4E3B-B7F3-1B087D66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00325"/>
            <a:ext cx="19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9946CD-2AAA-4E69-915D-7DB1CD78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10001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9D6B0-603B-4DD3-83FB-1898EBE6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F88F6-2896-45AB-B0E0-8B5D50AF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479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为什么好看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29801-0F60-4AD0-AA3A-1D75B6EB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52775"/>
            <a:ext cx="19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3533FD-09AE-4646-AD85-56353043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10001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DE02D-B383-4985-BE84-683A8F5E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参数化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02AF83-EEFB-44F9-9529-32E3FAD0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04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内容、图片、数量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D75DCA-5B14-49E8-B912-195F66A8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05225"/>
            <a:ext cx="19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65E003-D2EB-4703-B5F9-94080C55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24300"/>
            <a:ext cx="10001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4CBF8F-98C6-4949-BA2D-9BA32DF8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43350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53FC8D-414A-475B-975A-3C9C8587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不同状态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C212F1-B85B-41EB-9473-E714CD23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57675"/>
            <a:ext cx="19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989B85-109E-4BBF-B299-582EBF0B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10001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CA3BC0-9F50-45F5-8494-16AD49DE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95800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确认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D54BCD-89B0-4D72-8D42-A803F15B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053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进入正式资产库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756717-E71C-41FF-A085-393A6970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0"/>
            <a:ext cx="11144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176C63-BEB3-4C7F-A169-B88275C4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运行期：模型理解、分类、路由、填参；确定性代码绘制与检查。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C95AC0-9893-45A8-8D14-57F6E81B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视觉模型可用于建设期资产理解与审查，但不是每次交付的必要成本。</a:t>
            </a:r>
          </a:p>
        </p:txBody>
      </p:sp>
    </p:spTree>
    <p:extLst>
      <p:ext uri="{BB962C8B-B14F-4D97-AF65-F5344CB8AC3E}">
        <p14:creationId xmlns:p14="http://schemas.microsoft.com/office/powerpoint/2010/main" val="11907179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B41478-5DA9-45C1-91A3-9A030085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壁垒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2D676-E89A-4B0F-994F-6EE55C48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真正积累的是表达规律与失败边界，不是一万个静态模板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5B407-63E7-4830-880A-9121389B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9ABD0-75DF-4237-B4A3-79D293DD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EF89E-0DBF-41D5-ABB6-226C81CC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· 产品叙事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BEEF1-52F5-4159-8B87-5CEACFA6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09 /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05B4A-D342-495D-B9CE-8897B4A4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4476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3306B-57EF-4569-8889-63115CFD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静态模板会遇到变化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217A5-069E-48BA-BF61-AE37FFF0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714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原页面：3 个观点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新稿件：4 个观点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原页面：每项 10 个字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新内容：每项 60 个字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40AD0-6D95-4FB0-B137-189885DF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数量与长度变化，不能靠复制页面解决。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411B8-8D65-480A-A2C6-6C127585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714500"/>
            <a:ext cx="6000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65279-F91C-4816-833E-1B64FB0B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383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能力包保存的经验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C6ADB-F387-47E6-8993-EF607C43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4795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—  什么内容适合怎样表达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5667D-4105-4138-9879-D3E20C9A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0515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—  一个版式能处理多少内容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48D50-AE07-4A07-A8C9-D611E289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6235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—  数量变化时怎样重新排布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DB1BD-F799-4037-941F-2FEA69DD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1955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—  超过边界：换样式、拆页或简单排版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92B9F-75A7-4305-A6B6-5B789831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7675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—  哪些结构即使能画也不应该用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7032F6-6FC6-4ECC-BA7B-9D3A0B79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53075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壁垒 = 有效能力 + 可靠路由 + 容量与失败边界 + 稳定可编辑交付</a:t>
            </a:r>
          </a:p>
        </p:txBody>
      </p:sp>
    </p:spTree>
    <p:extLst>
      <p:ext uri="{BB962C8B-B14F-4D97-AF65-F5344CB8AC3E}">
        <p14:creationId xmlns:p14="http://schemas.microsoft.com/office/powerpoint/2010/main" val="2415029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3C035D-12D9-442E-B7E0-316EFAB0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826B6-8268-44A8-9CCF-F1692E67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东北大学是可检验的起点，主题替换让能力走向更多组织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6BB10-429C-4AB7-BA1B-7CDF0CBC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A406E-BF86-46A8-8D48-687D7550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3461B-B849-47A6-BF20-7A443D94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· 产品叙事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B2529-015A-4176-A9EE-E5411FD3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10 / 11</a:t>
            </a:r>
          </a:p>
        </p:txBody>
      </p:sp>
      <p:sp>
        <p:nvSpPr>
          <p:cNvPr id="7" name="东北大学">
            <a:extLst xmlns:a="http://schemas.openxmlformats.org/drawingml/2006/main">
              <a:ext uri="{FF2B5EF4-FFF2-40B4-BE49-F238E27FC236}">
                <a16:creationId xmlns:a16="http://schemas.microsoft.com/office/drawing/2014/main" id="{19D0D56E-3BFE-4E5B-803D-F14702C9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62200"/>
            <a:ext cx="2857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ilot-label-title">
            <a:extLst xmlns:a="http://schemas.openxmlformats.org/drawingml/2006/main">
              <a:ext uri="{FF2B5EF4-FFF2-40B4-BE49-F238E27FC236}">
                <a16:creationId xmlns:a16="http://schemas.microsoft.com/office/drawing/2014/main" id="{D62E4016-FF11-403E-A89E-6A807B86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东北大学</a:t>
            </a:r>
          </a:p>
        </p:txBody>
      </p:sp>
      <p:sp>
        <p:nvSpPr>
          <p:cNvPr id="9" name="pilot-label-desc">
            <a:extLst xmlns:a="http://schemas.openxmlformats.org/drawingml/2006/main">
              <a:ext uri="{FF2B5EF4-FFF2-40B4-BE49-F238E27FC236}">
                <a16:creationId xmlns:a16="http://schemas.microsoft.com/office/drawing/2014/main" id="{B5FA218C-8B31-4BB2-B250-031AB693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视觉规范明确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汇报需求持续、边界真实</a:t>
            </a:r>
          </a:p>
        </p:txBody>
      </p:sp>
      <p:sp>
        <p:nvSpPr>
          <p:cNvPr id="10" name="主题配置">
            <a:extLst xmlns:a="http://schemas.openxmlformats.org/drawingml/2006/main">
              <a:ext uri="{FF2B5EF4-FFF2-40B4-BE49-F238E27FC236}">
                <a16:creationId xmlns:a16="http://schemas.microsoft.com/office/drawing/2014/main" id="{64217430-D8F3-4202-8CEB-4D17DE58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09750"/>
            <a:ext cx="295275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heme-label-title">
            <a:extLst xmlns:a="http://schemas.openxmlformats.org/drawingml/2006/main">
              <a:ext uri="{FF2B5EF4-FFF2-40B4-BE49-F238E27FC236}">
                <a16:creationId xmlns:a16="http://schemas.microsoft.com/office/drawing/2014/main" id="{2A068883-41D7-4DA6-97BC-5AAB5FA2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193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主题配置可替换</a:t>
            </a:r>
          </a:p>
        </p:txBody>
      </p:sp>
      <p:sp>
        <p:nvSpPr>
          <p:cNvPr id="12" name="theme-label-desc">
            <a:extLst xmlns:a="http://schemas.openxmlformats.org/drawingml/2006/main">
              <a:ext uri="{FF2B5EF4-FFF2-40B4-BE49-F238E27FC236}">
                <a16:creationId xmlns:a16="http://schemas.microsoft.com/office/drawing/2014/main" id="{6532A034-0015-43DA-9973-4639E0C5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5745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颜色 · Logo · 字体 · 页眉页脚</a:t>
            </a:r>
          </a:p>
        </p:txBody>
      </p:sp>
      <p:sp>
        <p:nvSpPr>
          <p:cNvPr id="13" name="理解规则">
            <a:extLst xmlns:a="http://schemas.openxmlformats.org/drawingml/2006/main">
              <a:ext uri="{FF2B5EF4-FFF2-40B4-BE49-F238E27FC236}">
                <a16:creationId xmlns:a16="http://schemas.microsoft.com/office/drawing/2014/main" id="{54510022-26B9-442D-95E4-BAA1CC5B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67100"/>
            <a:ext cx="295275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ules-label-title">
            <a:extLst xmlns:a="http://schemas.openxmlformats.org/drawingml/2006/main">
              <a:ext uri="{FF2B5EF4-FFF2-40B4-BE49-F238E27FC236}">
                <a16:creationId xmlns:a16="http://schemas.microsoft.com/office/drawing/2014/main" id="{BB0A33B9-28BF-455B-A36F-8B3A595F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766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继续复用</a:t>
            </a:r>
          </a:p>
        </p:txBody>
      </p:sp>
      <p:sp>
        <p:nvSpPr>
          <p:cNvPr id="15" name="rules-label-desc">
            <a:extLst xmlns:a="http://schemas.openxmlformats.org/drawingml/2006/main">
              <a:ext uri="{FF2B5EF4-FFF2-40B4-BE49-F238E27FC236}">
                <a16:creationId xmlns:a16="http://schemas.microsoft.com/office/drawing/2014/main" id="{AD661B05-9C70-481A-B67C-91325E03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1480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内容理解规则与表达能力</a:t>
            </a:r>
          </a:p>
        </p:txBody>
      </p:sp>
      <p:sp>
        <p:nvSpPr>
          <p:cNvPr id="16" name="更多组织">
            <a:extLst xmlns:a="http://schemas.openxmlformats.org/drawingml/2006/main">
              <a:ext uri="{FF2B5EF4-FFF2-40B4-BE49-F238E27FC236}">
                <a16:creationId xmlns:a16="http://schemas.microsoft.com/office/drawing/2014/main" id="{10127CE2-C7D6-45EF-AFD8-19EDF7C1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28098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C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rgs-label-title">
            <a:extLst xmlns:a="http://schemas.openxmlformats.org/drawingml/2006/main">
              <a:ext uri="{FF2B5EF4-FFF2-40B4-BE49-F238E27FC236}">
                <a16:creationId xmlns:a16="http://schemas.microsoft.com/office/drawing/2014/main" id="{C0AB7050-B7C0-440E-9A56-5ABEE812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98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更多组织</a:t>
            </a:r>
          </a:p>
        </p:txBody>
      </p:sp>
      <p:sp>
        <p:nvSpPr>
          <p:cNvPr id="18" name="orgs-label-desc">
            <a:extLst xmlns:a="http://schemas.openxmlformats.org/drawingml/2006/main">
              <a:ext uri="{FF2B5EF4-FFF2-40B4-BE49-F238E27FC236}">
                <a16:creationId xmlns:a16="http://schemas.microsoft.com/office/drawing/2014/main" id="{877BF382-6CBC-4080-8799-5DA34710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242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学校 · 科研院所 · 实验室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企业 · 团队 · 个人风格</a:t>
            </a:r>
          </a:p>
        </p:txBody>
      </p: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381375" y="2400300"/>
            <a:ext cx="1304925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381375" y="3124200"/>
            <a:ext cx="130492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639050" y="2400300"/>
            <a:ext cx="121920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639050" y="3124200"/>
            <a:ext cx="121920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BF4EB8-1358-4759-9F77-F710139B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4350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把少数人头脑和电脑里的能力，转成更多人低成本获得的生产能力。</a:t>
            </a:r>
          </a:p>
        </p:txBody>
      </p:sp>
    </p:spTree>
    <p:extLst>
      <p:ext uri="{BB962C8B-B14F-4D97-AF65-F5344CB8AC3E}">
        <p14:creationId xmlns:p14="http://schemas.microsoft.com/office/powerpoint/2010/main" val="110301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15A757-9AF8-4F07-B3BA-C890878F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收束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5F711-0CDB-4CA1-86D8-0372FCF1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把已经验证的经验留下来，交付概率上高度可预测的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56558-7C24-44CE-884B-B0CA2F8F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E4045-EAB9-4732-8CAC-5F7F35C3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C57A2-BB08-4CB7-B8A3-BBF56916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· 产品叙事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CBF5F-BE36-44A0-94BE-1DBB8131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11 /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D9E66-91CE-4FCF-B9AB-B2C2D84B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让一个原本不太会做 PPT 的人，也能很快得到一套真正好用的 PPT。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337A2-5047-49D0-B0A0-3271A849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76550"/>
            <a:ext cx="3238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A2B9A-F566-432B-8D97-680C1638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289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15A66-FAEF-423D-99A5-E02EAE6F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290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帮我们读稿子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2331C-A234-4D7C-A528-2F63C653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290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理解与路由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105FE-2C2E-426E-B867-BC6BDAD3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76550"/>
            <a:ext cx="3238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E7352-6D0E-4619-AEAD-7C68D21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289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A0328-AD6F-4CFE-AFAB-A8E6084B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290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帮我们做判断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77C83-09F1-47A7-BFFE-A54F39E7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8290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DC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8F4"/>
                </a:solidFill>
                <a:latin typeface="Microsoft YaHei"/>
                <a:ea typeface="Microsoft YaHei"/>
                <a:cs typeface="Microsoft YaHei"/>
              </a:rPr>
              <a:t>约束与选择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BA720-9029-4D00-A10F-ABD1C55C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76550"/>
            <a:ext cx="3238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50DCA-36CE-4E81-BEFB-207891B6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0289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69FC7C-625A-475D-B47B-AB12EFB7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4290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完成重复劳动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2FBDDA-E047-452F-B0CC-19CD91A5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290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稳定生成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77CF66-4808-424B-ABB4-71D641B4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006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AAD7C3-0761-448F-9323-5D7642E5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96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不一定惊艳，但靠谱；不一定独一无二，但真的好用；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可以立刻拿去讲，也可以继续修改。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CAA49-BF71-4A8F-8BE0-FD2D63E6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53125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如果能持续做到，这个普通问题就能成为可靠的产品能力，也有机会形成一门真正的生意。</a:t>
            </a:r>
          </a:p>
        </p:txBody>
      </p:sp>
    </p:spTree>
    <p:extLst>
      <p:ext uri="{BB962C8B-B14F-4D97-AF65-F5344CB8AC3E}">
        <p14:creationId xmlns:p14="http://schemas.microsoft.com/office/powerpoint/2010/main" val="1928791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2026-09-06T05:18:29.7260000Z</dcterms:created>
  <dcterms:modified xsi:type="dcterms:W3CDTF">2026-09-06T05:18:29.7260000Z</dcterms:modified>
</coreProperties>
</file>