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6290854d8084431" /><Relationship Type="http://schemas.openxmlformats.org/officeDocument/2006/relationships/extended-properties" Target="/docProps/app.xml" Id="Ra7369b798f5640bd" /><Relationship Type="http://schemas.openxmlformats.org/officeDocument/2006/relationships/officeDocument" Target="/ppt/presentation.xml" Id="Rccb3ee74e5124d9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e766d5908db4033"/>
  </p:sldMasterIdLst>
  <p:notesMasterIdLst>
    <p:notesMasterId xmlns:r="http://schemas.openxmlformats.org/officeDocument/2006/relationships" r:id="R85c6459c672b448a"/>
  </p:notesMasterIdLst>
  <p:sldIdLst>
    <p:sldId xmlns:r="http://schemas.openxmlformats.org/officeDocument/2006/relationships" id="256" r:id="R89a4d73bc19a4350"/>
    <p:sldId xmlns:r="http://schemas.openxmlformats.org/officeDocument/2006/relationships" id="257" r:id="R9a8d66551bff46cd"/>
    <p:sldId xmlns:r="http://schemas.openxmlformats.org/officeDocument/2006/relationships" id="258" r:id="Rb12b3c785eb24ff6"/>
    <p:sldId xmlns:r="http://schemas.openxmlformats.org/officeDocument/2006/relationships" id="259" r:id="R3d52ef4a7c6b4418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917eea1c2f443df" /><Relationship Type="http://schemas.openxmlformats.org/officeDocument/2006/relationships/slideMaster" Target="/ppt/slideMasters/slideMaster1.xml" Id="Rce766d5908db4033" /><Relationship Type="http://schemas.openxmlformats.org/officeDocument/2006/relationships/notesMaster" Target="/ppt/notesMasters/notesMaster1.xml" Id="R85c6459c672b448a" /><Relationship Type="http://schemas.openxmlformats.org/officeDocument/2006/relationships/presProps" Target="/ppt/presProps.xml" Id="R80816b321bf04726" /><Relationship Type="http://schemas.openxmlformats.org/officeDocument/2006/relationships/tableStyles" Target="/ppt/tableStyles.xml" Id="Rfdb7bce568d54db6" /><Relationship Type="http://schemas.openxmlformats.org/officeDocument/2006/relationships/slide" Target="/ppt/slides/slide1.xml" Id="R89a4d73bc19a4350" /><Relationship Type="http://schemas.openxmlformats.org/officeDocument/2006/relationships/slide" Target="/ppt/slides/slide2.xml" Id="R9a8d66551bff46cd" /><Relationship Type="http://schemas.openxmlformats.org/officeDocument/2006/relationships/slide" Target="/ppt/slides/slide3.xml" Id="Rb12b3c785eb24ff6" /><Relationship Type="http://schemas.openxmlformats.org/officeDocument/2006/relationships/slide" Target="/ppt/slides/slide4.xml" Id="R3d52ef4a7c6b441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db3d5d364294c8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8e3c0d146d7473d" /><Relationship Type="http://schemas.openxmlformats.org/officeDocument/2006/relationships/notesMaster" Target="/ppt/notesMasters/notesMaster1.xml" Id="R0016f337ae30499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c8a95b6d680413f" /><Relationship Type="http://schemas.openxmlformats.org/officeDocument/2006/relationships/notesMaster" Target="/ppt/notesMasters/notesMaster1.xml" Id="Ra5709636f8b74c6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a1671675934401e" /><Relationship Type="http://schemas.openxmlformats.org/officeDocument/2006/relationships/notesMaster" Target="/ppt/notesMasters/notesMaster1.xml" Id="R3c0a0ba4490a4bd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0ad181ca24346f1" /><Relationship Type="http://schemas.openxmlformats.org/officeDocument/2006/relationships/notesMaster" Target="/ppt/notesMasters/notesMaster1.xml" Id="R0a895e6b0f8641a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 source: inputs/composition-v2/study.txt (paragraph 1)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 source: inputs/composition-v2/study.txt (paragraph 2)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 source: inputs/composition-v2/study.txt (paragraph 3)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 source: inputs/composition-v2/study.txt (paragraph 4)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c51ea06dd42490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910819cf5f64a8f" /><Relationship Type="http://schemas.openxmlformats.org/officeDocument/2006/relationships/slideLayout" Target="/ppt/slideLayouts/slideLayout1.xml" Id="Re345b5344f664f3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345b5344f664f3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ce5b45d852f4fc6" /><Relationship Type="http://schemas.openxmlformats.org/officeDocument/2006/relationships/notesSlide" Target="/ppt/notesSlides/notesSlide1.xml" Id="R31e93ea98e6245d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52803d9e2a645c7" /><Relationship Type="http://schemas.openxmlformats.org/officeDocument/2006/relationships/notesSlide" Target="/ppt/notesSlides/notesSlide2.xml" Id="R3426f21d1d17494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863690156254d35" /><Relationship Type="http://schemas.openxmlformats.org/officeDocument/2006/relationships/notesSlide" Target="/ppt/notesSlides/notesSlide3.xml" Id="Rcc0b09f9184848a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f90b94dcae84f4f" /><Relationship Type="http://schemas.openxmlformats.org/officeDocument/2006/relationships/notesSlide" Target="/ppt/notesSlides/notesSlide4.xml" Id="R5fd8a0b39e4442c2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p1-title">
            <a:extLst xmlns:a="http://schemas.openxmlformats.org/drawingml/2006/main">
              <a:ext uri="{FF2B5EF4-FFF2-40B4-BE49-F238E27FC236}">
                <a16:creationId xmlns:a16="http://schemas.microsoft.com/office/drawing/2014/main" id="{98B899FA-B8AE-4C67-913D-8D3CC7C3C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19125"/>
            <a:ext cx="11144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225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一个结果，需要共同可追溯的记录单元</a:t>
            </a:r>
          </a:p>
        </p:txBody>
      </p:sp>
      <p:sp>
        <p:nvSpPr>
          <p:cNvPr id="2" name="p1-header-rule">
            <a:extLst xmlns:a="http://schemas.openxmlformats.org/drawingml/2006/main">
              <a:ext uri="{FF2B5EF4-FFF2-40B4-BE49-F238E27FC236}">
                <a16:creationId xmlns:a16="http://schemas.microsoft.com/office/drawing/2014/main" id="{FC0F42A2-EF2A-41EC-B282-8D2C52C42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200150"/>
            <a:ext cx="11144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C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p1-footer-left">
            <a:extLst xmlns:a="http://schemas.openxmlformats.org/drawingml/2006/main">
              <a:ext uri="{FF2B5EF4-FFF2-40B4-BE49-F238E27FC236}">
                <a16:creationId xmlns:a16="http://schemas.microsoft.com/office/drawing/2014/main" id="{FD4405AD-70FF-4FDE-8A5B-C23C16F45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553200"/>
            <a:ext cx="4762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90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rPr>
              <a:t>UNIVERSITY BLUE PILOT  /  分析记录试点</a:t>
            </a:r>
          </a:p>
        </p:txBody>
      </p:sp>
      <p:sp>
        <p:nvSpPr>
          <p:cNvPr id="4" name="p1-footer-right">
            <a:extLst xmlns:a="http://schemas.openxmlformats.org/drawingml/2006/main">
              <a:ext uri="{FF2B5EF4-FFF2-40B4-BE49-F238E27FC236}">
                <a16:creationId xmlns:a16="http://schemas.microsoft.com/office/drawing/2014/main" id="{893B66E6-3AD7-428E-B2F7-E63D77C6B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53200"/>
            <a:ext cx="100012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20000"/>
              </a:lnSpc>
              <a:buNone/>
              <a:defRPr sz="90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rPr>
              <a:t>01  /  04</a:t>
            </a:r>
          </a:p>
        </p:txBody>
      </p:sp>
      <p:sp>
        <p:nvSpPr>
          <p:cNvPr id="5" name="p1-table-header">
            <a:extLst xmlns:a="http://schemas.openxmlformats.org/drawingml/2006/main">
              <a:ext uri="{FF2B5EF4-FFF2-40B4-BE49-F238E27FC236}">
                <a16:creationId xmlns:a16="http://schemas.microsoft.com/office/drawing/2014/main" id="{E93C8C05-FEE0-42FC-B4A4-0CA9F12B7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524000"/>
            <a:ext cx="75247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4A7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p1-table-header-a">
            <a:extLst xmlns:a="http://schemas.openxmlformats.org/drawingml/2006/main">
              <a:ext uri="{FF2B5EF4-FFF2-40B4-BE49-F238E27FC236}">
                <a16:creationId xmlns:a16="http://schemas.microsoft.com/office/drawing/2014/main" id="{63711B3B-94B9-4596-A576-9E7C0ACE5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165735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记录单元</a:t>
            </a:r>
          </a:p>
        </p:txBody>
      </p:sp>
      <p:sp>
        <p:nvSpPr>
          <p:cNvPr id="7" name="p1-table-header-b">
            <a:extLst xmlns:a="http://schemas.openxmlformats.org/drawingml/2006/main">
              <a:ext uri="{FF2B5EF4-FFF2-40B4-BE49-F238E27FC236}">
                <a16:creationId xmlns:a16="http://schemas.microsoft.com/office/drawing/2014/main" id="{5367908D-5D9E-42E5-BD6D-3FB53F754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16573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共同解释这个结果</a:t>
            </a:r>
          </a:p>
        </p:txBody>
      </p:sp>
      <p:sp>
        <p:nvSpPr>
          <p:cNvPr id="8" name="p1-row-0-label">
            <a:extLst xmlns:a="http://schemas.openxmlformats.org/drawingml/2006/main">
              <a:ext uri="{FF2B5EF4-FFF2-40B4-BE49-F238E27FC236}">
                <a16:creationId xmlns:a16="http://schemas.microsoft.com/office/drawing/2014/main" id="{C4AB0C91-7A49-431D-B75B-B2F6F1327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217170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5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原始数据位置</a:t>
            </a:r>
          </a:p>
        </p:txBody>
      </p:sp>
      <p:sp>
        <p:nvSpPr>
          <p:cNvPr id="9" name="p1-row-0-body">
            <a:extLst xmlns:a="http://schemas.openxmlformats.org/drawingml/2006/main">
              <a:ext uri="{FF2B5EF4-FFF2-40B4-BE49-F238E27FC236}">
                <a16:creationId xmlns:a16="http://schemas.microsoft.com/office/drawing/2014/main" id="{43CB0E59-B151-492D-A598-F07543686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2171700"/>
            <a:ext cx="476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35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知道结果从哪里产生。</a:t>
            </a:r>
          </a:p>
        </p:txBody>
      </p:sp>
      <p:sp>
        <p:nvSpPr>
          <p:cNvPr id="10" name="p1-row-0-rule">
            <a:extLst xmlns:a="http://schemas.openxmlformats.org/drawingml/2006/main">
              <a:ext uri="{FF2B5EF4-FFF2-40B4-BE49-F238E27FC236}">
                <a16:creationId xmlns:a16="http://schemas.microsoft.com/office/drawing/2014/main" id="{B3571024-9E3C-413A-86E7-2AFE5472B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2647950"/>
            <a:ext cx="7219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C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p1-row-1-label">
            <a:extLst xmlns:a="http://schemas.openxmlformats.org/drawingml/2006/main">
              <a:ext uri="{FF2B5EF4-FFF2-40B4-BE49-F238E27FC236}">
                <a16:creationId xmlns:a16="http://schemas.microsoft.com/office/drawing/2014/main" id="{962DAC4F-9F91-4DE5-996C-67A5C4345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2828925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5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样本与采集条件</a:t>
            </a:r>
          </a:p>
        </p:txBody>
      </p:sp>
      <p:sp>
        <p:nvSpPr>
          <p:cNvPr id="12" name="p1-row-1-body">
            <a:extLst xmlns:a="http://schemas.openxmlformats.org/drawingml/2006/main">
              <a:ext uri="{FF2B5EF4-FFF2-40B4-BE49-F238E27FC236}">
                <a16:creationId xmlns:a16="http://schemas.microsoft.com/office/drawing/2014/main" id="{0034EB18-5FF7-4BDE-9F5C-B48153948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2828925"/>
            <a:ext cx="476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35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把结果放回它的采集边界。</a:t>
            </a:r>
          </a:p>
        </p:txBody>
      </p:sp>
      <p:sp>
        <p:nvSpPr>
          <p:cNvPr id="13" name="p1-row-1-rule">
            <a:extLst xmlns:a="http://schemas.openxmlformats.org/drawingml/2006/main">
              <a:ext uri="{FF2B5EF4-FFF2-40B4-BE49-F238E27FC236}">
                <a16:creationId xmlns:a16="http://schemas.microsoft.com/office/drawing/2014/main" id="{C32E703C-2945-47EA-9382-1B08D51D0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3305175"/>
            <a:ext cx="7219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C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p1-row-2-label">
            <a:extLst xmlns:a="http://schemas.openxmlformats.org/drawingml/2006/main">
              <a:ext uri="{FF2B5EF4-FFF2-40B4-BE49-F238E27FC236}">
                <a16:creationId xmlns:a16="http://schemas.microsoft.com/office/drawing/2014/main" id="{6288B720-3F57-4DEB-82C1-9C4A53538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34861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5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处理脚本版本</a:t>
            </a:r>
          </a:p>
        </p:txBody>
      </p:sp>
      <p:sp>
        <p:nvSpPr>
          <p:cNvPr id="15" name="p1-row-2-body">
            <a:extLst xmlns:a="http://schemas.openxmlformats.org/drawingml/2006/main">
              <a:ext uri="{FF2B5EF4-FFF2-40B4-BE49-F238E27FC236}">
                <a16:creationId xmlns:a16="http://schemas.microsoft.com/office/drawing/2014/main" id="{CDBA1C8F-3206-4B8B-A4B8-7C5A50963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3486150"/>
            <a:ext cx="476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35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定位实际运行代码；清洗处理另存。</a:t>
            </a:r>
          </a:p>
        </p:txBody>
      </p:sp>
      <p:sp>
        <p:nvSpPr>
          <p:cNvPr id="16" name="p1-row-2-rule">
            <a:extLst xmlns:a="http://schemas.openxmlformats.org/drawingml/2006/main">
              <a:ext uri="{FF2B5EF4-FFF2-40B4-BE49-F238E27FC236}">
                <a16:creationId xmlns:a16="http://schemas.microsoft.com/office/drawing/2014/main" id="{36320832-9E4F-4822-8C99-94D2F6104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3962400"/>
            <a:ext cx="7219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C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p1-row-3-label">
            <a:extLst xmlns:a="http://schemas.openxmlformats.org/drawingml/2006/main">
              <a:ext uri="{FF2B5EF4-FFF2-40B4-BE49-F238E27FC236}">
                <a16:creationId xmlns:a16="http://schemas.microsoft.com/office/drawing/2014/main" id="{6AAB8E47-AC24-4164-BBC0-81BB7875E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4143375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5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结果文件</a:t>
            </a:r>
          </a:p>
        </p:txBody>
      </p:sp>
      <p:sp>
        <p:nvSpPr>
          <p:cNvPr id="18" name="p1-row-3-body">
            <a:extLst xmlns:a="http://schemas.openxmlformats.org/drawingml/2006/main">
              <a:ext uri="{FF2B5EF4-FFF2-40B4-BE49-F238E27FC236}">
                <a16:creationId xmlns:a16="http://schemas.microsoft.com/office/drawing/2014/main" id="{7E33147A-FAB0-4BF7-8C6A-EFECB77B4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4143375"/>
            <a:ext cx="476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35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保留结果本体，便于讨论。</a:t>
            </a:r>
          </a:p>
        </p:txBody>
      </p:sp>
      <p:sp>
        <p:nvSpPr>
          <p:cNvPr id="19" name="p1-row-3-rule">
            <a:extLst xmlns:a="http://schemas.openxmlformats.org/drawingml/2006/main">
              <a:ext uri="{FF2B5EF4-FFF2-40B4-BE49-F238E27FC236}">
                <a16:creationId xmlns:a16="http://schemas.microsoft.com/office/drawing/2014/main" id="{A24EB485-4B6A-4825-BD13-4C2D75BD9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4619625"/>
            <a:ext cx="7219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C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p1-row-4-wash">
            <a:extLst xmlns:a="http://schemas.openxmlformats.org/drawingml/2006/main">
              <a:ext uri="{FF2B5EF4-FFF2-40B4-BE49-F238E27FC236}">
                <a16:creationId xmlns:a16="http://schemas.microsoft.com/office/drawing/2014/main" id="{096E06BC-3BEE-4E8A-9DB7-E2D95C616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629150"/>
            <a:ext cx="7524750" cy="657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p1-row-4-label">
            <a:extLst xmlns:a="http://schemas.openxmlformats.org/drawingml/2006/main">
              <a:ext uri="{FF2B5EF4-FFF2-40B4-BE49-F238E27FC236}">
                <a16:creationId xmlns:a16="http://schemas.microsoft.com/office/drawing/2014/main" id="{18D91AD7-49ED-4996-BAB3-A442A913E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480060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5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异常及排除说明</a:t>
            </a:r>
          </a:p>
        </p:txBody>
      </p:sp>
      <p:sp>
        <p:nvSpPr>
          <p:cNvPr id="22" name="p1-row-4-body">
            <a:extLst xmlns:a="http://schemas.openxmlformats.org/drawingml/2006/main">
              <a:ext uri="{FF2B5EF4-FFF2-40B4-BE49-F238E27FC236}">
                <a16:creationId xmlns:a16="http://schemas.microsoft.com/office/drawing/2014/main" id="{6D19CFC9-346F-49EB-9381-A00992C97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4800600"/>
            <a:ext cx="476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35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说明异常；保留未纳入样本的排除依据。</a:t>
            </a:r>
          </a:p>
        </p:txBody>
      </p:sp>
      <p:sp>
        <p:nvSpPr>
          <p:cNvPr id="23" name="p1-table-note">
            <a:extLst xmlns:a="http://schemas.openxmlformats.org/drawingml/2006/main">
              <a:ext uri="{FF2B5EF4-FFF2-40B4-BE49-F238E27FC236}">
                <a16:creationId xmlns:a16="http://schemas.microsoft.com/office/drawing/2014/main" id="{A175E3A3-51C2-4BCD-9537-C497F5A3C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5524500"/>
            <a:ext cx="685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20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rPr>
              <a:t>五项共同解释一个结果，不是五个先后步骤。</a:t>
            </a:r>
          </a:p>
        </p:txBody>
      </p:sp>
      <p:sp>
        <p:nvSpPr>
          <p:cNvPr id="24" name="p1-access-surface">
            <a:extLst xmlns:a="http://schemas.openxmlformats.org/drawingml/2006/main">
              <a:ext uri="{FF2B5EF4-FFF2-40B4-BE49-F238E27FC236}">
                <a16:creationId xmlns:a16="http://schemas.microsoft.com/office/drawing/2014/main" id="{3A0DEB61-A34F-4E3F-A414-B6F335CF1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1524000"/>
            <a:ext cx="3190875" cy="436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p1-access-accent">
            <a:extLst xmlns:a="http://schemas.openxmlformats.org/drawingml/2006/main">
              <a:ext uri="{FF2B5EF4-FFF2-40B4-BE49-F238E27FC236}">
                <a16:creationId xmlns:a16="http://schemas.microsoft.com/office/drawing/2014/main" id="{FE57A8F5-DE48-47FC-9E3E-A3CC4052C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1524000"/>
            <a:ext cx="57150" cy="436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F9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p1-access-title">
            <a:extLst xmlns:a="http://schemas.openxmlformats.org/drawingml/2006/main">
              <a:ext uri="{FF2B5EF4-FFF2-40B4-BE49-F238E27FC236}">
                <a16:creationId xmlns:a16="http://schemas.microsoft.com/office/drawing/2014/main" id="{21019722-A499-42A8-A071-7BBE6F968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1752600"/>
            <a:ext cx="27336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575" b="1">
                <a:solidFill>
                  <a:srgbClr val="244A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244A73"/>
                </a:solidFill>
                <a:latin typeface="Microsoft YaHei"/>
                <a:ea typeface="Microsoft YaHei"/>
                <a:cs typeface="Microsoft YaHei"/>
              </a:rPr>
              <a:t>访问授权边界</a:t>
            </a:r>
          </a:p>
        </p:txBody>
      </p:sp>
      <p:sp>
        <p:nvSpPr>
          <p:cNvPr id="27" name="p1-access-body">
            <a:extLst xmlns:a="http://schemas.openxmlformats.org/drawingml/2006/main">
              <a:ext uri="{FF2B5EF4-FFF2-40B4-BE49-F238E27FC236}">
                <a16:creationId xmlns:a16="http://schemas.microsoft.com/office/drawing/2014/main" id="{ACAB0D22-29CB-4F7B-AD52-97C546474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2305050"/>
            <a:ext cx="2733675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35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记录完整 ≠ 全部开放</a:t>
            </a:r>
          </a:p>
          <a:p xmlns:a="http://schemas.openxmlformats.org/drawingml/2006/main">
            <a:pPr algn="l">
              <a:lnSpc>
                <a:spcPct val="120000"/>
              </a:lnSpc>
              <a:buNone/>
              <a:defRPr sz="135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讨论材料含结果图与可公开解释</a:t>
            </a:r>
          </a:p>
          <a:p xmlns:a="http://schemas.openxmlformats.org/drawingml/2006/main">
            <a:pPr algn="l">
              <a:lnSpc>
                <a:spcPct val="120000"/>
              </a:lnSpc>
              <a:buNone/>
              <a:defRPr sz="135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受限数据留在原授权位置</a:t>
            </a:r>
          </a:p>
          <a:p xmlns:a="http://schemas.openxmlformats.org/drawingml/2006/main">
            <a:pPr algn="l">
              <a:lnSpc>
                <a:spcPct val="120000"/>
              </a:lnSpc>
              <a:buNone/>
              <a:defRPr sz="135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记录只含受控引用与访问条件</a:t>
            </a:r>
          </a:p>
          <a:p xmlns:a="http://schemas.openxmlformats.org/drawingml/2006/main">
            <a:pPr algn="l">
              <a:lnSpc>
                <a:spcPct val="120000"/>
              </a:lnSpc>
              <a:buNone/>
              <a:defRPr sz="135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路径不代表访问权</a:t>
            </a:r>
          </a:p>
        </p:txBody>
      </p:sp>
    </p:spTree>
    <p:extLst>
      <p:ext uri="{BB962C8B-B14F-4D97-AF65-F5344CB8AC3E}">
        <p14:creationId xmlns:p14="http://schemas.microsoft.com/office/powerpoint/2010/main" val="89455297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p2-title">
            <a:extLst xmlns:a="http://schemas.openxmlformats.org/drawingml/2006/main">
              <a:ext uri="{FF2B5EF4-FFF2-40B4-BE49-F238E27FC236}">
                <a16:creationId xmlns:a16="http://schemas.microsoft.com/office/drawing/2014/main" id="{6AA4A89D-240F-4A10-9945-FA99C52FC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19125"/>
            <a:ext cx="11144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225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新增先记，历史按需补：这是范围选择</a:t>
            </a:r>
          </a:p>
        </p:txBody>
      </p:sp>
      <p:sp>
        <p:nvSpPr>
          <p:cNvPr id="2" name="p2-header-rule">
            <a:extLst xmlns:a="http://schemas.openxmlformats.org/drawingml/2006/main">
              <a:ext uri="{FF2B5EF4-FFF2-40B4-BE49-F238E27FC236}">
                <a16:creationId xmlns:a16="http://schemas.microsoft.com/office/drawing/2014/main" id="{1A1964F7-AFD7-429E-9DAD-5E4FD2534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200150"/>
            <a:ext cx="11144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C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p2-footer-left">
            <a:extLst xmlns:a="http://schemas.openxmlformats.org/drawingml/2006/main">
              <a:ext uri="{FF2B5EF4-FFF2-40B4-BE49-F238E27FC236}">
                <a16:creationId xmlns:a16="http://schemas.microsoft.com/office/drawing/2014/main" id="{243412DE-38D5-472A-8628-B633E377A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553200"/>
            <a:ext cx="4762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90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rPr>
              <a:t>UNIVERSITY BLUE PILOT  /  分析记录试点</a:t>
            </a:r>
          </a:p>
        </p:txBody>
      </p:sp>
      <p:sp>
        <p:nvSpPr>
          <p:cNvPr id="4" name="p2-footer-right">
            <a:extLst xmlns:a="http://schemas.openxmlformats.org/drawingml/2006/main">
              <a:ext uri="{FF2B5EF4-FFF2-40B4-BE49-F238E27FC236}">
                <a16:creationId xmlns:a16="http://schemas.microsoft.com/office/drawing/2014/main" id="{BBED9413-A5F1-492B-B94E-8B5BC872B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53200"/>
            <a:ext cx="100012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20000"/>
              </a:lnSpc>
              <a:buNone/>
              <a:defRPr sz="90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rPr>
              <a:t>02  /  04</a:t>
            </a:r>
          </a:p>
        </p:txBody>
      </p:sp>
      <p:sp>
        <p:nvSpPr>
          <p:cNvPr id="5" name="p2-table-header">
            <a:extLst xmlns:a="http://schemas.openxmlformats.org/drawingml/2006/main">
              <a:ext uri="{FF2B5EF4-FFF2-40B4-BE49-F238E27FC236}">
                <a16:creationId xmlns:a16="http://schemas.microsoft.com/office/drawing/2014/main" id="{CC774D80-97C6-4CE4-924C-E53A757F7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524000"/>
            <a:ext cx="11144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p2-dimension-head">
            <a:extLst xmlns:a="http://schemas.openxmlformats.org/drawingml/2006/main">
              <a:ext uri="{FF2B5EF4-FFF2-40B4-BE49-F238E27FC236}">
                <a16:creationId xmlns:a16="http://schemas.microsoft.com/office/drawing/2014/main" id="{50510676-671B-47C7-890B-E27C547D7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1685925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575" b="1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rPr>
              <a:t>比较维度</a:t>
            </a:r>
          </a:p>
        </p:txBody>
      </p:sp>
      <p:sp>
        <p:nvSpPr>
          <p:cNvPr id="7" name="p2-history-head">
            <a:extLst xmlns:a="http://schemas.openxmlformats.org/drawingml/2006/main">
              <a:ext uri="{FF2B5EF4-FFF2-40B4-BE49-F238E27FC236}">
                <a16:creationId xmlns:a16="http://schemas.microsoft.com/office/drawing/2014/main" id="{CF428924-048B-4955-B01D-8BED2AD3C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1685925"/>
            <a:ext cx="3905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575" b="1">
                <a:solidFill>
                  <a:srgbClr val="6C7C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6C7C8C"/>
                </a:solidFill>
                <a:latin typeface="Microsoft YaHei"/>
                <a:ea typeface="Microsoft YaHei"/>
                <a:cs typeface="Microsoft YaHei"/>
              </a:rPr>
              <a:t>集中补历史</a:t>
            </a:r>
          </a:p>
        </p:txBody>
      </p:sp>
      <p:sp>
        <p:nvSpPr>
          <p:cNvPr id="8" name="p2-new-head">
            <a:extLst xmlns:a="http://schemas.openxmlformats.org/drawingml/2006/main">
              <a:ext uri="{FF2B5EF4-FFF2-40B4-BE49-F238E27FC236}">
                <a16:creationId xmlns:a16="http://schemas.microsoft.com/office/drawing/2014/main" id="{C6F47A96-127B-4EE2-972D-CBAE32A9E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1685925"/>
            <a:ext cx="3905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5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先记录新增</a:t>
            </a:r>
          </a:p>
        </p:txBody>
      </p:sp>
      <p:sp>
        <p:nvSpPr>
          <p:cNvPr id="9" name="p2-recommend-accent">
            <a:extLst xmlns:a="http://schemas.openxmlformats.org/drawingml/2006/main">
              <a:ext uri="{FF2B5EF4-FFF2-40B4-BE49-F238E27FC236}">
                <a16:creationId xmlns:a16="http://schemas.microsoft.com/office/drawing/2014/main" id="{A2394B26-69D1-46A1-B830-F6E719810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1524000"/>
            <a:ext cx="476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F9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p2-row-0-label">
            <a:extLst xmlns:a="http://schemas.openxmlformats.org/drawingml/2006/main">
              <a:ext uri="{FF2B5EF4-FFF2-40B4-BE49-F238E27FC236}">
                <a16:creationId xmlns:a16="http://schemas.microsoft.com/office/drawing/2014/main" id="{5BC1C6D6-B29A-410A-8ABA-4D7F4BC23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230505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5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短期收获</a:t>
            </a:r>
          </a:p>
        </p:txBody>
      </p:sp>
      <p:sp>
        <p:nvSpPr>
          <p:cNvPr id="11" name="p2-row-0-left">
            <a:extLst xmlns:a="http://schemas.openxmlformats.org/drawingml/2006/main">
              <a:ext uri="{FF2B5EF4-FFF2-40B4-BE49-F238E27FC236}">
                <a16:creationId xmlns:a16="http://schemas.microsoft.com/office/drawing/2014/main" id="{C1FB7188-5500-47AD-B4FE-3E75DC6F2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2276475"/>
            <a:ext cx="3905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35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一次形成较大目录。</a:t>
            </a:r>
          </a:p>
        </p:txBody>
      </p:sp>
      <p:sp>
        <p:nvSpPr>
          <p:cNvPr id="12" name="p2-row-0-right">
            <a:extLst xmlns:a="http://schemas.openxmlformats.org/drawingml/2006/main">
              <a:ext uri="{FF2B5EF4-FFF2-40B4-BE49-F238E27FC236}">
                <a16:creationId xmlns:a16="http://schemas.microsoft.com/office/drawing/2014/main" id="{2E570BFC-73FD-46C8-B0D0-D78251121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2276475"/>
            <a:ext cx="3905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35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上下文清楚时即可记录。</a:t>
            </a:r>
          </a:p>
        </p:txBody>
      </p:sp>
      <p:sp>
        <p:nvSpPr>
          <p:cNvPr id="13" name="p2-row-0-rule">
            <a:extLst xmlns:a="http://schemas.openxmlformats.org/drawingml/2006/main">
              <a:ext uri="{FF2B5EF4-FFF2-40B4-BE49-F238E27FC236}">
                <a16:creationId xmlns:a16="http://schemas.microsoft.com/office/drawing/2014/main" id="{420C6EE3-D591-4939-920E-3C7B9DF3B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3038475"/>
            <a:ext cx="10782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C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p2-row-1-wash">
            <a:extLst xmlns:a="http://schemas.openxmlformats.org/drawingml/2006/main">
              <a:ext uri="{FF2B5EF4-FFF2-40B4-BE49-F238E27FC236}">
                <a16:creationId xmlns:a16="http://schemas.microsoft.com/office/drawing/2014/main" id="{63FDCACA-2895-49FE-BEE7-CFD7985D5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048000"/>
            <a:ext cx="1114425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8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p2-row-1-label">
            <a:extLst xmlns:a="http://schemas.openxmlformats.org/drawingml/2006/main">
              <a:ext uri="{FF2B5EF4-FFF2-40B4-BE49-F238E27FC236}">
                <a16:creationId xmlns:a16="http://schemas.microsoft.com/office/drawing/2014/main" id="{A05AA826-2C41-429E-B758-FA252AD67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327660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5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追溯代价</a:t>
            </a:r>
          </a:p>
        </p:txBody>
      </p:sp>
      <p:sp>
        <p:nvSpPr>
          <p:cNvPr id="16" name="p2-row-1-left">
            <a:extLst xmlns:a="http://schemas.openxmlformats.org/drawingml/2006/main">
              <a:ext uri="{FF2B5EF4-FFF2-40B4-BE49-F238E27FC236}">
                <a16:creationId xmlns:a16="http://schemas.microsoft.com/office/drawing/2014/main" id="{9966AC95-2319-49E5-944E-B1E59103F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3248025"/>
            <a:ext cx="3905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35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追查遗失上下文耗时；不确定记忆可能被写成确定说明。</a:t>
            </a:r>
          </a:p>
        </p:txBody>
      </p:sp>
      <p:sp>
        <p:nvSpPr>
          <p:cNvPr id="17" name="p2-row-1-right">
            <a:extLst xmlns:a="http://schemas.openxmlformats.org/drawingml/2006/main">
              <a:ext uri="{FF2B5EF4-FFF2-40B4-BE49-F238E27FC236}">
                <a16:creationId xmlns:a16="http://schemas.microsoft.com/office/drawing/2014/main" id="{4F8E07B0-8F00-4C87-8FAB-655F1A962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3248025"/>
            <a:ext cx="3905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35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短期无法解决全部历史材料追溯。</a:t>
            </a:r>
          </a:p>
        </p:txBody>
      </p:sp>
      <p:sp>
        <p:nvSpPr>
          <p:cNvPr id="18" name="p2-mid-rule">
            <a:extLst xmlns:a="http://schemas.openxmlformats.org/drawingml/2006/main">
              <a:ext uri="{FF2B5EF4-FFF2-40B4-BE49-F238E27FC236}">
                <a16:creationId xmlns:a16="http://schemas.microsoft.com/office/drawing/2014/main" id="{417001DE-0F34-4EEF-9CEC-A10040E00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38938" y="1638300"/>
            <a:ext cx="9525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C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p2-recommend-surface">
            <a:extLst xmlns:a="http://schemas.openxmlformats.org/drawingml/2006/main">
              <a:ext uri="{FF2B5EF4-FFF2-40B4-BE49-F238E27FC236}">
                <a16:creationId xmlns:a16="http://schemas.microsoft.com/office/drawing/2014/main" id="{F685DA91-B2EF-4A85-A741-D00A69DCA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286250"/>
            <a:ext cx="1114425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p2-recommend-label">
            <a:extLst xmlns:a="http://schemas.openxmlformats.org/drawingml/2006/main">
              <a:ext uri="{FF2B5EF4-FFF2-40B4-BE49-F238E27FC236}">
                <a16:creationId xmlns:a16="http://schemas.microsoft.com/office/drawing/2014/main" id="{6129B284-7FE1-4F51-997D-7CD2141EE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495800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5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建议</a:t>
            </a:r>
          </a:p>
        </p:txBody>
      </p:sp>
      <p:sp>
        <p:nvSpPr>
          <p:cNvPr id="21" name="p2-recommend-body">
            <a:extLst xmlns:a="http://schemas.openxmlformats.org/drawingml/2006/main">
              <a:ext uri="{FF2B5EF4-FFF2-40B4-BE49-F238E27FC236}">
                <a16:creationId xmlns:a16="http://schemas.microsoft.com/office/drawing/2014/main" id="{1AD64881-ED4E-4630-BC04-B5C25954E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457700"/>
            <a:ext cx="9525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350" b="0">
                <a:solidFill>
                  <a:srgbClr val="244A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44A73"/>
                </a:solidFill>
                <a:latin typeface="Microsoft YaHei"/>
                <a:ea typeface="Microsoft YaHei"/>
                <a:cs typeface="Microsoft YaHei"/>
              </a:rPr>
              <a:t>先记录新增；对真正需要复核的历史结果逐项补充。</a:t>
            </a:r>
          </a:p>
          <a:p xmlns:a="http://schemas.openxmlformats.org/drawingml/2006/main">
            <a:pPr algn="l">
              <a:lnSpc>
                <a:spcPct val="125000"/>
              </a:lnSpc>
              <a:buNone/>
              <a:defRPr sz="1350" b="0">
                <a:solidFill>
                  <a:srgbClr val="244A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44A73"/>
                </a:solidFill>
                <a:latin typeface="Microsoft YaHei"/>
                <a:ea typeface="Microsoft YaHei"/>
                <a:cs typeface="Microsoft YaHei"/>
              </a:rPr>
              <a:t>范围选择，没有证明效率提升。</a:t>
            </a:r>
          </a:p>
        </p:txBody>
      </p:sp>
    </p:spTree>
    <p:extLst>
      <p:ext uri="{BB962C8B-B14F-4D97-AF65-F5344CB8AC3E}">
        <p14:creationId xmlns:p14="http://schemas.microsoft.com/office/powerpoint/2010/main" val="178880960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p3-title">
            <a:extLst xmlns:a="http://schemas.openxmlformats.org/drawingml/2006/main">
              <a:ext uri="{FF2B5EF4-FFF2-40B4-BE49-F238E27FC236}">
                <a16:creationId xmlns:a16="http://schemas.microsoft.com/office/drawing/2014/main" id="{9B5A0EC0-95FB-4105-B8E5-B7B5836BC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19125"/>
            <a:ext cx="11144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225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复核确认的是结果如何产生，不代替科学结论审查</a:t>
            </a:r>
          </a:p>
        </p:txBody>
      </p:sp>
      <p:sp>
        <p:nvSpPr>
          <p:cNvPr id="2" name="p3-header-rule">
            <a:extLst xmlns:a="http://schemas.openxmlformats.org/drawingml/2006/main">
              <a:ext uri="{FF2B5EF4-FFF2-40B4-BE49-F238E27FC236}">
                <a16:creationId xmlns:a16="http://schemas.microsoft.com/office/drawing/2014/main" id="{C7EF4813-3D64-4717-82AB-0341E2415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200150"/>
            <a:ext cx="11144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C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p3-footer-left">
            <a:extLst xmlns:a="http://schemas.openxmlformats.org/drawingml/2006/main">
              <a:ext uri="{FF2B5EF4-FFF2-40B4-BE49-F238E27FC236}">
                <a16:creationId xmlns:a16="http://schemas.microsoft.com/office/drawing/2014/main" id="{F650D2D0-F3D7-444F-B879-D23BBF49B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553200"/>
            <a:ext cx="4762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90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rPr>
              <a:t>UNIVERSITY BLUE PILOT  /  分析记录试点</a:t>
            </a:r>
          </a:p>
        </p:txBody>
      </p:sp>
      <p:sp>
        <p:nvSpPr>
          <p:cNvPr id="4" name="p3-footer-right">
            <a:extLst xmlns:a="http://schemas.openxmlformats.org/drawingml/2006/main">
              <a:ext uri="{FF2B5EF4-FFF2-40B4-BE49-F238E27FC236}">
                <a16:creationId xmlns:a16="http://schemas.microsoft.com/office/drawing/2014/main" id="{C395FB34-2DD1-4AA2-88AF-F7E7E73F1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53200"/>
            <a:ext cx="100012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20000"/>
              </a:lnSpc>
              <a:buNone/>
              <a:defRPr sz="90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rPr>
              <a:t>03  /  04</a:t>
            </a:r>
          </a:p>
        </p:txBody>
      </p:sp>
      <p:sp>
        <p:nvSpPr>
          <p:cNvPr id="5" name="p3-normal-label">
            <a:extLst xmlns:a="http://schemas.openxmlformats.org/drawingml/2006/main">
              <a:ext uri="{FF2B5EF4-FFF2-40B4-BE49-F238E27FC236}">
                <a16:creationId xmlns:a16="http://schemas.microsoft.com/office/drawing/2014/main" id="{AAEE1056-207B-4775-AAA5-3B44AFDEE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438275"/>
            <a:ext cx="238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5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正常复核路径</a:t>
            </a:r>
          </a:p>
        </p:txBody>
      </p:sp>
      <p:sp>
        <p:nvSpPr>
          <p:cNvPr id="6" name="p3-node-submit">
            <a:extLst xmlns:a="http://schemas.openxmlformats.org/drawingml/2006/main">
              <a:ext uri="{FF2B5EF4-FFF2-40B4-BE49-F238E27FC236}">
                <a16:creationId xmlns:a16="http://schemas.microsoft.com/office/drawing/2014/main" id="{4B2ED576-931A-4769-BE2B-9F371E2DC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885950"/>
            <a:ext cx="1762125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F5F8FB"/>
          </a:solidFill>
          <a:ln xmlns:a="http://schemas.openxmlformats.org/drawingml/2006/main" w="9525">
            <a:solidFill>
              <a:srgbClr val="D6DCE3"/>
            </a:solidFill>
            <a:prstDash val="solid"/>
          </a:ln>
        </p:spPr>
      </p:sp>
      <p:sp>
        <p:nvSpPr>
          <p:cNvPr id="7" name="p3-node-locate">
            <a:extLst xmlns:a="http://schemas.openxmlformats.org/drawingml/2006/main">
              <a:ext uri="{FF2B5EF4-FFF2-40B4-BE49-F238E27FC236}">
                <a16:creationId xmlns:a16="http://schemas.microsoft.com/office/drawing/2014/main" id="{69DDD78C-4D10-4CC6-B8B1-F60181B3C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1885950"/>
            <a:ext cx="1762125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F5F8FB"/>
          </a:solidFill>
          <a:ln xmlns:a="http://schemas.openxmlformats.org/drawingml/2006/main" w="9525">
            <a:solidFill>
              <a:srgbClr val="D6DCE3"/>
            </a:solidFill>
            <a:prstDash val="solid"/>
          </a:ln>
        </p:spPr>
      </p:sp>
      <p:sp>
        <p:nvSpPr>
          <p:cNvPr id="8" name="p3-node-supplement">
            <a:extLst xmlns:a="http://schemas.openxmlformats.org/drawingml/2006/main">
              <a:ext uri="{FF2B5EF4-FFF2-40B4-BE49-F238E27FC236}">
                <a16:creationId xmlns:a16="http://schemas.microsoft.com/office/drawing/2014/main" id="{0213FCF7-C7FC-44E8-A448-165805C7C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1885950"/>
            <a:ext cx="1762125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F5F8FB"/>
          </a:solidFill>
          <a:ln xmlns:a="http://schemas.openxmlformats.org/drawingml/2006/main" w="9525">
            <a:solidFill>
              <a:srgbClr val="D6DCE3"/>
            </a:solidFill>
            <a:prstDash val="solid"/>
          </a:ln>
        </p:spPr>
      </p:sp>
      <p:sp>
        <p:nvSpPr>
          <p:cNvPr id="9" name="p3-node-confirm">
            <a:extLst xmlns:a="http://schemas.openxmlformats.org/drawingml/2006/main">
              <a:ext uri="{FF2B5EF4-FFF2-40B4-BE49-F238E27FC236}">
                <a16:creationId xmlns:a16="http://schemas.microsoft.com/office/drawing/2014/main" id="{CB619E7E-C8CF-4070-A442-24B57A6B6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1885950"/>
            <a:ext cx="1762125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F5F8FB"/>
          </a:solidFill>
          <a:ln xmlns:a="http://schemas.openxmlformats.org/drawingml/2006/main" w="9525">
            <a:solidFill>
              <a:srgbClr val="D6DCE3"/>
            </a:solidFill>
            <a:prstDash val="solid"/>
          </a:ln>
        </p:spPr>
      </p:sp>
      <p:sp>
        <p:nvSpPr>
          <p:cNvPr id="10" name="p3-node-discuss">
            <a:extLst xmlns:a="http://schemas.openxmlformats.org/drawingml/2006/main">
              <a:ext uri="{FF2B5EF4-FFF2-40B4-BE49-F238E27FC236}">
                <a16:creationId xmlns:a16="http://schemas.microsoft.com/office/drawing/2014/main" id="{32FE2E8D-E22F-4520-8889-2CA583FEF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1885950"/>
            <a:ext cx="1762125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F5F8FB"/>
          </a:solidFill>
          <a:ln xmlns:a="http://schemas.openxmlformats.org/drawingml/2006/main" w="9525">
            <a:solidFill>
              <a:srgbClr val="D6DCE3"/>
            </a:solidFill>
            <a:prstDash val="solid"/>
          </a:ln>
        </p:spPr>
      </p:sp>
      <p:cxnSp>
        <p:nvCxnSpPr>
          <p:cNvPr id="43" name=""/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2286000" y="2447925"/>
            <a:ext cx="4286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15F91"/>
            </a:solidFill>
            <a:prstDash val="solid"/>
            <a:tailEnd type="arrow" w="sm" len="sm"/>
          </a:ln>
        </p:spPr>
      </p:cxnSp>
      <p:cxnSp>
        <p:nvCxnSpPr>
          <p:cNvPr id="44" name="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4476750" y="2447925"/>
            <a:ext cx="4286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15F91"/>
            </a:solidFill>
            <a:prstDash val="solid"/>
            <a:tailEnd type="arrow" w="sm" len="sm"/>
          </a:ln>
        </p:spPr>
      </p:cxnSp>
      <p:cxnSp>
        <p:nvCxnSpPr>
          <p:cNvPr id="45" name=""/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6667500" y="2447925"/>
            <a:ext cx="4286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15F91"/>
            </a:solidFill>
            <a:prstDash val="solid"/>
            <a:tailEnd type="arrow" w="sm" len="sm"/>
          </a:ln>
        </p:spPr>
      </p:cxnSp>
      <p:cxnSp>
        <p:nvCxnSpPr>
          <p:cNvPr id="46" name=""/>
          <p:cNvCxnSpPr>
            <a:stCxn xmlns:a="http://schemas.openxmlformats.org/drawingml/2006/main" id="9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8858250" y="2447925"/>
            <a:ext cx="4286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15F91"/>
            </a:solidFill>
            <a:prstDash val="solid"/>
            <a:tailEnd type="arrow" w="sm" len="sm"/>
          </a:ln>
        </p:spPr>
      </p:cxnSp>
      <p:sp>
        <p:nvSpPr>
          <p:cNvPr id="15" name="p3-node-submit-title">
            <a:extLst xmlns:a="http://schemas.openxmlformats.org/drawingml/2006/main">
              <a:ext uri="{FF2B5EF4-FFF2-40B4-BE49-F238E27FC236}">
                <a16:creationId xmlns:a16="http://schemas.microsoft.com/office/drawing/2014/main" id="{C1B85971-C884-4ECD-995D-4F399F19C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2009775"/>
            <a:ext cx="15335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575" b="1">
                <a:solidFill>
                  <a:srgbClr val="244A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244A73"/>
                </a:solidFill>
                <a:latin typeface="Microsoft YaHei"/>
                <a:ea typeface="Microsoft YaHei"/>
                <a:cs typeface="Microsoft YaHei"/>
              </a:rPr>
              <a:t>执行者提交</a:t>
            </a:r>
          </a:p>
        </p:txBody>
      </p:sp>
      <p:sp>
        <p:nvSpPr>
          <p:cNvPr id="16" name="p3-node-submit-desc">
            <a:extLst xmlns:a="http://schemas.openxmlformats.org/drawingml/2006/main">
              <a:ext uri="{FF2B5EF4-FFF2-40B4-BE49-F238E27FC236}">
                <a16:creationId xmlns:a16="http://schemas.microsoft.com/office/drawing/2014/main" id="{D6A1AA25-7BD3-4694-86B8-94A1765E7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2371725"/>
            <a:ext cx="149542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35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记录＋受控引用</a:t>
            </a:r>
          </a:p>
        </p:txBody>
      </p:sp>
      <p:sp>
        <p:nvSpPr>
          <p:cNvPr id="17" name="p3-node-locate-title">
            <a:extLst xmlns:a="http://schemas.openxmlformats.org/drawingml/2006/main">
              <a:ext uri="{FF2B5EF4-FFF2-40B4-BE49-F238E27FC236}">
                <a16:creationId xmlns:a16="http://schemas.microsoft.com/office/drawing/2014/main" id="{BDCF8B85-F6BC-4DFA-80FA-1C9E406D0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8925" y="2009775"/>
            <a:ext cx="15335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575" b="1">
                <a:solidFill>
                  <a:srgbClr val="244A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244A73"/>
                </a:solidFill>
                <a:latin typeface="Microsoft YaHei"/>
                <a:ea typeface="Microsoft YaHei"/>
                <a:cs typeface="Microsoft YaHei"/>
              </a:rPr>
              <a:t>另一成员定位</a:t>
            </a:r>
          </a:p>
        </p:txBody>
      </p:sp>
      <p:sp>
        <p:nvSpPr>
          <p:cNvPr id="18" name="p3-node-locate-desc">
            <a:extLst xmlns:a="http://schemas.openxmlformats.org/drawingml/2006/main">
              <a:ext uri="{FF2B5EF4-FFF2-40B4-BE49-F238E27FC236}">
                <a16:creationId xmlns:a16="http://schemas.microsoft.com/office/drawing/2014/main" id="{E1E6FF32-557C-40AB-86F2-2C79AB473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7975" y="2371725"/>
            <a:ext cx="149542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35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数据、脚本和条件</a:t>
            </a:r>
          </a:p>
          <a:p xmlns:a="http://schemas.openxmlformats.org/drawingml/2006/main">
            <a:pPr algn="ctr">
              <a:lnSpc>
                <a:spcPct val="105000"/>
              </a:lnSpc>
              <a:buNone/>
              <a:defRPr sz="135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提出缺项</a:t>
            </a:r>
          </a:p>
        </p:txBody>
      </p:sp>
      <p:sp>
        <p:nvSpPr>
          <p:cNvPr id="19" name="p3-node-supplement-title">
            <a:extLst xmlns:a="http://schemas.openxmlformats.org/drawingml/2006/main">
              <a:ext uri="{FF2B5EF4-FFF2-40B4-BE49-F238E27FC236}">
                <a16:creationId xmlns:a16="http://schemas.microsoft.com/office/drawing/2014/main" id="{A6688D08-C358-43FC-A356-6046BF361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9675" y="2009775"/>
            <a:ext cx="15335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575" b="1">
                <a:solidFill>
                  <a:srgbClr val="244A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244A73"/>
                </a:solidFill>
                <a:latin typeface="Microsoft YaHei"/>
                <a:ea typeface="Microsoft YaHei"/>
                <a:cs typeface="Microsoft YaHei"/>
              </a:rPr>
              <a:t>执行者补充</a:t>
            </a:r>
          </a:p>
        </p:txBody>
      </p:sp>
      <p:sp>
        <p:nvSpPr>
          <p:cNvPr id="20" name="p3-node-supplement-desc">
            <a:extLst xmlns:a="http://schemas.openxmlformats.org/drawingml/2006/main">
              <a:ext uri="{FF2B5EF4-FFF2-40B4-BE49-F238E27FC236}">
                <a16:creationId xmlns:a16="http://schemas.microsoft.com/office/drawing/2014/main" id="{DC806C56-2FF0-4CEB-BF3B-7E742E75F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38725" y="2371725"/>
            <a:ext cx="149542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35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补齐缺项</a:t>
            </a:r>
          </a:p>
        </p:txBody>
      </p:sp>
      <p:sp>
        <p:nvSpPr>
          <p:cNvPr id="21" name="p3-node-confirm-title">
            <a:extLst xmlns:a="http://schemas.openxmlformats.org/drawingml/2006/main">
              <a:ext uri="{FF2B5EF4-FFF2-40B4-BE49-F238E27FC236}">
                <a16:creationId xmlns:a16="http://schemas.microsoft.com/office/drawing/2014/main" id="{F2BC44B6-9BD8-4F42-8DE9-1F0F66043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0425" y="2009775"/>
            <a:ext cx="15335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575" b="1">
                <a:solidFill>
                  <a:srgbClr val="244A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244A73"/>
                </a:solidFill>
                <a:latin typeface="Microsoft YaHei"/>
                <a:ea typeface="Microsoft YaHei"/>
                <a:cs typeface="Microsoft YaHei"/>
              </a:rPr>
              <a:t>负责人确认</a:t>
            </a:r>
          </a:p>
        </p:txBody>
      </p:sp>
      <p:sp>
        <p:nvSpPr>
          <p:cNvPr id="22" name="p3-node-confirm-desc">
            <a:extLst xmlns:a="http://schemas.openxmlformats.org/drawingml/2006/main">
              <a:ext uri="{FF2B5EF4-FFF2-40B4-BE49-F238E27FC236}">
                <a16:creationId xmlns:a16="http://schemas.microsoft.com/office/drawing/2014/main" id="{BD6E6E9A-4E18-44C6-9B3D-61A83D356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9475" y="2371725"/>
            <a:ext cx="149542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35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确认后继续</a:t>
            </a:r>
          </a:p>
        </p:txBody>
      </p:sp>
      <p:sp>
        <p:nvSpPr>
          <p:cNvPr id="23" name="p3-node-discuss-title">
            <a:extLst xmlns:a="http://schemas.openxmlformats.org/drawingml/2006/main">
              <a:ext uri="{FF2B5EF4-FFF2-40B4-BE49-F238E27FC236}">
                <a16:creationId xmlns:a16="http://schemas.microsoft.com/office/drawing/2014/main" id="{552A4DD6-207F-4D09-9550-FD95C9F95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1175" y="2009775"/>
            <a:ext cx="15335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575" b="1">
                <a:solidFill>
                  <a:srgbClr val="244A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244A73"/>
                </a:solidFill>
                <a:latin typeface="Microsoft YaHei"/>
                <a:ea typeface="Microsoft YaHei"/>
                <a:cs typeface="Microsoft YaHei"/>
              </a:rPr>
              <a:t>可讨论版本</a:t>
            </a:r>
          </a:p>
        </p:txBody>
      </p:sp>
      <p:sp>
        <p:nvSpPr>
          <p:cNvPr id="24" name="p3-node-discuss-desc">
            <a:extLst xmlns:a="http://schemas.openxmlformats.org/drawingml/2006/main">
              <a:ext uri="{FF2B5EF4-FFF2-40B4-BE49-F238E27FC236}">
                <a16:creationId xmlns:a16="http://schemas.microsoft.com/office/drawing/2014/main" id="{949C8326-867A-4B83-A69A-CA48FC676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0225" y="2371725"/>
            <a:ext cx="149542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35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进入讨论</a:t>
            </a:r>
          </a:p>
        </p:txBody>
      </p:sp>
      <p:sp>
        <p:nvSpPr>
          <p:cNvPr id="25" name="p3-flow-baseline">
            <a:extLst xmlns:a="http://schemas.openxmlformats.org/drawingml/2006/main">
              <a:ext uri="{FF2B5EF4-FFF2-40B4-BE49-F238E27FC236}">
                <a16:creationId xmlns:a16="http://schemas.microsoft.com/office/drawing/2014/main" id="{DE1A13D2-3493-4E7C-9F65-E2156F551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200400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C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p3-exception-surface">
            <a:extLst xmlns:a="http://schemas.openxmlformats.org/drawingml/2006/main">
              <a:ext uri="{FF2B5EF4-FFF2-40B4-BE49-F238E27FC236}">
                <a16:creationId xmlns:a16="http://schemas.microsoft.com/office/drawing/2014/main" id="{98315997-70F2-471A-9526-D7942F5C7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562350"/>
            <a:ext cx="111442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p3-exception-accent">
            <a:extLst xmlns:a="http://schemas.openxmlformats.org/drawingml/2006/main">
              <a:ext uri="{FF2B5EF4-FFF2-40B4-BE49-F238E27FC236}">
                <a16:creationId xmlns:a16="http://schemas.microsoft.com/office/drawing/2014/main" id="{457C91CB-46E5-4FA8-9553-5DA69F947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562350"/>
            <a:ext cx="47625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F9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p3-exception-title">
            <a:extLst xmlns:a="http://schemas.openxmlformats.org/drawingml/2006/main">
              <a:ext uri="{FF2B5EF4-FFF2-40B4-BE49-F238E27FC236}">
                <a16:creationId xmlns:a16="http://schemas.microsoft.com/office/drawing/2014/main" id="{7E7B755C-1CDA-42BB-852C-B6C66CFD1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771900"/>
            <a:ext cx="1714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5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访问授权例外</a:t>
            </a:r>
          </a:p>
        </p:txBody>
      </p:sp>
      <p:sp>
        <p:nvSpPr>
          <p:cNvPr id="29" name="p3-exception-body">
            <a:extLst xmlns:a="http://schemas.openxmlformats.org/drawingml/2006/main">
              <a:ext uri="{FF2B5EF4-FFF2-40B4-BE49-F238E27FC236}">
                <a16:creationId xmlns:a16="http://schemas.microsoft.com/office/drawing/2014/main" id="{B4E58818-1113-442E-BBBB-797935DDA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3771900"/>
            <a:ext cx="8334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35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遇到新增访问授权：暂停共享，由负责人处理授权后继续。</a:t>
            </a:r>
          </a:p>
        </p:txBody>
      </p:sp>
      <p:sp>
        <p:nvSpPr>
          <p:cNvPr id="30" name="p3-scope-surface">
            <a:extLst xmlns:a="http://schemas.openxmlformats.org/drawingml/2006/main">
              <a:ext uri="{FF2B5EF4-FFF2-40B4-BE49-F238E27FC236}">
                <a16:creationId xmlns:a16="http://schemas.microsoft.com/office/drawing/2014/main" id="{22BC2448-38E0-4C62-B56D-8AAF93CAE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629150"/>
            <a:ext cx="111442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p3-scope-title">
            <a:extLst xmlns:a="http://schemas.openxmlformats.org/drawingml/2006/main">
              <a:ext uri="{FF2B5EF4-FFF2-40B4-BE49-F238E27FC236}">
                <a16:creationId xmlns:a16="http://schemas.microsoft.com/office/drawing/2014/main" id="{F1F996DB-5E6A-4321-849C-09427D35E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800600"/>
            <a:ext cx="1428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5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复核范围</a:t>
            </a:r>
          </a:p>
        </p:txBody>
      </p:sp>
      <p:sp>
        <p:nvSpPr>
          <p:cNvPr id="32" name="p3-scope-body">
            <a:extLst xmlns:a="http://schemas.openxmlformats.org/drawingml/2006/main">
              <a:ext uri="{FF2B5EF4-FFF2-40B4-BE49-F238E27FC236}">
                <a16:creationId xmlns:a16="http://schemas.microsoft.com/office/drawing/2014/main" id="{89A31524-9FB8-435B-9D7C-35469A674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4800600"/>
            <a:ext cx="876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35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检查结果如何产生；不要求复做实验，也不代替科学结论审查。</a:t>
            </a:r>
          </a:p>
        </p:txBody>
      </p:sp>
    </p:spTree>
    <p:extLst>
      <p:ext uri="{BB962C8B-B14F-4D97-AF65-F5344CB8AC3E}">
        <p14:creationId xmlns:p14="http://schemas.microsoft.com/office/powerpoint/2010/main" val="155958656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8" name="p4-title">
            <a:extLst xmlns:a="http://schemas.openxmlformats.org/drawingml/2006/main">
              <a:ext uri="{FF2B5EF4-FFF2-40B4-BE49-F238E27FC236}">
                <a16:creationId xmlns:a16="http://schemas.microsoft.com/office/drawing/2014/main" id="{55E04EFB-359F-4EF2-BF85-73B040F72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19125"/>
            <a:ext cx="11144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225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四周试点用过程反馈决定保留、修改或停止</a:t>
            </a:r>
          </a:p>
        </p:txBody>
      </p:sp>
      <p:sp>
        <p:nvSpPr>
          <p:cNvPr id="2" name="p4-header-rule">
            <a:extLst xmlns:a="http://schemas.openxmlformats.org/drawingml/2006/main">
              <a:ext uri="{FF2B5EF4-FFF2-40B4-BE49-F238E27FC236}">
                <a16:creationId xmlns:a16="http://schemas.microsoft.com/office/drawing/2014/main" id="{B11EE5D0-C365-42B5-9FDA-6ABB0DE60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200150"/>
            <a:ext cx="11144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C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p4-footer-left">
            <a:extLst xmlns:a="http://schemas.openxmlformats.org/drawingml/2006/main">
              <a:ext uri="{FF2B5EF4-FFF2-40B4-BE49-F238E27FC236}">
                <a16:creationId xmlns:a16="http://schemas.microsoft.com/office/drawing/2014/main" id="{D86AA372-C486-44DF-807B-185261F7B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553200"/>
            <a:ext cx="4762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90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rPr>
              <a:t>UNIVERSITY BLUE PILOT  /  分析记录试点</a:t>
            </a:r>
          </a:p>
        </p:txBody>
      </p:sp>
      <p:sp>
        <p:nvSpPr>
          <p:cNvPr id="4" name="p4-footer-right">
            <a:extLst xmlns:a="http://schemas.openxmlformats.org/drawingml/2006/main">
              <a:ext uri="{FF2B5EF4-FFF2-40B4-BE49-F238E27FC236}">
                <a16:creationId xmlns:a16="http://schemas.microsoft.com/office/drawing/2014/main" id="{2348B7D3-A469-4A3F-A7F3-13623C948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53200"/>
            <a:ext cx="100012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20000"/>
              </a:lnSpc>
              <a:buNone/>
              <a:defRPr sz="90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rPr>
              <a:t>04  /  04</a:t>
            </a:r>
          </a:p>
        </p:txBody>
      </p:sp>
      <p:sp>
        <p:nvSpPr>
          <p:cNvPr id="5" name="p4-scope-label">
            <a:extLst xmlns:a="http://schemas.openxmlformats.org/drawingml/2006/main">
              <a:ext uri="{FF2B5EF4-FFF2-40B4-BE49-F238E27FC236}">
                <a16:creationId xmlns:a16="http://schemas.microsoft.com/office/drawing/2014/main" id="{C3F504AB-6570-4B79-8571-4F4EC4E2C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4287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5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试点范围</a:t>
            </a:r>
          </a:p>
        </p:txBody>
      </p:sp>
      <p:sp>
        <p:nvSpPr>
          <p:cNvPr id="6" name="p4-scope-body">
            <a:extLst xmlns:a="http://schemas.openxmlformats.org/drawingml/2006/main">
              <a:ext uri="{FF2B5EF4-FFF2-40B4-BE49-F238E27FC236}">
                <a16:creationId xmlns:a16="http://schemas.microsoft.com/office/drawing/2014/main" id="{9E3A3DA0-B3F2-4456-B24B-EFF88AEF7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1438275"/>
            <a:ext cx="885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35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一个课题方向  ·  两名自愿成员  ·  仅记录新增实验</a:t>
            </a:r>
          </a:p>
        </p:txBody>
      </p:sp>
      <p:sp>
        <p:nvSpPr>
          <p:cNvPr id="7" name="p4-week1">
            <a:extLst xmlns:a="http://schemas.openxmlformats.org/drawingml/2006/main">
              <a:ext uri="{FF2B5EF4-FFF2-40B4-BE49-F238E27FC236}">
                <a16:creationId xmlns:a16="http://schemas.microsoft.com/office/drawing/2014/main" id="{3F5F92F6-5BC0-4556-899C-F336A5FED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009775"/>
            <a:ext cx="228600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5F8FB"/>
          </a:solidFill>
          <a:ln xmlns:a="http://schemas.openxmlformats.org/drawingml/2006/main" w="9525">
            <a:solidFill>
              <a:srgbClr val="D6DCE3"/>
            </a:solidFill>
            <a:prstDash val="solid"/>
          </a:ln>
        </p:spPr>
      </p:sp>
      <p:sp>
        <p:nvSpPr>
          <p:cNvPr id="8" name="p4-week23">
            <a:extLst xmlns:a="http://schemas.openxmlformats.org/drawingml/2006/main">
              <a:ext uri="{FF2B5EF4-FFF2-40B4-BE49-F238E27FC236}">
                <a16:creationId xmlns:a16="http://schemas.microsoft.com/office/drawing/2014/main" id="{A8CE864B-462B-44A3-9F4D-FEF47C96B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009775"/>
            <a:ext cx="228600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5F8FB"/>
          </a:solidFill>
          <a:ln xmlns:a="http://schemas.openxmlformats.org/drawingml/2006/main" w="9525">
            <a:solidFill>
              <a:srgbClr val="D6DCE3"/>
            </a:solidFill>
            <a:prstDash val="solid"/>
          </a:ln>
        </p:spPr>
      </p:sp>
      <p:sp>
        <p:nvSpPr>
          <p:cNvPr id="9" name="p4-week4">
            <a:extLst xmlns:a="http://schemas.openxmlformats.org/drawingml/2006/main">
              <a:ext uri="{FF2B5EF4-FFF2-40B4-BE49-F238E27FC236}">
                <a16:creationId xmlns:a16="http://schemas.microsoft.com/office/drawing/2014/main" id="{24E99E74-0AA8-4290-B42D-7DC20A997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2009775"/>
            <a:ext cx="228600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EAF1F8"/>
          </a:solidFill>
          <a:ln xmlns:a="http://schemas.openxmlformats.org/drawingml/2006/main" w="19050">
            <a:solidFill>
              <a:srgbClr val="315F91"/>
            </a:solidFill>
            <a:prstDash val="solid"/>
          </a:ln>
        </p:spPr>
      </p:sp>
      <p:cxnSp>
        <p:nvCxnSpPr>
          <p:cNvPr id="47" name="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2809875" y="2505075"/>
            <a:ext cx="4286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15F91"/>
            </a:solidFill>
            <a:prstDash val="solid"/>
            <a:tailEnd type="arrow" w="sm" len="sm"/>
          </a:ln>
        </p:spPr>
      </p:cxnSp>
      <p:cxnSp>
        <p:nvCxnSpPr>
          <p:cNvPr id="48" name=""/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5524500" y="2505075"/>
            <a:ext cx="4286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15F91"/>
            </a:solidFill>
            <a:prstDash val="solid"/>
            <a:tailEnd type="arrow" w="sm" len="sm"/>
          </a:ln>
        </p:spPr>
      </p:cxnSp>
      <p:sp>
        <p:nvSpPr>
          <p:cNvPr id="12" name="p4-week1-title">
            <a:extLst xmlns:a="http://schemas.openxmlformats.org/drawingml/2006/main">
              <a:ext uri="{FF2B5EF4-FFF2-40B4-BE49-F238E27FC236}">
                <a16:creationId xmlns:a16="http://schemas.microsoft.com/office/drawing/2014/main" id="{0295004A-8742-420B-B08A-4E7D1F859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2133600"/>
            <a:ext cx="2057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575" b="1">
                <a:solidFill>
                  <a:srgbClr val="244A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244A73"/>
                </a:solidFill>
                <a:latin typeface="Microsoft YaHei"/>
                <a:ea typeface="Microsoft YaHei"/>
                <a:cs typeface="Microsoft YaHei"/>
              </a:rPr>
              <a:t>第 1 周</a:t>
            </a:r>
          </a:p>
        </p:txBody>
      </p:sp>
      <p:sp>
        <p:nvSpPr>
          <p:cNvPr id="13" name="p4-week1-desc">
            <a:extLst xmlns:a="http://schemas.openxmlformats.org/drawingml/2006/main">
              <a:ext uri="{FF2B5EF4-FFF2-40B4-BE49-F238E27FC236}">
                <a16:creationId xmlns:a16="http://schemas.microsoft.com/office/drawing/2014/main" id="{634B2FB1-ACC2-4DFB-A174-0B2E5B5D1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2495550"/>
            <a:ext cx="20193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35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确认最少字段，试填一个结果</a:t>
            </a:r>
          </a:p>
        </p:txBody>
      </p:sp>
      <p:sp>
        <p:nvSpPr>
          <p:cNvPr id="14" name="p4-week23-title">
            <a:extLst xmlns:a="http://schemas.openxmlformats.org/drawingml/2006/main">
              <a:ext uri="{FF2B5EF4-FFF2-40B4-BE49-F238E27FC236}">
                <a16:creationId xmlns:a16="http://schemas.microsoft.com/office/drawing/2014/main" id="{77772DDE-27DC-41F9-B99B-25F2E0C1B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2133600"/>
            <a:ext cx="2057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575" b="1">
                <a:solidFill>
                  <a:srgbClr val="244A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244A73"/>
                </a:solidFill>
                <a:latin typeface="Microsoft YaHei"/>
                <a:ea typeface="Microsoft YaHei"/>
                <a:cs typeface="Microsoft YaHei"/>
              </a:rPr>
              <a:t>第 2–3 周</a:t>
            </a:r>
          </a:p>
        </p:txBody>
      </p:sp>
      <p:sp>
        <p:nvSpPr>
          <p:cNvPr id="15" name="p4-week23-desc">
            <a:extLst xmlns:a="http://schemas.openxmlformats.org/drawingml/2006/main">
              <a:ext uri="{FF2B5EF4-FFF2-40B4-BE49-F238E27FC236}">
                <a16:creationId xmlns:a16="http://schemas.microsoft.com/office/drawing/2014/main" id="{B4E1EEC4-3B76-49E4-BB82-C202C5952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2495550"/>
            <a:ext cx="20193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35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记录缺项和填写负担</a:t>
            </a:r>
          </a:p>
          <a:p xmlns:a="http://schemas.openxmlformats.org/drawingml/2006/main">
            <a:pPr algn="ctr">
              <a:lnSpc>
                <a:spcPct val="105000"/>
              </a:lnSpc>
              <a:buNone/>
              <a:defRPr sz="135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形成反馈</a:t>
            </a:r>
          </a:p>
        </p:txBody>
      </p:sp>
      <p:sp>
        <p:nvSpPr>
          <p:cNvPr id="16" name="p4-week4-title">
            <a:extLst xmlns:a="http://schemas.openxmlformats.org/drawingml/2006/main">
              <a:ext uri="{FF2B5EF4-FFF2-40B4-BE49-F238E27FC236}">
                <a16:creationId xmlns:a16="http://schemas.microsoft.com/office/drawing/2014/main" id="{69F5571D-B7D3-4754-985C-C3908DC2F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7425" y="2133600"/>
            <a:ext cx="2057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575" b="1">
                <a:solidFill>
                  <a:srgbClr val="244A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244A73"/>
                </a:solidFill>
                <a:latin typeface="Microsoft YaHei"/>
                <a:ea typeface="Microsoft YaHei"/>
                <a:cs typeface="Microsoft YaHei"/>
              </a:rPr>
              <a:t>第 4 周</a:t>
            </a:r>
          </a:p>
        </p:txBody>
      </p:sp>
      <p:sp>
        <p:nvSpPr>
          <p:cNvPr id="17" name="p4-week4-desc">
            <a:extLst xmlns:a="http://schemas.openxmlformats.org/drawingml/2006/main">
              <a:ext uri="{FF2B5EF4-FFF2-40B4-BE49-F238E27FC236}">
                <a16:creationId xmlns:a16="http://schemas.microsoft.com/office/drawing/2014/main" id="{F72F9EEC-DB1F-492A-9F37-676A16F63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6475" y="2495550"/>
            <a:ext cx="20193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35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依据复核过程和成员反馈</a:t>
            </a:r>
          </a:p>
          <a:p xmlns:a="http://schemas.openxmlformats.org/drawingml/2006/main">
            <a:pPr algn="ctr">
              <a:lnSpc>
                <a:spcPct val="105000"/>
              </a:lnSpc>
              <a:buNone/>
              <a:defRPr sz="135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决定保留、修改或停止</a:t>
            </a:r>
          </a:p>
        </p:txBody>
      </p:sp>
      <p:sp>
        <p:nvSpPr>
          <p:cNvPr id="18" name="p4-timeline-note">
            <a:extLst xmlns:a="http://schemas.openxmlformats.org/drawingml/2006/main">
              <a:ext uri="{FF2B5EF4-FFF2-40B4-BE49-F238E27FC236}">
                <a16:creationId xmlns:a16="http://schemas.microsoft.com/office/drawing/2014/main" id="{BAD20978-C9F3-40EC-9989-7B0F2B974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343150"/>
            <a:ext cx="3000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20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rPr>
              <a:t>反馈进入第四周去留决定。</a:t>
            </a:r>
          </a:p>
        </p:txBody>
      </p:sp>
      <p:sp>
        <p:nvSpPr>
          <p:cNvPr id="19" name="p4-eval-title">
            <a:extLst xmlns:a="http://schemas.openxmlformats.org/drawingml/2006/main">
              <a:ext uri="{FF2B5EF4-FFF2-40B4-BE49-F238E27FC236}">
                <a16:creationId xmlns:a16="http://schemas.microsoft.com/office/drawing/2014/main" id="{25642A3D-2D2F-4915-859D-907703FE5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524250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5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评估什么</a:t>
            </a:r>
          </a:p>
        </p:txBody>
      </p:sp>
      <p:sp>
        <p:nvSpPr>
          <p:cNvPr id="20" name="p4-eval-label-1">
            <a:extLst xmlns:a="http://schemas.openxmlformats.org/drawingml/2006/main">
              <a:ext uri="{FF2B5EF4-FFF2-40B4-BE49-F238E27FC236}">
                <a16:creationId xmlns:a16="http://schemas.microsoft.com/office/drawing/2014/main" id="{4BB86B31-8111-4DFA-8A68-BB3AF5F11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943350"/>
            <a:ext cx="1619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5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来源定位</a:t>
            </a:r>
          </a:p>
        </p:txBody>
      </p:sp>
      <p:sp>
        <p:nvSpPr>
          <p:cNvPr id="21" name="p4-eval-body-1">
            <a:extLst xmlns:a="http://schemas.openxmlformats.org/drawingml/2006/main">
              <a:ext uri="{FF2B5EF4-FFF2-40B4-BE49-F238E27FC236}">
                <a16:creationId xmlns:a16="http://schemas.microsoft.com/office/drawing/2014/main" id="{F2480387-7B98-4C16-902F-161C759FF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3943350"/>
            <a:ext cx="3238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35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来源能否定位</a:t>
            </a:r>
          </a:p>
        </p:txBody>
      </p:sp>
      <p:sp>
        <p:nvSpPr>
          <p:cNvPr id="22" name="p4-eval-label-2">
            <a:extLst xmlns:a="http://schemas.openxmlformats.org/drawingml/2006/main">
              <a:ext uri="{FF2B5EF4-FFF2-40B4-BE49-F238E27FC236}">
                <a16:creationId xmlns:a16="http://schemas.microsoft.com/office/drawing/2014/main" id="{1ACB66FB-9EA7-4570-96D8-320159437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343400"/>
            <a:ext cx="1619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5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依据可理解</a:t>
            </a:r>
          </a:p>
        </p:txBody>
      </p:sp>
      <p:sp>
        <p:nvSpPr>
          <p:cNvPr id="23" name="p4-eval-body-2">
            <a:extLst xmlns:a="http://schemas.openxmlformats.org/drawingml/2006/main">
              <a:ext uri="{FF2B5EF4-FFF2-40B4-BE49-F238E27FC236}">
                <a16:creationId xmlns:a16="http://schemas.microsoft.com/office/drawing/2014/main" id="{E6C32E8D-2540-45E2-8F73-F1DB2DE1B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4343400"/>
            <a:ext cx="3238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35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处理与排除依据能否理解</a:t>
            </a:r>
          </a:p>
        </p:txBody>
      </p:sp>
      <p:sp>
        <p:nvSpPr>
          <p:cNvPr id="24" name="p4-eval-label-3">
            <a:extLst xmlns:a="http://schemas.openxmlformats.org/drawingml/2006/main">
              <a:ext uri="{FF2B5EF4-FFF2-40B4-BE49-F238E27FC236}">
                <a16:creationId xmlns:a16="http://schemas.microsoft.com/office/drawing/2014/main" id="{BA83D2AC-6E57-4CD9-B8AF-A86270EB3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743450"/>
            <a:ext cx="1619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5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长期承担</a:t>
            </a:r>
          </a:p>
        </p:txBody>
      </p:sp>
      <p:sp>
        <p:nvSpPr>
          <p:cNvPr id="25" name="p4-eval-body-3">
            <a:extLst xmlns:a="http://schemas.openxmlformats.org/drawingml/2006/main">
              <a:ext uri="{FF2B5EF4-FFF2-40B4-BE49-F238E27FC236}">
                <a16:creationId xmlns:a16="http://schemas.microsoft.com/office/drawing/2014/main" id="{058CDF35-0E1D-4BE6-8724-680AF8143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4743450"/>
            <a:ext cx="3238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35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负担是否愿意长期承担</a:t>
            </a:r>
          </a:p>
        </p:txBody>
      </p:sp>
      <p:sp>
        <p:nvSpPr>
          <p:cNvPr id="26" name="p4-eval-note">
            <a:extLst xmlns:a="http://schemas.openxmlformats.org/drawingml/2006/main">
              <a:ext uri="{FF2B5EF4-FFF2-40B4-BE49-F238E27FC236}">
                <a16:creationId xmlns:a16="http://schemas.microsoft.com/office/drawing/2014/main" id="{37D82814-0AD0-4192-B309-FAB04F26B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5219700"/>
            <a:ext cx="5095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20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rPr>
              <a:t>依据具体复核过程及成员反馈；不设统一分数。</a:t>
            </a:r>
          </a:p>
        </p:txBody>
      </p:sp>
      <p:sp>
        <p:nvSpPr>
          <p:cNvPr id="27" name="p4-column-rule">
            <a:extLst xmlns:a="http://schemas.openxmlformats.org/drawingml/2006/main">
              <a:ext uri="{FF2B5EF4-FFF2-40B4-BE49-F238E27FC236}">
                <a16:creationId xmlns:a16="http://schemas.microsoft.com/office/drawing/2014/main" id="{D92212AD-3934-45C0-B9F6-9A97852E2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3524250"/>
            <a:ext cx="9525" cy="1905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C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p4-stop-surface">
            <a:extLst xmlns:a="http://schemas.openxmlformats.org/drawingml/2006/main">
              <a:ext uri="{FF2B5EF4-FFF2-40B4-BE49-F238E27FC236}">
                <a16:creationId xmlns:a16="http://schemas.microsoft.com/office/drawing/2014/main" id="{F173C9F5-1F35-4FE7-9D01-80711C559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429000"/>
            <a:ext cx="5191125" cy="2133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p4-stop-accent">
            <a:extLst xmlns:a="http://schemas.openxmlformats.org/drawingml/2006/main">
              <a:ext uri="{FF2B5EF4-FFF2-40B4-BE49-F238E27FC236}">
                <a16:creationId xmlns:a16="http://schemas.microsoft.com/office/drawing/2014/main" id="{D0C87CAD-CC31-4B79-AFBC-43D37276F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429000"/>
            <a:ext cx="47625" cy="2133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F9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p4-stop-title">
            <a:extLst xmlns:a="http://schemas.openxmlformats.org/drawingml/2006/main">
              <a:ext uri="{FF2B5EF4-FFF2-40B4-BE49-F238E27FC236}">
                <a16:creationId xmlns:a16="http://schemas.microsoft.com/office/drawing/2014/main" id="{43A180F0-A9D4-4DF0-8A20-89F1998F7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676650"/>
            <a:ext cx="447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5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何时缩小要求或停止</a:t>
            </a:r>
          </a:p>
        </p:txBody>
      </p:sp>
      <p:sp>
        <p:nvSpPr>
          <p:cNvPr id="31" name="p4-stop-label-1">
            <a:extLst xmlns:a="http://schemas.openxmlformats.org/drawingml/2006/main">
              <a:ext uri="{FF2B5EF4-FFF2-40B4-BE49-F238E27FC236}">
                <a16:creationId xmlns:a16="http://schemas.microsoft.com/office/drawing/2014/main" id="{70375132-181C-4693-826D-E7BE51ED5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105275"/>
            <a:ext cx="1619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5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时间负担</a:t>
            </a:r>
          </a:p>
        </p:txBody>
      </p:sp>
      <p:sp>
        <p:nvSpPr>
          <p:cNvPr id="32" name="p4-stop-body-1">
            <a:extLst xmlns:a="http://schemas.openxmlformats.org/drawingml/2006/main">
              <a:ext uri="{FF2B5EF4-FFF2-40B4-BE49-F238E27FC236}">
                <a16:creationId xmlns:a16="http://schemas.microsoft.com/office/drawing/2014/main" id="{7B3A9FB8-BEB1-4727-B2E8-68AAB5546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105275"/>
            <a:ext cx="2762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35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持续挤占实验时间</a:t>
            </a:r>
          </a:p>
        </p:txBody>
      </p:sp>
      <p:sp>
        <p:nvSpPr>
          <p:cNvPr id="33" name="p4-stop-label-2">
            <a:extLst xmlns:a="http://schemas.openxmlformats.org/drawingml/2006/main">
              <a:ext uri="{FF2B5EF4-FFF2-40B4-BE49-F238E27FC236}">
                <a16:creationId xmlns:a16="http://schemas.microsoft.com/office/drawing/2014/main" id="{7FCA8B2F-D5EC-456C-BF24-87C7C647E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505325"/>
            <a:ext cx="1619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5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权限不明</a:t>
            </a:r>
          </a:p>
        </p:txBody>
      </p:sp>
      <p:sp>
        <p:nvSpPr>
          <p:cNvPr id="34" name="p4-stop-body-2">
            <a:extLst xmlns:a="http://schemas.openxmlformats.org/drawingml/2006/main">
              <a:ext uri="{FF2B5EF4-FFF2-40B4-BE49-F238E27FC236}">
                <a16:creationId xmlns:a16="http://schemas.microsoft.com/office/drawing/2014/main" id="{39A2D954-26A9-4B64-9A46-B8E439465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505325"/>
            <a:ext cx="2762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35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权限不明</a:t>
            </a:r>
          </a:p>
        </p:txBody>
      </p:sp>
      <p:sp>
        <p:nvSpPr>
          <p:cNvPr id="35" name="p4-stop-label-3">
            <a:extLst xmlns:a="http://schemas.openxmlformats.org/drawingml/2006/main">
              <a:ext uri="{FF2B5EF4-FFF2-40B4-BE49-F238E27FC236}">
                <a16:creationId xmlns:a16="http://schemas.microsoft.com/office/drawing/2014/main" id="{964725BF-21BA-40EA-9A26-A818A4C73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905375"/>
            <a:ext cx="1619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5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重复抄写</a:t>
            </a:r>
          </a:p>
        </p:txBody>
      </p:sp>
      <p:sp>
        <p:nvSpPr>
          <p:cNvPr id="36" name="p4-stop-body-3">
            <a:extLst xmlns:a="http://schemas.openxmlformats.org/drawingml/2006/main">
              <a:ext uri="{FF2B5EF4-FFF2-40B4-BE49-F238E27FC236}">
                <a16:creationId xmlns:a16="http://schemas.microsoft.com/office/drawing/2014/main" id="{68A1852A-422D-4473-8956-696E4AE43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905375"/>
            <a:ext cx="2762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35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只有重复抄写，不帮助解释结果</a:t>
            </a:r>
          </a:p>
        </p:txBody>
      </p:sp>
      <p:sp>
        <p:nvSpPr>
          <p:cNvPr id="37" name="p4-limit-note">
            <a:extLst xmlns:a="http://schemas.openxmlformats.org/drawingml/2006/main">
              <a:ext uri="{FF2B5EF4-FFF2-40B4-BE49-F238E27FC236}">
                <a16:creationId xmlns:a16="http://schemas.microsoft.com/office/drawing/2014/main" id="{71BFC7EC-CA1C-44E1-9A41-487D03F54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000750"/>
            <a:ext cx="11144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20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rPr>
              <a:t>范围为拟定；没有实测效率或完成率。</a:t>
            </a:r>
          </a:p>
        </p:txBody>
      </p:sp>
    </p:spTree>
    <p:extLst>
      <p:ext uri="{BB962C8B-B14F-4D97-AF65-F5344CB8AC3E}">
        <p14:creationId xmlns:p14="http://schemas.microsoft.com/office/powerpoint/2010/main" val="166659984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2026-09-06T09:20:19.2490000Z</dcterms:created>
  <dcterms:modified xsi:type="dcterms:W3CDTF">2026-09-06T09:20:19.2490000Z</dcterms:modified>
</coreProperties>
</file>