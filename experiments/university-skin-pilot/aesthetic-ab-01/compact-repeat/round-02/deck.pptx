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985f6c4d324683" /><Relationship Type="http://schemas.openxmlformats.org/officeDocument/2006/relationships/extended-properties" Target="/docProps/app.xml" Id="Raabee3c5ce644791" /><Relationship Type="http://schemas.openxmlformats.org/officeDocument/2006/relationships/officeDocument" Target="/ppt/presentation.xml" Id="R6a3a80645329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f6c51fb5884274"/>
  </p:sldMasterIdLst>
  <p:notesMasterIdLst>
    <p:notesMasterId xmlns:r="http://schemas.openxmlformats.org/officeDocument/2006/relationships" r:id="Raeff9d811239407c"/>
  </p:notesMasterIdLst>
  <p:sldIdLst>
    <p:sldId xmlns:r="http://schemas.openxmlformats.org/officeDocument/2006/relationships" id="256" r:id="Rb3a5fd839479430e"/>
    <p:sldId xmlns:r="http://schemas.openxmlformats.org/officeDocument/2006/relationships" id="257" r:id="R4d91acd8868c4e87"/>
    <p:sldId xmlns:r="http://schemas.openxmlformats.org/officeDocument/2006/relationships" id="258" r:id="R07b9a57a19cf4b3f"/>
    <p:sldId xmlns:r="http://schemas.openxmlformats.org/officeDocument/2006/relationships" id="259" r:id="R84b122bd41b942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f7d5138bae24630" /><Relationship Type="http://schemas.openxmlformats.org/officeDocument/2006/relationships/slideMaster" Target="/ppt/slideMasters/slideMaster1.xml" Id="Rb0f6c51fb5884274" /><Relationship Type="http://schemas.openxmlformats.org/officeDocument/2006/relationships/notesMaster" Target="/ppt/notesMasters/notesMaster1.xml" Id="Raeff9d811239407c" /><Relationship Type="http://schemas.openxmlformats.org/officeDocument/2006/relationships/presProps" Target="/ppt/presProps.xml" Id="Rc04b6d2eed4e4d41" /><Relationship Type="http://schemas.openxmlformats.org/officeDocument/2006/relationships/tableStyles" Target="/ppt/tableStyles.xml" Id="R762000fda2c54f92" /><Relationship Type="http://schemas.openxmlformats.org/officeDocument/2006/relationships/slide" Target="/ppt/slides/slide1.xml" Id="Rb3a5fd839479430e" /><Relationship Type="http://schemas.openxmlformats.org/officeDocument/2006/relationships/slide" Target="/ppt/slides/slide2.xml" Id="R4d91acd8868c4e87" /><Relationship Type="http://schemas.openxmlformats.org/officeDocument/2006/relationships/slide" Target="/ppt/slides/slide3.xml" Id="R07b9a57a19cf4b3f" /><Relationship Type="http://schemas.openxmlformats.org/officeDocument/2006/relationships/slide" Target="/ppt/slides/slide4.xml" Id="R84b122bd41b942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630b20607a1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2ef76453f4554" /><Relationship Type="http://schemas.openxmlformats.org/officeDocument/2006/relationships/notesMaster" Target="/ppt/notesMasters/notesMaster1.xml" Id="R7d4e9a44a00945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a727abfa6c4e4d" /><Relationship Type="http://schemas.openxmlformats.org/officeDocument/2006/relationships/notesMaster" Target="/ppt/notesMasters/notesMaster1.xml" Id="R574c350a615b49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723ea416f04a01" /><Relationship Type="http://schemas.openxmlformats.org/officeDocument/2006/relationships/notesMaster" Target="/ppt/notesMasters/notesMaster1.xml" Id="Rb78063f9e03a45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8ade508d654b72" /><Relationship Type="http://schemas.openxmlformats.org/officeDocument/2006/relationships/notesMaster" Target="/ppt/notesMasters/notesMaster1.xml" Id="R0da980714d6343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30c4f20ad42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be33884aa24c0d" /><Relationship Type="http://schemas.openxmlformats.org/officeDocument/2006/relationships/slideLayout" Target="/ppt/slideLayouts/slideLayout1.xml" Id="R82cdb08e3e3842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cdb08e3e3842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313e7510e423e" /><Relationship Type="http://schemas.openxmlformats.org/officeDocument/2006/relationships/notesSlide" Target="/ppt/notesSlides/notesSlide1.xml" Id="Rf09462f4171143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f4403f1c24acd" /><Relationship Type="http://schemas.openxmlformats.org/officeDocument/2006/relationships/notesSlide" Target="/ppt/notesSlides/notesSlide2.xml" Id="Ra2c0d8cffdcf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ccde127654aa5" /><Relationship Type="http://schemas.openxmlformats.org/officeDocument/2006/relationships/notesSlide" Target="/ppt/notesSlides/notesSlide3.xml" Id="Rcb501866a27d47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daa9a3090484d" /><Relationship Type="http://schemas.openxmlformats.org/officeDocument/2006/relationships/notesSlide" Target="/ppt/notesSlides/notesSlide4.xml" Id="R0ff8117f489a4c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-1-title">
            <a:extLst xmlns:a="http://schemas.openxmlformats.org/drawingml/2006/main">
              <a:ext uri="{FF2B5EF4-FFF2-40B4-BE49-F238E27FC236}">
                <a16:creationId xmlns:a16="http://schemas.microsoft.com/office/drawing/2014/main" id="{7E6CA48F-7863-4557-9DE0-095B0893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一组可追溯记录共同解释一次结果</a:t>
            </a:r>
          </a:p>
        </p:txBody>
      </p:sp>
      <p:sp>
        <p:nvSpPr>
          <p:cNvPr id="2" name="slide-1-divider">
            <a:extLst xmlns:a="http://schemas.openxmlformats.org/drawingml/2006/main">
              <a:ext uri="{FF2B5EF4-FFF2-40B4-BE49-F238E27FC236}">
                <a16:creationId xmlns:a16="http://schemas.microsoft.com/office/drawing/2014/main" id="{0F818E3C-ECD5-4C8D-80AC-16F3FBC8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34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cord-analysis">
            <a:extLst xmlns:a="http://schemas.openxmlformats.org/drawingml/2006/main">
              <a:ext uri="{FF2B5EF4-FFF2-40B4-BE49-F238E27FC236}">
                <a16:creationId xmlns:a16="http://schemas.microsoft.com/office/drawing/2014/main" id="{A8A94808-2789-44DF-8752-A225705A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752475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record-analysis-label">
            <a:extLst xmlns:a="http://schemas.openxmlformats.org/drawingml/2006/main">
              <a:ext uri="{FF2B5EF4-FFF2-40B4-BE49-F238E27FC236}">
                <a16:creationId xmlns:a16="http://schemas.microsoft.com/office/drawing/2014/main" id="{EC29674D-9B8A-4291-B68C-4D21099F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记录单元｜共同解释同一结果</a:t>
            </a:r>
          </a:p>
        </p:txBody>
      </p:sp>
      <p:sp>
        <p:nvSpPr>
          <p:cNvPr id="5" name="record-analysis-note">
            <a:extLst xmlns:a="http://schemas.openxmlformats.org/drawingml/2006/main">
              <a:ext uri="{FF2B5EF4-FFF2-40B4-BE49-F238E27FC236}">
                <a16:creationId xmlns:a16="http://schemas.microsoft.com/office/drawing/2014/main" id="{7E644919-9079-41D5-BD98-28EA169F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21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五项是并列依据，不是五个先后步骤。</a:t>
            </a:r>
          </a:p>
        </p:txBody>
      </p:sp>
      <p:sp>
        <p:nvSpPr>
          <p:cNvPr id="6" name="record-row-1-label">
            <a:extLst xmlns:a="http://schemas.openxmlformats.org/drawingml/2006/main">
              <a:ext uri="{FF2B5EF4-FFF2-40B4-BE49-F238E27FC236}">
                <a16:creationId xmlns:a16="http://schemas.microsoft.com/office/drawing/2014/main" id="{2E391069-81ED-45DC-B6A9-C7C17413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原始数据位置</a:t>
            </a:r>
          </a:p>
        </p:txBody>
      </p:sp>
      <p:sp>
        <p:nvSpPr>
          <p:cNvPr id="7" name="record-row-1-body">
            <a:extLst xmlns:a="http://schemas.openxmlformats.org/drawingml/2006/main">
              <a:ext uri="{FF2B5EF4-FFF2-40B4-BE49-F238E27FC236}">
                <a16:creationId xmlns:a16="http://schemas.microsoft.com/office/drawing/2014/main" id="{B4276B14-D75C-4F1D-8D21-5316E6DB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说明这份结果对应哪一处原始数据。</a:t>
            </a:r>
          </a:p>
        </p:txBody>
      </p:sp>
      <p:sp>
        <p:nvSpPr>
          <p:cNvPr id="8" name="record-row-1-rule">
            <a:extLst xmlns:a="http://schemas.openxmlformats.org/drawingml/2006/main">
              <a:ext uri="{FF2B5EF4-FFF2-40B4-BE49-F238E27FC236}">
                <a16:creationId xmlns:a16="http://schemas.microsoft.com/office/drawing/2014/main" id="{81BD2A09-23C4-4280-BEA2-6E03CE6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71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record-row-2-label">
            <a:extLst xmlns:a="http://schemas.openxmlformats.org/drawingml/2006/main">
              <a:ext uri="{FF2B5EF4-FFF2-40B4-BE49-F238E27FC236}">
                <a16:creationId xmlns:a16="http://schemas.microsoft.com/office/drawing/2014/main" id="{86BAC2B7-DE78-494D-A947-7BE4383C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样本与采集条件</a:t>
            </a:r>
          </a:p>
        </p:txBody>
      </p:sp>
      <p:sp>
        <p:nvSpPr>
          <p:cNvPr id="10" name="record-row-2-body">
            <a:extLst xmlns:a="http://schemas.openxmlformats.org/drawingml/2006/main">
              <a:ext uri="{FF2B5EF4-FFF2-40B4-BE49-F238E27FC236}">
                <a16:creationId xmlns:a16="http://schemas.microsoft.com/office/drawing/2014/main" id="{031D56C8-DF8A-43AC-BCC8-FDF456C6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5752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保留样本、采集条件和原始数据背景。</a:t>
            </a:r>
          </a:p>
        </p:txBody>
      </p:sp>
      <p:sp>
        <p:nvSpPr>
          <p:cNvPr id="11" name="record-row-2-rule">
            <a:extLst xmlns:a="http://schemas.openxmlformats.org/drawingml/2006/main">
              <a:ext uri="{FF2B5EF4-FFF2-40B4-BE49-F238E27FC236}">
                <a16:creationId xmlns:a16="http://schemas.microsoft.com/office/drawing/2014/main" id="{74EBDEDE-75BF-4D6A-BC08-44455FD4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671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ord-row-3-label">
            <a:extLst xmlns:a="http://schemas.openxmlformats.org/drawingml/2006/main">
              <a:ext uri="{FF2B5EF4-FFF2-40B4-BE49-F238E27FC236}">
                <a16:creationId xmlns:a16="http://schemas.microsoft.com/office/drawing/2014/main" id="{C86DA78E-EBB1-4494-BFF1-7B0A86BC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处理脚本版本</a:t>
            </a:r>
          </a:p>
        </p:txBody>
      </p:sp>
      <p:sp>
        <p:nvSpPr>
          <p:cNvPr id="13" name="record-row-3-body">
            <a:extLst xmlns:a="http://schemas.openxmlformats.org/drawingml/2006/main">
              <a:ext uri="{FF2B5EF4-FFF2-40B4-BE49-F238E27FC236}">
                <a16:creationId xmlns:a16="http://schemas.microsoft.com/office/drawing/2014/main" id="{D9662EFD-F7C9-4B6C-B5C7-7D651940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9570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定位实际运行代码。</a:t>
            </a:r>
          </a:p>
        </p:txBody>
      </p:sp>
      <p:sp>
        <p:nvSpPr>
          <p:cNvPr id="14" name="record-row-3-rule">
            <a:extLst xmlns:a="http://schemas.openxmlformats.org/drawingml/2006/main">
              <a:ext uri="{FF2B5EF4-FFF2-40B4-BE49-F238E27FC236}">
                <a16:creationId xmlns:a16="http://schemas.microsoft.com/office/drawing/2014/main" id="{72AD64CD-76E7-49C8-8703-1CF6D514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671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cord-row-4-label">
            <a:extLst xmlns:a="http://schemas.openxmlformats.org/drawingml/2006/main">
              <a:ext uri="{FF2B5EF4-FFF2-40B4-BE49-F238E27FC236}">
                <a16:creationId xmlns:a16="http://schemas.microsoft.com/office/drawing/2014/main" id="{1A65B1D6-2B14-4069-97D5-150343463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结果文件</a:t>
            </a:r>
          </a:p>
        </p:txBody>
      </p:sp>
      <p:sp>
        <p:nvSpPr>
          <p:cNvPr id="16" name="record-row-4-body">
            <a:extLst xmlns:a="http://schemas.openxmlformats.org/drawingml/2006/main">
              <a:ext uri="{FF2B5EF4-FFF2-40B4-BE49-F238E27FC236}">
                <a16:creationId xmlns:a16="http://schemas.microsoft.com/office/drawing/2014/main" id="{45A08D5C-6E7F-4F32-A3DE-B27EA2C9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33875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保留结果图、表和输出文件的落点。</a:t>
            </a:r>
          </a:p>
        </p:txBody>
      </p:sp>
      <p:sp>
        <p:nvSpPr>
          <p:cNvPr id="17" name="record-row-4-rule">
            <a:extLst xmlns:a="http://schemas.openxmlformats.org/drawingml/2006/main">
              <a:ext uri="{FF2B5EF4-FFF2-40B4-BE49-F238E27FC236}">
                <a16:creationId xmlns:a16="http://schemas.microsoft.com/office/drawing/2014/main" id="{301AFED2-CE80-4B26-9E59-7AAEA0E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6715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cord-row-5-label">
            <a:extLst xmlns:a="http://schemas.openxmlformats.org/drawingml/2006/main">
              <a:ext uri="{FF2B5EF4-FFF2-40B4-BE49-F238E27FC236}">
                <a16:creationId xmlns:a16="http://schemas.microsoft.com/office/drawing/2014/main" id="{110E92F2-3A4F-47DA-B7E1-DA516704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异常及排除说明</a:t>
            </a:r>
          </a:p>
        </p:txBody>
      </p:sp>
      <p:sp>
        <p:nvSpPr>
          <p:cNvPr id="19" name="record-row-5-body">
            <a:extLst xmlns:a="http://schemas.openxmlformats.org/drawingml/2006/main">
              <a:ext uri="{FF2B5EF4-FFF2-40B4-BE49-F238E27FC236}">
                <a16:creationId xmlns:a16="http://schemas.microsoft.com/office/drawing/2014/main" id="{217DA88A-DF1A-4137-86FB-F2111E42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972050"/>
            <a:ext cx="442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未纳入结果的样本也保留排除依据。</a:t>
            </a:r>
          </a:p>
        </p:txBody>
      </p:sp>
      <p:sp>
        <p:nvSpPr>
          <p:cNvPr id="20" name="record-boundary-note">
            <a:extLst xmlns:a="http://schemas.openxmlformats.org/drawingml/2006/main">
              <a:ext uri="{FF2B5EF4-FFF2-40B4-BE49-F238E27FC236}">
                <a16:creationId xmlns:a16="http://schemas.microsoft.com/office/drawing/2014/main" id="{BE02EE0F-6ADB-4088-856C-D14CAAFB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05450"/>
            <a:ext cx="6715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原始数据保持原貌，清洗处理另存；脚本版本定位实际运行代码。</a:t>
            </a:r>
          </a:p>
        </p:txBody>
      </p:sp>
      <p:sp>
        <p:nvSpPr>
          <p:cNvPr id="21" name="access-boundary">
            <a:extLst xmlns:a="http://schemas.openxmlformats.org/drawingml/2006/main">
              <a:ext uri="{FF2B5EF4-FFF2-40B4-BE49-F238E27FC236}">
                <a16:creationId xmlns:a16="http://schemas.microsoft.com/office/drawing/2014/main" id="{1A67EB3B-3EF0-4204-8D4C-F4BAC0E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28750"/>
            <a:ext cx="32385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ccess-boundary-title">
            <a:extLst xmlns:a="http://schemas.openxmlformats.org/drawingml/2006/main">
              <a:ext uri="{FF2B5EF4-FFF2-40B4-BE49-F238E27FC236}">
                <a16:creationId xmlns:a16="http://schemas.microsoft.com/office/drawing/2014/main" id="{7FC7A74D-04F7-412F-8A41-5F4C0E99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76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访问边界</a:t>
            </a:r>
          </a:p>
        </p:txBody>
      </p:sp>
      <p:sp>
        <p:nvSpPr>
          <p:cNvPr id="23" name="access-boundary-body">
            <a:extLst xmlns:a="http://schemas.openxmlformats.org/drawingml/2006/main">
              <a:ext uri="{FF2B5EF4-FFF2-40B4-BE49-F238E27FC236}">
                <a16:creationId xmlns:a16="http://schemas.microsoft.com/office/drawing/2014/main" id="{D0C56B8B-5AA0-4862-ABB8-DA948487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33600"/>
            <a:ext cx="2762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记录完整不意味着全部文件开放。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讨论材料含结果图与可公开解释。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受限数据保留原授权位置；记录只含受控引用与访问条件。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路径不代表访问权。</a:t>
            </a:r>
          </a:p>
        </p:txBody>
      </p:sp>
      <p:sp>
        <p:nvSpPr>
          <p:cNvPr id="24" name="footer-1">
            <a:extLst xmlns:a="http://schemas.openxmlformats.org/drawingml/2006/main">
              <a:ext uri="{FF2B5EF4-FFF2-40B4-BE49-F238E27FC236}">
                <a16:creationId xmlns:a16="http://schemas.microsoft.com/office/drawing/2014/main" id="{3B979D50-0FC9-4111-A3BD-AEA5957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实验归档试点｜拟定分析  ·  1/4</a:t>
            </a:r>
          </a:p>
        </p:txBody>
      </p:sp>
    </p:spTree>
    <p:extLst>
      <p:ext uri="{BB962C8B-B14F-4D97-AF65-F5344CB8AC3E}">
        <p14:creationId xmlns:p14="http://schemas.microsoft.com/office/powerpoint/2010/main" val="21347749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0D2CCF51-CBBE-4E0D-983E-FCEEF9F6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范围选择：先记新增，再补真正需要复核的历史</a:t>
            </a:r>
          </a:p>
        </p:txBody>
      </p:sp>
      <p:sp>
        <p:nvSpPr>
          <p:cNvPr id="2" name="slide-2-divider">
            <a:extLst xmlns:a="http://schemas.openxmlformats.org/drawingml/2006/main">
              <a:ext uri="{FF2B5EF4-FFF2-40B4-BE49-F238E27FC236}">
                <a16:creationId xmlns:a16="http://schemas.microsoft.com/office/drawing/2014/main" id="{C55B895D-127B-4ADD-98C6-4043B098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34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history-column">
            <a:extLst xmlns:a="http://schemas.openxmlformats.org/drawingml/2006/main">
              <a:ext uri="{FF2B5EF4-FFF2-40B4-BE49-F238E27FC236}">
                <a16:creationId xmlns:a16="http://schemas.microsoft.com/office/drawing/2014/main" id="{0BA6B032-90CA-4A7D-9C13-C2C3ECBF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953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new-column">
            <a:extLst xmlns:a="http://schemas.openxmlformats.org/drawingml/2006/main">
              <a:ext uri="{FF2B5EF4-FFF2-40B4-BE49-F238E27FC236}">
                <a16:creationId xmlns:a16="http://schemas.microsoft.com/office/drawing/2014/main" id="{E0B3B302-328D-44DC-B702-3AB2D04A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428750"/>
            <a:ext cx="4953000" cy="442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history-title">
            <a:extLst xmlns:a="http://schemas.openxmlformats.org/drawingml/2006/main">
              <a:ext uri="{FF2B5EF4-FFF2-40B4-BE49-F238E27FC236}">
                <a16:creationId xmlns:a16="http://schemas.microsoft.com/office/drawing/2014/main" id="{10B3204D-F0C1-44D2-8C85-2588E901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76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集中补历史</a:t>
            </a:r>
          </a:p>
        </p:txBody>
      </p:sp>
      <p:sp>
        <p:nvSpPr>
          <p:cNvPr id="6" name="new-title">
            <a:extLst xmlns:a="http://schemas.openxmlformats.org/drawingml/2006/main">
              <a:ext uri="{FF2B5EF4-FFF2-40B4-BE49-F238E27FC236}">
                <a16:creationId xmlns:a16="http://schemas.microsoft.com/office/drawing/2014/main" id="{B31852FB-01AC-4361-AECA-6E9E8381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6764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先记新增</a:t>
            </a:r>
          </a:p>
        </p:txBody>
      </p:sp>
      <p:sp>
        <p:nvSpPr>
          <p:cNvPr id="7" name="compare-row-1-dimension">
            <a:extLst xmlns:a="http://schemas.openxmlformats.org/drawingml/2006/main">
              <a:ext uri="{FF2B5EF4-FFF2-40B4-BE49-F238E27FC236}">
                <a16:creationId xmlns:a16="http://schemas.microsoft.com/office/drawing/2014/main" id="{52A42DE4-A55D-48AB-84DE-E2FA5E39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收益</a:t>
            </a:r>
          </a:p>
        </p:txBody>
      </p:sp>
      <p:sp>
        <p:nvSpPr>
          <p:cNvPr id="8" name="compare-row-1-history-text">
            <a:extLst xmlns:a="http://schemas.openxmlformats.org/drawingml/2006/main">
              <a:ext uri="{FF2B5EF4-FFF2-40B4-BE49-F238E27FC236}">
                <a16:creationId xmlns:a16="http://schemas.microsoft.com/office/drawing/2014/main" id="{29A5B07F-F43C-49BC-A4D1-A24251D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一次形成较大目录</a:t>
            </a:r>
          </a:p>
        </p:txBody>
      </p:sp>
      <p:sp>
        <p:nvSpPr>
          <p:cNvPr id="9" name="compare-row-1-new-text">
            <a:extLst xmlns:a="http://schemas.openxmlformats.org/drawingml/2006/main">
              <a:ext uri="{FF2B5EF4-FFF2-40B4-BE49-F238E27FC236}">
                <a16:creationId xmlns:a16="http://schemas.microsoft.com/office/drawing/2014/main" id="{841926A2-27B3-489D-9CAA-32E2DD86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860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上下文清楚时记录新增实验</a:t>
            </a:r>
          </a:p>
        </p:txBody>
      </p:sp>
      <p:sp>
        <p:nvSpPr>
          <p:cNvPr id="10" name="compare-row-1-rule">
            <a:extLst xmlns:a="http://schemas.openxmlformats.org/drawingml/2006/main">
              <a:ext uri="{FF2B5EF4-FFF2-40B4-BE49-F238E27FC236}">
                <a16:creationId xmlns:a16="http://schemas.microsoft.com/office/drawing/2014/main" id="{6F254A37-8443-447C-A701-6671AB4D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are-row-2-dimension">
            <a:extLst xmlns:a="http://schemas.openxmlformats.org/drawingml/2006/main">
              <a:ext uri="{FF2B5EF4-FFF2-40B4-BE49-F238E27FC236}">
                <a16:creationId xmlns:a16="http://schemas.microsoft.com/office/drawing/2014/main" id="{03646FED-2114-4A0A-8987-3E78A412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24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代价</a:t>
            </a:r>
          </a:p>
        </p:txBody>
      </p:sp>
      <p:sp>
        <p:nvSpPr>
          <p:cNvPr id="12" name="compare-row-2-history-text">
            <a:extLst xmlns:a="http://schemas.openxmlformats.org/drawingml/2006/main">
              <a:ext uri="{FF2B5EF4-FFF2-40B4-BE49-F238E27FC236}">
                <a16:creationId xmlns:a16="http://schemas.microsoft.com/office/drawing/2014/main" id="{0B744E7C-3357-494F-A3AE-4EF25871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追查遗失上下文耗时；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不确定记忆可能写成确定说明</a:t>
            </a:r>
          </a:p>
        </p:txBody>
      </p:sp>
      <p:sp>
        <p:nvSpPr>
          <p:cNvPr id="13" name="compare-row-2-new-text">
            <a:extLst xmlns:a="http://schemas.openxmlformats.org/drawingml/2006/main">
              <a:ext uri="{FF2B5EF4-FFF2-40B4-BE49-F238E27FC236}">
                <a16:creationId xmlns:a16="http://schemas.microsoft.com/office/drawing/2014/main" id="{828823BF-1A65-4AA3-8F57-7C47272C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528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短期无法解决全部历史材料追溯</a:t>
            </a:r>
          </a:p>
        </p:txBody>
      </p:sp>
      <p:sp>
        <p:nvSpPr>
          <p:cNvPr id="14" name="compare-row-2-rule">
            <a:extLst xmlns:a="http://schemas.openxmlformats.org/drawingml/2006/main">
              <a:ext uri="{FF2B5EF4-FFF2-40B4-BE49-F238E27FC236}">
                <a16:creationId xmlns:a16="http://schemas.microsoft.com/office/drawing/2014/main" id="{8DCD18E8-24E9-41D4-A7DF-6B74D3890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mpare-row-3-dimension">
            <a:extLst xmlns:a="http://schemas.openxmlformats.org/drawingml/2006/main">
              <a:ext uri="{FF2B5EF4-FFF2-40B4-BE49-F238E27FC236}">
                <a16:creationId xmlns:a16="http://schemas.microsoft.com/office/drawing/2014/main" id="{3DEBA375-311D-4D84-8C40-3EFADB45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910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判断</a:t>
            </a:r>
          </a:p>
        </p:txBody>
      </p:sp>
      <p:sp>
        <p:nvSpPr>
          <p:cNvPr id="16" name="compare-row-3-history-text">
            <a:extLst xmlns:a="http://schemas.openxmlformats.org/drawingml/2006/main">
              <a:ext uri="{FF2B5EF4-FFF2-40B4-BE49-F238E27FC236}">
                <a16:creationId xmlns:a16="http://schemas.microsoft.com/office/drawing/2014/main" id="{BBC5903B-E4B8-4AA7-9A24-A7133947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暂不作为第一步</a:t>
            </a:r>
          </a:p>
        </p:txBody>
      </p:sp>
      <p:sp>
        <p:nvSpPr>
          <p:cNvPr id="17" name="compare-row-3-new-text">
            <a:extLst xmlns:a="http://schemas.openxmlformats.org/drawingml/2006/main">
              <a:ext uri="{FF2B5EF4-FFF2-40B4-BE49-F238E27FC236}">
                <a16:creationId xmlns:a16="http://schemas.microsoft.com/office/drawing/2014/main" id="{D87F381E-13B5-4CC0-AF8D-6E1DC80C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4196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建议先做；历史结果逐项补充</a:t>
            </a:r>
          </a:p>
        </p:txBody>
      </p:sp>
      <p:sp>
        <p:nvSpPr>
          <p:cNvPr id="18" name="slide-2-boundary-rule">
            <a:extLst xmlns:a="http://schemas.openxmlformats.org/drawingml/2006/main">
              <a:ext uri="{FF2B5EF4-FFF2-40B4-BE49-F238E27FC236}">
                <a16:creationId xmlns:a16="http://schemas.microsoft.com/office/drawing/2014/main" id="{66A8C76D-DA82-4639-9123-ED876168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04837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lide-2-boundary-text">
            <a:extLst xmlns:a="http://schemas.openxmlformats.org/drawingml/2006/main">
              <a:ext uri="{FF2B5EF4-FFF2-40B4-BE49-F238E27FC236}">
                <a16:creationId xmlns:a16="http://schemas.microsoft.com/office/drawing/2014/main" id="{70B0F105-4120-448F-95C8-61A6FFA2C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531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这是范围选择，没有证明效率提升。</a:t>
            </a:r>
          </a:p>
        </p:txBody>
      </p:sp>
      <p:sp>
        <p:nvSpPr>
          <p:cNvPr id="20" name="footer-2">
            <a:extLst xmlns:a="http://schemas.openxmlformats.org/drawingml/2006/main">
              <a:ext uri="{FF2B5EF4-FFF2-40B4-BE49-F238E27FC236}">
                <a16:creationId xmlns:a16="http://schemas.microsoft.com/office/drawing/2014/main" id="{E362F7DA-6B96-4D28-B62D-F5A2FC679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实验归档试点｜拟定分析  ·  2/4</a:t>
            </a:r>
          </a:p>
        </p:txBody>
      </p:sp>
    </p:spTree>
    <p:extLst>
      <p:ext uri="{BB962C8B-B14F-4D97-AF65-F5344CB8AC3E}">
        <p14:creationId xmlns:p14="http://schemas.microsoft.com/office/powerpoint/2010/main" val="131041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82DFA550-20DE-4922-97F3-F02CE3B6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复核按提交、定位、补充、确认推进</a:t>
            </a:r>
          </a:p>
        </p:txBody>
      </p:sp>
      <p:sp>
        <p:nvSpPr>
          <p:cNvPr id="2" name="slide-3-divider">
            <a:extLst xmlns:a="http://schemas.openxmlformats.org/drawingml/2006/main">
              <a:ext uri="{FF2B5EF4-FFF2-40B4-BE49-F238E27FC236}">
                <a16:creationId xmlns:a16="http://schemas.microsoft.com/office/drawing/2014/main" id="{7C0D1A63-EFE3-4F34-B84D-C36825F7E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34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view-boundary-text">
            <a:extLst xmlns:a="http://schemas.openxmlformats.org/drawingml/2006/main">
              <a:ext uri="{FF2B5EF4-FFF2-40B4-BE49-F238E27FC236}">
                <a16:creationId xmlns:a16="http://schemas.microsoft.com/office/drawing/2014/main" id="{3D66E4E8-0CC4-4C1E-B65E-28237BA1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00150"/>
            <a:ext cx="11144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复核检查结果如何产生；不要求复做实验，也不代替科学结论审查。</a:t>
            </a:r>
          </a:p>
        </p:txBody>
      </p:sp>
      <p:sp>
        <p:nvSpPr>
          <p:cNvPr id="4" name="review-node-1">
            <a:extLst xmlns:a="http://schemas.openxmlformats.org/drawingml/2006/main">
              <a:ext uri="{FF2B5EF4-FFF2-40B4-BE49-F238E27FC236}">
                <a16:creationId xmlns:a16="http://schemas.microsoft.com/office/drawing/2014/main" id="{8CB4705B-7805-475E-AADE-51E4871F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52625"/>
            <a:ext cx="23812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5" name="review-node-2">
            <a:extLst xmlns:a="http://schemas.openxmlformats.org/drawingml/2006/main">
              <a:ext uri="{FF2B5EF4-FFF2-40B4-BE49-F238E27FC236}">
                <a16:creationId xmlns:a16="http://schemas.microsoft.com/office/drawing/2014/main" id="{2F34CE77-9CA3-4134-956F-5D2370C7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952625"/>
            <a:ext cx="23812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6" name="review-node-3">
            <a:extLst xmlns:a="http://schemas.openxmlformats.org/drawingml/2006/main">
              <a:ext uri="{FF2B5EF4-FFF2-40B4-BE49-F238E27FC236}">
                <a16:creationId xmlns:a16="http://schemas.microsoft.com/office/drawing/2014/main" id="{1C68F522-C0A8-4F22-BA22-ABB41D9E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52625"/>
            <a:ext cx="23812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sp>
        <p:nvSpPr>
          <p:cNvPr id="7" name="review-node-4">
            <a:extLst xmlns:a="http://schemas.openxmlformats.org/drawingml/2006/main">
              <a:ext uri="{FF2B5EF4-FFF2-40B4-BE49-F238E27FC236}">
                <a16:creationId xmlns:a16="http://schemas.microsoft.com/office/drawing/2014/main" id="{3A64C0DC-7A9C-45F0-8817-C03D2CD8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52625"/>
            <a:ext cx="2381250" cy="16764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6"/>
            </a:solidFill>
            <a:prstDash val="solid"/>
          </a:ln>
        </p:spPr>
      </p: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2905125" y="2790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667375" y="2790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8429625" y="27908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11" name="review-node-1-title">
            <a:extLst xmlns:a="http://schemas.openxmlformats.org/drawingml/2006/main">
              <a:ext uri="{FF2B5EF4-FFF2-40B4-BE49-F238E27FC236}">
                <a16:creationId xmlns:a16="http://schemas.microsoft.com/office/drawing/2014/main" id="{F618F396-6733-4D87-8893-2E71E0AB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2" name="review-node-1-body">
            <a:extLst xmlns:a="http://schemas.openxmlformats.org/drawingml/2006/main">
              <a:ext uri="{FF2B5EF4-FFF2-40B4-BE49-F238E27FC236}">
                <a16:creationId xmlns:a16="http://schemas.microsoft.com/office/drawing/2014/main" id="{93E9AABD-6C1C-46B8-8F76-77DA7456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执行者提交结果记录及受控引用。</a:t>
            </a:r>
          </a:p>
        </p:txBody>
      </p:sp>
      <p:sp>
        <p:nvSpPr>
          <p:cNvPr id="13" name="review-node-2-title">
            <a:extLst xmlns:a="http://schemas.openxmlformats.org/drawingml/2006/main">
              <a:ext uri="{FF2B5EF4-FFF2-40B4-BE49-F238E27FC236}">
                <a16:creationId xmlns:a16="http://schemas.microsoft.com/office/drawing/2014/main" id="{ABABBF52-E887-44E2-8269-2ADF4456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定位缺项</a:t>
            </a:r>
          </a:p>
        </p:txBody>
      </p:sp>
      <p:sp>
        <p:nvSpPr>
          <p:cNvPr id="14" name="review-node-2-body">
            <a:extLst xmlns:a="http://schemas.openxmlformats.org/drawingml/2006/main">
              <a:ext uri="{FF2B5EF4-FFF2-40B4-BE49-F238E27FC236}">
                <a16:creationId xmlns:a16="http://schemas.microsoft.com/office/drawing/2014/main" id="{E709F2C0-9369-4EBD-9AD4-87879745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289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另一成员定位数据、脚本、条件，提出缺项。</a:t>
            </a:r>
          </a:p>
        </p:txBody>
      </p:sp>
      <p:sp>
        <p:nvSpPr>
          <p:cNvPr id="15" name="review-node-3-title">
            <a:extLst xmlns:a="http://schemas.openxmlformats.org/drawingml/2006/main">
              <a:ext uri="{FF2B5EF4-FFF2-40B4-BE49-F238E27FC236}">
                <a16:creationId xmlns:a16="http://schemas.microsoft.com/office/drawing/2014/main" id="{8CE30F2B-31A3-495E-9D3A-126A6BC5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补充</a:t>
            </a:r>
          </a:p>
        </p:txBody>
      </p:sp>
      <p:sp>
        <p:nvSpPr>
          <p:cNvPr id="16" name="review-node-3-body">
            <a:extLst xmlns:a="http://schemas.openxmlformats.org/drawingml/2006/main">
              <a:ext uri="{FF2B5EF4-FFF2-40B4-BE49-F238E27FC236}">
                <a16:creationId xmlns:a16="http://schemas.microsoft.com/office/drawing/2014/main" id="{9EE62886-CEB8-4E22-89BD-6611EE76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6289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执行者补充缺项和说明。</a:t>
            </a:r>
          </a:p>
        </p:txBody>
      </p:sp>
      <p:sp>
        <p:nvSpPr>
          <p:cNvPr id="17" name="review-node-4-title">
            <a:extLst xmlns:a="http://schemas.openxmlformats.org/drawingml/2006/main">
              <a:ext uri="{FF2B5EF4-FFF2-40B4-BE49-F238E27FC236}">
                <a16:creationId xmlns:a16="http://schemas.microsoft.com/office/drawing/2014/main" id="{30B4275C-9161-4AEC-91E2-C5D878D9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1526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确认</a:t>
            </a:r>
          </a:p>
        </p:txBody>
      </p:sp>
      <p:sp>
        <p:nvSpPr>
          <p:cNvPr id="18" name="review-node-4-body">
            <a:extLst xmlns:a="http://schemas.openxmlformats.org/drawingml/2006/main">
              <a:ext uri="{FF2B5EF4-FFF2-40B4-BE49-F238E27FC236}">
                <a16:creationId xmlns:a16="http://schemas.microsoft.com/office/drawing/2014/main" id="{CF3F11A4-4D62-462C-9902-11460EA0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2890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负责人确认后进入可讨论版本。</a:t>
            </a:r>
          </a:p>
        </p:txBody>
      </p:sp>
      <p:sp>
        <p:nvSpPr>
          <p:cNvPr id="19" name="exception-rule">
            <a:extLst xmlns:a="http://schemas.openxmlformats.org/drawingml/2006/main">
              <a:ext uri="{FF2B5EF4-FFF2-40B4-BE49-F238E27FC236}">
                <a16:creationId xmlns:a16="http://schemas.microsoft.com/office/drawing/2014/main" id="{A1A1C09D-F683-4777-B0B7-339EEAFF4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exception-title">
            <a:extLst xmlns:a="http://schemas.openxmlformats.org/drawingml/2006/main">
              <a:ext uri="{FF2B5EF4-FFF2-40B4-BE49-F238E27FC236}">
                <a16:creationId xmlns:a16="http://schemas.microsoft.com/office/drawing/2014/main" id="{5E6969BC-CC9A-40DA-B196-211698B2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21" name="exception-node-1">
            <a:extLst xmlns:a="http://schemas.openxmlformats.org/drawingml/2006/main">
              <a:ext uri="{FF2B5EF4-FFF2-40B4-BE49-F238E27FC236}">
                <a16:creationId xmlns:a16="http://schemas.microsoft.com/office/drawing/2014/main" id="{754B2915-E80D-444E-BFE3-826B2E22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3243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exception-node-2">
            <a:extLst xmlns:a="http://schemas.openxmlformats.org/drawingml/2006/main">
              <a:ext uri="{FF2B5EF4-FFF2-40B4-BE49-F238E27FC236}">
                <a16:creationId xmlns:a16="http://schemas.microsoft.com/office/drawing/2014/main" id="{ECCB3520-A5EC-45A3-9046-F149284B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324350"/>
            <a:ext cx="1619250" cy="66675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exception-node-3">
            <a:extLst xmlns:a="http://schemas.openxmlformats.org/drawingml/2006/main">
              <a:ext uri="{FF2B5EF4-FFF2-40B4-BE49-F238E27FC236}">
                <a16:creationId xmlns:a16="http://schemas.microsoft.com/office/drawing/2014/main" id="{D1EA3433-15B9-4C7B-83D3-37BA016E3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324350"/>
            <a:ext cx="2857500" cy="666750"/>
          </a:xfrm>
          <a:prstGeom xmlns:a="http://schemas.openxmlformats.org/drawingml/2006/main" prst="roundRect">
            <a:avLst>
              <a:gd name="adj" fmla="val 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exception-node-1-title">
            <a:extLst xmlns:a="http://schemas.openxmlformats.org/drawingml/2006/main">
              <a:ext uri="{FF2B5EF4-FFF2-40B4-BE49-F238E27FC236}">
                <a16:creationId xmlns:a16="http://schemas.microsoft.com/office/drawing/2014/main" id="{4ABE2FCB-D45D-445E-967B-49097929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815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</p:txBody>
      </p:sp>
      <p:sp>
        <p:nvSpPr>
          <p:cNvPr id="25" name="exception-node-1-body">
            <a:extLst xmlns:a="http://schemas.openxmlformats.org/drawingml/2006/main">
              <a:ext uri="{FF2B5EF4-FFF2-40B4-BE49-F238E27FC236}">
                <a16:creationId xmlns:a16="http://schemas.microsoft.com/office/drawing/2014/main" id="{66117EAA-9038-4FD8-9869-179850B84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05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新增访问授权</a:t>
            </a:r>
          </a:p>
        </p:txBody>
      </p:sp>
      <p:sp>
        <p:nvSpPr>
          <p:cNvPr id="26" name="exception-node-2-title">
            <a:extLst xmlns:a="http://schemas.openxmlformats.org/drawingml/2006/main">
              <a:ext uri="{FF2B5EF4-FFF2-40B4-BE49-F238E27FC236}">
                <a16:creationId xmlns:a16="http://schemas.microsoft.com/office/drawing/2014/main" id="{09B97045-D126-4C30-90F9-DA93F9E4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381500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暂停共享</a:t>
            </a:r>
          </a:p>
        </p:txBody>
      </p:sp>
      <p:sp>
        <p:nvSpPr>
          <p:cNvPr id="27" name="exception-node-2-body">
            <a:extLst xmlns:a="http://schemas.openxmlformats.org/drawingml/2006/main">
              <a:ext uri="{FF2B5EF4-FFF2-40B4-BE49-F238E27FC236}">
                <a16:creationId xmlns:a16="http://schemas.microsoft.com/office/drawing/2014/main" id="{577B0241-0768-423E-9ED7-AD4D3D2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70535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等待授权处理</a:t>
            </a:r>
          </a:p>
        </p:txBody>
      </p:sp>
      <p:sp>
        <p:nvSpPr>
          <p:cNvPr id="28" name="exception-node-3-title">
            <a:extLst xmlns:a="http://schemas.openxmlformats.org/drawingml/2006/main">
              <a:ext uri="{FF2B5EF4-FFF2-40B4-BE49-F238E27FC236}">
                <a16:creationId xmlns:a16="http://schemas.microsoft.com/office/drawing/2014/main" id="{06BEEF7B-DEAC-4249-A08F-16792A002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381500"/>
            <a:ext cx="2705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负责人处理授权后继续</a:t>
            </a:r>
          </a:p>
        </p:txBody>
      </p:sp>
      <p:sp>
        <p:nvSpPr>
          <p:cNvPr id="29" name="exception-node-3-body">
            <a:extLst xmlns:a="http://schemas.openxmlformats.org/drawingml/2006/main">
              <a:ext uri="{FF2B5EF4-FFF2-40B4-BE49-F238E27FC236}">
                <a16:creationId xmlns:a16="http://schemas.microsoft.com/office/drawing/2014/main" id="{A3A6A56A-7C58-44A9-8F82-C9C79A98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4705350"/>
            <a:ext cx="270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恢复共享</a:t>
            </a:r>
          </a:p>
        </p:txBody>
      </p:sp>
      <p:cxnSp>
        <p:nvCxnSpPr>
          <p:cNvPr id="63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333875" y="46577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F91"/>
            </a:solidFill>
            <a:prstDash val="solid"/>
            <a:tailEnd type="triangle" w="sm" len="sm"/>
          </a:ln>
        </p:spPr>
      </p:cxnSp>
      <p:cxnSp>
        <p:nvCxnSpPr>
          <p:cNvPr id="64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48500" y="46577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315F91"/>
            </a:solidFill>
            <a:prstDash val="solid"/>
            <a:tailEnd type="triangle" w="sm" len="sm"/>
          </a:ln>
        </p:spPr>
      </p:cxnSp>
      <p:sp>
        <p:nvSpPr>
          <p:cNvPr id="32" name="exception-note">
            <a:extLst xmlns:a="http://schemas.openxmlformats.org/drawingml/2006/main">
              <a:ext uri="{FF2B5EF4-FFF2-40B4-BE49-F238E27FC236}">
                <a16:creationId xmlns:a16="http://schemas.microsoft.com/office/drawing/2014/main" id="{853B5338-5F2B-4EA9-BB4E-FF87E7C1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114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遇到新增访问授权，主路径暂停；授权处理后继续。</a:t>
            </a:r>
          </a:p>
        </p:txBody>
      </p:sp>
      <p:sp>
        <p:nvSpPr>
          <p:cNvPr id="33" name="footer-3">
            <a:extLst xmlns:a="http://schemas.openxmlformats.org/drawingml/2006/main">
              <a:ext uri="{FF2B5EF4-FFF2-40B4-BE49-F238E27FC236}">
                <a16:creationId xmlns:a16="http://schemas.microsoft.com/office/drawing/2014/main" id="{A83B5D69-704C-48EB-8B6F-4E5B7B8D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实验归档试点｜拟定分析  ·  3/4</a:t>
            </a:r>
          </a:p>
        </p:txBody>
      </p:sp>
    </p:spTree>
    <p:extLst>
      <p:ext uri="{BB962C8B-B14F-4D97-AF65-F5344CB8AC3E}">
        <p14:creationId xmlns:p14="http://schemas.microsoft.com/office/powerpoint/2010/main" val="304306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DD70A8C-B562-4560-81E2-F5A8E0BD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四周试点的去留由复核过程和成员反馈决定</a:t>
            </a:r>
          </a:p>
        </p:txBody>
      </p:sp>
      <p:sp>
        <p:nvSpPr>
          <p:cNvPr id="2" name="slide-4-divider">
            <a:extLst xmlns:a="http://schemas.openxmlformats.org/drawingml/2006/main">
              <a:ext uri="{FF2B5EF4-FFF2-40B4-BE49-F238E27FC236}">
                <a16:creationId xmlns:a16="http://schemas.microsoft.com/office/drawing/2014/main" id="{87C0E080-1357-4741-8ADF-3EB62C91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9334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ilot-scope-title">
            <a:extLst xmlns:a="http://schemas.openxmlformats.org/drawingml/2006/main">
              <a:ext uri="{FF2B5EF4-FFF2-40B4-BE49-F238E27FC236}">
                <a16:creationId xmlns:a16="http://schemas.microsoft.com/office/drawing/2014/main" id="{C0F55BB1-5F1A-4A2F-9DAC-FF0E1384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试点范围（拟定）</a:t>
            </a:r>
          </a:p>
        </p:txBody>
      </p:sp>
      <p:sp>
        <p:nvSpPr>
          <p:cNvPr id="4" name="pilot-scope-body">
            <a:extLst xmlns:a="http://schemas.openxmlformats.org/drawingml/2006/main">
              <a:ext uri="{FF2B5EF4-FFF2-40B4-BE49-F238E27FC236}">
                <a16:creationId xmlns:a16="http://schemas.microsoft.com/office/drawing/2014/main" id="{45273BB6-F06F-44F5-9B4B-4A78EAAB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90700"/>
            <a:ext cx="228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仅一个课题方向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两名自愿成员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记录新增实验</a:t>
            </a:r>
          </a:p>
        </p:txBody>
      </p:sp>
      <p:sp>
        <p:nvSpPr>
          <p:cNvPr id="5" name="scope-divider">
            <a:extLst xmlns:a="http://schemas.openxmlformats.org/drawingml/2006/main">
              <a:ext uri="{FF2B5EF4-FFF2-40B4-BE49-F238E27FC236}">
                <a16:creationId xmlns:a16="http://schemas.microsoft.com/office/drawing/2014/main" id="{F4231619-4AA5-4425-B3DE-9D451819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33500"/>
            <a:ext cx="95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line-title">
            <a:extLst xmlns:a="http://schemas.openxmlformats.org/drawingml/2006/main">
              <a:ext uri="{FF2B5EF4-FFF2-40B4-BE49-F238E27FC236}">
                <a16:creationId xmlns:a16="http://schemas.microsoft.com/office/drawing/2014/main" id="{FB772DD5-8BFA-40A5-BEF0-33C82CD1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33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四周推进</a:t>
            </a:r>
          </a:p>
        </p:txBody>
      </p:sp>
      <p:sp>
        <p:nvSpPr>
          <p:cNvPr id="7" name="timeline-axis">
            <a:extLst xmlns:a="http://schemas.openxmlformats.org/drawingml/2006/main">
              <a:ext uri="{FF2B5EF4-FFF2-40B4-BE49-F238E27FC236}">
                <a16:creationId xmlns:a16="http://schemas.microsoft.com/office/drawing/2014/main" id="{D37DD548-6967-4A7C-B058-CFF02499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666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week-1-dot">
            <a:extLst xmlns:a="http://schemas.openxmlformats.org/drawingml/2006/main">
              <a:ext uri="{FF2B5EF4-FFF2-40B4-BE49-F238E27FC236}">
                <a16:creationId xmlns:a16="http://schemas.microsoft.com/office/drawing/2014/main" id="{989E92B5-10F0-486A-834B-7293C869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9" name="week-1-title">
            <a:extLst xmlns:a="http://schemas.openxmlformats.org/drawingml/2006/main">
              <a:ext uri="{FF2B5EF4-FFF2-40B4-BE49-F238E27FC236}">
                <a16:creationId xmlns:a16="http://schemas.microsoft.com/office/drawing/2014/main" id="{0F0EC581-B05C-4BFA-A5C0-5A235A415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 1 周</a:t>
            </a:r>
          </a:p>
        </p:txBody>
      </p:sp>
      <p:sp>
        <p:nvSpPr>
          <p:cNvPr id="10" name="week-1-body">
            <a:extLst xmlns:a="http://schemas.openxmlformats.org/drawingml/2006/main">
              <a:ext uri="{FF2B5EF4-FFF2-40B4-BE49-F238E27FC236}">
                <a16:creationId xmlns:a16="http://schemas.microsoft.com/office/drawing/2014/main" id="{60DEEB67-ED2D-4671-A505-E83764F5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47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确认最少字段；</a:t>
            </a:r>
          </a:p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试填一个结果</a:t>
            </a:r>
          </a:p>
        </p:txBody>
      </p:sp>
      <p:sp>
        <p:nvSpPr>
          <p:cNvPr id="11" name="week-2-dot">
            <a:extLst xmlns:a="http://schemas.openxmlformats.org/drawingml/2006/main">
              <a:ext uri="{FF2B5EF4-FFF2-40B4-BE49-F238E27FC236}">
                <a16:creationId xmlns:a16="http://schemas.microsoft.com/office/drawing/2014/main" id="{7869E7BD-71C9-4C70-AD5A-714661931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2" name="week-2-title">
            <a:extLst xmlns:a="http://schemas.openxmlformats.org/drawingml/2006/main">
              <a:ext uri="{FF2B5EF4-FFF2-40B4-BE49-F238E27FC236}">
                <a16:creationId xmlns:a16="http://schemas.microsoft.com/office/drawing/2014/main" id="{DA36C629-D859-4DA0-88C8-1639E0FC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8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第 2–3 周</a:t>
            </a:r>
          </a:p>
        </p:txBody>
      </p:sp>
      <p:sp>
        <p:nvSpPr>
          <p:cNvPr id="13" name="week-2-body">
            <a:extLst xmlns:a="http://schemas.openxmlformats.org/drawingml/2006/main">
              <a:ext uri="{FF2B5EF4-FFF2-40B4-BE49-F238E27FC236}">
                <a16:creationId xmlns:a16="http://schemas.microsoft.com/office/drawing/2014/main" id="{612364E4-1F47-4C99-B8B5-28518C8F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记录缺项和</a:t>
            </a:r>
          </a:p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填写负担</a:t>
            </a:r>
          </a:p>
        </p:txBody>
      </p:sp>
      <p:sp>
        <p:nvSpPr>
          <p:cNvPr id="14" name="week-3-dot">
            <a:extLst xmlns:a="http://schemas.openxmlformats.org/drawingml/2006/main">
              <a:ext uri="{FF2B5EF4-FFF2-40B4-BE49-F238E27FC236}">
                <a16:creationId xmlns:a16="http://schemas.microsoft.com/office/drawing/2014/main" id="{9A898B06-F09A-4044-A2EE-A43686FF3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050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19050">
            <a:solidFill>
              <a:srgbClr val="315F91"/>
            </a:solidFill>
            <a:prstDash val="solid"/>
          </a:ln>
        </p:spPr>
      </p:sp>
      <p:sp>
        <p:nvSpPr>
          <p:cNvPr id="15" name="week-3-title">
            <a:extLst xmlns:a="http://schemas.openxmlformats.org/drawingml/2006/main">
              <a:ext uri="{FF2B5EF4-FFF2-40B4-BE49-F238E27FC236}">
                <a16:creationId xmlns:a16="http://schemas.microsoft.com/office/drawing/2014/main" id="{9536940E-89B1-4B9D-9419-D699D949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第 4 周</a:t>
            </a:r>
          </a:p>
        </p:txBody>
      </p:sp>
      <p:sp>
        <p:nvSpPr>
          <p:cNvPr id="16" name="week-3-body">
            <a:extLst xmlns:a="http://schemas.openxmlformats.org/drawingml/2006/main">
              <a:ext uri="{FF2B5EF4-FFF2-40B4-BE49-F238E27FC236}">
                <a16:creationId xmlns:a16="http://schemas.microsoft.com/office/drawing/2014/main" id="{5378964B-EF3F-4DCA-A23A-0B52D702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决定保留、</a:t>
            </a:r>
          </a:p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修改或停止</a:t>
            </a:r>
          </a:p>
        </p:txBody>
      </p:sp>
      <p:sp>
        <p:nvSpPr>
          <p:cNvPr id="17" name="lower-divider">
            <a:extLst xmlns:a="http://schemas.openxmlformats.org/drawingml/2006/main">
              <a:ext uri="{FF2B5EF4-FFF2-40B4-BE49-F238E27FC236}">
                <a16:creationId xmlns:a16="http://schemas.microsoft.com/office/drawing/2014/main" id="{9E8F03C8-0FB0-4845-A0AD-D1ED0E01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242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valuation-group-title">
            <a:extLst xmlns:a="http://schemas.openxmlformats.org/drawingml/2006/main">
              <a:ext uri="{FF2B5EF4-FFF2-40B4-BE49-F238E27FC236}">
                <a16:creationId xmlns:a16="http://schemas.microsoft.com/office/drawing/2014/main" id="{323D34DD-A958-4494-BC3A-200063B1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1000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评估依据</a:t>
            </a:r>
          </a:p>
        </p:txBody>
      </p:sp>
      <p:sp>
        <p:nvSpPr>
          <p:cNvPr id="19" name="evaluation-group-body">
            <a:extLst xmlns:a="http://schemas.openxmlformats.org/drawingml/2006/main">
              <a:ext uri="{FF2B5EF4-FFF2-40B4-BE49-F238E27FC236}">
                <a16:creationId xmlns:a16="http://schemas.microsoft.com/office/drawing/2014/main" id="{1BFA8957-4E9F-4D1C-9BDF-340FD6BC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67200"/>
            <a:ext cx="4857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来源能否定位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处理与排除依据能否理解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负担是否愿意长期承担</a:t>
            </a:r>
          </a:p>
        </p:txBody>
      </p:sp>
      <p:sp>
        <p:nvSpPr>
          <p:cNvPr id="20" name="evaluation-group-note">
            <a:extLst xmlns:a="http://schemas.openxmlformats.org/drawingml/2006/main">
              <a:ext uri="{FF2B5EF4-FFF2-40B4-BE49-F238E27FC236}">
                <a16:creationId xmlns:a16="http://schemas.microsoft.com/office/drawing/2014/main" id="{08391187-4B7C-4CC9-9BE0-352EF77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372100"/>
            <a:ext cx="485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依据具体复核过程及成员反馈；不设统一分数。</a:t>
            </a:r>
          </a:p>
        </p:txBody>
      </p:sp>
      <p:sp>
        <p:nvSpPr>
          <p:cNvPr id="21" name="lower-column-divider">
            <a:extLst xmlns:a="http://schemas.openxmlformats.org/drawingml/2006/main">
              <a:ext uri="{FF2B5EF4-FFF2-40B4-BE49-F238E27FC236}">
                <a16:creationId xmlns:a16="http://schemas.microsoft.com/office/drawing/2014/main" id="{BBAAEB11-60E8-4C78-B13B-E22C66F5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10000"/>
            <a:ext cx="9525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op-group-title">
            <a:extLst xmlns:a="http://schemas.openxmlformats.org/drawingml/2006/main">
              <a:ext uri="{FF2B5EF4-FFF2-40B4-BE49-F238E27FC236}">
                <a16:creationId xmlns:a16="http://schemas.microsoft.com/office/drawing/2014/main" id="{F5757179-485F-4DCB-AFC0-8D2C0C44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9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缩小要求或停止</a:t>
            </a:r>
          </a:p>
        </p:txBody>
      </p:sp>
      <p:sp>
        <p:nvSpPr>
          <p:cNvPr id="23" name="stop-group-body">
            <a:extLst xmlns:a="http://schemas.openxmlformats.org/drawingml/2006/main">
              <a:ext uri="{FF2B5EF4-FFF2-40B4-BE49-F238E27FC236}">
                <a16:creationId xmlns:a16="http://schemas.microsoft.com/office/drawing/2014/main" id="{916DCD07-E5CA-4A1D-A3FD-A9298FD7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67200"/>
            <a:ext cx="5191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持续挤占实验时间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权限不明</a:t>
            </a:r>
          </a:p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只有重复抄写而不帮助解释结果</a:t>
            </a:r>
          </a:p>
        </p:txBody>
      </p:sp>
      <p:sp>
        <p:nvSpPr>
          <p:cNvPr id="24" name="stop-group-note">
            <a:extLst xmlns:a="http://schemas.openxmlformats.org/drawingml/2006/main">
              <a:ext uri="{FF2B5EF4-FFF2-40B4-BE49-F238E27FC236}">
                <a16:creationId xmlns:a16="http://schemas.microsoft.com/office/drawing/2014/main" id="{B5E6C4BD-B67D-4BEA-AE3B-B9DE28CE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372100"/>
            <a:ext cx="519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上述范围为拟定，没有实测效率或完成率。</a:t>
            </a:r>
          </a:p>
        </p:txBody>
      </p:sp>
      <p:sp>
        <p:nvSpPr>
          <p:cNvPr id="25" name="footer-4">
            <a:extLst xmlns:a="http://schemas.openxmlformats.org/drawingml/2006/main">
              <a:ext uri="{FF2B5EF4-FFF2-40B4-BE49-F238E27FC236}">
                <a16:creationId xmlns:a16="http://schemas.microsoft.com/office/drawing/2014/main" id="{3B7FDA28-69B8-4B37-8B10-C87C090A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53200"/>
            <a:ext cx="1114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实验归档试点｜拟定分析  ·  4/4</a:t>
            </a:r>
          </a:p>
        </p:txBody>
      </p:sp>
    </p:spTree>
    <p:extLst>
      <p:ext uri="{BB962C8B-B14F-4D97-AF65-F5344CB8AC3E}">
        <p14:creationId xmlns:p14="http://schemas.microsoft.com/office/powerpoint/2010/main" val="4432489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2026-09-06T11:01:31.5980000Z</dcterms:created>
  <dcterms:modified xsi:type="dcterms:W3CDTF">2026-09-06T11:01:31.5980000Z</dcterms:modified>
</coreProperties>
</file>