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45c55014df4c7e" /><Relationship Type="http://schemas.openxmlformats.org/officeDocument/2006/relationships/extended-properties" Target="/docProps/app.xml" Id="Re9f6c93626b244a3" /><Relationship Type="http://schemas.openxmlformats.org/officeDocument/2006/relationships/officeDocument" Target="/ppt/presentation.xml" Id="R1e5f0cb97f3542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c9c84cbf844968"/>
  </p:sldMasterIdLst>
  <p:notesMasterIdLst>
    <p:notesMasterId xmlns:r="http://schemas.openxmlformats.org/officeDocument/2006/relationships" r:id="R81fafb4268994b01"/>
  </p:notesMasterIdLst>
  <p:sldIdLst>
    <p:sldId xmlns:r="http://schemas.openxmlformats.org/officeDocument/2006/relationships" id="256" r:id="Rd3fa0ca7a85d4463"/>
    <p:sldId xmlns:r="http://schemas.openxmlformats.org/officeDocument/2006/relationships" id="257" r:id="R4deb9d6110914ba5"/>
    <p:sldId xmlns:r="http://schemas.openxmlformats.org/officeDocument/2006/relationships" id="258" r:id="R4e431e5f0c634f62"/>
    <p:sldId xmlns:r="http://schemas.openxmlformats.org/officeDocument/2006/relationships" id="259" r:id="R4b1c52f2679a45f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630da4f1ac473f" /><Relationship Type="http://schemas.openxmlformats.org/officeDocument/2006/relationships/slideMaster" Target="/ppt/slideMasters/slideMaster1.xml" Id="R53c9c84cbf844968" /><Relationship Type="http://schemas.openxmlformats.org/officeDocument/2006/relationships/notesMaster" Target="/ppt/notesMasters/notesMaster1.xml" Id="R81fafb4268994b01" /><Relationship Type="http://schemas.openxmlformats.org/officeDocument/2006/relationships/presProps" Target="/ppt/presProps.xml" Id="Rdaf0070458564c46" /><Relationship Type="http://schemas.openxmlformats.org/officeDocument/2006/relationships/tableStyles" Target="/ppt/tableStyles.xml" Id="R7fd0069278d746e6" /><Relationship Type="http://schemas.openxmlformats.org/officeDocument/2006/relationships/slide" Target="/ppt/slides/slide1.xml" Id="Rd3fa0ca7a85d4463" /><Relationship Type="http://schemas.openxmlformats.org/officeDocument/2006/relationships/slide" Target="/ppt/slides/slide2.xml" Id="R4deb9d6110914ba5" /><Relationship Type="http://schemas.openxmlformats.org/officeDocument/2006/relationships/slide" Target="/ppt/slides/slide3.xml" Id="R4e431e5f0c634f62" /><Relationship Type="http://schemas.openxmlformats.org/officeDocument/2006/relationships/slide" Target="/ppt/slides/slide4.xml" Id="R4b1c52f2679a45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7f9dd2fa744f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825f38611a495f" /><Relationship Type="http://schemas.openxmlformats.org/officeDocument/2006/relationships/notesMaster" Target="/ppt/notesMasters/notesMaster1.xml" Id="R1a6d7c0ad8004b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989028c92e449c" /><Relationship Type="http://schemas.openxmlformats.org/officeDocument/2006/relationships/notesMaster" Target="/ppt/notesMasters/notesMaster1.xml" Id="R92defd69b96242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9690bebfec45fe" /><Relationship Type="http://schemas.openxmlformats.org/officeDocument/2006/relationships/notesMaster" Target="/ppt/notesMasters/notesMaster1.xml" Id="Rb3a32423038a4d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64a9a3228d450d" /><Relationship Type="http://schemas.openxmlformats.org/officeDocument/2006/relationships/notesMaster" Target="/ppt/notesMasters/notesMaster1.xml" Id="R8b39044be7bc4b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682faaf47641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a2f84071ff454e" /><Relationship Type="http://schemas.openxmlformats.org/officeDocument/2006/relationships/slideLayout" Target="/ppt/slideLayouts/slideLayout1.xml" Id="R10f9ea52000d42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f9ea52000d42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c968d2dbf4036" /><Relationship Type="http://schemas.openxmlformats.org/officeDocument/2006/relationships/notesSlide" Target="/ppt/notesSlides/notesSlide1.xml" Id="R4a8970156cd145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b2cacdf3043d2" /><Relationship Type="http://schemas.openxmlformats.org/officeDocument/2006/relationships/notesSlide" Target="/ppt/notesSlides/notesSlide2.xml" Id="R1a480351d88c43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76515fe934747" /><Relationship Type="http://schemas.openxmlformats.org/officeDocument/2006/relationships/notesSlide" Target="/ppt/notesSlides/notesSlide3.xml" Id="R8cf20a8170a040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d591acf3a4c62" /><Relationship Type="http://schemas.openxmlformats.org/officeDocument/2006/relationships/notesSlide" Target="/ppt/notesSlides/notesSlide4.xml" Id="Rb4e85e5c64994b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1-title">
            <a:extLst xmlns:a="http://schemas.openxmlformats.org/drawingml/2006/main">
              <a:ext uri="{FF2B5EF4-FFF2-40B4-BE49-F238E27FC236}">
                <a16:creationId xmlns:a16="http://schemas.microsoft.com/office/drawing/2014/main" id="{5652DC29-0E58-4FD8-BF32-542629E5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1950"/>
            <a:ext cx="1114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一组可追溯记录共同解释一次结果</a:t>
            </a:r>
          </a:p>
        </p:txBody>
      </p:sp>
      <p:sp>
        <p:nvSpPr>
          <p:cNvPr id="2" name="slide-1-divider">
            <a:extLst xmlns:a="http://schemas.openxmlformats.org/drawingml/2006/main">
              <a:ext uri="{FF2B5EF4-FFF2-40B4-BE49-F238E27FC236}">
                <a16:creationId xmlns:a16="http://schemas.microsoft.com/office/drawing/2014/main" id="{15FAA686-0F8D-41E9-AD23-8C970223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3345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cord-analysis">
            <a:extLst xmlns:a="http://schemas.openxmlformats.org/drawingml/2006/main">
              <a:ext uri="{FF2B5EF4-FFF2-40B4-BE49-F238E27FC236}">
                <a16:creationId xmlns:a16="http://schemas.microsoft.com/office/drawing/2014/main" id="{EE1B948A-A8ED-41FC-9A7A-8AA7D24F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752475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ecord-analysis-label">
            <a:extLst xmlns:a="http://schemas.openxmlformats.org/drawingml/2006/main">
              <a:ext uri="{FF2B5EF4-FFF2-40B4-BE49-F238E27FC236}">
                <a16:creationId xmlns:a16="http://schemas.microsoft.com/office/drawing/2014/main" id="{9B0996F3-B6A9-4E18-AD7B-386A295A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记录单元｜共同解释同一结果</a:t>
            </a:r>
          </a:p>
        </p:txBody>
      </p:sp>
      <p:sp>
        <p:nvSpPr>
          <p:cNvPr id="5" name="record-analysis-note">
            <a:extLst xmlns:a="http://schemas.openxmlformats.org/drawingml/2006/main">
              <a:ext uri="{FF2B5EF4-FFF2-40B4-BE49-F238E27FC236}">
                <a16:creationId xmlns:a16="http://schemas.microsoft.com/office/drawing/2014/main" id="{37F13369-A1D5-4E64-A66C-0C5A409C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621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五项是并列依据，不是五个先后步骤。</a:t>
            </a:r>
          </a:p>
        </p:txBody>
      </p:sp>
      <p:sp>
        <p:nvSpPr>
          <p:cNvPr id="6" name="record-row-1-label">
            <a:extLst xmlns:a="http://schemas.openxmlformats.org/drawingml/2006/main">
              <a:ext uri="{FF2B5EF4-FFF2-40B4-BE49-F238E27FC236}">
                <a16:creationId xmlns:a16="http://schemas.microsoft.com/office/drawing/2014/main" id="{7519D5B4-7343-48DC-A415-1E8E8B85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原始数据位置</a:t>
            </a:r>
          </a:p>
        </p:txBody>
      </p:sp>
      <p:sp>
        <p:nvSpPr>
          <p:cNvPr id="7" name="record-row-1-body">
            <a:extLst xmlns:a="http://schemas.openxmlformats.org/drawingml/2006/main">
              <a:ext uri="{FF2B5EF4-FFF2-40B4-BE49-F238E27FC236}">
                <a16:creationId xmlns:a16="http://schemas.microsoft.com/office/drawing/2014/main" id="{73E4276C-6DDC-4BFD-B053-E2B1D0EE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19350"/>
            <a:ext cx="442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说明这份结果对应哪一处原始数据。</a:t>
            </a:r>
          </a:p>
        </p:txBody>
      </p:sp>
      <p:sp>
        <p:nvSpPr>
          <p:cNvPr id="8" name="record-row-1-rule">
            <a:extLst xmlns:a="http://schemas.openxmlformats.org/drawingml/2006/main">
              <a:ext uri="{FF2B5EF4-FFF2-40B4-BE49-F238E27FC236}">
                <a16:creationId xmlns:a16="http://schemas.microsoft.com/office/drawing/2014/main" id="{63174DD8-23EB-4FF9-BFF7-3AE1AF9E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671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cord-row-2-label">
            <a:extLst xmlns:a="http://schemas.openxmlformats.org/drawingml/2006/main">
              <a:ext uri="{FF2B5EF4-FFF2-40B4-BE49-F238E27FC236}">
                <a16:creationId xmlns:a16="http://schemas.microsoft.com/office/drawing/2014/main" id="{5CB0E2E3-83BC-4DC9-9F72-C7F573BD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样本与采集条件</a:t>
            </a:r>
          </a:p>
        </p:txBody>
      </p:sp>
      <p:sp>
        <p:nvSpPr>
          <p:cNvPr id="10" name="record-row-2-body">
            <a:extLst xmlns:a="http://schemas.openxmlformats.org/drawingml/2006/main">
              <a:ext uri="{FF2B5EF4-FFF2-40B4-BE49-F238E27FC236}">
                <a16:creationId xmlns:a16="http://schemas.microsoft.com/office/drawing/2014/main" id="{B63CB715-D770-493B-B80A-8859853D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57525"/>
            <a:ext cx="442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保留样本、采集条件和原始数据背景。</a:t>
            </a:r>
          </a:p>
        </p:txBody>
      </p:sp>
      <p:sp>
        <p:nvSpPr>
          <p:cNvPr id="11" name="record-row-2-rule">
            <a:extLst xmlns:a="http://schemas.openxmlformats.org/drawingml/2006/main">
              <a:ext uri="{FF2B5EF4-FFF2-40B4-BE49-F238E27FC236}">
                <a16:creationId xmlns:a16="http://schemas.microsoft.com/office/drawing/2014/main" id="{70120CCE-B722-4541-B37A-4D22E4AF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95675"/>
            <a:ext cx="671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ecord-row-3-label">
            <a:extLst xmlns:a="http://schemas.openxmlformats.org/drawingml/2006/main">
              <a:ext uri="{FF2B5EF4-FFF2-40B4-BE49-F238E27FC236}">
                <a16:creationId xmlns:a16="http://schemas.microsoft.com/office/drawing/2014/main" id="{249ADEC2-D3FB-4C0E-8E6E-B1C9AF61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处理脚本版本</a:t>
            </a:r>
          </a:p>
        </p:txBody>
      </p:sp>
      <p:sp>
        <p:nvSpPr>
          <p:cNvPr id="13" name="record-row-3-body">
            <a:extLst xmlns:a="http://schemas.openxmlformats.org/drawingml/2006/main">
              <a:ext uri="{FF2B5EF4-FFF2-40B4-BE49-F238E27FC236}">
                <a16:creationId xmlns:a16="http://schemas.microsoft.com/office/drawing/2014/main" id="{CC5C3C04-4FB5-42C4-806E-19ACD054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95700"/>
            <a:ext cx="442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定位实际运行代码。</a:t>
            </a:r>
          </a:p>
        </p:txBody>
      </p:sp>
      <p:sp>
        <p:nvSpPr>
          <p:cNvPr id="14" name="record-row-3-rule">
            <a:extLst xmlns:a="http://schemas.openxmlformats.org/drawingml/2006/main">
              <a:ext uri="{FF2B5EF4-FFF2-40B4-BE49-F238E27FC236}">
                <a16:creationId xmlns:a16="http://schemas.microsoft.com/office/drawing/2014/main" id="{659D392F-0B2F-4E33-AFE2-A1981872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671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cord-row-4-label">
            <a:extLst xmlns:a="http://schemas.openxmlformats.org/drawingml/2006/main">
              <a:ext uri="{FF2B5EF4-FFF2-40B4-BE49-F238E27FC236}">
                <a16:creationId xmlns:a16="http://schemas.microsoft.com/office/drawing/2014/main" id="{03DF11E5-1134-490E-AFAB-4471D726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148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结果文件</a:t>
            </a:r>
          </a:p>
        </p:txBody>
      </p:sp>
      <p:sp>
        <p:nvSpPr>
          <p:cNvPr id="16" name="record-row-4-body">
            <a:extLst xmlns:a="http://schemas.openxmlformats.org/drawingml/2006/main">
              <a:ext uri="{FF2B5EF4-FFF2-40B4-BE49-F238E27FC236}">
                <a16:creationId xmlns:a16="http://schemas.microsoft.com/office/drawing/2014/main" id="{E4750752-414D-48B5-BBFF-373404E5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33875"/>
            <a:ext cx="442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保留结果图、表和输出文件的落点。</a:t>
            </a:r>
          </a:p>
        </p:txBody>
      </p:sp>
      <p:sp>
        <p:nvSpPr>
          <p:cNvPr id="17" name="record-row-4-rule">
            <a:extLst xmlns:a="http://schemas.openxmlformats.org/drawingml/2006/main">
              <a:ext uri="{FF2B5EF4-FFF2-40B4-BE49-F238E27FC236}">
                <a16:creationId xmlns:a16="http://schemas.microsoft.com/office/drawing/2014/main" id="{FC7880C1-E47D-472F-8C7D-FA95057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72025"/>
            <a:ext cx="671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cord-row-5-label">
            <a:extLst xmlns:a="http://schemas.openxmlformats.org/drawingml/2006/main">
              <a:ext uri="{FF2B5EF4-FFF2-40B4-BE49-F238E27FC236}">
                <a16:creationId xmlns:a16="http://schemas.microsoft.com/office/drawing/2014/main" id="{7B023F39-0761-44F7-80FB-3208089A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异常及排除说明</a:t>
            </a:r>
          </a:p>
        </p:txBody>
      </p:sp>
      <p:sp>
        <p:nvSpPr>
          <p:cNvPr id="19" name="record-row-5-body">
            <a:extLst xmlns:a="http://schemas.openxmlformats.org/drawingml/2006/main">
              <a:ext uri="{FF2B5EF4-FFF2-40B4-BE49-F238E27FC236}">
                <a16:creationId xmlns:a16="http://schemas.microsoft.com/office/drawing/2014/main" id="{9BF5E30E-2BAA-4F72-A22B-8BD12D7B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72050"/>
            <a:ext cx="442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未纳入结果的样本也保留排除依据。</a:t>
            </a:r>
          </a:p>
        </p:txBody>
      </p:sp>
      <p:sp>
        <p:nvSpPr>
          <p:cNvPr id="20" name="record-boundary-note">
            <a:extLst xmlns:a="http://schemas.openxmlformats.org/drawingml/2006/main">
              <a:ext uri="{FF2B5EF4-FFF2-40B4-BE49-F238E27FC236}">
                <a16:creationId xmlns:a16="http://schemas.microsoft.com/office/drawing/2014/main" id="{46536B27-15E3-47B0-89CD-3A068D9E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6715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原始数据保持原貌，清洗处理另存；脚本版本定位实际运行代码。</a:t>
            </a:r>
          </a:p>
        </p:txBody>
      </p:sp>
      <p:sp>
        <p:nvSpPr>
          <p:cNvPr id="21" name="access-boundary">
            <a:extLst xmlns:a="http://schemas.openxmlformats.org/drawingml/2006/main">
              <a:ext uri="{FF2B5EF4-FFF2-40B4-BE49-F238E27FC236}">
                <a16:creationId xmlns:a16="http://schemas.microsoft.com/office/drawing/2014/main" id="{F7C20339-B2DC-4715-ABE2-98984821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428750"/>
            <a:ext cx="32385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ccess-boundary-title">
            <a:extLst xmlns:a="http://schemas.openxmlformats.org/drawingml/2006/main">
              <a:ext uri="{FF2B5EF4-FFF2-40B4-BE49-F238E27FC236}">
                <a16:creationId xmlns:a16="http://schemas.microsoft.com/office/drawing/2014/main" id="{AEE66D46-1EF9-489A-9CC6-36788E76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764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访问边界</a:t>
            </a:r>
          </a:p>
        </p:txBody>
      </p:sp>
      <p:sp>
        <p:nvSpPr>
          <p:cNvPr id="23" name="access-boundary-body">
            <a:extLst xmlns:a="http://schemas.openxmlformats.org/drawingml/2006/main">
              <a:ext uri="{FF2B5EF4-FFF2-40B4-BE49-F238E27FC236}">
                <a16:creationId xmlns:a16="http://schemas.microsoft.com/office/drawing/2014/main" id="{1AC52465-FEED-42B0-8606-914F4621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33600"/>
            <a:ext cx="2762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记录完整不意味着全部文件开放。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讨论材料含结果图与可公开解释。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受限数据保留原授权位置；记录只含受控引用与访问条件。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路径不代表访问权。</a:t>
            </a:r>
          </a:p>
        </p:txBody>
      </p:sp>
      <p:sp>
        <p:nvSpPr>
          <p:cNvPr id="24" name="footer-1">
            <a:extLst xmlns:a="http://schemas.openxmlformats.org/drawingml/2006/main">
              <a:ext uri="{FF2B5EF4-FFF2-40B4-BE49-F238E27FC236}">
                <a16:creationId xmlns:a16="http://schemas.microsoft.com/office/drawing/2014/main" id="{98EB371A-6778-426A-A113-D3552208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1114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实验归档试点｜拟定分析  ·  1/4</a:t>
            </a:r>
          </a:p>
        </p:txBody>
      </p:sp>
    </p:spTree>
    <p:extLst>
      <p:ext uri="{BB962C8B-B14F-4D97-AF65-F5344CB8AC3E}">
        <p14:creationId xmlns:p14="http://schemas.microsoft.com/office/powerpoint/2010/main" val="4628840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0E75F68C-E93E-4BA7-BEBC-8CB9820C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1950"/>
            <a:ext cx="1114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范围选择：先记新增，再补真正需要复核的历史</a:t>
            </a:r>
          </a:p>
        </p:txBody>
      </p:sp>
      <p:sp>
        <p:nvSpPr>
          <p:cNvPr id="2" name="slide-2-divider">
            <a:extLst xmlns:a="http://schemas.openxmlformats.org/drawingml/2006/main">
              <a:ext uri="{FF2B5EF4-FFF2-40B4-BE49-F238E27FC236}">
                <a16:creationId xmlns:a16="http://schemas.microsoft.com/office/drawing/2014/main" id="{A342D9A1-832D-43E3-8397-FBB0B380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3345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istory-column">
            <a:extLst xmlns:a="http://schemas.openxmlformats.org/drawingml/2006/main">
              <a:ext uri="{FF2B5EF4-FFF2-40B4-BE49-F238E27FC236}">
                <a16:creationId xmlns:a16="http://schemas.microsoft.com/office/drawing/2014/main" id="{C5507405-79BC-4C8F-8435-FABD30BE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4953000" cy="442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ew-column">
            <a:extLst xmlns:a="http://schemas.openxmlformats.org/drawingml/2006/main">
              <a:ext uri="{FF2B5EF4-FFF2-40B4-BE49-F238E27FC236}">
                <a16:creationId xmlns:a16="http://schemas.microsoft.com/office/drawing/2014/main" id="{66247EA1-53E3-4281-8755-23605429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428750"/>
            <a:ext cx="4953000" cy="442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istory-title">
            <a:extLst xmlns:a="http://schemas.openxmlformats.org/drawingml/2006/main">
              <a:ext uri="{FF2B5EF4-FFF2-40B4-BE49-F238E27FC236}">
                <a16:creationId xmlns:a16="http://schemas.microsoft.com/office/drawing/2014/main" id="{E2C0FFBD-CC5E-4049-8585-1F848126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集中补历史</a:t>
            </a:r>
          </a:p>
        </p:txBody>
      </p:sp>
      <p:sp>
        <p:nvSpPr>
          <p:cNvPr id="6" name="new-title">
            <a:extLst xmlns:a="http://schemas.openxmlformats.org/drawingml/2006/main">
              <a:ext uri="{FF2B5EF4-FFF2-40B4-BE49-F238E27FC236}">
                <a16:creationId xmlns:a16="http://schemas.microsoft.com/office/drawing/2014/main" id="{4F85413B-55E3-41C8-BE5A-FB3CCB69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764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先记新增</a:t>
            </a:r>
          </a:p>
        </p:txBody>
      </p:sp>
      <p:sp>
        <p:nvSpPr>
          <p:cNvPr id="7" name="compare-row-1-dimension">
            <a:extLst xmlns:a="http://schemas.openxmlformats.org/drawingml/2006/main">
              <a:ext uri="{FF2B5EF4-FFF2-40B4-BE49-F238E27FC236}">
                <a16:creationId xmlns:a16="http://schemas.microsoft.com/office/drawing/2014/main" id="{6DB613A8-952E-4811-B653-B6B00523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574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收益</a:t>
            </a:r>
          </a:p>
        </p:txBody>
      </p:sp>
      <p:sp>
        <p:nvSpPr>
          <p:cNvPr id="8" name="compare-row-1-history-text">
            <a:extLst xmlns:a="http://schemas.openxmlformats.org/drawingml/2006/main">
              <a:ext uri="{FF2B5EF4-FFF2-40B4-BE49-F238E27FC236}">
                <a16:creationId xmlns:a16="http://schemas.microsoft.com/office/drawing/2014/main" id="{08CCBF01-837D-4536-AEC2-1191471A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一次形成较大目录</a:t>
            </a:r>
          </a:p>
        </p:txBody>
      </p:sp>
      <p:sp>
        <p:nvSpPr>
          <p:cNvPr id="9" name="compare-row-1-new-text">
            <a:extLst xmlns:a="http://schemas.openxmlformats.org/drawingml/2006/main">
              <a:ext uri="{FF2B5EF4-FFF2-40B4-BE49-F238E27FC236}">
                <a16:creationId xmlns:a16="http://schemas.microsoft.com/office/drawing/2014/main" id="{2A428CC1-790C-4083-A98B-A2AAE0CE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8600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上下文清楚时记录新增实验</a:t>
            </a:r>
          </a:p>
        </p:txBody>
      </p:sp>
      <p:sp>
        <p:nvSpPr>
          <p:cNvPr id="10" name="compare-row-1-rule">
            <a:extLst xmlns:a="http://schemas.openxmlformats.org/drawingml/2006/main">
              <a:ext uri="{FF2B5EF4-FFF2-40B4-BE49-F238E27FC236}">
                <a16:creationId xmlns:a16="http://schemas.microsoft.com/office/drawing/2014/main" id="{F0977973-84C8-44BC-8DB2-736C7A97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mpare-row-2-dimension">
            <a:extLst xmlns:a="http://schemas.openxmlformats.org/drawingml/2006/main">
              <a:ext uri="{FF2B5EF4-FFF2-40B4-BE49-F238E27FC236}">
                <a16:creationId xmlns:a16="http://schemas.microsoft.com/office/drawing/2014/main" id="{B75BC81A-5C60-453C-8A89-A011F9F9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代价</a:t>
            </a:r>
          </a:p>
        </p:txBody>
      </p:sp>
      <p:sp>
        <p:nvSpPr>
          <p:cNvPr id="12" name="compare-row-2-history-text">
            <a:extLst xmlns:a="http://schemas.openxmlformats.org/drawingml/2006/main">
              <a:ext uri="{FF2B5EF4-FFF2-40B4-BE49-F238E27FC236}">
                <a16:creationId xmlns:a16="http://schemas.microsoft.com/office/drawing/2014/main" id="{1D5EAF7E-BC65-4B79-8D7C-2B95DA9D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追查遗失上下文耗时；</a:t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不确定记忆可能写成确定说明</a:t>
            </a:r>
          </a:p>
        </p:txBody>
      </p:sp>
      <p:sp>
        <p:nvSpPr>
          <p:cNvPr id="13" name="compare-row-2-new-text">
            <a:extLst xmlns:a="http://schemas.openxmlformats.org/drawingml/2006/main">
              <a:ext uri="{FF2B5EF4-FFF2-40B4-BE49-F238E27FC236}">
                <a16:creationId xmlns:a16="http://schemas.microsoft.com/office/drawing/2014/main" id="{F6F9F173-28C7-4E26-AC71-F2F74BE0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5280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短期无法解决全部历史材料追溯</a:t>
            </a:r>
          </a:p>
        </p:txBody>
      </p:sp>
      <p:sp>
        <p:nvSpPr>
          <p:cNvPr id="14" name="compare-row-2-rule">
            <a:extLst xmlns:a="http://schemas.openxmlformats.org/drawingml/2006/main">
              <a:ext uri="{FF2B5EF4-FFF2-40B4-BE49-F238E27FC236}">
                <a16:creationId xmlns:a16="http://schemas.microsoft.com/office/drawing/2014/main" id="{F48586FC-5837-41DE-AB88-652F4625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mpare-row-3-dimension">
            <a:extLst xmlns:a="http://schemas.openxmlformats.org/drawingml/2006/main">
              <a:ext uri="{FF2B5EF4-FFF2-40B4-BE49-F238E27FC236}">
                <a16:creationId xmlns:a16="http://schemas.microsoft.com/office/drawing/2014/main" id="{86173944-ED9F-41A5-990E-80A6FB3F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910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16" name="compare-row-3-history-text">
            <a:extLst xmlns:a="http://schemas.openxmlformats.org/drawingml/2006/main">
              <a:ext uri="{FF2B5EF4-FFF2-40B4-BE49-F238E27FC236}">
                <a16:creationId xmlns:a16="http://schemas.microsoft.com/office/drawing/2014/main" id="{86127718-83D9-4F1E-A48A-BD0964F4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暂不作为第一步</a:t>
            </a:r>
          </a:p>
        </p:txBody>
      </p:sp>
      <p:sp>
        <p:nvSpPr>
          <p:cNvPr id="17" name="compare-row-3-new-text">
            <a:extLst xmlns:a="http://schemas.openxmlformats.org/drawingml/2006/main">
              <a:ext uri="{FF2B5EF4-FFF2-40B4-BE49-F238E27FC236}">
                <a16:creationId xmlns:a16="http://schemas.microsoft.com/office/drawing/2014/main" id="{A1CBE1B8-47F3-479A-9A68-E40DB8C1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1960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建议先做；历史结果逐项补充</a:t>
            </a:r>
          </a:p>
        </p:txBody>
      </p:sp>
      <p:sp>
        <p:nvSpPr>
          <p:cNvPr id="18" name="slide-2-boundary-rule">
            <a:extLst xmlns:a="http://schemas.openxmlformats.org/drawingml/2006/main">
              <a:ext uri="{FF2B5EF4-FFF2-40B4-BE49-F238E27FC236}">
                <a16:creationId xmlns:a16="http://schemas.microsoft.com/office/drawing/2014/main" id="{5C96171B-B25A-4791-8807-57B76B36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04837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lide-2-boundary-text">
            <a:extLst xmlns:a="http://schemas.openxmlformats.org/drawingml/2006/main">
              <a:ext uri="{FF2B5EF4-FFF2-40B4-BE49-F238E27FC236}">
                <a16:creationId xmlns:a16="http://schemas.microsoft.com/office/drawing/2014/main" id="{D4F7BB59-B567-49AD-BEF9-211676FD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531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这是范围选择，没有证明效率提升。</a:t>
            </a:r>
          </a:p>
        </p:txBody>
      </p:sp>
      <p:sp>
        <p:nvSpPr>
          <p:cNvPr id="20" name="footer-2">
            <a:extLst xmlns:a="http://schemas.openxmlformats.org/drawingml/2006/main">
              <a:ext uri="{FF2B5EF4-FFF2-40B4-BE49-F238E27FC236}">
                <a16:creationId xmlns:a16="http://schemas.microsoft.com/office/drawing/2014/main" id="{2BEF8A7A-2BBA-40BC-8B7D-43EC48C0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1114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实验归档试点｜拟定分析  ·  2/4</a:t>
            </a:r>
          </a:p>
        </p:txBody>
      </p:sp>
    </p:spTree>
    <p:extLst>
      <p:ext uri="{BB962C8B-B14F-4D97-AF65-F5344CB8AC3E}">
        <p14:creationId xmlns:p14="http://schemas.microsoft.com/office/powerpoint/2010/main" val="569720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929F1A3F-4D1C-4507-845B-AFA5E624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1950"/>
            <a:ext cx="1114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复核按提交、定位、补充、确认推进</a:t>
            </a:r>
          </a:p>
        </p:txBody>
      </p:sp>
      <p:sp>
        <p:nvSpPr>
          <p:cNvPr id="2" name="slide-3-divider">
            <a:extLst xmlns:a="http://schemas.openxmlformats.org/drawingml/2006/main">
              <a:ext uri="{FF2B5EF4-FFF2-40B4-BE49-F238E27FC236}">
                <a16:creationId xmlns:a16="http://schemas.microsoft.com/office/drawing/2014/main" id="{762787F9-024A-422C-9BC6-B6C82420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3345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view-boundary-text">
            <a:extLst xmlns:a="http://schemas.openxmlformats.org/drawingml/2006/main">
              <a:ext uri="{FF2B5EF4-FFF2-40B4-BE49-F238E27FC236}">
                <a16:creationId xmlns:a16="http://schemas.microsoft.com/office/drawing/2014/main" id="{E7545A40-0135-4E3C-952F-AE318E74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001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复核检查结果如何产生；不要求复做实验，也不代替科学结论审查。</a:t>
            </a:r>
          </a:p>
        </p:txBody>
      </p:sp>
      <p:sp>
        <p:nvSpPr>
          <p:cNvPr id="4" name="review-node-1">
            <a:extLst xmlns:a="http://schemas.openxmlformats.org/drawingml/2006/main">
              <a:ext uri="{FF2B5EF4-FFF2-40B4-BE49-F238E27FC236}">
                <a16:creationId xmlns:a16="http://schemas.microsoft.com/office/drawing/2014/main" id="{3EDC913D-75FE-41EB-B600-7DCD7DAE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2381250" cy="16764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5" name="review-node-2">
            <a:extLst xmlns:a="http://schemas.openxmlformats.org/drawingml/2006/main">
              <a:ext uri="{FF2B5EF4-FFF2-40B4-BE49-F238E27FC236}">
                <a16:creationId xmlns:a16="http://schemas.microsoft.com/office/drawing/2014/main" id="{ECC9248C-00B0-426B-9541-FCFE4E65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52625"/>
            <a:ext cx="2381250" cy="16764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6" name="review-node-3">
            <a:extLst xmlns:a="http://schemas.openxmlformats.org/drawingml/2006/main">
              <a:ext uri="{FF2B5EF4-FFF2-40B4-BE49-F238E27FC236}">
                <a16:creationId xmlns:a16="http://schemas.microsoft.com/office/drawing/2014/main" id="{6853E46C-73F2-49D1-9397-F235A6AB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952625"/>
            <a:ext cx="2381250" cy="16764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review-node-4">
            <a:extLst xmlns:a="http://schemas.openxmlformats.org/drawingml/2006/main">
              <a:ext uri="{FF2B5EF4-FFF2-40B4-BE49-F238E27FC236}">
                <a16:creationId xmlns:a16="http://schemas.microsoft.com/office/drawing/2014/main" id="{2C4E524F-C840-40B5-92CA-83AAC75F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952625"/>
            <a:ext cx="2381250" cy="16764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cxnSp>
        <p:nvCxnSpPr>
          <p:cNvPr id="4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05125" y="27908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prstDash val="solid"/>
            <a:tailEnd type="triangle" w="sm" len="sm"/>
          </a:ln>
        </p:spPr>
      </p:cxnSp>
      <p:cxnSp>
        <p:nvCxnSpPr>
          <p:cNvPr id="42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667375" y="27908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prstDash val="solid"/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429625" y="27908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prstDash val="solid"/>
            <a:tailEnd type="triangle" w="sm" len="sm"/>
          </a:ln>
        </p:spPr>
      </p:cxnSp>
      <p:sp>
        <p:nvSpPr>
          <p:cNvPr id="11" name="review-node-1-title">
            <a:extLst xmlns:a="http://schemas.openxmlformats.org/drawingml/2006/main">
              <a:ext uri="{FF2B5EF4-FFF2-40B4-BE49-F238E27FC236}">
                <a16:creationId xmlns:a16="http://schemas.microsoft.com/office/drawing/2014/main" id="{0576B254-C9EE-427D-A9AE-DE194FCC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526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提交</a:t>
            </a:r>
          </a:p>
        </p:txBody>
      </p:sp>
      <p:sp>
        <p:nvSpPr>
          <p:cNvPr id="12" name="review-node-1-body">
            <a:extLst xmlns:a="http://schemas.openxmlformats.org/drawingml/2006/main">
              <a:ext uri="{FF2B5EF4-FFF2-40B4-BE49-F238E27FC236}">
                <a16:creationId xmlns:a16="http://schemas.microsoft.com/office/drawing/2014/main" id="{DE7656AA-89BA-4910-8F9A-F2155FC4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2890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执行者提交结果记录及受控引用。</a:t>
            </a:r>
          </a:p>
        </p:txBody>
      </p:sp>
      <p:sp>
        <p:nvSpPr>
          <p:cNvPr id="13" name="review-node-2-title">
            <a:extLst xmlns:a="http://schemas.openxmlformats.org/drawingml/2006/main">
              <a:ext uri="{FF2B5EF4-FFF2-40B4-BE49-F238E27FC236}">
                <a16:creationId xmlns:a16="http://schemas.microsoft.com/office/drawing/2014/main" id="{A85A22DA-2696-4154-9070-101FC4A9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526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定位缺项</a:t>
            </a:r>
          </a:p>
        </p:txBody>
      </p:sp>
      <p:sp>
        <p:nvSpPr>
          <p:cNvPr id="14" name="review-node-2-body">
            <a:extLst xmlns:a="http://schemas.openxmlformats.org/drawingml/2006/main">
              <a:ext uri="{FF2B5EF4-FFF2-40B4-BE49-F238E27FC236}">
                <a16:creationId xmlns:a16="http://schemas.microsoft.com/office/drawing/2014/main" id="{176DAAF1-F3ED-4A3B-9A7F-3598AB6A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2890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另一成员定位数据、脚本、条件，提出缺项。</a:t>
            </a:r>
          </a:p>
        </p:txBody>
      </p:sp>
      <p:sp>
        <p:nvSpPr>
          <p:cNvPr id="15" name="review-node-3-title">
            <a:extLst xmlns:a="http://schemas.openxmlformats.org/drawingml/2006/main">
              <a:ext uri="{FF2B5EF4-FFF2-40B4-BE49-F238E27FC236}">
                <a16:creationId xmlns:a16="http://schemas.microsoft.com/office/drawing/2014/main" id="{18BBBCA2-4B0A-42EE-989C-50442AF3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526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补充</a:t>
            </a:r>
          </a:p>
        </p:txBody>
      </p:sp>
      <p:sp>
        <p:nvSpPr>
          <p:cNvPr id="16" name="review-node-3-body">
            <a:extLst xmlns:a="http://schemas.openxmlformats.org/drawingml/2006/main">
              <a:ext uri="{FF2B5EF4-FFF2-40B4-BE49-F238E27FC236}">
                <a16:creationId xmlns:a16="http://schemas.microsoft.com/office/drawing/2014/main" id="{446BCB68-0158-42D3-91E9-A50F33C1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62890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执行者补充缺项和说明。</a:t>
            </a:r>
          </a:p>
        </p:txBody>
      </p:sp>
      <p:sp>
        <p:nvSpPr>
          <p:cNvPr id="17" name="review-node-4-title">
            <a:extLst xmlns:a="http://schemas.openxmlformats.org/drawingml/2006/main">
              <a:ext uri="{FF2B5EF4-FFF2-40B4-BE49-F238E27FC236}">
                <a16:creationId xmlns:a16="http://schemas.microsoft.com/office/drawing/2014/main" id="{8A42E03E-7A87-4041-8235-F8133778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1526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确认</a:t>
            </a:r>
          </a:p>
        </p:txBody>
      </p:sp>
      <p:sp>
        <p:nvSpPr>
          <p:cNvPr id="18" name="review-node-4-body">
            <a:extLst xmlns:a="http://schemas.openxmlformats.org/drawingml/2006/main">
              <a:ext uri="{FF2B5EF4-FFF2-40B4-BE49-F238E27FC236}">
                <a16:creationId xmlns:a16="http://schemas.microsoft.com/office/drawing/2014/main" id="{907E0D6C-F778-4172-99C7-938EE1F5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62890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负责人确认后进入可讨论版本。</a:t>
            </a:r>
          </a:p>
        </p:txBody>
      </p:sp>
      <p:sp>
        <p:nvSpPr>
          <p:cNvPr id="19" name="exception-rule">
            <a:extLst xmlns:a="http://schemas.openxmlformats.org/drawingml/2006/main">
              <a:ext uri="{FF2B5EF4-FFF2-40B4-BE49-F238E27FC236}">
                <a16:creationId xmlns:a16="http://schemas.microsoft.com/office/drawing/2014/main" id="{926BBE2E-7D95-4099-BFD0-A4F822F6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38625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exception-title">
            <a:extLst xmlns:a="http://schemas.openxmlformats.org/drawingml/2006/main">
              <a:ext uri="{FF2B5EF4-FFF2-40B4-BE49-F238E27FC236}">
                <a16:creationId xmlns:a16="http://schemas.microsoft.com/office/drawing/2014/main" id="{10E6E4B1-2024-498A-9170-86452CEA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767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新增访问授权</a:t>
            </a:r>
          </a:p>
        </p:txBody>
      </p:sp>
      <p:sp>
        <p:nvSpPr>
          <p:cNvPr id="21" name="exception-node-1">
            <a:extLst xmlns:a="http://schemas.openxmlformats.org/drawingml/2006/main">
              <a:ext uri="{FF2B5EF4-FFF2-40B4-BE49-F238E27FC236}">
                <a16:creationId xmlns:a16="http://schemas.microsoft.com/office/drawing/2014/main" id="{473E630A-CB23-49A5-B8B7-6C0CF1A0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286250"/>
            <a:ext cx="1619250" cy="762000"/>
          </a:xfrm>
          <a:prstGeom xmlns:a="http://schemas.openxmlformats.org/drawingml/2006/main" prst="roundRect">
            <a:avLst>
              <a:gd name="adj" fmla="val 75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exception-node-2">
            <a:extLst xmlns:a="http://schemas.openxmlformats.org/drawingml/2006/main">
              <a:ext uri="{FF2B5EF4-FFF2-40B4-BE49-F238E27FC236}">
                <a16:creationId xmlns:a16="http://schemas.microsoft.com/office/drawing/2014/main" id="{C2995705-E25D-4E77-BABA-50BC4644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286250"/>
            <a:ext cx="1619250" cy="762000"/>
          </a:xfrm>
          <a:prstGeom xmlns:a="http://schemas.openxmlformats.org/drawingml/2006/main" prst="roundRect">
            <a:avLst>
              <a:gd name="adj" fmla="val 75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exception-node-3">
            <a:extLst xmlns:a="http://schemas.openxmlformats.org/drawingml/2006/main">
              <a:ext uri="{FF2B5EF4-FFF2-40B4-BE49-F238E27FC236}">
                <a16:creationId xmlns:a16="http://schemas.microsoft.com/office/drawing/2014/main" id="{75D847AC-7745-461B-90DF-AAD5F618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286250"/>
            <a:ext cx="2857500" cy="762000"/>
          </a:xfrm>
          <a:prstGeom xmlns:a="http://schemas.openxmlformats.org/drawingml/2006/main" prst="roundRect">
            <a:avLst>
              <a:gd name="adj" fmla="val 75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exception-node-1-title">
            <a:extLst xmlns:a="http://schemas.openxmlformats.org/drawingml/2006/main">
              <a:ext uri="{FF2B5EF4-FFF2-40B4-BE49-F238E27FC236}">
                <a16:creationId xmlns:a16="http://schemas.microsoft.com/office/drawing/2014/main" id="{04675B2A-0845-4195-ABF7-94228202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391025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触发</a:t>
            </a:r>
          </a:p>
        </p:txBody>
      </p:sp>
      <p:sp>
        <p:nvSpPr>
          <p:cNvPr id="25" name="exception-node-1-body">
            <a:extLst xmlns:a="http://schemas.openxmlformats.org/drawingml/2006/main">
              <a:ext uri="{FF2B5EF4-FFF2-40B4-BE49-F238E27FC236}">
                <a16:creationId xmlns:a16="http://schemas.microsoft.com/office/drawing/2014/main" id="{DD561906-E9FF-4EC3-98B2-E3089617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52975"/>
            <a:ext cx="1466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新增访问授权</a:t>
            </a:r>
          </a:p>
        </p:txBody>
      </p:sp>
      <p:sp>
        <p:nvSpPr>
          <p:cNvPr id="26" name="exception-node-2-title">
            <a:extLst xmlns:a="http://schemas.openxmlformats.org/drawingml/2006/main">
              <a:ext uri="{FF2B5EF4-FFF2-40B4-BE49-F238E27FC236}">
                <a16:creationId xmlns:a16="http://schemas.microsoft.com/office/drawing/2014/main" id="{89D6EA6D-8569-41BB-92E9-4C20DE26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91025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暂停共享</a:t>
            </a:r>
          </a:p>
        </p:txBody>
      </p:sp>
      <p:sp>
        <p:nvSpPr>
          <p:cNvPr id="27" name="exception-node-2-body">
            <a:extLst xmlns:a="http://schemas.openxmlformats.org/drawingml/2006/main">
              <a:ext uri="{FF2B5EF4-FFF2-40B4-BE49-F238E27FC236}">
                <a16:creationId xmlns:a16="http://schemas.microsoft.com/office/drawing/2014/main" id="{B8C87CCF-364C-4D8A-8EB8-D32C3723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52975"/>
            <a:ext cx="1466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等待授权处理</a:t>
            </a:r>
          </a:p>
        </p:txBody>
      </p:sp>
      <p:sp>
        <p:nvSpPr>
          <p:cNvPr id="28" name="exception-node-3-title">
            <a:extLst xmlns:a="http://schemas.openxmlformats.org/drawingml/2006/main">
              <a:ext uri="{FF2B5EF4-FFF2-40B4-BE49-F238E27FC236}">
                <a16:creationId xmlns:a16="http://schemas.microsoft.com/office/drawing/2014/main" id="{73140449-AEBE-4862-BA44-0C6387BF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391025"/>
            <a:ext cx="2705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负责人处理授权后继续</a:t>
            </a:r>
          </a:p>
        </p:txBody>
      </p:sp>
      <p:sp>
        <p:nvSpPr>
          <p:cNvPr id="29" name="exception-node-3-body">
            <a:extLst xmlns:a="http://schemas.openxmlformats.org/drawingml/2006/main">
              <a:ext uri="{FF2B5EF4-FFF2-40B4-BE49-F238E27FC236}">
                <a16:creationId xmlns:a16="http://schemas.microsoft.com/office/drawing/2014/main" id="{A4618105-4B70-4F64-9900-5388A565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752975"/>
            <a:ext cx="270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恢复共享</a:t>
            </a:r>
          </a:p>
        </p:txBody>
      </p:sp>
      <p:cxnSp>
        <p:nvCxnSpPr>
          <p:cNvPr id="63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4333875" y="466725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15F91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48500" y="466725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15F91"/>
            </a:solidFill>
            <a:prstDash val="solid"/>
            <a:tailEnd type="triangle" w="sm" len="sm"/>
          </a:ln>
        </p:spPr>
      </p:cxnSp>
      <p:sp>
        <p:nvSpPr>
          <p:cNvPr id="32" name="exception-note">
            <a:extLst xmlns:a="http://schemas.openxmlformats.org/drawingml/2006/main">
              <a:ext uri="{FF2B5EF4-FFF2-40B4-BE49-F238E27FC236}">
                <a16:creationId xmlns:a16="http://schemas.microsoft.com/office/drawing/2014/main" id="{EBB9C2D5-F99C-43D3-8957-1E4E4C9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67300"/>
            <a:ext cx="1114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遇到新增访问授权，主路径暂停；授权处理后继续。</a:t>
            </a:r>
          </a:p>
        </p:txBody>
      </p:sp>
      <p:sp>
        <p:nvSpPr>
          <p:cNvPr id="33" name="footer-3">
            <a:extLst xmlns:a="http://schemas.openxmlformats.org/drawingml/2006/main">
              <a:ext uri="{FF2B5EF4-FFF2-40B4-BE49-F238E27FC236}">
                <a16:creationId xmlns:a16="http://schemas.microsoft.com/office/drawing/2014/main" id="{BADAF5C3-F868-4E71-B869-8701E0C2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1114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实验归档试点｜拟定分析  ·  3/4</a:t>
            </a:r>
          </a:p>
        </p:txBody>
      </p:sp>
    </p:spTree>
    <p:extLst>
      <p:ext uri="{BB962C8B-B14F-4D97-AF65-F5344CB8AC3E}">
        <p14:creationId xmlns:p14="http://schemas.microsoft.com/office/powerpoint/2010/main" val="18453593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5EED95E-96A3-4639-BBC3-87F57D1D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1950"/>
            <a:ext cx="1114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四周试点的去留由复核过程和成员反馈决定</a:t>
            </a:r>
          </a:p>
        </p:txBody>
      </p:sp>
      <p:sp>
        <p:nvSpPr>
          <p:cNvPr id="2" name="slide-4-divider">
            <a:extLst xmlns:a="http://schemas.openxmlformats.org/drawingml/2006/main">
              <a:ext uri="{FF2B5EF4-FFF2-40B4-BE49-F238E27FC236}">
                <a16:creationId xmlns:a16="http://schemas.microsoft.com/office/drawing/2014/main" id="{01029500-0123-4E7A-8B5D-2231743E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3345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ilot-scope-title">
            <a:extLst xmlns:a="http://schemas.openxmlformats.org/drawingml/2006/main">
              <a:ext uri="{FF2B5EF4-FFF2-40B4-BE49-F238E27FC236}">
                <a16:creationId xmlns:a16="http://schemas.microsoft.com/office/drawing/2014/main" id="{814777FE-A40E-4A14-BF4A-AC5FD0DF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33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试点范围（拟定）</a:t>
            </a:r>
          </a:p>
        </p:txBody>
      </p:sp>
      <p:sp>
        <p:nvSpPr>
          <p:cNvPr id="4" name="pilot-scope-body">
            <a:extLst xmlns:a="http://schemas.openxmlformats.org/drawingml/2006/main">
              <a:ext uri="{FF2B5EF4-FFF2-40B4-BE49-F238E27FC236}">
                <a16:creationId xmlns:a16="http://schemas.microsoft.com/office/drawing/2014/main" id="{44317EE9-D2CB-4C62-81C2-0BB81650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90700"/>
            <a:ext cx="228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仅一个课题方向</a:t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两名自愿成员</a:t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记录新增实验</a:t>
            </a:r>
          </a:p>
        </p:txBody>
      </p:sp>
      <p:sp>
        <p:nvSpPr>
          <p:cNvPr id="5" name="scope-divider">
            <a:extLst xmlns:a="http://schemas.openxmlformats.org/drawingml/2006/main">
              <a:ext uri="{FF2B5EF4-FFF2-40B4-BE49-F238E27FC236}">
                <a16:creationId xmlns:a16="http://schemas.microsoft.com/office/drawing/2014/main" id="{467111E9-E2E4-48FE-995C-8FFCA1E8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33350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line-title">
            <a:extLst xmlns:a="http://schemas.openxmlformats.org/drawingml/2006/main">
              <a:ext uri="{FF2B5EF4-FFF2-40B4-BE49-F238E27FC236}">
                <a16:creationId xmlns:a16="http://schemas.microsoft.com/office/drawing/2014/main" id="{B889901B-DE8B-4492-944B-436C36BF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33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四周推进</a:t>
            </a:r>
          </a:p>
        </p:txBody>
      </p:sp>
      <p:sp>
        <p:nvSpPr>
          <p:cNvPr id="7" name="timeline-axis">
            <a:extLst xmlns:a="http://schemas.openxmlformats.org/drawingml/2006/main">
              <a:ext uri="{FF2B5EF4-FFF2-40B4-BE49-F238E27FC236}">
                <a16:creationId xmlns:a16="http://schemas.microsoft.com/office/drawing/2014/main" id="{83C09772-A9A3-4BF9-81E7-C218C2C7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666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week-1-dot">
            <a:extLst xmlns:a="http://schemas.openxmlformats.org/drawingml/2006/main">
              <a:ext uri="{FF2B5EF4-FFF2-40B4-BE49-F238E27FC236}">
                <a16:creationId xmlns:a16="http://schemas.microsoft.com/office/drawing/2014/main" id="{7BA22E66-8BB1-437D-BB68-49D3C356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05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15F91"/>
            </a:solidFill>
            <a:prstDash val="solid"/>
          </a:ln>
        </p:spPr>
      </p:sp>
      <p:sp>
        <p:nvSpPr>
          <p:cNvPr id="9" name="week-1-title">
            <a:extLst xmlns:a="http://schemas.openxmlformats.org/drawingml/2006/main">
              <a:ext uri="{FF2B5EF4-FFF2-40B4-BE49-F238E27FC236}">
                <a16:creationId xmlns:a16="http://schemas.microsoft.com/office/drawing/2014/main" id="{5B7C1C5F-AB95-4394-B9E7-596E51CC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860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第 1 周</a:t>
            </a:r>
          </a:p>
        </p:txBody>
      </p:sp>
      <p:sp>
        <p:nvSpPr>
          <p:cNvPr id="10" name="week-1-body">
            <a:extLst xmlns:a="http://schemas.openxmlformats.org/drawingml/2006/main">
              <a:ext uri="{FF2B5EF4-FFF2-40B4-BE49-F238E27FC236}">
                <a16:creationId xmlns:a16="http://schemas.microsoft.com/office/drawing/2014/main" id="{2C4DD8F2-8053-419A-BE60-10B4702B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479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确认最少字段；</a:t>
            </a:r>
          </a:p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试填一个结果</a:t>
            </a:r>
          </a:p>
        </p:txBody>
      </p:sp>
      <p:sp>
        <p:nvSpPr>
          <p:cNvPr id="11" name="week-2-dot">
            <a:extLst xmlns:a="http://schemas.openxmlformats.org/drawingml/2006/main">
              <a:ext uri="{FF2B5EF4-FFF2-40B4-BE49-F238E27FC236}">
                <a16:creationId xmlns:a16="http://schemas.microsoft.com/office/drawing/2014/main" id="{09066061-297E-4D9B-829E-BA84EB34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05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15F91"/>
            </a:solidFill>
            <a:prstDash val="solid"/>
          </a:ln>
        </p:spPr>
      </p:sp>
      <p:sp>
        <p:nvSpPr>
          <p:cNvPr id="12" name="week-2-title">
            <a:extLst xmlns:a="http://schemas.openxmlformats.org/drawingml/2006/main">
              <a:ext uri="{FF2B5EF4-FFF2-40B4-BE49-F238E27FC236}">
                <a16:creationId xmlns:a16="http://schemas.microsoft.com/office/drawing/2014/main" id="{E85E69DC-2A95-4BF3-A7F9-2B5A7EBC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860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第 2–3 周</a:t>
            </a:r>
          </a:p>
        </p:txBody>
      </p:sp>
      <p:sp>
        <p:nvSpPr>
          <p:cNvPr id="13" name="week-2-body">
            <a:extLst xmlns:a="http://schemas.openxmlformats.org/drawingml/2006/main">
              <a:ext uri="{FF2B5EF4-FFF2-40B4-BE49-F238E27FC236}">
                <a16:creationId xmlns:a16="http://schemas.microsoft.com/office/drawing/2014/main" id="{F1D974DC-8F4E-4E66-99D0-96C5D46D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记录缺项和</a:t>
            </a:r>
          </a:p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填写负担</a:t>
            </a:r>
          </a:p>
        </p:txBody>
      </p:sp>
      <p:sp>
        <p:nvSpPr>
          <p:cNvPr id="14" name="week-3-dot">
            <a:extLst xmlns:a="http://schemas.openxmlformats.org/drawingml/2006/main">
              <a:ext uri="{FF2B5EF4-FFF2-40B4-BE49-F238E27FC236}">
                <a16:creationId xmlns:a16="http://schemas.microsoft.com/office/drawing/2014/main" id="{CB3A3E20-1218-46A5-A381-676FD6A6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05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19050">
            <a:solidFill>
              <a:srgbClr val="315F91"/>
            </a:solidFill>
            <a:prstDash val="solid"/>
          </a:ln>
        </p:spPr>
      </p:sp>
      <p:sp>
        <p:nvSpPr>
          <p:cNvPr id="15" name="week-3-title">
            <a:extLst xmlns:a="http://schemas.openxmlformats.org/drawingml/2006/main">
              <a:ext uri="{FF2B5EF4-FFF2-40B4-BE49-F238E27FC236}">
                <a16:creationId xmlns:a16="http://schemas.microsoft.com/office/drawing/2014/main" id="{8136D4BE-E5F3-4E08-908D-3797DEC1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第 4 周</a:t>
            </a:r>
          </a:p>
        </p:txBody>
      </p:sp>
      <p:sp>
        <p:nvSpPr>
          <p:cNvPr id="16" name="week-3-body">
            <a:extLst xmlns:a="http://schemas.openxmlformats.org/drawingml/2006/main">
              <a:ext uri="{FF2B5EF4-FFF2-40B4-BE49-F238E27FC236}">
                <a16:creationId xmlns:a16="http://schemas.microsoft.com/office/drawing/2014/main" id="{37DBD9F9-684C-4FCF-93C2-6144346C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479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决定保留、</a:t>
            </a:r>
          </a:p>
          <a:p xmlns:a="http://schemas.openxmlformats.org/drawingml/2006/main">
            <a:pPr algn="ctr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修改或停止</a:t>
            </a:r>
          </a:p>
        </p:txBody>
      </p:sp>
      <p:sp>
        <p:nvSpPr>
          <p:cNvPr id="17" name="lower-divider">
            <a:extLst xmlns:a="http://schemas.openxmlformats.org/drawingml/2006/main">
              <a:ext uri="{FF2B5EF4-FFF2-40B4-BE49-F238E27FC236}">
                <a16:creationId xmlns:a16="http://schemas.microsoft.com/office/drawing/2014/main" id="{2B1E2162-E4E1-4E29-ABC3-BE7A4D5E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2425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valuation-group-title">
            <a:extLst xmlns:a="http://schemas.openxmlformats.org/drawingml/2006/main">
              <a:ext uri="{FF2B5EF4-FFF2-40B4-BE49-F238E27FC236}">
                <a16:creationId xmlns:a16="http://schemas.microsoft.com/office/drawing/2014/main" id="{53D0FF40-91BD-4C4E-A5AF-E77C818D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100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评估依据</a:t>
            </a:r>
          </a:p>
        </p:txBody>
      </p:sp>
      <p:sp>
        <p:nvSpPr>
          <p:cNvPr id="19" name="evaluation-group-body">
            <a:extLst xmlns:a="http://schemas.openxmlformats.org/drawingml/2006/main">
              <a:ext uri="{FF2B5EF4-FFF2-40B4-BE49-F238E27FC236}">
                <a16:creationId xmlns:a16="http://schemas.microsoft.com/office/drawing/2014/main" id="{A480C7AD-3685-4D6E-87D3-EECE98EA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67200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来源能否定位</a:t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处理与排除依据能否理解</a:t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负担是否愿意长期承担</a:t>
            </a:r>
          </a:p>
        </p:txBody>
      </p:sp>
      <p:sp>
        <p:nvSpPr>
          <p:cNvPr id="20" name="evaluation-group-note">
            <a:extLst xmlns:a="http://schemas.openxmlformats.org/drawingml/2006/main">
              <a:ext uri="{FF2B5EF4-FFF2-40B4-BE49-F238E27FC236}">
                <a16:creationId xmlns:a16="http://schemas.microsoft.com/office/drawing/2014/main" id="{67498B29-F9DD-4230-A00A-E7FADE4D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721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依据具体复核过程及成员反馈；不设统一分数。</a:t>
            </a:r>
          </a:p>
        </p:txBody>
      </p:sp>
      <p:sp>
        <p:nvSpPr>
          <p:cNvPr id="21" name="lower-column-divider">
            <a:extLst xmlns:a="http://schemas.openxmlformats.org/drawingml/2006/main">
              <a:ext uri="{FF2B5EF4-FFF2-40B4-BE49-F238E27FC236}">
                <a16:creationId xmlns:a16="http://schemas.microsoft.com/office/drawing/2014/main" id="{3A7D30E8-7D3D-4B77-83DD-6EA71BCD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95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op-group-title">
            <a:extLst xmlns:a="http://schemas.openxmlformats.org/drawingml/2006/main">
              <a:ext uri="{FF2B5EF4-FFF2-40B4-BE49-F238E27FC236}">
                <a16:creationId xmlns:a16="http://schemas.microsoft.com/office/drawing/2014/main" id="{803ABE80-2022-4AE1-8426-3072706A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519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缩小要求或停止</a:t>
            </a:r>
          </a:p>
        </p:txBody>
      </p:sp>
      <p:sp>
        <p:nvSpPr>
          <p:cNvPr id="23" name="stop-group-body">
            <a:extLst xmlns:a="http://schemas.openxmlformats.org/drawingml/2006/main">
              <a:ext uri="{FF2B5EF4-FFF2-40B4-BE49-F238E27FC236}">
                <a16:creationId xmlns:a16="http://schemas.microsoft.com/office/drawing/2014/main" id="{93CA2835-D917-49B7-B1F5-5F9CCBE1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5191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持续挤占实验时间</a:t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权限不明</a:t>
            </a:r>
          </a:p>
          <a:p xmlns:a="http://schemas.openxmlformats.org/drawingml/2006/main">
            <a:pPr algn="l"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只有重复抄写而不帮助解释结果</a:t>
            </a:r>
          </a:p>
        </p:txBody>
      </p:sp>
      <p:sp>
        <p:nvSpPr>
          <p:cNvPr id="24" name="stop-group-note">
            <a:extLst xmlns:a="http://schemas.openxmlformats.org/drawingml/2006/main">
              <a:ext uri="{FF2B5EF4-FFF2-40B4-BE49-F238E27FC236}">
                <a16:creationId xmlns:a16="http://schemas.microsoft.com/office/drawing/2014/main" id="{81340E31-AE75-4ECC-B1C4-2ACD142B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7210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上述范围为拟定，没有实测效率或完成率。</a:t>
            </a:r>
          </a:p>
        </p:txBody>
      </p:sp>
      <p:sp>
        <p:nvSpPr>
          <p:cNvPr id="25" name="footer-4">
            <a:extLst xmlns:a="http://schemas.openxmlformats.org/drawingml/2006/main">
              <a:ext uri="{FF2B5EF4-FFF2-40B4-BE49-F238E27FC236}">
                <a16:creationId xmlns:a16="http://schemas.microsoft.com/office/drawing/2014/main" id="{50E8A62C-4A42-4E49-B1B3-C7724A38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1114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实验归档试点｜拟定分析  ·  4/4</a:t>
            </a:r>
          </a:p>
        </p:txBody>
      </p:sp>
    </p:spTree>
    <p:extLst>
      <p:ext uri="{BB962C8B-B14F-4D97-AF65-F5344CB8AC3E}">
        <p14:creationId xmlns:p14="http://schemas.microsoft.com/office/powerpoint/2010/main" val="476445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2026-09-06T11:05:46.9230000Z</dcterms:created>
  <dcterms:modified xsi:type="dcterms:W3CDTF">2026-09-06T11:05:46.9230000Z</dcterms:modified>
</coreProperties>
</file>