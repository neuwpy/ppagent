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48cedc9f94f9e" /><Relationship Type="http://schemas.openxmlformats.org/officeDocument/2006/relationships/extended-properties" Target="/docProps/app.xml" Id="R7640f67ba55645fb" /><Relationship Type="http://schemas.openxmlformats.org/officeDocument/2006/relationships/officeDocument" Target="/ppt/presentation.xml" Id="Rd3e259eb8961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8273e08c2749f0"/>
  </p:sldMasterIdLst>
  <p:notesMasterIdLst>
    <p:notesMasterId xmlns:r="http://schemas.openxmlformats.org/officeDocument/2006/relationships" r:id="Rc5aec2d5f29343ac"/>
  </p:notesMasterIdLst>
  <p:sldIdLst>
    <p:sldId xmlns:r="http://schemas.openxmlformats.org/officeDocument/2006/relationships" id="256" r:id="Rb65b2f8028cc4abf"/>
    <p:sldId xmlns:r="http://schemas.openxmlformats.org/officeDocument/2006/relationships" id="257" r:id="Rfc82f72af45b47d9"/>
    <p:sldId xmlns:r="http://schemas.openxmlformats.org/officeDocument/2006/relationships" id="258" r:id="R8c84bc2539bb4ad3"/>
    <p:sldId xmlns:r="http://schemas.openxmlformats.org/officeDocument/2006/relationships" id="259" r:id="Re8f7aae95be1402a"/>
    <p:sldId xmlns:r="http://schemas.openxmlformats.org/officeDocument/2006/relationships" id="260" r:id="R82cdb11e9f7b4592"/>
    <p:sldId xmlns:r="http://schemas.openxmlformats.org/officeDocument/2006/relationships" id="261" r:id="Ra4571074ac7b4456"/>
    <p:sldId xmlns:r="http://schemas.openxmlformats.org/officeDocument/2006/relationships" id="262" r:id="R2965dba1e6064a38"/>
    <p:sldId xmlns:r="http://schemas.openxmlformats.org/officeDocument/2006/relationships" id="263" r:id="Rd45a3f536fc8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b2f238f1a84fa2" /><Relationship Type="http://schemas.openxmlformats.org/officeDocument/2006/relationships/slideMaster" Target="/ppt/slideMasters/slideMaster1.xml" Id="R3e8273e08c2749f0" /><Relationship Type="http://schemas.openxmlformats.org/officeDocument/2006/relationships/notesMaster" Target="/ppt/notesMasters/notesMaster1.xml" Id="Rc5aec2d5f29343ac" /><Relationship Type="http://schemas.openxmlformats.org/officeDocument/2006/relationships/presProps" Target="/ppt/presProps.xml" Id="R436808b8a7a94931" /><Relationship Type="http://schemas.openxmlformats.org/officeDocument/2006/relationships/tableStyles" Target="/ppt/tableStyles.xml" Id="R1933b563af184795" /><Relationship Type="http://schemas.openxmlformats.org/officeDocument/2006/relationships/slide" Target="/ppt/slides/slide1.xml" Id="Rb65b2f8028cc4abf" /><Relationship Type="http://schemas.openxmlformats.org/officeDocument/2006/relationships/slide" Target="/ppt/slides/slide2.xml" Id="Rfc82f72af45b47d9" /><Relationship Type="http://schemas.openxmlformats.org/officeDocument/2006/relationships/slide" Target="/ppt/slides/slide3.xml" Id="R8c84bc2539bb4ad3" /><Relationship Type="http://schemas.openxmlformats.org/officeDocument/2006/relationships/slide" Target="/ppt/slides/slide4.xml" Id="Re8f7aae95be1402a" /><Relationship Type="http://schemas.openxmlformats.org/officeDocument/2006/relationships/slide" Target="/ppt/slides/slide5.xml" Id="R82cdb11e9f7b4592" /><Relationship Type="http://schemas.openxmlformats.org/officeDocument/2006/relationships/slide" Target="/ppt/slides/slide6.xml" Id="Ra4571074ac7b4456" /><Relationship Type="http://schemas.openxmlformats.org/officeDocument/2006/relationships/slide" Target="/ppt/slides/slide7.xml" Id="R2965dba1e6064a38" /><Relationship Type="http://schemas.openxmlformats.org/officeDocument/2006/relationships/slide" Target="/ppt/slides/slide8.xml" Id="Rd45a3f536fc8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c061a7ed144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fd05a43dd4833" /><Relationship Type="http://schemas.openxmlformats.org/officeDocument/2006/relationships/notesMaster" Target="/ppt/notesMasters/notesMaster1.xml" Id="R44dd5e9f079b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7a334f76954a1f" /><Relationship Type="http://schemas.openxmlformats.org/officeDocument/2006/relationships/notesMaster" Target="/ppt/notesMasters/notesMaster1.xml" Id="R2614259dd89c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e28187334a4f96" /><Relationship Type="http://schemas.openxmlformats.org/officeDocument/2006/relationships/notesMaster" Target="/ppt/notesMasters/notesMaster1.xml" Id="R56eb58394b4e45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5c4e5d3afb46f2" /><Relationship Type="http://schemas.openxmlformats.org/officeDocument/2006/relationships/notesMaster" Target="/ppt/notesMasters/notesMaster1.xml" Id="R4f9b7c30de76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3ba17da4b942a1" /><Relationship Type="http://schemas.openxmlformats.org/officeDocument/2006/relationships/notesMaster" Target="/ppt/notesMasters/notesMaster1.xml" Id="Rf27d679aeb7449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a9d67c11a24b6f" /><Relationship Type="http://schemas.openxmlformats.org/officeDocument/2006/relationships/notesMaster" Target="/ppt/notesMasters/notesMaster1.xml" Id="Rb88fd47234ea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14c422def44347" /><Relationship Type="http://schemas.openxmlformats.org/officeDocument/2006/relationships/notesMaster" Target="/ppt/notesMasters/notesMaster1.xml" Id="Rd4c429d8e85145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45050b1eea4ae5" /><Relationship Type="http://schemas.openxmlformats.org/officeDocument/2006/relationships/notesMaster" Target="/ppt/notesMasters/notesMaster1.xml" Id="Rba03836a2b5d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来源：实验数据归档：先把一次结果说明白（用户提供原稿）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660de2d0e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f8d3955e24927" /><Relationship Type="http://schemas.openxmlformats.org/officeDocument/2006/relationships/slideLayout" Target="/ppt/slideLayouts/slideLayout1.xml" Id="Rf0aeb146925b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eb146925b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9807c6f04800" /><Relationship Type="http://schemas.openxmlformats.org/officeDocument/2006/relationships/notesSlide" Target="/ppt/notesSlides/notesSlide1.xml" Id="R47e38dee862049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38f149d2043c8" /><Relationship Type="http://schemas.openxmlformats.org/officeDocument/2006/relationships/notesSlide" Target="/ppt/notesSlides/notesSlide2.xml" Id="R9e5d58ed96b5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c05fc089e4361" /><Relationship Type="http://schemas.openxmlformats.org/officeDocument/2006/relationships/notesSlide" Target="/ppt/notesSlides/notesSlide3.xml" Id="R0ac61cbcc67b4b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43de705a4628" /><Relationship Type="http://schemas.openxmlformats.org/officeDocument/2006/relationships/notesSlide" Target="/ppt/notesSlides/notesSlide4.xml" Id="R69a9a4fc4024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3fbab3ef24a9a" /><Relationship Type="http://schemas.openxmlformats.org/officeDocument/2006/relationships/notesSlide" Target="/ppt/notesSlides/notesSlide5.xml" Id="R6cadffba875041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54ddc34a84996" /><Relationship Type="http://schemas.openxmlformats.org/officeDocument/2006/relationships/notesSlide" Target="/ppt/notesSlides/notesSlide6.xml" Id="Rc07ed4194ed34f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3e541a6c42d6" /><Relationship Type="http://schemas.openxmlformats.org/officeDocument/2006/relationships/notesSlide" Target="/ppt/notesSlides/notesSlide7.xml" Id="R5415751525f14c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5402af2464c22" /><Relationship Type="http://schemas.openxmlformats.org/officeDocument/2006/relationships/notesSlide" Target="/ppt/notesSlides/notesSlide8.xml" Id="R10b5b712db0644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1-left-band">
            <a:extLst xmlns:a="http://schemas.openxmlformats.org/drawingml/2006/main">
              <a:ext uri="{FF2B5EF4-FFF2-40B4-BE49-F238E27FC236}">
                <a16:creationId xmlns:a16="http://schemas.microsoft.com/office/drawing/2014/main" id="{96FC2D31-8942-4AA6-A5CA-A0E38F94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4850"/>
            <a:ext cx="857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49B95B83-2FD2-4288-9BD7-1DC6772A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4"/>
                </a:solidFill>
              </a:defRPr>
            </a:pPr>
            <a:r>
              <a:rPr sz="1350" b="1">
                <a:solidFill>
                  <a:srgbClr val="DCE8F4"/>
                </a:solidFill>
              </a:rPr>
              <a:t>课题组讨论提案</a:t>
            </a:r>
          </a:p>
        </p:txBody>
      </p:sp>
      <p:sp>
        <p:nvSpPr>
          <p:cNvPr id="3" name="s1-main-title">
            <a:extLst xmlns:a="http://schemas.openxmlformats.org/drawingml/2006/main">
              <a:ext uri="{FF2B5EF4-FFF2-40B4-BE49-F238E27FC236}">
                <a16:creationId xmlns:a16="http://schemas.microsoft.com/office/drawing/2014/main" id="{5E7C974A-1B45-4334-B97A-2B501A4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先让一次结果可以被理解</a:t>
            </a:r>
          </a:p>
        </p:txBody>
      </p:sp>
      <p:sp>
        <p:nvSpPr>
          <p:cNvPr id="4" name="s1-sub-title">
            <a:extLst xmlns:a="http://schemas.openxmlformats.org/drawingml/2006/main">
              <a:ext uri="{FF2B5EF4-FFF2-40B4-BE49-F238E27FC236}">
                <a16:creationId xmlns:a16="http://schemas.microsoft.com/office/drawing/2014/main" id="{D1C1137C-AFE3-4857-AE9B-B859769A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EAF1F8"/>
                </a:solidFill>
              </a:defRPr>
            </a:pPr>
            <a:r>
              <a:rPr sz="2100">
                <a:solidFill>
                  <a:srgbClr val="EAF1F8"/>
                </a:solidFill>
              </a:rPr>
              <a:t>再决定哪些记录值得长期保存</a:t>
            </a:r>
          </a:p>
        </p:txBody>
      </p:sp>
      <p:sp>
        <p:nvSpPr>
          <p:cNvPr id="5" name="s1-callout-surface">
            <a:extLst xmlns:a="http://schemas.openxmlformats.org/drawingml/2006/main">
              <a:ext uri="{FF2B5EF4-FFF2-40B4-BE49-F238E27FC236}">
                <a16:creationId xmlns:a16="http://schemas.microsoft.com/office/drawing/2014/main" id="{5F9150A2-C140-45B4-91BB-72B30A52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57150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callout">
            <a:extLst xmlns:a="http://schemas.openxmlformats.org/drawingml/2006/main">
              <a:ext uri="{FF2B5EF4-FFF2-40B4-BE49-F238E27FC236}">
                <a16:creationId xmlns:a16="http://schemas.microsoft.com/office/drawing/2014/main" id="{3F3B51B7-5CA0-4033-9361-45B643E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3E7"/>
                </a:solidFill>
              </a:defRPr>
            </a:pPr>
            <a:r>
              <a:rPr sz="1350" b="1">
                <a:solidFill>
                  <a:srgbClr val="BFD3E7"/>
                </a:solidFill>
              </a:rPr>
              <a:t>拟议范围</a:t>
            </a:r>
          </a:p>
        </p:txBody>
      </p:sp>
      <p:sp>
        <p:nvSpPr>
          <p:cNvPr id="7" name="s1-callout-body">
            <a:extLst xmlns:a="http://schemas.openxmlformats.org/drawingml/2006/main">
              <a:ext uri="{FF2B5EF4-FFF2-40B4-BE49-F238E27FC236}">
                <a16:creationId xmlns:a16="http://schemas.microsoft.com/office/drawing/2014/main" id="{752E4DCD-A75E-4E83-9BF3-0EE7FBFD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四周｜一个课题方向｜两名自愿成员</a:t>
            </a:r>
          </a:p>
          <a:p xmlns:a="http://schemas.openxmlformats.org/drawingml/2006/main"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只记录新增实验，先验证可追溯记录能否持续留下</a:t>
            </a:r>
          </a:p>
        </p:txBody>
      </p:sp>
      <p:sp>
        <p:nvSpPr>
          <p:cNvPr id="8" name="s1-question">
            <a:extLst xmlns:a="http://schemas.openxmlformats.org/drawingml/2006/main">
              <a:ext uri="{FF2B5EF4-FFF2-40B4-BE49-F238E27FC236}">
                <a16:creationId xmlns:a16="http://schemas.microsoft.com/office/drawing/2014/main" id="{9DA7C1E3-9162-4D11-BE0A-8CBFE11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AF1F8"/>
                </a:solidFill>
              </a:defRPr>
            </a:pPr>
            <a:r>
              <a:rPr sz="1350">
                <a:solidFill>
                  <a:srgbClr val="EAF1F8"/>
                </a:solidFill>
              </a:rPr>
              <a:t>讨论要点：结果、依据与责任边界能否在一次记录中对上？</a:t>
            </a:r>
          </a:p>
        </p:txBody>
      </p:sp>
      <p:sp>
        <p:nvSpPr>
          <p:cNvPr id="9" name="s1-footer-rule">
            <a:extLst xmlns:a="http://schemas.openxmlformats.org/drawingml/2006/main">
              <a:ext uri="{FF2B5EF4-FFF2-40B4-BE49-F238E27FC236}">
                <a16:creationId xmlns:a16="http://schemas.microsoft.com/office/drawing/2014/main" id="{5E85BDCC-8261-4535-8CE8-1F1AC7A0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092B6"/>
            </a:solidFill>
            <a:prstDash val="solid"/>
          </a:ln>
        </p:spPr>
      </p:sp>
      <p:sp>
        <p:nvSpPr>
          <p:cNvPr id="10" name="s1-footer-source">
            <a:extLst xmlns:a="http://schemas.openxmlformats.org/drawingml/2006/main">
              <a:ext uri="{FF2B5EF4-FFF2-40B4-BE49-F238E27FC236}">
                <a16:creationId xmlns:a16="http://schemas.microsoft.com/office/drawing/2014/main" id="{3C058116-E9E4-428E-B2B2-1DCF75D8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CE8F4"/>
                </a:solidFill>
              </a:defRPr>
            </a:pPr>
            <a:r>
              <a:rPr sz="1050">
                <a:solidFill>
                  <a:srgbClr val="DCE8F4"/>
                </a:solidFill>
              </a:rPr>
              <a:t>实验数据归档：先把一次结果说明白</a:t>
            </a:r>
          </a:p>
        </p:txBody>
      </p:sp>
      <p:sp>
        <p:nvSpPr>
          <p:cNvPr id="11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4C81EF7E-DF39-4E37-8725-0F68558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4"/>
                </a:solidFill>
              </a:defRPr>
            </a:pPr>
            <a:r>
              <a:rPr sz="1050">
                <a:solidFill>
                  <a:srgbClr val="DCE8F4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4674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-title">
            <a:extLst xmlns:a="http://schemas.openxmlformats.org/drawingml/2006/main">
              <a:ext uri="{FF2B5EF4-FFF2-40B4-BE49-F238E27FC236}">
                <a16:creationId xmlns:a16="http://schemas.microsoft.com/office/drawing/2014/main" id="{758875E7-FCC5-42F5-8BDF-068588F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文件找得到，不等于结果能解释</a:t>
            </a:r>
          </a:p>
        </p:txBody>
      </p:sp>
      <p:sp>
        <p:nvSpPr>
          <p:cNvPr id="2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6E03ECA3-F314-45BD-9DCB-8A0F4BD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2-subtitle">
            <a:extLst xmlns:a="http://schemas.openxmlformats.org/drawingml/2006/main">
              <a:ext uri="{FF2B5EF4-FFF2-40B4-BE49-F238E27FC236}">
                <a16:creationId xmlns:a16="http://schemas.microsoft.com/office/drawing/2014/main" id="{2D694E59-B89B-41D1-8C45-34D07ADB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问题首先是关系断了，而不是文件有没有上传。</a:t>
            </a:r>
          </a:p>
        </p:txBody>
      </p:sp>
      <p:sp>
        <p:nvSpPr>
          <p:cNvPr id="4" name="s2-main-surface">
            <a:extLst xmlns:a="http://schemas.openxmlformats.org/drawingml/2006/main">
              <a:ext uri="{FF2B5EF4-FFF2-40B4-BE49-F238E27FC236}">
                <a16:creationId xmlns:a16="http://schemas.microsoft.com/office/drawing/2014/main" id="{AC5AD2D0-3F14-4F02-8B69-AC61DE5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1144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left-heading">
            <a:extLst xmlns:a="http://schemas.openxmlformats.org/drawingml/2006/main">
              <a:ext uri="{FF2B5EF4-FFF2-40B4-BE49-F238E27FC236}">
                <a16:creationId xmlns:a16="http://schemas.microsoft.com/office/drawing/2014/main" id="{231C9236-9662-4E81-BAE6-977E76B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讨论时看到的结果</a:t>
            </a:r>
          </a:p>
        </p:txBody>
      </p:sp>
      <p:sp>
        <p:nvSpPr>
          <p:cNvPr id="6" name="s2-result-box">
            <a:extLst xmlns:a="http://schemas.openxmlformats.org/drawingml/2006/main">
              <a:ext uri="{FF2B5EF4-FFF2-40B4-BE49-F238E27FC236}">
                <a16:creationId xmlns:a16="http://schemas.microsoft.com/office/drawing/2014/main" id="{C94ECFDD-2D0E-4A1B-B175-0D8B868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714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7" name="s2-result-label">
            <a:extLst xmlns:a="http://schemas.openxmlformats.org/drawingml/2006/main">
              <a:ext uri="{FF2B5EF4-FFF2-40B4-BE49-F238E27FC236}">
                <a16:creationId xmlns:a16="http://schemas.microsoft.com/office/drawing/2014/main" id="{8010B4A6-9B9D-4549-AB24-AF31A7A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最终实验图片</a:t>
            </a:r>
          </a:p>
          <a:p xmlns:a="http://schemas.openxmlformats.org/drawingml/2006/main">
            <a:pPr algn="ctr">
              <a:defRPr sz="1650" b="1">
                <a:solidFill>
                  <a:srgbClr val="315F91"/>
                </a:solidFill>
              </a:defRPr>
            </a:pPr>
            <a:r>
              <a:rPr sz="1650" b="1">
                <a:solidFill>
                  <a:srgbClr val="315F91"/>
                </a:solidFill>
              </a:rPr>
              <a:t>看见曲线，却说不清来路</a:t>
            </a:r>
          </a:p>
        </p:txBody>
      </p:sp>
      <p:sp>
        <p:nvSpPr>
          <p:cNvPr id="8" name="s2-gap-band">
            <a:extLst xmlns:a="http://schemas.openxmlformats.org/drawingml/2006/main">
              <a:ext uri="{FF2B5EF4-FFF2-40B4-BE49-F238E27FC236}">
                <a16:creationId xmlns:a16="http://schemas.microsoft.com/office/drawing/2014/main" id="{E0552F98-3347-4BA8-ADEC-CFFFA0B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gap-label">
            <a:extLst xmlns:a="http://schemas.openxmlformats.org/drawingml/2006/main">
              <a:ext uri="{FF2B5EF4-FFF2-40B4-BE49-F238E27FC236}">
                <a16:creationId xmlns:a16="http://schemas.microsoft.com/office/drawing/2014/main" id="{63C3C743-BD62-4C6B-B2EB-8595DF1F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0325"/>
            <a:ext cx="1447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解释链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断开</a:t>
            </a:r>
          </a:p>
        </p:txBody>
      </p:sp>
      <p:sp>
        <p:nvSpPr>
          <p:cNvPr id="10" name="s2-right-heading">
            <a:extLst xmlns:a="http://schemas.openxmlformats.org/drawingml/2006/main">
              <a:ext uri="{FF2B5EF4-FFF2-40B4-BE49-F238E27FC236}">
                <a16:creationId xmlns:a16="http://schemas.microsoft.com/office/drawing/2014/main" id="{0AA6D5EF-CE06-4984-81D3-49AD89A3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需要同时回答的依据</a:t>
            </a:r>
          </a:p>
        </p:txBody>
      </p:sp>
      <p:sp>
        <p:nvSpPr>
          <p:cNvPr id="11" name="s2-evidence-1">
            <a:extLst xmlns:a="http://schemas.openxmlformats.org/drawingml/2006/main">
              <a:ext uri="{FF2B5EF4-FFF2-40B4-BE49-F238E27FC236}">
                <a16:creationId xmlns:a16="http://schemas.microsoft.com/office/drawing/2014/main" id="{EF67CCF9-547E-4139-B82F-78BFDE65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哪批样本、什么采集条件？</a:t>
            </a:r>
          </a:p>
        </p:txBody>
      </p:sp>
      <p:sp>
        <p:nvSpPr>
          <p:cNvPr id="12" name="s2-evidence-2">
            <a:extLst xmlns:a="http://schemas.openxmlformats.org/drawingml/2006/main">
              <a:ext uri="{FF2B5EF4-FFF2-40B4-BE49-F238E27FC236}">
                <a16:creationId xmlns:a16="http://schemas.microsoft.com/office/drawing/2014/main" id="{3731D5CD-D1F6-4BF5-A493-FE86AF6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用了哪版处理脚本？</a:t>
            </a:r>
          </a:p>
        </p:txBody>
      </p:sp>
      <p:sp>
        <p:nvSpPr>
          <p:cNvPr id="13" name="s2-evidence-3">
            <a:extLst xmlns:a="http://schemas.openxmlformats.org/drawingml/2006/main">
              <a:ext uri="{FF2B5EF4-FFF2-40B4-BE49-F238E27FC236}">
                <a16:creationId xmlns:a16="http://schemas.microsoft.com/office/drawing/2014/main" id="{A5EE51FB-C245-44B3-8CFF-5DDA4558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哪些数据被排除，依据是什么？</a:t>
            </a:r>
          </a:p>
        </p:txBody>
      </p:sp>
      <p:sp>
        <p:nvSpPr>
          <p:cNvPr id="14" name="s2-note-surface">
            <a:extLst xmlns:a="http://schemas.openxmlformats.org/drawingml/2006/main">
              <a:ext uri="{FF2B5EF4-FFF2-40B4-BE49-F238E27FC236}">
                <a16:creationId xmlns:a16="http://schemas.microsoft.com/office/drawing/2014/main" id="{BEF52866-CCC9-4757-862D-70D26A0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858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note">
            <a:extLst xmlns:a="http://schemas.openxmlformats.org/drawingml/2006/main">
              <a:ext uri="{FF2B5EF4-FFF2-40B4-BE49-F238E27FC236}">
                <a16:creationId xmlns:a16="http://schemas.microsoft.com/office/drawing/2014/main" id="{8B634764-C01D-4C32-A735-42112BD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同名文件与个人目录让重复检索变难；文件存在，仍可能无法解释结果。</a:t>
            </a:r>
          </a:p>
        </p:txBody>
      </p:sp>
      <p:sp>
        <p:nvSpPr>
          <p:cNvPr id="16" name="s2-footer-rule">
            <a:extLst xmlns:a="http://schemas.openxmlformats.org/drawingml/2006/main">
              <a:ext uri="{FF2B5EF4-FFF2-40B4-BE49-F238E27FC236}">
                <a16:creationId xmlns:a16="http://schemas.microsoft.com/office/drawing/2014/main" id="{07B3421E-F2DA-4F48-A97E-271E6DE0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s2-footer-source">
            <a:extLst xmlns:a="http://schemas.openxmlformats.org/drawingml/2006/main">
              <a:ext uri="{FF2B5EF4-FFF2-40B4-BE49-F238E27FC236}">
                <a16:creationId xmlns:a16="http://schemas.microsoft.com/office/drawing/2014/main" id="{584812F1-5D15-4F16-9536-EB05A88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8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ED99F48-ECC0-4E13-8A78-0E9CC7B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955310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3-title">
            <a:extLst xmlns:a="http://schemas.openxmlformats.org/drawingml/2006/main">
              <a:ext uri="{FF2B5EF4-FFF2-40B4-BE49-F238E27FC236}">
                <a16:creationId xmlns:a16="http://schemas.microsoft.com/office/drawing/2014/main" id="{98CC7E66-678F-428A-8BB1-4FBE1EE3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一条可讨论记录，必须把结果和依据绑在一起</a:t>
            </a:r>
          </a:p>
        </p:txBody>
      </p:sp>
      <p:sp>
        <p:nvSpPr>
          <p:cNvPr id="2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1BA88468-9994-4815-AD6B-19F82A1E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3-subtitle">
            <a:extLst xmlns:a="http://schemas.openxmlformats.org/drawingml/2006/main">
              <a:ext uri="{FF2B5EF4-FFF2-40B4-BE49-F238E27FC236}">
                <a16:creationId xmlns:a16="http://schemas.microsoft.com/office/drawing/2014/main" id="{EBCB3291-30E2-4D48-8A9A-23B3C676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五项内容共同解释一个结果，不是必须依次执行的五个步骤。</a:t>
            </a:r>
          </a:p>
        </p:txBody>
      </p:sp>
      <p:sp>
        <p:nvSpPr>
          <p:cNvPr id="4" name="s3-record-surface">
            <a:extLst xmlns:a="http://schemas.openxmlformats.org/drawingml/2006/main">
              <a:ext uri="{FF2B5EF4-FFF2-40B4-BE49-F238E27FC236}">
                <a16:creationId xmlns:a16="http://schemas.microsoft.com/office/drawing/2014/main" id="{E51ADB95-C602-45A3-AB2C-0338925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114425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s3-record-band">
            <a:extLst xmlns:a="http://schemas.openxmlformats.org/drawingml/2006/main">
              <a:ext uri="{FF2B5EF4-FFF2-40B4-BE49-F238E27FC236}">
                <a16:creationId xmlns:a16="http://schemas.microsoft.com/office/drawing/2014/main" id="{BD93C90C-456E-4B75-AC17-089B960D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114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record-heading">
            <a:extLst xmlns:a="http://schemas.openxmlformats.org/drawingml/2006/main">
              <a:ext uri="{FF2B5EF4-FFF2-40B4-BE49-F238E27FC236}">
                <a16:creationId xmlns:a16="http://schemas.microsoft.com/office/drawing/2014/main" id="{2F0A036D-B69C-473E-8DB0-B0F67E0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记录单元</a:t>
            </a:r>
          </a:p>
        </p:txBody>
      </p:sp>
      <p:sp>
        <p:nvSpPr>
          <p:cNvPr id="7" name="s3-result-node">
            <a:extLst xmlns:a="http://schemas.openxmlformats.org/drawingml/2006/main">
              <a:ext uri="{FF2B5EF4-FFF2-40B4-BE49-F238E27FC236}">
                <a16:creationId xmlns:a16="http://schemas.microsoft.com/office/drawing/2014/main" id="{EF7CCAF8-F491-4296-8CEF-D06605F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result-label">
            <a:extLst xmlns:a="http://schemas.openxmlformats.org/drawingml/2006/main">
              <a:ext uri="{FF2B5EF4-FFF2-40B4-BE49-F238E27FC236}">
                <a16:creationId xmlns:a16="http://schemas.microsoft.com/office/drawing/2014/main" id="{85C66056-526F-4133-A1B3-DC00CB2E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一个实验结果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结果与依据的共同归属</a:t>
            </a:r>
          </a:p>
        </p:txBody>
      </p:sp>
      <p:sp>
        <p:nvSpPr>
          <p:cNvPr id="9" name="s3-item-raw">
            <a:extLst xmlns:a="http://schemas.openxmlformats.org/drawingml/2006/main">
              <a:ext uri="{FF2B5EF4-FFF2-40B4-BE49-F238E27FC236}">
                <a16:creationId xmlns:a16="http://schemas.microsoft.com/office/drawing/2014/main" id="{21B22CA4-7039-4F0A-9421-F864CA93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s3-item-raw-label">
            <a:extLst xmlns:a="http://schemas.openxmlformats.org/drawingml/2006/main">
              <a:ext uri="{FF2B5EF4-FFF2-40B4-BE49-F238E27FC236}">
                <a16:creationId xmlns:a16="http://schemas.microsoft.com/office/drawing/2014/main" id="{8884210D-B31F-4E97-9CFB-990CF306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原始数据位置</a:t>
            </a:r>
          </a:p>
        </p:txBody>
      </p:sp>
      <p:sp>
        <p:nvSpPr>
          <p:cNvPr id="11" name="s3-item-raw-sub">
            <a:extLst xmlns:a="http://schemas.openxmlformats.org/drawingml/2006/main">
              <a:ext uri="{FF2B5EF4-FFF2-40B4-BE49-F238E27FC236}">
                <a16:creationId xmlns:a16="http://schemas.microsoft.com/office/drawing/2014/main" id="{5E00B4DA-9E2D-4A4F-B319-49955503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保持原貌</a:t>
            </a:r>
          </a:p>
        </p:txBody>
      </p:sp>
      <p:sp>
        <p:nvSpPr>
          <p:cNvPr id="12" name="s3-item-cond">
            <a:extLst xmlns:a="http://schemas.openxmlformats.org/drawingml/2006/main">
              <a:ext uri="{FF2B5EF4-FFF2-40B4-BE49-F238E27FC236}">
                <a16:creationId xmlns:a16="http://schemas.microsoft.com/office/drawing/2014/main" id="{622353A8-2E11-49C1-A414-95DEB7AC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s3-item-cond-label">
            <a:extLst xmlns:a="http://schemas.openxmlformats.org/drawingml/2006/main">
              <a:ext uri="{FF2B5EF4-FFF2-40B4-BE49-F238E27FC236}">
                <a16:creationId xmlns:a16="http://schemas.microsoft.com/office/drawing/2014/main" id="{B6D95399-240F-4BA0-B2F0-4AD1615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样本与采集条件</a:t>
            </a:r>
          </a:p>
        </p:txBody>
      </p:sp>
      <p:sp>
        <p:nvSpPr>
          <p:cNvPr id="14" name="s3-item-cond-sub">
            <a:extLst xmlns:a="http://schemas.openxmlformats.org/drawingml/2006/main">
              <a:ext uri="{FF2B5EF4-FFF2-40B4-BE49-F238E27FC236}">
                <a16:creationId xmlns:a16="http://schemas.microsoft.com/office/drawing/2014/main" id="{5DB78C04-CA4B-4488-B73D-3EBF7C4F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说明上下文</a:t>
            </a:r>
          </a:p>
        </p:txBody>
      </p:sp>
      <p:sp>
        <p:nvSpPr>
          <p:cNvPr id="15" name="s3-item-script">
            <a:extLst xmlns:a="http://schemas.openxmlformats.org/drawingml/2006/main">
              <a:ext uri="{FF2B5EF4-FFF2-40B4-BE49-F238E27FC236}">
                <a16:creationId xmlns:a16="http://schemas.microsoft.com/office/drawing/2014/main" id="{FE720A66-9330-40E7-9704-1B7AEEB5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s3-item-script-label">
            <a:extLst xmlns:a="http://schemas.openxmlformats.org/drawingml/2006/main">
              <a:ext uri="{FF2B5EF4-FFF2-40B4-BE49-F238E27FC236}">
                <a16:creationId xmlns:a16="http://schemas.microsoft.com/office/drawing/2014/main" id="{CC684AB2-213A-4B36-882A-68580F69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处理脚本版本</a:t>
            </a:r>
          </a:p>
        </p:txBody>
      </p:sp>
      <p:sp>
        <p:nvSpPr>
          <p:cNvPr id="17" name="s3-item-script-sub">
            <a:extLst xmlns:a="http://schemas.openxmlformats.org/drawingml/2006/main">
              <a:ext uri="{FF2B5EF4-FFF2-40B4-BE49-F238E27FC236}">
                <a16:creationId xmlns:a16="http://schemas.microsoft.com/office/drawing/2014/main" id="{78E3A206-8D0B-49A7-8868-F9C83F4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定位实际代码</a:t>
            </a:r>
          </a:p>
        </p:txBody>
      </p:sp>
      <p:sp>
        <p:nvSpPr>
          <p:cNvPr id="18" name="s3-item-result">
            <a:extLst xmlns:a="http://schemas.openxmlformats.org/drawingml/2006/main">
              <a:ext uri="{FF2B5EF4-FFF2-40B4-BE49-F238E27FC236}">
                <a16:creationId xmlns:a16="http://schemas.microsoft.com/office/drawing/2014/main" id="{104EE629-C3F2-4145-9B0C-2EDC29F6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s3-item-result-label">
            <a:extLst xmlns:a="http://schemas.openxmlformats.org/drawingml/2006/main">
              <a:ext uri="{FF2B5EF4-FFF2-40B4-BE49-F238E27FC236}">
                <a16:creationId xmlns:a16="http://schemas.microsoft.com/office/drawing/2014/main" id="{42E18954-D34D-4FD4-A9FB-4FE05493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结果文件</a:t>
            </a:r>
          </a:p>
        </p:txBody>
      </p:sp>
      <p:sp>
        <p:nvSpPr>
          <p:cNvPr id="20" name="s3-item-result-sub">
            <a:extLst xmlns:a="http://schemas.openxmlformats.org/drawingml/2006/main">
              <a:ext uri="{FF2B5EF4-FFF2-40B4-BE49-F238E27FC236}">
                <a16:creationId xmlns:a16="http://schemas.microsoft.com/office/drawing/2014/main" id="{8F61C2BB-205D-4117-BC39-20BE5A12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对应讨论对象</a:t>
            </a:r>
          </a:p>
        </p:txBody>
      </p:sp>
      <p:sp>
        <p:nvSpPr>
          <p:cNvPr id="21" name="s3-item-exc">
            <a:extLst xmlns:a="http://schemas.openxmlformats.org/drawingml/2006/main">
              <a:ext uri="{FF2B5EF4-FFF2-40B4-BE49-F238E27FC236}">
                <a16:creationId xmlns:a16="http://schemas.microsoft.com/office/drawing/2014/main" id="{3A5746D0-A34D-4D5F-8369-8D4E6622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90950"/>
            <a:ext cx="18097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s3-item-exc-label">
            <a:extLst xmlns:a="http://schemas.openxmlformats.org/drawingml/2006/main">
              <a:ext uri="{FF2B5EF4-FFF2-40B4-BE49-F238E27FC236}">
                <a16:creationId xmlns:a16="http://schemas.microsoft.com/office/drawing/2014/main" id="{0887091E-84CA-4AF4-890E-138CAC1A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86E"/>
                </a:solidFill>
              </a:defRPr>
            </a:pPr>
            <a:r>
              <a:rPr sz="1425" b="1">
                <a:solidFill>
                  <a:srgbClr val="24486E"/>
                </a:solidFill>
              </a:rPr>
              <a:t>异常与排除说明</a:t>
            </a:r>
          </a:p>
        </p:txBody>
      </p:sp>
      <p:sp>
        <p:nvSpPr>
          <p:cNvPr id="23" name="s3-item-exc-sub">
            <a:extLst xmlns:a="http://schemas.openxmlformats.org/drawingml/2006/main">
              <a:ext uri="{FF2B5EF4-FFF2-40B4-BE49-F238E27FC236}">
                <a16:creationId xmlns:a16="http://schemas.microsoft.com/office/drawing/2014/main" id="{B62A0FFB-A654-45F7-A764-6FFC09F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保留判断依据</a:t>
            </a:r>
          </a:p>
        </p:txBody>
      </p:sp>
      <p:sp>
        <p:nvSpPr>
          <p:cNvPr id="24" name="s3-bottom-note">
            <a:extLst xmlns:a="http://schemas.openxmlformats.org/drawingml/2006/main">
              <a:ext uri="{FF2B5EF4-FFF2-40B4-BE49-F238E27FC236}">
                <a16:creationId xmlns:a16="http://schemas.microsoft.com/office/drawing/2014/main" id="{FBA5D81E-855B-4CAD-9F6E-9B019981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清洗与处理另存；没有纳入结果的样本，也要说明排除条件。</a:t>
            </a:r>
          </a:p>
        </p:txBody>
      </p:sp>
      <p:sp>
        <p:nvSpPr>
          <p:cNvPr id="25" name="s3-footer-rule">
            <a:extLst xmlns:a="http://schemas.openxmlformats.org/drawingml/2006/main">
              <a:ext uri="{FF2B5EF4-FFF2-40B4-BE49-F238E27FC236}">
                <a16:creationId xmlns:a16="http://schemas.microsoft.com/office/drawing/2014/main" id="{0E715174-D6D6-4EE3-A8CA-29198119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s3-footer-source">
            <a:extLst xmlns:a="http://schemas.openxmlformats.org/drawingml/2006/main">
              <a:ext uri="{FF2B5EF4-FFF2-40B4-BE49-F238E27FC236}">
                <a16:creationId xmlns:a16="http://schemas.microsoft.com/office/drawing/2014/main" id="{7C90702C-1218-47FC-ABD5-0781C2A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7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3EB64CE-5911-4183-A600-60FAABF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297598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4-title">
            <a:extLst xmlns:a="http://schemas.openxmlformats.org/drawingml/2006/main">
              <a:ext uri="{FF2B5EF4-FFF2-40B4-BE49-F238E27FC236}">
                <a16:creationId xmlns:a16="http://schemas.microsoft.com/office/drawing/2014/main" id="{84B5E7CF-B4E2-4ADB-9901-1155B54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归档扩展的是可解释性，不自动扩展访问权</a:t>
            </a:r>
          </a:p>
        </p:txBody>
      </p:sp>
      <p:sp>
        <p:nvSpPr>
          <p:cNvPr id="2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35DDE0D5-C914-41FD-9016-E564B6D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4-subtitle">
            <a:extLst xmlns:a="http://schemas.openxmlformats.org/drawingml/2006/main">
              <a:ext uri="{FF2B5EF4-FFF2-40B4-BE49-F238E27FC236}">
                <a16:creationId xmlns:a16="http://schemas.microsoft.com/office/drawing/2014/main" id="{3C74AD3A-6835-4F3E-A3C6-388D17E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记录把“如何产生”说清楚，同时保留原有授权边界。</a:t>
            </a:r>
          </a:p>
        </p:txBody>
      </p:sp>
      <p:sp>
        <p:nvSpPr>
          <p:cNvPr id="4" name="s4-left-surface">
            <a:extLst xmlns:a="http://schemas.openxmlformats.org/drawingml/2006/main">
              <a:ext uri="{FF2B5EF4-FFF2-40B4-BE49-F238E27FC236}">
                <a16:creationId xmlns:a16="http://schemas.microsoft.com/office/drawing/2014/main" id="{484F0BCC-8142-46A2-9C9E-BF09D52D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5143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right-surface">
            <a:extLst xmlns:a="http://schemas.openxmlformats.org/drawingml/2006/main">
              <a:ext uri="{FF2B5EF4-FFF2-40B4-BE49-F238E27FC236}">
                <a16:creationId xmlns:a16="http://schemas.microsoft.com/office/drawing/2014/main" id="{78C895A0-144A-4790-B7AC-1847FE8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62100"/>
            <a:ext cx="5715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-left-heading">
            <a:extLst xmlns:a="http://schemas.openxmlformats.org/drawingml/2006/main">
              <a:ext uri="{FF2B5EF4-FFF2-40B4-BE49-F238E27FC236}">
                <a16:creationId xmlns:a16="http://schemas.microsoft.com/office/drawing/2014/main" id="{C2E06E6B-AFF2-4860-BA70-E8E5D854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可放进讨论材料</a:t>
            </a:r>
          </a:p>
        </p:txBody>
      </p:sp>
      <p:sp>
        <p:nvSpPr>
          <p:cNvPr id="7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39CD1536-801E-41C1-8231-054AE841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05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结果图</a:t>
            </a:r>
          </a:p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可公开的解释</a:t>
            </a:r>
          </a:p>
          <a:p xmlns:a="http://schemas.openxmlformats.org/drawingml/2006/main">
            <a:pPr algn="l">
              <a:defRPr sz="1650">
                <a:solidFill>
                  <a:srgbClr val="252B33"/>
                </a:solidFill>
              </a:defRPr>
            </a:pPr>
            <a:r>
              <a:rPr sz="1650">
                <a:solidFill>
                  <a:srgbClr val="252B33"/>
                </a:solidFill>
              </a:rPr>
              <a:t>受控引用与访问条件</a:t>
            </a:r>
          </a:p>
        </p:txBody>
      </p:sp>
      <p:sp>
        <p:nvSpPr>
          <p:cNvPr id="8" name="s4-left-rule">
            <a:extLst xmlns:a="http://schemas.openxmlformats.org/drawingml/2006/main">
              <a:ext uri="{FF2B5EF4-FFF2-40B4-BE49-F238E27FC236}">
                <a16:creationId xmlns:a16="http://schemas.microsoft.com/office/drawing/2014/main" id="{D5EA848E-0A0B-41DF-88DB-6C0A76BA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9" name="s4-left-note">
            <a:extLst xmlns:a="http://schemas.openxmlformats.org/drawingml/2006/main">
              <a:ext uri="{FF2B5EF4-FFF2-40B4-BE49-F238E27FC236}">
                <a16:creationId xmlns:a16="http://schemas.microsoft.com/office/drawing/2014/main" id="{59A858BF-8ED5-4EB3-A9F5-DD990A5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重点：别人能理解结果从何而来。</a:t>
            </a:r>
          </a:p>
        </p:txBody>
      </p:sp>
      <p:sp>
        <p:nvSpPr>
          <p:cNvPr id="10" name="s4-right-heading">
            <a:extLst xmlns:a="http://schemas.openxmlformats.org/drawingml/2006/main">
              <a:ext uri="{FF2B5EF4-FFF2-40B4-BE49-F238E27FC236}">
                <a16:creationId xmlns:a16="http://schemas.microsoft.com/office/drawing/2014/main" id="{12D60FD5-04AF-4344-9CF2-56B8791A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仍受原授权约束</a:t>
            </a:r>
          </a:p>
        </p:txBody>
      </p:sp>
      <p:sp>
        <p:nvSpPr>
          <p:cNvPr id="11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04B45127-DAC5-4FC6-82A9-021C1B34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受限原始数据继续放在原授权位置</a:t>
            </a:r>
          </a:p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涉及个人信息或合作限制的内容不改变授权</a:t>
            </a:r>
          </a:p>
          <a:p xmlns:a="http://schemas.openxmlformats.org/drawingml/2006/main">
            <a:pPr algn="l">
              <a:defRPr sz="1575">
                <a:solidFill>
                  <a:srgbClr val="252B33"/>
                </a:solidFill>
              </a:defRPr>
            </a:pPr>
            <a:r>
              <a:rPr sz="1575">
                <a:solidFill>
                  <a:srgbClr val="252B33"/>
                </a:solidFill>
              </a:rPr>
              <a:t>记录中的路径不代表成员已经取得访问权</a:t>
            </a:r>
          </a:p>
        </p:txBody>
      </p:sp>
      <p:sp>
        <p:nvSpPr>
          <p:cNvPr id="12" name="s4-right-note-surface">
            <a:extLst xmlns:a="http://schemas.openxmlformats.org/drawingml/2006/main">
              <a:ext uri="{FF2B5EF4-FFF2-40B4-BE49-F238E27FC236}">
                <a16:creationId xmlns:a16="http://schemas.microsoft.com/office/drawing/2014/main" id="{09E52D96-DD08-4F84-8180-97E0E7E1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4762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s4-right-note">
            <a:extLst xmlns:a="http://schemas.openxmlformats.org/drawingml/2006/main">
              <a:ext uri="{FF2B5EF4-FFF2-40B4-BE49-F238E27FC236}">
                <a16:creationId xmlns:a16="http://schemas.microsoft.com/office/drawing/2014/main" id="{AEDB8A8F-A121-490D-B08F-52A1ED7D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路径是受控引用，不是授权传递。</a:t>
            </a:r>
          </a:p>
        </p:txBody>
      </p:sp>
      <p:sp>
        <p:nvSpPr>
          <p:cNvPr id="14" name="s4-footer-rule">
            <a:extLst xmlns:a="http://schemas.openxmlformats.org/drawingml/2006/main">
              <a:ext uri="{FF2B5EF4-FFF2-40B4-BE49-F238E27FC236}">
                <a16:creationId xmlns:a16="http://schemas.microsoft.com/office/drawing/2014/main" id="{CD1C1D68-05FD-4FDF-9E69-7E18DF43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s4-footer-source">
            <a:extLst xmlns:a="http://schemas.openxmlformats.org/drawingml/2006/main">
              <a:ext uri="{FF2B5EF4-FFF2-40B4-BE49-F238E27FC236}">
                <a16:creationId xmlns:a16="http://schemas.microsoft.com/office/drawing/2014/main" id="{D74F89F7-A46C-40F9-92D4-EDF9B39B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6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5162D427-85E4-4946-AF07-99170FA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20955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5-title">
            <a:extLst xmlns:a="http://schemas.openxmlformats.org/drawingml/2006/main">
              <a:ext uri="{FF2B5EF4-FFF2-40B4-BE49-F238E27FC236}">
                <a16:creationId xmlns:a16="http://schemas.microsoft.com/office/drawing/2014/main" id="{760FF08E-C414-4DCA-8D00-5AD029D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复核先验证可理解性，再进入可讨论版本</a:t>
            </a:r>
          </a:p>
        </p:txBody>
      </p:sp>
      <p:sp>
        <p:nvSpPr>
          <p:cNvPr id="2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FA8F2DBC-1A7A-45E0-8400-E18E39FC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5-subtitle">
            <a:extLst xmlns:a="http://schemas.openxmlformats.org/drawingml/2006/main">
              <a:ext uri="{FF2B5EF4-FFF2-40B4-BE49-F238E27FC236}">
                <a16:creationId xmlns:a16="http://schemas.microsoft.com/office/drawing/2014/main" id="{D25F86B3-95D0-488E-8A27-D0318F4B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先看别人能否沿记录定位结果的来路，不代替科学结论审查。</a:t>
            </a:r>
          </a:p>
        </p:txBody>
      </p:sp>
      <p:sp>
        <p:nvSpPr>
          <p:cNvPr id="4" name="s5-node-1">
            <a:extLst xmlns:a="http://schemas.openxmlformats.org/drawingml/2006/main">
              <a:ext uri="{FF2B5EF4-FFF2-40B4-BE49-F238E27FC236}">
                <a16:creationId xmlns:a16="http://schemas.microsoft.com/office/drawing/2014/main" id="{A16F98F6-7AC5-4E47-BA07-FA1A44C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5" name="s5-node-2">
            <a:extLst xmlns:a="http://schemas.openxmlformats.org/drawingml/2006/main">
              <a:ext uri="{FF2B5EF4-FFF2-40B4-BE49-F238E27FC236}">
                <a16:creationId xmlns:a16="http://schemas.microsoft.com/office/drawing/2014/main" id="{154AA8BB-9136-4C5E-95EC-0E9B22B9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6" name="s5-node-3">
            <a:extLst xmlns:a="http://schemas.openxmlformats.org/drawingml/2006/main">
              <a:ext uri="{FF2B5EF4-FFF2-40B4-BE49-F238E27FC236}">
                <a16:creationId xmlns:a16="http://schemas.microsoft.com/office/drawing/2014/main" id="{8AEEB4A6-BB4E-40C0-9F92-5FE280A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sp>
        <p:nvSpPr>
          <p:cNvPr id="7" name="s5-node-4">
            <a:extLst xmlns:a="http://schemas.openxmlformats.org/drawingml/2006/main">
              <a:ext uri="{FF2B5EF4-FFF2-40B4-BE49-F238E27FC236}">
                <a16:creationId xmlns:a16="http://schemas.microsoft.com/office/drawing/2014/main" id="{6DFCC3DE-2C43-45A3-9246-ABA4B94C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1B5"/>
            </a:solidFill>
            <a:prstDash val="solid"/>
          </a:ln>
        </p:spPr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194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483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772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1" name="s5-step-1-label">
            <a:extLst xmlns:a="http://schemas.openxmlformats.org/drawingml/2006/main">
              <a:ext uri="{FF2B5EF4-FFF2-40B4-BE49-F238E27FC236}">
                <a16:creationId xmlns:a16="http://schemas.microsoft.com/office/drawing/2014/main" id="{70B93DCB-22F7-48A9-84C0-BA8FA4C6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01｜提交记录</a:t>
            </a:r>
          </a:p>
        </p:txBody>
      </p:sp>
      <p:sp>
        <p:nvSpPr>
          <p:cNvPr id="12" name="s5-step-1-body">
            <a:extLst xmlns:a="http://schemas.openxmlformats.org/drawingml/2006/main">
              <a:ext uri="{FF2B5EF4-FFF2-40B4-BE49-F238E27FC236}">
                <a16:creationId xmlns:a16="http://schemas.microsoft.com/office/drawing/2014/main" id="{1157AF99-2F58-4ECB-9A67-250FEE88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执行者提交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结果及受控引用</a:t>
            </a:r>
          </a:p>
        </p:txBody>
      </p:sp>
      <p:sp>
        <p:nvSpPr>
          <p:cNvPr id="13" name="s5-step-2-label">
            <a:extLst xmlns:a="http://schemas.openxmlformats.org/drawingml/2006/main">
              <a:ext uri="{FF2B5EF4-FFF2-40B4-BE49-F238E27FC236}">
                <a16:creationId xmlns:a16="http://schemas.microsoft.com/office/drawing/2014/main" id="{50185D35-054B-4561-BB95-B858B2B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02｜尝试定位</a:t>
            </a:r>
          </a:p>
        </p:txBody>
      </p:sp>
      <p:sp>
        <p:nvSpPr>
          <p:cNvPr id="14" name="s5-step-2-body">
            <a:extLst xmlns:a="http://schemas.openxmlformats.org/drawingml/2006/main">
              <a:ext uri="{FF2B5EF4-FFF2-40B4-BE49-F238E27FC236}">
                <a16:creationId xmlns:a16="http://schemas.microsoft.com/office/drawing/2014/main" id="{0A237452-9F3D-496E-8F9C-50DC57A1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另一位成员定位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数据、脚本和条件</a:t>
            </a:r>
          </a:p>
        </p:txBody>
      </p:sp>
      <p:sp>
        <p:nvSpPr>
          <p:cNvPr id="15" name="s5-step-3-label">
            <a:extLst xmlns:a="http://schemas.openxmlformats.org/drawingml/2006/main">
              <a:ext uri="{FF2B5EF4-FFF2-40B4-BE49-F238E27FC236}">
                <a16:creationId xmlns:a16="http://schemas.microsoft.com/office/drawing/2014/main" id="{B7AF4E6E-6C9D-428D-AEA8-F356D65B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03｜补充缺项</a:t>
            </a:r>
          </a:p>
        </p:txBody>
      </p:sp>
      <p:sp>
        <p:nvSpPr>
          <p:cNvPr id="16" name="s5-step-3-body">
            <a:extLst xmlns:a="http://schemas.openxmlformats.org/drawingml/2006/main">
              <a:ext uri="{FF2B5EF4-FFF2-40B4-BE49-F238E27FC236}">
                <a16:creationId xmlns:a16="http://schemas.microsoft.com/office/drawing/2014/main" id="{95C8515B-17A7-4833-939D-334018E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执行者依据反馈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补齐记录</a:t>
            </a:r>
          </a:p>
        </p:txBody>
      </p:sp>
      <p:sp>
        <p:nvSpPr>
          <p:cNvPr id="17" name="s5-step-4-label">
            <a:extLst xmlns:a="http://schemas.openxmlformats.org/drawingml/2006/main">
              <a:ext uri="{FF2B5EF4-FFF2-40B4-BE49-F238E27FC236}">
                <a16:creationId xmlns:a16="http://schemas.microsoft.com/office/drawing/2014/main" id="{F473242D-B03A-4F1B-8B49-DE92990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04｜负责人确认</a:t>
            </a:r>
          </a:p>
        </p:txBody>
      </p:sp>
      <p:sp>
        <p:nvSpPr>
          <p:cNvPr id="18" name="s5-step-4-body">
            <a:extLst xmlns:a="http://schemas.openxmlformats.org/drawingml/2006/main">
              <a:ext uri="{FF2B5EF4-FFF2-40B4-BE49-F238E27FC236}">
                <a16:creationId xmlns:a16="http://schemas.microsoft.com/office/drawing/2014/main" id="{CBE9E0A9-83F7-4217-8FD5-8AB12B0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记录进入</a:t>
            </a:r>
          </a:p>
          <a:p xmlns:a="http://schemas.openxmlformats.org/drawingml/2006/main">
            <a:pPr algn="ctr">
              <a:defRPr sz="1200">
                <a:solidFill>
                  <a:srgbClr val="252B33"/>
                </a:solidFill>
              </a:defRPr>
            </a:pPr>
            <a:r>
              <a:rPr sz="1200">
                <a:solidFill>
                  <a:srgbClr val="252B33"/>
                </a:solidFill>
              </a:rPr>
              <a:t>可讨论版本</a:t>
            </a:r>
          </a:p>
        </p:txBody>
      </p:sp>
      <p:sp>
        <p:nvSpPr>
          <p:cNvPr id="19" name="s5-gate-surface">
            <a:extLst xmlns:a="http://schemas.openxmlformats.org/drawingml/2006/main">
              <a:ext uri="{FF2B5EF4-FFF2-40B4-BE49-F238E27FC236}">
                <a16:creationId xmlns:a16="http://schemas.microsoft.com/office/drawing/2014/main" id="{EF763274-1844-433C-A5BC-DE6D1F97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00500"/>
            <a:ext cx="84582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gate-label">
            <a:extLst xmlns:a="http://schemas.openxmlformats.org/drawingml/2006/main">
              <a:ext uri="{FF2B5EF4-FFF2-40B4-BE49-F238E27FC236}">
                <a16:creationId xmlns:a16="http://schemas.microsoft.com/office/drawing/2014/main" id="{B0E4D567-A462-476A-9237-77B1DBE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2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86E"/>
                </a:solidFill>
              </a:defRPr>
            </a:pPr>
            <a:r>
              <a:rPr sz="1500" b="1">
                <a:solidFill>
                  <a:srgbClr val="24486E"/>
                </a:solidFill>
              </a:rPr>
              <a:t>授权变化时</a:t>
            </a:r>
          </a:p>
        </p:txBody>
      </p:sp>
      <p:sp>
        <p:nvSpPr>
          <p:cNvPr id="21" name="s5-gate-body">
            <a:extLst xmlns:a="http://schemas.openxmlformats.org/drawingml/2006/main">
              <a:ext uri="{FF2B5EF4-FFF2-40B4-BE49-F238E27FC236}">
                <a16:creationId xmlns:a16="http://schemas.microsoft.com/office/drawing/2014/main" id="{6CE47791-AB58-4822-9E32-01DCF7B1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暂停共享 → 负责人处理授权 → 获得明确边界后再继续</a:t>
            </a:r>
          </a:p>
        </p:txBody>
      </p:sp>
      <p:sp>
        <p:nvSpPr>
          <p:cNvPr id="22" name="s5-bottom-note">
            <a:extLst xmlns:a="http://schemas.openxmlformats.org/drawingml/2006/main">
              <a:ext uri="{FF2B5EF4-FFF2-40B4-BE49-F238E27FC236}">
                <a16:creationId xmlns:a16="http://schemas.microsoft.com/office/drawing/2014/main" id="{0F34A8B8-7506-4946-8DBD-3EF343B2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复核只检查别人是否能理解结果是怎么产生的；不要求复做整项实验。</a:t>
            </a:r>
          </a:p>
        </p:txBody>
      </p:sp>
      <p:sp>
        <p:nvSpPr>
          <p:cNvPr id="23" name="s5-footer-rule">
            <a:extLst xmlns:a="http://schemas.openxmlformats.org/drawingml/2006/main">
              <a:ext uri="{FF2B5EF4-FFF2-40B4-BE49-F238E27FC236}">
                <a16:creationId xmlns:a16="http://schemas.microsoft.com/office/drawing/2014/main" id="{C14699CF-B1B7-4157-9ED6-29C50664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s5-footer-source">
            <a:extLst xmlns:a="http://schemas.openxmlformats.org/drawingml/2006/main">
              <a:ext uri="{FF2B5EF4-FFF2-40B4-BE49-F238E27FC236}">
                <a16:creationId xmlns:a16="http://schemas.microsoft.com/office/drawing/2014/main" id="{8B8C500D-DD9C-4B1D-A165-FD0D76F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5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FC4ABB56-222F-492A-9E5B-F0077244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770621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6-title">
            <a:extLst xmlns:a="http://schemas.openxmlformats.org/drawingml/2006/main">
              <a:ext uri="{FF2B5EF4-FFF2-40B4-BE49-F238E27FC236}">
                <a16:creationId xmlns:a16="http://schemas.microsoft.com/office/drawing/2014/main" id="{A7909F45-613D-4733-81D7-40EECE2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四周只验证新增实验能否持续留下可追溯记录</a:t>
            </a:r>
          </a:p>
        </p:txBody>
      </p:sp>
      <p:sp>
        <p:nvSpPr>
          <p:cNvPr id="2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65D7628E-6010-4429-A482-8742AA79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6-subtitle">
            <a:extLst xmlns:a="http://schemas.openxmlformats.org/drawingml/2006/main">
              <a:ext uri="{FF2B5EF4-FFF2-40B4-BE49-F238E27FC236}">
                <a16:creationId xmlns:a16="http://schemas.microsoft.com/office/drawing/2014/main" id="{3DDE4549-7964-489F-B311-64C3B5F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范围是拟定的试点安排，没有效率提升或完成率实测数字。</a:t>
            </a:r>
          </a:p>
        </p:txBody>
      </p:sp>
      <p:sp>
        <p:nvSpPr>
          <p:cNvPr id="4" name="s6-scope-band">
            <a:extLst xmlns:a="http://schemas.openxmlformats.org/drawingml/2006/main">
              <a:ext uri="{FF2B5EF4-FFF2-40B4-BE49-F238E27FC236}">
                <a16:creationId xmlns:a16="http://schemas.microsoft.com/office/drawing/2014/main" id="{651FDA82-AB4D-45A1-8801-8382BF60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scope">
            <a:extLst xmlns:a="http://schemas.openxmlformats.org/drawingml/2006/main">
              <a:ext uri="{FF2B5EF4-FFF2-40B4-BE49-F238E27FC236}">
                <a16:creationId xmlns:a16="http://schemas.microsoft.com/office/drawing/2014/main" id="{17835008-59BE-4850-AA48-4572C02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一个课题方向  ·  两名自愿成员  ·  只记录新增实验</a:t>
            </a:r>
          </a:p>
        </p:txBody>
      </p:sp>
      <p:sp>
        <p:nvSpPr>
          <p:cNvPr id="6" name="s6-timeline">
            <a:extLst xmlns:a="http://schemas.openxmlformats.org/drawingml/2006/main">
              <a:ext uri="{FF2B5EF4-FFF2-40B4-BE49-F238E27FC236}">
                <a16:creationId xmlns:a16="http://schemas.microsoft.com/office/drawing/2014/main" id="{294CD65D-F683-4E9F-93BD-EB799DA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F91"/>
            </a:solidFill>
            <a:prstDash val="solid"/>
          </a:ln>
        </p:spPr>
      </p:sp>
      <p:sp>
        <p:nvSpPr>
          <p:cNvPr id="7" name="s6-week-1-node">
            <a:extLst xmlns:a="http://schemas.openxmlformats.org/drawingml/2006/main">
              <a:ext uri="{FF2B5EF4-FFF2-40B4-BE49-F238E27FC236}">
                <a16:creationId xmlns:a16="http://schemas.microsoft.com/office/drawing/2014/main" id="{2E14B95F-0918-44C0-BC1D-1AA08F4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6-week-1-label">
            <a:extLst xmlns:a="http://schemas.openxmlformats.org/drawingml/2006/main">
              <a:ext uri="{FF2B5EF4-FFF2-40B4-BE49-F238E27FC236}">
                <a16:creationId xmlns:a16="http://schemas.microsoft.com/office/drawing/2014/main" id="{E4B2472E-D306-4685-AD4D-AC231C95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第1周</a:t>
            </a:r>
          </a:p>
        </p:txBody>
      </p:sp>
      <p:sp>
        <p:nvSpPr>
          <p:cNvPr id="9" name="s6-week-1-main">
            <a:extLst xmlns:a="http://schemas.openxmlformats.org/drawingml/2006/main">
              <a:ext uri="{FF2B5EF4-FFF2-40B4-BE49-F238E27FC236}">
                <a16:creationId xmlns:a16="http://schemas.microsoft.com/office/drawing/2014/main" id="{C93A7382-4A7F-43AC-AFF8-DBA5A00C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共同明确最少字段</a:t>
            </a:r>
          </a:p>
        </p:txBody>
      </p:sp>
      <p:sp>
        <p:nvSpPr>
          <p:cNvPr id="10" name="s6-week-1-sub">
            <a:extLst xmlns:a="http://schemas.openxmlformats.org/drawingml/2006/main">
              <a:ext uri="{FF2B5EF4-FFF2-40B4-BE49-F238E27FC236}">
                <a16:creationId xmlns:a16="http://schemas.microsoft.com/office/drawing/2014/main" id="{75C5688F-7482-4825-A84B-AD5E841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用一个结果试填</a:t>
            </a:r>
          </a:p>
        </p:txBody>
      </p:sp>
      <p:sp>
        <p:nvSpPr>
          <p:cNvPr id="11" name="s6-week-2-node">
            <a:extLst xmlns:a="http://schemas.openxmlformats.org/drawingml/2006/main">
              <a:ext uri="{FF2B5EF4-FFF2-40B4-BE49-F238E27FC236}">
                <a16:creationId xmlns:a16="http://schemas.microsoft.com/office/drawing/2014/main" id="{FC2666CF-A503-4F7E-AB0C-5D0CD166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6-week-2-label">
            <a:extLst xmlns:a="http://schemas.openxmlformats.org/drawingml/2006/main">
              <a:ext uri="{FF2B5EF4-FFF2-40B4-BE49-F238E27FC236}">
                <a16:creationId xmlns:a16="http://schemas.microsoft.com/office/drawing/2014/main" id="{F3BD721C-972B-4B47-B7BC-C796A32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第2周</a:t>
            </a:r>
          </a:p>
        </p:txBody>
      </p:sp>
      <p:sp>
        <p:nvSpPr>
          <p:cNvPr id="13" name="s6-week-2-main">
            <a:extLst xmlns:a="http://schemas.openxmlformats.org/drawingml/2006/main">
              <a:ext uri="{FF2B5EF4-FFF2-40B4-BE49-F238E27FC236}">
                <a16:creationId xmlns:a16="http://schemas.microsoft.com/office/drawing/2014/main" id="{1BB07B89-652E-4368-BD89-44F50C7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在实际工作中记录</a:t>
            </a:r>
          </a:p>
        </p:txBody>
      </p:sp>
      <p:sp>
        <p:nvSpPr>
          <p:cNvPr id="14" name="s6-week-2-sub">
            <a:extLst xmlns:a="http://schemas.openxmlformats.org/drawingml/2006/main">
              <a:ext uri="{FF2B5EF4-FFF2-40B4-BE49-F238E27FC236}">
                <a16:creationId xmlns:a16="http://schemas.microsoft.com/office/drawing/2014/main" id="{815C0F67-E594-4C93-980C-7753941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观察缺项</a:t>
            </a:r>
          </a:p>
        </p:txBody>
      </p:sp>
      <p:sp>
        <p:nvSpPr>
          <p:cNvPr id="15" name="s6-week-3-node">
            <a:extLst xmlns:a="http://schemas.openxmlformats.org/drawingml/2006/main">
              <a:ext uri="{FF2B5EF4-FFF2-40B4-BE49-F238E27FC236}">
                <a16:creationId xmlns:a16="http://schemas.microsoft.com/office/drawing/2014/main" id="{88E3B9FF-06F9-46BB-A1E8-88D5FAB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week-3-label">
            <a:extLst xmlns:a="http://schemas.openxmlformats.org/drawingml/2006/main">
              <a:ext uri="{FF2B5EF4-FFF2-40B4-BE49-F238E27FC236}">
                <a16:creationId xmlns:a16="http://schemas.microsoft.com/office/drawing/2014/main" id="{16DC9931-B885-402D-9DF5-C6FCEC4F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第3周</a:t>
            </a:r>
          </a:p>
        </p:txBody>
      </p:sp>
      <p:sp>
        <p:nvSpPr>
          <p:cNvPr id="17" name="s6-week-3-main">
            <a:extLst xmlns:a="http://schemas.openxmlformats.org/drawingml/2006/main">
              <a:ext uri="{FF2B5EF4-FFF2-40B4-BE49-F238E27FC236}">
                <a16:creationId xmlns:a16="http://schemas.microsoft.com/office/drawing/2014/main" id="{7D089549-666B-4618-863B-77E66135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继续实际记录</a:t>
            </a:r>
          </a:p>
        </p:txBody>
      </p:sp>
      <p:sp>
        <p:nvSpPr>
          <p:cNvPr id="18" name="s6-week-3-sub">
            <a:extLst xmlns:a="http://schemas.openxmlformats.org/drawingml/2006/main">
              <a:ext uri="{FF2B5EF4-FFF2-40B4-BE49-F238E27FC236}">
                <a16:creationId xmlns:a16="http://schemas.microsoft.com/office/drawing/2014/main" id="{71892890-C117-4068-8137-BF77453B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记录填写负担</a:t>
            </a:r>
          </a:p>
        </p:txBody>
      </p:sp>
      <p:sp>
        <p:nvSpPr>
          <p:cNvPr id="19" name="s6-week-4-node">
            <a:extLst xmlns:a="http://schemas.openxmlformats.org/drawingml/2006/main">
              <a:ext uri="{FF2B5EF4-FFF2-40B4-BE49-F238E27FC236}">
                <a16:creationId xmlns:a16="http://schemas.microsoft.com/office/drawing/2014/main" id="{92BB534E-D48A-49C7-868D-4A4777D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861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week-4-label">
            <a:extLst xmlns:a="http://schemas.openxmlformats.org/drawingml/2006/main">
              <a:ext uri="{FF2B5EF4-FFF2-40B4-BE49-F238E27FC236}">
                <a16:creationId xmlns:a16="http://schemas.microsoft.com/office/drawing/2014/main" id="{B697EF2B-3B02-4C79-9E85-ED614178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47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第4周</a:t>
            </a:r>
          </a:p>
        </p:txBody>
      </p:sp>
      <p:sp>
        <p:nvSpPr>
          <p:cNvPr id="21" name="s6-week-4-main">
            <a:extLst xmlns:a="http://schemas.openxmlformats.org/drawingml/2006/main">
              <a:ext uri="{FF2B5EF4-FFF2-40B4-BE49-F238E27FC236}">
                <a16:creationId xmlns:a16="http://schemas.microsoft.com/office/drawing/2014/main" id="{AC4FD191-4CE1-4A25-9B75-0BFCD43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95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集中讨论试点结果</a:t>
            </a:r>
          </a:p>
        </p:txBody>
      </p:sp>
      <p:sp>
        <p:nvSpPr>
          <p:cNvPr id="22" name="s6-week-4-sub">
            <a:extLst xmlns:a="http://schemas.openxmlformats.org/drawingml/2006/main">
              <a:ext uri="{FF2B5EF4-FFF2-40B4-BE49-F238E27FC236}">
                <a16:creationId xmlns:a16="http://schemas.microsoft.com/office/drawing/2014/main" id="{DC1FDDC7-A3C6-4101-A302-4BC03F32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保留、修改或停止</a:t>
            </a:r>
          </a:p>
        </p:txBody>
      </p:sp>
      <p:sp>
        <p:nvSpPr>
          <p:cNvPr id="23" name="s6-caveat">
            <a:extLst xmlns:a="http://schemas.openxmlformats.org/drawingml/2006/main">
              <a:ext uri="{FF2B5EF4-FFF2-40B4-BE49-F238E27FC236}">
                <a16:creationId xmlns:a16="http://schemas.microsoft.com/office/drawing/2014/main" id="{E59EA497-35D7-4431-AD98-06CBDEC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9060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6-caveat-text">
            <a:extLst xmlns:a="http://schemas.openxmlformats.org/drawingml/2006/main">
              <a:ext uri="{FF2B5EF4-FFF2-40B4-BE49-F238E27FC236}">
                <a16:creationId xmlns:a16="http://schemas.microsoft.com/office/drawing/2014/main" id="{60BFF32E-748D-4115-BCCD-867BD27B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252B33"/>
                </a:solidFill>
              </a:defRPr>
            </a:pPr>
            <a:r>
              <a:rPr sz="1275">
                <a:solidFill>
                  <a:srgbClr val="252B33"/>
                </a:solidFill>
              </a:rPr>
              <a:t>周次、人数和范围都是拟定边界；试点不以“完成更多”作为预设结论。</a:t>
            </a:r>
          </a:p>
        </p:txBody>
      </p:sp>
      <p:sp>
        <p:nvSpPr>
          <p:cNvPr id="25" name="s6-footer-rule">
            <a:extLst xmlns:a="http://schemas.openxmlformats.org/drawingml/2006/main">
              <a:ext uri="{FF2B5EF4-FFF2-40B4-BE49-F238E27FC236}">
                <a16:creationId xmlns:a16="http://schemas.microsoft.com/office/drawing/2014/main" id="{4B502A2B-D0DA-4B02-B3DB-D922FC3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s6-footer-source">
            <a:extLst xmlns:a="http://schemas.openxmlformats.org/drawingml/2006/main">
              <a:ext uri="{FF2B5EF4-FFF2-40B4-BE49-F238E27FC236}">
                <a16:creationId xmlns:a16="http://schemas.microsoft.com/office/drawing/2014/main" id="{A502B796-0FA3-421E-9414-D0F5BF7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7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7E43D913-9AE0-46CA-B073-C55802B3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066394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7-title">
            <a:extLst xmlns:a="http://schemas.openxmlformats.org/drawingml/2006/main">
              <a:ext uri="{FF2B5EF4-FFF2-40B4-BE49-F238E27FC236}">
                <a16:creationId xmlns:a16="http://schemas.microsoft.com/office/drawing/2014/main" id="{B5B09682-8D16-4883-ABD9-C534432E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试点评估看追溯、依据和负担，暂不设统一合格分数</a:t>
            </a:r>
          </a:p>
        </p:txBody>
      </p:sp>
      <p:sp>
        <p:nvSpPr>
          <p:cNvPr id="2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2E6CBA0C-6537-4940-A20B-90E91B2E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7-subtitle">
            <a:extLst xmlns:a="http://schemas.openxmlformats.org/drawingml/2006/main">
              <a:ext uri="{FF2B5EF4-FFF2-40B4-BE49-F238E27FC236}">
                <a16:creationId xmlns:a16="http://schemas.microsoft.com/office/drawing/2014/main" id="{AC2DE880-0FD6-4D7E-A8EE-2CA4906A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收集具体复核过程与当事人反馈，再判断是否值得继续。</a:t>
            </a:r>
          </a:p>
        </p:txBody>
      </p:sp>
      <p:sp>
        <p:nvSpPr>
          <p:cNvPr id="4" name="s7-row-1">
            <a:extLst xmlns:a="http://schemas.openxmlformats.org/drawingml/2006/main">
              <a:ext uri="{FF2B5EF4-FFF2-40B4-BE49-F238E27FC236}">
                <a16:creationId xmlns:a16="http://schemas.microsoft.com/office/drawing/2014/main" id="{8E1083B3-2F97-4510-8BE4-D163F1B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row-1-num">
            <a:extLst xmlns:a="http://schemas.openxmlformats.org/drawingml/2006/main">
              <a:ext uri="{FF2B5EF4-FFF2-40B4-BE49-F238E27FC236}">
                <a16:creationId xmlns:a16="http://schemas.microsoft.com/office/drawing/2014/main" id="{047B472B-08A0-40D6-9C90-597E10EA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01</a:t>
            </a:r>
          </a:p>
        </p:txBody>
      </p:sp>
      <p:sp>
        <p:nvSpPr>
          <p:cNvPr id="6" name="s7-row-1-question">
            <a:extLst xmlns:a="http://schemas.openxmlformats.org/drawingml/2006/main">
              <a:ext uri="{FF2B5EF4-FFF2-40B4-BE49-F238E27FC236}">
                <a16:creationId xmlns:a16="http://schemas.microsoft.com/office/drawing/2014/main" id="{8FEA35B2-087E-42CA-88F8-0A79D41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47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能否定位来源？</a:t>
            </a:r>
          </a:p>
        </p:txBody>
      </p:sp>
      <p:sp>
        <p:nvSpPr>
          <p:cNvPr id="7" name="s7-row-1-detail">
            <a:extLst xmlns:a="http://schemas.openxmlformats.org/drawingml/2006/main">
              <a:ext uri="{FF2B5EF4-FFF2-40B4-BE49-F238E27FC236}">
                <a16:creationId xmlns:a16="http://schemas.microsoft.com/office/drawing/2014/main" id="{C0D226C2-4B31-44D7-88DB-C84B85E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其他成员能否沿记录找到结果的来源？</a:t>
            </a:r>
          </a:p>
        </p:txBody>
      </p:sp>
      <p:sp>
        <p:nvSpPr>
          <p:cNvPr id="8" name="s7-row-2">
            <a:extLst xmlns:a="http://schemas.openxmlformats.org/drawingml/2006/main">
              <a:ext uri="{FF2B5EF4-FFF2-40B4-BE49-F238E27FC236}">
                <a16:creationId xmlns:a16="http://schemas.microsoft.com/office/drawing/2014/main" id="{56EF7C5F-0764-4137-9BD0-3E05569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row-2-num">
            <a:extLst xmlns:a="http://schemas.openxmlformats.org/drawingml/2006/main">
              <a:ext uri="{FF2B5EF4-FFF2-40B4-BE49-F238E27FC236}">
                <a16:creationId xmlns:a16="http://schemas.microsoft.com/office/drawing/2014/main" id="{C34D0A9B-8D17-428E-B1AF-E4E1D54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02</a:t>
            </a:r>
          </a:p>
        </p:txBody>
      </p:sp>
      <p:sp>
        <p:nvSpPr>
          <p:cNvPr id="10" name="s7-row-2-question">
            <a:extLst xmlns:a="http://schemas.openxmlformats.org/drawingml/2006/main">
              <a:ext uri="{FF2B5EF4-FFF2-40B4-BE49-F238E27FC236}">
                <a16:creationId xmlns:a16="http://schemas.microsoft.com/office/drawing/2014/main" id="{F2F7C0DB-028A-4867-ABCE-7A0AA4DB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14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依据是否可理解？</a:t>
            </a:r>
          </a:p>
        </p:txBody>
      </p:sp>
      <p:sp>
        <p:nvSpPr>
          <p:cNvPr id="11" name="s7-row-2-detail">
            <a:extLst xmlns:a="http://schemas.openxmlformats.org/drawingml/2006/main">
              <a:ext uri="{FF2B5EF4-FFF2-40B4-BE49-F238E27FC236}">
                <a16:creationId xmlns:a16="http://schemas.microsoft.com/office/drawing/2014/main" id="{BB8983EC-B92D-4564-879B-F1F4430A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关键处理与排除是否有可理解的依据？</a:t>
            </a:r>
          </a:p>
        </p:txBody>
      </p:sp>
      <p:sp>
        <p:nvSpPr>
          <p:cNvPr id="12" name="s7-row-3">
            <a:extLst xmlns:a="http://schemas.openxmlformats.org/drawingml/2006/main">
              <a:ext uri="{FF2B5EF4-FFF2-40B4-BE49-F238E27FC236}">
                <a16:creationId xmlns:a16="http://schemas.microsoft.com/office/drawing/2014/main" id="{FB04D499-B723-4220-8BF8-7A02FF17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99060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row-3-num">
            <a:extLst xmlns:a="http://schemas.openxmlformats.org/drawingml/2006/main">
              <a:ext uri="{FF2B5EF4-FFF2-40B4-BE49-F238E27FC236}">
                <a16:creationId xmlns:a16="http://schemas.microsoft.com/office/drawing/2014/main" id="{C35F9BDA-A402-4649-9712-DD504D2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03</a:t>
            </a:r>
          </a:p>
        </p:txBody>
      </p:sp>
      <p:sp>
        <p:nvSpPr>
          <p:cNvPr id="14" name="s7-row-3-question">
            <a:extLst xmlns:a="http://schemas.openxmlformats.org/drawingml/2006/main">
              <a:ext uri="{FF2B5EF4-FFF2-40B4-BE49-F238E27FC236}">
                <a16:creationId xmlns:a16="http://schemas.microsoft.com/office/drawing/2014/main" id="{41853149-6776-42B5-9864-D229D8C7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81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86E"/>
                </a:solidFill>
              </a:defRPr>
            </a:pPr>
            <a:r>
              <a:rPr sz="1650" b="1">
                <a:solidFill>
                  <a:srgbClr val="24486E"/>
                </a:solidFill>
              </a:rPr>
              <a:t>负担是否可持续？</a:t>
            </a:r>
          </a:p>
        </p:txBody>
      </p:sp>
      <p:sp>
        <p:nvSpPr>
          <p:cNvPr id="15" name="s7-row-3-detail">
            <a:extLst xmlns:a="http://schemas.openxmlformats.org/drawingml/2006/main">
              <a:ext uri="{FF2B5EF4-FFF2-40B4-BE49-F238E27FC236}">
                <a16:creationId xmlns:a16="http://schemas.microsoft.com/office/drawing/2014/main" id="{B48842B4-E121-4E01-897C-17FC74C9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记录负担是否在成员愿意持续承担的范围内？</a:t>
            </a:r>
          </a:p>
        </p:txBody>
      </p:sp>
      <p:sp>
        <p:nvSpPr>
          <p:cNvPr id="16" name="s7-evidence-band">
            <a:extLst xmlns:a="http://schemas.openxmlformats.org/drawingml/2006/main">
              <a:ext uri="{FF2B5EF4-FFF2-40B4-BE49-F238E27FC236}">
                <a16:creationId xmlns:a16="http://schemas.microsoft.com/office/drawing/2014/main" id="{B3B21C20-1562-4F9C-A80F-30E3ED16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906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evidence">
            <a:extLst xmlns:a="http://schemas.openxmlformats.org/drawingml/2006/main">
              <a:ext uri="{FF2B5EF4-FFF2-40B4-BE49-F238E27FC236}">
                <a16:creationId xmlns:a16="http://schemas.microsoft.com/office/drawing/2014/main" id="{E0FD644D-EE24-441B-910F-CB6A2E4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证据来自具体复核过程与当事人反馈。字段填满但仍找不到脚本版本，不能算追溯已解决。</a:t>
            </a:r>
          </a:p>
        </p:txBody>
      </p:sp>
      <p:sp>
        <p:nvSpPr>
          <p:cNvPr id="18" name="s7-footer-rule">
            <a:extLst xmlns:a="http://schemas.openxmlformats.org/drawingml/2006/main">
              <a:ext uri="{FF2B5EF4-FFF2-40B4-BE49-F238E27FC236}">
                <a16:creationId xmlns:a16="http://schemas.microsoft.com/office/drawing/2014/main" id="{B4AF3AF8-EFD9-4F32-A0B9-67F9966E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9" name="s7-footer-source">
            <a:extLst xmlns:a="http://schemas.openxmlformats.org/drawingml/2006/main">
              <a:ext uri="{FF2B5EF4-FFF2-40B4-BE49-F238E27FC236}">
                <a16:creationId xmlns:a16="http://schemas.microsoft.com/office/drawing/2014/main" id="{1F177082-7036-43E5-92B9-7C7D3FB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20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0BA91911-7C0E-4FE8-907C-7368A5E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739939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8-title">
            <a:extLst xmlns:a="http://schemas.openxmlformats.org/drawingml/2006/main">
              <a:ext uri="{FF2B5EF4-FFF2-40B4-BE49-F238E27FC236}">
                <a16:creationId xmlns:a16="http://schemas.microsoft.com/office/drawing/2014/main" id="{29BFF553-2250-40F3-90A7-7491B49A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先定范围、授权和复核责任，再决定保留、修改或停止</a:t>
            </a:r>
          </a:p>
        </p:txBody>
      </p:sp>
      <p:sp>
        <p:nvSpPr>
          <p:cNvPr id="2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5C92B5D8-4681-4841-81FB-7A9E0C2B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subtitle">
            <a:extLst xmlns:a="http://schemas.openxmlformats.org/drawingml/2006/main">
              <a:ext uri="{FF2B5EF4-FFF2-40B4-BE49-F238E27FC236}">
                <a16:creationId xmlns:a16="http://schemas.microsoft.com/office/drawing/2014/main" id="{8465C6AB-BBCB-4FC0-B0F2-ABAE7182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本次讨论要确认的是一个有限尝试。</a:t>
            </a:r>
          </a:p>
        </p:txBody>
      </p:sp>
      <p:sp>
        <p:nvSpPr>
          <p:cNvPr id="4" name="s8-main-surface">
            <a:extLst xmlns:a="http://schemas.openxmlformats.org/drawingml/2006/main">
              <a:ext uri="{FF2B5EF4-FFF2-40B4-BE49-F238E27FC236}">
                <a16:creationId xmlns:a16="http://schemas.microsoft.com/office/drawing/2014/main" id="{5C58DDC4-AFA3-4C06-A9F5-99C650E3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8580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8-start-heading">
            <a:extLst xmlns:a="http://schemas.openxmlformats.org/drawingml/2006/main">
              <a:ext uri="{FF2B5EF4-FFF2-40B4-BE49-F238E27FC236}">
                <a16:creationId xmlns:a16="http://schemas.microsoft.com/office/drawing/2014/main" id="{E9248FAE-00E3-4F57-BA1F-15EF93FE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86E"/>
                </a:solidFill>
              </a:defRPr>
            </a:pPr>
            <a:r>
              <a:rPr sz="1800" b="1">
                <a:solidFill>
                  <a:srgbClr val="24486E"/>
                </a:solidFill>
              </a:rPr>
              <a:t>开始试点前确认</a:t>
            </a:r>
          </a:p>
        </p:txBody>
      </p:sp>
      <p:sp>
        <p:nvSpPr>
          <p:cNvPr id="6" name="s8-start-1">
            <a:extLst xmlns:a="http://schemas.openxmlformats.org/drawingml/2006/main">
              <a:ext uri="{FF2B5EF4-FFF2-40B4-BE49-F238E27FC236}">
                <a16:creationId xmlns:a16="http://schemas.microsoft.com/office/drawing/2014/main" id="{32DA2B3F-C8A1-4513-8A08-B2B5809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负责人确认试点范围与授权联系人</a:t>
            </a:r>
          </a:p>
        </p:txBody>
      </p:sp>
      <p:sp>
        <p:nvSpPr>
          <p:cNvPr id="7" name="s8-start-2">
            <a:extLst xmlns:a="http://schemas.openxmlformats.org/drawingml/2006/main">
              <a:ext uri="{FF2B5EF4-FFF2-40B4-BE49-F238E27FC236}">
                <a16:creationId xmlns:a16="http://schemas.microsoft.com/office/drawing/2014/main" id="{1BEEB137-C52A-43A6-BE71-9BB120F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参与成员认可最少字段</a:t>
            </a:r>
          </a:p>
        </p:txBody>
      </p:sp>
      <p:sp>
        <p:nvSpPr>
          <p:cNvPr id="8" name="s8-start-3">
            <a:extLst xmlns:a="http://schemas.openxmlformats.org/drawingml/2006/main">
              <a:ext uri="{FF2B5EF4-FFF2-40B4-BE49-F238E27FC236}">
                <a16:creationId xmlns:a16="http://schemas.microsoft.com/office/drawing/2014/main" id="{1A0D2625-BA07-409A-9C1D-FD648D08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52B33"/>
                </a:solidFill>
              </a:defRPr>
            </a:pPr>
            <a:r>
              <a:rPr sz="1425">
                <a:solidFill>
                  <a:srgbClr val="252B33"/>
                </a:solidFill>
              </a:rPr>
              <a:t>• 确定谁负责复核与最终确认</a:t>
            </a:r>
          </a:p>
        </p:txBody>
      </p:sp>
      <p:sp>
        <p:nvSpPr>
          <p:cNvPr id="9" name="s8-decision-band">
            <a:extLst xmlns:a="http://schemas.openxmlformats.org/drawingml/2006/main">
              <a:ext uri="{FF2B5EF4-FFF2-40B4-BE49-F238E27FC236}">
                <a16:creationId xmlns:a16="http://schemas.microsoft.com/office/drawing/2014/main" id="{E31A1532-64FA-459F-9AF8-955C9B3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6172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decision">
            <a:extLst xmlns:a="http://schemas.openxmlformats.org/drawingml/2006/main">
              <a:ext uri="{FF2B5EF4-FFF2-40B4-BE49-F238E27FC236}">
                <a16:creationId xmlns:a16="http://schemas.microsoft.com/office/drawing/2014/main" id="{16BBA227-8865-4A32-B480-DFA7ED66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一次结果 → 可被理解 → 再决定长期保存</a:t>
            </a:r>
          </a:p>
        </p:txBody>
      </p:sp>
      <p:sp>
        <p:nvSpPr>
          <p:cNvPr id="11" name="s8-stop-surface">
            <a:extLst xmlns:a="http://schemas.openxmlformats.org/drawingml/2006/main">
              <a:ext uri="{FF2B5EF4-FFF2-40B4-BE49-F238E27FC236}">
                <a16:creationId xmlns:a16="http://schemas.microsoft.com/office/drawing/2014/main" id="{6A560AEF-676B-4045-8CC8-555F8934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24000"/>
            <a:ext cx="388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stop-heading">
            <a:extLst xmlns:a="http://schemas.openxmlformats.org/drawingml/2006/main">
              <a:ext uri="{FF2B5EF4-FFF2-40B4-BE49-F238E27FC236}">
                <a16:creationId xmlns:a16="http://schemas.microsoft.com/office/drawing/2014/main" id="{F486A79B-325F-4A5C-9224-F14429B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出现这些信号，就缩小或停止</a:t>
            </a:r>
          </a:p>
        </p:txBody>
      </p:sp>
      <p:sp>
        <p:nvSpPr>
          <p:cNvPr id="13" name="s8-stop-1">
            <a:extLst xmlns:a="http://schemas.openxmlformats.org/drawingml/2006/main">
              <a:ext uri="{FF2B5EF4-FFF2-40B4-BE49-F238E27FC236}">
                <a16:creationId xmlns:a16="http://schemas.microsoft.com/office/drawing/2014/main" id="{6397AEB3-656A-4822-85F5-067FAFF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填写持续挤占必要实验时间</a:t>
            </a:r>
          </a:p>
        </p:txBody>
      </p:sp>
      <p:sp>
        <p:nvSpPr>
          <p:cNvPr id="14" name="s8-stop-2">
            <a:extLst xmlns:a="http://schemas.openxmlformats.org/drawingml/2006/main">
              <a:ext uri="{FF2B5EF4-FFF2-40B4-BE49-F238E27FC236}">
                <a16:creationId xmlns:a16="http://schemas.microsoft.com/office/drawing/2014/main" id="{33964605-F54D-46A1-A996-ACE69283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权限边界无法说明</a:t>
            </a:r>
          </a:p>
        </p:txBody>
      </p:sp>
      <p:sp>
        <p:nvSpPr>
          <p:cNvPr id="15" name="s8-stop-3">
            <a:extLst xmlns:a="http://schemas.openxmlformats.org/drawingml/2006/main">
              <a:ext uri="{FF2B5EF4-FFF2-40B4-BE49-F238E27FC236}">
                <a16:creationId xmlns:a16="http://schemas.microsoft.com/office/drawing/2014/main" id="{3558C090-1D9F-4905-A1B2-179DBEB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• 只增加抄写，没有帮助解释结果</a:t>
            </a:r>
          </a:p>
        </p:txBody>
      </p:sp>
      <p:sp>
        <p:nvSpPr>
          <p:cNvPr id="16" name="s8-close">
            <a:extLst xmlns:a="http://schemas.openxmlformats.org/drawingml/2006/main">
              <a:ext uri="{FF2B5EF4-FFF2-40B4-BE49-F238E27FC236}">
                <a16:creationId xmlns:a16="http://schemas.microsoft.com/office/drawing/2014/main" id="{F33391D3-EB00-4CDC-820D-4150DFC6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86E"/>
                </a:solidFill>
              </a:defRPr>
            </a:pPr>
            <a:r>
              <a:rPr sz="1350" b="1">
                <a:solidFill>
                  <a:srgbClr val="24486E"/>
                </a:solidFill>
              </a:rPr>
              <a:t>归档工具只是承载方式；结果、依据和责任边界的联系，才是试点要验证的内容。</a:t>
            </a:r>
          </a:p>
        </p:txBody>
      </p:sp>
      <p:sp>
        <p:nvSpPr>
          <p:cNvPr id="17" name="s8-footer-rule">
            <a:extLst xmlns:a="http://schemas.openxmlformats.org/drawingml/2006/main">
              <a:ext uri="{FF2B5EF4-FFF2-40B4-BE49-F238E27FC236}">
                <a16:creationId xmlns:a16="http://schemas.microsoft.com/office/drawing/2014/main" id="{B866BBDC-3E43-4942-8466-A82FC3CA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s8-footer-source">
            <a:extLst xmlns:a="http://schemas.openxmlformats.org/drawingml/2006/main">
              <a:ext uri="{FF2B5EF4-FFF2-40B4-BE49-F238E27FC236}">
                <a16:creationId xmlns:a16="http://schemas.microsoft.com/office/drawing/2014/main" id="{94BEB5DA-DDA0-410E-9577-B771EB9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实验数据归档：先把一次结果说明白</a:t>
            </a:r>
          </a:p>
        </p:txBody>
      </p:sp>
      <p:sp>
        <p:nvSpPr>
          <p:cNvPr id="1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4C8FA6FE-4061-4EA2-B435-E06CCC6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817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661349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2026-09-06T02:20:20.4840000Z</dcterms:created>
  <dcterms:modified xsi:type="dcterms:W3CDTF">2026-09-06T02:20:20.4840000Z</dcterms:modified>
</coreProperties>
</file>