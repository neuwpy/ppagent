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87825ef6ef40a8" /><Relationship Type="http://schemas.openxmlformats.org/officeDocument/2006/relationships/extended-properties" Target="/docProps/app.xml" Id="Rdb5c5dc4ebc4420b" /><Relationship Type="http://schemas.openxmlformats.org/officeDocument/2006/relationships/officeDocument" Target="/ppt/presentation.xml" Id="Re98aafbc414142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ef6fd8c7d746b8"/>
  </p:sldMasterIdLst>
  <p:notesMasterIdLst>
    <p:notesMasterId xmlns:r="http://schemas.openxmlformats.org/officeDocument/2006/relationships" r:id="R40c11772515c484c"/>
  </p:notesMasterIdLst>
  <p:sldIdLst>
    <p:sldId xmlns:r="http://schemas.openxmlformats.org/officeDocument/2006/relationships" id="256" r:id="R24512b5a5c644b83"/>
    <p:sldId xmlns:r="http://schemas.openxmlformats.org/officeDocument/2006/relationships" id="257" r:id="R251484443bf2466c"/>
    <p:sldId xmlns:r="http://schemas.openxmlformats.org/officeDocument/2006/relationships" id="258" r:id="R5a870a54dc9242d6"/>
    <p:sldId xmlns:r="http://schemas.openxmlformats.org/officeDocument/2006/relationships" id="259" r:id="R75c84641bd244285"/>
    <p:sldId xmlns:r="http://schemas.openxmlformats.org/officeDocument/2006/relationships" id="260" r:id="R739e113d7cd84d82"/>
    <p:sldId xmlns:r="http://schemas.openxmlformats.org/officeDocument/2006/relationships" id="261" r:id="R7981fee165104387"/>
    <p:sldId xmlns:r="http://schemas.openxmlformats.org/officeDocument/2006/relationships" id="262" r:id="R7f371e6a99974eca"/>
    <p:sldId xmlns:r="http://schemas.openxmlformats.org/officeDocument/2006/relationships" id="263" r:id="R25b5ae0e37a54453"/>
    <p:sldId xmlns:r="http://schemas.openxmlformats.org/officeDocument/2006/relationships" id="264" r:id="R23e8bbaf20af42cc"/>
    <p:sldId xmlns:r="http://schemas.openxmlformats.org/officeDocument/2006/relationships" id="265" r:id="R1801affc44b0457b"/>
    <p:sldId xmlns:r="http://schemas.openxmlformats.org/officeDocument/2006/relationships" id="266" r:id="R17cefd03e84945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8791b6adba4664" /><Relationship Type="http://schemas.openxmlformats.org/officeDocument/2006/relationships/slideMaster" Target="/ppt/slideMasters/slideMaster1.xml" Id="R7cef6fd8c7d746b8" /><Relationship Type="http://schemas.openxmlformats.org/officeDocument/2006/relationships/notesMaster" Target="/ppt/notesMasters/notesMaster1.xml" Id="R40c11772515c484c" /><Relationship Type="http://schemas.openxmlformats.org/officeDocument/2006/relationships/presProps" Target="/ppt/presProps.xml" Id="R7d774316d812447e" /><Relationship Type="http://schemas.openxmlformats.org/officeDocument/2006/relationships/tableStyles" Target="/ppt/tableStyles.xml" Id="R288cf90f81064936" /><Relationship Type="http://schemas.openxmlformats.org/officeDocument/2006/relationships/slide" Target="/ppt/slides/slide1.xml" Id="R24512b5a5c644b83" /><Relationship Type="http://schemas.openxmlformats.org/officeDocument/2006/relationships/slide" Target="/ppt/slides/slide2.xml" Id="R251484443bf2466c" /><Relationship Type="http://schemas.openxmlformats.org/officeDocument/2006/relationships/slide" Target="/ppt/slides/slide3.xml" Id="R5a870a54dc9242d6" /><Relationship Type="http://schemas.openxmlformats.org/officeDocument/2006/relationships/slide" Target="/ppt/slides/slide4.xml" Id="R75c84641bd244285" /><Relationship Type="http://schemas.openxmlformats.org/officeDocument/2006/relationships/slide" Target="/ppt/slides/slide5.xml" Id="R739e113d7cd84d82" /><Relationship Type="http://schemas.openxmlformats.org/officeDocument/2006/relationships/slide" Target="/ppt/slides/slide6.xml" Id="R7981fee165104387" /><Relationship Type="http://schemas.openxmlformats.org/officeDocument/2006/relationships/slide" Target="/ppt/slides/slide7.xml" Id="R7f371e6a99974eca" /><Relationship Type="http://schemas.openxmlformats.org/officeDocument/2006/relationships/slide" Target="/ppt/slides/slide8.xml" Id="R25b5ae0e37a54453" /><Relationship Type="http://schemas.openxmlformats.org/officeDocument/2006/relationships/slide" Target="/ppt/slides/slide9.xml" Id="R23e8bbaf20af42cc" /><Relationship Type="http://schemas.openxmlformats.org/officeDocument/2006/relationships/slide" Target="/ppt/slides/slide10.xml" Id="R1801affc44b0457b" /><Relationship Type="http://schemas.openxmlformats.org/officeDocument/2006/relationships/slide" Target="/ppt/slides/slide11.xml" Id="R17cefd03e84945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d6b8db6a284b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909584f3d7468c" /><Relationship Type="http://schemas.openxmlformats.org/officeDocument/2006/relationships/notesMaster" Target="/ppt/notesMasters/notesMaster1.xml" Id="R12ebfca64a0c40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fc3d8969f94b89" /><Relationship Type="http://schemas.openxmlformats.org/officeDocument/2006/relationships/notesMaster" Target="/ppt/notesMasters/notesMaster1.xml" Id="R00b86e856f4445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8565401f544ee8" /><Relationship Type="http://schemas.openxmlformats.org/officeDocument/2006/relationships/notesMaster" Target="/ppt/notesMasters/notesMaster1.xml" Id="R9f389b4330a149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ad47a76c2546ab" /><Relationship Type="http://schemas.openxmlformats.org/officeDocument/2006/relationships/notesMaster" Target="/ppt/notesMasters/notesMaster1.xml" Id="R454e3ff165324b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b05e62cb4b4ebb" /><Relationship Type="http://schemas.openxmlformats.org/officeDocument/2006/relationships/notesMaster" Target="/ppt/notesMasters/notesMaster1.xml" Id="R79d4901a8b5146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a81c26d8964cc1" /><Relationship Type="http://schemas.openxmlformats.org/officeDocument/2006/relationships/notesMaster" Target="/ppt/notesMasters/notesMaster1.xml" Id="R7f9c5fd09ce349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35e7c5c4344e18" /><Relationship Type="http://schemas.openxmlformats.org/officeDocument/2006/relationships/notesMaster" Target="/ppt/notesMasters/notesMaster1.xml" Id="Rc79ea99f1e8342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fac37399f54078" /><Relationship Type="http://schemas.openxmlformats.org/officeDocument/2006/relationships/notesMaster" Target="/ppt/notesMasters/notesMaster1.xml" Id="Rd6faa88871034b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d2da47458a4e6f" /><Relationship Type="http://schemas.openxmlformats.org/officeDocument/2006/relationships/notesMaster" Target="/ppt/notesMasters/notesMaster1.xml" Id="R47ecced7df5f46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6a348b21b1422c" /><Relationship Type="http://schemas.openxmlformats.org/officeDocument/2006/relationships/notesMaster" Target="/ppt/notesMasters/notesMaster1.xml" Id="R4b77672ab0834a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09a39d938f40b0" /><Relationship Type="http://schemas.openxmlformats.org/officeDocument/2006/relationships/notesMaster" Target="/ppt/notesMasters/notesMaster1.xml" Id="R440768b69bbd44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开场：用“六地红”作为全稿中心判断，接着说明困境、路径和结果。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原稿依据：从“三高三低”到深耕辽宁。左、右两组是并列诊断，分别由箭头汇入实践转向。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原稿依据：六个红色标识与“离理工青年最近、最燃、最硬核”的目标。六地共享一个辽宁红色资源容器。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原稿依据：1+3+N 括注。严格区分矩阵层级与研学链内部“1+6+N”路线。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原稿依据：五类抓手第一段；三项任务是并列，不人为补出执行顺序；三摆三写为机制重心；26项与26份/8家明确分开。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原稿依据：VR 党员教育示范基地抓手。22→7 是转化关系，7→预约体验是使用结果，奖项与肯定是支持证据。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原稿依据：青春有理青年宣讲团。32→10→36 是执行链，3800多人和省级认定是结果证据。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原稿依据：红色朋友圈。41家单位与2000余人次/年归属于整体共学联建；西部三校只作为互学合作方，两端用地区/合作方节点与双向箭头表达。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原稿依据：红色育人机制。四阶段是明确顺序；学分、三会一课、36位导师是跨阶段支撑。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原稿依据：五年成效。58%→87%为主证据；26份与8家单独标注；声音更响保留文字结果；40%保留完整指标，不把26/8写成比值。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收束：回到中心判断，引用与五类抓手降级为支持，结束于青年投身振兴的行动指向。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6f745422964b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08ecbc1ad941a9" /><Relationship Type="http://schemas.openxmlformats.org/officeDocument/2006/relationships/slideLayout" Target="/ppt/slideLayouts/slideLayout1.xml" Id="Rcbe439a88c3b4c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e439a88c3b4c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c6faf2fee4d62" /><Relationship Type="http://schemas.openxmlformats.org/officeDocument/2006/relationships/notesSlide" Target="/ppt/notesSlides/notesSlide1.xml" Id="Ra47ab254fc6b4e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c4efb0a684ca6" /><Relationship Type="http://schemas.openxmlformats.org/officeDocument/2006/relationships/notesSlide" Target="/ppt/notesSlides/notesSlide2.xml" Id="Rcd6635107d1945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dda8848dc4a03" /><Relationship Type="http://schemas.openxmlformats.org/officeDocument/2006/relationships/notesSlide" Target="/ppt/notesSlides/notesSlide3.xml" Id="Ra64009a6e5964c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d73322847473a" /><Relationship Type="http://schemas.openxmlformats.org/officeDocument/2006/relationships/notesSlide" Target="/ppt/notesSlides/notesSlide4.xml" Id="Rc625e847fcc049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5b9aa768347e4" /><Relationship Type="http://schemas.openxmlformats.org/officeDocument/2006/relationships/notesSlide" Target="/ppt/notesSlides/notesSlide5.xml" Id="Rb0b52ad00acb4f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553b5df134ab9" /><Relationship Type="http://schemas.openxmlformats.org/officeDocument/2006/relationships/notesSlide" Target="/ppt/notesSlides/notesSlide6.xml" Id="R5dce59b2523d48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0740722234b4c" /><Relationship Type="http://schemas.openxmlformats.org/officeDocument/2006/relationships/notesSlide" Target="/ppt/notesSlides/notesSlide7.xml" Id="R82766efebcd446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50c391bd44312" /><Relationship Type="http://schemas.openxmlformats.org/officeDocument/2006/relationships/notesSlide" Target="/ppt/notesSlides/notesSlide8.xml" Id="R3f693f4997c548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aafdf4ea44591" /><Relationship Type="http://schemas.openxmlformats.org/officeDocument/2006/relationships/notesSlide" Target="/ppt/notesSlides/notesSlide9.xml" Id="Raf73c38f1fb348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10850d3b04c67" /><Relationship Type="http://schemas.openxmlformats.org/officeDocument/2006/relationships/notesSlide" Target="/ppt/notesSlides/notesSlide10.xml" Id="Rc144f975d88d47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b416536d545a1" /><Relationship Type="http://schemas.openxmlformats.org/officeDocument/2006/relationships/notesSlide" Target="/ppt/notesSlides/notesSlide11.xml" Id="Rf1cc45c478a14d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5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band">
            <a:extLst xmlns:a="http://schemas.openxmlformats.org/drawingml/2006/main">
              <a:ext uri="{FF2B5EF4-FFF2-40B4-BE49-F238E27FC236}">
                <a16:creationId xmlns:a16="http://schemas.microsoft.com/office/drawing/2014/main" id="{26E711B9-3CC0-4FD4-94F1-78B39D8A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7C5371A-26EE-41EF-8416-8588A120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辽宁“六地”红色文化标识融入党员教育的创新实践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FF3ADA9-5FE2-4541-821A-F893A66C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让“六地”红，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成为理工青年最鲜亮的青春底色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2E10A480-C431-4622-BA96-2D68A733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90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十年探路 · 五年深耕 · 把红色资源变成离青年最近的党员教育现场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02753924-272C-4F6E-B00A-128BAC6E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148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cover-foot">
            <a:extLst xmlns:a="http://schemas.openxmlformats.org/drawingml/2006/main">
              <a:ext uri="{FF2B5EF4-FFF2-40B4-BE49-F238E27FC236}">
                <a16:creationId xmlns:a16="http://schemas.microsoft.com/office/drawing/2014/main" id="{99842368-9778-4253-A158-0C993C51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14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创新案例分享</a:t>
            </a:r>
          </a:p>
        </p:txBody>
      </p:sp>
      <p:sp>
        <p:nvSpPr>
          <p:cNvPr id="7" name="cover-note">
            <a:extLst xmlns:a="http://schemas.openxmlformats.org/drawingml/2006/main">
              <a:ext uri="{FF2B5EF4-FFF2-40B4-BE49-F238E27FC236}">
                <a16:creationId xmlns:a16="http://schemas.microsoft.com/office/drawing/2014/main" id="{0E44B740-CC1B-420E-B5AE-9F1BF88D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95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红色研学链  /  青春课堂  /  育人机制</a:t>
            </a:r>
          </a:p>
        </p:txBody>
      </p:sp>
      <p:sp>
        <p:nvSpPr>
          <p:cNvPr id="8" name="cover-page">
            <a:extLst xmlns:a="http://schemas.openxmlformats.org/drawingml/2006/main">
              <a:ext uri="{FF2B5EF4-FFF2-40B4-BE49-F238E27FC236}">
                <a16:creationId xmlns:a16="http://schemas.microsoft.com/office/drawing/2014/main" id="{9C6B2A73-FE12-4137-AD00-8FCE5285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25527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0FF41EA5-EC73-4601-B028-A0AFF8A9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81DD066-1A50-4A8D-AE17-80E128DC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理工学生的高优势，曾与低认同并存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5D56954-165E-4BE2-A327-9253FD43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3F15F98-9144-45A1-8E58-24EC37C9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BB50A8B-ED63-4B88-84DC-1E65FA07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59EB23BF-52C1-4915-9821-270BDCB7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学院先识别“三高三低”的结构性困境，再把优势导入党建实践。</a:t>
            </a:r>
          </a:p>
        </p:txBody>
      </p:sp>
      <p:sp>
        <p:nvSpPr>
          <p:cNvPr id="7" name="high-group">
            <a:extLst xmlns:a="http://schemas.openxmlformats.org/drawingml/2006/main">
              <a:ext uri="{FF2B5EF4-FFF2-40B4-BE49-F238E27FC236}">
                <a16:creationId xmlns:a16="http://schemas.microsoft.com/office/drawing/2014/main" id="{93FF4569-7F41-4F9F-A902-94404DC5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90700"/>
            <a:ext cx="31432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high-title">
            <a:extLst xmlns:a="http://schemas.openxmlformats.org/drawingml/2006/main">
              <a:ext uri="{FF2B5EF4-FFF2-40B4-BE49-F238E27FC236}">
                <a16:creationId xmlns:a16="http://schemas.microsoft.com/office/drawing/2014/main" id="{6C9EF5D0-8065-4733-8F13-3B83E80E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431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学生优势</a:t>
            </a:r>
          </a:p>
        </p:txBody>
      </p:sp>
      <p:sp>
        <p:nvSpPr>
          <p:cNvPr id="9" name="high-copy">
            <a:extLst xmlns:a="http://schemas.openxmlformats.org/drawingml/2006/main">
              <a:ext uri="{FF2B5EF4-FFF2-40B4-BE49-F238E27FC236}">
                <a16:creationId xmlns:a16="http://schemas.microsoft.com/office/drawing/2014/main" id="{F41D4C1D-A0AE-4372-A42D-64FD3884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00325"/>
            <a:ext cx="2686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高学分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高竞赛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高科研</a:t>
            </a:r>
          </a:p>
        </p:txBody>
      </p:sp>
      <p:sp>
        <p:nvSpPr>
          <p:cNvPr id="10" name="low-group">
            <a:extLst xmlns:a="http://schemas.openxmlformats.org/drawingml/2006/main">
              <a:ext uri="{FF2B5EF4-FFF2-40B4-BE49-F238E27FC236}">
                <a16:creationId xmlns:a16="http://schemas.microsoft.com/office/drawing/2014/main" id="{791F2449-BE1A-4BF8-9CEF-E9BA5BFE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90700"/>
            <a:ext cx="31432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1" name="low-title">
            <a:extLst xmlns:a="http://schemas.openxmlformats.org/drawingml/2006/main">
              <a:ext uri="{FF2B5EF4-FFF2-40B4-BE49-F238E27FC236}">
                <a16:creationId xmlns:a16="http://schemas.microsoft.com/office/drawing/2014/main" id="{C5C3FDC7-E930-4D9E-94C5-8F07CCD3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431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教育难题</a:t>
            </a:r>
          </a:p>
        </p:txBody>
      </p:sp>
      <p:sp>
        <p:nvSpPr>
          <p:cNvPr id="12" name="low-copy">
            <a:extLst xmlns:a="http://schemas.openxmlformats.org/drawingml/2006/main">
              <a:ext uri="{FF2B5EF4-FFF2-40B4-BE49-F238E27FC236}">
                <a16:creationId xmlns:a16="http://schemas.microsoft.com/office/drawing/2014/main" id="{224A8ADB-41F6-4E9E-9121-BAA32FDA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0325"/>
            <a:ext cx="2686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理论情感浓度低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身份认同声量低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知行合一燃值低</a:t>
            </a:r>
          </a:p>
        </p:txBody>
      </p:sp>
      <p:sp>
        <p:nvSpPr>
          <p:cNvPr id="13" name="pivot">
            <a:extLst xmlns:a="http://schemas.openxmlformats.org/drawingml/2006/main">
              <a:ext uri="{FF2B5EF4-FFF2-40B4-BE49-F238E27FC236}">
                <a16:creationId xmlns:a16="http://schemas.microsoft.com/office/drawing/2014/main" id="{6B0E1C3E-73A6-4126-97EE-1F39A23E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3571875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vot-title">
            <a:extLst xmlns:a="http://schemas.openxmlformats.org/drawingml/2006/main">
              <a:ext uri="{FF2B5EF4-FFF2-40B4-BE49-F238E27FC236}">
                <a16:creationId xmlns:a16="http://schemas.microsoft.com/office/drawing/2014/main" id="{DB7C9804-F0D6-4780-A5D6-7BBDECFF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党建实践转向</a:t>
            </a:r>
          </a:p>
        </p:txBody>
      </p:sp>
      <p:sp>
        <p:nvSpPr>
          <p:cNvPr id="15" name="pivot-copy">
            <a:extLst xmlns:a="http://schemas.openxmlformats.org/drawingml/2006/main">
              <a:ext uri="{FF2B5EF4-FFF2-40B4-BE49-F238E27FC236}">
                <a16:creationId xmlns:a16="http://schemas.microsoft.com/office/drawing/2014/main" id="{0FCE958E-D896-456C-B6B1-9E123ACC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3000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rPr>
              <a:t>组建红色梦想实践团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rPr>
              <a:t>走遍全国九省的社会课堂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rPr>
              <a:t>锻造理论＋实践红色矩阵</a:t>
            </a:r>
          </a:p>
        </p:txBody>
      </p:sp>
      <p:cxnSp>
        <p:nvCxnSpPr>
          <p:cNvPr id="34" name=""/>
          <p:cNvCxnSpPr>
            <a:stCxn xmlns:a="http://schemas.openxmlformats.org/drawingml/2006/main" id="7" idx="2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2095500" y="4362450"/>
            <a:ext cx="7691438" cy="2286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10" idx="2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5667375" y="4362450"/>
            <a:ext cx="4119563" cy="2286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sp>
        <p:nvSpPr>
          <p:cNvPr id="18" name="bottom-note">
            <a:extLst xmlns:a="http://schemas.openxmlformats.org/drawingml/2006/main">
              <a:ext uri="{FF2B5EF4-FFF2-40B4-BE49-F238E27FC236}">
                <a16:creationId xmlns:a16="http://schemas.microsoft.com/office/drawing/2014/main" id="{DC2EEB95-4325-4B89-AFB4-7719D5C4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05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今天的选择：把目光从“走遍全国”转向“深耕辽宁”。</a:t>
            </a:r>
          </a:p>
        </p:txBody>
      </p:sp>
    </p:spTree>
    <p:extLst>
      <p:ext uri="{BB962C8B-B14F-4D97-AF65-F5344CB8AC3E}">
        <p14:creationId xmlns:p14="http://schemas.microsoft.com/office/powerpoint/2010/main" val="128911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6B45FFC1-2AF0-4C8A-AB45-F3356B9C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ED4CD0-BD55-441C-9C17-E47C4743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深耕辽宁，让“六地”成为最近的教育现场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357973D-9DEC-4613-AF09-E3A4DC91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140A9C1-2696-4862-A187-1119D0CD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C9481BE-2E91-4602-A3D2-6E6D7293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E245C8E3-EF7D-45FD-9E1A-A28898F8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六个红色标识共同构成辽宁故事的“最近、最燃、最硬核”现场。</a:t>
            </a:r>
          </a:p>
        </p:txBody>
      </p:sp>
      <p:sp>
        <p:nvSpPr>
          <p:cNvPr id="7" name="six-container">
            <a:extLst xmlns:a="http://schemas.openxmlformats.org/drawingml/2006/main">
              <a:ext uri="{FF2B5EF4-FFF2-40B4-BE49-F238E27FC236}">
                <a16:creationId xmlns:a16="http://schemas.microsoft.com/office/drawing/2014/main" id="{8540BCB5-BFE7-4E36-9F79-AEA45AAC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72390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six-title">
            <a:extLst xmlns:a="http://schemas.openxmlformats.org/drawingml/2006/main">
              <a:ext uri="{FF2B5EF4-FFF2-40B4-BE49-F238E27FC236}">
                <a16:creationId xmlns:a16="http://schemas.microsoft.com/office/drawing/2014/main" id="{17C076A0-E1A4-45BC-AFE9-AB594664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</a:t>
            </a:r>
          </a:p>
        </p:txBody>
      </p:sp>
      <p:sp>
        <p:nvSpPr>
          <p:cNvPr id="9" name="six-0">
            <a:extLst xmlns:a="http://schemas.openxmlformats.org/drawingml/2006/main">
              <a:ext uri="{FF2B5EF4-FFF2-40B4-BE49-F238E27FC236}">
                <a16:creationId xmlns:a16="http://schemas.microsoft.com/office/drawing/2014/main" id="{5651A165-B568-4BF8-A3F0-5762D7F5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765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0" name="six-0a">
            <a:extLst xmlns:a="http://schemas.openxmlformats.org/drawingml/2006/main">
              <a:ext uri="{FF2B5EF4-FFF2-40B4-BE49-F238E27FC236}">
                <a16:creationId xmlns:a16="http://schemas.microsoft.com/office/drawing/2014/main" id="{9465BE92-330D-4D3A-A548-15678085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193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抗日战争</a:t>
            </a:r>
          </a:p>
        </p:txBody>
      </p:sp>
      <p:sp>
        <p:nvSpPr>
          <p:cNvPr id="11" name="six-0b">
            <a:extLst xmlns:a="http://schemas.openxmlformats.org/drawingml/2006/main">
              <a:ext uri="{FF2B5EF4-FFF2-40B4-BE49-F238E27FC236}">
                <a16:creationId xmlns:a16="http://schemas.microsoft.com/office/drawing/2014/main" id="{8BA387AE-5996-4571-B27F-F6ED98E3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956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起始地</a:t>
            </a:r>
          </a:p>
        </p:txBody>
      </p:sp>
      <p:sp>
        <p:nvSpPr>
          <p:cNvPr id="12" name="six-1">
            <a:extLst xmlns:a="http://schemas.openxmlformats.org/drawingml/2006/main">
              <a:ext uri="{FF2B5EF4-FFF2-40B4-BE49-F238E27FC236}">
                <a16:creationId xmlns:a16="http://schemas.microsoft.com/office/drawing/2014/main" id="{0BADEDCB-7480-4BC8-B515-8A577D5A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765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3" name="six-1a">
            <a:extLst xmlns:a="http://schemas.openxmlformats.org/drawingml/2006/main">
              <a:ext uri="{FF2B5EF4-FFF2-40B4-BE49-F238E27FC236}">
                <a16:creationId xmlns:a16="http://schemas.microsoft.com/office/drawing/2014/main" id="{F9F910A7-82C6-4B37-B476-B3C2CF54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6193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解放战争</a:t>
            </a:r>
          </a:p>
        </p:txBody>
      </p:sp>
      <p:sp>
        <p:nvSpPr>
          <p:cNvPr id="14" name="six-1b">
            <a:extLst xmlns:a="http://schemas.openxmlformats.org/drawingml/2006/main">
              <a:ext uri="{FF2B5EF4-FFF2-40B4-BE49-F238E27FC236}">
                <a16:creationId xmlns:a16="http://schemas.microsoft.com/office/drawing/2014/main" id="{5E0E2F52-4BFA-4865-8E38-42232571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956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转折地</a:t>
            </a:r>
          </a:p>
        </p:txBody>
      </p:sp>
      <p:sp>
        <p:nvSpPr>
          <p:cNvPr id="15" name="six-2">
            <a:extLst xmlns:a="http://schemas.openxmlformats.org/drawingml/2006/main">
              <a:ext uri="{FF2B5EF4-FFF2-40B4-BE49-F238E27FC236}">
                <a16:creationId xmlns:a16="http://schemas.microsoft.com/office/drawing/2014/main" id="{654B3C86-7F7C-450E-A158-6E04E030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4765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6" name="six-2a">
            <a:extLst xmlns:a="http://schemas.openxmlformats.org/drawingml/2006/main">
              <a:ext uri="{FF2B5EF4-FFF2-40B4-BE49-F238E27FC236}">
                <a16:creationId xmlns:a16="http://schemas.microsoft.com/office/drawing/2014/main" id="{6ECB39DE-D7FC-464E-8004-C5604875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新中国国歌</a:t>
            </a:r>
          </a:p>
        </p:txBody>
      </p:sp>
      <p:sp>
        <p:nvSpPr>
          <p:cNvPr id="17" name="six-2b">
            <a:extLst xmlns:a="http://schemas.openxmlformats.org/drawingml/2006/main">
              <a:ext uri="{FF2B5EF4-FFF2-40B4-BE49-F238E27FC236}">
                <a16:creationId xmlns:a16="http://schemas.microsoft.com/office/drawing/2014/main" id="{1CA2658B-BD8E-42CF-8727-0E12A6B1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8956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素材地</a:t>
            </a:r>
          </a:p>
        </p:txBody>
      </p:sp>
      <p:sp>
        <p:nvSpPr>
          <p:cNvPr id="18" name="six-3">
            <a:extLst xmlns:a="http://schemas.openxmlformats.org/drawingml/2006/main">
              <a:ext uri="{FF2B5EF4-FFF2-40B4-BE49-F238E27FC236}">
                <a16:creationId xmlns:a16="http://schemas.microsoft.com/office/drawing/2014/main" id="{24C68DC3-2A9D-472B-9309-2438242E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433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six-3a">
            <a:extLst xmlns:a="http://schemas.openxmlformats.org/drawingml/2006/main">
              <a:ext uri="{FF2B5EF4-FFF2-40B4-BE49-F238E27FC236}">
                <a16:creationId xmlns:a16="http://schemas.microsoft.com/office/drawing/2014/main" id="{9D2B2318-B57E-49E9-A356-FEF76CD7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861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抗美援朝</a:t>
            </a:r>
          </a:p>
        </p:txBody>
      </p:sp>
      <p:sp>
        <p:nvSpPr>
          <p:cNvPr id="20" name="six-3b">
            <a:extLst xmlns:a="http://schemas.openxmlformats.org/drawingml/2006/main">
              <a:ext uri="{FF2B5EF4-FFF2-40B4-BE49-F238E27FC236}">
                <a16:creationId xmlns:a16="http://schemas.microsoft.com/office/drawing/2014/main" id="{A2409939-1326-4FBA-B60B-C1652AF4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9624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出征地</a:t>
            </a:r>
          </a:p>
        </p:txBody>
      </p:sp>
      <p:sp>
        <p:nvSpPr>
          <p:cNvPr id="21" name="six-4">
            <a:extLst xmlns:a="http://schemas.openxmlformats.org/drawingml/2006/main">
              <a:ext uri="{FF2B5EF4-FFF2-40B4-BE49-F238E27FC236}">
                <a16:creationId xmlns:a16="http://schemas.microsoft.com/office/drawing/2014/main" id="{92A0E558-E3D4-4D59-8F83-79279D0E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433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2" name="six-4a">
            <a:extLst xmlns:a="http://schemas.openxmlformats.org/drawingml/2006/main">
              <a:ext uri="{FF2B5EF4-FFF2-40B4-BE49-F238E27FC236}">
                <a16:creationId xmlns:a16="http://schemas.microsoft.com/office/drawing/2014/main" id="{88ABD799-29C6-460B-AB86-DA7253B1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861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共和国工业</a:t>
            </a:r>
          </a:p>
        </p:txBody>
      </p:sp>
      <p:sp>
        <p:nvSpPr>
          <p:cNvPr id="23" name="six-4b">
            <a:extLst xmlns:a="http://schemas.openxmlformats.org/drawingml/2006/main">
              <a:ext uri="{FF2B5EF4-FFF2-40B4-BE49-F238E27FC236}">
                <a16:creationId xmlns:a16="http://schemas.microsoft.com/office/drawing/2014/main" id="{E8721646-AD03-4A29-9BF5-04FDF5EB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9624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奠基地</a:t>
            </a:r>
          </a:p>
        </p:txBody>
      </p:sp>
      <p:sp>
        <p:nvSpPr>
          <p:cNvPr id="24" name="six-5">
            <a:extLst xmlns:a="http://schemas.openxmlformats.org/drawingml/2006/main">
              <a:ext uri="{FF2B5EF4-FFF2-40B4-BE49-F238E27FC236}">
                <a16:creationId xmlns:a16="http://schemas.microsoft.com/office/drawing/2014/main" id="{5EDD3881-7B80-451D-B61C-8373D3F2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433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5" name="six-5a">
            <a:extLst xmlns:a="http://schemas.openxmlformats.org/drawingml/2006/main">
              <a:ext uri="{FF2B5EF4-FFF2-40B4-BE49-F238E27FC236}">
                <a16:creationId xmlns:a16="http://schemas.microsoft.com/office/drawing/2014/main" id="{1AC350C2-DA7A-4ADB-87F5-B358F270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6861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雷锋精神</a:t>
            </a:r>
          </a:p>
        </p:txBody>
      </p:sp>
      <p:sp>
        <p:nvSpPr>
          <p:cNvPr id="26" name="six-5b">
            <a:extLst xmlns:a="http://schemas.openxmlformats.org/drawingml/2006/main">
              <a:ext uri="{FF2B5EF4-FFF2-40B4-BE49-F238E27FC236}">
                <a16:creationId xmlns:a16="http://schemas.microsoft.com/office/drawing/2014/main" id="{466EB331-A123-4940-A04C-597C881D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9624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发祥地</a:t>
            </a:r>
          </a:p>
        </p:txBody>
      </p:sp>
      <p:sp>
        <p:nvSpPr>
          <p:cNvPr id="27" name="young-site">
            <a:extLst xmlns:a="http://schemas.openxmlformats.org/drawingml/2006/main">
              <a:ext uri="{FF2B5EF4-FFF2-40B4-BE49-F238E27FC236}">
                <a16:creationId xmlns:a16="http://schemas.microsoft.com/office/drawing/2014/main" id="{674E739A-23D1-43B9-8518-0F6CD49D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333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ite-title">
            <a:extLst xmlns:a="http://schemas.openxmlformats.org/drawingml/2006/main">
              <a:ext uri="{FF2B5EF4-FFF2-40B4-BE49-F238E27FC236}">
                <a16:creationId xmlns:a16="http://schemas.microsoft.com/office/drawing/2014/main" id="{FE757C78-DA5A-4212-BE27-8E896339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479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党员教育现场</a:t>
            </a:r>
          </a:p>
        </p:txBody>
      </p:sp>
      <p:sp>
        <p:nvSpPr>
          <p:cNvPr id="29" name="site-copy">
            <a:extLst xmlns:a="http://schemas.openxmlformats.org/drawingml/2006/main">
              <a:ext uri="{FF2B5EF4-FFF2-40B4-BE49-F238E27FC236}">
                <a16:creationId xmlns:a16="http://schemas.microsoft.com/office/drawing/2014/main" id="{B63B379F-29CD-4EC7-AF58-02A9B28B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rPr>
              <a:t>热爱辽宁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rPr>
              <a:t>扎根辽宁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rPr>
              <a:t>服务辽宁</a:t>
            </a:r>
          </a:p>
        </p:txBody>
      </p:sp>
      <p:sp>
        <p:nvSpPr>
          <p:cNvPr id="30" name="bottom-note">
            <a:extLst xmlns:a="http://schemas.openxmlformats.org/drawingml/2006/main">
              <a:ext uri="{FF2B5EF4-FFF2-40B4-BE49-F238E27FC236}">
                <a16:creationId xmlns:a16="http://schemas.microsoft.com/office/drawing/2014/main" id="{BBE943A3-8CA4-4BE6-97E5-0441B503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把红色资源从“远方的故事”变成青年可以走近、走进、走完的教育路径。</a:t>
            </a:r>
          </a:p>
        </p:txBody>
      </p:sp>
    </p:spTree>
    <p:extLst>
      <p:ext uri="{BB962C8B-B14F-4D97-AF65-F5344CB8AC3E}">
        <p14:creationId xmlns:p14="http://schemas.microsoft.com/office/powerpoint/2010/main" val="3741643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F90B87DA-9B4D-4FE4-9902-05E79AD1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82EBEE-7E38-4A47-99AA-C183A977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1+3+N 新矩阵，把教育拓展到全时全域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075E0A4-4BC8-4A37-8FC7-1AAA5D7C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45C9440-EAC5-4834-827F-9A397811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C643161-C94D-4FA0-815F-E5BAD82F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A1139D4A-A2A5-4EB4-B2F6-6B3BF7F5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双轮驱动先明确方向，再由 1+3+N 把教育落到链、课堂与场景。</a:t>
            </a:r>
          </a:p>
        </p:txBody>
      </p:sp>
      <p:sp>
        <p:nvSpPr>
          <p:cNvPr id="7" name="driver-red">
            <a:extLst xmlns:a="http://schemas.openxmlformats.org/drawingml/2006/main">
              <a:ext uri="{FF2B5EF4-FFF2-40B4-BE49-F238E27FC236}">
                <a16:creationId xmlns:a16="http://schemas.microsoft.com/office/drawing/2014/main" id="{6E788C66-2A19-47B5-88DB-991329D1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5334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driver-red-title">
            <a:extLst xmlns:a="http://schemas.openxmlformats.org/drawingml/2006/main">
              <a:ext uri="{FF2B5EF4-FFF2-40B4-BE49-F238E27FC236}">
                <a16:creationId xmlns:a16="http://schemas.microsoft.com/office/drawing/2014/main" id="{EEDB7D79-7EE1-4A45-ADB3-6F23F27A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9070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红色基因传承</a:t>
            </a:r>
          </a:p>
        </p:txBody>
      </p:sp>
      <p:sp>
        <p:nvSpPr>
          <p:cNvPr id="9" name="driver-red-copy">
            <a:extLst xmlns:a="http://schemas.openxmlformats.org/drawingml/2006/main">
              <a:ext uri="{FF2B5EF4-FFF2-40B4-BE49-F238E27FC236}">
                <a16:creationId xmlns:a16="http://schemas.microsoft.com/office/drawing/2014/main" id="{3B42F10A-88D1-4365-9AE5-A73AE9B5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深挖“六地”文化内涵，绘制“红色足迹地图”</a:t>
            </a:r>
          </a:p>
        </p:txBody>
      </p:sp>
      <p:sp>
        <p:nvSpPr>
          <p:cNvPr id="10" name="driver-practice">
            <a:extLst xmlns:a="http://schemas.openxmlformats.org/drawingml/2006/main">
              <a:ext uri="{FF2B5EF4-FFF2-40B4-BE49-F238E27FC236}">
                <a16:creationId xmlns:a16="http://schemas.microsoft.com/office/drawing/2014/main" id="{7485F82E-1190-40EA-8F9E-D45E7E21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523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1" name="driver-practice-title">
            <a:extLst xmlns:a="http://schemas.openxmlformats.org/drawingml/2006/main">
              <a:ext uri="{FF2B5EF4-FFF2-40B4-BE49-F238E27FC236}">
                <a16:creationId xmlns:a16="http://schemas.microsoft.com/office/drawing/2014/main" id="{74794E8A-6551-4947-A276-EEE830C8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7907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实践研学赋能</a:t>
            </a:r>
          </a:p>
        </p:txBody>
      </p:sp>
      <p:sp>
        <p:nvSpPr>
          <p:cNvPr id="12" name="driver-practice-copy">
            <a:extLst xmlns:a="http://schemas.openxmlformats.org/drawingml/2006/main">
              <a:ext uri="{FF2B5EF4-FFF2-40B4-BE49-F238E27FC236}">
                <a16:creationId xmlns:a16="http://schemas.microsoft.com/office/drawing/2014/main" id="{D8A543EA-629E-4DAD-A467-DC1D217E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7170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把红色资源变成可走近、可进入、可协作的现场</a:t>
            </a:r>
          </a:p>
        </p:txBody>
      </p:sp>
      <p:sp>
        <p:nvSpPr>
          <p:cNvPr id="13" name="matrix-frame">
            <a:extLst xmlns:a="http://schemas.openxmlformats.org/drawingml/2006/main">
              <a:ext uri="{FF2B5EF4-FFF2-40B4-BE49-F238E27FC236}">
                <a16:creationId xmlns:a16="http://schemas.microsoft.com/office/drawing/2014/main" id="{CDDE056C-7CEB-4BB7-A46D-94B02C27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90850"/>
            <a:ext cx="110490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4" name="matrix-frame-title">
            <a:extLst xmlns:a="http://schemas.openxmlformats.org/drawingml/2006/main">
              <a:ext uri="{FF2B5EF4-FFF2-40B4-BE49-F238E27FC236}">
                <a16:creationId xmlns:a16="http://schemas.microsoft.com/office/drawing/2014/main" id="{CB844B92-8348-46D3-B631-A521BC24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1945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1 + 3 + N 新矩阵  ·  五位一体红色育人生态</a:t>
            </a:r>
          </a:p>
        </p:txBody>
      </p:sp>
      <p:sp>
        <p:nvSpPr>
          <p:cNvPr id="15" name="matrix-chain">
            <a:extLst xmlns:a="http://schemas.openxmlformats.org/drawingml/2006/main">
              <a:ext uri="{FF2B5EF4-FFF2-40B4-BE49-F238E27FC236}">
                <a16:creationId xmlns:a16="http://schemas.microsoft.com/office/drawing/2014/main" id="{C5C2574F-C0A5-4143-822E-00652E9C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319087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6" name="chain-title">
            <a:extLst xmlns:a="http://schemas.openxmlformats.org/drawingml/2006/main">
              <a:ext uri="{FF2B5EF4-FFF2-40B4-BE49-F238E27FC236}">
                <a16:creationId xmlns:a16="http://schemas.microsoft.com/office/drawing/2014/main" id="{FC591F2A-6007-4A19-A1C4-9C142EA5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67150"/>
            <a:ext cx="280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 条研学链</a:t>
            </a:r>
          </a:p>
        </p:txBody>
      </p:sp>
      <p:sp>
        <p:nvSpPr>
          <p:cNvPr id="17" name="chain-copy">
            <a:extLst xmlns:a="http://schemas.openxmlformats.org/drawingml/2006/main">
              <a:ext uri="{FF2B5EF4-FFF2-40B4-BE49-F238E27FC236}">
                <a16:creationId xmlns:a16="http://schemas.microsoft.com/office/drawing/2014/main" id="{8B926DE6-0BF7-4B3C-9E42-5CFC131E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对接 22 处“六地”示范教学点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1 个校本基地 + 6 处核心场馆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+ N 个配套教学点</a:t>
            </a:r>
          </a:p>
        </p:txBody>
      </p:sp>
      <p:sp>
        <p:nvSpPr>
          <p:cNvPr id="18" name="matrix-classes">
            <a:extLst xmlns:a="http://schemas.openxmlformats.org/drawingml/2006/main">
              <a:ext uri="{FF2B5EF4-FFF2-40B4-BE49-F238E27FC236}">
                <a16:creationId xmlns:a16="http://schemas.microsoft.com/office/drawing/2014/main" id="{B0E901FC-E104-4C21-87CD-CC1A5B4F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14750"/>
            <a:ext cx="319087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classes-title">
            <a:extLst xmlns:a="http://schemas.openxmlformats.org/drawingml/2006/main">
              <a:ext uri="{FF2B5EF4-FFF2-40B4-BE49-F238E27FC236}">
                <a16:creationId xmlns:a16="http://schemas.microsoft.com/office/drawing/2014/main" id="{3451E90E-8F31-4C0F-8552-7F508B27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67150"/>
            <a:ext cx="280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3 类青春课堂</a:t>
            </a:r>
          </a:p>
        </p:txBody>
      </p:sp>
      <p:sp>
        <p:nvSpPr>
          <p:cNvPr id="20" name="classes-copy">
            <a:extLst xmlns:a="http://schemas.openxmlformats.org/drawingml/2006/main">
              <a:ext uri="{FF2B5EF4-FFF2-40B4-BE49-F238E27FC236}">
                <a16:creationId xmlns:a16="http://schemas.microsoft.com/office/drawing/2014/main" id="{DFDCC460-7019-4DAE-A4D1-544DD779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38625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行走课堂：红色研学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沉浸课堂：VR 党课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互动课堂：青春宣讲</a:t>
            </a:r>
          </a:p>
        </p:txBody>
      </p:sp>
      <p:sp>
        <p:nvSpPr>
          <p:cNvPr id="21" name="matrix-scenes">
            <a:extLst xmlns:a="http://schemas.openxmlformats.org/drawingml/2006/main">
              <a:ext uri="{FF2B5EF4-FFF2-40B4-BE49-F238E27FC236}">
                <a16:creationId xmlns:a16="http://schemas.microsoft.com/office/drawing/2014/main" id="{94487848-8194-467C-8493-8845CE86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319087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2" name="scenes-title">
            <a:extLst xmlns:a="http://schemas.openxmlformats.org/drawingml/2006/main">
              <a:ext uri="{FF2B5EF4-FFF2-40B4-BE49-F238E27FC236}">
                <a16:creationId xmlns:a16="http://schemas.microsoft.com/office/drawing/2014/main" id="{999242FC-F39D-4F9E-B61C-1644767C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67150"/>
            <a:ext cx="280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N 个教育场景</a:t>
            </a:r>
          </a:p>
        </p:txBody>
      </p:sp>
      <p:sp>
        <p:nvSpPr>
          <p:cNvPr id="23" name="scenes-copy">
            <a:extLst xmlns:a="http://schemas.openxmlformats.org/drawingml/2006/main">
              <a:ext uri="{FF2B5EF4-FFF2-40B4-BE49-F238E27FC236}">
                <a16:creationId xmlns:a16="http://schemas.microsoft.com/office/drawing/2014/main" id="{70C2BFCC-04DD-41E0-874A-21A749F7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38625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校地 · 校企 · 校校党建联建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从“一时一地”到“全时全域”</a:t>
            </a:r>
          </a:p>
        </p:txBody>
      </p:sp>
      <p:sp>
        <p:nvSpPr>
          <p:cNvPr id="24" name="bottom-note">
            <a:extLst xmlns:a="http://schemas.openxmlformats.org/drawingml/2006/main">
              <a:ext uri="{FF2B5EF4-FFF2-40B4-BE49-F238E27FC236}">
                <a16:creationId xmlns:a16="http://schemas.microsoft.com/office/drawing/2014/main" id="{8E7DCC8C-4F4E-4E51-AD14-D9422A86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1+6+N 属于研学链内部构成，其中 1 个校本基地为校史馆。</a:t>
            </a:r>
          </a:p>
        </p:txBody>
      </p:sp>
    </p:spTree>
    <p:extLst>
      <p:ext uri="{BB962C8B-B14F-4D97-AF65-F5344CB8AC3E}">
        <p14:creationId xmlns:p14="http://schemas.microsoft.com/office/powerpoint/2010/main" val="19138858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620C0D8C-B168-4FCF-95E1-25799705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91F522-47F8-4153-B239-AC01A8D8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红色任务单，把行走党课变成专业担当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7FB477A-9E1F-4492-BA6B-E9E7B0EC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DB77292-5C11-4F2B-9039-AFBE6755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A846336-5E76-4899-937E-6B963C2A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0691A35F-BA35-4457-9505-740CAB1B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任务单不是打卡清单，而是“把自己、工作、职责摆进去”的三摆三写军令状。</a:t>
            </a:r>
          </a:p>
        </p:txBody>
      </p:sp>
      <p:sp>
        <p:nvSpPr>
          <p:cNvPr id="7" name="task-frame">
            <a:extLst xmlns:a="http://schemas.openxmlformats.org/drawingml/2006/main">
              <a:ext uri="{FF2B5EF4-FFF2-40B4-BE49-F238E27FC236}">
                <a16:creationId xmlns:a16="http://schemas.microsoft.com/office/drawing/2014/main" id="{F2DD77A7-6DAB-45C5-970B-15F3E2C4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11049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task-frame-title">
            <a:extLst xmlns:a="http://schemas.openxmlformats.org/drawingml/2006/main">
              <a:ext uri="{FF2B5EF4-FFF2-40B4-BE49-F238E27FC236}">
                <a16:creationId xmlns:a16="http://schemas.microsoft.com/office/drawing/2014/main" id="{C852EB28-5D9C-40FC-B6B7-53AE7199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3835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三项共同任务</a:t>
            </a:r>
          </a:p>
        </p:txBody>
      </p:sp>
      <p:sp>
        <p:nvSpPr>
          <p:cNvPr id="9" name="task-a">
            <a:extLst xmlns:a="http://schemas.openxmlformats.org/drawingml/2006/main">
              <a:ext uri="{FF2B5EF4-FFF2-40B4-BE49-F238E27FC236}">
                <a16:creationId xmlns:a16="http://schemas.microsoft.com/office/drawing/2014/main" id="{CBAC9724-802B-455E-B080-816A1D39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3048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0" name="task-b">
            <a:extLst xmlns:a="http://schemas.openxmlformats.org/drawingml/2006/main">
              <a:ext uri="{FF2B5EF4-FFF2-40B4-BE49-F238E27FC236}">
                <a16:creationId xmlns:a16="http://schemas.microsoft.com/office/drawing/2014/main" id="{188060CD-B35B-475B-9CCE-2500E53E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3048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1" name="task-c">
            <a:extLst xmlns:a="http://schemas.openxmlformats.org/drawingml/2006/main">
              <a:ext uri="{FF2B5EF4-FFF2-40B4-BE49-F238E27FC236}">
                <a16:creationId xmlns:a16="http://schemas.microsoft.com/office/drawing/2014/main" id="{A31A8D6A-556B-453A-9183-644CEB86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3333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2" name="task-a-t">
            <a:extLst xmlns:a="http://schemas.openxmlformats.org/drawingml/2006/main">
              <a:ext uri="{FF2B5EF4-FFF2-40B4-BE49-F238E27FC236}">
                <a16:creationId xmlns:a16="http://schemas.microsoft.com/office/drawing/2014/main" id="{B97B7F2A-AA36-4DBA-848C-CE186055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574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拍一段“青声说史”</a:t>
            </a:r>
          </a:p>
        </p:txBody>
      </p:sp>
      <p:sp>
        <p:nvSpPr>
          <p:cNvPr id="13" name="task-b-t">
            <a:extLst xmlns:a="http://schemas.openxmlformats.org/drawingml/2006/main">
              <a:ext uri="{FF2B5EF4-FFF2-40B4-BE49-F238E27FC236}">
                <a16:creationId xmlns:a16="http://schemas.microsoft.com/office/drawing/2014/main" id="{6DB3364F-D1CA-444A-92B4-1BF83D13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574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解决一个“微难题”</a:t>
            </a:r>
          </a:p>
        </p:txBody>
      </p:sp>
      <p:sp>
        <p:nvSpPr>
          <p:cNvPr id="14" name="task-c-t">
            <a:extLst xmlns:a="http://schemas.openxmlformats.org/drawingml/2006/main">
              <a:ext uri="{FF2B5EF4-FFF2-40B4-BE49-F238E27FC236}">
                <a16:creationId xmlns:a16="http://schemas.microsoft.com/office/drawing/2014/main" id="{CB021B56-15D3-42B5-BB83-51EB8AD2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574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带回一个“振兴微课题”</a:t>
            </a:r>
          </a:p>
        </p:txBody>
      </p:sp>
      <p:sp>
        <p:nvSpPr>
          <p:cNvPr id="15" name="triad-title">
            <a:extLst xmlns:a="http://schemas.openxmlformats.org/drawingml/2006/main">
              <a:ext uri="{FF2B5EF4-FFF2-40B4-BE49-F238E27FC236}">
                <a16:creationId xmlns:a16="http://schemas.microsoft.com/office/drawing/2014/main" id="{E40292F6-1C31-471B-9414-DA4AD3F5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三摆三写：任务单的机制重心</a:t>
            </a:r>
          </a:p>
        </p:txBody>
      </p:sp>
      <p:sp>
        <p:nvSpPr>
          <p:cNvPr id="16" name="triad">
            <a:extLst xmlns:a="http://schemas.openxmlformats.org/drawingml/2006/main">
              <a:ext uri="{FF2B5EF4-FFF2-40B4-BE49-F238E27FC236}">
                <a16:creationId xmlns:a16="http://schemas.microsoft.com/office/drawing/2014/main" id="{721A8E96-ADE2-4758-8269-8530B805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24350"/>
            <a:ext cx="6667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iad-copy">
            <a:extLst xmlns:a="http://schemas.openxmlformats.org/drawingml/2006/main">
              <a:ext uri="{FF2B5EF4-FFF2-40B4-BE49-F238E27FC236}">
                <a16:creationId xmlns:a16="http://schemas.microsoft.com/office/drawing/2014/main" id="{13D08772-80F4-4FCB-8D8C-B42F0917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86275"/>
            <a:ext cx="6134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把自己摆进去 → 写青春誓言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把工作摆进去 → 写专业方案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把职责摆进去 → 写振兴答卷</a:t>
            </a:r>
          </a:p>
        </p:txBody>
      </p:sp>
      <p:sp>
        <p:nvSpPr>
          <p:cNvPr id="18" name="task-evidence">
            <a:extLst xmlns:a="http://schemas.openxmlformats.org/drawingml/2006/main">
              <a:ext uri="{FF2B5EF4-FFF2-40B4-BE49-F238E27FC236}">
                <a16:creationId xmlns:a16="http://schemas.microsoft.com/office/drawing/2014/main" id="{6EDB47BB-34A3-45D9-95B0-3188A424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3857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task-evidence-title">
            <a:extLst xmlns:a="http://schemas.openxmlformats.org/drawingml/2006/main">
              <a:ext uri="{FF2B5EF4-FFF2-40B4-BE49-F238E27FC236}">
                <a16:creationId xmlns:a16="http://schemas.microsoft.com/office/drawing/2014/main" id="{57E2F698-AE90-43E8-B0A1-E0756919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33850"/>
            <a:ext cx="3400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两组不同口径的证据</a:t>
            </a:r>
          </a:p>
        </p:txBody>
      </p:sp>
      <p:sp>
        <p:nvSpPr>
          <p:cNvPr id="20" name="task-evidence-copy">
            <a:extLst xmlns:a="http://schemas.openxmlformats.org/drawingml/2006/main">
              <a:ext uri="{FF2B5EF4-FFF2-40B4-BE49-F238E27FC236}">
                <a16:creationId xmlns:a16="http://schemas.microsoft.com/office/drawing/2014/main" id="{A5A0E1E4-15CF-4734-AA36-4C5A0282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24375"/>
            <a:ext cx="3400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五年累计 26 项实践微课题：被“揭榜挂帅”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26 份课题 / 8 家企业成效：当场“收货”</a:t>
            </a:r>
          </a:p>
        </p:txBody>
      </p:sp>
      <p:sp>
        <p:nvSpPr>
          <p:cNvPr id="21" name="task-note">
            <a:extLst xmlns:a="http://schemas.openxmlformats.org/drawingml/2006/main">
              <a:ext uri="{FF2B5EF4-FFF2-40B4-BE49-F238E27FC236}">
                <a16:creationId xmlns:a16="http://schemas.microsoft.com/office/drawing/2014/main" id="{618B605B-5948-4752-9CFB-6C3C2841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算法、图纸、代码，都是青年党员可以扛起的时代订单。</a:t>
            </a:r>
          </a:p>
        </p:txBody>
      </p:sp>
    </p:spTree>
    <p:extLst>
      <p:ext uri="{BB962C8B-B14F-4D97-AF65-F5344CB8AC3E}">
        <p14:creationId xmlns:p14="http://schemas.microsoft.com/office/powerpoint/2010/main" val="1340184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2D4C807D-FD66-4478-933A-5B79035D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923254-2F6C-45C5-83DC-713F527F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VR 基地，把 22 处旧址变成可进入的沉浸课堂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364C209-9932-4F6E-A67F-CF78E60A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CE882EC-B060-42B0-84AD-6F133176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A7E2990-7478-430E-B58C-E983D61F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3B5CE066-4539-4C52-ABD1-66B6C18A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全景数据、VR 党课与示范基地，让“一屏百年”成为可预约、可复用的教育体验。</a:t>
            </a:r>
          </a:p>
        </p:txBody>
      </p:sp>
      <p:sp>
        <p:nvSpPr>
          <p:cNvPr id="7" name="vr-source">
            <a:extLst xmlns:a="http://schemas.openxmlformats.org/drawingml/2006/main">
              <a:ext uri="{FF2B5EF4-FFF2-40B4-BE49-F238E27FC236}">
                <a16:creationId xmlns:a16="http://schemas.microsoft.com/office/drawing/2014/main" id="{7D870640-2714-410A-A1A8-EB9CAB1F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33600"/>
            <a:ext cx="238125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vr-source-num">
            <a:extLst xmlns:a="http://schemas.openxmlformats.org/drawingml/2006/main">
              <a:ext uri="{FF2B5EF4-FFF2-40B4-BE49-F238E27FC236}">
                <a16:creationId xmlns:a16="http://schemas.microsoft.com/office/drawing/2014/main" id="{F9320CCF-D033-42CB-9182-45C1E46E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9" name="vr-source-label">
            <a:extLst xmlns:a="http://schemas.openxmlformats.org/drawingml/2006/main">
              <a:ext uri="{FF2B5EF4-FFF2-40B4-BE49-F238E27FC236}">
                <a16:creationId xmlns:a16="http://schemas.microsoft.com/office/drawing/2014/main" id="{3B71F1E6-1B22-46FD-821F-D7FD399A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处“六地”旧址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全景数据</a:t>
            </a:r>
          </a:p>
        </p:txBody>
      </p:sp>
      <p:sp>
        <p:nvSpPr>
          <p:cNvPr id="10" name="vr-core">
            <a:extLst xmlns:a="http://schemas.openxmlformats.org/drawingml/2006/main">
              <a:ext uri="{FF2B5EF4-FFF2-40B4-BE49-F238E27FC236}">
                <a16:creationId xmlns:a16="http://schemas.microsoft.com/office/drawing/2014/main" id="{430C4C94-BD98-4475-A148-1A48A096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24050"/>
            <a:ext cx="3238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r-core-title">
            <a:extLst xmlns:a="http://schemas.openxmlformats.org/drawingml/2006/main">
              <a:ext uri="{FF2B5EF4-FFF2-40B4-BE49-F238E27FC236}">
                <a16:creationId xmlns:a16="http://schemas.microsoft.com/office/drawing/2014/main" id="{FF1979C6-69D3-4791-BC0A-EEC7AE33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241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沉浸课堂</a:t>
            </a:r>
          </a:p>
        </p:txBody>
      </p:sp>
      <p:sp>
        <p:nvSpPr>
          <p:cNvPr id="12" name="vr-core-copy">
            <a:extLst xmlns:a="http://schemas.openxmlformats.org/drawingml/2006/main">
              <a:ext uri="{FF2B5EF4-FFF2-40B4-BE49-F238E27FC236}">
                <a16:creationId xmlns:a16="http://schemas.microsoft.com/office/drawing/2014/main" id="{A2AAA64A-7B51-4202-AF51-D3DDA1E1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7 门红色 VR 党课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一键穿越 · 一屏百年</a:t>
            </a:r>
          </a:p>
        </p:txBody>
      </p:sp>
      <p:sp>
        <p:nvSpPr>
          <p:cNvPr id="13" name="vr-use">
            <a:extLst xmlns:a="http://schemas.openxmlformats.org/drawingml/2006/main">
              <a:ext uri="{FF2B5EF4-FFF2-40B4-BE49-F238E27FC236}">
                <a16:creationId xmlns:a16="http://schemas.microsoft.com/office/drawing/2014/main" id="{A63FBA0C-E551-4F2D-8CA6-CAE9139B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71475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4" name="vr-use-title">
            <a:extLst xmlns:a="http://schemas.openxmlformats.org/drawingml/2006/main">
              <a:ext uri="{FF2B5EF4-FFF2-40B4-BE49-F238E27FC236}">
                <a16:creationId xmlns:a16="http://schemas.microsoft.com/office/drawing/2014/main" id="{3DA007D6-DF0C-45AD-AA92-8FFD4DAF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被真实使用的基地</a:t>
            </a:r>
          </a:p>
        </p:txBody>
      </p:sp>
      <p:sp>
        <p:nvSpPr>
          <p:cNvPr id="15" name="vr-use-copy">
            <a:extLst xmlns:a="http://schemas.openxmlformats.org/drawingml/2006/main">
              <a:ext uri="{FF2B5EF4-FFF2-40B4-BE49-F238E27FC236}">
                <a16:creationId xmlns:a16="http://schemas.microsoft.com/office/drawing/2014/main" id="{4AF5FE10-97A5-42DE-96AE-81673576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170 个省内外支部预约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2400 余名党员体验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05125" y="29718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953250" y="29718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sp>
        <p:nvSpPr>
          <p:cNvPr id="18" name="vr-awards">
            <a:extLst xmlns:a="http://schemas.openxmlformats.org/drawingml/2006/main">
              <a:ext uri="{FF2B5EF4-FFF2-40B4-BE49-F238E27FC236}">
                <a16:creationId xmlns:a16="http://schemas.microsoft.com/office/drawing/2014/main" id="{1BB76D48-E982-4015-A704-C33DDC7F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05325"/>
            <a:ext cx="110490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vr-awards-copy">
            <a:extLst xmlns:a="http://schemas.openxmlformats.org/drawingml/2006/main">
              <a:ext uri="{FF2B5EF4-FFF2-40B4-BE49-F238E27FC236}">
                <a16:creationId xmlns:a16="http://schemas.microsoft.com/office/drawing/2014/main" id="{6ABB20B0-5216-49A8-9FBC-F1D9545C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省党员教育培训示范基地  ·  省高校基层党建创新一等奖  ·  获中组部组织二局、教育部教师工作司负责同志肯定</a:t>
            </a:r>
          </a:p>
        </p:txBody>
      </p:sp>
      <p:sp>
        <p:nvSpPr>
          <p:cNvPr id="20" name="vr-note">
            <a:extLst xmlns:a="http://schemas.openxmlformats.org/drawingml/2006/main">
              <a:ext uri="{FF2B5EF4-FFF2-40B4-BE49-F238E27FC236}">
                <a16:creationId xmlns:a16="http://schemas.microsoft.com/office/drawing/2014/main" id="{A338AA30-0CC8-4789-B96B-47F0F367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技术在这里承担的是“进入现场”的教育职责。</a:t>
            </a:r>
          </a:p>
        </p:txBody>
      </p:sp>
    </p:spTree>
    <p:extLst>
      <p:ext uri="{BB962C8B-B14F-4D97-AF65-F5344CB8AC3E}">
        <p14:creationId xmlns:p14="http://schemas.microsoft.com/office/powerpoint/2010/main" val="15207290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6B94A027-6983-40E1-A9E9-F4CD61A6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78916D-F132-4E17-985D-F5C16055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青年讲、青年听、青年信，让理论走出校园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1990A24-8D58-4AA6-9815-64F2110D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11B66B5-BE0B-4684-B29E-DD5C0F6F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0D0F9B-F980-4289-AFEC-6FA77FA8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4DE77D64-F7D2-4298-820F-1F07CB4F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博士、硕士、本科混编，把“六地”精神改写为青年愿意进入的互动课堂。</a:t>
            </a:r>
          </a:p>
        </p:txBody>
      </p:sp>
      <p:sp>
        <p:nvSpPr>
          <p:cNvPr id="7" name="speak-team">
            <a:extLst xmlns:a="http://schemas.openxmlformats.org/drawingml/2006/main">
              <a:ext uri="{FF2B5EF4-FFF2-40B4-BE49-F238E27FC236}">
                <a16:creationId xmlns:a16="http://schemas.microsoft.com/office/drawing/2014/main" id="{A59B3CD5-3D06-4035-8087-DABD962A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33600"/>
            <a:ext cx="25717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speak-team-num">
            <a:extLst xmlns:a="http://schemas.openxmlformats.org/drawingml/2006/main">
              <a:ext uri="{FF2B5EF4-FFF2-40B4-BE49-F238E27FC236}">
                <a16:creationId xmlns:a16="http://schemas.microsoft.com/office/drawing/2014/main" id="{76DBC5FF-4B01-4D9F-98B4-1D682E56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32 人</a:t>
            </a:r>
          </a:p>
        </p:txBody>
      </p:sp>
      <p:sp>
        <p:nvSpPr>
          <p:cNvPr id="9" name="speak-team-label">
            <a:extLst xmlns:a="http://schemas.openxmlformats.org/drawingml/2006/main">
              <a:ext uri="{FF2B5EF4-FFF2-40B4-BE49-F238E27FC236}">
                <a16:creationId xmlns:a16="http://schemas.microsoft.com/office/drawing/2014/main" id="{6803584C-2F70-4F0F-B4CD-C56CA80B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67050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博士 · 硕士 · 本科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混编梯队</a:t>
            </a:r>
          </a:p>
        </p:txBody>
      </p:sp>
      <p:sp>
        <p:nvSpPr>
          <p:cNvPr id="10" name="speak-course">
            <a:extLst xmlns:a="http://schemas.openxmlformats.org/drawingml/2006/main">
              <a:ext uri="{FF2B5EF4-FFF2-40B4-BE49-F238E27FC236}">
                <a16:creationId xmlns:a16="http://schemas.microsoft.com/office/drawing/2014/main" id="{BE9008C1-2A4D-45F3-B24F-4206AE9E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24050"/>
            <a:ext cx="333375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peak-course-title">
            <a:extLst xmlns:a="http://schemas.openxmlformats.org/drawingml/2006/main">
              <a:ext uri="{FF2B5EF4-FFF2-40B4-BE49-F238E27FC236}">
                <a16:creationId xmlns:a16="http://schemas.microsoft.com/office/drawing/2014/main" id="{D2E98737-DB22-4902-99CB-08725E20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812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类互动课件</a:t>
            </a:r>
          </a:p>
        </p:txBody>
      </p:sp>
      <p:sp>
        <p:nvSpPr>
          <p:cNvPr id="12" name="speak-course-copy">
            <a:extLst xmlns:a="http://schemas.openxmlformats.org/drawingml/2006/main">
              <a:ext uri="{FF2B5EF4-FFF2-40B4-BE49-F238E27FC236}">
                <a16:creationId xmlns:a16="http://schemas.microsoft.com/office/drawing/2014/main" id="{7A89F03E-A84E-4144-BAA3-B4FD572E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384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沉浸式故事 · 情景短剧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红色闯关 · 青春语态重构</a:t>
            </a:r>
          </a:p>
        </p:txBody>
      </p:sp>
      <p:sp>
        <p:nvSpPr>
          <p:cNvPr id="13" name="speak-reach">
            <a:extLst xmlns:a="http://schemas.openxmlformats.org/drawingml/2006/main">
              <a:ext uri="{FF2B5EF4-FFF2-40B4-BE49-F238E27FC236}">
                <a16:creationId xmlns:a16="http://schemas.microsoft.com/office/drawing/2014/main" id="{6E96B1D5-81F4-4C4C-8DBB-C7AA6660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6195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4" name="speak-reach-num">
            <a:extLst xmlns:a="http://schemas.openxmlformats.org/drawingml/2006/main">
              <a:ext uri="{FF2B5EF4-FFF2-40B4-BE49-F238E27FC236}">
                <a16:creationId xmlns:a16="http://schemas.microsoft.com/office/drawing/2014/main" id="{D5688B1A-44B3-475F-95B4-5B260515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6697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36 场</a:t>
            </a:r>
          </a:p>
        </p:txBody>
      </p:sp>
      <p:sp>
        <p:nvSpPr>
          <p:cNvPr id="15" name="speak-reach-label">
            <a:extLst xmlns:a="http://schemas.openxmlformats.org/drawingml/2006/main">
              <a:ext uri="{FF2B5EF4-FFF2-40B4-BE49-F238E27FC236}">
                <a16:creationId xmlns:a16="http://schemas.microsoft.com/office/drawing/2014/main" id="{E99CE8D4-8F4E-4BB8-B358-42BA75BB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575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进校园 · 进社区 · 进企业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覆盖师生群众 3800 多人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95625" y="299085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67550" y="29908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sp>
        <p:nvSpPr>
          <p:cNvPr id="18" name="speak-award">
            <a:extLst xmlns:a="http://schemas.openxmlformats.org/drawingml/2006/main">
              <a:ext uri="{FF2B5EF4-FFF2-40B4-BE49-F238E27FC236}">
                <a16:creationId xmlns:a16="http://schemas.microsoft.com/office/drawing/2014/main" id="{B5915160-C3F9-4013-AACB-74197438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11049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speak-award-copy">
            <a:extLst xmlns:a="http://schemas.openxmlformats.org/drawingml/2006/main">
              <a:ext uri="{FF2B5EF4-FFF2-40B4-BE49-F238E27FC236}">
                <a16:creationId xmlns:a16="http://schemas.microsoft.com/office/drawing/2014/main" id="{E9DF4443-DC6E-4972-BD09-91703267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33925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获评“辽宁省大学生红色理论宣讲团”</a:t>
            </a:r>
          </a:p>
        </p:txBody>
      </p:sp>
      <p:sp>
        <p:nvSpPr>
          <p:cNvPr id="20" name="speak-note">
            <a:extLst xmlns:a="http://schemas.openxmlformats.org/drawingml/2006/main">
              <a:ext uri="{FF2B5EF4-FFF2-40B4-BE49-F238E27FC236}">
                <a16:creationId xmlns:a16="http://schemas.microsoft.com/office/drawing/2014/main" id="{0FD02F1D-F832-4BF1-A9AF-7A1BF0D7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同一套理论，经过青年讲述，进入社区、课堂、生产一线和百姓心坎。</a:t>
            </a:r>
          </a:p>
        </p:txBody>
      </p:sp>
    </p:spTree>
    <p:extLst>
      <p:ext uri="{BB962C8B-B14F-4D97-AF65-F5344CB8AC3E}">
        <p14:creationId xmlns:p14="http://schemas.microsoft.com/office/powerpoint/2010/main" val="5956611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982E498D-40AA-4B36-B2EC-EFCAD093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28D0DBC-B7AF-43E4-900A-740D89CF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红色朋友圈，把资源共享成振兴同心圆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8A0EB14-EB8D-47A4-A9D4-D49EDC84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438ADCF-A7C2-4D9D-A5E9-E14E32C9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74C1855-8026-4958-B40F-3F232536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A2B4A5AB-A215-461B-BC07-9A4566B4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组织互联、资源互通、经验互鉴，让校园“小盆景”成为区域“大风景”。</a:t>
            </a:r>
          </a:p>
        </p:txBody>
      </p:sp>
      <p:sp>
        <p:nvSpPr>
          <p:cNvPr id="7" name="network-frame">
            <a:extLst xmlns:a="http://schemas.openxmlformats.org/drawingml/2006/main">
              <a:ext uri="{FF2B5EF4-FFF2-40B4-BE49-F238E27FC236}">
                <a16:creationId xmlns:a16="http://schemas.microsoft.com/office/drawing/2014/main" id="{B831B11D-5BB7-4B59-A61B-E7A00280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10490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network-overall">
            <a:extLst xmlns:a="http://schemas.openxmlformats.org/drawingml/2006/main">
              <a:ext uri="{FF2B5EF4-FFF2-40B4-BE49-F238E27FC236}">
                <a16:creationId xmlns:a16="http://schemas.microsoft.com/office/drawing/2014/main" id="{44077143-B7E8-418A-B229-31A63538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33600"/>
            <a:ext cx="495300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9" name="overall-title">
            <a:extLst xmlns:a="http://schemas.openxmlformats.org/drawingml/2006/main">
              <a:ext uri="{FF2B5EF4-FFF2-40B4-BE49-F238E27FC236}">
                <a16:creationId xmlns:a16="http://schemas.microsoft.com/office/drawing/2014/main" id="{93946959-2C98-4072-BA21-31AF4FA6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003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整体共学联建</a:t>
            </a:r>
          </a:p>
        </p:txBody>
      </p:sp>
      <p:sp>
        <p:nvSpPr>
          <p:cNvPr id="10" name="overall-scale">
            <a:extLst xmlns:a="http://schemas.openxmlformats.org/drawingml/2006/main">
              <a:ext uri="{FF2B5EF4-FFF2-40B4-BE49-F238E27FC236}">
                <a16:creationId xmlns:a16="http://schemas.microsoft.com/office/drawing/2014/main" id="{37ADE994-C0DE-4632-89E1-C34C491A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91465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41 家单位  ·  2000 余人次/年</a:t>
            </a:r>
          </a:p>
        </p:txBody>
      </p:sp>
      <p:sp>
        <p:nvSpPr>
          <p:cNvPr id="11" name="overall-copy">
            <a:extLst xmlns:a="http://schemas.openxmlformats.org/drawingml/2006/main">
              <a:ext uri="{FF2B5EF4-FFF2-40B4-BE49-F238E27FC236}">
                <a16:creationId xmlns:a16="http://schemas.microsoft.com/office/drawing/2014/main" id="{57AC2395-4703-4EC6-9D02-775F3660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814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VR 党课共享 · 主题党日联办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红色资源联用 · 志愿服务联动</a:t>
            </a:r>
          </a:p>
        </p:txBody>
      </p:sp>
      <p:sp>
        <p:nvSpPr>
          <p:cNvPr id="12" name="network-mutual">
            <a:extLst xmlns:a="http://schemas.openxmlformats.org/drawingml/2006/main">
              <a:ext uri="{FF2B5EF4-FFF2-40B4-BE49-F238E27FC236}">
                <a16:creationId xmlns:a16="http://schemas.microsoft.com/office/drawing/2014/main" id="{5CA720F1-F58F-4DE4-A61D-C705AEE2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33600"/>
            <a:ext cx="4714875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3" name="mutual-title">
            <a:extLst xmlns:a="http://schemas.openxmlformats.org/drawingml/2006/main">
              <a:ext uri="{FF2B5EF4-FFF2-40B4-BE49-F238E27FC236}">
                <a16:creationId xmlns:a16="http://schemas.microsoft.com/office/drawing/2014/main" id="{F4BB999F-A57F-412D-97B4-40121785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324100"/>
            <a:ext cx="4257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东北 ↔ 西部双向互学</a:t>
            </a:r>
          </a:p>
        </p:txBody>
      </p:sp>
      <p:sp>
        <p:nvSpPr>
          <p:cNvPr id="14" name="north-node">
            <a:extLst xmlns:a="http://schemas.openxmlformats.org/drawingml/2006/main">
              <a:ext uri="{FF2B5EF4-FFF2-40B4-BE49-F238E27FC236}">
                <a16:creationId xmlns:a16="http://schemas.microsoft.com/office/drawing/2014/main" id="{C51BA8D0-9108-4C28-AF8A-123F6EAB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52750"/>
            <a:ext cx="1666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5" name="west-node">
            <a:extLst xmlns:a="http://schemas.openxmlformats.org/drawingml/2006/main">
              <a:ext uri="{FF2B5EF4-FFF2-40B4-BE49-F238E27FC236}">
                <a16:creationId xmlns:a16="http://schemas.microsoft.com/office/drawing/2014/main" id="{598CE3DC-64C6-49D0-89A0-6479D283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52750"/>
            <a:ext cx="1666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6" name="north-label">
            <a:extLst xmlns:a="http://schemas.openxmlformats.org/drawingml/2006/main">
              <a:ext uri="{FF2B5EF4-FFF2-40B4-BE49-F238E27FC236}">
                <a16:creationId xmlns:a16="http://schemas.microsoft.com/office/drawing/2014/main" id="{7639995D-EF48-4239-85E5-3CCA6B34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1337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辽宁合作网络</a:t>
            </a:r>
          </a:p>
        </p:txBody>
      </p:sp>
      <p:sp>
        <p:nvSpPr>
          <p:cNvPr id="17" name="west-label">
            <a:extLst xmlns:a="http://schemas.openxmlformats.org/drawingml/2006/main">
              <a:ext uri="{FF2B5EF4-FFF2-40B4-BE49-F238E27FC236}">
                <a16:creationId xmlns:a16="http://schemas.microsoft.com/office/drawing/2014/main" id="{F86AF126-AAF0-4308-80F6-1BE95642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337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西部三校联学</a:t>
            </a:r>
          </a:p>
        </p:txBody>
      </p:sp>
      <p:cxnSp>
        <p:nvCxnSpPr>
          <p:cNvPr id="39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562975" y="324802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15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8562975" y="324802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20" name="mutual-copy">
            <a:extLst xmlns:a="http://schemas.openxmlformats.org/drawingml/2006/main">
              <a:ext uri="{FF2B5EF4-FFF2-40B4-BE49-F238E27FC236}">
                <a16:creationId xmlns:a16="http://schemas.microsoft.com/office/drawing/2014/main" id="{616B8A83-15E6-45AE-8224-C16132C6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800475"/>
            <a:ext cx="4257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新疆农业大学 · 西北师范大学 · 兰州工业学院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东北故事西部讲；西部经验东北学</a:t>
            </a:r>
          </a:p>
        </p:txBody>
      </p:sp>
      <p:sp>
        <p:nvSpPr>
          <p:cNvPr id="21" name="net-note">
            <a:extLst xmlns:a="http://schemas.openxmlformats.org/drawingml/2006/main">
              <a:ext uri="{FF2B5EF4-FFF2-40B4-BE49-F238E27FC236}">
                <a16:creationId xmlns:a16="http://schemas.microsoft.com/office/drawing/2014/main" id="{316B9790-955F-4E38-897F-13176AA7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跨区域共享让东北故事西部讲，也让西部经验东北学。</a:t>
            </a:r>
          </a:p>
        </p:txBody>
      </p:sp>
    </p:spTree>
    <p:extLst>
      <p:ext uri="{BB962C8B-B14F-4D97-AF65-F5344CB8AC3E}">
        <p14:creationId xmlns:p14="http://schemas.microsoft.com/office/powerpoint/2010/main" val="6191052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EA70E5F5-5F26-4B29-A570-0CED6C74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09D8DA-76CD-435A-B88A-A0EA089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四阶培养链，把红色育人嵌入成长全周期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6DC5B4A-B12B-49A7-9F8D-DAD22431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8954764-0B32-482F-9810-1BF48386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E8E84AC-25EB-4457-BBEE-0EF3386A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4E38071B-411F-432E-85EC-AB252469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红色实践进入学分与组织生活，靠四阶链条和红色导师年年有人抓、届届有人传。</a:t>
            </a:r>
          </a:p>
        </p:txBody>
      </p:sp>
      <p:sp>
        <p:nvSpPr>
          <p:cNvPr id="7" name="stage-0">
            <a:extLst xmlns:a="http://schemas.openxmlformats.org/drawingml/2006/main">
              <a:ext uri="{FF2B5EF4-FFF2-40B4-BE49-F238E27FC236}">
                <a16:creationId xmlns:a16="http://schemas.microsoft.com/office/drawing/2014/main" id="{959CDC05-F446-47A3-BEC0-23359E39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stage-0-num">
            <a:extLst xmlns:a="http://schemas.openxmlformats.org/drawingml/2006/main">
              <a:ext uri="{FF2B5EF4-FFF2-40B4-BE49-F238E27FC236}">
                <a16:creationId xmlns:a16="http://schemas.microsoft.com/office/drawing/2014/main" id="{E1A16F0E-FDA5-459D-869E-5E16AA2B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27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stage-0-title">
            <a:extLst xmlns:a="http://schemas.openxmlformats.org/drawingml/2006/main">
              <a:ext uri="{FF2B5EF4-FFF2-40B4-BE49-F238E27FC236}">
                <a16:creationId xmlns:a16="http://schemas.microsoft.com/office/drawing/2014/main" id="{E328E09E-C133-47CF-974D-C0F52134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241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入学</a:t>
            </a:r>
          </a:p>
        </p:txBody>
      </p:sp>
      <p:sp>
        <p:nvSpPr>
          <p:cNvPr id="10" name="stage-0-label">
            <a:extLst xmlns:a="http://schemas.openxmlformats.org/drawingml/2006/main">
              <a:ext uri="{FF2B5EF4-FFF2-40B4-BE49-F238E27FC236}">
                <a16:creationId xmlns:a16="http://schemas.microsoft.com/office/drawing/2014/main" id="{A9A6E8B2-4782-4FFF-AA1F-4EF71E81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242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认识辽宁</a:t>
            </a:r>
          </a:p>
        </p:txBody>
      </p:sp>
      <p:sp>
        <p:nvSpPr>
          <p:cNvPr id="11" name="stage-1">
            <a:extLst xmlns:a="http://schemas.openxmlformats.org/drawingml/2006/main">
              <a:ext uri="{FF2B5EF4-FFF2-40B4-BE49-F238E27FC236}">
                <a16:creationId xmlns:a16="http://schemas.microsoft.com/office/drawing/2014/main" id="{5C4982D8-7E1C-43CD-B75E-F970ECFC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030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2" name="stage-1-num">
            <a:extLst xmlns:a="http://schemas.openxmlformats.org/drawingml/2006/main">
              <a:ext uri="{FF2B5EF4-FFF2-40B4-BE49-F238E27FC236}">
                <a16:creationId xmlns:a16="http://schemas.microsoft.com/office/drawing/2014/main" id="{33B239BC-8B66-4767-A18B-43ED8E82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527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CA6EECB7-31F8-4AF9-AF90-9ACA0CCE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241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入党</a:t>
            </a:r>
          </a:p>
        </p:txBody>
      </p:sp>
      <p:sp>
        <p:nvSpPr>
          <p:cNvPr id="14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02F0BDE1-906F-40FF-A9E3-62114C19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242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走进六地</a:t>
            </a:r>
          </a:p>
        </p:txBody>
      </p:sp>
      <p:sp>
        <p:nvSpPr>
          <p:cNvPr id="15" name="stage-2">
            <a:extLst xmlns:a="http://schemas.openxmlformats.org/drawingml/2006/main">
              <a:ext uri="{FF2B5EF4-FFF2-40B4-BE49-F238E27FC236}">
                <a16:creationId xmlns:a16="http://schemas.microsoft.com/office/drawing/2014/main" id="{80D42805-C7F2-4CC3-8EE3-83A60080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6" name="stage-2-num">
            <a:extLst xmlns:a="http://schemas.openxmlformats.org/drawingml/2006/main">
              <a:ext uri="{FF2B5EF4-FFF2-40B4-BE49-F238E27FC236}">
                <a16:creationId xmlns:a16="http://schemas.microsoft.com/office/drawing/2014/main" id="{40EEEB53-1B38-4AFC-B6F3-23F641B8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527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283EA883-26B7-4C07-95CA-2457CF78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241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转正</a:t>
            </a:r>
          </a:p>
        </p:txBody>
      </p:sp>
      <p:sp>
        <p:nvSpPr>
          <p:cNvPr id="18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D041EE6A-9C77-4593-9A8E-B8BF8E0A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242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承担任务</a:t>
            </a:r>
          </a:p>
        </p:txBody>
      </p:sp>
      <p:sp>
        <p:nvSpPr>
          <p:cNvPr id="19" name="stage-3">
            <a:extLst xmlns:a="http://schemas.openxmlformats.org/drawingml/2006/main">
              <a:ext uri="{FF2B5EF4-FFF2-40B4-BE49-F238E27FC236}">
                <a16:creationId xmlns:a16="http://schemas.microsoft.com/office/drawing/2014/main" id="{BEE4B37A-4061-4CC8-877B-1D8300D1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030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ge-3-num">
            <a:extLst xmlns:a="http://schemas.openxmlformats.org/drawingml/2006/main">
              <a:ext uri="{FF2B5EF4-FFF2-40B4-BE49-F238E27FC236}">
                <a16:creationId xmlns:a16="http://schemas.microsoft.com/office/drawing/2014/main" id="{C08FD131-7356-4C41-BFF5-1B9ACD94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527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16AAD8E8-E644-4BA2-82D2-EA97033A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241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毕业</a:t>
            </a:r>
          </a:p>
        </p:txBody>
      </p:sp>
      <p:sp>
        <p:nvSpPr>
          <p:cNvPr id="22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B1E57F4D-EE9B-4EED-9A80-63B36685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242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扎根振兴</a:t>
            </a:r>
          </a:p>
        </p:txBody>
      </p: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19375" y="30289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381625" y="30289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143875" y="30289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sp>
        <p:nvSpPr>
          <p:cNvPr id="26" name="stage-support">
            <a:extLst xmlns:a="http://schemas.openxmlformats.org/drawingml/2006/main">
              <a:ext uri="{FF2B5EF4-FFF2-40B4-BE49-F238E27FC236}">
                <a16:creationId xmlns:a16="http://schemas.microsoft.com/office/drawing/2014/main" id="{69F3FEAA-9E50-4FDF-ACB4-C79E7046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11049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7" name="stage-support-title">
            <a:extLst xmlns:a="http://schemas.openxmlformats.org/drawingml/2006/main">
              <a:ext uri="{FF2B5EF4-FFF2-40B4-BE49-F238E27FC236}">
                <a16:creationId xmlns:a16="http://schemas.microsoft.com/office/drawing/2014/main" id="{51EF5B61-1D21-4F0A-B683-AAF8E5E9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33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跨阶段支撑</a:t>
            </a:r>
          </a:p>
        </p:txBody>
      </p:sp>
      <p:sp>
        <p:nvSpPr>
          <p:cNvPr id="28" name="stage-support-copy">
            <a:extLst xmlns:a="http://schemas.openxmlformats.org/drawingml/2006/main">
              <a:ext uri="{FF2B5EF4-FFF2-40B4-BE49-F238E27FC236}">
                <a16:creationId xmlns:a16="http://schemas.microsoft.com/office/drawing/2014/main" id="{CBCC036A-D99D-45AC-BC7F-DCB38FB3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543425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红色实践计入学分   ·   VR 党课写进“三会一课”   ·   聘请 36 位纪念馆专家、抗美援朝老战士担任“红色导师”</a:t>
            </a:r>
          </a:p>
        </p:txBody>
      </p:sp>
      <p:sp>
        <p:nvSpPr>
          <p:cNvPr id="29" name="stage-note">
            <a:extLst xmlns:a="http://schemas.openxmlformats.org/drawingml/2006/main">
              <a:ext uri="{FF2B5EF4-FFF2-40B4-BE49-F238E27FC236}">
                <a16:creationId xmlns:a16="http://schemas.microsoft.com/office/drawing/2014/main" id="{ECCA128E-643C-483F-8889-A235C075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机制的作用，是让一次活动变成可持续的成长路径。</a:t>
            </a:r>
          </a:p>
        </p:txBody>
      </p:sp>
    </p:spTree>
    <p:extLst>
      <p:ext uri="{BB962C8B-B14F-4D97-AF65-F5344CB8AC3E}">
        <p14:creationId xmlns:p14="http://schemas.microsoft.com/office/powerpoint/2010/main" val="18913850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C86AF20C-6273-4FDB-8118-13BA9637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F7F9C0B-6AB5-4F54-9680-DE8193F4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五年深耕，理工学生有了“红色先锋”新标签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C23F804-6296-418A-955F-306744EF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1D652FC-B5C7-4B91-9229-ADB3AF8F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0BFFFDA-CDEA-406B-B99B-BBA3480D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0069887D-C4F0-49D5-B7C6-6762142F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五类抓手最终汇到四类青年变化；先看最直接的信仰变化，再看本领、声音与脚步。</a:t>
            </a:r>
          </a:p>
        </p:txBody>
      </p:sp>
      <p:sp>
        <p:nvSpPr>
          <p:cNvPr id="7" name="result-main">
            <a:extLst xmlns:a="http://schemas.openxmlformats.org/drawingml/2006/main">
              <a:ext uri="{FF2B5EF4-FFF2-40B4-BE49-F238E27FC236}">
                <a16:creationId xmlns:a16="http://schemas.microsoft.com/office/drawing/2014/main" id="{E9610484-2AC4-4D17-9117-92989F6D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85950"/>
            <a:ext cx="6191250" cy="3257550"/>
          </a:xfrm>
          <a:prstGeom xmlns:a="http://schemas.openxmlformats.org/drawingml/2006/main" prst="roundRect">
            <a:avLst>
              <a:gd name="adj" fmla="val 4094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-main-title">
            <a:extLst xmlns:a="http://schemas.openxmlformats.org/drawingml/2006/main">
              <a:ext uri="{FF2B5EF4-FFF2-40B4-BE49-F238E27FC236}">
                <a16:creationId xmlns:a16="http://schemas.microsoft.com/office/drawing/2014/main" id="{7C7DE1A2-2D16-42F8-B53A-FDD57BA8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28875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信仰更强</a:t>
            </a:r>
          </a:p>
        </p:txBody>
      </p:sp>
      <p:sp>
        <p:nvSpPr>
          <p:cNvPr id="9" name="result-main-num">
            <a:extLst xmlns:a="http://schemas.openxmlformats.org/drawingml/2006/main">
              <a:ext uri="{FF2B5EF4-FFF2-40B4-BE49-F238E27FC236}">
                <a16:creationId xmlns:a16="http://schemas.microsoft.com/office/drawing/2014/main" id="{67BFCEEF-530E-487F-9956-18D489D3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00375"/>
            <a:ext cx="539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58% → 87%</a:t>
            </a:r>
          </a:p>
        </p:txBody>
      </p:sp>
      <p:sp>
        <p:nvSpPr>
          <p:cNvPr id="10" name="result-main-copy">
            <a:extLst xmlns:a="http://schemas.openxmlformats.org/drawingml/2006/main">
              <a:ext uri="{FF2B5EF4-FFF2-40B4-BE49-F238E27FC236}">
                <a16:creationId xmlns:a16="http://schemas.microsoft.com/office/drawing/2014/main" id="{08B3625E-13A3-415A-9C6B-630FFF22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86225"/>
            <a:ext cx="539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发展对象答辩现场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“毕业后留辽意愿”举手率</a:t>
            </a:r>
          </a:p>
        </p:txBody>
      </p:sp>
      <p:sp>
        <p:nvSpPr>
          <p:cNvPr id="11" name="result-support">
            <a:extLst xmlns:a="http://schemas.openxmlformats.org/drawingml/2006/main">
              <a:ext uri="{FF2B5EF4-FFF2-40B4-BE49-F238E27FC236}">
                <a16:creationId xmlns:a16="http://schemas.microsoft.com/office/drawing/2014/main" id="{6D476295-4B58-4288-9B2E-80CB7497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85950"/>
            <a:ext cx="43815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2" name="result-support-title">
            <a:extLst xmlns:a="http://schemas.openxmlformats.org/drawingml/2006/main">
              <a:ext uri="{FF2B5EF4-FFF2-40B4-BE49-F238E27FC236}">
                <a16:creationId xmlns:a16="http://schemas.microsoft.com/office/drawing/2014/main" id="{BEB052FD-1029-4E9D-9728-5116BC7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1145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其余成效作为支持证据</a:t>
            </a:r>
          </a:p>
        </p:txBody>
      </p:sp>
      <p:sp>
        <p:nvSpPr>
          <p:cNvPr id="13" name="support-rule-1">
            <a:extLst xmlns:a="http://schemas.openxmlformats.org/drawingml/2006/main">
              <a:ext uri="{FF2B5EF4-FFF2-40B4-BE49-F238E27FC236}">
                <a16:creationId xmlns:a16="http://schemas.microsoft.com/office/drawing/2014/main" id="{F6F978BE-4041-4654-BA66-1DA2E0E8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52700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7"/>
          </a:solidFill>
          <a:ln xmlns:a="http://schemas.openxmlformats.org/drawingml/2006/main" w="0">
            <a:solidFill>
              <a:srgbClr val="D5DDE7"/>
            </a:solidFill>
            <a:prstDash val="solid"/>
          </a:ln>
        </p:spPr>
      </p:sp>
      <p:sp>
        <p:nvSpPr>
          <p:cNvPr id="14" name="support-1">
            <a:extLst xmlns:a="http://schemas.openxmlformats.org/drawingml/2006/main">
              <a:ext uri="{FF2B5EF4-FFF2-40B4-BE49-F238E27FC236}">
                <a16:creationId xmlns:a16="http://schemas.microsoft.com/office/drawing/2014/main" id="{885DC8F6-64D9-4D4B-8645-44D3753B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7336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本领更硬</a:t>
            </a:r>
          </a:p>
        </p:txBody>
      </p:sp>
      <p:sp>
        <p:nvSpPr>
          <p:cNvPr id="15" name="support-1-copy">
            <a:extLst xmlns:a="http://schemas.openxmlformats.org/drawingml/2006/main">
              <a:ext uri="{FF2B5EF4-FFF2-40B4-BE49-F238E27FC236}">
                <a16:creationId xmlns:a16="http://schemas.microsoft.com/office/drawing/2014/main" id="{474658CD-5E97-4218-9999-A244B6C3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367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26 份课题 / 8 家企业成效</a:t>
            </a:r>
          </a:p>
        </p:txBody>
      </p:sp>
      <p:sp>
        <p:nvSpPr>
          <p:cNvPr id="16" name="support-rule-2">
            <a:extLst xmlns:a="http://schemas.openxmlformats.org/drawingml/2006/main">
              <a:ext uri="{FF2B5EF4-FFF2-40B4-BE49-F238E27FC236}">
                <a16:creationId xmlns:a16="http://schemas.microsoft.com/office/drawing/2014/main" id="{94CC985C-6C10-4324-AE86-15A321D9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362325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7"/>
          </a:solidFill>
          <a:ln xmlns:a="http://schemas.openxmlformats.org/drawingml/2006/main" w="0">
            <a:solidFill>
              <a:srgbClr val="D5DDE7"/>
            </a:solidFill>
            <a:prstDash val="solid"/>
          </a:ln>
        </p:spPr>
      </p:sp>
      <p:sp>
        <p:nvSpPr>
          <p:cNvPr id="17" name="support-2">
            <a:extLst xmlns:a="http://schemas.openxmlformats.org/drawingml/2006/main">
              <a:ext uri="{FF2B5EF4-FFF2-40B4-BE49-F238E27FC236}">
                <a16:creationId xmlns:a16="http://schemas.microsoft.com/office/drawing/2014/main" id="{9B12428C-4CD4-40EA-B300-729F4820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543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声音更响</a:t>
            </a:r>
          </a:p>
        </p:txBody>
      </p:sp>
      <p:sp>
        <p:nvSpPr>
          <p:cNvPr id="18" name="support-2-copy">
            <a:extLst xmlns:a="http://schemas.openxmlformats.org/drawingml/2006/main">
              <a:ext uri="{FF2B5EF4-FFF2-40B4-BE49-F238E27FC236}">
                <a16:creationId xmlns:a16="http://schemas.microsoft.com/office/drawing/2014/main" id="{F8EED384-8438-4776-970C-69731971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433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理论飞出校园，进入社区、课堂与生产一线</a:t>
            </a:r>
          </a:p>
        </p:txBody>
      </p:sp>
      <p:sp>
        <p:nvSpPr>
          <p:cNvPr id="19" name="support-rule-3">
            <a:extLst xmlns:a="http://schemas.openxmlformats.org/drawingml/2006/main">
              <a:ext uri="{FF2B5EF4-FFF2-40B4-BE49-F238E27FC236}">
                <a16:creationId xmlns:a16="http://schemas.microsoft.com/office/drawing/2014/main" id="{259CD8AA-920A-4F5D-9BBC-7E64E82D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71950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7"/>
          </a:solidFill>
          <a:ln xmlns:a="http://schemas.openxmlformats.org/drawingml/2006/main" w="0">
            <a:solidFill>
              <a:srgbClr val="D5DDE7"/>
            </a:solidFill>
            <a:prstDash val="solid"/>
          </a:ln>
        </p:spPr>
      </p:sp>
      <p:sp>
        <p:nvSpPr>
          <p:cNvPr id="20" name="support-3">
            <a:extLst xmlns:a="http://schemas.openxmlformats.org/drawingml/2006/main">
              <a:ext uri="{FF2B5EF4-FFF2-40B4-BE49-F238E27FC236}">
                <a16:creationId xmlns:a16="http://schemas.microsoft.com/office/drawing/2014/main" id="{D51459A2-F92C-49D6-B879-DC077B42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352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脚步更稳</a:t>
            </a:r>
          </a:p>
        </p:txBody>
      </p:sp>
      <p:sp>
        <p:nvSpPr>
          <p:cNvPr id="21" name="support-3-copy">
            <a:extLst xmlns:a="http://schemas.openxmlformats.org/drawingml/2006/main">
              <a:ext uri="{FF2B5EF4-FFF2-40B4-BE49-F238E27FC236}">
                <a16:creationId xmlns:a16="http://schemas.microsoft.com/office/drawing/2014/main" id="{3E7BCDD9-2624-409B-B708-5EA849CA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52925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党员考取辽宁选调生、投身重大装备研发比例提升 40%</a:t>
            </a:r>
          </a:p>
        </p:txBody>
      </p:sp>
      <p:sp>
        <p:nvSpPr>
          <p:cNvPr id="22" name="result-note">
            <a:extLst xmlns:a="http://schemas.openxmlformats.org/drawingml/2006/main">
              <a:ext uri="{FF2B5EF4-FFF2-40B4-BE49-F238E27FC236}">
                <a16:creationId xmlns:a16="http://schemas.microsoft.com/office/drawing/2014/main" id="{1CBAF052-727E-48A6-82E3-50530B3A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从“学霸”到“红色先锋”：把论文写在大地，把青春植根黑土。</a:t>
            </a:r>
          </a:p>
        </p:txBody>
      </p:sp>
    </p:spTree>
    <p:extLst>
      <p:ext uri="{BB962C8B-B14F-4D97-AF65-F5344CB8AC3E}">
        <p14:creationId xmlns:p14="http://schemas.microsoft.com/office/powerpoint/2010/main" val="6513039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315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lose-band">
            <a:extLst xmlns:a="http://schemas.openxmlformats.org/drawingml/2006/main">
              <a:ext uri="{FF2B5EF4-FFF2-40B4-BE49-F238E27FC236}">
                <a16:creationId xmlns:a16="http://schemas.microsoft.com/office/drawing/2014/main" id="{55AFC54C-0A18-4B75-B325-1B4F1E0E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7918656D-DBA8-4C27-BCA1-5383E73A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66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收束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B923D32-8C07-4E7D-AE33-9A8CE96A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六地红，成为青年投身振兴的青春底色</a:t>
            </a:r>
          </a:p>
        </p:txBody>
      </p:sp>
      <p:sp>
        <p:nvSpPr>
          <p:cNvPr id="4" name="close-rule">
            <a:extLst xmlns:a="http://schemas.openxmlformats.org/drawingml/2006/main">
              <a:ext uri="{FF2B5EF4-FFF2-40B4-BE49-F238E27FC236}">
                <a16:creationId xmlns:a16="http://schemas.microsoft.com/office/drawing/2014/main" id="{45570E50-9150-4401-82C4-22532A8E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close-quote">
            <a:extLst xmlns:a="http://schemas.openxmlformats.org/drawingml/2006/main">
              <a:ext uri="{FF2B5EF4-FFF2-40B4-BE49-F238E27FC236}">
                <a16:creationId xmlns:a16="http://schemas.microsoft.com/office/drawing/2014/main" id="{A42B4DB2-AA58-4402-AD80-A094E204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098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“要讲好党的故事、革命的故事、英雄的故事，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把红色基因传承下去，确保红色江山后继有人、代代相传。”</a:t>
            </a:r>
          </a:p>
        </p:txBody>
      </p:sp>
      <p:sp>
        <p:nvSpPr>
          <p:cNvPr id="6" name="close-attrib">
            <a:extLst xmlns:a="http://schemas.openxmlformats.org/drawingml/2006/main">
              <a:ext uri="{FF2B5EF4-FFF2-40B4-BE49-F238E27FC236}">
                <a16:creationId xmlns:a16="http://schemas.microsoft.com/office/drawing/2014/main" id="{2978817B-FD37-48EC-8115-590C62F8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——习近平总书记关于用好红色资源的重要嘱托</a:t>
            </a:r>
          </a:p>
        </p:txBody>
      </p:sp>
      <p:sp>
        <p:nvSpPr>
          <p:cNvPr id="7" name="close-strip">
            <a:extLst xmlns:a="http://schemas.openxmlformats.org/drawingml/2006/main">
              <a:ext uri="{FF2B5EF4-FFF2-40B4-BE49-F238E27FC236}">
                <a16:creationId xmlns:a16="http://schemas.microsoft.com/office/drawing/2014/main" id="{FA88BDB4-BBBF-4171-8456-46841B28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62450"/>
            <a:ext cx="110490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3E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e-strip-copy">
            <a:extLst xmlns:a="http://schemas.openxmlformats.org/drawingml/2006/main">
              <a:ext uri="{FF2B5EF4-FFF2-40B4-BE49-F238E27FC236}">
                <a16:creationId xmlns:a16="http://schemas.microsoft.com/office/drawing/2014/main" id="{334FF48F-2D14-4C8E-825E-925B8085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研学链贯通红色血脉  ·  任务单激发实干担当  ·  VR 基地跨越时空  ·  宣讲团传递信仰  ·  育人机制夯实成长</a:t>
            </a:r>
          </a:p>
        </p:txBody>
      </p:sp>
      <p:sp>
        <p:nvSpPr>
          <p:cNvPr id="9" name="close-final">
            <a:extLst xmlns:a="http://schemas.openxmlformats.org/drawingml/2006/main">
              <a:ext uri="{FF2B5EF4-FFF2-40B4-BE49-F238E27FC236}">
                <a16:creationId xmlns:a16="http://schemas.microsoft.com/office/drawing/2014/main" id="{DE97D643-7318-4099-AE5E-9140C3FD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10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将“听党话、跟党走”的坚定信念，熔铸进每一段青春年轮。</a:t>
            </a:r>
          </a:p>
        </p:txBody>
      </p:sp>
      <p:sp>
        <p:nvSpPr>
          <p:cNvPr id="10" name="close-page">
            <a:extLst xmlns:a="http://schemas.openxmlformats.org/drawingml/2006/main">
              <a:ext uri="{FF2B5EF4-FFF2-40B4-BE49-F238E27FC236}">
                <a16:creationId xmlns:a16="http://schemas.microsoft.com/office/drawing/2014/main" id="{08E87F0E-CA1C-4451-B3C2-14CF6AB7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96366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2026-09-06T02:17:14.7860000Z</dcterms:created>
  <dcterms:modified xsi:type="dcterms:W3CDTF">2026-09-06T02:17:14.7860000Z</dcterms:modified>
</coreProperties>
</file>