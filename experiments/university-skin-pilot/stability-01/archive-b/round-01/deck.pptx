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d3ac597be44c9c" /><Relationship Type="http://schemas.openxmlformats.org/officeDocument/2006/relationships/extended-properties" Target="/docProps/app.xml" Id="Rd715a0c61e3d44cb" /><Relationship Type="http://schemas.openxmlformats.org/officeDocument/2006/relationships/officeDocument" Target="/ppt/presentation.xml" Id="Rae0a45c8dddf48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ad8b6d684040cb"/>
  </p:sldMasterIdLst>
  <p:notesMasterIdLst>
    <p:notesMasterId xmlns:r="http://schemas.openxmlformats.org/officeDocument/2006/relationships" r:id="Rd292b371c857487c"/>
  </p:notesMasterIdLst>
  <p:sldIdLst>
    <p:sldId xmlns:r="http://schemas.openxmlformats.org/officeDocument/2006/relationships" id="256" r:id="R1b68a4bcdca9454d"/>
    <p:sldId xmlns:r="http://schemas.openxmlformats.org/officeDocument/2006/relationships" id="257" r:id="R1f7b636d268c425f"/>
    <p:sldId xmlns:r="http://schemas.openxmlformats.org/officeDocument/2006/relationships" id="258" r:id="R86ec996d21c441a5"/>
    <p:sldId xmlns:r="http://schemas.openxmlformats.org/officeDocument/2006/relationships" id="259" r:id="R3760ec4f04c04651"/>
    <p:sldId xmlns:r="http://schemas.openxmlformats.org/officeDocument/2006/relationships" id="260" r:id="R3cb2691acb264750"/>
    <p:sldId xmlns:r="http://schemas.openxmlformats.org/officeDocument/2006/relationships" id="261" r:id="R2749a6f2513f47af"/>
    <p:sldId xmlns:r="http://schemas.openxmlformats.org/officeDocument/2006/relationships" id="262" r:id="R8536fd8142ae45a6"/>
    <p:sldId xmlns:r="http://schemas.openxmlformats.org/officeDocument/2006/relationships" id="263" r:id="Refd2dd2c25ba48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c4338edf347d1" /><Relationship Type="http://schemas.openxmlformats.org/officeDocument/2006/relationships/slideMaster" Target="/ppt/slideMasters/slideMaster1.xml" Id="R49ad8b6d684040cb" /><Relationship Type="http://schemas.openxmlformats.org/officeDocument/2006/relationships/notesMaster" Target="/ppt/notesMasters/notesMaster1.xml" Id="Rd292b371c857487c" /><Relationship Type="http://schemas.openxmlformats.org/officeDocument/2006/relationships/presProps" Target="/ppt/presProps.xml" Id="R108b2651b25645b6" /><Relationship Type="http://schemas.openxmlformats.org/officeDocument/2006/relationships/tableStyles" Target="/ppt/tableStyles.xml" Id="Re61d3d7d3d8845ab" /><Relationship Type="http://schemas.openxmlformats.org/officeDocument/2006/relationships/slide" Target="/ppt/slides/slide1.xml" Id="R1b68a4bcdca9454d" /><Relationship Type="http://schemas.openxmlformats.org/officeDocument/2006/relationships/slide" Target="/ppt/slides/slide2.xml" Id="R1f7b636d268c425f" /><Relationship Type="http://schemas.openxmlformats.org/officeDocument/2006/relationships/slide" Target="/ppt/slides/slide3.xml" Id="R86ec996d21c441a5" /><Relationship Type="http://schemas.openxmlformats.org/officeDocument/2006/relationships/slide" Target="/ppt/slides/slide4.xml" Id="R3760ec4f04c04651" /><Relationship Type="http://schemas.openxmlformats.org/officeDocument/2006/relationships/slide" Target="/ppt/slides/slide5.xml" Id="R3cb2691acb264750" /><Relationship Type="http://schemas.openxmlformats.org/officeDocument/2006/relationships/slide" Target="/ppt/slides/slide6.xml" Id="R2749a6f2513f47af" /><Relationship Type="http://schemas.openxmlformats.org/officeDocument/2006/relationships/slide" Target="/ppt/slides/slide7.xml" Id="R8536fd8142ae45a6" /><Relationship Type="http://schemas.openxmlformats.org/officeDocument/2006/relationships/slide" Target="/ppt/slides/slide8.xml" Id="Refd2dd2c25ba48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c35ab1b9a42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b54f3970b4ea0" /><Relationship Type="http://schemas.openxmlformats.org/officeDocument/2006/relationships/notesMaster" Target="/ppt/notesMasters/notesMaster1.xml" Id="Rd3a37410c248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4a3ca358a24c57" /><Relationship Type="http://schemas.openxmlformats.org/officeDocument/2006/relationships/notesMaster" Target="/ppt/notesMasters/notesMaster1.xml" Id="Rcb0c23549d6248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4d720029de4022" /><Relationship Type="http://schemas.openxmlformats.org/officeDocument/2006/relationships/notesMaster" Target="/ppt/notesMasters/notesMaster1.xml" Id="Re05159360247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f2f725750945cc" /><Relationship Type="http://schemas.openxmlformats.org/officeDocument/2006/relationships/notesMaster" Target="/ppt/notesMasters/notesMaster1.xml" Id="R42adf60893084e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5e5e18a8c14669" /><Relationship Type="http://schemas.openxmlformats.org/officeDocument/2006/relationships/notesMaster" Target="/ppt/notesMasters/notesMaster1.xml" Id="Rd82d5f8c6eb4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c1e86abfef41ea" /><Relationship Type="http://schemas.openxmlformats.org/officeDocument/2006/relationships/notesMaster" Target="/ppt/notesMasters/notesMaster1.xml" Id="Raed5d388286b4b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a1991e90de44ef" /><Relationship Type="http://schemas.openxmlformats.org/officeDocument/2006/relationships/notesMaster" Target="/ppt/notesMasters/notesMaster1.xml" Id="Rc007ecf7792641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d21818ed62491b" /><Relationship Type="http://schemas.openxmlformats.org/officeDocument/2006/relationships/notesMaster" Target="/ppt/notesMasters/notesMaster1.xml" Id="Rc11587ff502e4f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3f7767d3d4d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34c7d156364d64" /><Relationship Type="http://schemas.openxmlformats.org/officeDocument/2006/relationships/slideLayout" Target="/ppt/slideLayouts/slideLayout1.xml" Id="Rfbc46e62057d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c46e62057d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a6e786e954438" /><Relationship Type="http://schemas.openxmlformats.org/officeDocument/2006/relationships/notesSlide" Target="/ppt/notesSlides/notesSlide1.xml" Id="Rcc13adb6e964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827e1ce5041f0" /><Relationship Type="http://schemas.openxmlformats.org/officeDocument/2006/relationships/notesSlide" Target="/ppt/notesSlides/notesSlide2.xml" Id="R4f5405707888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fd72bcbd4cdc" /><Relationship Type="http://schemas.openxmlformats.org/officeDocument/2006/relationships/notesSlide" Target="/ppt/notesSlides/notesSlide3.xml" Id="R37e38b844c1745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160e89a644055" /><Relationship Type="http://schemas.openxmlformats.org/officeDocument/2006/relationships/notesSlide" Target="/ppt/notesSlides/notesSlide4.xml" Id="R489227185ce2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2297a42da4136" /><Relationship Type="http://schemas.openxmlformats.org/officeDocument/2006/relationships/notesSlide" Target="/ppt/notesSlides/notesSlide5.xml" Id="R1dde6df7fc604b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5edf5af9c4e42" /><Relationship Type="http://schemas.openxmlformats.org/officeDocument/2006/relationships/notesSlide" Target="/ppt/notesSlides/notesSlide6.xml" Id="R74d01eb3bbad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b087e6673499a" /><Relationship Type="http://schemas.openxmlformats.org/officeDocument/2006/relationships/notesSlide" Target="/ppt/notesSlides/notesSlide7.xml" Id="R2d0ae25800e5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3e11d42d9484c" /><Relationship Type="http://schemas.openxmlformats.org/officeDocument/2006/relationships/notesSlide" Target="/ppt/notesSlides/notesSlide8.xml" Id="R8e6cdb8d4ee4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A383A66-DAB3-4A44-B644-C33EE50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课题组讨论稿 · 归档试点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A80006-15F3-4BC5-B791-C244278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先让一次实验结果</a:t>
            </a:r>
          </a:p>
          <a:p xmlns:a="http://schemas.openxmlformats.org/drawingml/2006/main">
            <a:pPr algn="l">
              <a:defRPr sz="36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可以被理解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171B0B0-4B3D-4BA7-8F29-13666D6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拟议四周、小范围试点：建立结果、依据与责任边界的可追溯记录</a:t>
            </a:r>
          </a:p>
        </p:txBody>
      </p:sp>
      <p:sp>
        <p:nvSpPr>
          <p:cNvPr id="4" name="cover-side">
            <a:extLst xmlns:a="http://schemas.openxmlformats.org/drawingml/2006/main">
              <a:ext uri="{FF2B5EF4-FFF2-40B4-BE49-F238E27FC236}">
                <a16:creationId xmlns:a16="http://schemas.microsoft.com/office/drawing/2014/main" id="{9DC2E0BC-29B6-48B9-8D01-28E496E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85800"/>
            <a:ext cx="4000500" cy="50292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ide-label">
            <a:extLst xmlns:a="http://schemas.openxmlformats.org/drawingml/2006/main">
              <a:ext uri="{FF2B5EF4-FFF2-40B4-BE49-F238E27FC236}">
                <a16:creationId xmlns:a16="http://schemas.microsoft.com/office/drawing/2014/main" id="{9E445C8B-9E48-4F31-8B8C-9978D24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一次结果要能回答三个问题</a:t>
            </a:r>
          </a:p>
        </p:txBody>
      </p:sp>
      <p:sp>
        <p:nvSpPr>
          <p:cNvPr id="6" name="cover-rel-1">
            <a:extLst xmlns:a="http://schemas.openxmlformats.org/drawingml/2006/main">
              <a:ext uri="{FF2B5EF4-FFF2-40B4-BE49-F238E27FC236}">
                <a16:creationId xmlns:a16="http://schemas.microsoft.com/office/drawing/2014/main" id="{A5F51BD5-A515-47CA-9096-5C15F5A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结果图</a:t>
            </a:r>
          </a:p>
        </p:txBody>
      </p:sp>
      <p:sp>
        <p:nvSpPr>
          <p:cNvPr id="7" name="cover-rel-line1">
            <a:extLst xmlns:a="http://schemas.openxmlformats.org/drawingml/2006/main">
              <a:ext uri="{FF2B5EF4-FFF2-40B4-BE49-F238E27FC236}">
                <a16:creationId xmlns:a16="http://schemas.microsoft.com/office/drawing/2014/main" id="{0516473F-45F9-482F-BEE8-C94C977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860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3B7"/>
            </a:solidFill>
            <a:prstDash val="solid"/>
          </a:ln>
        </p:spPr>
      </p:sp>
      <p:sp>
        <p:nvSpPr>
          <p:cNvPr id="8" name="cover-rel-2">
            <a:extLst xmlns:a="http://schemas.openxmlformats.org/drawingml/2006/main">
              <a:ext uri="{FF2B5EF4-FFF2-40B4-BE49-F238E27FC236}">
                <a16:creationId xmlns:a16="http://schemas.microsoft.com/office/drawing/2014/main" id="{E6B5FA98-CCC3-4CFB-AA3A-13E84E02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依据链</a:t>
            </a:r>
          </a:p>
        </p:txBody>
      </p:sp>
      <p:sp>
        <p:nvSpPr>
          <p:cNvPr id="9" name="cover-rel-line2">
            <a:extLst xmlns:a="http://schemas.openxmlformats.org/drawingml/2006/main">
              <a:ext uri="{FF2B5EF4-FFF2-40B4-BE49-F238E27FC236}">
                <a16:creationId xmlns:a16="http://schemas.microsoft.com/office/drawing/2014/main" id="{B3E701AD-6437-42C5-A85A-552ECDD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9565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3B7"/>
            </a:solidFill>
            <a:prstDash val="solid"/>
          </a:ln>
        </p:spPr>
      </p:sp>
      <p:sp>
        <p:nvSpPr>
          <p:cNvPr id="10" name="cover-rel-3">
            <a:extLst xmlns:a="http://schemas.openxmlformats.org/drawingml/2006/main">
              <a:ext uri="{FF2B5EF4-FFF2-40B4-BE49-F238E27FC236}">
                <a16:creationId xmlns:a16="http://schemas.microsoft.com/office/drawing/2014/main" id="{2FBBC316-5670-4E82-8A8E-F3E63B2E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11" name="cover-note">
            <a:extLst xmlns:a="http://schemas.openxmlformats.org/drawingml/2006/main">
              <a:ext uri="{FF2B5EF4-FFF2-40B4-BE49-F238E27FC236}">
                <a16:creationId xmlns:a16="http://schemas.microsoft.com/office/drawing/2014/main" id="{878D5C9D-8CEA-4BBF-9E04-0538EE8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归档工具只是承载方式</a:t>
            </a:r>
          </a:p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本次试点验证的是三者之间的联系</a:t>
            </a:r>
          </a:p>
        </p:txBody>
      </p:sp>
      <p:sp>
        <p:nvSpPr>
          <p:cNvPr id="1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74C78E93-17EC-47CF-AB55-8F18516C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293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虚构大学场景｜拟议方案，不代表已实施项目或已有成效</a:t>
            </a:r>
          </a:p>
        </p:txBody>
      </p:sp>
      <p:sp>
        <p:nvSpPr>
          <p:cNvPr id="13" name="cover-page">
            <a:extLst xmlns:a="http://schemas.openxmlformats.org/drawingml/2006/main">
              <a:ext uri="{FF2B5EF4-FFF2-40B4-BE49-F238E27FC236}">
                <a16:creationId xmlns:a16="http://schemas.microsoft.com/office/drawing/2014/main" id="{678BDFD7-1415-4C4E-BA84-ED03D5E2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8</a:t>
            </a:r>
          </a:p>
        </p:txBody>
      </p:sp>
    </p:spTree>
    <p:extLst>
      <p:ext uri="{BB962C8B-B14F-4D97-AF65-F5344CB8AC3E}">
        <p14:creationId xmlns:p14="http://schemas.microsoft.com/office/powerpoint/2010/main" val="737654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2">
            <a:extLst xmlns:a="http://schemas.openxmlformats.org/drawingml/2006/main">
              <a:ext uri="{FF2B5EF4-FFF2-40B4-BE49-F238E27FC236}">
                <a16:creationId xmlns:a16="http://schemas.microsoft.com/office/drawing/2014/main" id="{D36B773B-ACCD-44DB-A86C-3F2AF1FB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为什么要归档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534402C-FD97-4436-9583-CA626A2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找到图片，不等于结果可解释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93354701-AF4F-4410-8F86-41BF2D87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课题组经常能找到最终图片，却不能快速说明它来自哪批样本、用了哪版脚本。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96243DFD-5268-4F64-A735-5337DB4F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708A0C69-0024-4A8E-854B-D3A7F88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s2-evidence">
            <a:extLst xmlns:a="http://schemas.openxmlformats.org/drawingml/2006/main">
              <a:ext uri="{FF2B5EF4-FFF2-40B4-BE49-F238E27FC236}">
                <a16:creationId xmlns:a16="http://schemas.microsoft.com/office/drawing/2014/main" id="{9BFBFCE3-ECFD-4C2F-A6B6-B4109C5C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7096125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2-evidence-title">
            <a:extLst xmlns:a="http://schemas.openxmlformats.org/drawingml/2006/main">
              <a:ext uri="{FF2B5EF4-FFF2-40B4-BE49-F238E27FC236}">
                <a16:creationId xmlns:a16="http://schemas.microsoft.com/office/drawing/2014/main" id="{14CDB3BB-C07F-49D4-9FE9-EA578B1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同一张图，缺少的不是文件名</a:t>
            </a:r>
          </a:p>
        </p:txBody>
      </p:sp>
      <p:sp>
        <p:nvSpPr>
          <p:cNvPr id="8" name="s2-image-node">
            <a:extLst xmlns:a="http://schemas.openxmlformats.org/drawingml/2006/main">
              <a:ext uri="{FF2B5EF4-FFF2-40B4-BE49-F238E27FC236}">
                <a16:creationId xmlns:a16="http://schemas.microsoft.com/office/drawing/2014/main" id="{6C7B29A4-ADB7-488A-BCA5-0EC0CFD4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809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2-image-label">
            <a:extLst xmlns:a="http://schemas.openxmlformats.org/drawingml/2006/main">
              <a:ext uri="{FF2B5EF4-FFF2-40B4-BE49-F238E27FC236}">
                <a16:creationId xmlns:a16="http://schemas.microsoft.com/office/drawing/2014/main" id="{4727D70A-5106-4638-BF97-161E24CE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最终图片</a:t>
            </a:r>
          </a:p>
        </p:txBody>
      </p:sp>
      <p:sp>
        <p:nvSpPr>
          <p:cNvPr id="10" name="s2-arrow1">
            <a:extLst xmlns:a="http://schemas.openxmlformats.org/drawingml/2006/main">
              <a:ext uri="{FF2B5EF4-FFF2-40B4-BE49-F238E27FC236}">
                <a16:creationId xmlns:a16="http://schemas.microsoft.com/office/drawing/2014/main" id="{0E7DB0D7-3F82-4A76-A5ED-CF829ACC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73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3B7"/>
            </a:solidFill>
            <a:prstDash val="solid"/>
          </a:ln>
        </p:spPr>
      </p:sp>
      <p:sp>
        <p:nvSpPr>
          <p:cNvPr id="11" name="s2-gap1">
            <a:extLst xmlns:a="http://schemas.openxmlformats.org/drawingml/2006/main">
              <a:ext uri="{FF2B5EF4-FFF2-40B4-BE49-F238E27FC236}">
                <a16:creationId xmlns:a16="http://schemas.microsoft.com/office/drawing/2014/main" id="{86BDEA1F-0812-469C-9717-7572BFD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857500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2" name="s2-gap-title">
            <a:extLst xmlns:a="http://schemas.openxmlformats.org/drawingml/2006/main">
              <a:ext uri="{FF2B5EF4-FFF2-40B4-BE49-F238E27FC236}">
                <a16:creationId xmlns:a16="http://schemas.microsoft.com/office/drawing/2014/main" id="{882650E9-3340-4DB9-878F-3CAD2E98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43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解释链断在这里</a:t>
            </a:r>
          </a:p>
        </p:txBody>
      </p:sp>
      <p:sp>
        <p:nvSpPr>
          <p:cNvPr id="13" name="s2-gap-sample-bar">
            <a:extLst xmlns:a="http://schemas.openxmlformats.org/drawingml/2006/main">
              <a:ext uri="{FF2B5EF4-FFF2-40B4-BE49-F238E27FC236}">
                <a16:creationId xmlns:a16="http://schemas.microsoft.com/office/drawing/2014/main" id="{AAD47A8C-2535-4F97-8A97-7596270E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527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-gap-sample-lead">
            <a:extLst xmlns:a="http://schemas.openxmlformats.org/drawingml/2006/main">
              <a:ext uri="{FF2B5EF4-FFF2-40B4-BE49-F238E27FC236}">
                <a16:creationId xmlns:a16="http://schemas.microsoft.com/office/drawing/2014/main" id="{90B60D94-4683-4A05-86EE-CC1CAF2B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样本批次</a:t>
            </a:r>
          </a:p>
        </p:txBody>
      </p:sp>
      <p:sp>
        <p:nvSpPr>
          <p:cNvPr id="15" name="s2-gap-sample-body">
            <a:extLst xmlns:a="http://schemas.openxmlformats.org/drawingml/2006/main">
              <a:ext uri="{FF2B5EF4-FFF2-40B4-BE49-F238E27FC236}">
                <a16:creationId xmlns:a16="http://schemas.microsoft.com/office/drawing/2014/main" id="{ABBB7A83-D758-4F91-B853-5C551AE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528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无法快速确认这张图对应哪批数据</a:t>
            </a:r>
          </a:p>
        </p:txBody>
      </p:sp>
      <p:sp>
        <p:nvSpPr>
          <p:cNvPr id="16" name="s2-gap-script-bar">
            <a:extLst xmlns:a="http://schemas.openxmlformats.org/drawingml/2006/main">
              <a:ext uri="{FF2B5EF4-FFF2-40B4-BE49-F238E27FC236}">
                <a16:creationId xmlns:a16="http://schemas.microsoft.com/office/drawing/2014/main" id="{1E0FA7AD-4E7C-4783-9C30-9442B71E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9572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gap-script-lead">
            <a:extLst xmlns:a="http://schemas.openxmlformats.org/drawingml/2006/main">
              <a:ext uri="{FF2B5EF4-FFF2-40B4-BE49-F238E27FC236}">
                <a16:creationId xmlns:a16="http://schemas.microsoft.com/office/drawing/2014/main" id="{3F462FBC-07E3-4650-8E48-96F81DB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18" name="s2-gap-script-body">
            <a:extLst xmlns:a="http://schemas.openxmlformats.org/drawingml/2006/main">
              <a:ext uri="{FF2B5EF4-FFF2-40B4-BE49-F238E27FC236}">
                <a16:creationId xmlns:a16="http://schemas.microsoft.com/office/drawing/2014/main" id="{10F4197D-E063-401D-BE40-A532C05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无法定位实际运行的处理代码</a:t>
            </a:r>
          </a:p>
        </p:txBody>
      </p:sp>
      <p:sp>
        <p:nvSpPr>
          <p:cNvPr id="19" name="s2-gap-exclude-bar">
            <a:extLst xmlns:a="http://schemas.openxmlformats.org/drawingml/2006/main">
              <a:ext uri="{FF2B5EF4-FFF2-40B4-BE49-F238E27FC236}">
                <a16:creationId xmlns:a16="http://schemas.microsoft.com/office/drawing/2014/main" id="{28D8ACB6-2305-473B-BB28-4C3F5579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386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2-gap-exclude-lead">
            <a:extLst xmlns:a="http://schemas.openxmlformats.org/drawingml/2006/main">
              <a:ext uri="{FF2B5EF4-FFF2-40B4-BE49-F238E27FC236}">
                <a16:creationId xmlns:a16="http://schemas.microsoft.com/office/drawing/2014/main" id="{B30A654B-58F3-4D89-B027-8C080D0D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排除依据</a:t>
            </a:r>
          </a:p>
        </p:txBody>
      </p:sp>
      <p:sp>
        <p:nvSpPr>
          <p:cNvPr id="21" name="s2-gap-exclude-body">
            <a:extLst xmlns:a="http://schemas.openxmlformats.org/drawingml/2006/main">
              <a:ext uri="{FF2B5EF4-FFF2-40B4-BE49-F238E27FC236}">
                <a16:creationId xmlns:a16="http://schemas.microsoft.com/office/drawing/2014/main" id="{6D14FBE6-AC1F-43E0-BA81-5ABD65C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387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只剩“已清理”，判断过程不可见</a:t>
            </a:r>
          </a:p>
        </p:txBody>
      </p:sp>
      <p:sp>
        <p:nvSpPr>
          <p:cNvPr id="22" name="s2-meaning">
            <a:extLst xmlns:a="http://schemas.openxmlformats.org/drawingml/2006/main">
              <a:ext uri="{FF2B5EF4-FFF2-40B4-BE49-F238E27FC236}">
                <a16:creationId xmlns:a16="http://schemas.microsoft.com/office/drawing/2014/main" id="{653B287A-104A-4C94-AE55-45A16E58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文件存在  ≠  结果可以解释</a:t>
            </a:r>
          </a:p>
        </p:txBody>
      </p:sp>
      <p:sp>
        <p:nvSpPr>
          <p:cNvPr id="23" name="s2-decision">
            <a:extLst xmlns:a="http://schemas.openxmlformats.org/drawingml/2006/main">
              <a:ext uri="{FF2B5EF4-FFF2-40B4-BE49-F238E27FC236}">
                <a16:creationId xmlns:a16="http://schemas.microsoft.com/office/drawing/2014/main" id="{2CA7EFB7-A3D1-48F9-8EFB-E7196CA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629025" cy="4095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2-decision-title">
            <a:extLst xmlns:a="http://schemas.openxmlformats.org/drawingml/2006/main">
              <a:ext uri="{FF2B5EF4-FFF2-40B4-BE49-F238E27FC236}">
                <a16:creationId xmlns:a16="http://schemas.microsoft.com/office/drawing/2014/main" id="{55213EEC-13BB-4190-B0C2-33E43E51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本次讨论的判断</a:t>
            </a:r>
          </a:p>
        </p:txBody>
      </p:sp>
      <p:sp>
        <p:nvSpPr>
          <p:cNvPr id="25" name="s2-decision-body">
            <a:extLst xmlns:a="http://schemas.openxmlformats.org/drawingml/2006/main">
              <a:ext uri="{FF2B5EF4-FFF2-40B4-BE49-F238E27FC236}">
                <a16:creationId xmlns:a16="http://schemas.microsoft.com/office/drawing/2014/main" id="{1E2AA164-D192-4933-A64E-D4267299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归档首先要保存“结果—依据”的关系，随后才讨论扩大共享范围。</a:t>
            </a:r>
          </a:p>
        </p:txBody>
      </p:sp>
      <p:sp>
        <p:nvSpPr>
          <p:cNvPr id="26" name="s2-decision-rule">
            <a:extLst xmlns:a="http://schemas.openxmlformats.org/drawingml/2006/main">
              <a:ext uri="{FF2B5EF4-FFF2-40B4-BE49-F238E27FC236}">
                <a16:creationId xmlns:a16="http://schemas.microsoft.com/office/drawing/2014/main" id="{78D80320-8407-43CA-8C1D-E8083CE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7D0"/>
            </a:solidFill>
            <a:prstDash val="solid"/>
          </a:ln>
        </p:spPr>
      </p:sp>
      <p:sp>
        <p:nvSpPr>
          <p:cNvPr id="27" name="s2-decision-note">
            <a:extLst xmlns:a="http://schemas.openxmlformats.org/drawingml/2006/main">
              <a:ext uri="{FF2B5EF4-FFF2-40B4-BE49-F238E27FC236}">
                <a16:creationId xmlns:a16="http://schemas.microsoft.com/office/drawing/2014/main" id="{C0390A82-BA84-4029-9551-4060FA40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同名文件和个人目录让重复检索变难，</a:t>
            </a:r>
          </a:p>
          <a:p xmlns:a="http://schemas.openxmlformats.org/drawingml/2006/main">
            <a:pPr algn="l">
              <a:defRPr sz="1350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但问题的核心是上下文与责任边界缺失。</a:t>
            </a:r>
          </a:p>
        </p:txBody>
      </p:sp>
      <p:sp>
        <p:nvSpPr>
          <p:cNvPr id="2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5524D5C-FD91-4A4F-93C1-C7019B09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9" name="footer-2">
            <a:extLst xmlns:a="http://schemas.openxmlformats.org/drawingml/2006/main">
              <a:ext uri="{FF2B5EF4-FFF2-40B4-BE49-F238E27FC236}">
                <a16:creationId xmlns:a16="http://schemas.microsoft.com/office/drawing/2014/main" id="{F3B0237C-0920-4729-9D81-5762627C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归档试点讨论稿｜虚构大学场景</a:t>
            </a:r>
          </a:p>
        </p:txBody>
      </p:sp>
      <p:sp>
        <p:nvSpPr>
          <p:cNvPr id="3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0082C5D7-A00F-4706-A5E9-B68A9772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703189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3">
            <a:extLst xmlns:a="http://schemas.openxmlformats.org/drawingml/2006/main">
              <a:ext uri="{FF2B5EF4-FFF2-40B4-BE49-F238E27FC236}">
                <a16:creationId xmlns:a16="http://schemas.microsoft.com/office/drawing/2014/main" id="{91390994-DCEE-41A6-94A1-77DD0F5C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9ED43C8-DE04-4B51-8847-8E32602B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一次可讨论结果，必须保留一条依据链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371F2FD1-BDEB-4EE8-8C47-BD70BB1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五项内容共同解释一个结果；它们是同一记录单元，不是必须依次执行的五个步骤。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A3F74204-0329-4F13-BE06-839F629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4AA7F4E6-E4C5-4A3D-B8E3-2E7C9291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3-main">
            <a:extLst xmlns:a="http://schemas.openxmlformats.org/drawingml/2006/main">
              <a:ext uri="{FF2B5EF4-FFF2-40B4-BE49-F238E27FC236}">
                <a16:creationId xmlns:a16="http://schemas.microsoft.com/office/drawing/2014/main" id="{1BA4A87C-DC56-4663-8029-8638A0D0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1442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main-title">
            <a:extLst xmlns:a="http://schemas.openxmlformats.org/drawingml/2006/main">
              <a:ext uri="{FF2B5EF4-FFF2-40B4-BE49-F238E27FC236}">
                <a16:creationId xmlns:a16="http://schemas.microsoft.com/office/drawing/2014/main" id="{50133229-E2E7-44EB-8350-389584B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8" name="s3-center">
            <a:extLst xmlns:a="http://schemas.openxmlformats.org/drawingml/2006/main">
              <a:ext uri="{FF2B5EF4-FFF2-40B4-BE49-F238E27FC236}">
                <a16:creationId xmlns:a16="http://schemas.microsoft.com/office/drawing/2014/main" id="{ECC3231D-5DDC-4369-B8A4-4BD14432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28600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3-data">
            <a:extLst xmlns:a="http://schemas.openxmlformats.org/drawingml/2006/main">
              <a:ext uri="{FF2B5EF4-FFF2-40B4-BE49-F238E27FC236}">
                <a16:creationId xmlns:a16="http://schemas.microsoft.com/office/drawing/2014/main" id="{54DF3169-3E2D-4C80-A5CD-47B8FC9B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2415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10" name="s3-data-label">
            <a:extLst xmlns:a="http://schemas.openxmlformats.org/drawingml/2006/main">
              <a:ext uri="{FF2B5EF4-FFF2-40B4-BE49-F238E27FC236}">
                <a16:creationId xmlns:a16="http://schemas.microsoft.com/office/drawing/2014/main" id="{B39B28C8-2ACA-41E4-A4BC-33ADBF03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194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90875" y="3067050"/>
            <a:ext cx="17621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93B7"/>
            </a:solidFill>
            <a:prstDash val="solid"/>
          </a:ln>
        </p:spPr>
      </p:cxnSp>
      <p:sp>
        <p:nvSpPr>
          <p:cNvPr id="12" name="s3-sample">
            <a:extLst xmlns:a="http://schemas.openxmlformats.org/drawingml/2006/main">
              <a:ext uri="{FF2B5EF4-FFF2-40B4-BE49-F238E27FC236}">
                <a16:creationId xmlns:a16="http://schemas.microsoft.com/office/drawing/2014/main" id="{354EC981-7B08-46A9-9125-6306A7F2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13" name="s3-sample-label">
            <a:extLst xmlns:a="http://schemas.openxmlformats.org/drawingml/2006/main">
              <a:ext uri="{FF2B5EF4-FFF2-40B4-BE49-F238E27FC236}">
                <a16:creationId xmlns:a16="http://schemas.microsoft.com/office/drawing/2014/main" id="{E4C02555-B9C6-48E0-863F-1B35C24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336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cxnSp>
        <p:nvCxnSpPr>
          <p:cNvPr id="42" name=""/>
          <p:cNvCxnSpPr>
            <a:stCxn xmlns:a="http://schemas.openxmlformats.org/drawingml/2006/main" id="1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4953000" y="2381250"/>
            <a:ext cx="666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93B7"/>
            </a:solidFill>
            <a:prstDash val="solid"/>
          </a:ln>
        </p:spPr>
      </p:cxnSp>
      <p:sp>
        <p:nvSpPr>
          <p:cNvPr id="15" name="s3-script">
            <a:extLst xmlns:a="http://schemas.openxmlformats.org/drawingml/2006/main">
              <a:ext uri="{FF2B5EF4-FFF2-40B4-BE49-F238E27FC236}">
                <a16:creationId xmlns:a16="http://schemas.microsoft.com/office/drawing/2014/main" id="{72C2A705-F823-4BE6-9C7F-5E863FAF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16" name="s3-script-label">
            <a:extLst xmlns:a="http://schemas.openxmlformats.org/drawingml/2006/main">
              <a:ext uri="{FF2B5EF4-FFF2-40B4-BE49-F238E27FC236}">
                <a16:creationId xmlns:a16="http://schemas.microsoft.com/office/drawing/2014/main" id="{46304DAD-7375-45DF-A2BC-2FEA367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cxnSp>
        <p:nvCxnSpPr>
          <p:cNvPr id="45" name=""/>
          <p:cNvCxnSpPr>
            <a:stCxn xmlns:a="http://schemas.openxmlformats.org/drawingml/2006/main" id="1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6858000" y="2381250"/>
            <a:ext cx="38100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93B7"/>
            </a:solidFill>
            <a:prstDash val="solid"/>
          </a:ln>
        </p:spPr>
      </p:cxnSp>
      <p:sp>
        <p:nvSpPr>
          <p:cNvPr id="18" name="s3-result">
            <a:extLst xmlns:a="http://schemas.openxmlformats.org/drawingml/2006/main">
              <a:ext uri="{FF2B5EF4-FFF2-40B4-BE49-F238E27FC236}">
                <a16:creationId xmlns:a16="http://schemas.microsoft.com/office/drawing/2014/main" id="{DE26AC7F-544C-4D70-B40E-D99AC2AE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19" name="s3-result-label">
            <a:extLst xmlns:a="http://schemas.openxmlformats.org/drawingml/2006/main">
              <a:ext uri="{FF2B5EF4-FFF2-40B4-BE49-F238E27FC236}">
                <a16:creationId xmlns:a16="http://schemas.microsoft.com/office/drawing/2014/main" id="{269F5E4C-4419-4189-8339-F032E2D1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cxnSp>
        <p:nvCxnSpPr>
          <p:cNvPr id="48" name=""/>
          <p:cNvCxnSpPr>
            <a:stCxn xmlns:a="http://schemas.openxmlformats.org/drawingml/2006/main" id="18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7239000" y="3667125"/>
            <a:ext cx="161925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93B7"/>
            </a:solidFill>
            <a:prstDash val="solid"/>
          </a:ln>
        </p:spPr>
      </p:cxnSp>
      <p:sp>
        <p:nvSpPr>
          <p:cNvPr id="21" name="s3-exception">
            <a:extLst xmlns:a="http://schemas.openxmlformats.org/drawingml/2006/main">
              <a:ext uri="{FF2B5EF4-FFF2-40B4-BE49-F238E27FC236}">
                <a16:creationId xmlns:a16="http://schemas.microsoft.com/office/drawing/2014/main" id="{3AE7CB3B-2EFF-4932-A996-86CDA4E1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22" name="s3-exception-label">
            <a:extLst xmlns:a="http://schemas.openxmlformats.org/drawingml/2006/main">
              <a:ext uri="{FF2B5EF4-FFF2-40B4-BE49-F238E27FC236}">
                <a16:creationId xmlns:a16="http://schemas.microsoft.com/office/drawing/2014/main" id="{D5869D18-07D8-4ED7-AEFB-06A23BB1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720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cxnSp>
        <p:nvCxnSpPr>
          <p:cNvPr id="51" name=""/>
          <p:cNvCxnSpPr>
            <a:stCxn xmlns:a="http://schemas.openxmlformats.org/drawingml/2006/main" id="2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476750" y="3667125"/>
            <a:ext cx="47625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93B7"/>
            </a:solidFill>
            <a:prstDash val="solid"/>
          </a:ln>
        </p:spPr>
      </p:cxnSp>
      <p:sp>
        <p:nvSpPr>
          <p:cNvPr id="24" name="s3-center-label">
            <a:extLst xmlns:a="http://schemas.openxmlformats.org/drawingml/2006/main">
              <a:ext uri="{FF2B5EF4-FFF2-40B4-BE49-F238E27FC236}">
                <a16:creationId xmlns:a16="http://schemas.microsoft.com/office/drawing/2014/main" id="{56B31A57-3056-4444-9ED7-E8A17CAC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可讨论的</a:t>
            </a:r>
          </a:p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25" name="s3-note">
            <a:extLst xmlns:a="http://schemas.openxmlformats.org/drawingml/2006/main">
              <a:ext uri="{FF2B5EF4-FFF2-40B4-BE49-F238E27FC236}">
                <a16:creationId xmlns:a16="http://schemas.microsoft.com/office/drawing/2014/main" id="{8EBC0133-537A-4EE4-854C-66550247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原始数据保持原貌；清洗与处理另存。</a:t>
            </a:r>
          </a:p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异常说明保留判断依据；未纳入结果的样本也要解释排除条件。</a:t>
            </a:r>
          </a:p>
        </p:txBody>
      </p:sp>
      <p:sp>
        <p:nvSpPr>
          <p:cNvPr id="2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7A81D029-7A45-4766-BA71-D616EDDA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7" name="footer-3">
            <a:extLst xmlns:a="http://schemas.openxmlformats.org/drawingml/2006/main">
              <a:ext uri="{FF2B5EF4-FFF2-40B4-BE49-F238E27FC236}">
                <a16:creationId xmlns:a16="http://schemas.microsoft.com/office/drawing/2014/main" id="{679665D7-7EB9-4C5A-98E7-439066CD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归档试点讨论稿｜虚构大学场景</a:t>
            </a:r>
          </a:p>
        </p:txBody>
      </p:sp>
      <p:sp>
        <p:nvSpPr>
          <p:cNvPr id="2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08712A4-FF93-4B10-975B-5924E68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69797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4">
            <a:extLst xmlns:a="http://schemas.openxmlformats.org/drawingml/2006/main">
              <a:ext uri="{FF2B5EF4-FFF2-40B4-BE49-F238E27FC236}">
                <a16:creationId xmlns:a16="http://schemas.microsoft.com/office/drawing/2014/main" id="{DA645C25-8BA3-4CD8-9CB2-AA3F21D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授权边界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AE18F96-010A-4571-AE27-0C2B659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归档保存关系，也必须保留授权边界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A84AA4C0-9A5B-4500-8FAD-DBE46DE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记录中出现一个路径，不代表其他成员已经取得文件访问权。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C7D6C8EC-2E52-4102-81E3-FC7F369E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F859703-F701-42F2-A169-0B468F14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4-left">
            <a:extLst xmlns:a="http://schemas.openxmlformats.org/drawingml/2006/main">
              <a:ext uri="{FF2B5EF4-FFF2-40B4-BE49-F238E27FC236}">
                <a16:creationId xmlns:a16="http://schemas.microsoft.com/office/drawing/2014/main" id="{86D168B6-FF0B-4976-9BB9-A76BE32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523875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right">
            <a:extLst xmlns:a="http://schemas.openxmlformats.org/drawingml/2006/main">
              <a:ext uri="{FF2B5EF4-FFF2-40B4-BE49-F238E27FC236}">
                <a16:creationId xmlns:a16="http://schemas.microsoft.com/office/drawing/2014/main" id="{47024058-0212-4C82-BC82-0321B7E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23875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F6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F06DEF62-E681-4D73-871F-DC35860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讨论材料可以包含</a:t>
            </a:r>
          </a:p>
        </p:txBody>
      </p:sp>
      <p:sp>
        <p:nvSpPr>
          <p:cNvPr id="9" name="s4-left-main">
            <a:extLst xmlns:a="http://schemas.openxmlformats.org/drawingml/2006/main">
              <a:ext uri="{FF2B5EF4-FFF2-40B4-BE49-F238E27FC236}">
                <a16:creationId xmlns:a16="http://schemas.microsoft.com/office/drawing/2014/main" id="{ACD6B6AF-27F5-40D9-BD86-4D2388E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结果图  +  可公开的解释</a:t>
            </a:r>
          </a:p>
        </p:txBody>
      </p:sp>
      <p:sp>
        <p:nvSpPr>
          <p:cNvPr id="10" name="s4-left-b1-bar">
            <a:extLst xmlns:a="http://schemas.openxmlformats.org/drawingml/2006/main">
              <a:ext uri="{FF2B5EF4-FFF2-40B4-BE49-F238E27FC236}">
                <a16:creationId xmlns:a16="http://schemas.microsoft.com/office/drawing/2014/main" id="{6726E2FF-C63A-417F-A928-2BCE3DE0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left-b1-lead">
            <a:extLst xmlns:a="http://schemas.openxmlformats.org/drawingml/2006/main">
              <a:ext uri="{FF2B5EF4-FFF2-40B4-BE49-F238E27FC236}">
                <a16:creationId xmlns:a16="http://schemas.microsoft.com/office/drawing/2014/main" id="{9A653C85-BD5E-40E3-8285-C97C450A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</a:t>
            </a:r>
          </a:p>
        </p:txBody>
      </p:sp>
      <p:sp>
        <p:nvSpPr>
          <p:cNvPr id="12" name="s4-left-b1-body">
            <a:extLst xmlns:a="http://schemas.openxmlformats.org/drawingml/2006/main">
              <a:ext uri="{FF2B5EF4-FFF2-40B4-BE49-F238E27FC236}">
                <a16:creationId xmlns:a16="http://schemas.microsoft.com/office/drawing/2014/main" id="{E83FE3FB-8E5C-457A-8C4F-E2575D5D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让成员先看到要复核的结果</a:t>
            </a:r>
          </a:p>
        </p:txBody>
      </p:sp>
      <p:sp>
        <p:nvSpPr>
          <p:cNvPr id="13" name="s4-left-b2-bar">
            <a:extLst xmlns:a="http://schemas.openxmlformats.org/drawingml/2006/main">
              <a:ext uri="{FF2B5EF4-FFF2-40B4-BE49-F238E27FC236}">
                <a16:creationId xmlns:a16="http://schemas.microsoft.com/office/drawing/2014/main" id="{6378832D-B377-4993-B232-580A0B6F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left-b2-lead">
            <a:extLst xmlns:a="http://schemas.openxmlformats.org/drawingml/2006/main">
              <a:ext uri="{FF2B5EF4-FFF2-40B4-BE49-F238E27FC236}">
                <a16:creationId xmlns:a16="http://schemas.microsoft.com/office/drawing/2014/main" id="{5155FC78-D694-449F-BB46-CE118AF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5" name="s4-left-b2-body">
            <a:extLst xmlns:a="http://schemas.openxmlformats.org/drawingml/2006/main">
              <a:ext uri="{FF2B5EF4-FFF2-40B4-BE49-F238E27FC236}">
                <a16:creationId xmlns:a16="http://schemas.microsoft.com/office/drawing/2014/main" id="{01E4BD38-A1CC-4364-89BC-4FD851D1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只指向受限原始数据的授权位置</a:t>
            </a:r>
          </a:p>
        </p:txBody>
      </p:sp>
      <p:sp>
        <p:nvSpPr>
          <p:cNvPr id="16" name="s4-right-title">
            <a:extLst xmlns:a="http://schemas.openxmlformats.org/drawingml/2006/main">
              <a:ext uri="{FF2B5EF4-FFF2-40B4-BE49-F238E27FC236}">
                <a16:creationId xmlns:a16="http://schemas.microsoft.com/office/drawing/2014/main" id="{FDF51576-CAC2-4B9D-8109-2F8D4B9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rPr>
              <a:t>受限材料仍按原授权管理</a:t>
            </a:r>
          </a:p>
        </p:txBody>
      </p:sp>
      <p:sp>
        <p:nvSpPr>
          <p:cNvPr id="17" name="s4-right-main">
            <a:extLst xmlns:a="http://schemas.openxmlformats.org/drawingml/2006/main">
              <a:ext uri="{FF2B5EF4-FFF2-40B4-BE49-F238E27FC236}">
                <a16:creationId xmlns:a16="http://schemas.microsoft.com/office/drawing/2014/main" id="{2844788A-5B24-496D-90F0-3C1656B1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rPr>
              <a:t>个人信息或合作限制</a:t>
            </a:r>
          </a:p>
          <a:p xmlns:a="http://schemas.openxmlformats.org/drawingml/2006/main">
            <a:pPr algn="l">
              <a:defRPr sz="210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rPr>
              <a:t>不会因归档而改变</a:t>
            </a:r>
          </a:p>
        </p:txBody>
      </p:sp>
      <p:sp>
        <p:nvSpPr>
          <p:cNvPr id="18" name="s4-right-b1-bar">
            <a:extLst xmlns:a="http://schemas.openxmlformats.org/drawingml/2006/main">
              <a:ext uri="{FF2B5EF4-FFF2-40B4-BE49-F238E27FC236}">
                <a16:creationId xmlns:a16="http://schemas.microsoft.com/office/drawing/2014/main" id="{FEADF3E7-E368-4ABD-9717-ECCF7A0F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90975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E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4-right-b1-lead">
            <a:extLst xmlns:a="http://schemas.openxmlformats.org/drawingml/2006/main">
              <a:ext uri="{FF2B5EF4-FFF2-40B4-BE49-F238E27FC236}">
                <a16:creationId xmlns:a16="http://schemas.microsoft.com/office/drawing/2014/main" id="{D110CE95-6C45-4BB5-8C99-F594440A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20" name="s4-right-b1-body">
            <a:extLst xmlns:a="http://schemas.openxmlformats.org/drawingml/2006/main">
              <a:ext uri="{FF2B5EF4-FFF2-40B4-BE49-F238E27FC236}">
                <a16:creationId xmlns:a16="http://schemas.microsoft.com/office/drawing/2014/main" id="{A8C8F350-2203-4527-85DA-2DBB04F8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继续放在原授权位置</a:t>
            </a:r>
          </a:p>
        </p:txBody>
      </p:sp>
      <p:sp>
        <p:nvSpPr>
          <p:cNvPr id="21" name="s4-right-b2-bar">
            <a:extLst xmlns:a="http://schemas.openxmlformats.org/drawingml/2006/main">
              <a:ext uri="{FF2B5EF4-FFF2-40B4-BE49-F238E27FC236}">
                <a16:creationId xmlns:a16="http://schemas.microsoft.com/office/drawing/2014/main" id="{CD767EA3-E49C-44E0-8212-948084F2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E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right-b2-lead">
            <a:extLst xmlns:a="http://schemas.openxmlformats.org/drawingml/2006/main">
              <a:ext uri="{FF2B5EF4-FFF2-40B4-BE49-F238E27FC236}">
                <a16:creationId xmlns:a16="http://schemas.microsoft.com/office/drawing/2014/main" id="{C15BF21C-4E52-44B7-9F7D-75A3D56E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101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访问条件</a:t>
            </a:r>
          </a:p>
        </p:txBody>
      </p:sp>
      <p:sp>
        <p:nvSpPr>
          <p:cNvPr id="23" name="s4-right-b2-body">
            <a:extLst xmlns:a="http://schemas.openxmlformats.org/drawingml/2006/main">
              <a:ext uri="{FF2B5EF4-FFF2-40B4-BE49-F238E27FC236}">
                <a16:creationId xmlns:a16="http://schemas.microsoft.com/office/drawing/2014/main" id="{828C6D4A-1AD6-4848-A828-351D39F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在记录中写明受控条件，而非开放文件</a:t>
            </a:r>
          </a:p>
        </p:txBody>
      </p:sp>
      <p:sp>
        <p:nvSpPr>
          <p:cNvPr id="24" name="s4-bottom">
            <a:extLst xmlns:a="http://schemas.openxmlformats.org/drawingml/2006/main">
              <a:ext uri="{FF2B5EF4-FFF2-40B4-BE49-F238E27FC236}">
                <a16:creationId xmlns:a16="http://schemas.microsoft.com/office/drawing/2014/main" id="{B309A0BD-7E82-4F7B-AA5B-51FEDBF7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15000"/>
            <a:ext cx="822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bottom-label">
            <a:extLst xmlns:a="http://schemas.openxmlformats.org/drawingml/2006/main">
              <a:ext uri="{FF2B5EF4-FFF2-40B4-BE49-F238E27FC236}">
                <a16:creationId xmlns:a16="http://schemas.microsoft.com/office/drawing/2014/main" id="{7DA88B07-A951-427A-B805-29A87A5C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91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 ≠ 访问权　｜　共享前先确认授权</a:t>
            </a:r>
          </a:p>
        </p:txBody>
      </p:sp>
      <p:sp>
        <p:nvSpPr>
          <p:cNvPr id="2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8A0E2D6-E7C5-4C64-9B4C-D4F4AF64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25C53236-2A9A-46EE-8C2B-615B34D4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归档试点讨论稿｜虚构大学场景</a:t>
            </a:r>
          </a:p>
        </p:txBody>
      </p:sp>
      <p:sp>
        <p:nvSpPr>
          <p:cNvPr id="28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8F32A96-EF63-447A-AD84-1B85408F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910461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5">
            <a:extLst xmlns:a="http://schemas.openxmlformats.org/drawingml/2006/main">
              <a:ext uri="{FF2B5EF4-FFF2-40B4-BE49-F238E27FC236}">
                <a16:creationId xmlns:a16="http://schemas.microsoft.com/office/drawing/2014/main" id="{E28FAE08-D758-4D70-8FDD-1105DA2E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范围选择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A939A9E-920E-4D5E-A076-A1236552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试点先从新增实验开始，历史材料逐项补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1BD84430-40B3-4B22-A4F7-62E0426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两种推进思路各有边界；建议先选择可掌握的新增实验范围。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75EE9EF1-964D-4978-8ED2-DC55FFBE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F6310763-C1D5-4E92-9899-B879072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s5-left">
            <a:extLst xmlns:a="http://schemas.openxmlformats.org/drawingml/2006/main">
              <a:ext uri="{FF2B5EF4-FFF2-40B4-BE49-F238E27FC236}">
                <a16:creationId xmlns:a16="http://schemas.microsoft.com/office/drawing/2014/main" id="{2EDF9B9E-050E-4FCA-9B5F-7F535D77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5143500" cy="33718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right">
            <a:extLst xmlns:a="http://schemas.openxmlformats.org/drawingml/2006/main">
              <a:ext uri="{FF2B5EF4-FFF2-40B4-BE49-F238E27FC236}">
                <a16:creationId xmlns:a16="http://schemas.microsoft.com/office/drawing/2014/main" id="{ED67A918-B125-44C4-8E92-8C00791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5143500" cy="33718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A9EA1C14-66FA-4D69-9234-E3E1BC1C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9" name="s5-left-tag">
            <a:extLst xmlns:a="http://schemas.openxmlformats.org/drawingml/2006/main">
              <a:ext uri="{FF2B5EF4-FFF2-40B4-BE49-F238E27FC236}">
                <a16:creationId xmlns:a16="http://schemas.microsoft.com/office/drawing/2014/main" id="{FCB508A7-DD1C-4270-8574-C1A74083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目录较快变大</a:t>
            </a:r>
          </a:p>
        </p:txBody>
      </p:sp>
      <p:sp>
        <p:nvSpPr>
          <p:cNvPr id="10" name="s5-left-b1-bar">
            <a:extLst xmlns:a="http://schemas.openxmlformats.org/drawingml/2006/main">
              <a:ext uri="{FF2B5EF4-FFF2-40B4-BE49-F238E27FC236}">
                <a16:creationId xmlns:a16="http://schemas.microsoft.com/office/drawing/2014/main" id="{DD881E60-2563-4342-B804-58080AD1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left-b1-lead">
            <a:extLst xmlns:a="http://schemas.openxmlformats.org/drawingml/2006/main">
              <a:ext uri="{FF2B5EF4-FFF2-40B4-BE49-F238E27FC236}">
                <a16:creationId xmlns:a16="http://schemas.microsoft.com/office/drawing/2014/main" id="{A0954F6C-61C9-403A-A8C6-CB3FDC04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12" name="s5-left-b1-body">
            <a:extLst xmlns:a="http://schemas.openxmlformats.org/drawingml/2006/main">
              <a:ext uri="{FF2B5EF4-FFF2-40B4-BE49-F238E27FC236}">
                <a16:creationId xmlns:a16="http://schemas.microsoft.com/office/drawing/2014/main" id="{48334724-C8C6-49B4-AAF7-6CEE121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追查遗失上下文可能耗费大量时间</a:t>
            </a:r>
          </a:p>
        </p:txBody>
      </p:sp>
      <p:sp>
        <p:nvSpPr>
          <p:cNvPr id="13" name="s5-left-b2-bar">
            <a:extLst xmlns:a="http://schemas.openxmlformats.org/drawingml/2006/main">
              <a:ext uri="{FF2B5EF4-FFF2-40B4-BE49-F238E27FC236}">
                <a16:creationId xmlns:a16="http://schemas.microsoft.com/office/drawing/2014/main" id="{59A8B5B0-A819-4E0F-A080-9F857C09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left-b2-lead">
            <a:extLst xmlns:a="http://schemas.openxmlformats.org/drawingml/2006/main">
              <a:ext uri="{FF2B5EF4-FFF2-40B4-BE49-F238E27FC236}">
                <a16:creationId xmlns:a16="http://schemas.microsoft.com/office/drawing/2014/main" id="{998E37C8-B6F5-48BB-BDE1-4D1D4D6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5" name="s5-left-b2-body">
            <a:extLst xmlns:a="http://schemas.openxmlformats.org/drawingml/2006/main">
              <a:ext uri="{FF2B5EF4-FFF2-40B4-BE49-F238E27FC236}">
                <a16:creationId xmlns:a16="http://schemas.microsoft.com/office/drawing/2014/main" id="{DF795F64-6D72-4403-BE28-E48CF7FE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不确定记忆可能被写成确定说明</a:t>
            </a:r>
          </a:p>
        </p:txBody>
      </p:sp>
      <p:sp>
        <p:nvSpPr>
          <p:cNvPr id="16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BA449020-4D15-46D1-A5CF-D563DE7C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先记录新增实验</a:t>
            </a:r>
          </a:p>
        </p:txBody>
      </p:sp>
      <p:sp>
        <p:nvSpPr>
          <p:cNvPr id="17" name="s5-right-tag">
            <a:extLst xmlns:a="http://schemas.openxmlformats.org/drawingml/2006/main">
              <a:ext uri="{FF2B5EF4-FFF2-40B4-BE49-F238E27FC236}">
                <a16:creationId xmlns:a16="http://schemas.microsoft.com/office/drawing/2014/main" id="{6A04364F-371F-4031-A2E3-F712573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上下文尚清楚</a:t>
            </a:r>
          </a:p>
        </p:txBody>
      </p:sp>
      <p:sp>
        <p:nvSpPr>
          <p:cNvPr id="18" name="s5-right-b1-bar">
            <a:extLst xmlns:a="http://schemas.openxmlformats.org/drawingml/2006/main">
              <a:ext uri="{FF2B5EF4-FFF2-40B4-BE49-F238E27FC236}">
                <a16:creationId xmlns:a16="http://schemas.microsoft.com/office/drawing/2014/main" id="{D3D27CA7-227B-49C8-A3E4-330712D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766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5-right-b1-lead">
            <a:extLst xmlns:a="http://schemas.openxmlformats.org/drawingml/2006/main">
              <a:ext uri="{FF2B5EF4-FFF2-40B4-BE49-F238E27FC236}">
                <a16:creationId xmlns:a16="http://schemas.microsoft.com/office/drawing/2014/main" id="{601D62CA-6C18-4092-BB44-0C96F71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s5-right-b1-body">
            <a:extLst xmlns:a="http://schemas.openxmlformats.org/drawingml/2006/main">
              <a:ext uri="{FF2B5EF4-FFF2-40B4-BE49-F238E27FC236}">
                <a16:creationId xmlns:a16="http://schemas.microsoft.com/office/drawing/2014/main" id="{F5BC4FC8-36C4-4B23-9F47-97F03471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6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新增结果发生时就能留下依据</a:t>
            </a:r>
          </a:p>
        </p:txBody>
      </p:sp>
      <p:sp>
        <p:nvSpPr>
          <p:cNvPr id="21" name="s5-right-b2-bar">
            <a:extLst xmlns:a="http://schemas.openxmlformats.org/drawingml/2006/main">
              <a:ext uri="{FF2B5EF4-FFF2-40B4-BE49-F238E27FC236}">
                <a16:creationId xmlns:a16="http://schemas.microsoft.com/office/drawing/2014/main" id="{29A27B5E-C0F1-4E99-99AE-493AF09B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624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right-b2-lead">
            <a:extLst xmlns:a="http://schemas.openxmlformats.org/drawingml/2006/main">
              <a:ext uri="{FF2B5EF4-FFF2-40B4-BE49-F238E27FC236}">
                <a16:creationId xmlns:a16="http://schemas.microsoft.com/office/drawing/2014/main" id="{C8020A35-DF96-44E4-83BD-2FB5C058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3" name="s5-right-b2-body">
            <a:extLst xmlns:a="http://schemas.openxmlformats.org/drawingml/2006/main">
              <a:ext uri="{FF2B5EF4-FFF2-40B4-BE49-F238E27FC236}">
                <a16:creationId xmlns:a16="http://schemas.microsoft.com/office/drawing/2014/main" id="{FBD49562-4DB8-405B-B238-F5D6EC43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62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短期内无法解决全部历史追溯问题</a:t>
            </a:r>
          </a:p>
        </p:txBody>
      </p:sp>
      <p:sp>
        <p:nvSpPr>
          <p:cNvPr id="24" name="s5-scope-arrow">
            <a:extLst xmlns:a="http://schemas.openxmlformats.org/drawingml/2006/main">
              <a:ext uri="{FF2B5EF4-FFF2-40B4-BE49-F238E27FC236}">
                <a16:creationId xmlns:a16="http://schemas.microsoft.com/office/drawing/2014/main" id="{9F037D57-83FE-4B0A-8C03-2C3D4C7A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334000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25" name="s5-scope-note">
            <a:extLst xmlns:a="http://schemas.openxmlformats.org/drawingml/2006/main">
              <a:ext uri="{FF2B5EF4-FFF2-40B4-BE49-F238E27FC236}">
                <a16:creationId xmlns:a16="http://schemas.microsoft.com/office/drawing/2014/main" id="{069807AD-86F1-4A6C-B77C-C30665F9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先对新增实验试行；真正需要复核的历史结果，再逐项补充。</a:t>
            </a:r>
          </a:p>
        </p:txBody>
      </p:sp>
      <p:sp>
        <p:nvSpPr>
          <p:cNvPr id="26" name="s5-boundary">
            <a:extLst xmlns:a="http://schemas.openxmlformats.org/drawingml/2006/main">
              <a:ext uri="{FF2B5EF4-FFF2-40B4-BE49-F238E27FC236}">
                <a16:creationId xmlns:a16="http://schemas.microsoft.com/office/drawing/2014/main" id="{B69761F6-1B60-4D0A-9B34-99A5364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这是范围选择，不能表述为已经证明新方式更高效。</a:t>
            </a:r>
          </a:p>
        </p:txBody>
      </p:sp>
      <p:sp>
        <p:nvSpPr>
          <p:cNvPr id="27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186A5FC-6624-4ECB-AFE2-1973A48B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8" name="footer-5">
            <a:extLst xmlns:a="http://schemas.openxmlformats.org/drawingml/2006/main">
              <a:ext uri="{FF2B5EF4-FFF2-40B4-BE49-F238E27FC236}">
                <a16:creationId xmlns:a16="http://schemas.microsoft.com/office/drawing/2014/main" id="{83C21D96-B10A-4316-A83D-A671298D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归档试点讨论稿｜虚构大学场景</a:t>
            </a:r>
          </a:p>
        </p:txBody>
      </p:sp>
      <p:sp>
        <p:nvSpPr>
          <p:cNvPr id="29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BB04DC3-0915-4DF1-85C7-C0800B7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521885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6">
            <a:extLst xmlns:a="http://schemas.openxmlformats.org/drawingml/2006/main">
              <a:ext uri="{FF2B5EF4-FFF2-40B4-BE49-F238E27FC236}">
                <a16:creationId xmlns:a16="http://schemas.microsoft.com/office/drawing/2014/main" id="{2A5695BC-5B29-4477-AEE2-E10DC92D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复核路径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EEAFA7D-5DE1-408C-9CC7-0F15200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复核先确认结果如何产生，再进入可讨论版本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3D03BCE6-E473-41E1-95F1-FFFEA414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流程先检查可理解性，不要求复做整项实验，也不代替科学结论审查。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454255BB-5A9D-4293-AB41-DE5FA126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7E65C622-4E82-48B4-B116-93BEFAD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s6-main">
            <a:extLst xmlns:a="http://schemas.openxmlformats.org/drawingml/2006/main">
              <a:ext uri="{FF2B5EF4-FFF2-40B4-BE49-F238E27FC236}">
                <a16:creationId xmlns:a16="http://schemas.microsoft.com/office/drawing/2014/main" id="{31C0100F-0EE2-4363-B7E9-32D41AB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144250" cy="3476625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main-title">
            <a:extLst xmlns:a="http://schemas.openxmlformats.org/drawingml/2006/main">
              <a:ext uri="{FF2B5EF4-FFF2-40B4-BE49-F238E27FC236}">
                <a16:creationId xmlns:a16="http://schemas.microsoft.com/office/drawing/2014/main" id="{EE28BA1E-A4A6-4975-8C0F-03E3D8C0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一条可追踪的主路径</a:t>
            </a:r>
          </a:p>
        </p:txBody>
      </p:sp>
      <p:sp>
        <p:nvSpPr>
          <p:cNvPr id="8" name="s6-n1">
            <a:extLst xmlns:a="http://schemas.openxmlformats.org/drawingml/2006/main">
              <a:ext uri="{FF2B5EF4-FFF2-40B4-BE49-F238E27FC236}">
                <a16:creationId xmlns:a16="http://schemas.microsoft.com/office/drawing/2014/main" id="{F2B14F90-3C44-41FB-97CC-EF5A130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5621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9" name="s6-n1-num">
            <a:extLst xmlns:a="http://schemas.openxmlformats.org/drawingml/2006/main">
              <a:ext uri="{FF2B5EF4-FFF2-40B4-BE49-F238E27FC236}">
                <a16:creationId xmlns:a16="http://schemas.microsoft.com/office/drawing/2014/main" id="{81C0BDED-38B4-4D62-A095-41D256B6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6-n1-title">
            <a:extLst xmlns:a="http://schemas.openxmlformats.org/drawingml/2006/main">
              <a:ext uri="{FF2B5EF4-FFF2-40B4-BE49-F238E27FC236}">
                <a16:creationId xmlns:a16="http://schemas.microsoft.com/office/drawing/2014/main" id="{BF0B88F8-12D5-47AC-8966-FAC4FEAC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11" name="s6-n1-body">
            <a:extLst xmlns:a="http://schemas.openxmlformats.org/drawingml/2006/main">
              <a:ext uri="{FF2B5EF4-FFF2-40B4-BE49-F238E27FC236}">
                <a16:creationId xmlns:a16="http://schemas.microsoft.com/office/drawing/2014/main" id="{FC4B8E21-FB9D-451A-8D0D-F4902E14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结果记录</a:t>
            </a:r>
          </a:p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+ 受控引用</a:t>
            </a:r>
          </a:p>
        </p:txBody>
      </p:sp>
      <p:sp>
        <p:nvSpPr>
          <p:cNvPr id="12" name="s6-n2">
            <a:extLst xmlns:a="http://schemas.openxmlformats.org/drawingml/2006/main">
              <a:ext uri="{FF2B5EF4-FFF2-40B4-BE49-F238E27FC236}">
                <a16:creationId xmlns:a16="http://schemas.microsoft.com/office/drawing/2014/main" id="{A47A2F0C-08E6-4D08-AE86-BBF7ABF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5621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13" name="s6-n2-num">
            <a:extLst xmlns:a="http://schemas.openxmlformats.org/drawingml/2006/main">
              <a:ext uri="{FF2B5EF4-FFF2-40B4-BE49-F238E27FC236}">
                <a16:creationId xmlns:a16="http://schemas.microsoft.com/office/drawing/2014/main" id="{B2D116B5-C80D-4A03-BAD6-F9632CCE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6-n2-title">
            <a:extLst xmlns:a="http://schemas.openxmlformats.org/drawingml/2006/main">
              <a:ext uri="{FF2B5EF4-FFF2-40B4-BE49-F238E27FC236}">
                <a16:creationId xmlns:a16="http://schemas.microsoft.com/office/drawing/2014/main" id="{122D6086-3622-40EB-AA0A-6608CB6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05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成员复核</a:t>
            </a:r>
          </a:p>
        </p:txBody>
      </p:sp>
      <p:sp>
        <p:nvSpPr>
          <p:cNvPr id="15" name="s6-n2-body">
            <a:extLst xmlns:a="http://schemas.openxmlformats.org/drawingml/2006/main">
              <a:ext uri="{FF2B5EF4-FFF2-40B4-BE49-F238E27FC236}">
                <a16:creationId xmlns:a16="http://schemas.microsoft.com/office/drawing/2014/main" id="{9D6EB7E0-6026-4B64-80E6-75237047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定位数据、脚本</a:t>
            </a:r>
          </a:p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与条件并提缺项</a:t>
            </a:r>
          </a:p>
        </p:txBody>
      </p:sp>
      <p:sp>
        <p:nvSpPr>
          <p:cNvPr id="16" name="s6-n3">
            <a:extLst xmlns:a="http://schemas.openxmlformats.org/drawingml/2006/main">
              <a:ext uri="{FF2B5EF4-FFF2-40B4-BE49-F238E27FC236}">
                <a16:creationId xmlns:a16="http://schemas.microsoft.com/office/drawing/2014/main" id="{843BFF15-B80A-4E4B-93D4-15FD1531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76550"/>
            <a:ext cx="15621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17" name="s6-n3-num">
            <a:extLst xmlns:a="http://schemas.openxmlformats.org/drawingml/2006/main">
              <a:ext uri="{FF2B5EF4-FFF2-40B4-BE49-F238E27FC236}">
                <a16:creationId xmlns:a16="http://schemas.microsoft.com/office/drawing/2014/main" id="{B43F7B36-310A-4945-B699-D86B472F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s6-n3-title">
            <a:extLst xmlns:a="http://schemas.openxmlformats.org/drawingml/2006/main">
              <a:ext uri="{FF2B5EF4-FFF2-40B4-BE49-F238E27FC236}">
                <a16:creationId xmlns:a16="http://schemas.microsoft.com/office/drawing/2014/main" id="{E05905D8-3776-4AF6-997D-CFDB19E4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05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执行者补充</a:t>
            </a:r>
          </a:p>
        </p:txBody>
      </p:sp>
      <p:sp>
        <p:nvSpPr>
          <p:cNvPr id="19" name="s6-n3-body">
            <a:extLst xmlns:a="http://schemas.openxmlformats.org/drawingml/2006/main">
              <a:ext uri="{FF2B5EF4-FFF2-40B4-BE49-F238E27FC236}">
                <a16:creationId xmlns:a16="http://schemas.microsoft.com/office/drawing/2014/main" id="{B932E9E6-910E-48F8-A0D1-21F5D519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补齐缺项与</a:t>
            </a:r>
          </a:p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异常判断依据</a:t>
            </a:r>
          </a:p>
        </p:txBody>
      </p:sp>
      <p:sp>
        <p:nvSpPr>
          <p:cNvPr id="20" name="s6-n4">
            <a:extLst xmlns:a="http://schemas.openxmlformats.org/drawingml/2006/main">
              <a:ext uri="{FF2B5EF4-FFF2-40B4-BE49-F238E27FC236}">
                <a16:creationId xmlns:a16="http://schemas.microsoft.com/office/drawing/2014/main" id="{998D7DCD-1FAA-44F4-BB5A-AFEFBCD9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15621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93B7"/>
            </a:solidFill>
            <a:prstDash val="solid"/>
          </a:ln>
        </p:spPr>
      </p:sp>
      <p:sp>
        <p:nvSpPr>
          <p:cNvPr id="21" name="s6-n4-num">
            <a:extLst xmlns:a="http://schemas.openxmlformats.org/drawingml/2006/main">
              <a:ext uri="{FF2B5EF4-FFF2-40B4-BE49-F238E27FC236}">
                <a16:creationId xmlns:a16="http://schemas.microsoft.com/office/drawing/2014/main" id="{BB03E580-010F-473F-85A1-9B16CA20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s6-n4-title">
            <a:extLst xmlns:a="http://schemas.openxmlformats.org/drawingml/2006/main">
              <a:ext uri="{FF2B5EF4-FFF2-40B4-BE49-F238E27FC236}">
                <a16:creationId xmlns:a16="http://schemas.microsoft.com/office/drawing/2014/main" id="{BBF34C16-5081-47AC-8105-71155736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05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3" name="s6-n4-body">
            <a:extLst xmlns:a="http://schemas.openxmlformats.org/drawingml/2006/main">
              <a:ext uri="{FF2B5EF4-FFF2-40B4-BE49-F238E27FC236}">
                <a16:creationId xmlns:a16="http://schemas.microsoft.com/office/drawing/2014/main" id="{26D82C1A-56E2-42D7-9AD3-852D511C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检查责任边界</a:t>
            </a:r>
          </a:p>
          <a:p xmlns:a="http://schemas.openxmlformats.org/drawingml/2006/main">
            <a:pPr algn="ctr">
              <a:def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与授权条件</a:t>
            </a:r>
          </a:p>
        </p:txBody>
      </p:sp>
      <p:sp>
        <p:nvSpPr>
          <p:cNvPr id="24" name="s6-n5">
            <a:extLst xmlns:a="http://schemas.openxmlformats.org/drawingml/2006/main">
              <a:ext uri="{FF2B5EF4-FFF2-40B4-BE49-F238E27FC236}">
                <a16:creationId xmlns:a16="http://schemas.microsoft.com/office/drawing/2014/main" id="{E7230D3C-5E71-495B-BFF5-9D42B3C1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5621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5" name="s6-n5-num">
            <a:extLst xmlns:a="http://schemas.openxmlformats.org/drawingml/2006/main">
              <a:ext uri="{FF2B5EF4-FFF2-40B4-BE49-F238E27FC236}">
                <a16:creationId xmlns:a16="http://schemas.microsoft.com/office/drawing/2014/main" id="{B9217C9C-A233-4D92-8AC3-F930B336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s6-n5-title">
            <a:extLst xmlns:a="http://schemas.openxmlformats.org/drawingml/2006/main">
              <a:ext uri="{FF2B5EF4-FFF2-40B4-BE49-F238E27FC236}">
                <a16:creationId xmlns:a16="http://schemas.microsoft.com/office/drawing/2014/main" id="{F38A45F9-E426-4327-B149-F482E431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05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可讨论版本</a:t>
            </a:r>
          </a:p>
        </p:txBody>
      </p:sp>
      <p:sp>
        <p:nvSpPr>
          <p:cNvPr id="27" name="s6-n5-body">
            <a:extLst xmlns:a="http://schemas.openxmlformats.org/drawingml/2006/main">
              <a:ext uri="{FF2B5EF4-FFF2-40B4-BE49-F238E27FC236}">
                <a16:creationId xmlns:a16="http://schemas.microsoft.com/office/drawing/2014/main" id="{2604C7A1-A848-437A-A76A-ADC9FA05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记录可被他人</a:t>
            </a:r>
          </a:p>
          <a:p xmlns:a="http://schemas.openxmlformats.org/drawingml/2006/main">
            <a:pPr algn="ctr">
              <a:defRPr sz="1125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理解与追溯</a:t>
            </a:r>
          </a:p>
        </p:txBody>
      </p:sp>
      <p:cxnSp>
        <p:nvCxnSpPr>
          <p:cNvPr id="6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38400" y="3457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93B7"/>
            </a:solidFill>
            <a:prstDash val="solid"/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91050" y="3457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93B7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43700" y="3457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93B7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896350" y="3457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93B7"/>
            </a:solidFill>
            <a:prstDash val="solid"/>
            <a:headEnd type="triangle" w="sm" len="sm"/>
          </a:ln>
        </p:spPr>
      </p:cxnSp>
      <p:sp>
        <p:nvSpPr>
          <p:cNvPr id="32" name="s6-gate">
            <a:extLst xmlns:a="http://schemas.openxmlformats.org/drawingml/2006/main">
              <a:ext uri="{FF2B5EF4-FFF2-40B4-BE49-F238E27FC236}">
                <a16:creationId xmlns:a16="http://schemas.microsoft.com/office/drawing/2014/main" id="{F66B6CA4-0AA1-496C-AF4A-7A9D822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62103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6EEE6"/>
          </a:solidFill>
          <a:ln xmlns:a="http://schemas.openxmlformats.org/drawingml/2006/main" w="9525">
            <a:solidFill>
              <a:srgbClr val="8B5E34"/>
            </a:solidFill>
            <a:prstDash val="solid"/>
          </a:ln>
        </p:spPr>
      </p:sp>
      <p:sp>
        <p:nvSpPr>
          <p:cNvPr id="33" name="s6-gate-label">
            <a:extLst xmlns:a="http://schemas.openxmlformats.org/drawingml/2006/main">
              <a:ext uri="{FF2B5EF4-FFF2-40B4-BE49-F238E27FC236}">
                <a16:creationId xmlns:a16="http://schemas.microsoft.com/office/drawing/2014/main" id="{CB56D858-4809-48DD-858F-052DCEA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6300"/>
            <a:ext cx="582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B5E34"/>
                </a:solidFill>
                <a:latin typeface="Microsoft YaHei"/>
                <a:ea typeface="Microsoft YaHei"/>
                <a:cs typeface="Microsoft YaHei"/>
              </a:rPr>
              <a:t>若涉及新的访问授权：暂停共享 → 负责人处理授权 → 再继续</a:t>
            </a:r>
          </a:p>
        </p:txBody>
      </p:sp>
      <p:sp>
        <p:nvSpPr>
          <p:cNvPr id="3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FDC03FD4-D020-4BDA-B37F-71F0BC3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35" name="footer-6">
            <a:extLst xmlns:a="http://schemas.openxmlformats.org/drawingml/2006/main">
              <a:ext uri="{FF2B5EF4-FFF2-40B4-BE49-F238E27FC236}">
                <a16:creationId xmlns:a16="http://schemas.microsoft.com/office/drawing/2014/main" id="{AD9446D7-6656-4458-B52F-DC53C56B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归档试点讨论稿｜虚构大学场景</a:t>
            </a:r>
          </a:p>
        </p:txBody>
      </p:sp>
      <p:sp>
        <p:nvSpPr>
          <p:cNvPr id="3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EBC71835-E7A6-4130-B5E8-33E94F1E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807583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7">
            <a:extLst xmlns:a="http://schemas.openxmlformats.org/drawingml/2006/main">
              <a:ext uri="{FF2B5EF4-FFF2-40B4-BE49-F238E27FC236}">
                <a16:creationId xmlns:a16="http://schemas.microsoft.com/office/drawing/2014/main" id="{F74C4EA3-C1FC-4E0E-A72F-2F91801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四周试点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D7C5C4A-2CCD-48CD-B788-4ED86D3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四周试点只验证一件事：记录能否支撑复核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1B71ABA7-5A1A-40B2-A8E8-B12D6F52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拟定范围：一个课题方向、两名自愿成员、记录新增实验；所有数字都是方案设定。</a:t>
            </a:r>
          </a:p>
        </p:txBody>
      </p:sp>
      <p:sp>
        <p:nvSpPr>
          <p:cNvPr id="4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D0A164CE-A55E-420C-835E-A877B63F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FC17ADFD-FDEA-43E0-9481-5256AAD4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s7-scope">
            <a:extLst xmlns:a="http://schemas.openxmlformats.org/drawingml/2006/main">
              <a:ext uri="{FF2B5EF4-FFF2-40B4-BE49-F238E27FC236}">
                <a16:creationId xmlns:a16="http://schemas.microsoft.com/office/drawing/2014/main" id="{C797AEB7-2459-4C36-BACA-648B04A8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1442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scope-label">
            <a:extLst xmlns:a="http://schemas.openxmlformats.org/drawingml/2006/main">
              <a:ext uri="{FF2B5EF4-FFF2-40B4-BE49-F238E27FC236}">
                <a16:creationId xmlns:a16="http://schemas.microsoft.com/office/drawing/2014/main" id="{96335937-AE69-4EA8-B1DD-0A3FACB0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一个课题方向</a:t>
            </a:r>
          </a:p>
        </p:txBody>
      </p:sp>
      <p:sp>
        <p:nvSpPr>
          <p:cNvPr id="8" name="s7-scope-l1">
            <a:extLst xmlns:a="http://schemas.openxmlformats.org/drawingml/2006/main">
              <a:ext uri="{FF2B5EF4-FFF2-40B4-BE49-F238E27FC236}">
                <a16:creationId xmlns:a16="http://schemas.microsoft.com/office/drawing/2014/main" id="{7BFD58F4-FC2F-4D0C-939A-C912ACBF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7D0"/>
            </a:solidFill>
            <a:prstDash val="solid"/>
          </a:ln>
        </p:spPr>
      </p:sp>
      <p:sp>
        <p:nvSpPr>
          <p:cNvPr id="9" name="s7-scope-label2">
            <a:extLst xmlns:a="http://schemas.openxmlformats.org/drawingml/2006/main">
              <a:ext uri="{FF2B5EF4-FFF2-40B4-BE49-F238E27FC236}">
                <a16:creationId xmlns:a16="http://schemas.microsoft.com/office/drawing/2014/main" id="{3837C59D-9D9F-45B8-B113-63B82263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两名自愿成员</a:t>
            </a:r>
          </a:p>
        </p:txBody>
      </p:sp>
      <p:sp>
        <p:nvSpPr>
          <p:cNvPr id="10" name="s7-scope-l2">
            <a:extLst xmlns:a="http://schemas.openxmlformats.org/drawingml/2006/main">
              <a:ext uri="{FF2B5EF4-FFF2-40B4-BE49-F238E27FC236}">
                <a16:creationId xmlns:a16="http://schemas.microsoft.com/office/drawing/2014/main" id="{3DC26F96-43DE-4421-BF92-AD6ACDE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7D0"/>
            </a:solidFill>
            <a:prstDash val="solid"/>
          </a:ln>
        </p:spPr>
      </p:sp>
      <p:sp>
        <p:nvSpPr>
          <p:cNvPr id="11" name="s7-scope-label3">
            <a:extLst xmlns:a="http://schemas.openxmlformats.org/drawingml/2006/main">
              <a:ext uri="{FF2B5EF4-FFF2-40B4-BE49-F238E27FC236}">
                <a16:creationId xmlns:a16="http://schemas.microsoft.com/office/drawing/2014/main" id="{4B5C8654-0A64-4A2D-B71F-4A0398E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记录新增实验</a:t>
            </a:r>
          </a:p>
        </p:txBody>
      </p:sp>
      <p:sp>
        <p:nvSpPr>
          <p:cNvPr id="12" name="s7-rail-1">
            <a:extLst xmlns:a="http://schemas.openxmlformats.org/drawingml/2006/main">
              <a:ext uri="{FF2B5EF4-FFF2-40B4-BE49-F238E27FC236}">
                <a16:creationId xmlns:a16="http://schemas.microsoft.com/office/drawing/2014/main" id="{E711005A-29F6-48D2-B925-766CFFB0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93B7"/>
            </a:solidFill>
            <a:prstDash val="solid"/>
          </a:ln>
        </p:spPr>
      </p:sp>
      <p:sp>
        <p:nvSpPr>
          <p:cNvPr id="13" name="s7-rail-2">
            <a:extLst xmlns:a="http://schemas.openxmlformats.org/drawingml/2006/main">
              <a:ext uri="{FF2B5EF4-FFF2-40B4-BE49-F238E27FC236}">
                <a16:creationId xmlns:a16="http://schemas.microsoft.com/office/drawing/2014/main" id="{6BB1B57B-7421-482B-8AB9-51AB64A5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90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93B7"/>
            </a:solidFill>
            <a:prstDash val="solid"/>
          </a:ln>
        </p:spPr>
      </p:sp>
      <p:sp>
        <p:nvSpPr>
          <p:cNvPr id="14" name="s7-rail-3">
            <a:extLst xmlns:a="http://schemas.openxmlformats.org/drawingml/2006/main">
              <a:ext uri="{FF2B5EF4-FFF2-40B4-BE49-F238E27FC236}">
                <a16:creationId xmlns:a16="http://schemas.microsoft.com/office/drawing/2014/main" id="{9D7FE8BB-2D0E-40CE-903C-3057A53D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90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93B7"/>
            </a:solidFill>
            <a:prstDash val="solid"/>
          </a:ln>
        </p:spPr>
      </p:sp>
      <p:sp>
        <p:nvSpPr>
          <p:cNvPr id="15" name="s7-rail-4">
            <a:extLst xmlns:a="http://schemas.openxmlformats.org/drawingml/2006/main">
              <a:ext uri="{FF2B5EF4-FFF2-40B4-BE49-F238E27FC236}">
                <a16:creationId xmlns:a16="http://schemas.microsoft.com/office/drawing/2014/main" id="{A48ABD72-FAED-4627-8F64-7E4E528E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90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93B7"/>
            </a:solidFill>
            <a:prstDash val="solid"/>
          </a:ln>
        </p:spPr>
      </p:sp>
      <p:sp>
        <p:nvSpPr>
          <p:cNvPr id="16" name="s7-rail-5">
            <a:extLst xmlns:a="http://schemas.openxmlformats.org/drawingml/2006/main">
              <a:ext uri="{FF2B5EF4-FFF2-40B4-BE49-F238E27FC236}">
                <a16:creationId xmlns:a16="http://schemas.microsoft.com/office/drawing/2014/main" id="{0800CB2D-8A7C-4074-AABA-5CE5B86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909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93B7"/>
            </a:solidFill>
            <a:prstDash val="solid"/>
          </a:ln>
        </p:spPr>
      </p:sp>
      <p:sp>
        <p:nvSpPr>
          <p:cNvPr id="17" name="s7-w1-dot">
            <a:extLst xmlns:a="http://schemas.openxmlformats.org/drawingml/2006/main">
              <a:ext uri="{FF2B5EF4-FFF2-40B4-BE49-F238E27FC236}">
                <a16:creationId xmlns:a16="http://schemas.microsoft.com/office/drawing/2014/main" id="{35B81F79-1FB0-45CD-AA54-6D061621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8" name="s7-w1-num">
            <a:extLst xmlns:a="http://schemas.openxmlformats.org/drawingml/2006/main">
              <a:ext uri="{FF2B5EF4-FFF2-40B4-BE49-F238E27FC236}">
                <a16:creationId xmlns:a16="http://schemas.microsoft.com/office/drawing/2014/main" id="{00E24F68-1B7F-4FC5-8856-20CFA329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s7-w1-week">
            <a:extLst xmlns:a="http://schemas.openxmlformats.org/drawingml/2006/main">
              <a:ext uri="{FF2B5EF4-FFF2-40B4-BE49-F238E27FC236}">
                <a16:creationId xmlns:a16="http://schemas.microsoft.com/office/drawing/2014/main" id="{A9CA6C9D-5BF3-4070-B292-3FB7CAD2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第一周</a:t>
            </a:r>
          </a:p>
        </p:txBody>
      </p:sp>
      <p:sp>
        <p:nvSpPr>
          <p:cNvPr id="20" name="s7-w1-title">
            <a:extLst xmlns:a="http://schemas.openxmlformats.org/drawingml/2006/main">
              <a:ext uri="{FF2B5EF4-FFF2-40B4-BE49-F238E27FC236}">
                <a16:creationId xmlns:a16="http://schemas.microsoft.com/office/drawing/2014/main" id="{70AC4248-73E7-4BE9-B98A-5226EB29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共同明确最少字段</a:t>
            </a:r>
          </a:p>
        </p:txBody>
      </p:sp>
      <p:sp>
        <p:nvSpPr>
          <p:cNvPr id="21" name="s7-w1-body">
            <a:extLst xmlns:a="http://schemas.openxmlformats.org/drawingml/2006/main">
              <a:ext uri="{FF2B5EF4-FFF2-40B4-BE49-F238E27FC236}">
                <a16:creationId xmlns:a16="http://schemas.microsoft.com/office/drawing/2014/main" id="{A43F6467-F1D9-443F-A581-AD1E683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22" name="s7-w2-dot">
            <a:extLst xmlns:a="http://schemas.openxmlformats.org/drawingml/2006/main">
              <a:ext uri="{FF2B5EF4-FFF2-40B4-BE49-F238E27FC236}">
                <a16:creationId xmlns:a16="http://schemas.microsoft.com/office/drawing/2014/main" id="{53D446E5-13C1-4E34-BDA9-26C91F6E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s7-w2-num">
            <a:extLst xmlns:a="http://schemas.openxmlformats.org/drawingml/2006/main">
              <a:ext uri="{FF2B5EF4-FFF2-40B4-BE49-F238E27FC236}">
                <a16:creationId xmlns:a16="http://schemas.microsoft.com/office/drawing/2014/main" id="{34CD9322-95B6-4CB6-95C1-C74A7278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s7-w2-week">
            <a:extLst xmlns:a="http://schemas.openxmlformats.org/drawingml/2006/main">
              <a:ext uri="{FF2B5EF4-FFF2-40B4-BE49-F238E27FC236}">
                <a16:creationId xmlns:a16="http://schemas.microsoft.com/office/drawing/2014/main" id="{3662A30D-7B78-4AE5-8851-DAC4401A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第二周</a:t>
            </a:r>
          </a:p>
        </p:txBody>
      </p:sp>
      <p:sp>
        <p:nvSpPr>
          <p:cNvPr id="25" name="s7-w2-title">
            <a:extLst xmlns:a="http://schemas.openxmlformats.org/drawingml/2006/main">
              <a:ext uri="{FF2B5EF4-FFF2-40B4-BE49-F238E27FC236}">
                <a16:creationId xmlns:a16="http://schemas.microsoft.com/office/drawing/2014/main" id="{778E8084-FC49-4DAF-82F5-50D303A5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在实际工作中记录</a:t>
            </a:r>
          </a:p>
        </p:txBody>
      </p:sp>
      <p:sp>
        <p:nvSpPr>
          <p:cNvPr id="26" name="s7-w2-body">
            <a:extLst xmlns:a="http://schemas.openxmlformats.org/drawingml/2006/main">
              <a:ext uri="{FF2B5EF4-FFF2-40B4-BE49-F238E27FC236}">
                <a16:creationId xmlns:a16="http://schemas.microsoft.com/office/drawing/2014/main" id="{408A9426-19F5-43FB-B6D2-DAB69C5A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67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发现缺项与填写负担</a:t>
            </a:r>
          </a:p>
        </p:txBody>
      </p:sp>
      <p:sp>
        <p:nvSpPr>
          <p:cNvPr id="27" name="s7-w3-dot">
            <a:extLst xmlns:a="http://schemas.openxmlformats.org/drawingml/2006/main">
              <a:ext uri="{FF2B5EF4-FFF2-40B4-BE49-F238E27FC236}">
                <a16:creationId xmlns:a16="http://schemas.microsoft.com/office/drawing/2014/main" id="{FB341D90-D91A-4629-B664-F27CF420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8" name="s7-w3-num">
            <a:extLst xmlns:a="http://schemas.openxmlformats.org/drawingml/2006/main">
              <a:ext uri="{FF2B5EF4-FFF2-40B4-BE49-F238E27FC236}">
                <a16:creationId xmlns:a16="http://schemas.microsoft.com/office/drawing/2014/main" id="{DB09115D-AF8A-4ED8-B4F0-C7074621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s7-w3-week">
            <a:extLst xmlns:a="http://schemas.openxmlformats.org/drawingml/2006/main">
              <a:ext uri="{FF2B5EF4-FFF2-40B4-BE49-F238E27FC236}">
                <a16:creationId xmlns:a16="http://schemas.microsoft.com/office/drawing/2014/main" id="{486F6F4C-63B4-4065-9E3F-EB1256E7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第三周</a:t>
            </a:r>
          </a:p>
        </p:txBody>
      </p:sp>
      <p:sp>
        <p:nvSpPr>
          <p:cNvPr id="30" name="s7-w3-title">
            <a:extLst xmlns:a="http://schemas.openxmlformats.org/drawingml/2006/main">
              <a:ext uri="{FF2B5EF4-FFF2-40B4-BE49-F238E27FC236}">
                <a16:creationId xmlns:a16="http://schemas.microsoft.com/office/drawing/2014/main" id="{5C8A092A-A11E-4038-97DC-661CBD9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继续实际记录</a:t>
            </a:r>
          </a:p>
        </p:txBody>
      </p:sp>
      <p:sp>
        <p:nvSpPr>
          <p:cNvPr id="31" name="s7-w3-body">
            <a:extLst xmlns:a="http://schemas.openxmlformats.org/drawingml/2006/main">
              <a:ext uri="{FF2B5EF4-FFF2-40B4-BE49-F238E27FC236}">
                <a16:creationId xmlns:a16="http://schemas.microsoft.com/office/drawing/2014/main" id="{86AAE4BB-C651-452B-AAF7-B1AC2EF9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收集复核过程与反馈</a:t>
            </a:r>
          </a:p>
        </p:txBody>
      </p:sp>
      <p:sp>
        <p:nvSpPr>
          <p:cNvPr id="32" name="s7-w4-dot">
            <a:extLst xmlns:a="http://schemas.openxmlformats.org/drawingml/2006/main">
              <a:ext uri="{FF2B5EF4-FFF2-40B4-BE49-F238E27FC236}">
                <a16:creationId xmlns:a16="http://schemas.microsoft.com/office/drawing/2014/main" id="{73033846-6430-490D-B70E-CA89DED9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86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3" name="s7-w4-num">
            <a:extLst xmlns:a="http://schemas.openxmlformats.org/drawingml/2006/main">
              <a:ext uri="{FF2B5EF4-FFF2-40B4-BE49-F238E27FC236}">
                <a16:creationId xmlns:a16="http://schemas.microsoft.com/office/drawing/2014/main" id="{F1CF6CC1-CA48-49FA-95F8-79B3975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s7-w4-week">
            <a:extLst xmlns:a="http://schemas.openxmlformats.org/drawingml/2006/main">
              <a:ext uri="{FF2B5EF4-FFF2-40B4-BE49-F238E27FC236}">
                <a16:creationId xmlns:a16="http://schemas.microsoft.com/office/drawing/2014/main" id="{DA44548A-1CE8-49E0-AB3C-777CE312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第四周</a:t>
            </a:r>
          </a:p>
        </p:txBody>
      </p:sp>
      <p:sp>
        <p:nvSpPr>
          <p:cNvPr id="35" name="s7-w4-title">
            <a:extLst xmlns:a="http://schemas.openxmlformats.org/drawingml/2006/main">
              <a:ext uri="{FF2B5EF4-FFF2-40B4-BE49-F238E27FC236}">
                <a16:creationId xmlns:a16="http://schemas.microsoft.com/office/drawing/2014/main" id="{6C60F98C-7165-4714-AFBF-74B2A3DF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05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讨论下一步</a:t>
            </a:r>
          </a:p>
        </p:txBody>
      </p:sp>
      <p:sp>
        <p:nvSpPr>
          <p:cNvPr id="36" name="s7-w4-body">
            <a:extLst xmlns:a="http://schemas.openxmlformats.org/drawingml/2006/main">
              <a:ext uri="{FF2B5EF4-FFF2-40B4-BE49-F238E27FC236}">
                <a16:creationId xmlns:a16="http://schemas.microsoft.com/office/drawing/2014/main" id="{2011D05E-D4F3-42CB-8A1B-35525AB7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保留、修改或停止</a:t>
            </a:r>
          </a:p>
        </p:txBody>
      </p:sp>
      <p:sp>
        <p:nvSpPr>
          <p:cNvPr id="37" name="s7-boundary">
            <a:extLst xmlns:a="http://schemas.openxmlformats.org/drawingml/2006/main">
              <a:ext uri="{FF2B5EF4-FFF2-40B4-BE49-F238E27FC236}">
                <a16:creationId xmlns:a16="http://schemas.microsoft.com/office/drawing/2014/main" id="{FD25D1C3-EA10-459F-BA88-85A6CEBC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四周、两人和周次安排是拟定范围；没有实测效率提升或完成率数字。</a:t>
            </a:r>
          </a:p>
        </p:txBody>
      </p:sp>
      <p:sp>
        <p:nvSpPr>
          <p:cNvPr id="38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93FA4D88-5D6F-4E25-AFD4-360831F6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39" name="footer-7">
            <a:extLst xmlns:a="http://schemas.openxmlformats.org/drawingml/2006/main">
              <a:ext uri="{FF2B5EF4-FFF2-40B4-BE49-F238E27FC236}">
                <a16:creationId xmlns:a16="http://schemas.microsoft.com/office/drawing/2014/main" id="{6754E30A-AF2D-470C-A387-B2784ADF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归档试点讨论稿｜虚构大学场景</a:t>
            </a:r>
          </a:p>
        </p:txBody>
      </p:sp>
      <p:sp>
        <p:nvSpPr>
          <p:cNvPr id="4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B3587647-AD2D-41B1-BF54-55D8C86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588020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8">
            <a:extLst xmlns:a="http://schemas.openxmlformats.org/drawingml/2006/main">
              <a:ext uri="{FF2B5EF4-FFF2-40B4-BE49-F238E27FC236}">
                <a16:creationId xmlns:a16="http://schemas.microsoft.com/office/drawing/2014/main" id="{65F691CA-AF5F-4991-8EAF-B4EC347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评估与决策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4FD7C84-0F00-4DB2-A814-D75DC1F1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先看复核过程，再决定保留、修改或停止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A61846AD-CB2F-4A91-86F4-0856772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试点结束时不先给统一“合格分数”，而是依据真实复核过程与成员反馈作决定。</a:t>
            </a:r>
          </a:p>
        </p:txBody>
      </p:sp>
      <p:sp>
        <p:nvSpPr>
          <p:cNvPr id="4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AE66FF58-5D3B-4652-932A-7FB1407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276770D6-7D51-49CB-A789-E5DF15DB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s8-eval">
            <a:extLst xmlns:a="http://schemas.openxmlformats.org/drawingml/2006/main">
              <a:ext uri="{FF2B5EF4-FFF2-40B4-BE49-F238E27FC236}">
                <a16:creationId xmlns:a16="http://schemas.microsoft.com/office/drawing/2014/main" id="{1CD96083-C0BA-48EC-A77D-3BCE7852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6477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8-eval-title">
            <a:extLst xmlns:a="http://schemas.openxmlformats.org/drawingml/2006/main">
              <a:ext uri="{FF2B5EF4-FFF2-40B4-BE49-F238E27FC236}">
                <a16:creationId xmlns:a16="http://schemas.microsoft.com/office/drawing/2014/main" id="{E1A0F42B-9498-4438-AC7F-226B68C0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评估回答三个问题</a:t>
            </a:r>
          </a:p>
        </p:txBody>
      </p:sp>
      <p:sp>
        <p:nvSpPr>
          <p:cNvPr id="8" name="s8-q1-bar">
            <a:extLst xmlns:a="http://schemas.openxmlformats.org/drawingml/2006/main">
              <a:ext uri="{FF2B5EF4-FFF2-40B4-BE49-F238E27FC236}">
                <a16:creationId xmlns:a16="http://schemas.microsoft.com/office/drawing/2014/main" id="{9F40BF90-A185-41F3-8088-3C498C0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8-q1-lead">
            <a:extLst xmlns:a="http://schemas.openxmlformats.org/drawingml/2006/main">
              <a:ext uri="{FF2B5EF4-FFF2-40B4-BE49-F238E27FC236}">
                <a16:creationId xmlns:a16="http://schemas.microsoft.com/office/drawing/2014/main" id="{7276BC1D-354E-4FBC-A9FA-DA3C51E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0" name="s8-q1-body">
            <a:extLst xmlns:a="http://schemas.openxmlformats.org/drawingml/2006/main">
              <a:ext uri="{FF2B5EF4-FFF2-40B4-BE49-F238E27FC236}">
                <a16:creationId xmlns:a16="http://schemas.microsoft.com/office/drawing/2014/main" id="{44007C25-559C-40A7-9ADA-B7D1EAD5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其他成员能否沿记录定位结果的来源？</a:t>
            </a:r>
          </a:p>
        </p:txBody>
      </p:sp>
      <p:sp>
        <p:nvSpPr>
          <p:cNvPr id="11" name="s8-q2-bar">
            <a:extLst xmlns:a="http://schemas.openxmlformats.org/drawingml/2006/main">
              <a:ext uri="{FF2B5EF4-FFF2-40B4-BE49-F238E27FC236}">
                <a16:creationId xmlns:a16="http://schemas.microsoft.com/office/drawing/2014/main" id="{22BD55CA-BB16-413D-AAA2-2B6A2CE0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-q2-lead">
            <a:extLst xmlns:a="http://schemas.openxmlformats.org/drawingml/2006/main">
              <a:ext uri="{FF2B5EF4-FFF2-40B4-BE49-F238E27FC236}">
                <a16:creationId xmlns:a16="http://schemas.microsoft.com/office/drawing/2014/main" id="{7BBC3639-29B9-419C-B42C-1EA069D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13" name="s8-q2-body">
            <a:extLst xmlns:a="http://schemas.openxmlformats.org/drawingml/2006/main">
              <a:ext uri="{FF2B5EF4-FFF2-40B4-BE49-F238E27FC236}">
                <a16:creationId xmlns:a16="http://schemas.microsoft.com/office/drawing/2014/main" id="{79BDEC21-E044-483B-BEDD-7DD8994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关键处理与排除是否有可理解的依据？</a:t>
            </a:r>
          </a:p>
        </p:txBody>
      </p:sp>
      <p:sp>
        <p:nvSpPr>
          <p:cNvPr id="14" name="s8-q3-bar">
            <a:extLst xmlns:a="http://schemas.openxmlformats.org/drawingml/2006/main">
              <a:ext uri="{FF2B5EF4-FFF2-40B4-BE49-F238E27FC236}">
                <a16:creationId xmlns:a16="http://schemas.microsoft.com/office/drawing/2014/main" id="{B353F2AC-362A-4F88-A8FF-46A542E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8-q3-lead">
            <a:extLst xmlns:a="http://schemas.openxmlformats.org/drawingml/2006/main">
              <a:ext uri="{FF2B5EF4-FFF2-40B4-BE49-F238E27FC236}">
                <a16:creationId xmlns:a16="http://schemas.microsoft.com/office/drawing/2014/main" id="{6A076225-A1CD-44AB-A076-14376279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</a:t>
            </a:r>
          </a:p>
        </p:txBody>
      </p:sp>
      <p:sp>
        <p:nvSpPr>
          <p:cNvPr id="16" name="s8-q3-body">
            <a:extLst xmlns:a="http://schemas.openxmlformats.org/drawingml/2006/main">
              <a:ext uri="{FF2B5EF4-FFF2-40B4-BE49-F238E27FC236}">
                <a16:creationId xmlns:a16="http://schemas.microsoft.com/office/drawing/2014/main" id="{E4441BB9-F851-4C67-984E-1269DE5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记录负担是否在成员愿意持续承担的范围内？</a:t>
            </a:r>
          </a:p>
        </p:txBody>
      </p:sp>
      <p:sp>
        <p:nvSpPr>
          <p:cNvPr id="17" name="s8-method">
            <a:extLst xmlns:a="http://schemas.openxmlformats.org/drawingml/2006/main">
              <a:ext uri="{FF2B5EF4-FFF2-40B4-BE49-F238E27FC236}">
                <a16:creationId xmlns:a16="http://schemas.microsoft.com/office/drawing/2014/main" id="{CC428EA6-EF60-410A-98C9-B9532CBE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收集具体复核过程和当事人反馈。字段填满却找不到脚本版本，不能算追溯问题已解决。</a:t>
            </a:r>
          </a:p>
        </p:txBody>
      </p:sp>
      <p:sp>
        <p:nvSpPr>
          <p:cNvPr id="18" name="s8-decision">
            <a:extLst xmlns:a="http://schemas.openxmlformats.org/drawingml/2006/main">
              <a:ext uri="{FF2B5EF4-FFF2-40B4-BE49-F238E27FC236}">
                <a16:creationId xmlns:a16="http://schemas.microsoft.com/office/drawing/2014/main" id="{F2406F95-16A1-4421-8B08-F6FC292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238625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8-decision-title">
            <a:extLst xmlns:a="http://schemas.openxmlformats.org/drawingml/2006/main">
              <a:ext uri="{FF2B5EF4-FFF2-40B4-BE49-F238E27FC236}">
                <a16:creationId xmlns:a16="http://schemas.microsoft.com/office/drawing/2014/main" id="{B838EF9F-F4A2-427D-9E54-0C7FEB1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开始与停止信号</a:t>
            </a:r>
          </a:p>
        </p:txBody>
      </p:sp>
      <p:sp>
        <p:nvSpPr>
          <p:cNvPr id="20" name="s8-start">
            <a:extLst xmlns:a="http://schemas.openxmlformats.org/drawingml/2006/main">
              <a:ext uri="{FF2B5EF4-FFF2-40B4-BE49-F238E27FC236}">
                <a16:creationId xmlns:a16="http://schemas.microsoft.com/office/drawing/2014/main" id="{06445B1D-8955-4CD6-85BC-04B39B9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47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开始前确认</a:t>
            </a:r>
          </a:p>
        </p:txBody>
      </p:sp>
      <p:sp>
        <p:nvSpPr>
          <p:cNvPr id="21" name="s8-start-body">
            <a:extLst xmlns:a="http://schemas.openxmlformats.org/drawingml/2006/main">
              <a:ext uri="{FF2B5EF4-FFF2-40B4-BE49-F238E27FC236}">
                <a16:creationId xmlns:a16="http://schemas.microsoft.com/office/drawing/2014/main" id="{9126978B-E03F-4AD7-8D92-3DEEF3B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负责人确认范围与授权联系人；成员认可最少字段；确定复核负责人。</a:t>
            </a:r>
          </a:p>
        </p:txBody>
      </p:sp>
      <p:sp>
        <p:nvSpPr>
          <p:cNvPr id="22" name="s8-sep">
            <a:extLst xmlns:a="http://schemas.openxmlformats.org/drawingml/2006/main">
              <a:ext uri="{FF2B5EF4-FFF2-40B4-BE49-F238E27FC236}">
                <a16:creationId xmlns:a16="http://schemas.microsoft.com/office/drawing/2014/main" id="{91C8694B-71F4-46CE-91AD-BFD5157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7D0"/>
            </a:solidFill>
            <a:prstDash val="solid"/>
          </a:ln>
        </p:spPr>
      </p:sp>
      <p:sp>
        <p:nvSpPr>
          <p:cNvPr id="23" name="s8-stop">
            <a:extLst xmlns:a="http://schemas.openxmlformats.org/drawingml/2006/main">
              <a:ext uri="{FF2B5EF4-FFF2-40B4-BE49-F238E27FC236}">
                <a16:creationId xmlns:a16="http://schemas.microsoft.com/office/drawing/2014/main" id="{E53D557C-F10A-48C9-88FA-F23777A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2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出现这些信号就收缩</a:t>
            </a:r>
          </a:p>
        </p:txBody>
      </p:sp>
      <p:sp>
        <p:nvSpPr>
          <p:cNvPr id="24" name="s8-stop-body">
            <a:extLst xmlns:a="http://schemas.openxmlformats.org/drawingml/2006/main">
              <a:ext uri="{FF2B5EF4-FFF2-40B4-BE49-F238E27FC236}">
                <a16:creationId xmlns:a16="http://schemas.microsoft.com/office/drawing/2014/main" id="{B997CC1B-B78F-4736-90F8-660A156B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48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持续挤占实验时间；权限边界无法说明；重复抄写却没有帮助解释结果。</a:t>
            </a:r>
          </a:p>
        </p:txBody>
      </p:sp>
      <p:sp>
        <p:nvSpPr>
          <p:cNvPr id="25" name="s8-close">
            <a:extLst xmlns:a="http://schemas.openxmlformats.org/drawingml/2006/main">
              <a:ext uri="{FF2B5EF4-FFF2-40B4-BE49-F238E27FC236}">
                <a16:creationId xmlns:a16="http://schemas.microsoft.com/office/drawing/2014/main" id="{8DA8B2C5-053B-41D6-9709-1320683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先让一次结果可以被理解，再决定哪些记录值得长期保存。</a:t>
            </a:r>
          </a:p>
        </p:txBody>
      </p:sp>
      <p:sp>
        <p:nvSpPr>
          <p:cNvPr id="26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A92531F4-F4A3-41FF-AC57-5C58E3E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7" name="footer-8">
            <a:extLst xmlns:a="http://schemas.openxmlformats.org/drawingml/2006/main">
              <a:ext uri="{FF2B5EF4-FFF2-40B4-BE49-F238E27FC236}">
                <a16:creationId xmlns:a16="http://schemas.microsoft.com/office/drawing/2014/main" id="{2894CB7C-B294-4F59-BF3A-68E918F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913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归档工具只是承载方式｜关系与责任边界才是试点要验证的内容</a:t>
            </a:r>
          </a:p>
        </p:txBody>
      </p:sp>
      <p:sp>
        <p:nvSpPr>
          <p:cNvPr id="28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FC7E877-32CD-4E52-BDEC-D90974B7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470954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2026-09-06T01:40:42.6790000Z</dcterms:created>
  <dcterms:modified xsi:type="dcterms:W3CDTF">2026-09-06T01:40:42.6790000Z</dcterms:modified>
</coreProperties>
</file>