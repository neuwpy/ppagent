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37b50d760c4b39" /><Relationship Type="http://schemas.openxmlformats.org/officeDocument/2006/relationships/extended-properties" Target="/docProps/app.xml" Id="R2f1228f306cf4a42" /><Relationship Type="http://schemas.openxmlformats.org/officeDocument/2006/relationships/officeDocument" Target="/ppt/presentation.xml" Id="R01e5afc0b6de4c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30d26cd3954f98"/>
  </p:sldMasterIdLst>
  <p:notesMasterIdLst>
    <p:notesMasterId xmlns:r="http://schemas.openxmlformats.org/officeDocument/2006/relationships" r:id="Rbe7d82c76794405c"/>
  </p:notesMasterIdLst>
  <p:sldIdLst>
    <p:sldId xmlns:r="http://schemas.openxmlformats.org/officeDocument/2006/relationships" id="256" r:id="R3c7f882a73594f67"/>
    <p:sldId xmlns:r="http://schemas.openxmlformats.org/officeDocument/2006/relationships" id="257" r:id="R745a7d20cff94d7f"/>
    <p:sldId xmlns:r="http://schemas.openxmlformats.org/officeDocument/2006/relationships" id="258" r:id="R1f132d76838443d2"/>
    <p:sldId xmlns:r="http://schemas.openxmlformats.org/officeDocument/2006/relationships" id="259" r:id="R147d44227ef445b8"/>
    <p:sldId xmlns:r="http://schemas.openxmlformats.org/officeDocument/2006/relationships" id="260" r:id="Rc43e0a73cf49447d"/>
    <p:sldId xmlns:r="http://schemas.openxmlformats.org/officeDocument/2006/relationships" id="261" r:id="Rb169b8aad11b4f18"/>
    <p:sldId xmlns:r="http://schemas.openxmlformats.org/officeDocument/2006/relationships" id="262" r:id="R5b0d30f9b5394b0b"/>
    <p:sldId xmlns:r="http://schemas.openxmlformats.org/officeDocument/2006/relationships" id="263" r:id="Rbb2cc597dfe64b05"/>
    <p:sldId xmlns:r="http://schemas.openxmlformats.org/officeDocument/2006/relationships" id="264" r:id="Rfd18a4d561474840"/>
    <p:sldId xmlns:r="http://schemas.openxmlformats.org/officeDocument/2006/relationships" id="265" r:id="R8113b7b7fdfc4095"/>
    <p:sldId xmlns:r="http://schemas.openxmlformats.org/officeDocument/2006/relationships" id="266" r:id="Re07b0c78157d42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4edc5d0ea4e57" /><Relationship Type="http://schemas.openxmlformats.org/officeDocument/2006/relationships/slideMaster" Target="/ppt/slideMasters/slideMaster1.xml" Id="R0f30d26cd3954f98" /><Relationship Type="http://schemas.openxmlformats.org/officeDocument/2006/relationships/notesMaster" Target="/ppt/notesMasters/notesMaster1.xml" Id="Rbe7d82c76794405c" /><Relationship Type="http://schemas.openxmlformats.org/officeDocument/2006/relationships/presProps" Target="/ppt/presProps.xml" Id="Rddc4a832d4694e6a" /><Relationship Type="http://schemas.openxmlformats.org/officeDocument/2006/relationships/tableStyles" Target="/ppt/tableStyles.xml" Id="Rf4ab59b97bf24b9e" /><Relationship Type="http://schemas.openxmlformats.org/officeDocument/2006/relationships/slide" Target="/ppt/slides/slide1.xml" Id="R3c7f882a73594f67" /><Relationship Type="http://schemas.openxmlformats.org/officeDocument/2006/relationships/slide" Target="/ppt/slides/slide2.xml" Id="R745a7d20cff94d7f" /><Relationship Type="http://schemas.openxmlformats.org/officeDocument/2006/relationships/slide" Target="/ppt/slides/slide3.xml" Id="R1f132d76838443d2" /><Relationship Type="http://schemas.openxmlformats.org/officeDocument/2006/relationships/slide" Target="/ppt/slides/slide4.xml" Id="R147d44227ef445b8" /><Relationship Type="http://schemas.openxmlformats.org/officeDocument/2006/relationships/slide" Target="/ppt/slides/slide5.xml" Id="Rc43e0a73cf49447d" /><Relationship Type="http://schemas.openxmlformats.org/officeDocument/2006/relationships/slide" Target="/ppt/slides/slide6.xml" Id="Rb169b8aad11b4f18" /><Relationship Type="http://schemas.openxmlformats.org/officeDocument/2006/relationships/slide" Target="/ppt/slides/slide7.xml" Id="R5b0d30f9b5394b0b" /><Relationship Type="http://schemas.openxmlformats.org/officeDocument/2006/relationships/slide" Target="/ppt/slides/slide8.xml" Id="Rbb2cc597dfe64b05" /><Relationship Type="http://schemas.openxmlformats.org/officeDocument/2006/relationships/slide" Target="/ppt/slides/slide9.xml" Id="Rfd18a4d561474840" /><Relationship Type="http://schemas.openxmlformats.org/officeDocument/2006/relationships/slide" Target="/ppt/slides/slide10.xml" Id="R8113b7b7fdfc4095" /><Relationship Type="http://schemas.openxmlformats.org/officeDocument/2006/relationships/slide" Target="/ppt/slides/slide11.xml" Id="Re07b0c78157d42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bddaea0424b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abd66146174c5e" /><Relationship Type="http://schemas.openxmlformats.org/officeDocument/2006/relationships/notesMaster" Target="/ppt/notesMasters/notesMaster1.xml" Id="Rf3f2411607a0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c25dd96b60494c" /><Relationship Type="http://schemas.openxmlformats.org/officeDocument/2006/relationships/notesMaster" Target="/ppt/notesMasters/notesMaster1.xml" Id="R08dd85a0be72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997014d1cf42b0" /><Relationship Type="http://schemas.openxmlformats.org/officeDocument/2006/relationships/notesMaster" Target="/ppt/notesMasters/notesMaster1.xml" Id="Rec3b5b8f0cfd48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56c7f59834f1c" /><Relationship Type="http://schemas.openxmlformats.org/officeDocument/2006/relationships/notesMaster" Target="/ppt/notesMasters/notesMaster1.xml" Id="R05d0ff8857c04c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3a9fc837124eff" /><Relationship Type="http://schemas.openxmlformats.org/officeDocument/2006/relationships/notesMaster" Target="/ppt/notesMasters/notesMaster1.xml" Id="Ra351975aa5e740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1ab35354e2421d" /><Relationship Type="http://schemas.openxmlformats.org/officeDocument/2006/relationships/notesMaster" Target="/ppt/notesMasters/notesMaster1.xml" Id="R37fcad663d664b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a915fadcbd46b6" /><Relationship Type="http://schemas.openxmlformats.org/officeDocument/2006/relationships/notesMaster" Target="/ppt/notesMasters/notesMaster1.xml" Id="Rc8aba8bf0b114b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1505773e3c40a2" /><Relationship Type="http://schemas.openxmlformats.org/officeDocument/2006/relationships/notesMaster" Target="/ppt/notesMasters/notesMaster1.xml" Id="R407a8bc1fdd4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6c057b96a3438c" /><Relationship Type="http://schemas.openxmlformats.org/officeDocument/2006/relationships/notesMaster" Target="/ppt/notesMasters/notesMaster1.xml" Id="R2c2ee71b2f5445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cde9f614734678" /><Relationship Type="http://schemas.openxmlformats.org/officeDocument/2006/relationships/notesMaster" Target="/ppt/notesMasters/notesMaster1.xml" Id="Rda198f11fdae48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efde50fd934d04" /><Relationship Type="http://schemas.openxmlformats.org/officeDocument/2006/relationships/notesMaster" Target="/ppt/notesMasters/notesMaster1.xml" Id="R042562bfa5bd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开场：用“六地红”作为全稿中心判断，接着说明困境、路径和结果。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原稿依据：从“三高三低”到深耕辽宁。左、右两组是并列诊断，分别由箭头汇入实践转向。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原稿依据：六个红色标识与“离理工青年最近、最燃、最硬核”的目标。六地共享一个辽宁红色资源容器。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原稿依据：1+3+N 括注。严格区分矩阵层级与研学链内部“1+6+N”路线。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原稿依据：五类抓手第一段；三项任务是并列，不人为补出执行顺序；三摆三写为机制重心；26项与26份/8家明确分开。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原稿依据：VR 党员教育示范基地抓手。22→7 是转化关系，7→预约体验是使用结果，奖项与肯定是支持证据。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原稿依据：青春有理青年宣讲团。32→10→36 是执行链，3800多人和省级认定是结果证据。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原稿依据：红色朋友圈。41家单位与2000余人次/年归属于整体共学联建；西部三校只作为互学合作方，两端用地区/合作方节点与双向箭头表达。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原稿依据：红色育人机制。四阶段是明确顺序；学分、三会一课、36位导师是跨阶段支撑。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原稿依据：五年成效。58%→87%为主证据；26份与8家单独标注；声音更响保留文字结果；40%保留完整指标，不把26/8写成比值。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收束：回到中心判断，引用与五类抓手降级为支持，结束于青年投身振兴的行动指向。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2450d70624b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7ed977fca64567" /><Relationship Type="http://schemas.openxmlformats.org/officeDocument/2006/relationships/slideLayout" Target="/ppt/slideLayouts/slideLayout1.xml" Id="R014bee43fd9c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4bee43fd9c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c71016a51448d" /><Relationship Type="http://schemas.openxmlformats.org/officeDocument/2006/relationships/notesSlide" Target="/ppt/notesSlides/notesSlide1.xml" Id="Rec447341503a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6c433120b422f" /><Relationship Type="http://schemas.openxmlformats.org/officeDocument/2006/relationships/notesSlide" Target="/ppt/notesSlides/notesSlide2.xml" Id="R5e162910285245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476e4cfc34555" /><Relationship Type="http://schemas.openxmlformats.org/officeDocument/2006/relationships/notesSlide" Target="/ppt/notesSlides/notesSlide3.xml" Id="R80d2ec0560bb42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c96f753904a72" /><Relationship Type="http://schemas.openxmlformats.org/officeDocument/2006/relationships/notesSlide" Target="/ppt/notesSlides/notesSlide4.xml" Id="Rb71a66cfeb2941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e5d16c4ee4baf" /><Relationship Type="http://schemas.openxmlformats.org/officeDocument/2006/relationships/notesSlide" Target="/ppt/notesSlides/notesSlide5.xml" Id="R727a15f0c9c848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96ec86e7043b9" /><Relationship Type="http://schemas.openxmlformats.org/officeDocument/2006/relationships/notesSlide" Target="/ppt/notesSlides/notesSlide6.xml" Id="R554bad8ed89749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d9f5064c24946" /><Relationship Type="http://schemas.openxmlformats.org/officeDocument/2006/relationships/notesSlide" Target="/ppt/notesSlides/notesSlide7.xml" Id="R646fdcd0194745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f32ccfc0a414b" /><Relationship Type="http://schemas.openxmlformats.org/officeDocument/2006/relationships/notesSlide" Target="/ppt/notesSlides/notesSlide8.xml" Id="R9e99b8f58bfd47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b738dbc0d4750" /><Relationship Type="http://schemas.openxmlformats.org/officeDocument/2006/relationships/notesSlide" Target="/ppt/notesSlides/notesSlide9.xml" Id="R84bab072b77e41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1edd721e04cd3" /><Relationship Type="http://schemas.openxmlformats.org/officeDocument/2006/relationships/notesSlide" Target="/ppt/notesSlides/notesSlide10.xml" Id="Rcfd8033c044f43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c947fd6b54203" /><Relationship Type="http://schemas.openxmlformats.org/officeDocument/2006/relationships/notesSlide" Target="/ppt/notesSlides/notesSlide11.xml" Id="R5ef57ee621f8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band">
            <a:extLst xmlns:a="http://schemas.openxmlformats.org/drawingml/2006/main">
              <a:ext uri="{FF2B5EF4-FFF2-40B4-BE49-F238E27FC236}">
                <a16:creationId xmlns:a16="http://schemas.microsoft.com/office/drawing/2014/main" id="{853D7B4F-8D7B-4A7F-886A-E9785C2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94E8739-08FB-4A0A-ACD6-728B113B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辽宁“六地”红色文化标识融入党员教育的创新实践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FDC8E8-8966-4267-9DA4-39D10078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让“六地”红，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成为理工青年最鲜亮的青春底色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6356AF84-D85C-46FE-B4FC-0DCE99C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十年探路 · 五年深耕 · 把红色资源变成离青年最近的党员教育现场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3F36A7FA-63FC-4308-B998-B5A0807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cover-foot">
            <a:extLst xmlns:a="http://schemas.openxmlformats.org/drawingml/2006/main">
              <a:ext uri="{FF2B5EF4-FFF2-40B4-BE49-F238E27FC236}">
                <a16:creationId xmlns:a16="http://schemas.microsoft.com/office/drawing/2014/main" id="{94C23EFD-E408-46B7-B6B5-0BBF006B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创新案例分享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CABA168A-AA22-4E53-A157-7412729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红色研学链  /  青春课堂  /  育人机制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7D86BB5B-B186-4ECB-9472-FEEE8ECD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4179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9A843F2E-BC8A-490A-AF4F-C04744A7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57BCB4-BD5A-4DB8-A88A-DED013FF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理工学生的高优势，曾与低认同并存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DCC335-1125-4A0D-98AE-2E8F5684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7F261D3-4523-4DCA-8348-5AAE9B31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37FDF0F-E35C-4E5A-8D56-7ECFDEBA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B009440A-EEB0-4F0E-A772-C3917AD6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学院先识别“三高三低”的结构性困境，再把优势导入党建实践。</a:t>
            </a:r>
          </a:p>
        </p:txBody>
      </p:sp>
      <p:sp>
        <p:nvSpPr>
          <p:cNvPr id="7" name="high-group">
            <a:extLst xmlns:a="http://schemas.openxmlformats.org/drawingml/2006/main">
              <a:ext uri="{FF2B5EF4-FFF2-40B4-BE49-F238E27FC236}">
                <a16:creationId xmlns:a16="http://schemas.microsoft.com/office/drawing/2014/main" id="{4625C429-9EB7-481A-817A-50678D1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31432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high-title">
            <a:extLst xmlns:a="http://schemas.openxmlformats.org/drawingml/2006/main">
              <a:ext uri="{FF2B5EF4-FFF2-40B4-BE49-F238E27FC236}">
                <a16:creationId xmlns:a16="http://schemas.microsoft.com/office/drawing/2014/main" id="{CF14487C-3A04-4B9E-97EA-90277124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431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学生优势</a:t>
            </a:r>
          </a:p>
        </p:txBody>
      </p:sp>
      <p:sp>
        <p:nvSpPr>
          <p:cNvPr id="9" name="high-copy">
            <a:extLst xmlns:a="http://schemas.openxmlformats.org/drawingml/2006/main">
              <a:ext uri="{FF2B5EF4-FFF2-40B4-BE49-F238E27FC236}">
                <a16:creationId xmlns:a16="http://schemas.microsoft.com/office/drawing/2014/main" id="{101C7278-02ED-4ED5-80A0-BE47873A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0325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高学分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高竞赛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高科研</a:t>
            </a:r>
          </a:p>
        </p:txBody>
      </p:sp>
      <p:sp>
        <p:nvSpPr>
          <p:cNvPr id="10" name="low-group">
            <a:extLst xmlns:a="http://schemas.openxmlformats.org/drawingml/2006/main">
              <a:ext uri="{FF2B5EF4-FFF2-40B4-BE49-F238E27FC236}">
                <a16:creationId xmlns:a16="http://schemas.microsoft.com/office/drawing/2014/main" id="{37AE171F-EAAB-4531-911C-41826E5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31432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low-title">
            <a:extLst xmlns:a="http://schemas.openxmlformats.org/drawingml/2006/main">
              <a:ext uri="{FF2B5EF4-FFF2-40B4-BE49-F238E27FC236}">
                <a16:creationId xmlns:a16="http://schemas.microsoft.com/office/drawing/2014/main" id="{94660289-DF7F-4A47-A064-499B444B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教育难题</a:t>
            </a:r>
          </a:p>
        </p:txBody>
      </p:sp>
      <p:sp>
        <p:nvSpPr>
          <p:cNvPr id="12" name="low-copy">
            <a:extLst xmlns:a="http://schemas.openxmlformats.org/drawingml/2006/main">
              <a:ext uri="{FF2B5EF4-FFF2-40B4-BE49-F238E27FC236}">
                <a16:creationId xmlns:a16="http://schemas.microsoft.com/office/drawing/2014/main" id="{CEC0D782-D28A-4264-830C-CD691CC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理论情感浓度低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身份认同声量低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知行合一燃值低</a:t>
            </a:r>
          </a:p>
        </p:txBody>
      </p:sp>
      <p:sp>
        <p:nvSpPr>
          <p:cNvPr id="13" name="pivot">
            <a:extLst xmlns:a="http://schemas.openxmlformats.org/drawingml/2006/main">
              <a:ext uri="{FF2B5EF4-FFF2-40B4-BE49-F238E27FC236}">
                <a16:creationId xmlns:a16="http://schemas.microsoft.com/office/drawing/2014/main" id="{BA11A722-6FA3-45B1-A189-BAA367BD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571875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vot-title">
            <a:extLst xmlns:a="http://schemas.openxmlformats.org/drawingml/2006/main">
              <a:ext uri="{FF2B5EF4-FFF2-40B4-BE49-F238E27FC236}">
                <a16:creationId xmlns:a16="http://schemas.microsoft.com/office/drawing/2014/main" id="{D0144142-4463-48F4-A4B1-A159EC06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党建实践转向</a:t>
            </a:r>
          </a:p>
        </p:txBody>
      </p:sp>
      <p:sp>
        <p:nvSpPr>
          <p:cNvPr id="15" name="pivot-copy">
            <a:extLst xmlns:a="http://schemas.openxmlformats.org/drawingml/2006/main">
              <a:ext uri="{FF2B5EF4-FFF2-40B4-BE49-F238E27FC236}">
                <a16:creationId xmlns:a16="http://schemas.microsoft.com/office/drawing/2014/main" id="{2F9FEC48-D601-4B34-A288-F6962792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组建红色梦想实践团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走遍全国九省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在社会课堂锻造“理论＋实践”立体化红色矩阵</a:t>
            </a:r>
          </a:p>
        </p:txBody>
      </p: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095500" y="4362450"/>
            <a:ext cx="7691438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10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5667375" y="4362450"/>
            <a:ext cx="4119563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1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C520EF95-CE74-4D32-8533-823F28F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今天的选择：把目光从“走遍全国”转向“深耕辽宁”。</a:t>
            </a:r>
          </a:p>
        </p:txBody>
      </p:sp>
    </p:spTree>
    <p:extLst>
      <p:ext uri="{BB962C8B-B14F-4D97-AF65-F5344CB8AC3E}">
        <p14:creationId xmlns:p14="http://schemas.microsoft.com/office/powerpoint/2010/main" val="1363052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B4EC9CB9-A931-4F99-B710-915F288D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C9C76E-C257-4696-9E5D-B5669028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深耕辽宁，让“六地”成为最近的教育现场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4544C8-6F5C-4824-86D6-00EED50B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8B87BD2-FE8B-474E-ACD0-54EAEDA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C7A1BD2-1436-4452-ACD2-25A855C6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EF59EE00-ACA0-4304-AF09-6E502FB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六个红色标识共同构成辽宁故事的“最近、最燃、最硬核”现场。</a:t>
            </a:r>
          </a:p>
        </p:txBody>
      </p:sp>
      <p:sp>
        <p:nvSpPr>
          <p:cNvPr id="7" name="six-container">
            <a:extLst xmlns:a="http://schemas.openxmlformats.org/drawingml/2006/main">
              <a:ext uri="{FF2B5EF4-FFF2-40B4-BE49-F238E27FC236}">
                <a16:creationId xmlns:a16="http://schemas.microsoft.com/office/drawing/2014/main" id="{58C11620-929E-40D4-AD9A-A195C43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239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ix-title">
            <a:extLst xmlns:a="http://schemas.openxmlformats.org/drawingml/2006/main">
              <a:ext uri="{FF2B5EF4-FFF2-40B4-BE49-F238E27FC236}">
                <a16:creationId xmlns:a16="http://schemas.microsoft.com/office/drawing/2014/main" id="{B54B074B-1AD6-497E-A4D3-F74D37F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</a:t>
            </a:r>
          </a:p>
        </p:txBody>
      </p:sp>
      <p:sp>
        <p:nvSpPr>
          <p:cNvPr id="9" name="six-0">
            <a:extLst xmlns:a="http://schemas.openxmlformats.org/drawingml/2006/main">
              <a:ext uri="{FF2B5EF4-FFF2-40B4-BE49-F238E27FC236}">
                <a16:creationId xmlns:a16="http://schemas.microsoft.com/office/drawing/2014/main" id="{1BD04BAA-89FA-44F0-9E34-2112C9F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" name="six-0a">
            <a:extLst xmlns:a="http://schemas.openxmlformats.org/drawingml/2006/main">
              <a:ext uri="{FF2B5EF4-FFF2-40B4-BE49-F238E27FC236}">
                <a16:creationId xmlns:a16="http://schemas.microsoft.com/office/drawing/2014/main" id="{6F711655-0F75-47BF-8753-1079A8B3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抗日战争</a:t>
            </a:r>
          </a:p>
        </p:txBody>
      </p:sp>
      <p:sp>
        <p:nvSpPr>
          <p:cNvPr id="11" name="six-0b">
            <a:extLst xmlns:a="http://schemas.openxmlformats.org/drawingml/2006/main">
              <a:ext uri="{FF2B5EF4-FFF2-40B4-BE49-F238E27FC236}">
                <a16:creationId xmlns:a16="http://schemas.microsoft.com/office/drawing/2014/main" id="{3AB1D22B-8C46-40F2-A7C3-2A0FAF2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起始地</a:t>
            </a:r>
          </a:p>
        </p:txBody>
      </p:sp>
      <p:sp>
        <p:nvSpPr>
          <p:cNvPr id="12" name="six-1">
            <a:extLst xmlns:a="http://schemas.openxmlformats.org/drawingml/2006/main">
              <a:ext uri="{FF2B5EF4-FFF2-40B4-BE49-F238E27FC236}">
                <a16:creationId xmlns:a16="http://schemas.microsoft.com/office/drawing/2014/main" id="{2D1D7608-7524-4511-BD19-EBC5388A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six-1a">
            <a:extLst xmlns:a="http://schemas.openxmlformats.org/drawingml/2006/main">
              <a:ext uri="{FF2B5EF4-FFF2-40B4-BE49-F238E27FC236}">
                <a16:creationId xmlns:a16="http://schemas.microsoft.com/office/drawing/2014/main" id="{BD937273-ED83-48B1-ADD0-C61DA00E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解放战争</a:t>
            </a:r>
          </a:p>
        </p:txBody>
      </p:sp>
      <p:sp>
        <p:nvSpPr>
          <p:cNvPr id="14" name="six-1b">
            <a:extLst xmlns:a="http://schemas.openxmlformats.org/drawingml/2006/main">
              <a:ext uri="{FF2B5EF4-FFF2-40B4-BE49-F238E27FC236}">
                <a16:creationId xmlns:a16="http://schemas.microsoft.com/office/drawing/2014/main" id="{1EC6C5B0-7AE4-45E9-AD51-2565AA48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转折地</a:t>
            </a:r>
          </a:p>
        </p:txBody>
      </p:sp>
      <p:sp>
        <p:nvSpPr>
          <p:cNvPr id="15" name="six-2">
            <a:extLst xmlns:a="http://schemas.openxmlformats.org/drawingml/2006/main">
              <a:ext uri="{FF2B5EF4-FFF2-40B4-BE49-F238E27FC236}">
                <a16:creationId xmlns:a16="http://schemas.microsoft.com/office/drawing/2014/main" id="{1C5F6347-0F16-498D-BA88-21106E9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six-2a">
            <a:extLst xmlns:a="http://schemas.openxmlformats.org/drawingml/2006/main">
              <a:ext uri="{FF2B5EF4-FFF2-40B4-BE49-F238E27FC236}">
                <a16:creationId xmlns:a16="http://schemas.microsoft.com/office/drawing/2014/main" id="{289667FE-2F32-4F90-8C74-557DA07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新中国国歌</a:t>
            </a:r>
          </a:p>
        </p:txBody>
      </p:sp>
      <p:sp>
        <p:nvSpPr>
          <p:cNvPr id="17" name="six-2b">
            <a:extLst xmlns:a="http://schemas.openxmlformats.org/drawingml/2006/main">
              <a:ext uri="{FF2B5EF4-FFF2-40B4-BE49-F238E27FC236}">
                <a16:creationId xmlns:a16="http://schemas.microsoft.com/office/drawing/2014/main" id="{513B1E31-2D10-4B49-89BB-7D6C0BF1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素材地</a:t>
            </a:r>
          </a:p>
        </p:txBody>
      </p:sp>
      <p:sp>
        <p:nvSpPr>
          <p:cNvPr id="18" name="six-3">
            <a:extLst xmlns:a="http://schemas.openxmlformats.org/drawingml/2006/main">
              <a:ext uri="{FF2B5EF4-FFF2-40B4-BE49-F238E27FC236}">
                <a16:creationId xmlns:a16="http://schemas.microsoft.com/office/drawing/2014/main" id="{20B8425A-6194-4A2E-9798-01E233A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six-3a">
            <a:extLst xmlns:a="http://schemas.openxmlformats.org/drawingml/2006/main">
              <a:ext uri="{FF2B5EF4-FFF2-40B4-BE49-F238E27FC236}">
                <a16:creationId xmlns:a16="http://schemas.microsoft.com/office/drawing/2014/main" id="{2AA1F0F2-2199-432C-9459-5E6EE966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抗美援朝</a:t>
            </a:r>
          </a:p>
        </p:txBody>
      </p:sp>
      <p:sp>
        <p:nvSpPr>
          <p:cNvPr id="20" name="six-3b">
            <a:extLst xmlns:a="http://schemas.openxmlformats.org/drawingml/2006/main">
              <a:ext uri="{FF2B5EF4-FFF2-40B4-BE49-F238E27FC236}">
                <a16:creationId xmlns:a16="http://schemas.microsoft.com/office/drawing/2014/main" id="{0EA902A1-86A2-40B4-B46B-D70F018F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出征地</a:t>
            </a:r>
          </a:p>
        </p:txBody>
      </p:sp>
      <p:sp>
        <p:nvSpPr>
          <p:cNvPr id="21" name="six-4">
            <a:extLst xmlns:a="http://schemas.openxmlformats.org/drawingml/2006/main">
              <a:ext uri="{FF2B5EF4-FFF2-40B4-BE49-F238E27FC236}">
                <a16:creationId xmlns:a16="http://schemas.microsoft.com/office/drawing/2014/main" id="{9C518883-E8AD-42BD-BBE4-25FFF20D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six-4a">
            <a:extLst xmlns:a="http://schemas.openxmlformats.org/drawingml/2006/main">
              <a:ext uri="{FF2B5EF4-FFF2-40B4-BE49-F238E27FC236}">
                <a16:creationId xmlns:a16="http://schemas.microsoft.com/office/drawing/2014/main" id="{AEB9130D-6C74-4B54-8B32-17F4BB8E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共和国工业</a:t>
            </a:r>
          </a:p>
        </p:txBody>
      </p:sp>
      <p:sp>
        <p:nvSpPr>
          <p:cNvPr id="23" name="six-4b">
            <a:extLst xmlns:a="http://schemas.openxmlformats.org/drawingml/2006/main">
              <a:ext uri="{FF2B5EF4-FFF2-40B4-BE49-F238E27FC236}">
                <a16:creationId xmlns:a16="http://schemas.microsoft.com/office/drawing/2014/main" id="{29FEA0ED-AE16-4A5C-A796-9577134A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奠基地</a:t>
            </a:r>
          </a:p>
        </p:txBody>
      </p:sp>
      <p:sp>
        <p:nvSpPr>
          <p:cNvPr id="24" name="six-5">
            <a:extLst xmlns:a="http://schemas.openxmlformats.org/drawingml/2006/main">
              <a:ext uri="{FF2B5EF4-FFF2-40B4-BE49-F238E27FC236}">
                <a16:creationId xmlns:a16="http://schemas.microsoft.com/office/drawing/2014/main" id="{7F36408E-BA1D-49AC-9D2B-70165F7D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six-5a">
            <a:extLst xmlns:a="http://schemas.openxmlformats.org/drawingml/2006/main">
              <a:ext uri="{FF2B5EF4-FFF2-40B4-BE49-F238E27FC236}">
                <a16:creationId xmlns:a16="http://schemas.microsoft.com/office/drawing/2014/main" id="{B26BF15A-D764-49AD-8C0D-B2848386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雷锋精神</a:t>
            </a:r>
          </a:p>
        </p:txBody>
      </p:sp>
      <p:sp>
        <p:nvSpPr>
          <p:cNvPr id="26" name="six-5b">
            <a:extLst xmlns:a="http://schemas.openxmlformats.org/drawingml/2006/main">
              <a:ext uri="{FF2B5EF4-FFF2-40B4-BE49-F238E27FC236}">
                <a16:creationId xmlns:a16="http://schemas.microsoft.com/office/drawing/2014/main" id="{4D3E4297-7961-49F4-832A-6E2047EC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发祥地</a:t>
            </a:r>
          </a:p>
        </p:txBody>
      </p:sp>
      <p:sp>
        <p:nvSpPr>
          <p:cNvPr id="27" name="young-site">
            <a:extLst xmlns:a="http://schemas.openxmlformats.org/drawingml/2006/main">
              <a:ext uri="{FF2B5EF4-FFF2-40B4-BE49-F238E27FC236}">
                <a16:creationId xmlns:a16="http://schemas.microsoft.com/office/drawing/2014/main" id="{498914E3-91EE-4C8A-8A27-31711931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ite-title">
            <a:extLst xmlns:a="http://schemas.openxmlformats.org/drawingml/2006/main">
              <a:ext uri="{FF2B5EF4-FFF2-40B4-BE49-F238E27FC236}">
                <a16:creationId xmlns:a16="http://schemas.microsoft.com/office/drawing/2014/main" id="{46C32D01-5CDF-4BBD-B865-15AF7B50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47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党员教育现场</a:t>
            </a:r>
          </a:p>
        </p:txBody>
      </p:sp>
      <p:sp>
        <p:nvSpPr>
          <p:cNvPr id="29" name="site-copy">
            <a:extLst xmlns:a="http://schemas.openxmlformats.org/drawingml/2006/main">
              <a:ext uri="{FF2B5EF4-FFF2-40B4-BE49-F238E27FC236}">
                <a16:creationId xmlns:a16="http://schemas.microsoft.com/office/drawing/2014/main" id="{BC322237-F8C4-423B-838F-1CAA21C7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热爱辽宁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扎根辽宁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服务辽宁</a:t>
            </a:r>
          </a:p>
        </p:txBody>
      </p:sp>
      <p:sp>
        <p:nvSpPr>
          <p:cNvPr id="30" name="bottom-note">
            <a:extLst xmlns:a="http://schemas.openxmlformats.org/drawingml/2006/main">
              <a:ext uri="{FF2B5EF4-FFF2-40B4-BE49-F238E27FC236}">
                <a16:creationId xmlns:a16="http://schemas.microsoft.com/office/drawing/2014/main" id="{DCBFA477-0087-4E4F-AB45-8680ED84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把红色资源从“远方的故事”变成青年可以走近、走进、走完的教育路径。</a:t>
            </a:r>
          </a:p>
        </p:txBody>
      </p:sp>
    </p:spTree>
    <p:extLst>
      <p:ext uri="{BB962C8B-B14F-4D97-AF65-F5344CB8AC3E}">
        <p14:creationId xmlns:p14="http://schemas.microsoft.com/office/powerpoint/2010/main" val="306696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B86F0839-C12C-4ACB-B452-455677AA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AC68D2-34D3-44EF-820D-CE7A8DDF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1+3+N 新矩阵，把教育拓展到全时全域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96ED75-230A-4E86-9257-317D518D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6831FE5-659E-4247-9D6A-6F915B20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91D4F64-ECD4-4732-BF16-FCB6D22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D7BD01FF-0349-49C1-B28D-8AF62B88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双轮驱动先明确方向，再由 1+3+N 把教育落到链、课堂与场景。</a:t>
            </a:r>
          </a:p>
        </p:txBody>
      </p:sp>
      <p:sp>
        <p:nvSpPr>
          <p:cNvPr id="7" name="driver-red">
            <a:extLst xmlns:a="http://schemas.openxmlformats.org/drawingml/2006/main">
              <a:ext uri="{FF2B5EF4-FFF2-40B4-BE49-F238E27FC236}">
                <a16:creationId xmlns:a16="http://schemas.microsoft.com/office/drawing/2014/main" id="{2094369A-7612-4F94-A471-F341C842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33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driver-red-title">
            <a:extLst xmlns:a="http://schemas.openxmlformats.org/drawingml/2006/main">
              <a:ext uri="{FF2B5EF4-FFF2-40B4-BE49-F238E27FC236}">
                <a16:creationId xmlns:a16="http://schemas.microsoft.com/office/drawing/2014/main" id="{B7E6418F-6C0D-4E64-B937-E638BB33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907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红色基因传承</a:t>
            </a:r>
          </a:p>
        </p:txBody>
      </p:sp>
      <p:sp>
        <p:nvSpPr>
          <p:cNvPr id="9" name="driver-red-copy">
            <a:extLst xmlns:a="http://schemas.openxmlformats.org/drawingml/2006/main">
              <a:ext uri="{FF2B5EF4-FFF2-40B4-BE49-F238E27FC236}">
                <a16:creationId xmlns:a16="http://schemas.microsoft.com/office/drawing/2014/main" id="{81FD804A-C942-4699-BF78-466FB87A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深挖“六地”文化内涵，绘制“红色足迹地图”</a:t>
            </a:r>
          </a:p>
        </p:txBody>
      </p:sp>
      <p:sp>
        <p:nvSpPr>
          <p:cNvPr id="10" name="driver-practice">
            <a:extLst xmlns:a="http://schemas.openxmlformats.org/drawingml/2006/main">
              <a:ext uri="{FF2B5EF4-FFF2-40B4-BE49-F238E27FC236}">
                <a16:creationId xmlns:a16="http://schemas.microsoft.com/office/drawing/2014/main" id="{E0221210-A8E1-4384-A6D4-FB7D333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23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driver-practice-title">
            <a:extLst xmlns:a="http://schemas.openxmlformats.org/drawingml/2006/main">
              <a:ext uri="{FF2B5EF4-FFF2-40B4-BE49-F238E27FC236}">
                <a16:creationId xmlns:a16="http://schemas.microsoft.com/office/drawing/2014/main" id="{E18F8828-67D5-40A6-AB56-866D441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907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实践研学赋能</a:t>
            </a:r>
          </a:p>
        </p:txBody>
      </p:sp>
      <p:sp>
        <p:nvSpPr>
          <p:cNvPr id="12" name="driver-practice-copy">
            <a:extLst xmlns:a="http://schemas.openxmlformats.org/drawingml/2006/main">
              <a:ext uri="{FF2B5EF4-FFF2-40B4-BE49-F238E27FC236}">
                <a16:creationId xmlns:a16="http://schemas.microsoft.com/office/drawing/2014/main" id="{5814DB5A-C1BB-4CAC-B7A9-2942BD85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7170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把红色资源变成可走近、可进入、可协作的现场</a:t>
            </a:r>
          </a:p>
        </p:txBody>
      </p:sp>
      <p:sp>
        <p:nvSpPr>
          <p:cNvPr id="13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ED539811-35D1-4770-B09C-DFC13476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1049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matrix-frame-title">
            <a:extLst xmlns:a="http://schemas.openxmlformats.org/drawingml/2006/main">
              <a:ext uri="{FF2B5EF4-FFF2-40B4-BE49-F238E27FC236}">
                <a16:creationId xmlns:a16="http://schemas.microsoft.com/office/drawing/2014/main" id="{907DED98-B048-4201-9FCE-CA0F5EE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194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1 + 3 + N 新矩阵  ·  五位一体红色育人生态</a:t>
            </a:r>
          </a:p>
        </p:txBody>
      </p:sp>
      <p:sp>
        <p:nvSpPr>
          <p:cNvPr id="15" name="matrix-chain">
            <a:extLst xmlns:a="http://schemas.openxmlformats.org/drawingml/2006/main">
              <a:ext uri="{FF2B5EF4-FFF2-40B4-BE49-F238E27FC236}">
                <a16:creationId xmlns:a16="http://schemas.microsoft.com/office/drawing/2014/main" id="{37152DB7-9538-4FED-A2F0-AAD7CF87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3190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chain-title">
            <a:extLst xmlns:a="http://schemas.openxmlformats.org/drawingml/2006/main">
              <a:ext uri="{FF2B5EF4-FFF2-40B4-BE49-F238E27FC236}">
                <a16:creationId xmlns:a16="http://schemas.microsoft.com/office/drawing/2014/main" id="{62BD1DDE-E9DE-4246-9C66-0A663CCC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671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 条研学链</a:t>
            </a:r>
          </a:p>
        </p:txBody>
      </p:sp>
      <p:sp>
        <p:nvSpPr>
          <p:cNvPr id="17" name="chain-copy">
            <a:extLst xmlns:a="http://schemas.openxmlformats.org/drawingml/2006/main">
              <a:ext uri="{FF2B5EF4-FFF2-40B4-BE49-F238E27FC236}">
                <a16:creationId xmlns:a16="http://schemas.microsoft.com/office/drawing/2014/main" id="{18EA0398-7A55-4F5D-9D86-C6E3A46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对接 22 处“六地”示范教学点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 个校本基地 + 6 处核心场馆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+ N 个配套教学点</a:t>
            </a:r>
          </a:p>
        </p:txBody>
      </p:sp>
      <p:sp>
        <p:nvSpPr>
          <p:cNvPr id="18" name="matrix-classes">
            <a:extLst xmlns:a="http://schemas.openxmlformats.org/drawingml/2006/main">
              <a:ext uri="{FF2B5EF4-FFF2-40B4-BE49-F238E27FC236}">
                <a16:creationId xmlns:a16="http://schemas.microsoft.com/office/drawing/2014/main" id="{F6FCD8C9-EC08-4371-9036-4C57CC84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3190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classes-title">
            <a:extLst xmlns:a="http://schemas.openxmlformats.org/drawingml/2006/main">
              <a:ext uri="{FF2B5EF4-FFF2-40B4-BE49-F238E27FC236}">
                <a16:creationId xmlns:a16="http://schemas.microsoft.com/office/drawing/2014/main" id="{6BFC5549-FDE2-4332-9712-4568BA3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 类青春课堂</a:t>
            </a:r>
          </a:p>
        </p:txBody>
      </p:sp>
      <p:sp>
        <p:nvSpPr>
          <p:cNvPr id="20" name="classes-copy">
            <a:extLst xmlns:a="http://schemas.openxmlformats.org/drawingml/2006/main">
              <a:ext uri="{FF2B5EF4-FFF2-40B4-BE49-F238E27FC236}">
                <a16:creationId xmlns:a16="http://schemas.microsoft.com/office/drawing/2014/main" id="{7A1804DB-7D22-4CFA-AFA3-AE78BBAE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38625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行走课堂：红色研学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沉浸课堂：VR 党课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互动课堂：青春宣讲</a:t>
            </a:r>
          </a:p>
        </p:txBody>
      </p:sp>
      <p:sp>
        <p:nvSpPr>
          <p:cNvPr id="21" name="matrix-scenes">
            <a:extLst xmlns:a="http://schemas.openxmlformats.org/drawingml/2006/main">
              <a:ext uri="{FF2B5EF4-FFF2-40B4-BE49-F238E27FC236}">
                <a16:creationId xmlns:a16="http://schemas.microsoft.com/office/drawing/2014/main" id="{2BB0F41C-9B53-4420-9A42-C64D63A1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190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scenes-title">
            <a:extLst xmlns:a="http://schemas.openxmlformats.org/drawingml/2006/main">
              <a:ext uri="{FF2B5EF4-FFF2-40B4-BE49-F238E27FC236}">
                <a16:creationId xmlns:a16="http://schemas.microsoft.com/office/drawing/2014/main" id="{7E28E241-CA7C-43D5-8DC7-3CFF12D5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67150"/>
            <a:ext cx="280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N 个教育场景</a:t>
            </a:r>
          </a:p>
        </p:txBody>
      </p:sp>
      <p:sp>
        <p:nvSpPr>
          <p:cNvPr id="23" name="scenes-copy">
            <a:extLst xmlns:a="http://schemas.openxmlformats.org/drawingml/2006/main">
              <a:ext uri="{FF2B5EF4-FFF2-40B4-BE49-F238E27FC236}">
                <a16:creationId xmlns:a16="http://schemas.microsoft.com/office/drawing/2014/main" id="{6E141B27-2B80-448E-A589-95B2F6F7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38625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校地 · 校企 · 校校党建联建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从“一时一地”到“全时全域”</a:t>
            </a:r>
          </a:p>
        </p:txBody>
      </p:sp>
      <p:sp>
        <p:nvSpPr>
          <p:cNvPr id="2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9A2699E5-C526-4F50-A452-80E87CA7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1+6+N 是研学链内部路线；1+3+N 是全稿矩阵层级，二者口径分明。</a:t>
            </a:r>
          </a:p>
        </p:txBody>
      </p:sp>
    </p:spTree>
    <p:extLst>
      <p:ext uri="{BB962C8B-B14F-4D97-AF65-F5344CB8AC3E}">
        <p14:creationId xmlns:p14="http://schemas.microsoft.com/office/powerpoint/2010/main" val="215533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BB395FE3-C72A-486C-84EB-B294D828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B0E837-DFC2-4199-9580-70E5E569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红色任务单，把行走党课变成专业担当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069E35B-41C1-4B9E-862D-15AE4992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5F739C2-9FCB-4843-9EDB-629C3130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7B7528-A6C2-4F91-870F-4B3FA41B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E22DC27D-DA1E-4863-972B-3640BBCF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任务单不是打卡清单，而是“把自己、工作、职责摆进去”的三摆三写军令状。</a:t>
            </a:r>
          </a:p>
        </p:txBody>
      </p:sp>
      <p:sp>
        <p:nvSpPr>
          <p:cNvPr id="7" name="task-frame">
            <a:extLst xmlns:a="http://schemas.openxmlformats.org/drawingml/2006/main">
              <a:ext uri="{FF2B5EF4-FFF2-40B4-BE49-F238E27FC236}">
                <a16:creationId xmlns:a16="http://schemas.microsoft.com/office/drawing/2014/main" id="{F0E75AA6-9E1B-4FEB-A816-96228ECC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1104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task-frame-title">
            <a:extLst xmlns:a="http://schemas.openxmlformats.org/drawingml/2006/main">
              <a:ext uri="{FF2B5EF4-FFF2-40B4-BE49-F238E27FC236}">
                <a16:creationId xmlns:a16="http://schemas.microsoft.com/office/drawing/2014/main" id="{2168C198-6BFB-41C6-B27F-2CC0A069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383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三项共同任务</a:t>
            </a:r>
          </a:p>
        </p:txBody>
      </p:sp>
      <p:sp>
        <p:nvSpPr>
          <p:cNvPr id="9" name="task-a">
            <a:extLst xmlns:a="http://schemas.openxmlformats.org/drawingml/2006/main">
              <a:ext uri="{FF2B5EF4-FFF2-40B4-BE49-F238E27FC236}">
                <a16:creationId xmlns:a16="http://schemas.microsoft.com/office/drawing/2014/main" id="{E3594342-799D-4889-A1AC-A5A9FC49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304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" name="task-b">
            <a:extLst xmlns:a="http://schemas.openxmlformats.org/drawingml/2006/main">
              <a:ext uri="{FF2B5EF4-FFF2-40B4-BE49-F238E27FC236}">
                <a16:creationId xmlns:a16="http://schemas.microsoft.com/office/drawing/2014/main" id="{CCA7B54F-1AEA-49E8-9C8E-13AEA60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04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task-c">
            <a:extLst xmlns:a="http://schemas.openxmlformats.org/drawingml/2006/main">
              <a:ext uri="{FF2B5EF4-FFF2-40B4-BE49-F238E27FC236}">
                <a16:creationId xmlns:a16="http://schemas.microsoft.com/office/drawing/2014/main" id="{2E15FE4A-3E4C-4B28-9673-EED2FB23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task-a-t">
            <a:extLst xmlns:a="http://schemas.openxmlformats.org/drawingml/2006/main">
              <a:ext uri="{FF2B5EF4-FFF2-40B4-BE49-F238E27FC236}">
                <a16:creationId xmlns:a16="http://schemas.microsoft.com/office/drawing/2014/main" id="{359CEE8C-D596-4F0B-9703-C16D544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拍一段“青声说史”</a:t>
            </a:r>
          </a:p>
        </p:txBody>
      </p:sp>
      <p:sp>
        <p:nvSpPr>
          <p:cNvPr id="13" name="task-b-t">
            <a:extLst xmlns:a="http://schemas.openxmlformats.org/drawingml/2006/main">
              <a:ext uri="{FF2B5EF4-FFF2-40B4-BE49-F238E27FC236}">
                <a16:creationId xmlns:a16="http://schemas.microsoft.com/office/drawing/2014/main" id="{EBA7CCA6-C290-4D0F-8AA1-49A468AE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74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解决一个“微难题”</a:t>
            </a:r>
          </a:p>
        </p:txBody>
      </p:sp>
      <p:sp>
        <p:nvSpPr>
          <p:cNvPr id="14" name="task-c-t">
            <a:extLst xmlns:a="http://schemas.openxmlformats.org/drawingml/2006/main">
              <a:ext uri="{FF2B5EF4-FFF2-40B4-BE49-F238E27FC236}">
                <a16:creationId xmlns:a16="http://schemas.microsoft.com/office/drawing/2014/main" id="{F197E9D8-EE2C-4D9C-B97A-E0F7EBB7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574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带回一个“振兴微课题”</a:t>
            </a:r>
          </a:p>
        </p:txBody>
      </p:sp>
      <p:sp>
        <p:nvSpPr>
          <p:cNvPr id="15" name="triad-title">
            <a:extLst xmlns:a="http://schemas.openxmlformats.org/drawingml/2006/main">
              <a:ext uri="{FF2B5EF4-FFF2-40B4-BE49-F238E27FC236}">
                <a16:creationId xmlns:a16="http://schemas.microsoft.com/office/drawing/2014/main" id="{77A1CE08-FCD8-49D1-9C62-FFDE419E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三摆三写：任务单的机制重心</a:t>
            </a:r>
          </a:p>
        </p:txBody>
      </p:sp>
      <p:sp>
        <p:nvSpPr>
          <p:cNvPr id="16" name="triad">
            <a:extLst xmlns:a="http://schemas.openxmlformats.org/drawingml/2006/main">
              <a:ext uri="{FF2B5EF4-FFF2-40B4-BE49-F238E27FC236}">
                <a16:creationId xmlns:a16="http://schemas.microsoft.com/office/drawing/2014/main" id="{B501E87F-190F-4B3F-9B47-065555F3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666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iad-copy">
            <a:extLst xmlns:a="http://schemas.openxmlformats.org/drawingml/2006/main">
              <a:ext uri="{FF2B5EF4-FFF2-40B4-BE49-F238E27FC236}">
                <a16:creationId xmlns:a16="http://schemas.microsoft.com/office/drawing/2014/main" id="{3BF524CF-A32A-46B4-9C4A-22760C5B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86275"/>
            <a:ext cx="613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把自己摆进去 → 写青春誓言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把工作摆进去 → 写专业方案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把职责摆进去 → 写振兴答卷</a:t>
            </a:r>
          </a:p>
        </p:txBody>
      </p:sp>
      <p:sp>
        <p:nvSpPr>
          <p:cNvPr id="18" name="task-evidence">
            <a:extLst xmlns:a="http://schemas.openxmlformats.org/drawingml/2006/main">
              <a:ext uri="{FF2B5EF4-FFF2-40B4-BE49-F238E27FC236}">
                <a16:creationId xmlns:a16="http://schemas.microsoft.com/office/drawing/2014/main" id="{9D9921D8-A77A-4772-98D1-41563EA3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385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task-evidence-title">
            <a:extLst xmlns:a="http://schemas.openxmlformats.org/drawingml/2006/main">
              <a:ext uri="{FF2B5EF4-FFF2-40B4-BE49-F238E27FC236}">
                <a16:creationId xmlns:a16="http://schemas.microsoft.com/office/drawing/2014/main" id="{EC919190-BF6E-4358-B6E0-29513F56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3400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两组不同口径的证据</a:t>
            </a:r>
          </a:p>
        </p:txBody>
      </p:sp>
      <p:sp>
        <p:nvSpPr>
          <p:cNvPr id="20" name="task-evidence-copy">
            <a:extLst xmlns:a="http://schemas.openxmlformats.org/drawingml/2006/main">
              <a:ext uri="{FF2B5EF4-FFF2-40B4-BE49-F238E27FC236}">
                <a16:creationId xmlns:a16="http://schemas.microsoft.com/office/drawing/2014/main" id="{E9E68C3E-EAC0-40DA-8BAD-360059F0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24375"/>
            <a:ext cx="3400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五年累计 26 项微课题被“揭榜挂帅”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成效报告：26 份“三摆三写”课题，8 家企业“收货”</a:t>
            </a:r>
          </a:p>
        </p:txBody>
      </p:sp>
      <p:sp>
        <p:nvSpPr>
          <p:cNvPr id="21" name="task-note">
            <a:extLst xmlns:a="http://schemas.openxmlformats.org/drawingml/2006/main">
              <a:ext uri="{FF2B5EF4-FFF2-40B4-BE49-F238E27FC236}">
                <a16:creationId xmlns:a16="http://schemas.microsoft.com/office/drawing/2014/main" id="{006586E3-5243-4921-9B84-F9105699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算法、图纸、代码，都是青年党员可以扛起的时代订单。</a:t>
            </a:r>
          </a:p>
        </p:txBody>
      </p:sp>
    </p:spTree>
    <p:extLst>
      <p:ext uri="{BB962C8B-B14F-4D97-AF65-F5344CB8AC3E}">
        <p14:creationId xmlns:p14="http://schemas.microsoft.com/office/powerpoint/2010/main" val="1511987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75176597-62C3-4109-9F0C-20C62F22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24503A-DC7C-499E-A9D2-B63743F0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VR 基地，把 22 处旧址变成可进入的沉浸课堂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452F14-1600-4060-BE5B-EBD7A5B8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7B15C53-2BD7-44CA-B8CE-9E230DE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BEA42B6-769C-4453-BED0-CDE6B179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5182BC0C-B43F-4E96-BB07-185520E7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全景数据、VR 党课与示范基地，让“一屏百年”成为可预约、可复用的教育体验。</a:t>
            </a:r>
          </a:p>
        </p:txBody>
      </p:sp>
      <p:sp>
        <p:nvSpPr>
          <p:cNvPr id="7" name="vr-source">
            <a:extLst xmlns:a="http://schemas.openxmlformats.org/drawingml/2006/main">
              <a:ext uri="{FF2B5EF4-FFF2-40B4-BE49-F238E27FC236}">
                <a16:creationId xmlns:a16="http://schemas.microsoft.com/office/drawing/2014/main" id="{8652F858-6D75-4818-977C-DF8C126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23812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vr-source-num">
            <a:extLst xmlns:a="http://schemas.openxmlformats.org/drawingml/2006/main">
              <a:ext uri="{FF2B5EF4-FFF2-40B4-BE49-F238E27FC236}">
                <a16:creationId xmlns:a16="http://schemas.microsoft.com/office/drawing/2014/main" id="{F0CE2C4E-A633-48F6-B945-AF9377BC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9" name="vr-source-label">
            <a:extLst xmlns:a="http://schemas.openxmlformats.org/drawingml/2006/main">
              <a:ext uri="{FF2B5EF4-FFF2-40B4-BE49-F238E27FC236}">
                <a16:creationId xmlns:a16="http://schemas.microsoft.com/office/drawing/2014/main" id="{9BF78B52-2B8E-49DB-890E-260F93C7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处“六地”旧址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全景数据</a:t>
            </a:r>
          </a:p>
        </p:txBody>
      </p:sp>
      <p:sp>
        <p:nvSpPr>
          <p:cNvPr id="10" name="vr-core">
            <a:extLst xmlns:a="http://schemas.openxmlformats.org/drawingml/2006/main">
              <a:ext uri="{FF2B5EF4-FFF2-40B4-BE49-F238E27FC236}">
                <a16:creationId xmlns:a16="http://schemas.microsoft.com/office/drawing/2014/main" id="{48F69BDB-90AC-45F4-AB7D-E5BD7A9F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r-core-title">
            <a:extLst xmlns:a="http://schemas.openxmlformats.org/drawingml/2006/main">
              <a:ext uri="{FF2B5EF4-FFF2-40B4-BE49-F238E27FC236}">
                <a16:creationId xmlns:a16="http://schemas.microsoft.com/office/drawing/2014/main" id="{EBE245B6-0D67-43D4-994E-4942480D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沉浸课堂</a:t>
            </a:r>
          </a:p>
        </p:txBody>
      </p:sp>
      <p:sp>
        <p:nvSpPr>
          <p:cNvPr id="12" name="vr-core-copy">
            <a:extLst xmlns:a="http://schemas.openxmlformats.org/drawingml/2006/main">
              <a:ext uri="{FF2B5EF4-FFF2-40B4-BE49-F238E27FC236}">
                <a16:creationId xmlns:a16="http://schemas.microsoft.com/office/drawing/2014/main" id="{ACE0DFFC-7A7D-4FA3-8125-03FBC88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7 门红色 VR 党课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一键穿越 · 一屏百年</a:t>
            </a:r>
          </a:p>
        </p:txBody>
      </p:sp>
      <p:sp>
        <p:nvSpPr>
          <p:cNvPr id="13" name="vr-use">
            <a:extLst xmlns:a="http://schemas.openxmlformats.org/drawingml/2006/main">
              <a:ext uri="{FF2B5EF4-FFF2-40B4-BE49-F238E27FC236}">
                <a16:creationId xmlns:a16="http://schemas.microsoft.com/office/drawing/2014/main" id="{0FA5012C-1CAA-4211-AA85-ABA643C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147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vr-use-title">
            <a:extLst xmlns:a="http://schemas.openxmlformats.org/drawingml/2006/main">
              <a:ext uri="{FF2B5EF4-FFF2-40B4-BE49-F238E27FC236}">
                <a16:creationId xmlns:a16="http://schemas.microsoft.com/office/drawing/2014/main" id="{C626326D-DB52-4F32-B6B9-F65DF688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被真实使用的基地</a:t>
            </a:r>
          </a:p>
        </p:txBody>
      </p:sp>
      <p:sp>
        <p:nvSpPr>
          <p:cNvPr id="15" name="vr-use-copy">
            <a:extLst xmlns:a="http://schemas.openxmlformats.org/drawingml/2006/main">
              <a:ext uri="{FF2B5EF4-FFF2-40B4-BE49-F238E27FC236}">
                <a16:creationId xmlns:a16="http://schemas.microsoft.com/office/drawing/2014/main" id="{68E08399-6A78-4709-A27D-A787C2E9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170 个省内外支部预约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2400 余名党员体验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05125" y="29718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53250" y="29718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18" name="vr-awards">
            <a:extLst xmlns:a="http://schemas.openxmlformats.org/drawingml/2006/main">
              <a:ext uri="{FF2B5EF4-FFF2-40B4-BE49-F238E27FC236}">
                <a16:creationId xmlns:a16="http://schemas.microsoft.com/office/drawing/2014/main" id="{2C998276-26E1-4C1F-A143-C0AE6661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05325"/>
            <a:ext cx="11049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vr-awards-copy">
            <a:extLst xmlns:a="http://schemas.openxmlformats.org/drawingml/2006/main">
              <a:ext uri="{FF2B5EF4-FFF2-40B4-BE49-F238E27FC236}">
                <a16:creationId xmlns:a16="http://schemas.microsoft.com/office/drawing/2014/main" id="{9C7BA440-6944-4ECC-8E36-4C8AEF8B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省党员教育培训示范基地  ·  省高校基层党建创新一等奖  ·  获中组部组织二局、教育部教师工作司负责同志肯定</a:t>
            </a:r>
          </a:p>
        </p:txBody>
      </p:sp>
      <p:sp>
        <p:nvSpPr>
          <p:cNvPr id="20" name="vr-note">
            <a:extLst xmlns:a="http://schemas.openxmlformats.org/drawingml/2006/main">
              <a:ext uri="{FF2B5EF4-FFF2-40B4-BE49-F238E27FC236}">
                <a16:creationId xmlns:a16="http://schemas.microsoft.com/office/drawing/2014/main" id="{E0256563-CA7D-4C0D-9409-21AF2CB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技术在这里承担的是“进入现场”的教育职责。</a:t>
            </a:r>
          </a:p>
        </p:txBody>
      </p:sp>
    </p:spTree>
    <p:extLst>
      <p:ext uri="{BB962C8B-B14F-4D97-AF65-F5344CB8AC3E}">
        <p14:creationId xmlns:p14="http://schemas.microsoft.com/office/powerpoint/2010/main" val="238272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9D25F9CC-F760-4221-A92F-6B168D02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6B7CA9-AF2A-476C-9D41-148DDE9E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青年讲、青年听、青年信，让理论走出校园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58AE296-0CF4-44CB-9511-E177C896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F37E9EB-3E1D-4972-89EF-DD351075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50C806D-7B8C-4FC0-94B2-73150360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2213A9E7-9D39-4DE5-A061-B5083A4D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博士、硕士、本科混编，把“六地”精神改写为青年愿意进入的互动课堂。</a:t>
            </a:r>
          </a:p>
        </p:txBody>
      </p:sp>
      <p:sp>
        <p:nvSpPr>
          <p:cNvPr id="7" name="speak-team">
            <a:extLst xmlns:a="http://schemas.openxmlformats.org/drawingml/2006/main">
              <a:ext uri="{FF2B5EF4-FFF2-40B4-BE49-F238E27FC236}">
                <a16:creationId xmlns:a16="http://schemas.microsoft.com/office/drawing/2014/main" id="{0E63A229-2700-4D23-B97A-9525AD34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2571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peak-team-num">
            <a:extLst xmlns:a="http://schemas.openxmlformats.org/drawingml/2006/main">
              <a:ext uri="{FF2B5EF4-FFF2-40B4-BE49-F238E27FC236}">
                <a16:creationId xmlns:a16="http://schemas.microsoft.com/office/drawing/2014/main" id="{2FD576AB-F182-4421-81A6-39A2A72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32 人</a:t>
            </a:r>
          </a:p>
        </p:txBody>
      </p:sp>
      <p:sp>
        <p:nvSpPr>
          <p:cNvPr id="9" name="speak-team-label">
            <a:extLst xmlns:a="http://schemas.openxmlformats.org/drawingml/2006/main">
              <a:ext uri="{FF2B5EF4-FFF2-40B4-BE49-F238E27FC236}">
                <a16:creationId xmlns:a16="http://schemas.microsoft.com/office/drawing/2014/main" id="{9DCFE2CB-037D-42CE-B715-AFD57CA9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博士 · 硕士 · 本科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混编梯队</a:t>
            </a:r>
          </a:p>
        </p:txBody>
      </p:sp>
      <p:sp>
        <p:nvSpPr>
          <p:cNvPr id="10" name="speak-course">
            <a:extLst xmlns:a="http://schemas.openxmlformats.org/drawingml/2006/main">
              <a:ext uri="{FF2B5EF4-FFF2-40B4-BE49-F238E27FC236}">
                <a16:creationId xmlns:a16="http://schemas.microsoft.com/office/drawing/2014/main" id="{F805A8FF-9FEF-4067-B7BD-35697D08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24050"/>
            <a:ext cx="333375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eak-course-title">
            <a:extLst xmlns:a="http://schemas.openxmlformats.org/drawingml/2006/main">
              <a:ext uri="{FF2B5EF4-FFF2-40B4-BE49-F238E27FC236}">
                <a16:creationId xmlns:a16="http://schemas.microsoft.com/office/drawing/2014/main" id="{A3CC32E0-06BE-4757-BD47-D605A16A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类互动课件</a:t>
            </a:r>
          </a:p>
        </p:txBody>
      </p:sp>
      <p:sp>
        <p:nvSpPr>
          <p:cNvPr id="12" name="speak-course-copy">
            <a:extLst xmlns:a="http://schemas.openxmlformats.org/drawingml/2006/main">
              <a:ext uri="{FF2B5EF4-FFF2-40B4-BE49-F238E27FC236}">
                <a16:creationId xmlns:a16="http://schemas.microsoft.com/office/drawing/2014/main" id="{68ABB882-F934-4774-B142-068C685F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38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沉浸式故事 · 情景短剧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红色闯关 · 青春语态重构</a:t>
            </a:r>
          </a:p>
        </p:txBody>
      </p:sp>
      <p:sp>
        <p:nvSpPr>
          <p:cNvPr id="13" name="speak-reach">
            <a:extLst xmlns:a="http://schemas.openxmlformats.org/drawingml/2006/main">
              <a:ext uri="{FF2B5EF4-FFF2-40B4-BE49-F238E27FC236}">
                <a16:creationId xmlns:a16="http://schemas.microsoft.com/office/drawing/2014/main" id="{8B8E0ED9-611F-4168-ACA1-28BD73DF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6195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speak-reach-num">
            <a:extLst xmlns:a="http://schemas.openxmlformats.org/drawingml/2006/main">
              <a:ext uri="{FF2B5EF4-FFF2-40B4-BE49-F238E27FC236}">
                <a16:creationId xmlns:a16="http://schemas.microsoft.com/office/drawing/2014/main" id="{8F9AD67C-7318-4ABC-83D9-676E93DB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36 场</a:t>
            </a:r>
          </a:p>
        </p:txBody>
      </p:sp>
      <p:sp>
        <p:nvSpPr>
          <p:cNvPr id="15" name="speak-reach-label">
            <a:extLst xmlns:a="http://schemas.openxmlformats.org/drawingml/2006/main">
              <a:ext uri="{FF2B5EF4-FFF2-40B4-BE49-F238E27FC236}">
                <a16:creationId xmlns:a16="http://schemas.microsoft.com/office/drawing/2014/main" id="{84DFC3DB-835B-4E95-B601-68AF504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575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进校园 · 进社区 · 进企业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覆盖师生群众 3800 多人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95625" y="29908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67550" y="29908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18" name="speak-award">
            <a:extLst xmlns:a="http://schemas.openxmlformats.org/drawingml/2006/main">
              <a:ext uri="{FF2B5EF4-FFF2-40B4-BE49-F238E27FC236}">
                <a16:creationId xmlns:a16="http://schemas.microsoft.com/office/drawing/2014/main" id="{153F25E4-FD7B-4E32-AD4C-87249AC6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1049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speak-award-copy">
            <a:extLst xmlns:a="http://schemas.openxmlformats.org/drawingml/2006/main">
              <a:ext uri="{FF2B5EF4-FFF2-40B4-BE49-F238E27FC236}">
                <a16:creationId xmlns:a16="http://schemas.microsoft.com/office/drawing/2014/main" id="{238E822D-D38F-415D-9EBF-3DE1B9D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3392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获评“辽宁省大学生红色理论宣讲团”</a:t>
            </a:r>
          </a:p>
        </p:txBody>
      </p:sp>
      <p:sp>
        <p:nvSpPr>
          <p:cNvPr id="20" name="speak-note">
            <a:extLst xmlns:a="http://schemas.openxmlformats.org/drawingml/2006/main">
              <a:ext uri="{FF2B5EF4-FFF2-40B4-BE49-F238E27FC236}">
                <a16:creationId xmlns:a16="http://schemas.microsoft.com/office/drawing/2014/main" id="{C9C15E6C-957B-4952-82B2-69D67C2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同一套理论，经过青年讲述，进入社区、课堂、生产一线和百姓心坎。</a:t>
            </a:r>
          </a:p>
        </p:txBody>
      </p:sp>
    </p:spTree>
    <p:extLst>
      <p:ext uri="{BB962C8B-B14F-4D97-AF65-F5344CB8AC3E}">
        <p14:creationId xmlns:p14="http://schemas.microsoft.com/office/powerpoint/2010/main" val="1079065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594613F1-E7B0-4351-8A65-34F84E0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2C2D31-F9B0-44F2-B723-E710E45A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红色朋友圈，把资源共享成振兴同心圆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1C3316-D1F9-4910-B7A0-8F30ADF5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9315A4E-AFC4-479A-9FBE-58E196F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BD2D70-D786-4CFA-8D6D-77510BC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BFC0CD22-6F0D-4A4D-BE3A-C224734D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组织互联、资源互通、经验互鉴，让校园“小盆景”成为区域“大风景”。</a:t>
            </a:r>
          </a:p>
        </p:txBody>
      </p:sp>
      <p:sp>
        <p:nvSpPr>
          <p:cNvPr id="7" name="network-frame">
            <a:extLst xmlns:a="http://schemas.openxmlformats.org/drawingml/2006/main">
              <a:ext uri="{FF2B5EF4-FFF2-40B4-BE49-F238E27FC236}">
                <a16:creationId xmlns:a16="http://schemas.microsoft.com/office/drawing/2014/main" id="{63B7C94E-6E23-468E-8CB0-0C148A38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049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network-overall">
            <a:extLst xmlns:a="http://schemas.openxmlformats.org/drawingml/2006/main">
              <a:ext uri="{FF2B5EF4-FFF2-40B4-BE49-F238E27FC236}">
                <a16:creationId xmlns:a16="http://schemas.microsoft.com/office/drawing/2014/main" id="{C92D4CF8-9AD8-4E11-8108-00FAFC66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33600"/>
            <a:ext cx="49530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9" name="overall-title">
            <a:extLst xmlns:a="http://schemas.openxmlformats.org/drawingml/2006/main">
              <a:ext uri="{FF2B5EF4-FFF2-40B4-BE49-F238E27FC236}">
                <a16:creationId xmlns:a16="http://schemas.microsoft.com/office/drawing/2014/main" id="{54350806-03F0-4136-A9B0-856EFA30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003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整体共学联建</a:t>
            </a:r>
          </a:p>
        </p:txBody>
      </p:sp>
      <p:sp>
        <p:nvSpPr>
          <p:cNvPr id="10" name="overall-scale">
            <a:extLst xmlns:a="http://schemas.openxmlformats.org/drawingml/2006/main">
              <a:ext uri="{FF2B5EF4-FFF2-40B4-BE49-F238E27FC236}">
                <a16:creationId xmlns:a16="http://schemas.microsoft.com/office/drawing/2014/main" id="{F9912EE4-1807-4EE2-A220-6F432E8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41 家单位  ·  2000 余人次/年</a:t>
            </a:r>
          </a:p>
        </p:txBody>
      </p:sp>
      <p:sp>
        <p:nvSpPr>
          <p:cNvPr id="11" name="overall-copy">
            <a:extLst xmlns:a="http://schemas.openxmlformats.org/drawingml/2006/main">
              <a:ext uri="{FF2B5EF4-FFF2-40B4-BE49-F238E27FC236}">
                <a16:creationId xmlns:a16="http://schemas.microsoft.com/office/drawing/2014/main" id="{7E786461-BCA9-46FA-A8F9-8A44E25A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814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VR 党课共享 · 主题党日联办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红色资源联用 · 志愿服务联动</a:t>
            </a:r>
          </a:p>
        </p:txBody>
      </p:sp>
      <p:sp>
        <p:nvSpPr>
          <p:cNvPr id="12" name="network-mutual">
            <a:extLst xmlns:a="http://schemas.openxmlformats.org/drawingml/2006/main">
              <a:ext uri="{FF2B5EF4-FFF2-40B4-BE49-F238E27FC236}">
                <a16:creationId xmlns:a16="http://schemas.microsoft.com/office/drawing/2014/main" id="{1575B1B6-B6EE-46F7-AC01-77E596B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714875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mutual-title">
            <a:extLst xmlns:a="http://schemas.openxmlformats.org/drawingml/2006/main">
              <a:ext uri="{FF2B5EF4-FFF2-40B4-BE49-F238E27FC236}">
                <a16:creationId xmlns:a16="http://schemas.microsoft.com/office/drawing/2014/main" id="{A2808523-CD17-4A54-9004-B6936EE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24100"/>
            <a:ext cx="4257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东北 ↔ 西部双向互学</a:t>
            </a:r>
          </a:p>
        </p:txBody>
      </p:sp>
      <p:sp>
        <p:nvSpPr>
          <p:cNvPr id="14" name="north-node">
            <a:extLst xmlns:a="http://schemas.openxmlformats.org/drawingml/2006/main">
              <a:ext uri="{FF2B5EF4-FFF2-40B4-BE49-F238E27FC236}">
                <a16:creationId xmlns:a16="http://schemas.microsoft.com/office/drawing/2014/main" id="{D7D68699-A4E9-4E68-B347-B0151B65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1666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5" name="west-node">
            <a:extLst xmlns:a="http://schemas.openxmlformats.org/drawingml/2006/main">
              <a:ext uri="{FF2B5EF4-FFF2-40B4-BE49-F238E27FC236}">
                <a16:creationId xmlns:a16="http://schemas.microsoft.com/office/drawing/2014/main" id="{AF7688C8-D173-4AEB-BBFD-ED04CD5A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1666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north-label">
            <a:extLst xmlns:a="http://schemas.openxmlformats.org/drawingml/2006/main">
              <a:ext uri="{FF2B5EF4-FFF2-40B4-BE49-F238E27FC236}">
                <a16:creationId xmlns:a16="http://schemas.microsoft.com/office/drawing/2014/main" id="{EC2227F3-37C9-4CFE-99FE-465E2CB0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1337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辽宁合作网络</a:t>
            </a:r>
          </a:p>
        </p:txBody>
      </p:sp>
      <p:sp>
        <p:nvSpPr>
          <p:cNvPr id="17" name="west-label">
            <a:extLst xmlns:a="http://schemas.openxmlformats.org/drawingml/2006/main">
              <a:ext uri="{FF2B5EF4-FFF2-40B4-BE49-F238E27FC236}">
                <a16:creationId xmlns:a16="http://schemas.microsoft.com/office/drawing/2014/main" id="{31C8C032-0A70-4657-B2A0-6CB6907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337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西部三校联学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62975" y="324802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562975" y="324802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20" name="mutual-copy">
            <a:extLst xmlns:a="http://schemas.openxmlformats.org/drawingml/2006/main">
              <a:ext uri="{FF2B5EF4-FFF2-40B4-BE49-F238E27FC236}">
                <a16:creationId xmlns:a16="http://schemas.microsoft.com/office/drawing/2014/main" id="{E7A89F0E-C23C-4C0E-869C-27F8DA8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004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东北故事西部讲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西部经验东北学</a:t>
            </a:r>
          </a:p>
        </p:txBody>
      </p:sp>
      <p:sp>
        <p:nvSpPr>
          <p:cNvPr id="21" name="net-note">
            <a:extLst xmlns:a="http://schemas.openxmlformats.org/drawingml/2006/main">
              <a:ext uri="{FF2B5EF4-FFF2-40B4-BE49-F238E27FC236}">
                <a16:creationId xmlns:a16="http://schemas.microsoft.com/office/drawing/2014/main" id="{94A16A3B-5A7D-4B10-A9F7-26BD7D2F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整体合作提供规模，东西互学提供方向；两种关系各自清楚。</a:t>
            </a:r>
          </a:p>
        </p:txBody>
      </p:sp>
    </p:spTree>
    <p:extLst>
      <p:ext uri="{BB962C8B-B14F-4D97-AF65-F5344CB8AC3E}">
        <p14:creationId xmlns:p14="http://schemas.microsoft.com/office/powerpoint/2010/main" val="1368184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215AFA2F-DAA2-4B4A-BFCA-9EAF21F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3F3B94-3018-4202-9BFF-2B7A88A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四阶培养链，把红色育人嵌入成长全周期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F94CE0-FD4F-446C-A8EA-8D60C412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4A5E621-A34B-4DA4-9368-A3595A3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1C80AC-6DF4-4A05-ACCC-54048D9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0352D1B8-38FE-4BE6-805D-5E3D848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红色实践进入学分与组织生活，靠四阶链条和红色导师年年有人抓、届届有人传。</a:t>
            </a:r>
          </a:p>
        </p:txBody>
      </p:sp>
      <p:sp>
        <p:nvSpPr>
          <p:cNvPr id="7" name="stage-0">
            <a:extLst xmlns:a="http://schemas.openxmlformats.org/drawingml/2006/main">
              <a:ext uri="{FF2B5EF4-FFF2-40B4-BE49-F238E27FC236}">
                <a16:creationId xmlns:a16="http://schemas.microsoft.com/office/drawing/2014/main" id="{026F9F7D-9F06-43B7-9081-3143B6F2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tage-0-num">
            <a:extLst xmlns:a="http://schemas.openxmlformats.org/drawingml/2006/main">
              <a:ext uri="{FF2B5EF4-FFF2-40B4-BE49-F238E27FC236}">
                <a16:creationId xmlns:a16="http://schemas.microsoft.com/office/drawing/2014/main" id="{B9F0B3F7-F7B7-4C3F-9CF6-EC6E9C9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tage-0-title">
            <a:extLst xmlns:a="http://schemas.openxmlformats.org/drawingml/2006/main">
              <a:ext uri="{FF2B5EF4-FFF2-40B4-BE49-F238E27FC236}">
                <a16:creationId xmlns:a16="http://schemas.microsoft.com/office/drawing/2014/main" id="{FDAEEDDF-A5C1-45D5-8E3C-B22085F9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入学</a:t>
            </a:r>
          </a:p>
        </p:txBody>
      </p:sp>
      <p:sp>
        <p:nvSpPr>
          <p:cNvPr id="10" name="stage-0-label">
            <a:extLst xmlns:a="http://schemas.openxmlformats.org/drawingml/2006/main">
              <a:ext uri="{FF2B5EF4-FFF2-40B4-BE49-F238E27FC236}">
                <a16:creationId xmlns:a16="http://schemas.microsoft.com/office/drawing/2014/main" id="{ED5520CD-EEF7-40AE-8279-CC30939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认识辽宁</a:t>
            </a:r>
          </a:p>
        </p:txBody>
      </p:sp>
      <p:sp>
        <p:nvSpPr>
          <p:cNvPr id="11" name="stage-1">
            <a:extLst xmlns:a="http://schemas.openxmlformats.org/drawingml/2006/main">
              <a:ext uri="{FF2B5EF4-FFF2-40B4-BE49-F238E27FC236}">
                <a16:creationId xmlns:a16="http://schemas.microsoft.com/office/drawing/2014/main" id="{5D4D939E-DADA-4D30-BB48-DF0D6552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stage-1-num">
            <a:extLst xmlns:a="http://schemas.openxmlformats.org/drawingml/2006/main">
              <a:ext uri="{FF2B5EF4-FFF2-40B4-BE49-F238E27FC236}">
                <a16:creationId xmlns:a16="http://schemas.microsoft.com/office/drawing/2014/main" id="{78037C1F-7BB0-42A3-9F58-500DA28D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67B3E6AF-59D7-4E78-9245-87E020AC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入党</a:t>
            </a:r>
          </a:p>
        </p:txBody>
      </p:sp>
      <p:sp>
        <p:nvSpPr>
          <p:cNvPr id="14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FFD068EA-B130-4C52-9A07-D4D8EBF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走进六地</a:t>
            </a:r>
          </a:p>
        </p:txBody>
      </p:sp>
      <p:sp>
        <p:nvSpPr>
          <p:cNvPr id="15" name="stage-2">
            <a:extLst xmlns:a="http://schemas.openxmlformats.org/drawingml/2006/main">
              <a:ext uri="{FF2B5EF4-FFF2-40B4-BE49-F238E27FC236}">
                <a16:creationId xmlns:a16="http://schemas.microsoft.com/office/drawing/2014/main" id="{BD0AE273-0D4E-45B7-9A29-E12ECAE4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stage-2-num">
            <a:extLst xmlns:a="http://schemas.openxmlformats.org/drawingml/2006/main">
              <a:ext uri="{FF2B5EF4-FFF2-40B4-BE49-F238E27FC236}">
                <a16:creationId xmlns:a16="http://schemas.microsoft.com/office/drawing/2014/main" id="{96A9D5D0-0D17-47F9-97AD-F262867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62303CC1-89F9-4D12-9536-56E992FD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转正</a:t>
            </a:r>
          </a:p>
        </p:txBody>
      </p:sp>
      <p:sp>
        <p:nvSpPr>
          <p:cNvPr id="18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C5E25860-427D-4C65-87C4-C3C0BA5F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承担任务</a:t>
            </a:r>
          </a:p>
        </p:txBody>
      </p:sp>
      <p:sp>
        <p:nvSpPr>
          <p:cNvPr id="19" name="stage-3">
            <a:extLst xmlns:a="http://schemas.openxmlformats.org/drawingml/2006/main">
              <a:ext uri="{FF2B5EF4-FFF2-40B4-BE49-F238E27FC236}">
                <a16:creationId xmlns:a16="http://schemas.microsoft.com/office/drawing/2014/main" id="{312AF0D6-D2BE-4735-B8B8-D158716B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3-num">
            <a:extLst xmlns:a="http://schemas.openxmlformats.org/drawingml/2006/main">
              <a:ext uri="{FF2B5EF4-FFF2-40B4-BE49-F238E27FC236}">
                <a16:creationId xmlns:a16="http://schemas.microsoft.com/office/drawing/2014/main" id="{67FCFD37-EFBD-4D2F-807B-AF34B76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25C99646-5700-4270-B662-F59C969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毕业</a:t>
            </a:r>
          </a:p>
        </p:txBody>
      </p:sp>
      <p:sp>
        <p:nvSpPr>
          <p:cNvPr id="22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A0210892-5AF8-4E7D-8B1A-4FC31BD3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扎根振兴</a:t>
            </a:r>
          </a:p>
        </p:txBody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1937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38162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4387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tailEnd type="arrow" w="sm" len="sm"/>
          </a:ln>
        </p:spPr>
      </p:cxnSp>
      <p:sp>
        <p:nvSpPr>
          <p:cNvPr id="26" name="stage-support">
            <a:extLst xmlns:a="http://schemas.openxmlformats.org/drawingml/2006/main">
              <a:ext uri="{FF2B5EF4-FFF2-40B4-BE49-F238E27FC236}">
                <a16:creationId xmlns:a16="http://schemas.microsoft.com/office/drawing/2014/main" id="{BCCBDC5F-D361-4205-B779-28468A66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1049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7" name="stage-support-title">
            <a:extLst xmlns:a="http://schemas.openxmlformats.org/drawingml/2006/main">
              <a:ext uri="{FF2B5EF4-FFF2-40B4-BE49-F238E27FC236}">
                <a16:creationId xmlns:a16="http://schemas.microsoft.com/office/drawing/2014/main" id="{CCD9C229-46B2-440C-BCB0-530ADFBA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跨阶段支撑</a:t>
            </a:r>
          </a:p>
        </p:txBody>
      </p:sp>
      <p:sp>
        <p:nvSpPr>
          <p:cNvPr id="28" name="stage-support-copy">
            <a:extLst xmlns:a="http://schemas.openxmlformats.org/drawingml/2006/main">
              <a:ext uri="{FF2B5EF4-FFF2-40B4-BE49-F238E27FC236}">
                <a16:creationId xmlns:a16="http://schemas.microsoft.com/office/drawing/2014/main" id="{D9AABD70-06B3-4CDD-99BD-E45B8E0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4342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红色实践计入学分   ·   VR 党课写进“三会一课”   ·   聘请 36 位纪念馆专家、抗美援朝老战士担任“红色导师”</a:t>
            </a:r>
          </a:p>
        </p:txBody>
      </p:sp>
      <p:sp>
        <p:nvSpPr>
          <p:cNvPr id="29" name="stage-note">
            <a:extLst xmlns:a="http://schemas.openxmlformats.org/drawingml/2006/main">
              <a:ext uri="{FF2B5EF4-FFF2-40B4-BE49-F238E27FC236}">
                <a16:creationId xmlns:a16="http://schemas.microsoft.com/office/drawing/2014/main" id="{C19423AA-93F2-405E-8D2D-27D0657A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机制的作用，是让一次活动变成可持续的成长路径。</a:t>
            </a:r>
          </a:p>
        </p:txBody>
      </p:sp>
    </p:spTree>
    <p:extLst>
      <p:ext uri="{BB962C8B-B14F-4D97-AF65-F5344CB8AC3E}">
        <p14:creationId xmlns:p14="http://schemas.microsoft.com/office/powerpoint/2010/main" val="1930037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C4960DE0-01D3-4783-8432-EE63C03E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CDBA3B-3A8D-4008-924E-11FDCEB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五年深耕，理工学生有了“红色先锋”新标签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0F22B2-4B28-4607-A5AD-23BF9C20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849A0A8-EFCA-47BE-9A73-43D94660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数据来自来稿《让“六地”红》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6603470-512F-47ED-BA1E-827A9627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843D4EB4-763F-410A-9467-6095C01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五类抓手最终汇到四类青年变化；先看最直接的信仰变化，再看本领、声音与脚步。</a:t>
            </a:r>
          </a:p>
        </p:txBody>
      </p:sp>
      <p:sp>
        <p:nvSpPr>
          <p:cNvPr id="7" name="result-main">
            <a:extLst xmlns:a="http://schemas.openxmlformats.org/drawingml/2006/main">
              <a:ext uri="{FF2B5EF4-FFF2-40B4-BE49-F238E27FC236}">
                <a16:creationId xmlns:a16="http://schemas.microsoft.com/office/drawing/2014/main" id="{D6B41786-CAF9-45B2-A41E-08C0CB86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6191250" cy="325755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4BE1DADA-4FE9-4089-AC08-15567389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28875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9" name="result-main-num">
            <a:extLst xmlns:a="http://schemas.openxmlformats.org/drawingml/2006/main">
              <a:ext uri="{FF2B5EF4-FFF2-40B4-BE49-F238E27FC236}">
                <a16:creationId xmlns:a16="http://schemas.microsoft.com/office/drawing/2014/main" id="{ACD6D341-DF4C-45BB-A2A5-5FDD0EAE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0375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58% → 87%</a:t>
            </a:r>
          </a:p>
        </p:txBody>
      </p:sp>
      <p:sp>
        <p:nvSpPr>
          <p:cNvPr id="10" name="result-main-copy">
            <a:extLst xmlns:a="http://schemas.openxmlformats.org/drawingml/2006/main">
              <a:ext uri="{FF2B5EF4-FFF2-40B4-BE49-F238E27FC236}">
                <a16:creationId xmlns:a16="http://schemas.microsoft.com/office/drawing/2014/main" id="{9AB485A2-318D-42DA-A6CF-9FEBE563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86225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发展对象答辩现场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“毕业后留辽意愿”举手率</a:t>
            </a:r>
          </a:p>
        </p:txBody>
      </p:sp>
      <p:sp>
        <p:nvSpPr>
          <p:cNvPr id="11" name="result-support">
            <a:extLst xmlns:a="http://schemas.openxmlformats.org/drawingml/2006/main">
              <a:ext uri="{FF2B5EF4-FFF2-40B4-BE49-F238E27FC236}">
                <a16:creationId xmlns:a16="http://schemas.microsoft.com/office/drawing/2014/main" id="{658B2DAF-1D53-477F-80C1-342E9EF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85950"/>
            <a:ext cx="43815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result-support-title">
            <a:extLst xmlns:a="http://schemas.openxmlformats.org/drawingml/2006/main">
              <a:ext uri="{FF2B5EF4-FFF2-40B4-BE49-F238E27FC236}">
                <a16:creationId xmlns:a16="http://schemas.microsoft.com/office/drawing/2014/main" id="{7605C2A0-0490-4165-B778-0AA80181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145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其余成效作为支持证据</a:t>
            </a:r>
          </a:p>
        </p:txBody>
      </p:sp>
      <p:sp>
        <p:nvSpPr>
          <p:cNvPr id="13" name="support-rule-1">
            <a:extLst xmlns:a="http://schemas.openxmlformats.org/drawingml/2006/main">
              <a:ext uri="{FF2B5EF4-FFF2-40B4-BE49-F238E27FC236}">
                <a16:creationId xmlns:a16="http://schemas.microsoft.com/office/drawing/2014/main" id="{09F6D452-3254-4DDC-84B7-2DA21896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5270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14" name="support-1">
            <a:extLst xmlns:a="http://schemas.openxmlformats.org/drawingml/2006/main">
              <a:ext uri="{FF2B5EF4-FFF2-40B4-BE49-F238E27FC236}">
                <a16:creationId xmlns:a16="http://schemas.microsoft.com/office/drawing/2014/main" id="{A94FB664-C102-4122-86E6-03754A04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33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15" name="support-1-copy">
            <a:extLst xmlns:a="http://schemas.openxmlformats.org/drawingml/2006/main">
              <a:ext uri="{FF2B5EF4-FFF2-40B4-BE49-F238E27FC236}">
                <a16:creationId xmlns:a16="http://schemas.microsoft.com/office/drawing/2014/main" id="{14EC96CF-A911-487C-BB16-C1688618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36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26 份振兴微课题 · 8 家企业当场“收货”</a:t>
            </a:r>
          </a:p>
        </p:txBody>
      </p:sp>
      <p:sp>
        <p:nvSpPr>
          <p:cNvPr id="16" name="support-rule-2">
            <a:extLst xmlns:a="http://schemas.openxmlformats.org/drawingml/2006/main">
              <a:ext uri="{FF2B5EF4-FFF2-40B4-BE49-F238E27FC236}">
                <a16:creationId xmlns:a16="http://schemas.microsoft.com/office/drawing/2014/main" id="{516CE7C6-4105-4C0F-8036-1E0F2F71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62325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17" name="support-2">
            <a:extLst xmlns:a="http://schemas.openxmlformats.org/drawingml/2006/main">
              <a:ext uri="{FF2B5EF4-FFF2-40B4-BE49-F238E27FC236}">
                <a16:creationId xmlns:a16="http://schemas.microsoft.com/office/drawing/2014/main" id="{982F29A0-5ECE-4BC7-B385-052699A4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43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18" name="support-2-copy">
            <a:extLst xmlns:a="http://schemas.openxmlformats.org/drawingml/2006/main">
              <a:ext uri="{FF2B5EF4-FFF2-40B4-BE49-F238E27FC236}">
                <a16:creationId xmlns:a16="http://schemas.microsoft.com/office/drawing/2014/main" id="{EE588E97-54EE-4627-B36B-ECAD355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433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理论飞出校园，进入社区、课堂与生产一线</a:t>
            </a:r>
          </a:p>
        </p:txBody>
      </p:sp>
      <p:sp>
        <p:nvSpPr>
          <p:cNvPr id="19" name="support-rule-3">
            <a:extLst xmlns:a="http://schemas.openxmlformats.org/drawingml/2006/main">
              <a:ext uri="{FF2B5EF4-FFF2-40B4-BE49-F238E27FC236}">
                <a16:creationId xmlns:a16="http://schemas.microsoft.com/office/drawing/2014/main" id="{BB7A1FE0-514B-47D3-ADE2-DA685481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7195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20" name="support-3">
            <a:extLst xmlns:a="http://schemas.openxmlformats.org/drawingml/2006/main">
              <a:ext uri="{FF2B5EF4-FFF2-40B4-BE49-F238E27FC236}">
                <a16:creationId xmlns:a16="http://schemas.microsoft.com/office/drawing/2014/main" id="{2CA65A6D-3AB6-403B-B569-0B9D1490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352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21" name="support-3-copy">
            <a:extLst xmlns:a="http://schemas.openxmlformats.org/drawingml/2006/main">
              <a:ext uri="{FF2B5EF4-FFF2-40B4-BE49-F238E27FC236}">
                <a16:creationId xmlns:a16="http://schemas.microsoft.com/office/drawing/2014/main" id="{320B5BBA-5BFE-415A-A32B-6BC222F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52925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党员考取辽宁选调生、投身重大装备研发比例提升 40%</a:t>
            </a:r>
          </a:p>
        </p:txBody>
      </p:sp>
      <p:sp>
        <p:nvSpPr>
          <p:cNvPr id="22" name="result-note">
            <a:extLst xmlns:a="http://schemas.openxmlformats.org/drawingml/2006/main">
              <a:ext uri="{FF2B5EF4-FFF2-40B4-BE49-F238E27FC236}">
                <a16:creationId xmlns:a16="http://schemas.microsoft.com/office/drawing/2014/main" id="{869BE175-57A9-4AB4-9A99-6E6E5986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从“学霸”到“红色先锋”：把论文写在大地，把青春植根黑土。</a:t>
            </a:r>
          </a:p>
        </p:txBody>
      </p:sp>
    </p:spTree>
    <p:extLst>
      <p:ext uri="{BB962C8B-B14F-4D97-AF65-F5344CB8AC3E}">
        <p14:creationId xmlns:p14="http://schemas.microsoft.com/office/powerpoint/2010/main" val="1640161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band">
            <a:extLst xmlns:a="http://schemas.openxmlformats.org/drawingml/2006/main">
              <a:ext uri="{FF2B5EF4-FFF2-40B4-BE49-F238E27FC236}">
                <a16:creationId xmlns:a16="http://schemas.microsoft.com/office/drawing/2014/main" id="{6658E235-C37C-4534-BBC2-CD23A912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B2EF923F-FBD9-45F2-A160-C2A3EA98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CC67E1C-C0C3-43B4-AA45-693F829D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六地红，成为青年投身振兴的青春底色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18B8C18F-34F8-4712-A028-63E938F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close-quote">
            <a:extLst xmlns:a="http://schemas.openxmlformats.org/drawingml/2006/main">
              <a:ext uri="{FF2B5EF4-FFF2-40B4-BE49-F238E27FC236}">
                <a16:creationId xmlns:a16="http://schemas.microsoft.com/office/drawing/2014/main" id="{AEFB9FB7-1FF1-43D9-87C9-9FF1A3D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“要讲好党的故事、革命的故事、英雄的故事，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把红色基因传承下去，确保红色江山后继有人、代代相传。”</a:t>
            </a:r>
          </a:p>
        </p:txBody>
      </p:sp>
      <p:sp>
        <p:nvSpPr>
          <p:cNvPr id="6" name="close-attrib">
            <a:extLst xmlns:a="http://schemas.openxmlformats.org/drawingml/2006/main">
              <a:ext uri="{FF2B5EF4-FFF2-40B4-BE49-F238E27FC236}">
                <a16:creationId xmlns:a16="http://schemas.microsoft.com/office/drawing/2014/main" id="{71C2A6FA-93D9-4601-A594-7E0659A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——习近平总书记关于用好红色资源的重要嘱托</a:t>
            </a:r>
          </a:p>
        </p:txBody>
      </p:sp>
      <p:sp>
        <p:nvSpPr>
          <p:cNvPr id="7" name="close-strip">
            <a:extLst xmlns:a="http://schemas.openxmlformats.org/drawingml/2006/main">
              <a:ext uri="{FF2B5EF4-FFF2-40B4-BE49-F238E27FC236}">
                <a16:creationId xmlns:a16="http://schemas.microsoft.com/office/drawing/2014/main" id="{815A61C9-C477-4DFE-B057-93DE1ED7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110490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3E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rip-copy">
            <a:extLst xmlns:a="http://schemas.openxmlformats.org/drawingml/2006/main">
              <a:ext uri="{FF2B5EF4-FFF2-40B4-BE49-F238E27FC236}">
                <a16:creationId xmlns:a16="http://schemas.microsoft.com/office/drawing/2014/main" id="{C110F079-71ED-49BD-AD2E-1ECA979A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研学链贯通红色血脉  ·  任务单激发实干担当  ·  VR 基地跨越时空  ·  宣讲团传递信仰  ·  育人机制夯实成长</a:t>
            </a:r>
          </a:p>
        </p:txBody>
      </p:sp>
      <p:sp>
        <p:nvSpPr>
          <p:cNvPr id="9" name="close-final">
            <a:extLst xmlns:a="http://schemas.openxmlformats.org/drawingml/2006/main">
              <a:ext uri="{FF2B5EF4-FFF2-40B4-BE49-F238E27FC236}">
                <a16:creationId xmlns:a16="http://schemas.microsoft.com/office/drawing/2014/main" id="{98FC5493-F993-42E6-BD2A-1EF859CE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将“听党话、跟党走”的坚定信念，熔铸进每一段青春年轮。</a:t>
            </a:r>
          </a:p>
        </p:txBody>
      </p:sp>
      <p:sp>
        <p:nvSpPr>
          <p:cNvPr id="10" name="close-page">
            <a:extLst xmlns:a="http://schemas.openxmlformats.org/drawingml/2006/main">
              <a:ext uri="{FF2B5EF4-FFF2-40B4-BE49-F238E27FC236}">
                <a16:creationId xmlns:a16="http://schemas.microsoft.com/office/drawing/2014/main" id="{781938F0-A7DA-458A-A0A6-0861742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2550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2026-09-06T02:08:10.9130000Z</dcterms:created>
  <dcterms:modified xsi:type="dcterms:W3CDTF">2026-09-06T02:08:10.9130000Z</dcterms:modified>
</coreProperties>
</file>