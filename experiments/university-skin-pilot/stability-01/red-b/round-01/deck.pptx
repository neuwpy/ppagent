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ec3a93ac69f4d72" /><Relationship Type="http://schemas.openxmlformats.org/officeDocument/2006/relationships/extended-properties" Target="/docProps/app.xml" Id="R451b958f97304885" /><Relationship Type="http://schemas.openxmlformats.org/officeDocument/2006/relationships/officeDocument" Target="/ppt/presentation.xml" Id="R65ee48d9ac2545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4c3d7706ad4277"/>
  </p:sldMasterIdLst>
  <p:notesMasterIdLst>
    <p:notesMasterId xmlns:r="http://schemas.openxmlformats.org/officeDocument/2006/relationships" r:id="R170ea681543f44ec"/>
  </p:notesMasterIdLst>
  <p:sldIdLst>
    <p:sldId xmlns:r="http://schemas.openxmlformats.org/officeDocument/2006/relationships" id="256" r:id="Reaa22b1a3e0f40d9"/>
    <p:sldId xmlns:r="http://schemas.openxmlformats.org/officeDocument/2006/relationships" id="257" r:id="R8478db79a6744921"/>
    <p:sldId xmlns:r="http://schemas.openxmlformats.org/officeDocument/2006/relationships" id="258" r:id="R558564b223ac4a13"/>
    <p:sldId xmlns:r="http://schemas.openxmlformats.org/officeDocument/2006/relationships" id="259" r:id="R39151a0e19b247fa"/>
    <p:sldId xmlns:r="http://schemas.openxmlformats.org/officeDocument/2006/relationships" id="260" r:id="R310fd84aec72444b"/>
    <p:sldId xmlns:r="http://schemas.openxmlformats.org/officeDocument/2006/relationships" id="261" r:id="R977e81f9aacd48b7"/>
    <p:sldId xmlns:r="http://schemas.openxmlformats.org/officeDocument/2006/relationships" id="262" r:id="R69d1f0440d4f4edf"/>
    <p:sldId xmlns:r="http://schemas.openxmlformats.org/officeDocument/2006/relationships" id="263" r:id="R6f0268703d5b4dcf"/>
    <p:sldId xmlns:r="http://schemas.openxmlformats.org/officeDocument/2006/relationships" id="264" r:id="R0f7111b7c7924b96"/>
    <p:sldId xmlns:r="http://schemas.openxmlformats.org/officeDocument/2006/relationships" id="265" r:id="Rb38a887ae47b4e5e"/>
    <p:sldId xmlns:r="http://schemas.openxmlformats.org/officeDocument/2006/relationships" id="266" r:id="R5c8455c0284e49c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6cc3fe547d423f" /><Relationship Type="http://schemas.openxmlformats.org/officeDocument/2006/relationships/slideMaster" Target="/ppt/slideMasters/slideMaster1.xml" Id="R5d4c3d7706ad4277" /><Relationship Type="http://schemas.openxmlformats.org/officeDocument/2006/relationships/notesMaster" Target="/ppt/notesMasters/notesMaster1.xml" Id="R170ea681543f44ec" /><Relationship Type="http://schemas.openxmlformats.org/officeDocument/2006/relationships/presProps" Target="/ppt/presProps.xml" Id="R912238c83efc434e" /><Relationship Type="http://schemas.openxmlformats.org/officeDocument/2006/relationships/tableStyles" Target="/ppt/tableStyles.xml" Id="R6f3849dc1d2e4eba" /><Relationship Type="http://schemas.openxmlformats.org/officeDocument/2006/relationships/slide" Target="/ppt/slides/slide1.xml" Id="Reaa22b1a3e0f40d9" /><Relationship Type="http://schemas.openxmlformats.org/officeDocument/2006/relationships/slide" Target="/ppt/slides/slide2.xml" Id="R8478db79a6744921" /><Relationship Type="http://schemas.openxmlformats.org/officeDocument/2006/relationships/slide" Target="/ppt/slides/slide3.xml" Id="R558564b223ac4a13" /><Relationship Type="http://schemas.openxmlformats.org/officeDocument/2006/relationships/slide" Target="/ppt/slides/slide4.xml" Id="R39151a0e19b247fa" /><Relationship Type="http://schemas.openxmlformats.org/officeDocument/2006/relationships/slide" Target="/ppt/slides/slide5.xml" Id="R310fd84aec72444b" /><Relationship Type="http://schemas.openxmlformats.org/officeDocument/2006/relationships/slide" Target="/ppt/slides/slide6.xml" Id="R977e81f9aacd48b7" /><Relationship Type="http://schemas.openxmlformats.org/officeDocument/2006/relationships/slide" Target="/ppt/slides/slide7.xml" Id="R69d1f0440d4f4edf" /><Relationship Type="http://schemas.openxmlformats.org/officeDocument/2006/relationships/slide" Target="/ppt/slides/slide8.xml" Id="R6f0268703d5b4dcf" /><Relationship Type="http://schemas.openxmlformats.org/officeDocument/2006/relationships/slide" Target="/ppt/slides/slide9.xml" Id="R0f7111b7c7924b96" /><Relationship Type="http://schemas.openxmlformats.org/officeDocument/2006/relationships/slide" Target="/ppt/slides/slide10.xml" Id="Rb38a887ae47b4e5e" /><Relationship Type="http://schemas.openxmlformats.org/officeDocument/2006/relationships/slide" Target="/ppt/slides/slide11.xml" Id="R5c8455c0284e49c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40cfee00664d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48e0378659648fb" /><Relationship Type="http://schemas.openxmlformats.org/officeDocument/2006/relationships/notesMaster" Target="/ppt/notesMasters/notesMaster1.xml" Id="Red48f08ea60d4d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8c47ad46c134efb" /><Relationship Type="http://schemas.openxmlformats.org/officeDocument/2006/relationships/notesMaster" Target="/ppt/notesMasters/notesMaster1.xml" Id="R9c3d0f6087a043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7b4df9777245cb" /><Relationship Type="http://schemas.openxmlformats.org/officeDocument/2006/relationships/notesMaster" Target="/ppt/notesMasters/notesMaster1.xml" Id="R2112c39b60604e3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e7c0c6163d4c75" /><Relationship Type="http://schemas.openxmlformats.org/officeDocument/2006/relationships/notesMaster" Target="/ppt/notesMasters/notesMaster1.xml" Id="R2c0a19bd9af44d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f014b33dba4f03" /><Relationship Type="http://schemas.openxmlformats.org/officeDocument/2006/relationships/notesMaster" Target="/ppt/notesMasters/notesMaster1.xml" Id="R37a5cea55e4a4d3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5b6e1e66554d81" /><Relationship Type="http://schemas.openxmlformats.org/officeDocument/2006/relationships/notesMaster" Target="/ppt/notesMasters/notesMaster1.xml" Id="Ra94464669efb47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056f862be7644cf" /><Relationship Type="http://schemas.openxmlformats.org/officeDocument/2006/relationships/notesMaster" Target="/ppt/notesMasters/notesMaster1.xml" Id="Rd15dd789d27d4de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f7e326da4244448" /><Relationship Type="http://schemas.openxmlformats.org/officeDocument/2006/relationships/notesMaster" Target="/ppt/notesMasters/notesMaster1.xml" Id="R9a165ed8d2534f9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57f1b9ea37f4e8c" /><Relationship Type="http://schemas.openxmlformats.org/officeDocument/2006/relationships/notesMaster" Target="/ppt/notesMasters/notesMaster1.xml" Id="R4baad7c8acce470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60243600ca54bd3" /><Relationship Type="http://schemas.openxmlformats.org/officeDocument/2006/relationships/notesMaster" Target="/ppt/notesMasters/notesMaster1.xml" Id="R1f928a8c909d44f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2697e5423534835" /><Relationship Type="http://schemas.openxmlformats.org/officeDocument/2006/relationships/notesMaster" Target="/ppt/notesMasters/notesMaster1.xml" Id="R5bc461c80458406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开场：用“六地红”作为全稿中心判断，接着说明困境、路径和结果。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原稿依据：从“三高三低”到深耕辽宁。左、右两组是并列诊断，分别由箭头汇入实践转向。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原稿依据：六个红色标识与“离理工青年最近、最燃、最硬核”的目标。六地共享一个辽宁红色资源容器。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原稿依据：1+3+N 括注。严格区分矩阵层级与研学链内部“1+6+N”路线。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原稿依据：五类抓手第一段；三项动作是明确先后，三摆三写是任务单定义，26/8 是文字证据。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原稿依据：VR 党员教育示范基地抓手。22→7 是转化关系，7→预约体验是使用结果，奖项与肯定是支持证据。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原稿依据：青春有理青年宣讲团。32→10→36 是执行链，3800多人和省级认定是结果证据。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原稿依据：红色朋友圈。41家与2000余人次是共享证据；东西双向为互学关系，使用双箭头表达。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原稿依据：红色育人机制。四阶段是明确顺序；学分、三会一课、36位导师是跨阶段支撑。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原稿依据：五年成效。58→87、26/8、+40%为原稿数字；声音更响只有文字证据，保持文字表达。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收束：回到中心判断，引用与五类抓手降级为支持，结束于青年投身振兴的行动指向。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4a7cf183c145b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55d866a6fc4f48" /><Relationship Type="http://schemas.openxmlformats.org/officeDocument/2006/relationships/slideLayout" Target="/ppt/slideLayouts/slideLayout1.xml" Id="Ra493a86391cf43a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493a86391cf43a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3a9d8a93de4d4f" /><Relationship Type="http://schemas.openxmlformats.org/officeDocument/2006/relationships/notesSlide" Target="/ppt/notesSlides/notesSlide1.xml" Id="R2765991a68c143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487beea9a465a" /><Relationship Type="http://schemas.openxmlformats.org/officeDocument/2006/relationships/notesSlide" Target="/ppt/notesSlides/notesSlide2.xml" Id="R227e362d4a4d4cb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05a3b3cf624d78" /><Relationship Type="http://schemas.openxmlformats.org/officeDocument/2006/relationships/notesSlide" Target="/ppt/notesSlides/notesSlide3.xml" Id="R752ba3d70664427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8fbeb695a148c4" /><Relationship Type="http://schemas.openxmlformats.org/officeDocument/2006/relationships/notesSlide" Target="/ppt/notesSlides/notesSlide4.xml" Id="Raece2d8b4acb404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5b992483544009" /><Relationship Type="http://schemas.openxmlformats.org/officeDocument/2006/relationships/notesSlide" Target="/ppt/notesSlides/notesSlide5.xml" Id="Rbc17418991b9442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f3683f843a463f" /><Relationship Type="http://schemas.openxmlformats.org/officeDocument/2006/relationships/notesSlide" Target="/ppt/notesSlides/notesSlide6.xml" Id="R32b7aec413ca4e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d8bb8e9ea2481b" /><Relationship Type="http://schemas.openxmlformats.org/officeDocument/2006/relationships/notesSlide" Target="/ppt/notesSlides/notesSlide7.xml" Id="Rc74a5f5efe0e4a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f55cc18c4447d4" /><Relationship Type="http://schemas.openxmlformats.org/officeDocument/2006/relationships/notesSlide" Target="/ppt/notesSlides/notesSlide8.xml" Id="R21e6f62a3bd84bb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0fc53d5ce44520" /><Relationship Type="http://schemas.openxmlformats.org/officeDocument/2006/relationships/notesSlide" Target="/ppt/notesSlides/notesSlide9.xml" Id="Rf6b21e0f62584cf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fa82fb23d47fa" /><Relationship Type="http://schemas.openxmlformats.org/officeDocument/2006/relationships/notesSlide" Target="/ppt/notesSlides/notesSlide10.xml" Id="R5cd7bea0ec00498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22b5fe2f394786" /><Relationship Type="http://schemas.openxmlformats.org/officeDocument/2006/relationships/notesSlide" Target="/ppt/notesSlides/notesSlide11.xml" Id="R90d5217ea0a5470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315F9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over-band">
            <a:extLst xmlns:a="http://schemas.openxmlformats.org/drawingml/2006/main">
              <a:ext uri="{FF2B5EF4-FFF2-40B4-BE49-F238E27FC236}">
                <a16:creationId xmlns:a16="http://schemas.microsoft.com/office/drawing/2014/main" id="{38A032E3-690F-4A21-8777-5260E791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F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ABBB7539-E06D-421C-93B6-41CE5309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4295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辽宁“六地”红色文化标识融入党员教育的创新实践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755A453B-A085-4241-9934-C8D47691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09700"/>
            <a:ext cx="8572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让“六地”红，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成为理工青年最鲜亮的青春底色</a:t>
            </a:r>
          </a:p>
        </p:txBody>
      </p:sp>
      <p:sp>
        <p:nvSpPr>
          <p:cNvPr id="4" name="cover-sub">
            <a:extLst xmlns:a="http://schemas.openxmlformats.org/drawingml/2006/main">
              <a:ext uri="{FF2B5EF4-FFF2-40B4-BE49-F238E27FC236}">
                <a16:creationId xmlns:a16="http://schemas.microsoft.com/office/drawing/2014/main" id="{1820F8D3-8E51-4C17-A911-06ADE99A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90900"/>
            <a:ext cx="819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rPr>
              <a:t>十年探路 · 五年深耕 · 把红色资源变成离青年最近的党员教育现场</a:t>
            </a:r>
          </a:p>
        </p:txBody>
      </p:sp>
      <p:sp>
        <p:nvSpPr>
          <p:cNvPr id="5" name="cover-rule">
            <a:extLst xmlns:a="http://schemas.openxmlformats.org/drawingml/2006/main">
              <a:ext uri="{FF2B5EF4-FFF2-40B4-BE49-F238E27FC236}">
                <a16:creationId xmlns:a16="http://schemas.microsoft.com/office/drawing/2014/main" id="{E70E7257-40AD-455B-B852-6C61523E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14800"/>
            <a:ext cx="285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cover-foot">
            <a:extLst xmlns:a="http://schemas.openxmlformats.org/drawingml/2006/main">
              <a:ext uri="{FF2B5EF4-FFF2-40B4-BE49-F238E27FC236}">
                <a16:creationId xmlns:a16="http://schemas.microsoft.com/office/drawing/2014/main" id="{8407BC08-952B-4479-AD9E-6D64A9C8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148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创新案例分享</a:t>
            </a:r>
          </a:p>
        </p:txBody>
      </p:sp>
      <p:sp>
        <p:nvSpPr>
          <p:cNvPr id="7" name="cover-note">
            <a:extLst xmlns:a="http://schemas.openxmlformats.org/drawingml/2006/main">
              <a:ext uri="{FF2B5EF4-FFF2-40B4-BE49-F238E27FC236}">
                <a16:creationId xmlns:a16="http://schemas.microsoft.com/office/drawing/2014/main" id="{5B7F7397-1F63-4F28-A24C-2554B9C0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8958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rPr>
              <a:t>红色研学链  /  青春课堂  /  育人机制</a:t>
            </a:r>
          </a:p>
        </p:txBody>
      </p:sp>
      <p:sp>
        <p:nvSpPr>
          <p:cNvPr id="8" name="cover-node">
            <a:extLst xmlns:a="http://schemas.openxmlformats.org/drawingml/2006/main">
              <a:ext uri="{FF2B5EF4-FFF2-40B4-BE49-F238E27FC236}">
                <a16:creationId xmlns:a16="http://schemas.microsoft.com/office/drawing/2014/main" id="{8229B47B-1EEB-4881-8A4E-D56BC8234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466850"/>
            <a:ext cx="1981200" cy="1981200"/>
          </a:xfrm>
          <a:prstGeom xmlns:a="http://schemas.openxmlformats.org/drawingml/2006/main" prst="roundRect">
            <a:avLst>
              <a:gd name="adj" fmla="val 8654"/>
            </a:avLst>
          </a:prstGeom>
          <a:solidFill xmlns:a="http://schemas.openxmlformats.org/drawingml/2006/main">
            <a:srgbClr val="3E6FA5"/>
          </a:solidFill>
          <a:ln xmlns:a="http://schemas.openxmlformats.org/drawingml/2006/main" w="9525">
            <a:solidFill>
              <a:srgbClr val="6E93BA"/>
            </a:solidFill>
            <a:prstDash val="solid"/>
          </a:ln>
        </p:spPr>
      </p:sp>
      <p:sp>
        <p:nvSpPr>
          <p:cNvPr id="9" name="cover-node-title">
            <a:extLst xmlns:a="http://schemas.openxmlformats.org/drawingml/2006/main">
              <a:ext uri="{FF2B5EF4-FFF2-40B4-BE49-F238E27FC236}">
                <a16:creationId xmlns:a16="http://schemas.microsoft.com/office/drawing/2014/main" id="{32189C81-0E55-492A-97DC-665EE4FC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71675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六地红</a:t>
            </a:r>
          </a:p>
        </p:txBody>
      </p:sp>
      <p:sp>
        <p:nvSpPr>
          <p:cNvPr id="10" name="cover-node-sub">
            <a:extLst xmlns:a="http://schemas.openxmlformats.org/drawingml/2006/main">
              <a:ext uri="{FF2B5EF4-FFF2-40B4-BE49-F238E27FC236}">
                <a16:creationId xmlns:a16="http://schemas.microsoft.com/office/drawing/2014/main" id="{30861F0E-3BA7-4D45-8075-772C2A10A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686050"/>
            <a:ext cx="163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rPr>
              <a:t>最近 · 最燃 · 最硬核</a:t>
            </a:r>
          </a:p>
        </p:txBody>
      </p:sp>
      <p:sp>
        <p:nvSpPr>
          <p:cNvPr id="11" name="cover-page">
            <a:extLst xmlns:a="http://schemas.openxmlformats.org/drawingml/2006/main">
              <a:ext uri="{FF2B5EF4-FFF2-40B4-BE49-F238E27FC236}">
                <a16:creationId xmlns:a16="http://schemas.microsoft.com/office/drawing/2014/main" id="{0ACFB373-C562-4000-94FA-EFE3E0C2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28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323462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kicker">
            <a:extLst xmlns:a="http://schemas.openxmlformats.org/drawingml/2006/main">
              <a:ext uri="{FF2B5EF4-FFF2-40B4-BE49-F238E27FC236}">
                <a16:creationId xmlns:a16="http://schemas.microsoft.com/office/drawing/2014/main" id="{92DFDBB0-5AAB-412F-AE5D-86E7B294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辽宁“六地”红色文化标识融入党员教育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AB7B4B3-6564-4A97-9B87-FB39A301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理工学生的高优势，曾与低认同并存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6052CD38-6959-418A-B339-DCC35FE5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620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solidFill>
              <a:srgbClr val="315F91"/>
            </a:solidFill>
            <a:prstDash val="solid"/>
          </a:ln>
        </p:spPr>
      </p:sp>
      <p:sp>
        <p:nvSpPr>
          <p:cNvPr id="4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FDF23FFB-3089-4A76-BC56-0FF7388D8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来源：分配稿《让“六地”红》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B4E2743D-71A6-4FCF-80BE-18F08CC24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EEF8D1E4-4CCE-45A9-AAF9-83CF0C7DD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334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rPr>
              <a:t>学院先识别“三高三低”的结构性困境，再把优势导入党建实践。</a:t>
            </a:r>
          </a:p>
        </p:txBody>
      </p:sp>
      <p:sp>
        <p:nvSpPr>
          <p:cNvPr id="7" name="high-group">
            <a:extLst xmlns:a="http://schemas.openxmlformats.org/drawingml/2006/main">
              <a:ext uri="{FF2B5EF4-FFF2-40B4-BE49-F238E27FC236}">
                <a16:creationId xmlns:a16="http://schemas.microsoft.com/office/drawing/2014/main" id="{821BD9CA-73E3-4986-B855-20180845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90700"/>
            <a:ext cx="3143250" cy="257175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8" name="high-title">
            <a:extLst xmlns:a="http://schemas.openxmlformats.org/drawingml/2006/main">
              <a:ext uri="{FF2B5EF4-FFF2-40B4-BE49-F238E27FC236}">
                <a16:creationId xmlns:a16="http://schemas.microsoft.com/office/drawing/2014/main" id="{13FC017D-ECB3-402E-9CD1-39CB7880E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143125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学生优势</a:t>
            </a:r>
          </a:p>
        </p:txBody>
      </p:sp>
      <p:sp>
        <p:nvSpPr>
          <p:cNvPr id="9" name="high-copy">
            <a:extLst xmlns:a="http://schemas.openxmlformats.org/drawingml/2006/main">
              <a:ext uri="{FF2B5EF4-FFF2-40B4-BE49-F238E27FC236}">
                <a16:creationId xmlns:a16="http://schemas.microsoft.com/office/drawing/2014/main" id="{8357D232-99BF-4712-873D-B4839AF53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600325"/>
            <a:ext cx="26860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21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高学分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1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高竞赛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21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高科研</a:t>
            </a:r>
          </a:p>
        </p:txBody>
      </p:sp>
      <p:sp>
        <p:nvSpPr>
          <p:cNvPr id="10" name="low-group">
            <a:extLst xmlns:a="http://schemas.openxmlformats.org/drawingml/2006/main">
              <a:ext uri="{FF2B5EF4-FFF2-40B4-BE49-F238E27FC236}">
                <a16:creationId xmlns:a16="http://schemas.microsoft.com/office/drawing/2014/main" id="{DC831539-3EBA-4897-A289-80063529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90700"/>
            <a:ext cx="3143250" cy="257175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1" name="low-title">
            <a:extLst xmlns:a="http://schemas.openxmlformats.org/drawingml/2006/main">
              <a:ext uri="{FF2B5EF4-FFF2-40B4-BE49-F238E27FC236}">
                <a16:creationId xmlns:a16="http://schemas.microsoft.com/office/drawing/2014/main" id="{FCEA6D47-B456-416D-95A4-DE47143F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143125"/>
            <a:ext cx="2686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教育难题</a:t>
            </a:r>
          </a:p>
        </p:txBody>
      </p:sp>
      <p:sp>
        <p:nvSpPr>
          <p:cNvPr id="12" name="low-copy">
            <a:extLst xmlns:a="http://schemas.openxmlformats.org/drawingml/2006/main">
              <a:ext uri="{FF2B5EF4-FFF2-40B4-BE49-F238E27FC236}">
                <a16:creationId xmlns:a16="http://schemas.microsoft.com/office/drawing/2014/main" id="{073E348D-2B6A-4D34-A3ED-22896181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600325"/>
            <a:ext cx="26860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5000"/>
              </a:lnSpc>
              <a:buNone/>
              <a:defRPr sz="17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理论情感浓度低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身份认同声量低</a:t>
            </a:r>
          </a:p>
          <a:p xmlns:a="http://schemas.openxmlformats.org/drawingml/2006/main">
            <a:pPr algn="ctr">
              <a:lnSpc>
                <a:spcPct val="125000"/>
              </a:lnSpc>
              <a:buNone/>
              <a:defRPr sz="17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知行合一燃值低</a:t>
            </a:r>
          </a:p>
        </p:txBody>
      </p:sp>
      <p:sp>
        <p:nvSpPr>
          <p:cNvPr id="13" name="pivot">
            <a:extLst xmlns:a="http://schemas.openxmlformats.org/drawingml/2006/main">
              <a:ext uri="{FF2B5EF4-FFF2-40B4-BE49-F238E27FC236}">
                <a16:creationId xmlns:a16="http://schemas.microsoft.com/office/drawing/2014/main" id="{08ABE518-A740-421B-930B-F5E30DD8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790700"/>
            <a:ext cx="3571875" cy="257175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243F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ivot-title">
            <a:extLst xmlns:a="http://schemas.openxmlformats.org/drawingml/2006/main">
              <a:ext uri="{FF2B5EF4-FFF2-40B4-BE49-F238E27FC236}">
                <a16:creationId xmlns:a16="http://schemas.microsoft.com/office/drawing/2014/main" id="{6D33B40C-C407-4345-A8DC-C68FEEF2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71700"/>
            <a:ext cx="300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党建实践转向</a:t>
            </a:r>
          </a:p>
        </p:txBody>
      </p:sp>
      <p:sp>
        <p:nvSpPr>
          <p:cNvPr id="15" name="pivot-copy">
            <a:extLst xmlns:a="http://schemas.openxmlformats.org/drawingml/2006/main">
              <a:ext uri="{FF2B5EF4-FFF2-40B4-BE49-F238E27FC236}">
                <a16:creationId xmlns:a16="http://schemas.microsoft.com/office/drawing/2014/main" id="{C80077FD-5DD1-4E1E-BA54-0719E1D9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724150"/>
            <a:ext cx="3000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500" b="0">
                <a:solidFill>
                  <a:srgbClr val="E3ED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E3EDF7"/>
                </a:solidFill>
                <a:latin typeface="Microsoft YaHei"/>
                <a:ea typeface="Microsoft YaHei"/>
                <a:cs typeface="Microsoft YaHei"/>
              </a:rPr>
              <a:t>组建红色梦想实践团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0">
                <a:solidFill>
                  <a:srgbClr val="E3ED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E3EDF7"/>
                </a:solidFill>
                <a:latin typeface="Microsoft YaHei"/>
                <a:ea typeface="Microsoft YaHei"/>
                <a:cs typeface="Microsoft YaHei"/>
              </a:rPr>
              <a:t>走遍全国九省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500" b="0">
                <a:solidFill>
                  <a:srgbClr val="E3ED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E3EDF7"/>
                </a:solidFill>
                <a:latin typeface="Microsoft YaHei"/>
                <a:ea typeface="Microsoft YaHei"/>
                <a:cs typeface="Microsoft YaHei"/>
              </a:rPr>
              <a:t>在社会课堂锻造“理论＋实践”立体化红色矩阵</a:t>
            </a:r>
          </a:p>
        </p:txBody>
      </p:sp>
      <p:cxnSp>
        <p:nvCxnSpPr>
          <p:cNvPr id="34" name=""/>
          <p:cNvCxnSpPr>
            <a:stCxn xmlns:a="http://schemas.openxmlformats.org/drawingml/2006/main" id="7" idx="2"/>
            <a:endCxn xmlns:a="http://schemas.openxmlformats.org/drawingml/2006/main" id="13" idx="2"/>
          </p:cNvCxnSpPr>
          <p:nvPr/>
        </p:nvCxnSpPr>
        <p:spPr>
          <a:xfrm xmlns:a="http://schemas.openxmlformats.org/drawingml/2006/main">
            <a:off x="2095500" y="4362450"/>
            <a:ext cx="7691438" cy="228600"/>
          </a:xfrm>
          <a:prstGeom xmlns:a="http://schemas.openxmlformats.org/drawingml/2006/main" prst="bentConnector4">
            <a:avLst/>
          </a:prstGeom>
          <a:ln xmlns:a="http://schemas.openxmlformats.org/drawingml/2006/main" w="28575">
            <a:solidFill>
              <a:srgbClr val="6F8FB1"/>
            </a:solidFill>
            <a:prstDash val="solid"/>
            <a:headEnd type="arrow" w="sm" len="sm"/>
          </a:ln>
        </p:spPr>
      </p:cxnSp>
      <p:cxnSp>
        <p:nvCxnSpPr>
          <p:cNvPr id="35" name=""/>
          <p:cNvCxnSpPr>
            <a:stCxn xmlns:a="http://schemas.openxmlformats.org/drawingml/2006/main" id="10" idx="2"/>
            <a:endCxn xmlns:a="http://schemas.openxmlformats.org/drawingml/2006/main" id="13" idx="2"/>
          </p:cNvCxnSpPr>
          <p:nvPr/>
        </p:nvCxnSpPr>
        <p:spPr>
          <a:xfrm xmlns:a="http://schemas.openxmlformats.org/drawingml/2006/main">
            <a:off x="5667375" y="4362450"/>
            <a:ext cx="4119563" cy="228600"/>
          </a:xfrm>
          <a:prstGeom xmlns:a="http://schemas.openxmlformats.org/drawingml/2006/main" prst="bentConnector4">
            <a:avLst/>
          </a:prstGeom>
          <a:ln xmlns:a="http://schemas.openxmlformats.org/drawingml/2006/main" w="28575">
            <a:solidFill>
              <a:srgbClr val="6F8FB1"/>
            </a:solidFill>
            <a:prstDash val="solid"/>
            <a:headEnd type="arrow" w="sm" len="sm"/>
          </a:ln>
        </p:spPr>
      </p:cxnSp>
      <p:sp>
        <p:nvSpPr>
          <p:cNvPr id="18" name="bottom-note">
            <a:extLst xmlns:a="http://schemas.openxmlformats.org/drawingml/2006/main">
              <a:ext uri="{FF2B5EF4-FFF2-40B4-BE49-F238E27FC236}">
                <a16:creationId xmlns:a16="http://schemas.microsoft.com/office/drawing/2014/main" id="{11B1DFE0-5967-4F8E-9954-A36FB1FE6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905375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今天的选择：把目光从“走遍全国”转向“深耕辽宁”。</a:t>
            </a:r>
          </a:p>
        </p:txBody>
      </p:sp>
    </p:spTree>
    <p:extLst>
      <p:ext uri="{BB962C8B-B14F-4D97-AF65-F5344CB8AC3E}">
        <p14:creationId xmlns:p14="http://schemas.microsoft.com/office/powerpoint/2010/main" val="21025407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kicker">
            <a:extLst xmlns:a="http://schemas.openxmlformats.org/drawingml/2006/main">
              <a:ext uri="{FF2B5EF4-FFF2-40B4-BE49-F238E27FC236}">
                <a16:creationId xmlns:a16="http://schemas.microsoft.com/office/drawing/2014/main" id="{C0C684A5-B81E-4D99-A66C-296F50CA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辽宁“六地”红色文化标识融入党员教育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6E5D192-5770-40AF-A680-DBFF9BB2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深耕辽宁，让“六地”成为最近的教育现场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9FB6AF62-A1C7-465A-8C6E-C353E5ED4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620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solidFill>
              <a:srgbClr val="315F91"/>
            </a:solidFill>
            <a:prstDash val="solid"/>
          </a:ln>
        </p:spPr>
      </p:sp>
      <p:sp>
        <p:nvSpPr>
          <p:cNvPr id="4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AEE8511E-E11B-4344-BAE2-EF4DA925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来源：分配稿《让“六地”红》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22E3201A-2C10-455F-B328-7163D73A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04E3E325-0DBE-4D7D-8DD8-D306B341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33475"/>
            <a:ext cx="952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rPr>
              <a:t>六个红色标识共同构成辽宁故事的“最近、最燃、最硬核”现场。</a:t>
            </a:r>
          </a:p>
        </p:txBody>
      </p:sp>
      <p:sp>
        <p:nvSpPr>
          <p:cNvPr id="7" name="six-container">
            <a:extLst xmlns:a="http://schemas.openxmlformats.org/drawingml/2006/main">
              <a:ext uri="{FF2B5EF4-FFF2-40B4-BE49-F238E27FC236}">
                <a16:creationId xmlns:a16="http://schemas.microsoft.com/office/drawing/2014/main" id="{71953D58-84CA-40C0-B850-D7B2AF50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14500"/>
            <a:ext cx="7239000" cy="34290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8" name="six-title">
            <a:extLst xmlns:a="http://schemas.openxmlformats.org/drawingml/2006/main">
              <a:ext uri="{FF2B5EF4-FFF2-40B4-BE49-F238E27FC236}">
                <a16:creationId xmlns:a16="http://schemas.microsoft.com/office/drawing/2014/main" id="{0B8747BD-0972-4339-BCBA-BE731419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952625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辽宁“六地”红色文化标识</a:t>
            </a:r>
          </a:p>
        </p:txBody>
      </p:sp>
      <p:sp>
        <p:nvSpPr>
          <p:cNvPr id="9" name="six-0">
            <a:extLst xmlns:a="http://schemas.openxmlformats.org/drawingml/2006/main">
              <a:ext uri="{FF2B5EF4-FFF2-40B4-BE49-F238E27FC236}">
                <a16:creationId xmlns:a16="http://schemas.microsoft.com/office/drawing/2014/main" id="{14DE922B-DD23-4B19-9C49-B5ED96E0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76500"/>
            <a:ext cx="19431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0" name="six-0a">
            <a:extLst xmlns:a="http://schemas.openxmlformats.org/drawingml/2006/main">
              <a:ext uri="{FF2B5EF4-FFF2-40B4-BE49-F238E27FC236}">
                <a16:creationId xmlns:a16="http://schemas.microsoft.com/office/drawing/2014/main" id="{24B71D6E-DD6B-4912-BD17-5BB90E21C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619375"/>
            <a:ext cx="1676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抗日战争</a:t>
            </a:r>
          </a:p>
        </p:txBody>
      </p:sp>
      <p:sp>
        <p:nvSpPr>
          <p:cNvPr id="11" name="six-0b">
            <a:extLst xmlns:a="http://schemas.openxmlformats.org/drawingml/2006/main">
              <a:ext uri="{FF2B5EF4-FFF2-40B4-BE49-F238E27FC236}">
                <a16:creationId xmlns:a16="http://schemas.microsoft.com/office/drawing/2014/main" id="{5981CC6A-9E8B-4FB6-9122-453BCF49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89560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起始地</a:t>
            </a:r>
          </a:p>
        </p:txBody>
      </p:sp>
      <p:sp>
        <p:nvSpPr>
          <p:cNvPr id="12" name="six-1">
            <a:extLst xmlns:a="http://schemas.openxmlformats.org/drawingml/2006/main">
              <a:ext uri="{FF2B5EF4-FFF2-40B4-BE49-F238E27FC236}">
                <a16:creationId xmlns:a16="http://schemas.microsoft.com/office/drawing/2014/main" id="{3B5F0856-2053-410D-AD06-3E70CDEB4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476500"/>
            <a:ext cx="19431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3" name="six-1a">
            <a:extLst xmlns:a="http://schemas.openxmlformats.org/drawingml/2006/main">
              <a:ext uri="{FF2B5EF4-FFF2-40B4-BE49-F238E27FC236}">
                <a16:creationId xmlns:a16="http://schemas.microsoft.com/office/drawing/2014/main" id="{C148F746-69D1-4409-97EC-2407682A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19375"/>
            <a:ext cx="1676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解放战争</a:t>
            </a:r>
          </a:p>
        </p:txBody>
      </p:sp>
      <p:sp>
        <p:nvSpPr>
          <p:cNvPr id="14" name="six-1b">
            <a:extLst xmlns:a="http://schemas.openxmlformats.org/drawingml/2006/main">
              <a:ext uri="{FF2B5EF4-FFF2-40B4-BE49-F238E27FC236}">
                <a16:creationId xmlns:a16="http://schemas.microsoft.com/office/drawing/2014/main" id="{4BC5725C-3F9F-46C5-ADAD-34A076E2A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89560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转折地</a:t>
            </a:r>
          </a:p>
        </p:txBody>
      </p:sp>
      <p:sp>
        <p:nvSpPr>
          <p:cNvPr id="15" name="six-2">
            <a:extLst xmlns:a="http://schemas.openxmlformats.org/drawingml/2006/main">
              <a:ext uri="{FF2B5EF4-FFF2-40B4-BE49-F238E27FC236}">
                <a16:creationId xmlns:a16="http://schemas.microsoft.com/office/drawing/2014/main" id="{D42C6600-238A-406A-9DC1-6A219296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2476500"/>
            <a:ext cx="19431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6" name="six-2a">
            <a:extLst xmlns:a="http://schemas.openxmlformats.org/drawingml/2006/main">
              <a:ext uri="{FF2B5EF4-FFF2-40B4-BE49-F238E27FC236}">
                <a16:creationId xmlns:a16="http://schemas.microsoft.com/office/drawing/2014/main" id="{1C569912-B136-45C1-A56A-F461DE5B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619375"/>
            <a:ext cx="1676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新中国国歌</a:t>
            </a:r>
          </a:p>
        </p:txBody>
      </p:sp>
      <p:sp>
        <p:nvSpPr>
          <p:cNvPr id="17" name="six-2b">
            <a:extLst xmlns:a="http://schemas.openxmlformats.org/drawingml/2006/main">
              <a:ext uri="{FF2B5EF4-FFF2-40B4-BE49-F238E27FC236}">
                <a16:creationId xmlns:a16="http://schemas.microsoft.com/office/drawing/2014/main" id="{9E59661A-D956-48A1-9555-77839DC5F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89560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素材地</a:t>
            </a:r>
          </a:p>
        </p:txBody>
      </p:sp>
      <p:sp>
        <p:nvSpPr>
          <p:cNvPr id="18" name="six-3">
            <a:extLst xmlns:a="http://schemas.openxmlformats.org/drawingml/2006/main">
              <a:ext uri="{FF2B5EF4-FFF2-40B4-BE49-F238E27FC236}">
                <a16:creationId xmlns:a16="http://schemas.microsoft.com/office/drawing/2014/main" id="{0584D5C2-72CA-4C1C-B205-F4DD366D2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543300"/>
            <a:ext cx="19431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9" name="six-3a">
            <a:extLst xmlns:a="http://schemas.openxmlformats.org/drawingml/2006/main">
              <a:ext uri="{FF2B5EF4-FFF2-40B4-BE49-F238E27FC236}">
                <a16:creationId xmlns:a16="http://schemas.microsoft.com/office/drawing/2014/main" id="{BF351CC2-F4BF-4F9A-BE20-E4A87A9C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686175"/>
            <a:ext cx="1676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抗美援朝</a:t>
            </a:r>
          </a:p>
        </p:txBody>
      </p:sp>
      <p:sp>
        <p:nvSpPr>
          <p:cNvPr id="20" name="six-3b">
            <a:extLst xmlns:a="http://schemas.openxmlformats.org/drawingml/2006/main">
              <a:ext uri="{FF2B5EF4-FFF2-40B4-BE49-F238E27FC236}">
                <a16:creationId xmlns:a16="http://schemas.microsoft.com/office/drawing/2014/main" id="{5BD950D5-F8BB-4D3E-996C-3E658629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96240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出征地</a:t>
            </a:r>
          </a:p>
        </p:txBody>
      </p:sp>
      <p:sp>
        <p:nvSpPr>
          <p:cNvPr id="21" name="six-4">
            <a:extLst xmlns:a="http://schemas.openxmlformats.org/drawingml/2006/main">
              <a:ext uri="{FF2B5EF4-FFF2-40B4-BE49-F238E27FC236}">
                <a16:creationId xmlns:a16="http://schemas.microsoft.com/office/drawing/2014/main" id="{3C667D4E-5FF4-41F2-89B2-565123828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543300"/>
            <a:ext cx="19431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22" name="six-4a">
            <a:extLst xmlns:a="http://schemas.openxmlformats.org/drawingml/2006/main">
              <a:ext uri="{FF2B5EF4-FFF2-40B4-BE49-F238E27FC236}">
                <a16:creationId xmlns:a16="http://schemas.microsoft.com/office/drawing/2014/main" id="{4070167F-DC74-417C-91CD-FD6958E1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686175"/>
            <a:ext cx="1676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共和国工业</a:t>
            </a:r>
          </a:p>
        </p:txBody>
      </p:sp>
      <p:sp>
        <p:nvSpPr>
          <p:cNvPr id="23" name="six-4b">
            <a:extLst xmlns:a="http://schemas.openxmlformats.org/drawingml/2006/main">
              <a:ext uri="{FF2B5EF4-FFF2-40B4-BE49-F238E27FC236}">
                <a16:creationId xmlns:a16="http://schemas.microsoft.com/office/drawing/2014/main" id="{BC1B7D8D-7DF8-40BC-A905-DBDB9F27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6240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奠基地</a:t>
            </a:r>
          </a:p>
        </p:txBody>
      </p:sp>
      <p:sp>
        <p:nvSpPr>
          <p:cNvPr id="24" name="six-5">
            <a:extLst xmlns:a="http://schemas.openxmlformats.org/drawingml/2006/main">
              <a:ext uri="{FF2B5EF4-FFF2-40B4-BE49-F238E27FC236}">
                <a16:creationId xmlns:a16="http://schemas.microsoft.com/office/drawing/2014/main" id="{160E11B7-E28C-4E73-B354-50465DE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0175" y="3543300"/>
            <a:ext cx="19431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25" name="six-5a">
            <a:extLst xmlns:a="http://schemas.openxmlformats.org/drawingml/2006/main">
              <a:ext uri="{FF2B5EF4-FFF2-40B4-BE49-F238E27FC236}">
                <a16:creationId xmlns:a16="http://schemas.microsoft.com/office/drawing/2014/main" id="{C103B203-8C52-4763-8700-3559C985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686175"/>
            <a:ext cx="1676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雷锋精神</a:t>
            </a:r>
          </a:p>
        </p:txBody>
      </p:sp>
      <p:sp>
        <p:nvSpPr>
          <p:cNvPr id="26" name="six-5b">
            <a:extLst xmlns:a="http://schemas.openxmlformats.org/drawingml/2006/main">
              <a:ext uri="{FF2B5EF4-FFF2-40B4-BE49-F238E27FC236}">
                <a16:creationId xmlns:a16="http://schemas.microsoft.com/office/drawing/2014/main" id="{4A428976-7274-4287-9D39-E8041D94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3962400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发祥地</a:t>
            </a:r>
          </a:p>
        </p:txBody>
      </p:sp>
      <p:sp>
        <p:nvSpPr>
          <p:cNvPr id="27" name="young-site">
            <a:extLst xmlns:a="http://schemas.openxmlformats.org/drawingml/2006/main">
              <a:ext uri="{FF2B5EF4-FFF2-40B4-BE49-F238E27FC236}">
                <a16:creationId xmlns:a16="http://schemas.microsoft.com/office/drawing/2014/main" id="{C9980EAB-19E7-4A4B-84B8-9BA9866C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3333750" cy="2190750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315F9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site-title">
            <a:extLst xmlns:a="http://schemas.openxmlformats.org/drawingml/2006/main">
              <a:ext uri="{FF2B5EF4-FFF2-40B4-BE49-F238E27FC236}">
                <a16:creationId xmlns:a16="http://schemas.microsoft.com/office/drawing/2014/main" id="{D7D86BA9-E6FB-42A7-B4C6-DA355785E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479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党员教育现场</a:t>
            </a:r>
          </a:p>
        </p:txBody>
      </p:sp>
      <p:sp>
        <p:nvSpPr>
          <p:cNvPr id="29" name="site-copy">
            <a:extLst xmlns:a="http://schemas.openxmlformats.org/drawingml/2006/main">
              <a:ext uri="{FF2B5EF4-FFF2-40B4-BE49-F238E27FC236}">
                <a16:creationId xmlns:a16="http://schemas.microsoft.com/office/drawing/2014/main" id="{52FD051D-D2BC-4411-ADDC-5E03F25C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7657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650" b="0">
                <a:solidFill>
                  <a:srgbClr val="E2ED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E2EDF7"/>
                </a:solidFill>
                <a:latin typeface="Microsoft YaHei"/>
                <a:ea typeface="Microsoft YaHei"/>
                <a:cs typeface="Microsoft YaHei"/>
              </a:rPr>
              <a:t>热爱辽宁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650" b="0">
                <a:solidFill>
                  <a:srgbClr val="E2ED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E2EDF7"/>
                </a:solidFill>
                <a:latin typeface="Microsoft YaHei"/>
                <a:ea typeface="Microsoft YaHei"/>
                <a:cs typeface="Microsoft YaHei"/>
              </a:rPr>
              <a:t>扎根辽宁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650" b="0">
                <a:solidFill>
                  <a:srgbClr val="E2ED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E2EDF7"/>
                </a:solidFill>
                <a:latin typeface="Microsoft YaHei"/>
                <a:ea typeface="Microsoft YaHei"/>
                <a:cs typeface="Microsoft YaHei"/>
              </a:rPr>
              <a:t>服务辽宁</a:t>
            </a:r>
          </a:p>
        </p:txBody>
      </p:sp>
      <p:sp>
        <p:nvSpPr>
          <p:cNvPr id="30" name="anchor">
            <a:extLst xmlns:a="http://schemas.openxmlformats.org/drawingml/2006/main">
              <a:ext uri="{FF2B5EF4-FFF2-40B4-BE49-F238E27FC236}">
                <a16:creationId xmlns:a16="http://schemas.microsoft.com/office/drawing/2014/main" id="{5C28A770-B535-456F-8226-A42C4CD84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004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3" name=""/>
          <p:cNvCxnSpPr>
            <a:stCxn xmlns:a="http://schemas.openxmlformats.org/drawingml/2006/main" id="30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 flipV="1">
            <a:off x="7258050" y="3190875"/>
            <a:ext cx="933450" cy="190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15F91"/>
            </a:solidFill>
            <a:prstDash val="solid"/>
            <a:headEnd type="arrow" w="sm" len="sm"/>
          </a:ln>
        </p:spPr>
      </p:cxnSp>
      <p:sp>
        <p:nvSpPr>
          <p:cNvPr id="32" name="bottom-note">
            <a:extLst xmlns:a="http://schemas.openxmlformats.org/drawingml/2006/main">
              <a:ext uri="{FF2B5EF4-FFF2-40B4-BE49-F238E27FC236}">
                <a16:creationId xmlns:a16="http://schemas.microsoft.com/office/drawing/2014/main" id="{C59F3FF6-426C-474E-8571-EB3BF28A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47687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把红色资源从“远方的故事”变成青年可以走近、走进、走完的教育路径。</a:t>
            </a:r>
          </a:p>
        </p:txBody>
      </p:sp>
    </p:spTree>
    <p:extLst>
      <p:ext uri="{BB962C8B-B14F-4D97-AF65-F5344CB8AC3E}">
        <p14:creationId xmlns:p14="http://schemas.microsoft.com/office/powerpoint/2010/main" val="11445240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kicker">
            <a:extLst xmlns:a="http://schemas.openxmlformats.org/drawingml/2006/main">
              <a:ext uri="{FF2B5EF4-FFF2-40B4-BE49-F238E27FC236}">
                <a16:creationId xmlns:a16="http://schemas.microsoft.com/office/drawing/2014/main" id="{B31BAFE8-089D-4BA3-85DC-6AAE6697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辽宁“六地”红色文化标识融入党员教育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03537CF-390F-430D-AAB3-294C203EA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1+3+N 新矩阵，把教育拓展到全时全域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27D35D34-6D60-464D-BC28-11646D6D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620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solidFill>
              <a:srgbClr val="315F91"/>
            </a:solidFill>
            <a:prstDash val="solid"/>
          </a:ln>
        </p:spPr>
      </p:sp>
      <p:sp>
        <p:nvSpPr>
          <p:cNvPr id="4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45471FF1-E6A5-40FA-9E2A-EA0DE1413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来源：分配稿《让“六地”红》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366EDBA8-B7D0-4F31-AE31-26CD90FA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1CA98A27-79F2-40DF-99CE-6A297370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3347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rPr>
              <a:t>一条研学链、三类青春课堂、N 个教育场景，共同重塑“五位一体”红色育人生态。</a:t>
            </a:r>
          </a:p>
        </p:txBody>
      </p:sp>
      <p:sp>
        <p:nvSpPr>
          <p:cNvPr id="7" name="matrix-center">
            <a:extLst xmlns:a="http://schemas.openxmlformats.org/drawingml/2006/main">
              <a:ext uri="{FF2B5EF4-FFF2-40B4-BE49-F238E27FC236}">
                <a16:creationId xmlns:a16="http://schemas.microsoft.com/office/drawing/2014/main" id="{CB613D55-F530-4D5D-9BE7-589D6D671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86000"/>
            <a:ext cx="2400300" cy="12001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43F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atrix-big">
            <a:extLst xmlns:a="http://schemas.openxmlformats.org/drawingml/2006/main">
              <a:ext uri="{FF2B5EF4-FFF2-40B4-BE49-F238E27FC236}">
                <a16:creationId xmlns:a16="http://schemas.microsoft.com/office/drawing/2014/main" id="{0090AB5C-7D21-4D3F-BC28-B8256E4A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5745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+ 3 + N</a:t>
            </a:r>
          </a:p>
        </p:txBody>
      </p:sp>
      <p:sp>
        <p:nvSpPr>
          <p:cNvPr id="9" name="matrix-small">
            <a:extLst xmlns:a="http://schemas.openxmlformats.org/drawingml/2006/main">
              <a:ext uri="{FF2B5EF4-FFF2-40B4-BE49-F238E27FC236}">
                <a16:creationId xmlns:a16="http://schemas.microsoft.com/office/drawing/2014/main" id="{900FC751-E1B7-492C-98D9-C52D4200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28950"/>
            <a:ext cx="1981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rPr>
              <a:t>五位一体红色育人生态</a:t>
            </a:r>
          </a:p>
        </p:txBody>
      </p:sp>
      <p:sp>
        <p:nvSpPr>
          <p:cNvPr id="10" name="matrix-chain">
            <a:extLst xmlns:a="http://schemas.openxmlformats.org/drawingml/2006/main">
              <a:ext uri="{FF2B5EF4-FFF2-40B4-BE49-F238E27FC236}">
                <a16:creationId xmlns:a16="http://schemas.microsoft.com/office/drawing/2014/main" id="{DBE30977-5B55-4BDF-9EA3-588A461C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9750"/>
            <a:ext cx="3238500" cy="2000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1" name="chain-title">
            <a:extLst xmlns:a="http://schemas.openxmlformats.org/drawingml/2006/main">
              <a:ext uri="{FF2B5EF4-FFF2-40B4-BE49-F238E27FC236}">
                <a16:creationId xmlns:a16="http://schemas.microsoft.com/office/drawing/2014/main" id="{1B63F1CC-4824-413A-A376-A954B7B6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0383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1 条研学链</a:t>
            </a:r>
          </a:p>
        </p:txBody>
      </p:sp>
      <p:sp>
        <p:nvSpPr>
          <p:cNvPr id="12" name="chain-copy">
            <a:extLst xmlns:a="http://schemas.openxmlformats.org/drawingml/2006/main">
              <a:ext uri="{FF2B5EF4-FFF2-40B4-BE49-F238E27FC236}">
                <a16:creationId xmlns:a16="http://schemas.microsoft.com/office/drawing/2014/main" id="{B19F48B1-A60F-42CC-A58B-123940B5A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2457450"/>
            <a:ext cx="27813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1 个校本基地（校史馆）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+ 6 处核心“六地”场馆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+ N 个配套教学点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绘制“红色足迹地图”</a:t>
            </a:r>
          </a:p>
        </p:txBody>
      </p:sp>
      <p:sp>
        <p:nvSpPr>
          <p:cNvPr id="13" name="matrix-classes">
            <a:extLst xmlns:a="http://schemas.openxmlformats.org/drawingml/2006/main">
              <a:ext uri="{FF2B5EF4-FFF2-40B4-BE49-F238E27FC236}">
                <a16:creationId xmlns:a16="http://schemas.microsoft.com/office/drawing/2014/main" id="{AB8B88D2-238D-4791-A89F-E5364727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3238500" cy="2000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4" name="classes-title">
            <a:extLst xmlns:a="http://schemas.openxmlformats.org/drawingml/2006/main">
              <a:ext uri="{FF2B5EF4-FFF2-40B4-BE49-F238E27FC236}">
                <a16:creationId xmlns:a16="http://schemas.microsoft.com/office/drawing/2014/main" id="{A0C23977-9973-46BF-B1C2-F0CCF3ABA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05025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3 类青春课堂</a:t>
            </a:r>
          </a:p>
        </p:txBody>
      </p:sp>
      <p:sp>
        <p:nvSpPr>
          <p:cNvPr id="15" name="classes-copy">
            <a:extLst xmlns:a="http://schemas.openxmlformats.org/drawingml/2006/main">
              <a:ext uri="{FF2B5EF4-FFF2-40B4-BE49-F238E27FC236}">
                <a16:creationId xmlns:a16="http://schemas.microsoft.com/office/drawing/2014/main" id="{3CF46BA7-B0FB-49A7-97F5-F79D16DA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62225"/>
            <a:ext cx="27813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2000"/>
              </a:lnSpc>
              <a:buNone/>
              <a:defRPr sz="15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行走课堂：红色研学</a:t>
            </a:r>
          </a:p>
          <a:p xmlns:a="http://schemas.openxmlformats.org/drawingml/2006/main">
            <a:pPr algn="ctr">
              <a:lnSpc>
                <a:spcPct val="122000"/>
              </a:lnSpc>
              <a:buNone/>
              <a:defRPr sz="15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沉浸课堂：VR 党课</a:t>
            </a:r>
          </a:p>
          <a:p xmlns:a="http://schemas.openxmlformats.org/drawingml/2006/main">
            <a:pPr algn="ctr">
              <a:lnSpc>
                <a:spcPct val="122000"/>
              </a:lnSpc>
              <a:buNone/>
              <a:defRPr sz="15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互动课堂：青春宣讲</a:t>
            </a:r>
          </a:p>
        </p:txBody>
      </p:sp>
      <p:sp>
        <p:nvSpPr>
          <p:cNvPr id="16" name="matrix-scenes">
            <a:extLst xmlns:a="http://schemas.openxmlformats.org/drawingml/2006/main">
              <a:ext uri="{FF2B5EF4-FFF2-40B4-BE49-F238E27FC236}">
                <a16:creationId xmlns:a16="http://schemas.microsoft.com/office/drawing/2014/main" id="{4FBD1461-DCDE-4F1A-AA6F-C89CCDAA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210050"/>
            <a:ext cx="2400300" cy="104775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7" name="scenes-title">
            <a:extLst xmlns:a="http://schemas.openxmlformats.org/drawingml/2006/main">
              <a:ext uri="{FF2B5EF4-FFF2-40B4-BE49-F238E27FC236}">
                <a16:creationId xmlns:a16="http://schemas.microsoft.com/office/drawing/2014/main" id="{73378EF3-D07C-4733-86A6-082FA287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419600"/>
            <a:ext cx="2019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N 个党员教育场景</a:t>
            </a:r>
          </a:p>
        </p:txBody>
      </p:sp>
      <p:sp>
        <p:nvSpPr>
          <p:cNvPr id="18" name="scenes-copy">
            <a:extLst xmlns:a="http://schemas.openxmlformats.org/drawingml/2006/main">
              <a:ext uri="{FF2B5EF4-FFF2-40B4-BE49-F238E27FC236}">
                <a16:creationId xmlns:a16="http://schemas.microsoft.com/office/drawing/2014/main" id="{51DFD3D9-6F12-4ADB-874F-4A300AFD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829175"/>
            <a:ext cx="2019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校地 · 校企 · 校校党建联建</a:t>
            </a:r>
          </a:p>
        </p:txBody>
      </p:sp>
      <p:cxnSp>
        <p:nvCxnSpPr>
          <p:cNvPr id="41" name=""/>
          <p:cNvCxnSpPr>
            <a:stCxn xmlns:a="http://schemas.openxmlformats.org/drawingml/2006/main" id="10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762375" y="2809875"/>
            <a:ext cx="1133475" cy="762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8FB1"/>
            </a:solidFill>
            <a:prstDash val="solid"/>
            <a:headEnd type="arrow" w="sm" len="sm"/>
          </a:ln>
        </p:spPr>
      </p:cxnSp>
      <p:cxnSp>
        <p:nvCxnSpPr>
          <p:cNvPr id="42" name=""/>
          <p:cNvCxnSpPr>
            <a:stCxn xmlns:a="http://schemas.openxmlformats.org/drawingml/2006/main" id="13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7296150" y="2809875"/>
            <a:ext cx="990600" cy="762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8FB1"/>
            </a:solidFill>
            <a:prstDash val="solid"/>
            <a:headEnd type="arrow" w="sm" len="sm"/>
          </a:ln>
        </p:spPr>
      </p:cxnSp>
      <p:cxnSp>
        <p:nvCxnSpPr>
          <p:cNvPr id="43" name=""/>
          <p:cNvCxnSpPr>
            <a:stCxn xmlns:a="http://schemas.openxmlformats.org/drawingml/2006/main" id="7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6096000" y="3486150"/>
            <a:ext cx="0" cy="7239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F8FB1"/>
            </a:solidFill>
            <a:prstDash val="solid"/>
            <a:headEnd type="arrow" w="sm" len="sm"/>
          </a:ln>
        </p:spPr>
      </p:cxnSp>
      <p:sp>
        <p:nvSpPr>
          <p:cNvPr id="22" name="bottom-note">
            <a:extLst xmlns:a="http://schemas.openxmlformats.org/drawingml/2006/main">
              <a:ext uri="{FF2B5EF4-FFF2-40B4-BE49-F238E27FC236}">
                <a16:creationId xmlns:a16="http://schemas.microsoft.com/office/drawing/2014/main" id="{49B6F6AF-52EE-4376-B8F5-01C040E2F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61975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1+6+N 是研学链内部路线设计；1+3+N 是全稿矩阵层级，口径保持分明。</a:t>
            </a:r>
          </a:p>
        </p:txBody>
      </p:sp>
    </p:spTree>
    <p:extLst>
      <p:ext uri="{BB962C8B-B14F-4D97-AF65-F5344CB8AC3E}">
        <p14:creationId xmlns:p14="http://schemas.microsoft.com/office/powerpoint/2010/main" val="4582410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kicker">
            <a:extLst xmlns:a="http://schemas.openxmlformats.org/drawingml/2006/main">
              <a:ext uri="{FF2B5EF4-FFF2-40B4-BE49-F238E27FC236}">
                <a16:creationId xmlns:a16="http://schemas.microsoft.com/office/drawing/2014/main" id="{88960267-84E2-498A-91FE-6C8D2C25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辽宁“六地”红色文化标识融入党员教育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8ADA4F0-9F06-4444-8BEE-20708CE9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红色任务单，把行走党课变成专业担当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A2AC0020-658B-4F28-A87F-6BA67382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620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solidFill>
              <a:srgbClr val="315F91"/>
            </a:solidFill>
            <a:prstDash val="solid"/>
          </a:ln>
        </p:spPr>
      </p:sp>
      <p:sp>
        <p:nvSpPr>
          <p:cNvPr id="4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4CEF6D79-4C5E-4420-8D18-02609BE7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来源：分配稿《让“六地”红》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BE7C5B00-8020-4B43-AD9D-D7125E8F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B9E02F0C-30B0-461E-8756-E7457B398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3347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rPr>
              <a:t>任务单不是打卡清单，而是“把自己、工作、职责摆进去”的三摆三写军令状。</a:t>
            </a:r>
          </a:p>
        </p:txBody>
      </p:sp>
      <p:sp>
        <p:nvSpPr>
          <p:cNvPr id="7" name="task-a">
            <a:extLst xmlns:a="http://schemas.openxmlformats.org/drawingml/2006/main">
              <a:ext uri="{FF2B5EF4-FFF2-40B4-BE49-F238E27FC236}">
                <a16:creationId xmlns:a16="http://schemas.microsoft.com/office/drawing/2014/main" id="{E8BD6396-CAD4-408C-BC93-3FB1E2F45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90750"/>
            <a:ext cx="2857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8" name="task-b">
            <a:extLst xmlns:a="http://schemas.openxmlformats.org/drawingml/2006/main">
              <a:ext uri="{FF2B5EF4-FFF2-40B4-BE49-F238E27FC236}">
                <a16:creationId xmlns:a16="http://schemas.microsoft.com/office/drawing/2014/main" id="{52F93203-0836-4E6D-B7DF-E07CF276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190750"/>
            <a:ext cx="2857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9" name="task-c">
            <a:extLst xmlns:a="http://schemas.openxmlformats.org/drawingml/2006/main">
              <a:ext uri="{FF2B5EF4-FFF2-40B4-BE49-F238E27FC236}">
                <a16:creationId xmlns:a16="http://schemas.microsoft.com/office/drawing/2014/main" id="{6A6ED2B5-D044-4C3F-9C58-FF5DE03A8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90750"/>
            <a:ext cx="2857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0" name="task-d">
            <a:extLst xmlns:a="http://schemas.openxmlformats.org/drawingml/2006/main">
              <a:ext uri="{FF2B5EF4-FFF2-40B4-BE49-F238E27FC236}">
                <a16:creationId xmlns:a16="http://schemas.microsoft.com/office/drawing/2014/main" id="{8140B7E9-A321-443D-9FE4-F9A419CA0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90750"/>
            <a:ext cx="1476375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43F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ask-a-t">
            <a:extLst xmlns:a="http://schemas.openxmlformats.org/drawingml/2006/main">
              <a:ext uri="{FF2B5EF4-FFF2-40B4-BE49-F238E27FC236}">
                <a16:creationId xmlns:a16="http://schemas.microsoft.com/office/drawing/2014/main" id="{92D6245A-B83F-4822-9181-CEC9BF4D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146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拍一段“青声说史”</a:t>
            </a:r>
          </a:p>
        </p:txBody>
      </p:sp>
      <p:sp>
        <p:nvSpPr>
          <p:cNvPr id="12" name="task-b-t">
            <a:extLst xmlns:a="http://schemas.openxmlformats.org/drawingml/2006/main">
              <a:ext uri="{FF2B5EF4-FFF2-40B4-BE49-F238E27FC236}">
                <a16:creationId xmlns:a16="http://schemas.microsoft.com/office/drawing/2014/main" id="{44C79AEA-26FB-4A83-8902-3720A4DA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5146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解决一个“微难题”</a:t>
            </a:r>
          </a:p>
        </p:txBody>
      </p:sp>
      <p:sp>
        <p:nvSpPr>
          <p:cNvPr id="13" name="task-c-t">
            <a:extLst xmlns:a="http://schemas.openxmlformats.org/drawingml/2006/main">
              <a:ext uri="{FF2B5EF4-FFF2-40B4-BE49-F238E27FC236}">
                <a16:creationId xmlns:a16="http://schemas.microsoft.com/office/drawing/2014/main" id="{5CAF496F-134C-4783-AE1B-AD429EBB9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14600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带回一个“振兴微课题”</a:t>
            </a:r>
          </a:p>
        </p:txBody>
      </p:sp>
      <p:sp>
        <p:nvSpPr>
          <p:cNvPr id="14" name="task-d-t">
            <a:extLst xmlns:a="http://schemas.openxmlformats.org/drawingml/2006/main">
              <a:ext uri="{FF2B5EF4-FFF2-40B4-BE49-F238E27FC236}">
                <a16:creationId xmlns:a16="http://schemas.microsoft.com/office/drawing/2014/main" id="{E51746B3-E259-4B02-9694-53E50ECC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419350"/>
            <a:ext cx="1085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专业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担当</a:t>
            </a:r>
          </a:p>
        </p:txBody>
      </p:sp>
      <p:cxnSp>
        <p:nvCxnSpPr>
          <p:cNvPr id="4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381375" y="2724150"/>
            <a:ext cx="3143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15F91"/>
            </a:solidFill>
            <a:prstDash val="solid"/>
            <a:headEnd type="arrow" w="sm" len="sm"/>
          </a:ln>
        </p:spPr>
      </p:cxnSp>
      <p:cxnSp>
        <p:nvCxnSpPr>
          <p:cNvPr id="43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6553200" y="27241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15F91"/>
            </a:solidFill>
            <a:prstDash val="solid"/>
            <a:headEnd type="arrow" w="sm" len="sm"/>
          </a:ln>
        </p:spPr>
      </p:cxnSp>
      <p:cxnSp>
        <p:nvCxnSpPr>
          <p:cNvPr id="44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9753600" y="2724150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315F91"/>
            </a:solidFill>
            <a:prstDash val="solid"/>
            <a:headEnd type="arrow" w="sm" len="sm"/>
          </a:ln>
        </p:spPr>
      </p:cxnSp>
      <p:sp>
        <p:nvSpPr>
          <p:cNvPr id="18" name="triad-title">
            <a:extLst xmlns:a="http://schemas.openxmlformats.org/drawingml/2006/main">
              <a:ext uri="{FF2B5EF4-FFF2-40B4-BE49-F238E27FC236}">
                <a16:creationId xmlns:a16="http://schemas.microsoft.com/office/drawing/2014/main" id="{FE80C6D8-EDE0-4F32-8E3F-995931F35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8142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三摆三写</a:t>
            </a:r>
          </a:p>
        </p:txBody>
      </p:sp>
      <p:sp>
        <p:nvSpPr>
          <p:cNvPr id="19" name="triad">
            <a:extLst xmlns:a="http://schemas.openxmlformats.org/drawingml/2006/main">
              <a:ext uri="{FF2B5EF4-FFF2-40B4-BE49-F238E27FC236}">
                <a16:creationId xmlns:a16="http://schemas.microsoft.com/office/drawing/2014/main" id="{69466F3C-EAC6-43A0-8EE8-23B07AF4E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81475"/>
            <a:ext cx="66103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20" name="triad-copy">
            <a:extLst xmlns:a="http://schemas.openxmlformats.org/drawingml/2006/main">
              <a:ext uri="{FF2B5EF4-FFF2-40B4-BE49-F238E27FC236}">
                <a16:creationId xmlns:a16="http://schemas.microsoft.com/office/drawing/2014/main" id="{AD90AD6F-C057-47F3-9C08-69487F06F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362450"/>
            <a:ext cx="6096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把自己摆进去 → 写青春誓言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把工作摆进去 → 写专业方案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把职责摆进去 → 写振兴答卷</a:t>
            </a:r>
          </a:p>
        </p:txBody>
      </p:sp>
      <p:sp>
        <p:nvSpPr>
          <p:cNvPr id="21" name="task-metric-surface">
            <a:extLst xmlns:a="http://schemas.openxmlformats.org/drawingml/2006/main">
              <a:ext uri="{FF2B5EF4-FFF2-40B4-BE49-F238E27FC236}">
                <a16:creationId xmlns:a16="http://schemas.microsoft.com/office/drawing/2014/main" id="{97B405BC-16EB-43EC-B4C3-3371533E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81425"/>
            <a:ext cx="1619250" cy="1485900"/>
          </a:xfrm>
          <a:prstGeom xmlns:a="http://schemas.openxmlformats.org/drawingml/2006/main" prst="roundRect">
            <a:avLst>
              <a:gd name="adj" fmla="val 6410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22" name="task-metric-value">
            <a:extLst xmlns:a="http://schemas.openxmlformats.org/drawingml/2006/main">
              <a:ext uri="{FF2B5EF4-FFF2-40B4-BE49-F238E27FC236}">
                <a16:creationId xmlns:a16="http://schemas.microsoft.com/office/drawing/2014/main" id="{6BEB189E-B820-4F3C-B4AF-624AAB7F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05250"/>
            <a:ext cx="135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26 项</a:t>
            </a:r>
          </a:p>
        </p:txBody>
      </p:sp>
      <p:sp>
        <p:nvSpPr>
          <p:cNvPr id="23" name="task-metric-label">
            <a:extLst xmlns:a="http://schemas.openxmlformats.org/drawingml/2006/main">
              <a:ext uri="{FF2B5EF4-FFF2-40B4-BE49-F238E27FC236}">
                <a16:creationId xmlns:a16="http://schemas.microsoft.com/office/drawing/2014/main" id="{91E07B86-8E5E-4CB6-926E-83DACD3F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43400"/>
            <a:ext cx="13525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微课题被多地“揭榜挂帅”</a:t>
            </a:r>
          </a:p>
        </p:txBody>
      </p:sp>
      <p:sp>
        <p:nvSpPr>
          <p:cNvPr id="24" name="task-metric2-surface">
            <a:extLst xmlns:a="http://schemas.openxmlformats.org/drawingml/2006/main">
              <a:ext uri="{FF2B5EF4-FFF2-40B4-BE49-F238E27FC236}">
                <a16:creationId xmlns:a16="http://schemas.microsoft.com/office/drawing/2014/main" id="{BD3B3E9A-0ECF-4B86-B8D9-E208E7C7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781425"/>
            <a:ext cx="1619250" cy="1485900"/>
          </a:xfrm>
          <a:prstGeom xmlns:a="http://schemas.openxmlformats.org/drawingml/2006/main" prst="roundRect">
            <a:avLst>
              <a:gd name="adj" fmla="val 6410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25" name="task-metric2-value">
            <a:extLst xmlns:a="http://schemas.openxmlformats.org/drawingml/2006/main">
              <a:ext uri="{FF2B5EF4-FFF2-40B4-BE49-F238E27FC236}">
                <a16:creationId xmlns:a16="http://schemas.microsoft.com/office/drawing/2014/main" id="{7BF824A6-CE77-4A02-8C7B-A6BAF69E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3905250"/>
            <a:ext cx="1352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8 家</a:t>
            </a:r>
          </a:p>
        </p:txBody>
      </p:sp>
      <p:sp>
        <p:nvSpPr>
          <p:cNvPr id="26" name="task-metric2-label">
            <a:extLst xmlns:a="http://schemas.openxmlformats.org/drawingml/2006/main">
              <a:ext uri="{FF2B5EF4-FFF2-40B4-BE49-F238E27FC236}">
                <a16:creationId xmlns:a16="http://schemas.microsoft.com/office/drawing/2014/main" id="{14C02EFE-9D32-411D-ADA1-C4FDD3AE5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343400"/>
            <a:ext cx="13525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企业当场“收货”</a:t>
            </a:r>
          </a:p>
        </p:txBody>
      </p:sp>
      <p:sp>
        <p:nvSpPr>
          <p:cNvPr id="27" name="task-note">
            <a:extLst xmlns:a="http://schemas.openxmlformats.org/drawingml/2006/main">
              <a:ext uri="{FF2B5EF4-FFF2-40B4-BE49-F238E27FC236}">
                <a16:creationId xmlns:a16="http://schemas.microsoft.com/office/drawing/2014/main" id="{B3F6C56D-2A4C-475E-BBD2-2A37D6B71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61975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rPr>
              <a:t>算法、图纸、代码，都是青年党员可以扛起的时代订单。</a:t>
            </a:r>
          </a:p>
        </p:txBody>
      </p:sp>
    </p:spTree>
    <p:extLst>
      <p:ext uri="{BB962C8B-B14F-4D97-AF65-F5344CB8AC3E}">
        <p14:creationId xmlns:p14="http://schemas.microsoft.com/office/powerpoint/2010/main" val="1978280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">
            <a:extLst xmlns:a="http://schemas.openxmlformats.org/drawingml/2006/main">
              <a:ext uri="{FF2B5EF4-FFF2-40B4-BE49-F238E27FC236}">
                <a16:creationId xmlns:a16="http://schemas.microsoft.com/office/drawing/2014/main" id="{38497F07-DD3C-415F-91F6-3C697FBF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辽宁“六地”红色文化标识融入党员教育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554F3E81-26EF-4ABF-A364-093F4D86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VR 基地，把 22 处旧址变成可进入的沉浸课堂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0F4F63E0-A2B5-4814-BB08-6894F4137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620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solidFill>
              <a:srgbClr val="315F91"/>
            </a:solidFill>
            <a:prstDash val="solid"/>
          </a:ln>
        </p:spPr>
      </p:sp>
      <p:sp>
        <p:nvSpPr>
          <p:cNvPr id="4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7B36CE3A-4452-4997-9D92-6336822D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来源：分配稿《让“六地”红》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C8FFA527-C123-4D30-BD3B-953E6081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02A04779-0FF2-41E5-882C-5342499A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3347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rPr>
              <a:t>全景数据、VR 党课与示范基地，让“一屏百年”成为可预约、可复用的教育体验。</a:t>
            </a:r>
          </a:p>
        </p:txBody>
      </p:sp>
      <p:sp>
        <p:nvSpPr>
          <p:cNvPr id="7" name="vr-source">
            <a:extLst xmlns:a="http://schemas.openxmlformats.org/drawingml/2006/main">
              <a:ext uri="{FF2B5EF4-FFF2-40B4-BE49-F238E27FC236}">
                <a16:creationId xmlns:a16="http://schemas.microsoft.com/office/drawing/2014/main" id="{3C2FA56B-227F-4BCA-98A0-878158E9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33600"/>
            <a:ext cx="2381250" cy="1676400"/>
          </a:xfrm>
          <a:prstGeom xmlns:a="http://schemas.openxmlformats.org/drawingml/2006/main" prst="roundRect">
            <a:avLst>
              <a:gd name="adj" fmla="val 7955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8" name="vr-source-num">
            <a:extLst xmlns:a="http://schemas.openxmlformats.org/drawingml/2006/main">
              <a:ext uri="{FF2B5EF4-FFF2-40B4-BE49-F238E27FC236}">
                <a16:creationId xmlns:a16="http://schemas.microsoft.com/office/drawing/2014/main" id="{CAB265A1-2F17-4F07-AF33-A8EE47A90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90775"/>
            <a:ext cx="190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9" name="vr-source-label">
            <a:extLst xmlns:a="http://schemas.openxmlformats.org/drawingml/2006/main">
              <a:ext uri="{FF2B5EF4-FFF2-40B4-BE49-F238E27FC236}">
                <a16:creationId xmlns:a16="http://schemas.microsoft.com/office/drawing/2014/main" id="{396CA7F9-38AD-4733-A821-E0BB665D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1905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0000"/>
              </a:lnSpc>
              <a:buNone/>
              <a:defRPr sz="15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处“六地”旧址</a:t>
            </a:r>
          </a:p>
          <a:p xmlns:a="http://schemas.openxmlformats.org/drawingml/2006/main">
            <a:pPr algn="ctr">
              <a:lnSpc>
                <a:spcPct val="110000"/>
              </a:lnSpc>
              <a:buNone/>
              <a:defRPr sz="15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全景数据</a:t>
            </a:r>
          </a:p>
        </p:txBody>
      </p:sp>
      <p:sp>
        <p:nvSpPr>
          <p:cNvPr id="10" name="vr-core">
            <a:extLst xmlns:a="http://schemas.openxmlformats.org/drawingml/2006/main">
              <a:ext uri="{FF2B5EF4-FFF2-40B4-BE49-F238E27FC236}">
                <a16:creationId xmlns:a16="http://schemas.microsoft.com/office/drawing/2014/main" id="{3281CA66-7FDA-47D9-8921-4E09F48D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924050"/>
            <a:ext cx="3238500" cy="209550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243F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vr-core-title">
            <a:extLst xmlns:a="http://schemas.openxmlformats.org/drawingml/2006/main">
              <a:ext uri="{FF2B5EF4-FFF2-40B4-BE49-F238E27FC236}">
                <a16:creationId xmlns:a16="http://schemas.microsoft.com/office/drawing/2014/main" id="{D8485F08-4744-4477-8A11-5AA9F033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241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沉浸课堂</a:t>
            </a:r>
          </a:p>
        </p:txBody>
      </p:sp>
      <p:sp>
        <p:nvSpPr>
          <p:cNvPr id="12" name="vr-core-copy">
            <a:extLst xmlns:a="http://schemas.openxmlformats.org/drawingml/2006/main">
              <a:ext uri="{FF2B5EF4-FFF2-40B4-BE49-F238E27FC236}">
                <a16:creationId xmlns:a16="http://schemas.microsoft.com/office/drawing/2014/main" id="{19675DEC-59C4-4D83-8C7E-5F155E2C6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527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650" b="0">
                <a:solidFill>
                  <a:srgbClr val="E0EB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E0EBF7"/>
                </a:solidFill>
                <a:latin typeface="Microsoft YaHei"/>
                <a:ea typeface="Microsoft YaHei"/>
                <a:cs typeface="Microsoft YaHei"/>
              </a:rPr>
              <a:t>7 门红色 VR 党课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650" b="0">
                <a:solidFill>
                  <a:srgbClr val="E0EB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E0EBF7"/>
                </a:solidFill>
                <a:latin typeface="Microsoft YaHei"/>
                <a:ea typeface="Microsoft YaHei"/>
                <a:cs typeface="Microsoft YaHei"/>
              </a:rPr>
              <a:t>一键穿越 · 一屏百年</a:t>
            </a:r>
          </a:p>
        </p:txBody>
      </p:sp>
      <p:sp>
        <p:nvSpPr>
          <p:cNvPr id="13" name="vr-use">
            <a:extLst xmlns:a="http://schemas.openxmlformats.org/drawingml/2006/main">
              <a:ext uri="{FF2B5EF4-FFF2-40B4-BE49-F238E27FC236}">
                <a16:creationId xmlns:a16="http://schemas.microsoft.com/office/drawing/2014/main" id="{CB8E7ABA-8CC3-4881-BAC5-69E53481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33600"/>
            <a:ext cx="3714750" cy="1676400"/>
          </a:xfrm>
          <a:prstGeom xmlns:a="http://schemas.openxmlformats.org/drawingml/2006/main" prst="roundRect">
            <a:avLst>
              <a:gd name="adj" fmla="val 7955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4" name="vr-use-title">
            <a:extLst xmlns:a="http://schemas.openxmlformats.org/drawingml/2006/main">
              <a:ext uri="{FF2B5EF4-FFF2-40B4-BE49-F238E27FC236}">
                <a16:creationId xmlns:a16="http://schemas.microsoft.com/office/drawing/2014/main" id="{47F76C7D-1867-4DEF-ABC0-227A646F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003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被真实使用的基地</a:t>
            </a:r>
          </a:p>
        </p:txBody>
      </p:sp>
      <p:sp>
        <p:nvSpPr>
          <p:cNvPr id="15" name="vr-use-copy">
            <a:extLst xmlns:a="http://schemas.openxmlformats.org/drawingml/2006/main">
              <a:ext uri="{FF2B5EF4-FFF2-40B4-BE49-F238E27FC236}">
                <a16:creationId xmlns:a16="http://schemas.microsoft.com/office/drawing/2014/main" id="{FB6479B0-C174-4602-81DA-29332773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91465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2000"/>
              </a:lnSpc>
              <a:buNone/>
              <a:defRPr sz="18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170 个省内外支部预约</a:t>
            </a:r>
          </a:p>
          <a:p xmlns:a="http://schemas.openxmlformats.org/drawingml/2006/main">
            <a:pPr algn="ctr">
              <a:lnSpc>
                <a:spcPct val="122000"/>
              </a:lnSpc>
              <a:buNone/>
              <a:defRPr sz="18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2400 余名党员体验</a:t>
            </a:r>
          </a:p>
        </p:txBody>
      </p:sp>
      <p:cxnSp>
        <p:nvCxnSpPr>
          <p:cNvPr id="36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905125" y="2971800"/>
            <a:ext cx="8096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F8FB1"/>
            </a:solidFill>
            <a:prstDash val="solid"/>
            <a:headEnd type="arrow" w="sm" len="sm"/>
          </a:ln>
        </p:spPr>
      </p:cxnSp>
      <p:cxnSp>
        <p:nvCxnSpPr>
          <p:cNvPr id="37" name=""/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53250" y="297180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F8FB1"/>
            </a:solidFill>
            <a:prstDash val="solid"/>
            <a:headEnd type="arrow" w="sm" len="sm"/>
          </a:ln>
        </p:spPr>
      </p:cxnSp>
      <p:sp>
        <p:nvSpPr>
          <p:cNvPr id="18" name="vr-awards">
            <a:extLst xmlns:a="http://schemas.openxmlformats.org/drawingml/2006/main">
              <a:ext uri="{FF2B5EF4-FFF2-40B4-BE49-F238E27FC236}">
                <a16:creationId xmlns:a16="http://schemas.microsoft.com/office/drawing/2014/main" id="{18204A2E-93C2-462B-9FC5-BDCD8DE2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05325"/>
            <a:ext cx="11049000" cy="762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9" name="vr-awards-copy">
            <a:extLst xmlns:a="http://schemas.openxmlformats.org/drawingml/2006/main">
              <a:ext uri="{FF2B5EF4-FFF2-40B4-BE49-F238E27FC236}">
                <a16:creationId xmlns:a16="http://schemas.microsoft.com/office/drawing/2014/main" id="{192FB1C6-CA15-40C9-8FEA-D52DFAB1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714875"/>
            <a:ext cx="10629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省党员教育培训示范基地  ·  省高校基层党建创新一等奖  ·  获中组部组织二局、教育部教师工作司负责同志肯定</a:t>
            </a:r>
          </a:p>
        </p:txBody>
      </p:sp>
      <p:sp>
        <p:nvSpPr>
          <p:cNvPr id="20" name="vr-note">
            <a:extLst xmlns:a="http://schemas.openxmlformats.org/drawingml/2006/main">
              <a:ext uri="{FF2B5EF4-FFF2-40B4-BE49-F238E27FC236}">
                <a16:creationId xmlns:a16="http://schemas.microsoft.com/office/drawing/2014/main" id="{EBFCDAAC-2CB5-43E7-9BD5-6FDBFE63C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61975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rPr>
              <a:t>技术在这里承担的是“进入现场”的教育职责。</a:t>
            </a:r>
          </a:p>
        </p:txBody>
      </p:sp>
    </p:spTree>
    <p:extLst>
      <p:ext uri="{BB962C8B-B14F-4D97-AF65-F5344CB8AC3E}">
        <p14:creationId xmlns:p14="http://schemas.microsoft.com/office/powerpoint/2010/main" val="17485941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">
            <a:extLst xmlns:a="http://schemas.openxmlformats.org/drawingml/2006/main">
              <a:ext uri="{FF2B5EF4-FFF2-40B4-BE49-F238E27FC236}">
                <a16:creationId xmlns:a16="http://schemas.microsoft.com/office/drawing/2014/main" id="{AFB0D9B0-99B1-401C-A103-FA4060B3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辽宁“六地”红色文化标识融入党员教育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446FF86-9C0C-45CA-8B5B-6C280357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青年讲、青年听、青年信，让理论走出校园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34B5003E-4F0F-41DB-AE08-35D9F843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620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solidFill>
              <a:srgbClr val="315F91"/>
            </a:solidFill>
            <a:prstDash val="solid"/>
          </a:ln>
        </p:spPr>
      </p:sp>
      <p:sp>
        <p:nvSpPr>
          <p:cNvPr id="4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DCAAAC65-3680-493C-8E59-5DD2380C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来源：分配稿《让“六地”红》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4716A2CC-A2D7-455E-A6AD-3FDEEE7C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0A9E9F8B-988B-4F7A-B645-73EC5292F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3347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rPr>
              <a:t>博士、硕士、本科混编，把“六地”精神改写为青年愿意进入的互动课堂。</a:t>
            </a:r>
          </a:p>
        </p:txBody>
      </p:sp>
      <p:sp>
        <p:nvSpPr>
          <p:cNvPr id="7" name="speak-team">
            <a:extLst xmlns:a="http://schemas.openxmlformats.org/drawingml/2006/main">
              <a:ext uri="{FF2B5EF4-FFF2-40B4-BE49-F238E27FC236}">
                <a16:creationId xmlns:a16="http://schemas.microsoft.com/office/drawing/2014/main" id="{913604AA-5A43-4C78-A155-1EB743E64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33600"/>
            <a:ext cx="2571750" cy="1714500"/>
          </a:xfrm>
          <a:prstGeom xmlns:a="http://schemas.openxmlformats.org/drawingml/2006/main" prst="roundRect">
            <a:avLst>
              <a:gd name="adj" fmla="val 7778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8" name="speak-team-num">
            <a:extLst xmlns:a="http://schemas.openxmlformats.org/drawingml/2006/main">
              <a:ext uri="{FF2B5EF4-FFF2-40B4-BE49-F238E27FC236}">
                <a16:creationId xmlns:a16="http://schemas.microsoft.com/office/drawing/2014/main" id="{D70CD0EF-D308-4A0A-A77D-C621A1E2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486025"/>
            <a:ext cx="2152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32 人</a:t>
            </a:r>
          </a:p>
        </p:txBody>
      </p:sp>
      <p:sp>
        <p:nvSpPr>
          <p:cNvPr id="9" name="speak-team-label">
            <a:extLst xmlns:a="http://schemas.openxmlformats.org/drawingml/2006/main">
              <a:ext uri="{FF2B5EF4-FFF2-40B4-BE49-F238E27FC236}">
                <a16:creationId xmlns:a16="http://schemas.microsoft.com/office/drawing/2014/main" id="{D31CBFB6-9BEE-4CDB-B80D-9AC5202B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067050"/>
            <a:ext cx="2152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5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博士 · 硕士 · 本科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5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混编梯队</a:t>
            </a:r>
          </a:p>
        </p:txBody>
      </p:sp>
      <p:sp>
        <p:nvSpPr>
          <p:cNvPr id="10" name="speak-course">
            <a:extLst xmlns:a="http://schemas.openxmlformats.org/drawingml/2006/main">
              <a:ext uri="{FF2B5EF4-FFF2-40B4-BE49-F238E27FC236}">
                <a16:creationId xmlns:a16="http://schemas.microsoft.com/office/drawing/2014/main" id="{A3AF0CB8-06A8-402A-9BD0-401F50C5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24050"/>
            <a:ext cx="3333750" cy="21336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243F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peak-course-title">
            <a:extLst xmlns:a="http://schemas.openxmlformats.org/drawingml/2006/main">
              <a:ext uri="{FF2B5EF4-FFF2-40B4-BE49-F238E27FC236}">
                <a16:creationId xmlns:a16="http://schemas.microsoft.com/office/drawing/2014/main" id="{7E9C9C7B-A978-4506-8646-CABC845B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381250"/>
            <a:ext cx="2724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10 类互动课件</a:t>
            </a:r>
          </a:p>
        </p:txBody>
      </p:sp>
      <p:sp>
        <p:nvSpPr>
          <p:cNvPr id="12" name="speak-course-copy">
            <a:extLst xmlns:a="http://schemas.openxmlformats.org/drawingml/2006/main">
              <a:ext uri="{FF2B5EF4-FFF2-40B4-BE49-F238E27FC236}">
                <a16:creationId xmlns:a16="http://schemas.microsoft.com/office/drawing/2014/main" id="{3D390DB9-5D17-4CCD-BAB9-0E25F343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38475"/>
            <a:ext cx="2724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575" b="0">
                <a:solidFill>
                  <a:srgbClr val="E0EB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E0EBF7"/>
                </a:solidFill>
                <a:latin typeface="Microsoft YaHei"/>
                <a:ea typeface="Microsoft YaHei"/>
                <a:cs typeface="Microsoft YaHei"/>
              </a:rPr>
              <a:t>沉浸式故事 · 情景短剧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575" b="0">
                <a:solidFill>
                  <a:srgbClr val="E0EB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E0EBF7"/>
                </a:solidFill>
                <a:latin typeface="Microsoft YaHei"/>
                <a:ea typeface="Microsoft YaHei"/>
                <a:cs typeface="Microsoft YaHei"/>
              </a:rPr>
              <a:t>红色闯关 · 青春语态重构</a:t>
            </a:r>
          </a:p>
        </p:txBody>
      </p:sp>
      <p:sp>
        <p:nvSpPr>
          <p:cNvPr id="13" name="speak-reach">
            <a:extLst xmlns:a="http://schemas.openxmlformats.org/drawingml/2006/main">
              <a:ext uri="{FF2B5EF4-FFF2-40B4-BE49-F238E27FC236}">
                <a16:creationId xmlns:a16="http://schemas.microsoft.com/office/drawing/2014/main" id="{C6545516-12E9-4EF7-9DE6-2253DF039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133600"/>
            <a:ext cx="3619500" cy="1714500"/>
          </a:xfrm>
          <a:prstGeom xmlns:a="http://schemas.openxmlformats.org/drawingml/2006/main" prst="roundRect">
            <a:avLst>
              <a:gd name="adj" fmla="val 7778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4" name="speak-reach-num">
            <a:extLst xmlns:a="http://schemas.openxmlformats.org/drawingml/2006/main">
              <a:ext uri="{FF2B5EF4-FFF2-40B4-BE49-F238E27FC236}">
                <a16:creationId xmlns:a16="http://schemas.microsoft.com/office/drawing/2014/main" id="{86ED0687-C860-4368-B6DA-D5C76BD2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66975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36 场</a:t>
            </a:r>
          </a:p>
        </p:txBody>
      </p:sp>
      <p:sp>
        <p:nvSpPr>
          <p:cNvPr id="15" name="speak-reach-label">
            <a:extLst xmlns:a="http://schemas.openxmlformats.org/drawingml/2006/main">
              <a:ext uri="{FF2B5EF4-FFF2-40B4-BE49-F238E27FC236}">
                <a16:creationId xmlns:a16="http://schemas.microsoft.com/office/drawing/2014/main" id="{B1B28FE3-8C1D-4A40-BCE0-2237EEA6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057525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进校园 · 进社区 · 进企业</a:t>
            </a:r>
          </a:p>
          <a:p xmlns:a="http://schemas.openxmlformats.org/drawingml/2006/main">
            <a:pPr algn="ctr">
              <a:lnSpc>
                <a:spcPct val="118000"/>
              </a:lnSpc>
              <a:buNone/>
              <a:def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覆盖师生群众 3800 多人</a:t>
            </a:r>
          </a:p>
        </p:txBody>
      </p:sp>
      <p:cxnSp>
        <p:nvCxnSpPr>
          <p:cNvPr id="36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095625" y="2990850"/>
            <a:ext cx="6381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F8FB1"/>
            </a:solidFill>
            <a:prstDash val="solid"/>
            <a:headEnd type="arrow" w="sm" len="sm"/>
          </a:ln>
        </p:spPr>
      </p:cxnSp>
      <p:cxnSp>
        <p:nvCxnSpPr>
          <p:cNvPr id="37" name=""/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067550" y="299085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F8FB1"/>
            </a:solidFill>
            <a:prstDash val="solid"/>
            <a:headEnd type="arrow" w="sm" len="sm"/>
          </a:ln>
        </p:spPr>
      </p:cxnSp>
      <p:sp>
        <p:nvSpPr>
          <p:cNvPr id="18" name="speak-award">
            <a:extLst xmlns:a="http://schemas.openxmlformats.org/drawingml/2006/main">
              <a:ext uri="{FF2B5EF4-FFF2-40B4-BE49-F238E27FC236}">
                <a16:creationId xmlns:a16="http://schemas.microsoft.com/office/drawing/2014/main" id="{FAFA0CB0-0CE9-4466-8D73-EBD625CF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33900"/>
            <a:ext cx="110490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9" name="speak-award-copy">
            <a:extLst xmlns:a="http://schemas.openxmlformats.org/drawingml/2006/main">
              <a:ext uri="{FF2B5EF4-FFF2-40B4-BE49-F238E27FC236}">
                <a16:creationId xmlns:a16="http://schemas.microsoft.com/office/drawing/2014/main" id="{873D087B-840E-4416-8523-3E7597D0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733925"/>
            <a:ext cx="1062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获评“辽宁省大学生红色理论宣讲团”</a:t>
            </a:r>
          </a:p>
        </p:txBody>
      </p:sp>
      <p:sp>
        <p:nvSpPr>
          <p:cNvPr id="20" name="speak-note">
            <a:extLst xmlns:a="http://schemas.openxmlformats.org/drawingml/2006/main">
              <a:ext uri="{FF2B5EF4-FFF2-40B4-BE49-F238E27FC236}">
                <a16:creationId xmlns:a16="http://schemas.microsoft.com/office/drawing/2014/main" id="{0DC43060-1EB4-4B5E-AD6A-E7D0E3A4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61975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rPr>
              <a:t>同一套理论，经过青年讲述，进入社区、课堂、生产一线和百姓心坎。</a:t>
            </a:r>
          </a:p>
        </p:txBody>
      </p:sp>
    </p:spTree>
    <p:extLst>
      <p:ext uri="{BB962C8B-B14F-4D97-AF65-F5344CB8AC3E}">
        <p14:creationId xmlns:p14="http://schemas.microsoft.com/office/powerpoint/2010/main" val="16206981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">
            <a:extLst xmlns:a="http://schemas.openxmlformats.org/drawingml/2006/main">
              <a:ext uri="{FF2B5EF4-FFF2-40B4-BE49-F238E27FC236}">
                <a16:creationId xmlns:a16="http://schemas.microsoft.com/office/drawing/2014/main" id="{C5DA7FA8-5476-4E6E-B0C7-1042B9614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辽宁“六地”红色文化标识融入党员教育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1C7959D-B608-422D-B026-205CC6225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红色朋友圈，把资源共享成振兴同心圆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E2C6A0C6-EE1E-4053-B05F-B3904ABB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620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solidFill>
              <a:srgbClr val="315F91"/>
            </a:solidFill>
            <a:prstDash val="solid"/>
          </a:ln>
        </p:spPr>
      </p:sp>
      <p:sp>
        <p:nvSpPr>
          <p:cNvPr id="4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F2AEBD80-F726-484F-95E7-6C00FA289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来源：分配稿《让“六地”红》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82439701-E9A0-4644-8995-D5493264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142AADDB-32C7-4623-A589-083424A3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3347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rPr>
              <a:t>组织互联、资源互通、经验互鉴，让校园“小盆景”成为区域“大风景”。</a:t>
            </a:r>
          </a:p>
        </p:txBody>
      </p:sp>
      <p:sp>
        <p:nvSpPr>
          <p:cNvPr id="7" name="net-left">
            <a:extLst xmlns:a="http://schemas.openxmlformats.org/drawingml/2006/main">
              <a:ext uri="{FF2B5EF4-FFF2-40B4-BE49-F238E27FC236}">
                <a16:creationId xmlns:a16="http://schemas.microsoft.com/office/drawing/2014/main" id="{5FCFCF54-A669-49D3-9398-5134EB1F3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34290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8" name="net-left-num">
            <a:extLst xmlns:a="http://schemas.openxmlformats.org/drawingml/2006/main">
              <a:ext uri="{FF2B5EF4-FFF2-40B4-BE49-F238E27FC236}">
                <a16:creationId xmlns:a16="http://schemas.microsoft.com/office/drawing/2014/main" id="{90469D37-A3AB-45DF-A3C1-9FF98F73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447925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41 家单位</a:t>
            </a:r>
          </a:p>
        </p:txBody>
      </p:sp>
      <p:sp>
        <p:nvSpPr>
          <p:cNvPr id="9" name="net-left-copy">
            <a:extLst xmlns:a="http://schemas.openxmlformats.org/drawingml/2006/main">
              <a:ext uri="{FF2B5EF4-FFF2-40B4-BE49-F238E27FC236}">
                <a16:creationId xmlns:a16="http://schemas.microsoft.com/office/drawing/2014/main" id="{2FEB0D78-50D9-44C3-A83F-C980E9E2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124200"/>
            <a:ext cx="2857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校地 · 校企 · 校校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VR 党课共享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主题党日联办 · 志愿服务联动</a:t>
            </a:r>
          </a:p>
        </p:txBody>
      </p:sp>
      <p:sp>
        <p:nvSpPr>
          <p:cNvPr id="10" name="net-hub">
            <a:extLst xmlns:a="http://schemas.openxmlformats.org/drawingml/2006/main">
              <a:ext uri="{FF2B5EF4-FFF2-40B4-BE49-F238E27FC236}">
                <a16:creationId xmlns:a16="http://schemas.microsoft.com/office/drawing/2014/main" id="{D95BF2E0-87C2-4437-AA3F-0B45A6D6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343150"/>
            <a:ext cx="2857500" cy="1447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3F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net-hub-title">
            <a:extLst xmlns:a="http://schemas.openxmlformats.org/drawingml/2006/main">
              <a:ext uri="{FF2B5EF4-FFF2-40B4-BE49-F238E27FC236}">
                <a16:creationId xmlns:a16="http://schemas.microsoft.com/office/drawing/2014/main" id="{822911F9-003F-4620-8AEA-2998B0D9A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7652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共享循环</a:t>
            </a:r>
          </a:p>
        </p:txBody>
      </p:sp>
      <p:sp>
        <p:nvSpPr>
          <p:cNvPr id="12" name="net-hub-copy">
            <a:extLst xmlns:a="http://schemas.openxmlformats.org/drawingml/2006/main">
              <a:ext uri="{FF2B5EF4-FFF2-40B4-BE49-F238E27FC236}">
                <a16:creationId xmlns:a16="http://schemas.microsoft.com/office/drawing/2014/main" id="{4BF34CC8-3F49-425C-BD32-45A8A0F9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385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0">
                <a:solidFill>
                  <a:srgbClr val="E0EB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E0EBF7"/>
                </a:solidFill>
                <a:latin typeface="Microsoft YaHei"/>
                <a:ea typeface="Microsoft YaHei"/>
                <a:cs typeface="Microsoft YaHei"/>
              </a:rPr>
              <a:t>组织互联 · 资源互通 · 经验互鉴</a:t>
            </a:r>
          </a:p>
        </p:txBody>
      </p:sp>
      <p:sp>
        <p:nvSpPr>
          <p:cNvPr id="13" name="net-right">
            <a:extLst xmlns:a="http://schemas.openxmlformats.org/drawingml/2006/main">
              <a:ext uri="{FF2B5EF4-FFF2-40B4-BE49-F238E27FC236}">
                <a16:creationId xmlns:a16="http://schemas.microsoft.com/office/drawing/2014/main" id="{9BDA462B-13CC-428E-944D-19C89DE6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47875"/>
            <a:ext cx="34290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4" name="net-right-num">
            <a:extLst xmlns:a="http://schemas.openxmlformats.org/drawingml/2006/main">
              <a:ext uri="{FF2B5EF4-FFF2-40B4-BE49-F238E27FC236}">
                <a16:creationId xmlns:a16="http://schemas.microsoft.com/office/drawing/2014/main" id="{3C6BA4DD-BEBA-4EC1-B4F6-2B32B26F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47925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32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2000+ 人次/年</a:t>
            </a:r>
          </a:p>
        </p:txBody>
      </p:sp>
      <p:sp>
        <p:nvSpPr>
          <p:cNvPr id="15" name="net-right-copy">
            <a:extLst xmlns:a="http://schemas.openxmlformats.org/drawingml/2006/main">
              <a:ext uri="{FF2B5EF4-FFF2-40B4-BE49-F238E27FC236}">
                <a16:creationId xmlns:a16="http://schemas.microsoft.com/office/drawing/2014/main" id="{5C7EFDC5-46E8-4453-B7F5-55167CAF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086100"/>
            <a:ext cx="28956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2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与新疆农业大学、西北师范大学、兰州工业学院联学联建</a:t>
            </a:r>
          </a:p>
          <a:p xmlns:a="http://schemas.openxmlformats.org/drawingml/2006/main">
            <a:pPr algn="ctr">
              <a:lnSpc>
                <a:spcPct val="122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东北故事西部讲 ↔ 西部经验东北学</a:t>
            </a:r>
          </a:p>
        </p:txBody>
      </p:sp>
      <p:cxnSp>
        <p:nvCxnSpPr>
          <p:cNvPr id="35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3952875" y="3067050"/>
            <a:ext cx="523875" cy="1714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F8FB1"/>
            </a:solidFill>
            <a:prstDash val="solid"/>
            <a:headEnd type="arrow" w="sm" len="sm"/>
          </a:ln>
        </p:spPr>
      </p:cxnSp>
      <p:cxnSp>
        <p:nvCxnSpPr>
          <p:cNvPr id="36" name=""/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334250" y="3067050"/>
            <a:ext cx="762000" cy="1714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F8FB1"/>
            </a:solidFill>
            <a:prstDash val="solid"/>
            <a:headEnd type="arrow" w="sm" len="sm"/>
          </a:ln>
        </p:spPr>
      </p:cxnSp>
      <p:cxnSp>
        <p:nvCxnSpPr>
          <p:cNvPr id="37" name=""/>
          <p:cNvCxnSpPr>
            <a:stCxn xmlns:a="http://schemas.openxmlformats.org/drawingml/2006/main" id="13" idx="2"/>
            <a:endCxn xmlns:a="http://schemas.openxmlformats.org/drawingml/2006/main" id="7" idx="2"/>
          </p:cNvCxnSpPr>
          <p:nvPr/>
        </p:nvCxnSpPr>
        <p:spPr>
          <a:xfrm xmlns:a="http://schemas.openxmlformats.org/drawingml/2006/main" flipH="1">
            <a:off x="2238375" y="4429125"/>
            <a:ext cx="7572375" cy="0"/>
          </a:xfrm>
          <a:prstGeom xmlns:a="http://schemas.openxmlformats.org/drawingml/2006/main" prst="curvedConnector2">
            <a:avLst/>
          </a:prstGeom>
          <a:ln xmlns:a="http://schemas.openxmlformats.org/drawingml/2006/main" w="19050">
            <a:solidFill>
              <a:srgbClr val="315F91"/>
            </a:solidFill>
            <a:prstDash val="solid"/>
            <a:headEnd type="arrow" w="sm" len="sm"/>
            <a:tailEnd type="arrow" w="sm" len="sm"/>
          </a:ln>
        </p:spPr>
      </p:cxnSp>
      <p:sp>
        <p:nvSpPr>
          <p:cNvPr id="19" name="net-note">
            <a:extLst xmlns:a="http://schemas.openxmlformats.org/drawingml/2006/main">
              <a:ext uri="{FF2B5EF4-FFF2-40B4-BE49-F238E27FC236}">
                <a16:creationId xmlns:a16="http://schemas.microsoft.com/office/drawing/2014/main" id="{733FFBAD-ECA7-4314-8ED7-0921675A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rPr>
              <a:t>真正把“红色朋友圈”刷成振兴中国的“同心圆”。</a:t>
            </a:r>
          </a:p>
        </p:txBody>
      </p:sp>
    </p:spTree>
    <p:extLst>
      <p:ext uri="{BB962C8B-B14F-4D97-AF65-F5344CB8AC3E}">
        <p14:creationId xmlns:p14="http://schemas.microsoft.com/office/powerpoint/2010/main" val="5062387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">
            <a:extLst xmlns:a="http://schemas.openxmlformats.org/drawingml/2006/main">
              <a:ext uri="{FF2B5EF4-FFF2-40B4-BE49-F238E27FC236}">
                <a16:creationId xmlns:a16="http://schemas.microsoft.com/office/drawing/2014/main" id="{8D48E802-B907-479F-B36C-076829AA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辽宁“六地”红色文化标识融入党员教育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D7FAE29-D3AF-431D-94C8-A82566B28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四阶培养链，把红色育人嵌入成长全周期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2505BB2C-4162-440A-AA0D-B407D4AB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620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solidFill>
              <a:srgbClr val="315F91"/>
            </a:solidFill>
            <a:prstDash val="solid"/>
          </a:ln>
        </p:spPr>
      </p:sp>
      <p:sp>
        <p:nvSpPr>
          <p:cNvPr id="4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6774E334-4E55-4A0C-8D6B-6AD7FCD9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来源：分配稿《让“六地”红》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D20BF413-8BB9-40F4-A70A-80589E18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93148C84-466C-4E28-97A5-8EAD3DEF6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3347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rPr>
              <a:t>红色实践进入学分与组织生活，靠四阶链条和红色导师年年有人抓、届届有人传。</a:t>
            </a:r>
          </a:p>
        </p:txBody>
      </p:sp>
      <p:sp>
        <p:nvSpPr>
          <p:cNvPr id="7" name="stage-0">
            <a:extLst xmlns:a="http://schemas.openxmlformats.org/drawingml/2006/main">
              <a:ext uri="{FF2B5EF4-FFF2-40B4-BE49-F238E27FC236}">
                <a16:creationId xmlns:a16="http://schemas.microsoft.com/office/drawing/2014/main" id="{D7B4BC6B-27D7-4318-87EE-280D7F65A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00300"/>
            <a:ext cx="20955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8" name="stage-0-num">
            <a:extLst xmlns:a="http://schemas.openxmlformats.org/drawingml/2006/main">
              <a:ext uri="{FF2B5EF4-FFF2-40B4-BE49-F238E27FC236}">
                <a16:creationId xmlns:a16="http://schemas.microsoft.com/office/drawing/2014/main" id="{F5F2A4E0-6E6C-4C8B-976F-31115376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527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9" name="stage-0-title">
            <a:extLst xmlns:a="http://schemas.openxmlformats.org/drawingml/2006/main">
              <a:ext uri="{FF2B5EF4-FFF2-40B4-BE49-F238E27FC236}">
                <a16:creationId xmlns:a16="http://schemas.microsoft.com/office/drawing/2014/main" id="{AF7D07F2-3C47-49D5-874F-7B1BE720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24175"/>
            <a:ext cx="167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入学</a:t>
            </a:r>
          </a:p>
        </p:txBody>
      </p:sp>
      <p:sp>
        <p:nvSpPr>
          <p:cNvPr id="10" name="stage-0-label">
            <a:extLst xmlns:a="http://schemas.openxmlformats.org/drawingml/2006/main">
              <a:ext uri="{FF2B5EF4-FFF2-40B4-BE49-F238E27FC236}">
                <a16:creationId xmlns:a16="http://schemas.microsoft.com/office/drawing/2014/main" id="{E8577E84-7B75-4ACE-90AC-A3ECB64E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324225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认识辽宁</a:t>
            </a:r>
          </a:p>
        </p:txBody>
      </p:sp>
      <p:sp>
        <p:nvSpPr>
          <p:cNvPr id="11" name="stage-1">
            <a:extLst xmlns:a="http://schemas.openxmlformats.org/drawingml/2006/main">
              <a:ext uri="{FF2B5EF4-FFF2-40B4-BE49-F238E27FC236}">
                <a16:creationId xmlns:a16="http://schemas.microsoft.com/office/drawing/2014/main" id="{71C09031-FBFF-470C-92F0-410D6B62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400300"/>
            <a:ext cx="20955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2" name="stage-1-num">
            <a:extLst xmlns:a="http://schemas.openxmlformats.org/drawingml/2006/main">
              <a:ext uri="{FF2B5EF4-FFF2-40B4-BE49-F238E27FC236}">
                <a16:creationId xmlns:a16="http://schemas.microsoft.com/office/drawing/2014/main" id="{D0FE500A-1978-4C56-A74E-C4C3DCC2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5527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stage-1-title">
            <a:extLst xmlns:a="http://schemas.openxmlformats.org/drawingml/2006/main">
              <a:ext uri="{FF2B5EF4-FFF2-40B4-BE49-F238E27FC236}">
                <a16:creationId xmlns:a16="http://schemas.microsoft.com/office/drawing/2014/main" id="{892A1F86-4EFE-4543-BEAB-2DA004E75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924175"/>
            <a:ext cx="167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入党</a:t>
            </a:r>
          </a:p>
        </p:txBody>
      </p:sp>
      <p:sp>
        <p:nvSpPr>
          <p:cNvPr id="14" name="stage-1-label">
            <a:extLst xmlns:a="http://schemas.openxmlformats.org/drawingml/2006/main">
              <a:ext uri="{FF2B5EF4-FFF2-40B4-BE49-F238E27FC236}">
                <a16:creationId xmlns:a16="http://schemas.microsoft.com/office/drawing/2014/main" id="{CDDCC995-E134-4A5E-8E66-A070733F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3324225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走进六地</a:t>
            </a:r>
          </a:p>
        </p:txBody>
      </p:sp>
      <p:sp>
        <p:nvSpPr>
          <p:cNvPr id="15" name="stage-2">
            <a:extLst xmlns:a="http://schemas.openxmlformats.org/drawingml/2006/main">
              <a:ext uri="{FF2B5EF4-FFF2-40B4-BE49-F238E27FC236}">
                <a16:creationId xmlns:a16="http://schemas.microsoft.com/office/drawing/2014/main" id="{7CC7FBDC-19D7-4602-A68E-020352D1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400300"/>
            <a:ext cx="20955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6" name="stage-2-num">
            <a:extLst xmlns:a="http://schemas.openxmlformats.org/drawingml/2006/main">
              <a:ext uri="{FF2B5EF4-FFF2-40B4-BE49-F238E27FC236}">
                <a16:creationId xmlns:a16="http://schemas.microsoft.com/office/drawing/2014/main" id="{FC5DF004-9482-46AA-9669-37CF5DE8E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25527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stage-2-title">
            <a:extLst xmlns:a="http://schemas.openxmlformats.org/drawingml/2006/main">
              <a:ext uri="{FF2B5EF4-FFF2-40B4-BE49-F238E27FC236}">
                <a16:creationId xmlns:a16="http://schemas.microsoft.com/office/drawing/2014/main" id="{933DAF54-50B0-494B-91DB-1D0ED1B6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924175"/>
            <a:ext cx="167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转正</a:t>
            </a:r>
          </a:p>
        </p:txBody>
      </p:sp>
      <p:sp>
        <p:nvSpPr>
          <p:cNvPr id="18" name="stage-2-label">
            <a:extLst xmlns:a="http://schemas.openxmlformats.org/drawingml/2006/main">
              <a:ext uri="{FF2B5EF4-FFF2-40B4-BE49-F238E27FC236}">
                <a16:creationId xmlns:a16="http://schemas.microsoft.com/office/drawing/2014/main" id="{6A817C00-D8FF-486F-9773-CBE9F74E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324225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承担任务</a:t>
            </a:r>
          </a:p>
        </p:txBody>
      </p:sp>
      <p:sp>
        <p:nvSpPr>
          <p:cNvPr id="19" name="stage-3">
            <a:extLst xmlns:a="http://schemas.openxmlformats.org/drawingml/2006/main">
              <a:ext uri="{FF2B5EF4-FFF2-40B4-BE49-F238E27FC236}">
                <a16:creationId xmlns:a16="http://schemas.microsoft.com/office/drawing/2014/main" id="{5C5A37FC-BD88-4235-86A7-DBC325D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00300"/>
            <a:ext cx="2095500" cy="12573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43F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stage-3-num">
            <a:extLst xmlns:a="http://schemas.openxmlformats.org/drawingml/2006/main">
              <a:ext uri="{FF2B5EF4-FFF2-40B4-BE49-F238E27FC236}">
                <a16:creationId xmlns:a16="http://schemas.microsoft.com/office/drawing/2014/main" id="{86CA0EF0-B38B-4606-9E5A-66CC73AC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55270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1" name="stage-3-title">
            <a:extLst xmlns:a="http://schemas.openxmlformats.org/drawingml/2006/main">
              <a:ext uri="{FF2B5EF4-FFF2-40B4-BE49-F238E27FC236}">
                <a16:creationId xmlns:a16="http://schemas.microsoft.com/office/drawing/2014/main" id="{6C507202-9C6F-4AA6-8F1B-21A71F8D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924175"/>
            <a:ext cx="167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毕业</a:t>
            </a:r>
          </a:p>
        </p:txBody>
      </p:sp>
      <p:sp>
        <p:nvSpPr>
          <p:cNvPr id="22" name="stage-3-label">
            <a:extLst xmlns:a="http://schemas.openxmlformats.org/drawingml/2006/main">
              <a:ext uri="{FF2B5EF4-FFF2-40B4-BE49-F238E27FC236}">
                <a16:creationId xmlns:a16="http://schemas.microsoft.com/office/drawing/2014/main" id="{54A3D5A9-F7EB-4073-805E-E40B78E7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324225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rPr>
              <a:t>扎根振兴</a:t>
            </a:r>
          </a:p>
        </p:txBody>
      </p:sp>
      <p:cxnSp>
        <p:nvCxnSpPr>
          <p:cNvPr id="52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619375" y="302895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F8FB1"/>
            </a:solidFill>
            <a:prstDash val="solid"/>
            <a:headEnd type="arrow" w="sm" len="sm"/>
          </a:ln>
        </p:spPr>
      </p:cxnSp>
      <p:cxnSp>
        <p:nvCxnSpPr>
          <p:cNvPr id="53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381625" y="302895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F8FB1"/>
            </a:solidFill>
            <a:prstDash val="solid"/>
            <a:headEnd type="arrow" w="sm" len="sm"/>
          </a:ln>
        </p:spPr>
      </p:cxnSp>
      <p:cxnSp>
        <p:nvCxnSpPr>
          <p:cNvPr id="54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143875" y="3028950"/>
            <a:ext cx="6667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F8FB1"/>
            </a:solidFill>
            <a:prstDash val="solid"/>
            <a:headEnd type="arrow" w="sm" len="sm"/>
          </a:ln>
        </p:spPr>
      </p:cxnSp>
      <p:sp>
        <p:nvSpPr>
          <p:cNvPr id="26" name="stage-support">
            <a:extLst xmlns:a="http://schemas.openxmlformats.org/drawingml/2006/main">
              <a:ext uri="{FF2B5EF4-FFF2-40B4-BE49-F238E27FC236}">
                <a16:creationId xmlns:a16="http://schemas.microsoft.com/office/drawing/2014/main" id="{B97E88BE-6C1B-45B0-96CD-18751CBBB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333875"/>
            <a:ext cx="110490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27" name="stage-support-title">
            <a:extLst xmlns:a="http://schemas.openxmlformats.org/drawingml/2006/main">
              <a:ext uri="{FF2B5EF4-FFF2-40B4-BE49-F238E27FC236}">
                <a16:creationId xmlns:a16="http://schemas.microsoft.com/office/drawing/2014/main" id="{3B5F6B50-EB0A-4C5C-B6B5-490BC098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5339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跨阶段支撑</a:t>
            </a:r>
          </a:p>
        </p:txBody>
      </p:sp>
      <p:sp>
        <p:nvSpPr>
          <p:cNvPr id="28" name="stage-support-copy">
            <a:extLst xmlns:a="http://schemas.openxmlformats.org/drawingml/2006/main">
              <a:ext uri="{FF2B5EF4-FFF2-40B4-BE49-F238E27FC236}">
                <a16:creationId xmlns:a16="http://schemas.microsoft.com/office/drawing/2014/main" id="{AC9302E3-2A86-4B1A-BD21-06719CA6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4543425"/>
            <a:ext cx="847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红色实践计入学分   ·   VR 党课写进“三会一课”   ·   聘请 36 位纪念馆专家、抗美援朝老战士担任“红色导师”</a:t>
            </a:r>
          </a:p>
        </p:txBody>
      </p:sp>
      <p:sp>
        <p:nvSpPr>
          <p:cNvPr id="29" name="stage-note">
            <a:extLst xmlns:a="http://schemas.openxmlformats.org/drawingml/2006/main">
              <a:ext uri="{FF2B5EF4-FFF2-40B4-BE49-F238E27FC236}">
                <a16:creationId xmlns:a16="http://schemas.microsoft.com/office/drawing/2014/main" id="{A4B2975D-B013-4B61-BFEA-603B91C16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619750"/>
            <a:ext cx="1066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rPr>
              <a:t>机制的作用，是让一次活动变成可持续的成长路径。</a:t>
            </a:r>
          </a:p>
        </p:txBody>
      </p:sp>
    </p:spTree>
    <p:extLst>
      <p:ext uri="{BB962C8B-B14F-4D97-AF65-F5344CB8AC3E}">
        <p14:creationId xmlns:p14="http://schemas.microsoft.com/office/powerpoint/2010/main" val="20941363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kicker">
            <a:extLst xmlns:a="http://schemas.openxmlformats.org/drawingml/2006/main">
              <a:ext uri="{FF2B5EF4-FFF2-40B4-BE49-F238E27FC236}">
                <a16:creationId xmlns:a16="http://schemas.microsoft.com/office/drawing/2014/main" id="{41B5E5B0-C0EC-42D2-B6C2-7121C7C7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"/>
            <a:ext cx="476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辽宁“六地”红色文化标识融入党员教育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33888B3-838D-46B3-A4BD-00BA8A051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五年深耕，理工学生有了“红色先锋”新标签</a:t>
            </a:r>
          </a:p>
        </p:txBody>
      </p:sp>
      <p:sp>
        <p:nvSpPr>
          <p:cNvPr id="3" name="title-rule">
            <a:extLst xmlns:a="http://schemas.openxmlformats.org/drawingml/2006/main">
              <a:ext uri="{FF2B5EF4-FFF2-40B4-BE49-F238E27FC236}">
                <a16:creationId xmlns:a16="http://schemas.microsoft.com/office/drawing/2014/main" id="{8A4E129A-09AD-49B1-BE2F-2FC9B8F3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620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F91"/>
          </a:solidFill>
          <a:ln xmlns:a="http://schemas.openxmlformats.org/drawingml/2006/main" w="0">
            <a:solidFill>
              <a:srgbClr val="315F91"/>
            </a:solidFill>
            <a:prstDash val="solid"/>
          </a:ln>
        </p:spPr>
      </p:sp>
      <p:sp>
        <p:nvSpPr>
          <p:cNvPr id="4" name="footer-source">
            <a:extLst xmlns:a="http://schemas.openxmlformats.org/drawingml/2006/main">
              <a:ext uri="{FF2B5EF4-FFF2-40B4-BE49-F238E27FC236}">
                <a16:creationId xmlns:a16="http://schemas.microsoft.com/office/drawing/2014/main" id="{0C4784C2-07CD-4E4B-AB6B-5AF91DA10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553200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来源：分配稿《让“六地”红》</a:t>
            </a:r>
          </a:p>
        </p:txBody>
      </p:sp>
      <p:sp>
        <p:nvSpPr>
          <p:cNvPr id="5" name="footer-page">
            <a:extLst xmlns:a="http://schemas.openxmlformats.org/drawingml/2006/main">
              <a:ext uri="{FF2B5EF4-FFF2-40B4-BE49-F238E27FC236}">
                <a16:creationId xmlns:a16="http://schemas.microsoft.com/office/drawing/2014/main" id="{8F1F4DBB-4E91-43B3-AFAE-83D18E25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53200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6" name="lead">
            <a:extLst xmlns:a="http://schemas.openxmlformats.org/drawingml/2006/main">
              <a:ext uri="{FF2B5EF4-FFF2-40B4-BE49-F238E27FC236}">
                <a16:creationId xmlns:a16="http://schemas.microsoft.com/office/drawing/2014/main" id="{44D0DB61-919C-4539-BEA7-28097A578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33475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rPr>
              <a:t>五类抓手最终落到四类青年变化：信仰、本领、声音、脚步。</a:t>
            </a:r>
          </a:p>
        </p:txBody>
      </p:sp>
      <p:sp>
        <p:nvSpPr>
          <p:cNvPr id="7" name="result-0">
            <a:extLst xmlns:a="http://schemas.openxmlformats.org/drawingml/2006/main">
              <a:ext uri="{FF2B5EF4-FFF2-40B4-BE49-F238E27FC236}">
                <a16:creationId xmlns:a16="http://schemas.microsoft.com/office/drawing/2014/main" id="{57DCFCBC-1EB0-40DE-944D-8408903DE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71700"/>
            <a:ext cx="24765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8" name="result-0-title">
            <a:extLst xmlns:a="http://schemas.openxmlformats.org/drawingml/2006/main">
              <a:ext uri="{FF2B5EF4-FFF2-40B4-BE49-F238E27FC236}">
                <a16:creationId xmlns:a16="http://schemas.microsoft.com/office/drawing/2014/main" id="{F6F8F86D-68E0-4FDE-8D87-95C92B01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44792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信仰更强</a:t>
            </a:r>
          </a:p>
        </p:txBody>
      </p:sp>
      <p:sp>
        <p:nvSpPr>
          <p:cNvPr id="9" name="result-0-num">
            <a:extLst xmlns:a="http://schemas.openxmlformats.org/drawingml/2006/main">
              <a:ext uri="{FF2B5EF4-FFF2-40B4-BE49-F238E27FC236}">
                <a16:creationId xmlns:a16="http://schemas.microsoft.com/office/drawing/2014/main" id="{8256D5B2-5950-4C7E-B765-F94C5F2C6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9527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58% → 87%</a:t>
            </a:r>
          </a:p>
        </p:txBody>
      </p:sp>
      <p:sp>
        <p:nvSpPr>
          <p:cNvPr id="10" name="result-0-copy">
            <a:extLst xmlns:a="http://schemas.openxmlformats.org/drawingml/2006/main">
              <a:ext uri="{FF2B5EF4-FFF2-40B4-BE49-F238E27FC236}">
                <a16:creationId xmlns:a16="http://schemas.microsoft.com/office/drawing/2014/main" id="{9421D77E-5A9E-40CF-BA18-EFFAE58B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714750"/>
            <a:ext cx="205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发展对象答辩现场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毕业后留辽意愿举手率</a:t>
            </a:r>
          </a:p>
        </p:txBody>
      </p:sp>
      <p:sp>
        <p:nvSpPr>
          <p:cNvPr id="11" name="result-1">
            <a:extLst xmlns:a="http://schemas.openxmlformats.org/drawingml/2006/main">
              <a:ext uri="{FF2B5EF4-FFF2-40B4-BE49-F238E27FC236}">
                <a16:creationId xmlns:a16="http://schemas.microsoft.com/office/drawing/2014/main" id="{2B29CC36-E1F9-4EDB-8487-AE32EAC6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171700"/>
            <a:ext cx="24765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2" name="result-1-title">
            <a:extLst xmlns:a="http://schemas.openxmlformats.org/drawingml/2006/main">
              <a:ext uri="{FF2B5EF4-FFF2-40B4-BE49-F238E27FC236}">
                <a16:creationId xmlns:a16="http://schemas.microsoft.com/office/drawing/2014/main" id="{0430EAEB-13B5-4C57-AA23-499537DC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44792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本领更硬</a:t>
            </a:r>
          </a:p>
        </p:txBody>
      </p:sp>
      <p:sp>
        <p:nvSpPr>
          <p:cNvPr id="13" name="result-1-num">
            <a:extLst xmlns:a="http://schemas.openxmlformats.org/drawingml/2006/main">
              <a:ext uri="{FF2B5EF4-FFF2-40B4-BE49-F238E27FC236}">
                <a16:creationId xmlns:a16="http://schemas.microsoft.com/office/drawing/2014/main" id="{12C5CA03-3729-4410-843D-73A64129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9527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26 / 8</a:t>
            </a:r>
          </a:p>
        </p:txBody>
      </p:sp>
      <p:sp>
        <p:nvSpPr>
          <p:cNvPr id="14" name="result-1-copy">
            <a:extLst xmlns:a="http://schemas.openxmlformats.org/drawingml/2006/main">
              <a:ext uri="{FF2B5EF4-FFF2-40B4-BE49-F238E27FC236}">
                <a16:creationId xmlns:a16="http://schemas.microsoft.com/office/drawing/2014/main" id="{9185FE7B-81A4-4898-BC36-BC83C34A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3714750"/>
            <a:ext cx="205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26 份振兴微课题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8 家企业当场“收货”</a:t>
            </a:r>
          </a:p>
        </p:txBody>
      </p:sp>
      <p:sp>
        <p:nvSpPr>
          <p:cNvPr id="15" name="result-2">
            <a:extLst xmlns:a="http://schemas.openxmlformats.org/drawingml/2006/main">
              <a:ext uri="{FF2B5EF4-FFF2-40B4-BE49-F238E27FC236}">
                <a16:creationId xmlns:a16="http://schemas.microsoft.com/office/drawing/2014/main" id="{480D740A-7DAE-4D48-92BD-34EE1C80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171700"/>
            <a:ext cx="247650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EEF3F8"/>
          </a:solidFill>
          <a:ln xmlns:a="http://schemas.openxmlformats.org/drawingml/2006/main" w="9525">
            <a:solidFill>
              <a:srgbClr val="D5DDE7"/>
            </a:solidFill>
            <a:prstDash val="solid"/>
          </a:ln>
        </p:spPr>
      </p:sp>
      <p:sp>
        <p:nvSpPr>
          <p:cNvPr id="16" name="result-2-title">
            <a:extLst xmlns:a="http://schemas.openxmlformats.org/drawingml/2006/main">
              <a:ext uri="{FF2B5EF4-FFF2-40B4-BE49-F238E27FC236}">
                <a16:creationId xmlns:a16="http://schemas.microsoft.com/office/drawing/2014/main" id="{F3D217C9-0625-4024-AEC9-BDE7D4D4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447925"/>
            <a:ext cx="2057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315F91"/>
                </a:solidFill>
                <a:latin typeface="Microsoft YaHei"/>
                <a:ea typeface="Microsoft YaHei"/>
                <a:cs typeface="Microsoft YaHei"/>
              </a:rPr>
              <a:t>声音更响</a:t>
            </a:r>
          </a:p>
        </p:txBody>
      </p:sp>
      <p:sp>
        <p:nvSpPr>
          <p:cNvPr id="17" name="result-2-num">
            <a:extLst xmlns:a="http://schemas.openxmlformats.org/drawingml/2006/main">
              <a:ext uri="{FF2B5EF4-FFF2-40B4-BE49-F238E27FC236}">
                <a16:creationId xmlns:a16="http://schemas.microsoft.com/office/drawing/2014/main" id="{7A63FAA8-D63F-4584-99C9-98E36611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952750"/>
            <a:ext cx="2057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飞出校园</a:t>
            </a:r>
          </a:p>
        </p:txBody>
      </p:sp>
      <p:sp>
        <p:nvSpPr>
          <p:cNvPr id="18" name="result-2-copy">
            <a:extLst xmlns:a="http://schemas.openxmlformats.org/drawingml/2006/main">
              <a:ext uri="{FF2B5EF4-FFF2-40B4-BE49-F238E27FC236}">
                <a16:creationId xmlns:a16="http://schemas.microsoft.com/office/drawing/2014/main" id="{AB58F23B-A258-4438-9E14-F4B5CBBBA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14750"/>
            <a:ext cx="205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飞入社区、课堂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252B33"/>
                </a:solidFill>
                <a:latin typeface="Microsoft YaHei"/>
                <a:ea typeface="Microsoft YaHei"/>
                <a:cs typeface="Microsoft YaHei"/>
              </a:rPr>
              <a:t>生产一线与百姓心坎</a:t>
            </a:r>
          </a:p>
        </p:txBody>
      </p:sp>
      <p:sp>
        <p:nvSpPr>
          <p:cNvPr id="19" name="result-3">
            <a:extLst xmlns:a="http://schemas.openxmlformats.org/drawingml/2006/main">
              <a:ext uri="{FF2B5EF4-FFF2-40B4-BE49-F238E27FC236}">
                <a16:creationId xmlns:a16="http://schemas.microsoft.com/office/drawing/2014/main" id="{69B4F898-2061-4E35-ABA8-35FD90BAF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71700"/>
            <a:ext cx="2762250" cy="2381250"/>
          </a:xfrm>
          <a:prstGeom xmlns:a="http://schemas.openxmlformats.org/drawingml/2006/main" prst="roundRect">
            <a:avLst>
              <a:gd name="adj" fmla="val 5600"/>
            </a:avLst>
          </a:prstGeom>
          <a:solidFill xmlns:a="http://schemas.openxmlformats.org/drawingml/2006/main">
            <a:srgbClr val="243F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sult-3-title">
            <a:extLst xmlns:a="http://schemas.openxmlformats.org/drawingml/2006/main">
              <a:ext uri="{FF2B5EF4-FFF2-40B4-BE49-F238E27FC236}">
                <a16:creationId xmlns:a16="http://schemas.microsoft.com/office/drawing/2014/main" id="{47CDF60E-6C41-49E2-AFA7-49648FC63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447925"/>
            <a:ext cx="2343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脚步更稳</a:t>
            </a:r>
          </a:p>
        </p:txBody>
      </p:sp>
      <p:sp>
        <p:nvSpPr>
          <p:cNvPr id="21" name="result-3-num">
            <a:extLst xmlns:a="http://schemas.openxmlformats.org/drawingml/2006/main">
              <a:ext uri="{FF2B5EF4-FFF2-40B4-BE49-F238E27FC236}">
                <a16:creationId xmlns:a16="http://schemas.microsoft.com/office/drawing/2014/main" id="{3769D658-A417-451E-9F89-CBD352F7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2952750"/>
            <a:ext cx="2343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+40%</a:t>
            </a:r>
          </a:p>
        </p:txBody>
      </p:sp>
      <p:sp>
        <p:nvSpPr>
          <p:cNvPr id="22" name="result-3-copy">
            <a:extLst xmlns:a="http://schemas.openxmlformats.org/drawingml/2006/main">
              <a:ext uri="{FF2B5EF4-FFF2-40B4-BE49-F238E27FC236}">
                <a16:creationId xmlns:a16="http://schemas.microsoft.com/office/drawing/2014/main" id="{A40D5C21-6D3E-4C54-BD47-EF29ADE1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714750"/>
            <a:ext cx="23431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E0EB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0EBF7"/>
                </a:solidFill>
                <a:latin typeface="Microsoft YaHei"/>
                <a:ea typeface="Microsoft YaHei"/>
                <a:cs typeface="Microsoft YaHei"/>
              </a:rPr>
              <a:t>党员考取辽宁选调生、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E0EBF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E0EBF7"/>
                </a:solidFill>
                <a:latin typeface="Microsoft YaHei"/>
                <a:ea typeface="Microsoft YaHei"/>
                <a:cs typeface="Microsoft YaHei"/>
              </a:rPr>
              <a:t>投身重大装备研发比例提升</a:t>
            </a:r>
          </a:p>
        </p:txBody>
      </p:sp>
      <p:sp>
        <p:nvSpPr>
          <p:cNvPr id="23" name="result-note">
            <a:extLst xmlns:a="http://schemas.openxmlformats.org/drawingml/2006/main">
              <a:ext uri="{FF2B5EF4-FFF2-40B4-BE49-F238E27FC236}">
                <a16:creationId xmlns:a16="http://schemas.microsoft.com/office/drawing/2014/main" id="{002924E4-6ACA-4E32-90B8-3066B4BF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34000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43F63"/>
                </a:solidFill>
                <a:latin typeface="Microsoft YaHei"/>
                <a:ea typeface="Microsoft YaHei"/>
                <a:cs typeface="Microsoft YaHei"/>
              </a:rPr>
              <a:t>从“学霸”到“红色先锋”：把论文写在大地，把青春植根黑土。</a:t>
            </a:r>
          </a:p>
        </p:txBody>
      </p:sp>
      <p:sp>
        <p:nvSpPr>
          <p:cNvPr id="24" name="result-boundary">
            <a:extLst xmlns:a="http://schemas.openxmlformats.org/drawingml/2006/main">
              <a:ext uri="{FF2B5EF4-FFF2-40B4-BE49-F238E27FC236}">
                <a16:creationId xmlns:a16="http://schemas.microsoft.com/office/drawing/2014/main" id="{633DBCC9-23B4-4BF5-B718-1353E6B4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721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707780"/>
                </a:solidFill>
                <a:latin typeface="Microsoft YaHei"/>
                <a:ea typeface="Microsoft YaHei"/>
                <a:cs typeface="Microsoft YaHei"/>
              </a:rPr>
              <a:t>以上为原稿报告的五年成效口径；“声音更响”保留文字结果，不虚构数值。</a:t>
            </a:r>
          </a:p>
        </p:txBody>
      </p:sp>
    </p:spTree>
    <p:extLst>
      <p:ext uri="{BB962C8B-B14F-4D97-AF65-F5344CB8AC3E}">
        <p14:creationId xmlns:p14="http://schemas.microsoft.com/office/powerpoint/2010/main" val="214681119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315F9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lose-band">
            <a:extLst xmlns:a="http://schemas.openxmlformats.org/drawingml/2006/main">
              <a:ext uri="{FF2B5EF4-FFF2-40B4-BE49-F238E27FC236}">
                <a16:creationId xmlns:a16="http://schemas.microsoft.com/office/drawing/2014/main" id="{EC35DD8B-9811-4FD9-A7E7-E5476E15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3F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46299177-2DEC-4086-B7FF-A9C3375F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667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rPr>
              <a:t>收束</a:t>
            </a:r>
          </a:p>
        </p:txBody>
      </p:sp>
      <p:sp>
        <p:nvSpPr>
          <p:cNvPr id="3" name="close-title">
            <a:extLst xmlns:a="http://schemas.openxmlformats.org/drawingml/2006/main">
              <a:ext uri="{FF2B5EF4-FFF2-40B4-BE49-F238E27FC236}">
                <a16:creationId xmlns:a16="http://schemas.microsoft.com/office/drawing/2014/main" id="{DD8B6F6F-A8D0-4DEA-A749-B183B2BB3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200150"/>
            <a:ext cx="981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六地红，成为青年投身振兴的青春底色</a:t>
            </a:r>
          </a:p>
        </p:txBody>
      </p:sp>
      <p:sp>
        <p:nvSpPr>
          <p:cNvPr id="4" name="close-rule">
            <a:extLst xmlns:a="http://schemas.openxmlformats.org/drawingml/2006/main">
              <a:ext uri="{FF2B5EF4-FFF2-40B4-BE49-F238E27FC236}">
                <a16:creationId xmlns:a16="http://schemas.microsoft.com/office/drawing/2014/main" id="{D8E62859-A285-4CDB-88AD-63B819010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0"/>
            <a:ext cx="266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" name="close-quote">
            <a:extLst xmlns:a="http://schemas.openxmlformats.org/drawingml/2006/main">
              <a:ext uri="{FF2B5EF4-FFF2-40B4-BE49-F238E27FC236}">
                <a16:creationId xmlns:a16="http://schemas.microsoft.com/office/drawing/2014/main" id="{72D282DC-FD91-4AAF-B72C-8B2B0204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609850"/>
            <a:ext cx="876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“要讲好党的故事、革命的故事、英雄的故事，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把红色基因传承下去，确保红色江山后继有人、代代相传。”</a:t>
            </a:r>
          </a:p>
        </p:txBody>
      </p:sp>
      <p:sp>
        <p:nvSpPr>
          <p:cNvPr id="6" name="close-attrib">
            <a:extLst xmlns:a="http://schemas.openxmlformats.org/drawingml/2006/main">
              <a:ext uri="{FF2B5EF4-FFF2-40B4-BE49-F238E27FC236}">
                <a16:creationId xmlns:a16="http://schemas.microsoft.com/office/drawing/2014/main" id="{0B951330-C831-4B14-A637-FFF11BEE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1950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rPr>
              <a:t>——习近平总书记关于用好红色资源的重要嘱托</a:t>
            </a:r>
          </a:p>
        </p:txBody>
      </p:sp>
      <p:sp>
        <p:nvSpPr>
          <p:cNvPr id="7" name="close-strip">
            <a:extLst xmlns:a="http://schemas.openxmlformats.org/drawingml/2006/main">
              <a:ext uri="{FF2B5EF4-FFF2-40B4-BE49-F238E27FC236}">
                <a16:creationId xmlns:a16="http://schemas.microsoft.com/office/drawing/2014/main" id="{85832E76-7178-4F88-88BF-82D3056A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362450"/>
            <a:ext cx="1104900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3E6F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lose-strip-copy">
            <a:extLst xmlns:a="http://schemas.openxmlformats.org/drawingml/2006/main">
              <a:ext uri="{FF2B5EF4-FFF2-40B4-BE49-F238E27FC236}">
                <a16:creationId xmlns:a16="http://schemas.microsoft.com/office/drawing/2014/main" id="{861D756A-48E0-4199-92B0-5BA4BF5C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4820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研学链贯通红色血脉  ·  任务单激发实干担当  ·  VR 基地跨越时空  ·  宣讲团传递信仰  ·  育人机制夯实成长</a:t>
            </a:r>
          </a:p>
        </p:txBody>
      </p:sp>
      <p:sp>
        <p:nvSpPr>
          <p:cNvPr id="9" name="close-final">
            <a:extLst xmlns:a="http://schemas.openxmlformats.org/drawingml/2006/main">
              <a:ext uri="{FF2B5EF4-FFF2-40B4-BE49-F238E27FC236}">
                <a16:creationId xmlns:a16="http://schemas.microsoft.com/office/drawing/2014/main" id="{A88867EE-617D-40F2-8EF8-1AA2BF76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8102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将“听党话、跟党走”的坚定信念，熔铸进每一段青春年轮。</a:t>
            </a:r>
          </a:p>
        </p:txBody>
      </p:sp>
      <p:sp>
        <p:nvSpPr>
          <p:cNvPr id="10" name="close-page">
            <a:extLst xmlns:a="http://schemas.openxmlformats.org/drawingml/2006/main">
              <a:ext uri="{FF2B5EF4-FFF2-40B4-BE49-F238E27FC236}">
                <a16:creationId xmlns:a16="http://schemas.microsoft.com/office/drawing/2014/main" id="{387BAF4D-9F60-4D4F-A5E7-40DF07A5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286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DDE8F4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708105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2026-09-06T01:57:47.9050000Z</dcterms:created>
  <dcterms:modified xsi:type="dcterms:W3CDTF">2026-09-06T01:57:47.9050000Z</dcterms:modified>
</coreProperties>
</file>