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6a3524b33243b8" /><Relationship Type="http://schemas.openxmlformats.org/officeDocument/2006/relationships/extended-properties" Target="/docProps/app.xml" Id="Rba02fe5275774dc2" /><Relationship Type="http://schemas.openxmlformats.org/officeDocument/2006/relationships/officeDocument" Target="/ppt/presentation.xml" Id="Re5dc17883f9f4e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26b8a96f4f4541"/>
  </p:sldMasterIdLst>
  <p:notesMasterIdLst>
    <p:notesMasterId xmlns:r="http://schemas.openxmlformats.org/officeDocument/2006/relationships" r:id="R7d5920b3dcd54aec"/>
  </p:notesMasterIdLst>
  <p:sldIdLst>
    <p:sldId xmlns:r="http://schemas.openxmlformats.org/officeDocument/2006/relationships" id="256" r:id="R641b90d3ff4f43f3"/>
    <p:sldId xmlns:r="http://schemas.openxmlformats.org/officeDocument/2006/relationships" id="257" r:id="Rca629752a58a4cae"/>
    <p:sldId xmlns:r="http://schemas.openxmlformats.org/officeDocument/2006/relationships" id="258" r:id="R9ed0f2e30ce44ba2"/>
    <p:sldId xmlns:r="http://schemas.openxmlformats.org/officeDocument/2006/relationships" id="259" r:id="R75ee9a84005b4249"/>
    <p:sldId xmlns:r="http://schemas.openxmlformats.org/officeDocument/2006/relationships" id="260" r:id="R578df19fa1fd44d6"/>
    <p:sldId xmlns:r="http://schemas.openxmlformats.org/officeDocument/2006/relationships" id="261" r:id="R0163e918bb464c80"/>
    <p:sldId xmlns:r="http://schemas.openxmlformats.org/officeDocument/2006/relationships" id="262" r:id="R93f9171940fb43b7"/>
    <p:sldId xmlns:r="http://schemas.openxmlformats.org/officeDocument/2006/relationships" id="263" r:id="R7d0cf205027b4a76"/>
    <p:sldId xmlns:r="http://schemas.openxmlformats.org/officeDocument/2006/relationships" id="264" r:id="Ra3418d7d7263446b"/>
    <p:sldId xmlns:r="http://schemas.openxmlformats.org/officeDocument/2006/relationships" id="265" r:id="Rb6f7288e611341f2"/>
    <p:sldId xmlns:r="http://schemas.openxmlformats.org/officeDocument/2006/relationships" id="266" r:id="R25df8cf39b4548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abd1eea23f4cb0" /><Relationship Type="http://schemas.openxmlformats.org/officeDocument/2006/relationships/slideMaster" Target="/ppt/slideMasters/slideMaster1.xml" Id="R1426b8a96f4f4541" /><Relationship Type="http://schemas.openxmlformats.org/officeDocument/2006/relationships/notesMaster" Target="/ppt/notesMasters/notesMaster1.xml" Id="R7d5920b3dcd54aec" /><Relationship Type="http://schemas.openxmlformats.org/officeDocument/2006/relationships/presProps" Target="/ppt/presProps.xml" Id="Re4b48ee7c59543ee" /><Relationship Type="http://schemas.openxmlformats.org/officeDocument/2006/relationships/tableStyles" Target="/ppt/tableStyles.xml" Id="R3742c3005c7c4a31" /><Relationship Type="http://schemas.openxmlformats.org/officeDocument/2006/relationships/slide" Target="/ppt/slides/slide1.xml" Id="R641b90d3ff4f43f3" /><Relationship Type="http://schemas.openxmlformats.org/officeDocument/2006/relationships/slide" Target="/ppt/slides/slide2.xml" Id="Rca629752a58a4cae" /><Relationship Type="http://schemas.openxmlformats.org/officeDocument/2006/relationships/slide" Target="/ppt/slides/slide3.xml" Id="R9ed0f2e30ce44ba2" /><Relationship Type="http://schemas.openxmlformats.org/officeDocument/2006/relationships/slide" Target="/ppt/slides/slide4.xml" Id="R75ee9a84005b4249" /><Relationship Type="http://schemas.openxmlformats.org/officeDocument/2006/relationships/slide" Target="/ppt/slides/slide5.xml" Id="R578df19fa1fd44d6" /><Relationship Type="http://schemas.openxmlformats.org/officeDocument/2006/relationships/slide" Target="/ppt/slides/slide6.xml" Id="R0163e918bb464c80" /><Relationship Type="http://schemas.openxmlformats.org/officeDocument/2006/relationships/slide" Target="/ppt/slides/slide7.xml" Id="R93f9171940fb43b7" /><Relationship Type="http://schemas.openxmlformats.org/officeDocument/2006/relationships/slide" Target="/ppt/slides/slide8.xml" Id="R7d0cf205027b4a76" /><Relationship Type="http://schemas.openxmlformats.org/officeDocument/2006/relationships/slide" Target="/ppt/slides/slide9.xml" Id="Ra3418d7d7263446b" /><Relationship Type="http://schemas.openxmlformats.org/officeDocument/2006/relationships/slide" Target="/ppt/slides/slide10.xml" Id="Rb6f7288e611341f2" /><Relationship Type="http://schemas.openxmlformats.org/officeDocument/2006/relationships/slide" Target="/ppt/slides/slide11.xml" Id="R25df8cf39b4548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75deb893144e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b81fba38e74116" /><Relationship Type="http://schemas.openxmlformats.org/officeDocument/2006/relationships/notesMaster" Target="/ppt/notesMasters/notesMaster1.xml" Id="Rc2d964e70ff046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bc52d0fed14387" /><Relationship Type="http://schemas.openxmlformats.org/officeDocument/2006/relationships/notesMaster" Target="/ppt/notesMasters/notesMaster1.xml" Id="R51fdb9783e8148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80fcde38134296" /><Relationship Type="http://schemas.openxmlformats.org/officeDocument/2006/relationships/notesMaster" Target="/ppt/notesMasters/notesMaster1.xml" Id="Rcb893f7e91c94f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f7f8ce1e724ad0" /><Relationship Type="http://schemas.openxmlformats.org/officeDocument/2006/relationships/notesMaster" Target="/ppt/notesMasters/notesMaster1.xml" Id="Rdac2492c497c4f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e0147c19414e65" /><Relationship Type="http://schemas.openxmlformats.org/officeDocument/2006/relationships/notesMaster" Target="/ppt/notesMasters/notesMaster1.xml" Id="R9183a34693c244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a60cd1b6444bf9" /><Relationship Type="http://schemas.openxmlformats.org/officeDocument/2006/relationships/notesMaster" Target="/ppt/notesMasters/notesMaster1.xml" Id="R5e1e833ea59b4c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ad00763d954d29" /><Relationship Type="http://schemas.openxmlformats.org/officeDocument/2006/relationships/notesMaster" Target="/ppt/notesMasters/notesMaster1.xml" Id="R1f0aa0edeb144b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83545aa59f4af4" /><Relationship Type="http://schemas.openxmlformats.org/officeDocument/2006/relationships/notesMaster" Target="/ppt/notesMasters/notesMaster1.xml" Id="Rebb67d27b2b446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1fdc0b822144d2" /><Relationship Type="http://schemas.openxmlformats.org/officeDocument/2006/relationships/notesMaster" Target="/ppt/notesMasters/notesMaster1.xml" Id="Re421459c30f644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159d9f750a9494d" /><Relationship Type="http://schemas.openxmlformats.org/officeDocument/2006/relationships/notesMaster" Target="/ppt/notesMasters/notesMaster1.xml" Id="Ra086d740be9e477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8f1ea89d2d84b52" /><Relationship Type="http://schemas.openxmlformats.org/officeDocument/2006/relationships/notesMaster" Target="/ppt/notesMasters/notesMaster1.xml" Id="Ra3d6bfd5de0940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开场：用“六地红”作为全稿中心判断，接着说明困境、路径和结果。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原稿依据：从“三高三低”到深耕辽宁。左、右两组是并列诊断，分别由箭头汇入实践转向。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原稿依据：六个红色标识与“离理工青年最近、最燃、最硬核”的目标。六地共享一个辽宁红色资源容器。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原稿依据：1+3+N 括注。严格区分矩阵层级与研学链内部“1+6+N”路线。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原稿依据：五类抓手第一段；三项动作是明确先后，三摆三写是任务单定义，26/8 是文字证据。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原稿依据：VR 党员教育示范基地抓手。22→7 是转化关系，7→预约体验是使用结果，奖项与肯定是支持证据。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原稿依据：青春有理青年宣讲团。32→10→36 是执行链，3800多人和省级认定是结果证据。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原稿依据：红色朋友圈。41家与2000余人次是共享证据；东西双向为互学关系，使用双箭头表达。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原稿依据：红色育人机制。四阶段是明确顺序；学分、三会一课、36位导师是跨阶段支撑。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原稿依据：五年成效。58→87、26/8、+40%为原稿数字；声音更响只有文字证据，保持文字表达。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收束：回到中心判断，引用与五类抓手降级为支持，结束于青年投身振兴的行动指向。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0c2498b4f844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75a4d2342e46ce" /><Relationship Type="http://schemas.openxmlformats.org/officeDocument/2006/relationships/slideLayout" Target="/ppt/slideLayouts/slideLayout1.xml" Id="Reb1e314a346348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1e314a346348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327f3086a4b4c" /><Relationship Type="http://schemas.openxmlformats.org/officeDocument/2006/relationships/notesSlide" Target="/ppt/notesSlides/notesSlide1.xml" Id="R335d2dfc0c9643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7887960cc44bf" /><Relationship Type="http://schemas.openxmlformats.org/officeDocument/2006/relationships/notesSlide" Target="/ppt/notesSlides/notesSlide2.xml" Id="Rf7f677707d0948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ccd1ba8ab4e27" /><Relationship Type="http://schemas.openxmlformats.org/officeDocument/2006/relationships/notesSlide" Target="/ppt/notesSlides/notesSlide3.xml" Id="Reb4c7f7b541d45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9c08b161fa463b" /><Relationship Type="http://schemas.openxmlformats.org/officeDocument/2006/relationships/notesSlide" Target="/ppt/notesSlides/notesSlide4.xml" Id="Re38902bdde4f40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bb331ad304bd9" /><Relationship Type="http://schemas.openxmlformats.org/officeDocument/2006/relationships/notesSlide" Target="/ppt/notesSlides/notesSlide5.xml" Id="R9162dba370114f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5a9ea4dc241c3" /><Relationship Type="http://schemas.openxmlformats.org/officeDocument/2006/relationships/notesSlide" Target="/ppt/notesSlides/notesSlide6.xml" Id="R142c649ef63b4c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3401f17b64507" /><Relationship Type="http://schemas.openxmlformats.org/officeDocument/2006/relationships/notesSlide" Target="/ppt/notesSlides/notesSlide7.xml" Id="R2c4249e70bbb46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112a968fb84db9" /><Relationship Type="http://schemas.openxmlformats.org/officeDocument/2006/relationships/notesSlide" Target="/ppt/notesSlides/notesSlide8.xml" Id="R7a6380c3be6b44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c4c9871f324812" /><Relationship Type="http://schemas.openxmlformats.org/officeDocument/2006/relationships/notesSlide" Target="/ppt/notesSlides/notesSlide9.xml" Id="Rb400a0f96751414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1b510a78f44603" /><Relationship Type="http://schemas.openxmlformats.org/officeDocument/2006/relationships/notesSlide" Target="/ppt/notesSlides/notesSlide10.xml" Id="R61e603a185754e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acf426bec4d42" /><Relationship Type="http://schemas.openxmlformats.org/officeDocument/2006/relationships/notesSlide" Target="/ppt/notesSlides/notesSlide11.xml" Id="R9e233fa516b043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15F9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over-band">
            <a:extLst xmlns:a="http://schemas.openxmlformats.org/drawingml/2006/main">
              <a:ext uri="{FF2B5EF4-FFF2-40B4-BE49-F238E27FC236}">
                <a16:creationId xmlns:a16="http://schemas.microsoft.com/office/drawing/2014/main" id="{3DC882F9-F8DB-48C2-9F44-459B3435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BF716032-7003-404A-AE7B-C16F5539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429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辽宁“六地”红色文化标识融入党员教育的创新实践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78B8BB7-4B4B-43D6-A942-32364A27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09700"/>
            <a:ext cx="857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让“六地”红，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成为理工青年最鲜亮的青春底色</a:t>
            </a:r>
          </a:p>
        </p:txBody>
      </p:sp>
      <p:sp>
        <p:nvSpPr>
          <p:cNvPr id="4" name="cover-sub">
            <a:extLst xmlns:a="http://schemas.openxmlformats.org/drawingml/2006/main">
              <a:ext uri="{FF2B5EF4-FFF2-40B4-BE49-F238E27FC236}">
                <a16:creationId xmlns:a16="http://schemas.microsoft.com/office/drawing/2014/main" id="{12C16854-B4FD-4F23-AC77-8358790B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909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rPr>
              <a:t>十年探路 · 五年深耕 · 把红色资源变成离青年最近的党员教育现场</a:t>
            </a:r>
          </a:p>
        </p:txBody>
      </p:sp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31D88FE7-728F-4DF3-BFE8-5F79A23B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1480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cover-foot">
            <a:extLst xmlns:a="http://schemas.openxmlformats.org/drawingml/2006/main">
              <a:ext uri="{FF2B5EF4-FFF2-40B4-BE49-F238E27FC236}">
                <a16:creationId xmlns:a16="http://schemas.microsoft.com/office/drawing/2014/main" id="{5579B171-2762-41BE-BCE6-71507EF7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148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创新案例分享</a:t>
            </a:r>
          </a:p>
        </p:txBody>
      </p:sp>
      <p:sp>
        <p:nvSpPr>
          <p:cNvPr id="7" name="cover-note">
            <a:extLst xmlns:a="http://schemas.openxmlformats.org/drawingml/2006/main">
              <a:ext uri="{FF2B5EF4-FFF2-40B4-BE49-F238E27FC236}">
                <a16:creationId xmlns:a16="http://schemas.microsoft.com/office/drawing/2014/main" id="{ED5261C2-A54A-454A-8719-5B54E404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95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rPr>
              <a:t>红色研学链  /  青春课堂  /  育人机制</a:t>
            </a:r>
          </a:p>
        </p:txBody>
      </p:sp>
      <p:sp>
        <p:nvSpPr>
          <p:cNvPr id="8" name="cover-node">
            <a:extLst xmlns:a="http://schemas.openxmlformats.org/drawingml/2006/main">
              <a:ext uri="{FF2B5EF4-FFF2-40B4-BE49-F238E27FC236}">
                <a16:creationId xmlns:a16="http://schemas.microsoft.com/office/drawing/2014/main" id="{7CBD908C-843C-4EFD-AB18-7360B07D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466850"/>
            <a:ext cx="1981200" cy="19812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3E6FA5"/>
          </a:solidFill>
          <a:ln xmlns:a="http://schemas.openxmlformats.org/drawingml/2006/main" w="9525">
            <a:solidFill>
              <a:srgbClr val="6E93BA"/>
            </a:solidFill>
            <a:prstDash val="solid"/>
          </a:ln>
        </p:spPr>
      </p:sp>
      <p:sp>
        <p:nvSpPr>
          <p:cNvPr id="9" name="cover-node-title">
            <a:extLst xmlns:a="http://schemas.openxmlformats.org/drawingml/2006/main">
              <a:ext uri="{FF2B5EF4-FFF2-40B4-BE49-F238E27FC236}">
                <a16:creationId xmlns:a16="http://schemas.microsoft.com/office/drawing/2014/main" id="{D5F3A1A9-F712-4628-90DF-D5781895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971675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六地红</a:t>
            </a:r>
          </a:p>
        </p:txBody>
      </p:sp>
      <p:sp>
        <p:nvSpPr>
          <p:cNvPr id="10" name="cover-node-sub">
            <a:extLst xmlns:a="http://schemas.openxmlformats.org/drawingml/2006/main">
              <a:ext uri="{FF2B5EF4-FFF2-40B4-BE49-F238E27FC236}">
                <a16:creationId xmlns:a16="http://schemas.microsoft.com/office/drawing/2014/main" id="{CD81024C-848C-473A-9B54-3C1E622A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8605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rPr>
              <a:t>最近 · 最燃 · 最硬核</a:t>
            </a:r>
          </a:p>
        </p:txBody>
      </p:sp>
      <p:sp>
        <p:nvSpPr>
          <p:cNvPr id="11" name="cover-page">
            <a:extLst xmlns:a="http://schemas.openxmlformats.org/drawingml/2006/main">
              <a:ext uri="{FF2B5EF4-FFF2-40B4-BE49-F238E27FC236}">
                <a16:creationId xmlns:a16="http://schemas.microsoft.com/office/drawing/2014/main" id="{D991B2D0-A515-491D-8BCA-1B4278D7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403987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E8487551-5091-4224-918D-5DCA10D2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辽宁“六地”红色文化标识融入党员教育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3F4FBF5-FA63-4507-931D-778B1A4B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理工学生的高优势，曾与低认同并存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E857FEF-71C6-4536-8B0F-B0A47610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62025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4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60B73CB8-569E-40A9-8074-80CEC49D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来源：分配稿《让“六地”红》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57080AF-87C0-4C79-B74E-7F4AE730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lead">
            <a:extLst xmlns:a="http://schemas.openxmlformats.org/drawingml/2006/main">
              <a:ext uri="{FF2B5EF4-FFF2-40B4-BE49-F238E27FC236}">
                <a16:creationId xmlns:a16="http://schemas.microsoft.com/office/drawing/2014/main" id="{8AA9B32D-8F0A-4699-B68B-77EA3C8C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334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rPr>
              <a:t>学院先识别“三高三低”的结构性困境，再把优势导入党建实践。</a:t>
            </a:r>
          </a:p>
        </p:txBody>
      </p:sp>
      <p:sp>
        <p:nvSpPr>
          <p:cNvPr id="7" name="high-group">
            <a:extLst xmlns:a="http://schemas.openxmlformats.org/drawingml/2006/main">
              <a:ext uri="{FF2B5EF4-FFF2-40B4-BE49-F238E27FC236}">
                <a16:creationId xmlns:a16="http://schemas.microsoft.com/office/drawing/2014/main" id="{4BCB3BAB-7BF3-44F5-AA1C-48BF57C8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90700"/>
            <a:ext cx="3143250" cy="257175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8" name="high-title">
            <a:extLst xmlns:a="http://schemas.openxmlformats.org/drawingml/2006/main">
              <a:ext uri="{FF2B5EF4-FFF2-40B4-BE49-F238E27FC236}">
                <a16:creationId xmlns:a16="http://schemas.microsoft.com/office/drawing/2014/main" id="{B8862218-35EA-4D85-925C-435A76D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43125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学生优势</a:t>
            </a:r>
          </a:p>
        </p:txBody>
      </p:sp>
      <p:sp>
        <p:nvSpPr>
          <p:cNvPr id="9" name="high-copy">
            <a:extLst xmlns:a="http://schemas.openxmlformats.org/drawingml/2006/main">
              <a:ext uri="{FF2B5EF4-FFF2-40B4-BE49-F238E27FC236}">
                <a16:creationId xmlns:a16="http://schemas.microsoft.com/office/drawing/2014/main" id="{322B79CA-0CDF-474D-B255-BF07E34C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00325"/>
            <a:ext cx="26860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高学分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高竞赛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高科研</a:t>
            </a:r>
          </a:p>
        </p:txBody>
      </p:sp>
      <p:sp>
        <p:nvSpPr>
          <p:cNvPr id="10" name="low-group">
            <a:extLst xmlns:a="http://schemas.openxmlformats.org/drawingml/2006/main">
              <a:ext uri="{FF2B5EF4-FFF2-40B4-BE49-F238E27FC236}">
                <a16:creationId xmlns:a16="http://schemas.microsoft.com/office/drawing/2014/main" id="{500E722E-CE13-40FD-887A-B991E81D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90700"/>
            <a:ext cx="3143250" cy="257175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1" name="low-title">
            <a:extLst xmlns:a="http://schemas.openxmlformats.org/drawingml/2006/main">
              <a:ext uri="{FF2B5EF4-FFF2-40B4-BE49-F238E27FC236}">
                <a16:creationId xmlns:a16="http://schemas.microsoft.com/office/drawing/2014/main" id="{13B2C01F-729E-443E-A9FC-970AD9CA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43125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教育难题</a:t>
            </a:r>
          </a:p>
        </p:txBody>
      </p:sp>
      <p:sp>
        <p:nvSpPr>
          <p:cNvPr id="12" name="low-copy">
            <a:extLst xmlns:a="http://schemas.openxmlformats.org/drawingml/2006/main">
              <a:ext uri="{FF2B5EF4-FFF2-40B4-BE49-F238E27FC236}">
                <a16:creationId xmlns:a16="http://schemas.microsoft.com/office/drawing/2014/main" id="{070658E5-038E-45D5-AD50-19273C6A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00325"/>
            <a:ext cx="26860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7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理论情感浓度低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7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身份认同声量低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7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知行合一燃值低</a:t>
            </a:r>
          </a:p>
        </p:txBody>
      </p:sp>
      <p:sp>
        <p:nvSpPr>
          <p:cNvPr id="13" name="pivot">
            <a:extLst xmlns:a="http://schemas.openxmlformats.org/drawingml/2006/main">
              <a:ext uri="{FF2B5EF4-FFF2-40B4-BE49-F238E27FC236}">
                <a16:creationId xmlns:a16="http://schemas.microsoft.com/office/drawing/2014/main" id="{CE10B13C-D50F-4DED-A828-D8590E26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90700"/>
            <a:ext cx="3571875" cy="257175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243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ivot-title">
            <a:extLst xmlns:a="http://schemas.openxmlformats.org/drawingml/2006/main">
              <a:ext uri="{FF2B5EF4-FFF2-40B4-BE49-F238E27FC236}">
                <a16:creationId xmlns:a16="http://schemas.microsoft.com/office/drawing/2014/main" id="{8453D9A6-E806-43C3-B42D-01B6686B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7170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党建实践转向</a:t>
            </a:r>
          </a:p>
        </p:txBody>
      </p:sp>
      <p:sp>
        <p:nvSpPr>
          <p:cNvPr id="15" name="pivot-copy">
            <a:extLst xmlns:a="http://schemas.openxmlformats.org/drawingml/2006/main">
              <a:ext uri="{FF2B5EF4-FFF2-40B4-BE49-F238E27FC236}">
                <a16:creationId xmlns:a16="http://schemas.microsoft.com/office/drawing/2014/main" id="{BFDFAC71-DEBB-49A8-B0D1-31B7E577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24150"/>
            <a:ext cx="30003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0">
                <a:solidFill>
                  <a:srgbClr val="E3ED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E3EDF7"/>
                </a:solidFill>
                <a:latin typeface="Microsoft YaHei"/>
                <a:ea typeface="Microsoft YaHei"/>
                <a:cs typeface="Microsoft YaHei"/>
              </a:rPr>
              <a:t>组建红色梦想实践团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00" b="0">
                <a:solidFill>
                  <a:srgbClr val="E3ED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E3EDF7"/>
                </a:solidFill>
                <a:latin typeface="Microsoft YaHei"/>
                <a:ea typeface="Microsoft YaHei"/>
                <a:cs typeface="Microsoft YaHei"/>
              </a:rPr>
              <a:t>走遍全国九省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00" b="0">
                <a:solidFill>
                  <a:srgbClr val="E3ED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E3EDF7"/>
                </a:solidFill>
                <a:latin typeface="Microsoft YaHei"/>
                <a:ea typeface="Microsoft YaHei"/>
                <a:cs typeface="Microsoft YaHei"/>
              </a:rPr>
              <a:t>在社会课堂锻造“理论＋实践”立体化红色矩阵</a:t>
            </a:r>
          </a:p>
        </p:txBody>
      </p:sp>
      <p:cxnSp>
        <p:nvCxnSpPr>
          <p:cNvPr id="34" name=""/>
          <p:cNvCxnSpPr>
            <a:stCxn xmlns:a="http://schemas.openxmlformats.org/drawingml/2006/main" id="7" idx="2"/>
            <a:endCxn xmlns:a="http://schemas.openxmlformats.org/drawingml/2006/main" id="13" idx="2"/>
          </p:cNvCxnSpPr>
          <p:nvPr/>
        </p:nvCxnSpPr>
        <p:spPr>
          <a:xfrm xmlns:a="http://schemas.openxmlformats.org/drawingml/2006/main">
            <a:off x="2095500" y="4362450"/>
            <a:ext cx="7691438" cy="228600"/>
          </a:xfrm>
          <a:prstGeom xmlns:a="http://schemas.openxmlformats.org/drawingml/2006/main" prst="bentConnector4">
            <a:avLst/>
          </a:prstGeom>
          <a:ln xmlns:a="http://schemas.openxmlformats.org/drawingml/2006/main" w="28575">
            <a:solidFill>
              <a:srgbClr val="6F8FB1"/>
            </a:solidFill>
            <a:prstDash val="solid"/>
            <a:headEnd type="arrow" w="sm" len="sm"/>
          </a:ln>
        </p:spPr>
      </p:cxnSp>
      <p:cxnSp>
        <p:nvCxnSpPr>
          <p:cNvPr id="35" name=""/>
          <p:cNvCxnSpPr>
            <a:stCxn xmlns:a="http://schemas.openxmlformats.org/drawingml/2006/main" id="10" idx="2"/>
            <a:endCxn xmlns:a="http://schemas.openxmlformats.org/drawingml/2006/main" id="13" idx="2"/>
          </p:cNvCxnSpPr>
          <p:nvPr/>
        </p:nvCxnSpPr>
        <p:spPr>
          <a:xfrm xmlns:a="http://schemas.openxmlformats.org/drawingml/2006/main">
            <a:off x="5667375" y="4362450"/>
            <a:ext cx="4119563" cy="228600"/>
          </a:xfrm>
          <a:prstGeom xmlns:a="http://schemas.openxmlformats.org/drawingml/2006/main" prst="bentConnector4">
            <a:avLst/>
          </a:prstGeom>
          <a:ln xmlns:a="http://schemas.openxmlformats.org/drawingml/2006/main" w="28575">
            <a:solidFill>
              <a:srgbClr val="6F8FB1"/>
            </a:solidFill>
            <a:prstDash val="solid"/>
            <a:headEnd type="arrow" w="sm" len="sm"/>
          </a:ln>
        </p:spPr>
      </p:cxnSp>
      <p:sp>
        <p:nvSpPr>
          <p:cNvPr id="18" name="bottom-note">
            <a:extLst xmlns:a="http://schemas.openxmlformats.org/drawingml/2006/main">
              <a:ext uri="{FF2B5EF4-FFF2-40B4-BE49-F238E27FC236}">
                <a16:creationId xmlns:a16="http://schemas.microsoft.com/office/drawing/2014/main" id="{DFDCC1FA-F7FD-4C81-A81C-86E40055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053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今天的选择：把目光从“走遍全国”转向“深耕辽宁”。</a:t>
            </a:r>
          </a:p>
        </p:txBody>
      </p:sp>
    </p:spTree>
    <p:extLst>
      <p:ext uri="{BB962C8B-B14F-4D97-AF65-F5344CB8AC3E}">
        <p14:creationId xmlns:p14="http://schemas.microsoft.com/office/powerpoint/2010/main" val="8994972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">
            <a:extLst xmlns:a="http://schemas.openxmlformats.org/drawingml/2006/main">
              <a:ext uri="{FF2B5EF4-FFF2-40B4-BE49-F238E27FC236}">
                <a16:creationId xmlns:a16="http://schemas.microsoft.com/office/drawing/2014/main" id="{281F9D46-E52D-4C40-994B-014C5D66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辽宁“六地”红色文化标识融入党员教育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9F1D3FF-22E9-4F47-B160-43D89658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深耕辽宁，让“六地”成为最近的教育现场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0B068AE-E845-496F-81C0-F71E65CA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62025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4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04010EF9-3D78-4925-B8A0-1FF6355C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来源：分配稿《让“六地”红》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CA598FA-EA8D-4DE6-B138-875D6400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lead">
            <a:extLst xmlns:a="http://schemas.openxmlformats.org/drawingml/2006/main">
              <a:ext uri="{FF2B5EF4-FFF2-40B4-BE49-F238E27FC236}">
                <a16:creationId xmlns:a16="http://schemas.microsoft.com/office/drawing/2014/main" id="{81F53BA9-A337-4920-A591-2F3215C0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3347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rPr>
              <a:t>六个红色标识共同构成辽宁故事的“最近、最燃、最硬核”现场。</a:t>
            </a:r>
          </a:p>
        </p:txBody>
      </p:sp>
      <p:sp>
        <p:nvSpPr>
          <p:cNvPr id="7" name="six-container">
            <a:extLst xmlns:a="http://schemas.openxmlformats.org/drawingml/2006/main">
              <a:ext uri="{FF2B5EF4-FFF2-40B4-BE49-F238E27FC236}">
                <a16:creationId xmlns:a16="http://schemas.microsoft.com/office/drawing/2014/main" id="{8FC3BBC3-CB1A-4245-99F9-22F71129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72390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8" name="six-title">
            <a:extLst xmlns:a="http://schemas.openxmlformats.org/drawingml/2006/main">
              <a:ext uri="{FF2B5EF4-FFF2-40B4-BE49-F238E27FC236}">
                <a16:creationId xmlns:a16="http://schemas.microsoft.com/office/drawing/2014/main" id="{8892EFC8-A759-4464-88B3-357F11CA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52625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辽宁“六地”红色文化标识</a:t>
            </a:r>
          </a:p>
        </p:txBody>
      </p:sp>
      <p:sp>
        <p:nvSpPr>
          <p:cNvPr id="9" name="six-0">
            <a:extLst xmlns:a="http://schemas.openxmlformats.org/drawingml/2006/main">
              <a:ext uri="{FF2B5EF4-FFF2-40B4-BE49-F238E27FC236}">
                <a16:creationId xmlns:a16="http://schemas.microsoft.com/office/drawing/2014/main" id="{4205820D-6FEC-4E90-BE9C-C46CC75A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76500"/>
            <a:ext cx="19431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0" name="six-0a">
            <a:extLst xmlns:a="http://schemas.openxmlformats.org/drawingml/2006/main">
              <a:ext uri="{FF2B5EF4-FFF2-40B4-BE49-F238E27FC236}">
                <a16:creationId xmlns:a16="http://schemas.microsoft.com/office/drawing/2014/main" id="{CBEE82C0-7A52-455F-A4A5-D928DCEF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619375"/>
            <a:ext cx="1676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抗日战争</a:t>
            </a:r>
          </a:p>
        </p:txBody>
      </p:sp>
      <p:sp>
        <p:nvSpPr>
          <p:cNvPr id="11" name="six-0b">
            <a:extLst xmlns:a="http://schemas.openxmlformats.org/drawingml/2006/main">
              <a:ext uri="{FF2B5EF4-FFF2-40B4-BE49-F238E27FC236}">
                <a16:creationId xmlns:a16="http://schemas.microsoft.com/office/drawing/2014/main" id="{60978777-C9D2-4EBE-9DFF-9150DF1B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895600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起始地</a:t>
            </a:r>
          </a:p>
        </p:txBody>
      </p:sp>
      <p:sp>
        <p:nvSpPr>
          <p:cNvPr id="12" name="six-1">
            <a:extLst xmlns:a="http://schemas.openxmlformats.org/drawingml/2006/main">
              <a:ext uri="{FF2B5EF4-FFF2-40B4-BE49-F238E27FC236}">
                <a16:creationId xmlns:a16="http://schemas.microsoft.com/office/drawing/2014/main" id="{4C3B7D7C-A35C-4E7A-B62A-F160C0A7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76500"/>
            <a:ext cx="19431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3" name="six-1a">
            <a:extLst xmlns:a="http://schemas.openxmlformats.org/drawingml/2006/main">
              <a:ext uri="{FF2B5EF4-FFF2-40B4-BE49-F238E27FC236}">
                <a16:creationId xmlns:a16="http://schemas.microsoft.com/office/drawing/2014/main" id="{7AD6751A-A11D-4072-B6BF-F759BBF1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619375"/>
            <a:ext cx="1676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解放战争</a:t>
            </a:r>
          </a:p>
        </p:txBody>
      </p:sp>
      <p:sp>
        <p:nvSpPr>
          <p:cNvPr id="14" name="six-1b">
            <a:extLst xmlns:a="http://schemas.openxmlformats.org/drawingml/2006/main">
              <a:ext uri="{FF2B5EF4-FFF2-40B4-BE49-F238E27FC236}">
                <a16:creationId xmlns:a16="http://schemas.microsoft.com/office/drawing/2014/main" id="{D862132F-B159-40F0-BD15-C1D57735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895600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转折地</a:t>
            </a:r>
          </a:p>
        </p:txBody>
      </p:sp>
      <p:sp>
        <p:nvSpPr>
          <p:cNvPr id="15" name="six-2">
            <a:extLst xmlns:a="http://schemas.openxmlformats.org/drawingml/2006/main">
              <a:ext uri="{FF2B5EF4-FFF2-40B4-BE49-F238E27FC236}">
                <a16:creationId xmlns:a16="http://schemas.microsoft.com/office/drawing/2014/main" id="{D9C22F0B-09AC-42AC-A7C0-B17B48F0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476500"/>
            <a:ext cx="19431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6" name="six-2a">
            <a:extLst xmlns:a="http://schemas.openxmlformats.org/drawingml/2006/main">
              <a:ext uri="{FF2B5EF4-FFF2-40B4-BE49-F238E27FC236}">
                <a16:creationId xmlns:a16="http://schemas.microsoft.com/office/drawing/2014/main" id="{FB40B2DA-513B-40D8-B038-CBC67219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619375"/>
            <a:ext cx="1676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新中国国歌</a:t>
            </a:r>
          </a:p>
        </p:txBody>
      </p:sp>
      <p:sp>
        <p:nvSpPr>
          <p:cNvPr id="17" name="six-2b">
            <a:extLst xmlns:a="http://schemas.openxmlformats.org/drawingml/2006/main">
              <a:ext uri="{FF2B5EF4-FFF2-40B4-BE49-F238E27FC236}">
                <a16:creationId xmlns:a16="http://schemas.microsoft.com/office/drawing/2014/main" id="{824CCBA0-223C-4D38-9368-7AD431C1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895600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素材地</a:t>
            </a:r>
          </a:p>
        </p:txBody>
      </p:sp>
      <p:sp>
        <p:nvSpPr>
          <p:cNvPr id="18" name="six-3">
            <a:extLst xmlns:a="http://schemas.openxmlformats.org/drawingml/2006/main">
              <a:ext uri="{FF2B5EF4-FFF2-40B4-BE49-F238E27FC236}">
                <a16:creationId xmlns:a16="http://schemas.microsoft.com/office/drawing/2014/main" id="{13288D44-22DF-4C61-8F65-E840CF66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543300"/>
            <a:ext cx="19431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9" name="six-3a">
            <a:extLst xmlns:a="http://schemas.openxmlformats.org/drawingml/2006/main">
              <a:ext uri="{FF2B5EF4-FFF2-40B4-BE49-F238E27FC236}">
                <a16:creationId xmlns:a16="http://schemas.microsoft.com/office/drawing/2014/main" id="{3F457B1E-0825-4A9B-8DEA-F07799E5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686175"/>
            <a:ext cx="1676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抗美援朝</a:t>
            </a:r>
          </a:p>
        </p:txBody>
      </p:sp>
      <p:sp>
        <p:nvSpPr>
          <p:cNvPr id="20" name="six-3b">
            <a:extLst xmlns:a="http://schemas.openxmlformats.org/drawingml/2006/main">
              <a:ext uri="{FF2B5EF4-FFF2-40B4-BE49-F238E27FC236}">
                <a16:creationId xmlns:a16="http://schemas.microsoft.com/office/drawing/2014/main" id="{CB1F8D67-3518-4ADD-9987-92AAB7AE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962400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出征地</a:t>
            </a:r>
          </a:p>
        </p:txBody>
      </p:sp>
      <p:sp>
        <p:nvSpPr>
          <p:cNvPr id="21" name="six-4">
            <a:extLst xmlns:a="http://schemas.openxmlformats.org/drawingml/2006/main">
              <a:ext uri="{FF2B5EF4-FFF2-40B4-BE49-F238E27FC236}">
                <a16:creationId xmlns:a16="http://schemas.microsoft.com/office/drawing/2014/main" id="{58AA2BC3-6458-44E9-A7BE-B3187649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543300"/>
            <a:ext cx="19431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2" name="six-4a">
            <a:extLst xmlns:a="http://schemas.openxmlformats.org/drawingml/2006/main">
              <a:ext uri="{FF2B5EF4-FFF2-40B4-BE49-F238E27FC236}">
                <a16:creationId xmlns:a16="http://schemas.microsoft.com/office/drawing/2014/main" id="{27C98543-B173-4A6C-9C83-8F182270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686175"/>
            <a:ext cx="1676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共和国工业</a:t>
            </a:r>
          </a:p>
        </p:txBody>
      </p:sp>
      <p:sp>
        <p:nvSpPr>
          <p:cNvPr id="23" name="six-4b">
            <a:extLst xmlns:a="http://schemas.openxmlformats.org/drawingml/2006/main">
              <a:ext uri="{FF2B5EF4-FFF2-40B4-BE49-F238E27FC236}">
                <a16:creationId xmlns:a16="http://schemas.microsoft.com/office/drawing/2014/main" id="{0033CC9A-5040-426A-BCE3-D9E3BA78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962400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奠基地</a:t>
            </a:r>
          </a:p>
        </p:txBody>
      </p:sp>
      <p:sp>
        <p:nvSpPr>
          <p:cNvPr id="24" name="six-5">
            <a:extLst xmlns:a="http://schemas.openxmlformats.org/drawingml/2006/main">
              <a:ext uri="{FF2B5EF4-FFF2-40B4-BE49-F238E27FC236}">
                <a16:creationId xmlns:a16="http://schemas.microsoft.com/office/drawing/2014/main" id="{F5DA9991-E9CD-400E-9597-116EDC9C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543300"/>
            <a:ext cx="19431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5" name="six-5a">
            <a:extLst xmlns:a="http://schemas.openxmlformats.org/drawingml/2006/main">
              <a:ext uri="{FF2B5EF4-FFF2-40B4-BE49-F238E27FC236}">
                <a16:creationId xmlns:a16="http://schemas.microsoft.com/office/drawing/2014/main" id="{537C5708-8158-43C5-85DF-BBE47856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686175"/>
            <a:ext cx="1676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雷锋精神</a:t>
            </a:r>
          </a:p>
        </p:txBody>
      </p:sp>
      <p:sp>
        <p:nvSpPr>
          <p:cNvPr id="26" name="six-5b">
            <a:extLst xmlns:a="http://schemas.openxmlformats.org/drawingml/2006/main">
              <a:ext uri="{FF2B5EF4-FFF2-40B4-BE49-F238E27FC236}">
                <a16:creationId xmlns:a16="http://schemas.microsoft.com/office/drawing/2014/main" id="{BE38DC13-46EF-403D-B428-78EA9F44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962400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发祥地</a:t>
            </a:r>
          </a:p>
        </p:txBody>
      </p:sp>
      <p:sp>
        <p:nvSpPr>
          <p:cNvPr id="27" name="young-site">
            <a:extLst xmlns:a="http://schemas.openxmlformats.org/drawingml/2006/main">
              <a:ext uri="{FF2B5EF4-FFF2-40B4-BE49-F238E27FC236}">
                <a16:creationId xmlns:a16="http://schemas.microsoft.com/office/drawing/2014/main" id="{6F53BAD6-E980-449E-84DB-661787BF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33337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ite-title">
            <a:extLst xmlns:a="http://schemas.openxmlformats.org/drawingml/2006/main">
              <a:ext uri="{FF2B5EF4-FFF2-40B4-BE49-F238E27FC236}">
                <a16:creationId xmlns:a16="http://schemas.microsoft.com/office/drawing/2014/main" id="{19158260-2FF6-4662-9BD6-4181555F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4792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党员教育现场</a:t>
            </a:r>
          </a:p>
        </p:txBody>
      </p:sp>
      <p:sp>
        <p:nvSpPr>
          <p:cNvPr id="29" name="site-copy">
            <a:extLst xmlns:a="http://schemas.openxmlformats.org/drawingml/2006/main">
              <a:ext uri="{FF2B5EF4-FFF2-40B4-BE49-F238E27FC236}">
                <a16:creationId xmlns:a16="http://schemas.microsoft.com/office/drawing/2014/main" id="{4EE93A8A-018A-4455-BEDD-CBAAF5F9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765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650" b="0">
                <a:solidFill>
                  <a:srgbClr val="E2ED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2EDF7"/>
                </a:solidFill>
                <a:latin typeface="Microsoft YaHei"/>
                <a:ea typeface="Microsoft YaHei"/>
                <a:cs typeface="Microsoft YaHei"/>
              </a:rPr>
              <a:t>热爱辽宁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650" b="0">
                <a:solidFill>
                  <a:srgbClr val="E2ED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2EDF7"/>
                </a:solidFill>
                <a:latin typeface="Microsoft YaHei"/>
                <a:ea typeface="Microsoft YaHei"/>
                <a:cs typeface="Microsoft YaHei"/>
              </a:rPr>
              <a:t>扎根辽宁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650" b="0">
                <a:solidFill>
                  <a:srgbClr val="E2ED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2EDF7"/>
                </a:solidFill>
                <a:latin typeface="Microsoft YaHei"/>
                <a:ea typeface="Microsoft YaHei"/>
                <a:cs typeface="Microsoft YaHei"/>
              </a:rPr>
              <a:t>服务辽宁</a:t>
            </a:r>
          </a:p>
        </p:txBody>
      </p:sp>
      <p:sp>
        <p:nvSpPr>
          <p:cNvPr id="30" name="anchor">
            <a:extLst xmlns:a="http://schemas.openxmlformats.org/drawingml/2006/main">
              <a:ext uri="{FF2B5EF4-FFF2-40B4-BE49-F238E27FC236}">
                <a16:creationId xmlns:a16="http://schemas.microsoft.com/office/drawing/2014/main" id="{4E03E5C3-6A92-4714-8DDF-486B7B9C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004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3" name=""/>
          <p:cNvCxnSpPr>
            <a:stCxn xmlns:a="http://schemas.openxmlformats.org/drawingml/2006/main" id="30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V="1">
            <a:off x="7258050" y="3190875"/>
            <a:ext cx="933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headEnd type="arrow" w="sm" len="sm"/>
          </a:ln>
        </p:spPr>
      </p:cxnSp>
      <p:sp>
        <p:nvSpPr>
          <p:cNvPr id="32" name="bottom-note">
            <a:extLst xmlns:a="http://schemas.openxmlformats.org/drawingml/2006/main">
              <a:ext uri="{FF2B5EF4-FFF2-40B4-BE49-F238E27FC236}">
                <a16:creationId xmlns:a16="http://schemas.microsoft.com/office/drawing/2014/main" id="{48ACAD7F-505F-43DC-BC7A-40BAB3B9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768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把红色资源从“远方的故事”变成青年可以走近、走进、走完的教育路径。</a:t>
            </a:r>
          </a:p>
        </p:txBody>
      </p:sp>
    </p:spTree>
    <p:extLst>
      <p:ext uri="{BB962C8B-B14F-4D97-AF65-F5344CB8AC3E}">
        <p14:creationId xmlns:p14="http://schemas.microsoft.com/office/powerpoint/2010/main" val="16574327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666593F8-8DEF-4A52-9AF2-B32347F8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辽宁“六地”红色文化标识融入党员教育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0014F2-BFD4-4D11-8C45-136786E2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1+3+N 新矩阵，把教育拓展到全时全域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6BB75B2-4651-4500-A85F-3D9B919F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62025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4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2676DE9F-022D-496C-9C73-A89F1FEB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来源：分配稿《让“六地”红》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4CE3EEF-C00F-4315-BE86-C93B0E6B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lead">
            <a:extLst xmlns:a="http://schemas.openxmlformats.org/drawingml/2006/main">
              <a:ext uri="{FF2B5EF4-FFF2-40B4-BE49-F238E27FC236}">
                <a16:creationId xmlns:a16="http://schemas.microsoft.com/office/drawing/2014/main" id="{A426C976-D9DF-46EE-A271-9EEB9D5C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334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rPr>
              <a:t>一条研学链、三类青春课堂、N 个教育场景，共同重塑“五位一体”红色育人生态。</a:t>
            </a:r>
          </a:p>
        </p:txBody>
      </p:sp>
      <p:sp>
        <p:nvSpPr>
          <p:cNvPr id="7" name="matrix-center">
            <a:extLst xmlns:a="http://schemas.openxmlformats.org/drawingml/2006/main">
              <a:ext uri="{FF2B5EF4-FFF2-40B4-BE49-F238E27FC236}">
                <a16:creationId xmlns:a16="http://schemas.microsoft.com/office/drawing/2014/main" id="{E1D122D9-FC59-4B66-8320-B1299BBD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86000"/>
            <a:ext cx="240030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43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atrix-big">
            <a:extLst xmlns:a="http://schemas.openxmlformats.org/drawingml/2006/main">
              <a:ext uri="{FF2B5EF4-FFF2-40B4-BE49-F238E27FC236}">
                <a16:creationId xmlns:a16="http://schemas.microsoft.com/office/drawing/2014/main" id="{EF83814F-2401-4F1A-8266-E243EE4E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574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 + 3 + N</a:t>
            </a:r>
          </a:p>
        </p:txBody>
      </p:sp>
      <p:sp>
        <p:nvSpPr>
          <p:cNvPr id="9" name="matrix-small">
            <a:extLst xmlns:a="http://schemas.openxmlformats.org/drawingml/2006/main">
              <a:ext uri="{FF2B5EF4-FFF2-40B4-BE49-F238E27FC236}">
                <a16:creationId xmlns:a16="http://schemas.microsoft.com/office/drawing/2014/main" id="{7CFEDB39-B0AB-425F-96B4-4680F5F0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28950"/>
            <a:ext cx="198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rPr>
              <a:t>五位一体红色育人生态</a:t>
            </a:r>
          </a:p>
        </p:txBody>
      </p:sp>
      <p:sp>
        <p:nvSpPr>
          <p:cNvPr id="10" name="matrix-chain">
            <a:extLst xmlns:a="http://schemas.openxmlformats.org/drawingml/2006/main">
              <a:ext uri="{FF2B5EF4-FFF2-40B4-BE49-F238E27FC236}">
                <a16:creationId xmlns:a16="http://schemas.microsoft.com/office/drawing/2014/main" id="{F86730EB-7837-42DC-A34A-301C00B3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323850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1" name="chain-title">
            <a:extLst xmlns:a="http://schemas.openxmlformats.org/drawingml/2006/main">
              <a:ext uri="{FF2B5EF4-FFF2-40B4-BE49-F238E27FC236}">
                <a16:creationId xmlns:a16="http://schemas.microsoft.com/office/drawing/2014/main" id="{D33CB91A-93A3-4857-BF0B-8396FB30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0383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1 条研学链</a:t>
            </a:r>
          </a:p>
        </p:txBody>
      </p:sp>
      <p:sp>
        <p:nvSpPr>
          <p:cNvPr id="12" name="chain-copy">
            <a:extLst xmlns:a="http://schemas.openxmlformats.org/drawingml/2006/main">
              <a:ext uri="{FF2B5EF4-FFF2-40B4-BE49-F238E27FC236}">
                <a16:creationId xmlns:a16="http://schemas.microsoft.com/office/drawing/2014/main" id="{2344588A-DFA0-4B74-8557-DC37E45F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457450"/>
            <a:ext cx="2781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1 个校本基地（校史馆）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+ 6 处核心“六地”场馆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+ N 个配套教学点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绘制“红色足迹地图”</a:t>
            </a:r>
          </a:p>
        </p:txBody>
      </p:sp>
      <p:sp>
        <p:nvSpPr>
          <p:cNvPr id="13" name="matrix-classes">
            <a:extLst xmlns:a="http://schemas.openxmlformats.org/drawingml/2006/main">
              <a:ext uri="{FF2B5EF4-FFF2-40B4-BE49-F238E27FC236}">
                <a16:creationId xmlns:a16="http://schemas.microsoft.com/office/drawing/2014/main" id="{59E376F8-3435-46A7-A80F-EA1BD478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23850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4" name="classes-title">
            <a:extLst xmlns:a="http://schemas.openxmlformats.org/drawingml/2006/main">
              <a:ext uri="{FF2B5EF4-FFF2-40B4-BE49-F238E27FC236}">
                <a16:creationId xmlns:a16="http://schemas.microsoft.com/office/drawing/2014/main" id="{EC92B034-D06D-48E6-AEC7-46994087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0502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3 类青春课堂</a:t>
            </a:r>
          </a:p>
        </p:txBody>
      </p:sp>
      <p:sp>
        <p:nvSpPr>
          <p:cNvPr id="15" name="classes-copy">
            <a:extLst xmlns:a="http://schemas.openxmlformats.org/drawingml/2006/main">
              <a:ext uri="{FF2B5EF4-FFF2-40B4-BE49-F238E27FC236}">
                <a16:creationId xmlns:a16="http://schemas.microsoft.com/office/drawing/2014/main" id="{7B1E8177-EA97-472D-8A15-E3A21765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62225"/>
            <a:ext cx="2781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行走课堂：红色研学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沉浸课堂：VR 党课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互动课堂：青春宣讲</a:t>
            </a:r>
          </a:p>
        </p:txBody>
      </p:sp>
      <p:sp>
        <p:nvSpPr>
          <p:cNvPr id="16" name="matrix-scenes">
            <a:extLst xmlns:a="http://schemas.openxmlformats.org/drawingml/2006/main">
              <a:ext uri="{FF2B5EF4-FFF2-40B4-BE49-F238E27FC236}">
                <a16:creationId xmlns:a16="http://schemas.microsoft.com/office/drawing/2014/main" id="{F02FC0B0-4953-4CF2-9610-9CAAFA23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240030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7" name="scenes-title">
            <a:extLst xmlns:a="http://schemas.openxmlformats.org/drawingml/2006/main">
              <a:ext uri="{FF2B5EF4-FFF2-40B4-BE49-F238E27FC236}">
                <a16:creationId xmlns:a16="http://schemas.microsoft.com/office/drawing/2014/main" id="{F79A7526-1C0E-4F2C-85BD-6FD85CD4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41960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N 个党员教育场景</a:t>
            </a:r>
          </a:p>
        </p:txBody>
      </p:sp>
      <p:sp>
        <p:nvSpPr>
          <p:cNvPr id="18" name="scenes-copy">
            <a:extLst xmlns:a="http://schemas.openxmlformats.org/drawingml/2006/main">
              <a:ext uri="{FF2B5EF4-FFF2-40B4-BE49-F238E27FC236}">
                <a16:creationId xmlns:a16="http://schemas.microsoft.com/office/drawing/2014/main" id="{819F0789-E43E-4BA5-B0A8-D3B36FD2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829175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校地 · 校企 · 校校党建联建</a:t>
            </a:r>
          </a:p>
        </p:txBody>
      </p:sp>
      <p:cxnSp>
        <p:nvCxnSpPr>
          <p:cNvPr id="41" name=""/>
          <p:cNvCxnSpPr>
            <a:stCxn xmlns:a="http://schemas.openxmlformats.org/drawingml/2006/main" id="10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762375" y="2809875"/>
            <a:ext cx="1133475" cy="76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8FB1"/>
            </a:solidFill>
            <a:prstDash val="solid"/>
            <a:headEnd type="arrow" w="sm" len="sm"/>
          </a:ln>
        </p:spPr>
      </p:cxnSp>
      <p:cxnSp>
        <p:nvCxnSpPr>
          <p:cNvPr id="42" name=""/>
          <p:cNvCxnSpPr>
            <a:stCxn xmlns:a="http://schemas.openxmlformats.org/drawingml/2006/main" id="13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7296150" y="2809875"/>
            <a:ext cx="99060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8FB1"/>
            </a:solidFill>
            <a:prstDash val="solid"/>
            <a:headEnd type="arrow" w="sm" len="sm"/>
          </a:ln>
        </p:spPr>
      </p:cxnSp>
      <p:cxnSp>
        <p:nvCxnSpPr>
          <p:cNvPr id="43" name=""/>
          <p:cNvCxnSpPr>
            <a:stCxn xmlns:a="http://schemas.openxmlformats.org/drawingml/2006/main" id="7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6096000" y="3486150"/>
            <a:ext cx="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8FB1"/>
            </a:solidFill>
            <a:prstDash val="solid"/>
            <a:headEnd type="arrow" w="sm" len="sm"/>
          </a:ln>
        </p:spPr>
      </p:cxnSp>
      <p:sp>
        <p:nvSpPr>
          <p:cNvPr id="22" name="bottom-note">
            <a:extLst xmlns:a="http://schemas.openxmlformats.org/drawingml/2006/main">
              <a:ext uri="{FF2B5EF4-FFF2-40B4-BE49-F238E27FC236}">
                <a16:creationId xmlns:a16="http://schemas.microsoft.com/office/drawing/2014/main" id="{2870F645-19B9-44BF-853D-2E54C17E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1+6+N 是研学链内部路线设计；1+3+N 是全稿矩阵层级，口径保持分明。</a:t>
            </a:r>
          </a:p>
        </p:txBody>
      </p:sp>
    </p:spTree>
    <p:extLst>
      <p:ext uri="{BB962C8B-B14F-4D97-AF65-F5344CB8AC3E}">
        <p14:creationId xmlns:p14="http://schemas.microsoft.com/office/powerpoint/2010/main" val="17908342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">
            <a:extLst xmlns:a="http://schemas.openxmlformats.org/drawingml/2006/main">
              <a:ext uri="{FF2B5EF4-FFF2-40B4-BE49-F238E27FC236}">
                <a16:creationId xmlns:a16="http://schemas.microsoft.com/office/drawing/2014/main" id="{BCE645D6-B04E-4F36-A36F-FABEE4D9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辽宁“六地”红色文化标识融入党员教育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FF67D3C-6B0D-4840-8F49-B6A43405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红色任务单，把行走党课变成专业担当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7135A97-5A4D-4D4A-9128-7A6F4CCD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62025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4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157A6652-9F73-46A3-8D35-B96A40FF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来源：分配稿《让“六地”红》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DBDE8D3-91F9-4055-9B55-0EE6C63E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lead">
            <a:extLst xmlns:a="http://schemas.openxmlformats.org/drawingml/2006/main">
              <a:ext uri="{FF2B5EF4-FFF2-40B4-BE49-F238E27FC236}">
                <a16:creationId xmlns:a16="http://schemas.microsoft.com/office/drawing/2014/main" id="{9CA90FA0-1D9E-4F85-B130-17DA578C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334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rPr>
              <a:t>任务单不是打卡清单，而是“把自己、工作、职责摆进去”的三摆三写军令状。</a:t>
            </a:r>
          </a:p>
        </p:txBody>
      </p:sp>
      <p:sp>
        <p:nvSpPr>
          <p:cNvPr id="7" name="task-a">
            <a:extLst xmlns:a="http://schemas.openxmlformats.org/drawingml/2006/main">
              <a:ext uri="{FF2B5EF4-FFF2-40B4-BE49-F238E27FC236}">
                <a16:creationId xmlns:a16="http://schemas.microsoft.com/office/drawing/2014/main" id="{2187E430-CA0E-4B88-BF76-47D9D5A8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90750"/>
            <a:ext cx="28575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8" name="task-b">
            <a:extLst xmlns:a="http://schemas.openxmlformats.org/drawingml/2006/main">
              <a:ext uri="{FF2B5EF4-FFF2-40B4-BE49-F238E27FC236}">
                <a16:creationId xmlns:a16="http://schemas.microsoft.com/office/drawing/2014/main" id="{2766691C-2510-4688-9ADC-C6B871EC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90750"/>
            <a:ext cx="28575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9" name="task-c">
            <a:extLst xmlns:a="http://schemas.openxmlformats.org/drawingml/2006/main">
              <a:ext uri="{FF2B5EF4-FFF2-40B4-BE49-F238E27FC236}">
                <a16:creationId xmlns:a16="http://schemas.microsoft.com/office/drawing/2014/main" id="{C6D0D1FC-A419-4F17-B3F9-12E38D14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90750"/>
            <a:ext cx="28575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0" name="task-d">
            <a:extLst xmlns:a="http://schemas.openxmlformats.org/drawingml/2006/main">
              <a:ext uri="{FF2B5EF4-FFF2-40B4-BE49-F238E27FC236}">
                <a16:creationId xmlns:a16="http://schemas.microsoft.com/office/drawing/2014/main" id="{64CC9781-A6CC-4FB5-AB85-5BC964E3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90750"/>
            <a:ext cx="1476375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43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sk-a-t">
            <a:extLst xmlns:a="http://schemas.openxmlformats.org/drawingml/2006/main">
              <a:ext uri="{FF2B5EF4-FFF2-40B4-BE49-F238E27FC236}">
                <a16:creationId xmlns:a16="http://schemas.microsoft.com/office/drawing/2014/main" id="{F9450062-AF49-4568-9979-AB5FB900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146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拍一段“青声说史”</a:t>
            </a:r>
          </a:p>
        </p:txBody>
      </p:sp>
      <p:sp>
        <p:nvSpPr>
          <p:cNvPr id="12" name="task-b-t">
            <a:extLst xmlns:a="http://schemas.openxmlformats.org/drawingml/2006/main">
              <a:ext uri="{FF2B5EF4-FFF2-40B4-BE49-F238E27FC236}">
                <a16:creationId xmlns:a16="http://schemas.microsoft.com/office/drawing/2014/main" id="{0A312DD1-158D-49FF-B511-C49DC3BF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5146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解决一个“微难题”</a:t>
            </a:r>
          </a:p>
        </p:txBody>
      </p:sp>
      <p:sp>
        <p:nvSpPr>
          <p:cNvPr id="13" name="task-c-t">
            <a:extLst xmlns:a="http://schemas.openxmlformats.org/drawingml/2006/main">
              <a:ext uri="{FF2B5EF4-FFF2-40B4-BE49-F238E27FC236}">
                <a16:creationId xmlns:a16="http://schemas.microsoft.com/office/drawing/2014/main" id="{F2988CA1-C744-4445-8374-70E4A210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146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带回一个“振兴微课题”</a:t>
            </a:r>
          </a:p>
        </p:txBody>
      </p:sp>
      <p:sp>
        <p:nvSpPr>
          <p:cNvPr id="14" name="task-d-t">
            <a:extLst xmlns:a="http://schemas.openxmlformats.org/drawingml/2006/main">
              <a:ext uri="{FF2B5EF4-FFF2-40B4-BE49-F238E27FC236}">
                <a16:creationId xmlns:a16="http://schemas.microsoft.com/office/drawing/2014/main" id="{98A3555A-14D7-47F6-8FFD-9832519C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419350"/>
            <a:ext cx="1085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专业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担当</a:t>
            </a:r>
          </a:p>
        </p:txBody>
      </p:sp>
      <p:cxnSp>
        <p:nvCxnSpPr>
          <p:cNvPr id="4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381375" y="272415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5F91"/>
            </a:solidFill>
            <a:prstDash val="solid"/>
            <a:headEnd type="arrow" w="sm" len="sm"/>
          </a:ln>
        </p:spPr>
      </p:cxnSp>
      <p:cxnSp>
        <p:nvCxnSpPr>
          <p:cNvPr id="4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553200" y="27241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5F91"/>
            </a:solidFill>
            <a:prstDash val="solid"/>
            <a:headEnd type="arrow" w="sm" len="sm"/>
          </a:ln>
        </p:spPr>
      </p:cxnSp>
      <p:cxnSp>
        <p:nvCxnSpPr>
          <p:cNvPr id="44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753600" y="27241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5F91"/>
            </a:solidFill>
            <a:prstDash val="solid"/>
            <a:headEnd type="arrow" w="sm" len="sm"/>
          </a:ln>
        </p:spPr>
      </p:cxnSp>
      <p:sp>
        <p:nvSpPr>
          <p:cNvPr id="18" name="triad-title">
            <a:extLst xmlns:a="http://schemas.openxmlformats.org/drawingml/2006/main">
              <a:ext uri="{FF2B5EF4-FFF2-40B4-BE49-F238E27FC236}">
                <a16:creationId xmlns:a16="http://schemas.microsoft.com/office/drawing/2014/main" id="{B32B9868-42A0-4605-9728-FAE01E77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814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三摆三写</a:t>
            </a:r>
          </a:p>
        </p:txBody>
      </p:sp>
      <p:sp>
        <p:nvSpPr>
          <p:cNvPr id="19" name="triad">
            <a:extLst xmlns:a="http://schemas.openxmlformats.org/drawingml/2006/main">
              <a:ext uri="{FF2B5EF4-FFF2-40B4-BE49-F238E27FC236}">
                <a16:creationId xmlns:a16="http://schemas.microsoft.com/office/drawing/2014/main" id="{3D3273B0-E432-46C7-ADE8-F74B4B49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81475"/>
            <a:ext cx="66103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0" name="triad-copy">
            <a:extLst xmlns:a="http://schemas.openxmlformats.org/drawingml/2006/main">
              <a:ext uri="{FF2B5EF4-FFF2-40B4-BE49-F238E27FC236}">
                <a16:creationId xmlns:a16="http://schemas.microsoft.com/office/drawing/2014/main" id="{225BFD28-1D2A-4F2C-B57A-FF1A109B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362450"/>
            <a:ext cx="609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把自己摆进去 → 写青春誓言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把工作摆进去 → 写专业方案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把职责摆进去 → 写振兴答卷</a:t>
            </a:r>
          </a:p>
        </p:txBody>
      </p:sp>
      <p:sp>
        <p:nvSpPr>
          <p:cNvPr id="21" name="task-metric-surface">
            <a:extLst xmlns:a="http://schemas.openxmlformats.org/drawingml/2006/main">
              <a:ext uri="{FF2B5EF4-FFF2-40B4-BE49-F238E27FC236}">
                <a16:creationId xmlns:a16="http://schemas.microsoft.com/office/drawing/2014/main" id="{8EDD8CD7-CE17-4CE0-BBBA-7C8AA45D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81425"/>
            <a:ext cx="1619250" cy="1485900"/>
          </a:xfrm>
          <a:prstGeom xmlns:a="http://schemas.openxmlformats.org/drawingml/2006/main" prst="roundRect">
            <a:avLst>
              <a:gd name="adj" fmla="val 641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2" name="task-metric-value">
            <a:extLst xmlns:a="http://schemas.openxmlformats.org/drawingml/2006/main">
              <a:ext uri="{FF2B5EF4-FFF2-40B4-BE49-F238E27FC236}">
                <a16:creationId xmlns:a16="http://schemas.microsoft.com/office/drawing/2014/main" id="{AC1B6CB1-7916-49B8-927A-437151BA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05250"/>
            <a:ext cx="135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26 项</a:t>
            </a:r>
          </a:p>
        </p:txBody>
      </p:sp>
      <p:sp>
        <p:nvSpPr>
          <p:cNvPr id="23" name="task-metric-label">
            <a:extLst xmlns:a="http://schemas.openxmlformats.org/drawingml/2006/main">
              <a:ext uri="{FF2B5EF4-FFF2-40B4-BE49-F238E27FC236}">
                <a16:creationId xmlns:a16="http://schemas.microsoft.com/office/drawing/2014/main" id="{96AD7531-C29D-4818-99E1-FB2F5D87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43400"/>
            <a:ext cx="13525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微课题被多地“揭榜挂帅”</a:t>
            </a:r>
          </a:p>
        </p:txBody>
      </p:sp>
      <p:sp>
        <p:nvSpPr>
          <p:cNvPr id="24" name="task-metric2-surface">
            <a:extLst xmlns:a="http://schemas.openxmlformats.org/drawingml/2006/main">
              <a:ext uri="{FF2B5EF4-FFF2-40B4-BE49-F238E27FC236}">
                <a16:creationId xmlns:a16="http://schemas.microsoft.com/office/drawing/2014/main" id="{0690E0C1-A0B3-4CB2-9CFA-B4716269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781425"/>
            <a:ext cx="1619250" cy="1485900"/>
          </a:xfrm>
          <a:prstGeom xmlns:a="http://schemas.openxmlformats.org/drawingml/2006/main" prst="roundRect">
            <a:avLst>
              <a:gd name="adj" fmla="val 641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5" name="task-metric2-value">
            <a:extLst xmlns:a="http://schemas.openxmlformats.org/drawingml/2006/main">
              <a:ext uri="{FF2B5EF4-FFF2-40B4-BE49-F238E27FC236}">
                <a16:creationId xmlns:a16="http://schemas.microsoft.com/office/drawing/2014/main" id="{B44BDFB4-4BA9-48D7-AE63-70C8C1D7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905250"/>
            <a:ext cx="135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8 家</a:t>
            </a:r>
          </a:p>
        </p:txBody>
      </p:sp>
      <p:sp>
        <p:nvSpPr>
          <p:cNvPr id="26" name="task-metric2-label">
            <a:extLst xmlns:a="http://schemas.openxmlformats.org/drawingml/2006/main">
              <a:ext uri="{FF2B5EF4-FFF2-40B4-BE49-F238E27FC236}">
                <a16:creationId xmlns:a16="http://schemas.microsoft.com/office/drawing/2014/main" id="{7FCDAC5F-29E6-4486-AE9D-52A9C8F0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343400"/>
            <a:ext cx="13525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企业当场“收货”</a:t>
            </a:r>
          </a:p>
        </p:txBody>
      </p:sp>
      <p:sp>
        <p:nvSpPr>
          <p:cNvPr id="27" name="task-note">
            <a:extLst xmlns:a="http://schemas.openxmlformats.org/drawingml/2006/main">
              <a:ext uri="{FF2B5EF4-FFF2-40B4-BE49-F238E27FC236}">
                <a16:creationId xmlns:a16="http://schemas.microsoft.com/office/drawing/2014/main" id="{95AF2F99-23CA-42E7-9C3A-ADE91117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rPr>
              <a:t>算法、图纸、代码，都是青年党员可以扛起的时代订单。</a:t>
            </a:r>
          </a:p>
        </p:txBody>
      </p:sp>
    </p:spTree>
    <p:extLst>
      <p:ext uri="{BB962C8B-B14F-4D97-AF65-F5344CB8AC3E}">
        <p14:creationId xmlns:p14="http://schemas.microsoft.com/office/powerpoint/2010/main" val="16230683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036FE9A9-F879-4C4D-816D-B647F56F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辽宁“六地”红色文化标识融入党员教育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68C7B32-05D3-4683-B5D0-0460BFAD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VR 基地，把 22 处旧址变成可进入的沉浸课堂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853080E-19CE-4540-853F-0A3EC89D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62025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4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3A8703CA-8DC5-4F1F-ACC0-82823EF9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来源：分配稿《让“六地”红》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5D6830F-14CB-458E-8395-4A432240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lead">
            <a:extLst xmlns:a="http://schemas.openxmlformats.org/drawingml/2006/main">
              <a:ext uri="{FF2B5EF4-FFF2-40B4-BE49-F238E27FC236}">
                <a16:creationId xmlns:a16="http://schemas.microsoft.com/office/drawing/2014/main" id="{6DF59D8E-B865-48A8-9A54-20054BC8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334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rPr>
              <a:t>全景数据、VR 党课与示范基地，让“一屏百年”成为可预约、可复用的教育体验。</a:t>
            </a:r>
          </a:p>
        </p:txBody>
      </p:sp>
      <p:sp>
        <p:nvSpPr>
          <p:cNvPr id="7" name="vr-source">
            <a:extLst xmlns:a="http://schemas.openxmlformats.org/drawingml/2006/main">
              <a:ext uri="{FF2B5EF4-FFF2-40B4-BE49-F238E27FC236}">
                <a16:creationId xmlns:a16="http://schemas.microsoft.com/office/drawing/2014/main" id="{11C63772-EC48-46DA-B495-E15F24D3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33600"/>
            <a:ext cx="2381250" cy="1676400"/>
          </a:xfrm>
          <a:prstGeom xmlns:a="http://schemas.openxmlformats.org/drawingml/2006/main" prst="roundRect">
            <a:avLst>
              <a:gd name="adj" fmla="val 795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8" name="vr-source-num">
            <a:extLst xmlns:a="http://schemas.openxmlformats.org/drawingml/2006/main">
              <a:ext uri="{FF2B5EF4-FFF2-40B4-BE49-F238E27FC236}">
                <a16:creationId xmlns:a16="http://schemas.microsoft.com/office/drawing/2014/main" id="{D9A55132-90CB-4603-B6BD-97B17474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90775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9" name="vr-source-label">
            <a:extLst xmlns:a="http://schemas.openxmlformats.org/drawingml/2006/main">
              <a:ext uri="{FF2B5EF4-FFF2-40B4-BE49-F238E27FC236}">
                <a16:creationId xmlns:a16="http://schemas.microsoft.com/office/drawing/2014/main" id="{3C9B8579-BB73-43DC-BDAF-8BFDEAD1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处“六地”旧址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全景数据</a:t>
            </a:r>
          </a:p>
        </p:txBody>
      </p:sp>
      <p:sp>
        <p:nvSpPr>
          <p:cNvPr id="10" name="vr-core">
            <a:extLst xmlns:a="http://schemas.openxmlformats.org/drawingml/2006/main">
              <a:ext uri="{FF2B5EF4-FFF2-40B4-BE49-F238E27FC236}">
                <a16:creationId xmlns:a16="http://schemas.microsoft.com/office/drawing/2014/main" id="{CE210EF3-91C6-4D9B-B40F-F7CDD464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24050"/>
            <a:ext cx="32385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243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vr-core-title">
            <a:extLst xmlns:a="http://schemas.openxmlformats.org/drawingml/2006/main">
              <a:ext uri="{FF2B5EF4-FFF2-40B4-BE49-F238E27FC236}">
                <a16:creationId xmlns:a16="http://schemas.microsoft.com/office/drawing/2014/main" id="{BBB50771-43BF-4A66-BEC2-A89FA4DB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241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沉浸课堂</a:t>
            </a:r>
          </a:p>
        </p:txBody>
      </p:sp>
      <p:sp>
        <p:nvSpPr>
          <p:cNvPr id="12" name="vr-core-copy">
            <a:extLst xmlns:a="http://schemas.openxmlformats.org/drawingml/2006/main">
              <a:ext uri="{FF2B5EF4-FFF2-40B4-BE49-F238E27FC236}">
                <a16:creationId xmlns:a16="http://schemas.microsoft.com/office/drawing/2014/main" id="{086C6556-2141-46C7-8965-EADACC76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527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650" b="0">
                <a:solidFill>
                  <a:srgbClr val="E0EB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0EBF7"/>
                </a:solidFill>
                <a:latin typeface="Microsoft YaHei"/>
                <a:ea typeface="Microsoft YaHei"/>
                <a:cs typeface="Microsoft YaHei"/>
              </a:rPr>
              <a:t>7 门红色 VR 党课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650" b="0">
                <a:solidFill>
                  <a:srgbClr val="E0EB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0EBF7"/>
                </a:solidFill>
                <a:latin typeface="Microsoft YaHei"/>
                <a:ea typeface="Microsoft YaHei"/>
                <a:cs typeface="Microsoft YaHei"/>
              </a:rPr>
              <a:t>一键穿越 · 一屏百年</a:t>
            </a:r>
          </a:p>
        </p:txBody>
      </p:sp>
      <p:sp>
        <p:nvSpPr>
          <p:cNvPr id="13" name="vr-use">
            <a:extLst xmlns:a="http://schemas.openxmlformats.org/drawingml/2006/main">
              <a:ext uri="{FF2B5EF4-FFF2-40B4-BE49-F238E27FC236}">
                <a16:creationId xmlns:a16="http://schemas.microsoft.com/office/drawing/2014/main" id="{F3075E04-472A-4F34-8CC3-D02917B7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33600"/>
            <a:ext cx="3714750" cy="1676400"/>
          </a:xfrm>
          <a:prstGeom xmlns:a="http://schemas.openxmlformats.org/drawingml/2006/main" prst="roundRect">
            <a:avLst>
              <a:gd name="adj" fmla="val 7955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4" name="vr-use-title">
            <a:extLst xmlns:a="http://schemas.openxmlformats.org/drawingml/2006/main">
              <a:ext uri="{FF2B5EF4-FFF2-40B4-BE49-F238E27FC236}">
                <a16:creationId xmlns:a16="http://schemas.microsoft.com/office/drawing/2014/main" id="{1F7F4D4C-A70F-4779-BA0B-DD5A6D91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003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被真实使用的基地</a:t>
            </a:r>
          </a:p>
        </p:txBody>
      </p:sp>
      <p:sp>
        <p:nvSpPr>
          <p:cNvPr id="15" name="vr-use-copy">
            <a:extLst xmlns:a="http://schemas.openxmlformats.org/drawingml/2006/main">
              <a:ext uri="{FF2B5EF4-FFF2-40B4-BE49-F238E27FC236}">
                <a16:creationId xmlns:a16="http://schemas.microsoft.com/office/drawing/2014/main" id="{C5130D7E-BB92-4B36-9F4F-14E1F972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8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170 个省内外支部预约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8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2400 余名党员体验</a:t>
            </a:r>
          </a:p>
        </p:txBody>
      </p: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905125" y="297180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F8FB1"/>
            </a:solidFill>
            <a:prstDash val="solid"/>
            <a:headEnd type="arrow" w="sm" len="sm"/>
          </a:ln>
        </p:spPr>
      </p:cxnSp>
      <p:cxnSp>
        <p:nvCxnSpPr>
          <p:cNvPr id="37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953250" y="29718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F8FB1"/>
            </a:solidFill>
            <a:prstDash val="solid"/>
            <a:headEnd type="arrow" w="sm" len="sm"/>
          </a:ln>
        </p:spPr>
      </p:cxnSp>
      <p:sp>
        <p:nvSpPr>
          <p:cNvPr id="18" name="vr-awards">
            <a:extLst xmlns:a="http://schemas.openxmlformats.org/drawingml/2006/main">
              <a:ext uri="{FF2B5EF4-FFF2-40B4-BE49-F238E27FC236}">
                <a16:creationId xmlns:a16="http://schemas.microsoft.com/office/drawing/2014/main" id="{D6909B07-BC78-4190-AE8C-FC91A419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05325"/>
            <a:ext cx="11049000" cy="762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9" name="vr-awards-copy">
            <a:extLst xmlns:a="http://schemas.openxmlformats.org/drawingml/2006/main">
              <a:ext uri="{FF2B5EF4-FFF2-40B4-BE49-F238E27FC236}">
                <a16:creationId xmlns:a16="http://schemas.microsoft.com/office/drawing/2014/main" id="{757CEA9A-940A-4F41-BDA8-FA8DE064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4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省党员教育培训示范基地  ·  省高校基层党建创新一等奖  ·  获中组部组织二局、教育部教师工作司负责同志肯定</a:t>
            </a:r>
          </a:p>
        </p:txBody>
      </p:sp>
      <p:sp>
        <p:nvSpPr>
          <p:cNvPr id="20" name="vr-note">
            <a:extLst xmlns:a="http://schemas.openxmlformats.org/drawingml/2006/main">
              <a:ext uri="{FF2B5EF4-FFF2-40B4-BE49-F238E27FC236}">
                <a16:creationId xmlns:a16="http://schemas.microsoft.com/office/drawing/2014/main" id="{EBD83328-D6FE-440A-BB64-8DD7EAD0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rPr>
              <a:t>技术在这里承担的是“进入现场”的教育职责。</a:t>
            </a:r>
          </a:p>
        </p:txBody>
      </p:sp>
    </p:spTree>
    <p:extLst>
      <p:ext uri="{BB962C8B-B14F-4D97-AF65-F5344CB8AC3E}">
        <p14:creationId xmlns:p14="http://schemas.microsoft.com/office/powerpoint/2010/main" val="16910123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F2298706-BFF7-4526-B22F-CEDB6FF7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辽宁“六地”红色文化标识融入党员教育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E2728BC-8301-431F-956D-CF5408E4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青年讲、青年听、青年信，让理论走出校园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DDD572C-6A5E-4225-9226-1372D066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62025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4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17130D69-A507-4520-84F8-39072DDA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来源：分配稿《让“六地”红》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74F493D-09BA-4FC7-A836-25F3816F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lead">
            <a:extLst xmlns:a="http://schemas.openxmlformats.org/drawingml/2006/main">
              <a:ext uri="{FF2B5EF4-FFF2-40B4-BE49-F238E27FC236}">
                <a16:creationId xmlns:a16="http://schemas.microsoft.com/office/drawing/2014/main" id="{8EF1B378-B157-4B80-BB9E-76869A7F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334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rPr>
              <a:t>博士、硕士、本科混编，把“六地”精神改写为青年愿意进入的互动课堂。</a:t>
            </a:r>
          </a:p>
        </p:txBody>
      </p:sp>
      <p:sp>
        <p:nvSpPr>
          <p:cNvPr id="7" name="speak-team">
            <a:extLst xmlns:a="http://schemas.openxmlformats.org/drawingml/2006/main">
              <a:ext uri="{FF2B5EF4-FFF2-40B4-BE49-F238E27FC236}">
                <a16:creationId xmlns:a16="http://schemas.microsoft.com/office/drawing/2014/main" id="{DAE95A2E-5156-4A2D-9521-2B537552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33600"/>
            <a:ext cx="2571750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8" name="speak-team-num">
            <a:extLst xmlns:a="http://schemas.openxmlformats.org/drawingml/2006/main">
              <a:ext uri="{FF2B5EF4-FFF2-40B4-BE49-F238E27FC236}">
                <a16:creationId xmlns:a16="http://schemas.microsoft.com/office/drawing/2014/main" id="{A34B849F-5806-4565-A98D-623A34BD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86025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32 人</a:t>
            </a:r>
          </a:p>
        </p:txBody>
      </p:sp>
      <p:sp>
        <p:nvSpPr>
          <p:cNvPr id="9" name="speak-team-label">
            <a:extLst xmlns:a="http://schemas.openxmlformats.org/drawingml/2006/main">
              <a:ext uri="{FF2B5EF4-FFF2-40B4-BE49-F238E27FC236}">
                <a16:creationId xmlns:a16="http://schemas.microsoft.com/office/drawing/2014/main" id="{E0E8285F-5C7A-47E2-B3FA-A7CFB7FA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67050"/>
            <a:ext cx="2152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博士 · 硕士 · 本科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混编梯队</a:t>
            </a:r>
          </a:p>
        </p:txBody>
      </p:sp>
      <p:sp>
        <p:nvSpPr>
          <p:cNvPr id="10" name="speak-course">
            <a:extLst xmlns:a="http://schemas.openxmlformats.org/drawingml/2006/main">
              <a:ext uri="{FF2B5EF4-FFF2-40B4-BE49-F238E27FC236}">
                <a16:creationId xmlns:a16="http://schemas.microsoft.com/office/drawing/2014/main" id="{A717FD2D-EA24-49DB-9C9D-974E6FDF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24050"/>
            <a:ext cx="3333750" cy="21336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43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peak-course-title">
            <a:extLst xmlns:a="http://schemas.openxmlformats.org/drawingml/2006/main">
              <a:ext uri="{FF2B5EF4-FFF2-40B4-BE49-F238E27FC236}">
                <a16:creationId xmlns:a16="http://schemas.microsoft.com/office/drawing/2014/main" id="{6C5B8EB5-BB16-4603-B40D-FC8954AA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3812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 类互动课件</a:t>
            </a:r>
          </a:p>
        </p:txBody>
      </p:sp>
      <p:sp>
        <p:nvSpPr>
          <p:cNvPr id="12" name="speak-course-copy">
            <a:extLst xmlns:a="http://schemas.openxmlformats.org/drawingml/2006/main">
              <a:ext uri="{FF2B5EF4-FFF2-40B4-BE49-F238E27FC236}">
                <a16:creationId xmlns:a16="http://schemas.microsoft.com/office/drawing/2014/main" id="{1BCAB58F-3C4A-41EE-8C56-E02A87A9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038475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0">
                <a:solidFill>
                  <a:srgbClr val="E0EB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E0EBF7"/>
                </a:solidFill>
                <a:latin typeface="Microsoft YaHei"/>
                <a:ea typeface="Microsoft YaHei"/>
                <a:cs typeface="Microsoft YaHei"/>
              </a:rPr>
              <a:t>沉浸式故事 · 情景短剧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75" b="0">
                <a:solidFill>
                  <a:srgbClr val="E0EB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E0EBF7"/>
                </a:solidFill>
                <a:latin typeface="Microsoft YaHei"/>
                <a:ea typeface="Microsoft YaHei"/>
                <a:cs typeface="Microsoft YaHei"/>
              </a:rPr>
              <a:t>红色闯关 · 青春语态重构</a:t>
            </a:r>
          </a:p>
        </p:txBody>
      </p:sp>
      <p:sp>
        <p:nvSpPr>
          <p:cNvPr id="13" name="speak-reach">
            <a:extLst xmlns:a="http://schemas.openxmlformats.org/drawingml/2006/main">
              <a:ext uri="{FF2B5EF4-FFF2-40B4-BE49-F238E27FC236}">
                <a16:creationId xmlns:a16="http://schemas.microsoft.com/office/drawing/2014/main" id="{3583B4A3-C6F2-4F08-BFAB-2F2E756B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33600"/>
            <a:ext cx="3619500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4" name="speak-reach-num">
            <a:extLst xmlns:a="http://schemas.openxmlformats.org/drawingml/2006/main">
              <a:ext uri="{FF2B5EF4-FFF2-40B4-BE49-F238E27FC236}">
                <a16:creationId xmlns:a16="http://schemas.microsoft.com/office/drawing/2014/main" id="{5B98F790-66D1-4C89-86DE-F0760A53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66975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36 场</a:t>
            </a:r>
          </a:p>
        </p:txBody>
      </p:sp>
      <p:sp>
        <p:nvSpPr>
          <p:cNvPr id="15" name="speak-reach-label">
            <a:extLst xmlns:a="http://schemas.openxmlformats.org/drawingml/2006/main">
              <a:ext uri="{FF2B5EF4-FFF2-40B4-BE49-F238E27FC236}">
                <a16:creationId xmlns:a16="http://schemas.microsoft.com/office/drawing/2014/main" id="{5F751C8E-5EB8-47A5-A284-B347AB8F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575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进校园 · 进社区 · 进企业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覆盖师生群众 3800 多人</a:t>
            </a:r>
          </a:p>
        </p:txBody>
      </p: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095625" y="2990850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F8FB1"/>
            </a:solidFill>
            <a:prstDash val="solid"/>
            <a:headEnd type="arrow" w="sm" len="sm"/>
          </a:ln>
        </p:spPr>
      </p:cxnSp>
      <p:cxnSp>
        <p:nvCxnSpPr>
          <p:cNvPr id="37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067550" y="2990850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F8FB1"/>
            </a:solidFill>
            <a:prstDash val="solid"/>
            <a:headEnd type="arrow" w="sm" len="sm"/>
          </a:ln>
        </p:spPr>
      </p:cxnSp>
      <p:sp>
        <p:nvSpPr>
          <p:cNvPr id="18" name="speak-award">
            <a:extLst xmlns:a="http://schemas.openxmlformats.org/drawingml/2006/main">
              <a:ext uri="{FF2B5EF4-FFF2-40B4-BE49-F238E27FC236}">
                <a16:creationId xmlns:a16="http://schemas.microsoft.com/office/drawing/2014/main" id="{3D7A9E1F-31EF-42E0-8D35-CF2A05F4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33900"/>
            <a:ext cx="110490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9" name="speak-award-copy">
            <a:extLst xmlns:a="http://schemas.openxmlformats.org/drawingml/2006/main">
              <a:ext uri="{FF2B5EF4-FFF2-40B4-BE49-F238E27FC236}">
                <a16:creationId xmlns:a16="http://schemas.microsoft.com/office/drawing/2014/main" id="{B1342A22-87C3-4CFF-A328-3D626F1C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33925"/>
            <a:ext cx="1062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获评“辽宁省大学生红色理论宣讲团”</a:t>
            </a:r>
          </a:p>
        </p:txBody>
      </p:sp>
      <p:sp>
        <p:nvSpPr>
          <p:cNvPr id="20" name="speak-note">
            <a:extLst xmlns:a="http://schemas.openxmlformats.org/drawingml/2006/main">
              <a:ext uri="{FF2B5EF4-FFF2-40B4-BE49-F238E27FC236}">
                <a16:creationId xmlns:a16="http://schemas.microsoft.com/office/drawing/2014/main" id="{3A7D19A3-BCA5-47CF-81B6-47A81793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rPr>
              <a:t>同一套理论，经过青年讲述，进入社区、课堂、生产一线和百姓心坎。</a:t>
            </a:r>
          </a:p>
        </p:txBody>
      </p:sp>
    </p:spTree>
    <p:extLst>
      <p:ext uri="{BB962C8B-B14F-4D97-AF65-F5344CB8AC3E}">
        <p14:creationId xmlns:p14="http://schemas.microsoft.com/office/powerpoint/2010/main" val="998822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7D6387F9-0F6F-435C-98E5-25F8C2C7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辽宁“六地”红色文化标识融入党员教育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A872B13-3392-4AD0-A9AE-E09F0ABF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红色朋友圈，把资源共享成振兴同心圆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DB23844-E370-4A2E-8B4A-8DADD950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62025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4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4BABAC9A-6A1B-40CB-8F2F-4D20568D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来源：分配稿《让“六地”红》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A7A11B7-F662-4644-9917-39ACE915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lead">
            <a:extLst xmlns:a="http://schemas.openxmlformats.org/drawingml/2006/main">
              <a:ext uri="{FF2B5EF4-FFF2-40B4-BE49-F238E27FC236}">
                <a16:creationId xmlns:a16="http://schemas.microsoft.com/office/drawing/2014/main" id="{567BC8E5-C333-47BD-9D4E-8382277D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334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rPr>
              <a:t>组织互联、资源互通、经验互鉴，让校园“小盆景”成为区域“大风景”。</a:t>
            </a:r>
          </a:p>
        </p:txBody>
      </p:sp>
      <p:sp>
        <p:nvSpPr>
          <p:cNvPr id="7" name="net-left">
            <a:extLst xmlns:a="http://schemas.openxmlformats.org/drawingml/2006/main">
              <a:ext uri="{FF2B5EF4-FFF2-40B4-BE49-F238E27FC236}">
                <a16:creationId xmlns:a16="http://schemas.microsoft.com/office/drawing/2014/main" id="{5AE4063C-06EC-466E-A946-F11946CD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47875"/>
            <a:ext cx="3429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8" name="net-left-num">
            <a:extLst xmlns:a="http://schemas.openxmlformats.org/drawingml/2006/main">
              <a:ext uri="{FF2B5EF4-FFF2-40B4-BE49-F238E27FC236}">
                <a16:creationId xmlns:a16="http://schemas.microsoft.com/office/drawing/2014/main" id="{A89A2C77-11C1-484B-AEEB-A550AE78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4792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41 家单位</a:t>
            </a:r>
          </a:p>
        </p:txBody>
      </p:sp>
      <p:sp>
        <p:nvSpPr>
          <p:cNvPr id="9" name="net-left-copy">
            <a:extLst xmlns:a="http://schemas.openxmlformats.org/drawingml/2006/main">
              <a:ext uri="{FF2B5EF4-FFF2-40B4-BE49-F238E27FC236}">
                <a16:creationId xmlns:a16="http://schemas.microsoft.com/office/drawing/2014/main" id="{563F5646-2927-4247-BFC0-B0FCB84C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2420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校地 · 校企 · 校校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VR 党课共享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主题党日联办 · 志愿服务联动</a:t>
            </a:r>
          </a:p>
        </p:txBody>
      </p:sp>
      <p:sp>
        <p:nvSpPr>
          <p:cNvPr id="10" name="net-hub">
            <a:extLst xmlns:a="http://schemas.openxmlformats.org/drawingml/2006/main">
              <a:ext uri="{FF2B5EF4-FFF2-40B4-BE49-F238E27FC236}">
                <a16:creationId xmlns:a16="http://schemas.microsoft.com/office/drawing/2014/main" id="{7E015863-8F73-4DD5-82C2-E58BE53A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43150"/>
            <a:ext cx="2857500" cy="1447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3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et-hub-title">
            <a:extLst xmlns:a="http://schemas.openxmlformats.org/drawingml/2006/main">
              <a:ext uri="{FF2B5EF4-FFF2-40B4-BE49-F238E27FC236}">
                <a16:creationId xmlns:a16="http://schemas.microsoft.com/office/drawing/2014/main" id="{93799DA4-E571-4413-AF86-90447440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7652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共享循环</a:t>
            </a:r>
          </a:p>
        </p:txBody>
      </p:sp>
      <p:sp>
        <p:nvSpPr>
          <p:cNvPr id="12" name="net-hub-copy">
            <a:extLst xmlns:a="http://schemas.openxmlformats.org/drawingml/2006/main">
              <a:ext uri="{FF2B5EF4-FFF2-40B4-BE49-F238E27FC236}">
                <a16:creationId xmlns:a16="http://schemas.microsoft.com/office/drawing/2014/main" id="{0EF7783B-DCFD-43BC-81EE-2E16C85C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385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E0EB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0EBF7"/>
                </a:solidFill>
                <a:latin typeface="Microsoft YaHei"/>
                <a:ea typeface="Microsoft YaHei"/>
                <a:cs typeface="Microsoft YaHei"/>
              </a:rPr>
              <a:t>组织互联 · 资源互通 · 经验互鉴</a:t>
            </a:r>
          </a:p>
        </p:txBody>
      </p:sp>
      <p:sp>
        <p:nvSpPr>
          <p:cNvPr id="13" name="net-right">
            <a:extLst xmlns:a="http://schemas.openxmlformats.org/drawingml/2006/main">
              <a:ext uri="{FF2B5EF4-FFF2-40B4-BE49-F238E27FC236}">
                <a16:creationId xmlns:a16="http://schemas.microsoft.com/office/drawing/2014/main" id="{80129F25-3431-4A69-A149-E94622C8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4290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4" name="net-right-num">
            <a:extLst xmlns:a="http://schemas.openxmlformats.org/drawingml/2006/main">
              <a:ext uri="{FF2B5EF4-FFF2-40B4-BE49-F238E27FC236}">
                <a16:creationId xmlns:a16="http://schemas.microsoft.com/office/drawing/2014/main" id="{C72D1F0E-578C-4323-97BF-AAE0C1FF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4792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2000+ 人次/年</a:t>
            </a:r>
          </a:p>
        </p:txBody>
      </p:sp>
      <p:sp>
        <p:nvSpPr>
          <p:cNvPr id="15" name="net-right-copy">
            <a:extLst xmlns:a="http://schemas.openxmlformats.org/drawingml/2006/main">
              <a:ext uri="{FF2B5EF4-FFF2-40B4-BE49-F238E27FC236}">
                <a16:creationId xmlns:a16="http://schemas.microsoft.com/office/drawing/2014/main" id="{F6A6DAE5-9F60-4892-A6DB-2BB6B227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86100"/>
            <a:ext cx="2895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与新疆农业大学、西北师范大学、兰州工业学院联学联建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东北故事西部讲 ↔ 西部经验东北学</a:t>
            </a:r>
          </a:p>
        </p:txBody>
      </p:sp>
      <p:cxnSp>
        <p:nvCxnSpPr>
          <p:cNvPr id="35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3952875" y="3067050"/>
            <a:ext cx="523875" cy="1714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F8FB1"/>
            </a:solidFill>
            <a:prstDash val="solid"/>
            <a:headEnd type="arrow" w="sm" len="sm"/>
          </a:ln>
        </p:spPr>
      </p:cxnSp>
      <p:cxnSp>
        <p:nvCxnSpPr>
          <p:cNvPr id="36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334250" y="3067050"/>
            <a:ext cx="76200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F8FB1"/>
            </a:solidFill>
            <a:prstDash val="solid"/>
            <a:headEnd type="arrow" w="sm" len="sm"/>
          </a:ln>
        </p:spPr>
      </p:cxnSp>
      <p:cxnSp>
        <p:nvCxnSpPr>
          <p:cNvPr id="37" name=""/>
          <p:cNvCxnSpPr>
            <a:stCxn xmlns:a="http://schemas.openxmlformats.org/drawingml/2006/main" id="13" idx="2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>
            <a:off x="2238375" y="4429125"/>
            <a:ext cx="7572375" cy="0"/>
          </a:xfrm>
          <a:prstGeom xmlns:a="http://schemas.openxmlformats.org/drawingml/2006/main" prst="curvedConnector2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headEnd type="arrow" w="sm" len="sm"/>
            <a:tailEnd type="arrow" w="sm" len="sm"/>
          </a:ln>
        </p:spPr>
      </p:cxnSp>
      <p:sp>
        <p:nvSpPr>
          <p:cNvPr id="19" name="net-note">
            <a:extLst xmlns:a="http://schemas.openxmlformats.org/drawingml/2006/main">
              <a:ext uri="{FF2B5EF4-FFF2-40B4-BE49-F238E27FC236}">
                <a16:creationId xmlns:a16="http://schemas.microsoft.com/office/drawing/2014/main" id="{9C266ECA-1E07-4B1C-B346-3A09877C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340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rPr>
              <a:t>真正把“红色朋友圈”刷成振兴中国的“同心圆”。</a:t>
            </a:r>
          </a:p>
        </p:txBody>
      </p:sp>
    </p:spTree>
    <p:extLst>
      <p:ext uri="{BB962C8B-B14F-4D97-AF65-F5344CB8AC3E}">
        <p14:creationId xmlns:p14="http://schemas.microsoft.com/office/powerpoint/2010/main" val="5896846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">
            <a:extLst xmlns:a="http://schemas.openxmlformats.org/drawingml/2006/main">
              <a:ext uri="{FF2B5EF4-FFF2-40B4-BE49-F238E27FC236}">
                <a16:creationId xmlns:a16="http://schemas.microsoft.com/office/drawing/2014/main" id="{B14B68CE-5B76-474B-87A5-CF8E4B80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辽宁“六地”红色文化标识融入党员教育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34C0CAC-8C27-4DEF-9229-A7E454E3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四阶培养链，把红色育人嵌入成长全周期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92C5F9D-2969-4DCB-924F-8655E40F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62025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4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619CAFBA-FDF7-4072-9DAC-8299E233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来源：分配稿《让“六地”红》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F34F664-C82F-4D4A-9CC1-88D78FD1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lead">
            <a:extLst xmlns:a="http://schemas.openxmlformats.org/drawingml/2006/main">
              <a:ext uri="{FF2B5EF4-FFF2-40B4-BE49-F238E27FC236}">
                <a16:creationId xmlns:a16="http://schemas.microsoft.com/office/drawing/2014/main" id="{BD282EE1-BF14-4798-B181-96FCEBF3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334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rPr>
              <a:t>红色实践进入学分与组织生活，靠四阶链条和红色导师年年有人抓、届届有人传。</a:t>
            </a:r>
          </a:p>
        </p:txBody>
      </p:sp>
      <p:sp>
        <p:nvSpPr>
          <p:cNvPr id="7" name="stage-0">
            <a:extLst xmlns:a="http://schemas.openxmlformats.org/drawingml/2006/main">
              <a:ext uri="{FF2B5EF4-FFF2-40B4-BE49-F238E27FC236}">
                <a16:creationId xmlns:a16="http://schemas.microsoft.com/office/drawing/2014/main" id="{9462D0C6-852A-43C7-B76D-C4B2BA25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00300"/>
            <a:ext cx="2095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8" name="stage-0-num">
            <a:extLst xmlns:a="http://schemas.openxmlformats.org/drawingml/2006/main">
              <a:ext uri="{FF2B5EF4-FFF2-40B4-BE49-F238E27FC236}">
                <a16:creationId xmlns:a16="http://schemas.microsoft.com/office/drawing/2014/main" id="{C801A46B-5941-4E13-BDDD-6087F6E7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527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stage-0-title">
            <a:extLst xmlns:a="http://schemas.openxmlformats.org/drawingml/2006/main">
              <a:ext uri="{FF2B5EF4-FFF2-40B4-BE49-F238E27FC236}">
                <a16:creationId xmlns:a16="http://schemas.microsoft.com/office/drawing/2014/main" id="{7E0315B3-8F40-41AB-9CF1-B43BB9F5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924175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入学</a:t>
            </a:r>
          </a:p>
        </p:txBody>
      </p:sp>
      <p:sp>
        <p:nvSpPr>
          <p:cNvPr id="10" name="stage-0-label">
            <a:extLst xmlns:a="http://schemas.openxmlformats.org/drawingml/2006/main">
              <a:ext uri="{FF2B5EF4-FFF2-40B4-BE49-F238E27FC236}">
                <a16:creationId xmlns:a16="http://schemas.microsoft.com/office/drawing/2014/main" id="{2F1D6FB2-3213-4273-B0AA-1D399E26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324225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认识辽宁</a:t>
            </a:r>
          </a:p>
        </p:txBody>
      </p:sp>
      <p:sp>
        <p:nvSpPr>
          <p:cNvPr id="11" name="stage-1">
            <a:extLst xmlns:a="http://schemas.openxmlformats.org/drawingml/2006/main">
              <a:ext uri="{FF2B5EF4-FFF2-40B4-BE49-F238E27FC236}">
                <a16:creationId xmlns:a16="http://schemas.microsoft.com/office/drawing/2014/main" id="{07C9B1DD-6409-4E66-9832-5B7D821F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00300"/>
            <a:ext cx="2095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2" name="stage-1-num">
            <a:extLst xmlns:a="http://schemas.openxmlformats.org/drawingml/2006/main">
              <a:ext uri="{FF2B5EF4-FFF2-40B4-BE49-F238E27FC236}">
                <a16:creationId xmlns:a16="http://schemas.microsoft.com/office/drawing/2014/main" id="{D91BA300-5BFA-42D2-9251-648FC64B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5527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A8439688-648E-4307-BDDC-E76A2628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924175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入党</a:t>
            </a:r>
          </a:p>
        </p:txBody>
      </p:sp>
      <p:sp>
        <p:nvSpPr>
          <p:cNvPr id="14" name="stage-1-label">
            <a:extLst xmlns:a="http://schemas.openxmlformats.org/drawingml/2006/main">
              <a:ext uri="{FF2B5EF4-FFF2-40B4-BE49-F238E27FC236}">
                <a16:creationId xmlns:a16="http://schemas.microsoft.com/office/drawing/2014/main" id="{3A87984B-C6A2-4740-9474-BF97C230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324225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走进六地</a:t>
            </a:r>
          </a:p>
        </p:txBody>
      </p:sp>
      <p:sp>
        <p:nvSpPr>
          <p:cNvPr id="15" name="stage-2">
            <a:extLst xmlns:a="http://schemas.openxmlformats.org/drawingml/2006/main">
              <a:ext uri="{FF2B5EF4-FFF2-40B4-BE49-F238E27FC236}">
                <a16:creationId xmlns:a16="http://schemas.microsoft.com/office/drawing/2014/main" id="{C0FF1A2C-75B3-4437-B948-5C993697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400300"/>
            <a:ext cx="2095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6" name="stage-2-num">
            <a:extLst xmlns:a="http://schemas.openxmlformats.org/drawingml/2006/main">
              <a:ext uri="{FF2B5EF4-FFF2-40B4-BE49-F238E27FC236}">
                <a16:creationId xmlns:a16="http://schemas.microsoft.com/office/drawing/2014/main" id="{D7CB2D45-2D50-4CAB-9836-D7B693E2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5527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D3C0E81C-51E5-4540-A959-A061B95C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924175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转正</a:t>
            </a:r>
          </a:p>
        </p:txBody>
      </p:sp>
      <p:sp>
        <p:nvSpPr>
          <p:cNvPr id="18" name="stage-2-label">
            <a:extLst xmlns:a="http://schemas.openxmlformats.org/drawingml/2006/main">
              <a:ext uri="{FF2B5EF4-FFF2-40B4-BE49-F238E27FC236}">
                <a16:creationId xmlns:a16="http://schemas.microsoft.com/office/drawing/2014/main" id="{84A8A0B4-029C-43F0-8970-DDA75C3F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324225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承担任务</a:t>
            </a:r>
          </a:p>
        </p:txBody>
      </p:sp>
      <p:sp>
        <p:nvSpPr>
          <p:cNvPr id="19" name="stage-3">
            <a:extLst xmlns:a="http://schemas.openxmlformats.org/drawingml/2006/main">
              <a:ext uri="{FF2B5EF4-FFF2-40B4-BE49-F238E27FC236}">
                <a16:creationId xmlns:a16="http://schemas.microsoft.com/office/drawing/2014/main" id="{A046C550-1A30-4497-AACE-E92CD6F8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00300"/>
            <a:ext cx="2095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43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tage-3-num">
            <a:extLst xmlns:a="http://schemas.openxmlformats.org/drawingml/2006/main">
              <a:ext uri="{FF2B5EF4-FFF2-40B4-BE49-F238E27FC236}">
                <a16:creationId xmlns:a16="http://schemas.microsoft.com/office/drawing/2014/main" id="{F09F72A9-2C58-4B69-AE23-1F9F1BB8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5527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stage-3-title">
            <a:extLst xmlns:a="http://schemas.openxmlformats.org/drawingml/2006/main">
              <a:ext uri="{FF2B5EF4-FFF2-40B4-BE49-F238E27FC236}">
                <a16:creationId xmlns:a16="http://schemas.microsoft.com/office/drawing/2014/main" id="{B5450B9C-2516-4C4A-8369-125124ED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924175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毕业</a:t>
            </a:r>
          </a:p>
        </p:txBody>
      </p:sp>
      <p:sp>
        <p:nvSpPr>
          <p:cNvPr id="22" name="stage-3-label">
            <a:extLst xmlns:a="http://schemas.openxmlformats.org/drawingml/2006/main">
              <a:ext uri="{FF2B5EF4-FFF2-40B4-BE49-F238E27FC236}">
                <a16:creationId xmlns:a16="http://schemas.microsoft.com/office/drawing/2014/main" id="{86874818-735D-40A5-B2AD-EFDC62BB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324225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rPr>
              <a:t>扎根振兴</a:t>
            </a:r>
          </a:p>
        </p:txBody>
      </p:sp>
      <p:cxnSp>
        <p:nvCxnSpPr>
          <p:cNvPr id="52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619375" y="30289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F8FB1"/>
            </a:solidFill>
            <a:prstDash val="solid"/>
            <a:headEnd type="arrow" w="sm" len="sm"/>
          </a:ln>
        </p:spPr>
      </p:cxnSp>
      <p:cxnSp>
        <p:nvCxnSpPr>
          <p:cNvPr id="53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381625" y="30289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F8FB1"/>
            </a:solidFill>
            <a:prstDash val="solid"/>
            <a:headEnd type="arrow" w="sm" len="sm"/>
          </a:ln>
        </p:spPr>
      </p:cxnSp>
      <p:cxnSp>
        <p:nvCxnSpPr>
          <p:cNvPr id="54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143875" y="30289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F8FB1"/>
            </a:solidFill>
            <a:prstDash val="solid"/>
            <a:headEnd type="arrow" w="sm" len="sm"/>
          </a:ln>
        </p:spPr>
      </p:cxnSp>
      <p:sp>
        <p:nvSpPr>
          <p:cNvPr id="26" name="stage-support">
            <a:extLst xmlns:a="http://schemas.openxmlformats.org/drawingml/2006/main">
              <a:ext uri="{FF2B5EF4-FFF2-40B4-BE49-F238E27FC236}">
                <a16:creationId xmlns:a16="http://schemas.microsoft.com/office/drawing/2014/main" id="{C6B8B209-77E6-4372-BBAD-6402DA9B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33875"/>
            <a:ext cx="11049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27" name="stage-support-title">
            <a:extLst xmlns:a="http://schemas.openxmlformats.org/drawingml/2006/main">
              <a:ext uri="{FF2B5EF4-FFF2-40B4-BE49-F238E27FC236}">
                <a16:creationId xmlns:a16="http://schemas.microsoft.com/office/drawing/2014/main" id="{D1EDDD12-D3E9-4851-ABC0-7E7634A6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5339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跨阶段支撑</a:t>
            </a:r>
          </a:p>
        </p:txBody>
      </p:sp>
      <p:sp>
        <p:nvSpPr>
          <p:cNvPr id="28" name="stage-support-copy">
            <a:extLst xmlns:a="http://schemas.openxmlformats.org/drawingml/2006/main">
              <a:ext uri="{FF2B5EF4-FFF2-40B4-BE49-F238E27FC236}">
                <a16:creationId xmlns:a16="http://schemas.microsoft.com/office/drawing/2014/main" id="{826B1325-7C28-49F2-BB83-2ED50E71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543425"/>
            <a:ext cx="847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红色实践计入学分   ·   VR 党课写进“三会一课”   ·   聘请 36 位纪念馆专家、抗美援朝老战士担任“红色导师”</a:t>
            </a:r>
          </a:p>
        </p:txBody>
      </p:sp>
      <p:sp>
        <p:nvSpPr>
          <p:cNvPr id="29" name="stage-note">
            <a:extLst xmlns:a="http://schemas.openxmlformats.org/drawingml/2006/main">
              <a:ext uri="{FF2B5EF4-FFF2-40B4-BE49-F238E27FC236}">
                <a16:creationId xmlns:a16="http://schemas.microsoft.com/office/drawing/2014/main" id="{4C78B367-FBCE-4273-B7CC-DAFEDCEB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rPr>
              <a:t>机制的作用，是让一次活动变成可持续的成长路径。</a:t>
            </a:r>
          </a:p>
        </p:txBody>
      </p:sp>
    </p:spTree>
    <p:extLst>
      <p:ext uri="{BB962C8B-B14F-4D97-AF65-F5344CB8AC3E}">
        <p14:creationId xmlns:p14="http://schemas.microsoft.com/office/powerpoint/2010/main" val="9927946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">
            <a:extLst xmlns:a="http://schemas.openxmlformats.org/drawingml/2006/main">
              <a:ext uri="{FF2B5EF4-FFF2-40B4-BE49-F238E27FC236}">
                <a16:creationId xmlns:a16="http://schemas.microsoft.com/office/drawing/2014/main" id="{3AB15EC0-7699-4580-A883-AEA6ED0D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辽宁“六地”红色文化标识融入党员教育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639F910-FD38-42C5-B2CC-AEC24C74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五年深耕，理工学生有了“红色先锋”新标签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5C411A8-BA43-4759-8C81-A46FE495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62025"/>
            <a:ext cx="1114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4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31B11A28-B91A-4DCA-9B32-7ABC0DD3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来源：分配稿《让“六地”红》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CD13535-0C38-46A7-A97D-8BA5D9EE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lead">
            <a:extLst xmlns:a="http://schemas.openxmlformats.org/drawingml/2006/main">
              <a:ext uri="{FF2B5EF4-FFF2-40B4-BE49-F238E27FC236}">
                <a16:creationId xmlns:a16="http://schemas.microsoft.com/office/drawing/2014/main" id="{BBE74524-BA6E-418B-833F-74C05FDD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334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rPr>
              <a:t>五类抓手最终落到四类青年变化：信仰、本领、声音、脚步。</a:t>
            </a:r>
          </a:p>
        </p:txBody>
      </p:sp>
      <p:sp>
        <p:nvSpPr>
          <p:cNvPr id="7" name="result-0">
            <a:extLst xmlns:a="http://schemas.openxmlformats.org/drawingml/2006/main">
              <a:ext uri="{FF2B5EF4-FFF2-40B4-BE49-F238E27FC236}">
                <a16:creationId xmlns:a16="http://schemas.microsoft.com/office/drawing/2014/main" id="{C9CBDDFF-6B1C-4AC8-947F-C97D2460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71700"/>
            <a:ext cx="24765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8" name="result-0-title">
            <a:extLst xmlns:a="http://schemas.openxmlformats.org/drawingml/2006/main">
              <a:ext uri="{FF2B5EF4-FFF2-40B4-BE49-F238E27FC236}">
                <a16:creationId xmlns:a16="http://schemas.microsoft.com/office/drawing/2014/main" id="{F2FD1B21-BF67-4B08-A2BF-6249F836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4792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信仰更强</a:t>
            </a:r>
          </a:p>
        </p:txBody>
      </p:sp>
      <p:sp>
        <p:nvSpPr>
          <p:cNvPr id="9" name="result-0-num">
            <a:extLst xmlns:a="http://schemas.openxmlformats.org/drawingml/2006/main">
              <a:ext uri="{FF2B5EF4-FFF2-40B4-BE49-F238E27FC236}">
                <a16:creationId xmlns:a16="http://schemas.microsoft.com/office/drawing/2014/main" id="{4C0E06FB-370F-4D57-A431-DF32B098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9527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58% → 87%</a:t>
            </a:r>
          </a:p>
        </p:txBody>
      </p:sp>
      <p:sp>
        <p:nvSpPr>
          <p:cNvPr id="10" name="result-0-copy">
            <a:extLst xmlns:a="http://schemas.openxmlformats.org/drawingml/2006/main">
              <a:ext uri="{FF2B5EF4-FFF2-40B4-BE49-F238E27FC236}">
                <a16:creationId xmlns:a16="http://schemas.microsoft.com/office/drawing/2014/main" id="{F9E36909-1031-4B53-B96B-372D71B5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14750"/>
            <a:ext cx="205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发展对象答辩现场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毕业后留辽意愿举手率</a:t>
            </a:r>
          </a:p>
        </p:txBody>
      </p:sp>
      <p:sp>
        <p:nvSpPr>
          <p:cNvPr id="11" name="result-1">
            <a:extLst xmlns:a="http://schemas.openxmlformats.org/drawingml/2006/main">
              <a:ext uri="{FF2B5EF4-FFF2-40B4-BE49-F238E27FC236}">
                <a16:creationId xmlns:a16="http://schemas.microsoft.com/office/drawing/2014/main" id="{1F8AB51D-49BF-41DA-8A8E-6FA2F84D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71700"/>
            <a:ext cx="24765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2" name="result-1-title">
            <a:extLst xmlns:a="http://schemas.openxmlformats.org/drawingml/2006/main">
              <a:ext uri="{FF2B5EF4-FFF2-40B4-BE49-F238E27FC236}">
                <a16:creationId xmlns:a16="http://schemas.microsoft.com/office/drawing/2014/main" id="{DB380C81-82B4-4415-9424-FE4D7A03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44792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本领更硬</a:t>
            </a:r>
          </a:p>
        </p:txBody>
      </p:sp>
      <p:sp>
        <p:nvSpPr>
          <p:cNvPr id="13" name="result-1-num">
            <a:extLst xmlns:a="http://schemas.openxmlformats.org/drawingml/2006/main">
              <a:ext uri="{FF2B5EF4-FFF2-40B4-BE49-F238E27FC236}">
                <a16:creationId xmlns:a16="http://schemas.microsoft.com/office/drawing/2014/main" id="{DFA7A0E6-E150-4C9C-83C1-F09E1340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9527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26 / 8</a:t>
            </a:r>
          </a:p>
        </p:txBody>
      </p:sp>
      <p:sp>
        <p:nvSpPr>
          <p:cNvPr id="14" name="result-1-copy">
            <a:extLst xmlns:a="http://schemas.openxmlformats.org/drawingml/2006/main">
              <a:ext uri="{FF2B5EF4-FFF2-40B4-BE49-F238E27FC236}">
                <a16:creationId xmlns:a16="http://schemas.microsoft.com/office/drawing/2014/main" id="{38067924-59F7-4ED7-A5D1-D18EC213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714750"/>
            <a:ext cx="205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26 份振兴微课题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8 家企业当场“收货”</a:t>
            </a:r>
          </a:p>
        </p:txBody>
      </p:sp>
      <p:sp>
        <p:nvSpPr>
          <p:cNvPr id="15" name="result-2">
            <a:extLst xmlns:a="http://schemas.openxmlformats.org/drawingml/2006/main">
              <a:ext uri="{FF2B5EF4-FFF2-40B4-BE49-F238E27FC236}">
                <a16:creationId xmlns:a16="http://schemas.microsoft.com/office/drawing/2014/main" id="{33702541-4913-4EED-A2B5-A3626E9B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71700"/>
            <a:ext cx="247650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D5DDE7"/>
            </a:solidFill>
            <a:prstDash val="solid"/>
          </a:ln>
        </p:spPr>
      </p:sp>
      <p:sp>
        <p:nvSpPr>
          <p:cNvPr id="16" name="result-2-title">
            <a:extLst xmlns:a="http://schemas.openxmlformats.org/drawingml/2006/main">
              <a:ext uri="{FF2B5EF4-FFF2-40B4-BE49-F238E27FC236}">
                <a16:creationId xmlns:a16="http://schemas.microsoft.com/office/drawing/2014/main" id="{93AD40AA-EE55-440B-AF10-F46F7D45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44792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声音更响</a:t>
            </a:r>
          </a:p>
        </p:txBody>
      </p:sp>
      <p:sp>
        <p:nvSpPr>
          <p:cNvPr id="17" name="result-2-num">
            <a:extLst xmlns:a="http://schemas.openxmlformats.org/drawingml/2006/main">
              <a:ext uri="{FF2B5EF4-FFF2-40B4-BE49-F238E27FC236}">
                <a16:creationId xmlns:a16="http://schemas.microsoft.com/office/drawing/2014/main" id="{9FC77F7E-E33B-47A0-8627-A8E74127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9527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飞出校园</a:t>
            </a:r>
          </a:p>
        </p:txBody>
      </p:sp>
      <p:sp>
        <p:nvSpPr>
          <p:cNvPr id="18" name="result-2-copy">
            <a:extLst xmlns:a="http://schemas.openxmlformats.org/drawingml/2006/main">
              <a:ext uri="{FF2B5EF4-FFF2-40B4-BE49-F238E27FC236}">
                <a16:creationId xmlns:a16="http://schemas.microsoft.com/office/drawing/2014/main" id="{81F10B56-70A7-4959-AC39-496A88A3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14750"/>
            <a:ext cx="205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飞入社区、课堂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生产一线与百姓心坎</a:t>
            </a:r>
          </a:p>
        </p:txBody>
      </p:sp>
      <p:sp>
        <p:nvSpPr>
          <p:cNvPr id="19" name="result-3">
            <a:extLst xmlns:a="http://schemas.openxmlformats.org/drawingml/2006/main">
              <a:ext uri="{FF2B5EF4-FFF2-40B4-BE49-F238E27FC236}">
                <a16:creationId xmlns:a16="http://schemas.microsoft.com/office/drawing/2014/main" id="{428215DC-279D-4677-A1AC-2DFFD868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71700"/>
            <a:ext cx="276225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243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esult-3-title">
            <a:extLst xmlns:a="http://schemas.openxmlformats.org/drawingml/2006/main">
              <a:ext uri="{FF2B5EF4-FFF2-40B4-BE49-F238E27FC236}">
                <a16:creationId xmlns:a16="http://schemas.microsoft.com/office/drawing/2014/main" id="{54FBFC5E-BF2B-452B-928A-CA0342F7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447925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脚步更稳</a:t>
            </a:r>
          </a:p>
        </p:txBody>
      </p:sp>
      <p:sp>
        <p:nvSpPr>
          <p:cNvPr id="21" name="result-3-num">
            <a:extLst xmlns:a="http://schemas.openxmlformats.org/drawingml/2006/main">
              <a:ext uri="{FF2B5EF4-FFF2-40B4-BE49-F238E27FC236}">
                <a16:creationId xmlns:a16="http://schemas.microsoft.com/office/drawing/2014/main" id="{690A15C3-130E-4B41-ADBA-56A2AB7C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952750"/>
            <a:ext cx="2343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+40%</a:t>
            </a:r>
          </a:p>
        </p:txBody>
      </p:sp>
      <p:sp>
        <p:nvSpPr>
          <p:cNvPr id="22" name="result-3-copy">
            <a:extLst xmlns:a="http://schemas.openxmlformats.org/drawingml/2006/main">
              <a:ext uri="{FF2B5EF4-FFF2-40B4-BE49-F238E27FC236}">
                <a16:creationId xmlns:a16="http://schemas.microsoft.com/office/drawing/2014/main" id="{2CE32456-6FC4-4743-8DF4-A9610468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714750"/>
            <a:ext cx="2343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0">
                <a:solidFill>
                  <a:srgbClr val="E0EB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0EBF7"/>
                </a:solidFill>
                <a:latin typeface="Microsoft YaHei"/>
                <a:ea typeface="Microsoft YaHei"/>
                <a:cs typeface="Microsoft YaHei"/>
              </a:rPr>
              <a:t>党员考取辽宁选调生、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350" b="0">
                <a:solidFill>
                  <a:srgbClr val="E0EB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0EBF7"/>
                </a:solidFill>
                <a:latin typeface="Microsoft YaHei"/>
                <a:ea typeface="Microsoft YaHei"/>
                <a:cs typeface="Microsoft YaHei"/>
              </a:rPr>
              <a:t>投身重大装备研发比例提升</a:t>
            </a:r>
          </a:p>
        </p:txBody>
      </p:sp>
      <p:sp>
        <p:nvSpPr>
          <p:cNvPr id="23" name="result-note">
            <a:extLst xmlns:a="http://schemas.openxmlformats.org/drawingml/2006/main">
              <a:ext uri="{FF2B5EF4-FFF2-40B4-BE49-F238E27FC236}">
                <a16:creationId xmlns:a16="http://schemas.microsoft.com/office/drawing/2014/main" id="{B029C0B4-FE8B-4A10-A34D-FDFED5C8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340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3F63"/>
                </a:solidFill>
                <a:latin typeface="Microsoft YaHei"/>
                <a:ea typeface="Microsoft YaHei"/>
                <a:cs typeface="Microsoft YaHei"/>
              </a:rPr>
              <a:t>从“学霸”到“红色先锋”：把论文写在大地，把青春植根黑土。</a:t>
            </a:r>
          </a:p>
        </p:txBody>
      </p:sp>
      <p:sp>
        <p:nvSpPr>
          <p:cNvPr id="24" name="result-boundary">
            <a:extLst xmlns:a="http://schemas.openxmlformats.org/drawingml/2006/main">
              <a:ext uri="{FF2B5EF4-FFF2-40B4-BE49-F238E27FC236}">
                <a16:creationId xmlns:a16="http://schemas.microsoft.com/office/drawing/2014/main" id="{E34EF16C-3811-44B7-8CD9-DC9F337D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721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以上为原稿报告的五年成效口径；“声音更响”保留文字结果，不虚构数值。</a:t>
            </a:r>
          </a:p>
        </p:txBody>
      </p:sp>
    </p:spTree>
    <p:extLst>
      <p:ext uri="{BB962C8B-B14F-4D97-AF65-F5344CB8AC3E}">
        <p14:creationId xmlns:p14="http://schemas.microsoft.com/office/powerpoint/2010/main" val="20975152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315F9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lose-band">
            <a:extLst xmlns:a="http://schemas.openxmlformats.org/drawingml/2006/main">
              <a:ext uri="{FF2B5EF4-FFF2-40B4-BE49-F238E27FC236}">
                <a16:creationId xmlns:a16="http://schemas.microsoft.com/office/drawing/2014/main" id="{DB18F412-07AF-41F0-98F7-6A901333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F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AF601A72-65D7-427F-86B3-6F7690EF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66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rPr>
              <a:t>收束</a:t>
            </a:r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C8469467-972A-4F70-A029-2DB61894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六地红，成为青年投身振兴的青春底色</a:t>
            </a:r>
          </a:p>
        </p:txBody>
      </p:sp>
      <p:sp>
        <p:nvSpPr>
          <p:cNvPr id="4" name="close-rule">
            <a:extLst xmlns:a="http://schemas.openxmlformats.org/drawingml/2006/main">
              <a:ext uri="{FF2B5EF4-FFF2-40B4-BE49-F238E27FC236}">
                <a16:creationId xmlns:a16="http://schemas.microsoft.com/office/drawing/2014/main" id="{FCEBF268-E57A-4916-8266-832C1DDE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close-quote">
            <a:extLst xmlns:a="http://schemas.openxmlformats.org/drawingml/2006/main">
              <a:ext uri="{FF2B5EF4-FFF2-40B4-BE49-F238E27FC236}">
                <a16:creationId xmlns:a16="http://schemas.microsoft.com/office/drawing/2014/main" id="{A3AF259D-0560-4462-AA06-25DCBED7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09850"/>
            <a:ext cx="876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“要讲好党的故事、革命的故事、英雄的故事，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把红色基因传承下去，确保红色江山后继有人、代代相传。”</a:t>
            </a:r>
          </a:p>
        </p:txBody>
      </p:sp>
      <p:sp>
        <p:nvSpPr>
          <p:cNvPr id="6" name="close-attrib">
            <a:extLst xmlns:a="http://schemas.openxmlformats.org/drawingml/2006/main">
              <a:ext uri="{FF2B5EF4-FFF2-40B4-BE49-F238E27FC236}">
                <a16:creationId xmlns:a16="http://schemas.microsoft.com/office/drawing/2014/main" id="{F737BA5C-A633-4B5F-A231-C4414DE0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rPr>
              <a:t>——习近平总书记关于用好红色资源的重要嘱托</a:t>
            </a:r>
          </a:p>
        </p:txBody>
      </p:sp>
      <p:sp>
        <p:nvSpPr>
          <p:cNvPr id="7" name="close-strip">
            <a:extLst xmlns:a="http://schemas.openxmlformats.org/drawingml/2006/main">
              <a:ext uri="{FF2B5EF4-FFF2-40B4-BE49-F238E27FC236}">
                <a16:creationId xmlns:a16="http://schemas.microsoft.com/office/drawing/2014/main" id="{12C0BFAE-342D-455B-A2B3-0531F4F6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62450"/>
            <a:ext cx="1104900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3E6F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lose-strip-copy">
            <a:extLst xmlns:a="http://schemas.openxmlformats.org/drawingml/2006/main">
              <a:ext uri="{FF2B5EF4-FFF2-40B4-BE49-F238E27FC236}">
                <a16:creationId xmlns:a16="http://schemas.microsoft.com/office/drawing/2014/main" id="{898E6FA9-0CD3-453D-B8EE-8ABBACB4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研学链贯通红色血脉  ·  任务单激发实干担当  ·  VR 基地跨越时空  ·  宣讲团传递信仰  ·  育人机制夯实成长</a:t>
            </a:r>
          </a:p>
        </p:txBody>
      </p:sp>
      <p:sp>
        <p:nvSpPr>
          <p:cNvPr id="9" name="close-final">
            <a:extLst xmlns:a="http://schemas.openxmlformats.org/drawingml/2006/main">
              <a:ext uri="{FF2B5EF4-FFF2-40B4-BE49-F238E27FC236}">
                <a16:creationId xmlns:a16="http://schemas.microsoft.com/office/drawing/2014/main" id="{3498BDBA-921C-4386-95E6-09ACEF22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102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将“听党话、跟党走”的坚定信念，熔铸进每一段青春年轮。</a:t>
            </a:r>
          </a:p>
        </p:txBody>
      </p:sp>
      <p:sp>
        <p:nvSpPr>
          <p:cNvPr id="10" name="close-page">
            <a:extLst xmlns:a="http://schemas.openxmlformats.org/drawingml/2006/main">
              <a:ext uri="{FF2B5EF4-FFF2-40B4-BE49-F238E27FC236}">
                <a16:creationId xmlns:a16="http://schemas.microsoft.com/office/drawing/2014/main" id="{7DD98DDF-58F3-4B5D-8547-7F39F67B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DE8F4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12011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2026-09-06T02:06:18.1570000Z</dcterms:created>
  <dcterms:modified xsi:type="dcterms:W3CDTF">2026-09-06T02:06:18.1570000Z</dcterms:modified>
</coreProperties>
</file>