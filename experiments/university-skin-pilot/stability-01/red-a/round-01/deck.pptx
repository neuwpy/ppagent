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2d0b5c81ac4ab5" /><Relationship Type="http://schemas.openxmlformats.org/officeDocument/2006/relationships/extended-properties" Target="/docProps/app.xml" Id="R696b123e07474bf7" /><Relationship Type="http://schemas.openxmlformats.org/officeDocument/2006/relationships/officeDocument" Target="/ppt/presentation.xml" Id="R671bc8255f034a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e099e2f95d4eb7"/>
  </p:sldMasterIdLst>
  <p:notesMasterIdLst>
    <p:notesMasterId xmlns:r="http://schemas.openxmlformats.org/officeDocument/2006/relationships" r:id="R45391cc280a1445c"/>
  </p:notesMasterIdLst>
  <p:sldIdLst>
    <p:sldId xmlns:r="http://schemas.openxmlformats.org/officeDocument/2006/relationships" id="256" r:id="R829d3dad38f54304"/>
    <p:sldId xmlns:r="http://schemas.openxmlformats.org/officeDocument/2006/relationships" id="257" r:id="R080c6f1f18aa4260"/>
    <p:sldId xmlns:r="http://schemas.openxmlformats.org/officeDocument/2006/relationships" id="258" r:id="R4277db06cdce4a5d"/>
    <p:sldId xmlns:r="http://schemas.openxmlformats.org/officeDocument/2006/relationships" id="259" r:id="Re470d393a4c547c7"/>
    <p:sldId xmlns:r="http://schemas.openxmlformats.org/officeDocument/2006/relationships" id="260" r:id="R06207deb51034f54"/>
    <p:sldId xmlns:r="http://schemas.openxmlformats.org/officeDocument/2006/relationships" id="261" r:id="R451a9daf14694fee"/>
    <p:sldId xmlns:r="http://schemas.openxmlformats.org/officeDocument/2006/relationships" id="262" r:id="R61ce5ccc1104482b"/>
    <p:sldId xmlns:r="http://schemas.openxmlformats.org/officeDocument/2006/relationships" id="263" r:id="R1924056cf7ec43b2"/>
    <p:sldId xmlns:r="http://schemas.openxmlformats.org/officeDocument/2006/relationships" id="264" r:id="Rb203e64638f84a4c"/>
    <p:sldId xmlns:r="http://schemas.openxmlformats.org/officeDocument/2006/relationships" id="265" r:id="Rf616388156634410"/>
    <p:sldId xmlns:r="http://schemas.openxmlformats.org/officeDocument/2006/relationships" id="266" r:id="R416f26b128e446a1"/>
    <p:sldId xmlns:r="http://schemas.openxmlformats.org/officeDocument/2006/relationships" id="267" r:id="Rac97d3b3a28c45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1387833532435d" /><Relationship Type="http://schemas.openxmlformats.org/officeDocument/2006/relationships/slideMaster" Target="/ppt/slideMasters/slideMaster1.xml" Id="R00e099e2f95d4eb7" /><Relationship Type="http://schemas.openxmlformats.org/officeDocument/2006/relationships/notesMaster" Target="/ppt/notesMasters/notesMaster1.xml" Id="R45391cc280a1445c" /><Relationship Type="http://schemas.openxmlformats.org/officeDocument/2006/relationships/presProps" Target="/ppt/presProps.xml" Id="R4368f54be1e9418e" /><Relationship Type="http://schemas.openxmlformats.org/officeDocument/2006/relationships/tableStyles" Target="/ppt/tableStyles.xml" Id="R2ac9a4455c084f32" /><Relationship Type="http://schemas.openxmlformats.org/officeDocument/2006/relationships/slide" Target="/ppt/slides/slide1.xml" Id="R829d3dad38f54304" /><Relationship Type="http://schemas.openxmlformats.org/officeDocument/2006/relationships/slide" Target="/ppt/slides/slide2.xml" Id="R080c6f1f18aa4260" /><Relationship Type="http://schemas.openxmlformats.org/officeDocument/2006/relationships/slide" Target="/ppt/slides/slide3.xml" Id="R4277db06cdce4a5d" /><Relationship Type="http://schemas.openxmlformats.org/officeDocument/2006/relationships/slide" Target="/ppt/slides/slide4.xml" Id="Re470d393a4c547c7" /><Relationship Type="http://schemas.openxmlformats.org/officeDocument/2006/relationships/slide" Target="/ppt/slides/slide5.xml" Id="R06207deb51034f54" /><Relationship Type="http://schemas.openxmlformats.org/officeDocument/2006/relationships/slide" Target="/ppt/slides/slide6.xml" Id="R451a9daf14694fee" /><Relationship Type="http://schemas.openxmlformats.org/officeDocument/2006/relationships/slide" Target="/ppt/slides/slide7.xml" Id="R61ce5ccc1104482b" /><Relationship Type="http://schemas.openxmlformats.org/officeDocument/2006/relationships/slide" Target="/ppt/slides/slide8.xml" Id="R1924056cf7ec43b2" /><Relationship Type="http://schemas.openxmlformats.org/officeDocument/2006/relationships/slide" Target="/ppt/slides/slide9.xml" Id="Rb203e64638f84a4c" /><Relationship Type="http://schemas.openxmlformats.org/officeDocument/2006/relationships/slide" Target="/ppt/slides/slide10.xml" Id="Rf616388156634410" /><Relationship Type="http://schemas.openxmlformats.org/officeDocument/2006/relationships/slide" Target="/ppt/slides/slide11.xml" Id="R416f26b128e446a1" /><Relationship Type="http://schemas.openxmlformats.org/officeDocument/2006/relationships/slide" Target="/ppt/slides/slide12.xml" Id="Rac97d3b3a28c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a5e014fb9c45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b30f8cd90d4b7a" /><Relationship Type="http://schemas.openxmlformats.org/officeDocument/2006/relationships/notesMaster" Target="/ppt/notesMasters/notesMaster1.xml" Id="R729e158ac23249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2089b98c0e482e" /><Relationship Type="http://schemas.openxmlformats.org/officeDocument/2006/relationships/notesMaster" Target="/ppt/notesMasters/notesMaster1.xml" Id="R3ff4cea7d89d49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8cc7547fe247eb" /><Relationship Type="http://schemas.openxmlformats.org/officeDocument/2006/relationships/notesMaster" Target="/ppt/notesMasters/notesMaster1.xml" Id="Radce43d6226b4e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082b07db644736" /><Relationship Type="http://schemas.openxmlformats.org/officeDocument/2006/relationships/notesMaster" Target="/ppt/notesMasters/notesMaster1.xml" Id="R176527c265504e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38a62034a34fc0" /><Relationship Type="http://schemas.openxmlformats.org/officeDocument/2006/relationships/notesMaster" Target="/ppt/notesMasters/notesMaster1.xml" Id="Rf672090bdfb74b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297408f8c04393" /><Relationship Type="http://schemas.openxmlformats.org/officeDocument/2006/relationships/notesMaster" Target="/ppt/notesMasters/notesMaster1.xml" Id="R3104db64466e47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a6e09422ea427f" /><Relationship Type="http://schemas.openxmlformats.org/officeDocument/2006/relationships/notesMaster" Target="/ppt/notesMasters/notesMaster1.xml" Id="R965a0a04305c40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04ecdd8b0b493f" /><Relationship Type="http://schemas.openxmlformats.org/officeDocument/2006/relationships/notesMaster" Target="/ppt/notesMasters/notesMaster1.xml" Id="R120f39fffe2c4f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63a4db40b249b4" /><Relationship Type="http://schemas.openxmlformats.org/officeDocument/2006/relationships/notesMaster" Target="/ppt/notesMasters/notesMaster1.xml" Id="Rd238658eae604e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802ef1874e4788" /><Relationship Type="http://schemas.openxmlformats.org/officeDocument/2006/relationships/notesMaster" Target="/ppt/notesMasters/notesMaster1.xml" Id="R8edabc34b67247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75bd655bfb448d" /><Relationship Type="http://schemas.openxmlformats.org/officeDocument/2006/relationships/notesMaster" Target="/ppt/notesMasters/notesMaster1.xml" Id="R5114b3357a0f44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f1e15c483142a1" /><Relationship Type="http://schemas.openxmlformats.org/officeDocument/2006/relationships/notesMaster" Target="/ppt/notesMasters/notesMaster1.xml" Id="Rc9baf55929a340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分配原稿：red.txt（本页全部事实与表述依据）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2748eb9634c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8998d9ac8c4892" /><Relationship Type="http://schemas.openxmlformats.org/officeDocument/2006/relationships/slideLayout" Target="/ppt/slideLayouts/slideLayout1.xml" Id="R19a104478b1a41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a104478b1a41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c2b6c788d4f4e" /><Relationship Type="http://schemas.openxmlformats.org/officeDocument/2006/relationships/notesSlide" Target="/ppt/notesSlides/notesSlide1.xml" Id="R02338702a2eb4d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ef3064ca245ee" /><Relationship Type="http://schemas.openxmlformats.org/officeDocument/2006/relationships/notesSlide" Target="/ppt/notesSlides/notesSlide2.xml" Id="R94eed21a63894d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fb857be984b5a" /><Relationship Type="http://schemas.openxmlformats.org/officeDocument/2006/relationships/notesSlide" Target="/ppt/notesSlides/notesSlide3.xml" Id="R1ca9b904ebf94e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824fbdef749f8" /><Relationship Type="http://schemas.openxmlformats.org/officeDocument/2006/relationships/notesSlide" Target="/ppt/notesSlides/notesSlide4.xml" Id="Raf6acb8d1daf4a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951d2bc9c402c" /><Relationship Type="http://schemas.openxmlformats.org/officeDocument/2006/relationships/notesSlide" Target="/ppt/notesSlides/notesSlide5.xml" Id="R9e8ef761c83847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40d6a59814908" /><Relationship Type="http://schemas.openxmlformats.org/officeDocument/2006/relationships/notesSlide" Target="/ppt/notesSlides/notesSlide6.xml" Id="R42fcf17384bd4d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894dab1d145ae" /><Relationship Type="http://schemas.openxmlformats.org/officeDocument/2006/relationships/notesSlide" Target="/ppt/notesSlides/notesSlide7.xml" Id="R94c3bce433c441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5a37a414e4974" /><Relationship Type="http://schemas.openxmlformats.org/officeDocument/2006/relationships/notesSlide" Target="/ppt/notesSlides/notesSlide8.xml" Id="Rbc491222003d48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ff6dd63ea4614" /><Relationship Type="http://schemas.openxmlformats.org/officeDocument/2006/relationships/notesSlide" Target="/ppt/notesSlides/notesSlide9.xml" Id="Rb1012c5a5dca4e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3408b5d754be4" /><Relationship Type="http://schemas.openxmlformats.org/officeDocument/2006/relationships/notesSlide" Target="/ppt/notesSlides/notesSlide10.xml" Id="Rfd530ada34db41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6a84be2ce4056" /><Relationship Type="http://schemas.openxmlformats.org/officeDocument/2006/relationships/notesSlide" Target="/ppt/notesSlides/notesSlide11.xml" Id="Ra2a1787793df4f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07d73838a4357" /><Relationship Type="http://schemas.openxmlformats.org/officeDocument/2006/relationships/notesSlide" Target="/ppt/notesSlides/notesSlide12.xml" Id="Rab346c8fb0e64d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49C3DDD-CB68-46C2-B510-CE639FA8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FC9B5EB-52D3-4175-9D84-ADBFDA3E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E9F4"/>
                </a:solidFill>
              </a:defRPr>
            </a:pPr>
            <a:r>
              <a:rPr sz="1350" b="1">
                <a:solidFill>
                  <a:srgbClr val="DDE9F4"/>
                </a:solidFill>
              </a:rPr>
              <a:t>创新案例分享｜党员教育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2E0366-28CF-4098-9B54-16922C66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让“六地”红，成为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理工青年最鲜亮的青春底色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1A7E6D1-01C5-4624-8CE7-EC6372C0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F0F7"/>
                </a:solidFill>
              </a:defRPr>
            </a:pPr>
            <a:r>
              <a:rPr sz="1500" b="0">
                <a:solidFill>
                  <a:srgbClr val="E8F0F7"/>
                </a:solidFill>
              </a:rPr>
              <a:t>辽宁“六地”红色文化标识融入党员教育的创新实践</a:t>
            </a:r>
          </a:p>
        </p:txBody>
      </p:sp>
      <p:sp>
        <p:nvSpPr>
          <p:cNvPr id="5" name="cover-quote">
            <a:extLst xmlns:a="http://schemas.openxmlformats.org/drawingml/2006/main">
              <a:ext uri="{FF2B5EF4-FFF2-40B4-BE49-F238E27FC236}">
                <a16:creationId xmlns:a16="http://schemas.microsoft.com/office/drawing/2014/main" id="{6AB5B3DD-E7A7-4B92-AE78-5B6E1E3E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31432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6E91B2"/>
            </a:solidFill>
            <a:prstDash val="solid"/>
          </a:ln>
        </p:spPr>
      </p:sp>
      <p:sp>
        <p:nvSpPr>
          <p:cNvPr id="6" name="cover-quote-text">
            <a:extLst xmlns:a="http://schemas.openxmlformats.org/drawingml/2006/main">
              <a:ext uri="{FF2B5EF4-FFF2-40B4-BE49-F238E27FC236}">
                <a16:creationId xmlns:a16="http://schemas.microsoft.com/office/drawing/2014/main" id="{1FCFBD12-A9F0-43EE-9494-47B54731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257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让辽宁故事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成为离理工青年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最近、最燃、最硬核的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党员教育现场</a:t>
            </a:r>
          </a:p>
        </p:txBody>
      </p:sp>
      <p:sp>
        <p:nvSpPr>
          <p:cNvPr id="7" name="cover-bottom">
            <a:extLst xmlns:a="http://schemas.openxmlformats.org/drawingml/2006/main">
              <a:ext uri="{FF2B5EF4-FFF2-40B4-BE49-F238E27FC236}">
                <a16:creationId xmlns:a16="http://schemas.microsoft.com/office/drawing/2014/main" id="{13D39E15-4690-48BA-8AB9-82C27E0E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9F4"/>
                </a:solidFill>
              </a:defRPr>
            </a:pPr>
            <a:r>
              <a:rPr sz="1125" b="0">
                <a:solidFill>
                  <a:srgbClr val="DDE9F4"/>
                </a:solidFill>
              </a:rPr>
              <a:t>十年探路｜五年深耕｜从校园“小盆景”到区域“大风景”</a:t>
            </a:r>
          </a:p>
        </p:txBody>
      </p:sp>
      <p:sp>
        <p:nvSpPr>
          <p:cNvPr id="8" name="cover-no">
            <a:extLst xmlns:a="http://schemas.openxmlformats.org/drawingml/2006/main">
              <a:ext uri="{FF2B5EF4-FFF2-40B4-BE49-F238E27FC236}">
                <a16:creationId xmlns:a16="http://schemas.microsoft.com/office/drawing/2014/main" id="{CE9A5194-63BB-4630-BDD7-A8153E98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F4"/>
                </a:solidFill>
              </a:defRPr>
            </a:pPr>
            <a:r>
              <a:rPr sz="1050" b="1">
                <a:solidFill>
                  <a:srgbClr val="DDE9F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3349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DB89B409-9A0A-4C69-939A-9345FD79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F9C5EDD6-A9DC-4256-9A76-226D143E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EC1F10-86E5-4C79-BF08-551E37EA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理工学生的优势很突出，党员教育的情感转化仍要补上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4A591E04-D234-42C9-BD5E-79F9ED34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02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BCE346E-9B7A-407B-A300-AF3D3D85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9BA0D370-10BB-48AA-A285-62BAC7B5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192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</a:defRPr>
            </a:pPr>
            <a:r>
              <a:rPr sz="1500" b="0">
                <a:solidFill>
                  <a:srgbClr val="252B33"/>
                </a:solidFill>
              </a:rPr>
              <a:t>十年前，学院党委面对的是一组并存矛盾：能力优势没有自动转化为身份认同与行动担当。</a:t>
            </a:r>
          </a:p>
        </p:txBody>
      </p:sp>
      <p:sp>
        <p:nvSpPr>
          <p:cNvPr id="7" name="high-zone">
            <a:extLst xmlns:a="http://schemas.openxmlformats.org/drawingml/2006/main">
              <a:ext uri="{FF2B5EF4-FFF2-40B4-BE49-F238E27FC236}">
                <a16:creationId xmlns:a16="http://schemas.microsoft.com/office/drawing/2014/main" id="{733FEBB1-84AF-4795-84FA-8DA2FB93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3667125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8" name="high-title">
            <a:extLst xmlns:a="http://schemas.openxmlformats.org/drawingml/2006/main">
              <a:ext uri="{FF2B5EF4-FFF2-40B4-BE49-F238E27FC236}">
                <a16:creationId xmlns:a16="http://schemas.microsoft.com/office/drawing/2014/main" id="{7AA167E5-B85C-42E1-85CD-8281B05E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5F91"/>
                </a:solidFill>
              </a:defRPr>
            </a:pPr>
            <a:r>
              <a:rPr sz="3150" b="1">
                <a:solidFill>
                  <a:srgbClr val="315F91"/>
                </a:solidFill>
              </a:rPr>
              <a:t>三高</a:t>
            </a:r>
          </a:p>
        </p:txBody>
      </p:sp>
      <p:sp>
        <p:nvSpPr>
          <p:cNvPr id="9" name="high-body">
            <a:extLst xmlns:a="http://schemas.openxmlformats.org/drawingml/2006/main">
              <a:ext uri="{FF2B5EF4-FFF2-40B4-BE49-F238E27FC236}">
                <a16:creationId xmlns:a16="http://schemas.microsoft.com/office/drawing/2014/main" id="{EE0BD577-EF7C-4022-AC7A-1DB353E6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B33"/>
                </a:solidFill>
              </a:defRPr>
            </a:pPr>
            <a:r>
              <a:rPr sz="1950" b="1">
                <a:solidFill>
                  <a:srgbClr val="252B33"/>
                </a:solidFill>
              </a:rPr>
              <a:t>高学分</a:t>
            </a:r>
          </a:p>
          <a:p xmlns:a="http://schemas.openxmlformats.org/drawingml/2006/main">
            <a:pPr algn="l">
              <a:defRPr sz="1950" b="1">
                <a:solidFill>
                  <a:srgbClr val="252B33"/>
                </a:solidFill>
              </a:defRPr>
            </a:pPr>
            <a:r>
              <a:rPr sz="1950" b="1">
                <a:solidFill>
                  <a:srgbClr val="252B33"/>
                </a:solidFill>
              </a:rPr>
              <a:t>高竞赛</a:t>
            </a:r>
          </a:p>
          <a:p xmlns:a="http://schemas.openxmlformats.org/drawingml/2006/main">
            <a:pPr algn="l">
              <a:defRPr sz="1950" b="1">
                <a:solidFill>
                  <a:srgbClr val="252B33"/>
                </a:solidFill>
              </a:defRPr>
            </a:pPr>
            <a:r>
              <a:rPr sz="1950" b="1">
                <a:solidFill>
                  <a:srgbClr val="252B33"/>
                </a:solidFill>
              </a:rPr>
              <a:t>高科研</a:t>
            </a:r>
          </a:p>
        </p:txBody>
      </p:sp>
      <p:sp>
        <p:nvSpPr>
          <p:cNvPr id="10" name="low-zone">
            <a:extLst xmlns:a="http://schemas.openxmlformats.org/drawingml/2006/main">
              <a:ext uri="{FF2B5EF4-FFF2-40B4-BE49-F238E27FC236}">
                <a16:creationId xmlns:a16="http://schemas.microsoft.com/office/drawing/2014/main" id="{285B9365-5BE9-4EFC-92F0-7FCB1993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7375"/>
            <a:ext cx="3667125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11" name="low-title">
            <a:extLst xmlns:a="http://schemas.openxmlformats.org/drawingml/2006/main">
              <a:ext uri="{FF2B5EF4-FFF2-40B4-BE49-F238E27FC236}">
                <a16:creationId xmlns:a16="http://schemas.microsoft.com/office/drawing/2014/main" id="{FF2EE50B-6F3D-4DF6-859D-4E3343BC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431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1456B"/>
                </a:solidFill>
              </a:defRPr>
            </a:pPr>
            <a:r>
              <a:rPr sz="3150" b="1">
                <a:solidFill>
                  <a:srgbClr val="21456B"/>
                </a:solidFill>
              </a:rPr>
              <a:t>三低</a:t>
            </a:r>
          </a:p>
        </p:txBody>
      </p:sp>
      <p:sp>
        <p:nvSpPr>
          <p:cNvPr id="12" name="low-body">
            <a:extLst xmlns:a="http://schemas.openxmlformats.org/drawingml/2006/main">
              <a:ext uri="{FF2B5EF4-FFF2-40B4-BE49-F238E27FC236}">
                <a16:creationId xmlns:a16="http://schemas.microsoft.com/office/drawing/2014/main" id="{D760820D-EE24-4AC2-9B70-2BBD71BF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19400"/>
            <a:ext cx="276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理论情感浓度低</a:t>
            </a:r>
          </a:p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身份认同声量低</a:t>
            </a:r>
          </a:p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知行合一燃值低</a:t>
            </a:r>
          </a:p>
        </p:txBody>
      </p:sp>
      <p:sp>
        <p:nvSpPr>
          <p:cNvPr id="13" name="coexist-zone">
            <a:extLst xmlns:a="http://schemas.openxmlformats.org/drawingml/2006/main">
              <a:ext uri="{FF2B5EF4-FFF2-40B4-BE49-F238E27FC236}">
                <a16:creationId xmlns:a16="http://schemas.microsoft.com/office/drawing/2014/main" id="{C855E8F1-47F9-4AAF-9015-83459938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2762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6EEF6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14" name="coexist-head">
            <a:extLst xmlns:a="http://schemas.openxmlformats.org/drawingml/2006/main">
              <a:ext uri="{FF2B5EF4-FFF2-40B4-BE49-F238E27FC236}">
                <a16:creationId xmlns:a16="http://schemas.microsoft.com/office/drawing/2014/main" id="{DD727DD6-8ED3-417E-907F-8BF5E07A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193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15F91"/>
                </a:solidFill>
              </a:defRPr>
            </a:pPr>
            <a:r>
              <a:rPr sz="2250" b="1">
                <a:solidFill>
                  <a:srgbClr val="315F91"/>
                </a:solidFill>
              </a:rPr>
              <a:t>并存矛盾</a:t>
            </a:r>
          </a:p>
        </p:txBody>
      </p:sp>
      <p:sp>
        <p:nvSpPr>
          <p:cNvPr id="15" name="coexist-note">
            <a:extLst xmlns:a="http://schemas.openxmlformats.org/drawingml/2006/main">
              <a:ext uri="{FF2B5EF4-FFF2-40B4-BE49-F238E27FC236}">
                <a16:creationId xmlns:a16="http://schemas.microsoft.com/office/drawing/2014/main" id="{8DAC2D80-85C4-49C2-AB8D-3E9E8060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能力优势与情感转化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需要党建实践承接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91000" y="3071813"/>
            <a:ext cx="381000" cy="523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cxnSp>
        <p:nvCxnSpPr>
          <p:cNvPr id="37" name=""/>
          <p:cNvCxnSpPr>
            <a:stCxn xmlns:a="http://schemas.openxmlformats.org/drawingml/2006/main" id="10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334250" y="3071813"/>
            <a:ext cx="666750" cy="523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18" name="bridge-note">
            <a:extLst xmlns:a="http://schemas.openxmlformats.org/drawingml/2006/main">
              <a:ext uri="{FF2B5EF4-FFF2-40B4-BE49-F238E27FC236}">
                <a16:creationId xmlns:a16="http://schemas.microsoft.com/office/drawing/2014/main" id="{9CC5D81C-E9BF-49BD-8682-11DA4D31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红色梦想实践团走遍全国九省，形成“理论＋实践”立体化红色矩阵</a:t>
            </a:r>
          </a:p>
        </p:txBody>
      </p:sp>
      <p:sp>
        <p:nvSpPr>
          <p:cNvPr id="19" name="bottom-rule">
            <a:extLst xmlns:a="http://schemas.openxmlformats.org/drawingml/2006/main">
              <a:ext uri="{FF2B5EF4-FFF2-40B4-BE49-F238E27FC236}">
                <a16:creationId xmlns:a16="http://schemas.microsoft.com/office/drawing/2014/main" id="{955885B9-3D17-4AC8-A04A-5376F250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0" name="thesis">
            <a:extLst xmlns:a="http://schemas.openxmlformats.org/drawingml/2006/main">
              <a:ext uri="{FF2B5EF4-FFF2-40B4-BE49-F238E27FC236}">
                <a16:creationId xmlns:a16="http://schemas.microsoft.com/office/drawing/2014/main" id="{FCC3ABA4-9CF6-4D89-A2BE-DD26E967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F91"/>
                </a:solidFill>
              </a:defRPr>
            </a:pPr>
            <a:r>
              <a:rPr sz="1800" b="1">
                <a:solidFill>
                  <a:srgbClr val="315F91"/>
                </a:solidFill>
              </a:rPr>
              <a:t>今天的选择：把“走遍全国”进一步收束为“深耕辽宁”，让六块红色标识成为离青年最近的教育现场。</a:t>
            </a:r>
          </a:p>
        </p:txBody>
      </p:sp>
    </p:spTree>
    <p:extLst>
      <p:ext uri="{BB962C8B-B14F-4D97-AF65-F5344CB8AC3E}">
        <p14:creationId xmlns:p14="http://schemas.microsoft.com/office/powerpoint/2010/main" val="15241329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BD53A82D-B83E-477D-B4CF-E36FD2B5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B311BEB-0829-42DC-A2D0-5F754784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6CB62E-3286-4C4F-9616-00C4C389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新矩阵把一条红色研学链，接入三类课堂与 N 个真实场景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57C88D92-1523-41B9-A4C9-6CE7D58B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03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A16D49B-9715-4EEA-B76B-672073DF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arch-lead">
            <a:extLst xmlns:a="http://schemas.openxmlformats.org/drawingml/2006/main">
              <a:ext uri="{FF2B5EF4-FFF2-40B4-BE49-F238E27FC236}">
                <a16:creationId xmlns:a16="http://schemas.microsoft.com/office/drawing/2014/main" id="{BDA2BED8-BEB4-4A8C-9AD7-BC00037F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双轮驱动：深挖“六地”文化内涵 + 实践研学赋能，重塑“五位一体”红色育人生态。</a:t>
            </a:r>
          </a:p>
        </p:txBody>
      </p:sp>
      <p:sp>
        <p:nvSpPr>
          <p:cNvPr id="7" name="matrix-zone">
            <a:extLst xmlns:a="http://schemas.openxmlformats.org/drawingml/2006/main">
              <a:ext uri="{FF2B5EF4-FFF2-40B4-BE49-F238E27FC236}">
                <a16:creationId xmlns:a16="http://schemas.microsoft.com/office/drawing/2014/main" id="{EEC6040F-52A9-4960-9BFE-BB387889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53340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8" name="matrix-head">
            <a:extLst xmlns:a="http://schemas.openxmlformats.org/drawingml/2006/main">
              <a:ext uri="{FF2B5EF4-FFF2-40B4-BE49-F238E27FC236}">
                <a16:creationId xmlns:a16="http://schemas.microsoft.com/office/drawing/2014/main" id="{305B5846-CA2C-47F3-A46F-06C7518F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F91"/>
                </a:solidFill>
              </a:defRPr>
            </a:pPr>
            <a:r>
              <a:rPr sz="2250" b="1">
                <a:solidFill>
                  <a:srgbClr val="315F91"/>
                </a:solidFill>
              </a:rPr>
              <a:t>1 + 3 + N 新矩阵</a:t>
            </a:r>
          </a:p>
        </p:txBody>
      </p:sp>
      <p:sp>
        <p:nvSpPr>
          <p:cNvPr id="9" name="matrix-rule-1">
            <a:extLst xmlns:a="http://schemas.openxmlformats.org/drawingml/2006/main">
              <a:ext uri="{FF2B5EF4-FFF2-40B4-BE49-F238E27FC236}">
                <a16:creationId xmlns:a16="http://schemas.microsoft.com/office/drawing/2014/main" id="{4AD66015-6FA3-42B8-B686-C02E6EAE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3"/>
          </a:solidFill>
          <a:ln xmlns:a="http://schemas.openxmlformats.org/drawingml/2006/main" w="0">
            <a:solidFill>
              <a:srgbClr val="C9D6E3"/>
            </a:solidFill>
            <a:prstDash val="solid"/>
          </a:ln>
        </p:spPr>
      </p:sp>
      <p:sp>
        <p:nvSpPr>
          <p:cNvPr id="10" name="matrix-one">
            <a:extLst xmlns:a="http://schemas.openxmlformats.org/drawingml/2006/main">
              <a:ext uri="{FF2B5EF4-FFF2-40B4-BE49-F238E27FC236}">
                <a16:creationId xmlns:a16="http://schemas.microsoft.com/office/drawing/2014/main" id="{917BDA4C-B090-405A-90D8-C35D3555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1 条研学链</a:t>
            </a:r>
          </a:p>
        </p:txBody>
      </p:sp>
      <p:sp>
        <p:nvSpPr>
          <p:cNvPr id="11" name="matrix-one-detail">
            <a:extLst xmlns:a="http://schemas.openxmlformats.org/drawingml/2006/main">
              <a:ext uri="{FF2B5EF4-FFF2-40B4-BE49-F238E27FC236}">
                <a16:creationId xmlns:a16="http://schemas.microsoft.com/office/drawing/2014/main" id="{22372930-3672-49E3-ADE1-CC90C3CF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33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</a:defRPr>
            </a:pPr>
            <a:r>
              <a:rPr sz="1350" b="0">
                <a:solidFill>
                  <a:srgbClr val="707780"/>
                </a:solidFill>
              </a:rPr>
              <a:t>对接 22 处“六地”示范教学点</a:t>
            </a:r>
          </a:p>
        </p:txBody>
      </p:sp>
      <p:sp>
        <p:nvSpPr>
          <p:cNvPr id="12" name="matrix-rule-2">
            <a:extLst xmlns:a="http://schemas.openxmlformats.org/drawingml/2006/main">
              <a:ext uri="{FF2B5EF4-FFF2-40B4-BE49-F238E27FC236}">
                <a16:creationId xmlns:a16="http://schemas.microsoft.com/office/drawing/2014/main" id="{E3402EBF-89DD-4BD8-BC89-74E8EEF2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3"/>
          </a:solidFill>
          <a:ln xmlns:a="http://schemas.openxmlformats.org/drawingml/2006/main" w="0">
            <a:solidFill>
              <a:srgbClr val="C9D6E3"/>
            </a:solidFill>
            <a:prstDash val="solid"/>
          </a:ln>
        </p:spPr>
      </p:sp>
      <p:sp>
        <p:nvSpPr>
          <p:cNvPr id="13" name="matrix-three">
            <a:extLst xmlns:a="http://schemas.openxmlformats.org/drawingml/2006/main">
              <a:ext uri="{FF2B5EF4-FFF2-40B4-BE49-F238E27FC236}">
                <a16:creationId xmlns:a16="http://schemas.microsoft.com/office/drawing/2014/main" id="{844EDF2E-F387-42E7-8A7B-6020FB55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3 类青春课堂</a:t>
            </a:r>
          </a:p>
        </p:txBody>
      </p:sp>
      <p:sp>
        <p:nvSpPr>
          <p:cNvPr id="14" name="matrix-three-detail">
            <a:extLst xmlns:a="http://schemas.openxmlformats.org/drawingml/2006/main">
              <a:ext uri="{FF2B5EF4-FFF2-40B4-BE49-F238E27FC236}">
                <a16:creationId xmlns:a16="http://schemas.microsoft.com/office/drawing/2014/main" id="{14D8DB28-A6EF-4C61-A1AF-50B7A6BB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</a:defRPr>
            </a:pPr>
            <a:r>
              <a:rPr sz="1350" b="0">
                <a:solidFill>
                  <a:srgbClr val="707780"/>
                </a:solidFill>
              </a:rPr>
              <a:t>行走 · 沉浸（VR） · 互动（宣讲）</a:t>
            </a:r>
          </a:p>
        </p:txBody>
      </p:sp>
      <p:sp>
        <p:nvSpPr>
          <p:cNvPr id="15" name="matrix-rule-3">
            <a:extLst xmlns:a="http://schemas.openxmlformats.org/drawingml/2006/main">
              <a:ext uri="{FF2B5EF4-FFF2-40B4-BE49-F238E27FC236}">
                <a16:creationId xmlns:a16="http://schemas.microsoft.com/office/drawing/2014/main" id="{FB9DBD11-BEC0-47F7-B125-6E59B81E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3"/>
          </a:solidFill>
          <a:ln xmlns:a="http://schemas.openxmlformats.org/drawingml/2006/main" w="0">
            <a:solidFill>
              <a:srgbClr val="C9D6E3"/>
            </a:solidFill>
            <a:prstDash val="solid"/>
          </a:ln>
        </p:spPr>
      </p:sp>
      <p:sp>
        <p:nvSpPr>
          <p:cNvPr id="16" name="matrix-n">
            <a:extLst xmlns:a="http://schemas.openxmlformats.org/drawingml/2006/main">
              <a:ext uri="{FF2B5EF4-FFF2-40B4-BE49-F238E27FC236}">
                <a16:creationId xmlns:a16="http://schemas.microsoft.com/office/drawing/2014/main" id="{84C458E7-B3E1-44B9-9852-C736533D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N 个教育场景</a:t>
            </a:r>
          </a:p>
        </p:txBody>
      </p:sp>
      <p:sp>
        <p:nvSpPr>
          <p:cNvPr id="17" name="matrix-n-detail">
            <a:extLst xmlns:a="http://schemas.openxmlformats.org/drawingml/2006/main">
              <a:ext uri="{FF2B5EF4-FFF2-40B4-BE49-F238E27FC236}">
                <a16:creationId xmlns:a16="http://schemas.microsoft.com/office/drawing/2014/main" id="{D5402CC1-7EB1-4171-B743-AA252D3E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</a:defRPr>
            </a:pPr>
            <a:r>
              <a:rPr sz="1350" b="0">
                <a:solidFill>
                  <a:srgbClr val="707780"/>
                </a:solidFill>
              </a:rPr>
              <a:t>校地 · 校企 · 校校联建</a:t>
            </a:r>
          </a:p>
        </p:txBody>
      </p:sp>
      <p:sp>
        <p:nvSpPr>
          <p:cNvPr id="18" name="ecosystem-zone">
            <a:extLst xmlns:a="http://schemas.openxmlformats.org/drawingml/2006/main">
              <a:ext uri="{FF2B5EF4-FFF2-40B4-BE49-F238E27FC236}">
                <a16:creationId xmlns:a16="http://schemas.microsoft.com/office/drawing/2014/main" id="{68B6C9A6-C0ED-432D-B531-E8585803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5238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19" name="ecosystem-accent">
            <a:extLst xmlns:a="http://schemas.openxmlformats.org/drawingml/2006/main">
              <a:ext uri="{FF2B5EF4-FFF2-40B4-BE49-F238E27FC236}">
                <a16:creationId xmlns:a16="http://schemas.microsoft.com/office/drawing/2014/main" id="{298F3691-9330-426D-A043-B7AE5009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0" name="ecosystem-head">
            <a:extLst xmlns:a="http://schemas.openxmlformats.org/drawingml/2006/main">
              <a:ext uri="{FF2B5EF4-FFF2-40B4-BE49-F238E27FC236}">
                <a16:creationId xmlns:a16="http://schemas.microsoft.com/office/drawing/2014/main" id="{B3422C57-4FC2-4F96-8969-CA47C7E3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526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F91"/>
                </a:solidFill>
              </a:defRPr>
            </a:pPr>
            <a:r>
              <a:rPr sz="1950" b="1">
                <a:solidFill>
                  <a:srgbClr val="315F91"/>
                </a:solidFill>
              </a:rPr>
              <a:t>双轮驱动</a:t>
            </a:r>
          </a:p>
        </p:txBody>
      </p:sp>
      <p:sp>
        <p:nvSpPr>
          <p:cNvPr id="21" name="ecosystem-body">
            <a:extLst xmlns:a="http://schemas.openxmlformats.org/drawingml/2006/main">
              <a:ext uri="{FF2B5EF4-FFF2-40B4-BE49-F238E27FC236}">
                <a16:creationId xmlns:a16="http://schemas.microsoft.com/office/drawing/2014/main" id="{6D3AEB29-1453-4137-9D65-58EC2F58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深挖“六地”文化内涵</a:t>
            </a:r>
          </a:p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实践研学赋能</a:t>
            </a:r>
          </a:p>
        </p:txBody>
      </p:sp>
      <p:sp>
        <p:nvSpPr>
          <p:cNvPr id="22" name="ecosystem-result">
            <a:extLst xmlns:a="http://schemas.openxmlformats.org/drawingml/2006/main">
              <a:ext uri="{FF2B5EF4-FFF2-40B4-BE49-F238E27FC236}">
                <a16:creationId xmlns:a16="http://schemas.microsoft.com/office/drawing/2014/main" id="{72A2577B-7250-474B-92FE-01485524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005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F91"/>
                </a:solidFill>
              </a:defRPr>
            </a:pPr>
            <a:r>
              <a:rPr sz="2250" b="1">
                <a:solidFill>
                  <a:srgbClr val="315F91"/>
                </a:solidFill>
              </a:rPr>
              <a:t>五位一体</a:t>
            </a:r>
          </a:p>
          <a:p xmlns:a="http://schemas.openxmlformats.org/drawingml/2006/main">
            <a:pPr algn="l">
              <a:defRPr sz="2250" b="1">
                <a:solidFill>
                  <a:srgbClr val="315F91"/>
                </a:solidFill>
              </a:defRPr>
            </a:pPr>
            <a:r>
              <a:rPr sz="2250" b="1">
                <a:solidFill>
                  <a:srgbClr val="315F91"/>
                </a:solidFill>
              </a:rPr>
              <a:t>红色育人生态</a:t>
            </a:r>
          </a:p>
        </p:txBody>
      </p: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57875" y="36909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6127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1558B565-E985-498C-AECE-5DE392AB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3A6801E-8428-42B1-B3D9-9A5B0A0D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E2C007-B8B7-4A7C-8B3C-14CBFEE2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研学路线先立根基，再穿行六地，最后把现场扩展到 N 个教学点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232C0D1F-BB22-4D55-BC6D-71176A84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04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573568E-F488-4D0B-A662-E64BD8E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route-lead">
            <a:extLst xmlns:a="http://schemas.openxmlformats.org/drawingml/2006/main">
              <a:ext uri="{FF2B5EF4-FFF2-40B4-BE49-F238E27FC236}">
                <a16:creationId xmlns:a16="http://schemas.microsoft.com/office/drawing/2014/main" id="{88A39B81-A611-46FC-B497-D88520BF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“红色足迹地图”组织 22 处示范教学点，路线由校本基地、六地文化身份与配套教学点共同构成。</a:t>
            </a:r>
          </a:p>
        </p:txBody>
      </p:sp>
      <p:sp>
        <p:nvSpPr>
          <p:cNvPr id="7" name="route-1">
            <a:extLst xmlns:a="http://schemas.openxmlformats.org/drawingml/2006/main">
              <a:ext uri="{FF2B5EF4-FFF2-40B4-BE49-F238E27FC236}">
                <a16:creationId xmlns:a16="http://schemas.microsoft.com/office/drawing/2014/main" id="{A5432CC9-7C6E-474E-9D43-DE311CFC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8" name="route-1-label">
            <a:extLst xmlns:a="http://schemas.openxmlformats.org/drawingml/2006/main">
              <a:ext uri="{FF2B5EF4-FFF2-40B4-BE49-F238E27FC236}">
                <a16:creationId xmlns:a16="http://schemas.microsoft.com/office/drawing/2014/main" id="{60E3E804-3D1A-42FF-B244-402C9A76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校史馆</a:t>
            </a:r>
          </a:p>
        </p:txBody>
      </p:sp>
      <p:sp>
        <p:nvSpPr>
          <p:cNvPr id="9" name="route-cluster">
            <a:extLst xmlns:a="http://schemas.openxmlformats.org/drawingml/2006/main">
              <a:ext uri="{FF2B5EF4-FFF2-40B4-BE49-F238E27FC236}">
                <a16:creationId xmlns:a16="http://schemas.microsoft.com/office/drawing/2014/main" id="{79F418D3-49B3-48EB-877A-CF2C6CFF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53340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10" name="route-cluster-title">
            <a:extLst xmlns:a="http://schemas.openxmlformats.org/drawingml/2006/main">
              <a:ext uri="{FF2B5EF4-FFF2-40B4-BE49-F238E27FC236}">
                <a16:creationId xmlns:a16="http://schemas.microsoft.com/office/drawing/2014/main" id="{71B8B8EF-0ECD-477F-B3EF-FD011B0E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526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15F91"/>
                </a:solidFill>
              </a:defRPr>
            </a:pPr>
            <a:r>
              <a:rPr sz="1875" b="1">
                <a:solidFill>
                  <a:srgbClr val="315F91"/>
                </a:solidFill>
              </a:rPr>
              <a:t>6 处核心“六地”场馆</a:t>
            </a:r>
          </a:p>
        </p:txBody>
      </p:sp>
      <p:sp>
        <p:nvSpPr>
          <p:cNvPr id="11" name="route-id-1">
            <a:extLst xmlns:a="http://schemas.openxmlformats.org/drawingml/2006/main">
              <a:ext uri="{FF2B5EF4-FFF2-40B4-BE49-F238E27FC236}">
                <a16:creationId xmlns:a16="http://schemas.microsoft.com/office/drawing/2014/main" id="{CF5187D2-AA7B-401F-8E3A-A8D2EA35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813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2" name="route-id-1-label">
            <a:extLst xmlns:a="http://schemas.openxmlformats.org/drawingml/2006/main">
              <a:ext uri="{FF2B5EF4-FFF2-40B4-BE49-F238E27FC236}">
                <a16:creationId xmlns:a16="http://schemas.microsoft.com/office/drawing/2014/main" id="{E432342D-F0F1-4C5B-827F-8607352E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9146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抗日战争起始地</a:t>
            </a:r>
          </a:p>
        </p:txBody>
      </p:sp>
      <p:sp>
        <p:nvSpPr>
          <p:cNvPr id="13" name="route-id-2">
            <a:extLst xmlns:a="http://schemas.openxmlformats.org/drawingml/2006/main">
              <a:ext uri="{FF2B5EF4-FFF2-40B4-BE49-F238E27FC236}">
                <a16:creationId xmlns:a16="http://schemas.microsoft.com/office/drawing/2014/main" id="{ABD8163C-16C7-4704-8DA3-39B01B2D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813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route-id-2-label">
            <a:extLst xmlns:a="http://schemas.openxmlformats.org/drawingml/2006/main">
              <a:ext uri="{FF2B5EF4-FFF2-40B4-BE49-F238E27FC236}">
                <a16:creationId xmlns:a16="http://schemas.microsoft.com/office/drawing/2014/main" id="{8881ECDC-6495-409F-B856-3C87AA62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146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解放战争转折地</a:t>
            </a:r>
          </a:p>
        </p:txBody>
      </p:sp>
      <p:sp>
        <p:nvSpPr>
          <p:cNvPr id="15" name="route-id-3">
            <a:extLst xmlns:a="http://schemas.openxmlformats.org/drawingml/2006/main">
              <a:ext uri="{FF2B5EF4-FFF2-40B4-BE49-F238E27FC236}">
                <a16:creationId xmlns:a16="http://schemas.microsoft.com/office/drawing/2014/main" id="{D64837EE-64A9-465C-96F5-73A5368B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290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6" name="route-id-3-label">
            <a:extLst xmlns:a="http://schemas.openxmlformats.org/drawingml/2006/main">
              <a:ext uri="{FF2B5EF4-FFF2-40B4-BE49-F238E27FC236}">
                <a16:creationId xmlns:a16="http://schemas.microsoft.com/office/drawing/2014/main" id="{376D6EDE-3396-4868-BA35-8F7A7464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5623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新中国国歌素材地</a:t>
            </a:r>
          </a:p>
        </p:txBody>
      </p:sp>
      <p:sp>
        <p:nvSpPr>
          <p:cNvPr id="17" name="route-id-4">
            <a:extLst xmlns:a="http://schemas.openxmlformats.org/drawingml/2006/main">
              <a:ext uri="{FF2B5EF4-FFF2-40B4-BE49-F238E27FC236}">
                <a16:creationId xmlns:a16="http://schemas.microsoft.com/office/drawing/2014/main" id="{19CBF8A9-F9FF-438B-951E-CB4C8E26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290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8" name="route-id-4-label">
            <a:extLst xmlns:a="http://schemas.openxmlformats.org/drawingml/2006/main">
              <a:ext uri="{FF2B5EF4-FFF2-40B4-BE49-F238E27FC236}">
                <a16:creationId xmlns:a16="http://schemas.microsoft.com/office/drawing/2014/main" id="{1E4BD504-086C-4C04-8F7E-5C30D66A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623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抗美援朝出征地</a:t>
            </a:r>
          </a:p>
        </p:txBody>
      </p:sp>
      <p:sp>
        <p:nvSpPr>
          <p:cNvPr id="19" name="route-id-5">
            <a:extLst xmlns:a="http://schemas.openxmlformats.org/drawingml/2006/main">
              <a:ext uri="{FF2B5EF4-FFF2-40B4-BE49-F238E27FC236}">
                <a16:creationId xmlns:a16="http://schemas.microsoft.com/office/drawing/2014/main" id="{73897BF8-216C-4771-96E8-9D9B27F1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767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20" name="route-id-5-label">
            <a:extLst xmlns:a="http://schemas.openxmlformats.org/drawingml/2006/main">
              <a:ext uri="{FF2B5EF4-FFF2-40B4-BE49-F238E27FC236}">
                <a16:creationId xmlns:a16="http://schemas.microsoft.com/office/drawing/2014/main" id="{2FC01A93-D23A-4FA9-89B3-8578491B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100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共和国工业奠基地</a:t>
            </a:r>
          </a:p>
        </p:txBody>
      </p:sp>
      <p:sp>
        <p:nvSpPr>
          <p:cNvPr id="21" name="route-id-6">
            <a:extLst xmlns:a="http://schemas.openxmlformats.org/drawingml/2006/main">
              <a:ext uri="{FF2B5EF4-FFF2-40B4-BE49-F238E27FC236}">
                <a16:creationId xmlns:a16="http://schemas.microsoft.com/office/drawing/2014/main" id="{67E46ECE-8AFF-40D3-9854-D95ADE3E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767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2" name="route-id-6-label">
            <a:extLst xmlns:a="http://schemas.openxmlformats.org/drawingml/2006/main">
              <a:ext uri="{FF2B5EF4-FFF2-40B4-BE49-F238E27FC236}">
                <a16:creationId xmlns:a16="http://schemas.microsoft.com/office/drawing/2014/main" id="{BA1A8481-F10E-4AC3-87FB-251C6CE8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100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雷锋精神发祥地</a:t>
            </a:r>
          </a:p>
        </p:txBody>
      </p:sp>
      <p:sp>
        <p:nvSpPr>
          <p:cNvPr id="23" name="route-5">
            <a:extLst xmlns:a="http://schemas.openxmlformats.org/drawingml/2006/main">
              <a:ext uri="{FF2B5EF4-FFF2-40B4-BE49-F238E27FC236}">
                <a16:creationId xmlns:a16="http://schemas.microsoft.com/office/drawing/2014/main" id="{E3FBA4BF-593C-4F72-8B84-E85AD816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4" name="route-5-label">
            <a:extLst xmlns:a="http://schemas.openxmlformats.org/drawingml/2006/main">
              <a:ext uri="{FF2B5EF4-FFF2-40B4-BE49-F238E27FC236}">
                <a16:creationId xmlns:a16="http://schemas.microsoft.com/office/drawing/2014/main" id="{9C487EA6-478F-436D-A643-B9DE8750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33725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配套教学点</a:t>
            </a:r>
          </a:p>
        </p:txBody>
      </p: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67000" y="3438525"/>
            <a:ext cx="714375" cy="142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8715375" y="3438525"/>
            <a:ext cx="714375" cy="142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sp>
        <p:nvSpPr>
          <p:cNvPr id="27" name="route-cap-1">
            <a:extLst xmlns:a="http://schemas.openxmlformats.org/drawingml/2006/main">
              <a:ext uri="{FF2B5EF4-FFF2-40B4-BE49-F238E27FC236}">
                <a16:creationId xmlns:a16="http://schemas.microsoft.com/office/drawing/2014/main" id="{D9C5CC03-3434-407D-8D67-5D233AE0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路线入口</a:t>
            </a:r>
          </a:p>
        </p:txBody>
      </p:sp>
      <p:sp>
        <p:nvSpPr>
          <p:cNvPr id="28" name="route-cap-2">
            <a:extLst xmlns:a="http://schemas.openxmlformats.org/drawingml/2006/main">
              <a:ext uri="{FF2B5EF4-FFF2-40B4-BE49-F238E27FC236}">
                <a16:creationId xmlns:a16="http://schemas.microsoft.com/office/drawing/2014/main" id="{89496420-CD20-49EE-B506-DF11CE98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529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六个文化身份共同构成核心场馆层</a:t>
            </a:r>
          </a:p>
        </p:txBody>
      </p:sp>
      <p:sp>
        <p:nvSpPr>
          <p:cNvPr id="29" name="route-cap-3">
            <a:extLst xmlns:a="http://schemas.openxmlformats.org/drawingml/2006/main">
              <a:ext uri="{FF2B5EF4-FFF2-40B4-BE49-F238E27FC236}">
                <a16:creationId xmlns:a16="http://schemas.microsoft.com/office/drawing/2014/main" id="{8A3F7CB3-BEE4-42F9-BF3B-E9BFF24B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N 个配套教学点</a:t>
            </a:r>
          </a:p>
        </p:txBody>
      </p:sp>
      <p:sp>
        <p:nvSpPr>
          <p:cNvPr id="30" name="route-foot">
            <a:extLst xmlns:a="http://schemas.openxmlformats.org/drawingml/2006/main">
              <a:ext uri="{FF2B5EF4-FFF2-40B4-BE49-F238E27FC236}">
                <a16:creationId xmlns:a16="http://schemas.microsoft.com/office/drawing/2014/main" id="{6FBDE09B-D6C4-40A8-8817-FF0404F9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2925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研学链口径：1 + 6 + N；整体矩阵口径：1 + 3 + N。</a:t>
            </a:r>
          </a:p>
        </p:txBody>
      </p:sp>
    </p:spTree>
    <p:extLst>
      <p:ext uri="{BB962C8B-B14F-4D97-AF65-F5344CB8AC3E}">
        <p14:creationId xmlns:p14="http://schemas.microsoft.com/office/powerpoint/2010/main" val="169089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98A71519-7B80-4DD8-A50D-4FECBAD4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E42CFD2-28ED-401D-AF20-0CF90412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24915E-C1B4-4C16-96FE-14267B97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五类实践抓手，把红色教育从“听过”推进到“做过、共享、长效”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456AB497-2DB6-4428-97C6-4F7BE0BD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05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DBF7FB8-A599-4F11-BD4A-509167D0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handles-lead">
            <a:extLst xmlns:a="http://schemas.openxmlformats.org/drawingml/2006/main">
              <a:ext uri="{FF2B5EF4-FFF2-40B4-BE49-F238E27FC236}">
                <a16:creationId xmlns:a16="http://schemas.microsoft.com/office/drawing/2014/main" id="{85AE867C-8AC2-4543-9ECF-3EF1C691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每个抓手承担一个具体转化任务，共同支撑“红色先锋”的成长结果。</a:t>
            </a:r>
          </a:p>
        </p:txBody>
      </p:sp>
      <p:sp>
        <p:nvSpPr>
          <p:cNvPr id="7" name="handle-core">
            <a:extLst xmlns:a="http://schemas.openxmlformats.org/drawingml/2006/main">
              <a:ext uri="{FF2B5EF4-FFF2-40B4-BE49-F238E27FC236}">
                <a16:creationId xmlns:a16="http://schemas.microsoft.com/office/drawing/2014/main" id="{5607261C-205E-4537-AC3B-1B7315B7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8" name="handle-core-label">
            <a:extLst xmlns:a="http://schemas.openxmlformats.org/drawingml/2006/main">
              <a:ext uri="{FF2B5EF4-FFF2-40B4-BE49-F238E27FC236}">
                <a16:creationId xmlns:a16="http://schemas.microsoft.com/office/drawing/2014/main" id="{15FA2B8B-4277-4FFC-9418-4540BE59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85975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五类抓手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共同支撑</a:t>
            </a:r>
          </a:p>
        </p:txBody>
      </p:sp>
      <p:sp>
        <p:nvSpPr>
          <p:cNvPr id="9" name="handle-bg">
            <a:extLst xmlns:a="http://schemas.openxmlformats.org/drawingml/2006/main">
              <a:ext uri="{FF2B5EF4-FFF2-40B4-BE49-F238E27FC236}">
                <a16:creationId xmlns:a16="http://schemas.microsoft.com/office/drawing/2014/main" id="{D5E65396-CFAB-48E9-9D03-A16215CA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111442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handle-1">
            <a:extLst xmlns:a="http://schemas.openxmlformats.org/drawingml/2006/main">
              <a:ext uri="{FF2B5EF4-FFF2-40B4-BE49-F238E27FC236}">
                <a16:creationId xmlns:a16="http://schemas.microsoft.com/office/drawing/2014/main" id="{E5B90D0F-18FD-402C-96BD-D0BB25F8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handle-1-label">
            <a:extLst xmlns:a="http://schemas.openxmlformats.org/drawingml/2006/main">
              <a:ext uri="{FF2B5EF4-FFF2-40B4-BE49-F238E27FC236}">
                <a16:creationId xmlns:a16="http://schemas.microsoft.com/office/drawing/2014/main" id="{02544570-DF4C-49BF-8301-97FEF0C9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红色任务单</a:t>
            </a:r>
          </a:p>
        </p:txBody>
      </p:sp>
      <p:sp>
        <p:nvSpPr>
          <p:cNvPr id="12" name="handle-sub-1">
            <a:extLst xmlns:a="http://schemas.openxmlformats.org/drawingml/2006/main">
              <a:ext uri="{FF2B5EF4-FFF2-40B4-BE49-F238E27FC236}">
                <a16:creationId xmlns:a16="http://schemas.microsoft.com/office/drawing/2014/main" id="{09996EC3-8409-4066-A8F3-D481262C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把任务做实</a:t>
            </a:r>
          </a:p>
        </p:txBody>
      </p:sp>
      <p:cxnSp>
        <p:nvCxnSpPr>
          <p:cNvPr id="43" name=""/>
          <p:cNvCxnSpPr>
            <a:stCxn xmlns:a="http://schemas.openxmlformats.org/drawingml/2006/main" id="10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733550" y="2905125"/>
            <a:ext cx="43624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14" name="handle-2">
            <a:extLst xmlns:a="http://schemas.openxmlformats.org/drawingml/2006/main">
              <a:ext uri="{FF2B5EF4-FFF2-40B4-BE49-F238E27FC236}">
                <a16:creationId xmlns:a16="http://schemas.microsoft.com/office/drawing/2014/main" id="{ABA7DC9C-83A7-46E4-B6C6-1CBD554E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10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5" name="handle-2-label">
            <a:extLst xmlns:a="http://schemas.openxmlformats.org/drawingml/2006/main">
              <a:ext uri="{FF2B5EF4-FFF2-40B4-BE49-F238E27FC236}">
                <a16:creationId xmlns:a16="http://schemas.microsoft.com/office/drawing/2014/main" id="{A1028790-C1DD-464A-8865-05869660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VR 示范基地</a:t>
            </a:r>
          </a:p>
        </p:txBody>
      </p:sp>
      <p:sp>
        <p:nvSpPr>
          <p:cNvPr id="16" name="handle-sub-2">
            <a:extLst xmlns:a="http://schemas.openxmlformats.org/drawingml/2006/main">
              <a:ext uri="{FF2B5EF4-FFF2-40B4-BE49-F238E27FC236}">
                <a16:creationId xmlns:a16="http://schemas.microsoft.com/office/drawing/2014/main" id="{B5199FD3-DF25-474C-87E2-305DE4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48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把现场做深</a:t>
            </a:r>
          </a:p>
        </p:txBody>
      </p:sp>
      <p:cxnSp>
        <p:nvCxnSpPr>
          <p:cNvPr id="47" name=""/>
          <p:cNvCxnSpPr>
            <a:stCxn xmlns:a="http://schemas.openxmlformats.org/drawingml/2006/main" id="14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714750" y="2905125"/>
            <a:ext cx="23812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18" name="handle-3">
            <a:extLst xmlns:a="http://schemas.openxmlformats.org/drawingml/2006/main">
              <a:ext uri="{FF2B5EF4-FFF2-40B4-BE49-F238E27FC236}">
                <a16:creationId xmlns:a16="http://schemas.microsoft.com/office/drawing/2014/main" id="{7BDCA2B2-1654-4C6A-A44C-C60C6566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10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9" name="handle-3-label">
            <a:extLst xmlns:a="http://schemas.openxmlformats.org/drawingml/2006/main">
              <a:ext uri="{FF2B5EF4-FFF2-40B4-BE49-F238E27FC236}">
                <a16:creationId xmlns:a16="http://schemas.microsoft.com/office/drawing/2014/main" id="{B7227400-2BAD-4D66-A16C-C26EDE65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433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青春有理</a:t>
            </a:r>
          </a:p>
        </p:txBody>
      </p:sp>
      <p:sp>
        <p:nvSpPr>
          <p:cNvPr id="20" name="handle-sub-3">
            <a:extLst xmlns:a="http://schemas.openxmlformats.org/drawingml/2006/main">
              <a:ext uri="{FF2B5EF4-FFF2-40B4-BE49-F238E27FC236}">
                <a16:creationId xmlns:a16="http://schemas.microsoft.com/office/drawing/2014/main" id="{D832D0C2-F4C4-4F01-829F-2C3B8C71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48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把理论讲活</a:t>
            </a:r>
          </a:p>
        </p:txBody>
      </p:sp>
      <p:cxnSp>
        <p:nvCxnSpPr>
          <p:cNvPr id="51" name=""/>
          <p:cNvCxnSpPr>
            <a:stCxn xmlns:a="http://schemas.openxmlformats.org/drawingml/2006/main" id="18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5695950" y="2905125"/>
            <a:ext cx="4000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22" name="handle-4">
            <a:extLst xmlns:a="http://schemas.openxmlformats.org/drawingml/2006/main">
              <a:ext uri="{FF2B5EF4-FFF2-40B4-BE49-F238E27FC236}">
                <a16:creationId xmlns:a16="http://schemas.microsoft.com/office/drawing/2014/main" id="{A1E97B8B-17E2-4325-87CF-44F96D13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3" name="handle-4-label">
            <a:extLst xmlns:a="http://schemas.openxmlformats.org/drawingml/2006/main">
              <a:ext uri="{FF2B5EF4-FFF2-40B4-BE49-F238E27FC236}">
                <a16:creationId xmlns:a16="http://schemas.microsoft.com/office/drawing/2014/main" id="{DD80EEB4-890B-4000-B509-2631E01C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433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红色朋友圈</a:t>
            </a:r>
          </a:p>
        </p:txBody>
      </p:sp>
      <p:sp>
        <p:nvSpPr>
          <p:cNvPr id="24" name="handle-sub-4">
            <a:extLst xmlns:a="http://schemas.openxmlformats.org/drawingml/2006/main">
              <a:ext uri="{FF2B5EF4-FFF2-40B4-BE49-F238E27FC236}">
                <a16:creationId xmlns:a16="http://schemas.microsoft.com/office/drawing/2014/main" id="{DF11FADD-FA45-442C-B292-E361A88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把资源共享</a:t>
            </a:r>
          </a:p>
        </p:txBody>
      </p:sp>
      <p:cxnSp>
        <p:nvCxnSpPr>
          <p:cNvPr id="55" name=""/>
          <p:cNvCxnSpPr>
            <a:stCxn xmlns:a="http://schemas.openxmlformats.org/drawingml/2006/main" id="22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6096000" y="2905125"/>
            <a:ext cx="15811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26" name="handle-5">
            <a:extLst xmlns:a="http://schemas.openxmlformats.org/drawingml/2006/main">
              <a:ext uri="{FF2B5EF4-FFF2-40B4-BE49-F238E27FC236}">
                <a16:creationId xmlns:a16="http://schemas.microsoft.com/office/drawing/2014/main" id="{347BD9A8-579F-4C74-9A93-1F920C28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10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27" name="handle-5-label">
            <a:extLst xmlns:a="http://schemas.openxmlformats.org/drawingml/2006/main">
              <a:ext uri="{FF2B5EF4-FFF2-40B4-BE49-F238E27FC236}">
                <a16:creationId xmlns:a16="http://schemas.microsoft.com/office/drawing/2014/main" id="{BF1D965D-9582-4B6F-BDE9-7B959D7A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433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红色育人机制</a:t>
            </a:r>
          </a:p>
        </p:txBody>
      </p:sp>
      <p:sp>
        <p:nvSpPr>
          <p:cNvPr id="28" name="handle-sub-5">
            <a:extLst xmlns:a="http://schemas.openxmlformats.org/drawingml/2006/main">
              <a:ext uri="{FF2B5EF4-FFF2-40B4-BE49-F238E27FC236}">
                <a16:creationId xmlns:a16="http://schemas.microsoft.com/office/drawing/2014/main" id="{DDC4F66F-5D78-4211-AD06-7F38EE06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48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把培养做长</a:t>
            </a:r>
          </a:p>
        </p:txBody>
      </p:sp>
      <p:cxnSp>
        <p:nvCxnSpPr>
          <p:cNvPr id="59" name=""/>
          <p:cNvCxnSpPr>
            <a:stCxn xmlns:a="http://schemas.openxmlformats.org/drawingml/2006/main" id="26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6096000" y="2905125"/>
            <a:ext cx="35623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30" name="handle-note">
            <a:extLst xmlns:a="http://schemas.openxmlformats.org/drawingml/2006/main">
              <a:ext uri="{FF2B5EF4-FFF2-40B4-BE49-F238E27FC236}">
                <a16:creationId xmlns:a16="http://schemas.microsoft.com/office/drawing/2014/main" id="{E8722C28-489D-4DE8-8884-0C10B217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任务、场景、表达、协同与机制，共同支撑红色育人生态。</a:t>
            </a:r>
          </a:p>
        </p:txBody>
      </p:sp>
    </p:spTree>
    <p:extLst>
      <p:ext uri="{BB962C8B-B14F-4D97-AF65-F5344CB8AC3E}">
        <p14:creationId xmlns:p14="http://schemas.microsoft.com/office/powerpoint/2010/main" val="13088111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A3BB0D48-0D75-4588-B5C4-D50903F1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503707-B616-4F9D-98C6-0FE3DF37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5B5703-9CBD-46D6-AB98-DEE201FE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一张“红色任务单”，让学生在专业问题里读懂振兴担当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A3D6778C-87F5-4BB6-A904-123402B4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06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CB05353-0E41-4ED4-B453-63E583F1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task-lead">
            <a:extLst xmlns:a="http://schemas.openxmlformats.org/drawingml/2006/main">
              <a:ext uri="{FF2B5EF4-FFF2-40B4-BE49-F238E27FC236}">
                <a16:creationId xmlns:a16="http://schemas.microsoft.com/office/drawing/2014/main" id="{AB99E153-9643-4016-9527-3430BDD7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任务单不是打卡清单，而是“三摆三写”的军令状：把自己、工作、职责都放进地方问题。</a:t>
            </a:r>
          </a:p>
        </p:txBody>
      </p:sp>
      <p:sp>
        <p:nvSpPr>
          <p:cNvPr id="7" name="task-main">
            <a:extLst xmlns:a="http://schemas.openxmlformats.org/drawingml/2006/main">
              <a:ext uri="{FF2B5EF4-FFF2-40B4-BE49-F238E27FC236}">
                <a16:creationId xmlns:a16="http://schemas.microsoft.com/office/drawing/2014/main" id="{2980E908-6BC5-4548-9EA6-C0961F4D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8" name="task-title">
            <a:extLst xmlns:a="http://schemas.openxmlformats.org/drawingml/2006/main">
              <a:ext uri="{FF2B5EF4-FFF2-40B4-BE49-F238E27FC236}">
                <a16:creationId xmlns:a16="http://schemas.microsoft.com/office/drawing/2014/main" id="{5CC99EB6-1F09-4AD2-A7E2-CB8A42F1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15F91"/>
                </a:solidFill>
              </a:defRPr>
            </a:pPr>
            <a:r>
              <a:rPr sz="2400" b="1">
                <a:solidFill>
                  <a:srgbClr val="315F91"/>
                </a:solidFill>
              </a:rPr>
              <a:t>三摆三写</a:t>
            </a:r>
          </a:p>
        </p:txBody>
      </p:sp>
      <p:sp>
        <p:nvSpPr>
          <p:cNvPr id="9" name="task-caption">
            <a:extLst xmlns:a="http://schemas.openxmlformats.org/drawingml/2006/main">
              <a:ext uri="{FF2B5EF4-FFF2-40B4-BE49-F238E27FC236}">
                <a16:creationId xmlns:a16="http://schemas.microsoft.com/office/drawing/2014/main" id="{FF24D6B4-1C43-4D2D-8421-F892A19E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对应关系：把对象摆进去，再写对应答卷</a:t>
            </a:r>
          </a:p>
        </p:txBody>
      </p:sp>
      <p:sp>
        <p:nvSpPr>
          <p:cNvPr id="10" name="task-1">
            <a:extLst xmlns:a="http://schemas.openxmlformats.org/drawingml/2006/main">
              <a:ext uri="{FF2B5EF4-FFF2-40B4-BE49-F238E27FC236}">
                <a16:creationId xmlns:a16="http://schemas.microsoft.com/office/drawing/2014/main" id="{3B4D675A-2913-4DE6-AE14-05B240DD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task-1-label">
            <a:extLst xmlns:a="http://schemas.openxmlformats.org/drawingml/2006/main">
              <a:ext uri="{FF2B5EF4-FFF2-40B4-BE49-F238E27FC236}">
                <a16:creationId xmlns:a16="http://schemas.microsoft.com/office/drawing/2014/main" id="{4111D22C-4E9B-4A70-B568-789B3D89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把自己摆进去</a:t>
            </a:r>
          </a:p>
        </p:txBody>
      </p:sp>
      <p:sp>
        <p:nvSpPr>
          <p:cNvPr id="12" name="task-2">
            <a:extLst xmlns:a="http://schemas.openxmlformats.org/drawingml/2006/main">
              <a:ext uri="{FF2B5EF4-FFF2-40B4-BE49-F238E27FC236}">
                <a16:creationId xmlns:a16="http://schemas.microsoft.com/office/drawing/2014/main" id="{995B8D05-5E75-4BCD-BBE1-58D95BFA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3" name="task-2-label">
            <a:extLst xmlns:a="http://schemas.openxmlformats.org/drawingml/2006/main">
              <a:ext uri="{FF2B5EF4-FFF2-40B4-BE49-F238E27FC236}">
                <a16:creationId xmlns:a16="http://schemas.microsoft.com/office/drawing/2014/main" id="{F736A050-E79C-4E3E-B9D7-F7F60BB3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把工作摆进去</a:t>
            </a:r>
          </a:p>
        </p:txBody>
      </p:sp>
      <p:sp>
        <p:nvSpPr>
          <p:cNvPr id="14" name="task-3">
            <a:extLst xmlns:a="http://schemas.openxmlformats.org/drawingml/2006/main">
              <a:ext uri="{FF2B5EF4-FFF2-40B4-BE49-F238E27FC236}">
                <a16:creationId xmlns:a16="http://schemas.microsoft.com/office/drawing/2014/main" id="{244FF3AB-6FBA-4B69-B123-8043B95D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5" name="task-3-label">
            <a:extLst xmlns:a="http://schemas.openxmlformats.org/drawingml/2006/main">
              <a:ext uri="{FF2B5EF4-FFF2-40B4-BE49-F238E27FC236}">
                <a16:creationId xmlns:a16="http://schemas.microsoft.com/office/drawing/2014/main" id="{E469A1D6-7EAB-4793-BDFD-F27B02FE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把职责摆进去</a:t>
            </a:r>
          </a:p>
        </p:txBody>
      </p:sp>
      <p:sp>
        <p:nvSpPr>
          <p:cNvPr id="16" name="task-write-1">
            <a:extLst xmlns:a="http://schemas.openxmlformats.org/drawingml/2006/main">
              <a:ext uri="{FF2B5EF4-FFF2-40B4-BE49-F238E27FC236}">
                <a16:creationId xmlns:a16="http://schemas.microsoft.com/office/drawing/2014/main" id="{442A2D2A-A910-4FB9-A213-B5911F09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43250"/>
            <a:ext cx="1714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7" name="task-write-1-label">
            <a:extLst xmlns:a="http://schemas.openxmlformats.org/drawingml/2006/main">
              <a:ext uri="{FF2B5EF4-FFF2-40B4-BE49-F238E27FC236}">
                <a16:creationId xmlns:a16="http://schemas.microsoft.com/office/drawing/2014/main" id="{8FB4F840-3E1D-4F3E-BB90-4FCDFBAD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766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写青春誓言</a:t>
            </a:r>
          </a:p>
        </p:txBody>
      </p:sp>
      <p:sp>
        <p:nvSpPr>
          <p:cNvPr id="18" name="task-write-2">
            <a:extLst xmlns:a="http://schemas.openxmlformats.org/drawingml/2006/main">
              <a:ext uri="{FF2B5EF4-FFF2-40B4-BE49-F238E27FC236}">
                <a16:creationId xmlns:a16="http://schemas.microsoft.com/office/drawing/2014/main" id="{B901C609-2714-42DE-B81F-28856B52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000500"/>
            <a:ext cx="1714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9" name="task-write-2-label">
            <a:extLst xmlns:a="http://schemas.openxmlformats.org/drawingml/2006/main">
              <a:ext uri="{FF2B5EF4-FFF2-40B4-BE49-F238E27FC236}">
                <a16:creationId xmlns:a16="http://schemas.microsoft.com/office/drawing/2014/main" id="{158743BB-6A94-47A7-BA85-91F68AD9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13385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写专业方案</a:t>
            </a:r>
          </a:p>
        </p:txBody>
      </p:sp>
      <p:sp>
        <p:nvSpPr>
          <p:cNvPr id="20" name="task-write-3">
            <a:extLst xmlns:a="http://schemas.openxmlformats.org/drawingml/2006/main">
              <a:ext uri="{FF2B5EF4-FFF2-40B4-BE49-F238E27FC236}">
                <a16:creationId xmlns:a16="http://schemas.microsoft.com/office/drawing/2014/main" id="{18D25E47-C38D-453F-BAE1-A4B37A0D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57750"/>
            <a:ext cx="1714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21" name="task-write-3-label">
            <a:extLst xmlns:a="http://schemas.openxmlformats.org/drawingml/2006/main">
              <a:ext uri="{FF2B5EF4-FFF2-40B4-BE49-F238E27FC236}">
                <a16:creationId xmlns:a16="http://schemas.microsoft.com/office/drawing/2014/main" id="{952FF5BA-FAE6-4327-902F-9472B46E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911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写振兴答卷</a:t>
            </a:r>
          </a:p>
        </p:txBody>
      </p:sp>
      <p:cxnSp>
        <p:nvCxnSpPr>
          <p:cNvPr id="51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667000" y="34480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667000" y="43053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cxnSp>
        <p:nvCxnSpPr>
          <p:cNvPr id="53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667000" y="51625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25" name="task-evidence">
            <a:extLst xmlns:a="http://schemas.openxmlformats.org/drawingml/2006/main">
              <a:ext uri="{FF2B5EF4-FFF2-40B4-BE49-F238E27FC236}">
                <a16:creationId xmlns:a16="http://schemas.microsoft.com/office/drawing/2014/main" id="{C299C39B-635F-4F54-AA42-3C5F6CEA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604837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26" name="task-evidence-title">
            <a:extLst xmlns:a="http://schemas.openxmlformats.org/drawingml/2006/main">
              <a:ext uri="{FF2B5EF4-FFF2-40B4-BE49-F238E27FC236}">
                <a16:creationId xmlns:a16="http://schemas.microsoft.com/office/drawing/2014/main" id="{780E5996-F55C-4BF4-906E-C4B47291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955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五年沉淀：26 项微课题被“揭榜挂帅”</a:t>
            </a:r>
          </a:p>
        </p:txBody>
      </p:sp>
      <p:sp>
        <p:nvSpPr>
          <p:cNvPr id="27" name="task-actions">
            <a:extLst xmlns:a="http://schemas.openxmlformats.org/drawingml/2006/main">
              <a:ext uri="{FF2B5EF4-FFF2-40B4-BE49-F238E27FC236}">
                <a16:creationId xmlns:a16="http://schemas.microsoft.com/office/drawing/2014/main" id="{9416B3D8-1F4B-4498-905C-4A247743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813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拍一段“青声说史”短视频</a:t>
            </a:r>
          </a:p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解决一个场馆或教学点“微难题”</a:t>
            </a:r>
          </a:p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带回一个“振兴微课题”</a:t>
            </a:r>
          </a:p>
        </p:txBody>
      </p:sp>
      <p:sp>
        <p:nvSpPr>
          <p:cNvPr id="28" name="task-sep">
            <a:extLst xmlns:a="http://schemas.openxmlformats.org/drawingml/2006/main">
              <a:ext uri="{FF2B5EF4-FFF2-40B4-BE49-F238E27FC236}">
                <a16:creationId xmlns:a16="http://schemas.microsoft.com/office/drawing/2014/main" id="{A9D16E70-3840-46DD-B405-90DB4300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6242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9" name="task-examples">
            <a:extLst xmlns:a="http://schemas.openxmlformats.org/drawingml/2006/main">
              <a:ext uri="{FF2B5EF4-FFF2-40B4-BE49-F238E27FC236}">
                <a16:creationId xmlns:a16="http://schemas.microsoft.com/office/drawing/2014/main" id="{ED45E3D1-3EE0-4314-ADE9-E9C7531C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00550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B33"/>
                </a:solidFill>
              </a:defRPr>
            </a:pPr>
            <a:r>
              <a:rPr sz="1275" b="0">
                <a:solidFill>
                  <a:srgbClr val="252B33"/>
                </a:solidFill>
              </a:rPr>
              <a:t>抗美援朝纪念馆：升级“声景”展项</a:t>
            </a:r>
          </a:p>
          <a:p xmlns:a="http://schemas.openxmlformats.org/drawingml/2006/main">
            <a:pPr algn="l">
              <a:defRPr sz="1275" b="0">
                <a:solidFill>
                  <a:srgbClr val="252B33"/>
                </a:solidFill>
              </a:defRPr>
            </a:pPr>
            <a:r>
              <a:rPr sz="1275" b="0">
                <a:solidFill>
                  <a:srgbClr val="252B33"/>
                </a:solidFill>
              </a:rPr>
              <a:t>抚顺雷锋纪念馆：解决“志愿时间银行”互认</a:t>
            </a:r>
          </a:p>
          <a:p xmlns:a="http://schemas.openxmlformats.org/drawingml/2006/main">
            <a:pPr algn="l">
              <a:defRPr sz="1275" b="0">
                <a:solidFill>
                  <a:srgbClr val="252B33"/>
                </a:solidFill>
              </a:defRPr>
            </a:pPr>
            <a:r>
              <a:rPr sz="1275" b="0">
                <a:solidFill>
                  <a:srgbClr val="252B33"/>
                </a:solidFill>
              </a:rPr>
              <a:t>专业调研：形成场馆沉浸式讲解词年轻化报告</a:t>
            </a:r>
          </a:p>
        </p:txBody>
      </p:sp>
    </p:spTree>
    <p:extLst>
      <p:ext uri="{BB962C8B-B14F-4D97-AF65-F5344CB8AC3E}">
        <p14:creationId xmlns:p14="http://schemas.microsoft.com/office/powerpoint/2010/main" val="849588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C06F0483-F0E9-4A9B-A13A-9EE26F46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2D21CB0-038F-4332-B02E-1EF5CBD3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069448-408A-4FD7-86E8-77A09FAF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VR 示范基地把 22 处旧址做成“一屏百年”的沉浸课堂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D8E111FD-464D-4C96-9E87-3F07BB1B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07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CEE1F7F-43DC-4ADE-809F-09DB8691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vr-lead">
            <a:extLst xmlns:a="http://schemas.openxmlformats.org/drawingml/2006/main">
              <a:ext uri="{FF2B5EF4-FFF2-40B4-BE49-F238E27FC236}">
                <a16:creationId xmlns:a16="http://schemas.microsoft.com/office/drawing/2014/main" id="{F6EA727B-9889-404A-A354-0D46F80F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重走总书记辽宁考察路线与六地经典路线，把红色现场采集为全景数据，再开发为可预约的党员教育产品。</a:t>
            </a:r>
          </a:p>
        </p:txBody>
      </p:sp>
      <p:sp>
        <p:nvSpPr>
          <p:cNvPr id="7" name="vr-evidence">
            <a:extLst xmlns:a="http://schemas.openxmlformats.org/drawingml/2006/main">
              <a:ext uri="{FF2B5EF4-FFF2-40B4-BE49-F238E27FC236}">
                <a16:creationId xmlns:a16="http://schemas.microsoft.com/office/drawing/2014/main" id="{1168BE91-E589-4923-BCC8-C82D66D5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7620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8" name="vr-node-1">
            <a:extLst xmlns:a="http://schemas.openxmlformats.org/drawingml/2006/main">
              <a:ext uri="{FF2B5EF4-FFF2-40B4-BE49-F238E27FC236}">
                <a16:creationId xmlns:a16="http://schemas.microsoft.com/office/drawing/2014/main" id="{95ED0BE9-5E16-4E14-AC5F-48DA3BA2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241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vr-node-1-label">
            <a:extLst xmlns:a="http://schemas.openxmlformats.org/drawingml/2006/main">
              <a:ext uri="{FF2B5EF4-FFF2-40B4-BE49-F238E27FC236}">
                <a16:creationId xmlns:a16="http://schemas.microsoft.com/office/drawing/2014/main" id="{14E0E778-D65F-4B49-AA5D-1A1024B9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57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22 处旧址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全景数据</a:t>
            </a:r>
          </a:p>
        </p:txBody>
      </p:sp>
      <p:sp>
        <p:nvSpPr>
          <p:cNvPr id="10" name="vr-node-2">
            <a:extLst xmlns:a="http://schemas.openxmlformats.org/drawingml/2006/main">
              <a:ext uri="{FF2B5EF4-FFF2-40B4-BE49-F238E27FC236}">
                <a16:creationId xmlns:a16="http://schemas.microsoft.com/office/drawing/2014/main" id="{5EB7DB19-C25F-4226-830C-336B49D4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1" name="vr-node-2-label">
            <a:extLst xmlns:a="http://schemas.openxmlformats.org/drawingml/2006/main">
              <a:ext uri="{FF2B5EF4-FFF2-40B4-BE49-F238E27FC236}">
                <a16:creationId xmlns:a16="http://schemas.microsoft.com/office/drawing/2014/main" id="{EEC10DAC-AD82-4B39-B916-4B020323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7 门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红色 VR 党课</a:t>
            </a:r>
          </a:p>
        </p:txBody>
      </p: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71875" y="32956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sp>
        <p:nvSpPr>
          <p:cNvPr id="13" name="vr-meaning">
            <a:extLst xmlns:a="http://schemas.openxmlformats.org/drawingml/2006/main">
              <a:ext uri="{FF2B5EF4-FFF2-40B4-BE49-F238E27FC236}">
                <a16:creationId xmlns:a16="http://schemas.microsoft.com/office/drawing/2014/main" id="{E97D4386-AA41-48F2-97D8-4D3E1F8A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91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15F91"/>
                </a:solidFill>
              </a:defRPr>
            </a:pPr>
            <a:r>
              <a:rPr sz="1425" b="1">
                <a:solidFill>
                  <a:srgbClr val="315F91"/>
                </a:solidFill>
              </a:rPr>
              <a:t>采集红色现场 → 形成沉浸课程</a:t>
            </a:r>
          </a:p>
        </p:txBody>
      </p:sp>
      <p:sp>
        <p:nvSpPr>
          <p:cNvPr id="14" name="vr-facts">
            <a:extLst xmlns:a="http://schemas.openxmlformats.org/drawingml/2006/main">
              <a:ext uri="{FF2B5EF4-FFF2-40B4-BE49-F238E27FC236}">
                <a16:creationId xmlns:a16="http://schemas.microsoft.com/office/drawing/2014/main" id="{59A09EB0-8816-451B-A40D-67E8418E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66900"/>
            <a:ext cx="3095625" cy="33337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15" name="vr-use-head">
            <a:extLst xmlns:a="http://schemas.openxmlformats.org/drawingml/2006/main">
              <a:ext uri="{FF2B5EF4-FFF2-40B4-BE49-F238E27FC236}">
                <a16:creationId xmlns:a16="http://schemas.microsoft.com/office/drawing/2014/main" id="{3D1F3186-5954-4EA6-B85F-22B95C8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F91"/>
                </a:solidFill>
              </a:defRPr>
            </a:pPr>
            <a:r>
              <a:rPr sz="1725" b="1">
                <a:solidFill>
                  <a:srgbClr val="315F91"/>
                </a:solidFill>
              </a:rPr>
              <a:t>实际使用</a:t>
            </a:r>
          </a:p>
        </p:txBody>
      </p:sp>
      <p:sp>
        <p:nvSpPr>
          <p:cNvPr id="16" name="vr-use">
            <a:extLst xmlns:a="http://schemas.openxmlformats.org/drawingml/2006/main">
              <a:ext uri="{FF2B5EF4-FFF2-40B4-BE49-F238E27FC236}">
                <a16:creationId xmlns:a16="http://schemas.microsoft.com/office/drawing/2014/main" id="{5738CDF2-9590-46F3-8C71-99D8C862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28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170 个省内外支部</a:t>
            </a:r>
          </a:p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2400 余名党员预约体验</a:t>
            </a:r>
          </a:p>
        </p:txBody>
      </p:sp>
      <p:sp>
        <p:nvSpPr>
          <p:cNvPr id="17" name="vr-use-rule">
            <a:extLst xmlns:a="http://schemas.openxmlformats.org/drawingml/2006/main">
              <a:ext uri="{FF2B5EF4-FFF2-40B4-BE49-F238E27FC236}">
                <a16:creationId xmlns:a16="http://schemas.microsoft.com/office/drawing/2014/main" id="{F88D1AB5-0695-4D88-BE05-54ABDC9F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8" name="vr-awards">
            <a:extLst xmlns:a="http://schemas.openxmlformats.org/drawingml/2006/main">
              <a:ext uri="{FF2B5EF4-FFF2-40B4-BE49-F238E27FC236}">
                <a16:creationId xmlns:a16="http://schemas.microsoft.com/office/drawing/2014/main" id="{18F51BC0-6B76-4144-B4EC-A00DDD12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获评辽宁省党员教育培训示范基地</a:t>
            </a:r>
          </a:p>
          <a:p xmlns:a="http://schemas.openxmlformats.org/drawingml/2006/main">
            <a:pPr algn="l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相关案例获省高校基层党建创新一等奖</a:t>
            </a:r>
          </a:p>
        </p:txBody>
      </p:sp>
      <p:sp>
        <p:nvSpPr>
          <p:cNvPr id="19" name="vr-proof">
            <a:extLst xmlns:a="http://schemas.openxmlformats.org/drawingml/2006/main">
              <a:ext uri="{FF2B5EF4-FFF2-40B4-BE49-F238E27FC236}">
                <a16:creationId xmlns:a16="http://schemas.microsoft.com/office/drawing/2014/main" id="{EDF8761E-4981-4887-9984-8F804B2F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F91"/>
                </a:solidFill>
              </a:defRPr>
            </a:pPr>
            <a:r>
              <a:rPr sz="1425" b="1">
                <a:solidFill>
                  <a:srgbClr val="315F91"/>
                </a:solidFill>
              </a:rPr>
              <a:t>建设获中组部组织二局、教育部教师工作司负责同志充分肯定。</a:t>
            </a:r>
          </a:p>
        </p:txBody>
      </p:sp>
    </p:spTree>
    <p:extLst>
      <p:ext uri="{BB962C8B-B14F-4D97-AF65-F5344CB8AC3E}">
        <p14:creationId xmlns:p14="http://schemas.microsoft.com/office/powerpoint/2010/main" val="4237109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7B03369F-06F6-4826-974A-D9068159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FFFB1BB-B7C8-447F-AF84-6B6D2DD9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DAD448-8343-4647-B7C1-8C2CF2C3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“青春有理”用青年语态重构理论传播，让青年讲、青年听、青年信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F119EBE1-6CDE-488E-8B9D-959DE1E5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08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0A12F71-9F6D-4A6F-87A1-E08E97A9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speak-lead">
            <a:extLst xmlns:a="http://schemas.openxmlformats.org/drawingml/2006/main">
              <a:ext uri="{FF2B5EF4-FFF2-40B4-BE49-F238E27FC236}">
                <a16:creationId xmlns:a16="http://schemas.microsoft.com/office/drawing/2014/main" id="{AEC97E0B-7B8F-4BAB-86CB-ACC4E259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博士、硕士、本科生组成 32 人混编梯队，把“六地”精神改写成互动课堂。</a:t>
            </a:r>
          </a:p>
        </p:txBody>
      </p:sp>
      <p:sp>
        <p:nvSpPr>
          <p:cNvPr id="7" name="speak-path">
            <a:extLst xmlns:a="http://schemas.openxmlformats.org/drawingml/2006/main">
              <a:ext uri="{FF2B5EF4-FFF2-40B4-BE49-F238E27FC236}">
                <a16:creationId xmlns:a16="http://schemas.microsoft.com/office/drawing/2014/main" id="{917DF7DA-0A24-41FC-8FAF-E7DB4079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1114425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speak-1">
            <a:extLst xmlns:a="http://schemas.openxmlformats.org/drawingml/2006/main">
              <a:ext uri="{FF2B5EF4-FFF2-40B4-BE49-F238E27FC236}">
                <a16:creationId xmlns:a16="http://schemas.microsoft.com/office/drawing/2014/main" id="{A767BDC3-E915-4820-8FCF-591EAAA7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speak-1-label">
            <a:extLst xmlns:a="http://schemas.openxmlformats.org/drawingml/2006/main">
              <a:ext uri="{FF2B5EF4-FFF2-40B4-BE49-F238E27FC236}">
                <a16:creationId xmlns:a16="http://schemas.microsoft.com/office/drawing/2014/main" id="{F5EECF2A-6180-4456-A0B0-31CBD0A2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32 人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混编梯队</a:t>
            </a:r>
          </a:p>
        </p:txBody>
      </p:sp>
      <p:sp>
        <p:nvSpPr>
          <p:cNvPr id="10" name="speak-2">
            <a:extLst xmlns:a="http://schemas.openxmlformats.org/drawingml/2006/main">
              <a:ext uri="{FF2B5EF4-FFF2-40B4-BE49-F238E27FC236}">
                <a16:creationId xmlns:a16="http://schemas.microsoft.com/office/drawing/2014/main" id="{7D9DB963-31C2-4BD6-89BB-2760A104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4315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1" name="speak-2-label">
            <a:extLst xmlns:a="http://schemas.openxmlformats.org/drawingml/2006/main">
              <a:ext uri="{FF2B5EF4-FFF2-40B4-BE49-F238E27FC236}">
                <a16:creationId xmlns:a16="http://schemas.microsoft.com/office/drawing/2014/main" id="{21549631-09DF-42C6-9A09-98A50A43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476500"/>
            <a:ext cx="1371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10 类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互动课件</a:t>
            </a:r>
          </a:p>
        </p:txBody>
      </p:sp>
      <p:sp>
        <p:nvSpPr>
          <p:cNvPr id="12" name="speak-3">
            <a:extLst xmlns:a="http://schemas.openxmlformats.org/drawingml/2006/main">
              <a:ext uri="{FF2B5EF4-FFF2-40B4-BE49-F238E27FC236}">
                <a16:creationId xmlns:a16="http://schemas.microsoft.com/office/drawing/2014/main" id="{D2B42A3A-3E70-47DE-A720-F6FC52D3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43150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speak-3-label">
            <a:extLst xmlns:a="http://schemas.openxmlformats.org/drawingml/2006/main">
              <a:ext uri="{FF2B5EF4-FFF2-40B4-BE49-F238E27FC236}">
                <a16:creationId xmlns:a16="http://schemas.microsoft.com/office/drawing/2014/main" id="{F8C189E7-7A5F-44A8-864D-687C7D97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36 场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宣讲</a:t>
            </a:r>
          </a:p>
        </p:txBody>
      </p:sp>
      <p:sp>
        <p:nvSpPr>
          <p:cNvPr id="14" name="speak-4">
            <a:extLst xmlns:a="http://schemas.openxmlformats.org/drawingml/2006/main">
              <a:ext uri="{FF2B5EF4-FFF2-40B4-BE49-F238E27FC236}">
                <a16:creationId xmlns:a16="http://schemas.microsoft.com/office/drawing/2014/main" id="{1F62A0AB-D5E1-4160-99D5-91A57967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5" name="speak-4-label">
            <a:extLst xmlns:a="http://schemas.openxmlformats.org/drawingml/2006/main">
              <a:ext uri="{FF2B5EF4-FFF2-40B4-BE49-F238E27FC236}">
                <a16:creationId xmlns:a16="http://schemas.microsoft.com/office/drawing/2014/main" id="{3C806123-995A-479C-8A6A-A2E3CC48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765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3800+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覆盖</a:t>
            </a:r>
          </a:p>
        </p:txBody>
      </p: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743200" y="2762250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476875" y="2762250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496300" y="27622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sp>
        <p:nvSpPr>
          <p:cNvPr id="19" name="speak-detail">
            <a:extLst xmlns:a="http://schemas.openxmlformats.org/drawingml/2006/main">
              <a:ext uri="{FF2B5EF4-FFF2-40B4-BE49-F238E27FC236}">
                <a16:creationId xmlns:a16="http://schemas.microsoft.com/office/drawing/2014/main" id="{E176C376-5C11-41A3-A0DD-36EC8916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11144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20" name="speak-detail-text">
            <a:extLst xmlns:a="http://schemas.openxmlformats.org/drawingml/2006/main">
              <a:ext uri="{FF2B5EF4-FFF2-40B4-BE49-F238E27FC236}">
                <a16:creationId xmlns:a16="http://schemas.microsoft.com/office/drawing/2014/main" id="{EED27E86-249F-469B-93AB-73997332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沉浸式故事 · 情景短剧 · 红色闯关</a:t>
            </a:r>
          </a:p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进校园、社区、企业。</a:t>
            </a:r>
          </a:p>
        </p:txBody>
      </p:sp>
      <p:sp>
        <p:nvSpPr>
          <p:cNvPr id="21" name="speak-award">
            <a:extLst xmlns:a="http://schemas.openxmlformats.org/drawingml/2006/main">
              <a:ext uri="{FF2B5EF4-FFF2-40B4-BE49-F238E27FC236}">
                <a16:creationId xmlns:a16="http://schemas.microsoft.com/office/drawing/2014/main" id="{8F87EFC3-DF7C-4F00-9A53-E9707095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721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F91"/>
                </a:solidFill>
              </a:defRPr>
            </a:pPr>
            <a:r>
              <a:rPr sz="1425" b="1">
                <a:solidFill>
                  <a:srgbClr val="315F91"/>
                </a:solidFill>
              </a:rPr>
              <a:t>获评：辽宁省大学生红色理论宣讲团</a:t>
            </a:r>
          </a:p>
        </p:txBody>
      </p:sp>
    </p:spTree>
    <p:extLst>
      <p:ext uri="{BB962C8B-B14F-4D97-AF65-F5344CB8AC3E}">
        <p14:creationId xmlns:p14="http://schemas.microsoft.com/office/powerpoint/2010/main" val="18683587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7CBAF5F2-538F-44A4-88B8-E0718254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A28A3AD-D84A-4F7E-AF7A-C518C59A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9BB65D-035F-4A13-98FA-5681FF25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“红色朋友圈”把一地实践变成多方共学的共享循环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FE95FCEC-EB04-4AAE-93E2-7B04DE4F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09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602B851-01D7-4D57-A7E3-F48E2959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network-lead">
            <a:extLst xmlns:a="http://schemas.openxmlformats.org/drawingml/2006/main">
              <a:ext uri="{FF2B5EF4-FFF2-40B4-BE49-F238E27FC236}">
                <a16:creationId xmlns:a16="http://schemas.microsoft.com/office/drawing/2014/main" id="{CD389F80-2A2D-4AFA-A478-BAE6F919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组织互联、资源互通、经验互鉴，形成“东北故事西部讲、西部经验东北学”的双向共享。</a:t>
            </a:r>
          </a:p>
        </p:txBody>
      </p:sp>
      <p:sp>
        <p:nvSpPr>
          <p:cNvPr id="7" name="network-bg">
            <a:extLst xmlns:a="http://schemas.openxmlformats.org/drawingml/2006/main">
              <a:ext uri="{FF2B5EF4-FFF2-40B4-BE49-F238E27FC236}">
                <a16:creationId xmlns:a16="http://schemas.microsoft.com/office/drawing/2014/main" id="{21928FDD-DB52-4DB7-A52F-2FDC66AC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11442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8" name="network-center">
            <a:extLst xmlns:a="http://schemas.openxmlformats.org/drawingml/2006/main">
              <a:ext uri="{FF2B5EF4-FFF2-40B4-BE49-F238E27FC236}">
                <a16:creationId xmlns:a16="http://schemas.microsoft.com/office/drawing/2014/main" id="{5A834F2B-CFE8-4C7A-AEA8-6C7B8B89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network-center-label">
            <a:extLst xmlns:a="http://schemas.openxmlformats.org/drawingml/2006/main">
              <a:ext uri="{FF2B5EF4-FFF2-40B4-BE49-F238E27FC236}">
                <a16:creationId xmlns:a16="http://schemas.microsoft.com/office/drawing/2014/main" id="{743908BE-30F9-45B8-BF8E-E42DE4F7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共享的党课</a:t>
            </a:r>
          </a:p>
        </p:txBody>
      </p:sp>
      <p:sp>
        <p:nvSpPr>
          <p:cNvPr id="10" name="network-left">
            <a:extLst xmlns:a="http://schemas.openxmlformats.org/drawingml/2006/main">
              <a:ext uri="{FF2B5EF4-FFF2-40B4-BE49-F238E27FC236}">
                <a16:creationId xmlns:a16="http://schemas.microsoft.com/office/drawing/2014/main" id="{345433DF-3BE7-42C7-BC16-75D295DF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1" name="network-left-label">
            <a:extLst xmlns:a="http://schemas.openxmlformats.org/drawingml/2006/main">
              <a:ext uri="{FF2B5EF4-FFF2-40B4-BE49-F238E27FC236}">
                <a16:creationId xmlns:a16="http://schemas.microsoft.com/office/drawing/2014/main" id="{BE6B1210-457E-401D-B69C-837A7B32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9975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东北合作网络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41 家单位</a:t>
            </a:r>
          </a:p>
        </p:txBody>
      </p:sp>
      <p:sp>
        <p:nvSpPr>
          <p:cNvPr id="12" name="network-right">
            <a:extLst xmlns:a="http://schemas.openxmlformats.org/drawingml/2006/main">
              <a:ext uri="{FF2B5EF4-FFF2-40B4-BE49-F238E27FC236}">
                <a16:creationId xmlns:a16="http://schemas.microsoft.com/office/drawing/2014/main" id="{E96CE137-9F4A-42C7-B490-A1CF7146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13" name="network-right-label">
            <a:extLst xmlns:a="http://schemas.openxmlformats.org/drawingml/2006/main">
              <a:ext uri="{FF2B5EF4-FFF2-40B4-BE49-F238E27FC236}">
                <a16:creationId xmlns:a16="http://schemas.microsoft.com/office/drawing/2014/main" id="{4A2465AE-30C8-453A-9303-AC89D39B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9975"/>
            <a:ext cx="213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西部合作网络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“六地精神西部行”</a:t>
            </a:r>
          </a:p>
        </p:txBody>
      </p: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333750" y="3914775"/>
            <a:ext cx="552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2095500" y="3143250"/>
            <a:ext cx="4000500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3143250"/>
            <a:ext cx="4000500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cxnSp>
      <p:sp>
        <p:nvSpPr>
          <p:cNvPr id="17" name="network-center-s">
            <a:extLst xmlns:a="http://schemas.openxmlformats.org/drawingml/2006/main">
              <a:ext uri="{FF2B5EF4-FFF2-40B4-BE49-F238E27FC236}">
                <a16:creationId xmlns:a16="http://schemas.microsoft.com/office/drawing/2014/main" id="{A5D07C3A-DA9C-4727-8E45-F0523ED5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8F0F7"/>
                </a:solidFill>
              </a:defRPr>
            </a:pPr>
            <a:r>
              <a:rPr sz="1275" b="0">
                <a:solidFill>
                  <a:srgbClr val="E8F0F7"/>
                </a:solidFill>
              </a:rPr>
              <a:t>VR 共享 · 主题党日联办 · 资源联用 · 志愿联动</a:t>
            </a:r>
          </a:p>
        </p:txBody>
      </p:sp>
      <p:sp>
        <p:nvSpPr>
          <p:cNvPr id="18" name="network-west-detail">
            <a:extLst xmlns:a="http://schemas.openxmlformats.org/drawingml/2006/main">
              <a:ext uri="{FF2B5EF4-FFF2-40B4-BE49-F238E27FC236}">
                <a16:creationId xmlns:a16="http://schemas.microsoft.com/office/drawing/2014/main" id="{A7C3E745-74CD-47C6-9E76-2BB83489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新疆农业大学 · 西北师范大学 · 兰州工业学院</a:t>
            </a:r>
          </a:p>
        </p:txBody>
      </p:sp>
      <p:sp>
        <p:nvSpPr>
          <p:cNvPr id="19" name="network-exchange">
            <a:extLst xmlns:a="http://schemas.openxmlformats.org/drawingml/2006/main">
              <a:ext uri="{FF2B5EF4-FFF2-40B4-BE49-F238E27FC236}">
                <a16:creationId xmlns:a16="http://schemas.microsoft.com/office/drawing/2014/main" id="{152459DB-0C96-4461-83F7-B592FA5F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0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</a:defRPr>
            </a:pPr>
            <a:r>
              <a:rPr sz="1350" b="1">
                <a:solidFill>
                  <a:srgbClr val="315F91"/>
                </a:solidFill>
              </a:rPr>
              <a:t>一年互派党员 2000 余人次</a:t>
            </a:r>
          </a:p>
        </p:txBody>
      </p:sp>
      <p:sp>
        <p:nvSpPr>
          <p:cNvPr id="20" name="network-foot">
            <a:extLst xmlns:a="http://schemas.openxmlformats.org/drawingml/2006/main">
              <a:ext uri="{FF2B5EF4-FFF2-40B4-BE49-F238E27FC236}">
                <a16:creationId xmlns:a16="http://schemas.microsoft.com/office/drawing/2014/main" id="{2E54AF60-951A-4680-8785-B574A327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共享循环的方向：东北故事西部讲，也把西部经验带回东北。</a:t>
            </a:r>
          </a:p>
        </p:txBody>
      </p:sp>
    </p:spTree>
    <p:extLst>
      <p:ext uri="{BB962C8B-B14F-4D97-AF65-F5344CB8AC3E}">
        <p14:creationId xmlns:p14="http://schemas.microsoft.com/office/powerpoint/2010/main" val="9629426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98F47671-F33F-4838-9068-A5CF409D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8D3ECC7-C1A3-44D7-8871-F8A12368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118FCA-D885-40E1-B698-25124EF3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红色育人机制把教育嵌入党员成长全周期，确保年年有人抓、届届有人传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5D4B8697-F8A2-4E8E-AB14-EC5B8780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10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01E1310-6B37-424A-AA7F-D53E9ADA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mech-lead">
            <a:extLst xmlns:a="http://schemas.openxmlformats.org/drawingml/2006/main">
              <a:ext uri="{FF2B5EF4-FFF2-40B4-BE49-F238E27FC236}">
                <a16:creationId xmlns:a16="http://schemas.microsoft.com/office/drawing/2014/main" id="{80B9526A-F97F-481F-BA88-CA568E00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把红色实践计入学分、把 VR 党课写进“三会一课”，让一次活动沉淀为持续培养链。</a:t>
            </a:r>
          </a:p>
        </p:txBody>
      </p:sp>
      <p:sp>
        <p:nvSpPr>
          <p:cNvPr id="7" name="mech-bg">
            <a:extLst xmlns:a="http://schemas.openxmlformats.org/drawingml/2006/main">
              <a:ext uri="{FF2B5EF4-FFF2-40B4-BE49-F238E27FC236}">
                <a16:creationId xmlns:a16="http://schemas.microsoft.com/office/drawing/2014/main" id="{9032BCE0-672E-430C-A9C7-1801AC75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11144250" cy="2619375"/>
          </a:xfrm>
          <a:prstGeom xmlns:a="http://schemas.openxmlformats.org/drawingml/2006/main" prst="roundRect">
            <a:avLst>
              <a:gd name="adj" fmla="val 4364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ech-track">
            <a:extLst xmlns:a="http://schemas.openxmlformats.org/drawingml/2006/main">
              <a:ext uri="{FF2B5EF4-FFF2-40B4-BE49-F238E27FC236}">
                <a16:creationId xmlns:a16="http://schemas.microsoft.com/office/drawing/2014/main" id="{A765D834-9A8A-4607-BAEF-413BB82F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62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6"/>
          </a:solidFill>
          <a:ln xmlns:a="http://schemas.openxmlformats.org/drawingml/2006/main" w="0">
            <a:solidFill>
              <a:srgbClr val="E6EEF6"/>
            </a:solidFill>
            <a:prstDash val="solid"/>
          </a:ln>
        </p:spPr>
      </p:sp>
      <p:sp>
        <p:nvSpPr>
          <p:cNvPr id="9" name="mech-1">
            <a:extLst xmlns:a="http://schemas.openxmlformats.org/drawingml/2006/main">
              <a:ext uri="{FF2B5EF4-FFF2-40B4-BE49-F238E27FC236}">
                <a16:creationId xmlns:a16="http://schemas.microsoft.com/office/drawing/2014/main" id="{6F70D49E-A0C3-42DD-826D-FB035A2B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241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0" name="mech-1-label">
            <a:extLst xmlns:a="http://schemas.openxmlformats.org/drawingml/2006/main">
              <a:ext uri="{FF2B5EF4-FFF2-40B4-BE49-F238E27FC236}">
                <a16:creationId xmlns:a16="http://schemas.microsoft.com/office/drawing/2014/main" id="{6606073F-4A89-40E2-AC79-D3E9C3DB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575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入学</a:t>
            </a:r>
          </a:p>
        </p:txBody>
      </p:sp>
      <p:sp>
        <p:nvSpPr>
          <p:cNvPr id="11" name="mech-sub-1">
            <a:extLst xmlns:a="http://schemas.openxmlformats.org/drawingml/2006/main">
              <a:ext uri="{FF2B5EF4-FFF2-40B4-BE49-F238E27FC236}">
                <a16:creationId xmlns:a16="http://schemas.microsoft.com/office/drawing/2014/main" id="{82F9100C-9940-41E1-9AF2-9568169D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004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建立红色认知</a:t>
            </a:r>
          </a:p>
        </p:txBody>
      </p:sp>
      <p:sp>
        <p:nvSpPr>
          <p:cNvPr id="12" name="mech-2">
            <a:extLst xmlns:a="http://schemas.openxmlformats.org/drawingml/2006/main">
              <a:ext uri="{FF2B5EF4-FFF2-40B4-BE49-F238E27FC236}">
                <a16:creationId xmlns:a16="http://schemas.microsoft.com/office/drawing/2014/main" id="{3D0FFEC1-4634-4BA0-B60B-1A1274FA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mech-2-label">
            <a:extLst xmlns:a="http://schemas.openxmlformats.org/drawingml/2006/main">
              <a:ext uri="{FF2B5EF4-FFF2-40B4-BE49-F238E27FC236}">
                <a16:creationId xmlns:a16="http://schemas.microsoft.com/office/drawing/2014/main" id="{EAC8E661-1543-40FC-B63F-EBAFDDF6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入党</a:t>
            </a:r>
          </a:p>
        </p:txBody>
      </p:sp>
      <p:sp>
        <p:nvSpPr>
          <p:cNvPr id="14" name="mech-sub-2">
            <a:extLst xmlns:a="http://schemas.openxmlformats.org/drawingml/2006/main">
              <a:ext uri="{FF2B5EF4-FFF2-40B4-BE49-F238E27FC236}">
                <a16:creationId xmlns:a16="http://schemas.microsoft.com/office/drawing/2014/main" id="{2705AC79-0344-4BC2-BE61-60BA5B8B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004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进入培养主线</a:t>
            </a:r>
          </a:p>
        </p:txBody>
      </p: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14625" y="31432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sp>
        <p:nvSpPr>
          <p:cNvPr id="16" name="mech-3">
            <a:extLst xmlns:a="http://schemas.openxmlformats.org/drawingml/2006/main">
              <a:ext uri="{FF2B5EF4-FFF2-40B4-BE49-F238E27FC236}">
                <a16:creationId xmlns:a16="http://schemas.microsoft.com/office/drawing/2014/main" id="{22D1DF98-7DF3-4260-94EC-49D2CE90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241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7" name="mech-3-label">
            <a:extLst xmlns:a="http://schemas.openxmlformats.org/drawingml/2006/main">
              <a:ext uri="{FF2B5EF4-FFF2-40B4-BE49-F238E27FC236}">
                <a16:creationId xmlns:a16="http://schemas.microsoft.com/office/drawing/2014/main" id="{5E9D2BAA-A351-49C3-8640-519B61D5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575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转正</a:t>
            </a:r>
          </a:p>
        </p:txBody>
      </p:sp>
      <p:sp>
        <p:nvSpPr>
          <p:cNvPr id="18" name="mech-sub-3">
            <a:extLst xmlns:a="http://schemas.openxmlformats.org/drawingml/2006/main">
              <a:ext uri="{FF2B5EF4-FFF2-40B4-BE49-F238E27FC236}">
                <a16:creationId xmlns:a16="http://schemas.microsoft.com/office/drawing/2014/main" id="{B97007EC-E162-48DE-9074-90C2C30B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8004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接受实践检验</a:t>
            </a:r>
          </a:p>
        </p:txBody>
      </p:sp>
      <p:cxnSp>
        <p:nvCxnSpPr>
          <p:cNvPr id="4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143500" y="31432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sp>
        <p:nvSpPr>
          <p:cNvPr id="20" name="mech-4">
            <a:extLst xmlns:a="http://schemas.openxmlformats.org/drawingml/2006/main">
              <a:ext uri="{FF2B5EF4-FFF2-40B4-BE49-F238E27FC236}">
                <a16:creationId xmlns:a16="http://schemas.microsoft.com/office/drawing/2014/main" id="{B6CC5F87-3CF8-448A-9F26-F8525388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456B"/>
          </a:solidFill>
          <a:ln xmlns:a="http://schemas.openxmlformats.org/drawingml/2006/main" w="9525">
            <a:solidFill>
              <a:srgbClr val="21456B"/>
            </a:solidFill>
            <a:prstDash val="solid"/>
          </a:ln>
        </p:spPr>
      </p:sp>
      <p:sp>
        <p:nvSpPr>
          <p:cNvPr id="21" name="mech-4-label">
            <a:extLst xmlns:a="http://schemas.openxmlformats.org/drawingml/2006/main">
              <a:ext uri="{FF2B5EF4-FFF2-40B4-BE49-F238E27FC236}">
                <a16:creationId xmlns:a16="http://schemas.microsoft.com/office/drawing/2014/main" id="{55546028-0304-4896-BA7B-115BA14D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1276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毕业</a:t>
            </a:r>
          </a:p>
        </p:txBody>
      </p:sp>
      <p:sp>
        <p:nvSpPr>
          <p:cNvPr id="22" name="mech-sub-4">
            <a:extLst xmlns:a="http://schemas.openxmlformats.org/drawingml/2006/main">
              <a:ext uri="{FF2B5EF4-FFF2-40B4-BE49-F238E27FC236}">
                <a16:creationId xmlns:a16="http://schemas.microsoft.com/office/drawing/2014/main" id="{08DA2C6C-90B4-4800-8D3A-D56FC92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004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</a:defRPr>
            </a:pPr>
            <a:r>
              <a:rPr sz="1275" b="0">
                <a:solidFill>
                  <a:srgbClr val="707780"/>
                </a:solidFill>
              </a:rPr>
              <a:t>带着信仰走向岗位</a:t>
            </a:r>
          </a:p>
        </p:txBody>
      </p:sp>
      <p:cxnSp>
        <p:nvCxnSpPr>
          <p:cNvPr id="49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72375" y="31432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5F91"/>
            </a:solidFill>
            <a:prstDash val="solid"/>
            <a:tailEnd type="triangle" w="med" len="med"/>
          </a:ln>
        </p:spPr>
      </p:cxnSp>
      <p:sp>
        <p:nvSpPr>
          <p:cNvPr id="24" name="mech-mentor">
            <a:extLst xmlns:a="http://schemas.openxmlformats.org/drawingml/2006/main">
              <a:ext uri="{FF2B5EF4-FFF2-40B4-BE49-F238E27FC236}">
                <a16:creationId xmlns:a16="http://schemas.microsoft.com/office/drawing/2014/main" id="{9E015706-297B-45AA-854F-1F78E3BF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11144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25" name="mech-mentor-t">
            <a:extLst xmlns:a="http://schemas.openxmlformats.org/drawingml/2006/main">
              <a:ext uri="{FF2B5EF4-FFF2-40B4-BE49-F238E27FC236}">
                <a16:creationId xmlns:a16="http://schemas.microsoft.com/office/drawing/2014/main" id="{289B9005-5AEF-427A-99BA-677A2156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36 位纪念馆专家、抗美援朝老战士担任“红色导师”</a:t>
            </a:r>
          </a:p>
        </p:txBody>
      </p:sp>
      <p:sp>
        <p:nvSpPr>
          <p:cNvPr id="26" name="mech-mentor-s">
            <a:extLst xmlns:a="http://schemas.openxmlformats.org/drawingml/2006/main">
              <a:ext uri="{FF2B5EF4-FFF2-40B4-BE49-F238E27FC236}">
                <a16:creationId xmlns:a16="http://schemas.microsoft.com/office/drawing/2014/main" id="{978FBC6A-4145-4E1B-A450-824646E1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197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15F91"/>
                </a:solidFill>
              </a:defRPr>
            </a:pPr>
            <a:r>
              <a:rPr sz="1350" b="1">
                <a:solidFill>
                  <a:srgbClr val="315F91"/>
                </a:solidFill>
              </a:rPr>
              <a:t>红色育人进入制度、课堂与成长节点</a:t>
            </a:r>
          </a:p>
        </p:txBody>
      </p:sp>
    </p:spTree>
    <p:extLst>
      <p:ext uri="{BB962C8B-B14F-4D97-AF65-F5344CB8AC3E}">
        <p14:creationId xmlns:p14="http://schemas.microsoft.com/office/powerpoint/2010/main" val="15700446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5170C86E-F90B-4F74-B98D-DE9462C7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辽宁“六地”红色文化标识融入党员教育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9985DAB-91BD-401C-8D8B-45EE7179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BAB5F4-492C-47E1-AFDF-DB629254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五年深耕后，学生党员获得了“红色先锋”的新标签</a:t>
            </a:r>
          </a:p>
        </p:txBody>
      </p:sp>
      <p:sp>
        <p:nvSpPr>
          <p:cNvPr id="4" name="page-mark">
            <a:extLst xmlns:a="http://schemas.openxmlformats.org/drawingml/2006/main">
              <a:ext uri="{FF2B5EF4-FFF2-40B4-BE49-F238E27FC236}">
                <a16:creationId xmlns:a16="http://schemas.microsoft.com/office/drawing/2014/main" id="{C6DE31F0-F7B4-4D7C-8292-61A4BEF2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76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780"/>
                </a:solidFill>
              </a:defRPr>
            </a:pPr>
            <a:r>
              <a:rPr sz="1050" b="1">
                <a:solidFill>
                  <a:srgbClr val="707780"/>
                </a:solidFill>
              </a:rPr>
              <a:t>11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3B4E1C0-7EA9-4A14-BD86-3B0CE57E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</a:defRPr>
            </a:pPr>
            <a:r>
              <a:rPr sz="900" b="0">
                <a:solidFill>
                  <a:srgbClr val="707780"/>
                </a:solidFill>
              </a:rPr>
              <a:t>来源：案例《让“六地”红，成为理工青年最鲜亮的青春底色》｜数据据来稿</a:t>
            </a:r>
          </a:p>
        </p:txBody>
      </p:sp>
      <p:sp>
        <p:nvSpPr>
          <p:cNvPr id="6" name="outcome-lead">
            <a:extLst xmlns:a="http://schemas.openxmlformats.org/drawingml/2006/main">
              <a:ext uri="{FF2B5EF4-FFF2-40B4-BE49-F238E27FC236}">
                <a16:creationId xmlns:a16="http://schemas.microsoft.com/office/drawing/2014/main" id="{7663AF78-CA4E-4641-BC8B-94281AD1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四类变化共同指向“红色先锋”，其中最直接的变化是毕业后留辽意愿。</a:t>
            </a:r>
          </a:p>
        </p:txBody>
      </p:sp>
      <p:sp>
        <p:nvSpPr>
          <p:cNvPr id="7" name="outcome-main">
            <a:extLst xmlns:a="http://schemas.openxmlformats.org/drawingml/2006/main">
              <a:ext uri="{FF2B5EF4-FFF2-40B4-BE49-F238E27FC236}">
                <a16:creationId xmlns:a16="http://schemas.microsoft.com/office/drawing/2014/main" id="{B14A1CBD-570C-4192-B1B0-BBA0C45B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C9D6E3"/>
            </a:solidFill>
            <a:prstDash val="solid"/>
          </a:ln>
        </p:spPr>
      </p:sp>
      <p:sp>
        <p:nvSpPr>
          <p:cNvPr id="8" name="outcome-main-kicker">
            <a:extLst xmlns:a="http://schemas.openxmlformats.org/drawingml/2006/main">
              <a:ext uri="{FF2B5EF4-FFF2-40B4-BE49-F238E27FC236}">
                <a16:creationId xmlns:a16="http://schemas.microsoft.com/office/drawing/2014/main" id="{037BB63C-D479-49B1-BBEB-E648D10D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F91"/>
                </a:solidFill>
              </a:defRPr>
            </a:pPr>
            <a:r>
              <a:rPr sz="1725" b="1">
                <a:solidFill>
                  <a:srgbClr val="315F91"/>
                </a:solidFill>
              </a:rPr>
              <a:t>信仰更强</a:t>
            </a:r>
          </a:p>
        </p:txBody>
      </p:sp>
      <p:sp>
        <p:nvSpPr>
          <p:cNvPr id="9" name="outcome-main-value">
            <a:extLst xmlns:a="http://schemas.openxmlformats.org/drawingml/2006/main">
              <a:ext uri="{FF2B5EF4-FFF2-40B4-BE49-F238E27FC236}">
                <a16:creationId xmlns:a16="http://schemas.microsoft.com/office/drawing/2014/main" id="{DE43EBAF-7828-48FF-81EE-150F0C7A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15F91"/>
                </a:solidFill>
              </a:defRPr>
            </a:pPr>
            <a:r>
              <a:rPr sz="3900" b="1">
                <a:solidFill>
                  <a:srgbClr val="315F91"/>
                </a:solidFill>
              </a:rPr>
              <a:t>58% → 87%</a:t>
            </a:r>
          </a:p>
        </p:txBody>
      </p:sp>
      <p:sp>
        <p:nvSpPr>
          <p:cNvPr id="10" name="outcome-main-label">
            <a:extLst xmlns:a="http://schemas.openxmlformats.org/drawingml/2006/main">
              <a:ext uri="{FF2B5EF4-FFF2-40B4-BE49-F238E27FC236}">
                <a16:creationId xmlns:a16="http://schemas.microsoft.com/office/drawing/2014/main" id="{FBB56EBC-01A2-43E2-A7B8-C1CDB18D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2B33"/>
                </a:solidFill>
              </a:defRPr>
            </a:pPr>
            <a:r>
              <a:rPr sz="1800" b="1">
                <a:solidFill>
                  <a:srgbClr val="252B33"/>
                </a:solidFill>
              </a:rPr>
              <a:t>答辩现场举手率</a:t>
            </a:r>
          </a:p>
        </p:txBody>
      </p:sp>
      <p:sp>
        <p:nvSpPr>
          <p:cNvPr id="11" name="outcome-main-sub">
            <a:extLst xmlns:a="http://schemas.openxmlformats.org/drawingml/2006/main">
              <a:ext uri="{FF2B5EF4-FFF2-40B4-BE49-F238E27FC236}">
                <a16:creationId xmlns:a16="http://schemas.microsoft.com/office/drawing/2014/main" id="{CC50ED5C-2BE9-4410-B0CE-6A32E259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780"/>
                </a:solidFill>
              </a:defRPr>
            </a:pPr>
            <a:r>
              <a:rPr sz="1500" b="0">
                <a:solidFill>
                  <a:srgbClr val="707780"/>
                </a:solidFill>
              </a:rPr>
              <a:t>毕业后留辽意愿</a:t>
            </a:r>
          </a:p>
          <a:p xmlns:a="http://schemas.openxmlformats.org/drawingml/2006/main">
            <a:pPr algn="l">
              <a:defRPr sz="1500" b="0">
                <a:solidFill>
                  <a:srgbClr val="707780"/>
                </a:solidFill>
              </a:defRPr>
            </a:pPr>
            <a:r>
              <a:rPr sz="1500" b="0">
                <a:solidFill>
                  <a:srgbClr val="707780"/>
                </a:solidFill>
              </a:rPr>
              <a:t>“我的青春也要从这里鸣枪”</a:t>
            </a:r>
          </a:p>
        </p:txBody>
      </p:sp>
      <p:sp>
        <p:nvSpPr>
          <p:cNvPr id="12" name="outcome-row-0">
            <a:extLst xmlns:a="http://schemas.openxmlformats.org/drawingml/2006/main">
              <a:ext uri="{FF2B5EF4-FFF2-40B4-BE49-F238E27FC236}">
                <a16:creationId xmlns:a16="http://schemas.microsoft.com/office/drawing/2014/main" id="{CDD2B5DA-4AA8-4FA8-B467-6B29196A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8578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831F8C7A-D7D5-4143-9B0D-9D0F78FB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716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本领更硬</a:t>
            </a:r>
          </a:p>
        </p:txBody>
      </p:sp>
      <p:sp>
        <p:nvSpPr>
          <p:cNvPr id="14" name="outcome-label-0">
            <a:extLst xmlns:a="http://schemas.openxmlformats.org/drawingml/2006/main">
              <a:ext uri="{FF2B5EF4-FFF2-40B4-BE49-F238E27FC236}">
                <a16:creationId xmlns:a16="http://schemas.microsoft.com/office/drawing/2014/main" id="{B31A2CE5-44D2-4AA9-9497-6B6C0202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716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26 份振兴微课题；8 家企业收货</a:t>
            </a:r>
          </a:p>
        </p:txBody>
      </p:sp>
      <p:sp>
        <p:nvSpPr>
          <p:cNvPr id="15" name="outcome-sub-0">
            <a:extLst xmlns:a="http://schemas.openxmlformats.org/drawingml/2006/main">
              <a:ext uri="{FF2B5EF4-FFF2-40B4-BE49-F238E27FC236}">
                <a16:creationId xmlns:a16="http://schemas.microsoft.com/office/drawing/2014/main" id="{E0458FE8-C141-4E93-BD7F-141FE9AD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公式进高炉、代码进小区、图纸进车间</a:t>
            </a:r>
          </a:p>
        </p:txBody>
      </p:sp>
      <p:sp>
        <p:nvSpPr>
          <p:cNvPr id="16" name="outcome-row-1">
            <a:extLst xmlns:a="http://schemas.openxmlformats.org/drawingml/2006/main">
              <a:ext uri="{FF2B5EF4-FFF2-40B4-BE49-F238E27FC236}">
                <a16:creationId xmlns:a16="http://schemas.microsoft.com/office/drawing/2014/main" id="{9F5AFFEC-A35C-48CA-9133-3CDABED1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58578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9F7EC6DB-5EEC-4B60-B004-B2BA1E88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99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声音更响</a:t>
            </a:r>
          </a:p>
        </p:txBody>
      </p:sp>
      <p:sp>
        <p:nvSpPr>
          <p:cNvPr id="18" name="outcome-label-1">
            <a:extLst xmlns:a="http://schemas.openxmlformats.org/drawingml/2006/main">
              <a:ext uri="{FF2B5EF4-FFF2-40B4-BE49-F238E27FC236}">
                <a16:creationId xmlns:a16="http://schemas.microsoft.com/office/drawing/2014/main" id="{D30E3B86-254F-46D8-852F-C76593AF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99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36 场宣讲；覆盖师生群众 3800+</a:t>
            </a:r>
          </a:p>
        </p:txBody>
      </p:sp>
      <p:sp>
        <p:nvSpPr>
          <p:cNvPr id="19" name="outcome-sub-1">
            <a:extLst xmlns:a="http://schemas.openxmlformats.org/drawingml/2006/main">
              <a:ext uri="{FF2B5EF4-FFF2-40B4-BE49-F238E27FC236}">
                <a16:creationId xmlns:a16="http://schemas.microsoft.com/office/drawing/2014/main" id="{5DE04F25-2E43-472C-BF92-FF710667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814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进入校园、社区、企业</a:t>
            </a:r>
          </a:p>
        </p:txBody>
      </p:sp>
      <p:sp>
        <p:nvSpPr>
          <p:cNvPr id="20" name="outcome-row-2">
            <a:extLst xmlns:a="http://schemas.openxmlformats.org/drawingml/2006/main">
              <a:ext uri="{FF2B5EF4-FFF2-40B4-BE49-F238E27FC236}">
                <a16:creationId xmlns:a16="http://schemas.microsoft.com/office/drawing/2014/main" id="{5619F4E4-413A-485D-AF11-0CFCF203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86250"/>
            <a:ext cx="5857875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F80A2BD4-DC29-492A-99A3-514B310F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481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</a:defRPr>
            </a:pPr>
            <a:r>
              <a:rPr sz="1575" b="1">
                <a:solidFill>
                  <a:srgbClr val="315F91"/>
                </a:solidFill>
              </a:rPr>
              <a:t>脚步更稳</a:t>
            </a:r>
          </a:p>
        </p:txBody>
      </p:sp>
      <p:sp>
        <p:nvSpPr>
          <p:cNvPr id="22" name="outcome-label-2">
            <a:extLst xmlns:a="http://schemas.openxmlformats.org/drawingml/2006/main">
              <a:ext uri="{FF2B5EF4-FFF2-40B4-BE49-F238E27FC236}">
                <a16:creationId xmlns:a16="http://schemas.microsoft.com/office/drawing/2014/main" id="{0B1839A4-C627-413E-850B-24B4C490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481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党员考取辽宁选调生、投身重大装备研发比例提升 40%</a:t>
            </a:r>
          </a:p>
        </p:txBody>
      </p:sp>
      <p:sp>
        <p:nvSpPr>
          <p:cNvPr id="23" name="outcome-sub-2">
            <a:extLst xmlns:a="http://schemas.openxmlformats.org/drawingml/2006/main">
              <a:ext uri="{FF2B5EF4-FFF2-40B4-BE49-F238E27FC236}">
                <a16:creationId xmlns:a16="http://schemas.microsoft.com/office/drawing/2014/main" id="{4D63667A-8D46-40B9-B93F-D70C8704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96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</a:defRPr>
            </a:pPr>
            <a:r>
              <a:rPr sz="1200" b="0">
                <a:solidFill>
                  <a:srgbClr val="707780"/>
                </a:solidFill>
              </a:rPr>
              <a:t>据来稿，未补充基线</a:t>
            </a:r>
          </a:p>
        </p:txBody>
      </p:sp>
      <p:sp>
        <p:nvSpPr>
          <p:cNvPr id="24" name="outcome-foot">
            <a:extLst xmlns:a="http://schemas.openxmlformats.org/drawingml/2006/main">
              <a:ext uri="{FF2B5EF4-FFF2-40B4-BE49-F238E27FC236}">
                <a16:creationId xmlns:a16="http://schemas.microsoft.com/office/drawing/2014/main" id="{BDA06FC8-2FB4-4E41-9B18-C43AD7AC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19750"/>
            <a:ext cx="585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学生党员把所学写进振兴辽宁的下一行代码。</a:t>
            </a:r>
          </a:p>
        </p:txBody>
      </p:sp>
    </p:spTree>
    <p:extLst>
      <p:ext uri="{BB962C8B-B14F-4D97-AF65-F5344CB8AC3E}">
        <p14:creationId xmlns:p14="http://schemas.microsoft.com/office/powerpoint/2010/main" val="1885068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315F9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744EEE0E-5A92-455E-BA70-F59F1A25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E9F4"/>
                </a:solidFill>
              </a:defRPr>
            </a:pPr>
            <a:r>
              <a:rPr sz="1350" b="1">
                <a:solidFill>
                  <a:srgbClr val="DDE9F4"/>
                </a:solidFill>
              </a:rPr>
              <a:t>收束｜把红色基因传承下去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D067BF0-30BA-4D7A-A0C6-8F595350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五类实践，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共同托起青年成长</a:t>
            </a:r>
          </a:p>
        </p:txBody>
      </p:sp>
      <p:sp>
        <p:nvSpPr>
          <p:cNvPr id="3" name="close-list">
            <a:extLst xmlns:a="http://schemas.openxmlformats.org/drawingml/2006/main">
              <a:ext uri="{FF2B5EF4-FFF2-40B4-BE49-F238E27FC236}">
                <a16:creationId xmlns:a16="http://schemas.microsoft.com/office/drawing/2014/main" id="{7400F853-044C-4E6F-85D6-5DF00B7E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0F7"/>
                </a:solidFill>
              </a:defRPr>
            </a:pPr>
            <a:r>
              <a:rPr sz="1650" b="0">
                <a:solidFill>
                  <a:srgbClr val="E8F0F7"/>
                </a:solidFill>
              </a:rPr>
              <a:t>研学链 · 任务单 · VR 基地</a:t>
            </a:r>
          </a:p>
          <a:p xmlns:a="http://schemas.openxmlformats.org/drawingml/2006/main">
            <a:pPr algn="l">
              <a:defRPr sz="1650" b="0">
                <a:solidFill>
                  <a:srgbClr val="E8F0F7"/>
                </a:solidFill>
              </a:defRPr>
            </a:pPr>
            <a:r>
              <a:rPr sz="1650" b="0">
                <a:solidFill>
                  <a:srgbClr val="E8F0F7"/>
                </a:solidFill>
              </a:rPr>
              <a:t>宣讲团 · 育人机制</a:t>
            </a:r>
          </a:p>
        </p:txBody>
      </p:sp>
      <p:sp>
        <p:nvSpPr>
          <p:cNvPr id="4" name="close-rule">
            <a:extLst xmlns:a="http://schemas.openxmlformats.org/drawingml/2006/main">
              <a:ext uri="{FF2B5EF4-FFF2-40B4-BE49-F238E27FC236}">
                <a16:creationId xmlns:a16="http://schemas.microsoft.com/office/drawing/2014/main" id="{F71B0FDE-15BD-439A-9EEB-B00ED8B6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33500"/>
            <a:ext cx="38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DE"/>
          </a:solidFill>
          <a:ln xmlns:a="http://schemas.openxmlformats.org/drawingml/2006/main" w="0">
            <a:solidFill>
              <a:srgbClr val="AFC8DE"/>
            </a:solidFill>
            <a:prstDash val="solid"/>
          </a:ln>
        </p:spPr>
      </p:sp>
      <p:sp>
        <p:nvSpPr>
          <p:cNvPr id="5" name="close-quote">
            <a:extLst xmlns:a="http://schemas.openxmlformats.org/drawingml/2006/main">
              <a:ext uri="{FF2B5EF4-FFF2-40B4-BE49-F238E27FC236}">
                <a16:creationId xmlns:a16="http://schemas.microsoft.com/office/drawing/2014/main" id="{6ADEA154-B0E1-45D8-B263-0625E14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“红色江山来之不易，守好江山责任重大。”</a:t>
            </a:r>
          </a:p>
        </p:txBody>
      </p:sp>
      <p:sp>
        <p:nvSpPr>
          <p:cNvPr id="6" name="close-attrib">
            <a:extLst xmlns:a="http://schemas.openxmlformats.org/drawingml/2006/main">
              <a:ext uri="{FF2B5EF4-FFF2-40B4-BE49-F238E27FC236}">
                <a16:creationId xmlns:a16="http://schemas.microsoft.com/office/drawing/2014/main" id="{081516E4-D85E-4C25-8CDD-CF89AB39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9F4"/>
                </a:solidFill>
              </a:defRPr>
            </a:pPr>
            <a:r>
              <a:rPr sz="1200" b="0">
                <a:solidFill>
                  <a:srgbClr val="DDE9F4"/>
                </a:solidFill>
              </a:rPr>
              <a:t>——习近平总书记（引自本案例原稿）</a:t>
            </a:r>
          </a:p>
        </p:txBody>
      </p:sp>
      <p:sp>
        <p:nvSpPr>
          <p:cNvPr id="7" name="close-body">
            <a:extLst xmlns:a="http://schemas.openxmlformats.org/drawingml/2006/main">
              <a:ext uri="{FF2B5EF4-FFF2-40B4-BE49-F238E27FC236}">
                <a16:creationId xmlns:a16="http://schemas.microsoft.com/office/drawing/2014/main" id="{DFBDFFFD-24ED-4B14-A18A-3DFA9DBC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F0F7"/>
                </a:solidFill>
              </a:defRPr>
            </a:pPr>
            <a:r>
              <a:rPr sz="1650" b="0">
                <a:solidFill>
                  <a:srgbClr val="E8F0F7"/>
                </a:solidFill>
              </a:rPr>
              <a:t>十年探路，五年深耕。</a:t>
            </a:r>
          </a:p>
          <a:p xmlns:a="http://schemas.openxmlformats.org/drawingml/2006/main">
            <a:pPr algn="l">
              <a:defRPr sz="1650" b="0">
                <a:solidFill>
                  <a:srgbClr val="E8F0F7"/>
                </a:solidFill>
              </a:defRPr>
            </a:pPr>
            <a:r>
              <a:rPr sz="1650" b="0">
                <a:solidFill>
                  <a:srgbClr val="E8F0F7"/>
                </a:solidFill>
              </a:rPr>
              <a:t>让坚定信念熔铸进学生生涯的每一段青春年轮。</a:t>
            </a:r>
          </a:p>
        </p:txBody>
      </p:sp>
      <p:sp>
        <p:nvSpPr>
          <p:cNvPr id="8" name="close-final">
            <a:extLst xmlns:a="http://schemas.openxmlformats.org/drawingml/2006/main">
              <a:ext uri="{FF2B5EF4-FFF2-40B4-BE49-F238E27FC236}">
                <a16:creationId xmlns:a16="http://schemas.microsoft.com/office/drawing/2014/main" id="{A681A7A9-D949-4859-9240-F6BE5238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“六地”红，成为理工青年投身东北全面振兴的鲜亮底色。</a:t>
            </a:r>
          </a:p>
        </p:txBody>
      </p:sp>
      <p:sp>
        <p:nvSpPr>
          <p:cNvPr id="9" name="close-thanks">
            <a:extLst xmlns:a="http://schemas.openxmlformats.org/drawingml/2006/main">
              <a:ext uri="{FF2B5EF4-FFF2-40B4-BE49-F238E27FC236}">
                <a16:creationId xmlns:a16="http://schemas.microsoft.com/office/drawing/2014/main" id="{96ED04E1-3FD4-4F94-B0B4-69CC8279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E9F4"/>
                </a:solidFill>
              </a:defRPr>
            </a:pPr>
            <a:r>
              <a:rPr sz="1350" b="1">
                <a:solidFill>
                  <a:srgbClr val="DDE9F4"/>
                </a:solidFill>
              </a:rPr>
              <a:t>我的汇报完毕，谢谢大家！</a:t>
            </a:r>
          </a:p>
        </p:txBody>
      </p:sp>
      <p:sp>
        <p:nvSpPr>
          <p:cNvPr id="10" name="close-no">
            <a:extLst xmlns:a="http://schemas.openxmlformats.org/drawingml/2006/main">
              <a:ext uri="{FF2B5EF4-FFF2-40B4-BE49-F238E27FC236}">
                <a16:creationId xmlns:a16="http://schemas.microsoft.com/office/drawing/2014/main" id="{818BE8BF-7CED-4B59-ADCF-274AE260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DE9F4"/>
                </a:solidFill>
              </a:defRPr>
            </a:pPr>
            <a:r>
              <a:rPr sz="1050" b="1">
                <a:solidFill>
                  <a:srgbClr val="DDE9F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03282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2026-09-06T01:47:27.7900000Z</dcterms:created>
  <dcterms:modified xsi:type="dcterms:W3CDTF">2026-09-06T01:47:27.7900000Z</dcterms:modified>
</coreProperties>
</file>