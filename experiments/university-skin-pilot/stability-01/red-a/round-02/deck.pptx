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6520b98a7a4079" /><Relationship Type="http://schemas.openxmlformats.org/officeDocument/2006/relationships/extended-properties" Target="/docProps/app.xml" Id="R817e5f0c92df4cbb" /><Relationship Type="http://schemas.openxmlformats.org/officeDocument/2006/relationships/officeDocument" Target="/ppt/presentation.xml" Id="R64a41e3db8284e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877bba0d954434"/>
  </p:sldMasterIdLst>
  <p:notesMasterIdLst>
    <p:notesMasterId xmlns:r="http://schemas.openxmlformats.org/officeDocument/2006/relationships" r:id="R03a84860a13842df"/>
  </p:notesMasterIdLst>
  <p:sldIdLst>
    <p:sldId xmlns:r="http://schemas.openxmlformats.org/officeDocument/2006/relationships" id="256" r:id="R1271a888696a4224"/>
    <p:sldId xmlns:r="http://schemas.openxmlformats.org/officeDocument/2006/relationships" id="257" r:id="R16e980814df74fd3"/>
    <p:sldId xmlns:r="http://schemas.openxmlformats.org/officeDocument/2006/relationships" id="258" r:id="R510852d7872c463e"/>
    <p:sldId xmlns:r="http://schemas.openxmlformats.org/officeDocument/2006/relationships" id="259" r:id="Rddddf7b765a04cf0"/>
    <p:sldId xmlns:r="http://schemas.openxmlformats.org/officeDocument/2006/relationships" id="260" r:id="Rdbed5f4f7baa4fc4"/>
    <p:sldId xmlns:r="http://schemas.openxmlformats.org/officeDocument/2006/relationships" id="261" r:id="R026e54fba7684cbb"/>
    <p:sldId xmlns:r="http://schemas.openxmlformats.org/officeDocument/2006/relationships" id="262" r:id="R9fbdeeaefad54ca7"/>
    <p:sldId xmlns:r="http://schemas.openxmlformats.org/officeDocument/2006/relationships" id="263" r:id="R6c08e22b9bb0444c"/>
    <p:sldId xmlns:r="http://schemas.openxmlformats.org/officeDocument/2006/relationships" id="264" r:id="R1c021cb72efc4d52"/>
    <p:sldId xmlns:r="http://schemas.openxmlformats.org/officeDocument/2006/relationships" id="265" r:id="R184630c65bd64f5c"/>
    <p:sldId xmlns:r="http://schemas.openxmlformats.org/officeDocument/2006/relationships" id="266" r:id="R84e7005f2d0d4f3b"/>
    <p:sldId xmlns:r="http://schemas.openxmlformats.org/officeDocument/2006/relationships" id="267" r:id="R5622aa54b80c40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2855a5557549a7" /><Relationship Type="http://schemas.openxmlformats.org/officeDocument/2006/relationships/slideMaster" Target="/ppt/slideMasters/slideMaster1.xml" Id="Rc4877bba0d954434" /><Relationship Type="http://schemas.openxmlformats.org/officeDocument/2006/relationships/notesMaster" Target="/ppt/notesMasters/notesMaster1.xml" Id="R03a84860a13842df" /><Relationship Type="http://schemas.openxmlformats.org/officeDocument/2006/relationships/presProps" Target="/ppt/presProps.xml" Id="Rd88e578956bd449a" /><Relationship Type="http://schemas.openxmlformats.org/officeDocument/2006/relationships/tableStyles" Target="/ppt/tableStyles.xml" Id="Rcea7255847294588" /><Relationship Type="http://schemas.openxmlformats.org/officeDocument/2006/relationships/slide" Target="/ppt/slides/slide1.xml" Id="R1271a888696a4224" /><Relationship Type="http://schemas.openxmlformats.org/officeDocument/2006/relationships/slide" Target="/ppt/slides/slide2.xml" Id="R16e980814df74fd3" /><Relationship Type="http://schemas.openxmlformats.org/officeDocument/2006/relationships/slide" Target="/ppt/slides/slide3.xml" Id="R510852d7872c463e" /><Relationship Type="http://schemas.openxmlformats.org/officeDocument/2006/relationships/slide" Target="/ppt/slides/slide4.xml" Id="Rddddf7b765a04cf0" /><Relationship Type="http://schemas.openxmlformats.org/officeDocument/2006/relationships/slide" Target="/ppt/slides/slide5.xml" Id="Rdbed5f4f7baa4fc4" /><Relationship Type="http://schemas.openxmlformats.org/officeDocument/2006/relationships/slide" Target="/ppt/slides/slide6.xml" Id="R026e54fba7684cbb" /><Relationship Type="http://schemas.openxmlformats.org/officeDocument/2006/relationships/slide" Target="/ppt/slides/slide7.xml" Id="R9fbdeeaefad54ca7" /><Relationship Type="http://schemas.openxmlformats.org/officeDocument/2006/relationships/slide" Target="/ppt/slides/slide8.xml" Id="R6c08e22b9bb0444c" /><Relationship Type="http://schemas.openxmlformats.org/officeDocument/2006/relationships/slide" Target="/ppt/slides/slide9.xml" Id="R1c021cb72efc4d52" /><Relationship Type="http://schemas.openxmlformats.org/officeDocument/2006/relationships/slide" Target="/ppt/slides/slide10.xml" Id="R184630c65bd64f5c" /><Relationship Type="http://schemas.openxmlformats.org/officeDocument/2006/relationships/slide" Target="/ppt/slides/slide11.xml" Id="R84e7005f2d0d4f3b" /><Relationship Type="http://schemas.openxmlformats.org/officeDocument/2006/relationships/slide" Target="/ppt/slides/slide12.xml" Id="R5622aa54b80c40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37e5b7c45a42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fa76b3750a4de2" /><Relationship Type="http://schemas.openxmlformats.org/officeDocument/2006/relationships/notesMaster" Target="/ppt/notesMasters/notesMaster1.xml" Id="Re13e5b1b8b5d43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060a23ff7a4e9c" /><Relationship Type="http://schemas.openxmlformats.org/officeDocument/2006/relationships/notesMaster" Target="/ppt/notesMasters/notesMaster1.xml" Id="R5d0ccbb390784a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56941bc84641e5" /><Relationship Type="http://schemas.openxmlformats.org/officeDocument/2006/relationships/notesMaster" Target="/ppt/notesMasters/notesMaster1.xml" Id="Rfae14e02871c40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62f77cc93a4f10" /><Relationship Type="http://schemas.openxmlformats.org/officeDocument/2006/relationships/notesMaster" Target="/ppt/notesMasters/notesMaster1.xml" Id="R5c29b46e8c8745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c5ad4a204d4665" /><Relationship Type="http://schemas.openxmlformats.org/officeDocument/2006/relationships/notesMaster" Target="/ppt/notesMasters/notesMaster1.xml" Id="R6f063eca7ddf43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bbbb5e0b0e407b" /><Relationship Type="http://schemas.openxmlformats.org/officeDocument/2006/relationships/notesMaster" Target="/ppt/notesMasters/notesMaster1.xml" Id="R8692b2386a4447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01a03d7953405a" /><Relationship Type="http://schemas.openxmlformats.org/officeDocument/2006/relationships/notesMaster" Target="/ppt/notesMasters/notesMaster1.xml" Id="R00861e25ea614b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bee5914c7f48d4" /><Relationship Type="http://schemas.openxmlformats.org/officeDocument/2006/relationships/notesMaster" Target="/ppt/notesMasters/notesMaster1.xml" Id="Rb187ec886be04b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25bb6f198945cc" /><Relationship Type="http://schemas.openxmlformats.org/officeDocument/2006/relationships/notesMaster" Target="/ppt/notesMasters/notesMaster1.xml" Id="R63da2cd9a63b46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2fac0dafce42b1" /><Relationship Type="http://schemas.openxmlformats.org/officeDocument/2006/relationships/notesMaster" Target="/ppt/notesMasters/notesMaster1.xml" Id="R7e3447ac17d145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882770205f4e02" /><Relationship Type="http://schemas.openxmlformats.org/officeDocument/2006/relationships/notesMaster" Target="/ppt/notesMasters/notesMaster1.xml" Id="R7b0b633f5b0f44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2ce64ecdfd42fb" /><Relationship Type="http://schemas.openxmlformats.org/officeDocument/2006/relationships/notesMaster" Target="/ppt/notesMasters/notesMaster1.xml" Id="R3b071cf5579646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77365669e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976e2166c14dca" /><Relationship Type="http://schemas.openxmlformats.org/officeDocument/2006/relationships/slideLayout" Target="/ppt/slideLayouts/slideLayout1.xml" Id="Rc9367800063845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367800063845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dd59aac7d45b3" /><Relationship Type="http://schemas.openxmlformats.org/officeDocument/2006/relationships/notesSlide" Target="/ppt/notesSlides/notesSlide1.xml" Id="Reba1d97f0dba47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98c6ca66944a4" /><Relationship Type="http://schemas.openxmlformats.org/officeDocument/2006/relationships/notesSlide" Target="/ppt/notesSlides/notesSlide2.xml" Id="R647f0654a3154f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a54ae76574a8b" /><Relationship Type="http://schemas.openxmlformats.org/officeDocument/2006/relationships/notesSlide" Target="/ppt/notesSlides/notesSlide3.xml" Id="R0720652511244a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088b357fb43dc" /><Relationship Type="http://schemas.openxmlformats.org/officeDocument/2006/relationships/notesSlide" Target="/ppt/notesSlides/notesSlide4.xml" Id="R1f3a36803d3948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379a1dcde4449" /><Relationship Type="http://schemas.openxmlformats.org/officeDocument/2006/relationships/notesSlide" Target="/ppt/notesSlides/notesSlide5.xml" Id="R9f7894549cd64e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81f5757ee4566" /><Relationship Type="http://schemas.openxmlformats.org/officeDocument/2006/relationships/notesSlide" Target="/ppt/notesSlides/notesSlide6.xml" Id="R7814d10422ce40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cf15b884b4c0e" /><Relationship Type="http://schemas.openxmlformats.org/officeDocument/2006/relationships/notesSlide" Target="/ppt/notesSlides/notesSlide7.xml" Id="Rdc56a08f0d2f40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ce1a38b0245df" /><Relationship Type="http://schemas.openxmlformats.org/officeDocument/2006/relationships/notesSlide" Target="/ppt/notesSlides/notesSlide8.xml" Id="R255f573ed61f4a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6942f18e8400d" /><Relationship Type="http://schemas.openxmlformats.org/officeDocument/2006/relationships/notesSlide" Target="/ppt/notesSlides/notesSlide9.xml" Id="Rb7c9b1380d254d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2008bb7234de1" /><Relationship Type="http://schemas.openxmlformats.org/officeDocument/2006/relationships/notesSlide" Target="/ppt/notesSlides/notesSlide10.xml" Id="R7978d2157e574c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94585c87945b1" /><Relationship Type="http://schemas.openxmlformats.org/officeDocument/2006/relationships/notesSlide" Target="/ppt/notesSlides/notesSlide11.xml" Id="Rafd20d29202d40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2fdeb572248e1" /><Relationship Type="http://schemas.openxmlformats.org/officeDocument/2006/relationships/notesSlide" Target="/ppt/notesSlides/notesSlide12.xml" Id="R9e78f3cc4bc64f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BB1B345-0C79-4B01-AA88-8A5362C9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927060F-95BA-4FD6-8F5E-5F28F810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9F4"/>
                </a:solidFill>
              </a:defRPr>
            </a:pPr>
            <a:r>
              <a:rPr sz="1350" b="1">
                <a:solidFill>
                  <a:srgbClr val="DDE9F4"/>
                </a:solidFill>
              </a:rPr>
              <a:t>创新案例分享｜党员教育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805C83C-4A02-445F-8D3A-CD74971B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让“六地”红，成为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理工青年最鲜亮的青春底色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3E0D6A7-2074-439B-A9BE-A7B85967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0F7"/>
                </a:solidFill>
              </a:defRPr>
            </a:pPr>
            <a:r>
              <a:rPr sz="1500" b="0">
                <a:solidFill>
                  <a:srgbClr val="E8F0F7"/>
                </a:solidFill>
              </a:rPr>
              <a:t>辽宁“六地”红色文化标识融入党员教育的创新实践</a:t>
            </a:r>
          </a:p>
        </p:txBody>
      </p:sp>
      <p:sp>
        <p:nvSpPr>
          <p:cNvPr id="5" name="cover-quote">
            <a:extLst xmlns:a="http://schemas.openxmlformats.org/drawingml/2006/main">
              <a:ext uri="{FF2B5EF4-FFF2-40B4-BE49-F238E27FC236}">
                <a16:creationId xmlns:a16="http://schemas.microsoft.com/office/drawing/2014/main" id="{26BA2F62-71B7-40E5-84F5-71D43636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143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6E91B2"/>
            </a:solidFill>
            <a:prstDash val="solid"/>
          </a:ln>
        </p:spPr>
      </p:sp>
      <p:sp>
        <p:nvSpPr>
          <p:cNvPr id="6" name="cover-quote-text">
            <a:extLst xmlns:a="http://schemas.openxmlformats.org/drawingml/2006/main">
              <a:ext uri="{FF2B5EF4-FFF2-40B4-BE49-F238E27FC236}">
                <a16:creationId xmlns:a16="http://schemas.microsoft.com/office/drawing/2014/main" id="{B245F765-26B0-4A5A-9DE8-8D977328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让辽宁故事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成为离理工青年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最近、最燃、最硬核的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党员教育现场</a:t>
            </a:r>
          </a:p>
        </p:txBody>
      </p:sp>
      <p:sp>
        <p:nvSpPr>
          <p:cNvPr id="7" name="cover-bottom">
            <a:extLst xmlns:a="http://schemas.openxmlformats.org/drawingml/2006/main">
              <a:ext uri="{FF2B5EF4-FFF2-40B4-BE49-F238E27FC236}">
                <a16:creationId xmlns:a16="http://schemas.microsoft.com/office/drawing/2014/main" id="{9B0C11B2-FF68-4698-89C8-B4A79776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9F4"/>
                </a:solidFill>
              </a:defRPr>
            </a:pPr>
            <a:r>
              <a:rPr sz="1125" b="0">
                <a:solidFill>
                  <a:srgbClr val="DDE9F4"/>
                </a:solidFill>
              </a:rPr>
              <a:t>十年探路｜五年深耕｜从校园“小盆景”到区域“大风景”</a:t>
            </a:r>
          </a:p>
        </p:txBody>
      </p:sp>
      <p:sp>
        <p:nvSpPr>
          <p:cNvPr id="8" name="cover-no">
            <a:extLst xmlns:a="http://schemas.openxmlformats.org/drawingml/2006/main">
              <a:ext uri="{FF2B5EF4-FFF2-40B4-BE49-F238E27FC236}">
                <a16:creationId xmlns:a16="http://schemas.microsoft.com/office/drawing/2014/main" id="{39E5630A-1048-43A7-8E50-9701C37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F4"/>
                </a:solidFill>
              </a:defRPr>
            </a:pPr>
            <a:r>
              <a:rPr sz="1050" b="1">
                <a:solidFill>
                  <a:srgbClr val="DDE9F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3193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10538B25-C617-467E-943D-9BACB54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30E825D-9313-40B9-98BE-34871E9B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0939BF-469B-49AC-A3CD-F3A82693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理工学生的优势很突出，党员教育的情感转化仍要补上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7F5CCA7D-B0CB-45B2-A0D1-1DB55292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02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134E314-EDAC-4884-B2B1-259D640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786EA127-6E9D-4B69-A197-627DA480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十年前，学院党委面对的是一组并存矛盾：能力优势没有自动转化为身份认同与行动担当。</a:t>
            </a:r>
          </a:p>
        </p:txBody>
      </p:sp>
      <p:sp>
        <p:nvSpPr>
          <p:cNvPr id="7" name="high-zone">
            <a:extLst xmlns:a="http://schemas.openxmlformats.org/drawingml/2006/main">
              <a:ext uri="{FF2B5EF4-FFF2-40B4-BE49-F238E27FC236}">
                <a16:creationId xmlns:a16="http://schemas.microsoft.com/office/drawing/2014/main" id="{640B415A-C6AC-4366-847B-0030621F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3667125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high-title">
            <a:extLst xmlns:a="http://schemas.openxmlformats.org/drawingml/2006/main">
              <a:ext uri="{FF2B5EF4-FFF2-40B4-BE49-F238E27FC236}">
                <a16:creationId xmlns:a16="http://schemas.microsoft.com/office/drawing/2014/main" id="{1E97204E-9225-4FC1-9E7C-42A560BC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F91"/>
                </a:solidFill>
              </a:defRPr>
            </a:pPr>
            <a:r>
              <a:rPr sz="3150" b="1">
                <a:solidFill>
                  <a:srgbClr val="315F91"/>
                </a:solidFill>
              </a:rPr>
              <a:t>三高</a:t>
            </a:r>
          </a:p>
        </p:txBody>
      </p:sp>
      <p:sp>
        <p:nvSpPr>
          <p:cNvPr id="9" name="high-body">
            <a:extLst xmlns:a="http://schemas.openxmlformats.org/drawingml/2006/main">
              <a:ext uri="{FF2B5EF4-FFF2-40B4-BE49-F238E27FC236}">
                <a16:creationId xmlns:a16="http://schemas.microsoft.com/office/drawing/2014/main" id="{4A0D8E5C-CBA8-4A3D-8132-76016C72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高学分</a:t>
            </a:r>
          </a:p>
          <a:p xmlns:a="http://schemas.openxmlformats.org/drawingml/2006/main">
            <a:pPr algn="l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高竞赛</a:t>
            </a:r>
          </a:p>
          <a:p xmlns:a="http://schemas.openxmlformats.org/drawingml/2006/main">
            <a:pPr algn="l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高科研</a:t>
            </a:r>
          </a:p>
        </p:txBody>
      </p:sp>
      <p:sp>
        <p:nvSpPr>
          <p:cNvPr id="10" name="low-zone">
            <a:extLst xmlns:a="http://schemas.openxmlformats.org/drawingml/2006/main">
              <a:ext uri="{FF2B5EF4-FFF2-40B4-BE49-F238E27FC236}">
                <a16:creationId xmlns:a16="http://schemas.microsoft.com/office/drawing/2014/main" id="{17B8EBEE-F8A0-41DA-8722-130AE9A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667125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1" name="low-title">
            <a:extLst xmlns:a="http://schemas.openxmlformats.org/drawingml/2006/main">
              <a:ext uri="{FF2B5EF4-FFF2-40B4-BE49-F238E27FC236}">
                <a16:creationId xmlns:a16="http://schemas.microsoft.com/office/drawing/2014/main" id="{0C0A501A-DA22-44CC-B48A-AB0CD2F9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456B"/>
                </a:solidFill>
              </a:defRPr>
            </a:pPr>
            <a:r>
              <a:rPr sz="3150" b="1">
                <a:solidFill>
                  <a:srgbClr val="21456B"/>
                </a:solidFill>
              </a:rPr>
              <a:t>三低</a:t>
            </a:r>
          </a:p>
        </p:txBody>
      </p:sp>
      <p:sp>
        <p:nvSpPr>
          <p:cNvPr id="12" name="low-body">
            <a:extLst xmlns:a="http://schemas.openxmlformats.org/drawingml/2006/main">
              <a:ext uri="{FF2B5EF4-FFF2-40B4-BE49-F238E27FC236}">
                <a16:creationId xmlns:a16="http://schemas.microsoft.com/office/drawing/2014/main" id="{B9EFCD43-2181-4C1B-BCB8-CD528E3F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理论情感浓度低</a:t>
            </a:r>
          </a:p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身份认同声量低</a:t>
            </a:r>
          </a:p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知行合一燃值低</a:t>
            </a:r>
          </a:p>
        </p:txBody>
      </p:sp>
      <p:sp>
        <p:nvSpPr>
          <p:cNvPr id="13" name="coexist-zone">
            <a:extLst xmlns:a="http://schemas.openxmlformats.org/drawingml/2006/main">
              <a:ext uri="{FF2B5EF4-FFF2-40B4-BE49-F238E27FC236}">
                <a16:creationId xmlns:a16="http://schemas.microsoft.com/office/drawing/2014/main" id="{24CD2800-BB19-416D-9DE2-4045846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2762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6EEF6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4" name="coexist-head">
            <a:extLst xmlns:a="http://schemas.openxmlformats.org/drawingml/2006/main">
              <a:ext uri="{FF2B5EF4-FFF2-40B4-BE49-F238E27FC236}">
                <a16:creationId xmlns:a16="http://schemas.microsoft.com/office/drawing/2014/main" id="{60645DDE-C05D-45A8-882D-743B1484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15F91"/>
                </a:solidFill>
              </a:defRPr>
            </a:pPr>
            <a:r>
              <a:rPr sz="2250" b="1">
                <a:solidFill>
                  <a:srgbClr val="315F91"/>
                </a:solidFill>
              </a:rPr>
              <a:t>并存矛盾</a:t>
            </a:r>
          </a:p>
        </p:txBody>
      </p:sp>
      <p:sp>
        <p:nvSpPr>
          <p:cNvPr id="15" name="coexist-note">
            <a:extLst xmlns:a="http://schemas.openxmlformats.org/drawingml/2006/main">
              <a:ext uri="{FF2B5EF4-FFF2-40B4-BE49-F238E27FC236}">
                <a16:creationId xmlns:a16="http://schemas.microsoft.com/office/drawing/2014/main" id="{F88F28B5-6909-4F89-A710-AED39C17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能力优势与情感转化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需要党建实践承接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91000" y="3071813"/>
            <a:ext cx="381000" cy="523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10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334250" y="3071813"/>
            <a:ext cx="666750" cy="523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18" name="bridge-note">
            <a:extLst xmlns:a="http://schemas.openxmlformats.org/drawingml/2006/main">
              <a:ext uri="{FF2B5EF4-FFF2-40B4-BE49-F238E27FC236}">
                <a16:creationId xmlns:a16="http://schemas.microsoft.com/office/drawing/2014/main" id="{A708CBDA-885C-45D9-AA1C-71317CB6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红色梦想实践团走遍全国九省，形成“理论＋实践”立体化红色矩阵</a:t>
            </a:r>
          </a:p>
        </p:txBody>
      </p:sp>
      <p:sp>
        <p:nvSpPr>
          <p:cNvPr id="1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8BFEF74A-346F-465D-B932-81AD036A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0" name="thesis">
            <a:extLst xmlns:a="http://schemas.openxmlformats.org/drawingml/2006/main">
              <a:ext uri="{FF2B5EF4-FFF2-40B4-BE49-F238E27FC236}">
                <a16:creationId xmlns:a16="http://schemas.microsoft.com/office/drawing/2014/main" id="{95171A80-699C-444F-8F22-B154C362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F91"/>
                </a:solidFill>
              </a:defRPr>
            </a:pPr>
            <a:r>
              <a:rPr sz="1800" b="1">
                <a:solidFill>
                  <a:srgbClr val="315F91"/>
                </a:solidFill>
              </a:rPr>
              <a:t>今天的选择：把“走遍全国”进一步收束为“深耕辽宁”，让六块红色标识成为离青年最近的教育现场。</a:t>
            </a:r>
          </a:p>
        </p:txBody>
      </p:sp>
    </p:spTree>
    <p:extLst>
      <p:ext uri="{BB962C8B-B14F-4D97-AF65-F5344CB8AC3E}">
        <p14:creationId xmlns:p14="http://schemas.microsoft.com/office/powerpoint/2010/main" val="2057878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F66DF75A-8719-40D3-A221-3256B2A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23510F4-6719-49CC-900B-9CEE11F3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7A6F9C-DAE7-4400-A5EE-6FB03C67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新矩阵把一条红色研学链，接入三类课堂与 N 个真实场景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4606B487-44C9-4A78-93A7-B69D55C6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03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5C80B3C-8B76-4DE6-83C3-C6DB24B9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arch-lead">
            <a:extLst xmlns:a="http://schemas.openxmlformats.org/drawingml/2006/main">
              <a:ext uri="{FF2B5EF4-FFF2-40B4-BE49-F238E27FC236}">
                <a16:creationId xmlns:a16="http://schemas.microsoft.com/office/drawing/2014/main" id="{C1783156-75BF-4870-98C7-CBFC1F56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双轮驱动：深挖“六地”文化内涵 + 实践研学赋能，重塑“五位一体”红色育人生态。</a:t>
            </a:r>
          </a:p>
        </p:txBody>
      </p:sp>
      <p:sp>
        <p:nvSpPr>
          <p:cNvPr id="7" name="matrix-zone">
            <a:extLst xmlns:a="http://schemas.openxmlformats.org/drawingml/2006/main">
              <a:ext uri="{FF2B5EF4-FFF2-40B4-BE49-F238E27FC236}">
                <a16:creationId xmlns:a16="http://schemas.microsoft.com/office/drawing/2014/main" id="{A5B09484-9735-431C-AF96-EFAF55F7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53340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matrix-head">
            <a:extLst xmlns:a="http://schemas.openxmlformats.org/drawingml/2006/main">
              <a:ext uri="{FF2B5EF4-FFF2-40B4-BE49-F238E27FC236}">
                <a16:creationId xmlns:a16="http://schemas.microsoft.com/office/drawing/2014/main" id="{B68B5A63-3C85-4A34-8692-031903D7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F91"/>
                </a:solidFill>
              </a:defRPr>
            </a:pPr>
            <a:r>
              <a:rPr sz="2250" b="1">
                <a:solidFill>
                  <a:srgbClr val="315F91"/>
                </a:solidFill>
              </a:rPr>
              <a:t>1 + 3 + N 新矩阵</a:t>
            </a:r>
          </a:p>
        </p:txBody>
      </p:sp>
      <p:sp>
        <p:nvSpPr>
          <p:cNvPr id="9" name="matrix-rule-1">
            <a:extLst xmlns:a="http://schemas.openxmlformats.org/drawingml/2006/main">
              <a:ext uri="{FF2B5EF4-FFF2-40B4-BE49-F238E27FC236}">
                <a16:creationId xmlns:a16="http://schemas.microsoft.com/office/drawing/2014/main" id="{14558D1F-6579-49D0-9365-7D5658F0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3"/>
          </a:solidFill>
          <a:ln xmlns:a="http://schemas.openxmlformats.org/drawingml/2006/main" w="0">
            <a:solidFill>
              <a:srgbClr val="C9D6E3"/>
            </a:solidFill>
            <a:prstDash val="solid"/>
          </a:ln>
        </p:spPr>
      </p:sp>
      <p:sp>
        <p:nvSpPr>
          <p:cNvPr id="10" name="matrix-one">
            <a:extLst xmlns:a="http://schemas.openxmlformats.org/drawingml/2006/main">
              <a:ext uri="{FF2B5EF4-FFF2-40B4-BE49-F238E27FC236}">
                <a16:creationId xmlns:a16="http://schemas.microsoft.com/office/drawing/2014/main" id="{590EFD10-E788-4AD6-8587-36D2E51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1 条研学链</a:t>
            </a:r>
          </a:p>
        </p:txBody>
      </p:sp>
      <p:sp>
        <p:nvSpPr>
          <p:cNvPr id="11" name="matrix-one-detail">
            <a:extLst xmlns:a="http://schemas.openxmlformats.org/drawingml/2006/main">
              <a:ext uri="{FF2B5EF4-FFF2-40B4-BE49-F238E27FC236}">
                <a16:creationId xmlns:a16="http://schemas.microsoft.com/office/drawing/2014/main" id="{5177AFF6-454A-4461-AB45-973FEFE9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</a:defRPr>
            </a:pPr>
            <a:r>
              <a:rPr sz="1350" b="0">
                <a:solidFill>
                  <a:srgbClr val="707780"/>
                </a:solidFill>
              </a:rPr>
              <a:t>对接 22 处“六地”示范教学点</a:t>
            </a:r>
          </a:p>
        </p:txBody>
      </p:sp>
      <p:sp>
        <p:nvSpPr>
          <p:cNvPr id="12" name="matrix-rule-2">
            <a:extLst xmlns:a="http://schemas.openxmlformats.org/drawingml/2006/main">
              <a:ext uri="{FF2B5EF4-FFF2-40B4-BE49-F238E27FC236}">
                <a16:creationId xmlns:a16="http://schemas.microsoft.com/office/drawing/2014/main" id="{6AFCDDD1-4DAB-437C-BD0B-CA594C5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3"/>
          </a:solidFill>
          <a:ln xmlns:a="http://schemas.openxmlformats.org/drawingml/2006/main" w="0">
            <a:solidFill>
              <a:srgbClr val="C9D6E3"/>
            </a:solidFill>
            <a:prstDash val="solid"/>
          </a:ln>
        </p:spPr>
      </p:sp>
      <p:sp>
        <p:nvSpPr>
          <p:cNvPr id="13" name="matrix-three">
            <a:extLst xmlns:a="http://schemas.openxmlformats.org/drawingml/2006/main">
              <a:ext uri="{FF2B5EF4-FFF2-40B4-BE49-F238E27FC236}">
                <a16:creationId xmlns:a16="http://schemas.microsoft.com/office/drawing/2014/main" id="{0AEDD8FA-9A3A-4C63-86CC-D4D64214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3 类青春课堂</a:t>
            </a:r>
          </a:p>
        </p:txBody>
      </p:sp>
      <p:sp>
        <p:nvSpPr>
          <p:cNvPr id="14" name="matrix-three-detail">
            <a:extLst xmlns:a="http://schemas.openxmlformats.org/drawingml/2006/main">
              <a:ext uri="{FF2B5EF4-FFF2-40B4-BE49-F238E27FC236}">
                <a16:creationId xmlns:a16="http://schemas.microsoft.com/office/drawing/2014/main" id="{E66D4111-15C9-438B-82A2-0BD6C076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</a:defRPr>
            </a:pPr>
            <a:r>
              <a:rPr sz="1350" b="0">
                <a:solidFill>
                  <a:srgbClr val="707780"/>
                </a:solidFill>
              </a:rPr>
              <a:t>行走 / 沉浸(VR) / 互动</a:t>
            </a:r>
          </a:p>
        </p:txBody>
      </p:sp>
      <p:sp>
        <p:nvSpPr>
          <p:cNvPr id="15" name="matrix-rule-3">
            <a:extLst xmlns:a="http://schemas.openxmlformats.org/drawingml/2006/main">
              <a:ext uri="{FF2B5EF4-FFF2-40B4-BE49-F238E27FC236}">
                <a16:creationId xmlns:a16="http://schemas.microsoft.com/office/drawing/2014/main" id="{E1AE64ED-D38C-40EB-BFE7-9B3F659A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3"/>
          </a:solidFill>
          <a:ln xmlns:a="http://schemas.openxmlformats.org/drawingml/2006/main" w="0">
            <a:solidFill>
              <a:srgbClr val="C9D6E3"/>
            </a:solidFill>
            <a:prstDash val="solid"/>
          </a:ln>
        </p:spPr>
      </p:sp>
      <p:sp>
        <p:nvSpPr>
          <p:cNvPr id="16" name="matrix-n">
            <a:extLst xmlns:a="http://schemas.openxmlformats.org/drawingml/2006/main">
              <a:ext uri="{FF2B5EF4-FFF2-40B4-BE49-F238E27FC236}">
                <a16:creationId xmlns:a16="http://schemas.microsoft.com/office/drawing/2014/main" id="{FF5A2888-DD11-49A4-8B27-13D1CC6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N 个教育场景</a:t>
            </a:r>
          </a:p>
        </p:txBody>
      </p:sp>
      <p:sp>
        <p:nvSpPr>
          <p:cNvPr id="17" name="matrix-n-detail">
            <a:extLst xmlns:a="http://schemas.openxmlformats.org/drawingml/2006/main">
              <a:ext uri="{FF2B5EF4-FFF2-40B4-BE49-F238E27FC236}">
                <a16:creationId xmlns:a16="http://schemas.microsoft.com/office/drawing/2014/main" id="{C5ECDC31-4A6D-486A-AEC2-6683A396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</a:defRPr>
            </a:pPr>
            <a:r>
              <a:rPr sz="1350" b="0">
                <a:solidFill>
                  <a:srgbClr val="707780"/>
                </a:solidFill>
              </a:rPr>
              <a:t>校地 · 校企 · 校校联建</a:t>
            </a:r>
          </a:p>
        </p:txBody>
      </p:sp>
      <p:sp>
        <p:nvSpPr>
          <p:cNvPr id="18" name="ecosystem-zone">
            <a:extLst xmlns:a="http://schemas.openxmlformats.org/drawingml/2006/main">
              <a:ext uri="{FF2B5EF4-FFF2-40B4-BE49-F238E27FC236}">
                <a16:creationId xmlns:a16="http://schemas.microsoft.com/office/drawing/2014/main" id="{E9DC51F2-548B-485D-B50F-7210E72D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5238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9" name="ecosystem-accent">
            <a:extLst xmlns:a="http://schemas.openxmlformats.org/drawingml/2006/main">
              <a:ext uri="{FF2B5EF4-FFF2-40B4-BE49-F238E27FC236}">
                <a16:creationId xmlns:a16="http://schemas.microsoft.com/office/drawing/2014/main" id="{54DC55A8-F8D3-4609-BAAD-60C672AA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0" name="ecosystem-head">
            <a:extLst xmlns:a="http://schemas.openxmlformats.org/drawingml/2006/main">
              <a:ext uri="{FF2B5EF4-FFF2-40B4-BE49-F238E27FC236}">
                <a16:creationId xmlns:a16="http://schemas.microsoft.com/office/drawing/2014/main" id="{BE3B607A-AA18-439A-9FFD-11E5644B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526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F91"/>
                </a:solidFill>
              </a:defRPr>
            </a:pPr>
            <a:r>
              <a:rPr sz="1950" b="1">
                <a:solidFill>
                  <a:srgbClr val="315F91"/>
                </a:solidFill>
              </a:rPr>
              <a:t>双轮驱动</a:t>
            </a:r>
          </a:p>
        </p:txBody>
      </p:sp>
      <p:sp>
        <p:nvSpPr>
          <p:cNvPr id="21" name="ecosystem-body">
            <a:extLst xmlns:a="http://schemas.openxmlformats.org/drawingml/2006/main">
              <a:ext uri="{FF2B5EF4-FFF2-40B4-BE49-F238E27FC236}">
                <a16:creationId xmlns:a16="http://schemas.microsoft.com/office/drawing/2014/main" id="{A2D4C74A-CBA3-47FF-81A7-44E8B2B3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深挖“六地”文化内涵</a:t>
            </a:r>
          </a:p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实践研学赋能</a:t>
            </a:r>
          </a:p>
        </p:txBody>
      </p:sp>
      <p:sp>
        <p:nvSpPr>
          <p:cNvPr id="22" name="ecosystem-result">
            <a:extLst xmlns:a="http://schemas.openxmlformats.org/drawingml/2006/main">
              <a:ext uri="{FF2B5EF4-FFF2-40B4-BE49-F238E27FC236}">
                <a16:creationId xmlns:a16="http://schemas.microsoft.com/office/drawing/2014/main" id="{0F859C9E-4084-4DF1-AA7C-45498866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F91"/>
                </a:solidFill>
              </a:defRPr>
            </a:pPr>
            <a:r>
              <a:rPr sz="2250" b="1">
                <a:solidFill>
                  <a:srgbClr val="315F91"/>
                </a:solidFill>
              </a:rPr>
              <a:t>五位一体</a:t>
            </a:r>
          </a:p>
          <a:p xmlns:a="http://schemas.openxmlformats.org/drawingml/2006/main">
            <a:pPr algn="l">
              <a:defRPr sz="2250" b="1">
                <a:solidFill>
                  <a:srgbClr val="315F91"/>
                </a:solidFill>
              </a:defRPr>
            </a:pPr>
            <a:r>
              <a:rPr sz="2250" b="1">
                <a:solidFill>
                  <a:srgbClr val="315F91"/>
                </a:solidFill>
              </a:rPr>
              <a:t>红色育人生态</a:t>
            </a:r>
          </a:p>
        </p:txBody>
      </p: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57875" y="3690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811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718220F5-EDAE-4FEF-A75C-4511590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536CAA-8209-4777-B088-BF57A6DB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BE8CDE-4D83-4391-A7DF-4502B322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研学路线先立根基，再穿行六地，最后把现场扩展到 N 个教学点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8773156E-D27A-46E6-814A-1FC95528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04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3A4E85-2770-4B07-8AC1-4A5BD2E7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route-lead">
            <a:extLst xmlns:a="http://schemas.openxmlformats.org/drawingml/2006/main">
              <a:ext uri="{FF2B5EF4-FFF2-40B4-BE49-F238E27FC236}">
                <a16:creationId xmlns:a16="http://schemas.microsoft.com/office/drawing/2014/main" id="{AADB610D-3391-4945-A396-605D5D5C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“红色足迹地图”组织 22 处示范教学点，路线由校本基地、六地文化身份与配套教学点共同构成。</a:t>
            </a:r>
          </a:p>
        </p:txBody>
      </p:sp>
      <p:sp>
        <p:nvSpPr>
          <p:cNvPr id="7" name="route-1">
            <a:extLst xmlns:a="http://schemas.openxmlformats.org/drawingml/2006/main">
              <a:ext uri="{FF2B5EF4-FFF2-40B4-BE49-F238E27FC236}">
                <a16:creationId xmlns:a16="http://schemas.microsoft.com/office/drawing/2014/main" id="{44981040-F08F-4C32-872D-AFF13244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route-1-label">
            <a:extLst xmlns:a="http://schemas.openxmlformats.org/drawingml/2006/main">
              <a:ext uri="{FF2B5EF4-FFF2-40B4-BE49-F238E27FC236}">
                <a16:creationId xmlns:a16="http://schemas.microsoft.com/office/drawing/2014/main" id="{0AF73DEE-E84D-4223-AEB4-8342837C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校史馆</a:t>
            </a:r>
          </a:p>
        </p:txBody>
      </p:sp>
      <p:sp>
        <p:nvSpPr>
          <p:cNvPr id="9" name="route-cluster">
            <a:extLst xmlns:a="http://schemas.openxmlformats.org/drawingml/2006/main">
              <a:ext uri="{FF2B5EF4-FFF2-40B4-BE49-F238E27FC236}">
                <a16:creationId xmlns:a16="http://schemas.microsoft.com/office/drawing/2014/main" id="{00922741-ECB5-48A2-B47F-E8AD9619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5334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0" name="route-cluster-title">
            <a:extLst xmlns:a="http://schemas.openxmlformats.org/drawingml/2006/main">
              <a:ext uri="{FF2B5EF4-FFF2-40B4-BE49-F238E27FC236}">
                <a16:creationId xmlns:a16="http://schemas.microsoft.com/office/drawing/2014/main" id="{8AA331DF-1AC1-433C-9FDC-74FE3884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526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15F91"/>
                </a:solidFill>
              </a:defRPr>
            </a:pPr>
            <a:r>
              <a:rPr sz="1875" b="1">
                <a:solidFill>
                  <a:srgbClr val="315F91"/>
                </a:solidFill>
              </a:rPr>
              <a:t>6 处核心“六地”场馆</a:t>
            </a:r>
          </a:p>
        </p:txBody>
      </p:sp>
      <p:sp>
        <p:nvSpPr>
          <p:cNvPr id="11" name="route-id-1">
            <a:extLst xmlns:a="http://schemas.openxmlformats.org/drawingml/2006/main">
              <a:ext uri="{FF2B5EF4-FFF2-40B4-BE49-F238E27FC236}">
                <a16:creationId xmlns:a16="http://schemas.microsoft.com/office/drawing/2014/main" id="{2A951662-972D-4F8A-B77B-E354EB66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813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2" name="route-id-1-label">
            <a:extLst xmlns:a="http://schemas.openxmlformats.org/drawingml/2006/main">
              <a:ext uri="{FF2B5EF4-FFF2-40B4-BE49-F238E27FC236}">
                <a16:creationId xmlns:a16="http://schemas.microsoft.com/office/drawing/2014/main" id="{57FAE481-33CA-4C30-99EF-F1A59B75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抗日战争起始地</a:t>
            </a:r>
          </a:p>
        </p:txBody>
      </p:sp>
      <p:sp>
        <p:nvSpPr>
          <p:cNvPr id="13" name="route-id-2">
            <a:extLst xmlns:a="http://schemas.openxmlformats.org/drawingml/2006/main">
              <a:ext uri="{FF2B5EF4-FFF2-40B4-BE49-F238E27FC236}">
                <a16:creationId xmlns:a16="http://schemas.microsoft.com/office/drawing/2014/main" id="{D9458BCD-4594-435F-80BB-5D77229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813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route-id-2-label">
            <a:extLst xmlns:a="http://schemas.openxmlformats.org/drawingml/2006/main">
              <a:ext uri="{FF2B5EF4-FFF2-40B4-BE49-F238E27FC236}">
                <a16:creationId xmlns:a16="http://schemas.microsoft.com/office/drawing/2014/main" id="{9D05FE7C-0975-475B-8187-1B44A8AC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解放战争转折地</a:t>
            </a:r>
          </a:p>
        </p:txBody>
      </p:sp>
      <p:sp>
        <p:nvSpPr>
          <p:cNvPr id="15" name="route-id-3">
            <a:extLst xmlns:a="http://schemas.openxmlformats.org/drawingml/2006/main">
              <a:ext uri="{FF2B5EF4-FFF2-40B4-BE49-F238E27FC236}">
                <a16:creationId xmlns:a16="http://schemas.microsoft.com/office/drawing/2014/main" id="{592F039E-AB71-47D7-9891-775D7782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290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6" name="route-id-3-label">
            <a:extLst xmlns:a="http://schemas.openxmlformats.org/drawingml/2006/main">
              <a:ext uri="{FF2B5EF4-FFF2-40B4-BE49-F238E27FC236}">
                <a16:creationId xmlns:a16="http://schemas.microsoft.com/office/drawing/2014/main" id="{E6D58125-4D03-403A-86F1-BE6E60E9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562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新中国国歌素材地</a:t>
            </a:r>
          </a:p>
        </p:txBody>
      </p:sp>
      <p:sp>
        <p:nvSpPr>
          <p:cNvPr id="17" name="route-id-4">
            <a:extLst xmlns:a="http://schemas.openxmlformats.org/drawingml/2006/main">
              <a:ext uri="{FF2B5EF4-FFF2-40B4-BE49-F238E27FC236}">
                <a16:creationId xmlns:a16="http://schemas.microsoft.com/office/drawing/2014/main" id="{663F538B-0D35-456A-BB46-6FCA9257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290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8" name="route-id-4-label">
            <a:extLst xmlns:a="http://schemas.openxmlformats.org/drawingml/2006/main">
              <a:ext uri="{FF2B5EF4-FFF2-40B4-BE49-F238E27FC236}">
                <a16:creationId xmlns:a16="http://schemas.microsoft.com/office/drawing/2014/main" id="{59DD8236-E96D-4B77-835F-558A4D8A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62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抗美援朝出征地</a:t>
            </a:r>
          </a:p>
        </p:txBody>
      </p:sp>
      <p:sp>
        <p:nvSpPr>
          <p:cNvPr id="19" name="route-id-5">
            <a:extLst xmlns:a="http://schemas.openxmlformats.org/drawingml/2006/main">
              <a:ext uri="{FF2B5EF4-FFF2-40B4-BE49-F238E27FC236}">
                <a16:creationId xmlns:a16="http://schemas.microsoft.com/office/drawing/2014/main" id="{D7B80608-AE48-4B8C-BFA5-22E1CB2B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767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20" name="route-id-5-label">
            <a:extLst xmlns:a="http://schemas.openxmlformats.org/drawingml/2006/main">
              <a:ext uri="{FF2B5EF4-FFF2-40B4-BE49-F238E27FC236}">
                <a16:creationId xmlns:a16="http://schemas.microsoft.com/office/drawing/2014/main" id="{99E1EC87-8559-4CC2-9D15-7C4F41EF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100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共和国工业奠基地</a:t>
            </a:r>
          </a:p>
        </p:txBody>
      </p:sp>
      <p:sp>
        <p:nvSpPr>
          <p:cNvPr id="21" name="route-id-6">
            <a:extLst xmlns:a="http://schemas.openxmlformats.org/drawingml/2006/main">
              <a:ext uri="{FF2B5EF4-FFF2-40B4-BE49-F238E27FC236}">
                <a16:creationId xmlns:a16="http://schemas.microsoft.com/office/drawing/2014/main" id="{6848EA0A-C490-4C5C-8FDF-D613DB58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767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2" name="route-id-6-label">
            <a:extLst xmlns:a="http://schemas.openxmlformats.org/drawingml/2006/main">
              <a:ext uri="{FF2B5EF4-FFF2-40B4-BE49-F238E27FC236}">
                <a16:creationId xmlns:a16="http://schemas.microsoft.com/office/drawing/2014/main" id="{E24E3D9F-6BAF-4594-8E4B-99C6CD58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100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雷锋精神发祥地</a:t>
            </a:r>
          </a:p>
        </p:txBody>
      </p:sp>
      <p:sp>
        <p:nvSpPr>
          <p:cNvPr id="23" name="route-5">
            <a:extLst xmlns:a="http://schemas.openxmlformats.org/drawingml/2006/main">
              <a:ext uri="{FF2B5EF4-FFF2-40B4-BE49-F238E27FC236}">
                <a16:creationId xmlns:a16="http://schemas.microsoft.com/office/drawing/2014/main" id="{D3945725-F046-4199-BA55-726A94F1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4" name="route-5-label">
            <a:extLst xmlns:a="http://schemas.openxmlformats.org/drawingml/2006/main">
              <a:ext uri="{FF2B5EF4-FFF2-40B4-BE49-F238E27FC236}">
                <a16:creationId xmlns:a16="http://schemas.microsoft.com/office/drawing/2014/main" id="{7280B689-66A4-4A63-9B63-A468E6A9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配套教学点</a:t>
            </a:r>
          </a:p>
        </p:txBody>
      </p: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67000" y="3438525"/>
            <a:ext cx="71437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8715375" y="3438525"/>
            <a:ext cx="71437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27" name="route-cap-1">
            <a:extLst xmlns:a="http://schemas.openxmlformats.org/drawingml/2006/main">
              <a:ext uri="{FF2B5EF4-FFF2-40B4-BE49-F238E27FC236}">
                <a16:creationId xmlns:a16="http://schemas.microsoft.com/office/drawing/2014/main" id="{12690773-60EE-4661-BADE-D8C3767A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路线入口</a:t>
            </a:r>
          </a:p>
        </p:txBody>
      </p:sp>
      <p:sp>
        <p:nvSpPr>
          <p:cNvPr id="28" name="route-cap-2">
            <a:extLst xmlns:a="http://schemas.openxmlformats.org/drawingml/2006/main">
              <a:ext uri="{FF2B5EF4-FFF2-40B4-BE49-F238E27FC236}">
                <a16:creationId xmlns:a16="http://schemas.microsoft.com/office/drawing/2014/main" id="{4E197A7B-1ADC-4564-8D6C-A04C5301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00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六个文化身份共同构成核心场馆层</a:t>
            </a:r>
          </a:p>
        </p:txBody>
      </p:sp>
      <p:sp>
        <p:nvSpPr>
          <p:cNvPr id="29" name="route-cap-3">
            <a:extLst xmlns:a="http://schemas.openxmlformats.org/drawingml/2006/main">
              <a:ext uri="{FF2B5EF4-FFF2-40B4-BE49-F238E27FC236}">
                <a16:creationId xmlns:a16="http://schemas.microsoft.com/office/drawing/2014/main" id="{22C059F4-744D-4809-B08C-9E1DB446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N 个配套教学点</a:t>
            </a:r>
          </a:p>
        </p:txBody>
      </p:sp>
      <p:sp>
        <p:nvSpPr>
          <p:cNvPr id="30" name="route-foot">
            <a:extLst xmlns:a="http://schemas.openxmlformats.org/drawingml/2006/main">
              <a:ext uri="{FF2B5EF4-FFF2-40B4-BE49-F238E27FC236}">
                <a16:creationId xmlns:a16="http://schemas.microsoft.com/office/drawing/2014/main" id="{F8F57EF2-8EA3-4B1A-87BE-83136C09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研学链口径：1 + 6 + N；整体矩阵口径：1 + 3 + N。</a:t>
            </a:r>
          </a:p>
        </p:txBody>
      </p:sp>
    </p:spTree>
    <p:extLst>
      <p:ext uri="{BB962C8B-B14F-4D97-AF65-F5344CB8AC3E}">
        <p14:creationId xmlns:p14="http://schemas.microsoft.com/office/powerpoint/2010/main" val="203574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33A963E3-0656-4A6A-AC97-77227A19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DC8AE5-7AB1-41D0-9D11-19205E62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99382B-13C7-4B4A-9F93-FC895C8F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五类实践抓手，把红色教育从“听过”推进到“做过、共享、长效”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013DFB1B-5078-4FFC-98F8-358E365A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05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A4860C3-D1BB-4512-978E-BD51B91E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handles-lead">
            <a:extLst xmlns:a="http://schemas.openxmlformats.org/drawingml/2006/main">
              <a:ext uri="{FF2B5EF4-FFF2-40B4-BE49-F238E27FC236}">
                <a16:creationId xmlns:a16="http://schemas.microsoft.com/office/drawing/2014/main" id="{AD6721E7-A324-4BBB-B711-9A3E7110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每个抓手承担一个具体转化任务，共同支撑“红色先锋”的成长结果。</a:t>
            </a:r>
          </a:p>
        </p:txBody>
      </p:sp>
      <p:sp>
        <p:nvSpPr>
          <p:cNvPr id="7" name="handle-core">
            <a:extLst xmlns:a="http://schemas.openxmlformats.org/drawingml/2006/main">
              <a:ext uri="{FF2B5EF4-FFF2-40B4-BE49-F238E27FC236}">
                <a16:creationId xmlns:a16="http://schemas.microsoft.com/office/drawing/2014/main" id="{2220DF75-B430-4F34-AB17-5EC31C4A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handle-core-label">
            <a:extLst xmlns:a="http://schemas.openxmlformats.org/drawingml/2006/main">
              <a:ext uri="{FF2B5EF4-FFF2-40B4-BE49-F238E27FC236}">
                <a16:creationId xmlns:a16="http://schemas.microsoft.com/office/drawing/2014/main" id="{F7117011-E9B8-467E-B49E-497B7255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85975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五类抓手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共同支撑</a:t>
            </a:r>
          </a:p>
        </p:txBody>
      </p:sp>
      <p:sp>
        <p:nvSpPr>
          <p:cNvPr id="9" name="handle-bg">
            <a:extLst xmlns:a="http://schemas.openxmlformats.org/drawingml/2006/main">
              <a:ext uri="{FF2B5EF4-FFF2-40B4-BE49-F238E27FC236}">
                <a16:creationId xmlns:a16="http://schemas.microsoft.com/office/drawing/2014/main" id="{D81D3812-A458-47CB-A3FC-B2408E6F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11144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handle-1">
            <a:extLst xmlns:a="http://schemas.openxmlformats.org/drawingml/2006/main">
              <a:ext uri="{FF2B5EF4-FFF2-40B4-BE49-F238E27FC236}">
                <a16:creationId xmlns:a16="http://schemas.microsoft.com/office/drawing/2014/main" id="{FB5E9574-E7B2-4B9F-A736-2881D1DE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handle-1-label">
            <a:extLst xmlns:a="http://schemas.openxmlformats.org/drawingml/2006/main">
              <a:ext uri="{FF2B5EF4-FFF2-40B4-BE49-F238E27FC236}">
                <a16:creationId xmlns:a16="http://schemas.microsoft.com/office/drawing/2014/main" id="{699FCD3C-8FF2-4D07-A68E-54EB29B7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红色任务单</a:t>
            </a:r>
          </a:p>
        </p:txBody>
      </p:sp>
      <p:sp>
        <p:nvSpPr>
          <p:cNvPr id="12" name="handle-sub-1">
            <a:extLst xmlns:a="http://schemas.openxmlformats.org/drawingml/2006/main">
              <a:ext uri="{FF2B5EF4-FFF2-40B4-BE49-F238E27FC236}">
                <a16:creationId xmlns:a16="http://schemas.microsoft.com/office/drawing/2014/main" id="{EA765629-EF1E-4D75-AC11-772059C2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把任务做实</a:t>
            </a:r>
          </a:p>
        </p:txBody>
      </p:sp>
      <p:cxnSp>
        <p:nvCxnSpPr>
          <p:cNvPr id="43" name=""/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733550" y="2905125"/>
            <a:ext cx="43624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14" name="handle-2">
            <a:extLst xmlns:a="http://schemas.openxmlformats.org/drawingml/2006/main">
              <a:ext uri="{FF2B5EF4-FFF2-40B4-BE49-F238E27FC236}">
                <a16:creationId xmlns:a16="http://schemas.microsoft.com/office/drawing/2014/main" id="{3B020126-9DF6-4F27-AFFA-DAEA70B7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5" name="handle-2-label">
            <a:extLst xmlns:a="http://schemas.openxmlformats.org/drawingml/2006/main">
              <a:ext uri="{FF2B5EF4-FFF2-40B4-BE49-F238E27FC236}">
                <a16:creationId xmlns:a16="http://schemas.microsoft.com/office/drawing/2014/main" id="{4956F313-0782-43DA-8D63-1A7D6851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VR 示范基地</a:t>
            </a:r>
          </a:p>
        </p:txBody>
      </p:sp>
      <p:sp>
        <p:nvSpPr>
          <p:cNvPr id="16" name="handle-sub-2">
            <a:extLst xmlns:a="http://schemas.openxmlformats.org/drawingml/2006/main">
              <a:ext uri="{FF2B5EF4-FFF2-40B4-BE49-F238E27FC236}">
                <a16:creationId xmlns:a16="http://schemas.microsoft.com/office/drawing/2014/main" id="{D66DAC0D-51F8-4BEC-9112-FC070196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48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把现场做深</a:t>
            </a:r>
          </a:p>
        </p:txBody>
      </p:sp>
      <p:cxnSp>
        <p:nvCxnSpPr>
          <p:cNvPr id="47" name=""/>
          <p:cNvCxnSpPr>
            <a:stCxn xmlns:a="http://schemas.openxmlformats.org/drawingml/2006/main" id="14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714750" y="2905125"/>
            <a:ext cx="23812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18" name="handle-3">
            <a:extLst xmlns:a="http://schemas.openxmlformats.org/drawingml/2006/main">
              <a:ext uri="{FF2B5EF4-FFF2-40B4-BE49-F238E27FC236}">
                <a16:creationId xmlns:a16="http://schemas.microsoft.com/office/drawing/2014/main" id="{CC5F32C6-8817-4FE4-B7A3-9C8FE749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9" name="handle-3-label">
            <a:extLst xmlns:a="http://schemas.openxmlformats.org/drawingml/2006/main">
              <a:ext uri="{FF2B5EF4-FFF2-40B4-BE49-F238E27FC236}">
                <a16:creationId xmlns:a16="http://schemas.microsoft.com/office/drawing/2014/main" id="{6B9EDF06-5A96-4EFD-9711-3A491347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青春有理</a:t>
            </a:r>
          </a:p>
        </p:txBody>
      </p:sp>
      <p:sp>
        <p:nvSpPr>
          <p:cNvPr id="20" name="handle-sub-3">
            <a:extLst xmlns:a="http://schemas.openxmlformats.org/drawingml/2006/main">
              <a:ext uri="{FF2B5EF4-FFF2-40B4-BE49-F238E27FC236}">
                <a16:creationId xmlns:a16="http://schemas.microsoft.com/office/drawing/2014/main" id="{D902F22A-A974-4F12-AB0A-EBDB4EBD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48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把理论讲活</a:t>
            </a:r>
          </a:p>
        </p:txBody>
      </p:sp>
      <p:cxnSp>
        <p:nvCxnSpPr>
          <p:cNvPr id="51" name=""/>
          <p:cNvCxnSpPr>
            <a:stCxn xmlns:a="http://schemas.openxmlformats.org/drawingml/2006/main" id="1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5695950" y="2905125"/>
            <a:ext cx="4000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22" name="handle-4">
            <a:extLst xmlns:a="http://schemas.openxmlformats.org/drawingml/2006/main">
              <a:ext uri="{FF2B5EF4-FFF2-40B4-BE49-F238E27FC236}">
                <a16:creationId xmlns:a16="http://schemas.microsoft.com/office/drawing/2014/main" id="{5BEFD98F-BE13-4957-AC02-CE8A70EF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handle-4-label">
            <a:extLst xmlns:a="http://schemas.openxmlformats.org/drawingml/2006/main">
              <a:ext uri="{FF2B5EF4-FFF2-40B4-BE49-F238E27FC236}">
                <a16:creationId xmlns:a16="http://schemas.microsoft.com/office/drawing/2014/main" id="{A3C617A9-A3BC-4382-9CFF-EDD63E2F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红色朋友圈</a:t>
            </a:r>
          </a:p>
        </p:txBody>
      </p:sp>
      <p:sp>
        <p:nvSpPr>
          <p:cNvPr id="24" name="handle-sub-4">
            <a:extLst xmlns:a="http://schemas.openxmlformats.org/drawingml/2006/main">
              <a:ext uri="{FF2B5EF4-FFF2-40B4-BE49-F238E27FC236}">
                <a16:creationId xmlns:a16="http://schemas.microsoft.com/office/drawing/2014/main" id="{194DD412-E908-43ED-8926-C5F16030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把资源共享</a:t>
            </a:r>
          </a:p>
        </p:txBody>
      </p:sp>
      <p:cxnSp>
        <p:nvCxnSpPr>
          <p:cNvPr id="55" name=""/>
          <p:cNvCxnSpPr>
            <a:stCxn xmlns:a="http://schemas.openxmlformats.org/drawingml/2006/main" id="22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6096000" y="2905125"/>
            <a:ext cx="15811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26" name="handle-5">
            <a:extLst xmlns:a="http://schemas.openxmlformats.org/drawingml/2006/main">
              <a:ext uri="{FF2B5EF4-FFF2-40B4-BE49-F238E27FC236}">
                <a16:creationId xmlns:a16="http://schemas.microsoft.com/office/drawing/2014/main" id="{B00A2CBD-1AF8-40FC-9D35-6B566F52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27" name="handle-5-label">
            <a:extLst xmlns:a="http://schemas.openxmlformats.org/drawingml/2006/main">
              <a:ext uri="{FF2B5EF4-FFF2-40B4-BE49-F238E27FC236}">
                <a16:creationId xmlns:a16="http://schemas.microsoft.com/office/drawing/2014/main" id="{35D88E28-5CBB-4ED2-991D-AA2A9DAF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红色育人机制</a:t>
            </a:r>
          </a:p>
        </p:txBody>
      </p:sp>
      <p:sp>
        <p:nvSpPr>
          <p:cNvPr id="28" name="handle-sub-5">
            <a:extLst xmlns:a="http://schemas.openxmlformats.org/drawingml/2006/main">
              <a:ext uri="{FF2B5EF4-FFF2-40B4-BE49-F238E27FC236}">
                <a16:creationId xmlns:a16="http://schemas.microsoft.com/office/drawing/2014/main" id="{25152FF5-DEBD-4D78-A71F-FF76B367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48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把培养做长</a:t>
            </a:r>
          </a:p>
        </p:txBody>
      </p:sp>
      <p:cxnSp>
        <p:nvCxnSpPr>
          <p:cNvPr id="59" name=""/>
          <p:cNvCxnSpPr>
            <a:stCxn xmlns:a="http://schemas.openxmlformats.org/drawingml/2006/main" id="26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6096000" y="2905125"/>
            <a:ext cx="35623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30" name="handle-note">
            <a:extLst xmlns:a="http://schemas.openxmlformats.org/drawingml/2006/main">
              <a:ext uri="{FF2B5EF4-FFF2-40B4-BE49-F238E27FC236}">
                <a16:creationId xmlns:a16="http://schemas.microsoft.com/office/drawing/2014/main" id="{5D3CC192-E14D-4FDB-B385-59BEE94A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任务、场景、表达、协同与机制，共同支撑红色育人生态。</a:t>
            </a:r>
          </a:p>
        </p:txBody>
      </p:sp>
    </p:spTree>
    <p:extLst>
      <p:ext uri="{BB962C8B-B14F-4D97-AF65-F5344CB8AC3E}">
        <p14:creationId xmlns:p14="http://schemas.microsoft.com/office/powerpoint/2010/main" val="1715904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5CF8FC76-6B54-49B8-A457-1509154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1CA268F-FC35-46D3-9300-BE6DABC5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87E4FF-1C86-4D5E-802F-D474734B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一张“红色任务单”，让学生在专业问题里读懂振兴担当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21B6DDCA-8606-444B-9AB1-E20A744F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06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0ACCB30-B3D3-402D-B84F-72FE2ED4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task-lead">
            <a:extLst xmlns:a="http://schemas.openxmlformats.org/drawingml/2006/main">
              <a:ext uri="{FF2B5EF4-FFF2-40B4-BE49-F238E27FC236}">
                <a16:creationId xmlns:a16="http://schemas.microsoft.com/office/drawing/2014/main" id="{1CBBF12A-599C-40E5-BCDC-5EBA6EC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任务单不是打卡清单，而是“三摆三写”的军令状：把自己、工作、职责都放进地方问题。</a:t>
            </a:r>
          </a:p>
        </p:txBody>
      </p:sp>
      <p:sp>
        <p:nvSpPr>
          <p:cNvPr id="7" name="task-main">
            <a:extLst xmlns:a="http://schemas.openxmlformats.org/drawingml/2006/main">
              <a:ext uri="{FF2B5EF4-FFF2-40B4-BE49-F238E27FC236}">
                <a16:creationId xmlns:a16="http://schemas.microsoft.com/office/drawing/2014/main" id="{3387083D-47E5-47C6-B5F2-4D58D18C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task-title">
            <a:extLst xmlns:a="http://schemas.openxmlformats.org/drawingml/2006/main">
              <a:ext uri="{FF2B5EF4-FFF2-40B4-BE49-F238E27FC236}">
                <a16:creationId xmlns:a16="http://schemas.microsoft.com/office/drawing/2014/main" id="{2BA9AD3A-2C7E-4947-A899-FDE2A5A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F91"/>
                </a:solidFill>
              </a:defRPr>
            </a:pPr>
            <a:r>
              <a:rPr sz="2400" b="1">
                <a:solidFill>
                  <a:srgbClr val="315F91"/>
                </a:solidFill>
              </a:rPr>
              <a:t>三摆三写</a:t>
            </a:r>
          </a:p>
        </p:txBody>
      </p:sp>
      <p:sp>
        <p:nvSpPr>
          <p:cNvPr id="9" name="task-caption">
            <a:extLst xmlns:a="http://schemas.openxmlformats.org/drawingml/2006/main">
              <a:ext uri="{FF2B5EF4-FFF2-40B4-BE49-F238E27FC236}">
                <a16:creationId xmlns:a16="http://schemas.microsoft.com/office/drawing/2014/main" id="{76207DCB-DC97-4D36-A072-A322FDE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对应关系：把对象摆进去，再写对应答卷</a:t>
            </a:r>
          </a:p>
        </p:txBody>
      </p:sp>
      <p:sp>
        <p:nvSpPr>
          <p:cNvPr id="10" name="task-1">
            <a:extLst xmlns:a="http://schemas.openxmlformats.org/drawingml/2006/main">
              <a:ext uri="{FF2B5EF4-FFF2-40B4-BE49-F238E27FC236}">
                <a16:creationId xmlns:a16="http://schemas.microsoft.com/office/drawing/2014/main" id="{47AE1448-6FE2-4033-BA6C-CFAF887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task-1-label">
            <a:extLst xmlns:a="http://schemas.openxmlformats.org/drawingml/2006/main">
              <a:ext uri="{FF2B5EF4-FFF2-40B4-BE49-F238E27FC236}">
                <a16:creationId xmlns:a16="http://schemas.microsoft.com/office/drawing/2014/main" id="{3576DDF3-5CF6-432A-864D-6726ED2C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把自己摆进去</a:t>
            </a:r>
          </a:p>
        </p:txBody>
      </p:sp>
      <p:sp>
        <p:nvSpPr>
          <p:cNvPr id="12" name="task-2">
            <a:extLst xmlns:a="http://schemas.openxmlformats.org/drawingml/2006/main">
              <a:ext uri="{FF2B5EF4-FFF2-40B4-BE49-F238E27FC236}">
                <a16:creationId xmlns:a16="http://schemas.microsoft.com/office/drawing/2014/main" id="{E9F72B19-1226-4C78-8ADF-553EF215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3" name="task-2-label">
            <a:extLst xmlns:a="http://schemas.openxmlformats.org/drawingml/2006/main">
              <a:ext uri="{FF2B5EF4-FFF2-40B4-BE49-F238E27FC236}">
                <a16:creationId xmlns:a16="http://schemas.microsoft.com/office/drawing/2014/main" id="{E4547EFF-B382-4CDA-A72B-CD65763D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把工作摆进去</a:t>
            </a:r>
          </a:p>
        </p:txBody>
      </p:sp>
      <p:sp>
        <p:nvSpPr>
          <p:cNvPr id="14" name="task-3">
            <a:extLst xmlns:a="http://schemas.openxmlformats.org/drawingml/2006/main">
              <a:ext uri="{FF2B5EF4-FFF2-40B4-BE49-F238E27FC236}">
                <a16:creationId xmlns:a16="http://schemas.microsoft.com/office/drawing/2014/main" id="{F1C20FD6-5CF1-48E7-9C1A-E80543A1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5" name="task-3-label">
            <a:extLst xmlns:a="http://schemas.openxmlformats.org/drawingml/2006/main">
              <a:ext uri="{FF2B5EF4-FFF2-40B4-BE49-F238E27FC236}">
                <a16:creationId xmlns:a16="http://schemas.microsoft.com/office/drawing/2014/main" id="{F7332EC0-466E-40F2-A9F1-8B62F81D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把职责摆进去</a:t>
            </a:r>
          </a:p>
        </p:txBody>
      </p:sp>
      <p:sp>
        <p:nvSpPr>
          <p:cNvPr id="16" name="task-write-1">
            <a:extLst xmlns:a="http://schemas.openxmlformats.org/drawingml/2006/main">
              <a:ext uri="{FF2B5EF4-FFF2-40B4-BE49-F238E27FC236}">
                <a16:creationId xmlns:a16="http://schemas.microsoft.com/office/drawing/2014/main" id="{B36225E5-BC4D-403E-A80C-6960DBD7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43250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7" name="task-write-1-label">
            <a:extLst xmlns:a="http://schemas.openxmlformats.org/drawingml/2006/main">
              <a:ext uri="{FF2B5EF4-FFF2-40B4-BE49-F238E27FC236}">
                <a16:creationId xmlns:a16="http://schemas.microsoft.com/office/drawing/2014/main" id="{2E379E31-BBFD-4900-BBF3-F2B759F6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76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写青春誓言</a:t>
            </a:r>
          </a:p>
        </p:txBody>
      </p:sp>
      <p:sp>
        <p:nvSpPr>
          <p:cNvPr id="18" name="task-write-2">
            <a:extLst xmlns:a="http://schemas.openxmlformats.org/drawingml/2006/main">
              <a:ext uri="{FF2B5EF4-FFF2-40B4-BE49-F238E27FC236}">
                <a16:creationId xmlns:a16="http://schemas.microsoft.com/office/drawing/2014/main" id="{8032D494-F104-4B51-8B66-3D793148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00500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9" name="task-write-2-label">
            <a:extLst xmlns:a="http://schemas.openxmlformats.org/drawingml/2006/main">
              <a:ext uri="{FF2B5EF4-FFF2-40B4-BE49-F238E27FC236}">
                <a16:creationId xmlns:a16="http://schemas.microsoft.com/office/drawing/2014/main" id="{CA92BD7E-88F5-431D-B0F5-C374E9FD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338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写专业方案</a:t>
            </a:r>
          </a:p>
        </p:txBody>
      </p:sp>
      <p:sp>
        <p:nvSpPr>
          <p:cNvPr id="20" name="task-write-3">
            <a:extLst xmlns:a="http://schemas.openxmlformats.org/drawingml/2006/main">
              <a:ext uri="{FF2B5EF4-FFF2-40B4-BE49-F238E27FC236}">
                <a16:creationId xmlns:a16="http://schemas.microsoft.com/office/drawing/2014/main" id="{9619DE47-22EA-4480-BCC7-3C96836B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57750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21" name="task-write-3-label">
            <a:extLst xmlns:a="http://schemas.openxmlformats.org/drawingml/2006/main">
              <a:ext uri="{FF2B5EF4-FFF2-40B4-BE49-F238E27FC236}">
                <a16:creationId xmlns:a16="http://schemas.microsoft.com/office/drawing/2014/main" id="{A19E7026-CBA0-4CE7-9516-FEE738B9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911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写振兴答卷</a:t>
            </a:r>
          </a:p>
        </p:txBody>
      </p: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667000" y="34480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667000" y="43053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cxnSp>
        <p:nvCxnSpPr>
          <p:cNvPr id="53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667000" y="51625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25" name="task-evidence">
            <a:extLst xmlns:a="http://schemas.openxmlformats.org/drawingml/2006/main">
              <a:ext uri="{FF2B5EF4-FFF2-40B4-BE49-F238E27FC236}">
                <a16:creationId xmlns:a16="http://schemas.microsoft.com/office/drawing/2014/main" id="{F490D714-B2D6-4F0C-B8E6-DD31BBCB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604837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26" name="task-evidence-title">
            <a:extLst xmlns:a="http://schemas.openxmlformats.org/drawingml/2006/main">
              <a:ext uri="{FF2B5EF4-FFF2-40B4-BE49-F238E27FC236}">
                <a16:creationId xmlns:a16="http://schemas.microsoft.com/office/drawing/2014/main" id="{FDF163CD-13AA-45C3-88C0-7321F4B6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五年沉淀：26 项微课题被“揭榜挂帅”</a:t>
            </a:r>
          </a:p>
        </p:txBody>
      </p:sp>
      <p:sp>
        <p:nvSpPr>
          <p:cNvPr id="27" name="task-actions">
            <a:extLst xmlns:a="http://schemas.openxmlformats.org/drawingml/2006/main">
              <a:ext uri="{FF2B5EF4-FFF2-40B4-BE49-F238E27FC236}">
                <a16:creationId xmlns:a16="http://schemas.microsoft.com/office/drawing/2014/main" id="{4730BBA0-AC57-4ECC-B706-5AA5DEEC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813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拍一段“青声说史”短视频</a:t>
            </a:r>
          </a:p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解决一个场馆或教学点“微难题”</a:t>
            </a:r>
          </a:p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带回一个“振兴微课题”</a:t>
            </a:r>
          </a:p>
        </p:txBody>
      </p:sp>
      <p:sp>
        <p:nvSpPr>
          <p:cNvPr id="28" name="task-sep">
            <a:extLst xmlns:a="http://schemas.openxmlformats.org/drawingml/2006/main">
              <a:ext uri="{FF2B5EF4-FFF2-40B4-BE49-F238E27FC236}">
                <a16:creationId xmlns:a16="http://schemas.microsoft.com/office/drawing/2014/main" id="{B64B46B1-C059-4AF9-ADA9-52579745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624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9" name="task-examples">
            <a:extLst xmlns:a="http://schemas.openxmlformats.org/drawingml/2006/main">
              <a:ext uri="{FF2B5EF4-FFF2-40B4-BE49-F238E27FC236}">
                <a16:creationId xmlns:a16="http://schemas.microsoft.com/office/drawing/2014/main" id="{5F84F4A6-8B48-406F-982B-C50DFEF7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0055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抗美援朝纪念馆：升级“声景”展项</a:t>
            </a:r>
          </a:p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抚顺雷锋纪念馆：解决“志愿时间银行”互认</a:t>
            </a:r>
          </a:p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专业调研：形成场馆沉浸式讲解词年轻化报告</a:t>
            </a:r>
          </a:p>
        </p:txBody>
      </p:sp>
    </p:spTree>
    <p:extLst>
      <p:ext uri="{BB962C8B-B14F-4D97-AF65-F5344CB8AC3E}">
        <p14:creationId xmlns:p14="http://schemas.microsoft.com/office/powerpoint/2010/main" val="721825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BA9F0EDF-4E72-4717-BE0A-5B6CEFA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345090A-35C4-485A-AAF3-001B95EB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414B18-2E88-4DA1-9355-AA6C2707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VR 示范基地把 22 处旧址做成“一屏百年”的沉浸课堂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F045501B-9D17-422F-B794-BF25A806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07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7672F54-F0CF-4E4E-9603-DA02DC50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vr-lead">
            <a:extLst xmlns:a="http://schemas.openxmlformats.org/drawingml/2006/main">
              <a:ext uri="{FF2B5EF4-FFF2-40B4-BE49-F238E27FC236}">
                <a16:creationId xmlns:a16="http://schemas.microsoft.com/office/drawing/2014/main" id="{E74BE661-E677-4095-B232-BCAB36EA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重走总书记辽宁考察路线与六地经典路线，把红色现场采集为全景数据，再开发为可预约的党员教育产品。</a:t>
            </a:r>
          </a:p>
        </p:txBody>
      </p:sp>
      <p:sp>
        <p:nvSpPr>
          <p:cNvPr id="7" name="vr-evidence">
            <a:extLst xmlns:a="http://schemas.openxmlformats.org/drawingml/2006/main">
              <a:ext uri="{FF2B5EF4-FFF2-40B4-BE49-F238E27FC236}">
                <a16:creationId xmlns:a16="http://schemas.microsoft.com/office/drawing/2014/main" id="{9B1190F6-F9F8-41A4-81F8-A7BA7145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7620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vr-node-1">
            <a:extLst xmlns:a="http://schemas.openxmlformats.org/drawingml/2006/main">
              <a:ext uri="{FF2B5EF4-FFF2-40B4-BE49-F238E27FC236}">
                <a16:creationId xmlns:a16="http://schemas.microsoft.com/office/drawing/2014/main" id="{DEE5111B-143A-49BB-9B8C-8625A173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241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vr-node-1-label">
            <a:extLst xmlns:a="http://schemas.openxmlformats.org/drawingml/2006/main">
              <a:ext uri="{FF2B5EF4-FFF2-40B4-BE49-F238E27FC236}">
                <a16:creationId xmlns:a16="http://schemas.microsoft.com/office/drawing/2014/main" id="{99E9BA52-4223-49D7-AD73-EE70168B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57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22 处旧址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全景数据</a:t>
            </a:r>
          </a:p>
        </p:txBody>
      </p:sp>
      <p:sp>
        <p:nvSpPr>
          <p:cNvPr id="10" name="vr-node-2">
            <a:extLst xmlns:a="http://schemas.openxmlformats.org/drawingml/2006/main">
              <a:ext uri="{FF2B5EF4-FFF2-40B4-BE49-F238E27FC236}">
                <a16:creationId xmlns:a16="http://schemas.microsoft.com/office/drawing/2014/main" id="{E22C559D-1504-4E63-9B46-AE330224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1" name="vr-node-2-label">
            <a:extLst xmlns:a="http://schemas.openxmlformats.org/drawingml/2006/main">
              <a:ext uri="{FF2B5EF4-FFF2-40B4-BE49-F238E27FC236}">
                <a16:creationId xmlns:a16="http://schemas.microsoft.com/office/drawing/2014/main" id="{D1BB1262-CD86-4F44-841B-01F8688B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7 门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红色 VR 党课</a:t>
            </a:r>
          </a:p>
        </p:txBody>
      </p: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71875" y="32956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13" name="vr-meaning">
            <a:extLst xmlns:a="http://schemas.openxmlformats.org/drawingml/2006/main">
              <a:ext uri="{FF2B5EF4-FFF2-40B4-BE49-F238E27FC236}">
                <a16:creationId xmlns:a16="http://schemas.microsoft.com/office/drawing/2014/main" id="{AD5B967A-4F14-4701-A675-CC9F5431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9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5F91"/>
                </a:solidFill>
              </a:defRPr>
            </a:pPr>
            <a:r>
              <a:rPr sz="1425" b="1">
                <a:solidFill>
                  <a:srgbClr val="315F91"/>
                </a:solidFill>
              </a:rPr>
              <a:t>采集红色现场 → 形成沉浸课程</a:t>
            </a:r>
          </a:p>
        </p:txBody>
      </p:sp>
      <p:sp>
        <p:nvSpPr>
          <p:cNvPr id="14" name="vr-facts">
            <a:extLst xmlns:a="http://schemas.openxmlformats.org/drawingml/2006/main">
              <a:ext uri="{FF2B5EF4-FFF2-40B4-BE49-F238E27FC236}">
                <a16:creationId xmlns:a16="http://schemas.microsoft.com/office/drawing/2014/main" id="{81521EAD-A7E4-4E63-AEDF-BBA679D7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3095625" cy="33337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5" name="vr-use-head">
            <a:extLst xmlns:a="http://schemas.openxmlformats.org/drawingml/2006/main">
              <a:ext uri="{FF2B5EF4-FFF2-40B4-BE49-F238E27FC236}">
                <a16:creationId xmlns:a16="http://schemas.microsoft.com/office/drawing/2014/main" id="{27785804-5BFA-4B45-8C08-767C456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F91"/>
                </a:solidFill>
              </a:defRPr>
            </a:pPr>
            <a:r>
              <a:rPr sz="1725" b="1">
                <a:solidFill>
                  <a:srgbClr val="315F91"/>
                </a:solidFill>
              </a:rPr>
              <a:t>实际使用</a:t>
            </a:r>
          </a:p>
        </p:txBody>
      </p:sp>
      <p:sp>
        <p:nvSpPr>
          <p:cNvPr id="16" name="vr-use">
            <a:extLst xmlns:a="http://schemas.openxmlformats.org/drawingml/2006/main">
              <a:ext uri="{FF2B5EF4-FFF2-40B4-BE49-F238E27FC236}">
                <a16:creationId xmlns:a16="http://schemas.microsoft.com/office/drawing/2014/main" id="{E5D09954-1ABE-4B78-B805-EC63339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28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170 个省内外支部</a:t>
            </a:r>
          </a:p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2400 余名党员预约体验</a:t>
            </a:r>
          </a:p>
        </p:txBody>
      </p:sp>
      <p:sp>
        <p:nvSpPr>
          <p:cNvPr id="17" name="vr-use-rule">
            <a:extLst xmlns:a="http://schemas.openxmlformats.org/drawingml/2006/main">
              <a:ext uri="{FF2B5EF4-FFF2-40B4-BE49-F238E27FC236}">
                <a16:creationId xmlns:a16="http://schemas.microsoft.com/office/drawing/2014/main" id="{1753500B-12B8-43C1-8347-26636B10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8" name="vr-awards">
            <a:extLst xmlns:a="http://schemas.openxmlformats.org/drawingml/2006/main">
              <a:ext uri="{FF2B5EF4-FFF2-40B4-BE49-F238E27FC236}">
                <a16:creationId xmlns:a16="http://schemas.microsoft.com/office/drawing/2014/main" id="{41DD7A52-BDCA-4757-B70F-061E965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获评辽宁省党员教育培训示范基地</a:t>
            </a:r>
          </a:p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相关案例获省高校基层党建创新一等奖</a:t>
            </a:r>
          </a:p>
        </p:txBody>
      </p:sp>
      <p:sp>
        <p:nvSpPr>
          <p:cNvPr id="19" name="vr-proof">
            <a:extLst xmlns:a="http://schemas.openxmlformats.org/drawingml/2006/main">
              <a:ext uri="{FF2B5EF4-FFF2-40B4-BE49-F238E27FC236}">
                <a16:creationId xmlns:a16="http://schemas.microsoft.com/office/drawing/2014/main" id="{30A3B978-6BFD-445B-B8E3-F09595F9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91"/>
                </a:solidFill>
              </a:defRPr>
            </a:pPr>
            <a:r>
              <a:rPr sz="1425" b="1">
                <a:solidFill>
                  <a:srgbClr val="315F91"/>
                </a:solidFill>
              </a:rPr>
              <a:t>建设获中组部组织二局、教育部教师工作司负责同志充分肯定。</a:t>
            </a:r>
          </a:p>
        </p:txBody>
      </p:sp>
    </p:spTree>
    <p:extLst>
      <p:ext uri="{BB962C8B-B14F-4D97-AF65-F5344CB8AC3E}">
        <p14:creationId xmlns:p14="http://schemas.microsoft.com/office/powerpoint/2010/main" val="816134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9C84EB5B-D584-4251-BD11-D5849365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3C548B8-E068-4972-B973-EE8113D4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E54585-5724-43C7-BB54-7C2373E2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“青春有理”用青年语态重构理论传播，让青年讲、青年听、青年信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EDBB651B-A859-415A-BC98-3D7DF03D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08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D5940D1-2552-4CEB-A477-37436721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speak-lead">
            <a:extLst xmlns:a="http://schemas.openxmlformats.org/drawingml/2006/main">
              <a:ext uri="{FF2B5EF4-FFF2-40B4-BE49-F238E27FC236}">
                <a16:creationId xmlns:a16="http://schemas.microsoft.com/office/drawing/2014/main" id="{BD131EE7-1280-4066-89C1-559DD7AE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博士、硕士、本科生组成 32 人混编梯队，把“六地”精神改写成互动课堂。</a:t>
            </a:r>
          </a:p>
        </p:txBody>
      </p:sp>
      <p:sp>
        <p:nvSpPr>
          <p:cNvPr id="7" name="speak-path">
            <a:extLst xmlns:a="http://schemas.openxmlformats.org/drawingml/2006/main">
              <a:ext uri="{FF2B5EF4-FFF2-40B4-BE49-F238E27FC236}">
                <a16:creationId xmlns:a16="http://schemas.microsoft.com/office/drawing/2014/main" id="{F7357E18-4C35-4106-8BF0-7425F420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111442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speak-1">
            <a:extLst xmlns:a="http://schemas.openxmlformats.org/drawingml/2006/main">
              <a:ext uri="{FF2B5EF4-FFF2-40B4-BE49-F238E27FC236}">
                <a16:creationId xmlns:a16="http://schemas.microsoft.com/office/drawing/2014/main" id="{7ABCF410-9FDB-41F7-8246-E5FC7F98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speak-1-label">
            <a:extLst xmlns:a="http://schemas.openxmlformats.org/drawingml/2006/main">
              <a:ext uri="{FF2B5EF4-FFF2-40B4-BE49-F238E27FC236}">
                <a16:creationId xmlns:a16="http://schemas.microsoft.com/office/drawing/2014/main" id="{8881618F-F322-4453-B2C1-02118915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32 人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混编梯队</a:t>
            </a:r>
          </a:p>
        </p:txBody>
      </p:sp>
      <p:sp>
        <p:nvSpPr>
          <p:cNvPr id="10" name="speak-2">
            <a:extLst xmlns:a="http://schemas.openxmlformats.org/drawingml/2006/main">
              <a:ext uri="{FF2B5EF4-FFF2-40B4-BE49-F238E27FC236}">
                <a16:creationId xmlns:a16="http://schemas.microsoft.com/office/drawing/2014/main" id="{29F9EC63-B3F5-4083-AC66-443E09EF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4315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1" name="speak-2-label">
            <a:extLst xmlns:a="http://schemas.openxmlformats.org/drawingml/2006/main">
              <a:ext uri="{FF2B5EF4-FFF2-40B4-BE49-F238E27FC236}">
                <a16:creationId xmlns:a16="http://schemas.microsoft.com/office/drawing/2014/main" id="{A535086C-A883-42CC-A354-F41A0BA8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7650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10 类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互动课件</a:t>
            </a:r>
          </a:p>
        </p:txBody>
      </p:sp>
      <p:sp>
        <p:nvSpPr>
          <p:cNvPr id="12" name="speak-3">
            <a:extLst xmlns:a="http://schemas.openxmlformats.org/drawingml/2006/main">
              <a:ext uri="{FF2B5EF4-FFF2-40B4-BE49-F238E27FC236}">
                <a16:creationId xmlns:a16="http://schemas.microsoft.com/office/drawing/2014/main" id="{8BAFD7B6-0F82-4373-A932-9CA36D85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speak-3-label">
            <a:extLst xmlns:a="http://schemas.openxmlformats.org/drawingml/2006/main">
              <a:ext uri="{FF2B5EF4-FFF2-40B4-BE49-F238E27FC236}">
                <a16:creationId xmlns:a16="http://schemas.microsoft.com/office/drawing/2014/main" id="{84A839D4-6C93-4A14-85C2-9FE4AA87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36 场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宣讲</a:t>
            </a:r>
          </a:p>
        </p:txBody>
      </p:sp>
      <p:sp>
        <p:nvSpPr>
          <p:cNvPr id="14" name="speak-4">
            <a:extLst xmlns:a="http://schemas.openxmlformats.org/drawingml/2006/main">
              <a:ext uri="{FF2B5EF4-FFF2-40B4-BE49-F238E27FC236}">
                <a16:creationId xmlns:a16="http://schemas.microsoft.com/office/drawing/2014/main" id="{F444C74C-03D8-4166-8174-047A9B0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5" name="speak-4-label">
            <a:extLst xmlns:a="http://schemas.openxmlformats.org/drawingml/2006/main">
              <a:ext uri="{FF2B5EF4-FFF2-40B4-BE49-F238E27FC236}">
                <a16:creationId xmlns:a16="http://schemas.microsoft.com/office/drawing/2014/main" id="{ECD0636E-22F8-46A3-882F-D42BB25A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3800+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覆盖</a:t>
            </a:r>
          </a:p>
        </p:txBody>
      </p: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43200" y="276225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76875" y="276225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96300" y="27622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19" name="speak-detail">
            <a:extLst xmlns:a="http://schemas.openxmlformats.org/drawingml/2006/main">
              <a:ext uri="{FF2B5EF4-FFF2-40B4-BE49-F238E27FC236}">
                <a16:creationId xmlns:a16="http://schemas.microsoft.com/office/drawing/2014/main" id="{71B35E3F-B286-4C56-8B82-A4562772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1144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20" name="speak-detail-text">
            <a:extLst xmlns:a="http://schemas.openxmlformats.org/drawingml/2006/main">
              <a:ext uri="{FF2B5EF4-FFF2-40B4-BE49-F238E27FC236}">
                <a16:creationId xmlns:a16="http://schemas.microsoft.com/office/drawing/2014/main" id="{0C1E158B-00AB-4A69-A053-05D3FDE1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沉浸式故事 · 情景短剧 · 红色闯关</a:t>
            </a:r>
          </a:p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进校园、社区、企业。</a:t>
            </a:r>
          </a:p>
        </p:txBody>
      </p:sp>
      <p:sp>
        <p:nvSpPr>
          <p:cNvPr id="21" name="speak-award">
            <a:extLst xmlns:a="http://schemas.openxmlformats.org/drawingml/2006/main">
              <a:ext uri="{FF2B5EF4-FFF2-40B4-BE49-F238E27FC236}">
                <a16:creationId xmlns:a16="http://schemas.microsoft.com/office/drawing/2014/main" id="{A425F3E2-A09F-4DD8-8DD8-57237717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721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91"/>
                </a:solidFill>
              </a:defRPr>
            </a:pPr>
            <a:r>
              <a:rPr sz="1425" b="1">
                <a:solidFill>
                  <a:srgbClr val="315F91"/>
                </a:solidFill>
              </a:rPr>
              <a:t>获评：辽宁省大学生红色理论宣讲团</a:t>
            </a:r>
          </a:p>
        </p:txBody>
      </p:sp>
    </p:spTree>
    <p:extLst>
      <p:ext uri="{BB962C8B-B14F-4D97-AF65-F5344CB8AC3E}">
        <p14:creationId xmlns:p14="http://schemas.microsoft.com/office/powerpoint/2010/main" val="140407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BCBA61DB-1198-4B3E-BA81-53109671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C09AFB-89C2-4A5B-8975-1FF98F7E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A11249-26D1-4A5B-BFB8-F84AB611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“红色朋友圈”把一地实践变成多方共学的共享循环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7C030AC6-DE81-430B-B496-1D0D4AC1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09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1118D3C-83D8-45D3-A6FB-6F2A37B8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network-lead">
            <a:extLst xmlns:a="http://schemas.openxmlformats.org/drawingml/2006/main">
              <a:ext uri="{FF2B5EF4-FFF2-40B4-BE49-F238E27FC236}">
                <a16:creationId xmlns:a16="http://schemas.microsoft.com/office/drawing/2014/main" id="{BF4BFA8E-35FD-4B12-9FD8-46112F6F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组织互联、资源互通、经验互鉴，形成“东北故事西部讲、西部经验东北学”的双向共享。</a:t>
            </a:r>
          </a:p>
        </p:txBody>
      </p:sp>
      <p:sp>
        <p:nvSpPr>
          <p:cNvPr id="7" name="network-bg">
            <a:extLst xmlns:a="http://schemas.openxmlformats.org/drawingml/2006/main">
              <a:ext uri="{FF2B5EF4-FFF2-40B4-BE49-F238E27FC236}">
                <a16:creationId xmlns:a16="http://schemas.microsoft.com/office/drawing/2014/main" id="{8BF25F82-FF06-4F10-BFC1-108D48C6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1144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network-center">
            <a:extLst xmlns:a="http://schemas.openxmlformats.org/drawingml/2006/main">
              <a:ext uri="{FF2B5EF4-FFF2-40B4-BE49-F238E27FC236}">
                <a16:creationId xmlns:a16="http://schemas.microsoft.com/office/drawing/2014/main" id="{FF5A799B-6990-4150-A4E3-CA6BCB5F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network-center-label">
            <a:extLst xmlns:a="http://schemas.openxmlformats.org/drawingml/2006/main">
              <a:ext uri="{FF2B5EF4-FFF2-40B4-BE49-F238E27FC236}">
                <a16:creationId xmlns:a16="http://schemas.microsoft.com/office/drawing/2014/main" id="{486E6DA0-77BE-4DA2-A859-2C4BF25E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共享的党课</a:t>
            </a:r>
          </a:p>
        </p:txBody>
      </p:sp>
      <p:sp>
        <p:nvSpPr>
          <p:cNvPr id="10" name="network-left">
            <a:extLst xmlns:a="http://schemas.openxmlformats.org/drawingml/2006/main">
              <a:ext uri="{FF2B5EF4-FFF2-40B4-BE49-F238E27FC236}">
                <a16:creationId xmlns:a16="http://schemas.microsoft.com/office/drawing/2014/main" id="{8C802A4E-DFBA-4F7E-804A-C322B87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1" name="network-left-label">
            <a:extLst xmlns:a="http://schemas.openxmlformats.org/drawingml/2006/main">
              <a:ext uri="{FF2B5EF4-FFF2-40B4-BE49-F238E27FC236}">
                <a16:creationId xmlns:a16="http://schemas.microsoft.com/office/drawing/2014/main" id="{841B70C6-EB90-4536-A5BA-2BEE555B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东北合作网络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41 家单位</a:t>
            </a:r>
          </a:p>
        </p:txBody>
      </p:sp>
      <p:sp>
        <p:nvSpPr>
          <p:cNvPr id="12" name="network-right">
            <a:extLst xmlns:a="http://schemas.openxmlformats.org/drawingml/2006/main">
              <a:ext uri="{FF2B5EF4-FFF2-40B4-BE49-F238E27FC236}">
                <a16:creationId xmlns:a16="http://schemas.microsoft.com/office/drawing/2014/main" id="{18749AAF-566C-4E90-90A1-5DF9B3C9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3" name="network-right-label">
            <a:extLst xmlns:a="http://schemas.openxmlformats.org/drawingml/2006/main">
              <a:ext uri="{FF2B5EF4-FFF2-40B4-BE49-F238E27FC236}">
                <a16:creationId xmlns:a16="http://schemas.microsoft.com/office/drawing/2014/main" id="{8EA1FA9A-A099-4C42-A5F8-D10F8B7B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997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西部合作网络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“六地精神西部行”</a:t>
            </a:r>
          </a:p>
        </p:txBody>
      </p: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3914775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2095500" y="3143250"/>
            <a:ext cx="400050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143250"/>
            <a:ext cx="400050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17" name="network-center-s">
            <a:extLst xmlns:a="http://schemas.openxmlformats.org/drawingml/2006/main">
              <a:ext uri="{FF2B5EF4-FFF2-40B4-BE49-F238E27FC236}">
                <a16:creationId xmlns:a16="http://schemas.microsoft.com/office/drawing/2014/main" id="{CB6EDECA-B8AA-4BC6-B3CA-7DA8BF35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718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15F91"/>
                </a:solidFill>
              </a:defRPr>
            </a:pPr>
            <a:r>
              <a:rPr sz="1275" b="0">
                <a:solidFill>
                  <a:srgbClr val="315F91"/>
                </a:solidFill>
              </a:rPr>
              <a:t>VR 共享 · 主题党日联办 · 资源联用 · 志愿联动</a:t>
            </a:r>
          </a:p>
        </p:txBody>
      </p:sp>
      <p:sp>
        <p:nvSpPr>
          <p:cNvPr id="18" name="network-west-detail">
            <a:extLst xmlns:a="http://schemas.openxmlformats.org/drawingml/2006/main">
              <a:ext uri="{FF2B5EF4-FFF2-40B4-BE49-F238E27FC236}">
                <a16:creationId xmlns:a16="http://schemas.microsoft.com/office/drawing/2014/main" id="{81CA1F9B-98E1-48DE-94FC-936B30A7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新疆农业大学 · 西北师范大学 · 兰州工业学院</a:t>
            </a:r>
          </a:p>
        </p:txBody>
      </p:sp>
      <p:sp>
        <p:nvSpPr>
          <p:cNvPr id="19" name="network-exchange">
            <a:extLst xmlns:a="http://schemas.openxmlformats.org/drawingml/2006/main">
              <a:ext uri="{FF2B5EF4-FFF2-40B4-BE49-F238E27FC236}">
                <a16:creationId xmlns:a16="http://schemas.microsoft.com/office/drawing/2014/main" id="{2B5281C5-0E97-4774-87A8-A349BD34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一年互派党员 2000 余人次</a:t>
            </a:r>
          </a:p>
        </p:txBody>
      </p:sp>
      <p:sp>
        <p:nvSpPr>
          <p:cNvPr id="20" name="network-foot">
            <a:extLst xmlns:a="http://schemas.openxmlformats.org/drawingml/2006/main">
              <a:ext uri="{FF2B5EF4-FFF2-40B4-BE49-F238E27FC236}">
                <a16:creationId xmlns:a16="http://schemas.microsoft.com/office/drawing/2014/main" id="{2D794493-49E4-4872-B506-2F40B1FB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共享循环的方向：东北故事西部讲，也把西部经验带回东北。</a:t>
            </a:r>
          </a:p>
        </p:txBody>
      </p:sp>
    </p:spTree>
    <p:extLst>
      <p:ext uri="{BB962C8B-B14F-4D97-AF65-F5344CB8AC3E}">
        <p14:creationId xmlns:p14="http://schemas.microsoft.com/office/powerpoint/2010/main" val="20196335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C1B2096C-D3B6-4632-B57D-E0749BF0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D620D5-0220-48C2-8325-9B13746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91E834-2952-4FF4-848D-18E55F2C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红色育人机制把教育嵌入党员成长全周期，确保年年有人抓、届届有人传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73ECA718-F105-4216-BE96-36517EEC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10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BEE9317-677C-42F1-AAD9-6A6227EF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mech-lead">
            <a:extLst xmlns:a="http://schemas.openxmlformats.org/drawingml/2006/main">
              <a:ext uri="{FF2B5EF4-FFF2-40B4-BE49-F238E27FC236}">
                <a16:creationId xmlns:a16="http://schemas.microsoft.com/office/drawing/2014/main" id="{EE1D2C11-34E0-4C50-87D8-9CE14104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把红色实践计入学分、把 VR 党课写进“三会一课”，让一次活动沉淀为持续培养链。</a:t>
            </a:r>
          </a:p>
        </p:txBody>
      </p:sp>
      <p:sp>
        <p:nvSpPr>
          <p:cNvPr id="7" name="mech-bg">
            <a:extLst xmlns:a="http://schemas.openxmlformats.org/drawingml/2006/main">
              <a:ext uri="{FF2B5EF4-FFF2-40B4-BE49-F238E27FC236}">
                <a16:creationId xmlns:a16="http://schemas.microsoft.com/office/drawing/2014/main" id="{B69D5C5B-B06A-4C6F-85CE-28E8A02D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1114425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ech-track">
            <a:extLst xmlns:a="http://schemas.openxmlformats.org/drawingml/2006/main">
              <a:ext uri="{FF2B5EF4-FFF2-40B4-BE49-F238E27FC236}">
                <a16:creationId xmlns:a16="http://schemas.microsoft.com/office/drawing/2014/main" id="{382C90D6-3DE7-4B92-ACF4-543AE486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62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6"/>
          </a:solidFill>
          <a:ln xmlns:a="http://schemas.openxmlformats.org/drawingml/2006/main" w="0">
            <a:solidFill>
              <a:srgbClr val="E6EEF6"/>
            </a:solidFill>
            <a:prstDash val="solid"/>
          </a:ln>
        </p:spPr>
      </p:sp>
      <p:sp>
        <p:nvSpPr>
          <p:cNvPr id="9" name="mech-1">
            <a:extLst xmlns:a="http://schemas.openxmlformats.org/drawingml/2006/main">
              <a:ext uri="{FF2B5EF4-FFF2-40B4-BE49-F238E27FC236}">
                <a16:creationId xmlns:a16="http://schemas.microsoft.com/office/drawing/2014/main" id="{ED7EE5A0-266E-46F0-8F0B-D29FDCF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24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mech-1-label">
            <a:extLst xmlns:a="http://schemas.openxmlformats.org/drawingml/2006/main">
              <a:ext uri="{FF2B5EF4-FFF2-40B4-BE49-F238E27FC236}">
                <a16:creationId xmlns:a16="http://schemas.microsoft.com/office/drawing/2014/main" id="{06B6DFA0-7F34-48D1-ABDD-D488FFA0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57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入学</a:t>
            </a:r>
          </a:p>
        </p:txBody>
      </p:sp>
      <p:sp>
        <p:nvSpPr>
          <p:cNvPr id="11" name="mech-sub-1">
            <a:extLst xmlns:a="http://schemas.openxmlformats.org/drawingml/2006/main">
              <a:ext uri="{FF2B5EF4-FFF2-40B4-BE49-F238E27FC236}">
                <a16:creationId xmlns:a16="http://schemas.microsoft.com/office/drawing/2014/main" id="{A3FC13DB-7E5D-4E00-8A66-5DCC0283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004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建立红色认知</a:t>
            </a:r>
          </a:p>
        </p:txBody>
      </p:sp>
      <p:sp>
        <p:nvSpPr>
          <p:cNvPr id="12" name="mech-2">
            <a:extLst xmlns:a="http://schemas.openxmlformats.org/drawingml/2006/main">
              <a:ext uri="{FF2B5EF4-FFF2-40B4-BE49-F238E27FC236}">
                <a16:creationId xmlns:a16="http://schemas.microsoft.com/office/drawing/2014/main" id="{0CF7A5D7-E5D2-4645-B789-01F221DB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mech-2-label">
            <a:extLst xmlns:a="http://schemas.openxmlformats.org/drawingml/2006/main">
              <a:ext uri="{FF2B5EF4-FFF2-40B4-BE49-F238E27FC236}">
                <a16:creationId xmlns:a16="http://schemas.microsoft.com/office/drawing/2014/main" id="{FB55293B-172F-483E-975D-F9458F3C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入党</a:t>
            </a:r>
          </a:p>
        </p:txBody>
      </p:sp>
      <p:sp>
        <p:nvSpPr>
          <p:cNvPr id="14" name="mech-sub-2">
            <a:extLst xmlns:a="http://schemas.openxmlformats.org/drawingml/2006/main">
              <a:ext uri="{FF2B5EF4-FFF2-40B4-BE49-F238E27FC236}">
                <a16:creationId xmlns:a16="http://schemas.microsoft.com/office/drawing/2014/main" id="{19B94C26-0E9B-4864-8A0F-209A900A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004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进入培养主线</a:t>
            </a:r>
          </a:p>
        </p:txBody>
      </p: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14625" y="3143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16" name="mech-3">
            <a:extLst xmlns:a="http://schemas.openxmlformats.org/drawingml/2006/main">
              <a:ext uri="{FF2B5EF4-FFF2-40B4-BE49-F238E27FC236}">
                <a16:creationId xmlns:a16="http://schemas.microsoft.com/office/drawing/2014/main" id="{E8540874-02C6-41E3-BF56-72317CA6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24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mech-3-label">
            <a:extLst xmlns:a="http://schemas.openxmlformats.org/drawingml/2006/main">
              <a:ext uri="{FF2B5EF4-FFF2-40B4-BE49-F238E27FC236}">
                <a16:creationId xmlns:a16="http://schemas.microsoft.com/office/drawing/2014/main" id="{0CE5F4EA-8030-40FE-8938-0F555048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57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转正</a:t>
            </a:r>
          </a:p>
        </p:txBody>
      </p:sp>
      <p:sp>
        <p:nvSpPr>
          <p:cNvPr id="18" name="mech-sub-3">
            <a:extLst xmlns:a="http://schemas.openxmlformats.org/drawingml/2006/main">
              <a:ext uri="{FF2B5EF4-FFF2-40B4-BE49-F238E27FC236}">
                <a16:creationId xmlns:a16="http://schemas.microsoft.com/office/drawing/2014/main" id="{CBC96C65-668D-434B-898B-328024C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004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接受实践检验</a:t>
            </a:r>
          </a:p>
        </p:txBody>
      </p: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143500" y="3143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20" name="mech-4">
            <a:extLst xmlns:a="http://schemas.openxmlformats.org/drawingml/2006/main">
              <a:ext uri="{FF2B5EF4-FFF2-40B4-BE49-F238E27FC236}">
                <a16:creationId xmlns:a16="http://schemas.microsoft.com/office/drawing/2014/main" id="{6EFC7671-A9F8-4274-B113-F80D8E65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21" name="mech-4-label">
            <a:extLst xmlns:a="http://schemas.openxmlformats.org/drawingml/2006/main">
              <a:ext uri="{FF2B5EF4-FFF2-40B4-BE49-F238E27FC236}">
                <a16:creationId xmlns:a16="http://schemas.microsoft.com/office/drawing/2014/main" id="{8B68A65E-04A3-472A-9A57-D197B19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毕业</a:t>
            </a:r>
          </a:p>
        </p:txBody>
      </p:sp>
      <p:sp>
        <p:nvSpPr>
          <p:cNvPr id="22" name="mech-sub-4">
            <a:extLst xmlns:a="http://schemas.openxmlformats.org/drawingml/2006/main">
              <a:ext uri="{FF2B5EF4-FFF2-40B4-BE49-F238E27FC236}">
                <a16:creationId xmlns:a16="http://schemas.microsoft.com/office/drawing/2014/main" id="{030133F0-5E29-4B25-A382-06CE2AA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004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带着信仰走向岗位</a:t>
            </a:r>
          </a:p>
        </p:txBody>
      </p:sp>
      <p:cxnSp>
        <p:nvCxnSpPr>
          <p:cNvPr id="49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72375" y="3143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24" name="mech-mentor">
            <a:extLst xmlns:a="http://schemas.openxmlformats.org/drawingml/2006/main">
              <a:ext uri="{FF2B5EF4-FFF2-40B4-BE49-F238E27FC236}">
                <a16:creationId xmlns:a16="http://schemas.microsoft.com/office/drawing/2014/main" id="{F52AC19B-DF07-4BE9-B2FF-9FD069DB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144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25" name="mech-mentor-t">
            <a:extLst xmlns:a="http://schemas.openxmlformats.org/drawingml/2006/main">
              <a:ext uri="{FF2B5EF4-FFF2-40B4-BE49-F238E27FC236}">
                <a16:creationId xmlns:a16="http://schemas.microsoft.com/office/drawing/2014/main" id="{1303D363-F62B-43F1-BD21-A21A2770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36 位纪念馆专家、抗美援朝老战士担任“红色导师”</a:t>
            </a:r>
          </a:p>
        </p:txBody>
      </p:sp>
      <p:sp>
        <p:nvSpPr>
          <p:cNvPr id="26" name="mech-mentor-s">
            <a:extLst xmlns:a="http://schemas.openxmlformats.org/drawingml/2006/main">
              <a:ext uri="{FF2B5EF4-FFF2-40B4-BE49-F238E27FC236}">
                <a16:creationId xmlns:a16="http://schemas.microsoft.com/office/drawing/2014/main" id="{CD24B5C1-8F16-4B3B-8BC8-6CE3835C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197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红色育人进入制度、课堂与成长节点</a:t>
            </a:r>
          </a:p>
        </p:txBody>
      </p:sp>
    </p:spTree>
    <p:extLst>
      <p:ext uri="{BB962C8B-B14F-4D97-AF65-F5344CB8AC3E}">
        <p14:creationId xmlns:p14="http://schemas.microsoft.com/office/powerpoint/2010/main" val="1277854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0E88F3BA-9F51-405B-A107-92CAECD2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75C31F1-CF63-4A4C-BC01-50368381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DF21CD-9AEE-432B-866C-FC4D8EB1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五年深耕后，学生党员获得了“红色先锋”的新标签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49AC2FF1-C55F-465F-87D6-0F916B7D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11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DA8AA53-AC7E-4047-9275-C5CB3749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outcome-lead">
            <a:extLst xmlns:a="http://schemas.openxmlformats.org/drawingml/2006/main">
              <a:ext uri="{FF2B5EF4-FFF2-40B4-BE49-F238E27FC236}">
                <a16:creationId xmlns:a16="http://schemas.microsoft.com/office/drawing/2014/main" id="{ACA1BB83-7471-4C6D-9677-71FD3FDE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四类变化共同指向“红色先锋”，其中最直接的变化是毕业后留辽意愿。</a:t>
            </a:r>
          </a:p>
        </p:txBody>
      </p:sp>
      <p:sp>
        <p:nvSpPr>
          <p:cNvPr id="7" name="outcome-main">
            <a:extLst xmlns:a="http://schemas.openxmlformats.org/drawingml/2006/main">
              <a:ext uri="{FF2B5EF4-FFF2-40B4-BE49-F238E27FC236}">
                <a16:creationId xmlns:a16="http://schemas.microsoft.com/office/drawing/2014/main" id="{92903D57-2842-4523-A5BF-3890E169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outcome-main-kicker">
            <a:extLst xmlns:a="http://schemas.openxmlformats.org/drawingml/2006/main">
              <a:ext uri="{FF2B5EF4-FFF2-40B4-BE49-F238E27FC236}">
                <a16:creationId xmlns:a16="http://schemas.microsoft.com/office/drawing/2014/main" id="{99E00C54-C516-4951-9107-3D7672A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F91"/>
                </a:solidFill>
              </a:defRPr>
            </a:pPr>
            <a:r>
              <a:rPr sz="1725" b="1">
                <a:solidFill>
                  <a:srgbClr val="315F91"/>
                </a:solidFill>
              </a:rPr>
              <a:t>信仰更强</a:t>
            </a:r>
          </a:p>
        </p:txBody>
      </p:sp>
      <p:sp>
        <p:nvSpPr>
          <p:cNvPr id="9" name="outcome-main-value">
            <a:extLst xmlns:a="http://schemas.openxmlformats.org/drawingml/2006/main">
              <a:ext uri="{FF2B5EF4-FFF2-40B4-BE49-F238E27FC236}">
                <a16:creationId xmlns:a16="http://schemas.microsoft.com/office/drawing/2014/main" id="{ACF53CAA-1917-44AA-8348-9E1FEE76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15F91"/>
                </a:solidFill>
              </a:defRPr>
            </a:pPr>
            <a:r>
              <a:rPr sz="3900" b="1">
                <a:solidFill>
                  <a:srgbClr val="315F91"/>
                </a:solidFill>
              </a:rPr>
              <a:t>58% → 87%</a:t>
            </a:r>
          </a:p>
        </p:txBody>
      </p:sp>
      <p:sp>
        <p:nvSpPr>
          <p:cNvPr id="10" name="outcome-main-label">
            <a:extLst xmlns:a="http://schemas.openxmlformats.org/drawingml/2006/main">
              <a:ext uri="{FF2B5EF4-FFF2-40B4-BE49-F238E27FC236}">
                <a16:creationId xmlns:a16="http://schemas.microsoft.com/office/drawing/2014/main" id="{309582A2-3680-4FA7-8862-856399D3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答辩现场举手率</a:t>
            </a:r>
          </a:p>
        </p:txBody>
      </p:sp>
      <p:sp>
        <p:nvSpPr>
          <p:cNvPr id="11" name="outcome-main-sub">
            <a:extLst xmlns:a="http://schemas.openxmlformats.org/drawingml/2006/main">
              <a:ext uri="{FF2B5EF4-FFF2-40B4-BE49-F238E27FC236}">
                <a16:creationId xmlns:a16="http://schemas.microsoft.com/office/drawing/2014/main" id="{260D1DA4-1CF0-4D60-A4F1-9DBFC12C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80"/>
                </a:solidFill>
              </a:defRPr>
            </a:pPr>
            <a:r>
              <a:rPr sz="1500" b="0">
                <a:solidFill>
                  <a:srgbClr val="707780"/>
                </a:solidFill>
              </a:rPr>
              <a:t>毕业后留辽意愿</a:t>
            </a:r>
          </a:p>
          <a:p xmlns:a="http://schemas.openxmlformats.org/drawingml/2006/main">
            <a:pPr algn="l">
              <a:defRPr sz="1500" b="0">
                <a:solidFill>
                  <a:srgbClr val="707780"/>
                </a:solidFill>
              </a:defRPr>
            </a:pPr>
            <a:r>
              <a:rPr sz="1500" b="0">
                <a:solidFill>
                  <a:srgbClr val="707780"/>
                </a:solidFill>
              </a:rPr>
              <a:t>“我的青春也要从这里鸣枪”</a:t>
            </a:r>
          </a:p>
        </p:txBody>
      </p:sp>
      <p:sp>
        <p:nvSpPr>
          <p:cNvPr id="12" name="outcome-row-0">
            <a:extLst xmlns:a="http://schemas.openxmlformats.org/drawingml/2006/main">
              <a:ext uri="{FF2B5EF4-FFF2-40B4-BE49-F238E27FC236}">
                <a16:creationId xmlns:a16="http://schemas.microsoft.com/office/drawing/2014/main" id="{60EBAE2A-5CE4-4240-86E2-ADE0ADC9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857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0F5A9D02-526C-4419-B6B1-F11C71EB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71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本领更硬</a:t>
            </a:r>
          </a:p>
        </p:txBody>
      </p:sp>
      <p:sp>
        <p:nvSpPr>
          <p:cNvPr id="14" name="outcome-label-0">
            <a:extLst xmlns:a="http://schemas.openxmlformats.org/drawingml/2006/main">
              <a:ext uri="{FF2B5EF4-FFF2-40B4-BE49-F238E27FC236}">
                <a16:creationId xmlns:a16="http://schemas.microsoft.com/office/drawing/2014/main" id="{ECD5BECF-3044-4415-A194-99B52A05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26 份振兴微课题；8 家企业收货</a:t>
            </a:r>
          </a:p>
        </p:txBody>
      </p:sp>
      <p:sp>
        <p:nvSpPr>
          <p:cNvPr id="15" name="outcome-sub-0">
            <a:extLst xmlns:a="http://schemas.openxmlformats.org/drawingml/2006/main">
              <a:ext uri="{FF2B5EF4-FFF2-40B4-BE49-F238E27FC236}">
                <a16:creationId xmlns:a16="http://schemas.microsoft.com/office/drawing/2014/main" id="{A0BE8E99-C6DE-4D0C-B218-A48E4874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公式进高炉、代码进小区、图纸进车间</a:t>
            </a:r>
          </a:p>
        </p:txBody>
      </p:sp>
      <p:sp>
        <p:nvSpPr>
          <p:cNvPr id="16" name="outcome-row-1">
            <a:extLst xmlns:a="http://schemas.openxmlformats.org/drawingml/2006/main">
              <a:ext uri="{FF2B5EF4-FFF2-40B4-BE49-F238E27FC236}">
                <a16:creationId xmlns:a16="http://schemas.microsoft.com/office/drawing/2014/main" id="{6A05B800-7F4E-4C6B-8005-FA1EF9AF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5857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752EF42A-107A-4C26-8732-FA3AFE69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声音更响</a:t>
            </a:r>
          </a:p>
        </p:txBody>
      </p:sp>
      <p:sp>
        <p:nvSpPr>
          <p:cNvPr id="18" name="outcome-label-1">
            <a:extLst xmlns:a="http://schemas.openxmlformats.org/drawingml/2006/main">
              <a:ext uri="{FF2B5EF4-FFF2-40B4-BE49-F238E27FC236}">
                <a16:creationId xmlns:a16="http://schemas.microsoft.com/office/drawing/2014/main" id="{4DE50BA1-201D-45ED-B11D-EFA715B7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36 场宣讲；覆盖师生群众 3800+</a:t>
            </a:r>
          </a:p>
        </p:txBody>
      </p:sp>
      <p:sp>
        <p:nvSpPr>
          <p:cNvPr id="19" name="outcome-sub-1">
            <a:extLst xmlns:a="http://schemas.openxmlformats.org/drawingml/2006/main">
              <a:ext uri="{FF2B5EF4-FFF2-40B4-BE49-F238E27FC236}">
                <a16:creationId xmlns:a16="http://schemas.microsoft.com/office/drawing/2014/main" id="{7B552717-FA06-4CA3-80B5-7969748E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进入校园、社区、企业</a:t>
            </a:r>
          </a:p>
        </p:txBody>
      </p:sp>
      <p:sp>
        <p:nvSpPr>
          <p:cNvPr id="20" name="outcome-row-2">
            <a:extLst xmlns:a="http://schemas.openxmlformats.org/drawingml/2006/main">
              <a:ext uri="{FF2B5EF4-FFF2-40B4-BE49-F238E27FC236}">
                <a16:creationId xmlns:a16="http://schemas.microsoft.com/office/drawing/2014/main" id="{2FDEC317-9B83-4B91-A6CD-7CC7DB4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5857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1B93F9E8-4ED4-4B5B-96CA-8EE01B6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8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脚步更稳</a:t>
            </a:r>
          </a:p>
        </p:txBody>
      </p:sp>
      <p:sp>
        <p:nvSpPr>
          <p:cNvPr id="22" name="outcome-label-2">
            <a:extLst xmlns:a="http://schemas.openxmlformats.org/drawingml/2006/main">
              <a:ext uri="{FF2B5EF4-FFF2-40B4-BE49-F238E27FC236}">
                <a16:creationId xmlns:a16="http://schemas.microsoft.com/office/drawing/2014/main" id="{D6E56EF6-4792-4226-BEA7-243BB3AD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党员考取辽宁选调生、投身重大装备研发比例提升 40%</a:t>
            </a:r>
          </a:p>
        </p:txBody>
      </p:sp>
      <p:sp>
        <p:nvSpPr>
          <p:cNvPr id="23" name="outcome-sub-2">
            <a:extLst xmlns:a="http://schemas.openxmlformats.org/drawingml/2006/main">
              <a:ext uri="{FF2B5EF4-FFF2-40B4-BE49-F238E27FC236}">
                <a16:creationId xmlns:a16="http://schemas.microsoft.com/office/drawing/2014/main" id="{BB98CD29-985B-47A0-8E4A-3E31907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据来稿，未补充基线</a:t>
            </a:r>
          </a:p>
        </p:txBody>
      </p:sp>
      <p:sp>
        <p:nvSpPr>
          <p:cNvPr id="24" name="outcome-foot">
            <a:extLst xmlns:a="http://schemas.openxmlformats.org/drawingml/2006/main">
              <a:ext uri="{FF2B5EF4-FFF2-40B4-BE49-F238E27FC236}">
                <a16:creationId xmlns:a16="http://schemas.microsoft.com/office/drawing/2014/main" id="{435D66F1-D8D3-4F35-9D5D-2E67132F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85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学生党员把所学写进振兴辽宁的下一行代码。</a:t>
            </a:r>
          </a:p>
        </p:txBody>
      </p:sp>
    </p:spTree>
    <p:extLst>
      <p:ext uri="{BB962C8B-B14F-4D97-AF65-F5344CB8AC3E}">
        <p14:creationId xmlns:p14="http://schemas.microsoft.com/office/powerpoint/2010/main" val="580588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FD426BBB-0C79-49ED-B4C7-FCF762EC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9F4"/>
                </a:solidFill>
              </a:defRPr>
            </a:pPr>
            <a:r>
              <a:rPr sz="1350" b="1">
                <a:solidFill>
                  <a:srgbClr val="DDE9F4"/>
                </a:solidFill>
              </a:rPr>
              <a:t>收束｜把红色基因传承下去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F8E86D5-8B32-4756-9D96-70C54FE4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五类实践，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共同托起青年成长</a:t>
            </a:r>
          </a:p>
        </p:txBody>
      </p:sp>
      <p:sp>
        <p:nvSpPr>
          <p:cNvPr id="3" name="close-list">
            <a:extLst xmlns:a="http://schemas.openxmlformats.org/drawingml/2006/main">
              <a:ext uri="{FF2B5EF4-FFF2-40B4-BE49-F238E27FC236}">
                <a16:creationId xmlns:a16="http://schemas.microsoft.com/office/drawing/2014/main" id="{EA5B9E2F-C3FF-481F-B9C4-C113013E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0F7"/>
                </a:solidFill>
              </a:defRPr>
            </a:pPr>
            <a:r>
              <a:rPr sz="1650" b="0">
                <a:solidFill>
                  <a:srgbClr val="E8F0F7"/>
                </a:solidFill>
              </a:rPr>
              <a:t>研学链 · 任务单 · VR 基地</a:t>
            </a:r>
          </a:p>
          <a:p xmlns:a="http://schemas.openxmlformats.org/drawingml/2006/main">
            <a:pPr algn="l">
              <a:defRPr sz="1650" b="0">
                <a:solidFill>
                  <a:srgbClr val="E8F0F7"/>
                </a:solidFill>
              </a:defRPr>
            </a:pPr>
            <a:r>
              <a:rPr sz="1650" b="0">
                <a:solidFill>
                  <a:srgbClr val="E8F0F7"/>
                </a:solidFill>
              </a:rPr>
              <a:t>宣讲团 · 育人机制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139075E9-1DA4-4549-AFF1-5158F4B5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33500"/>
            <a:ext cx="38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DE"/>
          </a:solidFill>
          <a:ln xmlns:a="http://schemas.openxmlformats.org/drawingml/2006/main" w="0">
            <a:solidFill>
              <a:srgbClr val="AFC8DE"/>
            </a:solidFill>
            <a:prstDash val="solid"/>
          </a:ln>
        </p:spPr>
      </p:sp>
      <p:sp>
        <p:nvSpPr>
          <p:cNvPr id="5" name="close-quote">
            <a:extLst xmlns:a="http://schemas.openxmlformats.org/drawingml/2006/main">
              <a:ext uri="{FF2B5EF4-FFF2-40B4-BE49-F238E27FC236}">
                <a16:creationId xmlns:a16="http://schemas.microsoft.com/office/drawing/2014/main" id="{2A6A90F2-563D-42AD-A6C3-24D47F0D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“红色江山来之不易，守好江山责任重大。”</a:t>
            </a:r>
          </a:p>
        </p:txBody>
      </p:sp>
      <p:sp>
        <p:nvSpPr>
          <p:cNvPr id="6" name="close-attrib">
            <a:extLst xmlns:a="http://schemas.openxmlformats.org/drawingml/2006/main">
              <a:ext uri="{FF2B5EF4-FFF2-40B4-BE49-F238E27FC236}">
                <a16:creationId xmlns:a16="http://schemas.microsoft.com/office/drawing/2014/main" id="{59102388-3254-4010-A113-9CD1256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9F4"/>
                </a:solidFill>
              </a:defRPr>
            </a:pPr>
            <a:r>
              <a:rPr sz="1200" b="0">
                <a:solidFill>
                  <a:srgbClr val="DDE9F4"/>
                </a:solidFill>
              </a:rPr>
              <a:t>——习近平总书记（引自本案例原稿）</a:t>
            </a:r>
          </a:p>
        </p:txBody>
      </p:sp>
      <p:sp>
        <p:nvSpPr>
          <p:cNvPr id="7" name="close-body">
            <a:extLst xmlns:a="http://schemas.openxmlformats.org/drawingml/2006/main">
              <a:ext uri="{FF2B5EF4-FFF2-40B4-BE49-F238E27FC236}">
                <a16:creationId xmlns:a16="http://schemas.microsoft.com/office/drawing/2014/main" id="{1B52D133-6168-4E5C-801B-F49B3BF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0F7"/>
                </a:solidFill>
              </a:defRPr>
            </a:pPr>
            <a:r>
              <a:rPr sz="1650" b="0">
                <a:solidFill>
                  <a:srgbClr val="E8F0F7"/>
                </a:solidFill>
              </a:rPr>
              <a:t>十年探路，五年深耕。</a:t>
            </a:r>
          </a:p>
          <a:p xmlns:a="http://schemas.openxmlformats.org/drawingml/2006/main">
            <a:pPr algn="l">
              <a:defRPr sz="1650" b="0">
                <a:solidFill>
                  <a:srgbClr val="E8F0F7"/>
                </a:solidFill>
              </a:defRPr>
            </a:pPr>
            <a:r>
              <a:rPr sz="1650" b="0">
                <a:solidFill>
                  <a:srgbClr val="E8F0F7"/>
                </a:solidFill>
              </a:rPr>
              <a:t>让坚定信念熔铸进学生生涯的每一段青春年轮。</a:t>
            </a:r>
          </a:p>
        </p:txBody>
      </p:sp>
      <p:sp>
        <p:nvSpPr>
          <p:cNvPr id="8" name="close-final">
            <a:extLst xmlns:a="http://schemas.openxmlformats.org/drawingml/2006/main">
              <a:ext uri="{FF2B5EF4-FFF2-40B4-BE49-F238E27FC236}">
                <a16:creationId xmlns:a16="http://schemas.microsoft.com/office/drawing/2014/main" id="{C1A049F5-7FBD-45E2-A5EF-CE16E556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“六地”红，成为理工青年投身东北全面振兴的鲜亮底色。</a:t>
            </a:r>
          </a:p>
        </p:txBody>
      </p:sp>
      <p:sp>
        <p:nvSpPr>
          <p:cNvPr id="9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F1551002-0725-408B-B673-A637E5BD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9F4"/>
                </a:solidFill>
              </a:defRPr>
            </a:pPr>
            <a:r>
              <a:rPr sz="1350" b="1">
                <a:solidFill>
                  <a:srgbClr val="DDE9F4"/>
                </a:solidFill>
              </a:rPr>
              <a:t>我的汇报完毕，谢谢大家！</a:t>
            </a:r>
          </a:p>
        </p:txBody>
      </p:sp>
      <p:sp>
        <p:nvSpPr>
          <p:cNvPr id="10" name="close-no">
            <a:extLst xmlns:a="http://schemas.openxmlformats.org/drawingml/2006/main">
              <a:ext uri="{FF2B5EF4-FFF2-40B4-BE49-F238E27FC236}">
                <a16:creationId xmlns:a16="http://schemas.microsoft.com/office/drawing/2014/main" id="{96C840FA-F39B-43F8-A0E9-74A9DBF6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F4"/>
                </a:solidFill>
              </a:defRPr>
            </a:pPr>
            <a:r>
              <a:rPr sz="1050" b="1">
                <a:solidFill>
                  <a:srgbClr val="DDE9F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21190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2026-09-06T01:49:56.3090000Z</dcterms:created>
  <dcterms:modified xsi:type="dcterms:W3CDTF">2026-09-06T01:49:56.3090000Z</dcterms:modified>
</coreProperties>
</file>