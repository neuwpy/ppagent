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5553c49cf4633" /><Relationship Type="http://schemas.openxmlformats.org/officeDocument/2006/relationships/extended-properties" Target="/docProps/app.xml" Id="R825b1351fff3471c" /><Relationship Type="http://schemas.openxmlformats.org/officeDocument/2006/relationships/officeDocument" Target="/ppt/presentation.xml" Id="R8c8dda44e043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d5c1ee2e3f45ef"/>
  </p:sldMasterIdLst>
  <p:notesMasterIdLst>
    <p:notesMasterId xmlns:r="http://schemas.openxmlformats.org/officeDocument/2006/relationships" r:id="Ra5b00b6b0d5c4125"/>
  </p:notesMasterIdLst>
  <p:sldIdLst>
    <p:sldId xmlns:r="http://schemas.openxmlformats.org/officeDocument/2006/relationships" id="256" r:id="R6c11bd566db94514"/>
    <p:sldId xmlns:r="http://schemas.openxmlformats.org/officeDocument/2006/relationships" id="257" r:id="R9a331a81b42a476c"/>
    <p:sldId xmlns:r="http://schemas.openxmlformats.org/officeDocument/2006/relationships" id="258" r:id="Rdc0ff820a5774e81"/>
    <p:sldId xmlns:r="http://schemas.openxmlformats.org/officeDocument/2006/relationships" id="259" r:id="R7d3fc4abf2eb494c"/>
    <p:sldId xmlns:r="http://schemas.openxmlformats.org/officeDocument/2006/relationships" id="260" r:id="R36901f0868834208"/>
    <p:sldId xmlns:r="http://schemas.openxmlformats.org/officeDocument/2006/relationships" id="261" r:id="R1b426f5c7be646ed"/>
    <p:sldId xmlns:r="http://schemas.openxmlformats.org/officeDocument/2006/relationships" id="262" r:id="R6134c2f0e9304900"/>
    <p:sldId xmlns:r="http://schemas.openxmlformats.org/officeDocument/2006/relationships" id="263" r:id="R53a47d91797141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a521ff857f4e6b" /><Relationship Type="http://schemas.openxmlformats.org/officeDocument/2006/relationships/slideMaster" Target="/ppt/slideMasters/slideMaster1.xml" Id="Rf0d5c1ee2e3f45ef" /><Relationship Type="http://schemas.openxmlformats.org/officeDocument/2006/relationships/notesMaster" Target="/ppt/notesMasters/notesMaster1.xml" Id="Ra5b00b6b0d5c4125" /><Relationship Type="http://schemas.openxmlformats.org/officeDocument/2006/relationships/presProps" Target="/ppt/presProps.xml" Id="Ra7a320cb86d749e5" /><Relationship Type="http://schemas.openxmlformats.org/officeDocument/2006/relationships/tableStyles" Target="/ppt/tableStyles.xml" Id="Reff03af11ea34380" /><Relationship Type="http://schemas.openxmlformats.org/officeDocument/2006/relationships/slide" Target="/ppt/slides/slide1.xml" Id="R6c11bd566db94514" /><Relationship Type="http://schemas.openxmlformats.org/officeDocument/2006/relationships/slide" Target="/ppt/slides/slide2.xml" Id="R9a331a81b42a476c" /><Relationship Type="http://schemas.openxmlformats.org/officeDocument/2006/relationships/slide" Target="/ppt/slides/slide3.xml" Id="Rdc0ff820a5774e81" /><Relationship Type="http://schemas.openxmlformats.org/officeDocument/2006/relationships/slide" Target="/ppt/slides/slide4.xml" Id="R7d3fc4abf2eb494c" /><Relationship Type="http://schemas.openxmlformats.org/officeDocument/2006/relationships/slide" Target="/ppt/slides/slide5.xml" Id="R36901f0868834208" /><Relationship Type="http://schemas.openxmlformats.org/officeDocument/2006/relationships/slide" Target="/ppt/slides/slide6.xml" Id="R1b426f5c7be646ed" /><Relationship Type="http://schemas.openxmlformats.org/officeDocument/2006/relationships/slide" Target="/ppt/slides/slide7.xml" Id="R6134c2f0e9304900" /><Relationship Type="http://schemas.openxmlformats.org/officeDocument/2006/relationships/slide" Target="/ppt/slides/slide8.xml" Id="R53a47d91797141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6ca7ff6e5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f0320c142a48aa" /><Relationship Type="http://schemas.openxmlformats.org/officeDocument/2006/relationships/notesMaster" Target="/ppt/notesMasters/notesMaster1.xml" Id="R39160af41d41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2e92fc00414d89" /><Relationship Type="http://schemas.openxmlformats.org/officeDocument/2006/relationships/notesMaster" Target="/ppt/notesMasters/notesMaster1.xml" Id="R9d64f147ffa1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1adc191cb045b8" /><Relationship Type="http://schemas.openxmlformats.org/officeDocument/2006/relationships/notesMaster" Target="/ppt/notesMasters/notesMaster1.xml" Id="R5e76b311bf6247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02407d7914dc6" /><Relationship Type="http://schemas.openxmlformats.org/officeDocument/2006/relationships/notesMaster" Target="/ppt/notesMasters/notesMaster1.xml" Id="Ref13b671a01b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4bc6c07b4c449d" /><Relationship Type="http://schemas.openxmlformats.org/officeDocument/2006/relationships/notesMaster" Target="/ppt/notesMasters/notesMaster1.xml" Id="Rabbe431748ec4d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1dec82c2c549df" /><Relationship Type="http://schemas.openxmlformats.org/officeDocument/2006/relationships/notesMaster" Target="/ppt/notesMasters/notesMaster1.xml" Id="R77f6816a5f084b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c1069dabb9474f" /><Relationship Type="http://schemas.openxmlformats.org/officeDocument/2006/relationships/notesMaster" Target="/ppt/notesMasters/notesMaster1.xml" Id="R60f477d955e3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15473445734e23" /><Relationship Type="http://schemas.openxmlformats.org/officeDocument/2006/relationships/notesMaster" Target="/ppt/notesMasters/notesMaster1.xml" Id="R729464a0487f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P01-P02：建立讨论目的与事实边界。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P03：三项缺失依据共同支撑“结果可解释”，并说明同名文件与个人目录的检索问题。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P04：五类信息共同解释结果，明确原始数据、脚本版本、异常与排除说明的保存纪律。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P05：区分讨论材料与受限原始数据，保留个人信息、合作限制和访问权边界。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P06：保留两种方案各自收益与代价，并明确推荐与“未证明更高效”的边界。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P07：四个真实先后步骤、三类角色、授权暂停条件与复核边界。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P08：保留课题方向、成员数量、四周安排和无实测效果数字的边界。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archive.txt（分配原稿，供本页事实与措辞）</a:t>
            </a:r>
          </a:p>
          <a:p xmlns:a="http://schemas.openxmlformats.org/drawingml/2006/main">
            <a:r>
              <a:t>P09-P11：三个评估问题、启动条件、停止/修改信号与有限尝试的收束判断。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7be4b4547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e4d5b2870e4a6f" /><Relationship Type="http://schemas.openxmlformats.org/officeDocument/2006/relationships/slideLayout" Target="/ppt/slideLayouts/slideLayout1.xml" Id="R7c923cdd926e41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23cdd926e41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63d68d6034ed8" /><Relationship Type="http://schemas.openxmlformats.org/officeDocument/2006/relationships/notesSlide" Target="/ppt/notesSlides/notesSlide1.xml" Id="R1a59e8e3ad1b47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b8cedaa5a471a" /><Relationship Type="http://schemas.openxmlformats.org/officeDocument/2006/relationships/notesSlide" Target="/ppt/notesSlides/notesSlide2.xml" Id="Rc17916e455a2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0ceca57d94148" /><Relationship Type="http://schemas.openxmlformats.org/officeDocument/2006/relationships/notesSlide" Target="/ppt/notesSlides/notesSlide3.xml" Id="Rcfe23732457d45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91140a65b4008" /><Relationship Type="http://schemas.openxmlformats.org/officeDocument/2006/relationships/notesSlide" Target="/ppt/notesSlides/notesSlide4.xml" Id="Rb4bca70b3838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5ac19f2424967" /><Relationship Type="http://schemas.openxmlformats.org/officeDocument/2006/relationships/notesSlide" Target="/ppt/notesSlides/notesSlide5.xml" Id="Rd90fe0d0c3ba49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ec46be4f04ab7" /><Relationship Type="http://schemas.openxmlformats.org/officeDocument/2006/relationships/notesSlide" Target="/ppt/notesSlides/notesSlide6.xml" Id="Rd5e01b740ef245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343159c7d47cb" /><Relationship Type="http://schemas.openxmlformats.org/officeDocument/2006/relationships/notesSlide" Target="/ppt/notesSlides/notesSlide7.xml" Id="R1702fb1498614b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df6e4580449a1" /><Relationship Type="http://schemas.openxmlformats.org/officeDocument/2006/relationships/notesSlide" Target="/ppt/notesSlides/notesSlide8.xml" Id="Rd4790772d3144a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5351627-282F-4A84-92EA-31592EF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实验数据归档｜方案讨论稿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806CD64-7936-4D74-884A-2AACB91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先把一次结果说明白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0320C9-160F-4BEF-88C6-4422BD0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EAF1F8"/>
                </a:solidFill>
              </a:defRPr>
            </a:pPr>
            <a:r>
              <a:rPr sz="1800" b="0" i="0">
                <a:solidFill>
                  <a:srgbClr val="EAF1F8"/>
                </a:solidFill>
              </a:rPr>
              <a:t>用四周、小范围试点，验证结果、依据与责任边界能否被理解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CA86B3D-AA2E-4CAF-B2C3-9045FFA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cover-scope-node">
            <a:extLst xmlns:a="http://schemas.openxmlformats.org/drawingml/2006/main">
              <a:ext uri="{FF2B5EF4-FFF2-40B4-BE49-F238E27FC236}">
                <a16:creationId xmlns:a16="http://schemas.microsoft.com/office/drawing/2014/main" id="{EF7F66D9-4605-4F09-B2A0-B051952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04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4486E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1 个课题方向  ·  2 名自愿成员  ·  4 周</a:t>
            </a:r>
          </a:p>
        </p:txBody>
      </p:sp>
      <p:sp>
        <p:nvSpPr>
          <p:cNvPr id="6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974BA5EC-04D3-4C0F-9900-194FFF69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D7E0E8"/>
                </a:solidFill>
              </a:defRPr>
            </a:pPr>
            <a:r>
              <a:rPr sz="1200" b="0" i="0">
                <a:solidFill>
                  <a:srgbClr val="D7E0E8"/>
                </a:solidFill>
              </a:rPr>
              <a:t>虚构大学场景；非已实施项目或真实成效汇报</a:t>
            </a:r>
          </a:p>
        </p:txBody>
      </p:sp>
      <p:sp>
        <p:nvSpPr>
          <p:cNvPr id="7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9B652D15-B326-495E-8BDA-0A488885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D7E0E8"/>
                </a:solidFill>
              </a:defRPr>
            </a:pPr>
            <a:r>
              <a:rPr sz="1200" b="0" i="0">
                <a:solidFill>
                  <a:srgbClr val="D7E0E8"/>
                </a:solidFill>
              </a:rPr>
              <a:t>面向课题组教师与研究生</a:t>
            </a:r>
          </a:p>
        </p:txBody>
      </p:sp>
      <p:sp>
        <p:nvSpPr>
          <p:cNvPr id="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8BCB097E-260C-43F3-BAEC-542D0012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9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7BB94A78-28F5-43DD-B2D6-0C8C648F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实验数据归档｜有限试点讨论</a:t>
            </a:r>
          </a:p>
        </p:txBody>
      </p:sp>
      <p:sp>
        <p:nvSpPr>
          <p:cNvPr id="1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0E3E40AA-EDD8-406C-B895-E1019819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6959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FFAE8193-9B08-4D5B-BAB9-35775AA3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问题边界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036DB1C-8BD0-46F0-A2EC-3454F69D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找到图片，不等于结果已经可以解释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8103CF64-8072-4E7C-ABFF-3E576F69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2-lead">
            <a:extLst xmlns:a="http://schemas.openxmlformats.org/drawingml/2006/main">
              <a:ext uri="{FF2B5EF4-FFF2-40B4-BE49-F238E27FC236}">
                <a16:creationId xmlns:a16="http://schemas.microsoft.com/office/drawing/2014/main" id="{1C8E6EAB-3E17-4045-83A4-94CBB130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4486E"/>
                </a:solidFill>
              </a:defRPr>
            </a:pPr>
            <a:r>
              <a:rPr sz="1800" b="1" i="0">
                <a:solidFill>
                  <a:srgbClr val="24486E"/>
                </a:solidFill>
              </a:rPr>
              <a:t>真正缺的不是文件，而是结果与依据的联系。</a:t>
            </a:r>
          </a:p>
        </p:txBody>
      </p:sp>
      <p:sp>
        <p:nvSpPr>
          <p:cNvPr id="5" name="s2-support">
            <a:extLst xmlns:a="http://schemas.openxmlformats.org/drawingml/2006/main">
              <a:ext uri="{FF2B5EF4-FFF2-40B4-BE49-F238E27FC236}">
                <a16:creationId xmlns:a16="http://schemas.microsoft.com/office/drawing/2014/main" id="{F0CD561D-FD48-4026-819B-0689A8A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归档先保存这条联系，再讨论扩大共享范围。</a:t>
            </a:r>
          </a:p>
        </p:txBody>
      </p:sp>
      <p:sp>
        <p:nvSpPr>
          <p:cNvPr id="6" name="s2-result-node">
            <a:extLst xmlns:a="http://schemas.openxmlformats.org/drawingml/2006/main">
              <a:ext uri="{FF2B5EF4-FFF2-40B4-BE49-F238E27FC236}">
                <a16:creationId xmlns:a16="http://schemas.microsoft.com/office/drawing/2014/main" id="{487ADF11-AA67-4CE8-B93D-C168E2C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可解释的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7" name="s2-sample-node">
            <a:extLst xmlns:a="http://schemas.openxmlformats.org/drawingml/2006/main">
              <a:ext uri="{FF2B5EF4-FFF2-40B4-BE49-F238E27FC236}">
                <a16:creationId xmlns:a16="http://schemas.microsoft.com/office/drawing/2014/main" id="{D48462C1-F609-4E1D-B158-18BB76F7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8125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哪批样本？</a:t>
            </a:r>
          </a:p>
        </p:txBody>
      </p:sp>
      <p:sp>
        <p:nvSpPr>
          <p:cNvPr id="8" name="s2-script-node">
            <a:extLst xmlns:a="http://schemas.openxmlformats.org/drawingml/2006/main">
              <a:ext uri="{FF2B5EF4-FFF2-40B4-BE49-F238E27FC236}">
                <a16:creationId xmlns:a16="http://schemas.microsoft.com/office/drawing/2014/main" id="{591192B3-0CE8-43A4-9537-C45F6316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8135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哪版脚本？</a:t>
            </a:r>
          </a:p>
        </p:txBody>
      </p:sp>
      <p:sp>
        <p:nvSpPr>
          <p:cNvPr id="9" name="s2-exclusion-node">
            <a:extLst xmlns:a="http://schemas.openxmlformats.org/drawingml/2006/main">
              <a:ext uri="{FF2B5EF4-FFF2-40B4-BE49-F238E27FC236}">
                <a16:creationId xmlns:a16="http://schemas.microsoft.com/office/drawing/2014/main" id="{6DF1C6FD-B4C0-480B-AA48-DAF7E022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排除了什么？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95875" y="2676525"/>
            <a:ext cx="242887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E8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95875" y="3143250"/>
            <a:ext cx="242887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E8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95875" y="3143250"/>
            <a:ext cx="24288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E8"/>
            </a:solidFill>
            <a:prstDash val="solid"/>
            <a:tailEnd type="arrow" w="sm" len="sm"/>
          </a:ln>
        </p:spPr>
      </p:cxnSp>
      <p:sp>
        <p:nvSpPr>
          <p:cNvPr id="13" name="s2-file-note">
            <a:extLst xmlns:a="http://schemas.openxmlformats.org/drawingml/2006/main">
              <a:ext uri="{FF2B5EF4-FFF2-40B4-BE49-F238E27FC236}">
                <a16:creationId xmlns:a16="http://schemas.microsoft.com/office/drawing/2014/main" id="{DB209838-A20A-44AB-BF4B-0A9345D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同名文件 + 个人目录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让重复检索更难</a:t>
            </a:r>
          </a:p>
        </p:txBody>
      </p:sp>
      <p:sp>
        <p:nvSpPr>
          <p:cNvPr id="14" name="s2-bottom-band">
            <a:extLst xmlns:a="http://schemas.openxmlformats.org/drawingml/2006/main">
              <a:ext uri="{FF2B5EF4-FFF2-40B4-BE49-F238E27FC236}">
                <a16:creationId xmlns:a16="http://schemas.microsoft.com/office/drawing/2014/main" id="{35B9E9DD-3ADB-47CF-9358-86693CC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solidFill>
              <a:srgbClr val="EAF1F8"/>
            </a:solidFill>
            <a:prstDash val="solid"/>
          </a:ln>
        </p:spPr>
      </p:sp>
      <p:sp>
        <p:nvSpPr>
          <p:cNvPr id="15" name="s2-bottom-text">
            <a:extLst xmlns:a="http://schemas.openxmlformats.org/drawingml/2006/main">
              <a:ext uri="{FF2B5EF4-FFF2-40B4-BE49-F238E27FC236}">
                <a16:creationId xmlns:a16="http://schemas.microsoft.com/office/drawing/2014/main" id="{C3B66205-10EE-40B8-AEE8-46688949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4486E"/>
                </a:solidFill>
              </a:defRPr>
            </a:pPr>
            <a:r>
              <a:rPr sz="1650" b="1" i="0">
                <a:solidFill>
                  <a:srgbClr val="24486E"/>
                </a:solidFill>
              </a:rPr>
              <a:t>文件存在 ≠ 结果可解释</a:t>
            </a:r>
          </a:p>
        </p:txBody>
      </p:sp>
      <p:sp>
        <p:nvSpPr>
          <p:cNvPr id="16" name="s2-bottom-detail">
            <a:extLst xmlns:a="http://schemas.openxmlformats.org/drawingml/2006/main">
              <a:ext uri="{FF2B5EF4-FFF2-40B4-BE49-F238E27FC236}">
                <a16:creationId xmlns:a16="http://schemas.microsoft.com/office/drawing/2014/main" id="{9AE98ED6-6A14-4CA9-9C10-C58950DD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先把来源、处理与排除条件连回结果，再谈共享边界。</a:t>
            </a:r>
          </a:p>
        </p:txBody>
      </p:sp>
      <p:sp>
        <p:nvSpPr>
          <p:cNvPr id="1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F3F97CC-B275-486B-BE6C-2BE379FC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DAC99A71-CF1E-4A1B-A29F-AF8DF1F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9BED7C1-4740-460F-9A2A-818CC0D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0167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3">
            <a:extLst xmlns:a="http://schemas.openxmlformats.org/drawingml/2006/main">
              <a:ext uri="{FF2B5EF4-FFF2-40B4-BE49-F238E27FC236}">
                <a16:creationId xmlns:a16="http://schemas.microsoft.com/office/drawing/2014/main" id="{B4A6478A-6AA1-4EB0-89C4-6818FFA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记录单元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E6647CB-F2A9-47AE-A4F3-5B349C6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一个可讨论结果，需要五类信息共同解释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3C766E7C-46A9-4BA5-B099-9CF67884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3-lead">
            <a:extLst xmlns:a="http://schemas.openxmlformats.org/drawingml/2006/main">
              <a:ext uri="{FF2B5EF4-FFF2-40B4-BE49-F238E27FC236}">
                <a16:creationId xmlns:a16="http://schemas.microsoft.com/office/drawing/2014/main" id="{AD83CA09-4B69-4110-B307-792D777C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五类信息共同归属于一个记录单元；它们不是必须依次执行的五个步骤。</a:t>
            </a:r>
          </a:p>
        </p:txBody>
      </p:sp>
      <p:sp>
        <p:nvSpPr>
          <p:cNvPr id="5" name="s3-record-frame">
            <a:extLst xmlns:a="http://schemas.openxmlformats.org/drawingml/2006/main">
              <a:ext uri="{FF2B5EF4-FFF2-40B4-BE49-F238E27FC236}">
                <a16:creationId xmlns:a16="http://schemas.microsoft.com/office/drawing/2014/main" id="{7B4A6D6F-22D9-425D-B2F1-903ED644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0429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</p:sp>
      <p:sp>
        <p:nvSpPr>
          <p:cNvPr id="6" name="s3-center-node">
            <a:extLst xmlns:a="http://schemas.openxmlformats.org/drawingml/2006/main">
              <a:ext uri="{FF2B5EF4-FFF2-40B4-BE49-F238E27FC236}">
                <a16:creationId xmlns:a16="http://schemas.microsoft.com/office/drawing/2014/main" id="{6E7D9C3C-691B-4A56-9C47-58510AC9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一次可讨论的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7" name="s3-data-node">
            <a:extLst xmlns:a="http://schemas.openxmlformats.org/drawingml/2006/main">
              <a:ext uri="{FF2B5EF4-FFF2-40B4-BE49-F238E27FC236}">
                <a16:creationId xmlns:a16="http://schemas.microsoft.com/office/drawing/2014/main" id="{CEFFA3FA-F757-45F1-90E0-A3A25A8D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原始数据位置</a:t>
            </a:r>
          </a:p>
        </p:txBody>
      </p:sp>
      <p:sp>
        <p:nvSpPr>
          <p:cNvPr id="8" name="s3-sample-node">
            <a:extLst xmlns:a="http://schemas.openxmlformats.org/drawingml/2006/main">
              <a:ext uri="{FF2B5EF4-FFF2-40B4-BE49-F238E27FC236}">
                <a16:creationId xmlns:a16="http://schemas.microsoft.com/office/drawing/2014/main" id="{6193EABB-8586-4EFE-A30C-3C7F58B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样本与采集条件</a:t>
            </a:r>
          </a:p>
        </p:txBody>
      </p:sp>
      <p:sp>
        <p:nvSpPr>
          <p:cNvPr id="9" name="s3-script-node">
            <a:extLst xmlns:a="http://schemas.openxmlformats.org/drawingml/2006/main">
              <a:ext uri="{FF2B5EF4-FFF2-40B4-BE49-F238E27FC236}">
                <a16:creationId xmlns:a16="http://schemas.microsoft.com/office/drawing/2014/main" id="{649FB904-D41C-409E-9132-DCB6A54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处理脚本版本</a:t>
            </a:r>
          </a:p>
        </p:txBody>
      </p:sp>
      <p:sp>
        <p:nvSpPr>
          <p:cNvPr id="10" name="s3-result-node">
            <a:extLst xmlns:a="http://schemas.openxmlformats.org/drawingml/2006/main">
              <a:ext uri="{FF2B5EF4-FFF2-40B4-BE49-F238E27FC236}">
                <a16:creationId xmlns:a16="http://schemas.microsoft.com/office/drawing/2014/main" id="{1250B6A7-FA8F-4283-84A9-82202A63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结果文件</a:t>
            </a:r>
          </a:p>
        </p:txBody>
      </p:sp>
      <p:sp>
        <p:nvSpPr>
          <p:cNvPr id="11" name="s3-exception-node">
            <a:extLst xmlns:a="http://schemas.openxmlformats.org/drawingml/2006/main">
              <a:ext uri="{FF2B5EF4-FFF2-40B4-BE49-F238E27FC236}">
                <a16:creationId xmlns:a16="http://schemas.microsoft.com/office/drawing/2014/main" id="{FCCD63C3-D727-42EA-84B5-5801C40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C9D9E8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异常与排除说明</a:t>
            </a:r>
          </a:p>
        </p:txBody>
      </p:sp>
      <p:sp>
        <p:nvSpPr>
          <p:cNvPr id="12" name="s3-rules-title">
            <a:extLst xmlns:a="http://schemas.openxmlformats.org/drawingml/2006/main">
              <a:ext uri="{FF2B5EF4-FFF2-40B4-BE49-F238E27FC236}">
                <a16:creationId xmlns:a16="http://schemas.microsoft.com/office/drawing/2014/main" id="{67D45ED3-5095-4E1F-83C4-24BEE32A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五条数据纪律</a:t>
            </a:r>
          </a:p>
        </p:txBody>
      </p:sp>
      <p:sp>
        <p:nvSpPr>
          <p:cNvPr id="13" name="s3-rules">
            <a:extLst xmlns:a="http://schemas.openxmlformats.org/drawingml/2006/main">
              <a:ext uri="{FF2B5EF4-FFF2-40B4-BE49-F238E27FC236}">
                <a16:creationId xmlns:a16="http://schemas.microsoft.com/office/drawing/2014/main" id="{B0BE2E60-B2C7-4409-BAF2-64A26B4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578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252B33"/>
                </a:solidFill>
              </a:defRPr>
            </a:pPr>
            <a:r>
              <a:rPr sz="1200" b="0" i="0">
                <a:solidFill>
                  <a:srgbClr val="252B33"/>
                </a:solidFill>
              </a:rPr>
              <a:t>原始数据保持原貌；清洗与处理另存。脚本版本要能定位实际运行代码。异常说明保留判断依据；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252B33"/>
                </a:solidFill>
              </a:defRPr>
            </a:pPr>
            <a:r>
              <a:rPr sz="1200" b="0" i="0">
                <a:solidFill>
                  <a:srgbClr val="252B33"/>
                </a:solidFill>
              </a:rPr>
              <a:t>排除样本说明排除条件。</a:t>
            </a:r>
          </a:p>
        </p:txBody>
      </p:sp>
      <p:sp>
        <p:nvSpPr>
          <p:cNvPr id="1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B369A5E-7CD1-4DFB-8C4B-D4AABC0F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FE1B972A-9F94-4C5B-8CCD-759A813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1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645AD2F-6C64-49DC-A055-19CC3F6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1646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34CB7895-5C8C-430D-8941-06FCE38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授权边界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5C0A179-DC2B-4C7F-B316-89BFC47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记录完整，与所有人都能看到全部文件，是两件事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7217ECBB-6AD1-465E-AA83-BFFF0878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4-lead">
            <a:extLst xmlns:a="http://schemas.openxmlformats.org/drawingml/2006/main">
              <a:ext uri="{FF2B5EF4-FFF2-40B4-BE49-F238E27FC236}">
                <a16:creationId xmlns:a16="http://schemas.microsoft.com/office/drawing/2014/main" id="{C7EF3E69-3A89-4966-886F-7CE70C88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4486E"/>
                </a:solidFill>
              </a:defRPr>
            </a:pPr>
            <a:r>
              <a:rPr sz="1650" b="1" i="0">
                <a:solidFill>
                  <a:srgbClr val="24486E"/>
                </a:solidFill>
              </a:rPr>
              <a:t>归档保存可理解的引用关系，但不改变原有授权。</a:t>
            </a:r>
          </a:p>
        </p:txBody>
      </p:sp>
      <p:sp>
        <p:nvSpPr>
          <p:cNvPr id="5" name="s4-open-frame">
            <a:extLst xmlns:a="http://schemas.openxmlformats.org/drawingml/2006/main">
              <a:ext uri="{FF2B5EF4-FFF2-40B4-BE49-F238E27FC236}">
                <a16:creationId xmlns:a16="http://schemas.microsoft.com/office/drawing/2014/main" id="{4CC8CFFC-3BC7-4D80-8C77-B899CA9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810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</p:sp>
      <p:sp>
        <p:nvSpPr>
          <p:cNvPr id="6" name="s4-restricted-frame">
            <a:extLst xmlns:a="http://schemas.openxmlformats.org/drawingml/2006/main">
              <a:ext uri="{FF2B5EF4-FFF2-40B4-BE49-F238E27FC236}">
                <a16:creationId xmlns:a16="http://schemas.microsoft.com/office/drawing/2014/main" id="{505FB8EA-9F47-4CCD-B243-03DAEBF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810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C9D9E8"/>
            </a:solidFill>
            <a:prstDash val="solid"/>
          </a:ln>
        </p:spPr>
      </p:sp>
      <p:sp>
        <p:nvSpPr>
          <p:cNvPr id="7" name="s4-open-title">
            <a:extLst xmlns:a="http://schemas.openxmlformats.org/drawingml/2006/main">
              <a:ext uri="{FF2B5EF4-FFF2-40B4-BE49-F238E27FC236}">
                <a16:creationId xmlns:a16="http://schemas.microsoft.com/office/drawing/2014/main" id="{5E9A919C-D2AB-4320-B13A-BE7D7A20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4486E"/>
                </a:solidFill>
              </a:defRPr>
            </a:pPr>
            <a:r>
              <a:rPr sz="1800" b="1" i="0">
                <a:solidFill>
                  <a:srgbClr val="24486E"/>
                </a:solidFill>
              </a:rPr>
              <a:t>讨论材料</a:t>
            </a:r>
          </a:p>
        </p:txBody>
      </p:sp>
      <p:sp>
        <p:nvSpPr>
          <p:cNvPr id="8" name="s4-open-items">
            <a:extLst xmlns:a="http://schemas.openxmlformats.org/drawingml/2006/main">
              <a:ext uri="{FF2B5EF4-FFF2-40B4-BE49-F238E27FC236}">
                <a16:creationId xmlns:a16="http://schemas.microsoft.com/office/drawing/2014/main" id="{CE89F667-859C-403A-A745-6BACE60C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3762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• 结果图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• 可公开的解释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• 受众可理解的记录摘要</a:t>
            </a:r>
          </a:p>
        </p:txBody>
      </p:sp>
      <p:sp>
        <p:nvSpPr>
          <p:cNvPr id="9" name="s4-restricted-title">
            <a:extLst xmlns:a="http://schemas.openxmlformats.org/drawingml/2006/main">
              <a:ext uri="{FF2B5EF4-FFF2-40B4-BE49-F238E27FC236}">
                <a16:creationId xmlns:a16="http://schemas.microsoft.com/office/drawing/2014/main" id="{15546B9F-6AD0-45BC-A3CD-B91A42F2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57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4486E"/>
                </a:solidFill>
              </a:defRPr>
            </a:pPr>
            <a:r>
              <a:rPr sz="1800" b="1" i="0">
                <a:solidFill>
                  <a:srgbClr val="24486E"/>
                </a:solidFill>
              </a:rPr>
              <a:t>受限原始数据</a:t>
            </a:r>
          </a:p>
        </p:txBody>
      </p:sp>
      <p:sp>
        <p:nvSpPr>
          <p:cNvPr id="10" name="s4-restricted-items">
            <a:extLst xmlns:a="http://schemas.openxmlformats.org/drawingml/2006/main">
              <a:ext uri="{FF2B5EF4-FFF2-40B4-BE49-F238E27FC236}">
                <a16:creationId xmlns:a16="http://schemas.microsoft.com/office/drawing/2014/main" id="{804F98C6-0B4C-4362-A3B5-562E7A80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00375"/>
            <a:ext cx="3762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• 仍放在原授权位置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• 记录只保留受控引用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252B33"/>
                </a:solidFill>
              </a:defRPr>
            </a:pPr>
            <a:r>
              <a:rPr sz="1500" b="0" i="0">
                <a:solidFill>
                  <a:srgbClr val="252B33"/>
                </a:solidFill>
              </a:rPr>
              <a:t>• 写清访问条件</a:t>
            </a:r>
          </a:p>
        </p:txBody>
      </p:sp>
      <p:sp>
        <p:nvSpPr>
          <p:cNvPr id="11" name="s4-boundary">
            <a:extLst xmlns:a="http://schemas.openxmlformats.org/drawingml/2006/main">
              <a:ext uri="{FF2B5EF4-FFF2-40B4-BE49-F238E27FC236}">
                <a16:creationId xmlns:a16="http://schemas.microsoft.com/office/drawing/2014/main" id="{9650E0C0-25C0-441C-B79C-82FE8CC3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2" name="s4-boundary-label">
            <a:extLst xmlns:a="http://schemas.openxmlformats.org/drawingml/2006/main">
              <a:ext uri="{FF2B5EF4-FFF2-40B4-BE49-F238E27FC236}">
                <a16:creationId xmlns:a16="http://schemas.microsoft.com/office/drawing/2014/main" id="{37814B02-8A94-45DA-9890-7927BB5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19450"/>
            <a:ext cx="419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授权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315F91"/>
                </a:solidFill>
              </a:defRPr>
            </a:pPr>
            <a:r>
              <a:rPr sz="1350" b="1" i="0">
                <a:solidFill>
                  <a:srgbClr val="315F91"/>
                </a:solidFill>
              </a:rPr>
              <a:t>不变</a:t>
            </a:r>
          </a:p>
        </p:txBody>
      </p:sp>
      <p:sp>
        <p:nvSpPr>
          <p:cNvPr id="13" name="s4-bottom-band">
            <a:extLst xmlns:a="http://schemas.openxmlformats.org/drawingml/2006/main">
              <a:ext uri="{FF2B5EF4-FFF2-40B4-BE49-F238E27FC236}">
                <a16:creationId xmlns:a16="http://schemas.microsoft.com/office/drawing/2014/main" id="{0A95FB0E-989C-476D-8726-FC61C7C1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solidFill>
              <a:srgbClr val="EAF1F8"/>
            </a:solidFill>
            <a:prstDash val="solid"/>
          </a:ln>
        </p:spPr>
      </p:sp>
      <p:sp>
        <p:nvSpPr>
          <p:cNvPr id="14" name="s4-bottom">
            <a:extLst xmlns:a="http://schemas.openxmlformats.org/drawingml/2006/main">
              <a:ext uri="{FF2B5EF4-FFF2-40B4-BE49-F238E27FC236}">
                <a16:creationId xmlns:a16="http://schemas.microsoft.com/office/drawing/2014/main" id="{1949FA47-036F-4FBD-9FFD-C41D11B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3402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路径出现于记录表 ≠ 其他成员已经取得访问权</a:t>
            </a:r>
          </a:p>
        </p:txBody>
      </p:sp>
      <p:sp>
        <p:nvSpPr>
          <p:cNvPr id="15" name="s4-exception">
            <a:extLst xmlns:a="http://schemas.openxmlformats.org/drawingml/2006/main">
              <a:ext uri="{FF2B5EF4-FFF2-40B4-BE49-F238E27FC236}">
                <a16:creationId xmlns:a16="http://schemas.microsoft.com/office/drawing/2014/main" id="{11FE28F0-57F3-41B9-9D89-59A91A9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个人信息或合作限制，不能因为归档而改变授权。</a:t>
            </a:r>
          </a:p>
        </p:txBody>
      </p:sp>
      <p:sp>
        <p:nvSpPr>
          <p:cNvPr id="1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2508886-41B5-4C5F-B54C-8224CC4C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7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A7ACA21-6322-435D-8E59-94094D48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18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D146732-4AAC-4253-86D6-9C63C96B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8484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5">
            <a:extLst xmlns:a="http://schemas.openxmlformats.org/drawingml/2006/main">
              <a:ext uri="{FF2B5EF4-FFF2-40B4-BE49-F238E27FC236}">
                <a16:creationId xmlns:a16="http://schemas.microsoft.com/office/drawing/2014/main" id="{8D8C2BCA-3763-49AD-AAB6-828D7822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范围选择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9FD8DB5-503F-4C16-A319-E8B8D34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建议先试新增实验，再逐项补真正需要复核的历史结果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147A326-26B8-4D51-A28F-7B479DA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5-lead">
            <a:extLst xmlns:a="http://schemas.openxmlformats.org/drawingml/2006/main">
              <a:ext uri="{FF2B5EF4-FFF2-40B4-BE49-F238E27FC236}">
                <a16:creationId xmlns:a16="http://schemas.microsoft.com/office/drawing/2014/main" id="{781758EB-A4A8-4075-9310-019B422C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两种推进思路的差异，关键在上下文是否还清楚，以及历史追溯要付出什么代价。</a:t>
            </a:r>
          </a:p>
        </p:txBody>
      </p:sp>
      <p:sp>
        <p:nvSpPr>
          <p:cNvPr id="5" name="s5-history-frame">
            <a:extLst xmlns:a="http://schemas.openxmlformats.org/drawingml/2006/main">
              <a:ext uri="{FF2B5EF4-FFF2-40B4-BE49-F238E27FC236}">
                <a16:creationId xmlns:a16="http://schemas.microsoft.com/office/drawing/2014/main" id="{83FD12D2-5BA9-4F3D-AEA2-9EBB0E0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8101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</p:sp>
      <p:sp>
        <p:nvSpPr>
          <p:cNvPr id="6" name="s5-new-frame">
            <a:extLst xmlns:a="http://schemas.openxmlformats.org/drawingml/2006/main">
              <a:ext uri="{FF2B5EF4-FFF2-40B4-BE49-F238E27FC236}">
                <a16:creationId xmlns:a16="http://schemas.microsoft.com/office/drawing/2014/main" id="{9D851EAC-6B4F-4BA0-9B1E-369FD64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8101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7" name="s5-history-title">
            <a:extLst xmlns:a="http://schemas.openxmlformats.org/drawingml/2006/main">
              <a:ext uri="{FF2B5EF4-FFF2-40B4-BE49-F238E27FC236}">
                <a16:creationId xmlns:a16="http://schemas.microsoft.com/office/drawing/2014/main" id="{6D5A967E-AA3B-4A2C-8C26-511F481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52B33"/>
                </a:solidFill>
              </a:defRPr>
            </a:pPr>
            <a:r>
              <a:rPr sz="1800" b="1" i="0">
                <a:solidFill>
                  <a:srgbClr val="252B33"/>
                </a:solidFill>
              </a:rPr>
              <a:t>集中补历史档案</a:t>
            </a:r>
          </a:p>
        </p:txBody>
      </p:sp>
      <p:sp>
        <p:nvSpPr>
          <p:cNvPr id="8" name="s5-history-benefit">
            <a:extLst xmlns:a="http://schemas.openxmlformats.org/drawingml/2006/main">
              <a:ext uri="{FF2B5EF4-FFF2-40B4-BE49-F238E27FC236}">
                <a16:creationId xmlns:a16="http://schemas.microsoft.com/office/drawing/2014/main" id="{6094BBE3-D651-4945-B7E9-A6DDA5A2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能一次形成较大的目录</a:t>
            </a:r>
          </a:p>
        </p:txBody>
      </p:sp>
      <p:sp>
        <p:nvSpPr>
          <p:cNvPr id="9" name="s5-history-cost">
            <a:extLst xmlns:a="http://schemas.openxmlformats.org/drawingml/2006/main">
              <a:ext uri="{FF2B5EF4-FFF2-40B4-BE49-F238E27FC236}">
                <a16:creationId xmlns:a16="http://schemas.microsoft.com/office/drawing/2014/main" id="{07F6B589-F763-428E-B769-4E4F5C5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代价：追查遗失上下文耗时；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不确定记忆可能被写成确定说明。</a:t>
            </a:r>
          </a:p>
        </p:txBody>
      </p:sp>
      <p:sp>
        <p:nvSpPr>
          <p:cNvPr id="10" name="s5-new-title">
            <a:extLst xmlns:a="http://schemas.openxmlformats.org/drawingml/2006/main">
              <a:ext uri="{FF2B5EF4-FFF2-40B4-BE49-F238E27FC236}">
                <a16:creationId xmlns:a16="http://schemas.microsoft.com/office/drawing/2014/main" id="{FBB05807-ED8F-465C-8E53-88E359B4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4486E"/>
                </a:solidFill>
              </a:defRPr>
            </a:pPr>
            <a:r>
              <a:rPr sz="1800" b="1" i="0">
                <a:solidFill>
                  <a:srgbClr val="24486E"/>
                </a:solidFill>
              </a:rPr>
              <a:t>先从新增实验开始</a:t>
            </a:r>
          </a:p>
        </p:txBody>
      </p:sp>
      <p:sp>
        <p:nvSpPr>
          <p:cNvPr id="11" name="s5-new-benefit">
            <a:extLst xmlns:a="http://schemas.openxmlformats.org/drawingml/2006/main">
              <a:ext uri="{FF2B5EF4-FFF2-40B4-BE49-F238E27FC236}">
                <a16:creationId xmlns:a16="http://schemas.microsoft.com/office/drawing/2014/main" id="{69188DEE-0263-470E-8006-5734E264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上下文尚清楚时就记录</a:t>
            </a:r>
          </a:p>
        </p:txBody>
      </p:sp>
      <p:sp>
        <p:nvSpPr>
          <p:cNvPr id="12" name="s5-new-cost">
            <a:extLst xmlns:a="http://schemas.openxmlformats.org/drawingml/2006/main">
              <a:ext uri="{FF2B5EF4-FFF2-40B4-BE49-F238E27FC236}">
                <a16:creationId xmlns:a16="http://schemas.microsoft.com/office/drawing/2014/main" id="{DD99EDA2-DE24-4CE2-9159-10096D3D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707780"/>
                </a:solidFill>
              </a:defRPr>
            </a:pPr>
            <a:r>
              <a:rPr sz="1350" b="0" i="0">
                <a:solidFill>
                  <a:srgbClr val="707780"/>
                </a:solidFill>
              </a:rPr>
              <a:t>代价：短期无法解决全部历史材料的追溯。</a:t>
            </a:r>
          </a:p>
        </p:txBody>
      </p:sp>
      <p:sp>
        <p:nvSpPr>
          <p:cNvPr id="13" name="s5-recommend-band">
            <a:extLst xmlns:a="http://schemas.openxmlformats.org/drawingml/2006/main">
              <a:ext uri="{FF2B5EF4-FFF2-40B4-BE49-F238E27FC236}">
                <a16:creationId xmlns:a16="http://schemas.microsoft.com/office/drawing/2014/main" id="{67A688EE-CD7E-4883-BDAA-7AF1231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76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4" name="s5-recommend">
            <a:extLst xmlns:a="http://schemas.openxmlformats.org/drawingml/2006/main">
              <a:ext uri="{FF2B5EF4-FFF2-40B4-BE49-F238E27FC236}">
                <a16:creationId xmlns:a16="http://schemas.microsoft.com/office/drawing/2014/main" id="{C3300E03-7A60-45A8-BD93-D7AED82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建议：新增实验先试行；真正需要复核的历史结果逐项补充。</a:t>
            </a:r>
          </a:p>
        </p:txBody>
      </p:sp>
      <p:sp>
        <p:nvSpPr>
          <p:cNvPr id="15" name="s5-boundary">
            <a:extLst xmlns:a="http://schemas.openxmlformats.org/drawingml/2006/main">
              <a:ext uri="{FF2B5EF4-FFF2-40B4-BE49-F238E27FC236}">
                <a16:creationId xmlns:a16="http://schemas.microsoft.com/office/drawing/2014/main" id="{9A8B38ED-36B3-4BFB-854E-A147188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这是范围选择，不是已经证明新方式更高效。</a:t>
            </a:r>
          </a:p>
        </p:txBody>
      </p:sp>
      <p:sp>
        <p:nvSpPr>
          <p:cNvPr id="16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9CCB07F9-56E7-4C3D-B0D5-19590BCF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7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3DB7CF2-4C90-4E3E-A05D-C2D15FE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0CEB7C3-44B7-42BC-86B4-7D1F1853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5249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361A5DC6-4BAF-4F49-9D30-B53CB0E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工作顺序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A519797-293D-486F-A1A5-BCF064A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复核先确认：别人能否理解这个结果是怎么产生的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16A03855-1E33-4735-AEBE-84D7534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6-lead">
            <a:extLst xmlns:a="http://schemas.openxmlformats.org/drawingml/2006/main">
              <a:ext uri="{FF2B5EF4-FFF2-40B4-BE49-F238E27FC236}">
                <a16:creationId xmlns:a16="http://schemas.microsoft.com/office/drawing/2014/main" id="{317D7369-998B-4974-A367-61FCA823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流程只检查来源、脚本和条件是否可定位；它不要求复做整项实验，也不代替科学结论审查。</a:t>
            </a:r>
          </a:p>
        </p:txBody>
      </p:sp>
      <p:sp>
        <p:nvSpPr>
          <p:cNvPr id="5" name="s6-submit-node">
            <a:extLst xmlns:a="http://schemas.openxmlformats.org/drawingml/2006/main">
              <a:ext uri="{FF2B5EF4-FFF2-40B4-BE49-F238E27FC236}">
                <a16:creationId xmlns:a16="http://schemas.microsoft.com/office/drawing/2014/main" id="{A5F9FF63-E15B-489B-A7C3-40F61791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233362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01  执行者提交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结果记录 + 受控引用</a:t>
            </a:r>
          </a:p>
        </p:txBody>
      </p:sp>
      <p:sp>
        <p:nvSpPr>
          <p:cNvPr id="6" name="s6-locate-node">
            <a:extLst xmlns:a="http://schemas.openxmlformats.org/drawingml/2006/main">
              <a:ext uri="{FF2B5EF4-FFF2-40B4-BE49-F238E27FC236}">
                <a16:creationId xmlns:a16="http://schemas.microsoft.com/office/drawing/2014/main" id="{A1B09389-35D0-498F-B34E-886B82B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33362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02  另一位成员定位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数据、脚本与条件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提出缺项</a:t>
            </a:r>
          </a:p>
        </p:txBody>
      </p:sp>
      <p:sp>
        <p:nvSpPr>
          <p:cNvPr id="7" name="s6-supplement-node">
            <a:extLst xmlns:a="http://schemas.openxmlformats.org/drawingml/2006/main">
              <a:ext uri="{FF2B5EF4-FFF2-40B4-BE49-F238E27FC236}">
                <a16:creationId xmlns:a16="http://schemas.microsoft.com/office/drawing/2014/main" id="{16ED3892-CBFE-4B5A-83A1-781D85B6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233362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03  执行者补充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交负责人确认</a:t>
            </a:r>
          </a:p>
        </p:txBody>
      </p:sp>
      <p:sp>
        <p:nvSpPr>
          <p:cNvPr id="8" name="s6-discussable-node">
            <a:extLst xmlns:a="http://schemas.openxmlformats.org/drawingml/2006/main">
              <a:ext uri="{FF2B5EF4-FFF2-40B4-BE49-F238E27FC236}">
                <a16:creationId xmlns:a16="http://schemas.microsoft.com/office/drawing/2014/main" id="{E40564C0-C642-44DD-8CBC-AC0658BE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000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  进入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可讨论版本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048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53125" y="3048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58250" y="3048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2" name="s6-role-rule">
            <a:extLst xmlns:a="http://schemas.openxmlformats.org/drawingml/2006/main">
              <a:ext uri="{FF2B5EF4-FFF2-40B4-BE49-F238E27FC236}">
                <a16:creationId xmlns:a16="http://schemas.microsoft.com/office/drawing/2014/main" id="{ECE36CB8-B953-44C8-8316-2D3B35A0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3" name="s6-roles">
            <a:extLst xmlns:a="http://schemas.openxmlformats.org/drawingml/2006/main">
              <a:ext uri="{FF2B5EF4-FFF2-40B4-BE49-F238E27FC236}">
                <a16:creationId xmlns:a16="http://schemas.microsoft.com/office/drawing/2014/main" id="{350A3205-F08F-4E9C-A19B-A7A5426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实验执行者</a:t>
            </a:r>
          </a:p>
        </p:txBody>
      </p:sp>
      <p:sp>
        <p:nvSpPr>
          <p:cNvPr id="14" name="s6-roles2">
            <a:extLst xmlns:a="http://schemas.openxmlformats.org/drawingml/2006/main">
              <a:ext uri="{FF2B5EF4-FFF2-40B4-BE49-F238E27FC236}">
                <a16:creationId xmlns:a16="http://schemas.microsoft.com/office/drawing/2014/main" id="{C3752E39-CF15-4846-A104-78985BFA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67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另一位成员</a:t>
            </a:r>
          </a:p>
        </p:txBody>
      </p:sp>
      <p:sp>
        <p:nvSpPr>
          <p:cNvPr id="15" name="s6-roles3">
            <a:extLst xmlns:a="http://schemas.openxmlformats.org/drawingml/2006/main">
              <a:ext uri="{FF2B5EF4-FFF2-40B4-BE49-F238E27FC236}">
                <a16:creationId xmlns:a16="http://schemas.microsoft.com/office/drawing/2014/main" id="{33E29D9C-C3D5-4E13-8657-799FEB93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672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实验执行者 → 负责人</a:t>
            </a:r>
          </a:p>
        </p:txBody>
      </p:sp>
      <p:sp>
        <p:nvSpPr>
          <p:cNvPr id="16" name="s6-pause-frame">
            <a:extLst xmlns:a="http://schemas.openxmlformats.org/drawingml/2006/main">
              <a:ext uri="{FF2B5EF4-FFF2-40B4-BE49-F238E27FC236}">
                <a16:creationId xmlns:a16="http://schemas.microsoft.com/office/drawing/2014/main" id="{544F8F02-53F4-4433-B252-B727642A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733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4288">
            <a:solidFill>
              <a:srgbClr val="C9D9E8"/>
            </a:solidFill>
            <a:prstDash val="dash"/>
          </a:ln>
        </p:spPr>
      </p:sp>
      <p:sp>
        <p:nvSpPr>
          <p:cNvPr id="17" name="s6-pause-title">
            <a:extLst xmlns:a="http://schemas.openxmlformats.org/drawingml/2006/main">
              <a:ext uri="{FF2B5EF4-FFF2-40B4-BE49-F238E27FC236}">
                <a16:creationId xmlns:a16="http://schemas.microsoft.com/office/drawing/2014/main" id="{7CC5A9E5-F684-4423-ADFC-DED6A10E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96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遇到新的访问授权：暂停共享</a:t>
            </a:r>
          </a:p>
        </p:txBody>
      </p:sp>
      <p:sp>
        <p:nvSpPr>
          <p:cNvPr id="18" name="s6-pause-detail">
            <a:extLst xmlns:a="http://schemas.openxmlformats.org/drawingml/2006/main">
              <a:ext uri="{FF2B5EF4-FFF2-40B4-BE49-F238E27FC236}">
                <a16:creationId xmlns:a16="http://schemas.microsoft.com/office/drawing/2014/main" id="{15CE5C26-6DDC-4754-AA5F-7F84C042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由负责人处理授权后再继续；授权不是流程中的默认通行证。</a:t>
            </a:r>
          </a:p>
        </p:txBody>
      </p:sp>
      <p:sp>
        <p:nvSpPr>
          <p:cNvPr id="1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005780E-490A-4CE4-B47D-B74B063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20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B2EE5246-3840-4ED0-98BD-B893E5C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2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895B306-095A-4871-8C4A-3EF2320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7566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7">
            <a:extLst xmlns:a="http://schemas.openxmlformats.org/drawingml/2006/main">
              <a:ext uri="{FF2B5EF4-FFF2-40B4-BE49-F238E27FC236}">
                <a16:creationId xmlns:a16="http://schemas.microsoft.com/office/drawing/2014/main" id="{61163ABD-70DE-470E-9CFD-E2268F92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四周试点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656FDB6-1C31-4E5C-961A-16C70A62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试点范围小而明确，四周用来观察缺项与填写负担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5D82AB6A-B595-499B-83D1-71491629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7-scope-node">
            <a:extLst xmlns:a="http://schemas.openxmlformats.org/drawingml/2006/main">
              <a:ext uri="{FF2B5EF4-FFF2-40B4-BE49-F238E27FC236}">
                <a16:creationId xmlns:a16="http://schemas.microsoft.com/office/drawing/2014/main" id="{ADD77940-6D1C-4701-940A-0F28CAF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933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 个课题方向  ·  2 名自愿成员  ·  记录新增实验</a:t>
            </a:r>
          </a:p>
        </p:txBody>
      </p:sp>
      <p:sp>
        <p:nvSpPr>
          <p:cNvPr id="5" name="s7-w1-node">
            <a:extLst xmlns:a="http://schemas.openxmlformats.org/drawingml/2006/main">
              <a:ext uri="{FF2B5EF4-FFF2-40B4-BE49-F238E27FC236}">
                <a16:creationId xmlns:a16="http://schemas.microsoft.com/office/drawing/2014/main" id="{4AFF79A1-EE2B-48E9-80C6-607C0997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161925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1 周</a:t>
            </a:r>
          </a:p>
        </p:txBody>
      </p:sp>
      <p:sp>
        <p:nvSpPr>
          <p:cNvPr id="6" name="s7-w1-node-detail">
            <a:extLst xmlns:a="http://schemas.openxmlformats.org/drawingml/2006/main">
              <a:ext uri="{FF2B5EF4-FFF2-40B4-BE49-F238E27FC236}">
                <a16:creationId xmlns:a16="http://schemas.microsoft.com/office/drawing/2014/main" id="{324E5A9B-5504-447F-A0EF-1A2D6B90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明确最少字段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一个结果试填</a:t>
            </a:r>
          </a:p>
        </p:txBody>
      </p:sp>
      <p:sp>
        <p:nvSpPr>
          <p:cNvPr id="7" name="s7-w23-node">
            <a:extLst xmlns:a="http://schemas.openxmlformats.org/drawingml/2006/main">
              <a:ext uri="{FF2B5EF4-FFF2-40B4-BE49-F238E27FC236}">
                <a16:creationId xmlns:a16="http://schemas.microsoft.com/office/drawing/2014/main" id="{60024865-3AD6-45AA-973F-5C8423B7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9875"/>
            <a:ext cx="161925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2—3 周</a:t>
            </a:r>
          </a:p>
        </p:txBody>
      </p:sp>
      <p:sp>
        <p:nvSpPr>
          <p:cNvPr id="8" name="s7-w23-node-detail">
            <a:extLst xmlns:a="http://schemas.openxmlformats.org/drawingml/2006/main">
              <a:ext uri="{FF2B5EF4-FFF2-40B4-BE49-F238E27FC236}">
                <a16:creationId xmlns:a16="http://schemas.microsoft.com/office/drawing/2014/main" id="{7B40FFDB-C444-46BA-9817-1BF44A7F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实际记录缺项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与填写负担</a:t>
            </a:r>
          </a:p>
        </p:txBody>
      </p:sp>
      <p:sp>
        <p:nvSpPr>
          <p:cNvPr id="9" name="s7-w4-node">
            <a:extLst xmlns:a="http://schemas.openxmlformats.org/drawingml/2006/main">
              <a:ext uri="{FF2B5EF4-FFF2-40B4-BE49-F238E27FC236}">
                <a16:creationId xmlns:a16="http://schemas.microsoft.com/office/drawing/2014/main" id="{B0BF8300-0888-4785-A2E2-9D9BA98C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161925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14288">
            <a:solidFill>
              <a:srgbClr val="24486E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4 周</a:t>
            </a:r>
          </a:p>
        </p:txBody>
      </p:sp>
      <p:sp>
        <p:nvSpPr>
          <p:cNvPr id="10" name="s7-w4-node-detail">
            <a:extLst xmlns:a="http://schemas.openxmlformats.org/drawingml/2006/main">
              <a:ext uri="{FF2B5EF4-FFF2-40B4-BE49-F238E27FC236}">
                <a16:creationId xmlns:a16="http://schemas.microsoft.com/office/drawing/2014/main" id="{4767A561-421A-408E-9F32-7DAC293E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00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讨论保留、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修改或停止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86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E8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91250" y="3286125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9E8"/>
            </a:solidFill>
            <a:prstDash val="solid"/>
            <a:tailEnd type="arrow" w="sm" len="sm"/>
          </a:ln>
        </p:spPr>
      </p:cxnSp>
      <p:sp>
        <p:nvSpPr>
          <p:cNvPr id="13" name="s7-boundary-band">
            <a:extLst xmlns:a="http://schemas.openxmlformats.org/drawingml/2006/main">
              <a:ext uri="{FF2B5EF4-FFF2-40B4-BE49-F238E27FC236}">
                <a16:creationId xmlns:a16="http://schemas.microsoft.com/office/drawing/2014/main" id="{EC96B9CA-8FB6-4F3E-858E-ACF29BE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solidFill>
              <a:srgbClr val="EAF1F8"/>
            </a:solidFill>
            <a:prstDash val="solid"/>
          </a:ln>
        </p:spPr>
      </p:sp>
      <p:sp>
        <p:nvSpPr>
          <p:cNvPr id="14" name="s7-boundary-text">
            <a:extLst xmlns:a="http://schemas.openxmlformats.org/drawingml/2006/main">
              <a:ext uri="{FF2B5EF4-FFF2-40B4-BE49-F238E27FC236}">
                <a16:creationId xmlns:a16="http://schemas.microsoft.com/office/drawing/2014/main" id="{9CE1C932-4421-4205-806B-E7D1A6D2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4486E"/>
                </a:solidFill>
              </a:defRPr>
            </a:pPr>
            <a:r>
              <a:rPr sz="1350" b="1" i="0">
                <a:solidFill>
                  <a:srgbClr val="24486E"/>
                </a:solidFill>
              </a:rPr>
              <a:t>四周、两人和周次安排都是拟定范围；目前没有实测效率提升或完成率数字。</a:t>
            </a:r>
          </a:p>
        </p:txBody>
      </p:sp>
      <p:sp>
        <p:nvSpPr>
          <p:cNvPr id="1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3DFBE89E-F0A8-4ECE-8A76-65B50BE2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A0A9DBA3-ACED-44C2-AAA5-76AD15D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1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D8DB954-4E6D-4002-9453-624187D2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3968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8">
            <a:extLst xmlns:a="http://schemas.openxmlformats.org/drawingml/2006/main">
              <a:ext uri="{FF2B5EF4-FFF2-40B4-BE49-F238E27FC236}">
                <a16:creationId xmlns:a16="http://schemas.microsoft.com/office/drawing/2014/main" id="{0CF55336-67AE-4644-83CF-0DDA840C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5F91"/>
                </a:solidFill>
              </a:defRPr>
            </a:pPr>
            <a:r>
              <a:rPr sz="1200" b="1" i="0">
                <a:solidFill>
                  <a:srgbClr val="315F91"/>
                </a:solidFill>
              </a:rPr>
              <a:t>评估与下一步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BE7BBF6-A63B-4085-9CDB-2F806BAC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 i="0">
                <a:solidFill>
                  <a:srgbClr val="252B33"/>
                </a:solidFill>
              </a:defRPr>
            </a:pPr>
            <a:r>
              <a:rPr sz="2400" b="1" i="0">
                <a:solidFill>
                  <a:srgbClr val="252B33"/>
                </a:solidFill>
              </a:rPr>
              <a:t>用三类问题决定保留、修改，还是停止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59432742-0DED-4F9D-9E1D-152EC0FA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s8-lead">
            <a:extLst xmlns:a="http://schemas.openxmlformats.org/drawingml/2006/main">
              <a:ext uri="{FF2B5EF4-FFF2-40B4-BE49-F238E27FC236}">
                <a16:creationId xmlns:a16="http://schemas.microsoft.com/office/drawing/2014/main" id="{F3F2CEF8-6DDF-458E-88DE-FB6E11B5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4486E"/>
                </a:solidFill>
              </a:defRPr>
            </a:pPr>
            <a:r>
              <a:rPr sz="1500" b="1" i="0">
                <a:solidFill>
                  <a:srgbClr val="24486E"/>
                </a:solidFill>
              </a:rPr>
              <a:t>先收集具体复核过程和成员反馈，不先设一个统一“合格分数”。</a:t>
            </a:r>
          </a:p>
        </p:txBody>
      </p:sp>
      <p:sp>
        <p:nvSpPr>
          <p:cNvPr id="5" name="s8-eval-frame">
            <a:extLst xmlns:a="http://schemas.openxmlformats.org/drawingml/2006/main">
              <a:ext uri="{FF2B5EF4-FFF2-40B4-BE49-F238E27FC236}">
                <a16:creationId xmlns:a16="http://schemas.microsoft.com/office/drawing/2014/main" id="{A2042FAE-F18B-4844-8FF5-42443B8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C9D9E8"/>
            </a:solidFill>
            <a:prstDash val="solid"/>
          </a:ln>
        </p:spPr>
      </p:sp>
      <p:sp>
        <p:nvSpPr>
          <p:cNvPr id="6" name="s8-eval-title">
            <a:extLst xmlns:a="http://schemas.openxmlformats.org/drawingml/2006/main">
              <a:ext uri="{FF2B5EF4-FFF2-40B4-BE49-F238E27FC236}">
                <a16:creationId xmlns:a16="http://schemas.microsoft.com/office/drawing/2014/main" id="{5C9A359C-87E9-4D41-BAAF-492884E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4486E"/>
                </a:solidFill>
              </a:defRPr>
            </a:pPr>
            <a:r>
              <a:rPr sz="1800" b="1" i="0">
                <a:solidFill>
                  <a:srgbClr val="24486E"/>
                </a:solidFill>
              </a:rPr>
              <a:t>三个评估问题</a:t>
            </a:r>
          </a:p>
        </p:txBody>
      </p:sp>
      <p:sp>
        <p:nvSpPr>
          <p:cNvPr id="7" name="s8-eval-items">
            <a:extLst xmlns:a="http://schemas.openxmlformats.org/drawingml/2006/main">
              <a:ext uri="{FF2B5EF4-FFF2-40B4-BE49-F238E27FC236}">
                <a16:creationId xmlns:a16="http://schemas.microsoft.com/office/drawing/2014/main" id="{4F0C326A-C8F9-4420-9C79-A67BB8C2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01  能否沿记录定位结果来源？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02  关键处理与排除是否有可理解依据？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 i="0">
                <a:solidFill>
                  <a:srgbClr val="252B33"/>
                </a:solidFill>
              </a:defRPr>
            </a:pPr>
            <a:r>
              <a:rPr sz="1425" b="0" i="0">
                <a:solidFill>
                  <a:srgbClr val="252B33"/>
                </a:solidFill>
              </a:rPr>
              <a:t>03  记录负担是否在成员愿意持续承担范围？</a:t>
            </a:r>
          </a:p>
        </p:txBody>
      </p:sp>
      <p:sp>
        <p:nvSpPr>
          <p:cNvPr id="8" name="s8-failure">
            <a:extLst xmlns:a="http://schemas.openxmlformats.org/drawingml/2006/main">
              <a:ext uri="{FF2B5EF4-FFF2-40B4-BE49-F238E27FC236}">
                <a16:creationId xmlns:a16="http://schemas.microsoft.com/office/drawing/2014/main" id="{B1A64313-6DF1-4D81-B22C-E1ED9A29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24486E"/>
                </a:solidFill>
              </a:defRPr>
            </a:pPr>
            <a:r>
              <a:rPr sz="1200" b="1" i="0">
                <a:solidFill>
                  <a:srgbClr val="24486E"/>
                </a:solidFill>
              </a:rPr>
              <a:t>字段填满仍找不到脚本版本，也不算追溯问题已解决。</a:t>
            </a:r>
          </a:p>
        </p:txBody>
      </p:sp>
      <p:sp>
        <p:nvSpPr>
          <p:cNvPr id="9" name="s8-gate-frame">
            <a:extLst xmlns:a="http://schemas.openxmlformats.org/drawingml/2006/main">
              <a:ext uri="{FF2B5EF4-FFF2-40B4-BE49-F238E27FC236}">
                <a16:creationId xmlns:a16="http://schemas.microsoft.com/office/drawing/2014/main" id="{A63EFF37-D3A1-4C2C-A0F5-C19D6C5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</p:sp>
      <p:sp>
        <p:nvSpPr>
          <p:cNvPr id="10" name="s8-gate-title">
            <a:extLst xmlns:a="http://schemas.openxmlformats.org/drawingml/2006/main">
              <a:ext uri="{FF2B5EF4-FFF2-40B4-BE49-F238E27FC236}">
                <a16:creationId xmlns:a16="http://schemas.microsoft.com/office/drawing/2014/main" id="{772FEA3E-AFE3-4CBB-95B1-DC6A016C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4486E"/>
                </a:solidFill>
              </a:defRPr>
            </a:pPr>
            <a:r>
              <a:rPr sz="1800" b="1" i="0">
                <a:solidFill>
                  <a:srgbClr val="24486E"/>
                </a:solidFill>
              </a:rPr>
              <a:t>开始前确认</a:t>
            </a:r>
          </a:p>
        </p:txBody>
      </p:sp>
      <p:sp>
        <p:nvSpPr>
          <p:cNvPr id="11" name="s8-start">
            <a:extLst xmlns:a="http://schemas.openxmlformats.org/drawingml/2006/main">
              <a:ext uri="{FF2B5EF4-FFF2-40B4-BE49-F238E27FC236}">
                <a16:creationId xmlns:a16="http://schemas.microsoft.com/office/drawing/2014/main" id="{268FA73C-5D81-42B0-BCB5-AFBFEF7C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负责人：确认范围与授权联系人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成员：认可最少字段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252B33"/>
                </a:solidFill>
              </a:defRPr>
            </a:pPr>
            <a:r>
              <a:rPr sz="1350" b="0" i="0">
                <a:solidFill>
                  <a:srgbClr val="252B33"/>
                </a:solidFill>
              </a:rPr>
              <a:t>共同：确定谁负责复核</a:t>
            </a:r>
          </a:p>
        </p:txBody>
      </p:sp>
      <p:sp>
        <p:nvSpPr>
          <p:cNvPr id="12" name="s8-stop-title">
            <a:extLst xmlns:a="http://schemas.openxmlformats.org/drawingml/2006/main">
              <a:ext uri="{FF2B5EF4-FFF2-40B4-BE49-F238E27FC236}">
                <a16:creationId xmlns:a16="http://schemas.microsoft.com/office/drawing/2014/main" id="{CF78E451-5172-435D-82B2-95EC9B9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486E"/>
                </a:solidFill>
              </a:defRPr>
            </a:pPr>
            <a:r>
              <a:rPr sz="1350" b="1" i="0">
                <a:solidFill>
                  <a:srgbClr val="24486E"/>
                </a:solidFill>
              </a:rPr>
              <a:t>出现这些信号，就先缩小要求或停止</a:t>
            </a:r>
          </a:p>
        </p:txBody>
      </p:sp>
      <p:sp>
        <p:nvSpPr>
          <p:cNvPr id="13" name="s8-stop">
            <a:extLst xmlns:a="http://schemas.openxmlformats.org/drawingml/2006/main">
              <a:ext uri="{FF2B5EF4-FFF2-40B4-BE49-F238E27FC236}">
                <a16:creationId xmlns:a16="http://schemas.microsoft.com/office/drawing/2014/main" id="{BBDB3368-5A06-4EA9-98A0-9E809BF1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291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填写持续挤占实验时间；权限边界无法说明；重复抄写却没有帮助解释结果。</a:t>
            </a:r>
          </a:p>
        </p:txBody>
      </p:sp>
      <p:sp>
        <p:nvSpPr>
          <p:cNvPr id="14" name="s8-close-band">
            <a:extLst xmlns:a="http://schemas.openxmlformats.org/drawingml/2006/main">
              <a:ext uri="{FF2B5EF4-FFF2-40B4-BE49-F238E27FC236}">
                <a16:creationId xmlns:a16="http://schemas.microsoft.com/office/drawing/2014/main" id="{4B67F4D9-2D89-4F38-88CD-295596BC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76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5" name="s8-close">
            <a:extLst xmlns:a="http://schemas.openxmlformats.org/drawingml/2006/main">
              <a:ext uri="{FF2B5EF4-FFF2-40B4-BE49-F238E27FC236}">
                <a16:creationId xmlns:a16="http://schemas.microsoft.com/office/drawing/2014/main" id="{12D6FCF8-2AD4-4419-9417-D5CF285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有限尝试：先让一次结果可理解，再决定哪些记录值得长期保存。</a:t>
            </a:r>
          </a:p>
        </p:txBody>
      </p:sp>
      <p:sp>
        <p:nvSpPr>
          <p:cNvPr id="16" name="s8-tool-boundary">
            <a:extLst xmlns:a="http://schemas.openxmlformats.org/drawingml/2006/main">
              <a:ext uri="{FF2B5EF4-FFF2-40B4-BE49-F238E27FC236}">
                <a16:creationId xmlns:a16="http://schemas.microsoft.com/office/drawing/2014/main" id="{41804C76-30BA-4EF5-87F6-76403AE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707780"/>
                </a:solidFill>
              </a:defRPr>
            </a:pPr>
            <a:r>
              <a:rPr sz="1200" b="0" i="0">
                <a:solidFill>
                  <a:srgbClr val="707780"/>
                </a:solidFill>
              </a:rPr>
              <a:t>归档工具只是承载方式；这次试点验证的是结果、依据与责任边界的联系。</a:t>
            </a:r>
          </a:p>
        </p:txBody>
      </p:sp>
      <p:sp>
        <p:nvSpPr>
          <p:cNvPr id="17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D56C7E08-6D80-487B-915F-2C77C18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8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8146AE7-5590-4740-8BFC-D2D24A8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实验数据归档｜方案讨论稿</a:t>
            </a:r>
          </a:p>
        </p:txBody>
      </p:sp>
      <p:sp>
        <p:nvSpPr>
          <p:cNvPr id="19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1FA7800-8668-4C97-A4CA-170D8CE7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707780"/>
                </a:solidFill>
              </a:defRPr>
            </a:pPr>
            <a:r>
              <a:rPr sz="1050" b="0" i="0">
                <a:solidFill>
                  <a:srgbClr val="7077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1623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2026-09-06T02:41:28.9380000Z</dcterms:created>
  <dcterms:modified xsi:type="dcterms:W3CDTF">2026-09-06T02:41:28.9380000Z</dcterms:modified>
</coreProperties>
</file>