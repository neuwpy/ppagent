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aff8fae16a46aa" /><Relationship Type="http://schemas.openxmlformats.org/officeDocument/2006/relationships/extended-properties" Target="/docProps/app.xml" Id="R1773af0c521d400c" /><Relationship Type="http://schemas.openxmlformats.org/officeDocument/2006/relationships/officeDocument" Target="/ppt/presentation.xml" Id="Rac2274de12b744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f6c24427e14ab3"/>
  </p:sldMasterIdLst>
  <p:notesMasterIdLst>
    <p:notesMasterId xmlns:r="http://schemas.openxmlformats.org/officeDocument/2006/relationships" r:id="R74f9d5da79c04f34"/>
  </p:notesMasterIdLst>
  <p:sldIdLst>
    <p:sldId xmlns:r="http://schemas.openxmlformats.org/officeDocument/2006/relationships" id="256" r:id="Rc0c178ecf0084f52"/>
    <p:sldId xmlns:r="http://schemas.openxmlformats.org/officeDocument/2006/relationships" id="257" r:id="R894bd623f1b64400"/>
    <p:sldId xmlns:r="http://schemas.openxmlformats.org/officeDocument/2006/relationships" id="258" r:id="R03861c8d10fe4dac"/>
    <p:sldId xmlns:r="http://schemas.openxmlformats.org/officeDocument/2006/relationships" id="259" r:id="R897fa820f8774812"/>
    <p:sldId xmlns:r="http://schemas.openxmlformats.org/officeDocument/2006/relationships" id="260" r:id="R9dec1dfbd3c347c8"/>
    <p:sldId xmlns:r="http://schemas.openxmlformats.org/officeDocument/2006/relationships" id="261" r:id="Re0e09c163a9f42eb"/>
    <p:sldId xmlns:r="http://schemas.openxmlformats.org/officeDocument/2006/relationships" id="262" r:id="R08eb530ee8934eee"/>
    <p:sldId xmlns:r="http://schemas.openxmlformats.org/officeDocument/2006/relationships" id="263" r:id="R476cdb0d81f04dcb"/>
    <p:sldId xmlns:r="http://schemas.openxmlformats.org/officeDocument/2006/relationships" id="264" r:id="R0ce989ee25604032"/>
    <p:sldId xmlns:r="http://schemas.openxmlformats.org/officeDocument/2006/relationships" id="265" r:id="R2ebf5554130d426f"/>
    <p:sldId xmlns:r="http://schemas.openxmlformats.org/officeDocument/2006/relationships" id="266" r:id="R860a30b51c3140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13d54271bb4154" /><Relationship Type="http://schemas.openxmlformats.org/officeDocument/2006/relationships/slideMaster" Target="/ppt/slideMasters/slideMaster1.xml" Id="R6ff6c24427e14ab3" /><Relationship Type="http://schemas.openxmlformats.org/officeDocument/2006/relationships/notesMaster" Target="/ppt/notesMasters/notesMaster1.xml" Id="R74f9d5da79c04f34" /><Relationship Type="http://schemas.openxmlformats.org/officeDocument/2006/relationships/presProps" Target="/ppt/presProps.xml" Id="R34768f458c3341bd" /><Relationship Type="http://schemas.openxmlformats.org/officeDocument/2006/relationships/tableStyles" Target="/ppt/tableStyles.xml" Id="Rd45eb665c0404e42" /><Relationship Type="http://schemas.openxmlformats.org/officeDocument/2006/relationships/slide" Target="/ppt/slides/slide1.xml" Id="Rc0c178ecf0084f52" /><Relationship Type="http://schemas.openxmlformats.org/officeDocument/2006/relationships/slide" Target="/ppt/slides/slide2.xml" Id="R894bd623f1b64400" /><Relationship Type="http://schemas.openxmlformats.org/officeDocument/2006/relationships/slide" Target="/ppt/slides/slide3.xml" Id="R03861c8d10fe4dac" /><Relationship Type="http://schemas.openxmlformats.org/officeDocument/2006/relationships/slide" Target="/ppt/slides/slide4.xml" Id="R897fa820f8774812" /><Relationship Type="http://schemas.openxmlformats.org/officeDocument/2006/relationships/slide" Target="/ppt/slides/slide5.xml" Id="R9dec1dfbd3c347c8" /><Relationship Type="http://schemas.openxmlformats.org/officeDocument/2006/relationships/slide" Target="/ppt/slides/slide6.xml" Id="Re0e09c163a9f42eb" /><Relationship Type="http://schemas.openxmlformats.org/officeDocument/2006/relationships/slide" Target="/ppt/slides/slide7.xml" Id="R08eb530ee8934eee" /><Relationship Type="http://schemas.openxmlformats.org/officeDocument/2006/relationships/slide" Target="/ppt/slides/slide8.xml" Id="R476cdb0d81f04dcb" /><Relationship Type="http://schemas.openxmlformats.org/officeDocument/2006/relationships/slide" Target="/ppt/slides/slide9.xml" Id="R0ce989ee25604032" /><Relationship Type="http://schemas.openxmlformats.org/officeDocument/2006/relationships/slide" Target="/ppt/slides/slide10.xml" Id="R2ebf5554130d426f" /><Relationship Type="http://schemas.openxmlformats.org/officeDocument/2006/relationships/slide" Target="/ppt/slides/slide11.xml" Id="R860a30b51c3140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7da625192448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d042e539074145" /><Relationship Type="http://schemas.openxmlformats.org/officeDocument/2006/relationships/notesMaster" Target="/ppt/notesMasters/notesMaster1.xml" Id="R4e0a3b0d7f3e4f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d24e6df5f540f6" /><Relationship Type="http://schemas.openxmlformats.org/officeDocument/2006/relationships/notesMaster" Target="/ppt/notesMasters/notesMaster1.xml" Id="R8d59464c0f17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1a18d929234cc1" /><Relationship Type="http://schemas.openxmlformats.org/officeDocument/2006/relationships/notesMaster" Target="/ppt/notesMasters/notesMaster1.xml" Id="R48db3b9f23a24a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bab49081f64b37" /><Relationship Type="http://schemas.openxmlformats.org/officeDocument/2006/relationships/notesMaster" Target="/ppt/notesMasters/notesMaster1.xml" Id="R06b42b02a82745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1f543f4bb24e2a" /><Relationship Type="http://schemas.openxmlformats.org/officeDocument/2006/relationships/notesMaster" Target="/ppt/notesMasters/notesMaster1.xml" Id="R59c605904a654f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1455b3d93b4520" /><Relationship Type="http://schemas.openxmlformats.org/officeDocument/2006/relationships/notesMaster" Target="/ppt/notesMasters/notesMaster1.xml" Id="R843ed48ce12344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a859295f384730" /><Relationship Type="http://schemas.openxmlformats.org/officeDocument/2006/relationships/notesMaster" Target="/ppt/notesMasters/notesMaster1.xml" Id="Rf82aec62ce6243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491acb300f4cce" /><Relationship Type="http://schemas.openxmlformats.org/officeDocument/2006/relationships/notesMaster" Target="/ppt/notesMasters/notesMaster1.xml" Id="R6c235019498145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eb2dbbe69f4a79" /><Relationship Type="http://schemas.openxmlformats.org/officeDocument/2006/relationships/notesMaster" Target="/ppt/notesMasters/notesMaster1.xml" Id="R8ea95e29dd5f4a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3a1a706b5e45f5" /><Relationship Type="http://schemas.openxmlformats.org/officeDocument/2006/relationships/notesMaster" Target="/ppt/notesMasters/notesMaster1.xml" Id="R400e104bd85d40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0f4b22f355401b" /><Relationship Type="http://schemas.openxmlformats.org/officeDocument/2006/relationships/notesMaster" Target="/ppt/notesMasters/notesMaster1.xml" Id="R3bc7affcee404b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本页内容来自《PPagenT 产品叙事：把 PPT 生成变成可靠的生产过程》（inputs/product.txt），第 1 页为原稿观点的结构化编排。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本页内容来自《PPagenT 产品叙事：把 PPT 生成变成可靠的生产过程》（inputs/product.txt），第 2 页为原稿观点的结构化编排。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本页内容来自《PPagenT 产品叙事：把 PPT 生成变成可靠的生产过程》（inputs/product.txt），第 3 页为原稿观点的结构化编排。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本页内容来自《PPagenT 产品叙事：把 PPT 生成变成可靠的生产过程》（inputs/product.txt），第 4 页为原稿观点的结构化编排。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本页内容来自《PPagenT 产品叙事：把 PPT 生成变成可靠的生产过程》（inputs/product.txt），第 5 页为原稿观点的结构化编排。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本页内容来自《PPagenT 产品叙事：把 PPT 生成变成可靠的生产过程》（inputs/product.txt），第 6 页为原稿观点的结构化编排。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本页内容来自《PPagenT 产品叙事：把 PPT 生成变成可靠的生产过程》（inputs/product.txt），第 7 页为原稿观点的结构化编排。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本页内容来自《PPagenT 产品叙事：把 PPT 生成变成可靠的生产过程》（inputs/product.txt），第 8 页为原稿观点的结构化编排。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本页内容来自《PPagenT 产品叙事：把 PPT 生成变成可靠的生产过程》（inputs/product.txt），第 9 页为原稿观点的结构化编排。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本页内容来自《PPagenT 产品叙事：把 PPT 生成变成可靠的生产过程》（inputs/product.txt），第 10 页为原稿观点的结构化编排。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本页内容来自《PPagenT 产品叙事：把 PPT 生成变成可靠的生产过程》（inputs/product.txt），第 11 页为原稿观点的结构化编排。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4f88d469745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745c6feabb48e5" /><Relationship Type="http://schemas.openxmlformats.org/officeDocument/2006/relationships/slideLayout" Target="/ppt/slideLayouts/slideLayout1.xml" Id="Rf8b0d736365349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b0d736365349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414de181c4284" /><Relationship Type="http://schemas.openxmlformats.org/officeDocument/2006/relationships/notesSlide" Target="/ppt/notesSlides/notesSlide1.xml" Id="R58c4e6672d894b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17c041d7e4bda" /><Relationship Type="http://schemas.openxmlformats.org/officeDocument/2006/relationships/notesSlide" Target="/ppt/notesSlides/notesSlide2.xml" Id="Rabb4ced4b01642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c52cb0b794d49" /><Relationship Type="http://schemas.openxmlformats.org/officeDocument/2006/relationships/notesSlide" Target="/ppt/notesSlides/notesSlide3.xml" Id="R0aa08a0cfa7f45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d9d86c11c4d1c" /><Relationship Type="http://schemas.openxmlformats.org/officeDocument/2006/relationships/notesSlide" Target="/ppt/notesSlides/notesSlide4.xml" Id="Rda5d240fa33a49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ad64a22a44315" /><Relationship Type="http://schemas.openxmlformats.org/officeDocument/2006/relationships/notesSlide" Target="/ppt/notesSlides/notesSlide5.xml" Id="Rcb5b24d7d7dd49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88ac163944f4c" /><Relationship Type="http://schemas.openxmlformats.org/officeDocument/2006/relationships/notesSlide" Target="/ppt/notesSlides/notesSlide6.xml" Id="R0b26778a79d144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d7110c2104c0b" /><Relationship Type="http://schemas.openxmlformats.org/officeDocument/2006/relationships/notesSlide" Target="/ppt/notesSlides/notesSlide7.xml" Id="R1796df325b2347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afc3050374c32" /><Relationship Type="http://schemas.openxmlformats.org/officeDocument/2006/relationships/notesSlide" Target="/ppt/notesSlides/notesSlide8.xml" Id="R53b2d6494f584b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f795384aa4035" /><Relationship Type="http://schemas.openxmlformats.org/officeDocument/2006/relationships/notesSlide" Target="/ppt/notesSlides/notesSlide9.xml" Id="R263a958b59274e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67fcee1284853" /><Relationship Type="http://schemas.openxmlformats.org/officeDocument/2006/relationships/notesSlide" Target="/ppt/notesSlides/notesSlide10.xml" Id="R7ce44c47dc8c40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fe6041fae45f9" /><Relationship Type="http://schemas.openxmlformats.org/officeDocument/2006/relationships/notesSlide" Target="/ppt/notesSlides/notesSlide11.xml" Id="Ra54c54e283b443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76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B1163D7-2556-4F41-9813-3463D64F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PPagenT · 产品叙事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97409B1-5A52-46F1-9240-85883291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 PPT 生成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变成可靠的生产过程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2EFDD7A4-1FBB-4445-B163-C5114E71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DB8D1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54C159-AB76-4412-A776-8CD016D5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让 AI 读懂稿子，让规则做判断，让代码完成重复劳动。</a:t>
            </a:r>
          </a:p>
        </p:txBody>
      </p:sp>
      <p:sp>
        <p:nvSpPr>
          <p:cNvPr id="5" name="cover-anchor">
            <a:extLst xmlns:a="http://schemas.openxmlformats.org/drawingml/2006/main">
              <a:ext uri="{FF2B5EF4-FFF2-40B4-BE49-F238E27FC236}">
                <a16:creationId xmlns:a16="http://schemas.microsoft.com/office/drawing/2014/main" id="{1A67B285-FD70-420D-8B64-158B71B1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52550"/>
            <a:ext cx="2819400" cy="33337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6F93B6"/>
            </a:solidFill>
            <a:prstDash val="solid"/>
          </a:ln>
        </p:spPr>
      </p:sp>
      <p:sp>
        <p:nvSpPr>
          <p:cNvPr id="6" name="cover-anchor-title">
            <a:extLst xmlns:a="http://schemas.openxmlformats.org/drawingml/2006/main">
              <a:ext uri="{FF2B5EF4-FFF2-40B4-BE49-F238E27FC236}">
                <a16:creationId xmlns:a16="http://schemas.microsoft.com/office/drawing/2014/main" id="{6FBFC56E-8680-4471-8ADD-E7140AA9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可靠交付</a:t>
            </a:r>
          </a:p>
        </p:txBody>
      </p:sp>
      <p:sp>
        <p:nvSpPr>
          <p:cNvPr id="7" name="cover-anchor-copy">
            <a:extLst xmlns:a="http://schemas.openxmlformats.org/drawingml/2006/main">
              <a:ext uri="{FF2B5EF4-FFF2-40B4-BE49-F238E27FC236}">
                <a16:creationId xmlns:a16="http://schemas.microsoft.com/office/drawing/2014/main" id="{EA5EF86D-5EF5-4F07-A5F7-F89937DE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不一定惊艳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但靠谱、好用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可以讲，也能改</a:t>
            </a:r>
          </a:p>
        </p:txBody>
      </p:sp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CC50857-C439-4EF9-9939-4920105D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BFD2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FD2E3"/>
                </a:solidFill>
                <a:latin typeface="Microsoft YaHei"/>
                <a:ea typeface="Microsoft YaHei"/>
                <a:cs typeface="Microsoft YaHei"/>
              </a:rPr>
              <a:t>面向不需要 AI 或 PowerPoint 开发背景的读者</a:t>
            </a:r>
          </a:p>
        </p:txBody>
      </p:sp>
    </p:spTree>
    <p:extLst>
      <p:ext uri="{BB962C8B-B14F-4D97-AF65-F5344CB8AC3E}">
        <p14:creationId xmlns:p14="http://schemas.microsoft.com/office/powerpoint/2010/main" val="1263982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2">
            <a:extLst xmlns:a="http://schemas.openxmlformats.org/drawingml/2006/main">
              <a:ext uri="{FF2B5EF4-FFF2-40B4-BE49-F238E27FC236}">
                <a16:creationId xmlns:a16="http://schemas.microsoft.com/office/drawing/2014/main" id="{1968EB37-5D9E-4B4C-BB1F-08812CBA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真正昂贵的，是反复发生的判断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63D19AB9-966F-4BBD-B8E6-B58E5D39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2A4D3E3B-945D-4639-A042-A84AEC92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做 PPT 的成本首先来自叙事、拆页与关系判断。</a:t>
            </a:r>
          </a:p>
        </p:txBody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99FD3AB1-E766-475C-972B-9F8A8224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B692F97F-06F7-43B5-BA1E-B0064A81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problem-main">
            <a:extLst xmlns:a="http://schemas.openxmlformats.org/drawingml/2006/main">
              <a:ext uri="{FF2B5EF4-FFF2-40B4-BE49-F238E27FC236}">
                <a16:creationId xmlns:a16="http://schemas.microsoft.com/office/drawing/2014/main" id="{995C20EE-12CE-4E24-BB72-E816A32A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6572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2447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main-head">
            <a:extLst xmlns:a="http://schemas.openxmlformats.org/drawingml/2006/main">
              <a:ext uri="{FF2B5EF4-FFF2-40B4-BE49-F238E27FC236}">
                <a16:creationId xmlns:a16="http://schemas.microsoft.com/office/drawing/2014/main" id="{90DB088A-B980-420A-A6E9-EA4B7F6D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一套 PPT 要先回答什么？</a:t>
            </a:r>
          </a:p>
        </p:txBody>
      </p:sp>
      <p:sp>
        <p:nvSpPr>
          <p:cNvPr id="8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B4653808-707A-4B4B-9416-A86FA8DE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AFC8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8D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problem-row-0">
            <a:extLst xmlns:a="http://schemas.openxmlformats.org/drawingml/2006/main">
              <a:ext uri="{FF2B5EF4-FFF2-40B4-BE49-F238E27FC236}">
                <a16:creationId xmlns:a16="http://schemas.microsoft.com/office/drawing/2014/main" id="{520900A9-B20D-485A-AD15-FED81D76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62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这场汇报到底怎么讲</a:t>
            </a:r>
          </a:p>
        </p:txBody>
      </p:sp>
      <p:sp>
        <p:nvSpPr>
          <p:cNvPr id="10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1256C0FE-5ED7-4BE2-B104-82CAC486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B9F"/>
            </a:solidFill>
            <a:prstDash val="solid"/>
          </a:ln>
        </p:spPr>
      </p:sp>
      <p:sp>
        <p:nvSpPr>
          <p:cNvPr id="11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102CC4A3-985A-41DE-90EB-8DB29DED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AFC8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8D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problem-row-1">
            <a:extLst xmlns:a="http://schemas.openxmlformats.org/drawingml/2006/main">
              <a:ext uri="{FF2B5EF4-FFF2-40B4-BE49-F238E27FC236}">
                <a16:creationId xmlns:a16="http://schemas.microsoft.com/office/drawing/2014/main" id="{EFF13C03-055F-4E7F-A856-9FD8DA55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长稿应该拆成多少页</a:t>
            </a:r>
          </a:p>
        </p:txBody>
      </p:sp>
      <p:sp>
        <p:nvSpPr>
          <p:cNvPr id="13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A9D6D76F-A47F-4B7D-8933-F6FFA95B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B9F"/>
            </a:solidFill>
            <a:prstDash val="solid"/>
          </a:ln>
        </p:spPr>
      </p:sp>
      <p:sp>
        <p:nvSpPr>
          <p:cNvPr id="14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B7C556EC-B8B3-438B-80AA-BED0EAC2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AFC8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8D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problem-row-2">
            <a:extLst xmlns:a="http://schemas.openxmlformats.org/drawingml/2006/main">
              <a:ext uri="{FF2B5EF4-FFF2-40B4-BE49-F238E27FC236}">
                <a16:creationId xmlns:a16="http://schemas.microsoft.com/office/drawing/2014/main" id="{7FF75C7D-C712-45C2-92E6-C2A33DFA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433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观点是并列、递进、因果还是流程</a:t>
            </a:r>
          </a:p>
        </p:txBody>
      </p:sp>
      <p:sp>
        <p:nvSpPr>
          <p:cNvPr id="16" name="problem-rule-2">
            <a:extLst xmlns:a="http://schemas.openxmlformats.org/drawingml/2006/main">
              <a:ext uri="{FF2B5EF4-FFF2-40B4-BE49-F238E27FC236}">
                <a16:creationId xmlns:a16="http://schemas.microsoft.com/office/drawing/2014/main" id="{C8C71A54-3626-40F2-B60B-B2392BA0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B9F"/>
            </a:solidFill>
            <a:prstDash val="solid"/>
          </a:ln>
        </p:spPr>
      </p:sp>
      <p:sp>
        <p:nvSpPr>
          <p:cNvPr id="17" name="problem-num-3">
            <a:extLst xmlns:a="http://schemas.openxmlformats.org/drawingml/2006/main">
              <a:ext uri="{FF2B5EF4-FFF2-40B4-BE49-F238E27FC236}">
                <a16:creationId xmlns:a16="http://schemas.microsoft.com/office/drawing/2014/main" id="{D48419F4-FCCE-4371-87B3-EBC3974B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AFC8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8D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problem-row-3">
            <a:extLst xmlns:a="http://schemas.openxmlformats.org/drawingml/2006/main">
              <a:ext uri="{FF2B5EF4-FFF2-40B4-BE49-F238E27FC236}">
                <a16:creationId xmlns:a16="http://schemas.microsoft.com/office/drawing/2014/main" id="{D3B19FA9-8A7D-4686-A8BA-9E6FF9E1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哪里突出、什么时候用图</a:t>
            </a:r>
          </a:p>
        </p:txBody>
      </p:sp>
      <p:sp>
        <p:nvSpPr>
          <p:cNvPr id="19" name="problem-rule-3">
            <a:extLst xmlns:a="http://schemas.openxmlformats.org/drawingml/2006/main">
              <a:ext uri="{FF2B5EF4-FFF2-40B4-BE49-F238E27FC236}">
                <a16:creationId xmlns:a16="http://schemas.microsoft.com/office/drawing/2014/main" id="{38A66840-AACB-4B7F-BB30-0864C81D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B9F"/>
            </a:solidFill>
            <a:prstDash val="solid"/>
          </a:ln>
        </p:spPr>
      </p:sp>
      <p:sp>
        <p:nvSpPr>
          <p:cNvPr id="20" name="problem-num-4">
            <a:extLst xmlns:a="http://schemas.openxmlformats.org/drawingml/2006/main">
              <a:ext uri="{FF2B5EF4-FFF2-40B4-BE49-F238E27FC236}">
                <a16:creationId xmlns:a16="http://schemas.microsoft.com/office/drawing/2014/main" id="{2329F26A-FA2C-4014-BE52-B0819BD2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AFC8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8D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problem-row-4">
            <a:extLst xmlns:a="http://schemas.openxmlformats.org/drawingml/2006/main">
              <a:ext uri="{FF2B5EF4-FFF2-40B4-BE49-F238E27FC236}">
                <a16:creationId xmlns:a16="http://schemas.microsoft.com/office/drawing/2014/main" id="{33CADD18-74CF-4D3C-AF5F-E9CCF33B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24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如何统一结构、字体、颜色与间距</a:t>
            </a:r>
          </a:p>
        </p:txBody>
      </p:sp>
      <p:sp>
        <p:nvSpPr>
          <p:cNvPr id="22" name="problem-side">
            <a:extLst xmlns:a="http://schemas.openxmlformats.org/drawingml/2006/main">
              <a:ext uri="{FF2B5EF4-FFF2-40B4-BE49-F238E27FC236}">
                <a16:creationId xmlns:a16="http://schemas.microsoft.com/office/drawing/2014/main" id="{C0EC6CA1-0A3D-4F36-82CB-5D186FBF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143375" cy="4476750"/>
          </a:xfrm>
          <a:prstGeom xmlns:a="http://schemas.openxmlformats.org/drawingml/2006/main" prst="roundRect">
            <a:avLst>
              <a:gd name="adj" fmla="val 183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3" name="problem-side-kicker">
            <a:extLst xmlns:a="http://schemas.openxmlformats.org/drawingml/2006/main">
              <a:ext uri="{FF2B5EF4-FFF2-40B4-BE49-F238E27FC236}">
                <a16:creationId xmlns:a16="http://schemas.microsoft.com/office/drawing/2014/main" id="{E7CBC250-02C4-4EE3-ABEE-8338B7A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52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真正费时间的不是“画”</a:t>
            </a:r>
          </a:p>
        </p:txBody>
      </p:sp>
      <p:sp>
        <p:nvSpPr>
          <p:cNvPr id="24" name="problem-side-quote">
            <a:extLst xmlns:a="http://schemas.openxmlformats.org/drawingml/2006/main">
              <a:ext uri="{FF2B5EF4-FFF2-40B4-BE49-F238E27FC236}">
                <a16:creationId xmlns:a16="http://schemas.microsoft.com/office/drawing/2014/main" id="{02B64F27-A14F-4B41-8C35-8CD85B10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86000"/>
            <a:ext cx="352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“高手已经知道怎样做得好，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为什么每次还要重做？”</a:t>
            </a:r>
          </a:p>
        </p:txBody>
      </p:sp>
      <p:sp>
        <p:nvSpPr>
          <p:cNvPr id="25" name="problem-side-note">
            <a:extLst xmlns:a="http://schemas.openxmlformats.org/drawingml/2006/main">
              <a:ext uri="{FF2B5EF4-FFF2-40B4-BE49-F238E27FC236}">
                <a16:creationId xmlns:a16="http://schemas.microsoft.com/office/drawing/2014/main" id="{5C548CA1-B87F-4962-8350-EF06B695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386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高手脑子里积累的是一套答案：内容怎样组织，关系怎样表达，版式怎样稳定复用。</a:t>
            </a:r>
          </a:p>
        </p:txBody>
      </p:sp>
    </p:spTree>
    <p:extLst>
      <p:ext uri="{BB962C8B-B14F-4D97-AF65-F5344CB8AC3E}">
        <p14:creationId xmlns:p14="http://schemas.microsoft.com/office/powerpoint/2010/main" val="1784522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3">
            <a:extLst xmlns:a="http://schemas.openxmlformats.org/drawingml/2006/main">
              <a:ext uri="{FF2B5EF4-FFF2-40B4-BE49-F238E27FC236}">
                <a16:creationId xmlns:a16="http://schemas.microsoft.com/office/drawing/2014/main" id="{63716C6F-9408-4FDE-952B-C61FA4BC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先服务最适合标准化的工作型 PPT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587AE569-0EAE-4DCF-A3A9-38E931A3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D498101E-7A18-4282-9A74-3EB475EF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选择高概率、重复发生、需要规范与可修改的场景。</a:t>
            </a:r>
          </a:p>
        </p:txBody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D5265D9A-5104-4F85-A22F-C2ED0D96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2684F69E-D748-4F9C-9631-A4F52BD4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-card">
            <a:extLst xmlns:a="http://schemas.openxmlformats.org/drawingml/2006/main">
              <a:ext uri="{FF2B5EF4-FFF2-40B4-BE49-F238E27FC236}">
                <a16:creationId xmlns:a16="http://schemas.microsoft.com/office/drawing/2014/main" id="{D833B55F-6076-4626-84AC-D9A3D97E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2447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-label">
            <a:extLst xmlns:a="http://schemas.openxmlformats.org/drawingml/2006/main">
              <a:ext uri="{FF2B5EF4-FFF2-40B4-BE49-F238E27FC236}">
                <a16:creationId xmlns:a16="http://schemas.microsoft.com/office/drawing/2014/main" id="{2CDB78AB-BBEC-400C-9D01-40FC6D77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BFD2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FD2E3"/>
                </a:solidFill>
                <a:latin typeface="Microsoft YaHei"/>
                <a:ea typeface="Microsoft YaHei"/>
                <a:cs typeface="Microsoft YaHei"/>
              </a:rPr>
              <a:t>产品可靠度</a:t>
            </a:r>
          </a:p>
        </p:txBody>
      </p:sp>
      <p:sp>
        <p:nvSpPr>
          <p:cNvPr id="8" name="r-formula">
            <a:extLst xmlns:a="http://schemas.openxmlformats.org/drawingml/2006/main">
              <a:ext uri="{FF2B5EF4-FFF2-40B4-BE49-F238E27FC236}">
                <a16:creationId xmlns:a16="http://schemas.microsoft.com/office/drawing/2014/main" id="{6E469AA2-D93E-4D87-8780-5C5BE409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 = P(Q ≥ Q可用 |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目标工作场景)</a:t>
            </a:r>
          </a:p>
        </p:txBody>
      </p:sp>
      <p:sp>
        <p:nvSpPr>
          <p:cNvPr id="9" name="r-explain">
            <a:extLst xmlns:a="http://schemas.openxmlformats.org/drawingml/2006/main">
              <a:ext uri="{FF2B5EF4-FFF2-40B4-BE49-F238E27FC236}">
                <a16:creationId xmlns:a16="http://schemas.microsoft.com/office/drawing/2014/main" id="{516515F4-DE80-4566-B9A0-38FB6C11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857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追求生成结果稳定达到“可以直接拿去讲”的最低标准。</a:t>
            </a:r>
          </a:p>
        </p:txBody>
      </p:sp>
      <p:sp>
        <p:nvSpPr>
          <p:cNvPr id="10" name="market-title">
            <a:extLst xmlns:a="http://schemas.openxmlformats.org/drawingml/2006/main">
              <a:ext uri="{FF2B5EF4-FFF2-40B4-BE49-F238E27FC236}">
                <a16:creationId xmlns:a16="http://schemas.microsoft.com/office/drawing/2014/main" id="{BEE9A38D-BE04-4AA9-A143-192DA7B3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049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需求分布不是平均的</a:t>
            </a:r>
          </a:p>
        </p:txBody>
      </p:sp>
      <p:sp>
        <p:nvSpPr>
          <p:cNvPr id="11" name="market-axis">
            <a:extLst xmlns:a="http://schemas.openxmlformats.org/drawingml/2006/main">
              <a:ext uri="{FF2B5EF4-FFF2-40B4-BE49-F238E27FC236}">
                <a16:creationId xmlns:a16="http://schemas.microsoft.com/office/drawing/2014/main" id="{5E84E4D2-E455-4ED5-8124-BEC4AC36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86AD"/>
            </a:solidFill>
            <a:prstDash val="solid"/>
          </a:ln>
        </p:spPr>
      </p:sp>
      <p:sp>
        <p:nvSpPr>
          <p:cNvPr id="12" name="market-left">
            <a:extLst xmlns:a="http://schemas.openxmlformats.org/drawingml/2006/main">
              <a:ext uri="{FF2B5EF4-FFF2-40B4-BE49-F238E27FC236}">
                <a16:creationId xmlns:a16="http://schemas.microsoft.com/office/drawing/2014/main" id="{99008357-2C40-4C06-A2F3-9E47191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104775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rket-mid">
            <a:extLst xmlns:a="http://schemas.openxmlformats.org/drawingml/2006/main">
              <a:ext uri="{FF2B5EF4-FFF2-40B4-BE49-F238E27FC236}">
                <a16:creationId xmlns:a16="http://schemas.microsoft.com/office/drawing/2014/main" id="{3588DCD5-D8F4-405E-A8F7-91BFD72B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28575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rket-right">
            <a:extLst xmlns:a="http://schemas.openxmlformats.org/drawingml/2006/main">
              <a:ext uri="{FF2B5EF4-FFF2-40B4-BE49-F238E27FC236}">
                <a16:creationId xmlns:a16="http://schemas.microsoft.com/office/drawing/2014/main" id="{BAB0BFDF-D1BB-4A6F-B79E-42440EF0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90800"/>
            <a:ext cx="104775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rket-left-label">
            <a:extLst xmlns:a="http://schemas.openxmlformats.org/drawingml/2006/main">
              <a:ext uri="{FF2B5EF4-FFF2-40B4-BE49-F238E27FC236}">
                <a16:creationId xmlns:a16="http://schemas.microsoft.com/office/drawing/2014/main" id="{7A50DC8E-2AA2-43D7-9669-841C17A6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09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只要把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文字放上去</a:t>
            </a:r>
          </a:p>
        </p:txBody>
      </p:sp>
      <p:sp>
        <p:nvSpPr>
          <p:cNvPr id="16" name="market-mid-label">
            <a:extLst xmlns:a="http://schemas.openxmlformats.org/drawingml/2006/main">
              <a:ext uri="{FF2B5EF4-FFF2-40B4-BE49-F238E27FC236}">
                <a16:creationId xmlns:a16="http://schemas.microsoft.com/office/drawing/2014/main" id="{6ED0114C-7AEB-4C99-93CE-7C0A2436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学校 · 科研院所 · 事业单位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央国企 · 普通企业</a:t>
            </a:r>
          </a:p>
        </p:txBody>
      </p:sp>
      <p:sp>
        <p:nvSpPr>
          <p:cNvPr id="17" name="market-right-label">
            <a:extLst xmlns:a="http://schemas.openxmlformats.org/drawingml/2006/main">
              <a:ext uri="{FF2B5EF4-FFF2-40B4-BE49-F238E27FC236}">
                <a16:creationId xmlns:a16="http://schemas.microsoft.com/office/drawing/2014/main" id="{D75F2B5B-3730-4947-87FC-F5471DB1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高度定制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视觉创意</a:t>
            </a:r>
          </a:p>
        </p:txBody>
      </p:sp>
      <p:sp>
        <p:nvSpPr>
          <p:cNvPr id="18" name="market-boundary">
            <a:extLst xmlns:a="http://schemas.openxmlformats.org/drawingml/2006/main">
              <a:ext uri="{FF2B5EF4-FFF2-40B4-BE49-F238E27FC236}">
                <a16:creationId xmlns:a16="http://schemas.microsoft.com/office/drawing/2014/main" id="{08A49D04-1522-401D-9F08-D3CB9FF5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95750"/>
            <a:ext cx="5238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9" name="market-boundary-head">
            <a:extLst xmlns:a="http://schemas.openxmlformats.org/drawingml/2006/main">
              <a:ext uri="{FF2B5EF4-FFF2-40B4-BE49-F238E27FC236}">
                <a16:creationId xmlns:a16="http://schemas.microsoft.com/office/drawing/2014/main" id="{BD77E4A4-6E3D-4B30-8417-CB62CD40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目标场景的共同底线</a:t>
            </a:r>
          </a:p>
        </p:txBody>
      </p:sp>
      <p:sp>
        <p:nvSpPr>
          <p:cNvPr id="20" name="market-boundary-copy">
            <a:extLst xmlns:a="http://schemas.openxmlformats.org/drawingml/2006/main">
              <a:ext uri="{FF2B5EF4-FFF2-40B4-BE49-F238E27FC236}">
                <a16:creationId xmlns:a16="http://schemas.microsoft.com/office/drawing/2014/main" id="{B76CCFF3-3FB1-4931-9C94-EB446F9D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434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不能乱，不能丑，不能掉价，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不能生成完以后无法修改。</a:t>
            </a:r>
          </a:p>
        </p:txBody>
      </p:sp>
    </p:spTree>
    <p:extLst>
      <p:ext uri="{BB962C8B-B14F-4D97-AF65-F5344CB8AC3E}">
        <p14:creationId xmlns:p14="http://schemas.microsoft.com/office/powerpoint/2010/main" val="1656656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4">
            <a:extLst xmlns:a="http://schemas.openxmlformats.org/drawingml/2006/main">
              <a:ext uri="{FF2B5EF4-FFF2-40B4-BE49-F238E27FC236}">
                <a16:creationId xmlns:a16="http://schemas.microsoft.com/office/drawing/2014/main" id="{C5E92417-932E-4F49-ABFC-8537750C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稳定跨过可用线，比偶然惊艳更重要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87F58B32-B186-4CA7-9695-3532BFE8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756BF721-1108-4F3E-808F-AAA6645C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“80 分”是稳定可用状态的形象称呼，不是质量上限。</a:t>
            </a:r>
          </a:p>
        </p:txBody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2909A40E-6907-4984-B1C7-CFADC85D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CBBC3560-BC4A-49D1-AC7D-3C755A38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reliable-lead">
            <a:extLst xmlns:a="http://schemas.openxmlformats.org/drawingml/2006/main">
              <a:ext uri="{FF2B5EF4-FFF2-40B4-BE49-F238E27FC236}">
                <a16:creationId xmlns:a16="http://schemas.microsoft.com/office/drawing/2014/main" id="{9C0860A8-472A-47A1-BD6A-78690395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工作场景真正需要的是：明早能讲、符合单位风格、第二天还能继续修改。</a:t>
            </a:r>
          </a:p>
        </p:txBody>
      </p:sp>
      <p:sp>
        <p:nvSpPr>
          <p:cNvPr id="7" name="reliable-80">
            <a:extLst xmlns:a="http://schemas.openxmlformats.org/drawingml/2006/main">
              <a:ext uri="{FF2B5EF4-FFF2-40B4-BE49-F238E27FC236}">
                <a16:creationId xmlns:a16="http://schemas.microsoft.com/office/drawing/2014/main" id="{2E2FEF2F-4DDD-4379-AC23-8CBEB19A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2447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liable-80-num">
            <a:extLst xmlns:a="http://schemas.openxmlformats.org/drawingml/2006/main">
              <a:ext uri="{FF2B5EF4-FFF2-40B4-BE49-F238E27FC236}">
                <a16:creationId xmlns:a16="http://schemas.microsoft.com/office/drawing/2014/main" id="{393ECC12-0106-472B-BB27-01CF95A9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9" name="reliable-80-unit">
            <a:extLst xmlns:a="http://schemas.openxmlformats.org/drawingml/2006/main">
              <a:ext uri="{FF2B5EF4-FFF2-40B4-BE49-F238E27FC236}">
                <a16:creationId xmlns:a16="http://schemas.microsoft.com/office/drawing/2014/main" id="{D29E6442-333F-4643-93D1-263F8746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9DB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DBEB"/>
                </a:solidFill>
                <a:latin typeface="Microsoft YaHei"/>
                <a:ea typeface="Microsoft YaHei"/>
                <a:cs typeface="Microsoft YaHei"/>
              </a:rPr>
              <a:t>稳定可用</a:t>
            </a:r>
          </a:p>
        </p:txBody>
      </p:sp>
      <p:sp>
        <p:nvSpPr>
          <p:cNvPr id="10" name="reliable-80-copy">
            <a:extLst xmlns:a="http://schemas.openxmlformats.org/drawingml/2006/main">
              <a:ext uri="{FF2B5EF4-FFF2-40B4-BE49-F238E27FC236}">
                <a16:creationId xmlns:a16="http://schemas.microsoft.com/office/drawing/2014/main" id="{28F7FA31-0CBF-4EC3-BFD4-57028414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直接使用不失专业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继续修改有可靠基础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投入与收益相匹配</a:t>
            </a:r>
          </a:p>
        </p:txBody>
      </p:sp>
      <p:sp>
        <p:nvSpPr>
          <p:cNvPr id="11" name="reliable-95">
            <a:extLst xmlns:a="http://schemas.openxmlformats.org/drawingml/2006/main">
              <a:ext uri="{FF2B5EF4-FFF2-40B4-BE49-F238E27FC236}">
                <a16:creationId xmlns:a16="http://schemas.microsoft.com/office/drawing/2014/main" id="{619CDA1B-1CBA-407D-96D6-A73FCBBC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2" name="reliable-95-num">
            <a:extLst xmlns:a="http://schemas.openxmlformats.org/drawingml/2006/main">
              <a:ext uri="{FF2B5EF4-FFF2-40B4-BE49-F238E27FC236}">
                <a16:creationId xmlns:a16="http://schemas.microsoft.com/office/drawing/2014/main" id="{C82A6702-4290-4602-ABBF-D3C97F93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13" name="reliable-95-unit">
            <a:extLst xmlns:a="http://schemas.openxmlformats.org/drawingml/2006/main">
              <a:ext uri="{FF2B5EF4-FFF2-40B4-BE49-F238E27FC236}">
                <a16:creationId xmlns:a16="http://schemas.microsoft.com/office/drawing/2014/main" id="{7873ED14-7799-44FC-9F64-7EDA020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随机惊艳</a:t>
            </a:r>
          </a:p>
        </p:txBody>
      </p:sp>
      <p:sp>
        <p:nvSpPr>
          <p:cNvPr id="14" name="reliable-95-copy">
            <a:extLst xmlns:a="http://schemas.openxmlformats.org/drawingml/2006/main">
              <a:ext uri="{FF2B5EF4-FFF2-40B4-BE49-F238E27FC236}">
                <a16:creationId xmlns:a16="http://schemas.microsoft.com/office/drawing/2014/main" id="{66D4C278-74ED-4E91-9C99-7D635368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147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偶尔生成让人惊叹的作品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但不保证适配普通工作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也不保证可持续修改</a:t>
            </a:r>
          </a:p>
        </p:txBody>
      </p:sp>
      <p:sp>
        <p:nvSpPr>
          <p:cNvPr id="15" name="reliable-quote">
            <a:extLst xmlns:a="http://schemas.openxmlformats.org/drawingml/2006/main">
              <a:ext uri="{FF2B5EF4-FFF2-40B4-BE49-F238E27FC236}">
                <a16:creationId xmlns:a16="http://schemas.microsoft.com/office/drawing/2014/main" id="{AE5697C5-7C4D-4D15-8B97-7667634F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对工作来说，稳定的 80 分，很多时候比随机的 95 分更值钱。</a:t>
            </a:r>
          </a:p>
        </p:txBody>
      </p:sp>
    </p:spTree>
    <p:extLst>
      <p:ext uri="{BB962C8B-B14F-4D97-AF65-F5344CB8AC3E}">
        <p14:creationId xmlns:p14="http://schemas.microsoft.com/office/powerpoint/2010/main" val="1024106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5">
            <a:extLst xmlns:a="http://schemas.openxmlformats.org/drawingml/2006/main">
              <a:ext uri="{FF2B5EF4-FFF2-40B4-BE49-F238E27FC236}">
                <a16:creationId xmlns:a16="http://schemas.microsoft.com/office/drawing/2014/main" id="{9A86DB53-B7A8-45FB-8218-D2666627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用限制自由换取可靠性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C4A3F844-2C22-439B-A39C-B9A03B29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E03A208F-F3CE-44F2-BAF9-10107532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正式工作更需要可预测：确定规范、能力边界与退化方式。</a:t>
            </a:r>
          </a:p>
        </p:txBody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28D5E83A-5309-4ED8-88B4-BDAB63F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9D505213-C621-477B-A66F-5D0370C9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constraint-lead">
            <a:extLst xmlns:a="http://schemas.openxmlformats.org/drawingml/2006/main">
              <a:ext uri="{FF2B5EF4-FFF2-40B4-BE49-F238E27FC236}">
                <a16:creationId xmlns:a16="http://schemas.microsoft.com/office/drawing/2014/main" id="{1D91A5A0-DA85-4202-92A0-6C5973B1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自由度越高，理论上限越高；状态空间越大，失败模式也随之增加。</a:t>
            </a:r>
          </a:p>
        </p:txBody>
      </p:sp>
      <p:sp>
        <p:nvSpPr>
          <p:cNvPr id="7" name="freedom-box">
            <a:extLst xmlns:a="http://schemas.openxmlformats.org/drawingml/2006/main">
              <a:ext uri="{FF2B5EF4-FFF2-40B4-BE49-F238E27FC236}">
                <a16:creationId xmlns:a16="http://schemas.microsoft.com/office/drawing/2014/main" id="{ECC9C914-22E6-4CC3-8B0C-AF1E10CC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476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8" name="freedom-title">
            <a:extLst xmlns:a="http://schemas.openxmlformats.org/drawingml/2006/main">
              <a:ext uri="{FF2B5EF4-FFF2-40B4-BE49-F238E27FC236}">
                <a16:creationId xmlns:a16="http://schemas.microsoft.com/office/drawing/2014/main" id="{D8043A81-E476-4F0D-83B2-910153AD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每次都重来</a:t>
            </a:r>
          </a:p>
        </p:txBody>
      </p:sp>
      <p:sp>
        <p:nvSpPr>
          <p:cNvPr id="9" name="freedom-body">
            <a:extLst xmlns:a="http://schemas.openxmlformats.org/drawingml/2006/main">
              <a:ext uri="{FF2B5EF4-FFF2-40B4-BE49-F238E27FC236}">
                <a16:creationId xmlns:a16="http://schemas.microsoft.com/office/drawing/2014/main" id="{41B220D6-A9F3-48BD-9EB1-FB5D9D18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颜色 · 字体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结构 · 版式 · 风格</a:t>
            </a:r>
          </a:p>
        </p:txBody>
      </p:sp>
      <p:sp>
        <p:nvSpPr>
          <p:cNvPr id="10" name="failure-box">
            <a:extLst xmlns:a="http://schemas.openxmlformats.org/drawingml/2006/main">
              <a:ext uri="{FF2B5EF4-FFF2-40B4-BE49-F238E27FC236}">
                <a16:creationId xmlns:a16="http://schemas.microsoft.com/office/drawing/2014/main" id="{2EAD1BC6-2712-4CD9-8910-7E4117FE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857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1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4B837C44-79A0-4F20-8565-4877F228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9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状态空间变大</a:t>
            </a:r>
          </a:p>
        </p:txBody>
      </p:sp>
      <p:sp>
        <p:nvSpPr>
          <p:cNvPr id="12" name="failure-body">
            <a:extLst xmlns:a="http://schemas.openxmlformats.org/drawingml/2006/main">
              <a:ext uri="{FF2B5EF4-FFF2-40B4-BE49-F238E27FC236}">
                <a16:creationId xmlns:a16="http://schemas.microsoft.com/office/drawing/2014/main" id="{B244A3E1-4153-4942-808B-EC41121C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718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失败模式增加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结果更难预测</a:t>
            </a:r>
          </a:p>
        </p:txBody>
      </p:sp>
      <p:sp>
        <p:nvSpPr>
          <p:cNvPr id="13" name="bounded-box">
            <a:extLst xmlns:a="http://schemas.openxmlformats.org/drawingml/2006/main">
              <a:ext uri="{FF2B5EF4-FFF2-40B4-BE49-F238E27FC236}">
                <a16:creationId xmlns:a16="http://schemas.microsoft.com/office/drawing/2014/main" id="{142D202C-D9E8-4AE5-86CA-1657AB9E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3048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2447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unded-title">
            <a:extLst xmlns:a="http://schemas.openxmlformats.org/drawingml/2006/main">
              <a:ext uri="{FF2B5EF4-FFF2-40B4-BE49-F238E27FC236}">
                <a16:creationId xmlns:a16="http://schemas.microsoft.com/office/drawing/2014/main" id="{DC37B7FD-B3F0-4E1D-9BA9-A1A5C67C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09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主动限制自由</a:t>
            </a:r>
          </a:p>
        </p:txBody>
      </p:sp>
      <p:sp>
        <p:nvSpPr>
          <p:cNvPr id="15" name="bounded-body">
            <a:extLst xmlns:a="http://schemas.openxmlformats.org/drawingml/2006/main">
              <a:ext uri="{FF2B5EF4-FFF2-40B4-BE49-F238E27FC236}">
                <a16:creationId xmlns:a16="http://schemas.microsoft.com/office/drawing/2014/main" id="{5DCBB45B-0724-4033-953E-75A51E13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718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 · 经验证能力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容量边界 · 退化方式</a:t>
            </a:r>
          </a:p>
        </p:txBody>
      </p:sp>
      <p:cxnSp>
        <p:nvCxnSpPr>
          <p:cNvPr id="36" name="freedom-to-failure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38500" y="3152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37" name="failure-to-bounded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219950" y="31527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sp>
        <p:nvSpPr>
          <p:cNvPr id="18" name="constraint-bottom">
            <a:extLst xmlns:a="http://schemas.openxmlformats.org/drawingml/2006/main">
              <a:ext uri="{FF2B5EF4-FFF2-40B4-BE49-F238E27FC236}">
                <a16:creationId xmlns:a16="http://schemas.microsoft.com/office/drawing/2014/main" id="{38E43F7D-FAB3-409D-AEE2-F1C0D805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648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9" name="constraint-bottom-head">
            <a:extLst xmlns:a="http://schemas.openxmlformats.org/drawingml/2006/main">
              <a:ext uri="{FF2B5EF4-FFF2-40B4-BE49-F238E27FC236}">
                <a16:creationId xmlns:a16="http://schemas.microsoft.com/office/drawing/2014/main" id="{00F85D5D-FD50-4F94-BD89-B1722A31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这不是做不到自由，而是正式工作更需要可预测。</a:t>
            </a:r>
          </a:p>
        </p:txBody>
      </p:sp>
      <p:sp>
        <p:nvSpPr>
          <p:cNvPr id="20" name="constraint-bottom-copy">
            <a:extLst xmlns:a="http://schemas.openxmlformats.org/drawingml/2006/main">
              <a:ext uri="{FF2B5EF4-FFF2-40B4-BE49-F238E27FC236}">
                <a16:creationId xmlns:a16="http://schemas.microsoft.com/office/drawing/2014/main" id="{7A028C57-09CB-43B0-B7B8-913DAD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学校、企业和团队各有长期形成的样子；固定往往意味着已经验证过。</a:t>
            </a:r>
          </a:p>
        </p:txBody>
      </p:sp>
    </p:spTree>
    <p:extLst>
      <p:ext uri="{BB962C8B-B14F-4D97-AF65-F5344CB8AC3E}">
        <p14:creationId xmlns:p14="http://schemas.microsoft.com/office/powerpoint/2010/main" val="467714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6">
            <a:extLst xmlns:a="http://schemas.openxmlformats.org/drawingml/2006/main">
              <a:ext uri="{FF2B5EF4-FFF2-40B4-BE49-F238E27FC236}">
                <a16:creationId xmlns:a16="http://schemas.microsoft.com/office/drawing/2014/main" id="{CA97F0BC-975C-4F4E-965F-7BD3F2E3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负责理解和路由，规则约束，代码稳定生成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164864E-539B-4615-9BB6-49B55A5F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FFECC9A2-8D66-47B2-AF5E-D8057CF2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把“生成一套 PPT”重新定义为受控的协同过程。</a:t>
            </a:r>
          </a:p>
        </p:txBody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BC723B8E-4C7B-4D20-9CA9-D34DFD8B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529477B7-FA47-4507-8580-1CBCF3CD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ole-content">
            <a:extLst xmlns:a="http://schemas.openxmlformats.org/drawingml/2006/main">
              <a:ext uri="{FF2B5EF4-FFF2-40B4-BE49-F238E27FC236}">
                <a16:creationId xmlns:a16="http://schemas.microsoft.com/office/drawing/2014/main" id="{954AA742-9610-4CC5-B178-5EADCE5B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role-visual">
            <a:extLst xmlns:a="http://schemas.openxmlformats.org/drawingml/2006/main">
              <a:ext uri="{FF2B5EF4-FFF2-40B4-BE49-F238E27FC236}">
                <a16:creationId xmlns:a16="http://schemas.microsoft.com/office/drawing/2014/main" id="{90926B20-1A34-42FE-A43D-C623940F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7645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8" name="role-code">
            <a:extLst xmlns:a="http://schemas.openxmlformats.org/drawingml/2006/main">
              <a:ext uri="{FF2B5EF4-FFF2-40B4-BE49-F238E27FC236}">
                <a16:creationId xmlns:a16="http://schemas.microsoft.com/office/drawing/2014/main" id="{2D44AF6E-B935-4AD5-96B8-663410A7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447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content-title">
            <a:extLst xmlns:a="http://schemas.openxmlformats.org/drawingml/2006/main">
              <a:ext uri="{FF2B5EF4-FFF2-40B4-BE49-F238E27FC236}">
                <a16:creationId xmlns:a16="http://schemas.microsoft.com/office/drawing/2014/main" id="{7E3AF970-C688-4CD1-8C04-9CA4D67E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内容导演</a:t>
            </a:r>
          </a:p>
        </p:txBody>
      </p:sp>
      <p:sp>
        <p:nvSpPr>
          <p:cNvPr id="10" name="role-content-body">
            <a:extLst xmlns:a="http://schemas.openxmlformats.org/drawingml/2006/main">
              <a:ext uri="{FF2B5EF4-FFF2-40B4-BE49-F238E27FC236}">
                <a16:creationId xmlns:a16="http://schemas.microsoft.com/office/drawing/2014/main" id="{333FD336-B59B-47C1-B1C8-12CE2FF3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理解稿件 · 组织叙事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拆页 · 形成页面内容</a:t>
            </a:r>
          </a:p>
        </p:txBody>
      </p:sp>
      <p:sp>
        <p:nvSpPr>
          <p:cNvPr id="11" name="role-visual-title">
            <a:extLst xmlns:a="http://schemas.openxmlformats.org/drawingml/2006/main">
              <a:ext uri="{FF2B5EF4-FFF2-40B4-BE49-F238E27FC236}">
                <a16:creationId xmlns:a16="http://schemas.microsoft.com/office/drawing/2014/main" id="{C3DAF18F-7E5E-4D53-A054-24CCA0E0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3431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视觉导演</a:t>
            </a:r>
          </a:p>
        </p:txBody>
      </p:sp>
      <p:sp>
        <p:nvSpPr>
          <p:cNvPr id="12" name="role-visual-body">
            <a:extLst xmlns:a="http://schemas.openxmlformats.org/drawingml/2006/main">
              <a:ext uri="{FF2B5EF4-FFF2-40B4-BE49-F238E27FC236}">
                <a16:creationId xmlns:a16="http://schemas.microsoft.com/office/drawing/2014/main" id="{99654B14-E038-4551-9F56-C0F8E1EE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575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判断表达方式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选择已确认的结构</a:t>
            </a:r>
          </a:p>
        </p:txBody>
      </p:sp>
      <p:sp>
        <p:nvSpPr>
          <p:cNvPr id="13" name="role-code-title">
            <a:extLst xmlns:a="http://schemas.openxmlformats.org/drawingml/2006/main">
              <a:ext uri="{FF2B5EF4-FFF2-40B4-BE49-F238E27FC236}">
                <a16:creationId xmlns:a16="http://schemas.microsoft.com/office/drawing/2014/main" id="{0C2B7D29-F555-41EC-9B7F-18E86D0E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确定性代码</a:t>
            </a:r>
          </a:p>
        </p:txBody>
      </p:sp>
      <p:sp>
        <p:nvSpPr>
          <p:cNvPr id="14" name="role-code-body">
            <a:extLst xmlns:a="http://schemas.openxmlformats.org/drawingml/2006/main">
              <a:ext uri="{FF2B5EF4-FFF2-40B4-BE49-F238E27FC236}">
                <a16:creationId xmlns:a16="http://schemas.microsoft.com/office/drawing/2014/main" id="{77980AC5-FA2E-409E-BFC3-E76B7C30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约束与选择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稳定生成原生可编辑 PPTX</a:t>
            </a:r>
          </a:p>
        </p:txBody>
      </p:sp>
      <p:cxnSp>
        <p:nvCxnSpPr>
          <p:cNvPr id="35" name="content-to-visual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33750" y="28860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36" name="visual-to-code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715125" y="28860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sp>
        <p:nvSpPr>
          <p:cNvPr id="17" name="controller-support">
            <a:extLst xmlns:a="http://schemas.openxmlformats.org/drawingml/2006/main">
              <a:ext uri="{FF2B5EF4-FFF2-40B4-BE49-F238E27FC236}">
                <a16:creationId xmlns:a16="http://schemas.microsoft.com/office/drawing/2014/main" id="{11235D64-B552-4194-A83C-75B7BD98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942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8" name="controller-support-head">
            <a:extLst xmlns:a="http://schemas.openxmlformats.org/drawingml/2006/main">
              <a:ext uri="{FF2B5EF4-FFF2-40B4-BE49-F238E27FC236}">
                <a16:creationId xmlns:a16="http://schemas.microsoft.com/office/drawing/2014/main" id="{75346A8D-8A9D-4BA6-B8D9-0F80F958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系统共同约束</a:t>
            </a:r>
          </a:p>
        </p:txBody>
      </p:sp>
      <p:sp>
        <p:nvSpPr>
          <p:cNvPr id="19" name="controller-support-copy">
            <a:extLst xmlns:a="http://schemas.openxmlformats.org/drawingml/2006/main">
              <a:ext uri="{FF2B5EF4-FFF2-40B4-BE49-F238E27FC236}">
                <a16:creationId xmlns:a16="http://schemas.microsoft.com/office/drawing/2014/main" id="{497409E8-5E6E-4A9B-9B81-1F279E61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主题：组织字体、颜色、Logo、页眉页脚与页面骨架  ·  能力库：并列、顺序、对比、层级、循环  ·  无合适结构：退回简单文字排版</a:t>
            </a:r>
          </a:p>
        </p:txBody>
      </p:sp>
      <p:sp>
        <p:nvSpPr>
          <p:cNvPr id="20" name="controller-quote">
            <a:extLst xmlns:a="http://schemas.openxmlformats.org/drawingml/2006/main">
              <a:ext uri="{FF2B5EF4-FFF2-40B4-BE49-F238E27FC236}">
                <a16:creationId xmlns:a16="http://schemas.microsoft.com/office/drawing/2014/main" id="{C41C412F-5B0D-45BF-9732-6428694F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AI 读懂稿子，然后调用人已经提前做好的好东西。</a:t>
            </a:r>
          </a:p>
        </p:txBody>
      </p:sp>
    </p:spTree>
    <p:extLst>
      <p:ext uri="{BB962C8B-B14F-4D97-AF65-F5344CB8AC3E}">
        <p14:creationId xmlns:p14="http://schemas.microsoft.com/office/powerpoint/2010/main" val="618099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itle-7">
            <a:extLst xmlns:a="http://schemas.openxmlformats.org/drawingml/2006/main">
              <a:ext uri="{FF2B5EF4-FFF2-40B4-BE49-F238E27FC236}">
                <a16:creationId xmlns:a16="http://schemas.microsoft.com/office/drawing/2014/main" id="{FA9EF58C-9A95-4A7E-B08E-278D1CFA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建设能力，再稳定调用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43B940D8-75E6-4B37-9C5B-F798DF07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CD32FE17-C059-4471-A4F6-7C4D029F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两条路线的唯一交汇点，是经过用户确认的核心资产库。</a:t>
            </a:r>
          </a:p>
        </p:txBody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E4B0D8D9-7B47-4F58-A528-FC04BD4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BCBF4AA2-6D37-4C2F-A589-929A02A9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lane-build">
            <a:extLst xmlns:a="http://schemas.openxmlformats.org/drawingml/2006/main">
              <a:ext uri="{FF2B5EF4-FFF2-40B4-BE49-F238E27FC236}">
                <a16:creationId xmlns:a16="http://schemas.microsoft.com/office/drawing/2014/main" id="{862A2E94-9116-4F86-ACBB-184759D2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lane-run">
            <a:extLst xmlns:a="http://schemas.openxmlformats.org/drawingml/2006/main">
              <a:ext uri="{FF2B5EF4-FFF2-40B4-BE49-F238E27FC236}">
                <a16:creationId xmlns:a16="http://schemas.microsoft.com/office/drawing/2014/main" id="{3FBEDD89-F693-4F65-A28D-1BA9697E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66850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8" name="lane-build-title">
            <a:extLst xmlns:a="http://schemas.openxmlformats.org/drawingml/2006/main">
              <a:ext uri="{FF2B5EF4-FFF2-40B4-BE49-F238E27FC236}">
                <a16:creationId xmlns:a16="http://schemas.microsoft.com/office/drawing/2014/main" id="{C2E9D901-1950-42E5-952E-89AECFE8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资产入库线</a:t>
            </a:r>
          </a:p>
        </p:txBody>
      </p:sp>
      <p:sp>
        <p:nvSpPr>
          <p:cNvPr id="9" name="lane-run-title">
            <a:extLst xmlns:a="http://schemas.openxmlformats.org/drawingml/2006/main">
              <a:ext uri="{FF2B5EF4-FFF2-40B4-BE49-F238E27FC236}">
                <a16:creationId xmlns:a16="http://schemas.microsoft.com/office/drawing/2014/main" id="{ECCF5DE0-28C8-4443-A089-C0F1FA61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14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正式生成线</a:t>
            </a:r>
          </a:p>
        </p:txBody>
      </p:sp>
      <p:sp>
        <p:nvSpPr>
          <p:cNvPr id="10" name="build-ref">
            <a:extLst xmlns:a="http://schemas.openxmlformats.org/drawingml/2006/main">
              <a:ext uri="{FF2B5EF4-FFF2-40B4-BE49-F238E27FC236}">
                <a16:creationId xmlns:a16="http://schemas.microsoft.com/office/drawing/2014/main" id="{C95AC120-1970-4104-9B25-0EE64C6E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714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1" name="build-rule">
            <a:extLst xmlns:a="http://schemas.openxmlformats.org/drawingml/2006/main">
              <a:ext uri="{FF2B5EF4-FFF2-40B4-BE49-F238E27FC236}">
                <a16:creationId xmlns:a16="http://schemas.microsoft.com/office/drawing/2014/main" id="{19E7CE10-996B-4164-85A3-CB57D603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33625"/>
            <a:ext cx="1714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2" name="build-pack">
            <a:extLst xmlns:a="http://schemas.openxmlformats.org/drawingml/2006/main">
              <a:ext uri="{FF2B5EF4-FFF2-40B4-BE49-F238E27FC236}">
                <a16:creationId xmlns:a16="http://schemas.microsoft.com/office/drawing/2014/main" id="{7BB82580-9551-4EC7-9346-B42DBB93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714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3" name="build-confirm">
            <a:extLst xmlns:a="http://schemas.openxmlformats.org/drawingml/2006/main">
              <a:ext uri="{FF2B5EF4-FFF2-40B4-BE49-F238E27FC236}">
                <a16:creationId xmlns:a16="http://schemas.microsoft.com/office/drawing/2014/main" id="{5FD30D05-DFD9-43EF-BDCE-F1D5A898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52800"/>
            <a:ext cx="1714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ild-ref-t">
            <a:extLst xmlns:a="http://schemas.openxmlformats.org/drawingml/2006/main">
              <a:ext uri="{FF2B5EF4-FFF2-40B4-BE49-F238E27FC236}">
                <a16:creationId xmlns:a16="http://schemas.microsoft.com/office/drawing/2014/main" id="{E05DC738-1068-42BB-83F0-4CE20726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15" name="build-rule-t">
            <a:extLst xmlns:a="http://schemas.openxmlformats.org/drawingml/2006/main">
              <a:ext uri="{FF2B5EF4-FFF2-40B4-BE49-F238E27FC236}">
                <a16:creationId xmlns:a16="http://schemas.microsoft.com/office/drawing/2014/main" id="{A0E16402-BE87-4A6F-9EAB-751D6683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05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提炼规律</a:t>
            </a:r>
          </a:p>
        </p:txBody>
      </p:sp>
      <p:sp>
        <p:nvSpPr>
          <p:cNvPr id="16" name="build-pack-t">
            <a:extLst xmlns:a="http://schemas.openxmlformats.org/drawingml/2006/main">
              <a:ext uri="{FF2B5EF4-FFF2-40B4-BE49-F238E27FC236}">
                <a16:creationId xmlns:a16="http://schemas.microsoft.com/office/drawing/2014/main" id="{B94BBB04-E179-44D3-96C5-501CD096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可复用能力</a:t>
            </a:r>
          </a:p>
        </p:txBody>
      </p:sp>
      <p:sp>
        <p:nvSpPr>
          <p:cNvPr id="17" name="build-confirm-t">
            <a:extLst xmlns:a="http://schemas.openxmlformats.org/drawingml/2006/main">
              <a:ext uri="{FF2B5EF4-FFF2-40B4-BE49-F238E27FC236}">
                <a16:creationId xmlns:a16="http://schemas.microsoft.com/office/drawing/2014/main" id="{C3257DF5-7BC7-435E-8020-8697FDEF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24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cxnSp>
        <p:nvCxnSpPr>
          <p:cNvPr id="55" name="build-ref-rule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71750" y="26098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56" name="build-rule-pack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1714500" y="2886075"/>
            <a:ext cx="2143125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57" name="build-pack-confirm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571750" y="36290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sp>
        <p:nvSpPr>
          <p:cNvPr id="21" name="run-input">
            <a:extLst xmlns:a="http://schemas.openxmlformats.org/drawingml/2006/main">
              <a:ext uri="{FF2B5EF4-FFF2-40B4-BE49-F238E27FC236}">
                <a16:creationId xmlns:a16="http://schemas.microsoft.com/office/drawing/2014/main" id="{E3E53918-AE1A-49EB-94A5-7F74A686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1714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2" name="run-ai">
            <a:extLst xmlns:a="http://schemas.openxmlformats.org/drawingml/2006/main">
              <a:ext uri="{FF2B5EF4-FFF2-40B4-BE49-F238E27FC236}">
                <a16:creationId xmlns:a16="http://schemas.microsoft.com/office/drawing/2014/main" id="{F22AD31B-52E7-4703-8BA6-F22DD204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1714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3" name="run-choice">
            <a:extLst xmlns:a="http://schemas.openxmlformats.org/drawingml/2006/main">
              <a:ext uri="{FF2B5EF4-FFF2-40B4-BE49-F238E27FC236}">
                <a16:creationId xmlns:a16="http://schemas.microsoft.com/office/drawing/2014/main" id="{2374A83C-EB3B-403B-A9F6-7973D7BE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1714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4" name="run-compile">
            <a:extLst xmlns:a="http://schemas.openxmlformats.org/drawingml/2006/main">
              <a:ext uri="{FF2B5EF4-FFF2-40B4-BE49-F238E27FC236}">
                <a16:creationId xmlns:a16="http://schemas.microsoft.com/office/drawing/2014/main" id="{A4B1C717-5478-4529-A818-8AEDFA8D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52800"/>
            <a:ext cx="1714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47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un-input-t">
            <a:extLst xmlns:a="http://schemas.openxmlformats.org/drawingml/2006/main">
              <a:ext uri="{FF2B5EF4-FFF2-40B4-BE49-F238E27FC236}">
                <a16:creationId xmlns:a16="http://schemas.microsoft.com/office/drawing/2014/main" id="{8705F7A1-02A6-4717-B527-ED35CFD9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05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稿件 + 主题</a:t>
            </a:r>
          </a:p>
        </p:txBody>
      </p:sp>
      <p:sp>
        <p:nvSpPr>
          <p:cNvPr id="26" name="run-ai-t">
            <a:extLst xmlns:a="http://schemas.openxmlformats.org/drawingml/2006/main">
              <a:ext uri="{FF2B5EF4-FFF2-40B4-BE49-F238E27FC236}">
                <a16:creationId xmlns:a16="http://schemas.microsoft.com/office/drawing/2014/main" id="{BEDBC9BA-2D91-4D62-9B1A-F283140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05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理解编排</a:t>
            </a:r>
          </a:p>
        </p:txBody>
      </p:sp>
      <p:sp>
        <p:nvSpPr>
          <p:cNvPr id="27" name="run-choice-t">
            <a:extLst xmlns:a="http://schemas.openxmlformats.org/drawingml/2006/main">
              <a:ext uri="{FF2B5EF4-FFF2-40B4-BE49-F238E27FC236}">
                <a16:creationId xmlns:a16="http://schemas.microsoft.com/office/drawing/2014/main" id="{08A59D71-08D7-4A48-A9DF-231DE5F0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选择核心能力</a:t>
            </a:r>
          </a:p>
        </p:txBody>
      </p:sp>
      <p:sp>
        <p:nvSpPr>
          <p:cNvPr id="28" name="run-compile-t">
            <a:extLst xmlns:a="http://schemas.openxmlformats.org/drawingml/2006/main">
              <a:ext uri="{FF2B5EF4-FFF2-40B4-BE49-F238E27FC236}">
                <a16:creationId xmlns:a16="http://schemas.microsoft.com/office/drawing/2014/main" id="{CB1494A8-49D3-4493-871A-84819A41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24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排版与编译</a:t>
            </a:r>
          </a:p>
        </p:txBody>
      </p:sp>
      <p:cxnSp>
        <p:nvCxnSpPr>
          <p:cNvPr id="66" name="run-input-ai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858250" y="26098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67" name="run-ai-choice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8001000" y="2886075"/>
            <a:ext cx="2143125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68" name="run-choice-compile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858250" y="36290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sp>
        <p:nvSpPr>
          <p:cNvPr id="32" name="core-library">
            <a:extLst xmlns:a="http://schemas.openxmlformats.org/drawingml/2006/main">
              <a:ext uri="{FF2B5EF4-FFF2-40B4-BE49-F238E27FC236}">
                <a16:creationId xmlns:a16="http://schemas.microsoft.com/office/drawing/2014/main" id="{62B9A022-6E17-4B31-A8B9-A2F52E3F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47900"/>
            <a:ext cx="1619250" cy="16954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447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re-library-title">
            <a:extLst xmlns:a="http://schemas.openxmlformats.org/drawingml/2006/main">
              <a:ext uri="{FF2B5EF4-FFF2-40B4-BE49-F238E27FC236}">
                <a16:creationId xmlns:a16="http://schemas.microsoft.com/office/drawing/2014/main" id="{D48E2823-967A-4624-BA57-1007F5A4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5146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2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资产库</a:t>
            </a:r>
          </a:p>
        </p:txBody>
      </p:sp>
      <p:sp>
        <p:nvSpPr>
          <p:cNvPr id="34" name="core-library-copy">
            <a:extLst xmlns:a="http://schemas.openxmlformats.org/drawingml/2006/main">
              <a:ext uri="{FF2B5EF4-FFF2-40B4-BE49-F238E27FC236}">
                <a16:creationId xmlns:a16="http://schemas.microsoft.com/office/drawing/2014/main" id="{4646BED8-B35A-4311-8BBD-A9903630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只读调用</a:t>
            </a:r>
          </a:p>
        </p:txBody>
      </p:sp>
      <p:cxnSp>
        <p:nvCxnSpPr>
          <p:cNvPr id="72" name="confirm-to-core"/>
          <p:cNvCxnSpPr>
            <a:stCxn xmlns:a="http://schemas.openxmlformats.org/drawingml/2006/main" id="13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4714875" y="3095625"/>
            <a:ext cx="57150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73" name="core-to-choice"/>
          <p:cNvCxnSpPr>
            <a:stCxn xmlns:a="http://schemas.openxmlformats.org/drawingml/2006/main" id="3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905625" y="3095625"/>
            <a:ext cx="238125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dash"/>
            <a:tailEnd type="triangle" w="sm" len="sm"/>
          </a:ln>
        </p:spPr>
      </p:cxnSp>
      <p:sp>
        <p:nvSpPr>
          <p:cNvPr id="37" name="arch-note">
            <a:extLst xmlns:a="http://schemas.openxmlformats.org/drawingml/2006/main">
              <a:ext uri="{FF2B5EF4-FFF2-40B4-BE49-F238E27FC236}">
                <a16:creationId xmlns:a16="http://schemas.microsoft.com/office/drawing/2014/main" id="{E3CD874C-95BA-4085-A8B3-B879EB1E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若缺少对应 Logic 或 Structure Group，只说明缺口与页面；是否启动入库任务由用户决定。</a:t>
            </a:r>
          </a:p>
        </p:txBody>
      </p:sp>
    </p:spTree>
    <p:extLst>
      <p:ext uri="{BB962C8B-B14F-4D97-AF65-F5344CB8AC3E}">
        <p14:creationId xmlns:p14="http://schemas.microsoft.com/office/powerpoint/2010/main" val="880049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-8">
            <a:extLst xmlns:a="http://schemas.openxmlformats.org/drawingml/2006/main">
              <a:ext uri="{FF2B5EF4-FFF2-40B4-BE49-F238E27FC236}">
                <a16:creationId xmlns:a16="http://schemas.microsoft.com/office/drawing/2014/main" id="{5D8EF65D-4F94-41D3-9ACC-1F094FAC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把昂贵的计算前移，运行时保持轻量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35BD2417-A502-4A02-8095-70D9E997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73737976-F07E-4FB7-AD0A-7A51237F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一次建设，多次复用：视觉理解从在线成本变成可复用的离线资产。</a:t>
            </a:r>
          </a:p>
        </p:txBody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4E3E13D3-283A-4190-9169-313EDB3D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36E78F95-6A24-45A4-B1EC-566F89BA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cost-top-label">
            <a:extLst xmlns:a="http://schemas.openxmlformats.org/drawingml/2006/main">
              <a:ext uri="{FF2B5EF4-FFF2-40B4-BE49-F238E27FC236}">
                <a16:creationId xmlns:a16="http://schemas.microsoft.com/office/drawing/2014/main" id="{7ECAA1F1-058B-4F68-B5B5-206EFE22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传统生成式路线</a:t>
            </a:r>
          </a:p>
        </p:txBody>
      </p:sp>
      <p:sp>
        <p:nvSpPr>
          <p:cNvPr id="7" name="cost-bottom-label">
            <a:extLst xmlns:a="http://schemas.openxmlformats.org/drawingml/2006/main">
              <a:ext uri="{FF2B5EF4-FFF2-40B4-BE49-F238E27FC236}">
                <a16:creationId xmlns:a16="http://schemas.microsoft.com/office/drawing/2014/main" id="{49DEB4E5-D9AD-4638-99E1-B22FE1D6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路线</a:t>
            </a:r>
          </a:p>
        </p:txBody>
      </p:sp>
      <p:sp>
        <p:nvSpPr>
          <p:cNvPr id="8" name="old-0">
            <a:extLst xmlns:a="http://schemas.openxmlformats.org/drawingml/2006/main">
              <a:ext uri="{FF2B5EF4-FFF2-40B4-BE49-F238E27FC236}">
                <a16:creationId xmlns:a16="http://schemas.microsoft.com/office/drawing/2014/main" id="{0D431C60-B48B-4784-BD3F-0C72CD38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905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9" name="new-0">
            <a:extLst xmlns:a="http://schemas.openxmlformats.org/drawingml/2006/main">
              <a:ext uri="{FF2B5EF4-FFF2-40B4-BE49-F238E27FC236}">
                <a16:creationId xmlns:a16="http://schemas.microsoft.com/office/drawing/2014/main" id="{237B3B3A-87FA-4D43-9E1F-8DBCCE83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905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0" name="old-t-0">
            <a:extLst xmlns:a="http://schemas.openxmlformats.org/drawingml/2006/main">
              <a:ext uri="{FF2B5EF4-FFF2-40B4-BE49-F238E27FC236}">
                <a16:creationId xmlns:a16="http://schemas.microsoft.com/office/drawing/2014/main" id="{B07C02C8-AA2F-4015-907B-B5CCC0B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9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每个用户</a:t>
            </a:r>
          </a:p>
        </p:txBody>
      </p:sp>
      <p:sp>
        <p:nvSpPr>
          <p:cNvPr id="11" name="new-t-0">
            <a:extLst xmlns:a="http://schemas.openxmlformats.org/drawingml/2006/main">
              <a:ext uri="{FF2B5EF4-FFF2-40B4-BE49-F238E27FC236}">
                <a16:creationId xmlns:a16="http://schemas.microsoft.com/office/drawing/2014/main" id="{F30EE2D8-B875-4968-8F26-FDA7F7B7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9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筛选参考</a:t>
            </a:r>
          </a:p>
        </p:txBody>
      </p:sp>
      <p:sp>
        <p:nvSpPr>
          <p:cNvPr id="12" name="old-1">
            <a:extLst xmlns:a="http://schemas.openxmlformats.org/drawingml/2006/main">
              <a:ext uri="{FF2B5EF4-FFF2-40B4-BE49-F238E27FC236}">
                <a16:creationId xmlns:a16="http://schemas.microsoft.com/office/drawing/2014/main" id="{F825E57B-5619-4FAF-A83F-72826AF2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0250"/>
            <a:ext cx="1905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3" name="new-1">
            <a:extLst xmlns:a="http://schemas.openxmlformats.org/drawingml/2006/main">
              <a:ext uri="{FF2B5EF4-FFF2-40B4-BE49-F238E27FC236}">
                <a16:creationId xmlns:a16="http://schemas.microsoft.com/office/drawing/2014/main" id="{F00FE884-9DB8-4796-BE77-777DF410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48125"/>
            <a:ext cx="1905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4" name="old-t-1">
            <a:extLst xmlns:a="http://schemas.openxmlformats.org/drawingml/2006/main">
              <a:ext uri="{FF2B5EF4-FFF2-40B4-BE49-F238E27FC236}">
                <a16:creationId xmlns:a16="http://schemas.microsoft.com/office/drawing/2014/main" id="{479D5FD6-2674-4121-AC46-CF346432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9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重新理解</a:t>
            </a:r>
          </a:p>
        </p:txBody>
      </p:sp>
      <p:sp>
        <p:nvSpPr>
          <p:cNvPr id="15" name="new-t-1">
            <a:extLst xmlns:a="http://schemas.openxmlformats.org/drawingml/2006/main">
              <a:ext uri="{FF2B5EF4-FFF2-40B4-BE49-F238E27FC236}">
                <a16:creationId xmlns:a16="http://schemas.microsoft.com/office/drawing/2014/main" id="{57F7CAC1-AD65-494C-9CDD-AD004121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9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参数化与验证</a:t>
            </a:r>
          </a:p>
        </p:txBody>
      </p:sp>
      <p:sp>
        <p:nvSpPr>
          <p:cNvPr id="16" name="old-2">
            <a:extLst xmlns:a="http://schemas.openxmlformats.org/drawingml/2006/main">
              <a:ext uri="{FF2B5EF4-FFF2-40B4-BE49-F238E27FC236}">
                <a16:creationId xmlns:a16="http://schemas.microsoft.com/office/drawing/2014/main" id="{792BAC88-DE47-42BB-AB59-BBC37AE2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1905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7" name="new-2">
            <a:extLst xmlns:a="http://schemas.openxmlformats.org/drawingml/2006/main">
              <a:ext uri="{FF2B5EF4-FFF2-40B4-BE49-F238E27FC236}">
                <a16:creationId xmlns:a16="http://schemas.microsoft.com/office/drawing/2014/main" id="{467FDD76-EF3D-48A7-82AD-376BCF57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48125"/>
            <a:ext cx="1905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8" name="old-t-2">
            <a:extLst xmlns:a="http://schemas.openxmlformats.org/drawingml/2006/main">
              <a:ext uri="{FF2B5EF4-FFF2-40B4-BE49-F238E27FC236}">
                <a16:creationId xmlns:a16="http://schemas.microsoft.com/office/drawing/2014/main" id="{32F4F7E7-16D8-4642-BD6B-456F475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9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重新设计</a:t>
            </a:r>
          </a:p>
        </p:txBody>
      </p:sp>
      <p:sp>
        <p:nvSpPr>
          <p:cNvPr id="19" name="new-t-2">
            <a:extLst xmlns:a="http://schemas.openxmlformats.org/drawingml/2006/main">
              <a:ext uri="{FF2B5EF4-FFF2-40B4-BE49-F238E27FC236}">
                <a16:creationId xmlns:a16="http://schemas.microsoft.com/office/drawing/2014/main" id="{7EB596C6-9503-4FDE-B167-A0B59130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38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9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20" name="old-3">
            <a:extLst xmlns:a="http://schemas.openxmlformats.org/drawingml/2006/main">
              <a:ext uri="{FF2B5EF4-FFF2-40B4-BE49-F238E27FC236}">
                <a16:creationId xmlns:a16="http://schemas.microsoft.com/office/drawing/2014/main" id="{7AFE9B34-D966-485F-9B15-AA6E5EF6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1905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1" name="new-3">
            <a:extLst xmlns:a="http://schemas.openxmlformats.org/drawingml/2006/main">
              <a:ext uri="{FF2B5EF4-FFF2-40B4-BE49-F238E27FC236}">
                <a16:creationId xmlns:a16="http://schemas.microsoft.com/office/drawing/2014/main" id="{1F3F0BA0-77F6-4F88-A734-41CED068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48125"/>
            <a:ext cx="1905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447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ld-t-3">
            <a:extLst xmlns:a="http://schemas.openxmlformats.org/drawingml/2006/main">
              <a:ext uri="{FF2B5EF4-FFF2-40B4-BE49-F238E27FC236}">
                <a16:creationId xmlns:a16="http://schemas.microsoft.com/office/drawing/2014/main" id="{D945791A-4DD9-4B15-A9B5-18ED1218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9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重新绘制</a:t>
            </a:r>
          </a:p>
        </p:txBody>
      </p:sp>
      <p:sp>
        <p:nvSpPr>
          <p:cNvPr id="23" name="new-t-3">
            <a:extLst xmlns:a="http://schemas.openxmlformats.org/drawingml/2006/main">
              <a:ext uri="{FF2B5EF4-FFF2-40B4-BE49-F238E27FC236}">
                <a16:creationId xmlns:a16="http://schemas.microsoft.com/office/drawing/2014/main" id="{03B08261-7C44-4B46-9D5F-CD1573C1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8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9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反复调用</a:t>
            </a:r>
          </a:p>
        </p:txBody>
      </p:sp>
      <p:cxnSp>
        <p:nvCxnSpPr>
          <p:cNvPr id="57" name="old-arrow-0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67000" y="2305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58" name="new-arrow-0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667000" y="4352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59" name="old-arrow-1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143500" y="2305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60" name="new-arrow-1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143500" y="4352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61" name="old-arrow-2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620000" y="2305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62" name="new-arrow-2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20000" y="4352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sp>
        <p:nvSpPr>
          <p:cNvPr id="30" name="cost-old-risk">
            <a:extLst xmlns:a="http://schemas.openxmlformats.org/drawingml/2006/main">
              <a:ext uri="{FF2B5EF4-FFF2-40B4-BE49-F238E27FC236}">
                <a16:creationId xmlns:a16="http://schemas.microsoft.com/office/drawing/2014/main" id="{F4247D4B-24D9-4EE7-8BBA-04D85D4A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93345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st-old-risk-t">
            <a:extLst xmlns:a="http://schemas.openxmlformats.org/drawingml/2006/main">
              <a:ext uri="{FF2B5EF4-FFF2-40B4-BE49-F238E27FC236}">
                <a16:creationId xmlns:a16="http://schemas.microsoft.com/office/drawing/2014/main" id="{DE8E2E4A-3781-4BFF-8847-64A5C3D4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计算、审美判断与失败风险集中在运行时</a:t>
            </a:r>
          </a:p>
        </p:txBody>
      </p:sp>
      <p:sp>
        <p:nvSpPr>
          <p:cNvPr id="32" name="cost-new-note">
            <a:extLst xmlns:a="http://schemas.openxmlformats.org/drawingml/2006/main">
              <a:ext uri="{FF2B5EF4-FFF2-40B4-BE49-F238E27FC236}">
                <a16:creationId xmlns:a16="http://schemas.microsoft.com/office/drawing/2014/main" id="{BDF23A7D-4734-4AB6-B83A-65AA158A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334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3" name="cost-new-note-t">
            <a:extLst xmlns:a="http://schemas.openxmlformats.org/drawingml/2006/main">
              <a:ext uri="{FF2B5EF4-FFF2-40B4-BE49-F238E27FC236}">
                <a16:creationId xmlns:a16="http://schemas.microsoft.com/office/drawing/2014/main" id="{3C05AE8C-536D-4146-B350-A61731F5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模型主要理解、分类、路由和填参；确定性代码负责绘制与检查。视觉模型可用于建设期，但不是每次交付的必要成本。</a:t>
            </a:r>
          </a:p>
        </p:txBody>
      </p:sp>
    </p:spTree>
    <p:extLst>
      <p:ext uri="{BB962C8B-B14F-4D97-AF65-F5344CB8AC3E}">
        <p14:creationId xmlns:p14="http://schemas.microsoft.com/office/powerpoint/2010/main" val="3416993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9">
            <a:extLst xmlns:a="http://schemas.openxmlformats.org/drawingml/2006/main">
              <a:ext uri="{FF2B5EF4-FFF2-40B4-BE49-F238E27FC236}">
                <a16:creationId xmlns:a16="http://schemas.microsoft.com/office/drawing/2014/main" id="{CA641CF4-D184-451B-A24A-FAF82F60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真正积累的不是一万个模板</a:t>
            </a:r>
          </a:p>
        </p:txBody>
      </p:sp>
      <p:sp>
        <p:nvSpPr>
          <p:cNvPr id="2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1B40ACE5-A881-4934-AB46-D80B2AB1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3F63AB7C-5A8E-494D-9C77-185C646E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静态模板会被内容数量与字数变化击穿；可验证的表达规律才会复用。</a:t>
            </a:r>
          </a:p>
        </p:txBody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8C8379BB-F07B-4A7F-BE22-01C0D71F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DD2B190D-C9B7-4F83-9038-78C38257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capability-core">
            <a:extLst xmlns:a="http://schemas.openxmlformats.org/drawingml/2006/main">
              <a:ext uri="{FF2B5EF4-FFF2-40B4-BE49-F238E27FC236}">
                <a16:creationId xmlns:a16="http://schemas.microsoft.com/office/drawing/2014/main" id="{06E89EB2-3B3C-45C6-B33E-64DBC67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43125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2447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pability-core-title">
            <a:extLst xmlns:a="http://schemas.openxmlformats.org/drawingml/2006/main">
              <a:ext uri="{FF2B5EF4-FFF2-40B4-BE49-F238E27FC236}">
                <a16:creationId xmlns:a16="http://schemas.microsoft.com/office/drawing/2014/main" id="{65918ED9-2D0B-4C52-9250-99F43148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955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经过验证的表达能力包</a:t>
            </a:r>
          </a:p>
        </p:txBody>
      </p:sp>
      <p:sp>
        <p:nvSpPr>
          <p:cNvPr id="8" name="capability-core-copy">
            <a:extLst xmlns:a="http://schemas.openxmlformats.org/drawingml/2006/main">
              <a:ext uri="{FF2B5EF4-FFF2-40B4-BE49-F238E27FC236}">
                <a16:creationId xmlns:a16="http://schemas.microsoft.com/office/drawing/2014/main" id="{BA9D887F-0C26-47FA-AEC8-FDA5A151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81350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4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把一件漂亮作品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变成一种可复用的能力</a:t>
            </a:r>
          </a:p>
        </p:txBody>
      </p:sp>
      <p:sp>
        <p:nvSpPr>
          <p:cNvPr id="9" name="cap-route-surface">
            <a:extLst xmlns:a="http://schemas.openxmlformats.org/drawingml/2006/main">
              <a:ext uri="{FF2B5EF4-FFF2-40B4-BE49-F238E27FC236}">
                <a16:creationId xmlns:a16="http://schemas.microsoft.com/office/drawing/2014/main" id="{BB62B3E7-2576-4CE1-9226-3137B3DD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647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0" name="cap-route-bar">
            <a:extLst xmlns:a="http://schemas.openxmlformats.org/drawingml/2006/main">
              <a:ext uri="{FF2B5EF4-FFF2-40B4-BE49-F238E27FC236}">
                <a16:creationId xmlns:a16="http://schemas.microsoft.com/office/drawing/2014/main" id="{F0A962BC-40D8-415C-809E-39D86841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-route-label">
            <a:extLst xmlns:a="http://schemas.openxmlformats.org/drawingml/2006/main">
              <a:ext uri="{FF2B5EF4-FFF2-40B4-BE49-F238E27FC236}">
                <a16:creationId xmlns:a16="http://schemas.microsoft.com/office/drawing/2014/main" id="{53FAC931-F71B-457D-AAB8-35C9D9E8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可靠路由</a:t>
            </a:r>
          </a:p>
        </p:txBody>
      </p:sp>
      <p:sp>
        <p:nvSpPr>
          <p:cNvPr id="12" name="cap-route-body">
            <a:extLst xmlns:a="http://schemas.openxmlformats.org/drawingml/2006/main">
              <a:ext uri="{FF2B5EF4-FFF2-40B4-BE49-F238E27FC236}">
                <a16:creationId xmlns:a16="http://schemas.microsoft.com/office/drawing/2014/main" id="{5D3A0659-53DF-4C98-9522-77CDABD1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新内容 → 正确能力</a:t>
            </a:r>
          </a:p>
        </p:txBody>
      </p:sp>
      <p:sp>
        <p:nvSpPr>
          <p:cNvPr id="13" name="cap-capacity-surface">
            <a:extLst xmlns:a="http://schemas.openxmlformats.org/drawingml/2006/main">
              <a:ext uri="{FF2B5EF4-FFF2-40B4-BE49-F238E27FC236}">
                <a16:creationId xmlns:a16="http://schemas.microsoft.com/office/drawing/2014/main" id="{89A147E6-0812-4140-80BF-DC575083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647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4" name="cap-capacity-bar">
            <a:extLst xmlns:a="http://schemas.openxmlformats.org/drawingml/2006/main">
              <a:ext uri="{FF2B5EF4-FFF2-40B4-BE49-F238E27FC236}">
                <a16:creationId xmlns:a16="http://schemas.microsoft.com/office/drawing/2014/main" id="{DCF7A9A8-5AB6-4D2B-8F40-381C95BB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p-capacity-label">
            <a:extLst xmlns:a="http://schemas.openxmlformats.org/drawingml/2006/main">
              <a:ext uri="{FF2B5EF4-FFF2-40B4-BE49-F238E27FC236}">
                <a16:creationId xmlns:a16="http://schemas.microsoft.com/office/drawing/2014/main" id="{0E72AFE1-CD1B-4D29-AE5B-F76A4C5E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容量与变化</a:t>
            </a:r>
          </a:p>
        </p:txBody>
      </p:sp>
      <p:sp>
        <p:nvSpPr>
          <p:cNvPr id="16" name="cap-capacity-body">
            <a:extLst xmlns:a="http://schemas.openxmlformats.org/drawingml/2006/main">
              <a:ext uri="{FF2B5EF4-FFF2-40B4-BE49-F238E27FC236}">
                <a16:creationId xmlns:a16="http://schemas.microsoft.com/office/drawing/2014/main" id="{B8B7EE27-FBBD-478F-B5D7-E081F8AE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数量变化 → 稳定重排</a:t>
            </a:r>
          </a:p>
        </p:txBody>
      </p:sp>
      <p:sp>
        <p:nvSpPr>
          <p:cNvPr id="17" name="cap-boundary-surface">
            <a:extLst xmlns:a="http://schemas.openxmlformats.org/drawingml/2006/main">
              <a:ext uri="{FF2B5EF4-FFF2-40B4-BE49-F238E27FC236}">
                <a16:creationId xmlns:a16="http://schemas.microsoft.com/office/drawing/2014/main" id="{274C0761-9802-4730-9E7B-A8318312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647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8" name="cap-boundary-bar">
            <a:extLst xmlns:a="http://schemas.openxmlformats.org/drawingml/2006/main">
              <a:ext uri="{FF2B5EF4-FFF2-40B4-BE49-F238E27FC236}">
                <a16:creationId xmlns:a16="http://schemas.microsoft.com/office/drawing/2014/main" id="{4364CA3A-7A25-49E8-A872-4D1A4F43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p-boundary-label">
            <a:extLst xmlns:a="http://schemas.openxmlformats.org/drawingml/2006/main">
              <a:ext uri="{FF2B5EF4-FFF2-40B4-BE49-F238E27FC236}">
                <a16:creationId xmlns:a16="http://schemas.microsoft.com/office/drawing/2014/main" id="{690FC923-6881-4DA8-93B0-349D15FF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失败边界</a:t>
            </a:r>
          </a:p>
        </p:txBody>
      </p:sp>
      <p:sp>
        <p:nvSpPr>
          <p:cNvPr id="20" name="cap-boundary-body">
            <a:extLst xmlns:a="http://schemas.openxmlformats.org/drawingml/2006/main">
              <a:ext uri="{FF2B5EF4-FFF2-40B4-BE49-F238E27FC236}">
                <a16:creationId xmlns:a16="http://schemas.microsoft.com/office/drawing/2014/main" id="{79A69E5D-84C7-44DE-80FE-3CA61C02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超出边界 → 换样式 / 拆页 / 退化</a:t>
            </a:r>
          </a:p>
        </p:txBody>
      </p:sp>
      <p:sp>
        <p:nvSpPr>
          <p:cNvPr id="21" name="cap-output-surface">
            <a:extLst xmlns:a="http://schemas.openxmlformats.org/drawingml/2006/main">
              <a:ext uri="{FF2B5EF4-FFF2-40B4-BE49-F238E27FC236}">
                <a16:creationId xmlns:a16="http://schemas.microsoft.com/office/drawing/2014/main" id="{022427E2-FD67-4137-A1E8-EE1D94B7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647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2" name="cap-output-bar">
            <a:extLst xmlns:a="http://schemas.openxmlformats.org/drawingml/2006/main">
              <a:ext uri="{FF2B5EF4-FFF2-40B4-BE49-F238E27FC236}">
                <a16:creationId xmlns:a16="http://schemas.microsoft.com/office/drawing/2014/main" id="{22DB235C-F715-42BA-8D15-DDFB15B5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p-output-label">
            <a:extLst xmlns:a="http://schemas.openxmlformats.org/drawingml/2006/main">
              <a:ext uri="{FF2B5EF4-FFF2-40B4-BE49-F238E27FC236}">
                <a16:creationId xmlns:a16="http://schemas.microsoft.com/office/drawing/2014/main" id="{43E8837D-EAEA-4A09-A2B7-1CA440CB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交付结果</a:t>
            </a:r>
          </a:p>
        </p:txBody>
      </p:sp>
      <p:sp>
        <p:nvSpPr>
          <p:cNvPr id="24" name="cap-output-body">
            <a:extLst xmlns:a="http://schemas.openxmlformats.org/drawingml/2006/main">
              <a:ext uri="{FF2B5EF4-FFF2-40B4-BE49-F238E27FC236}">
                <a16:creationId xmlns:a16="http://schemas.microsoft.com/office/drawing/2014/main" id="{8938B163-DB33-4643-AFC3-3EC2E8AD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符合规范 · 原生可编辑</a:t>
            </a:r>
          </a:p>
        </p:txBody>
      </p:sp>
      <p:sp>
        <p:nvSpPr>
          <p:cNvPr id="25" name="cap-line-left-top">
            <a:extLst xmlns:a="http://schemas.openxmlformats.org/drawingml/2006/main">
              <a:ext uri="{FF2B5EF4-FFF2-40B4-BE49-F238E27FC236}">
                <a16:creationId xmlns:a16="http://schemas.microsoft.com/office/drawing/2014/main" id="{C528CFD6-5FAD-410A-BC95-C405E92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86AD"/>
            </a:solidFill>
            <a:prstDash val="solid"/>
          </a:ln>
        </p:spPr>
      </p:sp>
      <p:sp>
        <p:nvSpPr>
          <p:cNvPr id="26" name="cap-line-right-top">
            <a:extLst xmlns:a="http://schemas.openxmlformats.org/drawingml/2006/main">
              <a:ext uri="{FF2B5EF4-FFF2-40B4-BE49-F238E27FC236}">
                <a16:creationId xmlns:a16="http://schemas.microsoft.com/office/drawing/2014/main" id="{B1C34AC4-955F-411A-8174-65F80AEF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86AD"/>
            </a:solidFill>
            <a:prstDash val="solid"/>
          </a:ln>
        </p:spPr>
      </p:sp>
      <p:sp>
        <p:nvSpPr>
          <p:cNvPr id="27" name="cap-line-left-bottom">
            <a:extLst xmlns:a="http://schemas.openxmlformats.org/drawingml/2006/main">
              <a:ext uri="{FF2B5EF4-FFF2-40B4-BE49-F238E27FC236}">
                <a16:creationId xmlns:a16="http://schemas.microsoft.com/office/drawing/2014/main" id="{A9B3876A-976A-46C7-894B-B349F7F2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86AD"/>
            </a:solidFill>
            <a:prstDash val="solid"/>
          </a:ln>
        </p:spPr>
      </p:sp>
      <p:sp>
        <p:nvSpPr>
          <p:cNvPr id="28" name="cap-line-right-bottom">
            <a:extLst xmlns:a="http://schemas.openxmlformats.org/drawingml/2006/main">
              <a:ext uri="{FF2B5EF4-FFF2-40B4-BE49-F238E27FC236}">
                <a16:creationId xmlns:a16="http://schemas.microsoft.com/office/drawing/2014/main" id="{B1BC9044-291A-452E-9068-21B1BFB5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86AD"/>
            </a:solidFill>
            <a:prstDash val="solid"/>
          </a:ln>
        </p:spPr>
      </p:sp>
      <p:sp>
        <p:nvSpPr>
          <p:cNvPr id="29" name="cap-example">
            <a:extLst xmlns:a="http://schemas.openxmlformats.org/drawingml/2006/main">
              <a:ext uri="{FF2B5EF4-FFF2-40B4-BE49-F238E27FC236}">
                <a16:creationId xmlns:a16="http://schemas.microsoft.com/office/drawing/2014/main" id="{82475F8F-A110-4871-8C69-5EFC4AB8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29150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三个观点 → 四个观点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十个字 → 六十个字</a:t>
            </a:r>
          </a:p>
        </p:txBody>
      </p:sp>
    </p:spTree>
    <p:extLst>
      <p:ext uri="{BB962C8B-B14F-4D97-AF65-F5344CB8AC3E}">
        <p14:creationId xmlns:p14="http://schemas.microsoft.com/office/powerpoint/2010/main" val="1705322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0">
            <a:extLst xmlns:a="http://schemas.openxmlformats.org/drawingml/2006/main">
              <a:ext uri="{FF2B5EF4-FFF2-40B4-BE49-F238E27FC236}">
                <a16:creationId xmlns:a16="http://schemas.microsoft.com/office/drawing/2014/main" id="{3F291CFB-184E-4C0E-8BB3-7414E14A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从一个学校，走向更多组织</a:t>
            </a:r>
          </a:p>
        </p:txBody>
      </p:sp>
      <p:sp>
        <p:nvSpPr>
          <p:cNvPr id="2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B671911C-5D8B-442E-BE80-97AC92C3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21835687-511D-446B-8DDB-BC539B88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首个场景验证边界，主题替换身份，能力继续复用。</a:t>
            </a:r>
          </a:p>
        </p:txBody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F936B2D7-5B98-4395-8330-6F4A7946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4FF87C15-B11B-4743-9A93-02DFACAA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org-neu">
            <a:extLst xmlns:a="http://schemas.openxmlformats.org/drawingml/2006/main">
              <a:ext uri="{FF2B5EF4-FFF2-40B4-BE49-F238E27FC236}">
                <a16:creationId xmlns:a16="http://schemas.microsoft.com/office/drawing/2014/main" id="{C3E83EE2-3696-4A81-8C7C-FF7CBEFA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571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447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rg-neu-title">
            <a:extLst xmlns:a="http://schemas.openxmlformats.org/drawingml/2006/main">
              <a:ext uri="{FF2B5EF4-FFF2-40B4-BE49-F238E27FC236}">
                <a16:creationId xmlns:a16="http://schemas.microsoft.com/office/drawing/2014/main" id="{77E5515E-408A-48B4-A2C9-F50DD09D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58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东北大学</a:t>
            </a:r>
          </a:p>
        </p:txBody>
      </p:sp>
      <p:sp>
        <p:nvSpPr>
          <p:cNvPr id="8" name="org-neu-copy">
            <a:extLst xmlns:a="http://schemas.openxmlformats.org/drawingml/2006/main">
              <a:ext uri="{FF2B5EF4-FFF2-40B4-BE49-F238E27FC236}">
                <a16:creationId xmlns:a16="http://schemas.microsoft.com/office/drawing/2014/main" id="{32C4735A-BA61-449A-9535-961331CE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7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明确视觉规范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持续汇报需求 · 可检验边界</a:t>
            </a:r>
          </a:p>
        </p:txBody>
      </p:sp>
      <p:sp>
        <p:nvSpPr>
          <p:cNvPr id="9" name="org-theme">
            <a:extLst xmlns:a="http://schemas.openxmlformats.org/drawingml/2006/main">
              <a:ext uri="{FF2B5EF4-FFF2-40B4-BE49-F238E27FC236}">
                <a16:creationId xmlns:a16="http://schemas.microsoft.com/office/drawing/2014/main" id="{88002B34-CA85-40E2-8BCE-7B74F5FF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3086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0" name="org-theme-title">
            <a:extLst xmlns:a="http://schemas.openxmlformats.org/drawingml/2006/main">
              <a:ext uri="{FF2B5EF4-FFF2-40B4-BE49-F238E27FC236}">
                <a16:creationId xmlns:a16="http://schemas.microsoft.com/office/drawing/2014/main" id="{7CA4C70D-29AB-40D7-B17D-0DCC3311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主题配置</a:t>
            </a:r>
          </a:p>
        </p:txBody>
      </p:sp>
      <p:sp>
        <p:nvSpPr>
          <p:cNvPr id="11" name="org-theme-copy">
            <a:extLst xmlns:a="http://schemas.openxmlformats.org/drawingml/2006/main">
              <a:ext uri="{FF2B5EF4-FFF2-40B4-BE49-F238E27FC236}">
                <a16:creationId xmlns:a16="http://schemas.microsoft.com/office/drawing/2014/main" id="{802A5D50-A57D-46FD-8A1D-7E524913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1465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颜色 · Logo · 字体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页眉页脚 · 页面骨架</a:t>
            </a:r>
          </a:p>
        </p:txBody>
      </p:sp>
      <p:sp>
        <p:nvSpPr>
          <p:cNvPr id="12" name="org-targets">
            <a:extLst xmlns:a="http://schemas.openxmlformats.org/drawingml/2006/main">
              <a:ext uri="{FF2B5EF4-FFF2-40B4-BE49-F238E27FC236}">
                <a16:creationId xmlns:a16="http://schemas.microsoft.com/office/drawing/2014/main" id="{4B7DAF4A-3F99-4249-B0DF-5F32CF6B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33550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3" name="org-target-title">
            <a:extLst xmlns:a="http://schemas.openxmlformats.org/drawingml/2006/main">
              <a:ext uri="{FF2B5EF4-FFF2-40B4-BE49-F238E27FC236}">
                <a16:creationId xmlns:a16="http://schemas.microsoft.com/office/drawing/2014/main" id="{CCBD8DAA-213C-416C-B728-C367811D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38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可服务组织</a:t>
            </a:r>
          </a:p>
        </p:txBody>
      </p:sp>
      <p:sp>
        <p:nvSpPr>
          <p:cNvPr id="14" name="org-target-copy">
            <a:extLst xmlns:a="http://schemas.openxmlformats.org/drawingml/2006/main">
              <a:ext uri="{FF2B5EF4-FFF2-40B4-BE49-F238E27FC236}">
                <a16:creationId xmlns:a16="http://schemas.microsoft.com/office/drawing/2014/main" id="{15DC816A-C284-4E73-B377-1BB2FCF5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190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其他学校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科研院所 · 实验室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企业 · 团队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长期个人风格</a:t>
            </a:r>
          </a:p>
        </p:txBody>
      </p:sp>
      <p:cxnSp>
        <p:nvCxnSpPr>
          <p:cNvPr id="33" name="org-to-theme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57550" y="3067050"/>
            <a:ext cx="1295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cxnSp>
        <p:nvCxnSpPr>
          <p:cNvPr id="34" name="theme-to-targets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639050" y="3067050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86AD"/>
            </a:solidFill>
            <a:prstDash val="solid"/>
            <a:tailEnd type="triangle" w="sm" len="sm"/>
          </a:ln>
        </p:spPr>
      </p:cxnSp>
      <p:sp>
        <p:nvSpPr>
          <p:cNvPr id="17" name="org-bottom">
            <a:extLst xmlns:a="http://schemas.openxmlformats.org/drawingml/2006/main">
              <a:ext uri="{FF2B5EF4-FFF2-40B4-BE49-F238E27FC236}">
                <a16:creationId xmlns:a16="http://schemas.microsoft.com/office/drawing/2014/main" id="{127DBD37-A876-4A6F-A2FD-6965113B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01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8" name="org-bottom-t">
            <a:extLst xmlns:a="http://schemas.openxmlformats.org/drawingml/2006/main">
              <a:ext uri="{FF2B5EF4-FFF2-40B4-BE49-F238E27FC236}">
                <a16:creationId xmlns:a16="http://schemas.microsoft.com/office/drawing/2014/main" id="{0319EBEB-6488-4CF0-BDB4-6F66E26D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把少数人头脑和电脑里的能力，转化为更多人低成本获得的生产能力。</a:t>
            </a:r>
          </a:p>
        </p:txBody>
      </p:sp>
    </p:spTree>
    <p:extLst>
      <p:ext uri="{BB962C8B-B14F-4D97-AF65-F5344CB8AC3E}">
        <p14:creationId xmlns:p14="http://schemas.microsoft.com/office/powerpoint/2010/main" val="6266812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4476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7B2BFD66-D18C-4A62-ACCE-A9D6A10D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C8DB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DBEA"/>
                </a:solidFill>
                <a:latin typeface="Microsoft YaHei"/>
                <a:ea typeface="Microsoft YaHei"/>
                <a:cs typeface="Microsoft YaHei"/>
              </a:rPr>
              <a:t>PPagenT 的普通问题与长期价值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5602246-1B55-4F93-83EA-4736A4FF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把不可预测的生成，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变成概率上高度可预测的交付。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D3CEBBD8-A9D9-4360-968E-003AE905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DB8D1"/>
            </a:solidFill>
            <a:prstDash val="solid"/>
          </a:ln>
        </p:spPr>
      </p:sp>
      <p:sp>
        <p:nvSpPr>
          <p:cNvPr id="4" name="close-0">
            <a:extLst xmlns:a="http://schemas.openxmlformats.org/drawingml/2006/main">
              <a:ext uri="{FF2B5EF4-FFF2-40B4-BE49-F238E27FC236}">
                <a16:creationId xmlns:a16="http://schemas.microsoft.com/office/drawing/2014/main" id="{E5151EA2-60F4-404E-8C15-3B8A84E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6F93B6"/>
            </a:solidFill>
            <a:prstDash val="solid"/>
          </a:ln>
        </p:spPr>
      </p:sp>
      <p:sp>
        <p:nvSpPr>
          <p:cNvPr id="5" name="close-0-head">
            <a:extLst xmlns:a="http://schemas.openxmlformats.org/drawingml/2006/main">
              <a:ext uri="{FF2B5EF4-FFF2-40B4-BE49-F238E27FC236}">
                <a16:creationId xmlns:a16="http://schemas.microsoft.com/office/drawing/2014/main" id="{EC26BE24-BEAD-450E-B872-DEE8916D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靠谱</a:t>
            </a:r>
          </a:p>
        </p:txBody>
      </p:sp>
      <p:sp>
        <p:nvSpPr>
          <p:cNvPr id="6" name="close-0-body">
            <a:extLst xmlns:a="http://schemas.openxmlformats.org/drawingml/2006/main">
              <a:ext uri="{FF2B5EF4-FFF2-40B4-BE49-F238E27FC236}">
                <a16:creationId xmlns:a16="http://schemas.microsoft.com/office/drawing/2014/main" id="{E88C22A2-244D-49DD-A8A3-83FF2220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不一定惊艳，但能直接拿去讲</a:t>
            </a:r>
          </a:p>
        </p:txBody>
      </p:sp>
      <p:sp>
        <p:nvSpPr>
          <p:cNvPr id="7" name="close-1">
            <a:extLst xmlns:a="http://schemas.openxmlformats.org/drawingml/2006/main">
              <a:ext uri="{FF2B5EF4-FFF2-40B4-BE49-F238E27FC236}">
                <a16:creationId xmlns:a16="http://schemas.microsoft.com/office/drawing/2014/main" id="{B1B2CE8F-EBFB-4744-AD3A-AFF76E4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6F93B6"/>
            </a:solidFill>
            <a:prstDash val="solid"/>
          </a:ln>
        </p:spPr>
      </p:sp>
      <p:sp>
        <p:nvSpPr>
          <p:cNvPr id="8" name="close-1-head">
            <a:extLst xmlns:a="http://schemas.openxmlformats.org/drawingml/2006/main">
              <a:ext uri="{FF2B5EF4-FFF2-40B4-BE49-F238E27FC236}">
                <a16:creationId xmlns:a16="http://schemas.microsoft.com/office/drawing/2014/main" id="{790D50E0-F009-4401-8908-863F741E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52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好用</a:t>
            </a:r>
          </a:p>
        </p:txBody>
      </p:sp>
      <p:sp>
        <p:nvSpPr>
          <p:cNvPr id="9" name="close-1-body">
            <a:extLst xmlns:a="http://schemas.openxmlformats.org/drawingml/2006/main">
              <a:ext uri="{FF2B5EF4-FFF2-40B4-BE49-F238E27FC236}">
                <a16:creationId xmlns:a16="http://schemas.microsoft.com/office/drawing/2014/main" id="{35D7C7DB-E01C-467E-B7C5-9C7476A4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不一定独一无二，但真的有价值</a:t>
            </a:r>
          </a:p>
        </p:txBody>
      </p:sp>
      <p:sp>
        <p:nvSpPr>
          <p:cNvPr id="10" name="close-2">
            <a:extLst xmlns:a="http://schemas.openxmlformats.org/drawingml/2006/main">
              <a:ext uri="{FF2B5EF4-FFF2-40B4-BE49-F238E27FC236}">
                <a16:creationId xmlns:a16="http://schemas.microsoft.com/office/drawing/2014/main" id="{35984BE7-5369-4C40-8BF8-A08B4BA8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6F93B6"/>
            </a:solidFill>
            <a:prstDash val="solid"/>
          </a:ln>
        </p:spPr>
      </p:sp>
      <p:sp>
        <p:nvSpPr>
          <p:cNvPr id="11" name="close-2-head">
            <a:extLst xmlns:a="http://schemas.openxmlformats.org/drawingml/2006/main">
              <a:ext uri="{FF2B5EF4-FFF2-40B4-BE49-F238E27FC236}">
                <a16:creationId xmlns:a16="http://schemas.microsoft.com/office/drawing/2014/main" id="{0D9ECB5C-354F-4AE3-88B5-910C6E2E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可持续</a:t>
            </a:r>
          </a:p>
        </p:txBody>
      </p:sp>
      <p:sp>
        <p:nvSpPr>
          <p:cNvPr id="12" name="close-2-body">
            <a:extLst xmlns:a="http://schemas.openxmlformats.org/drawingml/2006/main">
              <a:ext uri="{FF2B5EF4-FFF2-40B4-BE49-F238E27FC236}">
                <a16:creationId xmlns:a16="http://schemas.microsoft.com/office/drawing/2014/main" id="{642F0065-0F8E-461E-9362-2883ACD9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481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可以立刻讲，也可以继续修改</a:t>
            </a:r>
          </a:p>
        </p:txBody>
      </p:sp>
      <p:sp>
        <p:nvSpPr>
          <p:cNvPr id="13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8B9DA334-3E13-4BAF-8FBF-F186BB9F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CE8F2"/>
                </a:solidFill>
                <a:latin typeface="Microsoft YaHei"/>
                <a:ea typeface="Microsoft YaHei"/>
                <a:cs typeface="Microsoft YaHei"/>
              </a:rPr>
              <a:t>让 AI 读稿子，让规则做判断，让代码完成重复劳动。</a:t>
            </a:r>
          </a:p>
        </p:txBody>
      </p:sp>
    </p:spTree>
    <p:extLst>
      <p:ext uri="{BB962C8B-B14F-4D97-AF65-F5344CB8AC3E}">
        <p14:creationId xmlns:p14="http://schemas.microsoft.com/office/powerpoint/2010/main" val="47082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2026-09-06T02:45:09.9500000Z</dcterms:created>
  <dcterms:modified xsi:type="dcterms:W3CDTF">2026-09-06T02:45:09.9500000Z</dcterms:modified>
</coreProperties>
</file>