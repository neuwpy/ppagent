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7fdb7ffc364e86" /><Relationship Type="http://schemas.openxmlformats.org/officeDocument/2006/relationships/extended-properties" Target="/docProps/app.xml" Id="Rb638bea0882a4ed6" /><Relationship Type="http://schemas.openxmlformats.org/officeDocument/2006/relationships/officeDocument" Target="/ppt/presentation.xml" Id="Rff7292c44d884a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8740fef1fa44e7"/>
  </p:sldMasterIdLst>
  <p:notesMasterIdLst>
    <p:notesMasterId xmlns:r="http://schemas.openxmlformats.org/officeDocument/2006/relationships" r:id="R33a06c55b21c486d"/>
  </p:notesMasterIdLst>
  <p:sldIdLst>
    <p:sldId xmlns:r="http://schemas.openxmlformats.org/officeDocument/2006/relationships" id="256" r:id="Ra963da17b8784ee9"/>
    <p:sldId xmlns:r="http://schemas.openxmlformats.org/officeDocument/2006/relationships" id="257" r:id="R121a71ff94254b04"/>
    <p:sldId xmlns:r="http://schemas.openxmlformats.org/officeDocument/2006/relationships" id="258" r:id="R8879f23fdaa54d74"/>
    <p:sldId xmlns:r="http://schemas.openxmlformats.org/officeDocument/2006/relationships" id="259" r:id="R70a237fc08f94c33"/>
    <p:sldId xmlns:r="http://schemas.openxmlformats.org/officeDocument/2006/relationships" id="260" r:id="Reace2166dc954c31"/>
    <p:sldId xmlns:r="http://schemas.openxmlformats.org/officeDocument/2006/relationships" id="261" r:id="R566386c0c41e440b"/>
    <p:sldId xmlns:r="http://schemas.openxmlformats.org/officeDocument/2006/relationships" id="262" r:id="Rcc45d251a3904fd5"/>
    <p:sldId xmlns:r="http://schemas.openxmlformats.org/officeDocument/2006/relationships" id="263" r:id="Radd5f050877d4beb"/>
    <p:sldId xmlns:r="http://schemas.openxmlformats.org/officeDocument/2006/relationships" id="264" r:id="R0396630f830f4276"/>
    <p:sldId xmlns:r="http://schemas.openxmlformats.org/officeDocument/2006/relationships" id="265" r:id="Re6eb332826cd48dd"/>
    <p:sldId xmlns:r="http://schemas.openxmlformats.org/officeDocument/2006/relationships" id="266" r:id="Re2a35717053a48f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d3043cb1d6d4623" /><Relationship Type="http://schemas.openxmlformats.org/officeDocument/2006/relationships/slideMaster" Target="/ppt/slideMasters/slideMaster1.xml" Id="Rdb8740fef1fa44e7" /><Relationship Type="http://schemas.openxmlformats.org/officeDocument/2006/relationships/notesMaster" Target="/ppt/notesMasters/notesMaster1.xml" Id="R33a06c55b21c486d" /><Relationship Type="http://schemas.openxmlformats.org/officeDocument/2006/relationships/presProps" Target="/ppt/presProps.xml" Id="R6dbae051388a4b7c" /><Relationship Type="http://schemas.openxmlformats.org/officeDocument/2006/relationships/tableStyles" Target="/ppt/tableStyles.xml" Id="R894a508c99454ffe" /><Relationship Type="http://schemas.openxmlformats.org/officeDocument/2006/relationships/slide" Target="/ppt/slides/slide1.xml" Id="Ra963da17b8784ee9" /><Relationship Type="http://schemas.openxmlformats.org/officeDocument/2006/relationships/slide" Target="/ppt/slides/slide2.xml" Id="R121a71ff94254b04" /><Relationship Type="http://schemas.openxmlformats.org/officeDocument/2006/relationships/slide" Target="/ppt/slides/slide3.xml" Id="R8879f23fdaa54d74" /><Relationship Type="http://schemas.openxmlformats.org/officeDocument/2006/relationships/slide" Target="/ppt/slides/slide4.xml" Id="R70a237fc08f94c33" /><Relationship Type="http://schemas.openxmlformats.org/officeDocument/2006/relationships/slide" Target="/ppt/slides/slide5.xml" Id="Reace2166dc954c31" /><Relationship Type="http://schemas.openxmlformats.org/officeDocument/2006/relationships/slide" Target="/ppt/slides/slide6.xml" Id="R566386c0c41e440b" /><Relationship Type="http://schemas.openxmlformats.org/officeDocument/2006/relationships/slide" Target="/ppt/slides/slide7.xml" Id="Rcc45d251a3904fd5" /><Relationship Type="http://schemas.openxmlformats.org/officeDocument/2006/relationships/slide" Target="/ppt/slides/slide8.xml" Id="Radd5f050877d4beb" /><Relationship Type="http://schemas.openxmlformats.org/officeDocument/2006/relationships/slide" Target="/ppt/slides/slide9.xml" Id="R0396630f830f4276" /><Relationship Type="http://schemas.openxmlformats.org/officeDocument/2006/relationships/slide" Target="/ppt/slides/slide10.xml" Id="Re6eb332826cd48dd" /><Relationship Type="http://schemas.openxmlformats.org/officeDocument/2006/relationships/slide" Target="/ppt/slides/slide11.xml" Id="Re2a35717053a48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7956f7485f400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57d413ee5448f3" /><Relationship Type="http://schemas.openxmlformats.org/officeDocument/2006/relationships/notesMaster" Target="/ppt/notesMasters/notesMaster1.xml" Id="R4c6593d2eab14e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d07b0b385934ad4" /><Relationship Type="http://schemas.openxmlformats.org/officeDocument/2006/relationships/notesMaster" Target="/ppt/notesMasters/notesMaster1.xml" Id="R92e3eb4aae7b4a8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9e5d9e828b24ffa" /><Relationship Type="http://schemas.openxmlformats.org/officeDocument/2006/relationships/notesMaster" Target="/ppt/notesMasters/notesMaster1.xml" Id="R9bd51a9d6466463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c3c7cbfaab34e33" /><Relationship Type="http://schemas.openxmlformats.org/officeDocument/2006/relationships/notesMaster" Target="/ppt/notesMasters/notesMaster1.xml" Id="R5f5eb1ef176f46b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24dd60fc464f7b" /><Relationship Type="http://schemas.openxmlformats.org/officeDocument/2006/relationships/notesMaster" Target="/ppt/notesMasters/notesMaster1.xml" Id="Rcb8f3493bdfa49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e6c0b7214d143f5" /><Relationship Type="http://schemas.openxmlformats.org/officeDocument/2006/relationships/notesMaster" Target="/ppt/notesMasters/notesMaster1.xml" Id="R3c33196c6bab43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887fa20297e4026" /><Relationship Type="http://schemas.openxmlformats.org/officeDocument/2006/relationships/notesMaster" Target="/ppt/notesMasters/notesMaster1.xml" Id="R855c360c2e10471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a44c8d63633493b" /><Relationship Type="http://schemas.openxmlformats.org/officeDocument/2006/relationships/notesMaster" Target="/ppt/notesMasters/notesMaster1.xml" Id="R8353dcce97f745c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965a89cf49f44ea" /><Relationship Type="http://schemas.openxmlformats.org/officeDocument/2006/relationships/notesMaster" Target="/ppt/notesMasters/notesMaster1.xml" Id="Rf1faca190822487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f82b89e9ae7498c" /><Relationship Type="http://schemas.openxmlformats.org/officeDocument/2006/relationships/notesMaster" Target="/ppt/notesMasters/notesMaster1.xml" Id="R754be0e531dc408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4ca19a0ec9524eb9" /><Relationship Type="http://schemas.openxmlformats.org/officeDocument/2006/relationships/notesMaster" Target="/ppt/notesMasters/notesMaster1.xml" Id="R396053b47a3e4a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C:/PPagenT/experiments/university-skin-pilot/stability-01/inputs/product.txt。封面用于提出产品主张，不添加外部事实。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C:/PPagenT/experiments/university-skin-pilot/stability-01/inputs/product.txt。本页重组层级与两条路线关系，未调用结构组件。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C:/PPagenT/experiments/university-skin-pilot/stability-01/inputs/product.txt。本页参考 hierarchy-grouped-breakdown-005 的根主题→分组→分点关系。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来源：分配原稿 C:/PPagenT/experiments/university-skin-pilot/stability-01/inputs/product.txt。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fd03163e34a3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806a21b3c5422f" /><Relationship Type="http://schemas.openxmlformats.org/officeDocument/2006/relationships/slideLayout" Target="/ppt/slideLayouts/slideLayout1.xml" Id="Rdb911430465b482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b911430465b482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2cab5e21e541f0" /><Relationship Type="http://schemas.openxmlformats.org/officeDocument/2006/relationships/notesSlide" Target="/ppt/notesSlides/notesSlide1.xml" Id="R4da3394462d64c1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79e5aa970d4dfe" /><Relationship Type="http://schemas.openxmlformats.org/officeDocument/2006/relationships/notesSlide" Target="/ppt/notesSlides/notesSlide2.xml" Id="R22ef4763e39b4bc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f6951aa624421a" /><Relationship Type="http://schemas.openxmlformats.org/officeDocument/2006/relationships/notesSlide" Target="/ppt/notesSlides/notesSlide3.xml" Id="R48e1a08f5958405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ddd084ec1c4d73" /><Relationship Type="http://schemas.openxmlformats.org/officeDocument/2006/relationships/notesSlide" Target="/ppt/notesSlides/notesSlide4.xml" Id="R5541581ee5d64a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9f36e429be456d" /><Relationship Type="http://schemas.openxmlformats.org/officeDocument/2006/relationships/notesSlide" Target="/ppt/notesSlides/notesSlide5.xml" Id="R308cc71d5f4245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e215f241814200" /><Relationship Type="http://schemas.openxmlformats.org/officeDocument/2006/relationships/notesSlide" Target="/ppt/notesSlides/notesSlide6.xml" Id="Rceefebee3137488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f80d56e1174269" /><Relationship Type="http://schemas.openxmlformats.org/officeDocument/2006/relationships/notesSlide" Target="/ppt/notesSlides/notesSlide7.xml" Id="R72aae69e11ad4f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5c45abd3641e6" /><Relationship Type="http://schemas.openxmlformats.org/officeDocument/2006/relationships/notesSlide" Target="/ppt/notesSlides/notesSlide8.xml" Id="Re7d977a306f9470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192b3fcf64b3b" /><Relationship Type="http://schemas.openxmlformats.org/officeDocument/2006/relationships/notesSlide" Target="/ppt/notesSlides/notesSlide9.xml" Id="R92e4744745874fa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07c31b195a4233" /><Relationship Type="http://schemas.openxmlformats.org/officeDocument/2006/relationships/notesSlide" Target="/ppt/notesSlides/notesSlide10.xml" Id="R61daabfa3e4f4da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1e3a43f68e46f6" /><Relationship Type="http://schemas.openxmlformats.org/officeDocument/2006/relationships/notesSlide" Target="/ppt/notesSlides/notesSlide11.xml" Id="R3c8562aca4a5415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EA09A7C2-C6B3-4495-8D5E-A46C7DDF4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42950"/>
            <a:ext cx="9144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E5E105E-E626-4656-B401-34916D02B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产品叙事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A4BB372-152C-49C9-BCF6-D694099F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685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 PPT 生成变成</a:t>
            </a:r>
          </a:p>
          <a:p xmlns:a="http://schemas.openxmlformats.org/drawingml/2006/main">
            <a:pPr algn="l">
              <a:defRPr sz="39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可靠的生产过程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BD776B9-F165-44A3-AF73-13D530104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PPagenT 为什么选择稳定可用的工作型 PPT</a:t>
            </a:r>
          </a:p>
        </p:txBody>
      </p:sp>
      <p:sp>
        <p:nvSpPr>
          <p:cNvPr id="5" name="cover-panel">
            <a:extLst xmlns:a="http://schemas.openxmlformats.org/drawingml/2006/main">
              <a:ext uri="{FF2B5EF4-FFF2-40B4-BE49-F238E27FC236}">
                <a16:creationId xmlns:a16="http://schemas.microsoft.com/office/drawing/2014/main" id="{1578EFF0-3612-4037-A240-B88C0572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43000"/>
            <a:ext cx="3143250" cy="428625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ver-panel-head">
            <a:extLst xmlns:a="http://schemas.openxmlformats.org/drawingml/2006/main">
              <a:ext uri="{FF2B5EF4-FFF2-40B4-BE49-F238E27FC236}">
                <a16:creationId xmlns:a16="http://schemas.microsoft.com/office/drawing/2014/main" id="{A4FE6CAB-D988-4D57-97F4-AE29AF75E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716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从稿件到交付</a:t>
            </a:r>
          </a:p>
        </p:txBody>
      </p:sp>
      <p:sp>
        <p:nvSpPr>
          <p:cNvPr id="7" name="cover-arrow-0">
            <a:extLst xmlns:a="http://schemas.openxmlformats.org/drawingml/2006/main">
              <a:ext uri="{FF2B5EF4-FFF2-40B4-BE49-F238E27FC236}">
                <a16:creationId xmlns:a16="http://schemas.microsoft.com/office/drawing/2014/main" id="{C8CAD42F-4A51-41D7-8F52-5B68D742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27432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dot-0">
            <a:extLst xmlns:a="http://schemas.openxmlformats.org/drawingml/2006/main">
              <a:ext uri="{FF2B5EF4-FFF2-40B4-BE49-F238E27FC236}">
                <a16:creationId xmlns:a16="http://schemas.microsoft.com/office/drawing/2014/main" id="{4FACD8B6-B6F4-4AE6-8205-239D6623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dot-label-0">
            <a:extLst xmlns:a="http://schemas.openxmlformats.org/drawingml/2006/main">
              <a:ext uri="{FF2B5EF4-FFF2-40B4-BE49-F238E27FC236}">
                <a16:creationId xmlns:a16="http://schemas.microsoft.com/office/drawing/2014/main" id="{72C145AA-2209-482E-841C-750EDF9E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622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理解</a:t>
            </a:r>
          </a:p>
        </p:txBody>
      </p:sp>
      <p:sp>
        <p:nvSpPr>
          <p:cNvPr id="10" name="cover-arrow-1">
            <a:extLst xmlns:a="http://schemas.openxmlformats.org/drawingml/2006/main">
              <a:ext uri="{FF2B5EF4-FFF2-40B4-BE49-F238E27FC236}">
                <a16:creationId xmlns:a16="http://schemas.microsoft.com/office/drawing/2014/main" id="{12117AF4-F9B1-4943-BB1A-901E86300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348615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ver-dot-1">
            <a:extLst xmlns:a="http://schemas.openxmlformats.org/drawingml/2006/main">
              <a:ext uri="{FF2B5EF4-FFF2-40B4-BE49-F238E27FC236}">
                <a16:creationId xmlns:a16="http://schemas.microsoft.com/office/drawing/2014/main" id="{2CE24AC4-CBB1-41DF-9784-E018DFAD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1051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ver-dot-label-1">
            <a:extLst xmlns:a="http://schemas.openxmlformats.org/drawingml/2006/main">
              <a:ext uri="{FF2B5EF4-FFF2-40B4-BE49-F238E27FC236}">
                <a16:creationId xmlns:a16="http://schemas.microsoft.com/office/drawing/2014/main" id="{C4752C93-77E7-4960-829E-C3C4DE75D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051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编排</a:t>
            </a:r>
          </a:p>
        </p:txBody>
      </p:sp>
      <p:sp>
        <p:nvSpPr>
          <p:cNvPr id="13" name="cover-arrow-2">
            <a:extLst xmlns:a="http://schemas.openxmlformats.org/drawingml/2006/main">
              <a:ext uri="{FF2B5EF4-FFF2-40B4-BE49-F238E27FC236}">
                <a16:creationId xmlns:a16="http://schemas.microsoft.com/office/drawing/2014/main" id="{F3FDFC74-E52F-4DD2-898C-A1CAB672A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53475" y="4229100"/>
            <a:ext cx="876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ver-dot-2">
            <a:extLst xmlns:a="http://schemas.openxmlformats.org/drawingml/2006/main">
              <a:ext uri="{FF2B5EF4-FFF2-40B4-BE49-F238E27FC236}">
                <a16:creationId xmlns:a16="http://schemas.microsoft.com/office/drawing/2014/main" id="{CF1C35A9-A442-4013-989D-DC5A27C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84810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cover-dot-label-2">
            <a:extLst xmlns:a="http://schemas.openxmlformats.org/drawingml/2006/main">
              <a:ext uri="{FF2B5EF4-FFF2-40B4-BE49-F238E27FC236}">
                <a16:creationId xmlns:a16="http://schemas.microsoft.com/office/drawing/2014/main" id="{0DF6B450-4ACE-4A31-9093-9BE377D8C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4812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编译</a:t>
            </a:r>
          </a:p>
        </p:txBody>
      </p:sp>
      <p:sp>
        <p:nvSpPr>
          <p:cNvPr id="16" name="cover-dot-3">
            <a:extLst xmlns:a="http://schemas.openxmlformats.org/drawingml/2006/main">
              <a:ext uri="{FF2B5EF4-FFF2-40B4-BE49-F238E27FC236}">
                <a16:creationId xmlns:a16="http://schemas.microsoft.com/office/drawing/2014/main" id="{F96CA12C-E4FF-41AA-811E-6555A7E8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591050"/>
            <a:ext cx="704850" cy="704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ver-dot-label-3">
            <a:extLst xmlns:a="http://schemas.openxmlformats.org/drawingml/2006/main">
              <a:ext uri="{FF2B5EF4-FFF2-40B4-BE49-F238E27FC236}">
                <a16:creationId xmlns:a16="http://schemas.microsoft.com/office/drawing/2014/main" id="{F1700C92-297C-4A11-AD77-96804264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91075"/>
            <a:ext cx="552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交付</a:t>
            </a:r>
          </a:p>
        </p:txBody>
      </p:sp>
      <p:sp>
        <p:nvSpPr>
          <p:cNvPr id="18" name="cover-foot">
            <a:extLst xmlns:a="http://schemas.openxmlformats.org/drawingml/2006/main">
              <a:ext uri="{FF2B5EF4-FFF2-40B4-BE49-F238E27FC236}">
                <a16:creationId xmlns:a16="http://schemas.microsoft.com/office/drawing/2014/main" id="{2392ACE9-1CEB-425D-B879-CC36AB12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7340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读懂稿子，规则做判断，代码完成重复劳动。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CC9C6D00-CE58-47B9-9966-92F07302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FC986ED3-CA26-421D-8B6B-CB8F8A89E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7CBBDA9-41AF-4DA6-9298-36E6FC8B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897622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3D8CC99-0F5F-4BEC-95B3-D3675367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01 真实成本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1DD3D4E9-5831-4C4D-979F-890D6D51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86888E8-19C2-4587-A3A4-A9046F07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做 PPT，真正昂贵的不是“画”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2C908643-1E42-4AF1-9F2B-798163827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版式只是最后一步，前面是一连串高价值判断。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A83E32A6-DA20-464A-961A-0CA485D6E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vidence-zone">
            <a:extLst xmlns:a="http://schemas.openxmlformats.org/drawingml/2006/main">
              <a:ext uri="{FF2B5EF4-FFF2-40B4-BE49-F238E27FC236}">
                <a16:creationId xmlns:a16="http://schemas.microsoft.com/office/drawing/2014/main" id="{F48598FF-5C2A-44F3-9B97-1A7C87368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723900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evidence-title">
            <a:extLst xmlns:a="http://schemas.openxmlformats.org/drawingml/2006/main">
              <a:ext uri="{FF2B5EF4-FFF2-40B4-BE49-F238E27FC236}">
                <a16:creationId xmlns:a16="http://schemas.microsoft.com/office/drawing/2014/main" id="{389DFF1F-F1CE-4434-9361-118043C3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一页好 PPT 需要先回答四个问题</a:t>
            </a:r>
          </a:p>
        </p:txBody>
      </p:sp>
      <p:sp>
        <p:nvSpPr>
          <p:cNvPr id="8" name="q-dot-0">
            <a:extLst xmlns:a="http://schemas.openxmlformats.org/drawingml/2006/main">
              <a:ext uri="{FF2B5EF4-FFF2-40B4-BE49-F238E27FC236}">
                <a16:creationId xmlns:a16="http://schemas.microsoft.com/office/drawing/2014/main" id="{7E876BB8-297E-4DD5-90F2-4CCD9E0C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860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q-num-0">
            <a:extLst xmlns:a="http://schemas.openxmlformats.org/drawingml/2006/main">
              <a:ext uri="{FF2B5EF4-FFF2-40B4-BE49-F238E27FC236}">
                <a16:creationId xmlns:a16="http://schemas.microsoft.com/office/drawing/2014/main" id="{D53593F9-93B5-4FE7-AA45-BEC2B7B3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717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q-head-0">
            <a:extLst xmlns:a="http://schemas.openxmlformats.org/drawingml/2006/main">
              <a:ext uri="{FF2B5EF4-FFF2-40B4-BE49-F238E27FC236}">
                <a16:creationId xmlns:a16="http://schemas.microsoft.com/office/drawing/2014/main" id="{8CD05167-6596-4B3C-8A7B-D28954FA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7051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怎么讲</a:t>
            </a:r>
          </a:p>
        </p:txBody>
      </p:sp>
      <p:sp>
        <p:nvSpPr>
          <p:cNvPr id="11" name="q-body-0">
            <a:extLst xmlns:a="http://schemas.openxmlformats.org/drawingml/2006/main">
              <a:ext uri="{FF2B5EF4-FFF2-40B4-BE49-F238E27FC236}">
                <a16:creationId xmlns:a16="http://schemas.microsoft.com/office/drawing/2014/main" id="{66CAC859-D3D2-46BB-B912-A45C9D6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7146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这场汇报的主线是什么？</a:t>
            </a:r>
          </a:p>
        </p:txBody>
      </p:sp>
      <p:sp>
        <p:nvSpPr>
          <p:cNvPr id="12" name="q-rule-0">
            <a:extLst xmlns:a="http://schemas.openxmlformats.org/drawingml/2006/main">
              <a:ext uri="{FF2B5EF4-FFF2-40B4-BE49-F238E27FC236}">
                <a16:creationId xmlns:a16="http://schemas.microsoft.com/office/drawing/2014/main" id="{0C70B8E8-90EB-4ADC-83B9-8151BF4F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2194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q-dot-1">
            <a:extLst xmlns:a="http://schemas.openxmlformats.org/drawingml/2006/main">
              <a:ext uri="{FF2B5EF4-FFF2-40B4-BE49-F238E27FC236}">
                <a16:creationId xmlns:a16="http://schemas.microsoft.com/office/drawing/2014/main" id="{F36C3804-9911-40F7-999C-FA92487B4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718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q-num-1">
            <a:extLst xmlns:a="http://schemas.openxmlformats.org/drawingml/2006/main">
              <a:ext uri="{FF2B5EF4-FFF2-40B4-BE49-F238E27FC236}">
                <a16:creationId xmlns:a16="http://schemas.microsoft.com/office/drawing/2014/main" id="{C5A054D9-B914-4268-BFA8-23F93F7CE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575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q-head-1">
            <a:extLst xmlns:a="http://schemas.openxmlformats.org/drawingml/2006/main">
              <a:ext uri="{FF2B5EF4-FFF2-40B4-BE49-F238E27FC236}">
                <a16:creationId xmlns:a16="http://schemas.microsoft.com/office/drawing/2014/main" id="{F721474E-4CBE-4D4F-8F40-10C67DBAF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3909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拆几页</a:t>
            </a:r>
          </a:p>
        </p:txBody>
      </p:sp>
      <p:sp>
        <p:nvSpPr>
          <p:cNvPr id="16" name="q-body-1">
            <a:extLst xmlns:a="http://schemas.openxmlformats.org/drawingml/2006/main">
              <a:ext uri="{FF2B5EF4-FFF2-40B4-BE49-F238E27FC236}">
                <a16:creationId xmlns:a16="http://schemas.microsoft.com/office/drawing/2014/main" id="{720FB3E0-80CB-4861-BA96-7D1AAFC44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4004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长稿应该拆成多少页？</a:t>
            </a:r>
          </a:p>
        </p:txBody>
      </p:sp>
      <p:sp>
        <p:nvSpPr>
          <p:cNvPr id="17" name="q-rule-1">
            <a:extLst xmlns:a="http://schemas.openxmlformats.org/drawingml/2006/main">
              <a:ext uri="{FF2B5EF4-FFF2-40B4-BE49-F238E27FC236}">
                <a16:creationId xmlns:a16="http://schemas.microsoft.com/office/drawing/2014/main" id="{06E2F6F5-789E-4049-998A-5FBEF89D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9052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q-dot-2">
            <a:extLst xmlns:a="http://schemas.openxmlformats.org/drawingml/2006/main">
              <a:ext uri="{FF2B5EF4-FFF2-40B4-BE49-F238E27FC236}">
                <a16:creationId xmlns:a16="http://schemas.microsoft.com/office/drawing/2014/main" id="{4537940D-50C6-472A-ABD5-201AA352B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576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q-num-2">
            <a:extLst xmlns:a="http://schemas.openxmlformats.org/drawingml/2006/main">
              <a:ext uri="{FF2B5EF4-FFF2-40B4-BE49-F238E27FC236}">
                <a16:creationId xmlns:a16="http://schemas.microsoft.com/office/drawing/2014/main" id="{B511B378-E05B-426D-8BE8-634DAF02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433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q-head-2">
            <a:extLst xmlns:a="http://schemas.openxmlformats.org/drawingml/2006/main">
              <a:ext uri="{FF2B5EF4-FFF2-40B4-BE49-F238E27FC236}">
                <a16:creationId xmlns:a16="http://schemas.microsoft.com/office/drawing/2014/main" id="{4249DDF4-BCBD-4BF6-B6E7-6A9A6149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0767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什么关系</a:t>
            </a:r>
          </a:p>
        </p:txBody>
      </p:sp>
      <p:sp>
        <p:nvSpPr>
          <p:cNvPr id="21" name="q-body-2">
            <a:extLst xmlns:a="http://schemas.openxmlformats.org/drawingml/2006/main">
              <a:ext uri="{FF2B5EF4-FFF2-40B4-BE49-F238E27FC236}">
                <a16:creationId xmlns:a16="http://schemas.microsoft.com/office/drawing/2014/main" id="{61DFC67E-1C82-4519-86BB-7E29B64AF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0862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观点是并列、递进、因果还是流程？</a:t>
            </a:r>
          </a:p>
        </p:txBody>
      </p:sp>
      <p:sp>
        <p:nvSpPr>
          <p:cNvPr id="22" name="q-rule-2">
            <a:extLst xmlns:a="http://schemas.openxmlformats.org/drawingml/2006/main">
              <a:ext uri="{FF2B5EF4-FFF2-40B4-BE49-F238E27FC236}">
                <a16:creationId xmlns:a16="http://schemas.microsoft.com/office/drawing/2014/main" id="{F66AE8D7-A5E1-457E-893B-42654C53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91050"/>
            <a:ext cx="5334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q-dot-3">
            <a:extLst xmlns:a="http://schemas.openxmlformats.org/drawingml/2006/main">
              <a:ext uri="{FF2B5EF4-FFF2-40B4-BE49-F238E27FC236}">
                <a16:creationId xmlns:a16="http://schemas.microsoft.com/office/drawing/2014/main" id="{10979915-1CB6-41E2-9592-8FD638C5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434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q-num-3">
            <a:extLst xmlns:a="http://schemas.openxmlformats.org/drawingml/2006/main">
              <a:ext uri="{FF2B5EF4-FFF2-40B4-BE49-F238E27FC236}">
                <a16:creationId xmlns:a16="http://schemas.microsoft.com/office/drawing/2014/main" id="{2E2544CB-BDB6-4742-A4C2-FAF2F4688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29175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5" name="q-head-3">
            <a:extLst xmlns:a="http://schemas.openxmlformats.org/drawingml/2006/main">
              <a:ext uri="{FF2B5EF4-FFF2-40B4-BE49-F238E27FC236}">
                <a16:creationId xmlns:a16="http://schemas.microsoft.com/office/drawing/2014/main" id="{C31B2AE3-B470-48F8-BFC4-8325A1ADE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762500"/>
            <a:ext cx="99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何时用图</a:t>
            </a:r>
          </a:p>
        </p:txBody>
      </p:sp>
      <p:sp>
        <p:nvSpPr>
          <p:cNvPr id="26" name="q-body-3">
            <a:extLst xmlns:a="http://schemas.openxmlformats.org/drawingml/2006/main">
              <a:ext uri="{FF2B5EF4-FFF2-40B4-BE49-F238E27FC236}">
                <a16:creationId xmlns:a16="http://schemas.microsoft.com/office/drawing/2014/main" id="{BB94CF92-01D0-400D-8590-7EF6FFF60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772025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哪里需要结构，哪里一句话更有力？</a:t>
            </a:r>
          </a:p>
        </p:txBody>
      </p:sp>
      <p:sp>
        <p:nvSpPr>
          <p:cNvPr id="27" name="meaning-zone">
            <a:extLst xmlns:a="http://schemas.openxmlformats.org/drawingml/2006/main">
              <a:ext uri="{FF2B5EF4-FFF2-40B4-BE49-F238E27FC236}">
                <a16:creationId xmlns:a16="http://schemas.microsoft.com/office/drawing/2014/main" id="{36F905D1-9044-42EC-A0DA-15226AAA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43250" cy="3381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8" name="meaning-head">
            <a:extLst xmlns:a="http://schemas.openxmlformats.org/drawingml/2006/main">
              <a:ext uri="{FF2B5EF4-FFF2-40B4-BE49-F238E27FC236}">
                <a16:creationId xmlns:a16="http://schemas.microsoft.com/office/drawing/2014/main" id="{E87352C2-7B68-4A38-8689-50EDFB1AD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050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贵的是判断</a:t>
            </a:r>
          </a:p>
        </p:txBody>
      </p:sp>
      <p:sp>
        <p:nvSpPr>
          <p:cNvPr id="29" name="meaning-body">
            <a:extLst xmlns:a="http://schemas.openxmlformats.org/drawingml/2006/main">
              <a:ext uri="{FF2B5EF4-FFF2-40B4-BE49-F238E27FC236}">
                <a16:creationId xmlns:a16="http://schemas.microsoft.com/office/drawing/2014/main" id="{CED9B917-2B51-44EB-9EBC-8800A7A8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9908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高手已经积累了大量答案。</a:t>
            </a:r>
          </a:p>
          <a:p xmlns:a="http://schemas.openxmlformats.org/drawingml/2006/main">
            <a:pPr algn="l">
              <a:def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每次从零开始，系统却要重新支付判断的时间与风险。</a:t>
            </a:r>
          </a:p>
        </p:txBody>
      </p:sp>
      <p:sp>
        <p:nvSpPr>
          <p:cNvPr id="30" name="meaning-rule">
            <a:extLst xmlns:a="http://schemas.openxmlformats.org/drawingml/2006/main">
              <a:ext uri="{FF2B5EF4-FFF2-40B4-BE49-F238E27FC236}">
                <a16:creationId xmlns:a16="http://schemas.microsoft.com/office/drawing/2014/main" id="{B4F12DE7-E611-4756-BBD2-D9CF8173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0100"/>
            <a:ext cx="9334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meaning-quote">
            <a:extLst xmlns:a="http://schemas.openxmlformats.org/drawingml/2006/main">
              <a:ext uri="{FF2B5EF4-FFF2-40B4-BE49-F238E27FC236}">
                <a16:creationId xmlns:a16="http://schemas.microsoft.com/office/drawing/2014/main" id="{FF7921D0-499F-41AF-AC0E-77D2D1B85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768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为什么还要重做</a:t>
            </a:r>
          </a:p>
        </p:txBody>
      </p:sp>
      <p:sp>
        <p:nvSpPr>
          <p:cNvPr id="3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F26F613-068F-449B-AD63-E4A33E72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F611C8F-A3CA-46BC-90F8-D86F62A5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3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FAAEC14-054B-4EAE-B727-79A60C87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528776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8B137C3-AE22-42E5-8062-70C5011D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02 选择需求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F08F6C9-FF49-4FA9-81C9-D50F1B241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1C33C9-2A5C-42EF-8B4F-09F133C71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PPagenT 先服务概率密度最大的需求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DBCD5B5-2B26-4AF0-8080-929DBF04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工作型 PPT 位于“只要放字”和“高度定制”之间。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483A43A-4800-4819-82AE-95DB17EB2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xis-zone">
            <a:extLst xmlns:a="http://schemas.openxmlformats.org/drawingml/2006/main">
              <a:ext uri="{FF2B5EF4-FFF2-40B4-BE49-F238E27FC236}">
                <a16:creationId xmlns:a16="http://schemas.microsoft.com/office/drawing/2014/main" id="{434CFC3C-C094-4668-993C-0532FFA8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1144250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axis-left">
            <a:extLst xmlns:a="http://schemas.openxmlformats.org/drawingml/2006/main">
              <a:ext uri="{FF2B5EF4-FFF2-40B4-BE49-F238E27FC236}">
                <a16:creationId xmlns:a16="http://schemas.microsoft.com/office/drawing/2014/main" id="{05BE485B-BAC8-47F9-BE9C-739720B3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几乎不在意版式</a:t>
            </a:r>
          </a:p>
        </p:txBody>
      </p:sp>
      <p:sp>
        <p:nvSpPr>
          <p:cNvPr id="8" name="axis-right">
            <a:extLst xmlns:a="http://schemas.openxmlformats.org/drawingml/2006/main">
              <a:ext uri="{FF2B5EF4-FFF2-40B4-BE49-F238E27FC236}">
                <a16:creationId xmlns:a16="http://schemas.microsoft.com/office/drawing/2014/main" id="{AD61BD08-88AB-4067-A905-2BB367B2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238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高度定制创意</a:t>
            </a:r>
          </a:p>
        </p:txBody>
      </p:sp>
      <p:sp>
        <p:nvSpPr>
          <p:cNvPr id="9" name="axis-line">
            <a:extLst xmlns:a="http://schemas.openxmlformats.org/drawingml/2006/main">
              <a:ext uri="{FF2B5EF4-FFF2-40B4-BE49-F238E27FC236}">
                <a16:creationId xmlns:a16="http://schemas.microsoft.com/office/drawing/2014/main" id="{AB45D949-2314-4C66-8C4D-C3E06841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76600"/>
            <a:ext cx="9429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xis-end-left">
            <a:extLst xmlns:a="http://schemas.openxmlformats.org/drawingml/2006/main">
              <a:ext uri="{FF2B5EF4-FFF2-40B4-BE49-F238E27FC236}">
                <a16:creationId xmlns:a16="http://schemas.microsoft.com/office/drawing/2014/main" id="{D97C9343-C3C2-4478-B5D1-AEC734AE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81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axis-end-right">
            <a:extLst xmlns:a="http://schemas.openxmlformats.org/drawingml/2006/main">
              <a:ext uri="{FF2B5EF4-FFF2-40B4-BE49-F238E27FC236}">
                <a16:creationId xmlns:a16="http://schemas.microsoft.com/office/drawing/2014/main" id="{9DEB005C-8528-4FF9-A3EF-FCDB9D5EE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181350"/>
            <a:ext cx="238125" cy="238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xis-target-arrow">
            <a:extLst xmlns:a="http://schemas.openxmlformats.org/drawingml/2006/main">
              <a:ext uri="{FF2B5EF4-FFF2-40B4-BE49-F238E27FC236}">
                <a16:creationId xmlns:a16="http://schemas.microsoft.com/office/drawing/2014/main" id="{E43243D0-068F-4C84-B49E-ACB6B23B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14625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xis-target">
            <a:extLst xmlns:a="http://schemas.openxmlformats.org/drawingml/2006/main">
              <a:ext uri="{FF2B5EF4-FFF2-40B4-BE49-F238E27FC236}">
                <a16:creationId xmlns:a16="http://schemas.microsoft.com/office/drawing/2014/main" id="{80A5C91C-DB1D-41EB-9078-9DA246CB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914650"/>
            <a:ext cx="285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工作型 PPT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规范、可改、快速交付</a:t>
            </a:r>
          </a:p>
        </p:txBody>
      </p:sp>
      <p:sp>
        <p:nvSpPr>
          <p:cNvPr id="14" name="axis-low">
            <a:extLst xmlns:a="http://schemas.openxmlformats.org/drawingml/2006/main">
              <a:ext uri="{FF2B5EF4-FFF2-40B4-BE49-F238E27FC236}">
                <a16:creationId xmlns:a16="http://schemas.microsoft.com/office/drawing/2014/main" id="{320E3A28-5B60-429B-828F-98E159A9C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7147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“把文字放上去”</a:t>
            </a:r>
          </a:p>
        </p:txBody>
      </p:sp>
      <p:sp>
        <p:nvSpPr>
          <p:cNvPr id="15" name="axis-high">
            <a:extLst xmlns:a="http://schemas.openxmlformats.org/drawingml/2006/main">
              <a:ext uri="{FF2B5EF4-FFF2-40B4-BE49-F238E27FC236}">
                <a16:creationId xmlns:a16="http://schemas.microsoft.com/office/drawing/2014/main" id="{F96E5D7C-2D9F-44A9-8C64-DA936B68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714750"/>
            <a:ext cx="2190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发布会 / 品牌路演</a:t>
            </a:r>
          </a:p>
        </p:txBody>
      </p:sp>
      <p:sp>
        <p:nvSpPr>
          <p:cNvPr id="16" name="axis-middle">
            <a:extLst xmlns:a="http://schemas.openxmlformats.org/drawingml/2006/main">
              <a:ext uri="{FF2B5EF4-FFF2-40B4-BE49-F238E27FC236}">
                <a16:creationId xmlns:a16="http://schemas.microsoft.com/office/drawing/2014/main" id="{44F893DD-4774-44A9-9FFE-46A61250F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0957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需要快速得到：逻辑清楚、视觉体面、符合规范、仍可修改</a:t>
            </a:r>
          </a:p>
        </p:txBody>
      </p:sp>
      <p:sp>
        <p:nvSpPr>
          <p:cNvPr id="17" name="takeaway">
            <a:extLst xmlns:a="http://schemas.openxmlformats.org/drawingml/2006/main">
              <a:ext uri="{FF2B5EF4-FFF2-40B4-BE49-F238E27FC236}">
                <a16:creationId xmlns:a16="http://schemas.microsoft.com/office/drawing/2014/main" id="{73D9AB39-5F1A-446F-9DF5-A66261AC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67300"/>
            <a:ext cx="11144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akeaway-text">
            <a:extLst xmlns:a="http://schemas.openxmlformats.org/drawingml/2006/main">
              <a:ext uri="{FF2B5EF4-FFF2-40B4-BE49-F238E27FC236}">
                <a16:creationId xmlns:a16="http://schemas.microsoft.com/office/drawing/2014/main" id="{02053E09-E5E4-47F6-B470-D9589246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149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产品目标不是偶尔生成最高分，而是提高结果跨过“可用线”的概率。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88A0426-BBFF-4B1D-A581-FF92213EE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51AC28B-AE6C-49B8-8228-33FDCA93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423D82F-1488-4452-B72A-4EE636601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10694195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3D8EC840-FCA2-403A-90A0-BF4858E25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03 可靠度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89C08FF4-D93A-4487-8E3A-6920686E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856104D-0064-4F24-B2D2-E7A2F0B87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稳定跨过可用线，比偶然惊艳更重要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050FD5F-156B-4BE2-8714-807C89202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“80 分”是稳定可用状态的形象称呼，不是质量上限。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C4D82F80-0FC9-4642-A1D2-098C29F7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omparison-zone">
            <a:extLst xmlns:a="http://schemas.openxmlformats.org/drawingml/2006/main">
              <a:ext uri="{FF2B5EF4-FFF2-40B4-BE49-F238E27FC236}">
                <a16:creationId xmlns:a16="http://schemas.microsoft.com/office/drawing/2014/main" id="{4CF71A64-55BD-4191-ADEA-E03F4AB8F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11144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formula-label">
            <a:extLst xmlns:a="http://schemas.openxmlformats.org/drawingml/2006/main">
              <a:ext uri="{FF2B5EF4-FFF2-40B4-BE49-F238E27FC236}">
                <a16:creationId xmlns:a16="http://schemas.microsoft.com/office/drawing/2014/main" id="{F4E31E2F-44EE-43AA-8C26-91B9F315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产品可靠度的目标</a:t>
            </a:r>
          </a:p>
        </p:txBody>
      </p:sp>
      <p:sp>
        <p:nvSpPr>
          <p:cNvPr id="8" name="formula">
            <a:extLst xmlns:a="http://schemas.openxmlformats.org/drawingml/2006/main">
              <a:ext uri="{FF2B5EF4-FFF2-40B4-BE49-F238E27FC236}">
                <a16:creationId xmlns:a16="http://schemas.microsoft.com/office/drawing/2014/main" id="{B9AA3F32-F2B1-4D8C-9926-F8A6A91D6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71750"/>
            <a:ext cx="657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R = P(Q ≥ Q可用 | 目标工作场景)</a:t>
            </a:r>
          </a:p>
        </p:txBody>
      </p:sp>
      <p:sp>
        <p:nvSpPr>
          <p:cNvPr id="9" name="formula-note">
            <a:extLst xmlns:a="http://schemas.openxmlformats.org/drawingml/2006/main">
              <a:ext uri="{FF2B5EF4-FFF2-40B4-BE49-F238E27FC236}">
                <a16:creationId xmlns:a16="http://schemas.microsoft.com/office/drawing/2014/main" id="{7F52E779-2DF9-4FCC-B436-9834A885F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这里的 R 是概念上的可靠度：结果达到可用标准的概率。</a:t>
            </a:r>
          </a:p>
        </p:txBody>
      </p:sp>
      <p:sp>
        <p:nvSpPr>
          <p:cNvPr id="10" name="comp-axis">
            <a:extLst xmlns:a="http://schemas.openxmlformats.org/drawingml/2006/main">
              <a:ext uri="{FF2B5EF4-FFF2-40B4-BE49-F238E27FC236}">
                <a16:creationId xmlns:a16="http://schemas.microsoft.com/office/drawing/2014/main" id="{D9656DAD-67EC-43A7-AFC7-A48438C51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67150"/>
            <a:ext cx="2667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omp-threshold-label">
            <a:extLst xmlns:a="http://schemas.openxmlformats.org/drawingml/2006/main">
              <a:ext uri="{FF2B5EF4-FFF2-40B4-BE49-F238E27FC236}">
                <a16:creationId xmlns:a16="http://schemas.microsoft.com/office/drawing/2014/main" id="{961F29CA-D6BF-46F8-9F49-DC6CEEC3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9052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Q可用（概念门槛）</a:t>
            </a:r>
          </a:p>
        </p:txBody>
      </p:sp>
      <p:sp>
        <p:nvSpPr>
          <p:cNvPr id="12" name="comp-head-left">
            <a:extLst xmlns:a="http://schemas.openxmlformats.org/drawingml/2006/main">
              <a:ext uri="{FF2B5EF4-FFF2-40B4-BE49-F238E27FC236}">
                <a16:creationId xmlns:a16="http://schemas.microsoft.com/office/drawing/2014/main" id="{D0ED42E3-9F31-4BF6-B5B7-3AB7D6EAB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偶然惊艳</a:t>
            </a:r>
          </a:p>
        </p:txBody>
      </p:sp>
      <p:sp>
        <p:nvSpPr>
          <p:cNvPr id="13" name="comp-head-right">
            <a:extLst xmlns:a="http://schemas.openxmlformats.org/drawingml/2006/main">
              <a:ext uri="{FF2B5EF4-FFF2-40B4-BE49-F238E27FC236}">
                <a16:creationId xmlns:a16="http://schemas.microsoft.com/office/drawing/2014/main" id="{DE0557F7-1FA2-4D05-8F78-2E39FB15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86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稳定可用</a:t>
            </a:r>
          </a:p>
        </p:txBody>
      </p:sp>
      <p:sp>
        <p:nvSpPr>
          <p:cNvPr id="14" name="comp-left-copy">
            <a:extLst xmlns:a="http://schemas.openxmlformats.org/drawingml/2006/main">
              <a:ext uri="{FF2B5EF4-FFF2-40B4-BE49-F238E27FC236}">
                <a16:creationId xmlns:a16="http://schemas.microsoft.com/office/drawing/2014/main" id="{5AC05FC0-C571-4A48-919F-BB64B1764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591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落点有高有低，跨过门槛并不稳定</a:t>
            </a:r>
          </a:p>
        </p:txBody>
      </p:sp>
      <p:sp>
        <p:nvSpPr>
          <p:cNvPr id="15" name="comp-right-copy">
            <a:extLst xmlns:a="http://schemas.openxmlformats.org/drawingml/2006/main">
              <a:ext uri="{FF2B5EF4-FFF2-40B4-BE49-F238E27FC236}">
                <a16:creationId xmlns:a16="http://schemas.microsoft.com/office/drawing/2014/main" id="{D6622114-9937-41AF-BB8C-A2892C5DC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910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大多数结果都能跨过门槛并继续修改</a:t>
            </a:r>
          </a:p>
        </p:txBody>
      </p:sp>
      <p:sp>
        <p:nvSpPr>
          <p:cNvPr id="16" name="concept-left-0">
            <a:extLst xmlns:a="http://schemas.openxmlformats.org/drawingml/2006/main">
              <a:ext uri="{FF2B5EF4-FFF2-40B4-BE49-F238E27FC236}">
                <a16:creationId xmlns:a16="http://schemas.microsoft.com/office/drawing/2014/main" id="{DF47B422-4936-4335-9552-FC54A9317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339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oncept-left-1">
            <a:extLst xmlns:a="http://schemas.openxmlformats.org/drawingml/2006/main">
              <a:ext uri="{FF2B5EF4-FFF2-40B4-BE49-F238E27FC236}">
                <a16:creationId xmlns:a16="http://schemas.microsoft.com/office/drawing/2014/main" id="{97D46CEE-8C53-44DF-B7E7-21BD38013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8577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oncept-left-2">
            <a:extLst xmlns:a="http://schemas.openxmlformats.org/drawingml/2006/main">
              <a:ext uri="{FF2B5EF4-FFF2-40B4-BE49-F238E27FC236}">
                <a16:creationId xmlns:a16="http://schemas.microsoft.com/office/drawing/2014/main" id="{1175ED6A-AC4C-4DD8-9593-E45E019B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81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ncept-left-3">
            <a:extLst xmlns:a="http://schemas.openxmlformats.org/drawingml/2006/main">
              <a:ext uri="{FF2B5EF4-FFF2-40B4-BE49-F238E27FC236}">
                <a16:creationId xmlns:a16="http://schemas.microsoft.com/office/drawing/2014/main" id="{91CC7B1C-938A-4F5E-8D76-B9F2E0B0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concept-left-4">
            <a:extLst xmlns:a="http://schemas.openxmlformats.org/drawingml/2006/main">
              <a:ext uri="{FF2B5EF4-FFF2-40B4-BE49-F238E27FC236}">
                <a16:creationId xmlns:a16="http://schemas.microsoft.com/office/drawing/2014/main" id="{E59153F0-9CBE-473E-A623-AA65D6B5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3053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concept-right-0">
            <a:extLst xmlns:a="http://schemas.openxmlformats.org/drawingml/2006/main">
              <a:ext uri="{FF2B5EF4-FFF2-40B4-BE49-F238E27FC236}">
                <a16:creationId xmlns:a16="http://schemas.microsoft.com/office/drawing/2014/main" id="{A6950702-2B5B-4CAC-8B45-44E65863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053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ncept-right-1">
            <a:extLst xmlns:a="http://schemas.openxmlformats.org/drawingml/2006/main">
              <a:ext uri="{FF2B5EF4-FFF2-40B4-BE49-F238E27FC236}">
                <a16:creationId xmlns:a16="http://schemas.microsoft.com/office/drawing/2014/main" id="{841B9FF0-FAE5-47C7-8AFB-79AC3895F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6291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ncept-right-2">
            <a:extLst xmlns:a="http://schemas.openxmlformats.org/drawingml/2006/main">
              <a:ext uri="{FF2B5EF4-FFF2-40B4-BE49-F238E27FC236}">
                <a16:creationId xmlns:a16="http://schemas.microsoft.com/office/drawing/2014/main" id="{C08141D8-F259-4D47-8F29-004877B43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434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cept-right-3">
            <a:extLst xmlns:a="http://schemas.openxmlformats.org/drawingml/2006/main">
              <a:ext uri="{FF2B5EF4-FFF2-40B4-BE49-F238E27FC236}">
                <a16:creationId xmlns:a16="http://schemas.microsoft.com/office/drawing/2014/main" id="{767046B5-1007-40F6-8917-42DF99EB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46672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oncept-right-4">
            <a:extLst xmlns:a="http://schemas.openxmlformats.org/drawingml/2006/main">
              <a:ext uri="{FF2B5EF4-FFF2-40B4-BE49-F238E27FC236}">
                <a16:creationId xmlns:a16="http://schemas.microsoft.com/office/drawing/2014/main" id="{8C70BF4B-EF8C-47F2-9A56-B20078D53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4724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concept-note">
            <a:extLst xmlns:a="http://schemas.openxmlformats.org/drawingml/2006/main">
              <a:ext uri="{FF2B5EF4-FFF2-40B4-BE49-F238E27FC236}">
                <a16:creationId xmlns:a16="http://schemas.microsoft.com/office/drawing/2014/main" id="{6AA3F3E1-440E-4B90-994F-E01AF5C6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448300"/>
            <a:ext cx="800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概念示意：比较“跨过可用门槛”的稳定性，不代表实测数据。</a:t>
            </a:r>
          </a:p>
        </p:txBody>
      </p:sp>
      <p:sp>
        <p:nvSpPr>
          <p:cNvPr id="27" name="comp-quote-text">
            <a:extLst xmlns:a="http://schemas.openxmlformats.org/drawingml/2006/main">
              <a:ext uri="{FF2B5EF4-FFF2-40B4-BE49-F238E27FC236}">
                <a16:creationId xmlns:a16="http://schemas.microsoft.com/office/drawing/2014/main" id="{5DB54051-0CFF-442E-BC72-1D49C4300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076950"/>
            <a:ext cx="942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稳定的 80 分，很多时候比随机的 95 分更值钱。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7E57EFB0-F3FE-44CA-886C-8AA285922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CA9BA93E-0CBA-4927-8E71-47E3D9681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42EF135A-2500-4979-8DF7-B2FBE60EE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381095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CE61E57D-E480-4B3E-87BD-5C0F6F43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04 可靠性来源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07C216A-8E13-4858-B2CE-2531F306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0BA4733-4281-4F86-9D65-12D63A47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用限制自由，换取结果可预测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EDA1DA0-E5CE-4C76-A303-C0C21AD05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组织规范、表达能力和容量边界共同减少失败状态。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867683E1-936E-4171-A20C-823F60CB4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eft-zone">
            <a:extLst xmlns:a="http://schemas.openxmlformats.org/drawingml/2006/main">
              <a:ext uri="{FF2B5EF4-FFF2-40B4-BE49-F238E27FC236}">
                <a16:creationId xmlns:a16="http://schemas.microsoft.com/office/drawing/2014/main" id="{5D175326-5D62-42B3-836D-61CAD3D5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40957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left-head">
            <a:extLst xmlns:a="http://schemas.openxmlformats.org/drawingml/2006/main">
              <a:ext uri="{FF2B5EF4-FFF2-40B4-BE49-F238E27FC236}">
                <a16:creationId xmlns:a16="http://schemas.microsoft.com/office/drawing/2014/main" id="{70FA6269-C33C-4F05-87F1-55638C6E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自由度越高</a:t>
            </a:r>
          </a:p>
        </p:txBody>
      </p:sp>
      <p:sp>
        <p:nvSpPr>
          <p:cNvPr id="8" name="left-body">
            <a:extLst xmlns:a="http://schemas.openxmlformats.org/drawingml/2006/main">
              <a:ext uri="{FF2B5EF4-FFF2-40B4-BE49-F238E27FC236}">
                <a16:creationId xmlns:a16="http://schemas.microsoft.com/office/drawing/2014/main" id="{2C879B82-3E40-4764-ACC6-DBB676089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8130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颜色、字体、结构、版式、元素</a:t>
            </a:r>
          </a:p>
          <a:p xmlns:a="http://schemas.openxmlformats.org/drawingml/2006/main">
            <a:pPr algn="l">
              <a:def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每次都重新决定</a:t>
            </a:r>
          </a:p>
        </p:txBody>
      </p:sp>
      <p:sp>
        <p:nvSpPr>
          <p:cNvPr id="9" name="left-arrow">
            <a:extLst xmlns:a="http://schemas.openxmlformats.org/drawingml/2006/main">
              <a:ext uri="{FF2B5EF4-FFF2-40B4-BE49-F238E27FC236}">
                <a16:creationId xmlns:a16="http://schemas.microsoft.com/office/drawing/2014/main" id="{BF8D4790-FE88-4B6E-B943-79835AAC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81150" y="4000500"/>
            <a:ext cx="2095500" cy="4953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eft-arrow-text">
            <a:extLst xmlns:a="http://schemas.openxmlformats.org/drawingml/2006/main">
              <a:ext uri="{FF2B5EF4-FFF2-40B4-BE49-F238E27FC236}">
                <a16:creationId xmlns:a16="http://schemas.microsoft.com/office/drawing/2014/main" id="{DE7117D1-B2A8-4D5E-925B-3A03712FF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057650"/>
            <a:ext cx="1857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状态空间变大</a:t>
            </a:r>
          </a:p>
        </p:txBody>
      </p:sp>
      <p:sp>
        <p:nvSpPr>
          <p:cNvPr id="11" name="left-foot">
            <a:extLst xmlns:a="http://schemas.openxmlformats.org/drawingml/2006/main">
              <a:ext uri="{FF2B5EF4-FFF2-40B4-BE49-F238E27FC236}">
                <a16:creationId xmlns:a16="http://schemas.microsoft.com/office/drawing/2014/main" id="{5E84BA19-F186-4FCF-91E8-B4F6FF7F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失败模式随之增加</a:t>
            </a:r>
          </a:p>
        </p:txBody>
      </p:sp>
      <p:sp>
        <p:nvSpPr>
          <p:cNvPr id="12" name="bridge-arrow">
            <a:extLst xmlns:a="http://schemas.openxmlformats.org/drawingml/2006/main">
              <a:ext uri="{FF2B5EF4-FFF2-40B4-BE49-F238E27FC236}">
                <a16:creationId xmlns:a16="http://schemas.microsoft.com/office/drawing/2014/main" id="{3E156046-F59A-4DC8-853B-C566F770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62500" y="3333750"/>
            <a:ext cx="952500" cy="4381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right-zone">
            <a:extLst xmlns:a="http://schemas.openxmlformats.org/drawingml/2006/main">
              <a:ext uri="{FF2B5EF4-FFF2-40B4-BE49-F238E27FC236}">
                <a16:creationId xmlns:a16="http://schemas.microsoft.com/office/drawing/2014/main" id="{44A6BA9C-BDB6-4A21-913E-14D5E8C13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85950"/>
            <a:ext cx="5762625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right-head">
            <a:extLst xmlns:a="http://schemas.openxmlformats.org/drawingml/2006/main">
              <a:ext uri="{FF2B5EF4-FFF2-40B4-BE49-F238E27FC236}">
                <a16:creationId xmlns:a16="http://schemas.microsoft.com/office/drawing/2014/main" id="{96D7A497-4536-41F8-8A49-AD6BF4CEB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09800"/>
            <a:ext cx="4857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PPagenT 主动固定一部分自由</a:t>
            </a:r>
          </a:p>
        </p:txBody>
      </p:sp>
      <p:sp>
        <p:nvSpPr>
          <p:cNvPr id="15" name="fixed-rule-0">
            <a:extLst xmlns:a="http://schemas.openxmlformats.org/drawingml/2006/main">
              <a:ext uri="{FF2B5EF4-FFF2-40B4-BE49-F238E27FC236}">
                <a16:creationId xmlns:a16="http://schemas.microsoft.com/office/drawing/2014/main" id="{71034219-357B-4029-B9FF-3757BB001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9908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fixed-head-0">
            <a:extLst xmlns:a="http://schemas.openxmlformats.org/drawingml/2006/main">
              <a:ext uri="{FF2B5EF4-FFF2-40B4-BE49-F238E27FC236}">
                <a16:creationId xmlns:a16="http://schemas.microsoft.com/office/drawing/2014/main" id="{D8592100-C719-47A5-BDA7-F90B81F91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9146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组织视觉规范</a:t>
            </a:r>
          </a:p>
        </p:txBody>
      </p:sp>
      <p:sp>
        <p:nvSpPr>
          <p:cNvPr id="17" name="fixed-body-0">
            <a:extLst xmlns:a="http://schemas.openxmlformats.org/drawingml/2006/main">
              <a:ext uri="{FF2B5EF4-FFF2-40B4-BE49-F238E27FC236}">
                <a16:creationId xmlns:a16="http://schemas.microsoft.com/office/drawing/2014/main" id="{19BBEAC5-A295-4E89-A457-F8401FF2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9241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颜色、字体、Logo、页眉页脚</a:t>
            </a:r>
          </a:p>
        </p:txBody>
      </p:sp>
      <p:sp>
        <p:nvSpPr>
          <p:cNvPr id="18" name="fixed-rule-1">
            <a:extLst xmlns:a="http://schemas.openxmlformats.org/drawingml/2006/main">
              <a:ext uri="{FF2B5EF4-FFF2-40B4-BE49-F238E27FC236}">
                <a16:creationId xmlns:a16="http://schemas.microsoft.com/office/drawing/2014/main" id="{54AAF5A6-AAD5-469C-B1B6-256D0A5A1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73380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ixed-head-1">
            <a:extLst xmlns:a="http://schemas.openxmlformats.org/drawingml/2006/main">
              <a:ext uri="{FF2B5EF4-FFF2-40B4-BE49-F238E27FC236}">
                <a16:creationId xmlns:a16="http://schemas.microsoft.com/office/drawing/2014/main" id="{944D4CB1-C2A0-4E14-A5AF-03C159017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65760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已验证的结构</a:t>
            </a:r>
          </a:p>
        </p:txBody>
      </p:sp>
      <p:sp>
        <p:nvSpPr>
          <p:cNvPr id="20" name="fixed-body-1">
            <a:extLst xmlns:a="http://schemas.openxmlformats.org/drawingml/2006/main">
              <a:ext uri="{FF2B5EF4-FFF2-40B4-BE49-F238E27FC236}">
                <a16:creationId xmlns:a16="http://schemas.microsoft.com/office/drawing/2014/main" id="{353A25C9-9B78-4ED1-AB1B-7C092AA1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并列、顺序、对比、层级、循环</a:t>
            </a:r>
          </a:p>
        </p:txBody>
      </p:sp>
      <p:sp>
        <p:nvSpPr>
          <p:cNvPr id="21" name="fixed-rule-2">
            <a:extLst xmlns:a="http://schemas.openxmlformats.org/drawingml/2006/main">
              <a:ext uri="{FF2B5EF4-FFF2-40B4-BE49-F238E27FC236}">
                <a16:creationId xmlns:a16="http://schemas.microsoft.com/office/drawing/2014/main" id="{8BF1CA08-289F-4D34-BC13-08CB8633E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76750"/>
            <a:ext cx="571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fixed-head-2">
            <a:extLst xmlns:a="http://schemas.openxmlformats.org/drawingml/2006/main">
              <a:ext uri="{FF2B5EF4-FFF2-40B4-BE49-F238E27FC236}">
                <a16:creationId xmlns:a16="http://schemas.microsoft.com/office/drawing/2014/main" id="{37422B16-43D5-4F11-93FA-8D098B900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005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明确的边界</a:t>
            </a:r>
          </a:p>
        </p:txBody>
      </p:sp>
      <p:sp>
        <p:nvSpPr>
          <p:cNvPr id="23" name="fixed-body-2">
            <a:extLst xmlns:a="http://schemas.openxmlformats.org/drawingml/2006/main">
              <a:ext uri="{FF2B5EF4-FFF2-40B4-BE49-F238E27FC236}">
                <a16:creationId xmlns:a16="http://schemas.microsoft.com/office/drawing/2014/main" id="{5A93B341-0BA2-4E49-A3A4-6D13864FC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10075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数量、容量、拆页与退化方式</a:t>
            </a:r>
          </a:p>
        </p:txBody>
      </p:sp>
      <p:sp>
        <p:nvSpPr>
          <p:cNvPr id="24" name="footer-rule">
            <a:extLst xmlns:a="http://schemas.openxmlformats.org/drawingml/2006/main">
              <a:ext uri="{FF2B5EF4-FFF2-40B4-BE49-F238E27FC236}">
                <a16:creationId xmlns:a16="http://schemas.microsoft.com/office/drawing/2014/main" id="{54A8B25C-D190-4934-8A20-E5D842FB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7EA970E-1837-44B7-B664-70EC99998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26" name="footer-page">
            <a:extLst xmlns:a="http://schemas.openxmlformats.org/drawingml/2006/main">
              <a:ext uri="{FF2B5EF4-FFF2-40B4-BE49-F238E27FC236}">
                <a16:creationId xmlns:a16="http://schemas.microsoft.com/office/drawing/2014/main" id="{D3EE8F0F-5234-4D74-BB70-9F55125B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25193354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F457944-EA2F-4D3F-8CC7-A2A6DBF7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05 运行机制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F63445FA-A141-43A9-9364-05806D4F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A1D6007-E2EF-45BD-9866-3BB9F12F3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是控制器，不是画师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3A8E9B9-D999-4BEC-87E0-2A0C31BE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理解与路由由 AI 完成，确定性结果由规则与代码完成。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03B6E9A6-5A2F-494C-88E3-61CBEB6F8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flow-zone">
            <a:extLst xmlns:a="http://schemas.openxmlformats.org/drawingml/2006/main">
              <a:ext uri="{FF2B5EF4-FFF2-40B4-BE49-F238E27FC236}">
                <a16:creationId xmlns:a16="http://schemas.microsoft.com/office/drawing/2014/main" id="{BF657612-C415-45E8-9BD6-8747CC20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1144250" cy="384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irector-label">
            <a:extLst xmlns:a="http://schemas.openxmlformats.org/drawingml/2006/main">
              <a:ext uri="{FF2B5EF4-FFF2-40B4-BE49-F238E27FC236}">
                <a16:creationId xmlns:a16="http://schemas.microsoft.com/office/drawing/2014/main" id="{A8EE1AF8-61B1-4E3A-9B2F-EC5262CE9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717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两个导演把判断前置</a:t>
            </a:r>
          </a:p>
        </p:txBody>
      </p:sp>
      <p:sp>
        <p:nvSpPr>
          <p:cNvPr id="8" name="node-content-director">
            <a:extLst xmlns:a="http://schemas.openxmlformats.org/drawingml/2006/main">
              <a:ext uri="{FF2B5EF4-FFF2-40B4-BE49-F238E27FC236}">
                <a16:creationId xmlns:a16="http://schemas.microsoft.com/office/drawing/2014/main" id="{8237B2ED-4A38-455C-BF1B-4A32BAA8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342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9" name="label-content-director">
            <a:extLst xmlns:a="http://schemas.openxmlformats.org/drawingml/2006/main">
              <a:ext uri="{FF2B5EF4-FFF2-40B4-BE49-F238E27FC236}">
                <a16:creationId xmlns:a16="http://schemas.microsoft.com/office/drawing/2014/main" id="{270126C9-BEE6-48DC-8850-40BBF1A0E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575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内容导演</a:t>
            </a:r>
          </a:p>
        </p:txBody>
      </p:sp>
      <p:sp>
        <p:nvSpPr>
          <p:cNvPr id="10" name="content-director-body">
            <a:extLst xmlns:a="http://schemas.openxmlformats.org/drawingml/2006/main">
              <a:ext uri="{FF2B5EF4-FFF2-40B4-BE49-F238E27FC236}">
                <a16:creationId xmlns:a16="http://schemas.microsoft.com/office/drawing/2014/main" id="{1098BA1A-A041-496E-9AEF-F4DBD2DB3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00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理解稿件 · 组织叙事 · 拆分页面</a:t>
            </a:r>
          </a:p>
        </p:txBody>
      </p:sp>
      <p:sp>
        <p:nvSpPr>
          <p:cNvPr id="11" name="node-visual-director">
            <a:extLst xmlns:a="http://schemas.openxmlformats.org/drawingml/2006/main">
              <a:ext uri="{FF2B5EF4-FFF2-40B4-BE49-F238E27FC236}">
                <a16:creationId xmlns:a16="http://schemas.microsoft.com/office/drawing/2014/main" id="{AF8A6B2C-F0EC-44DC-AD2A-DD4C58DD4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71950"/>
            <a:ext cx="34290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2" name="label-visual-director">
            <a:extLst xmlns:a="http://schemas.openxmlformats.org/drawingml/2006/main">
              <a:ext uri="{FF2B5EF4-FFF2-40B4-BE49-F238E27FC236}">
                <a16:creationId xmlns:a16="http://schemas.microsoft.com/office/drawing/2014/main" id="{C3580F78-1777-43E1-B5A3-9EC624405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81500"/>
            <a:ext cx="320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视觉导演</a:t>
            </a:r>
          </a:p>
        </p:txBody>
      </p:sp>
      <p:sp>
        <p:nvSpPr>
          <p:cNvPr id="13" name="visual-director-body">
            <a:extLst xmlns:a="http://schemas.openxmlformats.org/drawingml/2006/main">
              <a:ext uri="{FF2B5EF4-FFF2-40B4-BE49-F238E27FC236}">
                <a16:creationId xmlns:a16="http://schemas.microsoft.com/office/drawing/2014/main" id="{3FCF5E96-6610-4829-92BA-FDD6A00E9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1244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判断关系 · 选择合法结构 · 补充结构信息</a:t>
            </a:r>
          </a:p>
        </p:txBody>
      </p:sp>
      <p:sp>
        <p:nvSpPr>
          <p:cNvPr id="14" name="director-bridge">
            <a:extLst xmlns:a="http://schemas.openxmlformats.org/drawingml/2006/main">
              <a:ext uri="{FF2B5EF4-FFF2-40B4-BE49-F238E27FC236}">
                <a16:creationId xmlns:a16="http://schemas.microsoft.com/office/drawing/2014/main" id="{AAFCF4B9-83C5-446C-9891-B13ED53D1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9150" y="36766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ules-band">
            <a:extLst xmlns:a="http://schemas.openxmlformats.org/drawingml/2006/main">
              <a:ext uri="{FF2B5EF4-FFF2-40B4-BE49-F238E27FC236}">
                <a16:creationId xmlns:a16="http://schemas.microsoft.com/office/drawing/2014/main" id="{B7F34428-2C56-40F2-8166-32F98A0BE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71700"/>
            <a:ext cx="5476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EF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ules-band-text">
            <a:extLst xmlns:a="http://schemas.openxmlformats.org/drawingml/2006/main">
              <a:ext uri="{FF2B5EF4-FFF2-40B4-BE49-F238E27FC236}">
                <a16:creationId xmlns:a16="http://schemas.microsoft.com/office/drawing/2014/main" id="{B5380340-2B2C-43B5-B326-94F385B8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43150"/>
            <a:ext cx="504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规则约束贯穿全程：主题 · 数量 · 容量 · 失败边界</a:t>
            </a:r>
          </a:p>
        </p:txBody>
      </p:sp>
      <p:sp>
        <p:nvSpPr>
          <p:cNvPr id="17" name="generate-label">
            <a:extLst xmlns:a="http://schemas.openxmlformats.org/drawingml/2006/main">
              <a:ext uri="{FF2B5EF4-FFF2-40B4-BE49-F238E27FC236}">
                <a16:creationId xmlns:a16="http://schemas.microsoft.com/office/drawing/2014/main" id="{4D806C5C-361F-4C28-B8D2-0B49D222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4800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确定性生成</a:t>
            </a:r>
          </a:p>
        </p:txBody>
      </p:sp>
      <p:sp>
        <p:nvSpPr>
          <p:cNvPr id="18" name="gen-arrow-0">
            <a:extLst xmlns:a="http://schemas.openxmlformats.org/drawingml/2006/main">
              <a:ext uri="{FF2B5EF4-FFF2-40B4-BE49-F238E27FC236}">
                <a16:creationId xmlns:a16="http://schemas.microsoft.com/office/drawing/2014/main" id="{C0733743-6201-4255-AE21-E98DABAFA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39050" y="3771900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gen-arrow-1">
            <a:extLst xmlns:a="http://schemas.openxmlformats.org/drawingml/2006/main">
              <a:ext uri="{FF2B5EF4-FFF2-40B4-BE49-F238E27FC236}">
                <a16:creationId xmlns:a16="http://schemas.microsoft.com/office/drawing/2014/main" id="{207373E7-4D02-4D26-B1AD-48A8CC12D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525000" y="3771900"/>
            <a:ext cx="5143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de-capacity-node">
            <a:extLst xmlns:a="http://schemas.openxmlformats.org/drawingml/2006/main">
              <a:ext uri="{FF2B5EF4-FFF2-40B4-BE49-F238E27FC236}">
                <a16:creationId xmlns:a16="http://schemas.microsoft.com/office/drawing/2014/main" id="{305B9129-470F-44E9-B8C5-0BCBB11E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8615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1" name="label-capacity-node">
            <a:extLst xmlns:a="http://schemas.openxmlformats.org/drawingml/2006/main">
              <a:ext uri="{FF2B5EF4-FFF2-40B4-BE49-F238E27FC236}">
                <a16:creationId xmlns:a16="http://schemas.microsoft.com/office/drawing/2014/main" id="{F1BF5774-F237-44E4-89C1-20DB3E194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957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数量与容量</a:t>
            </a:r>
          </a:p>
        </p:txBody>
      </p:sp>
      <p:sp>
        <p:nvSpPr>
          <p:cNvPr id="22" name="node-code-node">
            <a:extLst xmlns:a="http://schemas.openxmlformats.org/drawingml/2006/main">
              <a:ext uri="{FF2B5EF4-FFF2-40B4-BE49-F238E27FC236}">
                <a16:creationId xmlns:a16="http://schemas.microsoft.com/office/drawing/2014/main" id="{EE7C70AB-7BBF-4529-A94B-4D6B9B1FE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1524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3" name="label-code-node">
            <a:extLst xmlns:a="http://schemas.openxmlformats.org/drawingml/2006/main">
              <a:ext uri="{FF2B5EF4-FFF2-40B4-BE49-F238E27FC236}">
                <a16:creationId xmlns:a16="http://schemas.microsoft.com/office/drawing/2014/main" id="{0C510AF2-8273-49C9-8ACC-E9185CDA6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957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代码执行</a:t>
            </a:r>
          </a:p>
        </p:txBody>
      </p:sp>
      <p:sp>
        <p:nvSpPr>
          <p:cNvPr id="24" name="node-editable-node">
            <a:extLst xmlns:a="http://schemas.openxmlformats.org/drawingml/2006/main">
              <a:ext uri="{FF2B5EF4-FFF2-40B4-BE49-F238E27FC236}">
                <a16:creationId xmlns:a16="http://schemas.microsoft.com/office/drawing/2014/main" id="{E7AF671E-C896-4BB3-A80D-A3949AB20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33750"/>
            <a:ext cx="1257300" cy="108585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244A72"/>
            </a:solidFill>
            <a:prstDash val="solid"/>
          </a:ln>
        </p:spPr>
      </p:sp>
      <p:sp>
        <p:nvSpPr>
          <p:cNvPr id="25" name="label-editable-node">
            <a:extLst xmlns:a="http://schemas.openxmlformats.org/drawingml/2006/main">
              <a:ext uri="{FF2B5EF4-FFF2-40B4-BE49-F238E27FC236}">
                <a16:creationId xmlns:a16="http://schemas.microsoft.com/office/drawing/2014/main" id="{8BB35133-5CDA-4E79-AFC5-E7DE9683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57600"/>
            <a:ext cx="110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原生可编辑 PPTX</a:t>
            </a:r>
          </a:p>
        </p:txBody>
      </p:sp>
      <p:sp>
        <p:nvSpPr>
          <p:cNvPr id="26" name="flow-result-text">
            <a:extLst xmlns:a="http://schemas.openxmlformats.org/drawingml/2006/main">
              <a:ext uri="{FF2B5EF4-FFF2-40B4-BE49-F238E27FC236}">
                <a16:creationId xmlns:a16="http://schemas.microsoft.com/office/drawing/2014/main" id="{F38E4693-3AED-41D1-883B-F65AF4B43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523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AI 负责理解与路由，规则负责约束，代码负责稳定生成。</a:t>
            </a:r>
          </a:p>
        </p:txBody>
      </p:sp>
      <p:sp>
        <p:nvSpPr>
          <p:cNvPr id="27" name="footer-rule">
            <a:extLst xmlns:a="http://schemas.openxmlformats.org/drawingml/2006/main">
              <a:ext uri="{FF2B5EF4-FFF2-40B4-BE49-F238E27FC236}">
                <a16:creationId xmlns:a16="http://schemas.microsoft.com/office/drawing/2014/main" id="{0B992960-D530-4464-B619-E15D5007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46FAF6C-55AC-4B1C-B4A0-F656B889E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29" name="footer-page">
            <a:extLst xmlns:a="http://schemas.openxmlformats.org/drawingml/2006/main">
              <a:ext uri="{FF2B5EF4-FFF2-40B4-BE49-F238E27FC236}">
                <a16:creationId xmlns:a16="http://schemas.microsoft.com/office/drawing/2014/main" id="{1B21E0C7-F401-4B0C-99B4-348181526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072020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D63EA838-862E-404D-AC78-88C28894F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06 核心架构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E2CFA40-1893-45E9-A30F-F986F7D2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97C8F2E-E3B5-4065-8564-78819E13D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建设视觉能力与使用视觉能力，分成两条路线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2018C10-1621-43C8-B30E-66409069A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两条路线只在“经过确认的核心资产库”汇合。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536C995F-0D48-4275-9031-71465A0A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build-zone">
            <a:extLst xmlns:a="http://schemas.openxmlformats.org/drawingml/2006/main">
              <a:ext uri="{FF2B5EF4-FFF2-40B4-BE49-F238E27FC236}">
                <a16:creationId xmlns:a16="http://schemas.microsoft.com/office/drawing/2014/main" id="{A6E8E41D-19CD-414F-870C-4CA30A6D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28800"/>
            <a:ext cx="1114425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run-zone">
            <a:extLst xmlns:a="http://schemas.openxmlformats.org/drawingml/2006/main">
              <a:ext uri="{FF2B5EF4-FFF2-40B4-BE49-F238E27FC236}">
                <a16:creationId xmlns:a16="http://schemas.microsoft.com/office/drawing/2014/main" id="{9DE01579-9B8D-4A9E-B347-45EB6BB3A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943350"/>
            <a:ext cx="11144250" cy="1885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build-label">
            <a:extLst xmlns:a="http://schemas.openxmlformats.org/drawingml/2006/main">
              <a:ext uri="{FF2B5EF4-FFF2-40B4-BE49-F238E27FC236}">
                <a16:creationId xmlns:a16="http://schemas.microsoft.com/office/drawing/2014/main" id="{4316962E-4D63-489E-BEFD-91148F6F1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81200"/>
            <a:ext cx="457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资产入库线：把经验变成能力</a:t>
            </a:r>
          </a:p>
        </p:txBody>
      </p:sp>
      <p:sp>
        <p:nvSpPr>
          <p:cNvPr id="9" name="run-label">
            <a:extLst xmlns:a="http://schemas.openxmlformats.org/drawingml/2006/main">
              <a:ext uri="{FF2B5EF4-FFF2-40B4-BE49-F238E27FC236}">
                <a16:creationId xmlns:a16="http://schemas.microsoft.com/office/drawing/2014/main" id="{8751648E-5412-43A4-86E9-FC223D4A2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正式生成线：只读选择，稳定交付</a:t>
            </a:r>
          </a:p>
        </p:txBody>
      </p:sp>
      <p:sp>
        <p:nvSpPr>
          <p:cNvPr id="10" name="build-arrow-0">
            <a:extLst xmlns:a="http://schemas.openxmlformats.org/drawingml/2006/main">
              <a:ext uri="{FF2B5EF4-FFF2-40B4-BE49-F238E27FC236}">
                <a16:creationId xmlns:a16="http://schemas.microsoft.com/office/drawing/2014/main" id="{EC60B063-3C6D-4550-A41E-6490C497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264795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build-arrow-1">
            <a:extLst xmlns:a="http://schemas.openxmlformats.org/drawingml/2006/main">
              <a:ext uri="{FF2B5EF4-FFF2-40B4-BE49-F238E27FC236}">
                <a16:creationId xmlns:a16="http://schemas.microsoft.com/office/drawing/2014/main" id="{CF6171D6-63BF-474E-B219-A9025135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264795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build-arrow-2">
            <a:extLst xmlns:a="http://schemas.openxmlformats.org/drawingml/2006/main">
              <a:ext uri="{FF2B5EF4-FFF2-40B4-BE49-F238E27FC236}">
                <a16:creationId xmlns:a16="http://schemas.microsoft.com/office/drawing/2014/main" id="{822714B6-1012-4A74-93DE-48A43339B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264795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node-build-0">
            <a:extLst xmlns:a="http://schemas.openxmlformats.org/drawingml/2006/main">
              <a:ext uri="{FF2B5EF4-FFF2-40B4-BE49-F238E27FC236}">
                <a16:creationId xmlns:a16="http://schemas.microsoft.com/office/drawing/2014/main" id="{E10438EC-A860-46A1-8A71-2985EC5F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466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4" name="label-build-0">
            <a:extLst xmlns:a="http://schemas.openxmlformats.org/drawingml/2006/main">
              <a:ext uri="{FF2B5EF4-FFF2-40B4-BE49-F238E27FC236}">
                <a16:creationId xmlns:a16="http://schemas.microsoft.com/office/drawing/2014/main" id="{411590DE-D929-43AB-8300-50C43ED0D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336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优秀参考</a:t>
            </a:r>
          </a:p>
        </p:txBody>
      </p:sp>
      <p:sp>
        <p:nvSpPr>
          <p:cNvPr id="15" name="node-build-1">
            <a:extLst xmlns:a="http://schemas.openxmlformats.org/drawingml/2006/main">
              <a:ext uri="{FF2B5EF4-FFF2-40B4-BE49-F238E27FC236}">
                <a16:creationId xmlns:a16="http://schemas.microsoft.com/office/drawing/2014/main" id="{40D997BC-3914-4742-8B48-4C22183F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466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6" name="label-build-1">
            <a:extLst xmlns:a="http://schemas.openxmlformats.org/drawingml/2006/main">
              <a:ext uri="{FF2B5EF4-FFF2-40B4-BE49-F238E27FC236}">
                <a16:creationId xmlns:a16="http://schemas.microsoft.com/office/drawing/2014/main" id="{0DC96EDD-BFF6-4618-BE76-D749C176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336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提炼规律</a:t>
            </a:r>
          </a:p>
        </p:txBody>
      </p:sp>
      <p:sp>
        <p:nvSpPr>
          <p:cNvPr id="17" name="node-build-2">
            <a:extLst xmlns:a="http://schemas.openxmlformats.org/drawingml/2006/main">
              <a:ext uri="{FF2B5EF4-FFF2-40B4-BE49-F238E27FC236}">
                <a16:creationId xmlns:a16="http://schemas.microsoft.com/office/drawing/2014/main" id="{0A285C19-9E6B-415F-94AB-EB80F869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381250"/>
            <a:ext cx="1466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8" name="label-build-2">
            <a:extLst xmlns:a="http://schemas.openxmlformats.org/drawingml/2006/main">
              <a:ext uri="{FF2B5EF4-FFF2-40B4-BE49-F238E27FC236}">
                <a16:creationId xmlns:a16="http://schemas.microsoft.com/office/drawing/2014/main" id="{4BC0BBD6-1BC6-44FA-AF52-28D8B325F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5336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参数化</a:t>
            </a:r>
          </a:p>
        </p:txBody>
      </p:sp>
      <p:sp>
        <p:nvSpPr>
          <p:cNvPr id="19" name="node-build-3">
            <a:extLst xmlns:a="http://schemas.openxmlformats.org/drawingml/2006/main">
              <a:ext uri="{FF2B5EF4-FFF2-40B4-BE49-F238E27FC236}">
                <a16:creationId xmlns:a16="http://schemas.microsoft.com/office/drawing/2014/main" id="{A276A6F2-7AE2-4196-AF1E-604D8242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381250"/>
            <a:ext cx="1466850" cy="666750"/>
          </a:xfrm>
          <a:prstGeom xmlns:a="http://schemas.openxmlformats.org/drawingml/2006/main" prst="roundRect">
            <a:avLst>
              <a:gd name="adj" fmla="val 17143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0" name="label-build-3">
            <a:extLst xmlns:a="http://schemas.openxmlformats.org/drawingml/2006/main">
              <a:ext uri="{FF2B5EF4-FFF2-40B4-BE49-F238E27FC236}">
                <a16:creationId xmlns:a16="http://schemas.microsoft.com/office/drawing/2014/main" id="{7970DA46-2EEF-4C19-957D-37034A85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533650"/>
            <a:ext cx="1314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用户确认</a:t>
            </a:r>
          </a:p>
        </p:txBody>
      </p:sp>
      <p:sp>
        <p:nvSpPr>
          <p:cNvPr id="21" name="confirmed-link">
            <a:extLst xmlns:a="http://schemas.openxmlformats.org/drawingml/2006/main">
              <a:ext uri="{FF2B5EF4-FFF2-40B4-BE49-F238E27FC236}">
                <a16:creationId xmlns:a16="http://schemas.microsoft.com/office/drawing/2014/main" id="{D62DEEC0-A66F-4960-AD04-307E7FEA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81950" y="3028950"/>
            <a:ext cx="2476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core-library">
            <a:extLst xmlns:a="http://schemas.openxmlformats.org/drawingml/2006/main">
              <a:ext uri="{FF2B5EF4-FFF2-40B4-BE49-F238E27FC236}">
                <a16:creationId xmlns:a16="http://schemas.microsoft.com/office/drawing/2014/main" id="{0BBFB389-0A08-4245-B3C2-45625690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2000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core-library-label">
            <a:extLst xmlns:a="http://schemas.openxmlformats.org/drawingml/2006/main">
              <a:ext uri="{FF2B5EF4-FFF2-40B4-BE49-F238E27FC236}">
                <a16:creationId xmlns:a16="http://schemas.microsoft.com/office/drawing/2014/main" id="{71E3892D-5226-48A4-BFCF-1B84F6AF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476625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经过确认的核心资产库</a:t>
            </a:r>
          </a:p>
        </p:txBody>
      </p:sp>
      <p:sp>
        <p:nvSpPr>
          <p:cNvPr id="24" name="run-arrow-0">
            <a:extLst xmlns:a="http://schemas.openxmlformats.org/drawingml/2006/main">
              <a:ext uri="{FF2B5EF4-FFF2-40B4-BE49-F238E27FC236}">
                <a16:creationId xmlns:a16="http://schemas.microsoft.com/office/drawing/2014/main" id="{4F67D055-0FB6-48F1-B71F-132A5A15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28850" y="476250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un-core-arrow">
            <a:extLst xmlns:a="http://schemas.openxmlformats.org/drawingml/2006/main">
              <a:ext uri="{FF2B5EF4-FFF2-40B4-BE49-F238E27FC236}">
                <a16:creationId xmlns:a16="http://schemas.microsoft.com/office/drawing/2014/main" id="{8250830B-D0B9-4393-8595-8EA24FED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24350" y="476250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un-compile-arrow">
            <a:extLst xmlns:a="http://schemas.openxmlformats.org/drawingml/2006/main">
              <a:ext uri="{FF2B5EF4-FFF2-40B4-BE49-F238E27FC236}">
                <a16:creationId xmlns:a16="http://schemas.microsoft.com/office/drawing/2014/main" id="{8056F266-520E-48F0-8EBA-B77504D6D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9850" y="476250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un-pptx-arrow">
            <a:extLst xmlns:a="http://schemas.openxmlformats.org/drawingml/2006/main">
              <a:ext uri="{FF2B5EF4-FFF2-40B4-BE49-F238E27FC236}">
                <a16:creationId xmlns:a16="http://schemas.microsoft.com/office/drawing/2014/main" id="{AFB66D87-D301-49C4-847D-EC0CFB71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15350" y="4762500"/>
            <a:ext cx="6096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node-run-0">
            <a:extLst xmlns:a="http://schemas.openxmlformats.org/drawingml/2006/main">
              <a:ext uri="{FF2B5EF4-FFF2-40B4-BE49-F238E27FC236}">
                <a16:creationId xmlns:a16="http://schemas.microsoft.com/office/drawing/2014/main" id="{741DB75C-6AB5-4E52-9ECB-409F105A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19600"/>
            <a:ext cx="1466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9" name="label-run-0">
            <a:extLst xmlns:a="http://schemas.openxmlformats.org/drawingml/2006/main">
              <a:ext uri="{FF2B5EF4-FFF2-40B4-BE49-F238E27FC236}">
                <a16:creationId xmlns:a16="http://schemas.microsoft.com/office/drawing/2014/main" id="{84E9C776-3904-4B34-B07E-3286EDAF1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5720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稿件 + Skin</a:t>
            </a:r>
          </a:p>
        </p:txBody>
      </p:sp>
      <p:sp>
        <p:nvSpPr>
          <p:cNvPr id="30" name="node-run-1">
            <a:extLst xmlns:a="http://schemas.openxmlformats.org/drawingml/2006/main">
              <a:ext uri="{FF2B5EF4-FFF2-40B4-BE49-F238E27FC236}">
                <a16:creationId xmlns:a16="http://schemas.microsoft.com/office/drawing/2014/main" id="{26B3522F-A9B1-4F4C-84FC-1441B218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19600"/>
            <a:ext cx="1466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1" name="label-run-1">
            <a:extLst xmlns:a="http://schemas.openxmlformats.org/drawingml/2006/main">
              <a:ext uri="{FF2B5EF4-FFF2-40B4-BE49-F238E27FC236}">
                <a16:creationId xmlns:a16="http://schemas.microsoft.com/office/drawing/2014/main" id="{007285A4-DD4F-4F13-A5B6-E6731E706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5720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AI 编排</a:t>
            </a:r>
          </a:p>
        </p:txBody>
      </p:sp>
      <p:sp>
        <p:nvSpPr>
          <p:cNvPr id="32" name="node-run-2">
            <a:extLst xmlns:a="http://schemas.openxmlformats.org/drawingml/2006/main">
              <a:ext uri="{FF2B5EF4-FFF2-40B4-BE49-F238E27FC236}">
                <a16:creationId xmlns:a16="http://schemas.microsoft.com/office/drawing/2014/main" id="{BE9760DE-69F0-4E2B-8FF5-FA0D2B68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19600"/>
            <a:ext cx="1466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3" name="label-run-2">
            <a:extLst xmlns:a="http://schemas.openxmlformats.org/drawingml/2006/main">
              <a:ext uri="{FF2B5EF4-FFF2-40B4-BE49-F238E27FC236}">
                <a16:creationId xmlns:a16="http://schemas.microsoft.com/office/drawing/2014/main" id="{822BF5EF-C6EC-46F9-A67F-B944B42F4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5720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只读选择</a:t>
            </a:r>
          </a:p>
        </p:txBody>
      </p:sp>
      <p:sp>
        <p:nvSpPr>
          <p:cNvPr id="34" name="node-run-3">
            <a:extLst xmlns:a="http://schemas.openxmlformats.org/drawingml/2006/main">
              <a:ext uri="{FF2B5EF4-FFF2-40B4-BE49-F238E27FC236}">
                <a16:creationId xmlns:a16="http://schemas.microsoft.com/office/drawing/2014/main" id="{9A57B433-2966-4CA8-A9A0-225F86C1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419600"/>
            <a:ext cx="1466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5" name="label-run-3">
            <a:extLst xmlns:a="http://schemas.openxmlformats.org/drawingml/2006/main">
              <a:ext uri="{FF2B5EF4-FFF2-40B4-BE49-F238E27FC236}">
                <a16:creationId xmlns:a16="http://schemas.microsoft.com/office/drawing/2014/main" id="{FD02267F-CB3A-4251-97B9-E5AF2AFB6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45720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确定性编译</a:t>
            </a:r>
          </a:p>
        </p:txBody>
      </p:sp>
      <p:sp>
        <p:nvSpPr>
          <p:cNvPr id="36" name="node-run-4">
            <a:extLst xmlns:a="http://schemas.openxmlformats.org/drawingml/2006/main">
              <a:ext uri="{FF2B5EF4-FFF2-40B4-BE49-F238E27FC236}">
                <a16:creationId xmlns:a16="http://schemas.microsoft.com/office/drawing/2014/main" id="{404028C5-C0C8-48B5-A11A-3D4319F0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19600"/>
            <a:ext cx="146685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37" name="label-run-4">
            <a:extLst xmlns:a="http://schemas.openxmlformats.org/drawingml/2006/main">
              <a:ext uri="{FF2B5EF4-FFF2-40B4-BE49-F238E27FC236}">
                <a16:creationId xmlns:a16="http://schemas.microsoft.com/office/drawing/2014/main" id="{4924AFF8-E481-432F-8799-AAADD6FAE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572000"/>
            <a:ext cx="137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PPTX</a:t>
            </a:r>
          </a:p>
        </p:txBody>
      </p:sp>
      <p:sp>
        <p:nvSpPr>
          <p:cNvPr id="38" name="library-readonly-link">
            <a:extLst xmlns:a="http://schemas.openxmlformats.org/drawingml/2006/main">
              <a:ext uri="{FF2B5EF4-FFF2-40B4-BE49-F238E27FC236}">
                <a16:creationId xmlns:a16="http://schemas.microsoft.com/office/drawing/2014/main" id="{96C920A0-105A-4597-B9B6-1FF520F6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72500" y="3829050"/>
            <a:ext cx="247650" cy="533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ore-note">
            <a:extLst xmlns:a="http://schemas.openxmlformats.org/drawingml/2006/main">
              <a:ext uri="{FF2B5EF4-FFF2-40B4-BE49-F238E27FC236}">
                <a16:creationId xmlns:a16="http://schemas.microsoft.com/office/drawing/2014/main" id="{CDC21338-37A3-4C2C-A392-69458BAA5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467350"/>
            <a:ext cx="742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没有合适结构时，走已登记的简单排版 / 拆页</a:t>
            </a:r>
          </a:p>
        </p:txBody>
      </p:sp>
      <p:sp>
        <p:nvSpPr>
          <p:cNvPr id="40" name="footer-rule">
            <a:extLst xmlns:a="http://schemas.openxmlformats.org/drawingml/2006/main">
              <a:ext uri="{FF2B5EF4-FFF2-40B4-BE49-F238E27FC236}">
                <a16:creationId xmlns:a16="http://schemas.microsoft.com/office/drawing/2014/main" id="{FCC8DB18-88FF-4F9A-8B25-1B96A94B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D7AF92AD-6614-4936-83DD-9A9665BE6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42" name="footer-page">
            <a:extLst xmlns:a="http://schemas.openxmlformats.org/drawingml/2006/main">
              <a:ext uri="{FF2B5EF4-FFF2-40B4-BE49-F238E27FC236}">
                <a16:creationId xmlns:a16="http://schemas.microsoft.com/office/drawing/2014/main" id="{AF31C862-AD43-4A5A-A5DA-AD06AF5A7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267661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FB6A8BC-D9C9-4166-9B0B-CD9C1300F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07 成本前移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36A857A6-9BB3-4C8B-90BE-F1DA113E5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3F74794-9868-4779-BB53-A396E9E2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把昂贵的计算前移，正式交付才可重复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F636200-E142-434D-B6B2-C07CFFB0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建设期承担理解与审查，运行期主要执行路由与填参。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9B0E287-6A46-4B5A-8E7E-59054229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hase-left">
            <a:extLst xmlns:a="http://schemas.openxmlformats.org/drawingml/2006/main">
              <a:ext uri="{FF2B5EF4-FFF2-40B4-BE49-F238E27FC236}">
                <a16:creationId xmlns:a16="http://schemas.microsoft.com/office/drawing/2014/main" id="{D9BFD89D-1D6A-4D76-96B8-7B6673D72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4953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hase-right">
            <a:extLst xmlns:a="http://schemas.openxmlformats.org/drawingml/2006/main">
              <a:ext uri="{FF2B5EF4-FFF2-40B4-BE49-F238E27FC236}">
                <a16:creationId xmlns:a16="http://schemas.microsoft.com/office/drawing/2014/main" id="{B3A40231-6605-4E57-9E54-17E1CD644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924050"/>
            <a:ext cx="4953000" cy="331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8" name="phase-left-head">
            <a:extLst xmlns:a="http://schemas.openxmlformats.org/drawingml/2006/main">
              <a:ext uri="{FF2B5EF4-FFF2-40B4-BE49-F238E27FC236}">
                <a16:creationId xmlns:a16="http://schemas.microsoft.com/office/drawing/2014/main" id="{28EE8742-FC10-4AB4-99BB-8EB85E99C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建设期｜一次建设</a:t>
            </a:r>
          </a:p>
        </p:txBody>
      </p:sp>
      <p:sp>
        <p:nvSpPr>
          <p:cNvPr id="9" name="phase-right-head">
            <a:extLst xmlns:a="http://schemas.openxmlformats.org/drawingml/2006/main">
              <a:ext uri="{FF2B5EF4-FFF2-40B4-BE49-F238E27FC236}">
                <a16:creationId xmlns:a16="http://schemas.microsoft.com/office/drawing/2014/main" id="{DFFE8552-B257-45FC-8020-0313F3D9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247900"/>
            <a:ext cx="3619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运行期｜多次复用</a:t>
            </a:r>
          </a:p>
        </p:txBody>
      </p:sp>
      <p:sp>
        <p:nvSpPr>
          <p:cNvPr id="10" name="phase-left-dot-0">
            <a:extLst xmlns:a="http://schemas.openxmlformats.org/drawingml/2006/main">
              <a:ext uri="{FF2B5EF4-FFF2-40B4-BE49-F238E27FC236}">
                <a16:creationId xmlns:a16="http://schemas.microsoft.com/office/drawing/2014/main" id="{315C27F4-6C21-4556-8DBF-8B562B23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hase-left-num-0">
            <a:extLst xmlns:a="http://schemas.openxmlformats.org/drawingml/2006/main">
              <a:ext uri="{FF2B5EF4-FFF2-40B4-BE49-F238E27FC236}">
                <a16:creationId xmlns:a16="http://schemas.microsoft.com/office/drawing/2014/main" id="{E68964C5-7E6B-4DF0-BF02-EDD15F19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860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2" name="phase-left-text-0">
            <a:extLst xmlns:a="http://schemas.openxmlformats.org/drawingml/2006/main">
              <a:ext uri="{FF2B5EF4-FFF2-40B4-BE49-F238E27FC236}">
                <a16:creationId xmlns:a16="http://schemas.microsoft.com/office/drawing/2014/main" id="{D5294E61-4DC7-4FF7-ADB2-643B186F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57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筛选优秀页面</a:t>
            </a:r>
          </a:p>
        </p:txBody>
      </p:sp>
      <p:sp>
        <p:nvSpPr>
          <p:cNvPr id="13" name="phase-left-dot-1">
            <a:extLst xmlns:a="http://schemas.openxmlformats.org/drawingml/2006/main">
              <a:ext uri="{FF2B5EF4-FFF2-40B4-BE49-F238E27FC236}">
                <a16:creationId xmlns:a16="http://schemas.microsoft.com/office/drawing/2014/main" id="{C4738B3E-163F-4956-805A-02C6F8742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05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hase-left-num-1">
            <a:extLst xmlns:a="http://schemas.openxmlformats.org/drawingml/2006/main">
              <a:ext uri="{FF2B5EF4-FFF2-40B4-BE49-F238E27FC236}">
                <a16:creationId xmlns:a16="http://schemas.microsoft.com/office/drawing/2014/main" id="{40628C0F-9ACB-4301-A87C-CA035FE30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phase-left-text-1">
            <a:extLst xmlns:a="http://schemas.openxmlformats.org/drawingml/2006/main">
              <a:ext uri="{FF2B5EF4-FFF2-40B4-BE49-F238E27FC236}">
                <a16:creationId xmlns:a16="http://schemas.microsoft.com/office/drawing/2014/main" id="{BED56DAE-6053-4BE3-93E2-FB4B38E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286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理解为何有效</a:t>
            </a:r>
          </a:p>
        </p:txBody>
      </p:sp>
      <p:sp>
        <p:nvSpPr>
          <p:cNvPr id="16" name="phase-left-dot-2">
            <a:extLst xmlns:a="http://schemas.openxmlformats.org/drawingml/2006/main">
              <a:ext uri="{FF2B5EF4-FFF2-40B4-BE49-F238E27FC236}">
                <a16:creationId xmlns:a16="http://schemas.microsoft.com/office/drawing/2014/main" id="{AA7A1A63-8BE4-4972-92FD-A50BA96D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hase-left-num-2">
            <a:extLst xmlns:a="http://schemas.openxmlformats.org/drawingml/2006/main">
              <a:ext uri="{FF2B5EF4-FFF2-40B4-BE49-F238E27FC236}">
                <a16:creationId xmlns:a16="http://schemas.microsoft.com/office/drawing/2014/main" id="{08D81830-D2F4-435F-9A3E-EDC0F7FB5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74332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8" name="phase-left-text-2">
            <a:extLst xmlns:a="http://schemas.openxmlformats.org/drawingml/2006/main">
              <a:ext uri="{FF2B5EF4-FFF2-40B4-BE49-F238E27FC236}">
                <a16:creationId xmlns:a16="http://schemas.microsoft.com/office/drawing/2014/main" id="{B609F432-4979-42FB-A4FE-A1D8F7F7A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14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内容与数量参数化</a:t>
            </a:r>
          </a:p>
        </p:txBody>
      </p:sp>
      <p:sp>
        <p:nvSpPr>
          <p:cNvPr id="19" name="phase-left-dot-3">
            <a:extLst xmlns:a="http://schemas.openxmlformats.org/drawingml/2006/main">
              <a:ext uri="{FF2B5EF4-FFF2-40B4-BE49-F238E27FC236}">
                <a16:creationId xmlns:a16="http://schemas.microsoft.com/office/drawing/2014/main" id="{796984A5-E9AC-44DA-85A6-004F6F477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62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hase-left-num-3">
            <a:extLst xmlns:a="http://schemas.openxmlformats.org/drawingml/2006/main">
              <a:ext uri="{FF2B5EF4-FFF2-40B4-BE49-F238E27FC236}">
                <a16:creationId xmlns:a16="http://schemas.microsoft.com/office/drawing/2014/main" id="{6C84D41F-71BA-4E4B-998C-02AB0A8DC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1" name="phase-left-text-3">
            <a:extLst xmlns:a="http://schemas.openxmlformats.org/drawingml/2006/main">
              <a:ext uri="{FF2B5EF4-FFF2-40B4-BE49-F238E27FC236}">
                <a16:creationId xmlns:a16="http://schemas.microsoft.com/office/drawing/2014/main" id="{2A01E20C-A19B-4651-8CD3-6D678620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43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验证状态与边界</a:t>
            </a:r>
          </a:p>
        </p:txBody>
      </p:sp>
      <p:sp>
        <p:nvSpPr>
          <p:cNvPr id="22" name="phase-left-dot-4">
            <a:extLst xmlns:a="http://schemas.openxmlformats.org/drawingml/2006/main">
              <a:ext uri="{FF2B5EF4-FFF2-40B4-BE49-F238E27FC236}">
                <a16:creationId xmlns:a16="http://schemas.microsoft.com/office/drawing/2014/main" id="{3F0E824B-8E0C-47A2-8B92-58F3C782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91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hase-left-num-4">
            <a:extLst xmlns:a="http://schemas.openxmlformats.org/drawingml/2006/main">
              <a:ext uri="{FF2B5EF4-FFF2-40B4-BE49-F238E27FC236}">
                <a16:creationId xmlns:a16="http://schemas.microsoft.com/office/drawing/2014/main" id="{07351727-79FB-49FB-BBF4-9C56E6DA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005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4" name="phase-left-text-4">
            <a:extLst xmlns:a="http://schemas.openxmlformats.org/drawingml/2006/main">
              <a:ext uri="{FF2B5EF4-FFF2-40B4-BE49-F238E27FC236}">
                <a16:creationId xmlns:a16="http://schemas.microsoft.com/office/drawing/2014/main" id="{FDF77878-62C8-4208-B1A6-94522526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用户确认入库</a:t>
            </a:r>
          </a:p>
        </p:txBody>
      </p:sp>
      <p:sp>
        <p:nvSpPr>
          <p:cNvPr id="25" name="phase-right-dot-0">
            <a:extLst xmlns:a="http://schemas.openxmlformats.org/drawingml/2006/main">
              <a:ext uri="{FF2B5EF4-FFF2-40B4-BE49-F238E27FC236}">
                <a16:creationId xmlns:a16="http://schemas.microsoft.com/office/drawing/2014/main" id="{24B3863A-587A-4608-94ED-B1C3C853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76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hase-right-num-0">
            <a:extLst xmlns:a="http://schemas.openxmlformats.org/drawingml/2006/main">
              <a:ext uri="{FF2B5EF4-FFF2-40B4-BE49-F238E27FC236}">
                <a16:creationId xmlns:a16="http://schemas.microsoft.com/office/drawing/2014/main" id="{551D2C5B-18D2-4444-880D-438186A6F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860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7" name="phase-right-text-0">
            <a:extLst xmlns:a="http://schemas.openxmlformats.org/drawingml/2006/main">
              <a:ext uri="{FF2B5EF4-FFF2-40B4-BE49-F238E27FC236}">
                <a16:creationId xmlns:a16="http://schemas.microsoft.com/office/drawing/2014/main" id="{7F68478B-F37F-42C3-98C4-5434E39C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理解、分类、路由</a:t>
            </a:r>
          </a:p>
        </p:txBody>
      </p:sp>
      <p:sp>
        <p:nvSpPr>
          <p:cNvPr id="28" name="phase-right-dot-1">
            <a:extLst xmlns:a="http://schemas.openxmlformats.org/drawingml/2006/main">
              <a:ext uri="{FF2B5EF4-FFF2-40B4-BE49-F238E27FC236}">
                <a16:creationId xmlns:a16="http://schemas.microsoft.com/office/drawing/2014/main" id="{6BF3B24A-9AA3-4628-A99F-5B82F5AE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051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hase-right-num-1">
            <a:extLst xmlns:a="http://schemas.openxmlformats.org/drawingml/2006/main">
              <a:ext uri="{FF2B5EF4-FFF2-40B4-BE49-F238E27FC236}">
                <a16:creationId xmlns:a16="http://schemas.microsoft.com/office/drawing/2014/main" id="{2BA05380-0629-491E-9219-60C48351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31470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30" name="phase-right-text-1">
            <a:extLst xmlns:a="http://schemas.openxmlformats.org/drawingml/2006/main">
              <a:ext uri="{FF2B5EF4-FFF2-40B4-BE49-F238E27FC236}">
                <a16:creationId xmlns:a16="http://schemas.microsoft.com/office/drawing/2014/main" id="{10CC80FD-97F6-460D-953F-C3E57B50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28612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选择已确认能力</a:t>
            </a:r>
          </a:p>
        </p:txBody>
      </p:sp>
      <p:sp>
        <p:nvSpPr>
          <p:cNvPr id="31" name="phase-right-dot-2">
            <a:extLst xmlns:a="http://schemas.openxmlformats.org/drawingml/2006/main">
              <a:ext uri="{FF2B5EF4-FFF2-40B4-BE49-F238E27FC236}">
                <a16:creationId xmlns:a16="http://schemas.microsoft.com/office/drawing/2014/main" id="{D47CEABE-1EB6-40D1-A5AD-B88590DF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hase-right-num-2">
            <a:extLst xmlns:a="http://schemas.openxmlformats.org/drawingml/2006/main">
              <a:ext uri="{FF2B5EF4-FFF2-40B4-BE49-F238E27FC236}">
                <a16:creationId xmlns:a16="http://schemas.microsoft.com/office/drawing/2014/main" id="{A67107A0-75F7-4530-9079-DB8E35CF0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4332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33" name="phase-right-text-2">
            <a:extLst xmlns:a="http://schemas.openxmlformats.org/drawingml/2006/main">
              <a:ext uri="{FF2B5EF4-FFF2-40B4-BE49-F238E27FC236}">
                <a16:creationId xmlns:a16="http://schemas.microsoft.com/office/drawing/2014/main" id="{5D3FD808-294E-4860-9923-6DF2A1E6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7147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按数据契约填参</a:t>
            </a:r>
          </a:p>
        </p:txBody>
      </p:sp>
      <p:sp>
        <p:nvSpPr>
          <p:cNvPr id="34" name="phase-right-dot-3">
            <a:extLst xmlns:a="http://schemas.openxmlformats.org/drawingml/2006/main">
              <a:ext uri="{FF2B5EF4-FFF2-40B4-BE49-F238E27FC236}">
                <a16:creationId xmlns:a16="http://schemas.microsoft.com/office/drawing/2014/main" id="{5BE9F452-F83F-48F8-BD0E-716E675A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hase-right-num-3">
            <a:extLst xmlns:a="http://schemas.openxmlformats.org/drawingml/2006/main">
              <a:ext uri="{FF2B5EF4-FFF2-40B4-BE49-F238E27FC236}">
                <a16:creationId xmlns:a16="http://schemas.microsoft.com/office/drawing/2014/main" id="{B86AEDC0-306F-4576-AE90-44574E5C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71950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6" name="phase-right-text-3">
            <a:extLst xmlns:a="http://schemas.openxmlformats.org/drawingml/2006/main">
              <a:ext uri="{FF2B5EF4-FFF2-40B4-BE49-F238E27FC236}">
                <a16:creationId xmlns:a16="http://schemas.microsoft.com/office/drawing/2014/main" id="{56572CAD-D57E-4CCE-A0E5-CFAB52FA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143375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确定性生成与检查</a:t>
            </a:r>
          </a:p>
        </p:txBody>
      </p:sp>
      <p:sp>
        <p:nvSpPr>
          <p:cNvPr id="37" name="phase-right-dot-4">
            <a:extLst xmlns:a="http://schemas.openxmlformats.org/drawingml/2006/main">
              <a:ext uri="{FF2B5EF4-FFF2-40B4-BE49-F238E27FC236}">
                <a16:creationId xmlns:a16="http://schemas.microsoft.com/office/drawing/2014/main" id="{56E03CB6-5EA3-48B7-B030-869E6919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910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hase-right-num-4">
            <a:extLst xmlns:a="http://schemas.openxmlformats.org/drawingml/2006/main">
              <a:ext uri="{FF2B5EF4-FFF2-40B4-BE49-F238E27FC236}">
                <a16:creationId xmlns:a16="http://schemas.microsoft.com/office/drawing/2014/main" id="{5FD48143-F074-47B7-9168-AE0306FB3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600575"/>
            <a:ext cx="19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9" name="phase-right-text-4">
            <a:extLst xmlns:a="http://schemas.openxmlformats.org/drawingml/2006/main">
              <a:ext uri="{FF2B5EF4-FFF2-40B4-BE49-F238E27FC236}">
                <a16:creationId xmlns:a16="http://schemas.microsoft.com/office/drawing/2014/main" id="{CF6886DB-6311-450A-931E-FB056FA23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45720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继续修改与交付</a:t>
            </a:r>
          </a:p>
        </p:txBody>
      </p:sp>
      <p:sp>
        <p:nvSpPr>
          <p:cNvPr id="40" name="phase-bridge">
            <a:extLst xmlns:a="http://schemas.openxmlformats.org/drawingml/2006/main">
              <a:ext uri="{FF2B5EF4-FFF2-40B4-BE49-F238E27FC236}">
                <a16:creationId xmlns:a16="http://schemas.microsoft.com/office/drawing/2014/main" id="{AD666A2F-082C-4B93-9C66-A96F5D215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19750" y="3371850"/>
            <a:ext cx="8191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hase-bridge-label">
            <a:extLst xmlns:a="http://schemas.openxmlformats.org/drawingml/2006/main">
              <a:ext uri="{FF2B5EF4-FFF2-40B4-BE49-F238E27FC236}">
                <a16:creationId xmlns:a16="http://schemas.microsoft.com/office/drawing/2014/main" id="{4EBCAA40-BAEF-4110-8C7A-6D789BF2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7667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能力复用</a:t>
            </a:r>
          </a:p>
        </p:txBody>
      </p:sp>
      <p:sp>
        <p:nvSpPr>
          <p:cNvPr id="42" name="footer-rule">
            <a:extLst xmlns:a="http://schemas.openxmlformats.org/drawingml/2006/main">
              <a:ext uri="{FF2B5EF4-FFF2-40B4-BE49-F238E27FC236}">
                <a16:creationId xmlns:a16="http://schemas.microsoft.com/office/drawing/2014/main" id="{63F1E0B5-24E2-400C-8CD2-E11961B4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83D0858F-9F6B-4ED7-8398-085BA4A89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44" name="footer-page">
            <a:extLst xmlns:a="http://schemas.openxmlformats.org/drawingml/2006/main">
              <a:ext uri="{FF2B5EF4-FFF2-40B4-BE49-F238E27FC236}">
                <a16:creationId xmlns:a16="http://schemas.microsoft.com/office/drawing/2014/main" id="{58A3F3AD-E002-4B1E-A96A-0C22C396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178468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F34AE48E-B825-42B7-84FB-1F214947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08 能力积累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66023C6B-A5AD-409A-9A61-3D8DBE3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5A82E30-6246-4C1B-B3CD-741C19549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真正积累的不是一万个模板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D6B6037-DD3E-4ECE-B89D-B1F699EB1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可复用的是表达经验：关系、容量、变化方式与失败边界。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675FD4B-5ACA-4AD8-ADA2-A6B199962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hierarchy-zone">
            <a:extLst xmlns:a="http://schemas.openxmlformats.org/drawingml/2006/main">
              <a:ext uri="{FF2B5EF4-FFF2-40B4-BE49-F238E27FC236}">
                <a16:creationId xmlns:a16="http://schemas.microsoft.com/office/drawing/2014/main" id="{AAF04721-F69B-4092-BACC-B26795ED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885950"/>
            <a:ext cx="11144250" cy="3476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-root">
            <a:extLst xmlns:a="http://schemas.openxmlformats.org/drawingml/2006/main">
              <a:ext uri="{FF2B5EF4-FFF2-40B4-BE49-F238E27FC236}">
                <a16:creationId xmlns:a16="http://schemas.microsoft.com/office/drawing/2014/main" id="{C8759D48-7B62-4C21-8BB2-61A5C61B4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67050"/>
            <a:ext cx="180975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244A72"/>
            </a:solidFill>
            <a:prstDash val="solid"/>
          </a:ln>
        </p:spPr>
      </p:sp>
      <p:sp>
        <p:nvSpPr>
          <p:cNvPr id="8" name="label-root">
            <a:extLst xmlns:a="http://schemas.openxmlformats.org/drawingml/2006/main">
              <a:ext uri="{FF2B5EF4-FFF2-40B4-BE49-F238E27FC236}">
                <a16:creationId xmlns:a16="http://schemas.microsoft.com/office/drawing/2014/main" id="{3F933848-1436-46E2-8EC1-991F9339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575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表达能力</a:t>
            </a:r>
          </a:p>
        </p:txBody>
      </p:sp>
      <p:sp>
        <p:nvSpPr>
          <p:cNvPr id="9" name="hier-root-link">
            <a:extLst xmlns:a="http://schemas.openxmlformats.org/drawingml/2006/main">
              <a:ext uri="{FF2B5EF4-FFF2-40B4-BE49-F238E27FC236}">
                <a16:creationId xmlns:a16="http://schemas.microsoft.com/office/drawing/2014/main" id="{B647A668-5F70-42F2-878E-46FCCBC0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86050" y="3333750"/>
            <a:ext cx="4953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hier-association-trunk">
            <a:extLst xmlns:a="http://schemas.openxmlformats.org/drawingml/2006/main">
              <a:ext uri="{FF2B5EF4-FFF2-40B4-BE49-F238E27FC236}">
                <a16:creationId xmlns:a16="http://schemas.microsoft.com/office/drawing/2014/main" id="{A3E0EDE2-456F-488F-8E0B-2A640845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90900"/>
            <a:ext cx="78105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ier-branch-0">
            <a:extLst xmlns:a="http://schemas.openxmlformats.org/drawingml/2006/main">
              <a:ext uri="{FF2B5EF4-FFF2-40B4-BE49-F238E27FC236}">
                <a16:creationId xmlns:a16="http://schemas.microsoft.com/office/drawing/2014/main" id="{75743399-C8F7-4E8F-B0B5-8A8F73F86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333750"/>
            <a:ext cx="38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node-hier-group-0">
            <a:extLst xmlns:a="http://schemas.openxmlformats.org/drawingml/2006/main">
              <a:ext uri="{FF2B5EF4-FFF2-40B4-BE49-F238E27FC236}">
                <a16:creationId xmlns:a16="http://schemas.microsoft.com/office/drawing/2014/main" id="{8C4D4870-0F1E-41DA-90C9-3662ABBE7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1695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3" name="label-hier-group-0">
            <a:extLst xmlns:a="http://schemas.openxmlformats.org/drawingml/2006/main">
              <a:ext uri="{FF2B5EF4-FFF2-40B4-BE49-F238E27FC236}">
                <a16:creationId xmlns:a16="http://schemas.microsoft.com/office/drawing/2014/main" id="{76FBD167-994D-4106-9688-869FD3B3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956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内容关系</a:t>
            </a:r>
          </a:p>
        </p:txBody>
      </p:sp>
      <p:sp>
        <p:nvSpPr>
          <p:cNvPr id="14" name="hier-points-0">
            <a:extLst xmlns:a="http://schemas.openxmlformats.org/drawingml/2006/main">
              <a:ext uri="{FF2B5EF4-FFF2-40B4-BE49-F238E27FC236}">
                <a16:creationId xmlns:a16="http://schemas.microsoft.com/office/drawing/2014/main" id="{B3389453-CDE1-4B10-B959-1C65ACDA0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5052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并列 / 因果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顺序 / 层级</a:t>
            </a:r>
          </a:p>
        </p:txBody>
      </p:sp>
      <p:sp>
        <p:nvSpPr>
          <p:cNvPr id="15" name="hier-branch-1">
            <a:extLst xmlns:a="http://schemas.openxmlformats.org/drawingml/2006/main">
              <a:ext uri="{FF2B5EF4-FFF2-40B4-BE49-F238E27FC236}">
                <a16:creationId xmlns:a16="http://schemas.microsoft.com/office/drawing/2014/main" id="{0D9374E2-73C4-44F2-998C-2F3F269E3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33750"/>
            <a:ext cx="38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node-hier-group-1">
            <a:extLst xmlns:a="http://schemas.openxmlformats.org/drawingml/2006/main">
              <a:ext uri="{FF2B5EF4-FFF2-40B4-BE49-F238E27FC236}">
                <a16:creationId xmlns:a16="http://schemas.microsoft.com/office/drawing/2014/main" id="{60427A6B-55CE-4DBB-9220-E3B5FF442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743200"/>
            <a:ext cx="1695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7" name="label-hier-group-1">
            <a:extLst xmlns:a="http://schemas.openxmlformats.org/drawingml/2006/main">
              <a:ext uri="{FF2B5EF4-FFF2-40B4-BE49-F238E27FC236}">
                <a16:creationId xmlns:a16="http://schemas.microsoft.com/office/drawing/2014/main" id="{6585A875-F909-4C9B-BBC2-E3D86897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956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容量变化</a:t>
            </a:r>
          </a:p>
        </p:txBody>
      </p:sp>
      <p:sp>
        <p:nvSpPr>
          <p:cNvPr id="18" name="hier-points-1">
            <a:extLst xmlns:a="http://schemas.openxmlformats.org/drawingml/2006/main">
              <a:ext uri="{FF2B5EF4-FFF2-40B4-BE49-F238E27FC236}">
                <a16:creationId xmlns:a16="http://schemas.microsoft.com/office/drawing/2014/main" id="{A7E70345-5E79-446F-A04D-12A00D8E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5052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数量扩展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文本长度</a:t>
            </a:r>
          </a:p>
        </p:txBody>
      </p:sp>
      <p:sp>
        <p:nvSpPr>
          <p:cNvPr id="19" name="hier-branch-2">
            <a:extLst xmlns:a="http://schemas.openxmlformats.org/drawingml/2006/main">
              <a:ext uri="{FF2B5EF4-FFF2-40B4-BE49-F238E27FC236}">
                <a16:creationId xmlns:a16="http://schemas.microsoft.com/office/drawing/2014/main" id="{B73C1993-7067-4BC3-9BDE-F8ED7C8A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33750"/>
            <a:ext cx="38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node-hier-group-2">
            <a:extLst xmlns:a="http://schemas.openxmlformats.org/drawingml/2006/main">
              <a:ext uri="{FF2B5EF4-FFF2-40B4-BE49-F238E27FC236}">
                <a16:creationId xmlns:a16="http://schemas.microsoft.com/office/drawing/2014/main" id="{D551F57A-B2CD-4F14-A379-F7E5EE5A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743200"/>
            <a:ext cx="1695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1" name="label-hier-group-2">
            <a:extLst xmlns:a="http://schemas.openxmlformats.org/drawingml/2006/main">
              <a:ext uri="{FF2B5EF4-FFF2-40B4-BE49-F238E27FC236}">
                <a16:creationId xmlns:a16="http://schemas.microsoft.com/office/drawing/2014/main" id="{D0EE8D74-F769-4B0F-8C29-7DA0C1B3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8956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失败边界</a:t>
            </a:r>
          </a:p>
        </p:txBody>
      </p:sp>
      <p:sp>
        <p:nvSpPr>
          <p:cNvPr id="22" name="hier-points-2">
            <a:extLst xmlns:a="http://schemas.openxmlformats.org/drawingml/2006/main">
              <a:ext uri="{FF2B5EF4-FFF2-40B4-BE49-F238E27FC236}">
                <a16:creationId xmlns:a16="http://schemas.microsoft.com/office/drawing/2014/main" id="{A86A723E-D701-421E-966E-CF19E05C7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052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拆页 / 退化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不该使用</a:t>
            </a:r>
          </a:p>
        </p:txBody>
      </p:sp>
      <p:sp>
        <p:nvSpPr>
          <p:cNvPr id="23" name="hier-branch-3">
            <a:extLst xmlns:a="http://schemas.openxmlformats.org/drawingml/2006/main">
              <a:ext uri="{FF2B5EF4-FFF2-40B4-BE49-F238E27FC236}">
                <a16:creationId xmlns:a16="http://schemas.microsoft.com/office/drawing/2014/main" id="{2D4D5F9D-45C7-4CFE-B680-04A5E1E53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333750"/>
            <a:ext cx="381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node-hier-group-3">
            <a:extLst xmlns:a="http://schemas.openxmlformats.org/drawingml/2006/main">
              <a:ext uri="{FF2B5EF4-FFF2-40B4-BE49-F238E27FC236}">
                <a16:creationId xmlns:a16="http://schemas.microsoft.com/office/drawing/2014/main" id="{FE18FA77-1656-4244-A776-5937D4E5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743200"/>
            <a:ext cx="16954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25" name="label-hier-group-3">
            <a:extLst xmlns:a="http://schemas.openxmlformats.org/drawingml/2006/main">
              <a:ext uri="{FF2B5EF4-FFF2-40B4-BE49-F238E27FC236}">
                <a16:creationId xmlns:a16="http://schemas.microsoft.com/office/drawing/2014/main" id="{52FC1F47-9BAB-4845-ACE3-15793DBF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895600"/>
            <a:ext cx="1543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运行反馈</a:t>
            </a:r>
          </a:p>
        </p:txBody>
      </p:sp>
      <p:sp>
        <p:nvSpPr>
          <p:cNvPr id="26" name="hier-points-3">
            <a:extLst xmlns:a="http://schemas.openxmlformats.org/drawingml/2006/main">
              <a:ext uri="{FF2B5EF4-FFF2-40B4-BE49-F238E27FC236}">
                <a16:creationId xmlns:a16="http://schemas.microsoft.com/office/drawing/2014/main" id="{3AB13982-3BBB-43FC-8E4F-8453F7EF1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505200"/>
            <a:ext cx="1466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真实缺口</a:t>
            </a:r>
          </a:p>
          <a:p xmlns:a="http://schemas.openxmlformats.org/drawingml/2006/main">
            <a:pPr algn="ctr">
              <a:def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回流建设</a:t>
            </a:r>
          </a:p>
        </p:txBody>
      </p:sp>
      <p:sp>
        <p:nvSpPr>
          <p:cNvPr id="27" name="hier-foot">
            <a:extLst xmlns:a="http://schemas.openxmlformats.org/drawingml/2006/main">
              <a:ext uri="{FF2B5EF4-FFF2-40B4-BE49-F238E27FC236}">
                <a16:creationId xmlns:a16="http://schemas.microsoft.com/office/drawing/2014/main" id="{9734FA15-0654-4B85-8789-CFD408607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657850"/>
            <a:ext cx="990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一个漂亮页面，只有提炼出这些规律以后，才会从作品变成能力。</a:t>
            </a:r>
          </a:p>
        </p:txBody>
      </p:sp>
      <p:sp>
        <p:nvSpPr>
          <p:cNvPr id="2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41DFC692-9F14-4DBD-A62B-BE5E60C4D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A261B5D7-CBF0-4CD1-90D2-E6148062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3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27771B5E-3520-42E4-A8A7-AB5C76E6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2650677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696C1719-C2EA-406D-A7F1-5EBA52CC7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09 扩展边界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2AADA02E-2BA3-49CA-B893-2A7405CB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6444D9E-46CF-4B5D-B3B2-7A2E661B5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从一个学校开始，能力可以走向更多组织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4A35D03E-3C8A-4AD9-9EA2-01DB0BD5A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主题替换组织身份，表达能力继续复用。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91E26959-9C3F-472A-91F0-A744E4700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expansion-zone">
            <a:extLst xmlns:a="http://schemas.openxmlformats.org/drawingml/2006/main">
              <a:ext uri="{FF2B5EF4-FFF2-40B4-BE49-F238E27FC236}">
                <a16:creationId xmlns:a16="http://schemas.microsoft.com/office/drawing/2014/main" id="{59827FB4-5CA3-455A-B266-7C35C710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05000"/>
            <a:ext cx="11144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node-school">
            <a:extLst xmlns:a="http://schemas.openxmlformats.org/drawingml/2006/main">
              <a:ext uri="{FF2B5EF4-FFF2-40B4-BE49-F238E27FC236}">
                <a16:creationId xmlns:a16="http://schemas.microsoft.com/office/drawing/2014/main" id="{73D7FC66-71E5-47F2-B32A-80CE1ACBD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1809750" cy="95250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244A72"/>
          </a:solidFill>
          <a:ln xmlns:a="http://schemas.openxmlformats.org/drawingml/2006/main" w="9525">
            <a:solidFill>
              <a:srgbClr val="244A72"/>
            </a:solidFill>
            <a:prstDash val="solid"/>
          </a:ln>
        </p:spPr>
      </p:sp>
      <p:sp>
        <p:nvSpPr>
          <p:cNvPr id="8" name="label-school">
            <a:extLst xmlns:a="http://schemas.openxmlformats.org/drawingml/2006/main">
              <a:ext uri="{FF2B5EF4-FFF2-40B4-BE49-F238E27FC236}">
                <a16:creationId xmlns:a16="http://schemas.microsoft.com/office/drawing/2014/main" id="{1928AD04-6127-4FE8-9CDA-981F0922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57550"/>
            <a:ext cx="161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东北大学</a:t>
            </a:r>
          </a:p>
        </p:txBody>
      </p:sp>
      <p:sp>
        <p:nvSpPr>
          <p:cNvPr id="9" name="exp-arrow-1">
            <a:extLst xmlns:a="http://schemas.openxmlformats.org/drawingml/2006/main">
              <a:ext uri="{FF2B5EF4-FFF2-40B4-BE49-F238E27FC236}">
                <a16:creationId xmlns:a16="http://schemas.microsoft.com/office/drawing/2014/main" id="{8E2BAB67-872C-40F2-8333-32ECCF38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48000" y="3352800"/>
            <a:ext cx="1143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node-skin">
            <a:extLst xmlns:a="http://schemas.openxmlformats.org/drawingml/2006/main">
              <a:ext uri="{FF2B5EF4-FFF2-40B4-BE49-F238E27FC236}">
                <a16:creationId xmlns:a16="http://schemas.microsoft.com/office/drawing/2014/main" id="{32E57BAB-12B0-453E-9C9C-4DF60A6EC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905125"/>
            <a:ext cx="180975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1" name="label-skin">
            <a:extLst xmlns:a="http://schemas.openxmlformats.org/drawingml/2006/main">
              <a:ext uri="{FF2B5EF4-FFF2-40B4-BE49-F238E27FC236}">
                <a16:creationId xmlns:a16="http://schemas.microsoft.com/office/drawing/2014/main" id="{F716D1BB-1A3F-4B13-821A-1CDF5990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71825"/>
            <a:ext cx="1581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主题配置</a:t>
            </a:r>
          </a:p>
        </p:txBody>
      </p:sp>
      <p:sp>
        <p:nvSpPr>
          <p:cNvPr id="12" name="skin-body">
            <a:extLst xmlns:a="http://schemas.openxmlformats.org/drawingml/2006/main">
              <a:ext uri="{FF2B5EF4-FFF2-40B4-BE49-F238E27FC236}">
                <a16:creationId xmlns:a16="http://schemas.microsoft.com/office/drawing/2014/main" id="{3521E7FE-283F-43CF-A698-BF2989AE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257675"/>
            <a:ext cx="1428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颜色 · Logo · 字体</a:t>
            </a:r>
          </a:p>
          <a:p xmlns:a="http://schemas.openxmlformats.org/drawingml/2006/main">
            <a:pPr algn="ctr">
              <a:def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页眉页脚 · 页面骨架</a:t>
            </a:r>
          </a:p>
        </p:txBody>
      </p:sp>
      <p:sp>
        <p:nvSpPr>
          <p:cNvPr id="13" name="exp-arrow-2">
            <a:extLst xmlns:a="http://schemas.openxmlformats.org/drawingml/2006/main">
              <a:ext uri="{FF2B5EF4-FFF2-40B4-BE49-F238E27FC236}">
                <a16:creationId xmlns:a16="http://schemas.microsoft.com/office/drawing/2014/main" id="{072ACC06-5D6D-4ABA-BD37-D862FBD99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8425" y="3352800"/>
            <a:ext cx="1143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node-orgs">
            <a:extLst xmlns:a="http://schemas.openxmlformats.org/drawingml/2006/main">
              <a:ext uri="{FF2B5EF4-FFF2-40B4-BE49-F238E27FC236}">
                <a16:creationId xmlns:a16="http://schemas.microsoft.com/office/drawing/2014/main" id="{1B45844A-85C1-49D8-B659-311E790B5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381250" cy="1676400"/>
          </a:xfrm>
          <a:prstGeom xmlns:a="http://schemas.openxmlformats.org/drawingml/2006/main" prst="roundRect">
            <a:avLst>
              <a:gd name="adj" fmla="val 681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F91"/>
            </a:solidFill>
            <a:prstDash val="solid"/>
          </a:ln>
        </p:spPr>
      </p:sp>
      <p:sp>
        <p:nvSpPr>
          <p:cNvPr id="15" name="label-orgs">
            <a:extLst xmlns:a="http://schemas.openxmlformats.org/drawingml/2006/main">
              <a:ext uri="{FF2B5EF4-FFF2-40B4-BE49-F238E27FC236}">
                <a16:creationId xmlns:a16="http://schemas.microsoft.com/office/drawing/2014/main" id="{3287BE0A-4A89-434F-88CC-7956E857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52750"/>
            <a:ext cx="21526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更多组织</a:t>
            </a:r>
          </a:p>
        </p:txBody>
      </p:sp>
      <p:sp>
        <p:nvSpPr>
          <p:cNvPr id="16" name="orgs-body">
            <a:extLst xmlns:a="http://schemas.openxmlformats.org/drawingml/2006/main">
              <a:ext uri="{FF2B5EF4-FFF2-40B4-BE49-F238E27FC236}">
                <a16:creationId xmlns:a16="http://schemas.microsoft.com/office/drawing/2014/main" id="{5C9B966B-D8EE-4B8F-95EB-B919CDE63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48175"/>
            <a:ext cx="176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学校 · 科研院所</a:t>
            </a:r>
          </a:p>
          <a:p xmlns:a="http://schemas.openxmlformats.org/drawingml/2006/main">
            <a:pPr algn="ctr">
              <a:def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实验室 · 企业 · 团队</a:t>
            </a:r>
          </a:p>
        </p:txBody>
      </p:sp>
      <p:sp>
        <p:nvSpPr>
          <p:cNvPr id="17" name="exp-foot">
            <a:extLst xmlns:a="http://schemas.openxmlformats.org/drawingml/2006/main">
              <a:ext uri="{FF2B5EF4-FFF2-40B4-BE49-F238E27FC236}">
                <a16:creationId xmlns:a16="http://schemas.microsoft.com/office/drawing/2014/main" id="{E5ADE8B6-DE2F-4229-A532-6E68A5B0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38800"/>
            <a:ext cx="1009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244A72"/>
                </a:solidFill>
                <a:latin typeface="Microsoft YaHei"/>
                <a:ea typeface="Microsoft YaHei"/>
                <a:cs typeface="Microsoft YaHei"/>
              </a:rPr>
              <a:t>组织的样子可以替换，已验证的内容理解与表达能力可以继续复用。</a:t>
            </a:r>
          </a:p>
        </p:txBody>
      </p:sp>
      <p:sp>
        <p:nvSpPr>
          <p:cNvPr id="18" name="footer-rule">
            <a:extLst xmlns:a="http://schemas.openxmlformats.org/drawingml/2006/main">
              <a:ext uri="{FF2B5EF4-FFF2-40B4-BE49-F238E27FC236}">
                <a16:creationId xmlns:a16="http://schemas.microsoft.com/office/drawing/2014/main" id="{B840611E-767C-43AB-A2AA-88CA826A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107DC09A-2FEE-4487-99A8-D5CDBF6D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20" name="footer-page">
            <a:extLst xmlns:a="http://schemas.openxmlformats.org/drawingml/2006/main">
              <a:ext uri="{FF2B5EF4-FFF2-40B4-BE49-F238E27FC236}">
                <a16:creationId xmlns:a16="http://schemas.microsoft.com/office/drawing/2014/main" id="{E90AA5EF-EDE9-40A6-9677-9F8C6770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45832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label">
            <a:extLst xmlns:a="http://schemas.openxmlformats.org/drawingml/2006/main">
              <a:ext uri="{FF2B5EF4-FFF2-40B4-BE49-F238E27FC236}">
                <a16:creationId xmlns:a16="http://schemas.microsoft.com/office/drawing/2014/main" id="{E0C277E5-60B9-47CC-AD6B-5ADA4CE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67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10 收束</a:t>
            </a:r>
          </a:p>
        </p:txBody>
      </p:sp>
      <p:sp>
        <p:nvSpPr>
          <p:cNvPr id="2" name="header-rule">
            <a:extLst xmlns:a="http://schemas.openxmlformats.org/drawingml/2006/main">
              <a:ext uri="{FF2B5EF4-FFF2-40B4-BE49-F238E27FC236}">
                <a16:creationId xmlns:a16="http://schemas.microsoft.com/office/drawing/2014/main" id="{50B8FACD-14EE-4290-AA5F-72DA41A8E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5245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F9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096DAF3-2044-4BB8-A0E2-FC881C03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723900"/>
            <a:ext cx="11144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PPagenT 只想解决一件普通的事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99C0617-8D5D-4307-87BF-A908DD292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152525"/>
            <a:ext cx="1114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让一个原本不太会做 PPT 的人，也能很快得到可靠的交付。</a:t>
            </a:r>
          </a:p>
        </p:txBody>
      </p:sp>
      <p:sp>
        <p:nvSpPr>
          <p:cNvPr id="5" name="title-divider">
            <a:extLst xmlns:a="http://schemas.openxmlformats.org/drawingml/2006/main">
              <a:ext uri="{FF2B5EF4-FFF2-40B4-BE49-F238E27FC236}">
                <a16:creationId xmlns:a16="http://schemas.microsoft.com/office/drawing/2014/main" id="{1FD71C5B-523F-4465-A04A-3F95FC0B3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95425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close-main">
            <a:extLst xmlns:a="http://schemas.openxmlformats.org/drawingml/2006/main">
              <a:ext uri="{FF2B5EF4-FFF2-40B4-BE49-F238E27FC236}">
                <a16:creationId xmlns:a16="http://schemas.microsoft.com/office/drawing/2014/main" id="{06ECD444-999A-49A4-A52D-21AB1506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924050"/>
            <a:ext cx="11144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A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close-quote">
            <a:extLst xmlns:a="http://schemas.openxmlformats.org/drawingml/2006/main">
              <a:ext uri="{FF2B5EF4-FFF2-40B4-BE49-F238E27FC236}">
                <a16:creationId xmlns:a16="http://schemas.microsoft.com/office/drawing/2014/main" id="{FC5FFDE6-855C-4C80-9701-BD95BCBA0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5050"/>
            <a:ext cx="628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靠谱、好用，</a:t>
            </a:r>
          </a:p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可以直接拿去讲。</a:t>
            </a:r>
          </a:p>
        </p:txBody>
      </p:sp>
      <p:sp>
        <p:nvSpPr>
          <p:cNvPr id="8" name="close-result">
            <a:extLst xmlns:a="http://schemas.openxmlformats.org/drawingml/2006/main">
              <a:ext uri="{FF2B5EF4-FFF2-40B4-BE49-F238E27FC236}">
                <a16:creationId xmlns:a16="http://schemas.microsoft.com/office/drawing/2014/main" id="{762F4CE4-5D8D-4711-A4F6-6EA724EC8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0985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拿去讲，也能继续修改。</a:t>
            </a:r>
          </a:p>
        </p:txBody>
      </p:sp>
      <p:sp>
        <p:nvSpPr>
          <p:cNvPr id="9" name="close-divider">
            <a:extLst xmlns:a="http://schemas.openxmlformats.org/drawingml/2006/main">
              <a:ext uri="{FF2B5EF4-FFF2-40B4-BE49-F238E27FC236}">
                <a16:creationId xmlns:a16="http://schemas.microsoft.com/office/drawing/2014/main" id="{5F4A6F11-72F6-489E-9232-E305D693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lose-three-head">
            <a:extLst xmlns:a="http://schemas.openxmlformats.org/drawingml/2006/main">
              <a:ext uri="{FF2B5EF4-FFF2-40B4-BE49-F238E27FC236}">
                <a16:creationId xmlns:a16="http://schemas.microsoft.com/office/drawing/2014/main" id="{DAAAED58-5440-4D3C-8F04-718E68606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95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可靠交付来自三件事</a:t>
            </a:r>
          </a:p>
        </p:txBody>
      </p:sp>
      <p:sp>
        <p:nvSpPr>
          <p:cNvPr id="11" name="close-item-key-0">
            <a:extLst xmlns:a="http://schemas.openxmlformats.org/drawingml/2006/main">
              <a:ext uri="{FF2B5EF4-FFF2-40B4-BE49-F238E27FC236}">
                <a16:creationId xmlns:a16="http://schemas.microsoft.com/office/drawing/2014/main" id="{6D40E4E4-1BC3-4759-B4E3-BF3D0DB5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10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AI</a:t>
            </a:r>
          </a:p>
        </p:txBody>
      </p:sp>
      <p:sp>
        <p:nvSpPr>
          <p:cNvPr id="12" name="close-item-body-0">
            <a:extLst xmlns:a="http://schemas.openxmlformats.org/drawingml/2006/main">
              <a:ext uri="{FF2B5EF4-FFF2-40B4-BE49-F238E27FC236}">
                <a16:creationId xmlns:a16="http://schemas.microsoft.com/office/drawing/2014/main" id="{663F3215-229B-4A75-B125-A4933F54F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读懂稿子</a:t>
            </a:r>
          </a:p>
        </p:txBody>
      </p:sp>
      <p:sp>
        <p:nvSpPr>
          <p:cNvPr id="13" name="close-item-rule-0">
            <a:extLst xmlns:a="http://schemas.openxmlformats.org/drawingml/2006/main">
              <a:ext uri="{FF2B5EF4-FFF2-40B4-BE49-F238E27FC236}">
                <a16:creationId xmlns:a16="http://schemas.microsoft.com/office/drawing/2014/main" id="{9909CC9F-7954-4FBB-BF5F-58741C564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48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lose-item-key-1">
            <a:extLst xmlns:a="http://schemas.openxmlformats.org/drawingml/2006/main">
              <a:ext uri="{FF2B5EF4-FFF2-40B4-BE49-F238E27FC236}">
                <a16:creationId xmlns:a16="http://schemas.microsoft.com/office/drawing/2014/main" id="{305A1C5E-E06D-49F2-81E6-47E686511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010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5" name="close-item-body-1">
            <a:extLst xmlns:a="http://schemas.openxmlformats.org/drawingml/2006/main">
              <a:ext uri="{FF2B5EF4-FFF2-40B4-BE49-F238E27FC236}">
                <a16:creationId xmlns:a16="http://schemas.microsoft.com/office/drawing/2014/main" id="{62C179C8-6006-435D-996E-E1681305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做出判断</a:t>
            </a:r>
          </a:p>
        </p:txBody>
      </p:sp>
      <p:sp>
        <p:nvSpPr>
          <p:cNvPr id="16" name="close-item-rule-1">
            <a:extLst xmlns:a="http://schemas.openxmlformats.org/drawingml/2006/main">
              <a:ext uri="{FF2B5EF4-FFF2-40B4-BE49-F238E27FC236}">
                <a16:creationId xmlns:a16="http://schemas.microsoft.com/office/drawing/2014/main" id="{DB7C202A-0084-4E52-AE24-02F85D7D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048250"/>
            <a:ext cx="95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close-item-key-2">
            <a:extLst xmlns:a="http://schemas.openxmlformats.org/drawingml/2006/main">
              <a:ext uri="{FF2B5EF4-FFF2-40B4-BE49-F238E27FC236}">
                <a16:creationId xmlns:a16="http://schemas.microsoft.com/office/drawing/2014/main" id="{CD8C0DB4-514C-41EC-BC7D-0C3FD26BE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010150"/>
            <a:ext cx="114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代码</a:t>
            </a:r>
          </a:p>
        </p:txBody>
      </p:sp>
      <p:sp>
        <p:nvSpPr>
          <p:cNvPr id="18" name="close-item-body-2">
            <a:extLst xmlns:a="http://schemas.openxmlformats.org/drawingml/2006/main">
              <a:ext uri="{FF2B5EF4-FFF2-40B4-BE49-F238E27FC236}">
                <a16:creationId xmlns:a16="http://schemas.microsoft.com/office/drawing/2014/main" id="{A8440BAA-1277-4ECB-B8ED-D342BF13A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67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252B33"/>
                </a:solidFill>
                <a:latin typeface="Microsoft YaHei"/>
                <a:ea typeface="Microsoft YaHei"/>
                <a:cs typeface="Microsoft YaHei"/>
              </a:rPr>
              <a:t>完成重复劳动</a:t>
            </a:r>
          </a:p>
        </p:txBody>
      </p:sp>
      <p:sp>
        <p:nvSpPr>
          <p:cNvPr id="19" name="footer-rule">
            <a:extLst xmlns:a="http://schemas.openxmlformats.org/drawingml/2006/main">
              <a:ext uri="{FF2B5EF4-FFF2-40B4-BE49-F238E27FC236}">
                <a16:creationId xmlns:a16="http://schemas.microsoft.com/office/drawing/2014/main" id="{3B055F38-2368-458A-A031-13E597C1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57950"/>
            <a:ext cx="11144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5E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footer-source">
            <a:extLst xmlns:a="http://schemas.openxmlformats.org/drawingml/2006/main">
              <a:ext uri="{FF2B5EF4-FFF2-40B4-BE49-F238E27FC236}">
                <a16:creationId xmlns:a16="http://schemas.microsoft.com/office/drawing/2014/main" id="{9DAD0913-D15D-4E24-AD43-09250B47D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534150"/>
            <a:ext cx="10001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707780"/>
                </a:solidFill>
                <a:latin typeface="Microsoft YaHei"/>
                <a:ea typeface="Microsoft YaHei"/>
                <a:cs typeface="Microsoft YaHei"/>
              </a:rPr>
              <a:t>来源：分配原稿《PPagenT 产品叙事》（历史架构观点）</a:t>
            </a:r>
          </a:p>
        </p:txBody>
      </p:sp>
      <p:sp>
        <p:nvSpPr>
          <p:cNvPr id="21" name="footer-page">
            <a:extLst xmlns:a="http://schemas.openxmlformats.org/drawingml/2006/main">
              <a:ext uri="{FF2B5EF4-FFF2-40B4-BE49-F238E27FC236}">
                <a16:creationId xmlns:a16="http://schemas.microsoft.com/office/drawing/2014/main" id="{973E7C3D-8905-4E7D-9E28-33D811C78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6515100"/>
            <a:ext cx="571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15F91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4477261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2026-09-06T01:43:32.6010000Z</dcterms:created>
  <dcterms:modified xsi:type="dcterms:W3CDTF">2026-09-06T01:43:32.6010000Z</dcterms:modified>
</coreProperties>
</file>