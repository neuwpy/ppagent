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390aefc7ff4005" /><Relationship Type="http://schemas.openxmlformats.org/officeDocument/2006/relationships/extended-properties" Target="/docProps/app.xml" Id="Re9a25944c5e74c50" /><Relationship Type="http://schemas.openxmlformats.org/officeDocument/2006/relationships/officeDocument" Target="/ppt/presentation.xml" Id="Re6c54ff96a8044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31fc01e2264cfa"/>
  </p:sldMasterIdLst>
  <p:notesMasterIdLst>
    <p:notesMasterId xmlns:r="http://schemas.openxmlformats.org/officeDocument/2006/relationships" r:id="R63660e9c24894786"/>
  </p:notesMasterIdLst>
  <p:sldIdLst>
    <p:sldId xmlns:r="http://schemas.openxmlformats.org/officeDocument/2006/relationships" id="256" r:id="R4acd0f5ab0444811"/>
    <p:sldId xmlns:r="http://schemas.openxmlformats.org/officeDocument/2006/relationships" id="257" r:id="R92cffdb2e0494dae"/>
    <p:sldId xmlns:r="http://schemas.openxmlformats.org/officeDocument/2006/relationships" id="258" r:id="R2f99f10aaa604b84"/>
    <p:sldId xmlns:r="http://schemas.openxmlformats.org/officeDocument/2006/relationships" id="259" r:id="R9e652b4fe4ad44b3"/>
    <p:sldId xmlns:r="http://schemas.openxmlformats.org/officeDocument/2006/relationships" id="260" r:id="R843e9032c3f5407f"/>
    <p:sldId xmlns:r="http://schemas.openxmlformats.org/officeDocument/2006/relationships" id="261" r:id="Ra5086605b0b044ca"/>
    <p:sldId xmlns:r="http://schemas.openxmlformats.org/officeDocument/2006/relationships" id="262" r:id="R896fbeace1214552"/>
    <p:sldId xmlns:r="http://schemas.openxmlformats.org/officeDocument/2006/relationships" id="263" r:id="R5fb0d2a24a6a495b"/>
    <p:sldId xmlns:r="http://schemas.openxmlformats.org/officeDocument/2006/relationships" id="264" r:id="Rb5def7b99362445d"/>
    <p:sldId xmlns:r="http://schemas.openxmlformats.org/officeDocument/2006/relationships" id="265" r:id="R2b288049c33d4a16"/>
    <p:sldId xmlns:r="http://schemas.openxmlformats.org/officeDocument/2006/relationships" id="266" r:id="R74264804dd7441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2548070f0745f3" /><Relationship Type="http://schemas.openxmlformats.org/officeDocument/2006/relationships/slideMaster" Target="/ppt/slideMasters/slideMaster1.xml" Id="R1531fc01e2264cfa" /><Relationship Type="http://schemas.openxmlformats.org/officeDocument/2006/relationships/notesMaster" Target="/ppt/notesMasters/notesMaster1.xml" Id="R63660e9c24894786" /><Relationship Type="http://schemas.openxmlformats.org/officeDocument/2006/relationships/presProps" Target="/ppt/presProps.xml" Id="Rd062ea3bbfd34478" /><Relationship Type="http://schemas.openxmlformats.org/officeDocument/2006/relationships/tableStyles" Target="/ppt/tableStyles.xml" Id="R9f7d03604f3c4d21" /><Relationship Type="http://schemas.openxmlformats.org/officeDocument/2006/relationships/slide" Target="/ppt/slides/slide1.xml" Id="R4acd0f5ab0444811" /><Relationship Type="http://schemas.openxmlformats.org/officeDocument/2006/relationships/slide" Target="/ppt/slides/slide2.xml" Id="R92cffdb2e0494dae" /><Relationship Type="http://schemas.openxmlformats.org/officeDocument/2006/relationships/slide" Target="/ppt/slides/slide3.xml" Id="R2f99f10aaa604b84" /><Relationship Type="http://schemas.openxmlformats.org/officeDocument/2006/relationships/slide" Target="/ppt/slides/slide4.xml" Id="R9e652b4fe4ad44b3" /><Relationship Type="http://schemas.openxmlformats.org/officeDocument/2006/relationships/slide" Target="/ppt/slides/slide5.xml" Id="R843e9032c3f5407f" /><Relationship Type="http://schemas.openxmlformats.org/officeDocument/2006/relationships/slide" Target="/ppt/slides/slide6.xml" Id="Ra5086605b0b044ca" /><Relationship Type="http://schemas.openxmlformats.org/officeDocument/2006/relationships/slide" Target="/ppt/slides/slide7.xml" Id="R896fbeace1214552" /><Relationship Type="http://schemas.openxmlformats.org/officeDocument/2006/relationships/slide" Target="/ppt/slides/slide8.xml" Id="R5fb0d2a24a6a495b" /><Relationship Type="http://schemas.openxmlformats.org/officeDocument/2006/relationships/slide" Target="/ppt/slides/slide9.xml" Id="Rb5def7b99362445d" /><Relationship Type="http://schemas.openxmlformats.org/officeDocument/2006/relationships/slide" Target="/ppt/slides/slide10.xml" Id="R2b288049c33d4a16" /><Relationship Type="http://schemas.openxmlformats.org/officeDocument/2006/relationships/slide" Target="/ppt/slides/slide11.xml" Id="R74264804dd7441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56a0b697db46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ef990641334d95" /><Relationship Type="http://schemas.openxmlformats.org/officeDocument/2006/relationships/notesMaster" Target="/ppt/notesMasters/notesMaster1.xml" Id="R2096152dbb6542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981afec4ba4627" /><Relationship Type="http://schemas.openxmlformats.org/officeDocument/2006/relationships/notesMaster" Target="/ppt/notesMasters/notesMaster1.xml" Id="Re138d60da08548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9451dbdf604e3d" /><Relationship Type="http://schemas.openxmlformats.org/officeDocument/2006/relationships/notesMaster" Target="/ppt/notesMasters/notesMaster1.xml" Id="R8ae625ef7cd34a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13b72db5ce4047" /><Relationship Type="http://schemas.openxmlformats.org/officeDocument/2006/relationships/notesMaster" Target="/ppt/notesMasters/notesMaster1.xml" Id="Rcadca911b32847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8cf2d39c6a483e" /><Relationship Type="http://schemas.openxmlformats.org/officeDocument/2006/relationships/notesMaster" Target="/ppt/notesMasters/notesMaster1.xml" Id="R12076d6b22e94c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e917e19dc243f5" /><Relationship Type="http://schemas.openxmlformats.org/officeDocument/2006/relationships/notesMaster" Target="/ppt/notesMasters/notesMaster1.xml" Id="R8450457fbfdd47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2ba9a2058945fc" /><Relationship Type="http://schemas.openxmlformats.org/officeDocument/2006/relationships/notesMaster" Target="/ppt/notesMasters/notesMaster1.xml" Id="R67434e7a460c4a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14d6acb168420c" /><Relationship Type="http://schemas.openxmlformats.org/officeDocument/2006/relationships/notesMaster" Target="/ppt/notesMasters/notesMaster1.xml" Id="Rf061db1465454b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a1ed6ef1934736" /><Relationship Type="http://schemas.openxmlformats.org/officeDocument/2006/relationships/notesMaster" Target="/ppt/notesMasters/notesMaster1.xml" Id="R4e4dce6cb41a4c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41660a725f4ab0" /><Relationship Type="http://schemas.openxmlformats.org/officeDocument/2006/relationships/notesMaster" Target="/ppt/notesMasters/notesMaster1.xml" Id="R2dbbfc6ca5e54d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e8d8fca98a4aec" /><Relationship Type="http://schemas.openxmlformats.org/officeDocument/2006/relationships/notesMaster" Target="/ppt/notesMasters/notesMaster1.xml" Id="R553273e6771546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来源：分配原稿 C:/PPagenT/experiments/university-skin-pilot/stability-01/inputs/product.txt。封面用于提出产品主张，不添加外部事实。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来源：分配原稿 C:/PPagenT/experiments/university-skin-pilot/stability-01/inputs/product.txt。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来源：分配原稿 C:/PPagenT/experiments/university-skin-pilot/stability-01/inputs/product.txt。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来源：分配原稿 C:/PPagenT/experiments/university-skin-pilot/stability-01/inputs/product.txt。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来源：分配原稿 C:/PPagenT/experiments/university-skin-pilot/stability-01/inputs/product.txt。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来源：分配原稿 C:/PPagenT/experiments/university-skin-pilot/stability-01/inputs/product.txt。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来源：分配原稿 C:/PPagenT/experiments/university-skin-pilot/stability-01/inputs/product.txt。本页重组层级与两条路线关系，未调用结构组件。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来源：分配原稿 C:/PPagenT/experiments/university-skin-pilot/stability-01/inputs/product.txt。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来源：分配原稿 C:/PPagenT/experiments/university-skin-pilot/stability-01/inputs/product.txt。本页参考 hierarchy-grouped-breakdown-005 的根主题→分组→分点关系。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来源：分配原稿 C:/PPagenT/experiments/university-skin-pilot/stability-01/inputs/product.txt。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来源：分配原稿 C:/PPagenT/experiments/university-skin-pilot/stability-01/inputs/product.txt。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3294cc78c947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69c6e5acbc42df" /><Relationship Type="http://schemas.openxmlformats.org/officeDocument/2006/relationships/slideLayout" Target="/ppt/slideLayouts/slideLayout1.xml" Id="Rd2147d5bfc2740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147d5bfc2740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3619d28164c8e" /><Relationship Type="http://schemas.openxmlformats.org/officeDocument/2006/relationships/notesSlide" Target="/ppt/notesSlides/notesSlide1.xml" Id="Rc7a1d0c77f8e4c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f32e01cf14b55" /><Relationship Type="http://schemas.openxmlformats.org/officeDocument/2006/relationships/notesSlide" Target="/ppt/notesSlides/notesSlide2.xml" Id="Rfe648887c2804a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b40ca870a4d76" /><Relationship Type="http://schemas.openxmlformats.org/officeDocument/2006/relationships/notesSlide" Target="/ppt/notesSlides/notesSlide3.xml" Id="R0476dde2a5eb4f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aa71674c44730" /><Relationship Type="http://schemas.openxmlformats.org/officeDocument/2006/relationships/notesSlide" Target="/ppt/notesSlides/notesSlide4.xml" Id="Rb32cbcf69e5147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6530a654e48f9" /><Relationship Type="http://schemas.openxmlformats.org/officeDocument/2006/relationships/notesSlide" Target="/ppt/notesSlides/notesSlide5.xml" Id="Rae4b113da38748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218987cf044c3" /><Relationship Type="http://schemas.openxmlformats.org/officeDocument/2006/relationships/notesSlide" Target="/ppt/notesSlides/notesSlide6.xml" Id="R31313870a5be46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6b7b85b564331" /><Relationship Type="http://schemas.openxmlformats.org/officeDocument/2006/relationships/notesSlide" Target="/ppt/notesSlides/notesSlide7.xml" Id="R560496bcfd774a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3cd7b5e994bec" /><Relationship Type="http://schemas.openxmlformats.org/officeDocument/2006/relationships/notesSlide" Target="/ppt/notesSlides/notesSlide8.xml" Id="R235075f22c4144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242851efc4279" /><Relationship Type="http://schemas.openxmlformats.org/officeDocument/2006/relationships/notesSlide" Target="/ppt/notesSlides/notesSlide9.xml" Id="R7466061932684b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8f4707c7dc4bf2" /><Relationship Type="http://schemas.openxmlformats.org/officeDocument/2006/relationships/notesSlide" Target="/ppt/notesSlides/notesSlide10.xml" Id="R68f61e8a434b41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1aefc48ff4732" /><Relationship Type="http://schemas.openxmlformats.org/officeDocument/2006/relationships/notesSlide" Target="/ppt/notesSlides/notesSlide11.xml" Id="R6a14147cb7a448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4A25CA92-25A4-4B0C-A353-95FB6DCD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429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555C99D3-C3F4-4F59-8B99-F5DA1055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01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产品叙事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1073CC1-1B95-4F87-B2A1-CBADA54C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0200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把 PPT 生成变成</a:t>
            </a:r>
          </a:p>
          <a:p xmlns:a="http://schemas.openxmlformats.org/drawingml/2006/main">
            <a:pPr algn="l">
              <a:defRPr sz="39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可靠的生产过程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3F61135-EA3F-4752-ADD0-BAF16BC0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为什么选择稳定可用的工作型 PPT</a:t>
            </a:r>
          </a:p>
        </p:txBody>
      </p:sp>
      <p:sp>
        <p:nvSpPr>
          <p:cNvPr id="5" name="cover-panel">
            <a:extLst xmlns:a="http://schemas.openxmlformats.org/drawingml/2006/main">
              <a:ext uri="{FF2B5EF4-FFF2-40B4-BE49-F238E27FC236}">
                <a16:creationId xmlns:a16="http://schemas.microsoft.com/office/drawing/2014/main" id="{727F711C-81A6-44BB-B9E4-D247387E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143000"/>
            <a:ext cx="3143250" cy="4286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panel-head">
            <a:extLst xmlns:a="http://schemas.openxmlformats.org/drawingml/2006/main">
              <a:ext uri="{FF2B5EF4-FFF2-40B4-BE49-F238E27FC236}">
                <a16:creationId xmlns:a16="http://schemas.microsoft.com/office/drawing/2014/main" id="{18C7D2B3-9450-4360-B005-8FA97777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16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从稿件到交付</a:t>
            </a:r>
          </a:p>
        </p:txBody>
      </p:sp>
      <p:sp>
        <p:nvSpPr>
          <p:cNvPr id="7" name="cover-arrow-0">
            <a:extLst xmlns:a="http://schemas.openxmlformats.org/drawingml/2006/main">
              <a:ext uri="{FF2B5EF4-FFF2-40B4-BE49-F238E27FC236}">
                <a16:creationId xmlns:a16="http://schemas.microsoft.com/office/drawing/2014/main" id="{62CBF59C-81E0-40B6-B2D0-421A89FF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3475" y="2743200"/>
            <a:ext cx="876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dot-0">
            <a:extLst xmlns:a="http://schemas.openxmlformats.org/drawingml/2006/main">
              <a:ext uri="{FF2B5EF4-FFF2-40B4-BE49-F238E27FC236}">
                <a16:creationId xmlns:a16="http://schemas.microsoft.com/office/drawing/2014/main" id="{AA7DDDB4-BDDE-44F9-AB2A-2B1002E1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6220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ver-dot-label-0">
            <a:extLst xmlns:a="http://schemas.openxmlformats.org/drawingml/2006/main">
              <a:ext uri="{FF2B5EF4-FFF2-40B4-BE49-F238E27FC236}">
                <a16:creationId xmlns:a16="http://schemas.microsoft.com/office/drawing/2014/main" id="{EDDA1C52-E793-4472-B736-57B2064E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622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理解</a:t>
            </a:r>
          </a:p>
        </p:txBody>
      </p:sp>
      <p:sp>
        <p:nvSpPr>
          <p:cNvPr id="10" name="cover-arrow-1">
            <a:extLst xmlns:a="http://schemas.openxmlformats.org/drawingml/2006/main">
              <a:ext uri="{FF2B5EF4-FFF2-40B4-BE49-F238E27FC236}">
                <a16:creationId xmlns:a16="http://schemas.microsoft.com/office/drawing/2014/main" id="{C0B0C438-09FF-439A-B072-85A05C26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3475" y="3486150"/>
            <a:ext cx="876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ver-dot-1">
            <a:extLst xmlns:a="http://schemas.openxmlformats.org/drawingml/2006/main">
              <a:ext uri="{FF2B5EF4-FFF2-40B4-BE49-F238E27FC236}">
                <a16:creationId xmlns:a16="http://schemas.microsoft.com/office/drawing/2014/main" id="{6128CCFF-9F2B-4A3D-8E44-D5B08911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0515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ver-dot-label-1">
            <a:extLst xmlns:a="http://schemas.openxmlformats.org/drawingml/2006/main">
              <a:ext uri="{FF2B5EF4-FFF2-40B4-BE49-F238E27FC236}">
                <a16:creationId xmlns:a16="http://schemas.microsoft.com/office/drawing/2014/main" id="{9758BCA9-A97A-4E60-8A10-872C2008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051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编排</a:t>
            </a:r>
          </a:p>
        </p:txBody>
      </p:sp>
      <p:sp>
        <p:nvSpPr>
          <p:cNvPr id="13" name="cover-arrow-2">
            <a:extLst xmlns:a="http://schemas.openxmlformats.org/drawingml/2006/main">
              <a:ext uri="{FF2B5EF4-FFF2-40B4-BE49-F238E27FC236}">
                <a16:creationId xmlns:a16="http://schemas.microsoft.com/office/drawing/2014/main" id="{F807EDDE-AA90-4A8B-A60A-D76B9015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3475" y="4229100"/>
            <a:ext cx="876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ver-dot-2">
            <a:extLst xmlns:a="http://schemas.openxmlformats.org/drawingml/2006/main">
              <a:ext uri="{FF2B5EF4-FFF2-40B4-BE49-F238E27FC236}">
                <a16:creationId xmlns:a16="http://schemas.microsoft.com/office/drawing/2014/main" id="{604429F4-A4D9-4046-AAE9-B1D15066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ver-dot-label-2">
            <a:extLst xmlns:a="http://schemas.openxmlformats.org/drawingml/2006/main">
              <a:ext uri="{FF2B5EF4-FFF2-40B4-BE49-F238E27FC236}">
                <a16:creationId xmlns:a16="http://schemas.microsoft.com/office/drawing/2014/main" id="{802A2F36-17C8-4D77-9EEB-C082325C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481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编译</a:t>
            </a:r>
          </a:p>
        </p:txBody>
      </p:sp>
      <p:sp>
        <p:nvSpPr>
          <p:cNvPr id="16" name="cover-dot-3">
            <a:extLst xmlns:a="http://schemas.openxmlformats.org/drawingml/2006/main">
              <a:ext uri="{FF2B5EF4-FFF2-40B4-BE49-F238E27FC236}">
                <a16:creationId xmlns:a16="http://schemas.microsoft.com/office/drawing/2014/main" id="{58ADC4A7-94C1-404E-AC3D-2DC2D46C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9105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4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ver-dot-label-3">
            <a:extLst xmlns:a="http://schemas.openxmlformats.org/drawingml/2006/main">
              <a:ext uri="{FF2B5EF4-FFF2-40B4-BE49-F238E27FC236}">
                <a16:creationId xmlns:a16="http://schemas.microsoft.com/office/drawing/2014/main" id="{FCAE4739-AFDD-4509-8D12-2890C670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910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18" name="cover-foot">
            <a:extLst xmlns:a="http://schemas.openxmlformats.org/drawingml/2006/main">
              <a:ext uri="{FF2B5EF4-FFF2-40B4-BE49-F238E27FC236}">
                <a16:creationId xmlns:a16="http://schemas.microsoft.com/office/drawing/2014/main" id="{612807A1-74F7-40C6-9FF5-912FB82F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340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AI 读懂稿子，规则做判断，代码完成重复劳动。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57CF6DE-0A76-46D8-B7B4-EB8C2BB9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57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4443FE3D-1DD0-47B2-9779-C21C7962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341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来源：分配原稿 product.txt</a:t>
            </a:r>
          </a:p>
        </p:txBody>
      </p:sp>
      <p:sp>
        <p:nvSpPr>
          <p:cNvPr id="2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3B80281-4798-42B7-AB19-C93CEE8C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354062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6CB75FC-0D87-4EE1-960B-8E1ADB31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 真实成本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9560744-4528-47A6-A280-236A86D6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884B41-2D68-4057-8424-2CA8613F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做 PPT，真正昂贵的不是“画”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98C3320-6A8D-402A-AC98-421963D1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52525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版式只是最后一步，前面是一连串高价值判断。</a:t>
            </a:r>
          </a:p>
        </p:txBody>
      </p:sp>
      <p:sp>
        <p:nvSpPr>
          <p:cNvPr id="5" name="evidence-zone">
            <a:extLst xmlns:a="http://schemas.openxmlformats.org/drawingml/2006/main">
              <a:ext uri="{FF2B5EF4-FFF2-40B4-BE49-F238E27FC236}">
                <a16:creationId xmlns:a16="http://schemas.microsoft.com/office/drawing/2014/main" id="{E4317E11-95E4-4F54-AD77-160224A2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72390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5AD61EAD-E203-4C87-9492-3395ECD5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一页好 PPT 需要先回答四个问题</a:t>
            </a:r>
          </a:p>
        </p:txBody>
      </p:sp>
      <p:sp>
        <p:nvSpPr>
          <p:cNvPr id="7" name="q-dot-0">
            <a:extLst xmlns:a="http://schemas.openxmlformats.org/drawingml/2006/main">
              <a:ext uri="{FF2B5EF4-FFF2-40B4-BE49-F238E27FC236}">
                <a16:creationId xmlns:a16="http://schemas.microsoft.com/office/drawing/2014/main" id="{C3C554AB-D903-4030-BFE6-AC2F6CE5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q-num-0">
            <a:extLst xmlns:a="http://schemas.openxmlformats.org/drawingml/2006/main">
              <a:ext uri="{FF2B5EF4-FFF2-40B4-BE49-F238E27FC236}">
                <a16:creationId xmlns:a16="http://schemas.microsoft.com/office/drawing/2014/main" id="{A350E216-91BE-4CF9-847F-3844F9BF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q-head-0">
            <a:extLst xmlns:a="http://schemas.openxmlformats.org/drawingml/2006/main">
              <a:ext uri="{FF2B5EF4-FFF2-40B4-BE49-F238E27FC236}">
                <a16:creationId xmlns:a16="http://schemas.microsoft.com/office/drawing/2014/main" id="{11846C15-BB48-4DB9-B5EB-412017E6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051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怎么讲</a:t>
            </a:r>
          </a:p>
        </p:txBody>
      </p:sp>
      <p:sp>
        <p:nvSpPr>
          <p:cNvPr id="10" name="q-body-0">
            <a:extLst xmlns:a="http://schemas.openxmlformats.org/drawingml/2006/main">
              <a:ext uri="{FF2B5EF4-FFF2-40B4-BE49-F238E27FC236}">
                <a16:creationId xmlns:a16="http://schemas.microsoft.com/office/drawing/2014/main" id="{AB37C3DF-FDC1-4C5A-994C-460DB0F0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146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这场汇报的主线是什么？</a:t>
            </a:r>
          </a:p>
        </p:txBody>
      </p:sp>
      <p:sp>
        <p:nvSpPr>
          <p:cNvPr id="11" name="q-rule-0">
            <a:extLst xmlns:a="http://schemas.openxmlformats.org/drawingml/2006/main">
              <a:ext uri="{FF2B5EF4-FFF2-40B4-BE49-F238E27FC236}">
                <a16:creationId xmlns:a16="http://schemas.microsoft.com/office/drawing/2014/main" id="{6FA76EFA-FF0A-41F3-B178-1FDABEBE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194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q-dot-1">
            <a:extLst xmlns:a="http://schemas.openxmlformats.org/drawingml/2006/main">
              <a:ext uri="{FF2B5EF4-FFF2-40B4-BE49-F238E27FC236}">
                <a16:creationId xmlns:a16="http://schemas.microsoft.com/office/drawing/2014/main" id="{2B1C7C06-340E-48F5-887C-7BE7AC13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q-num-1">
            <a:extLst xmlns:a="http://schemas.openxmlformats.org/drawingml/2006/main">
              <a:ext uri="{FF2B5EF4-FFF2-40B4-BE49-F238E27FC236}">
                <a16:creationId xmlns:a16="http://schemas.microsoft.com/office/drawing/2014/main" id="{A1835E88-A923-4B8E-8147-A2770964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575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q-head-1">
            <a:extLst xmlns:a="http://schemas.openxmlformats.org/drawingml/2006/main">
              <a:ext uri="{FF2B5EF4-FFF2-40B4-BE49-F238E27FC236}">
                <a16:creationId xmlns:a16="http://schemas.microsoft.com/office/drawing/2014/main" id="{393054BD-CD3D-4D59-822A-1B43133B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909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拆几页</a:t>
            </a:r>
          </a:p>
        </p:txBody>
      </p:sp>
      <p:sp>
        <p:nvSpPr>
          <p:cNvPr id="15" name="q-body-1">
            <a:extLst xmlns:a="http://schemas.openxmlformats.org/drawingml/2006/main">
              <a:ext uri="{FF2B5EF4-FFF2-40B4-BE49-F238E27FC236}">
                <a16:creationId xmlns:a16="http://schemas.microsoft.com/office/drawing/2014/main" id="{2CC4A6DC-5606-48CA-879B-EBA956F1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004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长稿应该拆成多少页？</a:t>
            </a:r>
          </a:p>
        </p:txBody>
      </p:sp>
      <p:sp>
        <p:nvSpPr>
          <p:cNvPr id="16" name="q-rule-1">
            <a:extLst xmlns:a="http://schemas.openxmlformats.org/drawingml/2006/main">
              <a:ext uri="{FF2B5EF4-FFF2-40B4-BE49-F238E27FC236}">
                <a16:creationId xmlns:a16="http://schemas.microsoft.com/office/drawing/2014/main" id="{636F232A-73B7-4DC8-88B4-1DA9FB3F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q-dot-2">
            <a:extLst xmlns:a="http://schemas.openxmlformats.org/drawingml/2006/main">
              <a:ext uri="{FF2B5EF4-FFF2-40B4-BE49-F238E27FC236}">
                <a16:creationId xmlns:a16="http://schemas.microsoft.com/office/drawing/2014/main" id="{833C84F4-C2E0-44ED-BB5F-5360F708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q-num-2">
            <a:extLst xmlns:a="http://schemas.openxmlformats.org/drawingml/2006/main">
              <a:ext uri="{FF2B5EF4-FFF2-40B4-BE49-F238E27FC236}">
                <a16:creationId xmlns:a16="http://schemas.microsoft.com/office/drawing/2014/main" id="{1C6C34FD-D971-458E-860A-A06CD2AC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433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q-head-2">
            <a:extLst xmlns:a="http://schemas.openxmlformats.org/drawingml/2006/main">
              <a:ext uri="{FF2B5EF4-FFF2-40B4-BE49-F238E27FC236}">
                <a16:creationId xmlns:a16="http://schemas.microsoft.com/office/drawing/2014/main" id="{BD5ACA1E-5DAA-4421-9D74-DE2AD801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767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什么关系</a:t>
            </a:r>
          </a:p>
        </p:txBody>
      </p:sp>
      <p:sp>
        <p:nvSpPr>
          <p:cNvPr id="20" name="q-body-2">
            <a:extLst xmlns:a="http://schemas.openxmlformats.org/drawingml/2006/main">
              <a:ext uri="{FF2B5EF4-FFF2-40B4-BE49-F238E27FC236}">
                <a16:creationId xmlns:a16="http://schemas.microsoft.com/office/drawing/2014/main" id="{482EC365-9811-4BE2-9382-59E3F036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862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观点是并列、递进、因果还是流程？</a:t>
            </a:r>
          </a:p>
        </p:txBody>
      </p:sp>
      <p:sp>
        <p:nvSpPr>
          <p:cNvPr id="21" name="q-rule-2">
            <a:extLst xmlns:a="http://schemas.openxmlformats.org/drawingml/2006/main">
              <a:ext uri="{FF2B5EF4-FFF2-40B4-BE49-F238E27FC236}">
                <a16:creationId xmlns:a16="http://schemas.microsoft.com/office/drawing/2014/main" id="{B609CDF6-A216-4490-99BD-1E402944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910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q-dot-3">
            <a:extLst xmlns:a="http://schemas.openxmlformats.org/drawingml/2006/main">
              <a:ext uri="{FF2B5EF4-FFF2-40B4-BE49-F238E27FC236}">
                <a16:creationId xmlns:a16="http://schemas.microsoft.com/office/drawing/2014/main" id="{3F75E580-87E9-44AC-9B04-6C4BA368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q-num-3">
            <a:extLst xmlns:a="http://schemas.openxmlformats.org/drawingml/2006/main">
              <a:ext uri="{FF2B5EF4-FFF2-40B4-BE49-F238E27FC236}">
                <a16:creationId xmlns:a16="http://schemas.microsoft.com/office/drawing/2014/main" id="{771EAA91-14F9-4269-BFEC-1E704362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291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q-head-3">
            <a:extLst xmlns:a="http://schemas.openxmlformats.org/drawingml/2006/main">
              <a:ext uri="{FF2B5EF4-FFF2-40B4-BE49-F238E27FC236}">
                <a16:creationId xmlns:a16="http://schemas.microsoft.com/office/drawing/2014/main" id="{267A9866-5F41-4A78-8FE4-CA34D0CE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625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何时用图</a:t>
            </a:r>
          </a:p>
        </p:txBody>
      </p:sp>
      <p:sp>
        <p:nvSpPr>
          <p:cNvPr id="25" name="q-body-3">
            <a:extLst xmlns:a="http://schemas.openxmlformats.org/drawingml/2006/main">
              <a:ext uri="{FF2B5EF4-FFF2-40B4-BE49-F238E27FC236}">
                <a16:creationId xmlns:a16="http://schemas.microsoft.com/office/drawing/2014/main" id="{5EDBB82C-EDB1-4FA8-8DFD-E9BE95D7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720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哪里需要结构，哪里一句话更有力？</a:t>
            </a:r>
          </a:p>
        </p:txBody>
      </p:sp>
      <p:sp>
        <p:nvSpPr>
          <p:cNvPr id="26" name="meaning-zone">
            <a:extLst xmlns:a="http://schemas.openxmlformats.org/drawingml/2006/main">
              <a:ext uri="{FF2B5EF4-FFF2-40B4-BE49-F238E27FC236}">
                <a16:creationId xmlns:a16="http://schemas.microsoft.com/office/drawing/2014/main" id="{3D25EB55-B6BA-481A-8229-E054248C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143250" cy="338137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7" name="meaning-head">
            <a:extLst xmlns:a="http://schemas.openxmlformats.org/drawingml/2006/main">
              <a:ext uri="{FF2B5EF4-FFF2-40B4-BE49-F238E27FC236}">
                <a16:creationId xmlns:a16="http://schemas.microsoft.com/office/drawing/2014/main" id="{282FE334-D268-4F7A-B3FC-DFE91DE2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050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贵的是判断</a:t>
            </a:r>
          </a:p>
        </p:txBody>
      </p:sp>
      <p:sp>
        <p:nvSpPr>
          <p:cNvPr id="28" name="meaning-body">
            <a:extLst xmlns:a="http://schemas.openxmlformats.org/drawingml/2006/main">
              <a:ext uri="{FF2B5EF4-FFF2-40B4-BE49-F238E27FC236}">
                <a16:creationId xmlns:a16="http://schemas.microsoft.com/office/drawing/2014/main" id="{2F63FF61-8FAE-4A28-9D78-33E40909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9085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高手已经积累了大量答案。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每次从零开始，系统却要重新支付这些判断的时间与风险。</a:t>
            </a:r>
          </a:p>
        </p:txBody>
      </p:sp>
      <p:sp>
        <p:nvSpPr>
          <p:cNvPr id="29" name="meaning-rule">
            <a:extLst xmlns:a="http://schemas.openxmlformats.org/drawingml/2006/main">
              <a:ext uri="{FF2B5EF4-FFF2-40B4-BE49-F238E27FC236}">
                <a16:creationId xmlns:a16="http://schemas.microsoft.com/office/drawing/2014/main" id="{6DBF60E4-0BCA-49E4-BC01-717DB549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10100"/>
            <a:ext cx="933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meaning-quote">
            <a:extLst xmlns:a="http://schemas.openxmlformats.org/drawingml/2006/main">
              <a:ext uri="{FF2B5EF4-FFF2-40B4-BE49-F238E27FC236}">
                <a16:creationId xmlns:a16="http://schemas.microsoft.com/office/drawing/2014/main" id="{272EE60D-7655-48A8-BFB6-8BF1BD33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768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rPr>
              <a:t>为什么每次还要重新做一遍？</a:t>
            </a:r>
          </a:p>
        </p:txBody>
      </p:sp>
      <p:sp>
        <p:nvSpPr>
          <p:cNvPr id="3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6805CAA-42CF-454F-91C8-B573EA91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57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70E61218-08A2-4D18-80D9-56F209AC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341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来源：分配原稿 product.txt</a:t>
            </a:r>
          </a:p>
        </p:txBody>
      </p:sp>
      <p:sp>
        <p:nvSpPr>
          <p:cNvPr id="3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F3C5259-520F-4D00-9EEE-F6854406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054801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1A5071B-5D4F-4118-8BA5-4CED5A66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 选择需求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EF4464F3-0237-4108-A24B-EC985A53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7594D0-1A4B-447F-B856-A26352EB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PPagenT 先服务概率密度最大的需求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080157A-796C-4C39-9106-59713411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52525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工作型 PPT 位于“只要放字”和“高度定制”之间。</a:t>
            </a:r>
          </a:p>
        </p:txBody>
      </p:sp>
      <p:sp>
        <p:nvSpPr>
          <p:cNvPr id="5" name="axis-zone">
            <a:extLst xmlns:a="http://schemas.openxmlformats.org/drawingml/2006/main">
              <a:ext uri="{FF2B5EF4-FFF2-40B4-BE49-F238E27FC236}">
                <a16:creationId xmlns:a16="http://schemas.microsoft.com/office/drawing/2014/main" id="{0783092B-A3CF-458A-B3AA-B4343780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11144250" cy="2762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xis-left">
            <a:extLst xmlns:a="http://schemas.openxmlformats.org/drawingml/2006/main">
              <a:ext uri="{FF2B5EF4-FFF2-40B4-BE49-F238E27FC236}">
                <a16:creationId xmlns:a16="http://schemas.microsoft.com/office/drawing/2014/main" id="{0F0B1CA4-D2EE-470B-B435-84402FFE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几乎不在意版式</a:t>
            </a:r>
          </a:p>
        </p:txBody>
      </p:sp>
      <p:sp>
        <p:nvSpPr>
          <p:cNvPr id="7" name="axis-right">
            <a:extLst xmlns:a="http://schemas.openxmlformats.org/drawingml/2006/main">
              <a:ext uri="{FF2B5EF4-FFF2-40B4-BE49-F238E27FC236}">
                <a16:creationId xmlns:a16="http://schemas.microsoft.com/office/drawing/2014/main" id="{CF39846F-1CE5-4F1C-9A70-2C2835D6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高度定制创意</a:t>
            </a:r>
          </a:p>
        </p:txBody>
      </p:sp>
      <p:sp>
        <p:nvSpPr>
          <p:cNvPr id="8" name="axis-line">
            <a:extLst xmlns:a="http://schemas.openxmlformats.org/drawingml/2006/main">
              <a:ext uri="{FF2B5EF4-FFF2-40B4-BE49-F238E27FC236}">
                <a16:creationId xmlns:a16="http://schemas.microsoft.com/office/drawing/2014/main" id="{090B32B2-3EEB-4795-AD25-47578968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76600"/>
            <a:ext cx="942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xis-end-left">
            <a:extLst xmlns:a="http://schemas.openxmlformats.org/drawingml/2006/main">
              <a:ext uri="{FF2B5EF4-FFF2-40B4-BE49-F238E27FC236}">
                <a16:creationId xmlns:a16="http://schemas.microsoft.com/office/drawing/2014/main" id="{3DF06360-0360-4ADF-8857-F7B32803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813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xis-end-right">
            <a:extLst xmlns:a="http://schemas.openxmlformats.org/drawingml/2006/main">
              <a:ext uri="{FF2B5EF4-FFF2-40B4-BE49-F238E27FC236}">
                <a16:creationId xmlns:a16="http://schemas.microsoft.com/office/drawing/2014/main" id="{762375D5-6A3D-4564-9396-EC596014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1813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xis-target-arrow">
            <a:extLst xmlns:a="http://schemas.openxmlformats.org/drawingml/2006/main">
              <a:ext uri="{FF2B5EF4-FFF2-40B4-BE49-F238E27FC236}">
                <a16:creationId xmlns:a16="http://schemas.microsoft.com/office/drawing/2014/main" id="{E5EB9D19-338E-4E06-A155-5CB4180F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4900" y="3048000"/>
            <a:ext cx="25717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xis-target">
            <a:extLst xmlns:a="http://schemas.openxmlformats.org/drawingml/2006/main">
              <a:ext uri="{FF2B5EF4-FFF2-40B4-BE49-F238E27FC236}">
                <a16:creationId xmlns:a16="http://schemas.microsoft.com/office/drawing/2014/main" id="{91FD02C3-D5DF-40A3-95A3-0893E25E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95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学校 · 科研院所 · 事业单位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央国企 · 普通企业</a:t>
            </a:r>
          </a:p>
        </p:txBody>
      </p:sp>
      <p:sp>
        <p:nvSpPr>
          <p:cNvPr id="13" name="axis-low">
            <a:extLst xmlns:a="http://schemas.openxmlformats.org/drawingml/2006/main">
              <a:ext uri="{FF2B5EF4-FFF2-40B4-BE49-F238E27FC236}">
                <a16:creationId xmlns:a16="http://schemas.microsoft.com/office/drawing/2014/main" id="{A344E87B-B535-447E-9D73-ECB1C013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14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“把文字放上去”</a:t>
            </a:r>
          </a:p>
        </p:txBody>
      </p:sp>
      <p:sp>
        <p:nvSpPr>
          <p:cNvPr id="14" name="axis-high">
            <a:extLst xmlns:a="http://schemas.openxmlformats.org/drawingml/2006/main">
              <a:ext uri="{FF2B5EF4-FFF2-40B4-BE49-F238E27FC236}">
                <a16:creationId xmlns:a16="http://schemas.microsoft.com/office/drawing/2014/main" id="{7F6D7CA7-2EB1-40F5-9F43-023233E3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147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发布会 / 品牌路演</a:t>
            </a:r>
          </a:p>
        </p:txBody>
      </p:sp>
      <p:sp>
        <p:nvSpPr>
          <p:cNvPr id="15" name="axis-middle">
            <a:extLst xmlns:a="http://schemas.openxmlformats.org/drawingml/2006/main">
              <a:ext uri="{FF2B5EF4-FFF2-40B4-BE49-F238E27FC236}">
                <a16:creationId xmlns:a16="http://schemas.microsoft.com/office/drawing/2014/main" id="{06E9532C-2684-44C1-A029-FEA80AAC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957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rPr>
              <a:t>需要快速得到：逻辑清楚、视觉体面、符合规范、仍可修改</a:t>
            </a:r>
          </a:p>
        </p:txBody>
      </p:sp>
      <p:sp>
        <p:nvSpPr>
          <p:cNvPr id="16" name="takeaway">
            <a:extLst xmlns:a="http://schemas.openxmlformats.org/drawingml/2006/main">
              <a:ext uri="{FF2B5EF4-FFF2-40B4-BE49-F238E27FC236}">
                <a16:creationId xmlns:a16="http://schemas.microsoft.com/office/drawing/2014/main" id="{7266EFA4-1484-461C-B4FD-42C7B68A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67300"/>
            <a:ext cx="111442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244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FE0F94A1-CB83-496C-A854-89E18F56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149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产品目标不是偶尔生成最高分，而是提高结果跨过“可用线”的概率。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DE2AB47-7F88-4EF6-B82D-77DEDE21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57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9C6E4B07-EDBE-4722-9737-C0F3F12C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341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来源：分配原稿 product.txt</a:t>
            </a:r>
          </a:p>
        </p:txBody>
      </p:sp>
      <p:sp>
        <p:nvSpPr>
          <p:cNvPr id="2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18296F8-CECF-4A80-A665-3234527A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224664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850482E-B5AD-4383-A029-CF678150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 可靠度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95238E2-5275-423B-8387-60FA822A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832C91-C487-4672-91B9-0B9C1542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稳定跨过可用线，比偶然惊艳更重要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E99DD8B-A2E4-4756-8057-02616ABF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52525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“80 分”是稳定可用状态的形象称呼，不是质量上限。</a:t>
            </a:r>
          </a:p>
        </p:txBody>
      </p:sp>
      <p:sp>
        <p:nvSpPr>
          <p:cNvPr id="5" name="comparison-zone">
            <a:extLst xmlns:a="http://schemas.openxmlformats.org/drawingml/2006/main">
              <a:ext uri="{FF2B5EF4-FFF2-40B4-BE49-F238E27FC236}">
                <a16:creationId xmlns:a16="http://schemas.microsoft.com/office/drawing/2014/main" id="{E85AB91C-E16B-4B90-945D-FD501C5E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28800"/>
            <a:ext cx="1114425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mp-head-left">
            <a:extLst xmlns:a="http://schemas.openxmlformats.org/drawingml/2006/main">
              <a:ext uri="{FF2B5EF4-FFF2-40B4-BE49-F238E27FC236}">
                <a16:creationId xmlns:a16="http://schemas.microsoft.com/office/drawing/2014/main" id="{8F647672-BAB9-47F8-88C9-49D22BC8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33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一次惊艳</a:t>
            </a:r>
          </a:p>
        </p:txBody>
      </p:sp>
      <p:sp>
        <p:nvSpPr>
          <p:cNvPr id="7" name="comp-head-right">
            <a:extLst xmlns:a="http://schemas.openxmlformats.org/drawingml/2006/main">
              <a:ext uri="{FF2B5EF4-FFF2-40B4-BE49-F238E27FC236}">
                <a16:creationId xmlns:a16="http://schemas.microsoft.com/office/drawing/2014/main" id="{90E40E69-3B7C-40C1-9158-BD231DBC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33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持续可用</a:t>
            </a:r>
          </a:p>
        </p:txBody>
      </p:sp>
      <p:sp>
        <p:nvSpPr>
          <p:cNvPr id="8" name="comp-axis">
            <a:extLst xmlns:a="http://schemas.openxmlformats.org/drawingml/2006/main">
              <a:ext uri="{FF2B5EF4-FFF2-40B4-BE49-F238E27FC236}">
                <a16:creationId xmlns:a16="http://schemas.microsoft.com/office/drawing/2014/main" id="{08ED5DB1-E650-43D7-95E3-B7AE9AFC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7200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mp-threshold">
            <a:extLst xmlns:a="http://schemas.openxmlformats.org/drawingml/2006/main">
              <a:ext uri="{FF2B5EF4-FFF2-40B4-BE49-F238E27FC236}">
                <a16:creationId xmlns:a16="http://schemas.microsoft.com/office/drawing/2014/main" id="{D647CF38-9BB4-4E06-9245-8B0219A6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90800"/>
            <a:ext cx="19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mp-threshold-label">
            <a:extLst xmlns:a="http://schemas.openxmlformats.org/drawingml/2006/main">
              <a:ext uri="{FF2B5EF4-FFF2-40B4-BE49-F238E27FC236}">
                <a16:creationId xmlns:a16="http://schemas.microsoft.com/office/drawing/2014/main" id="{85D88784-1778-47F0-98BE-CE0F7AD9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289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可用线</a:t>
            </a:r>
          </a:p>
        </p:txBody>
      </p:sp>
      <p:sp>
        <p:nvSpPr>
          <p:cNvPr id="11" name="bar-left-0">
            <a:extLst xmlns:a="http://schemas.openxmlformats.org/drawingml/2006/main">
              <a:ext uri="{FF2B5EF4-FFF2-40B4-BE49-F238E27FC236}">
                <a16:creationId xmlns:a16="http://schemas.microsoft.com/office/drawing/2014/main" id="{8DE819DD-53C1-4309-969D-4EE67B26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323850" cy="12382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ar-left-1">
            <a:extLst xmlns:a="http://schemas.openxmlformats.org/drawingml/2006/main">
              <a:ext uri="{FF2B5EF4-FFF2-40B4-BE49-F238E27FC236}">
                <a16:creationId xmlns:a16="http://schemas.microsoft.com/office/drawing/2014/main" id="{3148970A-E14A-40BE-B2C1-610C81DD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0"/>
            <a:ext cx="323850" cy="17145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ar-left-2">
            <a:extLst xmlns:a="http://schemas.openxmlformats.org/drawingml/2006/main">
              <a:ext uri="{FF2B5EF4-FFF2-40B4-BE49-F238E27FC236}">
                <a16:creationId xmlns:a16="http://schemas.microsoft.com/office/drawing/2014/main" id="{DAE96C27-0D08-46FB-ADCC-DB8F2E4D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29000"/>
            <a:ext cx="323850" cy="11430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ar-left-3">
            <a:extLst xmlns:a="http://schemas.openxmlformats.org/drawingml/2006/main">
              <a:ext uri="{FF2B5EF4-FFF2-40B4-BE49-F238E27FC236}">
                <a16:creationId xmlns:a16="http://schemas.microsoft.com/office/drawing/2014/main" id="{D1C6D83A-6CC6-4948-A402-10587C5A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76500"/>
            <a:ext cx="323850" cy="20955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r-left-4">
            <a:extLst xmlns:a="http://schemas.openxmlformats.org/drawingml/2006/main">
              <a:ext uri="{FF2B5EF4-FFF2-40B4-BE49-F238E27FC236}">
                <a16:creationId xmlns:a16="http://schemas.microsoft.com/office/drawing/2014/main" id="{C6535AA7-8729-46B3-962E-79B188DB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48000"/>
            <a:ext cx="323850" cy="15240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r-right-0">
            <a:extLst xmlns:a="http://schemas.openxmlformats.org/drawingml/2006/main">
              <a:ext uri="{FF2B5EF4-FFF2-40B4-BE49-F238E27FC236}">
                <a16:creationId xmlns:a16="http://schemas.microsoft.com/office/drawing/2014/main" id="{CBC67CA0-EEDA-4952-9A97-A1CA29E2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43125"/>
            <a:ext cx="323850" cy="2428875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r-right-1">
            <a:extLst xmlns:a="http://schemas.openxmlformats.org/drawingml/2006/main">
              <a:ext uri="{FF2B5EF4-FFF2-40B4-BE49-F238E27FC236}">
                <a16:creationId xmlns:a16="http://schemas.microsoft.com/office/drawing/2014/main" id="{CB3E20E5-0E3D-4124-BB94-2F21959B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95500"/>
            <a:ext cx="323850" cy="24765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r-right-2">
            <a:extLst xmlns:a="http://schemas.openxmlformats.org/drawingml/2006/main">
              <a:ext uri="{FF2B5EF4-FFF2-40B4-BE49-F238E27FC236}">
                <a16:creationId xmlns:a16="http://schemas.microsoft.com/office/drawing/2014/main" id="{7358E3E1-4062-4E36-9ABD-DA4C9D39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00250"/>
            <a:ext cx="323850" cy="25717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r-right-3">
            <a:extLst xmlns:a="http://schemas.openxmlformats.org/drawingml/2006/main">
              <a:ext uri="{FF2B5EF4-FFF2-40B4-BE49-F238E27FC236}">
                <a16:creationId xmlns:a16="http://schemas.microsoft.com/office/drawing/2014/main" id="{5933C5EB-6400-42BD-940B-5E50E2EB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09800"/>
            <a:ext cx="323850" cy="23622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ar-right-4">
            <a:extLst xmlns:a="http://schemas.openxmlformats.org/drawingml/2006/main">
              <a:ext uri="{FF2B5EF4-FFF2-40B4-BE49-F238E27FC236}">
                <a16:creationId xmlns:a16="http://schemas.microsoft.com/office/drawing/2014/main" id="{65B393F3-8748-4073-91EF-1BC29D07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047875"/>
            <a:ext cx="323850" cy="2524125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omp-left-copy">
            <a:extLst xmlns:a="http://schemas.openxmlformats.org/drawingml/2006/main">
              <a:ext uri="{FF2B5EF4-FFF2-40B4-BE49-F238E27FC236}">
                <a16:creationId xmlns:a16="http://schemas.microsoft.com/office/drawing/2014/main" id="{6F3D62F4-986E-4F07-A4EA-2929EDBA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95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上限可能很高，但结果落点波动大</a:t>
            </a:r>
          </a:p>
        </p:txBody>
      </p:sp>
      <p:sp>
        <p:nvSpPr>
          <p:cNvPr id="22" name="comp-right-copy">
            <a:extLst xmlns:a="http://schemas.openxmlformats.org/drawingml/2006/main">
              <a:ext uri="{FF2B5EF4-FFF2-40B4-BE49-F238E27FC236}">
                <a16:creationId xmlns:a16="http://schemas.microsoft.com/office/drawing/2014/main" id="{6B42729B-F312-4471-8869-3FD0F495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958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不一定惊艳，但能直接拿去讲、继续改</a:t>
            </a:r>
          </a:p>
        </p:txBody>
      </p:sp>
      <p:sp>
        <p:nvSpPr>
          <p:cNvPr id="23" name="comp-quote">
            <a:extLst xmlns:a="http://schemas.openxmlformats.org/drawingml/2006/main">
              <a:ext uri="{FF2B5EF4-FFF2-40B4-BE49-F238E27FC236}">
                <a16:creationId xmlns:a16="http://schemas.microsoft.com/office/drawing/2014/main" id="{70E31868-DE7C-4560-B0C1-E81D2065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72150"/>
            <a:ext cx="1114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mp-quote-text">
            <a:extLst xmlns:a="http://schemas.openxmlformats.org/drawingml/2006/main">
              <a:ext uri="{FF2B5EF4-FFF2-40B4-BE49-F238E27FC236}">
                <a16:creationId xmlns:a16="http://schemas.microsoft.com/office/drawing/2014/main" id="{9E4C0F43-37E8-4590-A317-ABFEA2A4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912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rPr>
              <a:t>对工作来说，稳定的 80 分，很多时候比随机的 95 分更值钱。</a:t>
            </a:r>
          </a:p>
        </p:txBody>
      </p:sp>
      <p:sp>
        <p:nvSpPr>
          <p:cNvPr id="2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E0B02EB-92B5-468C-9BE0-BFAA5943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57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F25EF5CE-77BF-45C1-B5BC-EA3FC3E8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341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来源：分配原稿 product.txt</a:t>
            </a:r>
          </a:p>
        </p:txBody>
      </p:sp>
      <p:sp>
        <p:nvSpPr>
          <p:cNvPr id="2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01A2797-0BDB-4A13-93BE-BC7F1C0F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731210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44034E8-5F96-49F7-B1B1-2D4E993C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04 可靠性来源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239D133-B888-4EEA-94AC-D525778E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C03CEA-4627-4F7B-B365-5B6C3F9C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用限制自由，换取结果可预测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DC9B1F3-D0DE-4D94-92BF-42D1EC8A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52525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组织规范、表达能力和容量边界共同减少失败状态。</a:t>
            </a:r>
          </a:p>
        </p:txBody>
      </p:sp>
      <p:sp>
        <p:nvSpPr>
          <p:cNvPr id="5" name="left-zone">
            <a:extLst xmlns:a="http://schemas.openxmlformats.org/drawingml/2006/main">
              <a:ext uri="{FF2B5EF4-FFF2-40B4-BE49-F238E27FC236}">
                <a16:creationId xmlns:a16="http://schemas.microsoft.com/office/drawing/2014/main" id="{AABA6351-4A7E-4842-870A-D1C88834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85950"/>
            <a:ext cx="409575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8691A7E6-6CF9-4D0C-B896-AB08C40C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自由度越高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634F271F-714E-4640-82D4-63674E0A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颜色、字体、结构、版式、元素</a:t>
            </a:r>
          </a:p>
          <a:p xmlns:a="http://schemas.openxmlformats.org/drawingml/2006/main">
            <a:pPr algn="l">
              <a:defRPr sz="16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每次都重新决定</a:t>
            </a:r>
          </a:p>
        </p:txBody>
      </p:sp>
      <p:sp>
        <p:nvSpPr>
          <p:cNvPr id="8" name="left-arrow">
            <a:extLst xmlns:a="http://schemas.openxmlformats.org/drawingml/2006/main">
              <a:ext uri="{FF2B5EF4-FFF2-40B4-BE49-F238E27FC236}">
                <a16:creationId xmlns:a16="http://schemas.microsoft.com/office/drawing/2014/main" id="{90804BA3-0CBC-4C47-9947-3B376F71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4000500"/>
            <a:ext cx="2095500" cy="495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eft-arrow-text">
            <a:extLst xmlns:a="http://schemas.openxmlformats.org/drawingml/2006/main">
              <a:ext uri="{FF2B5EF4-FFF2-40B4-BE49-F238E27FC236}">
                <a16:creationId xmlns:a16="http://schemas.microsoft.com/office/drawing/2014/main" id="{A68C01C9-AD6B-4DDA-8CFF-140309FF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576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状态空间变大</a:t>
            </a:r>
          </a:p>
        </p:txBody>
      </p:sp>
      <p:sp>
        <p:nvSpPr>
          <p:cNvPr id="10" name="left-foot">
            <a:extLst xmlns:a="http://schemas.openxmlformats.org/drawingml/2006/main">
              <a:ext uri="{FF2B5EF4-FFF2-40B4-BE49-F238E27FC236}">
                <a16:creationId xmlns:a16="http://schemas.microsoft.com/office/drawing/2014/main" id="{A5B3C4AE-85FA-4F5F-B68A-EC0FD1F8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失败模式随之增加</a:t>
            </a:r>
          </a:p>
        </p:txBody>
      </p:sp>
      <p:sp>
        <p:nvSpPr>
          <p:cNvPr id="11" name="bridge-arrow">
            <a:extLst xmlns:a="http://schemas.openxmlformats.org/drawingml/2006/main">
              <a:ext uri="{FF2B5EF4-FFF2-40B4-BE49-F238E27FC236}">
                <a16:creationId xmlns:a16="http://schemas.microsoft.com/office/drawing/2014/main" id="{D4CB5376-1101-4A8E-B49C-F50B4480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3333750"/>
            <a:ext cx="95250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ight-zone">
            <a:extLst xmlns:a="http://schemas.openxmlformats.org/drawingml/2006/main">
              <a:ext uri="{FF2B5EF4-FFF2-40B4-BE49-F238E27FC236}">
                <a16:creationId xmlns:a16="http://schemas.microsoft.com/office/drawing/2014/main" id="{D57914BD-0D99-42E4-8B6E-25FFA3FE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85950"/>
            <a:ext cx="5762625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3" name="right-head">
            <a:extLst xmlns:a="http://schemas.openxmlformats.org/drawingml/2006/main">
              <a:ext uri="{FF2B5EF4-FFF2-40B4-BE49-F238E27FC236}">
                <a16:creationId xmlns:a16="http://schemas.microsoft.com/office/drawing/2014/main" id="{5BEF1EDC-D594-45DD-A60C-5A34681B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098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PPagenT 主动固定一部分自由</a:t>
            </a:r>
          </a:p>
        </p:txBody>
      </p:sp>
      <p:sp>
        <p:nvSpPr>
          <p:cNvPr id="14" name="fixed-rule-0">
            <a:extLst xmlns:a="http://schemas.openxmlformats.org/drawingml/2006/main">
              <a:ext uri="{FF2B5EF4-FFF2-40B4-BE49-F238E27FC236}">
                <a16:creationId xmlns:a16="http://schemas.microsoft.com/office/drawing/2014/main" id="{899D85BE-D8E2-426F-978A-BD8006B1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9085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ixed-head-0">
            <a:extLst xmlns:a="http://schemas.openxmlformats.org/drawingml/2006/main">
              <a:ext uri="{FF2B5EF4-FFF2-40B4-BE49-F238E27FC236}">
                <a16:creationId xmlns:a16="http://schemas.microsoft.com/office/drawing/2014/main" id="{BD6E5A59-A60C-42EF-8FCD-7BECFAA9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146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组织视觉规范</a:t>
            </a:r>
          </a:p>
        </p:txBody>
      </p:sp>
      <p:sp>
        <p:nvSpPr>
          <p:cNvPr id="16" name="fixed-body-0">
            <a:extLst xmlns:a="http://schemas.openxmlformats.org/drawingml/2006/main">
              <a:ext uri="{FF2B5EF4-FFF2-40B4-BE49-F238E27FC236}">
                <a16:creationId xmlns:a16="http://schemas.microsoft.com/office/drawing/2014/main" id="{851739EF-DA06-4B06-89C3-0774AE1C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241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颜色、字体、Logo、页眉页脚</a:t>
            </a:r>
          </a:p>
        </p:txBody>
      </p:sp>
      <p:sp>
        <p:nvSpPr>
          <p:cNvPr id="17" name="fixed-rule-1">
            <a:extLst xmlns:a="http://schemas.openxmlformats.org/drawingml/2006/main">
              <a:ext uri="{FF2B5EF4-FFF2-40B4-BE49-F238E27FC236}">
                <a16:creationId xmlns:a16="http://schemas.microsoft.com/office/drawing/2014/main" id="{4D14C6B7-1922-4535-8689-89D685A6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3380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ixed-head-1">
            <a:extLst xmlns:a="http://schemas.openxmlformats.org/drawingml/2006/main">
              <a:ext uri="{FF2B5EF4-FFF2-40B4-BE49-F238E27FC236}">
                <a16:creationId xmlns:a16="http://schemas.microsoft.com/office/drawing/2014/main" id="{D5004501-F15F-4494-A24E-9FAE60EA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576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已验证的结构</a:t>
            </a:r>
          </a:p>
        </p:txBody>
      </p:sp>
      <p:sp>
        <p:nvSpPr>
          <p:cNvPr id="19" name="fixed-body-1">
            <a:extLst xmlns:a="http://schemas.openxmlformats.org/drawingml/2006/main">
              <a:ext uri="{FF2B5EF4-FFF2-40B4-BE49-F238E27FC236}">
                <a16:creationId xmlns:a16="http://schemas.microsoft.com/office/drawing/2014/main" id="{D81D2447-BB5A-44DC-951C-59F6E068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671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并列、顺序、对比、层级、循环</a:t>
            </a:r>
          </a:p>
        </p:txBody>
      </p:sp>
      <p:sp>
        <p:nvSpPr>
          <p:cNvPr id="20" name="fixed-rule-2">
            <a:extLst xmlns:a="http://schemas.openxmlformats.org/drawingml/2006/main">
              <a:ext uri="{FF2B5EF4-FFF2-40B4-BE49-F238E27FC236}">
                <a16:creationId xmlns:a16="http://schemas.microsoft.com/office/drawing/2014/main" id="{673F8927-3128-4246-96C7-8203DC9C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7675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ixed-head-2">
            <a:extLst xmlns:a="http://schemas.openxmlformats.org/drawingml/2006/main">
              <a:ext uri="{FF2B5EF4-FFF2-40B4-BE49-F238E27FC236}">
                <a16:creationId xmlns:a16="http://schemas.microsoft.com/office/drawing/2014/main" id="{55D8A7CC-A168-48E9-B3FA-3B9FDB66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005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明确的边界</a:t>
            </a:r>
          </a:p>
        </p:txBody>
      </p:sp>
      <p:sp>
        <p:nvSpPr>
          <p:cNvPr id="22" name="fixed-body-2">
            <a:extLst xmlns:a="http://schemas.openxmlformats.org/drawingml/2006/main">
              <a:ext uri="{FF2B5EF4-FFF2-40B4-BE49-F238E27FC236}">
                <a16:creationId xmlns:a16="http://schemas.microsoft.com/office/drawing/2014/main" id="{D1E1040E-2F64-488C-B846-A05FD8E8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100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数量、容量、拆页与退化方式</a:t>
            </a:r>
          </a:p>
        </p:txBody>
      </p:sp>
      <p:sp>
        <p:nvSpPr>
          <p:cNvPr id="2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07F3C1E-2DFA-43CD-906B-5B61F234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57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72530207-1453-403C-AAE4-232C8AAA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341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来源：分配原稿 product.txt</a:t>
            </a:r>
          </a:p>
        </p:txBody>
      </p:sp>
      <p:sp>
        <p:nvSpPr>
          <p:cNvPr id="2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8858A3A-8982-4314-B5A0-33808596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395955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A0D7303-29DD-49DF-AD24-F41747B4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05 运行机制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8A1EABBB-E5D2-4D8F-B9F1-DE35E5A2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E551EA-F062-4B58-A48B-19231BB9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AI 是控制器，不是画师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03B1F56-AF1D-40D1-9E35-C9C62A92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52525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理解与路由由 AI 完成，确定性结果由规则与代码完成。</a:t>
            </a:r>
          </a:p>
        </p:txBody>
      </p:sp>
      <p:sp>
        <p:nvSpPr>
          <p:cNvPr id="5" name="flow-zone">
            <a:extLst xmlns:a="http://schemas.openxmlformats.org/drawingml/2006/main">
              <a:ext uri="{FF2B5EF4-FFF2-40B4-BE49-F238E27FC236}">
                <a16:creationId xmlns:a16="http://schemas.microsoft.com/office/drawing/2014/main" id="{5101B1F4-081A-49E8-994D-8A4762B0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85950"/>
            <a:ext cx="1114425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39DAF997-1E85-4809-AB32-406A9D06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6050" y="3238500"/>
            <a:ext cx="742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node-understand">
            <a:extLst xmlns:a="http://schemas.openxmlformats.org/drawingml/2006/main">
              <a:ext uri="{FF2B5EF4-FFF2-40B4-BE49-F238E27FC236}">
                <a16:creationId xmlns:a16="http://schemas.microsoft.com/office/drawing/2014/main" id="{51FD203E-A866-4997-ABDB-44DF56CA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18097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8" name="label-understand">
            <a:extLst xmlns:a="http://schemas.openxmlformats.org/drawingml/2006/main">
              <a:ext uri="{FF2B5EF4-FFF2-40B4-BE49-F238E27FC236}">
                <a16:creationId xmlns:a16="http://schemas.microsoft.com/office/drawing/2014/main" id="{68AA6268-EB5F-4753-9984-29A0A0C4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33700"/>
            <a:ext cx="1543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AI 理解</a:t>
            </a:r>
          </a:p>
        </p:txBody>
      </p:sp>
      <p:sp>
        <p:nvSpPr>
          <p:cNvPr id="9" name="flow-body-0">
            <a:extLst xmlns:a="http://schemas.openxmlformats.org/drawingml/2006/main">
              <a:ext uri="{FF2B5EF4-FFF2-40B4-BE49-F238E27FC236}">
                <a16:creationId xmlns:a16="http://schemas.microsoft.com/office/drawing/2014/main" id="{5C0C523D-55A2-48A6-8C97-47F47211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读懂稿件</a:t>
            </a:r>
          </a:p>
          <a:p xmlns:a="http://schemas.openxmlformats.org/drawingml/2006/main">
            <a:pPr algn="ctr">
              <a:def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组织叙事</a:t>
            </a:r>
          </a:p>
        </p:txBody>
      </p:sp>
      <p:sp>
        <p:nvSpPr>
          <p:cNvPr id="10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A8057D9D-5788-458C-B76D-F31823FF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5900" y="3238500"/>
            <a:ext cx="742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ode-route">
            <a:extLst xmlns:a="http://schemas.openxmlformats.org/drawingml/2006/main">
              <a:ext uri="{FF2B5EF4-FFF2-40B4-BE49-F238E27FC236}">
                <a16:creationId xmlns:a16="http://schemas.microsoft.com/office/drawing/2014/main" id="{A6E9BEB6-7606-4061-98E4-AA1FCD6E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24150"/>
            <a:ext cx="18097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2" name="label-route">
            <a:extLst xmlns:a="http://schemas.openxmlformats.org/drawingml/2006/main">
              <a:ext uri="{FF2B5EF4-FFF2-40B4-BE49-F238E27FC236}">
                <a16:creationId xmlns:a16="http://schemas.microsoft.com/office/drawing/2014/main" id="{CEC88A77-A840-480D-BBBB-8E54F05B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33700"/>
            <a:ext cx="1543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选择能力</a:t>
            </a:r>
          </a:p>
        </p:txBody>
      </p:sp>
      <p:sp>
        <p:nvSpPr>
          <p:cNvPr id="13" name="flow-body-1">
            <a:extLst xmlns:a="http://schemas.openxmlformats.org/drawingml/2006/main">
              <a:ext uri="{FF2B5EF4-FFF2-40B4-BE49-F238E27FC236}">
                <a16:creationId xmlns:a16="http://schemas.microsoft.com/office/drawing/2014/main" id="{DD3C7859-0FF3-4F74-881E-A0D05AA1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14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判断页面关系</a:t>
            </a:r>
          </a:p>
          <a:p xmlns:a="http://schemas.openxmlformats.org/drawingml/2006/main">
            <a:pPr algn="ctr">
              <a:def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匹配合法结构</a:t>
            </a:r>
          </a:p>
        </p:txBody>
      </p:sp>
      <p:sp>
        <p:nvSpPr>
          <p:cNvPr id="14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0B222C76-06E5-423B-8238-F77391D2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3238500"/>
            <a:ext cx="742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de-rules">
            <a:extLst xmlns:a="http://schemas.openxmlformats.org/drawingml/2006/main">
              <a:ext uri="{FF2B5EF4-FFF2-40B4-BE49-F238E27FC236}">
                <a16:creationId xmlns:a16="http://schemas.microsoft.com/office/drawing/2014/main" id="{E9BD2BAB-8FFA-4602-80A9-67BDB3F7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18097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6" name="label-rules">
            <a:extLst xmlns:a="http://schemas.openxmlformats.org/drawingml/2006/main">
              <a:ext uri="{FF2B5EF4-FFF2-40B4-BE49-F238E27FC236}">
                <a16:creationId xmlns:a16="http://schemas.microsoft.com/office/drawing/2014/main" id="{7726A830-8E77-454C-A23B-2B3D0EC6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33700"/>
            <a:ext cx="1543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规则约束</a:t>
            </a:r>
          </a:p>
        </p:txBody>
      </p:sp>
      <p:sp>
        <p:nvSpPr>
          <p:cNvPr id="17" name="flow-body-2">
            <a:extLst xmlns:a="http://schemas.openxmlformats.org/drawingml/2006/main">
              <a:ext uri="{FF2B5EF4-FFF2-40B4-BE49-F238E27FC236}">
                <a16:creationId xmlns:a16="http://schemas.microsoft.com/office/drawing/2014/main" id="{C58394A3-9BDF-4719-8834-843108C1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14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数量与容量</a:t>
            </a:r>
          </a:p>
          <a:p xmlns:a="http://schemas.openxmlformats.org/drawingml/2006/main">
            <a:pPr algn="ctr">
              <a:def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确定失败边界</a:t>
            </a:r>
          </a:p>
        </p:txBody>
      </p:sp>
      <p:sp>
        <p:nvSpPr>
          <p:cNvPr id="18" name="node-code">
            <a:extLst xmlns:a="http://schemas.openxmlformats.org/drawingml/2006/main">
              <a:ext uri="{FF2B5EF4-FFF2-40B4-BE49-F238E27FC236}">
                <a16:creationId xmlns:a16="http://schemas.microsoft.com/office/drawing/2014/main" id="{1D0802AC-435A-4580-906A-874E17E5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24150"/>
            <a:ext cx="18097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244A72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9" name="label-code">
            <a:extLst xmlns:a="http://schemas.openxmlformats.org/drawingml/2006/main">
              <a:ext uri="{FF2B5EF4-FFF2-40B4-BE49-F238E27FC236}">
                <a16:creationId xmlns:a16="http://schemas.microsoft.com/office/drawing/2014/main" id="{BF9FA9ED-5065-4F34-B634-2385AD52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33700"/>
            <a:ext cx="1543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代码生成</a:t>
            </a:r>
          </a:p>
        </p:txBody>
      </p:sp>
      <p:sp>
        <p:nvSpPr>
          <p:cNvPr id="2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DC69F28C-4ACA-439F-82E5-DCA018E1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14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rPr>
              <a:t>稳定绘制</a:t>
            </a:r>
          </a:p>
          <a:p xmlns:a="http://schemas.openxmlformats.org/drawingml/2006/main">
            <a:pPr algn="ctr">
              <a:defRPr sz="1275" b="0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rPr>
              <a:t>保留可编辑对象</a:t>
            </a:r>
          </a:p>
        </p:txBody>
      </p:sp>
      <p:sp>
        <p:nvSpPr>
          <p:cNvPr id="21" name="flow-result">
            <a:extLst xmlns:a="http://schemas.openxmlformats.org/drawingml/2006/main">
              <a:ext uri="{FF2B5EF4-FFF2-40B4-BE49-F238E27FC236}">
                <a16:creationId xmlns:a16="http://schemas.microsoft.com/office/drawing/2014/main" id="{6338BEA1-E6CB-4909-AA93-79EC8F83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76875"/>
            <a:ext cx="7620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44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low-result-text">
            <a:extLst xmlns:a="http://schemas.openxmlformats.org/drawingml/2006/main">
              <a:ext uri="{FF2B5EF4-FFF2-40B4-BE49-F238E27FC236}">
                <a16:creationId xmlns:a16="http://schemas.microsoft.com/office/drawing/2014/main" id="{34663664-CC80-4C9F-BEC1-4F6E588A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29275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原生可编辑的 PowerPoint，而不是截图或网页替代品</a:t>
            </a:r>
          </a:p>
        </p:txBody>
      </p:sp>
      <p:sp>
        <p:nvSpPr>
          <p:cNvPr id="2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66B2625-17F2-4F8B-A962-8ABC6BE6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57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BD7CE018-D489-43C1-8F32-5837EB75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341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来源：分配原稿 product.txt</a:t>
            </a:r>
          </a:p>
        </p:txBody>
      </p:sp>
      <p:sp>
        <p:nvSpPr>
          <p:cNvPr id="2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EC71B13-3CA0-4AF8-AD95-198570B3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951627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3E243A6-7DB1-4436-8871-73ACBC8B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06 核心架构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1E0D75D6-6924-4B11-BE8F-D0298B05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D14457-6465-4A9E-8DA5-736B2D66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建设视觉能力与使用视觉能力，分成两条路线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DADC73E-671F-41A5-97B6-D5AE869D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52525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两条路线只在“经过确认的核心资产库”汇合。</a:t>
            </a:r>
          </a:p>
        </p:txBody>
      </p:sp>
      <p:sp>
        <p:nvSpPr>
          <p:cNvPr id="5" name="build-label">
            <a:extLst xmlns:a="http://schemas.openxmlformats.org/drawingml/2006/main">
              <a:ext uri="{FF2B5EF4-FFF2-40B4-BE49-F238E27FC236}">
                <a16:creationId xmlns:a16="http://schemas.microsoft.com/office/drawing/2014/main" id="{567EDDE3-962B-4630-A04E-B0B7AEDE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资产入库线：把经验变成能力</a:t>
            </a:r>
          </a:p>
        </p:txBody>
      </p:sp>
      <p:sp>
        <p:nvSpPr>
          <p:cNvPr id="6" name="run-label">
            <a:extLst xmlns:a="http://schemas.openxmlformats.org/drawingml/2006/main">
              <a:ext uri="{FF2B5EF4-FFF2-40B4-BE49-F238E27FC236}">
                <a16:creationId xmlns:a16="http://schemas.microsoft.com/office/drawing/2014/main" id="{9DFFCC3D-7648-4FA4-8960-CA750AD7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正式生成线：把能力稳定用出来</a:t>
            </a:r>
          </a:p>
        </p:txBody>
      </p:sp>
      <p:sp>
        <p:nvSpPr>
          <p:cNvPr id="7" name="build-arrow-0">
            <a:extLst xmlns:a="http://schemas.openxmlformats.org/drawingml/2006/main">
              <a:ext uri="{FF2B5EF4-FFF2-40B4-BE49-F238E27FC236}">
                <a16:creationId xmlns:a16="http://schemas.microsoft.com/office/drawing/2014/main" id="{F49E960E-7567-4F3B-81CA-944EFC9B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8850" y="2609850"/>
            <a:ext cx="609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ild-arrow-1">
            <a:extLst xmlns:a="http://schemas.openxmlformats.org/drawingml/2006/main">
              <a:ext uri="{FF2B5EF4-FFF2-40B4-BE49-F238E27FC236}">
                <a16:creationId xmlns:a16="http://schemas.microsoft.com/office/drawing/2014/main" id="{BCB0BC7D-90A8-4FC7-AFDE-81E3790B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4350" y="2609850"/>
            <a:ext cx="609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ild-arrow-2">
            <a:extLst xmlns:a="http://schemas.openxmlformats.org/drawingml/2006/main">
              <a:ext uri="{FF2B5EF4-FFF2-40B4-BE49-F238E27FC236}">
                <a16:creationId xmlns:a16="http://schemas.microsoft.com/office/drawing/2014/main" id="{C85645A7-70B4-4AF1-BCCC-B67896AD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2609850"/>
            <a:ext cx="609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ode-build-0">
            <a:extLst xmlns:a="http://schemas.openxmlformats.org/drawingml/2006/main">
              <a:ext uri="{FF2B5EF4-FFF2-40B4-BE49-F238E27FC236}">
                <a16:creationId xmlns:a16="http://schemas.microsoft.com/office/drawing/2014/main" id="{05FF0021-9159-4DBE-9A59-651AE074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14668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1" name="label-build-0">
            <a:extLst xmlns:a="http://schemas.openxmlformats.org/drawingml/2006/main">
              <a:ext uri="{FF2B5EF4-FFF2-40B4-BE49-F238E27FC236}">
                <a16:creationId xmlns:a16="http://schemas.microsoft.com/office/drawing/2014/main" id="{721DB38F-36AA-4549-86AD-51B912D0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131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优秀参考</a:t>
            </a:r>
          </a:p>
        </p:txBody>
      </p:sp>
      <p:sp>
        <p:nvSpPr>
          <p:cNvPr id="12" name="node-build-1">
            <a:extLst xmlns:a="http://schemas.openxmlformats.org/drawingml/2006/main">
              <a:ext uri="{FF2B5EF4-FFF2-40B4-BE49-F238E27FC236}">
                <a16:creationId xmlns:a16="http://schemas.microsoft.com/office/drawing/2014/main" id="{6F835E0E-F53F-4095-A7F4-F06B5408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24100"/>
            <a:ext cx="14668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3" name="label-build-1">
            <a:extLst xmlns:a="http://schemas.openxmlformats.org/drawingml/2006/main">
              <a:ext uri="{FF2B5EF4-FFF2-40B4-BE49-F238E27FC236}">
                <a16:creationId xmlns:a16="http://schemas.microsoft.com/office/drawing/2014/main" id="{64F3089D-4A0A-4870-AA80-F81BF0CD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76500"/>
            <a:ext cx="131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提炼规律</a:t>
            </a:r>
          </a:p>
        </p:txBody>
      </p:sp>
      <p:sp>
        <p:nvSpPr>
          <p:cNvPr id="14" name="node-build-2">
            <a:extLst xmlns:a="http://schemas.openxmlformats.org/drawingml/2006/main">
              <a:ext uri="{FF2B5EF4-FFF2-40B4-BE49-F238E27FC236}">
                <a16:creationId xmlns:a16="http://schemas.microsoft.com/office/drawing/2014/main" id="{0862F692-6463-4BB7-8A11-D1939A1E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24100"/>
            <a:ext cx="14668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5" name="label-build-2">
            <a:extLst xmlns:a="http://schemas.openxmlformats.org/drawingml/2006/main">
              <a:ext uri="{FF2B5EF4-FFF2-40B4-BE49-F238E27FC236}">
                <a16:creationId xmlns:a16="http://schemas.microsoft.com/office/drawing/2014/main" id="{5FD4CDFE-CC56-433E-8A22-638C9CC4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76500"/>
            <a:ext cx="131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参数化</a:t>
            </a:r>
          </a:p>
        </p:txBody>
      </p:sp>
      <p:sp>
        <p:nvSpPr>
          <p:cNvPr id="16" name="node-build-3">
            <a:extLst xmlns:a="http://schemas.openxmlformats.org/drawingml/2006/main">
              <a:ext uri="{FF2B5EF4-FFF2-40B4-BE49-F238E27FC236}">
                <a16:creationId xmlns:a16="http://schemas.microsoft.com/office/drawing/2014/main" id="{0C716254-26B7-481B-8CFA-FC8440B0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24100"/>
            <a:ext cx="14668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44A72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7" name="label-build-3">
            <a:extLst xmlns:a="http://schemas.openxmlformats.org/drawingml/2006/main">
              <a:ext uri="{FF2B5EF4-FFF2-40B4-BE49-F238E27FC236}">
                <a16:creationId xmlns:a16="http://schemas.microsoft.com/office/drawing/2014/main" id="{EFFC15C4-8EEB-429E-8783-BCC29C60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76500"/>
            <a:ext cx="131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用户确认</a:t>
            </a:r>
          </a:p>
        </p:txBody>
      </p:sp>
      <p:sp>
        <p:nvSpPr>
          <p:cNvPr id="18" name="down-link">
            <a:extLst xmlns:a="http://schemas.openxmlformats.org/drawingml/2006/main">
              <a:ext uri="{FF2B5EF4-FFF2-40B4-BE49-F238E27FC236}">
                <a16:creationId xmlns:a16="http://schemas.microsoft.com/office/drawing/2014/main" id="{E9064004-C2AD-47FA-B522-AD8ED988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25000" y="3200400"/>
            <a:ext cx="247650" cy="495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un-arrow-0">
            <a:extLst xmlns:a="http://schemas.openxmlformats.org/drawingml/2006/main">
              <a:ext uri="{FF2B5EF4-FFF2-40B4-BE49-F238E27FC236}">
                <a16:creationId xmlns:a16="http://schemas.microsoft.com/office/drawing/2014/main" id="{3B6A1F29-1487-401A-A093-B0D406B0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8850" y="4648200"/>
            <a:ext cx="609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un-arrow-1">
            <a:extLst xmlns:a="http://schemas.openxmlformats.org/drawingml/2006/main">
              <a:ext uri="{FF2B5EF4-FFF2-40B4-BE49-F238E27FC236}">
                <a16:creationId xmlns:a16="http://schemas.microsoft.com/office/drawing/2014/main" id="{5F8478E9-681D-4AC9-90F7-B5BD81B7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4350" y="4648200"/>
            <a:ext cx="609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un-arrow-2">
            <a:extLst xmlns:a="http://schemas.openxmlformats.org/drawingml/2006/main">
              <a:ext uri="{FF2B5EF4-FFF2-40B4-BE49-F238E27FC236}">
                <a16:creationId xmlns:a16="http://schemas.microsoft.com/office/drawing/2014/main" id="{A103457A-38EA-4A09-B7A0-EF41045B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4648200"/>
            <a:ext cx="609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un-arrow-3">
            <a:extLst xmlns:a="http://schemas.openxmlformats.org/drawingml/2006/main">
              <a:ext uri="{FF2B5EF4-FFF2-40B4-BE49-F238E27FC236}">
                <a16:creationId xmlns:a16="http://schemas.microsoft.com/office/drawing/2014/main" id="{ACF637F5-0E9B-4A0A-9446-289D2707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5350" y="4648200"/>
            <a:ext cx="609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node-run-0">
            <a:extLst xmlns:a="http://schemas.openxmlformats.org/drawingml/2006/main">
              <a:ext uri="{FF2B5EF4-FFF2-40B4-BE49-F238E27FC236}">
                <a16:creationId xmlns:a16="http://schemas.microsoft.com/office/drawing/2014/main" id="{DBD37B91-6D65-45C2-B060-CD5DE833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14668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4" name="label-run-0">
            <a:extLst xmlns:a="http://schemas.openxmlformats.org/drawingml/2006/main">
              <a:ext uri="{FF2B5EF4-FFF2-40B4-BE49-F238E27FC236}">
                <a16:creationId xmlns:a16="http://schemas.microsoft.com/office/drawing/2014/main" id="{D17F4DB4-454C-422E-99DD-74635DC3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1352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稿件 + Skin</a:t>
            </a:r>
          </a:p>
        </p:txBody>
      </p:sp>
      <p:sp>
        <p:nvSpPr>
          <p:cNvPr id="25" name="node-run-1">
            <a:extLst xmlns:a="http://schemas.openxmlformats.org/drawingml/2006/main">
              <a:ext uri="{FF2B5EF4-FFF2-40B4-BE49-F238E27FC236}">
                <a16:creationId xmlns:a16="http://schemas.microsoft.com/office/drawing/2014/main" id="{955BD421-424B-4254-A940-5AABBD30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62450"/>
            <a:ext cx="14668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6" name="label-run-1">
            <a:extLst xmlns:a="http://schemas.openxmlformats.org/drawingml/2006/main">
              <a:ext uri="{FF2B5EF4-FFF2-40B4-BE49-F238E27FC236}">
                <a16:creationId xmlns:a16="http://schemas.microsoft.com/office/drawing/2014/main" id="{B789AA25-D353-467E-A2D2-4D769872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14850"/>
            <a:ext cx="1352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AI 编排</a:t>
            </a:r>
          </a:p>
        </p:txBody>
      </p:sp>
      <p:sp>
        <p:nvSpPr>
          <p:cNvPr id="27" name="node-run-2">
            <a:extLst xmlns:a="http://schemas.openxmlformats.org/drawingml/2006/main">
              <a:ext uri="{FF2B5EF4-FFF2-40B4-BE49-F238E27FC236}">
                <a16:creationId xmlns:a16="http://schemas.microsoft.com/office/drawing/2014/main" id="{D8A0655E-5380-43B9-962F-6B843950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62450"/>
            <a:ext cx="14668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8" name="label-run-2">
            <a:extLst xmlns:a="http://schemas.openxmlformats.org/drawingml/2006/main">
              <a:ext uri="{FF2B5EF4-FFF2-40B4-BE49-F238E27FC236}">
                <a16:creationId xmlns:a16="http://schemas.microsoft.com/office/drawing/2014/main" id="{42D82EBF-D244-4242-88A1-CA088868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514850"/>
            <a:ext cx="1352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核心资产</a:t>
            </a:r>
          </a:p>
        </p:txBody>
      </p:sp>
      <p:sp>
        <p:nvSpPr>
          <p:cNvPr id="29" name="node-run-3">
            <a:extLst xmlns:a="http://schemas.openxmlformats.org/drawingml/2006/main">
              <a:ext uri="{FF2B5EF4-FFF2-40B4-BE49-F238E27FC236}">
                <a16:creationId xmlns:a16="http://schemas.microsoft.com/office/drawing/2014/main" id="{C8CBD61E-A94C-4B56-B11F-02A00BE9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62450"/>
            <a:ext cx="14668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30" name="label-run-3">
            <a:extLst xmlns:a="http://schemas.openxmlformats.org/drawingml/2006/main">
              <a:ext uri="{FF2B5EF4-FFF2-40B4-BE49-F238E27FC236}">
                <a16:creationId xmlns:a16="http://schemas.microsoft.com/office/drawing/2014/main" id="{E60B0B07-0D65-4B52-AB35-D83238C8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14850"/>
            <a:ext cx="1352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确定性编译</a:t>
            </a:r>
          </a:p>
        </p:txBody>
      </p:sp>
      <p:sp>
        <p:nvSpPr>
          <p:cNvPr id="31" name="node-run-4">
            <a:extLst xmlns:a="http://schemas.openxmlformats.org/drawingml/2006/main">
              <a:ext uri="{FF2B5EF4-FFF2-40B4-BE49-F238E27FC236}">
                <a16:creationId xmlns:a16="http://schemas.microsoft.com/office/drawing/2014/main" id="{B6333A25-2FA6-4CF9-ADB0-DBD8CFFD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62450"/>
            <a:ext cx="14668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44A72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32" name="label-run-4">
            <a:extLst xmlns:a="http://schemas.openxmlformats.org/drawingml/2006/main">
              <a:ext uri="{FF2B5EF4-FFF2-40B4-BE49-F238E27FC236}">
                <a16:creationId xmlns:a16="http://schemas.microsoft.com/office/drawing/2014/main" id="{EAF0DDDD-1226-4AD6-853C-48D21B6D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14850"/>
            <a:ext cx="1352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PPTX</a:t>
            </a:r>
          </a:p>
        </p:txBody>
      </p:sp>
      <p:sp>
        <p:nvSpPr>
          <p:cNvPr id="33" name="core-note">
            <a:extLst xmlns:a="http://schemas.openxmlformats.org/drawingml/2006/main">
              <a:ext uri="{FF2B5EF4-FFF2-40B4-BE49-F238E27FC236}">
                <a16:creationId xmlns:a16="http://schemas.microsoft.com/office/drawing/2014/main" id="{689F9E77-3B72-4992-B935-F789E527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197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没有合适结构时，退回已登记的简单排版 / 拆页</a:t>
            </a:r>
          </a:p>
        </p:txBody>
      </p:sp>
      <p:sp>
        <p:nvSpPr>
          <p:cNvPr id="3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0FBE3A7-2824-4DA8-8F7F-AA0DCCAD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57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E30984D5-0DE2-4570-A4B5-B7E2CC0E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341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来源：分配原稿 product.txt</a:t>
            </a:r>
          </a:p>
        </p:txBody>
      </p:sp>
      <p:sp>
        <p:nvSpPr>
          <p:cNvPr id="3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11533AF-945C-441C-BF86-6DF813FD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550508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EA779E6-1924-4C28-BBB5-F3856CB8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07 成本前移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59C00A4-B786-4559-A67F-0E01040A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C66284-F568-4D0B-9F9F-26C23C44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把昂贵的计算前移，正式交付才可重复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50A3E0F-D485-4C53-8893-6428D38F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52525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建设期承担理解与审查，运行期主要执行路由与填参。</a:t>
            </a:r>
          </a:p>
        </p:txBody>
      </p:sp>
      <p:sp>
        <p:nvSpPr>
          <p:cNvPr id="5" name="phase-left">
            <a:extLst xmlns:a="http://schemas.openxmlformats.org/drawingml/2006/main">
              <a:ext uri="{FF2B5EF4-FFF2-40B4-BE49-F238E27FC236}">
                <a16:creationId xmlns:a16="http://schemas.microsoft.com/office/drawing/2014/main" id="{84D6D571-E24F-41AE-AB2A-7464A6B5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24050"/>
            <a:ext cx="495300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hase-right">
            <a:extLst xmlns:a="http://schemas.openxmlformats.org/drawingml/2006/main">
              <a:ext uri="{FF2B5EF4-FFF2-40B4-BE49-F238E27FC236}">
                <a16:creationId xmlns:a16="http://schemas.microsoft.com/office/drawing/2014/main" id="{85BBFFE5-FE15-4EA2-9DBF-7A5F7810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24050"/>
            <a:ext cx="495300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7" name="phase-left-head">
            <a:extLst xmlns:a="http://schemas.openxmlformats.org/drawingml/2006/main">
              <a:ext uri="{FF2B5EF4-FFF2-40B4-BE49-F238E27FC236}">
                <a16:creationId xmlns:a16="http://schemas.microsoft.com/office/drawing/2014/main" id="{91A1165A-82B3-42A5-90E3-830AB3C2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建设期｜一次建设</a:t>
            </a:r>
          </a:p>
        </p:txBody>
      </p:sp>
      <p:sp>
        <p:nvSpPr>
          <p:cNvPr id="8" name="phase-right-head">
            <a:extLst xmlns:a="http://schemas.openxmlformats.org/drawingml/2006/main">
              <a:ext uri="{FF2B5EF4-FFF2-40B4-BE49-F238E27FC236}">
                <a16:creationId xmlns:a16="http://schemas.microsoft.com/office/drawing/2014/main" id="{B9470A65-BC47-48F0-BFCB-AEDEA5C7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479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运行期｜多次复用</a:t>
            </a:r>
          </a:p>
        </p:txBody>
      </p:sp>
      <p:sp>
        <p:nvSpPr>
          <p:cNvPr id="9" name="phase-left-dot-0">
            <a:extLst xmlns:a="http://schemas.openxmlformats.org/drawingml/2006/main">
              <a:ext uri="{FF2B5EF4-FFF2-40B4-BE49-F238E27FC236}">
                <a16:creationId xmlns:a16="http://schemas.microsoft.com/office/drawing/2014/main" id="{5E21392F-9132-485A-BCB9-20F178D9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hase-left-num-0">
            <a:extLst xmlns:a="http://schemas.openxmlformats.org/drawingml/2006/main">
              <a:ext uri="{FF2B5EF4-FFF2-40B4-BE49-F238E27FC236}">
                <a16:creationId xmlns:a16="http://schemas.microsoft.com/office/drawing/2014/main" id="{612F352D-F1FC-45EC-8B98-F6BEBEE7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86075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phase-left-text-0">
            <a:extLst xmlns:a="http://schemas.openxmlformats.org/drawingml/2006/main">
              <a:ext uri="{FF2B5EF4-FFF2-40B4-BE49-F238E27FC236}">
                <a16:creationId xmlns:a16="http://schemas.microsoft.com/office/drawing/2014/main" id="{2D139718-3F84-487A-981F-7382ECA2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575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筛选优秀页面</a:t>
            </a:r>
          </a:p>
        </p:txBody>
      </p:sp>
      <p:sp>
        <p:nvSpPr>
          <p:cNvPr id="12" name="phase-left-dot-1">
            <a:extLst xmlns:a="http://schemas.openxmlformats.org/drawingml/2006/main">
              <a:ext uri="{FF2B5EF4-FFF2-40B4-BE49-F238E27FC236}">
                <a16:creationId xmlns:a16="http://schemas.microsoft.com/office/drawing/2014/main" id="{1A6ED115-00E5-4DAD-AEA8-DA9767FC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051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hase-left-num-1">
            <a:extLst xmlns:a="http://schemas.openxmlformats.org/drawingml/2006/main">
              <a:ext uri="{FF2B5EF4-FFF2-40B4-BE49-F238E27FC236}">
                <a16:creationId xmlns:a16="http://schemas.microsoft.com/office/drawing/2014/main" id="{F5B0DF9D-FCDE-465D-8B3A-B7B24487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phase-left-text-1">
            <a:extLst xmlns:a="http://schemas.openxmlformats.org/drawingml/2006/main">
              <a:ext uri="{FF2B5EF4-FFF2-40B4-BE49-F238E27FC236}">
                <a16:creationId xmlns:a16="http://schemas.microsoft.com/office/drawing/2014/main" id="{18FB9BFA-F458-41BA-86C8-EEDF5E6F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861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理解为何有效</a:t>
            </a:r>
          </a:p>
        </p:txBody>
      </p:sp>
      <p:sp>
        <p:nvSpPr>
          <p:cNvPr id="15" name="phase-left-dot-2">
            <a:extLst xmlns:a="http://schemas.openxmlformats.org/drawingml/2006/main">
              <a:ext uri="{FF2B5EF4-FFF2-40B4-BE49-F238E27FC236}">
                <a16:creationId xmlns:a16="http://schemas.microsoft.com/office/drawing/2014/main" id="{83552633-4DBD-4414-BBE5-385F7F37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hase-left-num-2">
            <a:extLst xmlns:a="http://schemas.openxmlformats.org/drawingml/2006/main">
              <a:ext uri="{FF2B5EF4-FFF2-40B4-BE49-F238E27FC236}">
                <a16:creationId xmlns:a16="http://schemas.microsoft.com/office/drawing/2014/main" id="{6B06D419-CD6F-4F67-9AA8-62527760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43325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phase-left-text-2">
            <a:extLst xmlns:a="http://schemas.openxmlformats.org/drawingml/2006/main">
              <a:ext uri="{FF2B5EF4-FFF2-40B4-BE49-F238E27FC236}">
                <a16:creationId xmlns:a16="http://schemas.microsoft.com/office/drawing/2014/main" id="{09B94BB2-812F-40D7-8CEC-A8FD15BE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14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内容与数量参数化</a:t>
            </a:r>
          </a:p>
        </p:txBody>
      </p:sp>
      <p:sp>
        <p:nvSpPr>
          <p:cNvPr id="18" name="phase-left-dot-3">
            <a:extLst xmlns:a="http://schemas.openxmlformats.org/drawingml/2006/main">
              <a:ext uri="{FF2B5EF4-FFF2-40B4-BE49-F238E27FC236}">
                <a16:creationId xmlns:a16="http://schemas.microsoft.com/office/drawing/2014/main" id="{307A2D9A-0E7F-4536-A56F-308662F2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624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hase-left-num-3">
            <a:extLst xmlns:a="http://schemas.openxmlformats.org/drawingml/2006/main">
              <a:ext uri="{FF2B5EF4-FFF2-40B4-BE49-F238E27FC236}">
                <a16:creationId xmlns:a16="http://schemas.microsoft.com/office/drawing/2014/main" id="{DB3DB693-42DD-4242-A449-EC76FE10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phase-left-text-3">
            <a:extLst xmlns:a="http://schemas.openxmlformats.org/drawingml/2006/main">
              <a:ext uri="{FF2B5EF4-FFF2-40B4-BE49-F238E27FC236}">
                <a16:creationId xmlns:a16="http://schemas.microsoft.com/office/drawing/2014/main" id="{EE0178B0-C44A-49CD-A1C0-2E644FBC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433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验证状态与边界</a:t>
            </a:r>
          </a:p>
        </p:txBody>
      </p:sp>
      <p:sp>
        <p:nvSpPr>
          <p:cNvPr id="21" name="phase-left-dot-4">
            <a:extLst xmlns:a="http://schemas.openxmlformats.org/drawingml/2006/main">
              <a:ext uri="{FF2B5EF4-FFF2-40B4-BE49-F238E27FC236}">
                <a16:creationId xmlns:a16="http://schemas.microsoft.com/office/drawing/2014/main" id="{0EF8BD4B-0F8C-42FE-BDE6-EC529434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91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hase-left-num-4">
            <a:extLst xmlns:a="http://schemas.openxmlformats.org/drawingml/2006/main">
              <a:ext uri="{FF2B5EF4-FFF2-40B4-BE49-F238E27FC236}">
                <a16:creationId xmlns:a16="http://schemas.microsoft.com/office/drawing/2014/main" id="{AA4E3183-8E9E-4550-A3B9-CFB9017B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00575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3" name="phase-left-text-4">
            <a:extLst xmlns:a="http://schemas.openxmlformats.org/drawingml/2006/main">
              <a:ext uri="{FF2B5EF4-FFF2-40B4-BE49-F238E27FC236}">
                <a16:creationId xmlns:a16="http://schemas.microsoft.com/office/drawing/2014/main" id="{B7040E82-0EBD-4594-B4FD-D9357975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720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用户确认入库</a:t>
            </a:r>
          </a:p>
        </p:txBody>
      </p:sp>
      <p:sp>
        <p:nvSpPr>
          <p:cNvPr id="24" name="phase-right-dot-0">
            <a:extLst xmlns:a="http://schemas.openxmlformats.org/drawingml/2006/main">
              <a:ext uri="{FF2B5EF4-FFF2-40B4-BE49-F238E27FC236}">
                <a16:creationId xmlns:a16="http://schemas.microsoft.com/office/drawing/2014/main" id="{424398CC-1DB0-48CE-AECE-F0832F0F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76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hase-right-num-0">
            <a:extLst xmlns:a="http://schemas.openxmlformats.org/drawingml/2006/main">
              <a:ext uri="{FF2B5EF4-FFF2-40B4-BE49-F238E27FC236}">
                <a16:creationId xmlns:a16="http://schemas.microsoft.com/office/drawing/2014/main" id="{3AA5F83B-4FB9-4640-B261-A084C807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86075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6" name="phase-right-text-0">
            <a:extLst xmlns:a="http://schemas.openxmlformats.org/drawingml/2006/main">
              <a:ext uri="{FF2B5EF4-FFF2-40B4-BE49-F238E27FC236}">
                <a16:creationId xmlns:a16="http://schemas.microsoft.com/office/drawing/2014/main" id="{007E931A-2C18-4C8F-A59D-3A16D333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575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理解、分类、路由</a:t>
            </a:r>
          </a:p>
        </p:txBody>
      </p:sp>
      <p:sp>
        <p:nvSpPr>
          <p:cNvPr id="27" name="phase-right-dot-1">
            <a:extLst xmlns:a="http://schemas.openxmlformats.org/drawingml/2006/main">
              <a:ext uri="{FF2B5EF4-FFF2-40B4-BE49-F238E27FC236}">
                <a16:creationId xmlns:a16="http://schemas.microsoft.com/office/drawing/2014/main" id="{9230BE4A-C15C-4F18-8F62-84BFB30F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051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hase-right-num-1">
            <a:extLst xmlns:a="http://schemas.openxmlformats.org/drawingml/2006/main">
              <a:ext uri="{FF2B5EF4-FFF2-40B4-BE49-F238E27FC236}">
                <a16:creationId xmlns:a16="http://schemas.microsoft.com/office/drawing/2014/main" id="{A76DE1DB-F02A-413B-87DA-976561ED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147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9" name="phase-right-text-1">
            <a:extLst xmlns:a="http://schemas.openxmlformats.org/drawingml/2006/main">
              <a:ext uri="{FF2B5EF4-FFF2-40B4-BE49-F238E27FC236}">
                <a16:creationId xmlns:a16="http://schemas.microsoft.com/office/drawing/2014/main" id="{49938C0C-EC35-4305-883F-3A4FB81F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861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选择已确认能力</a:t>
            </a:r>
          </a:p>
        </p:txBody>
      </p:sp>
      <p:sp>
        <p:nvSpPr>
          <p:cNvPr id="30" name="phase-right-dot-2">
            <a:extLst xmlns:a="http://schemas.openxmlformats.org/drawingml/2006/main">
              <a:ext uri="{FF2B5EF4-FFF2-40B4-BE49-F238E27FC236}">
                <a16:creationId xmlns:a16="http://schemas.microsoft.com/office/drawing/2014/main" id="{8FCE451E-FB93-4E14-921A-D7989145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33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hase-right-num-2">
            <a:extLst xmlns:a="http://schemas.openxmlformats.org/drawingml/2006/main">
              <a:ext uri="{FF2B5EF4-FFF2-40B4-BE49-F238E27FC236}">
                <a16:creationId xmlns:a16="http://schemas.microsoft.com/office/drawing/2014/main" id="{496769FE-02E9-44F8-A797-D5866A50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43325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2" name="phase-right-text-2">
            <a:extLst xmlns:a="http://schemas.openxmlformats.org/drawingml/2006/main">
              <a:ext uri="{FF2B5EF4-FFF2-40B4-BE49-F238E27FC236}">
                <a16:creationId xmlns:a16="http://schemas.microsoft.com/office/drawing/2014/main" id="{31CA5557-6E03-4177-85B6-98F39847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14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按数据契约填参</a:t>
            </a:r>
          </a:p>
        </p:txBody>
      </p:sp>
      <p:sp>
        <p:nvSpPr>
          <p:cNvPr id="33" name="phase-right-dot-3">
            <a:extLst xmlns:a="http://schemas.openxmlformats.org/drawingml/2006/main">
              <a:ext uri="{FF2B5EF4-FFF2-40B4-BE49-F238E27FC236}">
                <a16:creationId xmlns:a16="http://schemas.microsoft.com/office/drawing/2014/main" id="{53D24558-99AB-426A-BEC8-DE26964E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624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hase-right-num-3">
            <a:extLst xmlns:a="http://schemas.openxmlformats.org/drawingml/2006/main">
              <a:ext uri="{FF2B5EF4-FFF2-40B4-BE49-F238E27FC236}">
                <a16:creationId xmlns:a16="http://schemas.microsoft.com/office/drawing/2014/main" id="{7AF7C938-99B7-4113-9039-DF94CD61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719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5" name="phase-right-text-3">
            <a:extLst xmlns:a="http://schemas.openxmlformats.org/drawingml/2006/main">
              <a:ext uri="{FF2B5EF4-FFF2-40B4-BE49-F238E27FC236}">
                <a16:creationId xmlns:a16="http://schemas.microsoft.com/office/drawing/2014/main" id="{C45661F2-6006-4B55-BABE-90220D55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1433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确定性生成与检查</a:t>
            </a:r>
          </a:p>
        </p:txBody>
      </p:sp>
      <p:sp>
        <p:nvSpPr>
          <p:cNvPr id="36" name="phase-right-dot-4">
            <a:extLst xmlns:a="http://schemas.openxmlformats.org/drawingml/2006/main">
              <a:ext uri="{FF2B5EF4-FFF2-40B4-BE49-F238E27FC236}">
                <a16:creationId xmlns:a16="http://schemas.microsoft.com/office/drawing/2014/main" id="{DC90FB75-F471-48C7-8AC2-FF091BD5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91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hase-right-num-4">
            <a:extLst xmlns:a="http://schemas.openxmlformats.org/drawingml/2006/main">
              <a:ext uri="{FF2B5EF4-FFF2-40B4-BE49-F238E27FC236}">
                <a16:creationId xmlns:a16="http://schemas.microsoft.com/office/drawing/2014/main" id="{8A9730BC-3813-43D6-A840-B7D35468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00575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8" name="phase-right-text-4">
            <a:extLst xmlns:a="http://schemas.openxmlformats.org/drawingml/2006/main">
              <a:ext uri="{FF2B5EF4-FFF2-40B4-BE49-F238E27FC236}">
                <a16:creationId xmlns:a16="http://schemas.microsoft.com/office/drawing/2014/main" id="{42DB9F43-F00B-4FF8-B925-CCF1BD1E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5720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继续修改与交付</a:t>
            </a:r>
          </a:p>
        </p:txBody>
      </p:sp>
      <p:sp>
        <p:nvSpPr>
          <p:cNvPr id="39" name="phase-bridge">
            <a:extLst xmlns:a="http://schemas.openxmlformats.org/drawingml/2006/main">
              <a:ext uri="{FF2B5EF4-FFF2-40B4-BE49-F238E27FC236}">
                <a16:creationId xmlns:a16="http://schemas.microsoft.com/office/drawing/2014/main" id="{13ADF39D-5101-45BB-8FA9-40A672B8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3371850"/>
            <a:ext cx="8191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hase-bridge-label">
            <a:extLst xmlns:a="http://schemas.openxmlformats.org/drawingml/2006/main">
              <a:ext uri="{FF2B5EF4-FFF2-40B4-BE49-F238E27FC236}">
                <a16:creationId xmlns:a16="http://schemas.microsoft.com/office/drawing/2014/main" id="{3DDC9812-0305-417E-8320-0BDC5EA7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876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能力复用</a:t>
            </a:r>
          </a:p>
        </p:txBody>
      </p:sp>
      <p:sp>
        <p:nvSpPr>
          <p:cNvPr id="4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160BDAE-E528-4DC0-A4BF-D052F4D1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57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38EC55E2-22AA-4AB8-845E-0EA7EECA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341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来源：分配原稿 product.txt</a:t>
            </a:r>
          </a:p>
        </p:txBody>
      </p:sp>
      <p:sp>
        <p:nvSpPr>
          <p:cNvPr id="4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F01B4F6-0DEE-477F-A9D8-0AC4C36C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275478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0AB420F-341C-4C34-971D-F5BB0E1B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08 能力积累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177144DF-BC2F-4F9B-8530-26677B97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AD989B-2C44-4AD1-BCD6-5CB90383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真正积累的不是一万个模板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BC5D8CE-0BCF-408E-95FC-E10C1163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52525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可复用的是表达经验：关系、容量、变化方式与失败边界。</a:t>
            </a:r>
          </a:p>
        </p:txBody>
      </p:sp>
      <p:sp>
        <p:nvSpPr>
          <p:cNvPr id="5" name="hierarchy-zone">
            <a:extLst xmlns:a="http://schemas.openxmlformats.org/drawingml/2006/main">
              <a:ext uri="{FF2B5EF4-FFF2-40B4-BE49-F238E27FC236}">
                <a16:creationId xmlns:a16="http://schemas.microsoft.com/office/drawing/2014/main" id="{67ECC74A-CF16-4FB5-B7F0-48AB7F17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85950"/>
            <a:ext cx="11144250" cy="3476625"/>
          </a:xfrm>
          <a:prstGeom xmlns:a="http://schemas.openxmlformats.org/drawingml/2006/main" prst="roundRect">
            <a:avLst>
              <a:gd name="adj" fmla="val 4384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node-root">
            <a:extLst xmlns:a="http://schemas.openxmlformats.org/drawingml/2006/main">
              <a:ext uri="{FF2B5EF4-FFF2-40B4-BE49-F238E27FC236}">
                <a16:creationId xmlns:a16="http://schemas.microsoft.com/office/drawing/2014/main" id="{C2D339D2-4EC7-45D1-B155-E790E777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1809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244A72"/>
          </a:solidFill>
          <a:ln xmlns:a="http://schemas.openxmlformats.org/drawingml/2006/main" w="9525">
            <a:solidFill>
              <a:srgbClr val="244A72"/>
            </a:solidFill>
            <a:prstDash val="solid"/>
          </a:ln>
        </p:spPr>
      </p:sp>
      <p:sp>
        <p:nvSpPr>
          <p:cNvPr id="7" name="label-root">
            <a:extLst xmlns:a="http://schemas.openxmlformats.org/drawingml/2006/main">
              <a:ext uri="{FF2B5EF4-FFF2-40B4-BE49-F238E27FC236}">
                <a16:creationId xmlns:a16="http://schemas.microsoft.com/office/drawing/2014/main" id="{82B2D1BA-405A-4476-AEC3-D9C68D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表达能力</a:t>
            </a:r>
          </a:p>
        </p:txBody>
      </p:sp>
      <p:sp>
        <p:nvSpPr>
          <p:cNvPr id="8" name="hier-arrow-0">
            <a:extLst xmlns:a="http://schemas.openxmlformats.org/drawingml/2006/main">
              <a:ext uri="{FF2B5EF4-FFF2-40B4-BE49-F238E27FC236}">
                <a16:creationId xmlns:a16="http://schemas.microsoft.com/office/drawing/2014/main" id="{63868BBE-9DB4-48F3-B9AC-C5920A7E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6050" y="3324225"/>
            <a:ext cx="495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ode-hier-group-0">
            <a:extLst xmlns:a="http://schemas.openxmlformats.org/drawingml/2006/main">
              <a:ext uri="{FF2B5EF4-FFF2-40B4-BE49-F238E27FC236}">
                <a16:creationId xmlns:a16="http://schemas.microsoft.com/office/drawing/2014/main" id="{9599F8BC-D271-443D-9190-338AEF95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43200"/>
            <a:ext cx="16954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0" name="label-hier-group-0">
            <a:extLst xmlns:a="http://schemas.openxmlformats.org/drawingml/2006/main">
              <a:ext uri="{FF2B5EF4-FFF2-40B4-BE49-F238E27FC236}">
                <a16:creationId xmlns:a16="http://schemas.microsoft.com/office/drawing/2014/main" id="{4B2C34C0-588A-4B69-800D-D010A5A0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95600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内容关系</a:t>
            </a:r>
          </a:p>
        </p:txBody>
      </p:sp>
      <p:sp>
        <p:nvSpPr>
          <p:cNvPr id="11" name="hier-points-0">
            <a:extLst xmlns:a="http://schemas.openxmlformats.org/drawingml/2006/main">
              <a:ext uri="{FF2B5EF4-FFF2-40B4-BE49-F238E27FC236}">
                <a16:creationId xmlns:a16="http://schemas.microsoft.com/office/drawing/2014/main" id="{F6BCC629-085E-458C-9EDF-037A20BB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052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并列 / 因果</a:t>
            </a:r>
          </a:p>
          <a:p xmlns:a="http://schemas.openxmlformats.org/drawingml/2006/main">
            <a:pPr algn="ctr">
              <a:def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顺序 / 层级</a:t>
            </a:r>
          </a:p>
        </p:txBody>
      </p:sp>
      <p:sp>
        <p:nvSpPr>
          <p:cNvPr id="12" name="hier-arrow-1">
            <a:extLst xmlns:a="http://schemas.openxmlformats.org/drawingml/2006/main">
              <a:ext uri="{FF2B5EF4-FFF2-40B4-BE49-F238E27FC236}">
                <a16:creationId xmlns:a16="http://schemas.microsoft.com/office/drawing/2014/main" id="{4565A0B3-6874-4840-8541-866FF101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6050" y="3324225"/>
            <a:ext cx="495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ode-hier-group-1">
            <a:extLst xmlns:a="http://schemas.openxmlformats.org/drawingml/2006/main">
              <a:ext uri="{FF2B5EF4-FFF2-40B4-BE49-F238E27FC236}">
                <a16:creationId xmlns:a16="http://schemas.microsoft.com/office/drawing/2014/main" id="{830D1FF7-8F67-4FC5-9340-EEB86E6A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43200"/>
            <a:ext cx="16954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4" name="label-hier-group-1">
            <a:extLst xmlns:a="http://schemas.openxmlformats.org/drawingml/2006/main">
              <a:ext uri="{FF2B5EF4-FFF2-40B4-BE49-F238E27FC236}">
                <a16:creationId xmlns:a16="http://schemas.microsoft.com/office/drawing/2014/main" id="{01BE1EC8-9B61-4861-8B73-250EE2A6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895600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容量变化</a:t>
            </a:r>
          </a:p>
        </p:txBody>
      </p:sp>
      <p:sp>
        <p:nvSpPr>
          <p:cNvPr id="15" name="hier-points-1">
            <a:extLst xmlns:a="http://schemas.openxmlformats.org/drawingml/2006/main">
              <a:ext uri="{FF2B5EF4-FFF2-40B4-BE49-F238E27FC236}">
                <a16:creationId xmlns:a16="http://schemas.microsoft.com/office/drawing/2014/main" id="{3F6FD3C7-0943-4195-8087-5866E0C6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5052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数量扩展</a:t>
            </a:r>
          </a:p>
          <a:p xmlns:a="http://schemas.openxmlformats.org/drawingml/2006/main">
            <a:pPr algn="ctr">
              <a:def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文本长度</a:t>
            </a:r>
          </a:p>
        </p:txBody>
      </p:sp>
      <p:sp>
        <p:nvSpPr>
          <p:cNvPr id="16" name="hier-arrow-2">
            <a:extLst xmlns:a="http://schemas.openxmlformats.org/drawingml/2006/main">
              <a:ext uri="{FF2B5EF4-FFF2-40B4-BE49-F238E27FC236}">
                <a16:creationId xmlns:a16="http://schemas.microsoft.com/office/drawing/2014/main" id="{9C7D3144-FABB-4B7A-81BC-409C9FAA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6050" y="3324225"/>
            <a:ext cx="495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ode-hier-group-2">
            <a:extLst xmlns:a="http://schemas.openxmlformats.org/drawingml/2006/main">
              <a:ext uri="{FF2B5EF4-FFF2-40B4-BE49-F238E27FC236}">
                <a16:creationId xmlns:a16="http://schemas.microsoft.com/office/drawing/2014/main" id="{FF0E208A-8C7E-4D7F-AA50-EE660685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43200"/>
            <a:ext cx="16954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8" name="label-hier-group-2">
            <a:extLst xmlns:a="http://schemas.openxmlformats.org/drawingml/2006/main">
              <a:ext uri="{FF2B5EF4-FFF2-40B4-BE49-F238E27FC236}">
                <a16:creationId xmlns:a16="http://schemas.microsoft.com/office/drawing/2014/main" id="{E51634F6-D1EB-4468-8634-4D21C0A4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95600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失败边界</a:t>
            </a:r>
          </a:p>
        </p:txBody>
      </p:sp>
      <p:sp>
        <p:nvSpPr>
          <p:cNvPr id="19" name="hier-points-2">
            <a:extLst xmlns:a="http://schemas.openxmlformats.org/drawingml/2006/main">
              <a:ext uri="{FF2B5EF4-FFF2-40B4-BE49-F238E27FC236}">
                <a16:creationId xmlns:a16="http://schemas.microsoft.com/office/drawing/2014/main" id="{BF9E3029-1FEF-4465-9E3A-A8CAF798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052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拆页 / 退化</a:t>
            </a:r>
          </a:p>
          <a:p xmlns:a="http://schemas.openxmlformats.org/drawingml/2006/main">
            <a:pPr algn="ctr">
              <a:def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不该使用</a:t>
            </a:r>
          </a:p>
        </p:txBody>
      </p:sp>
      <p:sp>
        <p:nvSpPr>
          <p:cNvPr id="20" name="hier-arrow-3">
            <a:extLst xmlns:a="http://schemas.openxmlformats.org/drawingml/2006/main">
              <a:ext uri="{FF2B5EF4-FFF2-40B4-BE49-F238E27FC236}">
                <a16:creationId xmlns:a16="http://schemas.microsoft.com/office/drawing/2014/main" id="{7E878263-D1A4-4092-826F-D8936100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6050" y="3324225"/>
            <a:ext cx="495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node-hier-group-3">
            <a:extLst xmlns:a="http://schemas.openxmlformats.org/drawingml/2006/main">
              <a:ext uri="{FF2B5EF4-FFF2-40B4-BE49-F238E27FC236}">
                <a16:creationId xmlns:a16="http://schemas.microsoft.com/office/drawing/2014/main" id="{C69F2A3E-1289-4280-AE02-13E441CB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43200"/>
            <a:ext cx="16954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2" name="label-hier-group-3">
            <a:extLst xmlns:a="http://schemas.openxmlformats.org/drawingml/2006/main">
              <a:ext uri="{FF2B5EF4-FFF2-40B4-BE49-F238E27FC236}">
                <a16:creationId xmlns:a16="http://schemas.microsoft.com/office/drawing/2014/main" id="{11F5A067-B471-4CF6-8080-241443AE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95600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运行反馈</a:t>
            </a:r>
          </a:p>
        </p:txBody>
      </p:sp>
      <p:sp>
        <p:nvSpPr>
          <p:cNvPr id="23" name="hier-points-3">
            <a:extLst xmlns:a="http://schemas.openxmlformats.org/drawingml/2006/main">
              <a:ext uri="{FF2B5EF4-FFF2-40B4-BE49-F238E27FC236}">
                <a16:creationId xmlns:a16="http://schemas.microsoft.com/office/drawing/2014/main" id="{03DDBDE5-61AB-4161-960C-37517E28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052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真实缺口</a:t>
            </a:r>
          </a:p>
          <a:p xmlns:a="http://schemas.openxmlformats.org/drawingml/2006/main">
            <a:pPr algn="ctr">
              <a:def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回流建设</a:t>
            </a:r>
          </a:p>
        </p:txBody>
      </p:sp>
      <p:sp>
        <p:nvSpPr>
          <p:cNvPr id="24" name="hier-foot">
            <a:extLst xmlns:a="http://schemas.openxmlformats.org/drawingml/2006/main">
              <a:ext uri="{FF2B5EF4-FFF2-40B4-BE49-F238E27FC236}">
                <a16:creationId xmlns:a16="http://schemas.microsoft.com/office/drawing/2014/main" id="{AFB2C860-0916-48F7-926F-8E8885D6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578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rPr>
              <a:t>一个漂亮页面，只有提炼出这些规律以后，才会从作品变成能力。</a:t>
            </a:r>
          </a:p>
        </p:txBody>
      </p:sp>
      <p:sp>
        <p:nvSpPr>
          <p:cNvPr id="2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1230172-198B-448E-B468-26818E13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57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F103E93A-29F1-427E-A0B1-52DA3493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341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来源：分配原稿 product.txt</a:t>
            </a:r>
          </a:p>
        </p:txBody>
      </p:sp>
      <p:sp>
        <p:nvSpPr>
          <p:cNvPr id="2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C208B40-0868-4BC4-999A-41F3B840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266687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03D0DC2-5216-4EF5-AB9F-3C10D9AF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09 扩展边界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C4D91A38-B734-4DDF-82F1-9BF21CD2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0E56DF-2DE4-49DA-9E79-B9BF9711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从一个学校开始，能力可以走向更多组织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81F4217-3981-40C2-A591-B57269CC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52525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主题替换组织身份，表达能力继续复用。</a:t>
            </a:r>
          </a:p>
        </p:txBody>
      </p:sp>
      <p:sp>
        <p:nvSpPr>
          <p:cNvPr id="5" name="expansion-zone">
            <a:extLst xmlns:a="http://schemas.openxmlformats.org/drawingml/2006/main">
              <a:ext uri="{FF2B5EF4-FFF2-40B4-BE49-F238E27FC236}">
                <a16:creationId xmlns:a16="http://schemas.microsoft.com/office/drawing/2014/main" id="{6D4536B4-47C6-4016-803E-391C5BBF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11144250" cy="337185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node-school">
            <a:extLst xmlns:a="http://schemas.openxmlformats.org/drawingml/2006/main">
              <a:ext uri="{FF2B5EF4-FFF2-40B4-BE49-F238E27FC236}">
                <a16:creationId xmlns:a16="http://schemas.microsoft.com/office/drawing/2014/main" id="{71B6BCD5-6F52-4779-8BC4-41C86C6A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28950"/>
            <a:ext cx="1809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44A72"/>
          </a:solidFill>
          <a:ln xmlns:a="http://schemas.openxmlformats.org/drawingml/2006/main" w="9525">
            <a:solidFill>
              <a:srgbClr val="244A72"/>
            </a:solidFill>
            <a:prstDash val="solid"/>
          </a:ln>
        </p:spPr>
      </p:sp>
      <p:sp>
        <p:nvSpPr>
          <p:cNvPr id="7" name="label-school">
            <a:extLst xmlns:a="http://schemas.openxmlformats.org/drawingml/2006/main">
              <a:ext uri="{FF2B5EF4-FFF2-40B4-BE49-F238E27FC236}">
                <a16:creationId xmlns:a16="http://schemas.microsoft.com/office/drawing/2014/main" id="{97C32FCB-32C9-4971-8077-659867B2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575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东北大学</a:t>
            </a:r>
          </a:p>
        </p:txBody>
      </p:sp>
      <p:sp>
        <p:nvSpPr>
          <p:cNvPr id="8" name="exp-arrow-1">
            <a:extLst xmlns:a="http://schemas.openxmlformats.org/drawingml/2006/main">
              <a:ext uri="{FF2B5EF4-FFF2-40B4-BE49-F238E27FC236}">
                <a16:creationId xmlns:a16="http://schemas.microsoft.com/office/drawing/2014/main" id="{4E624B42-F0FA-4853-BCA9-6ABA881D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3352800"/>
            <a:ext cx="11430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ode-skin">
            <a:extLst xmlns:a="http://schemas.openxmlformats.org/drawingml/2006/main">
              <a:ext uri="{FF2B5EF4-FFF2-40B4-BE49-F238E27FC236}">
                <a16:creationId xmlns:a16="http://schemas.microsoft.com/office/drawing/2014/main" id="{09F3500D-A8A9-4CF8-BCE3-DCD65068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05125"/>
            <a:ext cx="1809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0" name="label-skin">
            <a:extLst xmlns:a="http://schemas.openxmlformats.org/drawingml/2006/main">
              <a:ext uri="{FF2B5EF4-FFF2-40B4-BE49-F238E27FC236}">
                <a16:creationId xmlns:a16="http://schemas.microsoft.com/office/drawing/2014/main" id="{B6218FB9-0807-4189-9B95-9CB4D948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71825"/>
            <a:ext cx="1581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主题配置</a:t>
            </a:r>
          </a:p>
        </p:txBody>
      </p:sp>
      <p:sp>
        <p:nvSpPr>
          <p:cNvPr id="11" name="skin-body">
            <a:extLst xmlns:a="http://schemas.openxmlformats.org/drawingml/2006/main">
              <a:ext uri="{FF2B5EF4-FFF2-40B4-BE49-F238E27FC236}">
                <a16:creationId xmlns:a16="http://schemas.microsoft.com/office/drawing/2014/main" id="{FB6A92BE-836D-425C-B655-077EAB25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5767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颜色 · Logo · 字体</a:t>
            </a:r>
          </a:p>
          <a:p xmlns:a="http://schemas.openxmlformats.org/drawingml/2006/main">
            <a:pPr algn="ctr"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页眉页脚 · 页面骨架</a:t>
            </a:r>
          </a:p>
        </p:txBody>
      </p:sp>
      <p:sp>
        <p:nvSpPr>
          <p:cNvPr id="12" name="exp-arrow-2">
            <a:extLst xmlns:a="http://schemas.openxmlformats.org/drawingml/2006/main">
              <a:ext uri="{FF2B5EF4-FFF2-40B4-BE49-F238E27FC236}">
                <a16:creationId xmlns:a16="http://schemas.microsoft.com/office/drawing/2014/main" id="{0A3FD32A-5E2F-4EFA-BC30-AB21BA22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8425" y="3352800"/>
            <a:ext cx="11430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ode-orgs">
            <a:extLst xmlns:a="http://schemas.openxmlformats.org/drawingml/2006/main">
              <a:ext uri="{FF2B5EF4-FFF2-40B4-BE49-F238E27FC236}">
                <a16:creationId xmlns:a16="http://schemas.microsoft.com/office/drawing/2014/main" id="{F8CFA560-4290-4820-8085-2598C7E9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23812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4" name="label-orgs">
            <a:extLst xmlns:a="http://schemas.openxmlformats.org/drawingml/2006/main">
              <a:ext uri="{FF2B5EF4-FFF2-40B4-BE49-F238E27FC236}">
                <a16:creationId xmlns:a16="http://schemas.microsoft.com/office/drawing/2014/main" id="{1061827A-2822-49FA-AFBF-C6778F81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52750"/>
            <a:ext cx="2152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更多组织</a:t>
            </a:r>
          </a:p>
        </p:txBody>
      </p:sp>
      <p:sp>
        <p:nvSpPr>
          <p:cNvPr id="15" name="orgs-body">
            <a:extLst xmlns:a="http://schemas.openxmlformats.org/drawingml/2006/main">
              <a:ext uri="{FF2B5EF4-FFF2-40B4-BE49-F238E27FC236}">
                <a16:creationId xmlns:a16="http://schemas.microsoft.com/office/drawing/2014/main" id="{AAB2427C-036A-4832-86E8-C28DF2A4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48175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学校 · 科研院所</a:t>
            </a:r>
          </a:p>
          <a:p xmlns:a="http://schemas.openxmlformats.org/drawingml/2006/main">
            <a:pPr algn="ctr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实验室 · 企业 · 团队</a:t>
            </a:r>
          </a:p>
        </p:txBody>
      </p:sp>
      <p:sp>
        <p:nvSpPr>
          <p:cNvPr id="16" name="exp-foot">
            <a:extLst xmlns:a="http://schemas.openxmlformats.org/drawingml/2006/main">
              <a:ext uri="{FF2B5EF4-FFF2-40B4-BE49-F238E27FC236}">
                <a16:creationId xmlns:a16="http://schemas.microsoft.com/office/drawing/2014/main" id="{A1905BDF-3458-426B-9306-6CD98C4B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rPr>
              <a:t>组织的样子可以替换，已验证的内容理解与表达能力可以继续复用。</a:t>
            </a:r>
          </a:p>
        </p:txBody>
      </p:sp>
      <p:sp>
        <p:nvSpPr>
          <p:cNvPr id="1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6D2E899-2020-4E6F-BC23-30FF6B55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57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B0D20B63-7999-4509-AB81-81B15ABF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341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来源：分配原稿 product.txt</a:t>
            </a:r>
          </a:p>
        </p:txBody>
      </p:sp>
      <p:sp>
        <p:nvSpPr>
          <p:cNvPr id="1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060092E-E92D-4C51-905F-DCE98AB0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33963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183C8D7-F3B0-435D-B07F-42B0F620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10 收束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20887AA-F449-41C1-B1FF-5BE03D75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B855C0-0655-4888-9067-089FF65C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PPagenT 只想解决一件普通的事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8CEC216-975B-4640-8186-31D929AC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52525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让一个原本不太会做 PPT 的人，也能很快得到可靠的交付。</a:t>
            </a:r>
          </a:p>
        </p:txBody>
      </p:sp>
      <p:sp>
        <p:nvSpPr>
          <p:cNvPr id="5" name="close-main">
            <a:extLst xmlns:a="http://schemas.openxmlformats.org/drawingml/2006/main">
              <a:ext uri="{FF2B5EF4-FFF2-40B4-BE49-F238E27FC236}">
                <a16:creationId xmlns:a16="http://schemas.microsoft.com/office/drawing/2014/main" id="{0915E893-CF84-4CC0-8615-ECB9FBD5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24050"/>
            <a:ext cx="111442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44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ose-quote">
            <a:extLst xmlns:a="http://schemas.openxmlformats.org/drawingml/2006/main">
              <a:ext uri="{FF2B5EF4-FFF2-40B4-BE49-F238E27FC236}">
                <a16:creationId xmlns:a16="http://schemas.microsoft.com/office/drawing/2014/main" id="{4248285F-FC4B-461D-9B41-43E9BFE9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不一定惊艳，但靠谱；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不一定独一无二，但真的好用。</a:t>
            </a:r>
          </a:p>
        </p:txBody>
      </p:sp>
      <p:sp>
        <p:nvSpPr>
          <p:cNvPr id="7" name="close-result">
            <a:extLst xmlns:a="http://schemas.openxmlformats.org/drawingml/2006/main">
              <a:ext uri="{FF2B5EF4-FFF2-40B4-BE49-F238E27FC236}">
                <a16:creationId xmlns:a16="http://schemas.microsoft.com/office/drawing/2014/main" id="{3B55C325-7E06-49E6-907B-47F10269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可以立刻拿去讲，也可以继续修改。</a:t>
            </a:r>
          </a:p>
        </p:txBody>
      </p:sp>
      <p:sp>
        <p:nvSpPr>
          <p:cNvPr id="8" name="close-divider">
            <a:extLst xmlns:a="http://schemas.openxmlformats.org/drawingml/2006/main">
              <a:ext uri="{FF2B5EF4-FFF2-40B4-BE49-F238E27FC236}">
                <a16:creationId xmlns:a16="http://schemas.microsoft.com/office/drawing/2014/main" id="{7AFB5CDD-3907-44C6-BF52-CCD0E3D2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19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lose-three-head">
            <a:extLst xmlns:a="http://schemas.openxmlformats.org/drawingml/2006/main">
              <a:ext uri="{FF2B5EF4-FFF2-40B4-BE49-F238E27FC236}">
                <a16:creationId xmlns:a16="http://schemas.microsoft.com/office/drawing/2014/main" id="{B97BD4FA-186D-4B37-8F7E-27C375FC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可靠交付来自三件事</a:t>
            </a:r>
          </a:p>
        </p:txBody>
      </p:sp>
      <p:sp>
        <p:nvSpPr>
          <p:cNvPr id="10" name="close-item-key-0">
            <a:extLst xmlns:a="http://schemas.openxmlformats.org/drawingml/2006/main">
              <a:ext uri="{FF2B5EF4-FFF2-40B4-BE49-F238E27FC236}">
                <a16:creationId xmlns:a16="http://schemas.microsoft.com/office/drawing/2014/main" id="{D4A14642-B4E4-4E42-A5DE-DF4D7BB4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101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11" name="close-item-body-0">
            <a:extLst xmlns:a="http://schemas.openxmlformats.org/drawingml/2006/main">
              <a:ext uri="{FF2B5EF4-FFF2-40B4-BE49-F238E27FC236}">
                <a16:creationId xmlns:a16="http://schemas.microsoft.com/office/drawing/2014/main" id="{1AF1AC35-F051-4D1F-BAE8-57E627D7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67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读懂稿子</a:t>
            </a:r>
          </a:p>
        </p:txBody>
      </p:sp>
      <p:sp>
        <p:nvSpPr>
          <p:cNvPr id="12" name="close-item-rule-0">
            <a:extLst xmlns:a="http://schemas.openxmlformats.org/drawingml/2006/main">
              <a:ext uri="{FF2B5EF4-FFF2-40B4-BE49-F238E27FC236}">
                <a16:creationId xmlns:a16="http://schemas.microsoft.com/office/drawing/2014/main" id="{FC970F39-1AFC-4CFC-965F-00C98031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482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lose-item-key-1">
            <a:extLst xmlns:a="http://schemas.openxmlformats.org/drawingml/2006/main">
              <a:ext uri="{FF2B5EF4-FFF2-40B4-BE49-F238E27FC236}">
                <a16:creationId xmlns:a16="http://schemas.microsoft.com/office/drawing/2014/main" id="{356F0D83-B4EA-458A-9BCB-9A467CDA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0101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14" name="close-item-body-1">
            <a:extLst xmlns:a="http://schemas.openxmlformats.org/drawingml/2006/main">
              <a:ext uri="{FF2B5EF4-FFF2-40B4-BE49-F238E27FC236}">
                <a16:creationId xmlns:a16="http://schemas.microsoft.com/office/drawing/2014/main" id="{A509915B-B997-4B7D-847D-52D1F759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067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做出判断</a:t>
            </a:r>
          </a:p>
        </p:txBody>
      </p:sp>
      <p:sp>
        <p:nvSpPr>
          <p:cNvPr id="15" name="close-item-rule-1">
            <a:extLst xmlns:a="http://schemas.openxmlformats.org/drawingml/2006/main">
              <a:ext uri="{FF2B5EF4-FFF2-40B4-BE49-F238E27FC236}">
                <a16:creationId xmlns:a16="http://schemas.microsoft.com/office/drawing/2014/main" id="{F640B7D9-5413-4C83-837B-AAC50021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0482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lose-item-key-2">
            <a:extLst xmlns:a="http://schemas.openxmlformats.org/drawingml/2006/main">
              <a:ext uri="{FF2B5EF4-FFF2-40B4-BE49-F238E27FC236}">
                <a16:creationId xmlns:a16="http://schemas.microsoft.com/office/drawing/2014/main" id="{51C4288F-E5AD-49BD-BDDA-6955D722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101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17" name="close-item-body-2">
            <a:extLst xmlns:a="http://schemas.openxmlformats.org/drawingml/2006/main">
              <a:ext uri="{FF2B5EF4-FFF2-40B4-BE49-F238E27FC236}">
                <a16:creationId xmlns:a16="http://schemas.microsoft.com/office/drawing/2014/main" id="{24CF6709-39E4-41F6-B61C-855B0C60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67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完成重复劳动</a:t>
            </a:r>
          </a:p>
        </p:txBody>
      </p:sp>
      <p:sp>
        <p:nvSpPr>
          <p:cNvPr id="18" name="close-last">
            <a:extLst xmlns:a="http://schemas.openxmlformats.org/drawingml/2006/main">
              <a:ext uri="{FF2B5EF4-FFF2-40B4-BE49-F238E27FC236}">
                <a16:creationId xmlns:a16="http://schemas.microsoft.com/office/drawing/2014/main" id="{99119B82-B624-4096-AE6C-6C442DC7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578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rPr>
              <a:t>把不可预测的 PPT 生成，变成概率上高度可预测的交付。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E2B6E14-A55B-43A9-A2BF-C4EABB78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57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E2428F26-5FFC-414F-AF55-1886A850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341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来源：分配原稿 product.txt</a:t>
            </a:r>
          </a:p>
        </p:txBody>
      </p:sp>
      <p:sp>
        <p:nvSpPr>
          <p:cNvPr id="2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3155493-64B7-4955-A53F-82F57B30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677610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2026-09-06T01:31:55.6870000Z</dcterms:created>
  <dcterms:modified xsi:type="dcterms:W3CDTF">2026-09-06T01:31:55.6870000Z</dcterms:modified>
</coreProperties>
</file>