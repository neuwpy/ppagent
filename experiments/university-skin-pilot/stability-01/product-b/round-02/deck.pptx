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17a4d26bac4900" /><Relationship Type="http://schemas.openxmlformats.org/officeDocument/2006/relationships/extended-properties" Target="/docProps/app.xml" Id="R12b537e35e274780" /><Relationship Type="http://schemas.openxmlformats.org/officeDocument/2006/relationships/officeDocument" Target="/ppt/presentation.xml" Id="R7a3c99d3504d4e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560e52976b49ee"/>
  </p:sldMasterIdLst>
  <p:notesMasterIdLst>
    <p:notesMasterId xmlns:r="http://schemas.openxmlformats.org/officeDocument/2006/relationships" r:id="R757107adfcb34f72"/>
  </p:notesMasterIdLst>
  <p:sldIdLst>
    <p:sldId xmlns:r="http://schemas.openxmlformats.org/officeDocument/2006/relationships" id="256" r:id="R883d03c7a6824da5"/>
    <p:sldId xmlns:r="http://schemas.openxmlformats.org/officeDocument/2006/relationships" id="257" r:id="R0fb55931420b4a33"/>
    <p:sldId xmlns:r="http://schemas.openxmlformats.org/officeDocument/2006/relationships" id="258" r:id="R69a06652a9984391"/>
    <p:sldId xmlns:r="http://schemas.openxmlformats.org/officeDocument/2006/relationships" id="259" r:id="R5c852882777c4a23"/>
    <p:sldId xmlns:r="http://schemas.openxmlformats.org/officeDocument/2006/relationships" id="260" r:id="R72c1391a30284e35"/>
    <p:sldId xmlns:r="http://schemas.openxmlformats.org/officeDocument/2006/relationships" id="261" r:id="R13f8e2a9d42d4a90"/>
    <p:sldId xmlns:r="http://schemas.openxmlformats.org/officeDocument/2006/relationships" id="262" r:id="R44a0d4e8f61c48eb"/>
    <p:sldId xmlns:r="http://schemas.openxmlformats.org/officeDocument/2006/relationships" id="263" r:id="Rba536fbe884a4b95"/>
    <p:sldId xmlns:r="http://schemas.openxmlformats.org/officeDocument/2006/relationships" id="264" r:id="R2100e67b54a645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b3c771aae44db3" /><Relationship Type="http://schemas.openxmlformats.org/officeDocument/2006/relationships/slideMaster" Target="/ppt/slideMasters/slideMaster1.xml" Id="R96560e52976b49ee" /><Relationship Type="http://schemas.openxmlformats.org/officeDocument/2006/relationships/notesMaster" Target="/ppt/notesMasters/notesMaster1.xml" Id="R757107adfcb34f72" /><Relationship Type="http://schemas.openxmlformats.org/officeDocument/2006/relationships/presProps" Target="/ppt/presProps.xml" Id="R52b2fb2250424732" /><Relationship Type="http://schemas.openxmlformats.org/officeDocument/2006/relationships/tableStyles" Target="/ppt/tableStyles.xml" Id="Ra71f9848242743a0" /><Relationship Type="http://schemas.openxmlformats.org/officeDocument/2006/relationships/slide" Target="/ppt/slides/slide1.xml" Id="R883d03c7a6824da5" /><Relationship Type="http://schemas.openxmlformats.org/officeDocument/2006/relationships/slide" Target="/ppt/slides/slide2.xml" Id="R0fb55931420b4a33" /><Relationship Type="http://schemas.openxmlformats.org/officeDocument/2006/relationships/slide" Target="/ppt/slides/slide3.xml" Id="R69a06652a9984391" /><Relationship Type="http://schemas.openxmlformats.org/officeDocument/2006/relationships/slide" Target="/ppt/slides/slide4.xml" Id="R5c852882777c4a23" /><Relationship Type="http://schemas.openxmlformats.org/officeDocument/2006/relationships/slide" Target="/ppt/slides/slide5.xml" Id="R72c1391a30284e35" /><Relationship Type="http://schemas.openxmlformats.org/officeDocument/2006/relationships/slide" Target="/ppt/slides/slide6.xml" Id="R13f8e2a9d42d4a90" /><Relationship Type="http://schemas.openxmlformats.org/officeDocument/2006/relationships/slide" Target="/ppt/slides/slide7.xml" Id="R44a0d4e8f61c48eb" /><Relationship Type="http://schemas.openxmlformats.org/officeDocument/2006/relationships/slide" Target="/ppt/slides/slide8.xml" Id="Rba536fbe884a4b95" /><Relationship Type="http://schemas.openxmlformats.org/officeDocument/2006/relationships/slide" Target="/ppt/slides/slide9.xml" Id="R2100e67b54a645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d232d371ab40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37e957eca74aea" /><Relationship Type="http://schemas.openxmlformats.org/officeDocument/2006/relationships/notesMaster" Target="/ppt/notesMasters/notesMaster1.xml" Id="R66a378c8cd3849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d47a085d15418a" /><Relationship Type="http://schemas.openxmlformats.org/officeDocument/2006/relationships/notesMaster" Target="/ppt/notesMasters/notesMaster1.xml" Id="Rc0c71ba4bdb34c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f64186517a4fc8" /><Relationship Type="http://schemas.openxmlformats.org/officeDocument/2006/relationships/notesMaster" Target="/ppt/notesMasters/notesMaster1.xml" Id="R9ef61510332f4e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9383323f474854" /><Relationship Type="http://schemas.openxmlformats.org/officeDocument/2006/relationships/notesMaster" Target="/ppt/notesMasters/notesMaster1.xml" Id="R3ab5e064ce4d4b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8226de2a434abf" /><Relationship Type="http://schemas.openxmlformats.org/officeDocument/2006/relationships/notesMaster" Target="/ppt/notesMasters/notesMaster1.xml" Id="Rd407759104c24e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b1331f20184c7b" /><Relationship Type="http://schemas.openxmlformats.org/officeDocument/2006/relationships/notesMaster" Target="/ppt/notesMasters/notesMaster1.xml" Id="R13fa880b052f4a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4a73297e9a410d" /><Relationship Type="http://schemas.openxmlformats.org/officeDocument/2006/relationships/notesMaster" Target="/ppt/notesMasters/notesMaster1.xml" Id="R6006b5c8354f43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afb913744e4a1f" /><Relationship Type="http://schemas.openxmlformats.org/officeDocument/2006/relationships/notesMaster" Target="/ppt/notesMasters/notesMaster1.xml" Id="R0da1cbb3b8d843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9c910b33b94015" /><Relationship Type="http://schemas.openxmlformats.org/officeDocument/2006/relationships/notesMaster" Target="/ppt/notesMasters/notesMaster1.xml" Id="Rfd748667c6854c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d2396331ad45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db60776ab24d5b" /><Relationship Type="http://schemas.openxmlformats.org/officeDocument/2006/relationships/slideLayout" Target="/ppt/slideLayouts/slideLayout1.xml" Id="R40bafc2ae4bc4f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bafc2ae4bc4f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0780ffc044d53" /><Relationship Type="http://schemas.openxmlformats.org/officeDocument/2006/relationships/notesSlide" Target="/ppt/notesSlides/notesSlide1.xml" Id="Ra7c04e2aa9c94d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f8513bf5d40c3" /><Relationship Type="http://schemas.openxmlformats.org/officeDocument/2006/relationships/notesSlide" Target="/ppt/notesSlides/notesSlide2.xml" Id="Rcc1f6138887d47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f1ceb6d8648c6" /><Relationship Type="http://schemas.openxmlformats.org/officeDocument/2006/relationships/notesSlide" Target="/ppt/notesSlides/notesSlide3.xml" Id="Ra682f7f4b48c43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96cbffd0e41f8" /><Relationship Type="http://schemas.openxmlformats.org/officeDocument/2006/relationships/notesSlide" Target="/ppt/notesSlides/notesSlide4.xml" Id="R695980b8b91a4b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7fc710fc44d89" /><Relationship Type="http://schemas.openxmlformats.org/officeDocument/2006/relationships/notesSlide" Target="/ppt/notesSlides/notesSlide5.xml" Id="R0d2f4647b3ca4e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7a8efcb374ca3" /><Relationship Type="http://schemas.openxmlformats.org/officeDocument/2006/relationships/notesSlide" Target="/ppt/notesSlides/notesSlide6.xml" Id="Rf5802178fa8b46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ade19d5a04396" /><Relationship Type="http://schemas.openxmlformats.org/officeDocument/2006/relationships/notesSlide" Target="/ppt/notesSlides/notesSlide7.xml" Id="R847c121e42a146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d0d3426394194" /><Relationship Type="http://schemas.openxmlformats.org/officeDocument/2006/relationships/notesSlide" Target="/ppt/notesSlides/notesSlide8.xml" Id="Rbde9362f277547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229b6c5d5479f" /><Relationship Type="http://schemas.openxmlformats.org/officeDocument/2006/relationships/notesSlide" Target="/ppt/notesSlides/notesSlide9.xml" Id="Rac92a9d718324f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74D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A5CF8038-0F93-406C-8B6A-5CA5B9A2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06E18A9-EE9C-478A-B60C-1D816F75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0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8F3"/>
                </a:solidFill>
              </a:defRPr>
            </a:pPr>
            <a:r>
              <a:rPr sz="1350" b="1">
                <a:solidFill>
                  <a:srgbClr val="DCE8F3"/>
                </a:solidFill>
              </a:rPr>
              <a:t>PPagenT 产品叙事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F00F856-C02B-4DC2-B923-5CB9E950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657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把 PPT 生成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变成可靠的生产过程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43DABBB-D422-4694-B165-048C4579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DCE8F3"/>
                </a:solidFill>
              </a:defRPr>
            </a:pPr>
            <a:r>
              <a:rPr sz="1650">
                <a:solidFill>
                  <a:srgbClr val="DCE8F3"/>
                </a:solidFill>
              </a:rPr>
              <a:t>让 AI 读懂稿子，让规则做判断，让代码完成重复劳动。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0473EC3A-8493-4E15-B40A-2884774D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482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1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foot">
            <a:extLst xmlns:a="http://schemas.openxmlformats.org/drawingml/2006/main">
              <a:ext uri="{FF2B5EF4-FFF2-40B4-BE49-F238E27FC236}">
                <a16:creationId xmlns:a16="http://schemas.microsoft.com/office/drawing/2014/main" id="{85F35486-9DBD-4B7F-981C-6C79AB9B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DCE8F3"/>
                </a:solidFill>
              </a:defRPr>
            </a:pPr>
            <a:r>
              <a:rPr sz="1350">
                <a:solidFill>
                  <a:srgbClr val="DCE8F3"/>
                </a:solidFill>
              </a:rPr>
              <a:t>工作型 PPT · 结构清楚 · 视觉体面 · 原生可编辑</a:t>
            </a:r>
          </a:p>
        </p:txBody>
      </p:sp>
      <p:sp>
        <p:nvSpPr>
          <p:cNvPr id="7" name="cover-page">
            <a:extLst xmlns:a="http://schemas.openxmlformats.org/drawingml/2006/main">
              <a:ext uri="{FF2B5EF4-FFF2-40B4-BE49-F238E27FC236}">
                <a16:creationId xmlns:a16="http://schemas.microsoft.com/office/drawing/2014/main" id="{BF196078-751C-44A4-B2AD-E6D67865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DCE8F3"/>
                </a:solidFill>
              </a:defRPr>
            </a:pPr>
            <a:r>
              <a:rPr sz="1050">
                <a:solidFill>
                  <a:srgbClr val="DCE8F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78278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1807F16-ECD4-437F-A35D-E795730A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做 PPT 真正昂贵的，是一连串判断</a:t>
            </a:r>
          </a:p>
        </p:txBody>
      </p:sp>
      <p:sp>
        <p:nvSpPr>
          <p:cNvPr id="2" name="slide-2-divider">
            <a:extLst xmlns:a="http://schemas.openxmlformats.org/drawingml/2006/main">
              <a:ext uri="{FF2B5EF4-FFF2-40B4-BE49-F238E27FC236}">
                <a16:creationId xmlns:a16="http://schemas.microsoft.com/office/drawing/2014/main" id="{64EFD9EC-CBBA-4FDC-A1F4-56D9EA20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77EF7BD4-784F-4A91-95C7-DAF1753B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拖动文本框只是最后一步；前面还有一套叙事与视觉决策。</a:t>
            </a:r>
          </a:p>
        </p:txBody>
      </p:sp>
      <p:sp>
        <p:nvSpPr>
          <p:cNvPr id="4" name="slide-2-footer-line">
            <a:extLst xmlns:a="http://schemas.openxmlformats.org/drawingml/2006/main">
              <a:ext uri="{FF2B5EF4-FFF2-40B4-BE49-F238E27FC236}">
                <a16:creationId xmlns:a16="http://schemas.microsoft.com/office/drawing/2014/main" id="{C7307352-C851-47E1-B073-68A1F93C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2-source">
            <a:extLst xmlns:a="http://schemas.openxmlformats.org/drawingml/2006/main">
              <a:ext uri="{FF2B5EF4-FFF2-40B4-BE49-F238E27FC236}">
                <a16:creationId xmlns:a16="http://schemas.microsoft.com/office/drawing/2014/main" id="{61E920FB-F11D-4D12-A552-2D63459B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AAE516CE-3E5A-4BFA-A897-C4DBDC22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02</a:t>
            </a:r>
          </a:p>
        </p:txBody>
      </p:sp>
      <p:sp>
        <p:nvSpPr>
          <p:cNvPr id="7" name="p2-narrative">
            <a:extLst xmlns:a="http://schemas.openxmlformats.org/drawingml/2006/main">
              <a:ext uri="{FF2B5EF4-FFF2-40B4-BE49-F238E27FC236}">
                <a16:creationId xmlns:a16="http://schemas.microsoft.com/office/drawing/2014/main" id="{368DDCD8-0DAC-4CBC-B5B6-90B44963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2857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74D76"/>
                </a:solidFill>
              </a:defRPr>
            </a:pPr>
            <a:r>
              <a:rPr sz="1950" b="1">
                <a:solidFill>
                  <a:srgbClr val="274D76"/>
                </a:solidFill>
              </a:rPr>
              <a:t>叙事判断</a:t>
            </a:r>
          </a:p>
        </p:txBody>
      </p:sp>
      <p:sp>
        <p:nvSpPr>
          <p:cNvPr id="8" name="p2-visual">
            <a:extLst xmlns:a="http://schemas.openxmlformats.org/drawingml/2006/main">
              <a:ext uri="{FF2B5EF4-FFF2-40B4-BE49-F238E27FC236}">
                <a16:creationId xmlns:a16="http://schemas.microsoft.com/office/drawing/2014/main" id="{FFA38E1B-1B99-47E4-9F2E-56E7D058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857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2B33"/>
                </a:solidFill>
              </a:defRPr>
            </a:pPr>
            <a:r>
              <a:rPr sz="1950" b="1">
                <a:solidFill>
                  <a:srgbClr val="252B33"/>
                </a:solidFill>
              </a:rPr>
              <a:t>视觉落地判断</a:t>
            </a:r>
          </a:p>
        </p:txBody>
      </p:sp>
      <p:sp>
        <p:nvSpPr>
          <p:cNvPr id="9" name="p2-output">
            <a:extLst xmlns:a="http://schemas.openxmlformats.org/drawingml/2006/main">
              <a:ext uri="{FF2B5EF4-FFF2-40B4-BE49-F238E27FC236}">
                <a16:creationId xmlns:a16="http://schemas.microsoft.com/office/drawing/2014/main" id="{EF82FF17-4308-4576-A602-2828BE0D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3810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一套可以继续修改的 PPT</a:t>
            </a:r>
          </a:p>
        </p:txBody>
      </p:sp>
      <p:cxnSp>
        <p:nvCxnSpPr>
          <p:cNvPr id="24" name=""/>
          <p:cNvCxnSpPr>
            <a:stCxn xmlns:a="http://schemas.openxmlformats.org/drawingml/2006/main" id="7" idx="0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266950" y="1695450"/>
            <a:ext cx="6496050" cy="10858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25" name=""/>
          <p:cNvCxnSpPr>
            <a:stCxn xmlns:a="http://schemas.openxmlformats.org/drawingml/2006/main" id="8" idx="2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2266950" y="3981450"/>
            <a:ext cx="6496050" cy="819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07780"/>
            </a:solidFill>
            <a:prstDash val="solid"/>
            <a:tailEnd type="arrow" w="sm" len="sm"/>
          </a:ln>
        </p:spPr>
      </p:cxnSp>
      <p:sp>
        <p:nvSpPr>
          <p:cNvPr id="12" name="p2-narrative-detail">
            <a:extLst xmlns:a="http://schemas.openxmlformats.org/drawingml/2006/main">
              <a:ext uri="{FF2B5EF4-FFF2-40B4-BE49-F238E27FC236}">
                <a16:creationId xmlns:a16="http://schemas.microsoft.com/office/drawing/2014/main" id="{B080BE46-C80C-4C8B-8AD6-0DF3CE8F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707780"/>
                </a:solidFill>
              </a:defRPr>
            </a:pPr>
            <a:r>
              <a:rPr sz="1425">
                <a:solidFill>
                  <a:srgbClr val="707780"/>
                </a:solidFill>
              </a:rPr>
              <a:t>怎么讲、拆成几页、每页承担什么职责</a:t>
            </a:r>
          </a:p>
          <a:p xmlns:a="http://schemas.openxmlformats.org/drawingml/2006/main">
            <a:pPr algn="l">
              <a:defRPr sz="1425">
                <a:solidFill>
                  <a:srgbClr val="707780"/>
                </a:solidFill>
              </a:defRPr>
            </a:pPr>
            <a:r>
              <a:rPr sz="1425">
                <a:solidFill>
                  <a:srgbClr val="707780"/>
                </a:solidFill>
              </a:rPr>
              <a:t>观点之间是并列、递进、因果还是流程</a:t>
            </a:r>
          </a:p>
        </p:txBody>
      </p:sp>
      <p:sp>
        <p:nvSpPr>
          <p:cNvPr id="13" name="p2-visual-detail">
            <a:extLst xmlns:a="http://schemas.openxmlformats.org/drawingml/2006/main">
              <a:ext uri="{FF2B5EF4-FFF2-40B4-BE49-F238E27FC236}">
                <a16:creationId xmlns:a16="http://schemas.microsoft.com/office/drawing/2014/main" id="{3DD06C31-ECD4-4C37-833F-5FA9C25A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052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707780"/>
                </a:solidFill>
              </a:defRPr>
            </a:pPr>
            <a:r>
              <a:rPr sz="1425">
                <a:solidFill>
                  <a:srgbClr val="707780"/>
                </a:solidFill>
              </a:rPr>
              <a:t>哪里突出、什么时候用图</a:t>
            </a:r>
          </a:p>
          <a:p xmlns:a="http://schemas.openxmlformats.org/drawingml/2006/main">
            <a:pPr algn="l">
              <a:defRPr sz="1425">
                <a:solidFill>
                  <a:srgbClr val="707780"/>
                </a:solidFill>
              </a:defRPr>
            </a:pPr>
            <a:r>
              <a:rPr sz="1425">
                <a:solidFill>
                  <a:srgbClr val="707780"/>
                </a:solidFill>
              </a:rPr>
              <a:t>怎样统一字体、字号、颜色和间距</a:t>
            </a:r>
          </a:p>
        </p:txBody>
      </p:sp>
      <p:sp>
        <p:nvSpPr>
          <p:cNvPr id="14" name="p2-caption">
            <a:extLst xmlns:a="http://schemas.openxmlformats.org/drawingml/2006/main">
              <a:ext uri="{FF2B5EF4-FFF2-40B4-BE49-F238E27FC236}">
                <a16:creationId xmlns:a16="http://schemas.microsoft.com/office/drawing/2014/main" id="{AF9F775D-30C4-40BA-8B2A-DB2448E5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高手已经积累了这些答案；PPagenT 要把答案留下来。</a:t>
            </a:r>
          </a:p>
        </p:txBody>
      </p:sp>
    </p:spTree>
    <p:extLst>
      <p:ext uri="{BB962C8B-B14F-4D97-AF65-F5344CB8AC3E}">
        <p14:creationId xmlns:p14="http://schemas.microsoft.com/office/powerpoint/2010/main" val="1713994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93656D94-63F3-4C1E-957D-CC9E108B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PPagenT 先服务需求密度最大的工作型 PPT</a:t>
            </a:r>
          </a:p>
        </p:txBody>
      </p:sp>
      <p:sp>
        <p:nvSpPr>
          <p:cNvPr id="2" name="slide-3-divider">
            <a:extLst xmlns:a="http://schemas.openxmlformats.org/drawingml/2006/main">
              <a:ext uri="{FF2B5EF4-FFF2-40B4-BE49-F238E27FC236}">
                <a16:creationId xmlns:a16="http://schemas.microsoft.com/office/drawing/2014/main" id="{C6C1628B-334C-4290-8304-04AAB899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A0ACDC3D-6807-4C2E-B0B7-8D4C4B56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两端需求都存在，但更适合标准化的是中间的日常工作场景。</a:t>
            </a:r>
          </a:p>
        </p:txBody>
      </p:sp>
      <p:sp>
        <p:nvSpPr>
          <p:cNvPr id="4" name="slide-3-footer-line">
            <a:extLst xmlns:a="http://schemas.openxmlformats.org/drawingml/2006/main">
              <a:ext uri="{FF2B5EF4-FFF2-40B4-BE49-F238E27FC236}">
                <a16:creationId xmlns:a16="http://schemas.microsoft.com/office/drawing/2014/main" id="{B392DD94-E7CD-4E5F-A7AF-D4112B47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3-source">
            <a:extLst xmlns:a="http://schemas.openxmlformats.org/drawingml/2006/main">
              <a:ext uri="{FF2B5EF4-FFF2-40B4-BE49-F238E27FC236}">
                <a16:creationId xmlns:a16="http://schemas.microsoft.com/office/drawing/2014/main" id="{C0BDD77D-B79D-4597-AD45-A0F09D95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B17F1819-26D0-4163-9CF1-E2535743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03</a:t>
            </a:r>
          </a:p>
        </p:txBody>
      </p:sp>
      <p:sp>
        <p:nvSpPr>
          <p:cNvPr id="7" name="p3-axis-left">
            <a:extLst xmlns:a="http://schemas.openxmlformats.org/drawingml/2006/main">
              <a:ext uri="{FF2B5EF4-FFF2-40B4-BE49-F238E27FC236}">
                <a16:creationId xmlns:a16="http://schemas.microsoft.com/office/drawing/2014/main" id="{9666DC19-C0B5-4127-AA06-EF08CAAD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几乎不在意版式</a:t>
            </a:r>
          </a:p>
        </p:txBody>
      </p:sp>
      <p:sp>
        <p:nvSpPr>
          <p:cNvPr id="8" name="p3-axis-right">
            <a:extLst xmlns:a="http://schemas.openxmlformats.org/drawingml/2006/main">
              <a:ext uri="{FF2B5EF4-FFF2-40B4-BE49-F238E27FC236}">
                <a16:creationId xmlns:a16="http://schemas.microsoft.com/office/drawing/2014/main" id="{3D0FE8B3-CBD0-4FD2-B46E-EF67ED74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52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高度定制的视觉创意</a:t>
            </a:r>
          </a:p>
        </p:txBody>
      </p:sp>
      <p:sp>
        <p:nvSpPr>
          <p:cNvPr id="9" name="p3-spectrum-left">
            <a:extLst xmlns:a="http://schemas.openxmlformats.org/drawingml/2006/main">
              <a:ext uri="{FF2B5EF4-FFF2-40B4-BE49-F238E27FC236}">
                <a16:creationId xmlns:a16="http://schemas.microsoft.com/office/drawing/2014/main" id="{031C06AF-CDB5-4DE7-9DCA-55103FC9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524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3-target">
            <a:extLst xmlns:a="http://schemas.openxmlformats.org/drawingml/2006/main">
              <a:ext uri="{FF2B5EF4-FFF2-40B4-BE49-F238E27FC236}">
                <a16:creationId xmlns:a16="http://schemas.microsoft.com/office/drawing/2014/main" id="{51588B2C-EAEA-4B5C-B68F-4D181963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71700"/>
            <a:ext cx="5448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工作型 PPT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学校 · 科研院所 · 事业单位 · 企业</a:t>
            </a:r>
          </a:p>
        </p:txBody>
      </p:sp>
      <p:sp>
        <p:nvSpPr>
          <p:cNvPr id="11" name="p3-spectrum-right">
            <a:extLst xmlns:a="http://schemas.openxmlformats.org/drawingml/2006/main">
              <a:ext uri="{FF2B5EF4-FFF2-40B4-BE49-F238E27FC236}">
                <a16:creationId xmlns:a16="http://schemas.microsoft.com/office/drawing/2014/main" id="{BCBA1525-5F13-4847-8E16-91CD485B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86000"/>
            <a:ext cx="2524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3-target-note">
            <a:extLst xmlns:a="http://schemas.openxmlformats.org/drawingml/2006/main">
              <a:ext uri="{FF2B5EF4-FFF2-40B4-BE49-F238E27FC236}">
                <a16:creationId xmlns:a16="http://schemas.microsoft.com/office/drawing/2014/main" id="{6836CF97-DBF8-45F1-90A6-C529DDAC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539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74D76"/>
                </a:solidFill>
              </a:defRPr>
            </a:pPr>
            <a:r>
              <a:rPr sz="1350">
                <a:solidFill>
                  <a:srgbClr val="274D76"/>
                </a:solidFill>
              </a:rPr>
              <a:t>概率密度最大、重复发生，也最适合标准化</a:t>
            </a:r>
          </a:p>
        </p:txBody>
      </p:sp>
      <p:sp>
        <p:nvSpPr>
          <p:cNvPr id="13" name="p3-bottom-head">
            <a:extLst xmlns:a="http://schemas.openxmlformats.org/drawingml/2006/main">
              <a:ext uri="{FF2B5EF4-FFF2-40B4-BE49-F238E27FC236}">
                <a16:creationId xmlns:a16="http://schemas.microsoft.com/office/drawing/2014/main" id="{F9B899F3-B28D-4902-993D-66F1CDB1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这类场景的底线很明确</a:t>
            </a:r>
          </a:p>
        </p:txBody>
      </p:sp>
      <p:sp>
        <p:nvSpPr>
          <p:cNvPr id="14" name="p3-bottom-copy">
            <a:extLst xmlns:a="http://schemas.openxmlformats.org/drawingml/2006/main">
              <a:ext uri="{FF2B5EF4-FFF2-40B4-BE49-F238E27FC236}">
                <a16:creationId xmlns:a16="http://schemas.microsoft.com/office/drawing/2014/main" id="{0C71FBCC-A38C-4861-BDF3-2333F55A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4D76"/>
                </a:solidFill>
              </a:defRPr>
            </a:pPr>
            <a:r>
              <a:rPr sz="1800" b="1">
                <a:solidFill>
                  <a:srgbClr val="274D76"/>
                </a:solidFill>
              </a:rPr>
              <a:t>不能乱，不能丑，不能掉价，不能生成以后无法修改。</a:t>
            </a:r>
          </a:p>
        </p:txBody>
      </p:sp>
      <p:sp>
        <p:nvSpPr>
          <p:cNvPr id="15" name="p3-bottom-rule">
            <a:extLst xmlns:a="http://schemas.openxmlformats.org/drawingml/2006/main">
              <a:ext uri="{FF2B5EF4-FFF2-40B4-BE49-F238E27FC236}">
                <a16:creationId xmlns:a16="http://schemas.microsoft.com/office/drawing/2014/main" id="{06A8064C-63DA-4DFF-9DC2-4F9DAEB3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3-bottom-foot">
            <a:extLst xmlns:a="http://schemas.openxmlformats.org/drawingml/2006/main">
              <a:ext uri="{FF2B5EF4-FFF2-40B4-BE49-F238E27FC236}">
                <a16:creationId xmlns:a16="http://schemas.microsoft.com/office/drawing/2014/main" id="{672CEE22-A5FC-4F99-8308-4203E29A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产品选择因此不是覆盖所有需求，而是先把最常见、最可重复的工作做好。</a:t>
            </a:r>
          </a:p>
        </p:txBody>
      </p:sp>
    </p:spTree>
    <p:extLst>
      <p:ext uri="{BB962C8B-B14F-4D97-AF65-F5344CB8AC3E}">
        <p14:creationId xmlns:p14="http://schemas.microsoft.com/office/powerpoint/2010/main" val="599550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EB4F5C6C-781E-489C-9717-50D4F7CD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产品真正追求的，是跨过可用线的概率</a:t>
            </a:r>
          </a:p>
        </p:txBody>
      </p:sp>
      <p:sp>
        <p:nvSpPr>
          <p:cNvPr id="2" name="slide-4-divider">
            <a:extLst xmlns:a="http://schemas.openxmlformats.org/drawingml/2006/main">
              <a:ext uri="{FF2B5EF4-FFF2-40B4-BE49-F238E27FC236}">
                <a16:creationId xmlns:a16="http://schemas.microsoft.com/office/drawing/2014/main" id="{1AFBFA22-BC87-41C4-94C0-5923E6D7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B7A5B78D-150C-4B67-94FA-933B251F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目标不是偶尔生成 95 分，而是让随机工作稿稳定进入可用区间。</a:t>
            </a:r>
          </a:p>
        </p:txBody>
      </p:sp>
      <p:sp>
        <p:nvSpPr>
          <p:cNvPr id="4" name="slide-4-footer-line">
            <a:extLst xmlns:a="http://schemas.openxmlformats.org/drawingml/2006/main">
              <a:ext uri="{FF2B5EF4-FFF2-40B4-BE49-F238E27FC236}">
                <a16:creationId xmlns:a16="http://schemas.microsoft.com/office/drawing/2014/main" id="{A1CD814E-FF11-4604-881F-79931500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4-source">
            <a:extLst xmlns:a="http://schemas.openxmlformats.org/drawingml/2006/main">
              <a:ext uri="{FF2B5EF4-FFF2-40B4-BE49-F238E27FC236}">
                <a16:creationId xmlns:a16="http://schemas.microsoft.com/office/drawing/2014/main" id="{42C699A7-A09D-4578-AA79-3180F76C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4928D33C-F755-4B1B-894C-A35CBDD3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04</a:t>
            </a:r>
          </a:p>
        </p:txBody>
      </p:sp>
      <p:sp>
        <p:nvSpPr>
          <p:cNvPr id="7" name="p4-formula-label">
            <a:extLst xmlns:a="http://schemas.openxmlformats.org/drawingml/2006/main">
              <a:ext uri="{FF2B5EF4-FFF2-40B4-BE49-F238E27FC236}">
                <a16:creationId xmlns:a16="http://schemas.microsoft.com/office/drawing/2014/main" id="{988C28A7-E467-4148-9268-8AEDC49C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概念上的产品可靠度</a:t>
            </a:r>
          </a:p>
        </p:txBody>
      </p:sp>
      <p:sp>
        <p:nvSpPr>
          <p:cNvPr id="8" name="p4-formula">
            <a:extLst xmlns:a="http://schemas.openxmlformats.org/drawingml/2006/main">
              <a:ext uri="{FF2B5EF4-FFF2-40B4-BE49-F238E27FC236}">
                <a16:creationId xmlns:a16="http://schemas.microsoft.com/office/drawing/2014/main" id="{4C8051C0-564F-4FD1-8861-4B773FEC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609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74D76"/>
                </a:solidFill>
              </a:defRPr>
            </a:pPr>
            <a:r>
              <a:rPr sz="2700" b="1">
                <a:solidFill>
                  <a:srgbClr val="274D76"/>
                </a:solidFill>
              </a:rPr>
              <a:t>R = P(Q ≥ Q可用 | 目标工作场景)</a:t>
            </a:r>
          </a:p>
        </p:txBody>
      </p:sp>
      <p:sp>
        <p:nvSpPr>
          <p:cNvPr id="9" name="p4-formula-rule">
            <a:extLst xmlns:a="http://schemas.openxmlformats.org/drawingml/2006/main">
              <a:ext uri="{FF2B5EF4-FFF2-40B4-BE49-F238E27FC236}">
                <a16:creationId xmlns:a16="http://schemas.microsoft.com/office/drawing/2014/main" id="{E1AB1C15-0A75-491B-9320-1C38D3C3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4-formula-explain">
            <a:extLst xmlns:a="http://schemas.openxmlformats.org/drawingml/2006/main">
              <a:ext uri="{FF2B5EF4-FFF2-40B4-BE49-F238E27FC236}">
                <a16:creationId xmlns:a16="http://schemas.microsoft.com/office/drawing/2014/main" id="{8AC73BB1-8479-41AA-93C0-19098CA1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Q 是生成质量；Q可用是“可以直接拿去讲”的最低标准。</a:t>
            </a:r>
          </a:p>
        </p:txBody>
      </p:sp>
      <p:sp>
        <p:nvSpPr>
          <p:cNvPr id="11" name="p4-rare">
            <a:extLst xmlns:a="http://schemas.openxmlformats.org/drawingml/2006/main">
              <a:ext uri="{FF2B5EF4-FFF2-40B4-BE49-F238E27FC236}">
                <a16:creationId xmlns:a16="http://schemas.microsoft.com/office/drawing/2014/main" id="{ED67818E-2358-4E13-A86F-A6F045B3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38300"/>
            <a:ext cx="2857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2B33"/>
                </a:solidFill>
              </a:defRPr>
            </a:pPr>
            <a:r>
              <a:rPr sz="2250" b="1">
                <a:solidFill>
                  <a:srgbClr val="252B33"/>
                </a:solidFill>
              </a:rPr>
              <a:t>95 分</a:t>
            </a:r>
          </a:p>
          <a:p xmlns:a="http://schemas.openxmlformats.org/drawingml/2006/main">
            <a:pPr algn="ctr">
              <a:defRPr sz="2250" b="1">
                <a:solidFill>
                  <a:srgbClr val="252B33"/>
                </a:solidFill>
              </a:defRPr>
            </a:pPr>
            <a:r>
              <a:rPr sz="2250" b="1">
                <a:solidFill>
                  <a:srgbClr val="252B33"/>
                </a:solidFill>
              </a:rPr>
              <a:t>偶尔惊艳</a:t>
            </a:r>
          </a:p>
        </p:txBody>
      </p:sp>
      <p:sp>
        <p:nvSpPr>
          <p:cNvPr id="12" name="p4-reliable">
            <a:extLst xmlns:a="http://schemas.openxmlformats.org/drawingml/2006/main">
              <a:ext uri="{FF2B5EF4-FFF2-40B4-BE49-F238E27FC236}">
                <a16:creationId xmlns:a16="http://schemas.microsoft.com/office/drawing/2014/main" id="{2A5E271F-2629-4538-851B-2F4D529A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2857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80 分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稳定可用</a:t>
            </a:r>
          </a:p>
        </p:txBody>
      </p:sp>
      <p:sp>
        <p:nvSpPr>
          <p:cNvPr id="13" name="p4-side-note">
            <a:extLst xmlns:a="http://schemas.openxmlformats.org/drawingml/2006/main">
              <a:ext uri="{FF2B5EF4-FFF2-40B4-BE49-F238E27FC236}">
                <a16:creationId xmlns:a16="http://schemas.microsoft.com/office/drawing/2014/main" id="{9BFACB97-C56A-4B19-A474-6C84C2E7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054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80 分只是“稳定可用”的形象称呼。</a:t>
            </a:r>
          </a:p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可靠基础比偶然峰值更值钱。</a:t>
            </a:r>
          </a:p>
        </p:txBody>
      </p:sp>
    </p:spTree>
    <p:extLst>
      <p:ext uri="{BB962C8B-B14F-4D97-AF65-F5344CB8AC3E}">
        <p14:creationId xmlns:p14="http://schemas.microsoft.com/office/powerpoint/2010/main" val="1007685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B75ADAE-DFA6-484D-ACBA-BA3C331D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用限制自由，换取更可预测的交付</a:t>
            </a:r>
          </a:p>
        </p:txBody>
      </p:sp>
      <p:sp>
        <p:nvSpPr>
          <p:cNvPr id="2" name="slide-5-divider">
            <a:extLst xmlns:a="http://schemas.openxmlformats.org/drawingml/2006/main">
              <a:ext uri="{FF2B5EF4-FFF2-40B4-BE49-F238E27FC236}">
                <a16:creationId xmlns:a16="http://schemas.microsoft.com/office/drawing/2014/main" id="{6A2010B4-9AC0-4974-BB25-3C9A70C7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5-subtitle">
            <a:extLst xmlns:a="http://schemas.openxmlformats.org/drawingml/2006/main">
              <a:ext uri="{FF2B5EF4-FFF2-40B4-BE49-F238E27FC236}">
                <a16:creationId xmlns:a16="http://schemas.microsoft.com/office/drawing/2014/main" id="{59C8999A-1872-4098-8478-AE20971E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固定规范、能力边界与退化方式，减少运行时的失败空间。</a:t>
            </a:r>
          </a:p>
        </p:txBody>
      </p:sp>
      <p:sp>
        <p:nvSpPr>
          <p:cNvPr id="4" name="slide-5-footer-line">
            <a:extLst xmlns:a="http://schemas.openxmlformats.org/drawingml/2006/main">
              <a:ext uri="{FF2B5EF4-FFF2-40B4-BE49-F238E27FC236}">
                <a16:creationId xmlns:a16="http://schemas.microsoft.com/office/drawing/2014/main" id="{524CCA20-44F1-41B0-8AE0-13CED722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5-source">
            <a:extLst xmlns:a="http://schemas.openxmlformats.org/drawingml/2006/main">
              <a:ext uri="{FF2B5EF4-FFF2-40B4-BE49-F238E27FC236}">
                <a16:creationId xmlns:a16="http://schemas.microsoft.com/office/drawing/2014/main" id="{CADF0790-82A8-4CAB-8A23-B5999209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5-page">
            <a:extLst xmlns:a="http://schemas.openxmlformats.org/drawingml/2006/main">
              <a:ext uri="{FF2B5EF4-FFF2-40B4-BE49-F238E27FC236}">
                <a16:creationId xmlns:a16="http://schemas.microsoft.com/office/drawing/2014/main" id="{C6186F22-C090-4CA5-98DE-11763F30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05</a:t>
            </a:r>
          </a:p>
        </p:txBody>
      </p:sp>
      <p:sp>
        <p:nvSpPr>
          <p:cNvPr id="7" name="p5-free">
            <a:extLst xmlns:a="http://schemas.openxmlformats.org/drawingml/2006/main">
              <a:ext uri="{FF2B5EF4-FFF2-40B4-BE49-F238E27FC236}">
                <a16:creationId xmlns:a16="http://schemas.microsoft.com/office/drawing/2014/main" id="{0C8A29E4-2F33-4A1D-BC70-51EA0FC0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571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2B33"/>
                </a:solidFill>
              </a:defRPr>
            </a:pPr>
            <a:r>
              <a:rPr sz="1725" b="1">
                <a:solidFill>
                  <a:srgbClr val="252B33"/>
                </a:solidFill>
              </a:rPr>
              <a:t>自由决定</a:t>
            </a:r>
          </a:p>
          <a:p xmlns:a="http://schemas.openxmlformats.org/drawingml/2006/main">
            <a:pPr algn="ctr">
              <a:defRPr sz="1725" b="1">
                <a:solidFill>
                  <a:srgbClr val="252B33"/>
                </a:solidFill>
              </a:defRPr>
            </a:pPr>
            <a:r>
              <a:rPr sz="1725" b="1">
                <a:solidFill>
                  <a:srgbClr val="252B33"/>
                </a:solidFill>
              </a:rPr>
              <a:t>颜色 · 字体 · 结构 · 元素</a:t>
            </a:r>
          </a:p>
        </p:txBody>
      </p:sp>
      <p:sp>
        <p:nvSpPr>
          <p:cNvPr id="8" name="p5-rules">
            <a:extLst xmlns:a="http://schemas.openxmlformats.org/drawingml/2006/main">
              <a:ext uri="{FF2B5EF4-FFF2-40B4-BE49-F238E27FC236}">
                <a16:creationId xmlns:a16="http://schemas.microsoft.com/office/drawing/2014/main" id="{E940E451-41FC-47C8-8AF2-FB302810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74D76"/>
                </a:solidFill>
              </a:defRPr>
            </a:pPr>
            <a:r>
              <a:rPr sz="1725" b="1">
                <a:solidFill>
                  <a:srgbClr val="274D76"/>
                </a:solidFill>
              </a:rPr>
              <a:t>确定规范</a:t>
            </a:r>
          </a:p>
          <a:p xmlns:a="http://schemas.openxmlformats.org/drawingml/2006/main">
            <a:pPr algn="ctr">
              <a:defRPr sz="1725" b="1">
                <a:solidFill>
                  <a:srgbClr val="274D76"/>
                </a:solidFill>
              </a:defRPr>
            </a:pPr>
            <a:r>
              <a:rPr sz="1725" b="1">
                <a:solidFill>
                  <a:srgbClr val="274D76"/>
                </a:solidFill>
              </a:rPr>
              <a:t>主题 · 核心能力 · 数量边界</a:t>
            </a:r>
          </a:p>
        </p:txBody>
      </p:sp>
      <p:sp>
        <p:nvSpPr>
          <p:cNvPr id="9" name="p5-result">
            <a:extLst xmlns:a="http://schemas.openxmlformats.org/drawingml/2006/main">
              <a:ext uri="{FF2B5EF4-FFF2-40B4-BE49-F238E27FC236}">
                <a16:creationId xmlns:a16="http://schemas.microsoft.com/office/drawing/2014/main" id="{8FBFE8E0-803D-48A5-8E25-559A078B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571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可预测交付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稳定、规范、可编辑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3750" y="290512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24750" y="290512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sp>
        <p:nvSpPr>
          <p:cNvPr id="12" name="p5-cause-1">
            <a:extLst xmlns:a="http://schemas.openxmlformats.org/drawingml/2006/main">
              <a:ext uri="{FF2B5EF4-FFF2-40B4-BE49-F238E27FC236}">
                <a16:creationId xmlns:a16="http://schemas.microsoft.com/office/drawing/2014/main" id="{2FDCE0C5-0CA5-4C10-BDEE-7DC19B7B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状态空间更大，失败模式更多</a:t>
            </a:r>
          </a:p>
        </p:txBody>
      </p:sp>
      <p:sp>
        <p:nvSpPr>
          <p:cNvPr id="13" name="p5-cause-2">
            <a:extLst xmlns:a="http://schemas.openxmlformats.org/drawingml/2006/main">
              <a:ext uri="{FF2B5EF4-FFF2-40B4-BE49-F238E27FC236}">
                <a16:creationId xmlns:a16="http://schemas.microsoft.com/office/drawing/2014/main" id="{4390924A-0EFE-4B67-9BF4-2314584C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把已验证的选择提前固定</a:t>
            </a:r>
          </a:p>
        </p:txBody>
      </p:sp>
      <p:sp>
        <p:nvSpPr>
          <p:cNvPr id="14" name="p5-cause-3">
            <a:extLst xmlns:a="http://schemas.openxmlformats.org/drawingml/2006/main">
              <a:ext uri="{FF2B5EF4-FFF2-40B4-BE49-F238E27FC236}">
                <a16:creationId xmlns:a16="http://schemas.microsoft.com/office/drawing/2014/main" id="{976266BE-E2E7-4475-9A21-944356E4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290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必要时按已登记方式退化</a:t>
            </a:r>
          </a:p>
        </p:txBody>
      </p:sp>
      <p:sp>
        <p:nvSpPr>
          <p:cNvPr id="15" name="p5-note-surface">
            <a:extLst xmlns:a="http://schemas.openxmlformats.org/drawingml/2006/main">
              <a:ext uri="{FF2B5EF4-FFF2-40B4-BE49-F238E27FC236}">
                <a16:creationId xmlns:a16="http://schemas.microsoft.com/office/drawing/2014/main" id="{37C881C0-835A-47EE-875C-768BF6AA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5-note">
            <a:extLst xmlns:a="http://schemas.openxmlformats.org/drawingml/2006/main">
              <a:ext uri="{FF2B5EF4-FFF2-40B4-BE49-F238E27FC236}">
                <a16:creationId xmlns:a16="http://schemas.microsoft.com/office/drawing/2014/main" id="{8340EA8F-B776-4772-8CA2-1F0B40CF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74D76"/>
                </a:solidFill>
              </a:defRPr>
            </a:pPr>
            <a:r>
              <a:rPr sz="1650" b="1">
                <a:solidFill>
                  <a:srgbClr val="274D76"/>
                </a:solidFill>
              </a:rPr>
              <a:t>学校有学校的样子，企业有企业的样子。每次都不一样，有时候才是缺点。</a:t>
            </a:r>
          </a:p>
        </p:txBody>
      </p:sp>
    </p:spTree>
    <p:extLst>
      <p:ext uri="{BB962C8B-B14F-4D97-AF65-F5344CB8AC3E}">
        <p14:creationId xmlns:p14="http://schemas.microsoft.com/office/powerpoint/2010/main" val="4378150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A927AD16-ED56-4F3E-ADDE-8C62073C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AI 负责理解和路由，规则负责约束，代码负责稳定生成</a:t>
            </a:r>
          </a:p>
        </p:txBody>
      </p:sp>
      <p:sp>
        <p:nvSpPr>
          <p:cNvPr id="2" name="slide-6-divider">
            <a:extLst xmlns:a="http://schemas.openxmlformats.org/drawingml/2006/main">
              <a:ext uri="{FF2B5EF4-FFF2-40B4-BE49-F238E27FC236}">
                <a16:creationId xmlns:a16="http://schemas.microsoft.com/office/drawing/2014/main" id="{F9F8F82F-7416-42E4-B80C-CCA5ADB3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6-subtitle">
            <a:extLst xmlns:a="http://schemas.openxmlformats.org/drawingml/2006/main">
              <a:ext uri="{FF2B5EF4-FFF2-40B4-BE49-F238E27FC236}">
                <a16:creationId xmlns:a16="http://schemas.microsoft.com/office/drawing/2014/main" id="{1BB7FB79-31DB-4139-9C39-5423FE4D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两条路线在确认过的核心资产库处相交，最后输出原生可编辑 PPTX。</a:t>
            </a:r>
          </a:p>
        </p:txBody>
      </p:sp>
      <p:sp>
        <p:nvSpPr>
          <p:cNvPr id="4" name="slide-6-footer-line">
            <a:extLst xmlns:a="http://schemas.openxmlformats.org/drawingml/2006/main">
              <a:ext uri="{FF2B5EF4-FFF2-40B4-BE49-F238E27FC236}">
                <a16:creationId xmlns:a16="http://schemas.microsoft.com/office/drawing/2014/main" id="{613EB263-866B-4915-AE84-8E523798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6-source">
            <a:extLst xmlns:a="http://schemas.openxmlformats.org/drawingml/2006/main">
              <a:ext uri="{FF2B5EF4-FFF2-40B4-BE49-F238E27FC236}">
                <a16:creationId xmlns:a16="http://schemas.microsoft.com/office/drawing/2014/main" id="{1399A89D-C0E2-460C-A2A7-6F42695F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6-page">
            <a:extLst xmlns:a="http://schemas.openxmlformats.org/drawingml/2006/main">
              <a:ext uri="{FF2B5EF4-FFF2-40B4-BE49-F238E27FC236}">
                <a16:creationId xmlns:a16="http://schemas.microsoft.com/office/drawing/2014/main" id="{7726933B-17B3-4A1C-95FD-E2ABB475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06</a:t>
            </a:r>
          </a:p>
        </p:txBody>
      </p:sp>
      <p:sp>
        <p:nvSpPr>
          <p:cNvPr id="7" name="p6-lane-top">
            <a:extLst xmlns:a="http://schemas.openxmlformats.org/drawingml/2006/main">
              <a:ext uri="{FF2B5EF4-FFF2-40B4-BE49-F238E27FC236}">
                <a16:creationId xmlns:a16="http://schemas.microsoft.com/office/drawing/2014/main" id="{FDD37DFE-886D-425E-88EA-34A6A986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52550"/>
            <a:ext cx="1114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6-lane-bottom">
            <a:extLst xmlns:a="http://schemas.openxmlformats.org/drawingml/2006/main">
              <a:ext uri="{FF2B5EF4-FFF2-40B4-BE49-F238E27FC236}">
                <a16:creationId xmlns:a16="http://schemas.microsoft.com/office/drawing/2014/main" id="{023E23EB-AC25-4D2A-8EE6-5D33BEA4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19450"/>
            <a:ext cx="11144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6-lane-top-label">
            <a:extLst xmlns:a="http://schemas.openxmlformats.org/drawingml/2006/main">
              <a:ext uri="{FF2B5EF4-FFF2-40B4-BE49-F238E27FC236}">
                <a16:creationId xmlns:a16="http://schemas.microsoft.com/office/drawing/2014/main" id="{E8BA2B18-1283-4516-9195-4EEA622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4D76"/>
                </a:solidFill>
              </a:defRPr>
            </a:pPr>
            <a:r>
              <a:rPr sz="1350" b="1">
                <a:solidFill>
                  <a:srgbClr val="274D76"/>
                </a:solidFill>
              </a:rPr>
              <a:t>资产入库线</a:t>
            </a:r>
          </a:p>
        </p:txBody>
      </p:sp>
      <p:sp>
        <p:nvSpPr>
          <p:cNvPr id="10" name="p6-lane-bottom-label">
            <a:extLst xmlns:a="http://schemas.openxmlformats.org/drawingml/2006/main">
              <a:ext uri="{FF2B5EF4-FFF2-40B4-BE49-F238E27FC236}">
                <a16:creationId xmlns:a16="http://schemas.microsoft.com/office/drawing/2014/main" id="{CA21B721-8AFC-4D41-9317-E0179AD9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43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正式生成线</a:t>
            </a:r>
          </a:p>
        </p:txBody>
      </p:sp>
      <p:sp>
        <p:nvSpPr>
          <p:cNvPr id="11" name="p6-ref">
            <a:extLst xmlns:a="http://schemas.openxmlformats.org/drawingml/2006/main">
              <a:ext uri="{FF2B5EF4-FFF2-40B4-BE49-F238E27FC236}">
                <a16:creationId xmlns:a16="http://schemas.microsoft.com/office/drawing/2014/main" id="{DC755BF1-60CC-49C0-AB25-EE2B82E1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57375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优秀参考</a:t>
            </a:r>
          </a:p>
        </p:txBody>
      </p:sp>
      <p:sp>
        <p:nvSpPr>
          <p:cNvPr id="12" name="p6-extract">
            <a:extLst xmlns:a="http://schemas.openxmlformats.org/drawingml/2006/main">
              <a:ext uri="{FF2B5EF4-FFF2-40B4-BE49-F238E27FC236}">
                <a16:creationId xmlns:a16="http://schemas.microsoft.com/office/drawing/2014/main" id="{E0EC3ED9-E042-4524-97AE-36576DF0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57375"/>
            <a:ext cx="15716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提炼规律</a:t>
            </a:r>
          </a:p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参数化</a:t>
            </a:r>
          </a:p>
        </p:txBody>
      </p:sp>
      <p:sp>
        <p:nvSpPr>
          <p:cNvPr id="13" name="p6-confirm">
            <a:extLst xmlns:a="http://schemas.openxmlformats.org/drawingml/2006/main">
              <a:ext uri="{FF2B5EF4-FFF2-40B4-BE49-F238E27FC236}">
                <a16:creationId xmlns:a16="http://schemas.microsoft.com/office/drawing/2014/main" id="{6BC1AF50-8247-41F5-830B-8806BC97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57375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用户确认</a:t>
            </a:r>
          </a:p>
        </p:txBody>
      </p:sp>
      <p:sp>
        <p:nvSpPr>
          <p:cNvPr id="14" name="p6-core">
            <a:extLst xmlns:a="http://schemas.openxmlformats.org/drawingml/2006/main">
              <a:ext uri="{FF2B5EF4-FFF2-40B4-BE49-F238E27FC236}">
                <a16:creationId xmlns:a16="http://schemas.microsoft.com/office/drawing/2014/main" id="{B934510D-1F8E-4565-BDD7-8F3B505A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57375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核心资产库</a:t>
            </a:r>
          </a:p>
        </p:txBody>
      </p:sp>
      <p:cxnSp>
        <p:nvCxnSpPr>
          <p:cNvPr id="4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000375" y="2200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048250" y="2200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53250" y="2200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sp>
        <p:nvSpPr>
          <p:cNvPr id="18" name="p6-input">
            <a:extLst xmlns:a="http://schemas.openxmlformats.org/drawingml/2006/main">
              <a:ext uri="{FF2B5EF4-FFF2-40B4-BE49-F238E27FC236}">
                <a16:creationId xmlns:a16="http://schemas.microsoft.com/office/drawing/2014/main" id="{FFC1DFCA-7324-468D-99E8-A9E7DDE4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1762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原始稿件 + 主题</a:t>
            </a:r>
          </a:p>
        </p:txBody>
      </p:sp>
      <p:sp>
        <p:nvSpPr>
          <p:cNvPr id="19" name="p6-content">
            <a:extLst xmlns:a="http://schemas.openxmlformats.org/drawingml/2006/main">
              <a:ext uri="{FF2B5EF4-FFF2-40B4-BE49-F238E27FC236}">
                <a16:creationId xmlns:a16="http://schemas.microsoft.com/office/drawing/2014/main" id="{922C6D6F-FB21-4F04-9D6D-2FE4E339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00500"/>
            <a:ext cx="1952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4D76"/>
                </a:solidFill>
              </a:defRPr>
            </a:pPr>
            <a:r>
              <a:rPr sz="1275" b="1">
                <a:solidFill>
                  <a:srgbClr val="274D76"/>
                </a:solidFill>
              </a:rPr>
              <a:t>内容导演（AI）</a:t>
            </a:r>
          </a:p>
          <a:p xmlns:a="http://schemas.openxmlformats.org/drawingml/2006/main">
            <a:pPr algn="ctr">
              <a:defRPr sz="1275" b="1">
                <a:solidFill>
                  <a:srgbClr val="274D76"/>
                </a:solidFill>
              </a:defRPr>
            </a:pPr>
            <a:r>
              <a:rPr sz="1275" b="1">
                <a:solidFill>
                  <a:srgbClr val="274D76"/>
                </a:solidFill>
              </a:rPr>
              <a:t>理解稿件 · 组织叙事 · 拆页</a:t>
            </a:r>
          </a:p>
        </p:txBody>
      </p:sp>
      <p:sp>
        <p:nvSpPr>
          <p:cNvPr id="20" name="p6-visual">
            <a:extLst xmlns:a="http://schemas.openxmlformats.org/drawingml/2006/main">
              <a:ext uri="{FF2B5EF4-FFF2-40B4-BE49-F238E27FC236}">
                <a16:creationId xmlns:a16="http://schemas.microsoft.com/office/drawing/2014/main" id="{A0FF2034-41C8-4B2D-9539-62F4476D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1952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4D76"/>
                </a:solidFill>
              </a:defRPr>
            </a:pPr>
            <a:r>
              <a:rPr sz="1275" b="1">
                <a:solidFill>
                  <a:srgbClr val="274D76"/>
                </a:solidFill>
              </a:rPr>
              <a:t>视觉导演（AI）</a:t>
            </a:r>
          </a:p>
          <a:p xmlns:a="http://schemas.openxmlformats.org/drawingml/2006/main">
            <a:pPr algn="ctr">
              <a:defRPr sz="1275" b="1">
                <a:solidFill>
                  <a:srgbClr val="274D76"/>
                </a:solidFill>
              </a:defRPr>
            </a:pPr>
            <a:r>
              <a:rPr sz="1275" b="1">
                <a:solidFill>
                  <a:srgbClr val="274D76"/>
                </a:solidFill>
              </a:rPr>
              <a:t>判断表达 · 选择结构</a:t>
            </a:r>
          </a:p>
        </p:txBody>
      </p:sp>
      <p:sp>
        <p:nvSpPr>
          <p:cNvPr id="21" name="p6-choice">
            <a:extLst xmlns:a="http://schemas.openxmlformats.org/drawingml/2006/main">
              <a:ext uri="{FF2B5EF4-FFF2-40B4-BE49-F238E27FC236}">
                <a16:creationId xmlns:a16="http://schemas.microsoft.com/office/drawing/2014/main" id="{82F013F0-3D1D-4184-A96E-968BE264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0"/>
            <a:ext cx="1619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合法能力</a:t>
            </a:r>
          </a:p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或简单排版</a:t>
            </a:r>
          </a:p>
        </p:txBody>
      </p:sp>
      <p:sp>
        <p:nvSpPr>
          <p:cNvPr id="22" name="p6-pptx">
            <a:extLst xmlns:a="http://schemas.openxmlformats.org/drawingml/2006/main">
              <a:ext uri="{FF2B5EF4-FFF2-40B4-BE49-F238E27FC236}">
                <a16:creationId xmlns:a16="http://schemas.microsoft.com/office/drawing/2014/main" id="{E1873052-D12C-4B23-B11F-81BC42AB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0"/>
            <a:ext cx="12858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原生可编辑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PPTX</a:t>
            </a:r>
          </a:p>
        </p:txBody>
      </p:sp>
      <p:cxnSp>
        <p:nvCxnSpPr>
          <p:cNvPr id="52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190875" y="43719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429250" y="43719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667625" y="43719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572625" y="43719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14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8286750" y="2543175"/>
            <a:ext cx="476250" cy="1457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E83A8"/>
            </a:solidFill>
            <a:prstDash val="dash"/>
            <a:tailEnd type="arrow" w="sm" len="sm"/>
          </a:ln>
        </p:spPr>
      </p:cxnSp>
      <p:sp>
        <p:nvSpPr>
          <p:cNvPr id="28" name="p6-core-note">
            <a:extLst xmlns:a="http://schemas.openxmlformats.org/drawingml/2006/main">
              <a:ext uri="{FF2B5EF4-FFF2-40B4-BE49-F238E27FC236}">
                <a16:creationId xmlns:a16="http://schemas.microsoft.com/office/drawing/2014/main" id="{10F94BFB-316A-4A71-84F2-FD1CA5B8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384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E83A8"/>
                </a:solidFill>
              </a:defRPr>
            </a:pPr>
            <a:r>
              <a:rPr sz="1200">
                <a:solidFill>
                  <a:srgbClr val="5E83A8"/>
                </a:solidFill>
              </a:rPr>
              <a:t>核心资产库只读供给选择</a:t>
            </a:r>
          </a:p>
        </p:txBody>
      </p:sp>
      <p:sp>
        <p:nvSpPr>
          <p:cNvPr id="29" name="p6-caption">
            <a:extLst xmlns:a="http://schemas.openxmlformats.org/drawingml/2006/main">
              <a:ext uri="{FF2B5EF4-FFF2-40B4-BE49-F238E27FC236}">
                <a16:creationId xmlns:a16="http://schemas.microsoft.com/office/drawing/2014/main" id="{D99F0D1D-F53D-4CC8-B4EE-E59B1128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内容导演组织叙事，视觉导演选择结构；AI 不直接自由绘制整份 PPT，确定性代码完成重复劳动。</a:t>
            </a:r>
          </a:p>
        </p:txBody>
      </p:sp>
    </p:spTree>
    <p:extLst>
      <p:ext uri="{BB962C8B-B14F-4D97-AF65-F5344CB8AC3E}">
        <p14:creationId xmlns:p14="http://schemas.microsoft.com/office/powerpoint/2010/main" val="1807253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8867873F-2021-4B27-8162-BBF819C6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把昂贵的视觉理解与失败风险前移</a:t>
            </a:r>
          </a:p>
        </p:txBody>
      </p:sp>
      <p:sp>
        <p:nvSpPr>
          <p:cNvPr id="2" name="slide-7-divider">
            <a:extLst xmlns:a="http://schemas.openxmlformats.org/drawingml/2006/main">
              <a:ext uri="{FF2B5EF4-FFF2-40B4-BE49-F238E27FC236}">
                <a16:creationId xmlns:a16="http://schemas.microsoft.com/office/drawing/2014/main" id="{21133B51-262B-47B2-A24A-3F6CA850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7-subtitle">
            <a:extLst xmlns:a="http://schemas.openxmlformats.org/drawingml/2006/main">
              <a:ext uri="{FF2B5EF4-FFF2-40B4-BE49-F238E27FC236}">
                <a16:creationId xmlns:a16="http://schemas.microsoft.com/office/drawing/2014/main" id="{70D58634-B860-4D52-BEB5-F64D617A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建设完成以后，正式生成阶段主要执行理解、选择和填参。</a:t>
            </a:r>
          </a:p>
        </p:txBody>
      </p:sp>
      <p:sp>
        <p:nvSpPr>
          <p:cNvPr id="4" name="slide-7-footer-line">
            <a:extLst xmlns:a="http://schemas.openxmlformats.org/drawingml/2006/main">
              <a:ext uri="{FF2B5EF4-FFF2-40B4-BE49-F238E27FC236}">
                <a16:creationId xmlns:a16="http://schemas.microsoft.com/office/drawing/2014/main" id="{2593A7C7-4354-4548-8EAA-5FC3450C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7-source">
            <a:extLst xmlns:a="http://schemas.openxmlformats.org/drawingml/2006/main">
              <a:ext uri="{FF2B5EF4-FFF2-40B4-BE49-F238E27FC236}">
                <a16:creationId xmlns:a16="http://schemas.microsoft.com/office/drawing/2014/main" id="{20F2D3CE-28A9-40CC-89D6-DAED2460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7-page">
            <a:extLst xmlns:a="http://schemas.openxmlformats.org/drawingml/2006/main">
              <a:ext uri="{FF2B5EF4-FFF2-40B4-BE49-F238E27FC236}">
                <a16:creationId xmlns:a16="http://schemas.microsoft.com/office/drawing/2014/main" id="{B75173DA-C11F-49F4-94B1-20FF327F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07</a:t>
            </a:r>
          </a:p>
        </p:txBody>
      </p:sp>
      <p:sp>
        <p:nvSpPr>
          <p:cNvPr id="7" name="p7-build">
            <a:extLst xmlns:a="http://schemas.openxmlformats.org/drawingml/2006/main">
              <a:ext uri="{FF2B5EF4-FFF2-40B4-BE49-F238E27FC236}">
                <a16:creationId xmlns:a16="http://schemas.microsoft.com/office/drawing/2014/main" id="{AC31A82C-A1B1-4AFC-9145-5EC0FC19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4286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74D76"/>
                </a:solidFill>
              </a:defRPr>
            </a:pPr>
            <a:r>
              <a:rPr sz="1800" b="1">
                <a:solidFill>
                  <a:srgbClr val="274D76"/>
                </a:solidFill>
              </a:rPr>
              <a:t>建设期</a:t>
            </a:r>
          </a:p>
          <a:p xmlns:a="http://schemas.openxmlformats.org/drawingml/2006/main">
            <a:pPr algn="ctr">
              <a:defRPr sz="1800" b="1">
                <a:solidFill>
                  <a:srgbClr val="274D76"/>
                </a:solidFill>
              </a:defRPr>
            </a:pPr>
            <a:r>
              <a:rPr sz="1800" b="1">
                <a:solidFill>
                  <a:srgbClr val="274D76"/>
                </a:solidFill>
              </a:rPr>
              <a:t>筛选 · 参数化 · 验证 · 用户确认</a:t>
            </a:r>
          </a:p>
        </p:txBody>
      </p:sp>
      <p:sp>
        <p:nvSpPr>
          <p:cNvPr id="8" name="p7-deliver">
            <a:extLst xmlns:a="http://schemas.openxmlformats.org/drawingml/2006/main">
              <a:ext uri="{FF2B5EF4-FFF2-40B4-BE49-F238E27FC236}">
                <a16:creationId xmlns:a16="http://schemas.microsoft.com/office/drawing/2014/main" id="{3D406AD3-AF11-4896-8C0C-AA19C95D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43125"/>
            <a:ext cx="4286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交付期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理解 · 路由 · 填参 · 稳定生成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24450" y="2895600"/>
            <a:ext cx="1943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sp>
        <p:nvSpPr>
          <p:cNvPr id="10" name="p7-arrow-label">
            <a:extLst xmlns:a="http://schemas.openxmlformats.org/drawingml/2006/main">
              <a:ext uri="{FF2B5EF4-FFF2-40B4-BE49-F238E27FC236}">
                <a16:creationId xmlns:a16="http://schemas.microsoft.com/office/drawing/2014/main" id="{9271A975-5ABB-4FE6-A8DC-F3FDBFED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145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74D76"/>
                </a:solidFill>
              </a:defRPr>
            </a:pPr>
            <a:r>
              <a:rPr sz="1350" b="1">
                <a:solidFill>
                  <a:srgbClr val="274D76"/>
                </a:solidFill>
              </a:rPr>
              <a:t>一次建设，多次复用</a:t>
            </a:r>
          </a:p>
        </p:txBody>
      </p:sp>
      <p:sp>
        <p:nvSpPr>
          <p:cNvPr id="11" name="p7-build-detail">
            <a:extLst xmlns:a="http://schemas.openxmlformats.org/drawingml/2006/main">
              <a:ext uri="{FF2B5EF4-FFF2-40B4-BE49-F238E27FC236}">
                <a16:creationId xmlns:a16="http://schemas.microsoft.com/office/drawing/2014/main" id="{94047F4C-FCE5-4E9D-B8DB-F81DDFAB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428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-build-copy">
            <a:extLst xmlns:a="http://schemas.openxmlformats.org/drawingml/2006/main">
              <a:ext uri="{FF2B5EF4-FFF2-40B4-BE49-F238E27FC236}">
                <a16:creationId xmlns:a16="http://schemas.microsoft.com/office/drawing/2014/main" id="{F03DE30C-33BB-4DEF-B382-130534DA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人和工具先把优秀页面理解成能力，</a:t>
            </a:r>
          </a:p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验证不同状态，再由用户确认进入核心库。</a:t>
            </a:r>
          </a:p>
        </p:txBody>
      </p:sp>
      <p:sp>
        <p:nvSpPr>
          <p:cNvPr id="13" name="p7-deliver-detail">
            <a:extLst xmlns:a="http://schemas.openxmlformats.org/drawingml/2006/main">
              <a:ext uri="{FF2B5EF4-FFF2-40B4-BE49-F238E27FC236}">
                <a16:creationId xmlns:a16="http://schemas.microsoft.com/office/drawing/2014/main" id="{008EE636-08B7-4DFD-B289-6EC72261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91000"/>
            <a:ext cx="428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7-deliver-copy">
            <a:extLst xmlns:a="http://schemas.openxmlformats.org/drawingml/2006/main">
              <a:ext uri="{FF2B5EF4-FFF2-40B4-BE49-F238E27FC236}">
                <a16:creationId xmlns:a16="http://schemas.microsoft.com/office/drawing/2014/main" id="{B36875A0-B3C2-4FDD-B340-FFD6C72D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3865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低成本模型承担理解、选择和填参；</a:t>
            </a:r>
          </a:p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确定性代码负责稳定绘制与检查。</a:t>
            </a:r>
          </a:p>
        </p:txBody>
      </p:sp>
      <p:sp>
        <p:nvSpPr>
          <p:cNvPr id="15" name="p7-bottom">
            <a:extLst xmlns:a="http://schemas.openxmlformats.org/drawingml/2006/main">
              <a:ext uri="{FF2B5EF4-FFF2-40B4-BE49-F238E27FC236}">
                <a16:creationId xmlns:a16="http://schemas.microsoft.com/office/drawing/2014/main" id="{BF21D09E-851C-4295-A542-041988A1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4D76"/>
                </a:solidFill>
              </a:defRPr>
            </a:pPr>
            <a:r>
              <a:rPr sz="1500" b="1">
                <a:solidFill>
                  <a:srgbClr val="274D76"/>
                </a:solidFill>
              </a:rPr>
              <a:t>视觉理解没有消失，而是从每次在线支付的成本，变成一次建设、持续复用的资产。</a:t>
            </a:r>
          </a:p>
        </p:txBody>
      </p:sp>
    </p:spTree>
    <p:extLst>
      <p:ext uri="{BB962C8B-B14F-4D97-AF65-F5344CB8AC3E}">
        <p14:creationId xmlns:p14="http://schemas.microsoft.com/office/powerpoint/2010/main" val="19464933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DD68DFA9-175F-4B1B-A122-7EC40652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真正积累的是表达能力的边界</a:t>
            </a:r>
          </a:p>
        </p:txBody>
      </p:sp>
      <p:sp>
        <p:nvSpPr>
          <p:cNvPr id="2" name="slide-8-divider">
            <a:extLst xmlns:a="http://schemas.openxmlformats.org/drawingml/2006/main">
              <a:ext uri="{FF2B5EF4-FFF2-40B4-BE49-F238E27FC236}">
                <a16:creationId xmlns:a16="http://schemas.microsoft.com/office/drawing/2014/main" id="{4E1A5826-9B50-42E1-8619-A080FDE7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8-subtitle">
            <a:extLst xmlns:a="http://schemas.openxmlformats.org/drawingml/2006/main">
              <a:ext uri="{FF2B5EF4-FFF2-40B4-BE49-F238E27FC236}">
                <a16:creationId xmlns:a16="http://schemas.microsoft.com/office/drawing/2014/main" id="{7AC5F92A-E58B-40F4-913A-1D865A11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模板会过时；容量、变化方式与退化边界才是可以反复调用的经验。</a:t>
            </a:r>
          </a:p>
        </p:txBody>
      </p:sp>
      <p:sp>
        <p:nvSpPr>
          <p:cNvPr id="4" name="slide-8-footer-line">
            <a:extLst xmlns:a="http://schemas.openxmlformats.org/drawingml/2006/main">
              <a:ext uri="{FF2B5EF4-FFF2-40B4-BE49-F238E27FC236}">
                <a16:creationId xmlns:a16="http://schemas.microsoft.com/office/drawing/2014/main" id="{B1E8CCF8-4E8E-4EC0-890E-D7F35674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8-source">
            <a:extLst xmlns:a="http://schemas.openxmlformats.org/drawingml/2006/main">
              <a:ext uri="{FF2B5EF4-FFF2-40B4-BE49-F238E27FC236}">
                <a16:creationId xmlns:a16="http://schemas.microsoft.com/office/drawing/2014/main" id="{B5007D40-37EA-4A03-8809-DE50D824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8-page">
            <a:extLst xmlns:a="http://schemas.openxmlformats.org/drawingml/2006/main">
              <a:ext uri="{FF2B5EF4-FFF2-40B4-BE49-F238E27FC236}">
                <a16:creationId xmlns:a16="http://schemas.microsoft.com/office/drawing/2014/main" id="{F9A39E17-3A5A-4AEA-9074-21C080F8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08</a:t>
            </a:r>
          </a:p>
        </p:txBody>
      </p:sp>
      <p:sp>
        <p:nvSpPr>
          <p:cNvPr id="7" name="p8-pack">
            <a:extLst xmlns:a="http://schemas.openxmlformats.org/drawingml/2006/main">
              <a:ext uri="{FF2B5EF4-FFF2-40B4-BE49-F238E27FC236}">
                <a16:creationId xmlns:a16="http://schemas.microsoft.com/office/drawing/2014/main" id="{4313AC90-ABD3-4080-B712-563D98E5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619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经过验证的表达能力包</a:t>
            </a:r>
          </a:p>
        </p:txBody>
      </p:sp>
      <p:sp>
        <p:nvSpPr>
          <p:cNvPr id="8" name="p8-boundary">
            <a:extLst xmlns:a="http://schemas.openxmlformats.org/drawingml/2006/main">
              <a:ext uri="{FF2B5EF4-FFF2-40B4-BE49-F238E27FC236}">
                <a16:creationId xmlns:a16="http://schemas.microsoft.com/office/drawing/2014/main" id="{4F13E78E-560E-4BCD-AD00-864833BA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知道什么内容适合怎样表达</a:t>
            </a:r>
          </a:p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知道数量变化时怎样重排</a:t>
            </a:r>
          </a:p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知道超过边界后怎样拆页或退化</a:t>
            </a:r>
          </a:p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知道哪些结构不应该使用</a:t>
            </a:r>
          </a:p>
        </p:txBody>
      </p:sp>
      <p:cxnSp>
        <p:nvCxnSpPr>
          <p:cNvPr id="23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933825" y="27241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sp>
        <p:nvSpPr>
          <p:cNvPr id="10" name="p8-bridge">
            <a:extLst xmlns:a="http://schemas.openxmlformats.org/drawingml/2006/main">
              <a:ext uri="{FF2B5EF4-FFF2-40B4-BE49-F238E27FC236}">
                <a16:creationId xmlns:a16="http://schemas.microsoft.com/office/drawing/2014/main" id="{CA9D1373-EE03-48BC-9942-A1F54C18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4D76"/>
                </a:solidFill>
              </a:defRPr>
            </a:pPr>
            <a:r>
              <a:rPr sz="1500" b="1">
                <a:solidFill>
                  <a:srgbClr val="274D76"/>
                </a:solidFill>
              </a:rPr>
              <a:t>应用结论：组织主题可替换</a:t>
            </a:r>
          </a:p>
        </p:txBody>
      </p:sp>
      <p:sp>
        <p:nvSpPr>
          <p:cNvPr id="11" name="p8-theme">
            <a:extLst xmlns:a="http://schemas.openxmlformats.org/drawingml/2006/main">
              <a:ext uri="{FF2B5EF4-FFF2-40B4-BE49-F238E27FC236}">
                <a16:creationId xmlns:a16="http://schemas.microsoft.com/office/drawing/2014/main" id="{CC370ECD-81EF-43F0-8696-183FD232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B33"/>
                </a:solidFill>
              </a:defRPr>
            </a:pPr>
            <a:r>
              <a:rPr sz="1500" b="1">
                <a:solidFill>
                  <a:srgbClr val="252B33"/>
                </a:solidFill>
              </a:rPr>
              <a:t>组织主题</a:t>
            </a:r>
          </a:p>
          <a:p xmlns:a="http://schemas.openxmlformats.org/drawingml/2006/main">
            <a:pPr algn="ctr">
              <a:defRPr sz="1500" b="1">
                <a:solidFill>
                  <a:srgbClr val="252B33"/>
                </a:solidFill>
              </a:defRPr>
            </a:pPr>
            <a:r>
              <a:rPr sz="1500" b="1">
                <a:solidFill>
                  <a:srgbClr val="252B33"/>
                </a:solidFill>
              </a:rPr>
              <a:t>颜色 · Logo · 字体 · 页眉页脚</a:t>
            </a:r>
          </a:p>
        </p:txBody>
      </p:sp>
      <p:sp>
        <p:nvSpPr>
          <p:cNvPr id="12" name="p8-org">
            <a:extLst xmlns:a="http://schemas.openxmlformats.org/drawingml/2006/main">
              <a:ext uri="{FF2B5EF4-FFF2-40B4-BE49-F238E27FC236}">
                <a16:creationId xmlns:a16="http://schemas.microsoft.com/office/drawing/2014/main" id="{DD0405CE-4090-4194-9216-4EBDA383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3143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更多学校、科研院所、企业与团队</a:t>
            </a:r>
          </a:p>
        </p:txBody>
      </p:sp>
      <p:cxnSp>
        <p:nvCxnSpPr>
          <p:cNvPr id="27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667875" y="349567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sp>
        <p:nvSpPr>
          <p:cNvPr id="14" name="p8-org-note">
            <a:extLst xmlns:a="http://schemas.openxmlformats.org/drawingml/2006/main">
              <a:ext uri="{FF2B5EF4-FFF2-40B4-BE49-F238E27FC236}">
                <a16:creationId xmlns:a16="http://schemas.microsoft.com/office/drawing/2014/main" id="{0959A3BC-7748-4A30-A633-2367031A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673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707780"/>
                </a:solidFill>
              </a:defRPr>
            </a:pPr>
            <a:r>
              <a:rPr sz="1275">
                <a:solidFill>
                  <a:srgbClr val="707780"/>
                </a:solidFill>
              </a:rPr>
              <a:t>东北大学是第一个正式落地场景；能力继续复用。</a:t>
            </a:r>
          </a:p>
        </p:txBody>
      </p:sp>
    </p:spTree>
    <p:extLst>
      <p:ext uri="{BB962C8B-B14F-4D97-AF65-F5344CB8AC3E}">
        <p14:creationId xmlns:p14="http://schemas.microsoft.com/office/powerpoint/2010/main" val="2705783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74D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9-accent">
            <a:extLst xmlns:a="http://schemas.openxmlformats.org/drawingml/2006/main">
              <a:ext uri="{FF2B5EF4-FFF2-40B4-BE49-F238E27FC236}">
                <a16:creationId xmlns:a16="http://schemas.microsoft.com/office/drawing/2014/main" id="{D6F9A3A9-2EC0-4D1C-8210-8D66A9F7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9-eyebrow">
            <a:extLst xmlns:a="http://schemas.openxmlformats.org/drawingml/2006/main">
              <a:ext uri="{FF2B5EF4-FFF2-40B4-BE49-F238E27FC236}">
                <a16:creationId xmlns:a16="http://schemas.microsoft.com/office/drawing/2014/main" id="{AACDDD30-0CEE-4FC9-8E95-54B5FAAB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0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8F3"/>
                </a:solidFill>
              </a:defRPr>
            </a:pPr>
            <a:r>
              <a:rPr sz="1350" b="1">
                <a:solidFill>
                  <a:srgbClr val="DCE8F3"/>
                </a:solidFill>
              </a:rPr>
              <a:t>PPagenT 的产品承诺</a:t>
            </a:r>
          </a:p>
        </p:txBody>
      </p:sp>
      <p:sp>
        <p:nvSpPr>
          <p:cNvPr id="3" name="p9-title">
            <a:extLst xmlns:a="http://schemas.openxmlformats.org/drawingml/2006/main">
              <a:ext uri="{FF2B5EF4-FFF2-40B4-BE49-F238E27FC236}">
                <a16:creationId xmlns:a16="http://schemas.microsoft.com/office/drawing/2014/main" id="{AFFE477B-7CB5-4347-A4CA-99E672E2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581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不一定惊艳，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但真的好用。</a:t>
            </a:r>
          </a:p>
        </p:txBody>
      </p:sp>
      <p:sp>
        <p:nvSpPr>
          <p:cNvPr id="4" name="p9-copy">
            <a:extLst xmlns:a="http://schemas.openxmlformats.org/drawingml/2006/main">
              <a:ext uri="{FF2B5EF4-FFF2-40B4-BE49-F238E27FC236}">
                <a16:creationId xmlns:a16="http://schemas.microsoft.com/office/drawing/2014/main" id="{5A7B9606-857F-448A-9397-D77A2E9A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DCE8F3"/>
                </a:solidFill>
              </a:defRPr>
            </a:pPr>
            <a:r>
              <a:rPr sz="1650">
                <a:solidFill>
                  <a:srgbClr val="DCE8F3"/>
                </a:solidFill>
              </a:rPr>
              <a:t>可以立刻拿去讲，也可以继续修改。</a:t>
            </a:r>
          </a:p>
          <a:p xmlns:a="http://schemas.openxmlformats.org/drawingml/2006/main">
            <a:pPr algn="l">
              <a:defRPr sz="1650">
                <a:solidFill>
                  <a:srgbClr val="DCE8F3"/>
                </a:solidFill>
              </a:defRPr>
            </a:pPr>
            <a:r>
              <a:rPr sz="1650">
                <a:solidFill>
                  <a:srgbClr val="DCE8F3"/>
                </a:solidFill>
              </a:rPr>
              <a:t>不一定独一无二，但稳定、靠谱、可预测。</a:t>
            </a:r>
          </a:p>
        </p:txBody>
      </p:sp>
      <p:sp>
        <p:nvSpPr>
          <p:cNvPr id="5" name="p9-rule">
            <a:extLst xmlns:a="http://schemas.openxmlformats.org/drawingml/2006/main">
              <a:ext uri="{FF2B5EF4-FFF2-40B4-BE49-F238E27FC236}">
                <a16:creationId xmlns:a16="http://schemas.microsoft.com/office/drawing/2014/main" id="{8F069310-4071-4DA6-B8EA-5C5C346E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830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1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9-four">
            <a:extLst xmlns:a="http://schemas.openxmlformats.org/drawingml/2006/main">
              <a:ext uri="{FF2B5EF4-FFF2-40B4-BE49-F238E27FC236}">
                <a16:creationId xmlns:a16="http://schemas.microsoft.com/office/drawing/2014/main" id="{769CD30F-9A0D-4C7B-BE96-CB33F754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14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AI 读懂稿子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规则帮我们做判断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代码完成重复劳动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经验变成可靠能力</a:t>
            </a:r>
          </a:p>
        </p:txBody>
      </p:sp>
      <p:sp>
        <p:nvSpPr>
          <p:cNvPr id="7" name="p9-page">
            <a:extLst xmlns:a="http://schemas.openxmlformats.org/drawingml/2006/main">
              <a:ext uri="{FF2B5EF4-FFF2-40B4-BE49-F238E27FC236}">
                <a16:creationId xmlns:a16="http://schemas.microsoft.com/office/drawing/2014/main" id="{47FE1866-722C-42E3-891D-6ACEDE11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DCE8F3"/>
                </a:solidFill>
              </a:defRPr>
            </a:pPr>
            <a:r>
              <a:rPr sz="1050">
                <a:solidFill>
                  <a:srgbClr val="DCE8F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19202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2026-09-06T02:07:07.2490000Z</dcterms:created>
  <dcterms:modified xsi:type="dcterms:W3CDTF">2026-09-06T02:07:07.2490000Z</dcterms:modified>
</coreProperties>
</file>