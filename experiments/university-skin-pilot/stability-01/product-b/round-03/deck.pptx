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68f58f65842ab" /><Relationship Type="http://schemas.openxmlformats.org/officeDocument/2006/relationships/extended-properties" Target="/docProps/app.xml" Id="Ra60212a8bdc142cb" /><Relationship Type="http://schemas.openxmlformats.org/officeDocument/2006/relationships/officeDocument" Target="/ppt/presentation.xml" Id="R1a86d503e6a9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9b92b0c0047b3"/>
  </p:sldMasterIdLst>
  <p:notesMasterIdLst>
    <p:notesMasterId xmlns:r="http://schemas.openxmlformats.org/officeDocument/2006/relationships" r:id="R6a8920ed810b4826"/>
  </p:notesMasterIdLst>
  <p:sldIdLst>
    <p:sldId xmlns:r="http://schemas.openxmlformats.org/officeDocument/2006/relationships" id="256" r:id="Rb0c108a87d5b456b"/>
    <p:sldId xmlns:r="http://schemas.openxmlformats.org/officeDocument/2006/relationships" id="257" r:id="R18933fac115044e5"/>
    <p:sldId xmlns:r="http://schemas.openxmlformats.org/officeDocument/2006/relationships" id="258" r:id="R37e88ac1c15449df"/>
    <p:sldId xmlns:r="http://schemas.openxmlformats.org/officeDocument/2006/relationships" id="259" r:id="R9b36983c1ae546c7"/>
    <p:sldId xmlns:r="http://schemas.openxmlformats.org/officeDocument/2006/relationships" id="260" r:id="R4513201f31f845ff"/>
    <p:sldId xmlns:r="http://schemas.openxmlformats.org/officeDocument/2006/relationships" id="261" r:id="Re2b6f7e930804d26"/>
    <p:sldId xmlns:r="http://schemas.openxmlformats.org/officeDocument/2006/relationships" id="262" r:id="Rcf6d9bcabaf84039"/>
    <p:sldId xmlns:r="http://schemas.openxmlformats.org/officeDocument/2006/relationships" id="263" r:id="R1afccbb1b6154df4"/>
    <p:sldId xmlns:r="http://schemas.openxmlformats.org/officeDocument/2006/relationships" id="264" r:id="R18ea3b5646c549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4745e6231844dc" /><Relationship Type="http://schemas.openxmlformats.org/officeDocument/2006/relationships/slideMaster" Target="/ppt/slideMasters/slideMaster1.xml" Id="Re9a9b92b0c0047b3" /><Relationship Type="http://schemas.openxmlformats.org/officeDocument/2006/relationships/notesMaster" Target="/ppt/notesMasters/notesMaster1.xml" Id="R6a8920ed810b4826" /><Relationship Type="http://schemas.openxmlformats.org/officeDocument/2006/relationships/presProps" Target="/ppt/presProps.xml" Id="Rb9fc94f27e42434f" /><Relationship Type="http://schemas.openxmlformats.org/officeDocument/2006/relationships/tableStyles" Target="/ppt/tableStyles.xml" Id="R27e759e3b70a40ee" /><Relationship Type="http://schemas.openxmlformats.org/officeDocument/2006/relationships/slide" Target="/ppt/slides/slide1.xml" Id="Rb0c108a87d5b456b" /><Relationship Type="http://schemas.openxmlformats.org/officeDocument/2006/relationships/slide" Target="/ppt/slides/slide2.xml" Id="R18933fac115044e5" /><Relationship Type="http://schemas.openxmlformats.org/officeDocument/2006/relationships/slide" Target="/ppt/slides/slide3.xml" Id="R37e88ac1c15449df" /><Relationship Type="http://schemas.openxmlformats.org/officeDocument/2006/relationships/slide" Target="/ppt/slides/slide4.xml" Id="R9b36983c1ae546c7" /><Relationship Type="http://schemas.openxmlformats.org/officeDocument/2006/relationships/slide" Target="/ppt/slides/slide5.xml" Id="R4513201f31f845ff" /><Relationship Type="http://schemas.openxmlformats.org/officeDocument/2006/relationships/slide" Target="/ppt/slides/slide6.xml" Id="Re2b6f7e930804d26" /><Relationship Type="http://schemas.openxmlformats.org/officeDocument/2006/relationships/slide" Target="/ppt/slides/slide7.xml" Id="Rcf6d9bcabaf84039" /><Relationship Type="http://schemas.openxmlformats.org/officeDocument/2006/relationships/slide" Target="/ppt/slides/slide8.xml" Id="R1afccbb1b6154df4" /><Relationship Type="http://schemas.openxmlformats.org/officeDocument/2006/relationships/slide" Target="/ppt/slides/slide9.xml" Id="R18ea3b5646c549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c3c50db4064f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992368cfaf4ae6" /><Relationship Type="http://schemas.openxmlformats.org/officeDocument/2006/relationships/notesMaster" Target="/ppt/notesMasters/notesMaster1.xml" Id="R6544792fd8614a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187e9e4e64151" /><Relationship Type="http://schemas.openxmlformats.org/officeDocument/2006/relationships/notesMaster" Target="/ppt/notesMasters/notesMaster1.xml" Id="R946d842aefa94c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cc04349696474f" /><Relationship Type="http://schemas.openxmlformats.org/officeDocument/2006/relationships/notesMaster" Target="/ppt/notesMasters/notesMaster1.xml" Id="R5fe49559942949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65cdd7f5140ae" /><Relationship Type="http://schemas.openxmlformats.org/officeDocument/2006/relationships/notesMaster" Target="/ppt/notesMasters/notesMaster1.xml" Id="R708b19de5d2e4a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6bb8d5c59043e2" /><Relationship Type="http://schemas.openxmlformats.org/officeDocument/2006/relationships/notesMaster" Target="/ppt/notesMasters/notesMaster1.xml" Id="R785a00e2abab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64527b9abe4ea8" /><Relationship Type="http://schemas.openxmlformats.org/officeDocument/2006/relationships/notesMaster" Target="/ppt/notesMasters/notesMaster1.xml" Id="R9367699cedc844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3b820b5e834600" /><Relationship Type="http://schemas.openxmlformats.org/officeDocument/2006/relationships/notesMaster" Target="/ppt/notesMasters/notesMaster1.xml" Id="Rfcaa94ff26a243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4d7e82b9e546c0" /><Relationship Type="http://schemas.openxmlformats.org/officeDocument/2006/relationships/notesMaster" Target="/ppt/notesMasters/notesMaster1.xml" Id="Rfc47e08f5dd648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a188175c294a2f" /><Relationship Type="http://schemas.openxmlformats.org/officeDocument/2006/relationships/notesMaster" Target="/ppt/notesMasters/notesMaster1.xml" Id="R31f084ab0a5d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PPagenT 产品叙事（用户提供原稿）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80b702d34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fc17efc0d4c5f" /><Relationship Type="http://schemas.openxmlformats.org/officeDocument/2006/relationships/slideLayout" Target="/ppt/slideLayouts/slideLayout1.xml" Id="Rc9176b3d574549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176b3d574549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f25ffca874b82" /><Relationship Type="http://schemas.openxmlformats.org/officeDocument/2006/relationships/notesSlide" Target="/ppt/notesSlides/notesSlide1.xml" Id="R3a347661dd434a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428345c4a4007" /><Relationship Type="http://schemas.openxmlformats.org/officeDocument/2006/relationships/notesSlide" Target="/ppt/notesSlides/notesSlide2.xml" Id="R6aa4843db67c43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81e8fe871465d" /><Relationship Type="http://schemas.openxmlformats.org/officeDocument/2006/relationships/notesSlide" Target="/ppt/notesSlides/notesSlide3.xml" Id="Redc83e6c578a45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765d0aa8f4048" /><Relationship Type="http://schemas.openxmlformats.org/officeDocument/2006/relationships/notesSlide" Target="/ppt/notesSlides/notesSlide4.xml" Id="Rfe51a391062448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1432ddfc84475" /><Relationship Type="http://schemas.openxmlformats.org/officeDocument/2006/relationships/notesSlide" Target="/ppt/notesSlides/notesSlide5.xml" Id="R715661d6213847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9b5d4f1e642c0" /><Relationship Type="http://schemas.openxmlformats.org/officeDocument/2006/relationships/notesSlide" Target="/ppt/notesSlides/notesSlide6.xml" Id="Rb3d0c59343874a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205c66c344f8a" /><Relationship Type="http://schemas.openxmlformats.org/officeDocument/2006/relationships/notesSlide" Target="/ppt/notesSlides/notesSlide7.xml" Id="R0f92300d4d8842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e9175e1784fd0" /><Relationship Type="http://schemas.openxmlformats.org/officeDocument/2006/relationships/notesSlide" Target="/ppt/notesSlides/notesSlide8.xml" Id="R5d35408b0a1d4c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78e2f2f47496f" /><Relationship Type="http://schemas.openxmlformats.org/officeDocument/2006/relationships/notesSlide" Target="/ppt/notesSlides/notesSlide9.xml" Id="Rf682ac16f420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836ABF4-A3EF-4C3E-A68A-FF3DE40B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890B128-B556-442C-82A4-67AA5D2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D8FD343-2FF4-4364-9F7A-FC305B34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把 PPT 生成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变成可靠的生产过程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6B480EF-F1F3-4ED7-A2AB-CCC8A199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让 AI 读懂稿子，让规则做判断，让代码完成重复劳动。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04E1F65D-6639-4E04-8E0F-B94C5E8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">
            <a:extLst xmlns:a="http://schemas.openxmlformats.org/drawingml/2006/main">
              <a:ext uri="{FF2B5EF4-FFF2-40B4-BE49-F238E27FC236}">
                <a16:creationId xmlns:a16="http://schemas.microsoft.com/office/drawing/2014/main" id="{D74E9DD1-67DC-405D-842A-F6BE6201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DCE8F3"/>
                </a:solidFill>
              </a:defRPr>
            </a:pPr>
            <a:r>
              <a:rPr sz="1350">
                <a:solidFill>
                  <a:srgbClr val="DCE8F3"/>
                </a:solidFill>
              </a:rPr>
              <a:t>工作型 PPT · 结构清楚 · 视觉体面 · 原生可编辑</a:t>
            </a:r>
          </a:p>
        </p:txBody>
      </p:sp>
      <p:sp>
        <p:nvSpPr>
          <p:cNvPr id="7" name="cover-page">
            <a:extLst xmlns:a="http://schemas.openxmlformats.org/drawingml/2006/main">
              <a:ext uri="{FF2B5EF4-FFF2-40B4-BE49-F238E27FC236}">
                <a16:creationId xmlns:a16="http://schemas.microsoft.com/office/drawing/2014/main" id="{8CB54E79-B457-4BE6-A08C-C7708435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0181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005775E-097E-4E60-ADE3-04CAD5C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做 PPT 真正昂贵的，是一连串判断</a:t>
            </a:r>
          </a:p>
        </p:txBody>
      </p:sp>
      <p:sp>
        <p:nvSpPr>
          <p:cNvPr id="2" name="slide-2-divider">
            <a:extLst xmlns:a="http://schemas.openxmlformats.org/drawingml/2006/main">
              <a:ext uri="{FF2B5EF4-FFF2-40B4-BE49-F238E27FC236}">
                <a16:creationId xmlns:a16="http://schemas.microsoft.com/office/drawing/2014/main" id="{79B561AA-CD3D-41D4-B11B-01EAFCB0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D385B0B8-6D6C-4A86-8346-1DF31E63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拖动文本框只是最后一步；前面还有一套叙事与视觉决策。</a:t>
            </a:r>
          </a:p>
        </p:txBody>
      </p:sp>
      <p:sp>
        <p:nvSpPr>
          <p:cNvPr id="4" name="slide-2-footer-line">
            <a:extLst xmlns:a="http://schemas.openxmlformats.org/drawingml/2006/main">
              <a:ext uri="{FF2B5EF4-FFF2-40B4-BE49-F238E27FC236}">
                <a16:creationId xmlns:a16="http://schemas.microsoft.com/office/drawing/2014/main" id="{0F294547-9AEC-4C09-BEB4-5C022D2A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A27E8F6E-552D-440C-A253-FFE77141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2C40F22D-80C6-40D5-8172-8BF458F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02</a:t>
            </a:r>
          </a:p>
        </p:txBody>
      </p:sp>
      <p:sp>
        <p:nvSpPr>
          <p:cNvPr id="7" name="p2-narrative">
            <a:extLst xmlns:a="http://schemas.openxmlformats.org/drawingml/2006/main">
              <a:ext uri="{FF2B5EF4-FFF2-40B4-BE49-F238E27FC236}">
                <a16:creationId xmlns:a16="http://schemas.microsoft.com/office/drawing/2014/main" id="{E36B0A6F-E335-4584-ABFC-C629781E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4D76"/>
                </a:solidFill>
              </a:defRPr>
            </a:pPr>
            <a:r>
              <a:rPr sz="1950" b="1">
                <a:solidFill>
                  <a:srgbClr val="274D76"/>
                </a:solidFill>
              </a:rPr>
              <a:t>叙事判断</a:t>
            </a:r>
          </a:p>
        </p:txBody>
      </p:sp>
      <p:sp>
        <p:nvSpPr>
          <p:cNvPr id="8" name="p2-visual">
            <a:extLst xmlns:a="http://schemas.openxmlformats.org/drawingml/2006/main">
              <a:ext uri="{FF2B5EF4-FFF2-40B4-BE49-F238E27FC236}">
                <a16:creationId xmlns:a16="http://schemas.microsoft.com/office/drawing/2014/main" id="{B18F7800-1D8F-4686-B9A3-3740764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857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2B33"/>
                </a:solidFill>
              </a:defRPr>
            </a:pPr>
            <a:r>
              <a:rPr sz="1950" b="1">
                <a:solidFill>
                  <a:srgbClr val="252B33"/>
                </a:solidFill>
              </a:rPr>
              <a:t>视觉落地判断</a:t>
            </a:r>
          </a:p>
        </p:txBody>
      </p:sp>
      <p:sp>
        <p:nvSpPr>
          <p:cNvPr id="9" name="p2-output">
            <a:extLst xmlns:a="http://schemas.openxmlformats.org/drawingml/2006/main">
              <a:ext uri="{FF2B5EF4-FFF2-40B4-BE49-F238E27FC236}">
                <a16:creationId xmlns:a16="http://schemas.microsoft.com/office/drawing/2014/main" id="{4A5C8967-8366-412B-8E4F-F91F100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429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一套可以继续修改的 PPT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95700" y="2419350"/>
            <a:ext cx="411480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2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695700" y="3476625"/>
            <a:ext cx="411480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tailEnd type="arrow" w="sm" len="sm"/>
          </a:ln>
        </p:spPr>
      </p:cxnSp>
      <p:sp>
        <p:nvSpPr>
          <p:cNvPr id="12" name="p2-narrative-detail">
            <a:extLst xmlns:a="http://schemas.openxmlformats.org/drawingml/2006/main">
              <a:ext uri="{FF2B5EF4-FFF2-40B4-BE49-F238E27FC236}">
                <a16:creationId xmlns:a16="http://schemas.microsoft.com/office/drawing/2014/main" id="{66BE7034-C06B-4322-82A1-429E41A7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怎么讲、拆成几页、每页承担什么职责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观点之间是并列、递进、因果还是流程</a:t>
            </a:r>
          </a:p>
        </p:txBody>
      </p:sp>
      <p:sp>
        <p:nvSpPr>
          <p:cNvPr id="13" name="p2-visual-detail">
            <a:extLst xmlns:a="http://schemas.openxmlformats.org/drawingml/2006/main">
              <a:ext uri="{FF2B5EF4-FFF2-40B4-BE49-F238E27FC236}">
                <a16:creationId xmlns:a16="http://schemas.microsoft.com/office/drawing/2014/main" id="{71DF4944-1B2C-44B8-B80E-24033FCD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哪里突出、什么时候用图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怎样统一字体、字号、颜色和间距</a:t>
            </a:r>
          </a:p>
        </p:txBody>
      </p:sp>
      <p:sp>
        <p:nvSpPr>
          <p:cNvPr id="14" name="p2-caption">
            <a:extLst xmlns:a="http://schemas.openxmlformats.org/drawingml/2006/main">
              <a:ext uri="{FF2B5EF4-FFF2-40B4-BE49-F238E27FC236}">
                <a16:creationId xmlns:a16="http://schemas.microsoft.com/office/drawing/2014/main" id="{6AAA66E0-4D23-4078-8A4F-B0C155C1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高手已经积累了这些答案；PPagenT 要把答案留下来。</a:t>
            </a:r>
          </a:p>
        </p:txBody>
      </p:sp>
    </p:spTree>
    <p:extLst>
      <p:ext uri="{BB962C8B-B14F-4D97-AF65-F5344CB8AC3E}">
        <p14:creationId xmlns:p14="http://schemas.microsoft.com/office/powerpoint/2010/main" val="1111830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327C957-41CE-4C7B-B822-32EBC346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PPagenT 先服务需求密度最大的工作型 PPT</a:t>
            </a:r>
          </a:p>
        </p:txBody>
      </p:sp>
      <p:sp>
        <p:nvSpPr>
          <p:cNvPr id="2" name="slide-3-divider">
            <a:extLst xmlns:a="http://schemas.openxmlformats.org/drawingml/2006/main">
              <a:ext uri="{FF2B5EF4-FFF2-40B4-BE49-F238E27FC236}">
                <a16:creationId xmlns:a16="http://schemas.microsoft.com/office/drawing/2014/main" id="{851C82CF-71CD-4EDD-943D-CAFF1D1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36E4FF74-BF89-4404-BA27-0DF3DE91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两端需求都存在，但更适合标准化的是中间的日常工作场景。</a:t>
            </a:r>
          </a:p>
        </p:txBody>
      </p:sp>
      <p:sp>
        <p:nvSpPr>
          <p:cNvPr id="4" name="slide-3-footer-line">
            <a:extLst xmlns:a="http://schemas.openxmlformats.org/drawingml/2006/main">
              <a:ext uri="{FF2B5EF4-FFF2-40B4-BE49-F238E27FC236}">
                <a16:creationId xmlns:a16="http://schemas.microsoft.com/office/drawing/2014/main" id="{F758E730-7CF2-4559-AF75-AE7BCC06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575639D7-F55B-41EA-B96F-8085D22E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AC5FAD61-4EC9-4475-9441-C6D4D12E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03</a:t>
            </a:r>
          </a:p>
        </p:txBody>
      </p:sp>
      <p:sp>
        <p:nvSpPr>
          <p:cNvPr id="7" name="p3-axis-left">
            <a:extLst xmlns:a="http://schemas.openxmlformats.org/drawingml/2006/main">
              <a:ext uri="{FF2B5EF4-FFF2-40B4-BE49-F238E27FC236}">
                <a16:creationId xmlns:a16="http://schemas.microsoft.com/office/drawing/2014/main" id="{90A72A85-306A-4A53-813F-6689465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几乎不在意版式</a:t>
            </a:r>
          </a:p>
        </p:txBody>
      </p:sp>
      <p:sp>
        <p:nvSpPr>
          <p:cNvPr id="8" name="p3-axis-right">
            <a:extLst xmlns:a="http://schemas.openxmlformats.org/drawingml/2006/main">
              <a:ext uri="{FF2B5EF4-FFF2-40B4-BE49-F238E27FC236}">
                <a16:creationId xmlns:a16="http://schemas.microsoft.com/office/drawing/2014/main" id="{C48C4317-D409-4210-A878-E43B366C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高度定制的视觉创意</a:t>
            </a:r>
          </a:p>
        </p:txBody>
      </p:sp>
      <p:sp>
        <p:nvSpPr>
          <p:cNvPr id="9" name="p3-spectrum-left">
            <a:extLst xmlns:a="http://schemas.openxmlformats.org/drawingml/2006/main">
              <a:ext uri="{FF2B5EF4-FFF2-40B4-BE49-F238E27FC236}">
                <a16:creationId xmlns:a16="http://schemas.microsoft.com/office/drawing/2014/main" id="{94CDC40C-8FF1-4393-99B2-4B81DFF5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3-target">
            <a:extLst xmlns:a="http://schemas.openxmlformats.org/drawingml/2006/main">
              <a:ext uri="{FF2B5EF4-FFF2-40B4-BE49-F238E27FC236}">
                <a16:creationId xmlns:a16="http://schemas.microsoft.com/office/drawing/2014/main" id="{1C53857F-E738-4B3A-A3DB-5282E2F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71700"/>
            <a:ext cx="5448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工作型 PPT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学校 · 科研院所 · 事业单位 · 企业</a:t>
            </a:r>
          </a:p>
        </p:txBody>
      </p:sp>
      <p:sp>
        <p:nvSpPr>
          <p:cNvPr id="11" name="p3-spectrum-right">
            <a:extLst xmlns:a="http://schemas.openxmlformats.org/drawingml/2006/main">
              <a:ext uri="{FF2B5EF4-FFF2-40B4-BE49-F238E27FC236}">
                <a16:creationId xmlns:a16="http://schemas.microsoft.com/office/drawing/2014/main" id="{7A2529B2-BA78-44AC-9832-2179D016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86000"/>
            <a:ext cx="25241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3-target-note">
            <a:extLst xmlns:a="http://schemas.openxmlformats.org/drawingml/2006/main">
              <a:ext uri="{FF2B5EF4-FFF2-40B4-BE49-F238E27FC236}">
                <a16:creationId xmlns:a16="http://schemas.microsoft.com/office/drawing/2014/main" id="{5EB33EDB-A485-4AD2-8224-35F69A76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74D76"/>
                </a:solidFill>
              </a:defRPr>
            </a:pPr>
            <a:r>
              <a:rPr sz="1350">
                <a:solidFill>
                  <a:srgbClr val="274D76"/>
                </a:solidFill>
              </a:rPr>
              <a:t>概率密度最大、重复发生，也最适合标准化</a:t>
            </a:r>
          </a:p>
        </p:txBody>
      </p:sp>
      <p:sp>
        <p:nvSpPr>
          <p:cNvPr id="13" name="p3-bottom-head">
            <a:extLst xmlns:a="http://schemas.openxmlformats.org/drawingml/2006/main">
              <a:ext uri="{FF2B5EF4-FFF2-40B4-BE49-F238E27FC236}">
                <a16:creationId xmlns:a16="http://schemas.microsoft.com/office/drawing/2014/main" id="{A42E4195-C798-4701-9CC0-1628070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</a:defRPr>
            </a:pPr>
            <a:r>
              <a:rPr sz="1650" b="1">
                <a:solidFill>
                  <a:srgbClr val="252B33"/>
                </a:solidFill>
              </a:rPr>
              <a:t>这类场景的底线很明确</a:t>
            </a:r>
          </a:p>
        </p:txBody>
      </p:sp>
      <p:sp>
        <p:nvSpPr>
          <p:cNvPr id="14" name="p3-bottom-copy">
            <a:extLst xmlns:a="http://schemas.openxmlformats.org/drawingml/2006/main">
              <a:ext uri="{FF2B5EF4-FFF2-40B4-BE49-F238E27FC236}">
                <a16:creationId xmlns:a16="http://schemas.microsoft.com/office/drawing/2014/main" id="{BFDFD944-C9A6-4E19-9F47-FED6AB9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不能乱，不能丑，不能掉价，不能生成以后无法修改。</a:t>
            </a:r>
          </a:p>
        </p:txBody>
      </p:sp>
      <p:sp>
        <p:nvSpPr>
          <p:cNvPr id="15" name="p3-bottom-rule">
            <a:extLst xmlns:a="http://schemas.openxmlformats.org/drawingml/2006/main">
              <a:ext uri="{FF2B5EF4-FFF2-40B4-BE49-F238E27FC236}">
                <a16:creationId xmlns:a16="http://schemas.microsoft.com/office/drawing/2014/main" id="{62E76D08-9551-4493-9A65-38AF7974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3-bottom-foot">
            <a:extLst xmlns:a="http://schemas.openxmlformats.org/drawingml/2006/main">
              <a:ext uri="{FF2B5EF4-FFF2-40B4-BE49-F238E27FC236}">
                <a16:creationId xmlns:a16="http://schemas.microsoft.com/office/drawing/2014/main" id="{97A790EB-FFFE-4364-A408-02919C99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产品选择因此不是覆盖所有需求，而是先把最常见、最可重复的工作做好。</a:t>
            </a:r>
          </a:p>
        </p:txBody>
      </p:sp>
    </p:spTree>
    <p:extLst>
      <p:ext uri="{BB962C8B-B14F-4D97-AF65-F5344CB8AC3E}">
        <p14:creationId xmlns:p14="http://schemas.microsoft.com/office/powerpoint/2010/main" val="621714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A863CEB-BB63-48CD-9262-40587439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产品真正追求的，是跨过可用线的概率</a:t>
            </a:r>
          </a:p>
        </p:txBody>
      </p:sp>
      <p:sp>
        <p:nvSpPr>
          <p:cNvPr id="2" name="slide-4-divider">
            <a:extLst xmlns:a="http://schemas.openxmlformats.org/drawingml/2006/main">
              <a:ext uri="{FF2B5EF4-FFF2-40B4-BE49-F238E27FC236}">
                <a16:creationId xmlns:a16="http://schemas.microsoft.com/office/drawing/2014/main" id="{93B3CAFF-D5CB-4B2F-8E3D-A146268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4F9FAFDB-592F-4B62-B71E-096E2B6C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目标不是偶尔生成 95 分，而是让随机工作稿稳定进入可用区间。</a:t>
            </a:r>
          </a:p>
        </p:txBody>
      </p:sp>
      <p:sp>
        <p:nvSpPr>
          <p:cNvPr id="4" name="slide-4-footer-line">
            <a:extLst xmlns:a="http://schemas.openxmlformats.org/drawingml/2006/main">
              <a:ext uri="{FF2B5EF4-FFF2-40B4-BE49-F238E27FC236}">
                <a16:creationId xmlns:a16="http://schemas.microsoft.com/office/drawing/2014/main" id="{8CBFF075-D020-41A5-8DA4-B35FDF8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94210129-462C-43A8-883F-9AC6F19B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40308787-8C82-420A-B4B2-A96BF73E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04</a:t>
            </a:r>
          </a:p>
        </p:txBody>
      </p:sp>
      <p:sp>
        <p:nvSpPr>
          <p:cNvPr id="7" name="p4-formula-label">
            <a:extLst xmlns:a="http://schemas.openxmlformats.org/drawingml/2006/main">
              <a:ext uri="{FF2B5EF4-FFF2-40B4-BE49-F238E27FC236}">
                <a16:creationId xmlns:a16="http://schemas.microsoft.com/office/drawing/2014/main" id="{EB45CB11-2489-47A0-A44D-BE975DA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概念上的产品可靠度</a:t>
            </a:r>
          </a:p>
        </p:txBody>
      </p:sp>
      <p:sp>
        <p:nvSpPr>
          <p:cNvPr id="8" name="p4-formula">
            <a:extLst xmlns:a="http://schemas.openxmlformats.org/drawingml/2006/main">
              <a:ext uri="{FF2B5EF4-FFF2-40B4-BE49-F238E27FC236}">
                <a16:creationId xmlns:a16="http://schemas.microsoft.com/office/drawing/2014/main" id="{A1B56379-D06A-44B8-A082-66051790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609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4D76"/>
                </a:solidFill>
              </a:defRPr>
            </a:pPr>
            <a:r>
              <a:rPr sz="2700" b="1">
                <a:solidFill>
                  <a:srgbClr val="274D76"/>
                </a:solidFill>
              </a:rPr>
              <a:t>R = P(Q ≥ Q可用 | 目标工作场景)</a:t>
            </a:r>
          </a:p>
        </p:txBody>
      </p:sp>
      <p:sp>
        <p:nvSpPr>
          <p:cNvPr id="9" name="p4-formula-rule">
            <a:extLst xmlns:a="http://schemas.openxmlformats.org/drawingml/2006/main">
              <a:ext uri="{FF2B5EF4-FFF2-40B4-BE49-F238E27FC236}">
                <a16:creationId xmlns:a16="http://schemas.microsoft.com/office/drawing/2014/main" id="{05BC64D5-A50F-40D3-9727-B28C32E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4-formula-explain">
            <a:extLst xmlns:a="http://schemas.openxmlformats.org/drawingml/2006/main">
              <a:ext uri="{FF2B5EF4-FFF2-40B4-BE49-F238E27FC236}">
                <a16:creationId xmlns:a16="http://schemas.microsoft.com/office/drawing/2014/main" id="{AC8BD9D7-1728-459B-BF15-1E0BDD9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Q 是生成质量；Q可用是“可以直接拿去讲”的最低标准。</a:t>
            </a:r>
          </a:p>
        </p:txBody>
      </p:sp>
      <p:sp>
        <p:nvSpPr>
          <p:cNvPr id="11" name="p4-rare">
            <a:extLst xmlns:a="http://schemas.openxmlformats.org/drawingml/2006/main">
              <a:ext uri="{FF2B5EF4-FFF2-40B4-BE49-F238E27FC236}">
                <a16:creationId xmlns:a16="http://schemas.microsoft.com/office/drawing/2014/main" id="{28EF4204-C8D9-402B-89D7-EA1201EC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95 分</a:t>
            </a:r>
          </a:p>
          <a:p xmlns:a="http://schemas.openxmlformats.org/drawingml/2006/main">
            <a:pPr algn="ctr">
              <a:defRPr sz="2250" b="1">
                <a:solidFill>
                  <a:srgbClr val="252B33"/>
                </a:solidFill>
              </a:defRPr>
            </a:pPr>
            <a:r>
              <a:rPr sz="2250" b="1">
                <a:solidFill>
                  <a:srgbClr val="252B33"/>
                </a:solidFill>
              </a:rPr>
              <a:t>偶尔惊艳</a:t>
            </a:r>
          </a:p>
        </p:txBody>
      </p:sp>
      <p:sp>
        <p:nvSpPr>
          <p:cNvPr id="12" name="p4-reliable">
            <a:extLst xmlns:a="http://schemas.openxmlformats.org/drawingml/2006/main">
              <a:ext uri="{FF2B5EF4-FFF2-40B4-BE49-F238E27FC236}">
                <a16:creationId xmlns:a16="http://schemas.microsoft.com/office/drawing/2014/main" id="{9D00B407-C440-454A-BA23-A7217B3B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857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80 分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稳定可用</a:t>
            </a:r>
          </a:p>
        </p:txBody>
      </p:sp>
      <p:sp>
        <p:nvSpPr>
          <p:cNvPr id="13" name="p4-side-note">
            <a:extLst xmlns:a="http://schemas.openxmlformats.org/drawingml/2006/main">
              <a:ext uri="{FF2B5EF4-FFF2-40B4-BE49-F238E27FC236}">
                <a16:creationId xmlns:a16="http://schemas.microsoft.com/office/drawing/2014/main" id="{F597AF67-5571-4389-B0B3-B0EE5889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80 分只是“稳定可用”的形象称呼。</a:t>
            </a:r>
          </a:p>
          <a:p xmlns:a="http://schemas.openxmlformats.org/drawingml/2006/main">
            <a:pPr algn="l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可靠基础比偶然峰值更值钱。</a:t>
            </a:r>
          </a:p>
        </p:txBody>
      </p:sp>
    </p:spTree>
    <p:extLst>
      <p:ext uri="{BB962C8B-B14F-4D97-AF65-F5344CB8AC3E}">
        <p14:creationId xmlns:p14="http://schemas.microsoft.com/office/powerpoint/2010/main" val="1407658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A730845-5398-40CF-8068-856F5BA1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用限制自由，换取更可预测的交付</a:t>
            </a:r>
          </a:p>
        </p:txBody>
      </p:sp>
      <p:sp>
        <p:nvSpPr>
          <p:cNvPr id="2" name="slide-5-divider">
            <a:extLst xmlns:a="http://schemas.openxmlformats.org/drawingml/2006/main">
              <a:ext uri="{FF2B5EF4-FFF2-40B4-BE49-F238E27FC236}">
                <a16:creationId xmlns:a16="http://schemas.microsoft.com/office/drawing/2014/main" id="{E374E98F-DCA8-45DA-8D94-CF069A4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9D0E832C-A8B5-4D20-B4DF-740229A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固定规范、能力边界与退化方式，减少运行时的失败空间。</a:t>
            </a:r>
          </a:p>
        </p:txBody>
      </p:sp>
      <p:sp>
        <p:nvSpPr>
          <p:cNvPr id="4" name="slide-5-footer-line">
            <a:extLst xmlns:a="http://schemas.openxmlformats.org/drawingml/2006/main">
              <a:ext uri="{FF2B5EF4-FFF2-40B4-BE49-F238E27FC236}">
                <a16:creationId xmlns:a16="http://schemas.microsoft.com/office/drawing/2014/main" id="{A4DDA334-67D4-4B85-974B-BA0E71A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43C6AE5C-31BF-4062-B87A-53D2BD5E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464A7A92-7E11-435C-AAB8-9772C84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05</a:t>
            </a:r>
          </a:p>
        </p:txBody>
      </p:sp>
      <p:sp>
        <p:nvSpPr>
          <p:cNvPr id="7" name="p5-free">
            <a:extLst xmlns:a="http://schemas.openxmlformats.org/drawingml/2006/main">
              <a:ext uri="{FF2B5EF4-FFF2-40B4-BE49-F238E27FC236}">
                <a16:creationId xmlns:a16="http://schemas.microsoft.com/office/drawing/2014/main" id="{2C0A2350-C2DE-47E6-A9D1-12A419DD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自由决定</a:t>
            </a:r>
          </a:p>
          <a:p xmlns:a="http://schemas.openxmlformats.org/drawingml/2006/main">
            <a:pPr algn="ctr">
              <a:defRPr sz="1725" b="1">
                <a:solidFill>
                  <a:srgbClr val="252B33"/>
                </a:solidFill>
              </a:defRPr>
            </a:pPr>
            <a:r>
              <a:rPr sz="1725" b="1">
                <a:solidFill>
                  <a:srgbClr val="252B33"/>
                </a:solidFill>
              </a:rPr>
              <a:t>颜色 · 字体 · 结构 · 元素</a:t>
            </a:r>
          </a:p>
        </p:txBody>
      </p:sp>
      <p:sp>
        <p:nvSpPr>
          <p:cNvPr id="8" name="p5-rules">
            <a:extLst xmlns:a="http://schemas.openxmlformats.org/drawingml/2006/main">
              <a:ext uri="{FF2B5EF4-FFF2-40B4-BE49-F238E27FC236}">
                <a16:creationId xmlns:a16="http://schemas.microsoft.com/office/drawing/2014/main" id="{E0EE2402-AC8E-4194-AB15-786A261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确定规范</a:t>
            </a:r>
          </a:p>
          <a:p xmlns:a="http://schemas.openxmlformats.org/drawingml/2006/main">
            <a:pPr algn="ctr">
              <a:defRPr sz="1725" b="1">
                <a:solidFill>
                  <a:srgbClr val="274D76"/>
                </a:solidFill>
              </a:defRPr>
            </a:pPr>
            <a:r>
              <a:rPr sz="1725" b="1">
                <a:solidFill>
                  <a:srgbClr val="274D76"/>
                </a:solidFill>
              </a:rPr>
              <a:t>主题 · 核心能力 · 数量边界</a:t>
            </a:r>
          </a:p>
        </p:txBody>
      </p:sp>
      <p:sp>
        <p:nvSpPr>
          <p:cNvPr id="9" name="p5-result">
            <a:extLst xmlns:a="http://schemas.openxmlformats.org/drawingml/2006/main">
              <a:ext uri="{FF2B5EF4-FFF2-40B4-BE49-F238E27FC236}">
                <a16:creationId xmlns:a16="http://schemas.microsoft.com/office/drawing/2014/main" id="{E32D2ACF-9760-4791-AF1D-E964A09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可预测交付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稳定、规范、可编辑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2" name="p5-cause-1">
            <a:extLst xmlns:a="http://schemas.openxmlformats.org/drawingml/2006/main">
              <a:ext uri="{FF2B5EF4-FFF2-40B4-BE49-F238E27FC236}">
                <a16:creationId xmlns:a16="http://schemas.microsoft.com/office/drawing/2014/main" id="{DBFD01CD-A66B-4C0B-8377-C0199B3C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状态空间更大，失败模式更多</a:t>
            </a:r>
          </a:p>
        </p:txBody>
      </p:sp>
      <p:sp>
        <p:nvSpPr>
          <p:cNvPr id="13" name="p5-cause-2">
            <a:extLst xmlns:a="http://schemas.openxmlformats.org/drawingml/2006/main">
              <a:ext uri="{FF2B5EF4-FFF2-40B4-BE49-F238E27FC236}">
                <a16:creationId xmlns:a16="http://schemas.microsoft.com/office/drawing/2014/main" id="{861D583C-C19F-4F52-8520-FB13818C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把已验证的选择提前固定</a:t>
            </a:r>
          </a:p>
        </p:txBody>
      </p:sp>
      <p:sp>
        <p:nvSpPr>
          <p:cNvPr id="14" name="p5-cause-3">
            <a:extLst xmlns:a="http://schemas.openxmlformats.org/drawingml/2006/main">
              <a:ext uri="{FF2B5EF4-FFF2-40B4-BE49-F238E27FC236}">
                <a16:creationId xmlns:a16="http://schemas.microsoft.com/office/drawing/2014/main" id="{08353E0A-F302-4F5B-92BE-3A6B443F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必要时按已登记方式退化</a:t>
            </a:r>
          </a:p>
        </p:txBody>
      </p:sp>
      <p:sp>
        <p:nvSpPr>
          <p:cNvPr id="15" name="p5-note-surface">
            <a:extLst xmlns:a="http://schemas.openxmlformats.org/drawingml/2006/main">
              <a:ext uri="{FF2B5EF4-FFF2-40B4-BE49-F238E27FC236}">
                <a16:creationId xmlns:a16="http://schemas.microsoft.com/office/drawing/2014/main" id="{74D9B785-1F3D-4B5B-B4C7-DEF4BC47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5-note">
            <a:extLst xmlns:a="http://schemas.openxmlformats.org/drawingml/2006/main">
              <a:ext uri="{FF2B5EF4-FFF2-40B4-BE49-F238E27FC236}">
                <a16:creationId xmlns:a16="http://schemas.microsoft.com/office/drawing/2014/main" id="{0A310236-677E-4576-898E-5483C93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4D76"/>
                </a:solidFill>
              </a:defRPr>
            </a:pPr>
            <a:r>
              <a:rPr sz="1650" b="1">
                <a:solidFill>
                  <a:srgbClr val="274D76"/>
                </a:solidFill>
              </a:rPr>
              <a:t>学校有学校的样子，企业有企业的样子。每次都不一样，有时候才是缺点。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1475925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B2FB9ECD-5DC6-4C44-9288-ED12EF8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AI 负责理解和路由，规则负责约束，代码负责稳定生成</a:t>
            </a:r>
          </a:p>
        </p:txBody>
      </p:sp>
      <p:sp>
        <p:nvSpPr>
          <p:cNvPr id="2" name="slide-6-divider">
            <a:extLst xmlns:a="http://schemas.openxmlformats.org/drawingml/2006/main">
              <a:ext uri="{FF2B5EF4-FFF2-40B4-BE49-F238E27FC236}">
                <a16:creationId xmlns:a16="http://schemas.microsoft.com/office/drawing/2014/main" id="{3BC6EE51-23B9-49FB-8FDD-CA8388A5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390FEBEF-A3FF-43C9-B0FA-2C286B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两条路线在确认过的核心资产库处相交，最后输出原生可编辑 PPTX。</a:t>
            </a:r>
          </a:p>
        </p:txBody>
      </p:sp>
      <p:sp>
        <p:nvSpPr>
          <p:cNvPr id="4" name="slide-6-footer-line">
            <a:extLst xmlns:a="http://schemas.openxmlformats.org/drawingml/2006/main">
              <a:ext uri="{FF2B5EF4-FFF2-40B4-BE49-F238E27FC236}">
                <a16:creationId xmlns:a16="http://schemas.microsoft.com/office/drawing/2014/main" id="{D54657C9-E99E-47D3-B02F-B4078CCE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612AF572-6571-4D47-9043-0AA8705B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FCD99A74-7A50-4010-A1ED-7DB4441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06</a:t>
            </a:r>
          </a:p>
        </p:txBody>
      </p:sp>
      <p:sp>
        <p:nvSpPr>
          <p:cNvPr id="7" name="p6-lane-top">
            <a:extLst xmlns:a="http://schemas.openxmlformats.org/drawingml/2006/main">
              <a:ext uri="{FF2B5EF4-FFF2-40B4-BE49-F238E27FC236}">
                <a16:creationId xmlns:a16="http://schemas.microsoft.com/office/drawing/2014/main" id="{0CFE9413-0AAA-4730-A9A5-2C7915E0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52550"/>
            <a:ext cx="1114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6-lane-bottom">
            <a:extLst xmlns:a="http://schemas.openxmlformats.org/drawingml/2006/main">
              <a:ext uri="{FF2B5EF4-FFF2-40B4-BE49-F238E27FC236}">
                <a16:creationId xmlns:a16="http://schemas.microsoft.com/office/drawing/2014/main" id="{79E24227-B669-4063-8874-9A539B3C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19450"/>
            <a:ext cx="11144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6-lane-top-label">
            <a:extLst xmlns:a="http://schemas.openxmlformats.org/drawingml/2006/main">
              <a:ext uri="{FF2B5EF4-FFF2-40B4-BE49-F238E27FC236}">
                <a16:creationId xmlns:a16="http://schemas.microsoft.com/office/drawing/2014/main" id="{893DE644-9093-4E01-B2B4-18CD978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资产入库线</a:t>
            </a:r>
          </a:p>
        </p:txBody>
      </p:sp>
      <p:sp>
        <p:nvSpPr>
          <p:cNvPr id="10" name="p6-lane-bottom-label">
            <a:extLst xmlns:a="http://schemas.openxmlformats.org/drawingml/2006/main">
              <a:ext uri="{FF2B5EF4-FFF2-40B4-BE49-F238E27FC236}">
                <a16:creationId xmlns:a16="http://schemas.microsoft.com/office/drawing/2014/main" id="{5B1F4CB6-10B0-41E9-8BA4-B0CE9720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正式生成线</a:t>
            </a:r>
          </a:p>
        </p:txBody>
      </p:sp>
      <p:sp>
        <p:nvSpPr>
          <p:cNvPr id="11" name="p6-ref">
            <a:extLst xmlns:a="http://schemas.openxmlformats.org/drawingml/2006/main">
              <a:ext uri="{FF2B5EF4-FFF2-40B4-BE49-F238E27FC236}">
                <a16:creationId xmlns:a16="http://schemas.microsoft.com/office/drawing/2014/main" id="{33092DC4-75BF-4D3A-B910-2EB7E4B8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优秀参考</a:t>
            </a:r>
          </a:p>
        </p:txBody>
      </p:sp>
      <p:sp>
        <p:nvSpPr>
          <p:cNvPr id="12" name="p6-extract">
            <a:extLst xmlns:a="http://schemas.openxmlformats.org/drawingml/2006/main">
              <a:ext uri="{FF2B5EF4-FFF2-40B4-BE49-F238E27FC236}">
                <a16:creationId xmlns:a16="http://schemas.microsoft.com/office/drawing/2014/main" id="{438E2E38-B77C-4423-90D0-A16ECB0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1571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提炼规律</a:t>
            </a:r>
          </a:p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参数化</a:t>
            </a:r>
          </a:p>
        </p:txBody>
      </p:sp>
      <p:sp>
        <p:nvSpPr>
          <p:cNvPr id="13" name="p6-confirm">
            <a:extLst xmlns:a="http://schemas.openxmlformats.org/drawingml/2006/main">
              <a:ext uri="{FF2B5EF4-FFF2-40B4-BE49-F238E27FC236}">
                <a16:creationId xmlns:a16="http://schemas.microsoft.com/office/drawing/2014/main" id="{B7D6245F-E91B-41E5-9622-9FA2014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57375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用户确认</a:t>
            </a:r>
          </a:p>
        </p:txBody>
      </p:sp>
      <p:sp>
        <p:nvSpPr>
          <p:cNvPr id="14" name="p6-core">
            <a:extLst xmlns:a="http://schemas.openxmlformats.org/drawingml/2006/main">
              <a:ext uri="{FF2B5EF4-FFF2-40B4-BE49-F238E27FC236}">
                <a16:creationId xmlns:a16="http://schemas.microsoft.com/office/drawing/2014/main" id="{F98432C4-A2EF-4C54-ADCD-91B66C1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核心资产库</a:t>
            </a:r>
          </a:p>
        </p:txBody>
      </p: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00375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048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53250" y="2200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8" name="p6-input">
            <a:extLst xmlns:a="http://schemas.openxmlformats.org/drawingml/2006/main">
              <a:ext uri="{FF2B5EF4-FFF2-40B4-BE49-F238E27FC236}">
                <a16:creationId xmlns:a16="http://schemas.microsoft.com/office/drawing/2014/main" id="{16B179DF-B775-4F60-9E7C-5157359E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762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</a:defRPr>
            </a:pPr>
            <a:r>
              <a:rPr sz="1425" b="1">
                <a:solidFill>
                  <a:srgbClr val="252B33"/>
                </a:solidFill>
              </a:rPr>
              <a:t>原始稿件 + 主题</a:t>
            </a:r>
          </a:p>
        </p:txBody>
      </p:sp>
      <p:sp>
        <p:nvSpPr>
          <p:cNvPr id="19" name="p6-content">
            <a:extLst xmlns:a="http://schemas.openxmlformats.org/drawingml/2006/main">
              <a:ext uri="{FF2B5EF4-FFF2-40B4-BE49-F238E27FC236}">
                <a16:creationId xmlns:a16="http://schemas.microsoft.com/office/drawing/2014/main" id="{0A5CA408-8976-447B-858B-532D8CC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内容导演（AI）</a:t>
            </a:r>
          </a:p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理解稿件 · 组织叙事 · 拆页</a:t>
            </a:r>
          </a:p>
        </p:txBody>
      </p:sp>
      <p:sp>
        <p:nvSpPr>
          <p:cNvPr id="20" name="p6-visual">
            <a:extLst xmlns:a="http://schemas.openxmlformats.org/drawingml/2006/main">
              <a:ext uri="{FF2B5EF4-FFF2-40B4-BE49-F238E27FC236}">
                <a16:creationId xmlns:a16="http://schemas.microsoft.com/office/drawing/2014/main" id="{6DE1D6CE-9DD4-435A-AC6C-15B98E5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00500"/>
            <a:ext cx="19526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视觉导演（AI）</a:t>
            </a:r>
          </a:p>
          <a:p xmlns:a="http://schemas.openxmlformats.org/drawingml/2006/main">
            <a:pPr algn="ctr">
              <a:defRPr sz="1275" b="1">
                <a:solidFill>
                  <a:srgbClr val="274D76"/>
                </a:solidFill>
              </a:defRPr>
            </a:pPr>
            <a:r>
              <a:rPr sz="1275" b="1">
                <a:solidFill>
                  <a:srgbClr val="274D76"/>
                </a:solidFill>
              </a:rPr>
              <a:t>判断表达 · 选择结构</a:t>
            </a:r>
          </a:p>
        </p:txBody>
      </p:sp>
      <p:sp>
        <p:nvSpPr>
          <p:cNvPr id="21" name="p6-choice">
            <a:extLst xmlns:a="http://schemas.openxmlformats.org/drawingml/2006/main">
              <a:ext uri="{FF2B5EF4-FFF2-40B4-BE49-F238E27FC236}">
                <a16:creationId xmlns:a16="http://schemas.microsoft.com/office/drawing/2014/main" id="{D8AFE7BC-4803-4F23-B893-347B91B9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1619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合法能力</a:t>
            </a:r>
          </a:p>
          <a:p xmlns:a="http://schemas.openxmlformats.org/drawingml/2006/main">
            <a:pPr algn="ctr">
              <a:defRPr sz="1350" b="1">
                <a:solidFill>
                  <a:srgbClr val="252B33"/>
                </a:solidFill>
              </a:defRPr>
            </a:pPr>
            <a:r>
              <a:rPr sz="1350" b="1">
                <a:solidFill>
                  <a:srgbClr val="252B33"/>
                </a:solidFill>
              </a:rPr>
              <a:t>或简单排版</a:t>
            </a:r>
          </a:p>
        </p:txBody>
      </p:sp>
      <p:sp>
        <p:nvSpPr>
          <p:cNvPr id="22" name="p6-pptx">
            <a:extLst xmlns:a="http://schemas.openxmlformats.org/drawingml/2006/main">
              <a:ext uri="{FF2B5EF4-FFF2-40B4-BE49-F238E27FC236}">
                <a16:creationId xmlns:a16="http://schemas.microsoft.com/office/drawing/2014/main" id="{0998EF22-B60D-4A98-8ED9-70F5D31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28587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原生可编辑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PPTX</a:t>
            </a:r>
          </a:p>
        </p:txBody>
      </p:sp>
      <p:cxnSp>
        <p:nvCxnSpPr>
          <p:cNvPr id="5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9087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429250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43719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572625" y="43719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286750" y="2543175"/>
            <a:ext cx="476250" cy="1457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E83A8"/>
            </a:solidFill>
            <a:prstDash val="dash"/>
            <a:tailEnd type="arrow" w="sm" len="sm"/>
          </a:ln>
        </p:spPr>
      </p:cxnSp>
      <p:sp>
        <p:nvSpPr>
          <p:cNvPr id="28" name="p6-core-note">
            <a:extLst xmlns:a="http://schemas.openxmlformats.org/drawingml/2006/main">
              <a:ext uri="{FF2B5EF4-FFF2-40B4-BE49-F238E27FC236}">
                <a16:creationId xmlns:a16="http://schemas.microsoft.com/office/drawing/2014/main" id="{1264A0F4-3613-4447-9A85-9650AFC2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E83A8"/>
                </a:solidFill>
              </a:defRPr>
            </a:pPr>
            <a:r>
              <a:rPr sz="1200">
                <a:solidFill>
                  <a:srgbClr val="5E83A8"/>
                </a:solidFill>
              </a:rPr>
              <a:t>核心资产库只读供给选择</a:t>
            </a:r>
          </a:p>
        </p:txBody>
      </p:sp>
      <p:sp>
        <p:nvSpPr>
          <p:cNvPr id="29" name="p6-generation-note">
            <a:extLst xmlns:a="http://schemas.openxmlformats.org/drawingml/2006/main">
              <a:ext uri="{FF2B5EF4-FFF2-40B4-BE49-F238E27FC236}">
                <a16:creationId xmlns:a16="http://schemas.microsoft.com/office/drawing/2014/main" id="{A71CFE2A-84EF-4846-9690-84A0498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101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4D76"/>
                </a:solidFill>
              </a:defRPr>
            </a:pPr>
            <a:r>
              <a:rPr sz="1200" b="1">
                <a:solidFill>
                  <a:srgbClr val="274D76"/>
                </a:solidFill>
              </a:rPr>
              <a:t>确定性生成</a:t>
            </a:r>
          </a:p>
        </p:txBody>
      </p:sp>
      <p:sp>
        <p:nvSpPr>
          <p:cNvPr id="30" name="p6-caption">
            <a:extLst xmlns:a="http://schemas.openxmlformats.org/drawingml/2006/main">
              <a:ext uri="{FF2B5EF4-FFF2-40B4-BE49-F238E27FC236}">
                <a16:creationId xmlns:a16="http://schemas.microsoft.com/office/drawing/2014/main" id="{BF0C3126-9799-4396-B611-106812F9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707780"/>
                </a:solidFill>
              </a:defRPr>
            </a:pPr>
            <a:r>
              <a:rPr sz="1350">
                <a:solidFill>
                  <a:srgbClr val="707780"/>
                </a:solidFill>
              </a:rPr>
              <a:t>内容导演组织叙事，视觉导演选择结构；AI 不直接自由绘制整份 PPT，确定性代码完成重复劳动。</a:t>
            </a:r>
          </a:p>
        </p:txBody>
      </p:sp>
    </p:spTree>
    <p:extLst>
      <p:ext uri="{BB962C8B-B14F-4D97-AF65-F5344CB8AC3E}">
        <p14:creationId xmlns:p14="http://schemas.microsoft.com/office/powerpoint/2010/main" val="1071938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D670B3D-8009-4B04-B4AB-B39565F8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把昂贵的视觉理解与失败风险前移</a:t>
            </a:r>
          </a:p>
        </p:txBody>
      </p:sp>
      <p:sp>
        <p:nvSpPr>
          <p:cNvPr id="2" name="slide-7-divider">
            <a:extLst xmlns:a="http://schemas.openxmlformats.org/drawingml/2006/main">
              <a:ext uri="{FF2B5EF4-FFF2-40B4-BE49-F238E27FC236}">
                <a16:creationId xmlns:a16="http://schemas.microsoft.com/office/drawing/2014/main" id="{973D0E24-DCC4-4E82-A6D9-C28CD12D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61D26D15-F949-4EE0-86C9-08D3D166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建设完成以后，正式生成阶段主要执行理解、选择和填参。</a:t>
            </a:r>
          </a:p>
        </p:txBody>
      </p:sp>
      <p:sp>
        <p:nvSpPr>
          <p:cNvPr id="4" name="slide-7-footer-line">
            <a:extLst xmlns:a="http://schemas.openxmlformats.org/drawingml/2006/main">
              <a:ext uri="{FF2B5EF4-FFF2-40B4-BE49-F238E27FC236}">
                <a16:creationId xmlns:a16="http://schemas.microsoft.com/office/drawing/2014/main" id="{0F357565-60F3-4221-8C32-2EEB7919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869EE0B2-16C4-48AC-A481-313B8551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2C95AAD6-0D6E-438A-85AB-573945C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07</a:t>
            </a:r>
          </a:p>
        </p:txBody>
      </p:sp>
      <p:sp>
        <p:nvSpPr>
          <p:cNvPr id="7" name="p7-build">
            <a:extLst xmlns:a="http://schemas.openxmlformats.org/drawingml/2006/main">
              <a:ext uri="{FF2B5EF4-FFF2-40B4-BE49-F238E27FC236}">
                <a16:creationId xmlns:a16="http://schemas.microsoft.com/office/drawing/2014/main" id="{0CE6F817-0744-4AAA-92ED-5AED4D82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28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建设期</a:t>
            </a:r>
          </a:p>
          <a:p xmlns:a="http://schemas.openxmlformats.org/drawingml/2006/main">
            <a:pPr algn="ctr">
              <a:defRPr sz="1800" b="1">
                <a:solidFill>
                  <a:srgbClr val="274D76"/>
                </a:solidFill>
              </a:defRPr>
            </a:pPr>
            <a:r>
              <a:rPr sz="1800" b="1">
                <a:solidFill>
                  <a:srgbClr val="274D76"/>
                </a:solidFill>
              </a:rPr>
              <a:t>筛选 · 参数化 · 验证 · 用户确认</a:t>
            </a:r>
          </a:p>
        </p:txBody>
      </p:sp>
      <p:sp>
        <p:nvSpPr>
          <p:cNvPr id="8" name="p7-deliver">
            <a:extLst xmlns:a="http://schemas.openxmlformats.org/drawingml/2006/main">
              <a:ext uri="{FF2B5EF4-FFF2-40B4-BE49-F238E27FC236}">
                <a16:creationId xmlns:a16="http://schemas.microsoft.com/office/drawing/2014/main" id="{3B9ABDEA-FEC0-4EC0-9B65-E7E0764F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286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交付期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理解 · 路由 · 填参 · 稳定生成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124450" y="2895600"/>
            <a:ext cx="1943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0" name="p7-arrow-label">
            <a:extLst xmlns:a="http://schemas.openxmlformats.org/drawingml/2006/main">
              <a:ext uri="{FF2B5EF4-FFF2-40B4-BE49-F238E27FC236}">
                <a16:creationId xmlns:a16="http://schemas.microsoft.com/office/drawing/2014/main" id="{C6CB0182-69EA-4FC2-8118-8F3287F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145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4D76"/>
                </a:solidFill>
              </a:defRPr>
            </a:pPr>
            <a:r>
              <a:rPr sz="1350" b="1">
                <a:solidFill>
                  <a:srgbClr val="274D76"/>
                </a:solidFill>
              </a:rPr>
              <a:t>一次建设，多次复用</a:t>
            </a:r>
          </a:p>
        </p:txBody>
      </p:sp>
      <p:sp>
        <p:nvSpPr>
          <p:cNvPr id="11" name="p7-build-detail">
            <a:extLst xmlns:a="http://schemas.openxmlformats.org/drawingml/2006/main">
              <a:ext uri="{FF2B5EF4-FFF2-40B4-BE49-F238E27FC236}">
                <a16:creationId xmlns:a16="http://schemas.microsoft.com/office/drawing/2014/main" id="{0DD3EFE0-9D7A-488B-81DD-2F974D78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7-build-copy">
            <a:extLst xmlns:a="http://schemas.openxmlformats.org/drawingml/2006/main">
              <a:ext uri="{FF2B5EF4-FFF2-40B4-BE49-F238E27FC236}">
                <a16:creationId xmlns:a16="http://schemas.microsoft.com/office/drawing/2014/main" id="{ABE9C0C5-82F3-4BAC-974D-A23D2F3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人和工具先把优秀页面理解成能力，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验证不同状态，再由用户确认进入核心库。</a:t>
            </a:r>
          </a:p>
        </p:txBody>
      </p:sp>
      <p:sp>
        <p:nvSpPr>
          <p:cNvPr id="13" name="p7-deliver-detail">
            <a:extLst xmlns:a="http://schemas.openxmlformats.org/drawingml/2006/main">
              <a:ext uri="{FF2B5EF4-FFF2-40B4-BE49-F238E27FC236}">
                <a16:creationId xmlns:a16="http://schemas.microsoft.com/office/drawing/2014/main" id="{278CB02E-7F87-412B-A6BE-69BFCB0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7-deliver-copy">
            <a:extLst xmlns:a="http://schemas.openxmlformats.org/drawingml/2006/main">
              <a:ext uri="{FF2B5EF4-FFF2-40B4-BE49-F238E27FC236}">
                <a16:creationId xmlns:a16="http://schemas.microsoft.com/office/drawing/2014/main" id="{C290354B-4F60-4FC1-9F90-7ED1D88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386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低成本模型承担理解、选择和填参；</a:t>
            </a:r>
          </a:p>
          <a:p xmlns:a="http://schemas.openxmlformats.org/drawingml/2006/main">
            <a:pPr algn="l">
              <a:defRPr sz="1350">
                <a:solidFill>
                  <a:srgbClr val="252B33"/>
                </a:solidFill>
              </a:defRPr>
            </a:pPr>
            <a:r>
              <a:rPr sz="1350">
                <a:solidFill>
                  <a:srgbClr val="252B33"/>
                </a:solidFill>
              </a:rPr>
              <a:t>确定性代码负责稳定绘制与检查。</a:t>
            </a:r>
          </a:p>
        </p:txBody>
      </p:sp>
      <p:sp>
        <p:nvSpPr>
          <p:cNvPr id="15" name="p7-bottom">
            <a:extLst xmlns:a="http://schemas.openxmlformats.org/drawingml/2006/main">
              <a:ext uri="{FF2B5EF4-FFF2-40B4-BE49-F238E27FC236}">
                <a16:creationId xmlns:a16="http://schemas.microsoft.com/office/drawing/2014/main" id="{D4F9AB2E-635F-49DE-B33A-CC408C22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视觉理解没有消失，而是从每次在线支付的成本，变成一次建设、持续复用的资产。</a:t>
            </a:r>
          </a:p>
        </p:txBody>
      </p:sp>
    </p:spTree>
    <p:extLst>
      <p:ext uri="{BB962C8B-B14F-4D97-AF65-F5344CB8AC3E}">
        <p14:creationId xmlns:p14="http://schemas.microsoft.com/office/powerpoint/2010/main" val="1403479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57C2BE9-B455-479A-AF31-C5F850AB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</a:defRPr>
            </a:pPr>
            <a:r>
              <a:rPr sz="2400" b="1">
                <a:solidFill>
                  <a:srgbClr val="252B33"/>
                </a:solidFill>
              </a:rPr>
              <a:t>真正积累的是表达能力的边界</a:t>
            </a:r>
          </a:p>
        </p:txBody>
      </p:sp>
      <p:sp>
        <p:nvSpPr>
          <p:cNvPr id="2" name="slide-8-divider">
            <a:extLst xmlns:a="http://schemas.openxmlformats.org/drawingml/2006/main">
              <a:ext uri="{FF2B5EF4-FFF2-40B4-BE49-F238E27FC236}">
                <a16:creationId xmlns:a16="http://schemas.microsoft.com/office/drawing/2014/main" id="{DC26EFC7-D96A-4B4E-9D00-C8A5F7F6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14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A4A85B8A-09B9-4E72-8EF7-5310B431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71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707780"/>
                </a:solidFill>
              </a:defRPr>
            </a:pPr>
            <a:r>
              <a:rPr sz="1200">
                <a:solidFill>
                  <a:srgbClr val="707780"/>
                </a:solidFill>
              </a:rPr>
              <a:t>模板会过时；容量、变化方式与退化边界才是可以反复调用的经验。</a:t>
            </a:r>
          </a:p>
        </p:txBody>
      </p:sp>
      <p:sp>
        <p:nvSpPr>
          <p:cNvPr id="4" name="slide-8-footer-line">
            <a:extLst xmlns:a="http://schemas.openxmlformats.org/drawingml/2006/main">
              <a:ext uri="{FF2B5EF4-FFF2-40B4-BE49-F238E27FC236}">
                <a16:creationId xmlns:a16="http://schemas.microsoft.com/office/drawing/2014/main" id="{484698EE-15BB-46C6-9C3C-8DB4744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8B9443A8-FCAC-4A5C-8F02-6F7EE92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来源：PPagenT 产品叙事</a:t>
            </a:r>
          </a:p>
        </p:txBody>
      </p:sp>
      <p:sp>
        <p:nvSpPr>
          <p:cNvPr id="6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29BD5843-9DF6-4A7C-8E66-11414765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707780"/>
                </a:solidFill>
              </a:defRPr>
            </a:pPr>
            <a:r>
              <a:rPr sz="1050">
                <a:solidFill>
                  <a:srgbClr val="707780"/>
                </a:solidFill>
              </a:rPr>
              <a:t>08</a:t>
            </a:r>
          </a:p>
        </p:txBody>
      </p:sp>
      <p:sp>
        <p:nvSpPr>
          <p:cNvPr id="7" name="p8-pack">
            <a:extLst xmlns:a="http://schemas.openxmlformats.org/drawingml/2006/main">
              <a:ext uri="{FF2B5EF4-FFF2-40B4-BE49-F238E27FC236}">
                <a16:creationId xmlns:a16="http://schemas.microsoft.com/office/drawing/2014/main" id="{273463F1-5C56-42CE-A291-CC5738A3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6191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经过验证的表达能力包</a:t>
            </a:r>
          </a:p>
        </p:txBody>
      </p:sp>
      <p:sp>
        <p:nvSpPr>
          <p:cNvPr id="8" name="p8-boundary">
            <a:extLst xmlns:a="http://schemas.openxmlformats.org/drawingml/2006/main">
              <a:ext uri="{FF2B5EF4-FFF2-40B4-BE49-F238E27FC236}">
                <a16:creationId xmlns:a16="http://schemas.microsoft.com/office/drawing/2014/main" id="{C339423E-6134-4D9F-BEF3-3A6E2169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知道什么内容适合怎样表达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知道数量变化时怎样重排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知道超过边界后怎样拆页或退化</a:t>
            </a:r>
          </a:p>
          <a:p xmlns:a="http://schemas.openxmlformats.org/drawingml/2006/main">
            <a:pPr algn="ctr">
              <a:defRPr sz="1425" b="0">
                <a:solidFill>
                  <a:srgbClr val="252B33"/>
                </a:solidFill>
              </a:defRPr>
            </a:pPr>
            <a:r>
              <a:rPr sz="1425" b="0">
                <a:solidFill>
                  <a:srgbClr val="252B33"/>
                </a:solidFill>
              </a:rPr>
              <a:t>知道哪些结构不应该使用</a:t>
            </a:r>
          </a:p>
        </p:txBody>
      </p: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933825" y="27241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0" name="p8-bridge">
            <a:extLst xmlns:a="http://schemas.openxmlformats.org/drawingml/2006/main">
              <a:ext uri="{FF2B5EF4-FFF2-40B4-BE49-F238E27FC236}">
                <a16:creationId xmlns:a16="http://schemas.microsoft.com/office/drawing/2014/main" id="{82085CEA-5952-498E-9C95-D3E4604A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4D76"/>
                </a:solidFill>
              </a:defRPr>
            </a:pPr>
            <a:r>
              <a:rPr sz="1500" b="1">
                <a:solidFill>
                  <a:srgbClr val="274D76"/>
                </a:solidFill>
              </a:rPr>
              <a:t>应用结论：组织主题可替换</a:t>
            </a:r>
          </a:p>
        </p:txBody>
      </p:sp>
      <p:sp>
        <p:nvSpPr>
          <p:cNvPr id="11" name="p8-theme">
            <a:extLst xmlns:a="http://schemas.openxmlformats.org/drawingml/2006/main">
              <a:ext uri="{FF2B5EF4-FFF2-40B4-BE49-F238E27FC236}">
                <a16:creationId xmlns:a16="http://schemas.microsoft.com/office/drawing/2014/main" id="{9916AAE1-CF3A-494D-9C8F-D77CC92A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组织主题</a:t>
            </a:r>
          </a:p>
          <a:p xmlns:a="http://schemas.openxmlformats.org/drawingml/2006/main">
            <a:pPr algn="ctr">
              <a:defRPr sz="1500" b="1">
                <a:solidFill>
                  <a:srgbClr val="252B33"/>
                </a:solidFill>
              </a:defRPr>
            </a:pPr>
            <a:r>
              <a:rPr sz="1500" b="1">
                <a:solidFill>
                  <a:srgbClr val="252B33"/>
                </a:solidFill>
              </a:rPr>
              <a:t>颜色 · Logo · 字体 · 页眉页脚</a:t>
            </a:r>
          </a:p>
        </p:txBody>
      </p:sp>
      <p:sp>
        <p:nvSpPr>
          <p:cNvPr id="12" name="p8-org">
            <a:extLst xmlns:a="http://schemas.openxmlformats.org/drawingml/2006/main">
              <a:ext uri="{FF2B5EF4-FFF2-40B4-BE49-F238E27FC236}">
                <a16:creationId xmlns:a16="http://schemas.microsoft.com/office/drawing/2014/main" id="{028D5228-3FAD-4208-9EB2-05FE7BDE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更多学校、科研院所、企业与团队</a:t>
            </a:r>
          </a:p>
        </p:txBody>
      </p:sp>
      <p:cxnSp>
        <p:nvCxnSpPr>
          <p:cNvPr id="2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667875" y="34956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83A8"/>
            </a:solidFill>
            <a:prstDash val="solid"/>
            <a:tailEnd type="arrow" w="sm" len="sm"/>
          </a:ln>
        </p:spPr>
      </p:cxnSp>
      <p:sp>
        <p:nvSpPr>
          <p:cNvPr id="14" name="p8-org-note">
            <a:extLst xmlns:a="http://schemas.openxmlformats.org/drawingml/2006/main">
              <a:ext uri="{FF2B5EF4-FFF2-40B4-BE49-F238E27FC236}">
                <a16:creationId xmlns:a16="http://schemas.microsoft.com/office/drawing/2014/main" id="{A6D8D8A5-10A7-4359-961E-FE898C8E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67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707780"/>
                </a:solidFill>
              </a:defRPr>
            </a:pPr>
            <a:r>
              <a:rPr sz="1275">
                <a:solidFill>
                  <a:srgbClr val="707780"/>
                </a:solidFill>
              </a:rPr>
              <a:t>东北大学是第一个正式落地场景；能力继续复用。</a:t>
            </a:r>
          </a:p>
        </p:txBody>
      </p:sp>
    </p:spTree>
    <p:extLst>
      <p:ext uri="{BB962C8B-B14F-4D97-AF65-F5344CB8AC3E}">
        <p14:creationId xmlns:p14="http://schemas.microsoft.com/office/powerpoint/2010/main" val="2119400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74D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9-accent">
            <a:extLst xmlns:a="http://schemas.openxmlformats.org/drawingml/2006/main">
              <a:ext uri="{FF2B5EF4-FFF2-40B4-BE49-F238E27FC236}">
                <a16:creationId xmlns:a16="http://schemas.microsoft.com/office/drawing/2014/main" id="{ED571181-58FC-4121-9A2C-55CEBDE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9-eyebrow">
            <a:extLst xmlns:a="http://schemas.openxmlformats.org/drawingml/2006/main">
              <a:ext uri="{FF2B5EF4-FFF2-40B4-BE49-F238E27FC236}">
                <a16:creationId xmlns:a16="http://schemas.microsoft.com/office/drawing/2014/main" id="{0FF3FAF2-7A92-4154-ADA8-1B743C89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8F3"/>
                </a:solidFill>
              </a:defRPr>
            </a:pPr>
            <a:r>
              <a:rPr sz="1350" b="1">
                <a:solidFill>
                  <a:srgbClr val="DCE8F3"/>
                </a:solidFill>
              </a:rPr>
              <a:t>PPagenT 的产品承诺</a:t>
            </a:r>
          </a:p>
        </p:txBody>
      </p:sp>
      <p:sp>
        <p:nvSpPr>
          <p:cNvPr id="3" name="p9-title">
            <a:extLst xmlns:a="http://schemas.openxmlformats.org/drawingml/2006/main">
              <a:ext uri="{FF2B5EF4-FFF2-40B4-BE49-F238E27FC236}">
                <a16:creationId xmlns:a16="http://schemas.microsoft.com/office/drawing/2014/main" id="{B2908837-E6E8-41B5-B4B1-C94676B2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不一定惊艳，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但真的好用。</a:t>
            </a:r>
          </a:p>
        </p:txBody>
      </p:sp>
      <p:sp>
        <p:nvSpPr>
          <p:cNvPr id="4" name="p9-copy">
            <a:extLst xmlns:a="http://schemas.openxmlformats.org/drawingml/2006/main">
              <a:ext uri="{FF2B5EF4-FFF2-40B4-BE49-F238E27FC236}">
                <a16:creationId xmlns:a16="http://schemas.microsoft.com/office/drawing/2014/main" id="{D903D9E1-54E9-433E-9C88-22708D16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可以立刻拿去讲，也可以继续修改。</a:t>
            </a:r>
          </a:p>
          <a:p xmlns:a="http://schemas.openxmlformats.org/drawingml/2006/main">
            <a:pPr algn="l">
              <a:defRPr sz="1650">
                <a:solidFill>
                  <a:srgbClr val="DCE8F3"/>
                </a:solidFill>
              </a:defRPr>
            </a:pPr>
            <a:r>
              <a:rPr sz="1650">
                <a:solidFill>
                  <a:srgbClr val="DCE8F3"/>
                </a:solidFill>
              </a:rPr>
              <a:t>不一定独一无二，但稳定、靠谱、可预测。</a:t>
            </a:r>
          </a:p>
        </p:txBody>
      </p:sp>
      <p:sp>
        <p:nvSpPr>
          <p:cNvPr id="5" name="p9-rule">
            <a:extLst xmlns:a="http://schemas.openxmlformats.org/drawingml/2006/main">
              <a:ext uri="{FF2B5EF4-FFF2-40B4-BE49-F238E27FC236}">
                <a16:creationId xmlns:a16="http://schemas.microsoft.com/office/drawing/2014/main" id="{0B7975DD-3C2A-409F-808C-63011F5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383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1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9-four">
            <a:extLst xmlns:a="http://schemas.openxmlformats.org/drawingml/2006/main">
              <a:ext uri="{FF2B5EF4-FFF2-40B4-BE49-F238E27FC236}">
                <a16:creationId xmlns:a16="http://schemas.microsoft.com/office/drawing/2014/main" id="{DC9952D0-80AE-4FC9-97E0-BD23B1F2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143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AI 读懂稿子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规则帮我们做判断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代码完成重复劳动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经验变成可靠能力</a:t>
            </a:r>
          </a:p>
        </p:txBody>
      </p:sp>
      <p:sp>
        <p:nvSpPr>
          <p:cNvPr id="7" name="p9-page">
            <a:extLst xmlns:a="http://schemas.openxmlformats.org/drawingml/2006/main">
              <a:ext uri="{FF2B5EF4-FFF2-40B4-BE49-F238E27FC236}">
                <a16:creationId xmlns:a16="http://schemas.microsoft.com/office/drawing/2014/main" id="{D38EAE51-D1EB-4840-AFE7-A96056FE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DCE8F3"/>
                </a:solidFill>
              </a:defRPr>
            </a:pPr>
            <a:r>
              <a:rPr sz="1050">
                <a:solidFill>
                  <a:srgbClr val="DCE8F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9031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2026-09-06T02:13:44.2280000Z</dcterms:created>
  <dcterms:modified xsi:type="dcterms:W3CDTF">2026-09-06T02:13:44.2280000Z</dcterms:modified>
</coreProperties>
</file>