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d76584a6341ca" /><Relationship Type="http://schemas.openxmlformats.org/officeDocument/2006/relationships/extended-properties" Target="/docProps/app.xml" Id="R3ac845359af44a8e" /><Relationship Type="http://schemas.openxmlformats.org/officeDocument/2006/relationships/officeDocument" Target="/ppt/presentation.xml" Id="R9bdf69c26b6d48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cec40f97346f4"/>
  </p:sldMasterIdLst>
  <p:notesMasterIdLst>
    <p:notesMasterId xmlns:r="http://schemas.openxmlformats.org/officeDocument/2006/relationships" r:id="R7675a154fa524fae"/>
  </p:notesMasterIdLst>
  <p:sldIdLst>
    <p:sldId xmlns:r="http://schemas.openxmlformats.org/officeDocument/2006/relationships" id="256" r:id="R5a30f102081b43bc"/>
    <p:sldId xmlns:r="http://schemas.openxmlformats.org/officeDocument/2006/relationships" id="257" r:id="Rf4d9e1135db2402c"/>
    <p:sldId xmlns:r="http://schemas.openxmlformats.org/officeDocument/2006/relationships" id="258" r:id="Rfb3b41acc22a4eee"/>
    <p:sldId xmlns:r="http://schemas.openxmlformats.org/officeDocument/2006/relationships" id="259" r:id="R05f564dd656142f9"/>
    <p:sldId xmlns:r="http://schemas.openxmlformats.org/officeDocument/2006/relationships" id="260" r:id="R64fe4e54e9484b11"/>
    <p:sldId xmlns:r="http://schemas.openxmlformats.org/officeDocument/2006/relationships" id="261" r:id="Rc7a38e2ebf0c4b3c"/>
    <p:sldId xmlns:r="http://schemas.openxmlformats.org/officeDocument/2006/relationships" id="262" r:id="R513c2bb2174b4722"/>
    <p:sldId xmlns:r="http://schemas.openxmlformats.org/officeDocument/2006/relationships" id="263" r:id="R39b26d1cabe143f9"/>
    <p:sldId xmlns:r="http://schemas.openxmlformats.org/officeDocument/2006/relationships" id="264" r:id="Rbb3d0f359b22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4649a592f4b70" /><Relationship Type="http://schemas.openxmlformats.org/officeDocument/2006/relationships/slideMaster" Target="/ppt/slideMasters/slideMaster1.xml" Id="R4aecec40f97346f4" /><Relationship Type="http://schemas.openxmlformats.org/officeDocument/2006/relationships/notesMaster" Target="/ppt/notesMasters/notesMaster1.xml" Id="R7675a154fa524fae" /><Relationship Type="http://schemas.openxmlformats.org/officeDocument/2006/relationships/presProps" Target="/ppt/presProps.xml" Id="Rdf89a62ada5e46d5" /><Relationship Type="http://schemas.openxmlformats.org/officeDocument/2006/relationships/tableStyles" Target="/ppt/tableStyles.xml" Id="R90795082e9d14ff2" /><Relationship Type="http://schemas.openxmlformats.org/officeDocument/2006/relationships/slide" Target="/ppt/slides/slide1.xml" Id="R5a30f102081b43bc" /><Relationship Type="http://schemas.openxmlformats.org/officeDocument/2006/relationships/slide" Target="/ppt/slides/slide2.xml" Id="Rf4d9e1135db2402c" /><Relationship Type="http://schemas.openxmlformats.org/officeDocument/2006/relationships/slide" Target="/ppt/slides/slide3.xml" Id="Rfb3b41acc22a4eee" /><Relationship Type="http://schemas.openxmlformats.org/officeDocument/2006/relationships/slide" Target="/ppt/slides/slide4.xml" Id="R05f564dd656142f9" /><Relationship Type="http://schemas.openxmlformats.org/officeDocument/2006/relationships/slide" Target="/ppt/slides/slide5.xml" Id="R64fe4e54e9484b11" /><Relationship Type="http://schemas.openxmlformats.org/officeDocument/2006/relationships/slide" Target="/ppt/slides/slide6.xml" Id="Rc7a38e2ebf0c4b3c" /><Relationship Type="http://schemas.openxmlformats.org/officeDocument/2006/relationships/slide" Target="/ppt/slides/slide7.xml" Id="R513c2bb2174b4722" /><Relationship Type="http://schemas.openxmlformats.org/officeDocument/2006/relationships/slide" Target="/ppt/slides/slide8.xml" Id="R39b26d1cabe143f9" /><Relationship Type="http://schemas.openxmlformats.org/officeDocument/2006/relationships/slide" Target="/ppt/slides/slide9.xml" Id="Rbb3d0f359b22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e3153888e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9ff676f6a459a" /><Relationship Type="http://schemas.openxmlformats.org/officeDocument/2006/relationships/notesMaster" Target="/ppt/notesMasters/notesMaster1.xml" Id="Rc9d59216614d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a3d5595dd4f48" /><Relationship Type="http://schemas.openxmlformats.org/officeDocument/2006/relationships/notesMaster" Target="/ppt/notesMasters/notesMaster1.xml" Id="R036dd12a31544d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bcb6e5765643da" /><Relationship Type="http://schemas.openxmlformats.org/officeDocument/2006/relationships/notesMaster" Target="/ppt/notesMasters/notesMaster1.xml" Id="R7364830dc25e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96e86136c4204" /><Relationship Type="http://schemas.openxmlformats.org/officeDocument/2006/relationships/notesMaster" Target="/ppt/notesMasters/notesMaster1.xml" Id="Ra784e40eec04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ec968bb9c4406" /><Relationship Type="http://schemas.openxmlformats.org/officeDocument/2006/relationships/notesMaster" Target="/ppt/notesMasters/notesMaster1.xml" Id="R335131ec03d74e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91e5f4965b4382" /><Relationship Type="http://schemas.openxmlformats.org/officeDocument/2006/relationships/notesMaster" Target="/ppt/notesMasters/notesMaster1.xml" Id="R75e04ca00cf24e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c104c6bc3455c" /><Relationship Type="http://schemas.openxmlformats.org/officeDocument/2006/relationships/notesMaster" Target="/ppt/notesMasters/notesMaster1.xml" Id="Rdda78a9b7a2f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a4d6d6f264afd" /><Relationship Type="http://schemas.openxmlformats.org/officeDocument/2006/relationships/notesMaster" Target="/ppt/notesMasters/notesMaster1.xml" Id="Rdcd063cc14764b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f994e1cd204c71" /><Relationship Type="http://schemas.openxmlformats.org/officeDocument/2006/relationships/notesMaster" Target="/ppt/notesMasters/notesMaster1.xml" Id="R09a5354b8a73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ef68e8ce0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fd417147c436c" /><Relationship Type="http://schemas.openxmlformats.org/officeDocument/2006/relationships/slideLayout" Target="/ppt/slideLayouts/slideLayout1.xml" Id="Rf5b0a1e47d6f4d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0a1e47d6f4d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21aec031945f6" /><Relationship Type="http://schemas.openxmlformats.org/officeDocument/2006/relationships/notesSlide" Target="/ppt/notesSlides/notesSlide1.xml" Id="R7c79bbb3dfaa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3044946134c3b" /><Relationship Type="http://schemas.openxmlformats.org/officeDocument/2006/relationships/notesSlide" Target="/ppt/notesSlides/notesSlide2.xml" Id="R0950736058af46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1493bfd9403e" /><Relationship Type="http://schemas.openxmlformats.org/officeDocument/2006/relationships/notesSlide" Target="/ppt/notesSlides/notesSlide3.xml" Id="Rc8e099c60407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1eeb75a23430c" /><Relationship Type="http://schemas.openxmlformats.org/officeDocument/2006/relationships/notesSlide" Target="/ppt/notesSlides/notesSlide4.xml" Id="R487bf9aceeed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9da517bb24325" /><Relationship Type="http://schemas.openxmlformats.org/officeDocument/2006/relationships/notesSlide" Target="/ppt/notesSlides/notesSlide5.xml" Id="R173d95b9d8b1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e50293fee46d3" /><Relationship Type="http://schemas.openxmlformats.org/officeDocument/2006/relationships/notesSlide" Target="/ppt/notesSlides/notesSlide6.xml" Id="R8e9ac4ea75f9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2e5ad14df4730" /><Relationship Type="http://schemas.openxmlformats.org/officeDocument/2006/relationships/notesSlide" Target="/ppt/notesSlides/notesSlide7.xml" Id="Rc01030bc924240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55a1627d419a" /><Relationship Type="http://schemas.openxmlformats.org/officeDocument/2006/relationships/notesSlide" Target="/ppt/notesSlides/notesSlide8.xml" Id="R8388ab9f7bee47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5a20dafe4bf4" /><Relationship Type="http://schemas.openxmlformats.org/officeDocument/2006/relationships/notesSlide" Target="/ppt/notesSlides/notesSlide9.xml" Id="R61dceac46a5f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2A53036-3DDA-47B1-9CB2-23CEAA2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327850D-C345-4827-A342-F67DA135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4DCB4D8-33B8-47FC-BD34-846DA0D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把 PPT 生成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变成可靠的生产过程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0D0FBB-D9EB-49F3-AD0D-19294016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让 AI 读懂稿子，让规则做判断，让代码完成重复劳动。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FCC82993-9A44-4368-839C-1F55CC4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5AC83891-ABD4-4E1A-8BA4-CB1B2F7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CE8F3"/>
                </a:solidFill>
              </a:defRPr>
            </a:pPr>
            <a:r>
              <a:rPr sz="1350">
                <a:solidFill>
                  <a:srgbClr val="DCE8F3"/>
                </a:solidFill>
              </a:rPr>
              <a:t>工作型 PPT · 结构清楚 · 视觉体面 · 原生可编辑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49B0A615-8B4B-4DDE-AAD3-9325695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6495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F44146D-93CE-4750-9AD7-C171174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做 PPT 真正昂贵的，是一连串判断</a:t>
            </a:r>
          </a:p>
        </p:txBody>
      </p:sp>
      <p:sp>
        <p:nvSpPr>
          <p:cNvPr id="2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6140129D-A722-402C-8972-0F9BF10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0D91C461-0A6B-433E-8F3A-F830C53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拖动文本框只是最后一步；前面还有一套叙事与视觉决策。</a:t>
            </a:r>
          </a:p>
        </p:txBody>
      </p:sp>
      <p:sp>
        <p:nvSpPr>
          <p:cNvPr id="4" name="slide-2-footer-line">
            <a:extLst xmlns:a="http://schemas.openxmlformats.org/drawingml/2006/main">
              <a:ext uri="{FF2B5EF4-FFF2-40B4-BE49-F238E27FC236}">
                <a16:creationId xmlns:a16="http://schemas.microsoft.com/office/drawing/2014/main" id="{69F8B1BF-D57D-4FC8-BD12-10BB4DD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3D80479E-F26B-4B8C-A264-D1ECB03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94EFE691-4E1E-4BAC-B787-C745834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7" name="p2-narrative">
            <a:extLst xmlns:a="http://schemas.openxmlformats.org/drawingml/2006/main">
              <a:ext uri="{FF2B5EF4-FFF2-40B4-BE49-F238E27FC236}">
                <a16:creationId xmlns:a16="http://schemas.microsoft.com/office/drawing/2014/main" id="{37535B23-CCB3-44D5-B477-7FDE6CB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4D76"/>
                </a:solidFill>
              </a:defRPr>
            </a:pPr>
            <a:r>
              <a:rPr sz="1950" b="1">
                <a:solidFill>
                  <a:srgbClr val="274D76"/>
                </a:solidFill>
              </a:rPr>
              <a:t>叙事判断</a:t>
            </a:r>
          </a:p>
        </p:txBody>
      </p:sp>
      <p:sp>
        <p:nvSpPr>
          <p:cNvPr id="8" name="p2-visual">
            <a:extLst xmlns:a="http://schemas.openxmlformats.org/drawingml/2006/main">
              <a:ext uri="{FF2B5EF4-FFF2-40B4-BE49-F238E27FC236}">
                <a16:creationId xmlns:a16="http://schemas.microsoft.com/office/drawing/2014/main" id="{CAC24340-7A6A-41B8-A21C-7F5CE28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视觉落地判断</a:t>
            </a:r>
          </a:p>
        </p:txBody>
      </p:sp>
      <p:sp>
        <p:nvSpPr>
          <p:cNvPr id="9" name="p2-output">
            <a:extLst xmlns:a="http://schemas.openxmlformats.org/drawingml/2006/main">
              <a:ext uri="{FF2B5EF4-FFF2-40B4-BE49-F238E27FC236}">
                <a16:creationId xmlns:a16="http://schemas.microsoft.com/office/drawing/2014/main" id="{4366F778-1A8D-4D66-9814-470D9A4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810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一套可以继续修改的 PPT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95700" y="2419350"/>
            <a:ext cx="316230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695700" y="3381375"/>
            <a:ext cx="316230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arrow" w="sm" len="sm"/>
          </a:ln>
        </p:spPr>
      </p:cxnSp>
      <p:sp>
        <p:nvSpPr>
          <p:cNvPr id="12" name="p2-narrative-detail">
            <a:extLst xmlns:a="http://schemas.openxmlformats.org/drawingml/2006/main">
              <a:ext uri="{FF2B5EF4-FFF2-40B4-BE49-F238E27FC236}">
                <a16:creationId xmlns:a16="http://schemas.microsoft.com/office/drawing/2014/main" id="{76B63288-7706-44E6-BF40-A224EA0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怎么讲、拆成几页、每页承担什么职责</a:t>
            </a:r>
          </a:p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观点之间是并列、递进、因果还是流程</a:t>
            </a:r>
          </a:p>
        </p:txBody>
      </p:sp>
      <p:sp>
        <p:nvSpPr>
          <p:cNvPr id="13" name="p2-visual-detail">
            <a:extLst xmlns:a="http://schemas.openxmlformats.org/drawingml/2006/main">
              <a:ext uri="{FF2B5EF4-FFF2-40B4-BE49-F238E27FC236}">
                <a16:creationId xmlns:a16="http://schemas.microsoft.com/office/drawing/2014/main" id="{7038B4C1-E805-4249-83A2-FE58F12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哪里突出、什么时候用图</a:t>
            </a:r>
          </a:p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怎样统一字体、字号、颜色和间距</a:t>
            </a:r>
          </a:p>
        </p:txBody>
      </p:sp>
      <p:sp>
        <p:nvSpPr>
          <p:cNvPr id="14" name="p2-caption">
            <a:extLst xmlns:a="http://schemas.openxmlformats.org/drawingml/2006/main">
              <a:ext uri="{FF2B5EF4-FFF2-40B4-BE49-F238E27FC236}">
                <a16:creationId xmlns:a16="http://schemas.microsoft.com/office/drawing/2014/main" id="{19C8593D-E8DA-4AF0-A981-B20CE18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高手已经积累了这些答案；PPagenT 要把答案留下来。</a:t>
            </a:r>
          </a:p>
        </p:txBody>
      </p:sp>
    </p:spTree>
    <p:extLst>
      <p:ext uri="{BB962C8B-B14F-4D97-AF65-F5344CB8AC3E}">
        <p14:creationId xmlns:p14="http://schemas.microsoft.com/office/powerpoint/2010/main" val="1926652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13F50D3-E5A1-4FD7-B27C-B35AD14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PPagenT 先服务需求密度最大的工作型 PPT</a:t>
            </a:r>
          </a:p>
        </p:txBody>
      </p:sp>
      <p:sp>
        <p:nvSpPr>
          <p:cNvPr id="2" name="slide-3-divider">
            <a:extLst xmlns:a="http://schemas.openxmlformats.org/drawingml/2006/main">
              <a:ext uri="{FF2B5EF4-FFF2-40B4-BE49-F238E27FC236}">
                <a16:creationId xmlns:a16="http://schemas.microsoft.com/office/drawing/2014/main" id="{AD99F066-0DDF-4953-9B1B-EC24512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64C2B12C-3E01-42F6-A536-A4C84CDB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两端需求都存在，但更适合标准化的是中间的日常工作场景。</a:t>
            </a:r>
          </a:p>
        </p:txBody>
      </p:sp>
      <p:sp>
        <p:nvSpPr>
          <p:cNvPr id="4" name="slide-3-footer-line">
            <a:extLst xmlns:a="http://schemas.openxmlformats.org/drawingml/2006/main">
              <a:ext uri="{FF2B5EF4-FFF2-40B4-BE49-F238E27FC236}">
                <a16:creationId xmlns:a16="http://schemas.microsoft.com/office/drawing/2014/main" id="{B64C5872-F8BE-412A-9868-D35BC2E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F31B8B21-026C-40E0-83E3-E0C7BE1F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FE685A10-EDDE-4E98-85C8-6D8EEED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7" name="p3-axis-left">
            <a:extLst xmlns:a="http://schemas.openxmlformats.org/drawingml/2006/main">
              <a:ext uri="{FF2B5EF4-FFF2-40B4-BE49-F238E27FC236}">
                <a16:creationId xmlns:a16="http://schemas.microsoft.com/office/drawing/2014/main" id="{1055B024-EA5D-49D0-BA85-9CF7702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几乎不在意版式</a:t>
            </a:r>
          </a:p>
        </p:txBody>
      </p:sp>
      <p:sp>
        <p:nvSpPr>
          <p:cNvPr id="8" name="p3-axis-right">
            <a:extLst xmlns:a="http://schemas.openxmlformats.org/drawingml/2006/main">
              <a:ext uri="{FF2B5EF4-FFF2-40B4-BE49-F238E27FC236}">
                <a16:creationId xmlns:a16="http://schemas.microsoft.com/office/drawing/2014/main" id="{A7EFF341-68C6-4788-85FF-CDA65BC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高度定制的视觉创意</a:t>
            </a:r>
          </a:p>
        </p:txBody>
      </p:sp>
      <p:sp>
        <p:nvSpPr>
          <p:cNvPr id="9" name="p3-spectrum-left">
            <a:extLst xmlns:a="http://schemas.openxmlformats.org/drawingml/2006/main">
              <a:ext uri="{FF2B5EF4-FFF2-40B4-BE49-F238E27FC236}">
                <a16:creationId xmlns:a16="http://schemas.microsoft.com/office/drawing/2014/main" id="{8C9E96EC-2D06-41E9-AAB9-3795064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target">
            <a:extLst xmlns:a="http://schemas.openxmlformats.org/drawingml/2006/main">
              <a:ext uri="{FF2B5EF4-FFF2-40B4-BE49-F238E27FC236}">
                <a16:creationId xmlns:a16="http://schemas.microsoft.com/office/drawing/2014/main" id="{7B74A1C9-1F34-44E8-96D3-244B286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71700"/>
            <a:ext cx="54483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工作型 PPT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学校 · 科研院所 · 事业单位 · 企业</a:t>
            </a:r>
          </a:p>
        </p:txBody>
      </p:sp>
      <p:sp>
        <p:nvSpPr>
          <p:cNvPr id="11" name="p3-spectrum-right">
            <a:extLst xmlns:a="http://schemas.openxmlformats.org/drawingml/2006/main">
              <a:ext uri="{FF2B5EF4-FFF2-40B4-BE49-F238E27FC236}">
                <a16:creationId xmlns:a16="http://schemas.microsoft.com/office/drawing/2014/main" id="{8E6BFD11-BD7B-422D-B87B-C9095C1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3-target-note">
            <a:extLst xmlns:a="http://schemas.openxmlformats.org/drawingml/2006/main">
              <a:ext uri="{FF2B5EF4-FFF2-40B4-BE49-F238E27FC236}">
                <a16:creationId xmlns:a16="http://schemas.microsoft.com/office/drawing/2014/main" id="{73625312-DE47-4D7B-96DB-EE73268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4D76"/>
                </a:solidFill>
              </a:defRPr>
            </a:pPr>
            <a:r>
              <a:rPr sz="1350">
                <a:solidFill>
                  <a:srgbClr val="274D76"/>
                </a:solidFill>
              </a:rPr>
              <a:t>概率密度最大、重复发生，也最适合标准化</a:t>
            </a:r>
          </a:p>
        </p:txBody>
      </p:sp>
      <p:sp>
        <p:nvSpPr>
          <p:cNvPr id="13" name="p3-bottom-head">
            <a:extLst xmlns:a="http://schemas.openxmlformats.org/drawingml/2006/main">
              <a:ext uri="{FF2B5EF4-FFF2-40B4-BE49-F238E27FC236}">
                <a16:creationId xmlns:a16="http://schemas.microsoft.com/office/drawing/2014/main" id="{BAAD875D-C9E8-48C5-B618-53FBB33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这类场景的底线很明确</a:t>
            </a:r>
          </a:p>
        </p:txBody>
      </p:sp>
      <p:sp>
        <p:nvSpPr>
          <p:cNvPr id="14" name="p3-bottom-copy">
            <a:extLst xmlns:a="http://schemas.openxmlformats.org/drawingml/2006/main">
              <a:ext uri="{FF2B5EF4-FFF2-40B4-BE49-F238E27FC236}">
                <a16:creationId xmlns:a16="http://schemas.microsoft.com/office/drawing/2014/main" id="{788A7741-E2AC-4AC1-9B2F-7448EFB8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不能乱，不能丑，不能掉价，不能生成以后无法修改。</a:t>
            </a:r>
          </a:p>
        </p:txBody>
      </p:sp>
      <p:sp>
        <p:nvSpPr>
          <p:cNvPr id="15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5C8423D9-2EFE-417E-A11C-C625874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3-bottom-foot">
            <a:extLst xmlns:a="http://schemas.openxmlformats.org/drawingml/2006/main">
              <a:ext uri="{FF2B5EF4-FFF2-40B4-BE49-F238E27FC236}">
                <a16:creationId xmlns:a16="http://schemas.microsoft.com/office/drawing/2014/main" id="{9A290E1D-1F78-4CAA-AAC7-8EB68F03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产品选择因此不是覆盖所有需求，而是先把最常见、最可重复的工作做好。</a:t>
            </a:r>
          </a:p>
        </p:txBody>
      </p:sp>
    </p:spTree>
    <p:extLst>
      <p:ext uri="{BB962C8B-B14F-4D97-AF65-F5344CB8AC3E}">
        <p14:creationId xmlns:p14="http://schemas.microsoft.com/office/powerpoint/2010/main" val="1606135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B26E79A-DF6E-4D52-9219-034DDED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产品真正追求的，是跨过可用线的概率</a:t>
            </a:r>
          </a:p>
        </p:txBody>
      </p:sp>
      <p:sp>
        <p:nvSpPr>
          <p:cNvPr id="2" name="slide-4-divider">
            <a:extLst xmlns:a="http://schemas.openxmlformats.org/drawingml/2006/main">
              <a:ext uri="{FF2B5EF4-FFF2-40B4-BE49-F238E27FC236}">
                <a16:creationId xmlns:a16="http://schemas.microsoft.com/office/drawing/2014/main" id="{E37AF2EF-DCEE-4D82-B931-2AB5F6C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70161632-88FD-49D5-AECE-BB47E57F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目标不是偶尔生成 95 分，而是让随机工作稿稳定进入可用区间。</a:t>
            </a:r>
          </a:p>
        </p:txBody>
      </p:sp>
      <p:sp>
        <p:nvSpPr>
          <p:cNvPr id="4" name="slide-4-footer-line">
            <a:extLst xmlns:a="http://schemas.openxmlformats.org/drawingml/2006/main">
              <a:ext uri="{FF2B5EF4-FFF2-40B4-BE49-F238E27FC236}">
                <a16:creationId xmlns:a16="http://schemas.microsoft.com/office/drawing/2014/main" id="{59D81717-6BDB-417D-95C4-4D7289F0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4CBD28A5-29AE-4D26-8DC5-903EA1E7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8A267CA4-A269-48A2-BD5C-C952BB18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7" name="p4-formula-label">
            <a:extLst xmlns:a="http://schemas.openxmlformats.org/drawingml/2006/main">
              <a:ext uri="{FF2B5EF4-FFF2-40B4-BE49-F238E27FC236}">
                <a16:creationId xmlns:a16="http://schemas.microsoft.com/office/drawing/2014/main" id="{63271E77-3803-4923-B6DF-68E7DE5F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概念上的产品可靠度</a:t>
            </a:r>
          </a:p>
        </p:txBody>
      </p:sp>
      <p:sp>
        <p:nvSpPr>
          <p:cNvPr id="8" name="p4-formula">
            <a:extLst xmlns:a="http://schemas.openxmlformats.org/drawingml/2006/main">
              <a:ext uri="{FF2B5EF4-FFF2-40B4-BE49-F238E27FC236}">
                <a16:creationId xmlns:a16="http://schemas.microsoft.com/office/drawing/2014/main" id="{DF32388C-20F8-488D-AC05-D9F1B18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4D76"/>
                </a:solidFill>
              </a:defRPr>
            </a:pPr>
            <a:r>
              <a:rPr sz="2700" b="1">
                <a:solidFill>
                  <a:srgbClr val="274D76"/>
                </a:solidFill>
              </a:rPr>
              <a:t>R = P(Q ≥ Q可用 | 目标工作场景)</a:t>
            </a:r>
          </a:p>
        </p:txBody>
      </p:sp>
      <p:sp>
        <p:nvSpPr>
          <p:cNvPr id="9" name="p4-formula-rule">
            <a:extLst xmlns:a="http://schemas.openxmlformats.org/drawingml/2006/main">
              <a:ext uri="{FF2B5EF4-FFF2-40B4-BE49-F238E27FC236}">
                <a16:creationId xmlns:a16="http://schemas.microsoft.com/office/drawing/2014/main" id="{3BE7C4AC-C8AD-45BB-9BD8-1E74F959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formula-explain">
            <a:extLst xmlns:a="http://schemas.openxmlformats.org/drawingml/2006/main">
              <a:ext uri="{FF2B5EF4-FFF2-40B4-BE49-F238E27FC236}">
                <a16:creationId xmlns:a16="http://schemas.microsoft.com/office/drawing/2014/main" id="{14F388F3-EE51-47B6-9EA3-56E7C1F6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Q 是生成质量；Q可用是“可以直接拿去讲”的最低标准。</a:t>
            </a:r>
          </a:p>
        </p:txBody>
      </p:sp>
      <p:sp>
        <p:nvSpPr>
          <p:cNvPr id="11" name="p4-rare">
            <a:extLst xmlns:a="http://schemas.openxmlformats.org/drawingml/2006/main">
              <a:ext uri="{FF2B5EF4-FFF2-40B4-BE49-F238E27FC236}">
                <a16:creationId xmlns:a16="http://schemas.microsoft.com/office/drawing/2014/main" id="{004E229D-3F34-45D1-A28B-0F06F218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95 分</a:t>
            </a:r>
          </a:p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偶尔惊艳</a:t>
            </a:r>
          </a:p>
        </p:txBody>
      </p:sp>
      <p:sp>
        <p:nvSpPr>
          <p:cNvPr id="12" name="p4-reliable">
            <a:extLst xmlns:a="http://schemas.openxmlformats.org/drawingml/2006/main">
              <a:ext uri="{FF2B5EF4-FFF2-40B4-BE49-F238E27FC236}">
                <a16:creationId xmlns:a16="http://schemas.microsoft.com/office/drawing/2014/main" id="{A4A284D3-AAEA-43CD-8783-7DA3A7CD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80 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稳定可用</a:t>
            </a:r>
          </a:p>
        </p:txBody>
      </p: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953500" y="29908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arrow" w="sm" len="sm"/>
          </a:ln>
        </p:spPr>
      </p:cxnSp>
      <p:sp>
        <p:nvSpPr>
          <p:cNvPr id="14" name="p4-side-note">
            <a:extLst xmlns:a="http://schemas.openxmlformats.org/drawingml/2006/main">
              <a:ext uri="{FF2B5EF4-FFF2-40B4-BE49-F238E27FC236}">
                <a16:creationId xmlns:a16="http://schemas.microsoft.com/office/drawing/2014/main" id="{EDE3890D-279E-45EE-9DB8-A707F31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“80 分”不是上限，而是对稳定可用状态的形象称呼。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工作里，可靠基础比偶然峰值更值钱。</a:t>
            </a:r>
          </a:p>
        </p:txBody>
      </p:sp>
    </p:spTree>
    <p:extLst>
      <p:ext uri="{BB962C8B-B14F-4D97-AF65-F5344CB8AC3E}">
        <p14:creationId xmlns:p14="http://schemas.microsoft.com/office/powerpoint/2010/main" val="1128617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A474193-2647-4BE9-821D-ED19EAF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用限制自由，换取更可预测的交付</a:t>
            </a:r>
          </a:p>
        </p:txBody>
      </p:sp>
      <p:sp>
        <p:nvSpPr>
          <p:cNvPr id="2" name="slide-5-divider">
            <a:extLst xmlns:a="http://schemas.openxmlformats.org/drawingml/2006/main">
              <a:ext uri="{FF2B5EF4-FFF2-40B4-BE49-F238E27FC236}">
                <a16:creationId xmlns:a16="http://schemas.microsoft.com/office/drawing/2014/main" id="{BB21D081-753C-4604-98D9-C1584655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F84B5040-01D8-45E4-B2EC-D3787BFC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固定规范、能力边界与退化方式，减少运行时的失败空间。</a:t>
            </a:r>
          </a:p>
        </p:txBody>
      </p:sp>
      <p:sp>
        <p:nvSpPr>
          <p:cNvPr id="4" name="slide-5-footer-line">
            <a:extLst xmlns:a="http://schemas.openxmlformats.org/drawingml/2006/main">
              <a:ext uri="{FF2B5EF4-FFF2-40B4-BE49-F238E27FC236}">
                <a16:creationId xmlns:a16="http://schemas.microsoft.com/office/drawing/2014/main" id="{A96B22E1-1A2B-471A-B100-6342033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12CC2AE8-DC39-4879-B817-58E2EB4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9BA33136-FFCF-4948-8D22-48DE405F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7" name="p5-free">
            <a:extLst xmlns:a="http://schemas.openxmlformats.org/drawingml/2006/main">
              <a:ext uri="{FF2B5EF4-FFF2-40B4-BE49-F238E27FC236}">
                <a16:creationId xmlns:a16="http://schemas.microsoft.com/office/drawing/2014/main" id="{9D646AD6-528C-4614-8DAC-BF546EAC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自由决定</a:t>
            </a:r>
          </a:p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颜色 · 字体 · 结构 · 元素</a:t>
            </a:r>
          </a:p>
        </p:txBody>
      </p:sp>
      <p:sp>
        <p:nvSpPr>
          <p:cNvPr id="8" name="p5-rules">
            <a:extLst xmlns:a="http://schemas.openxmlformats.org/drawingml/2006/main">
              <a:ext uri="{FF2B5EF4-FFF2-40B4-BE49-F238E27FC236}">
                <a16:creationId xmlns:a16="http://schemas.microsoft.com/office/drawing/2014/main" id="{E76EF580-7EC6-4DAF-A100-79072CB5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确定规范</a:t>
            </a:r>
          </a:p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主题 · 核心能力 · 数量边界</a:t>
            </a:r>
          </a:p>
        </p:txBody>
      </p:sp>
      <p:sp>
        <p:nvSpPr>
          <p:cNvPr id="9" name="p5-result">
            <a:extLst xmlns:a="http://schemas.openxmlformats.org/drawingml/2006/main">
              <a:ext uri="{FF2B5EF4-FFF2-40B4-BE49-F238E27FC236}">
                <a16:creationId xmlns:a16="http://schemas.microsoft.com/office/drawing/2014/main" id="{6BA02E53-6D48-497D-B305-DE28BDF0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可预测交付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稳定、规范、可编辑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sp>
        <p:nvSpPr>
          <p:cNvPr id="12" name="p5-cause-1">
            <a:extLst xmlns:a="http://schemas.openxmlformats.org/drawingml/2006/main">
              <a:ext uri="{FF2B5EF4-FFF2-40B4-BE49-F238E27FC236}">
                <a16:creationId xmlns:a16="http://schemas.microsoft.com/office/drawing/2014/main" id="{ACA310C5-AB8F-4CD8-A1BA-077F35B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状态空间更大，失败模式更多</a:t>
            </a:r>
          </a:p>
        </p:txBody>
      </p:sp>
      <p:sp>
        <p:nvSpPr>
          <p:cNvPr id="13" name="p5-cause-2">
            <a:extLst xmlns:a="http://schemas.openxmlformats.org/drawingml/2006/main">
              <a:ext uri="{FF2B5EF4-FFF2-40B4-BE49-F238E27FC236}">
                <a16:creationId xmlns:a16="http://schemas.microsoft.com/office/drawing/2014/main" id="{5138D02A-AE28-425A-8664-61B60576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把已验证的选择提前固定</a:t>
            </a:r>
          </a:p>
        </p:txBody>
      </p:sp>
      <p:sp>
        <p:nvSpPr>
          <p:cNvPr id="14" name="p5-cause-3">
            <a:extLst xmlns:a="http://schemas.openxmlformats.org/drawingml/2006/main">
              <a:ext uri="{FF2B5EF4-FFF2-40B4-BE49-F238E27FC236}">
                <a16:creationId xmlns:a16="http://schemas.microsoft.com/office/drawing/2014/main" id="{3C8D80CB-D114-4A82-BCB3-5C847CF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必要时按已登记方式退化</a:t>
            </a:r>
          </a:p>
        </p:txBody>
      </p:sp>
      <p:sp>
        <p:nvSpPr>
          <p:cNvPr id="15" name="p5-note-surface">
            <a:extLst xmlns:a="http://schemas.openxmlformats.org/drawingml/2006/main">
              <a:ext uri="{FF2B5EF4-FFF2-40B4-BE49-F238E27FC236}">
                <a16:creationId xmlns:a16="http://schemas.microsoft.com/office/drawing/2014/main" id="{4B6325A4-9C43-4301-8AF5-5081720A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5-note">
            <a:extLst xmlns:a="http://schemas.openxmlformats.org/drawingml/2006/main">
              <a:ext uri="{FF2B5EF4-FFF2-40B4-BE49-F238E27FC236}">
                <a16:creationId xmlns:a16="http://schemas.microsoft.com/office/drawing/2014/main" id="{112D807A-8459-4520-AAEC-80D9726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4D76"/>
                </a:solidFill>
              </a:defRPr>
            </a:pPr>
            <a:r>
              <a:rPr sz="1650" b="1">
                <a:solidFill>
                  <a:srgbClr val="274D76"/>
                </a:solidFill>
              </a:rPr>
              <a:t>学校有学校的样子，企业有企业的样子。每次都不一样，有时候才是缺点。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1139512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01F812D-5B70-4E81-8CBF-D1A660A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AI 负责理解和路由，规则负责约束，代码负责稳定生成</a:t>
            </a:r>
          </a:p>
        </p:txBody>
      </p:sp>
      <p:sp>
        <p:nvSpPr>
          <p:cNvPr id="2" name="slide-6-divider">
            <a:extLst xmlns:a="http://schemas.openxmlformats.org/drawingml/2006/main">
              <a:ext uri="{FF2B5EF4-FFF2-40B4-BE49-F238E27FC236}">
                <a16:creationId xmlns:a16="http://schemas.microsoft.com/office/drawing/2014/main" id="{70CA058E-ABCC-47E4-BE71-39046838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2F103F27-5892-46EB-9812-ED592738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两条路线在确认过的核心资产库处相交，最后输出原生可编辑 PPTX。</a:t>
            </a:r>
          </a:p>
        </p:txBody>
      </p:sp>
      <p:sp>
        <p:nvSpPr>
          <p:cNvPr id="4" name="slide-6-footer-line">
            <a:extLst xmlns:a="http://schemas.openxmlformats.org/drawingml/2006/main">
              <a:ext uri="{FF2B5EF4-FFF2-40B4-BE49-F238E27FC236}">
                <a16:creationId xmlns:a16="http://schemas.microsoft.com/office/drawing/2014/main" id="{CB18B02C-6AD7-4E79-8ECD-2B1D8A5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B24A3FF4-7202-40DC-9A09-EC24E1A3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F053BB49-247E-4DC7-AF18-3AC9310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7" name="p6-lane-top">
            <a:extLst xmlns:a="http://schemas.openxmlformats.org/drawingml/2006/main">
              <a:ext uri="{FF2B5EF4-FFF2-40B4-BE49-F238E27FC236}">
                <a16:creationId xmlns:a16="http://schemas.microsoft.com/office/drawing/2014/main" id="{9A0C1EDE-A62E-4E5A-8274-801BAB8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4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lane-bottom">
            <a:extLst xmlns:a="http://schemas.openxmlformats.org/drawingml/2006/main">
              <a:ext uri="{FF2B5EF4-FFF2-40B4-BE49-F238E27FC236}">
                <a16:creationId xmlns:a16="http://schemas.microsoft.com/office/drawing/2014/main" id="{2E49CC58-5D55-49BA-9D42-9B92707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114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6-lane-top-label">
            <a:extLst xmlns:a="http://schemas.openxmlformats.org/drawingml/2006/main">
              <a:ext uri="{FF2B5EF4-FFF2-40B4-BE49-F238E27FC236}">
                <a16:creationId xmlns:a16="http://schemas.microsoft.com/office/drawing/2014/main" id="{15AB05D2-FB4A-4071-ADB2-6A7AC241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资产入库线</a:t>
            </a:r>
          </a:p>
        </p:txBody>
      </p:sp>
      <p:sp>
        <p:nvSpPr>
          <p:cNvPr id="10" name="p6-lane-bottom-label">
            <a:extLst xmlns:a="http://schemas.openxmlformats.org/drawingml/2006/main">
              <a:ext uri="{FF2B5EF4-FFF2-40B4-BE49-F238E27FC236}">
                <a16:creationId xmlns:a16="http://schemas.microsoft.com/office/drawing/2014/main" id="{B3455490-1D64-4127-A1B9-EE6C048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正式生成线</a:t>
            </a:r>
          </a:p>
        </p:txBody>
      </p:sp>
      <p:sp>
        <p:nvSpPr>
          <p:cNvPr id="11" name="p6-ref">
            <a:extLst xmlns:a="http://schemas.openxmlformats.org/drawingml/2006/main">
              <a:ext uri="{FF2B5EF4-FFF2-40B4-BE49-F238E27FC236}">
                <a16:creationId xmlns:a16="http://schemas.microsoft.com/office/drawing/2014/main" id="{9AA7C894-B45E-4CF5-8AD8-1752D11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2" name="p6-extract">
            <a:extLst xmlns:a="http://schemas.openxmlformats.org/drawingml/2006/main">
              <a:ext uri="{FF2B5EF4-FFF2-40B4-BE49-F238E27FC236}">
                <a16:creationId xmlns:a16="http://schemas.microsoft.com/office/drawing/2014/main" id="{988E5B78-9FF4-46C5-B7DE-F56D69F8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提炼规律</a:t>
            </a:r>
          </a:p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参数化</a:t>
            </a:r>
          </a:p>
        </p:txBody>
      </p:sp>
      <p:sp>
        <p:nvSpPr>
          <p:cNvPr id="13" name="p6-confirm">
            <a:extLst xmlns:a="http://schemas.openxmlformats.org/drawingml/2006/main">
              <a:ext uri="{FF2B5EF4-FFF2-40B4-BE49-F238E27FC236}">
                <a16:creationId xmlns:a16="http://schemas.microsoft.com/office/drawing/2014/main" id="{D727C175-78BC-4DB2-95A7-4008CDC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用户确认</a:t>
            </a:r>
          </a:p>
        </p:txBody>
      </p:sp>
      <p:sp>
        <p:nvSpPr>
          <p:cNvPr id="14" name="p6-core">
            <a:extLst xmlns:a="http://schemas.openxmlformats.org/drawingml/2006/main">
              <a:ext uri="{FF2B5EF4-FFF2-40B4-BE49-F238E27FC236}">
                <a16:creationId xmlns:a16="http://schemas.microsoft.com/office/drawing/2014/main" id="{BCF736C9-9C70-4972-A98E-56F9F45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核心资产库</a:t>
            </a:r>
          </a:p>
        </p:txBody>
      </p: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00375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48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53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sp>
        <p:nvSpPr>
          <p:cNvPr id="18" name="p6-input">
            <a:extLst xmlns:a="http://schemas.openxmlformats.org/drawingml/2006/main">
              <a:ext uri="{FF2B5EF4-FFF2-40B4-BE49-F238E27FC236}">
                <a16:creationId xmlns:a16="http://schemas.microsoft.com/office/drawing/2014/main" id="{5F4015BE-42C4-4611-B204-D829FCF2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原始稿件 + 主题</a:t>
            </a:r>
          </a:p>
        </p:txBody>
      </p:sp>
      <p:sp>
        <p:nvSpPr>
          <p:cNvPr id="19" name="p6-ai">
            <a:extLst xmlns:a="http://schemas.openxmlformats.org/drawingml/2006/main">
              <a:ext uri="{FF2B5EF4-FFF2-40B4-BE49-F238E27FC236}">
                <a16:creationId xmlns:a16="http://schemas.microsoft.com/office/drawing/2014/main" id="{7884B9B2-8E0E-4EF4-BFAD-58483D63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4D76"/>
                </a:solidFill>
              </a:defRPr>
            </a:pPr>
            <a:r>
              <a:rPr sz="1425" b="1">
                <a:solidFill>
                  <a:srgbClr val="274D76"/>
                </a:solidFill>
              </a:rPr>
              <a:t>AI 理解与路由</a:t>
            </a:r>
          </a:p>
        </p:txBody>
      </p:sp>
      <p:sp>
        <p:nvSpPr>
          <p:cNvPr id="20" name="p6-choice">
            <a:extLst xmlns:a="http://schemas.openxmlformats.org/drawingml/2006/main">
              <a:ext uri="{FF2B5EF4-FFF2-40B4-BE49-F238E27FC236}">
                <a16:creationId xmlns:a16="http://schemas.microsoft.com/office/drawing/2014/main" id="{F3750EEC-9945-4BC8-93FE-124E0B8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合法能力</a:t>
            </a:r>
          </a:p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或简单排版</a:t>
            </a:r>
          </a:p>
        </p:txBody>
      </p:sp>
      <p:sp>
        <p:nvSpPr>
          <p:cNvPr id="21" name="p6-compile">
            <a:extLst xmlns:a="http://schemas.openxmlformats.org/drawingml/2006/main">
              <a:ext uri="{FF2B5EF4-FFF2-40B4-BE49-F238E27FC236}">
                <a16:creationId xmlns:a16="http://schemas.microsoft.com/office/drawing/2014/main" id="{37BE49C7-5D57-4C65-8A05-219569AA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4D76"/>
                </a:solidFill>
              </a:defRPr>
            </a:pPr>
            <a:r>
              <a:rPr sz="1425" b="1">
                <a:solidFill>
                  <a:srgbClr val="274D76"/>
                </a:solidFill>
              </a:rPr>
              <a:t>确定性编译</a:t>
            </a:r>
          </a:p>
        </p:txBody>
      </p:sp>
      <p:sp>
        <p:nvSpPr>
          <p:cNvPr id="22" name="p6-pptx">
            <a:extLst xmlns:a="http://schemas.openxmlformats.org/drawingml/2006/main">
              <a:ext uri="{FF2B5EF4-FFF2-40B4-BE49-F238E27FC236}">
                <a16:creationId xmlns:a16="http://schemas.microsoft.com/office/drawing/2014/main" id="{921DD3CC-8891-4A88-9FFE-17571F2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28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原生可编辑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PPTX</a:t>
            </a:r>
          </a:p>
        </p:txBody>
      </p: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90875" y="4371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29250" y="4371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4371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763125" y="4371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786563" y="2543175"/>
            <a:ext cx="1500188" cy="1457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E83A8"/>
            </a:solidFill>
            <a:prstDash val="dash"/>
            <a:headEnd type="arrow" w="sm" len="sm"/>
          </a:ln>
        </p:spPr>
      </p:cxnSp>
      <p:sp>
        <p:nvSpPr>
          <p:cNvPr id="28" name="p6-core-note">
            <a:extLst xmlns:a="http://schemas.openxmlformats.org/drawingml/2006/main">
              <a:ext uri="{FF2B5EF4-FFF2-40B4-BE49-F238E27FC236}">
                <a16:creationId xmlns:a16="http://schemas.microsoft.com/office/drawing/2014/main" id="{68D66F02-44BB-4C83-B997-1F8FACF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38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83A8"/>
                </a:solidFill>
              </a:defRPr>
            </a:pPr>
            <a:r>
              <a:rPr sz="1200">
                <a:solidFill>
                  <a:srgbClr val="5E83A8"/>
                </a:solidFill>
              </a:rPr>
              <a:t>只读调用</a:t>
            </a:r>
          </a:p>
        </p:txBody>
      </p:sp>
      <p:sp>
        <p:nvSpPr>
          <p:cNvPr id="29" name="p6-caption">
            <a:extLst xmlns:a="http://schemas.openxmlformats.org/drawingml/2006/main">
              <a:ext uri="{FF2B5EF4-FFF2-40B4-BE49-F238E27FC236}">
                <a16:creationId xmlns:a16="http://schemas.microsoft.com/office/drawing/2014/main" id="{B7152CA5-A88D-4786-852D-9735A08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95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AI 不直接自由绘制整份 PPT；它理解内容、选择能力，交给确定性代码完成重复劳动。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378525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5417097-792D-43C8-8D7F-22E9F86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把昂贵的视觉理解与失败风险前移</a:t>
            </a:r>
          </a:p>
        </p:txBody>
      </p:sp>
      <p:sp>
        <p:nvSpPr>
          <p:cNvPr id="2" name="slide-7-divider">
            <a:extLst xmlns:a="http://schemas.openxmlformats.org/drawingml/2006/main">
              <a:ext uri="{FF2B5EF4-FFF2-40B4-BE49-F238E27FC236}">
                <a16:creationId xmlns:a16="http://schemas.microsoft.com/office/drawing/2014/main" id="{A5697AC9-B6F2-443F-8F70-F7C39E8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CBC45A4E-C205-4332-A2C0-A6C7153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建设完成以后，正式生成阶段主要执行理解、选择和填参。</a:t>
            </a:r>
          </a:p>
        </p:txBody>
      </p:sp>
      <p:sp>
        <p:nvSpPr>
          <p:cNvPr id="4" name="slide-7-footer-line">
            <a:extLst xmlns:a="http://schemas.openxmlformats.org/drawingml/2006/main">
              <a:ext uri="{FF2B5EF4-FFF2-40B4-BE49-F238E27FC236}">
                <a16:creationId xmlns:a16="http://schemas.microsoft.com/office/drawing/2014/main" id="{9E50118E-EAEF-4C3A-83D1-084D113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EEFC8E55-3D74-4443-A3F7-BF54E35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BB8AE3A8-448D-4CFD-A9DA-AD5C552D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7" name="p7-build">
            <a:extLst xmlns:a="http://schemas.openxmlformats.org/drawingml/2006/main">
              <a:ext uri="{FF2B5EF4-FFF2-40B4-BE49-F238E27FC236}">
                <a16:creationId xmlns:a16="http://schemas.microsoft.com/office/drawing/2014/main" id="{D4BDBC00-EB71-4C90-9369-C1A670F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286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建设期</a:t>
            </a:r>
          </a:p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筛选 · 参数化 · 验证 · 用户确认</a:t>
            </a:r>
          </a:p>
        </p:txBody>
      </p:sp>
      <p:sp>
        <p:nvSpPr>
          <p:cNvPr id="8" name="p7-deliver">
            <a:extLst xmlns:a="http://schemas.openxmlformats.org/drawingml/2006/main">
              <a:ext uri="{FF2B5EF4-FFF2-40B4-BE49-F238E27FC236}">
                <a16:creationId xmlns:a16="http://schemas.microsoft.com/office/drawing/2014/main" id="{0DD9F33C-2F98-460A-BFC6-C1F8373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286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交付期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理解 · 路由 · 填参 · 稳定生成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24450" y="2895600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sp>
        <p:nvSpPr>
          <p:cNvPr id="10" name="p7-arrow-label">
            <a:extLst xmlns:a="http://schemas.openxmlformats.org/drawingml/2006/main">
              <a:ext uri="{FF2B5EF4-FFF2-40B4-BE49-F238E27FC236}">
                <a16:creationId xmlns:a16="http://schemas.microsoft.com/office/drawing/2014/main" id="{EAFA5DAD-1C23-4252-A04B-C62508C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一次建设，多次复用</a:t>
            </a:r>
          </a:p>
        </p:txBody>
      </p:sp>
      <p:sp>
        <p:nvSpPr>
          <p:cNvPr id="11" name="p7-build-detail">
            <a:extLst xmlns:a="http://schemas.openxmlformats.org/drawingml/2006/main">
              <a:ext uri="{FF2B5EF4-FFF2-40B4-BE49-F238E27FC236}">
                <a16:creationId xmlns:a16="http://schemas.microsoft.com/office/drawing/2014/main" id="{E84D88DC-EDBF-4715-9CD9-6B721BE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-build-copy">
            <a:extLst xmlns:a="http://schemas.openxmlformats.org/drawingml/2006/main">
              <a:ext uri="{FF2B5EF4-FFF2-40B4-BE49-F238E27FC236}">
                <a16:creationId xmlns:a16="http://schemas.microsoft.com/office/drawing/2014/main" id="{ECD8FB13-4695-4C7C-B06E-87E2AD2E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人和工具先把优秀页面理解成能力，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验证不同状态，再由用户确认进入核心库。</a:t>
            </a:r>
          </a:p>
        </p:txBody>
      </p:sp>
      <p:sp>
        <p:nvSpPr>
          <p:cNvPr id="13" name="p7-deliver-detail">
            <a:extLst xmlns:a="http://schemas.openxmlformats.org/drawingml/2006/main">
              <a:ext uri="{FF2B5EF4-FFF2-40B4-BE49-F238E27FC236}">
                <a16:creationId xmlns:a16="http://schemas.microsoft.com/office/drawing/2014/main" id="{8AE644B5-6D46-40CE-8408-460603D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-deliver-copy">
            <a:extLst xmlns:a="http://schemas.openxmlformats.org/drawingml/2006/main">
              <a:ext uri="{FF2B5EF4-FFF2-40B4-BE49-F238E27FC236}">
                <a16:creationId xmlns:a16="http://schemas.microsoft.com/office/drawing/2014/main" id="{5D8FAEAB-FB18-4346-BBAF-018E6759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低成本模型承担理解、选择和填参；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确定性代码负责稳定绘制与检查。</a:t>
            </a:r>
          </a:p>
        </p:txBody>
      </p:sp>
      <p:sp>
        <p:nvSpPr>
          <p:cNvPr id="15" name="p7-bottom">
            <a:extLst xmlns:a="http://schemas.openxmlformats.org/drawingml/2006/main">
              <a:ext uri="{FF2B5EF4-FFF2-40B4-BE49-F238E27FC236}">
                <a16:creationId xmlns:a16="http://schemas.microsoft.com/office/drawing/2014/main" id="{CA28D214-C005-4481-B5BF-B2EDCB3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视觉理解没有消失，而是从每次在线支付的成本，变成一次建设、持续复用的资产。</a:t>
            </a:r>
          </a:p>
        </p:txBody>
      </p:sp>
    </p:spTree>
    <p:extLst>
      <p:ext uri="{BB962C8B-B14F-4D97-AF65-F5344CB8AC3E}">
        <p14:creationId xmlns:p14="http://schemas.microsoft.com/office/powerpoint/2010/main" val="586404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B0E9707-BF37-46E5-B317-F45B5CBC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真正积累的是表达能力的边界</a:t>
            </a:r>
          </a:p>
        </p:txBody>
      </p:sp>
      <p:sp>
        <p:nvSpPr>
          <p:cNvPr id="2" name="slide-8-divider">
            <a:extLst xmlns:a="http://schemas.openxmlformats.org/drawingml/2006/main">
              <a:ext uri="{FF2B5EF4-FFF2-40B4-BE49-F238E27FC236}">
                <a16:creationId xmlns:a16="http://schemas.microsoft.com/office/drawing/2014/main" id="{A77E48D4-0AB9-400E-8982-63E5A5F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A506A4A0-B14B-432C-BD88-B1C95916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模板会过时；容量、变化方式与退化边界才是可以反复调用的经验。</a:t>
            </a:r>
          </a:p>
        </p:txBody>
      </p:sp>
      <p:sp>
        <p:nvSpPr>
          <p:cNvPr id="4" name="slide-8-footer-line">
            <a:extLst xmlns:a="http://schemas.openxmlformats.org/drawingml/2006/main">
              <a:ext uri="{FF2B5EF4-FFF2-40B4-BE49-F238E27FC236}">
                <a16:creationId xmlns:a16="http://schemas.microsoft.com/office/drawing/2014/main" id="{F478004D-E10E-4626-8282-0CBF1428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B11DC3DC-B6C8-4EC4-8CC3-8348BA8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EBD82F27-0A8B-4285-B77A-B2A81EF4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7" name="p8-pack">
            <a:extLst xmlns:a="http://schemas.openxmlformats.org/drawingml/2006/main">
              <a:ext uri="{FF2B5EF4-FFF2-40B4-BE49-F238E27FC236}">
                <a16:creationId xmlns:a16="http://schemas.microsoft.com/office/drawing/2014/main" id="{AB2C12D9-63B5-4C78-BB61-B1213080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经过验证的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表达能力包</a:t>
            </a:r>
          </a:p>
        </p:txBody>
      </p:sp>
      <p:sp>
        <p:nvSpPr>
          <p:cNvPr id="8" name="p8-boundary">
            <a:extLst xmlns:a="http://schemas.openxmlformats.org/drawingml/2006/main">
              <a:ext uri="{FF2B5EF4-FFF2-40B4-BE49-F238E27FC236}">
                <a16:creationId xmlns:a16="http://schemas.microsoft.com/office/drawing/2014/main" id="{056EF2C0-DE99-42A4-8985-1DEB462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509587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知道什么内容适合怎样表达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知道数量变化时怎样重排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知道超过边界后怎样拆页或退化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知道哪些结构不应该使用</a:t>
            </a:r>
          </a:p>
        </p:txBody>
      </p: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266950" y="3162300"/>
            <a:ext cx="11191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sp>
        <p:nvSpPr>
          <p:cNvPr id="10" name="p8-bridge">
            <a:extLst xmlns:a="http://schemas.openxmlformats.org/drawingml/2006/main">
              <a:ext uri="{FF2B5EF4-FFF2-40B4-BE49-F238E27FC236}">
                <a16:creationId xmlns:a16="http://schemas.microsoft.com/office/drawing/2014/main" id="{FD98FB4F-C4BA-4EEC-96B7-95D4198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组织主题可替换，能力继续复用</a:t>
            </a:r>
          </a:p>
        </p:txBody>
      </p:sp>
      <p:sp>
        <p:nvSpPr>
          <p:cNvPr id="11" name="p8-theme">
            <a:extLst xmlns:a="http://schemas.openxmlformats.org/drawingml/2006/main">
              <a:ext uri="{FF2B5EF4-FFF2-40B4-BE49-F238E27FC236}">
                <a16:creationId xmlns:a16="http://schemas.microsoft.com/office/drawing/2014/main" id="{BCD2E36B-5B7D-45E6-8055-4CCD4C2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组织主题</a:t>
            </a:r>
          </a:p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颜色 · Logo · 字体 · 页眉页脚</a:t>
            </a:r>
          </a:p>
        </p:txBody>
      </p:sp>
      <p:sp>
        <p:nvSpPr>
          <p:cNvPr id="12" name="p8-reuse">
            <a:extLst xmlns:a="http://schemas.openxmlformats.org/drawingml/2006/main">
              <a:ext uri="{FF2B5EF4-FFF2-40B4-BE49-F238E27FC236}">
                <a16:creationId xmlns:a16="http://schemas.microsoft.com/office/drawing/2014/main" id="{AC10A295-90C2-4F97-890C-17E7BB0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4D76"/>
                </a:solidFill>
              </a:defRPr>
            </a:pPr>
            <a:r>
              <a:rPr sz="1425" b="1">
                <a:solidFill>
                  <a:srgbClr val="274D76"/>
                </a:solidFill>
              </a:rPr>
              <a:t>可复用能力</a:t>
            </a:r>
          </a:p>
          <a:p xmlns:a="http://schemas.openxmlformats.org/drawingml/2006/main">
            <a:pPr algn="ctr">
              <a:defRPr sz="1425" b="1">
                <a:solidFill>
                  <a:srgbClr val="274D76"/>
                </a:solidFill>
              </a:defRPr>
            </a:pPr>
            <a:r>
              <a:rPr sz="1425" b="1">
                <a:solidFill>
                  <a:srgbClr val="274D76"/>
                </a:solidFill>
              </a:rPr>
              <a:t>内容理解 · 表达逻辑 · 退化边界</a:t>
            </a:r>
          </a:p>
        </p:txBody>
      </p:sp>
      <p:sp>
        <p:nvSpPr>
          <p:cNvPr id="13" name="p8-org">
            <a:extLst xmlns:a="http://schemas.openxmlformats.org/drawingml/2006/main">
              <a:ext uri="{FF2B5EF4-FFF2-40B4-BE49-F238E27FC236}">
                <a16:creationId xmlns:a16="http://schemas.microsoft.com/office/drawing/2014/main" id="{7EA11CA0-F8C9-4208-B3AD-9D923FEC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更多学校、科研院所、企业与团队</a:t>
            </a:r>
          </a:p>
        </p:txBody>
      </p:sp>
      <p:cxnSp>
        <p:nvCxnSpPr>
          <p:cNvPr id="30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020050" y="3429000"/>
            <a:ext cx="136207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cxnSp>
        <p:nvCxnSpPr>
          <p:cNvPr id="31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9382125" y="3429000"/>
            <a:ext cx="1214438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headEnd type="arrow" w="sm" len="sm"/>
          </a:ln>
        </p:spPr>
      </p:cxnSp>
      <p:sp>
        <p:nvSpPr>
          <p:cNvPr id="16" name="p8-org-note">
            <a:extLst xmlns:a="http://schemas.openxmlformats.org/drawingml/2006/main">
              <a:ext uri="{FF2B5EF4-FFF2-40B4-BE49-F238E27FC236}">
                <a16:creationId xmlns:a16="http://schemas.microsoft.com/office/drawing/2014/main" id="{22F95723-9C8B-47D9-9264-98E2AC7E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67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707780"/>
                </a:solidFill>
              </a:defRPr>
            </a:pPr>
            <a:r>
              <a:rPr sz="1275">
                <a:solidFill>
                  <a:srgbClr val="707780"/>
                </a:solidFill>
              </a:rPr>
              <a:t>东北大学是第一个正式落地场景</a:t>
            </a:r>
          </a:p>
        </p:txBody>
      </p:sp>
    </p:spTree>
    <p:extLst>
      <p:ext uri="{BB962C8B-B14F-4D97-AF65-F5344CB8AC3E}">
        <p14:creationId xmlns:p14="http://schemas.microsoft.com/office/powerpoint/2010/main" val="973263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9-accent">
            <a:extLst xmlns:a="http://schemas.openxmlformats.org/drawingml/2006/main">
              <a:ext uri="{FF2B5EF4-FFF2-40B4-BE49-F238E27FC236}">
                <a16:creationId xmlns:a16="http://schemas.microsoft.com/office/drawing/2014/main" id="{B550D6E2-0BFE-4779-8C3B-C574C863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eyebrow">
            <a:extLst xmlns:a="http://schemas.openxmlformats.org/drawingml/2006/main">
              <a:ext uri="{FF2B5EF4-FFF2-40B4-BE49-F238E27FC236}">
                <a16:creationId xmlns:a16="http://schemas.microsoft.com/office/drawing/2014/main" id="{E7D913BE-7366-4A10-A872-C03226A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的产品承诺</a:t>
            </a:r>
          </a:p>
        </p:txBody>
      </p:sp>
      <p:sp>
        <p:nvSpPr>
          <p:cNvPr id="3" name="p9-title">
            <a:extLst xmlns:a="http://schemas.openxmlformats.org/drawingml/2006/main">
              <a:ext uri="{FF2B5EF4-FFF2-40B4-BE49-F238E27FC236}">
                <a16:creationId xmlns:a16="http://schemas.microsoft.com/office/drawing/2014/main" id="{B4524550-F7A9-4D14-936A-A80893C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不一定惊艳，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但真的好用。</a:t>
            </a:r>
          </a:p>
        </p:txBody>
      </p:sp>
      <p:sp>
        <p:nvSpPr>
          <p:cNvPr id="4" name="p9-copy">
            <a:extLst xmlns:a="http://schemas.openxmlformats.org/drawingml/2006/main">
              <a:ext uri="{FF2B5EF4-FFF2-40B4-BE49-F238E27FC236}">
                <a16:creationId xmlns:a16="http://schemas.microsoft.com/office/drawing/2014/main" id="{AD0BB0A9-C1BA-4708-8D11-CF8445C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可以立刻拿去讲，也可以继续修改。</a:t>
            </a:r>
          </a:p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不一定独一无二，但稳定、靠谱、可预测。</a:t>
            </a:r>
          </a:p>
        </p:txBody>
      </p:sp>
      <p:sp>
        <p:nvSpPr>
          <p:cNvPr id="5" name="p9-rule">
            <a:extLst xmlns:a="http://schemas.openxmlformats.org/drawingml/2006/main">
              <a:ext uri="{FF2B5EF4-FFF2-40B4-BE49-F238E27FC236}">
                <a16:creationId xmlns:a16="http://schemas.microsoft.com/office/drawing/2014/main" id="{183481D7-E72C-467C-B998-AC75DDE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9-four">
            <a:extLst xmlns:a="http://schemas.openxmlformats.org/drawingml/2006/main">
              <a:ext uri="{FF2B5EF4-FFF2-40B4-BE49-F238E27FC236}">
                <a16:creationId xmlns:a16="http://schemas.microsoft.com/office/drawing/2014/main" id="{C24B93C6-B8CA-468D-9976-0F7C3C9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读懂稿子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规则帮我们做判断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代码完成重复劳动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经验变成可靠能力</a:t>
            </a:r>
          </a:p>
        </p:txBody>
      </p:sp>
      <p:sp>
        <p:nvSpPr>
          <p:cNvPr id="7" name="p9-page">
            <a:extLst xmlns:a="http://schemas.openxmlformats.org/drawingml/2006/main">
              <a:ext uri="{FF2B5EF4-FFF2-40B4-BE49-F238E27FC236}">
                <a16:creationId xmlns:a16="http://schemas.microsoft.com/office/drawing/2014/main" id="{F3133DA6-C7E2-4290-B859-9BF26FF1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8815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2026-09-06T01:52:12.7360000Z</dcterms:created>
  <dcterms:modified xsi:type="dcterms:W3CDTF">2026-09-06T01:52:12.7360000Z</dcterms:modified>
</coreProperties>
</file>