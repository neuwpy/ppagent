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b6750f7514b04" /><Relationship Type="http://schemas.openxmlformats.org/officeDocument/2006/relationships/extended-properties" Target="/docProps/app.xml" Id="R212c7f44b0f3448c" /><Relationship Type="http://schemas.openxmlformats.org/officeDocument/2006/relationships/officeDocument" Target="/ppt/presentation.xml" Id="R7a64092ca669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503b2968764fe2"/>
  </p:sldMasterIdLst>
  <p:notesMasterIdLst>
    <p:notesMasterId xmlns:r="http://schemas.openxmlformats.org/officeDocument/2006/relationships" r:id="Rce8aef905b244e57"/>
  </p:notesMasterIdLst>
  <p:sldIdLst>
    <p:sldId xmlns:r="http://schemas.openxmlformats.org/officeDocument/2006/relationships" id="256" r:id="R8bde47df4f234a1f"/>
    <p:sldId xmlns:r="http://schemas.openxmlformats.org/officeDocument/2006/relationships" id="257" r:id="R226def356f834006"/>
    <p:sldId xmlns:r="http://schemas.openxmlformats.org/officeDocument/2006/relationships" id="258" r:id="R45f4f95499714997"/>
    <p:sldId xmlns:r="http://schemas.openxmlformats.org/officeDocument/2006/relationships" id="259" r:id="R58f4c48096734a6b"/>
    <p:sldId xmlns:r="http://schemas.openxmlformats.org/officeDocument/2006/relationships" id="260" r:id="R150a63e4a6884c4f"/>
    <p:sldId xmlns:r="http://schemas.openxmlformats.org/officeDocument/2006/relationships" id="261" r:id="R856bb8bf675e40b1"/>
    <p:sldId xmlns:r="http://schemas.openxmlformats.org/officeDocument/2006/relationships" id="262" r:id="Rbb392df434954ba2"/>
    <p:sldId xmlns:r="http://schemas.openxmlformats.org/officeDocument/2006/relationships" id="263" r:id="R333ca7ab4ded4598"/>
    <p:sldId xmlns:r="http://schemas.openxmlformats.org/officeDocument/2006/relationships" id="264" r:id="Rae2356a804094b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4ac50af3994139" /><Relationship Type="http://schemas.openxmlformats.org/officeDocument/2006/relationships/slideMaster" Target="/ppt/slideMasters/slideMaster1.xml" Id="R72503b2968764fe2" /><Relationship Type="http://schemas.openxmlformats.org/officeDocument/2006/relationships/notesMaster" Target="/ppt/notesMasters/notesMaster1.xml" Id="Rce8aef905b244e57" /><Relationship Type="http://schemas.openxmlformats.org/officeDocument/2006/relationships/presProps" Target="/ppt/presProps.xml" Id="Rdf241c6f3e884f3a" /><Relationship Type="http://schemas.openxmlformats.org/officeDocument/2006/relationships/tableStyles" Target="/ppt/tableStyles.xml" Id="Rbc18013589a34c60" /><Relationship Type="http://schemas.openxmlformats.org/officeDocument/2006/relationships/slide" Target="/ppt/slides/slide1.xml" Id="R8bde47df4f234a1f" /><Relationship Type="http://schemas.openxmlformats.org/officeDocument/2006/relationships/slide" Target="/ppt/slides/slide2.xml" Id="R226def356f834006" /><Relationship Type="http://schemas.openxmlformats.org/officeDocument/2006/relationships/slide" Target="/ppt/slides/slide3.xml" Id="R45f4f95499714997" /><Relationship Type="http://schemas.openxmlformats.org/officeDocument/2006/relationships/slide" Target="/ppt/slides/slide4.xml" Id="R58f4c48096734a6b" /><Relationship Type="http://schemas.openxmlformats.org/officeDocument/2006/relationships/slide" Target="/ppt/slides/slide5.xml" Id="R150a63e4a6884c4f" /><Relationship Type="http://schemas.openxmlformats.org/officeDocument/2006/relationships/slide" Target="/ppt/slides/slide6.xml" Id="R856bb8bf675e40b1" /><Relationship Type="http://schemas.openxmlformats.org/officeDocument/2006/relationships/slide" Target="/ppt/slides/slide7.xml" Id="Rbb392df434954ba2" /><Relationship Type="http://schemas.openxmlformats.org/officeDocument/2006/relationships/slide" Target="/ppt/slides/slide8.xml" Id="R333ca7ab4ded4598" /><Relationship Type="http://schemas.openxmlformats.org/officeDocument/2006/relationships/slide" Target="/ppt/slides/slide9.xml" Id="Rae2356a80409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a402582b5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43f08229cd4b0a" /><Relationship Type="http://schemas.openxmlformats.org/officeDocument/2006/relationships/notesMaster" Target="/ppt/notesMasters/notesMaster1.xml" Id="Re71fdd3fa36b4e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43ea78405f4528" /><Relationship Type="http://schemas.openxmlformats.org/officeDocument/2006/relationships/notesMaster" Target="/ppt/notesMasters/notesMaster1.xml" Id="Rc0638af9b1604c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5f77f9c225495e" /><Relationship Type="http://schemas.openxmlformats.org/officeDocument/2006/relationships/notesMaster" Target="/ppt/notesMasters/notesMaster1.xml" Id="R32e4ab82b3b94f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d3a94493fc4868" /><Relationship Type="http://schemas.openxmlformats.org/officeDocument/2006/relationships/notesMaster" Target="/ppt/notesMasters/notesMaster1.xml" Id="Re79ad4c1656747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8656f980154fe3" /><Relationship Type="http://schemas.openxmlformats.org/officeDocument/2006/relationships/notesMaster" Target="/ppt/notesMasters/notesMaster1.xml" Id="Rffb63b330bc24f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7f3d3317e4f97" /><Relationship Type="http://schemas.openxmlformats.org/officeDocument/2006/relationships/notesMaster" Target="/ppt/notesMasters/notesMaster1.xml" Id="R44297e481ae948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8548297f6a487b" /><Relationship Type="http://schemas.openxmlformats.org/officeDocument/2006/relationships/notesMaster" Target="/ppt/notesMasters/notesMaster1.xml" Id="R9957d5e46d7346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ae14b09fad46b4" /><Relationship Type="http://schemas.openxmlformats.org/officeDocument/2006/relationships/notesMaster" Target="/ppt/notesMasters/notesMaster1.xml" Id="R9408937b03cb49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a3dc837d9848f6" /><Relationship Type="http://schemas.openxmlformats.org/officeDocument/2006/relationships/notesMaster" Target="/ppt/notesMasters/notesMaster1.xml" Id="R61cceb262340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4217bdf98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d2aeff5bdb4fe6" /><Relationship Type="http://schemas.openxmlformats.org/officeDocument/2006/relationships/slideLayout" Target="/ppt/slideLayouts/slideLayout1.xml" Id="R76f032b9e4114f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f032b9e4114f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9a6917787429e" /><Relationship Type="http://schemas.openxmlformats.org/officeDocument/2006/relationships/notesSlide" Target="/ppt/notesSlides/notesSlide1.xml" Id="R38c4d977a1294e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d633c68614f5c" /><Relationship Type="http://schemas.openxmlformats.org/officeDocument/2006/relationships/notesSlide" Target="/ppt/notesSlides/notesSlide2.xml" Id="Ra4abd9ac0f9a47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30e528ca44de7" /><Relationship Type="http://schemas.openxmlformats.org/officeDocument/2006/relationships/notesSlide" Target="/ppt/notesSlides/notesSlide3.xml" Id="Racbd7f2a4e4347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2dbe30dbb4bd4" /><Relationship Type="http://schemas.openxmlformats.org/officeDocument/2006/relationships/notesSlide" Target="/ppt/notesSlides/notesSlide4.xml" Id="Rc1d1e4db3bdb43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346c042fc4767" /><Relationship Type="http://schemas.openxmlformats.org/officeDocument/2006/relationships/notesSlide" Target="/ppt/notesSlides/notesSlide5.xml" Id="R24099fb3fbe946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a128083f2418b" /><Relationship Type="http://schemas.openxmlformats.org/officeDocument/2006/relationships/notesSlide" Target="/ppt/notesSlides/notesSlide6.xml" Id="Re8fcaa34622949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f1f8a213e41ca" /><Relationship Type="http://schemas.openxmlformats.org/officeDocument/2006/relationships/notesSlide" Target="/ppt/notesSlides/notesSlide7.xml" Id="R740d715f74224f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25affe0f24806" /><Relationship Type="http://schemas.openxmlformats.org/officeDocument/2006/relationships/notesSlide" Target="/ppt/notesSlides/notesSlide8.xml" Id="R84d8e49b3fed43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b28e8501840e1" /><Relationship Type="http://schemas.openxmlformats.org/officeDocument/2006/relationships/notesSlide" Target="/ppt/notesSlides/notesSlide9.xml" Id="Rc529aedecc7c4f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92865C1-237D-4EF0-A8C2-31E120F8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02FFAB7-AAC0-4843-B31C-45C5BAC7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CE5087-629E-4144-BAE4-6266F0D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把 PPT 生成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变成可靠的生产过程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D93B973-37DC-4920-9766-F4A4026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让 AI 读懂稿子，让规则做判断，让代码完成重复劳动。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EACAC0A9-38BB-43B2-8EE1-B19068C9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">
            <a:extLst xmlns:a="http://schemas.openxmlformats.org/drawingml/2006/main">
              <a:ext uri="{FF2B5EF4-FFF2-40B4-BE49-F238E27FC236}">
                <a16:creationId xmlns:a16="http://schemas.microsoft.com/office/drawing/2014/main" id="{3A310D03-DE61-4296-A746-BA5322B0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CE8F3"/>
                </a:solidFill>
              </a:defRPr>
            </a:pPr>
            <a:r>
              <a:rPr sz="1350">
                <a:solidFill>
                  <a:srgbClr val="DCE8F3"/>
                </a:solidFill>
              </a:rPr>
              <a:t>工作型 PPT · 结构清楚 · 视觉体面 · 原生可编辑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AE2D8C71-9A33-422A-B142-85B1DDC1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5275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F442770-E84A-4F0C-96A5-E05378DC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做 PPT 真正昂贵的，是一连串判断</a:t>
            </a:r>
          </a:p>
        </p:txBody>
      </p:sp>
      <p:sp>
        <p:nvSpPr>
          <p:cNvPr id="2" name="slide-2-divider">
            <a:extLst xmlns:a="http://schemas.openxmlformats.org/drawingml/2006/main">
              <a:ext uri="{FF2B5EF4-FFF2-40B4-BE49-F238E27FC236}">
                <a16:creationId xmlns:a16="http://schemas.microsoft.com/office/drawing/2014/main" id="{84662E98-05E3-49F6-B0B6-9EC5E550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01634838-D7AD-4A06-9A82-AE51F54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拖动文本框只是最后一步；前面还有一套叙事与视觉决策。</a:t>
            </a:r>
          </a:p>
        </p:txBody>
      </p:sp>
      <p:sp>
        <p:nvSpPr>
          <p:cNvPr id="4" name="slide-2-footer-line">
            <a:extLst xmlns:a="http://schemas.openxmlformats.org/drawingml/2006/main">
              <a:ext uri="{FF2B5EF4-FFF2-40B4-BE49-F238E27FC236}">
                <a16:creationId xmlns:a16="http://schemas.microsoft.com/office/drawing/2014/main" id="{6267A1AB-518D-4DD1-BD6D-4A15EEA0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9A3ED925-5476-442F-A58A-DE7E38FB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38EFD6A9-751B-429E-9957-A293E51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7" name="p2-narrative">
            <a:extLst xmlns:a="http://schemas.openxmlformats.org/drawingml/2006/main">
              <a:ext uri="{FF2B5EF4-FFF2-40B4-BE49-F238E27FC236}">
                <a16:creationId xmlns:a16="http://schemas.microsoft.com/office/drawing/2014/main" id="{EE562FC0-40D0-4BBE-A8B9-EA9AE943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4D76"/>
                </a:solidFill>
              </a:defRPr>
            </a:pPr>
            <a:r>
              <a:rPr sz="1950" b="1">
                <a:solidFill>
                  <a:srgbClr val="274D76"/>
                </a:solidFill>
              </a:rPr>
              <a:t>叙事判断</a:t>
            </a:r>
          </a:p>
        </p:txBody>
      </p:sp>
      <p:sp>
        <p:nvSpPr>
          <p:cNvPr id="8" name="p2-visual">
            <a:extLst xmlns:a="http://schemas.openxmlformats.org/drawingml/2006/main">
              <a:ext uri="{FF2B5EF4-FFF2-40B4-BE49-F238E27FC236}">
                <a16:creationId xmlns:a16="http://schemas.microsoft.com/office/drawing/2014/main" id="{C8FC17AE-702F-4569-9D98-AA79C8A5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视觉落地判断</a:t>
            </a:r>
          </a:p>
        </p:txBody>
      </p:sp>
      <p:sp>
        <p:nvSpPr>
          <p:cNvPr id="9" name="p2-output">
            <a:extLst xmlns:a="http://schemas.openxmlformats.org/drawingml/2006/main">
              <a:ext uri="{FF2B5EF4-FFF2-40B4-BE49-F238E27FC236}">
                <a16:creationId xmlns:a16="http://schemas.microsoft.com/office/drawing/2014/main" id="{398C19CB-8873-4CA7-B2EF-AE584F84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429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一套可以继续修改的 PPT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95700" y="2419350"/>
            <a:ext cx="411480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695700" y="3476625"/>
            <a:ext cx="411480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tailEnd type="arrow" w="sm" len="sm"/>
          </a:ln>
        </p:spPr>
      </p:cxnSp>
      <p:sp>
        <p:nvSpPr>
          <p:cNvPr id="12" name="p2-narrative-detail">
            <a:extLst xmlns:a="http://schemas.openxmlformats.org/drawingml/2006/main">
              <a:ext uri="{FF2B5EF4-FFF2-40B4-BE49-F238E27FC236}">
                <a16:creationId xmlns:a16="http://schemas.microsoft.com/office/drawing/2014/main" id="{1E059090-48ED-413E-90CF-75ADA407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讲法、拆页、页面职责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并列、递进、因果、流程</a:t>
            </a:r>
          </a:p>
        </p:txBody>
      </p:sp>
      <p:sp>
        <p:nvSpPr>
          <p:cNvPr id="13" name="p2-visual-detail">
            <a:extLst xmlns:a="http://schemas.openxmlformats.org/drawingml/2006/main">
              <a:ext uri="{FF2B5EF4-FFF2-40B4-BE49-F238E27FC236}">
                <a16:creationId xmlns:a16="http://schemas.microsoft.com/office/drawing/2014/main" id="{515C67BA-4E08-42F4-A83F-447FDBB7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哪里突出、什么时候用图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怎样统一字体、字号、颜色和间距</a:t>
            </a:r>
          </a:p>
        </p:txBody>
      </p:sp>
      <p:sp>
        <p:nvSpPr>
          <p:cNvPr id="14" name="p2-caption">
            <a:extLst xmlns:a="http://schemas.openxmlformats.org/drawingml/2006/main">
              <a:ext uri="{FF2B5EF4-FFF2-40B4-BE49-F238E27FC236}">
                <a16:creationId xmlns:a16="http://schemas.microsoft.com/office/drawing/2014/main" id="{440D44B9-F3EE-4D93-A1C4-D6B6DBD0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高手已经积累了这些答案；PPagenT 要把答案留下来。</a:t>
            </a:r>
          </a:p>
        </p:txBody>
      </p:sp>
    </p:spTree>
    <p:extLst>
      <p:ext uri="{BB962C8B-B14F-4D97-AF65-F5344CB8AC3E}">
        <p14:creationId xmlns:p14="http://schemas.microsoft.com/office/powerpoint/2010/main" val="910664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971F0AA-F058-4DFE-9E7A-5B9BDD6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PPagenT 先服务需求密度最大的工作型 PPT</a:t>
            </a:r>
          </a:p>
        </p:txBody>
      </p:sp>
      <p:sp>
        <p:nvSpPr>
          <p:cNvPr id="2" name="slide-3-divider">
            <a:extLst xmlns:a="http://schemas.openxmlformats.org/drawingml/2006/main">
              <a:ext uri="{FF2B5EF4-FFF2-40B4-BE49-F238E27FC236}">
                <a16:creationId xmlns:a16="http://schemas.microsoft.com/office/drawing/2014/main" id="{B93596CC-2553-4531-B0C1-03A1A76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F3885093-4725-47CF-9330-513430CD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两端需求都存在，但更适合标准化的是中间的日常工作场景。</a:t>
            </a:r>
          </a:p>
        </p:txBody>
      </p:sp>
      <p:sp>
        <p:nvSpPr>
          <p:cNvPr id="4" name="slide-3-footer-line">
            <a:extLst xmlns:a="http://schemas.openxmlformats.org/drawingml/2006/main">
              <a:ext uri="{FF2B5EF4-FFF2-40B4-BE49-F238E27FC236}">
                <a16:creationId xmlns:a16="http://schemas.microsoft.com/office/drawing/2014/main" id="{D06BCE62-5496-4C53-9859-573A195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17C1AC9A-781C-487B-B631-ECEA545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A9FE99F0-D4FE-419C-BE09-F7E105FA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7" name="p3-axis-left">
            <a:extLst xmlns:a="http://schemas.openxmlformats.org/drawingml/2006/main">
              <a:ext uri="{FF2B5EF4-FFF2-40B4-BE49-F238E27FC236}">
                <a16:creationId xmlns:a16="http://schemas.microsoft.com/office/drawing/2014/main" id="{FCC95244-B868-40F9-9174-CF740B0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几乎不在意版式</a:t>
            </a:r>
          </a:p>
        </p:txBody>
      </p:sp>
      <p:sp>
        <p:nvSpPr>
          <p:cNvPr id="8" name="p3-axis-right">
            <a:extLst xmlns:a="http://schemas.openxmlformats.org/drawingml/2006/main">
              <a:ext uri="{FF2B5EF4-FFF2-40B4-BE49-F238E27FC236}">
                <a16:creationId xmlns:a16="http://schemas.microsoft.com/office/drawing/2014/main" id="{5FCE341F-DBD1-4362-AA1A-3992785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高度定制的视觉创意</a:t>
            </a:r>
          </a:p>
        </p:txBody>
      </p:sp>
      <p:sp>
        <p:nvSpPr>
          <p:cNvPr id="9" name="p3-spectrum-left">
            <a:extLst xmlns:a="http://schemas.openxmlformats.org/drawingml/2006/main">
              <a:ext uri="{FF2B5EF4-FFF2-40B4-BE49-F238E27FC236}">
                <a16:creationId xmlns:a16="http://schemas.microsoft.com/office/drawing/2014/main" id="{9F2BD562-D6FB-4315-9F83-7E49BD50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3-target">
            <a:extLst xmlns:a="http://schemas.openxmlformats.org/drawingml/2006/main">
              <a:ext uri="{FF2B5EF4-FFF2-40B4-BE49-F238E27FC236}">
                <a16:creationId xmlns:a16="http://schemas.microsoft.com/office/drawing/2014/main" id="{8D2B98E0-7860-4E93-8450-79FE15F5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71700"/>
            <a:ext cx="544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工作型 PPT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学校 · 科研院所 · 事业单位 · 企业</a:t>
            </a:r>
          </a:p>
        </p:txBody>
      </p:sp>
      <p:sp>
        <p:nvSpPr>
          <p:cNvPr id="11" name="p3-spectrum-right">
            <a:extLst xmlns:a="http://schemas.openxmlformats.org/drawingml/2006/main">
              <a:ext uri="{FF2B5EF4-FFF2-40B4-BE49-F238E27FC236}">
                <a16:creationId xmlns:a16="http://schemas.microsoft.com/office/drawing/2014/main" id="{68F0A286-30EA-48E3-A017-5A72A63D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3-target-note">
            <a:extLst xmlns:a="http://schemas.openxmlformats.org/drawingml/2006/main">
              <a:ext uri="{FF2B5EF4-FFF2-40B4-BE49-F238E27FC236}">
                <a16:creationId xmlns:a16="http://schemas.microsoft.com/office/drawing/2014/main" id="{FE72373E-2C74-40EF-A7BD-6B6FD692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74D76"/>
                </a:solidFill>
              </a:defRPr>
            </a:pPr>
            <a:r>
              <a:rPr sz="1350">
                <a:solidFill>
                  <a:srgbClr val="274D76"/>
                </a:solidFill>
              </a:rPr>
              <a:t>概率密度最大、重复发生，也最适合标准化</a:t>
            </a:r>
          </a:p>
        </p:txBody>
      </p:sp>
      <p:sp>
        <p:nvSpPr>
          <p:cNvPr id="13" name="p3-bottom-head">
            <a:extLst xmlns:a="http://schemas.openxmlformats.org/drawingml/2006/main">
              <a:ext uri="{FF2B5EF4-FFF2-40B4-BE49-F238E27FC236}">
                <a16:creationId xmlns:a16="http://schemas.microsoft.com/office/drawing/2014/main" id="{D0105870-ED6C-4B67-AD7F-FBB66DC9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这类场景的底线很明确</a:t>
            </a:r>
          </a:p>
        </p:txBody>
      </p:sp>
      <p:sp>
        <p:nvSpPr>
          <p:cNvPr id="14" name="p3-bottom-copy">
            <a:extLst xmlns:a="http://schemas.openxmlformats.org/drawingml/2006/main">
              <a:ext uri="{FF2B5EF4-FFF2-40B4-BE49-F238E27FC236}">
                <a16:creationId xmlns:a16="http://schemas.microsoft.com/office/drawing/2014/main" id="{249A76EF-9EBA-4F8F-B74F-AB8B578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不能乱，不能丑，不能掉价，不能生成以后无法修改。</a:t>
            </a:r>
          </a:p>
        </p:txBody>
      </p:sp>
      <p:sp>
        <p:nvSpPr>
          <p:cNvPr id="15" name="p3-bottom-rule">
            <a:extLst xmlns:a="http://schemas.openxmlformats.org/drawingml/2006/main">
              <a:ext uri="{FF2B5EF4-FFF2-40B4-BE49-F238E27FC236}">
                <a16:creationId xmlns:a16="http://schemas.microsoft.com/office/drawing/2014/main" id="{2904AFBC-3486-4E7F-965E-8C54123A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3-bottom-foot">
            <a:extLst xmlns:a="http://schemas.openxmlformats.org/drawingml/2006/main">
              <a:ext uri="{FF2B5EF4-FFF2-40B4-BE49-F238E27FC236}">
                <a16:creationId xmlns:a16="http://schemas.microsoft.com/office/drawing/2014/main" id="{52C76EDB-1093-4CCB-8241-E5FD0CD2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产品选择因此不是覆盖所有需求，而是先把最常见、最可重复的工作做好。</a:t>
            </a:r>
          </a:p>
        </p:txBody>
      </p:sp>
    </p:spTree>
    <p:extLst>
      <p:ext uri="{BB962C8B-B14F-4D97-AF65-F5344CB8AC3E}">
        <p14:creationId xmlns:p14="http://schemas.microsoft.com/office/powerpoint/2010/main" val="647311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283942E-36DC-4E5B-B569-2323F7C8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产品真正追求的，是跨过可用线的概率</a:t>
            </a:r>
          </a:p>
        </p:txBody>
      </p:sp>
      <p:sp>
        <p:nvSpPr>
          <p:cNvPr id="2" name="slide-4-divider">
            <a:extLst xmlns:a="http://schemas.openxmlformats.org/drawingml/2006/main">
              <a:ext uri="{FF2B5EF4-FFF2-40B4-BE49-F238E27FC236}">
                <a16:creationId xmlns:a16="http://schemas.microsoft.com/office/drawing/2014/main" id="{71CBEDDE-14B7-485F-AAC7-82E7CBD9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2C9A74FE-8A87-4AFA-9966-C601B384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目标不是偶尔生成 95 分，而是让随机工作稿稳定进入可用区间。</a:t>
            </a:r>
          </a:p>
        </p:txBody>
      </p:sp>
      <p:sp>
        <p:nvSpPr>
          <p:cNvPr id="4" name="slide-4-footer-line">
            <a:extLst xmlns:a="http://schemas.openxmlformats.org/drawingml/2006/main">
              <a:ext uri="{FF2B5EF4-FFF2-40B4-BE49-F238E27FC236}">
                <a16:creationId xmlns:a16="http://schemas.microsoft.com/office/drawing/2014/main" id="{92E5DB99-02F6-4D13-B8FD-26A4314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6249C534-13E1-444F-AC68-09357EDD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FEFF1B33-62A8-499A-BB71-CCBEB6CB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7" name="p4-formula-label">
            <a:extLst xmlns:a="http://schemas.openxmlformats.org/drawingml/2006/main">
              <a:ext uri="{FF2B5EF4-FFF2-40B4-BE49-F238E27FC236}">
                <a16:creationId xmlns:a16="http://schemas.microsoft.com/office/drawing/2014/main" id="{4CC75156-2861-468D-A757-9480D84D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概念上的产品可靠度</a:t>
            </a:r>
          </a:p>
        </p:txBody>
      </p:sp>
      <p:sp>
        <p:nvSpPr>
          <p:cNvPr id="8" name="p4-formula">
            <a:extLst xmlns:a="http://schemas.openxmlformats.org/drawingml/2006/main">
              <a:ext uri="{FF2B5EF4-FFF2-40B4-BE49-F238E27FC236}">
                <a16:creationId xmlns:a16="http://schemas.microsoft.com/office/drawing/2014/main" id="{51D9D8DA-DE78-4EDC-8BCD-1E4A930D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74D76"/>
                </a:solidFill>
              </a:defRPr>
            </a:pPr>
            <a:r>
              <a:rPr sz="2700" b="1">
                <a:solidFill>
                  <a:srgbClr val="274D76"/>
                </a:solidFill>
              </a:rPr>
              <a:t>R = P(Q ≥ Q可用 | 目标工作场景)</a:t>
            </a:r>
          </a:p>
        </p:txBody>
      </p:sp>
      <p:sp>
        <p:nvSpPr>
          <p:cNvPr id="9" name="p4-formula-rule">
            <a:extLst xmlns:a="http://schemas.openxmlformats.org/drawingml/2006/main">
              <a:ext uri="{FF2B5EF4-FFF2-40B4-BE49-F238E27FC236}">
                <a16:creationId xmlns:a16="http://schemas.microsoft.com/office/drawing/2014/main" id="{2233B06D-3457-413A-8F40-998C0F43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4-formula-explain">
            <a:extLst xmlns:a="http://schemas.openxmlformats.org/drawingml/2006/main">
              <a:ext uri="{FF2B5EF4-FFF2-40B4-BE49-F238E27FC236}">
                <a16:creationId xmlns:a16="http://schemas.microsoft.com/office/drawing/2014/main" id="{7067C019-C0B4-4D99-80E7-551C3A4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Q 是生成质量；Q可用是“可以直接拿去讲”的最低标准。</a:t>
            </a:r>
          </a:p>
        </p:txBody>
      </p:sp>
      <p:sp>
        <p:nvSpPr>
          <p:cNvPr id="11" name="p4-rare">
            <a:extLst xmlns:a="http://schemas.openxmlformats.org/drawingml/2006/main">
              <a:ext uri="{FF2B5EF4-FFF2-40B4-BE49-F238E27FC236}">
                <a16:creationId xmlns:a16="http://schemas.microsoft.com/office/drawing/2014/main" id="{33F9CC58-9F55-4E30-932B-DCBC94E1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95 分</a:t>
            </a:r>
          </a:p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偶尔惊艳</a:t>
            </a:r>
          </a:p>
        </p:txBody>
      </p:sp>
      <p:sp>
        <p:nvSpPr>
          <p:cNvPr id="12" name="p4-reliable">
            <a:extLst xmlns:a="http://schemas.openxmlformats.org/drawingml/2006/main">
              <a:ext uri="{FF2B5EF4-FFF2-40B4-BE49-F238E27FC236}">
                <a16:creationId xmlns:a16="http://schemas.microsoft.com/office/drawing/2014/main" id="{4CF5BD69-271A-43AE-8FEC-65AB4E9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80 分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稳定可用</a:t>
            </a:r>
          </a:p>
        </p:txBody>
      </p:sp>
      <p:sp>
        <p:nvSpPr>
          <p:cNvPr id="13" name="p4-side-note">
            <a:extLst xmlns:a="http://schemas.openxmlformats.org/drawingml/2006/main">
              <a:ext uri="{FF2B5EF4-FFF2-40B4-BE49-F238E27FC236}">
                <a16:creationId xmlns:a16="http://schemas.microsoft.com/office/drawing/2014/main" id="{D24F2C12-7B78-42E8-9BB4-465E1D1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80 分只是“稳定可用”的形象称呼。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可靠基础比偶然峰值更值钱。</a:t>
            </a:r>
          </a:p>
        </p:txBody>
      </p:sp>
    </p:spTree>
    <p:extLst>
      <p:ext uri="{BB962C8B-B14F-4D97-AF65-F5344CB8AC3E}">
        <p14:creationId xmlns:p14="http://schemas.microsoft.com/office/powerpoint/2010/main" val="954768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5A37BAB-210A-4133-B2AB-55BF3018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用限制自由，换取更可预测的交付</a:t>
            </a:r>
          </a:p>
        </p:txBody>
      </p:sp>
      <p:sp>
        <p:nvSpPr>
          <p:cNvPr id="2" name="slide-5-divider">
            <a:extLst xmlns:a="http://schemas.openxmlformats.org/drawingml/2006/main">
              <a:ext uri="{FF2B5EF4-FFF2-40B4-BE49-F238E27FC236}">
                <a16:creationId xmlns:a16="http://schemas.microsoft.com/office/drawing/2014/main" id="{BE747247-6F2B-4D8F-AACD-6ADFA93C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5BCE9961-FA2C-4125-8644-4A3EBB20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固定规范、能力边界与退化方式，减少运行时的失败空间。</a:t>
            </a:r>
          </a:p>
        </p:txBody>
      </p:sp>
      <p:sp>
        <p:nvSpPr>
          <p:cNvPr id="4" name="slide-5-footer-line">
            <a:extLst xmlns:a="http://schemas.openxmlformats.org/drawingml/2006/main">
              <a:ext uri="{FF2B5EF4-FFF2-40B4-BE49-F238E27FC236}">
                <a16:creationId xmlns:a16="http://schemas.microsoft.com/office/drawing/2014/main" id="{E081A83A-96C4-4C62-AC5C-7F1AF7C5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F516A904-CC71-4A31-A3CA-407CAD6F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73042895-05B2-49A5-A7C3-CBFC2AA8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7" name="p5-free">
            <a:extLst xmlns:a="http://schemas.openxmlformats.org/drawingml/2006/main">
              <a:ext uri="{FF2B5EF4-FFF2-40B4-BE49-F238E27FC236}">
                <a16:creationId xmlns:a16="http://schemas.microsoft.com/office/drawing/2014/main" id="{BF62DA7A-4C8B-418E-A0D2-A421514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自由决定</a:t>
            </a:r>
          </a:p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颜色 · 字体 · 结构 · 元素</a:t>
            </a:r>
          </a:p>
        </p:txBody>
      </p:sp>
      <p:sp>
        <p:nvSpPr>
          <p:cNvPr id="8" name="p5-rules">
            <a:extLst xmlns:a="http://schemas.openxmlformats.org/drawingml/2006/main">
              <a:ext uri="{FF2B5EF4-FFF2-40B4-BE49-F238E27FC236}">
                <a16:creationId xmlns:a16="http://schemas.microsoft.com/office/drawing/2014/main" id="{CAB1E57C-B37B-4CFF-B1D8-7A6C7D9E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确定规范</a:t>
            </a:r>
          </a:p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主题 · 核心能力 · 数量边界</a:t>
            </a:r>
          </a:p>
        </p:txBody>
      </p:sp>
      <p:sp>
        <p:nvSpPr>
          <p:cNvPr id="9" name="p5-result">
            <a:extLst xmlns:a="http://schemas.openxmlformats.org/drawingml/2006/main">
              <a:ext uri="{FF2B5EF4-FFF2-40B4-BE49-F238E27FC236}">
                <a16:creationId xmlns:a16="http://schemas.microsoft.com/office/drawing/2014/main" id="{D5764FD7-B6BF-46A8-9E75-8738A211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可预测交付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稳定、规范、可编辑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2" name="p5-cause-1">
            <a:extLst xmlns:a="http://schemas.openxmlformats.org/drawingml/2006/main">
              <a:ext uri="{FF2B5EF4-FFF2-40B4-BE49-F238E27FC236}">
                <a16:creationId xmlns:a16="http://schemas.microsoft.com/office/drawing/2014/main" id="{5A2F731D-4EC1-498E-8F4C-63ACBC66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状态空间更大，失败模式更多</a:t>
            </a:r>
          </a:p>
        </p:txBody>
      </p:sp>
      <p:sp>
        <p:nvSpPr>
          <p:cNvPr id="13" name="p5-cause-2">
            <a:extLst xmlns:a="http://schemas.openxmlformats.org/drawingml/2006/main">
              <a:ext uri="{FF2B5EF4-FFF2-40B4-BE49-F238E27FC236}">
                <a16:creationId xmlns:a16="http://schemas.microsoft.com/office/drawing/2014/main" id="{657F3C00-7440-462D-AAD5-EB76086E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把已验证的选择提前固定</a:t>
            </a:r>
          </a:p>
        </p:txBody>
      </p:sp>
      <p:sp>
        <p:nvSpPr>
          <p:cNvPr id="14" name="p5-cause-3">
            <a:extLst xmlns:a="http://schemas.openxmlformats.org/drawingml/2006/main">
              <a:ext uri="{FF2B5EF4-FFF2-40B4-BE49-F238E27FC236}">
                <a16:creationId xmlns:a16="http://schemas.microsoft.com/office/drawing/2014/main" id="{C56CEEBE-FC92-4462-9E6B-3F26815C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必要时按已登记方式退化</a:t>
            </a:r>
          </a:p>
        </p:txBody>
      </p:sp>
      <p:sp>
        <p:nvSpPr>
          <p:cNvPr id="15" name="p5-note-surface">
            <a:extLst xmlns:a="http://schemas.openxmlformats.org/drawingml/2006/main">
              <a:ext uri="{FF2B5EF4-FFF2-40B4-BE49-F238E27FC236}">
                <a16:creationId xmlns:a16="http://schemas.microsoft.com/office/drawing/2014/main" id="{BBC21739-5790-4987-BE4E-FBA9E910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5-note">
            <a:extLst xmlns:a="http://schemas.openxmlformats.org/drawingml/2006/main">
              <a:ext uri="{FF2B5EF4-FFF2-40B4-BE49-F238E27FC236}">
                <a16:creationId xmlns:a16="http://schemas.microsoft.com/office/drawing/2014/main" id="{46F040D1-2254-4E96-B956-D8EF42F4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4D76"/>
                </a:solidFill>
              </a:defRPr>
            </a:pPr>
            <a:r>
              <a:rPr sz="1650" b="1">
                <a:solidFill>
                  <a:srgbClr val="274D76"/>
                </a:solidFill>
              </a:rPr>
              <a:t>学校有学校的样子，企业有企业的样子。每次都不一样，有时候才是缺点。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77588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1D3AAE9-06E4-4B8C-B74D-2354E24E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AI 负责理解和路由，规则负责约束，代码负责稳定生成</a:t>
            </a:r>
          </a:p>
        </p:txBody>
      </p:sp>
      <p:sp>
        <p:nvSpPr>
          <p:cNvPr id="2" name="slide-6-divider">
            <a:extLst xmlns:a="http://schemas.openxmlformats.org/drawingml/2006/main">
              <a:ext uri="{FF2B5EF4-FFF2-40B4-BE49-F238E27FC236}">
                <a16:creationId xmlns:a16="http://schemas.microsoft.com/office/drawing/2014/main" id="{F246C7DF-43A8-4B14-92EF-69ABEA47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56F616EF-4443-4AD1-BE9D-C4CA002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两条路线在确认过的核心资产库处相交，最后输出原生可编辑 PPTX。</a:t>
            </a:r>
          </a:p>
        </p:txBody>
      </p:sp>
      <p:sp>
        <p:nvSpPr>
          <p:cNvPr id="4" name="slide-6-footer-line">
            <a:extLst xmlns:a="http://schemas.openxmlformats.org/drawingml/2006/main">
              <a:ext uri="{FF2B5EF4-FFF2-40B4-BE49-F238E27FC236}">
                <a16:creationId xmlns:a16="http://schemas.microsoft.com/office/drawing/2014/main" id="{7EED37BC-0A1E-4F3B-A37A-855A3B1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4A226CA2-657C-4932-8FAB-EE5637F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8D19AC3B-DFFD-4498-A897-28208DC5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7" name="p6-lane-top">
            <a:extLst xmlns:a="http://schemas.openxmlformats.org/drawingml/2006/main">
              <a:ext uri="{FF2B5EF4-FFF2-40B4-BE49-F238E27FC236}">
                <a16:creationId xmlns:a16="http://schemas.microsoft.com/office/drawing/2014/main" id="{190E515F-6028-4A36-888A-9FF33BC2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1114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6-lane-bottom">
            <a:extLst xmlns:a="http://schemas.openxmlformats.org/drawingml/2006/main">
              <a:ext uri="{FF2B5EF4-FFF2-40B4-BE49-F238E27FC236}">
                <a16:creationId xmlns:a16="http://schemas.microsoft.com/office/drawing/2014/main" id="{93B67100-D4A5-4703-8A5E-93614B33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1144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6-lane-top-label">
            <a:extLst xmlns:a="http://schemas.openxmlformats.org/drawingml/2006/main">
              <a:ext uri="{FF2B5EF4-FFF2-40B4-BE49-F238E27FC236}">
                <a16:creationId xmlns:a16="http://schemas.microsoft.com/office/drawing/2014/main" id="{E45696E3-26C6-4D6B-9547-A11F7F2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资产入库线</a:t>
            </a:r>
          </a:p>
        </p:txBody>
      </p:sp>
      <p:sp>
        <p:nvSpPr>
          <p:cNvPr id="10" name="p6-lane-bottom-label">
            <a:extLst xmlns:a="http://schemas.openxmlformats.org/drawingml/2006/main">
              <a:ext uri="{FF2B5EF4-FFF2-40B4-BE49-F238E27FC236}">
                <a16:creationId xmlns:a16="http://schemas.microsoft.com/office/drawing/2014/main" id="{63BE08CC-921D-4973-9049-3FDFEBE0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正式生成线</a:t>
            </a:r>
          </a:p>
        </p:txBody>
      </p:sp>
      <p:sp>
        <p:nvSpPr>
          <p:cNvPr id="11" name="p6-ref">
            <a:extLst xmlns:a="http://schemas.openxmlformats.org/drawingml/2006/main">
              <a:ext uri="{FF2B5EF4-FFF2-40B4-BE49-F238E27FC236}">
                <a16:creationId xmlns:a16="http://schemas.microsoft.com/office/drawing/2014/main" id="{F4F19CF8-B2DE-41FB-88F0-7C268CD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优秀参考</a:t>
            </a:r>
          </a:p>
        </p:txBody>
      </p:sp>
      <p:sp>
        <p:nvSpPr>
          <p:cNvPr id="12" name="p6-extract">
            <a:extLst xmlns:a="http://schemas.openxmlformats.org/drawingml/2006/main">
              <a:ext uri="{FF2B5EF4-FFF2-40B4-BE49-F238E27FC236}">
                <a16:creationId xmlns:a16="http://schemas.microsoft.com/office/drawing/2014/main" id="{F8021B14-B914-4B24-9C12-E7F97D81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1571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提炼规律</a:t>
            </a:r>
          </a:p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参数化</a:t>
            </a:r>
          </a:p>
        </p:txBody>
      </p:sp>
      <p:sp>
        <p:nvSpPr>
          <p:cNvPr id="13" name="p6-confirm">
            <a:extLst xmlns:a="http://schemas.openxmlformats.org/drawingml/2006/main">
              <a:ext uri="{FF2B5EF4-FFF2-40B4-BE49-F238E27FC236}">
                <a16:creationId xmlns:a16="http://schemas.microsoft.com/office/drawing/2014/main" id="{F45FAFDE-17B9-402C-9598-418398B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用户确认</a:t>
            </a:r>
          </a:p>
        </p:txBody>
      </p:sp>
      <p:sp>
        <p:nvSpPr>
          <p:cNvPr id="14" name="p6-core">
            <a:extLst xmlns:a="http://schemas.openxmlformats.org/drawingml/2006/main">
              <a:ext uri="{FF2B5EF4-FFF2-40B4-BE49-F238E27FC236}">
                <a16:creationId xmlns:a16="http://schemas.microsoft.com/office/drawing/2014/main" id="{FF6A191B-2A3F-4215-B7DC-9904B41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核心资产库</a:t>
            </a:r>
          </a:p>
        </p:txBody>
      </p: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00375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048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53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8" name="p6-input">
            <a:extLst xmlns:a="http://schemas.openxmlformats.org/drawingml/2006/main">
              <a:ext uri="{FF2B5EF4-FFF2-40B4-BE49-F238E27FC236}">
                <a16:creationId xmlns:a16="http://schemas.microsoft.com/office/drawing/2014/main" id="{F5A7819C-61E8-4832-81C5-B845EF02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762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原始稿件 + 主题</a:t>
            </a:r>
          </a:p>
        </p:txBody>
      </p:sp>
      <p:sp>
        <p:nvSpPr>
          <p:cNvPr id="19" name="p6-content">
            <a:extLst xmlns:a="http://schemas.openxmlformats.org/drawingml/2006/main">
              <a:ext uri="{FF2B5EF4-FFF2-40B4-BE49-F238E27FC236}">
                <a16:creationId xmlns:a16="http://schemas.microsoft.com/office/drawing/2014/main" id="{4C3C31A3-4047-4E5A-BF1E-4AB778D6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内容导演（AI）</a:t>
            </a:r>
          </a:p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理解稿件 · 组织叙事 · 拆页</a:t>
            </a:r>
          </a:p>
        </p:txBody>
      </p:sp>
      <p:sp>
        <p:nvSpPr>
          <p:cNvPr id="20" name="p6-visual">
            <a:extLst xmlns:a="http://schemas.openxmlformats.org/drawingml/2006/main">
              <a:ext uri="{FF2B5EF4-FFF2-40B4-BE49-F238E27FC236}">
                <a16:creationId xmlns:a16="http://schemas.microsoft.com/office/drawing/2014/main" id="{A38A7148-AA19-4475-A7EF-F98560A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视觉导演（AI）</a:t>
            </a:r>
          </a:p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判断表达 · 选择结构</a:t>
            </a:r>
          </a:p>
        </p:txBody>
      </p:sp>
      <p:sp>
        <p:nvSpPr>
          <p:cNvPr id="21" name="p6-choice">
            <a:extLst xmlns:a="http://schemas.openxmlformats.org/drawingml/2006/main">
              <a:ext uri="{FF2B5EF4-FFF2-40B4-BE49-F238E27FC236}">
                <a16:creationId xmlns:a16="http://schemas.microsoft.com/office/drawing/2014/main" id="{5EE6D9B2-9416-4D3C-ABB4-695939C2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1619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合法能力</a:t>
            </a:r>
          </a:p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或简单排版</a:t>
            </a:r>
          </a:p>
        </p:txBody>
      </p:sp>
      <p:sp>
        <p:nvSpPr>
          <p:cNvPr id="22" name="p6-pptx">
            <a:extLst xmlns:a="http://schemas.openxmlformats.org/drawingml/2006/main">
              <a:ext uri="{FF2B5EF4-FFF2-40B4-BE49-F238E27FC236}">
                <a16:creationId xmlns:a16="http://schemas.microsoft.com/office/drawing/2014/main" id="{186E93D2-48EC-4B5C-9EA3-12B37E2C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28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原生可编辑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PPTX</a:t>
            </a:r>
          </a:p>
        </p:txBody>
      </p:sp>
      <p:cxnSp>
        <p:nvCxnSpPr>
          <p:cNvPr id="5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90875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429250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572625" y="43719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286750" y="2543175"/>
            <a:ext cx="476250" cy="1457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E83A8"/>
            </a:solidFill>
            <a:prstDash val="dash"/>
            <a:tailEnd type="arrow" w="sm" len="sm"/>
          </a:ln>
        </p:spPr>
      </p:cxnSp>
      <p:sp>
        <p:nvSpPr>
          <p:cNvPr id="28" name="p6-core-note">
            <a:extLst xmlns:a="http://schemas.openxmlformats.org/drawingml/2006/main">
              <a:ext uri="{FF2B5EF4-FFF2-40B4-BE49-F238E27FC236}">
                <a16:creationId xmlns:a16="http://schemas.microsoft.com/office/drawing/2014/main" id="{DAD8D1D2-8BAC-435B-9032-4F8E24B4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83A8"/>
                </a:solidFill>
              </a:defRPr>
            </a:pPr>
            <a:r>
              <a:rPr sz="1200">
                <a:solidFill>
                  <a:srgbClr val="5E83A8"/>
                </a:solidFill>
              </a:rPr>
              <a:t>核心资产库只读供给选择</a:t>
            </a:r>
          </a:p>
        </p:txBody>
      </p:sp>
      <p:sp>
        <p:nvSpPr>
          <p:cNvPr id="29" name="p6-generation-note">
            <a:extLst xmlns:a="http://schemas.openxmlformats.org/drawingml/2006/main">
              <a:ext uri="{FF2B5EF4-FFF2-40B4-BE49-F238E27FC236}">
                <a16:creationId xmlns:a16="http://schemas.microsoft.com/office/drawing/2014/main" id="{170747EC-8137-442C-8E81-BE66F479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101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4D76"/>
                </a:solidFill>
              </a:defRPr>
            </a:pPr>
            <a:r>
              <a:rPr sz="1200" b="1">
                <a:solidFill>
                  <a:srgbClr val="274D76"/>
                </a:solidFill>
              </a:rPr>
              <a:t>确定性生成</a:t>
            </a:r>
          </a:p>
        </p:txBody>
      </p:sp>
      <p:sp>
        <p:nvSpPr>
          <p:cNvPr id="30" name="p6-caption">
            <a:extLst xmlns:a="http://schemas.openxmlformats.org/drawingml/2006/main">
              <a:ext uri="{FF2B5EF4-FFF2-40B4-BE49-F238E27FC236}">
                <a16:creationId xmlns:a16="http://schemas.microsoft.com/office/drawing/2014/main" id="{DE818D7F-8052-41C7-B8ED-B617F8C1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内容导演组织叙事，视觉导演选择结构；AI 不直接自由绘制整份 PPT，确定性代码完成重复劳动。</a:t>
            </a:r>
          </a:p>
        </p:txBody>
      </p:sp>
    </p:spTree>
    <p:extLst>
      <p:ext uri="{BB962C8B-B14F-4D97-AF65-F5344CB8AC3E}">
        <p14:creationId xmlns:p14="http://schemas.microsoft.com/office/powerpoint/2010/main" val="1073753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F6E6F2EE-D0C0-497C-8237-48AD7503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把昂贵的视觉理解与失败风险前移</a:t>
            </a:r>
          </a:p>
        </p:txBody>
      </p:sp>
      <p:sp>
        <p:nvSpPr>
          <p:cNvPr id="2" name="slide-7-divider">
            <a:extLst xmlns:a="http://schemas.openxmlformats.org/drawingml/2006/main">
              <a:ext uri="{FF2B5EF4-FFF2-40B4-BE49-F238E27FC236}">
                <a16:creationId xmlns:a16="http://schemas.microsoft.com/office/drawing/2014/main" id="{7C994EEC-AA16-4AC9-9447-47A64DA6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DC25E51A-8F7C-4274-97C5-AFD2026F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建设完成以后，正式生成阶段主要执行理解、选择和填参。</a:t>
            </a:r>
          </a:p>
        </p:txBody>
      </p:sp>
      <p:sp>
        <p:nvSpPr>
          <p:cNvPr id="4" name="slide-7-footer-line">
            <a:extLst xmlns:a="http://schemas.openxmlformats.org/drawingml/2006/main">
              <a:ext uri="{FF2B5EF4-FFF2-40B4-BE49-F238E27FC236}">
                <a16:creationId xmlns:a16="http://schemas.microsoft.com/office/drawing/2014/main" id="{A97959F0-B450-419F-B568-8CA34784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8D76DF6F-4CC6-4856-807C-3A940997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9EB3D7CB-FEF5-47E4-8759-25BBCE6E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7" name="p7-build">
            <a:extLst xmlns:a="http://schemas.openxmlformats.org/drawingml/2006/main">
              <a:ext uri="{FF2B5EF4-FFF2-40B4-BE49-F238E27FC236}">
                <a16:creationId xmlns:a16="http://schemas.microsoft.com/office/drawing/2014/main" id="{783DDF69-DC17-4BB2-8302-846D1756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286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建设期</a:t>
            </a:r>
          </a:p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筛选 · 参数化 · 验证 · 用户确认</a:t>
            </a:r>
          </a:p>
        </p:txBody>
      </p:sp>
      <p:sp>
        <p:nvSpPr>
          <p:cNvPr id="8" name="p7-deliver">
            <a:extLst xmlns:a="http://schemas.openxmlformats.org/drawingml/2006/main">
              <a:ext uri="{FF2B5EF4-FFF2-40B4-BE49-F238E27FC236}">
                <a16:creationId xmlns:a16="http://schemas.microsoft.com/office/drawing/2014/main" id="{637DE2CC-5DB0-4B73-9185-F76D31F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286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交付期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理解 · 路由 · 填参 · 稳定生成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24450" y="2895600"/>
            <a:ext cx="1943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0" name="p7-arrow-label">
            <a:extLst xmlns:a="http://schemas.openxmlformats.org/drawingml/2006/main">
              <a:ext uri="{FF2B5EF4-FFF2-40B4-BE49-F238E27FC236}">
                <a16:creationId xmlns:a16="http://schemas.microsoft.com/office/drawing/2014/main" id="{DB353E55-D52D-4E99-853E-AAA1BF22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145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一次建设，多次复用</a:t>
            </a:r>
          </a:p>
        </p:txBody>
      </p:sp>
      <p:sp>
        <p:nvSpPr>
          <p:cNvPr id="11" name="p7-build-detail">
            <a:extLst xmlns:a="http://schemas.openxmlformats.org/drawingml/2006/main">
              <a:ext uri="{FF2B5EF4-FFF2-40B4-BE49-F238E27FC236}">
                <a16:creationId xmlns:a16="http://schemas.microsoft.com/office/drawing/2014/main" id="{F8B11E53-4A9C-4D0F-9D69-0667162D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-build-copy">
            <a:extLst xmlns:a="http://schemas.openxmlformats.org/drawingml/2006/main">
              <a:ext uri="{FF2B5EF4-FFF2-40B4-BE49-F238E27FC236}">
                <a16:creationId xmlns:a16="http://schemas.microsoft.com/office/drawing/2014/main" id="{D8347337-3721-47F0-A7CE-202DBAB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人和工具先把优秀页面理解成能力，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验证不同状态，再由用户确认进入核心库。</a:t>
            </a:r>
          </a:p>
        </p:txBody>
      </p:sp>
      <p:sp>
        <p:nvSpPr>
          <p:cNvPr id="13" name="p7-deliver-detail">
            <a:extLst xmlns:a="http://schemas.openxmlformats.org/drawingml/2006/main">
              <a:ext uri="{FF2B5EF4-FFF2-40B4-BE49-F238E27FC236}">
                <a16:creationId xmlns:a16="http://schemas.microsoft.com/office/drawing/2014/main" id="{B69C4337-F01D-4E0D-809E-A05B56FA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7-deliver-copy">
            <a:extLst xmlns:a="http://schemas.openxmlformats.org/drawingml/2006/main">
              <a:ext uri="{FF2B5EF4-FFF2-40B4-BE49-F238E27FC236}">
                <a16:creationId xmlns:a16="http://schemas.microsoft.com/office/drawing/2014/main" id="{CCA11670-1844-4642-B562-894939D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低成本模型承担理解、选择和填参；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确定性代码负责稳定绘制与检查。</a:t>
            </a:r>
          </a:p>
        </p:txBody>
      </p:sp>
      <p:sp>
        <p:nvSpPr>
          <p:cNvPr id="15" name="p7-bottom">
            <a:extLst xmlns:a="http://schemas.openxmlformats.org/drawingml/2006/main">
              <a:ext uri="{FF2B5EF4-FFF2-40B4-BE49-F238E27FC236}">
                <a16:creationId xmlns:a16="http://schemas.microsoft.com/office/drawing/2014/main" id="{281B9E96-4DC0-4D1F-AA57-D0F8FBA4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视觉理解没有消失，而是从每次在线支付的成本，变成一次建设、持续复用的资产。</a:t>
            </a:r>
          </a:p>
        </p:txBody>
      </p:sp>
    </p:spTree>
    <p:extLst>
      <p:ext uri="{BB962C8B-B14F-4D97-AF65-F5344CB8AC3E}">
        <p14:creationId xmlns:p14="http://schemas.microsoft.com/office/powerpoint/2010/main" val="369263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2E63722-C214-4834-A602-ED22C3F1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真正积累的是表达能力的边界</a:t>
            </a:r>
          </a:p>
        </p:txBody>
      </p:sp>
      <p:sp>
        <p:nvSpPr>
          <p:cNvPr id="2" name="slide-8-divider">
            <a:extLst xmlns:a="http://schemas.openxmlformats.org/drawingml/2006/main">
              <a:ext uri="{FF2B5EF4-FFF2-40B4-BE49-F238E27FC236}">
                <a16:creationId xmlns:a16="http://schemas.microsoft.com/office/drawing/2014/main" id="{8425DC52-F7AB-4F0F-B315-006C9C17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6F3C1615-88DB-4011-8C92-E17C4E9E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模板会过时；容量、变化方式与退化边界才是可以反复调用的经验。</a:t>
            </a:r>
          </a:p>
        </p:txBody>
      </p:sp>
      <p:sp>
        <p:nvSpPr>
          <p:cNvPr id="4" name="slide-8-footer-line">
            <a:extLst xmlns:a="http://schemas.openxmlformats.org/drawingml/2006/main">
              <a:ext uri="{FF2B5EF4-FFF2-40B4-BE49-F238E27FC236}">
                <a16:creationId xmlns:a16="http://schemas.microsoft.com/office/drawing/2014/main" id="{8E39F601-5A55-4FD2-A1C8-05D0EC8D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CFED895D-D01A-463E-A659-AD946E44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EAB44F83-B015-46DE-AE20-3228A18A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7" name="p8-pack">
            <a:extLst xmlns:a="http://schemas.openxmlformats.org/drawingml/2006/main">
              <a:ext uri="{FF2B5EF4-FFF2-40B4-BE49-F238E27FC236}">
                <a16:creationId xmlns:a16="http://schemas.microsoft.com/office/drawing/2014/main" id="{A99848BD-11E4-466C-B60F-79B6398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19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经过验证的表达能力包</a:t>
            </a:r>
          </a:p>
        </p:txBody>
      </p:sp>
      <p:sp>
        <p:nvSpPr>
          <p:cNvPr id="8" name="p8-boundary">
            <a:extLst xmlns:a="http://schemas.openxmlformats.org/drawingml/2006/main">
              <a:ext uri="{FF2B5EF4-FFF2-40B4-BE49-F238E27FC236}">
                <a16:creationId xmlns:a16="http://schemas.microsoft.com/office/drawing/2014/main" id="{48556980-9610-406C-BC4F-4C8C81E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知道什么内容适合怎样表达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知道数量变化时怎样重排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知道超过边界后怎样拆页或退化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知道哪些结构不应该使用</a:t>
            </a:r>
          </a:p>
        </p:txBody>
      </p: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933825" y="27241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0" name="p8-bridge">
            <a:extLst xmlns:a="http://schemas.openxmlformats.org/drawingml/2006/main">
              <a:ext uri="{FF2B5EF4-FFF2-40B4-BE49-F238E27FC236}">
                <a16:creationId xmlns:a16="http://schemas.microsoft.com/office/drawing/2014/main" id="{EF88F4EB-CB53-45F0-878B-73F0CBC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应用结论：组织主题可替换</a:t>
            </a:r>
          </a:p>
        </p:txBody>
      </p:sp>
      <p:sp>
        <p:nvSpPr>
          <p:cNvPr id="11" name="p8-theme">
            <a:extLst xmlns:a="http://schemas.openxmlformats.org/drawingml/2006/main">
              <a:ext uri="{FF2B5EF4-FFF2-40B4-BE49-F238E27FC236}">
                <a16:creationId xmlns:a16="http://schemas.microsoft.com/office/drawing/2014/main" id="{7E85E925-BC8E-4DD3-A947-14112C02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组织主题</a:t>
            </a:r>
          </a:p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颜色 · Logo · 字体 · 页眉页脚</a:t>
            </a:r>
          </a:p>
        </p:txBody>
      </p:sp>
      <p:sp>
        <p:nvSpPr>
          <p:cNvPr id="12" name="p8-org">
            <a:extLst xmlns:a="http://schemas.openxmlformats.org/drawingml/2006/main">
              <a:ext uri="{FF2B5EF4-FFF2-40B4-BE49-F238E27FC236}">
                <a16:creationId xmlns:a16="http://schemas.microsoft.com/office/drawing/2014/main" id="{1B4CFE68-34C0-444B-802C-13157AB7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更多学校、科研院所、企业与团队</a:t>
            </a:r>
          </a:p>
        </p:txBody>
      </p:sp>
      <p:cxnSp>
        <p:nvCxnSpPr>
          <p:cNvPr id="2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667875" y="34956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4" name="p8-org-note">
            <a:extLst xmlns:a="http://schemas.openxmlformats.org/drawingml/2006/main">
              <a:ext uri="{FF2B5EF4-FFF2-40B4-BE49-F238E27FC236}">
                <a16:creationId xmlns:a16="http://schemas.microsoft.com/office/drawing/2014/main" id="{7A56A3A8-482D-469F-BE79-2D1FA12F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67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707780"/>
                </a:solidFill>
              </a:defRPr>
            </a:pPr>
            <a:r>
              <a:rPr sz="1275">
                <a:solidFill>
                  <a:srgbClr val="707780"/>
                </a:solidFill>
              </a:rPr>
              <a:t>东北大学是第一个正式落地场景；能力继续复用。</a:t>
            </a:r>
          </a:p>
        </p:txBody>
      </p:sp>
    </p:spTree>
    <p:extLst>
      <p:ext uri="{BB962C8B-B14F-4D97-AF65-F5344CB8AC3E}">
        <p14:creationId xmlns:p14="http://schemas.microsoft.com/office/powerpoint/2010/main" val="1514447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9-accent">
            <a:extLst xmlns:a="http://schemas.openxmlformats.org/drawingml/2006/main">
              <a:ext uri="{FF2B5EF4-FFF2-40B4-BE49-F238E27FC236}">
                <a16:creationId xmlns:a16="http://schemas.microsoft.com/office/drawing/2014/main" id="{73211653-1E9A-4371-B101-E5306625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9-eyebrow">
            <a:extLst xmlns:a="http://schemas.openxmlformats.org/drawingml/2006/main">
              <a:ext uri="{FF2B5EF4-FFF2-40B4-BE49-F238E27FC236}">
                <a16:creationId xmlns:a16="http://schemas.microsoft.com/office/drawing/2014/main" id="{DF11CD8C-3775-4934-9350-0A0F1FE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的产品承诺</a:t>
            </a:r>
          </a:p>
        </p:txBody>
      </p:sp>
      <p:sp>
        <p:nvSpPr>
          <p:cNvPr id="3" name="p9-title">
            <a:extLst xmlns:a="http://schemas.openxmlformats.org/drawingml/2006/main">
              <a:ext uri="{FF2B5EF4-FFF2-40B4-BE49-F238E27FC236}">
                <a16:creationId xmlns:a16="http://schemas.microsoft.com/office/drawing/2014/main" id="{24C12B03-774C-4D63-8AF7-86C8757B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不一定惊艳，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但真的好用。</a:t>
            </a:r>
          </a:p>
        </p:txBody>
      </p:sp>
      <p:sp>
        <p:nvSpPr>
          <p:cNvPr id="4" name="p9-copy">
            <a:extLst xmlns:a="http://schemas.openxmlformats.org/drawingml/2006/main">
              <a:ext uri="{FF2B5EF4-FFF2-40B4-BE49-F238E27FC236}">
                <a16:creationId xmlns:a16="http://schemas.microsoft.com/office/drawing/2014/main" id="{63100718-FA51-418E-98CB-70ACF048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可以立刻拿去讲，也可以继续修改。</a:t>
            </a:r>
          </a:p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不一定独一无二，但稳定、靠谱、可预测。</a:t>
            </a:r>
          </a:p>
        </p:txBody>
      </p:sp>
      <p:sp>
        <p:nvSpPr>
          <p:cNvPr id="5" name="p9-rule">
            <a:extLst xmlns:a="http://schemas.openxmlformats.org/drawingml/2006/main">
              <a:ext uri="{FF2B5EF4-FFF2-40B4-BE49-F238E27FC236}">
                <a16:creationId xmlns:a16="http://schemas.microsoft.com/office/drawing/2014/main" id="{E7C88F16-27E9-4144-8D0E-C85FC0A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9-four">
            <a:extLst xmlns:a="http://schemas.openxmlformats.org/drawingml/2006/main">
              <a:ext uri="{FF2B5EF4-FFF2-40B4-BE49-F238E27FC236}">
                <a16:creationId xmlns:a16="http://schemas.microsoft.com/office/drawing/2014/main" id="{0C4B703E-CCD2-417B-B573-1E325D23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读懂稿子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规则帮我们做判断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代码完成重复劳动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经验变成可靠能力</a:t>
            </a:r>
          </a:p>
        </p:txBody>
      </p:sp>
      <p:sp>
        <p:nvSpPr>
          <p:cNvPr id="7" name="p9-page">
            <a:extLst xmlns:a="http://schemas.openxmlformats.org/drawingml/2006/main">
              <a:ext uri="{FF2B5EF4-FFF2-40B4-BE49-F238E27FC236}">
                <a16:creationId xmlns:a16="http://schemas.microsoft.com/office/drawing/2014/main" id="{7988CC9E-9EC8-4F10-901B-4C5357A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0498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2026-09-06T02:20:21.7600000Z</dcterms:created>
  <dcterms:modified xsi:type="dcterms:W3CDTF">2026-09-06T02:20:21.7600000Z</dcterms:modified>
</coreProperties>
</file>