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4e4ebf20d64e36" /><Relationship Type="http://schemas.openxmlformats.org/officeDocument/2006/relationships/extended-properties" Target="/docProps/app.xml" Id="Rb848750929f842f4" /><Relationship Type="http://schemas.openxmlformats.org/officeDocument/2006/relationships/officeDocument" Target="/ppt/presentation.xml" Id="Rf3990932c257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0fd84103b4bb1"/>
  </p:sldMasterIdLst>
  <p:notesMasterIdLst>
    <p:notesMasterId xmlns:r="http://schemas.openxmlformats.org/officeDocument/2006/relationships" r:id="R49a9c7c1e0db496a"/>
  </p:notesMasterIdLst>
  <p:sldIdLst>
    <p:sldId xmlns:r="http://schemas.openxmlformats.org/officeDocument/2006/relationships" id="256" r:id="R40114411d1d748f2"/>
    <p:sldId xmlns:r="http://schemas.openxmlformats.org/officeDocument/2006/relationships" id="257" r:id="R27de84e900864201"/>
    <p:sldId xmlns:r="http://schemas.openxmlformats.org/officeDocument/2006/relationships" id="258" r:id="R03c15bee194746b9"/>
    <p:sldId xmlns:r="http://schemas.openxmlformats.org/officeDocument/2006/relationships" id="259" r:id="R36a16680920a46c8"/>
    <p:sldId xmlns:r="http://schemas.openxmlformats.org/officeDocument/2006/relationships" id="260" r:id="Rd3262efebd6a4527"/>
    <p:sldId xmlns:r="http://schemas.openxmlformats.org/officeDocument/2006/relationships" id="261" r:id="Ra9d824ac41e9426c"/>
    <p:sldId xmlns:r="http://schemas.openxmlformats.org/officeDocument/2006/relationships" id="262" r:id="R4f3ad176b7164163"/>
    <p:sldId xmlns:r="http://schemas.openxmlformats.org/officeDocument/2006/relationships" id="263" r:id="Re64dfdd83692453d"/>
    <p:sldId xmlns:r="http://schemas.openxmlformats.org/officeDocument/2006/relationships" id="264" r:id="Ref537bb8664547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2761e1427149e3" /><Relationship Type="http://schemas.openxmlformats.org/officeDocument/2006/relationships/slideMaster" Target="/ppt/slideMasters/slideMaster1.xml" Id="R5670fd84103b4bb1" /><Relationship Type="http://schemas.openxmlformats.org/officeDocument/2006/relationships/notesMaster" Target="/ppt/notesMasters/notesMaster1.xml" Id="R49a9c7c1e0db496a" /><Relationship Type="http://schemas.openxmlformats.org/officeDocument/2006/relationships/presProps" Target="/ppt/presProps.xml" Id="R52b27d696e324bf5" /><Relationship Type="http://schemas.openxmlformats.org/officeDocument/2006/relationships/tableStyles" Target="/ppt/tableStyles.xml" Id="R8cdc749fce7e4543" /><Relationship Type="http://schemas.openxmlformats.org/officeDocument/2006/relationships/slide" Target="/ppt/slides/slide1.xml" Id="R40114411d1d748f2" /><Relationship Type="http://schemas.openxmlformats.org/officeDocument/2006/relationships/slide" Target="/ppt/slides/slide2.xml" Id="R27de84e900864201" /><Relationship Type="http://schemas.openxmlformats.org/officeDocument/2006/relationships/slide" Target="/ppt/slides/slide3.xml" Id="R03c15bee194746b9" /><Relationship Type="http://schemas.openxmlformats.org/officeDocument/2006/relationships/slide" Target="/ppt/slides/slide4.xml" Id="R36a16680920a46c8" /><Relationship Type="http://schemas.openxmlformats.org/officeDocument/2006/relationships/slide" Target="/ppt/slides/slide5.xml" Id="Rd3262efebd6a4527" /><Relationship Type="http://schemas.openxmlformats.org/officeDocument/2006/relationships/slide" Target="/ppt/slides/slide6.xml" Id="Ra9d824ac41e9426c" /><Relationship Type="http://schemas.openxmlformats.org/officeDocument/2006/relationships/slide" Target="/ppt/slides/slide7.xml" Id="R4f3ad176b7164163" /><Relationship Type="http://schemas.openxmlformats.org/officeDocument/2006/relationships/slide" Target="/ppt/slides/slide8.xml" Id="Re64dfdd83692453d" /><Relationship Type="http://schemas.openxmlformats.org/officeDocument/2006/relationships/slide" Target="/ppt/slides/slide9.xml" Id="Ref537bb8664547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5314fac37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82ab26cfee4585" /><Relationship Type="http://schemas.openxmlformats.org/officeDocument/2006/relationships/notesMaster" Target="/ppt/notesMasters/notesMaster1.xml" Id="R1f3d0fd7629149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f840546fc46cf" /><Relationship Type="http://schemas.openxmlformats.org/officeDocument/2006/relationships/notesMaster" Target="/ppt/notesMasters/notesMaster1.xml" Id="R308b774e4e05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9107991162408e" /><Relationship Type="http://schemas.openxmlformats.org/officeDocument/2006/relationships/notesMaster" Target="/ppt/notesMasters/notesMaster1.xml" Id="Rd80741b3d44b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033744ad1a49f2" /><Relationship Type="http://schemas.openxmlformats.org/officeDocument/2006/relationships/notesMaster" Target="/ppt/notesMasters/notesMaster1.xml" Id="R84b471ddae9c49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d7a4b97e1c4af0" /><Relationship Type="http://schemas.openxmlformats.org/officeDocument/2006/relationships/notesMaster" Target="/ppt/notesMasters/notesMaster1.xml" Id="Rd8869eab7d6b45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a7fe8da6814cfd" /><Relationship Type="http://schemas.openxmlformats.org/officeDocument/2006/relationships/notesMaster" Target="/ppt/notesMasters/notesMaster1.xml" Id="R76bc871fdb9148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a909c84eb415a" /><Relationship Type="http://schemas.openxmlformats.org/officeDocument/2006/relationships/notesMaster" Target="/ppt/notesMasters/notesMaster1.xml" Id="Rddece5f350c440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657f21f34b4a6f" /><Relationship Type="http://schemas.openxmlformats.org/officeDocument/2006/relationships/notesMaster" Target="/ppt/notesMasters/notesMaster1.xml" Id="R076649b8bc4947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4102e9cf7d4d79" /><Relationship Type="http://schemas.openxmlformats.org/officeDocument/2006/relationships/notesMaster" Target="/ppt/notesMasters/notesMaster1.xml" Id="R2a40a0a6c94a40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dfda0b46d45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d7fef89f546f9" /><Relationship Type="http://schemas.openxmlformats.org/officeDocument/2006/relationships/slideLayout" Target="/ppt/slideLayouts/slideLayout1.xml" Id="R4d573a24dc0b43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73a24dc0b43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057113f304d50" /><Relationship Type="http://schemas.openxmlformats.org/officeDocument/2006/relationships/notesSlide" Target="/ppt/notesSlides/notesSlide1.xml" Id="R1bf94eb4365d43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3175fb9eb4f18" /><Relationship Type="http://schemas.openxmlformats.org/officeDocument/2006/relationships/notesSlide" Target="/ppt/notesSlides/notesSlide2.xml" Id="R96b6cf73b6044c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8ca9b79824633" /><Relationship Type="http://schemas.openxmlformats.org/officeDocument/2006/relationships/notesSlide" Target="/ppt/notesSlides/notesSlide3.xml" Id="Rb8be104989b64e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e51b25b534995" /><Relationship Type="http://schemas.openxmlformats.org/officeDocument/2006/relationships/notesSlide" Target="/ppt/notesSlides/notesSlide4.xml" Id="R20ad15d9e9e949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1faa61ff34daf" /><Relationship Type="http://schemas.openxmlformats.org/officeDocument/2006/relationships/notesSlide" Target="/ppt/notesSlides/notesSlide5.xml" Id="R840edd9cec3a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980226f964053" /><Relationship Type="http://schemas.openxmlformats.org/officeDocument/2006/relationships/notesSlide" Target="/ppt/notesSlides/notesSlide6.xml" Id="Rb8761ff5529f4f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4adbe2898491e" /><Relationship Type="http://schemas.openxmlformats.org/officeDocument/2006/relationships/notesSlide" Target="/ppt/notesSlides/notesSlide7.xml" Id="R2bbbf87a571746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7ed2b51224baa" /><Relationship Type="http://schemas.openxmlformats.org/officeDocument/2006/relationships/notesSlide" Target="/ppt/notesSlides/notesSlide8.xml" Id="Rfd5de7716eec4d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8e4c0858f49eb" /><Relationship Type="http://schemas.openxmlformats.org/officeDocument/2006/relationships/notesSlide" Target="/ppt/notesSlides/notesSlide9.xml" Id="R9cbb29e8f8d247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left">
            <a:extLst xmlns:a="http://schemas.openxmlformats.org/drawingml/2006/main">
              <a:ext uri="{FF2B5EF4-FFF2-40B4-BE49-F238E27FC236}">
                <a16:creationId xmlns:a16="http://schemas.microsoft.com/office/drawing/2014/main" id="{3B1D95B0-1BF3-4EA2-A5D4-3876F177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695DDFB-78CB-440F-9DBD-77AB4022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课题组讨论稿 · 归档试点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101ED0-A757-4322-94DB-30CC7D4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143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先把一次结果说明白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5ED17351-B35E-4ECC-A1EE-1D199930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7048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5" name="cover-sub">
            <a:extLst xmlns:a="http://schemas.openxmlformats.org/drawingml/2006/main">
              <a:ext uri="{FF2B5EF4-FFF2-40B4-BE49-F238E27FC236}">
                <a16:creationId xmlns:a16="http://schemas.microsoft.com/office/drawing/2014/main" id="{4C2BE4FA-ABE3-44E1-848A-02378B2F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再决定哪些记录值得长期保存</a:t>
            </a:r>
          </a:p>
        </p:txBody>
      </p:sp>
      <p:sp>
        <p:nvSpPr>
          <p:cNvPr id="6" name="cover-right-kicker">
            <a:extLst xmlns:a="http://schemas.openxmlformats.org/drawingml/2006/main">
              <a:ext uri="{FF2B5EF4-FFF2-40B4-BE49-F238E27FC236}">
                <a16:creationId xmlns:a16="http://schemas.microsoft.com/office/drawing/2014/main" id="{81F57C8A-171C-4607-BC96-57353EB2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066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有限尝试 · 四周 · 一个课题方向</a:t>
            </a:r>
          </a:p>
        </p:txBody>
      </p:sp>
      <p:sp>
        <p:nvSpPr>
          <p:cNvPr id="7" name="cover-right-title">
            <a:extLst xmlns:a="http://schemas.openxmlformats.org/drawingml/2006/main">
              <a:ext uri="{FF2B5EF4-FFF2-40B4-BE49-F238E27FC236}">
                <a16:creationId xmlns:a16="http://schemas.microsoft.com/office/drawing/2014/main" id="{F77B8F1F-4561-4EE1-A0E0-A78BD6CB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619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讨论是否建立能够解释实验结果的数据归档习惯</a:t>
            </a:r>
          </a:p>
        </p:txBody>
      </p:sp>
      <p:sp>
        <p:nvSpPr>
          <p:cNvPr id="8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48585B53-CD23-4F22-9FD9-A670E084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5905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purpose-title">
            <a:extLst xmlns:a="http://schemas.openxmlformats.org/drawingml/2006/main">
              <a:ext uri="{FF2B5EF4-FFF2-40B4-BE49-F238E27FC236}">
                <a16:creationId xmlns:a16="http://schemas.microsoft.com/office/drawing/2014/main" id="{B06C048D-EEBA-4753-A85C-A9083CAB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09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本次希望确认</a:t>
            </a:r>
          </a:p>
        </p:txBody>
      </p:sp>
      <p:sp>
        <p:nvSpPr>
          <p:cNvPr id="10" name="cover-purpose-body">
            <a:extLst xmlns:a="http://schemas.openxmlformats.org/drawingml/2006/main">
              <a:ext uri="{FF2B5EF4-FFF2-40B4-BE49-F238E27FC236}">
                <a16:creationId xmlns:a16="http://schemas.microsoft.com/office/drawing/2014/main" id="{4B3C0CAF-4A80-4E1B-A8A7-497A3C7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90950"/>
            <a:ext cx="504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先让一个新增实验的结果可被他人理解，再决定是否保留、修改或停止。</a:t>
            </a:r>
          </a:p>
        </p:txBody>
      </p:sp>
      <p:sp>
        <p:nvSpPr>
          <p:cNvPr id="11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E109F422-38FF-469D-AAFF-E9DC83F6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02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虚构大学场景｜拟议试点，不是已有项目或真实成效</a:t>
            </a:r>
          </a:p>
        </p:txBody>
      </p:sp>
      <p:sp>
        <p:nvSpPr>
          <p:cNvPr id="12" name="cover-page">
            <a:extLst xmlns:a="http://schemas.openxmlformats.org/drawingml/2006/main">
              <a:ext uri="{FF2B5EF4-FFF2-40B4-BE49-F238E27FC236}">
                <a16:creationId xmlns:a16="http://schemas.microsoft.com/office/drawing/2014/main" id="{7856449E-4A72-4A11-AFCC-CF1D423E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91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1596904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8C8270C5-77E3-48DF-8BF9-9D44B20A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 现状与问题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A0A73AA-8948-45E9-9472-34998AA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文件存在，不等于结果可以解释</a:t>
            </a:r>
          </a:p>
        </p:txBody>
      </p:sp>
      <p:sp>
        <p:nvSpPr>
          <p:cNvPr id="3" name="accent-2">
            <a:extLst xmlns:a="http://schemas.openxmlformats.org/drawingml/2006/main">
              <a:ext uri="{FF2B5EF4-FFF2-40B4-BE49-F238E27FC236}">
                <a16:creationId xmlns:a16="http://schemas.microsoft.com/office/drawing/2014/main" id="{15D15380-B295-4E42-A0BA-02A60D8C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8572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206F40E2-08AA-4121-A1B1-3C485B0D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/ 09</a:t>
            </a:r>
          </a:p>
        </p:txBody>
      </p:sp>
      <p:sp>
        <p:nvSpPr>
          <p:cNvPr id="5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E731D104-6152-494D-A7C9-BBBAE918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588D990B-0F9C-45C5-A736-6373EEAF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problem-main">
            <a:extLst xmlns:a="http://schemas.openxmlformats.org/drawingml/2006/main">
              <a:ext uri="{FF2B5EF4-FFF2-40B4-BE49-F238E27FC236}">
                <a16:creationId xmlns:a16="http://schemas.microsoft.com/office/drawing/2014/main" id="{AAF37254-BCA4-4307-9C71-8661A23B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66865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main-head">
            <a:extLst xmlns:a="http://schemas.openxmlformats.org/drawingml/2006/main">
              <a:ext uri="{FF2B5EF4-FFF2-40B4-BE49-F238E27FC236}">
                <a16:creationId xmlns:a16="http://schemas.microsoft.com/office/drawing/2014/main" id="{B4163D7B-015B-44F0-AB22-83C1D9B3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一张图被找到后，还缺什么？</a:t>
            </a:r>
          </a:p>
        </p:txBody>
      </p:sp>
      <p:sp>
        <p:nvSpPr>
          <p:cNvPr id="9" name="problem-result-box">
            <a:extLst xmlns:a="http://schemas.openxmlformats.org/drawingml/2006/main">
              <a:ext uri="{FF2B5EF4-FFF2-40B4-BE49-F238E27FC236}">
                <a16:creationId xmlns:a16="http://schemas.microsoft.com/office/drawing/2014/main" id="{F96B61EB-0082-417A-989C-FD830B28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52750"/>
            <a:ext cx="1905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main-result">
            <a:extLst xmlns:a="http://schemas.openxmlformats.org/drawingml/2006/main">
              <a:ext uri="{FF2B5EF4-FFF2-40B4-BE49-F238E27FC236}">
                <a16:creationId xmlns:a16="http://schemas.microsoft.com/office/drawing/2014/main" id="{0EB9CB21-95DB-4449-84B2-7A457A8C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最终图片</a:t>
            </a:r>
          </a:p>
        </p:txBody>
      </p:sp>
      <p:sp>
        <p:nvSpPr>
          <p:cNvPr id="11" name="problem-main-bridge">
            <a:extLst xmlns:a="http://schemas.openxmlformats.org/drawingml/2006/main">
              <a:ext uri="{FF2B5EF4-FFF2-40B4-BE49-F238E27FC236}">
                <a16:creationId xmlns:a16="http://schemas.microsoft.com/office/drawing/2014/main" id="{410833DD-31E3-4B3B-9E3D-E136A615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无法快速说明</a:t>
            </a:r>
          </a:p>
        </p:txBody>
      </p:sp>
      <p:sp>
        <p:nvSpPr>
          <p:cNvPr id="12" name="problem-arrow">
            <a:extLst xmlns:a="http://schemas.openxmlformats.org/drawingml/2006/main">
              <a:ext uri="{FF2B5EF4-FFF2-40B4-BE49-F238E27FC236}">
                <a16:creationId xmlns:a16="http://schemas.microsoft.com/office/drawing/2014/main" id="{EE9649C5-26B8-4D54-8CCC-4C496DF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147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3" name="problem-main-missing">
            <a:extLst xmlns:a="http://schemas.openxmlformats.org/drawingml/2006/main">
              <a:ext uri="{FF2B5EF4-FFF2-40B4-BE49-F238E27FC236}">
                <a16:creationId xmlns:a16="http://schemas.microsoft.com/office/drawing/2014/main" id="{5D07DDEB-4CC8-4E36-B33E-C9E7A7F8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哪批样本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哪版脚本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哪些被排除</a:t>
            </a:r>
          </a:p>
        </p:txBody>
      </p:sp>
      <p:sp>
        <p:nvSpPr>
          <p:cNvPr id="14" name="problem-main-caption">
            <a:extLst xmlns:a="http://schemas.openxmlformats.org/drawingml/2006/main">
              <a:ext uri="{FF2B5EF4-FFF2-40B4-BE49-F238E27FC236}">
                <a16:creationId xmlns:a16="http://schemas.microsoft.com/office/drawing/2014/main" id="{212EEA57-D33C-455C-90F4-74903AE6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同名文件与个人目录让重复检索变难；核心缺口是结果与依据的关系没有被保存。</a:t>
            </a:r>
          </a:p>
        </p:txBody>
      </p:sp>
      <p:sp>
        <p:nvSpPr>
          <p:cNvPr id="15" name="problem-side">
            <a:extLst xmlns:a="http://schemas.openxmlformats.org/drawingml/2006/main">
              <a:ext uri="{FF2B5EF4-FFF2-40B4-BE49-F238E27FC236}">
                <a16:creationId xmlns:a16="http://schemas.microsoft.com/office/drawing/2014/main" id="{7AFA83D8-E7AC-49CE-B5DE-DAB0B9B9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495425"/>
            <a:ext cx="4133850" cy="43243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6" name="problem-side-head">
            <a:extLst xmlns:a="http://schemas.openxmlformats.org/drawingml/2006/main">
              <a:ext uri="{FF2B5EF4-FFF2-40B4-BE49-F238E27FC236}">
                <a16:creationId xmlns:a16="http://schemas.microsoft.com/office/drawing/2014/main" id="{0BD4C486-C150-4851-86CC-D9F95427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归档先解决的判断</a:t>
            </a:r>
          </a:p>
        </p:txBody>
      </p:sp>
      <p:sp>
        <p:nvSpPr>
          <p:cNvPr id="17" name="problem-side-list">
            <a:extLst xmlns:a="http://schemas.openxmlformats.org/drawingml/2006/main">
              <a:ext uri="{FF2B5EF4-FFF2-40B4-BE49-F238E27FC236}">
                <a16:creationId xmlns:a16="http://schemas.microsoft.com/office/drawing/2014/main" id="{903AF457-1A44-4CBB-9D2E-6C0CEF97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结果从哪来？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关键处理依据是什么？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异常与排除为何成立？</a:t>
            </a:r>
          </a:p>
        </p:txBody>
      </p:sp>
      <p:sp>
        <p:nvSpPr>
          <p:cNvPr id="18" name="problem-side-rule">
            <a:extLst xmlns:a="http://schemas.openxmlformats.org/drawingml/2006/main">
              <a:ext uri="{FF2B5EF4-FFF2-40B4-BE49-F238E27FC236}">
                <a16:creationId xmlns:a16="http://schemas.microsoft.com/office/drawing/2014/main" id="{6EFBE721-2788-40C7-A346-EC620D65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8625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9" name="problem-side-bottom">
            <a:extLst xmlns:a="http://schemas.openxmlformats.org/drawingml/2006/main">
              <a:ext uri="{FF2B5EF4-FFF2-40B4-BE49-F238E27FC236}">
                <a16:creationId xmlns:a16="http://schemas.microsoft.com/office/drawing/2014/main" id="{8207A8FA-2923-43D1-9353-CED22C48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910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先能解释，再讨论扩大共享范围。</a:t>
            </a:r>
          </a:p>
        </p:txBody>
      </p:sp>
    </p:spTree>
    <p:extLst>
      <p:ext uri="{BB962C8B-B14F-4D97-AF65-F5344CB8AC3E}">
        <p14:creationId xmlns:p14="http://schemas.microsoft.com/office/powerpoint/2010/main" val="2042406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3">
            <a:extLst xmlns:a="http://schemas.openxmlformats.org/drawingml/2006/main">
              <a:ext uri="{FF2B5EF4-FFF2-40B4-BE49-F238E27FC236}">
                <a16:creationId xmlns:a16="http://schemas.microsoft.com/office/drawing/2014/main" id="{039FBC6C-58A6-43A9-85EA-843C15DF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 记录单元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8DED21F-3ACD-4DE0-85CF-B2C34429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一条可讨论记录，必须把结果和依据连在一起</a:t>
            </a:r>
          </a:p>
        </p:txBody>
      </p:sp>
      <p:sp>
        <p:nvSpPr>
          <p:cNvPr id="3" name="accent-3">
            <a:extLst xmlns:a="http://schemas.openxmlformats.org/drawingml/2006/main">
              <a:ext uri="{FF2B5EF4-FFF2-40B4-BE49-F238E27FC236}">
                <a16:creationId xmlns:a16="http://schemas.microsoft.com/office/drawing/2014/main" id="{6FD6C354-2C24-4E7A-A488-3194AA36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8572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C02C1A0-B58F-4877-A9A6-49045D3E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 / 09</a:t>
            </a:r>
          </a:p>
        </p:txBody>
      </p:sp>
      <p:sp>
        <p:nvSpPr>
          <p:cNvPr id="5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5D18EBBD-BFE8-42DB-83C7-73655D0F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77BFB3E1-78EF-4394-8762-AF8EFB60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record-frame">
            <a:extLst xmlns:a="http://schemas.openxmlformats.org/drawingml/2006/main">
              <a:ext uri="{FF2B5EF4-FFF2-40B4-BE49-F238E27FC236}">
                <a16:creationId xmlns:a16="http://schemas.microsoft.com/office/drawing/2014/main" id="{8A643682-2C79-4581-82F3-BC361874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76200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ord-head">
            <a:extLst xmlns:a="http://schemas.openxmlformats.org/drawingml/2006/main">
              <a:ext uri="{FF2B5EF4-FFF2-40B4-BE49-F238E27FC236}">
                <a16:creationId xmlns:a16="http://schemas.microsoft.com/office/drawing/2014/main" id="{D517D8ED-C004-4246-AE70-41164C05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记录单元 = 结果 + 解释依据</a:t>
            </a:r>
          </a:p>
        </p:txBody>
      </p:sp>
      <p:sp>
        <p:nvSpPr>
          <p:cNvPr id="9" name="record-result">
            <a:extLst xmlns:a="http://schemas.openxmlformats.org/drawingml/2006/main">
              <a:ext uri="{FF2B5EF4-FFF2-40B4-BE49-F238E27FC236}">
                <a16:creationId xmlns:a16="http://schemas.microsoft.com/office/drawing/2014/main" id="{867421C1-A00D-4F4A-A91D-21E97357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000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ord-result-label">
            <a:extLst xmlns:a="http://schemas.openxmlformats.org/drawingml/2006/main">
              <a:ext uri="{FF2B5EF4-FFF2-40B4-BE49-F238E27FC236}">
                <a16:creationId xmlns:a16="http://schemas.microsoft.com/office/drawing/2014/main" id="{D4954CFC-49FE-438F-B214-D77804DB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3850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一次实验结果</a:t>
            </a:r>
          </a:p>
        </p:txBody>
      </p:sp>
      <p:sp>
        <p:nvSpPr>
          <p:cNvPr id="11" name="record-raw">
            <a:extLst xmlns:a="http://schemas.openxmlformats.org/drawingml/2006/main">
              <a:ext uri="{FF2B5EF4-FFF2-40B4-BE49-F238E27FC236}">
                <a16:creationId xmlns:a16="http://schemas.microsoft.com/office/drawing/2014/main" id="{4DFF3CD6-045A-4572-B812-143EAB5D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2" name="record-raw-label">
            <a:extLst xmlns:a="http://schemas.openxmlformats.org/drawingml/2006/main">
              <a:ext uri="{FF2B5EF4-FFF2-40B4-BE49-F238E27FC236}">
                <a16:creationId xmlns:a16="http://schemas.microsoft.com/office/drawing/2014/main" id="{3B56A989-110C-46BE-ACDB-3421209C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13" name="record-cond">
            <a:extLst xmlns:a="http://schemas.openxmlformats.org/drawingml/2006/main">
              <a:ext uri="{FF2B5EF4-FFF2-40B4-BE49-F238E27FC236}">
                <a16:creationId xmlns:a16="http://schemas.microsoft.com/office/drawing/2014/main" id="{1CDA891F-CCF9-4085-AF3E-4D4EBBA6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4" name="record-cond-label">
            <a:extLst xmlns:a="http://schemas.openxmlformats.org/drawingml/2006/main">
              <a:ext uri="{FF2B5EF4-FFF2-40B4-BE49-F238E27FC236}">
                <a16:creationId xmlns:a16="http://schemas.microsoft.com/office/drawing/2014/main" id="{4CF85711-10CD-401D-9901-33597420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5" name="record-script">
            <a:extLst xmlns:a="http://schemas.openxmlformats.org/drawingml/2006/main">
              <a:ext uri="{FF2B5EF4-FFF2-40B4-BE49-F238E27FC236}">
                <a16:creationId xmlns:a16="http://schemas.microsoft.com/office/drawing/2014/main" id="{ADCF019E-7B72-4883-BEA8-333B0738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6" name="record-script-label">
            <a:extLst xmlns:a="http://schemas.openxmlformats.org/drawingml/2006/main">
              <a:ext uri="{FF2B5EF4-FFF2-40B4-BE49-F238E27FC236}">
                <a16:creationId xmlns:a16="http://schemas.microsoft.com/office/drawing/2014/main" id="{40F1B7DF-FF44-4586-B859-EEEA5BEF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17" name="record-exc">
            <a:extLst xmlns:a="http://schemas.openxmlformats.org/drawingml/2006/main">
              <a:ext uri="{FF2B5EF4-FFF2-40B4-BE49-F238E27FC236}">
                <a16:creationId xmlns:a16="http://schemas.microsoft.com/office/drawing/2014/main" id="{2C2025C1-3020-44C0-ABAD-82B8EBF5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8" name="record-exc-label">
            <a:extLst xmlns:a="http://schemas.openxmlformats.org/drawingml/2006/main">
              <a:ext uri="{FF2B5EF4-FFF2-40B4-BE49-F238E27FC236}">
                <a16:creationId xmlns:a16="http://schemas.microsoft.com/office/drawing/2014/main" id="{00E96370-27FC-4824-9B32-B5D55078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529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异常与排除说明</a:t>
            </a:r>
          </a:p>
        </p:txBody>
      </p: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71750" y="2705100"/>
            <a:ext cx="7620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3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334000" y="2705100"/>
            <a:ext cx="5715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571750" y="3581400"/>
            <a:ext cx="76200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7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5334000" y="3581400"/>
            <a:ext cx="57150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23" name="record-note">
            <a:extLst xmlns:a="http://schemas.openxmlformats.org/drawingml/2006/main">
              <a:ext uri="{FF2B5EF4-FFF2-40B4-BE49-F238E27FC236}">
                <a16:creationId xmlns:a16="http://schemas.microsoft.com/office/drawing/2014/main" id="{7F59ED52-454F-4012-B5A0-73CDF11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这几项共同解释一个结果，不是必须依次执行的五个步骤。</a:t>
            </a:r>
          </a:p>
        </p:txBody>
      </p:sp>
      <p:sp>
        <p:nvSpPr>
          <p:cNvPr id="24" name="record-side">
            <a:extLst xmlns:a="http://schemas.openxmlformats.org/drawingml/2006/main">
              <a:ext uri="{FF2B5EF4-FFF2-40B4-BE49-F238E27FC236}">
                <a16:creationId xmlns:a16="http://schemas.microsoft.com/office/drawing/2014/main" id="{EA1424D5-F6F7-4741-8562-35B6F0F8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95425"/>
            <a:ext cx="3219450" cy="43243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25" name="record-side-head">
            <a:extLst xmlns:a="http://schemas.openxmlformats.org/drawingml/2006/main">
              <a:ext uri="{FF2B5EF4-FFF2-40B4-BE49-F238E27FC236}">
                <a16:creationId xmlns:a16="http://schemas.microsoft.com/office/drawing/2014/main" id="{3BC1F353-4428-4B2E-AD68-9081CC56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写清楚三个边界</a:t>
            </a:r>
          </a:p>
        </p:txBody>
      </p:sp>
      <p:sp>
        <p:nvSpPr>
          <p:cNvPr id="26" name="record-side-body">
            <a:extLst xmlns:a="http://schemas.openxmlformats.org/drawingml/2006/main">
              <a:ext uri="{FF2B5EF4-FFF2-40B4-BE49-F238E27FC236}">
                <a16:creationId xmlns:a16="http://schemas.microsoft.com/office/drawing/2014/main" id="{30BA75A5-5044-4E0C-A7D5-FE04169F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2428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原始数据保持原貌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清洗与处理另存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脚本定位到实际运行代码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异常保留判断依据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未纳入样本说明排除条件</a:t>
            </a:r>
          </a:p>
        </p:txBody>
      </p:sp>
      <p:sp>
        <p:nvSpPr>
          <p:cNvPr id="27" name="record-side-callout">
            <a:extLst xmlns:a="http://schemas.openxmlformats.org/drawingml/2006/main">
              <a:ext uri="{FF2B5EF4-FFF2-40B4-BE49-F238E27FC236}">
                <a16:creationId xmlns:a16="http://schemas.microsoft.com/office/drawing/2014/main" id="{6D642136-8104-429C-8CCD-9CD36E75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95875"/>
            <a:ext cx="2457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ord-side-callout-text">
            <a:extLst xmlns:a="http://schemas.openxmlformats.org/drawingml/2006/main">
              <a:ext uri="{FF2B5EF4-FFF2-40B4-BE49-F238E27FC236}">
                <a16:creationId xmlns:a16="http://schemas.microsoft.com/office/drawing/2014/main" id="{62F42018-5310-40E2-8818-602FF278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“已清理”不能替代依据</a:t>
            </a:r>
          </a:p>
        </p:txBody>
      </p:sp>
    </p:spTree>
    <p:extLst>
      <p:ext uri="{BB962C8B-B14F-4D97-AF65-F5344CB8AC3E}">
        <p14:creationId xmlns:p14="http://schemas.microsoft.com/office/powerpoint/2010/main" val="1425463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01987A2E-661F-43D0-9DB0-DB792F74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 访问与责任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9F2A507-010B-40EC-BB52-DF7ABC3E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可追溯不等于可见：授权边界随记录保留</a:t>
            </a:r>
          </a:p>
        </p:txBody>
      </p:sp>
      <p:sp>
        <p:nvSpPr>
          <p:cNvPr id="3" name="accent-4">
            <a:extLst xmlns:a="http://schemas.openxmlformats.org/drawingml/2006/main">
              <a:ext uri="{FF2B5EF4-FFF2-40B4-BE49-F238E27FC236}">
                <a16:creationId xmlns:a16="http://schemas.microsoft.com/office/drawing/2014/main" id="{FFB3D17D-23EE-4063-90F3-46B9F302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8572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A748CF0-EBA5-4D2B-B767-779B9DC6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 / 09</a:t>
            </a:r>
          </a:p>
        </p:txBody>
      </p:sp>
      <p:sp>
        <p:nvSpPr>
          <p:cNvPr id="5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CEDD3DBA-0308-4B0C-B74E-56CF18B0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761801ED-5AD2-4678-B972-C25701E0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access-left">
            <a:extLst xmlns:a="http://schemas.openxmlformats.org/drawingml/2006/main">
              <a:ext uri="{FF2B5EF4-FFF2-40B4-BE49-F238E27FC236}">
                <a16:creationId xmlns:a16="http://schemas.microsoft.com/office/drawing/2014/main" id="{F00EA521-732D-44CB-AF3D-A5A4F6B1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52387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ccess-right">
            <a:extLst xmlns:a="http://schemas.openxmlformats.org/drawingml/2006/main">
              <a:ext uri="{FF2B5EF4-FFF2-40B4-BE49-F238E27FC236}">
                <a16:creationId xmlns:a16="http://schemas.microsoft.com/office/drawing/2014/main" id="{31EE31D4-C1E4-4162-BA5E-829B14EA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95425"/>
            <a:ext cx="56197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B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ss-left-head">
            <a:extLst xmlns:a="http://schemas.openxmlformats.org/drawingml/2006/main">
              <a:ext uri="{FF2B5EF4-FFF2-40B4-BE49-F238E27FC236}">
                <a16:creationId xmlns:a16="http://schemas.microsoft.com/office/drawing/2014/main" id="{F95FB70C-DA49-48D4-B8F8-14B1ABB0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讨论材料</a:t>
            </a:r>
          </a:p>
        </p:txBody>
      </p:sp>
      <p:sp>
        <p:nvSpPr>
          <p:cNvPr id="10" name="access-left-body">
            <a:extLst xmlns:a="http://schemas.openxmlformats.org/drawingml/2006/main">
              <a:ext uri="{FF2B5EF4-FFF2-40B4-BE49-F238E27FC236}">
                <a16:creationId xmlns:a16="http://schemas.microsoft.com/office/drawing/2014/main" id="{44DEF2BD-EB8B-4577-9110-241EA91E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可以包含结果图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和可公开的解释</a:t>
            </a:r>
          </a:p>
        </p:txBody>
      </p:sp>
      <p:sp>
        <p:nvSpPr>
          <p:cNvPr id="11" name="access-left-caption">
            <a:extLst xmlns:a="http://schemas.openxmlformats.org/drawingml/2006/main">
              <a:ext uri="{FF2B5EF4-FFF2-40B4-BE49-F238E27FC236}">
                <a16:creationId xmlns:a16="http://schemas.microsoft.com/office/drawing/2014/main" id="{A2C5561D-39CB-4ACE-8D67-77DADBF2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记录中保留受控引用，帮助定位来源。</a:t>
            </a:r>
          </a:p>
        </p:txBody>
      </p:sp>
      <p:sp>
        <p:nvSpPr>
          <p:cNvPr id="12" name="access-right-head">
            <a:extLst xmlns:a="http://schemas.openxmlformats.org/drawingml/2006/main">
              <a:ext uri="{FF2B5EF4-FFF2-40B4-BE49-F238E27FC236}">
                <a16:creationId xmlns:a16="http://schemas.microsoft.com/office/drawing/2014/main" id="{71FE63D7-274F-4C58-ABC4-A749B1A2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8A5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5A16"/>
                </a:solidFill>
                <a:latin typeface="Microsoft YaHei"/>
                <a:ea typeface="Microsoft YaHei"/>
                <a:cs typeface="Microsoft YaHei"/>
              </a:rPr>
              <a:t>受限原始数据</a:t>
            </a:r>
          </a:p>
        </p:txBody>
      </p:sp>
      <p:sp>
        <p:nvSpPr>
          <p:cNvPr id="13" name="access-right-body">
            <a:extLst xmlns:a="http://schemas.openxmlformats.org/drawingml/2006/main">
              <a:ext uri="{FF2B5EF4-FFF2-40B4-BE49-F238E27FC236}">
                <a16:creationId xmlns:a16="http://schemas.microsoft.com/office/drawing/2014/main" id="{AD6F4404-5890-4637-9210-92B47A35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仍放在原授权位置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记录只写引用与访问条件</a:t>
            </a:r>
          </a:p>
        </p:txBody>
      </p:sp>
      <p:sp>
        <p:nvSpPr>
          <p:cNvPr id="14" name="access-right-caption">
            <a:extLst xmlns:a="http://schemas.openxmlformats.org/drawingml/2006/main">
              <a:ext uri="{FF2B5EF4-FFF2-40B4-BE49-F238E27FC236}">
                <a16:creationId xmlns:a16="http://schemas.microsoft.com/office/drawing/2014/main" id="{ED023BA8-E92C-4EAF-B24C-A96A0E8F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个人信息或合作限制不能因归档而改变授权。</a:t>
            </a:r>
          </a:p>
        </p:txBody>
      </p:sp>
      <p:sp>
        <p:nvSpPr>
          <p:cNvPr id="15" name="access-rule">
            <a:extLst xmlns:a="http://schemas.openxmlformats.org/drawingml/2006/main">
              <a:ext uri="{FF2B5EF4-FFF2-40B4-BE49-F238E27FC236}">
                <a16:creationId xmlns:a16="http://schemas.microsoft.com/office/drawing/2014/main" id="{48E16369-3BF7-4F1E-B472-519DA55C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288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6" name="access-rule2">
            <a:extLst xmlns:a="http://schemas.openxmlformats.org/drawingml/2006/main">
              <a:ext uri="{FF2B5EF4-FFF2-40B4-BE49-F238E27FC236}">
                <a16:creationId xmlns:a16="http://schemas.microsoft.com/office/drawing/2014/main" id="{6C739208-8D09-474E-A831-95C3AC9E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052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7" name="access-bottom">
            <a:extLst xmlns:a="http://schemas.openxmlformats.org/drawingml/2006/main">
              <a:ext uri="{FF2B5EF4-FFF2-40B4-BE49-F238E27FC236}">
                <a16:creationId xmlns:a16="http://schemas.microsoft.com/office/drawing/2014/main" id="{87EB2D48-86A4-4207-89C1-2B46B38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857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ccess-bottom-text">
            <a:extLst xmlns:a="http://schemas.openxmlformats.org/drawingml/2006/main">
              <a:ext uri="{FF2B5EF4-FFF2-40B4-BE49-F238E27FC236}">
                <a16:creationId xmlns:a16="http://schemas.microsoft.com/office/drawing/2014/main" id="{DB9648F1-36F7-404E-9DE5-BB9DC345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记录表中出现一个路径，不代表其他成员已经取得访问权。</a:t>
            </a:r>
          </a:p>
        </p:txBody>
      </p:sp>
    </p:spTree>
    <p:extLst>
      <p:ext uri="{BB962C8B-B14F-4D97-AF65-F5344CB8AC3E}">
        <p14:creationId xmlns:p14="http://schemas.microsoft.com/office/powerpoint/2010/main" val="988022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5">
            <a:extLst xmlns:a="http://schemas.openxmlformats.org/drawingml/2006/main">
              <a:ext uri="{FF2B5EF4-FFF2-40B4-BE49-F238E27FC236}">
                <a16:creationId xmlns:a16="http://schemas.microsoft.com/office/drawing/2014/main" id="{C19F3A51-D0BA-4BC5-A26E-080E732A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 试点范围选择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D8A516B-9EBC-483F-8F23-8B3A0655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建议从新增实验开始，历史结果逐项补充</a:t>
            </a:r>
          </a:p>
        </p:txBody>
      </p:sp>
      <p:sp>
        <p:nvSpPr>
          <p:cNvPr id="3" name="accent-5">
            <a:extLst xmlns:a="http://schemas.openxmlformats.org/drawingml/2006/main">
              <a:ext uri="{FF2B5EF4-FFF2-40B4-BE49-F238E27FC236}">
                <a16:creationId xmlns:a16="http://schemas.microsoft.com/office/drawing/2014/main" id="{FDBAB6DB-7402-47D7-8916-9DEDAF6E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8572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B69F303D-3063-49CD-9C1C-08F125A6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05 / 09</a:t>
            </a:r>
          </a:p>
        </p:txBody>
      </p:sp>
      <p:sp>
        <p:nvSpPr>
          <p:cNvPr id="5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ED11BAE2-CFED-4203-A436-3AA1D9A9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9439D774-30EB-4E09-A7BD-41C4860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scope-lead">
            <a:extLst xmlns:a="http://schemas.openxmlformats.org/drawingml/2006/main">
              <a:ext uri="{FF2B5EF4-FFF2-40B4-BE49-F238E27FC236}">
                <a16:creationId xmlns:a16="http://schemas.microsoft.com/office/drawing/2014/main" id="{E2268C30-861B-4AAD-BC46-302766F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这是范围选择，不是已经证明新方式更高效。</a:t>
            </a:r>
          </a:p>
        </p:txBody>
      </p:sp>
      <p:sp>
        <p:nvSpPr>
          <p:cNvPr id="8" name="scope-new">
            <a:extLst xmlns:a="http://schemas.openxmlformats.org/drawingml/2006/main">
              <a:ext uri="{FF2B5EF4-FFF2-40B4-BE49-F238E27FC236}">
                <a16:creationId xmlns:a16="http://schemas.microsoft.com/office/drawing/2014/main" id="{28F85DBA-9BD2-4E90-8F1D-B416CDB8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095875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ope-history">
            <a:extLst xmlns:a="http://schemas.openxmlformats.org/drawingml/2006/main">
              <a:ext uri="{FF2B5EF4-FFF2-40B4-BE49-F238E27FC236}">
                <a16:creationId xmlns:a16="http://schemas.microsoft.com/office/drawing/2014/main" id="{B94F77ED-1807-48BF-B52F-C909F2EC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095875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0" name="scope-new-title">
            <a:extLst xmlns:a="http://schemas.openxmlformats.org/drawingml/2006/main">
              <a:ext uri="{FF2B5EF4-FFF2-40B4-BE49-F238E27FC236}">
                <a16:creationId xmlns:a16="http://schemas.microsoft.com/office/drawing/2014/main" id="{66C6B295-CF50-4A7B-A184-B78A88DA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先记录新增实验</a:t>
            </a:r>
          </a:p>
        </p:txBody>
      </p:sp>
      <p:sp>
        <p:nvSpPr>
          <p:cNvPr id="11" name="scope-history-title">
            <a:extLst xmlns:a="http://schemas.openxmlformats.org/drawingml/2006/main">
              <a:ext uri="{FF2B5EF4-FFF2-40B4-BE49-F238E27FC236}">
                <a16:creationId xmlns:a16="http://schemas.microsoft.com/office/drawing/2014/main" id="{6411958A-059E-4561-AFFC-62A07927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050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集中补历史档案</a:t>
            </a:r>
          </a:p>
        </p:txBody>
      </p:sp>
      <p:sp>
        <p:nvSpPr>
          <p:cNvPr id="12" name="scope-new-list">
            <a:extLst xmlns:a="http://schemas.openxmlformats.org/drawingml/2006/main">
              <a:ext uri="{FF2B5EF4-FFF2-40B4-BE49-F238E27FC236}">
                <a16:creationId xmlns:a16="http://schemas.microsoft.com/office/drawing/2014/main" id="{514B06CA-1228-4D06-89CF-11CFD710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上下文尚清楚时记录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能先检验最少字段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短期不能解决全部历史追溯</a:t>
            </a:r>
          </a:p>
        </p:txBody>
      </p:sp>
      <p:sp>
        <p:nvSpPr>
          <p:cNvPr id="13" name="scope-history-list">
            <a:extLst xmlns:a="http://schemas.openxmlformats.org/drawingml/2006/main">
              <a:ext uri="{FF2B5EF4-FFF2-40B4-BE49-F238E27FC236}">
                <a16:creationId xmlns:a16="http://schemas.microsoft.com/office/drawing/2014/main" id="{32671CE2-5483-4EE2-A63C-56FC7FB4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一次形成较大目录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可能耗时追查遗失上下文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容易把不确定记忆写成确定说明</a:t>
            </a:r>
          </a:p>
        </p:txBody>
      </p:sp>
      <p:sp>
        <p:nvSpPr>
          <p:cNvPr id="14" name="scope-bottom-rule">
            <a:extLst xmlns:a="http://schemas.openxmlformats.org/drawingml/2006/main">
              <a:ext uri="{FF2B5EF4-FFF2-40B4-BE49-F238E27FC236}">
                <a16:creationId xmlns:a16="http://schemas.microsoft.com/office/drawing/2014/main" id="{FC3DB88C-D664-481D-84D1-FF34FC41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340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5" name="scope-bottom">
            <a:extLst xmlns:a="http://schemas.openxmlformats.org/drawingml/2006/main">
              <a:ext uri="{FF2B5EF4-FFF2-40B4-BE49-F238E27FC236}">
                <a16:creationId xmlns:a16="http://schemas.microsoft.com/office/drawing/2014/main" id="{8392F063-6CBB-44CD-861E-814A8229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7690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建议路径：新增实验先行；真正需要复核的历史结果，再逐项补充。</a:t>
            </a:r>
          </a:p>
        </p:txBody>
      </p:sp>
    </p:spTree>
    <p:extLst>
      <p:ext uri="{BB962C8B-B14F-4D97-AF65-F5344CB8AC3E}">
        <p14:creationId xmlns:p14="http://schemas.microsoft.com/office/powerpoint/2010/main" val="812524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6">
            <a:extLst xmlns:a="http://schemas.openxmlformats.org/drawingml/2006/main">
              <a:ext uri="{FF2B5EF4-FFF2-40B4-BE49-F238E27FC236}">
                <a16:creationId xmlns:a16="http://schemas.microsoft.com/office/drawing/2014/main" id="{E72348BF-7445-4AF8-B26A-7A401B6C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05 工作顺序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B7148E9-2D0C-4766-B3F2-3B85FCF0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复核先检查：别人能否理解结果如何产生</a:t>
            </a:r>
          </a:p>
        </p:txBody>
      </p:sp>
      <p:sp>
        <p:nvSpPr>
          <p:cNvPr id="3" name="accent-6">
            <a:extLst xmlns:a="http://schemas.openxmlformats.org/drawingml/2006/main">
              <a:ext uri="{FF2B5EF4-FFF2-40B4-BE49-F238E27FC236}">
                <a16:creationId xmlns:a16="http://schemas.microsoft.com/office/drawing/2014/main" id="{90418594-7836-4440-98E2-828172A7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8572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26E6C259-2A0A-45AD-9F20-94BA911A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06 / 09</a:t>
            </a:r>
          </a:p>
        </p:txBody>
      </p:sp>
      <p:sp>
        <p:nvSpPr>
          <p:cNvPr id="5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1B589638-F12C-455B-9F27-4AB6AE48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6">
            <a:extLst xmlns:a="http://schemas.openxmlformats.org/drawingml/2006/main">
              <a:ext uri="{FF2B5EF4-FFF2-40B4-BE49-F238E27FC236}">
                <a16:creationId xmlns:a16="http://schemas.microsoft.com/office/drawing/2014/main" id="{25521B80-6CD3-45F8-A217-016A381C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4205D0E5-BC91-4D35-B081-6FA27D6F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主路径从提交到可讨论版本；授权问题会暂停共享。</a:t>
            </a:r>
          </a:p>
        </p:txBody>
      </p:sp>
      <p:sp>
        <p:nvSpPr>
          <p:cNvPr id="8" name="wf-submit">
            <a:extLst xmlns:a="http://schemas.openxmlformats.org/drawingml/2006/main">
              <a:ext uri="{FF2B5EF4-FFF2-40B4-BE49-F238E27FC236}">
                <a16:creationId xmlns:a16="http://schemas.microsoft.com/office/drawing/2014/main" id="{115B5485-0A4C-433B-8DEC-D4A78BF0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9" name="wf-submit-label">
            <a:extLst xmlns:a="http://schemas.openxmlformats.org/drawingml/2006/main">
              <a:ext uri="{FF2B5EF4-FFF2-40B4-BE49-F238E27FC236}">
                <a16:creationId xmlns:a16="http://schemas.microsoft.com/office/drawing/2014/main" id="{4DCDAAEC-0E64-4AE5-8D46-D73B19DA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86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提交记录与受控引用</a:t>
            </a:r>
          </a:p>
        </p:txBody>
      </p:sp>
      <p:sp>
        <p:nvSpPr>
          <p:cNvPr id="10" name="wf-review">
            <a:extLst xmlns:a="http://schemas.openxmlformats.org/drawingml/2006/main">
              <a:ext uri="{FF2B5EF4-FFF2-40B4-BE49-F238E27FC236}">
                <a16:creationId xmlns:a16="http://schemas.microsoft.com/office/drawing/2014/main" id="{CAF33059-757A-476E-915F-BE730E52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1" name="wf-review-label">
            <a:extLst xmlns:a="http://schemas.openxmlformats.org/drawingml/2006/main">
              <a:ext uri="{FF2B5EF4-FFF2-40B4-BE49-F238E27FC236}">
                <a16:creationId xmlns:a16="http://schemas.microsoft.com/office/drawing/2014/main" id="{55EC7CA5-8952-4FB7-A7DE-12ECABAD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67000"/>
            <a:ext cx="186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另一位成员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定位并提出缺项</a:t>
            </a:r>
          </a:p>
        </p:txBody>
      </p:sp>
      <p:sp>
        <p:nvSpPr>
          <p:cNvPr id="12" name="wf-supplement">
            <a:extLst xmlns:a="http://schemas.openxmlformats.org/drawingml/2006/main">
              <a:ext uri="{FF2B5EF4-FFF2-40B4-BE49-F238E27FC236}">
                <a16:creationId xmlns:a16="http://schemas.microsoft.com/office/drawing/2014/main" id="{C36F2BE3-826E-4C5F-A339-543D76D8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3" name="wf-supplement-label">
            <a:extLst xmlns:a="http://schemas.openxmlformats.org/drawingml/2006/main">
              <a:ext uri="{FF2B5EF4-FFF2-40B4-BE49-F238E27FC236}">
                <a16:creationId xmlns:a16="http://schemas.microsoft.com/office/drawing/2014/main" id="{F6A333C7-C6A5-4AA9-B3A6-B485A449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186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补充后交负责人</a:t>
            </a:r>
          </a:p>
        </p:txBody>
      </p:sp>
      <p:sp>
        <p:nvSpPr>
          <p:cNvPr id="14" name="wf-ready">
            <a:extLst xmlns:a="http://schemas.openxmlformats.org/drawingml/2006/main">
              <a:ext uri="{FF2B5EF4-FFF2-40B4-BE49-F238E27FC236}">
                <a16:creationId xmlns:a16="http://schemas.microsoft.com/office/drawing/2014/main" id="{2B1E7F7F-A0FE-4799-95D1-0DDD152A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f-ready-label">
            <a:extLst xmlns:a="http://schemas.openxmlformats.org/drawingml/2006/main">
              <a:ext uri="{FF2B5EF4-FFF2-40B4-BE49-F238E27FC236}">
                <a16:creationId xmlns:a16="http://schemas.microsoft.com/office/drawing/2014/main" id="{2178AAE2-AA9B-4867-A442-CD80C010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67000"/>
            <a:ext cx="186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进入可讨论版本</a:t>
            </a:r>
          </a:p>
        </p:txBody>
      </p: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62250" y="30861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76875" y="30861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191500" y="30861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19" name="wf-gate">
            <a:extLst xmlns:a="http://schemas.openxmlformats.org/drawingml/2006/main">
              <a:ext uri="{FF2B5EF4-FFF2-40B4-BE49-F238E27FC236}">
                <a16:creationId xmlns:a16="http://schemas.microsoft.com/office/drawing/2014/main" id="{6618AA50-B877-4B1B-9D1B-6462642E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2476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B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f-gate-label">
            <a:extLst xmlns:a="http://schemas.openxmlformats.org/drawingml/2006/main">
              <a:ext uri="{FF2B5EF4-FFF2-40B4-BE49-F238E27FC236}">
                <a16:creationId xmlns:a16="http://schemas.microsoft.com/office/drawing/2014/main" id="{08F2BEE9-ABA2-4B3D-9998-89D857F4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8A5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5A16"/>
                </a:solidFill>
                <a:latin typeface="Microsoft YaHei"/>
                <a:ea typeface="Microsoft YaHei"/>
                <a:cs typeface="Microsoft YaHei"/>
              </a:rPr>
              <a:t>若涉及新的访问授权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8A5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5A16"/>
                </a:solidFill>
                <a:latin typeface="Microsoft YaHei"/>
                <a:ea typeface="Microsoft YaHei"/>
                <a:cs typeface="Microsoft YaHei"/>
              </a:rPr>
              <a:t>暂停共享，由负责人处理</a:t>
            </a:r>
          </a:p>
        </p:txBody>
      </p:sp>
      <p:sp>
        <p:nvSpPr>
          <p:cNvPr id="21" name="wf-gate-anchor">
            <a:extLst xmlns:a="http://schemas.openxmlformats.org/drawingml/2006/main">
              <a:ext uri="{FF2B5EF4-FFF2-40B4-BE49-F238E27FC236}">
                <a16:creationId xmlns:a16="http://schemas.microsoft.com/office/drawing/2014/main" id="{6C7A8551-5BB7-495B-B7C0-7D914338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338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>
            <a:stCxn xmlns:a="http://schemas.openxmlformats.org/drawingml/2006/main" id="12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6191250" y="3600450"/>
            <a:ext cx="95250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5A16"/>
            </a:solidFill>
            <a:prstDash val="dash"/>
            <a:tailEnd type="none" w="med" len="med"/>
          </a:ln>
        </p:spPr>
      </p:cxnSp>
      <p:sp>
        <p:nvSpPr>
          <p:cNvPr id="23" name="wf-clarify">
            <a:extLst xmlns:a="http://schemas.openxmlformats.org/drawingml/2006/main">
              <a:ext uri="{FF2B5EF4-FFF2-40B4-BE49-F238E27FC236}">
                <a16:creationId xmlns:a16="http://schemas.microsoft.com/office/drawing/2014/main" id="{B3DE933A-CDF3-4B51-997E-7BE05A6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复核不要求复做整项实验，也不代替科学结论审查；它先检查别人是否能理解这个结果是怎么产生的。</a:t>
            </a:r>
          </a:p>
        </p:txBody>
      </p:sp>
    </p:spTree>
    <p:extLst>
      <p:ext uri="{BB962C8B-B14F-4D97-AF65-F5344CB8AC3E}">
        <p14:creationId xmlns:p14="http://schemas.microsoft.com/office/powerpoint/2010/main" val="2189939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7">
            <a:extLst xmlns:a="http://schemas.openxmlformats.org/drawingml/2006/main">
              <a:ext uri="{FF2B5EF4-FFF2-40B4-BE49-F238E27FC236}">
                <a16:creationId xmlns:a16="http://schemas.microsoft.com/office/drawing/2014/main" id="{25EF278C-B09C-41FB-B3E8-48F9635B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06 试点安排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27F8F3F-3B4F-47D5-AD81-CF9A72A3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四周试点只验证记录能否被持续使用</a:t>
            </a:r>
          </a:p>
        </p:txBody>
      </p:sp>
      <p:sp>
        <p:nvSpPr>
          <p:cNvPr id="3" name="accent-7">
            <a:extLst xmlns:a="http://schemas.openxmlformats.org/drawingml/2006/main">
              <a:ext uri="{FF2B5EF4-FFF2-40B4-BE49-F238E27FC236}">
                <a16:creationId xmlns:a16="http://schemas.microsoft.com/office/drawing/2014/main" id="{90BEFACE-1BD5-404A-AB9B-1755EA68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8572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AA9F782E-862A-408E-BF1F-B8E061CB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07 / 09</a:t>
            </a:r>
          </a:p>
        </p:txBody>
      </p:sp>
      <p:sp>
        <p:nvSpPr>
          <p:cNvPr id="5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F5C479E-E5BC-4DC4-BAD2-7F6CD05B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7">
            <a:extLst xmlns:a="http://schemas.openxmlformats.org/drawingml/2006/main">
              <a:ext uri="{FF2B5EF4-FFF2-40B4-BE49-F238E27FC236}">
                <a16:creationId xmlns:a16="http://schemas.microsoft.com/office/drawing/2014/main" id="{BB9A8010-A091-4A29-96D3-FEAEFC7C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pilot-left">
            <a:extLst xmlns:a="http://schemas.openxmlformats.org/drawingml/2006/main">
              <a:ext uri="{FF2B5EF4-FFF2-40B4-BE49-F238E27FC236}">
                <a16:creationId xmlns:a16="http://schemas.microsoft.com/office/drawing/2014/main" id="{88315538-470B-4E88-874E-E0DDED82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7381875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lot-right">
            <a:extLst xmlns:a="http://schemas.openxmlformats.org/drawingml/2006/main">
              <a:ext uri="{FF2B5EF4-FFF2-40B4-BE49-F238E27FC236}">
                <a16:creationId xmlns:a16="http://schemas.microsoft.com/office/drawing/2014/main" id="{6BF83DBD-89E3-4F2D-866F-7DEE1980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95425"/>
            <a:ext cx="3429000" cy="43243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9" name="pilot-left-head">
            <a:extLst xmlns:a="http://schemas.openxmlformats.org/drawingml/2006/main">
              <a:ext uri="{FF2B5EF4-FFF2-40B4-BE49-F238E27FC236}">
                <a16:creationId xmlns:a16="http://schemas.microsoft.com/office/drawing/2014/main" id="{5484C52E-8481-478A-A070-05FAA59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拟定范围</a:t>
            </a:r>
          </a:p>
        </p:txBody>
      </p:sp>
      <p:sp>
        <p:nvSpPr>
          <p:cNvPr id="10" name="pilot-week-0">
            <a:extLst xmlns:a="http://schemas.openxmlformats.org/drawingml/2006/main">
              <a:ext uri="{FF2B5EF4-FFF2-40B4-BE49-F238E27FC236}">
                <a16:creationId xmlns:a16="http://schemas.microsoft.com/office/drawing/2014/main" id="{94D61A8A-4F7E-40D8-B2DA-3734A6E0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809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ilot-week-title-0">
            <a:extLst xmlns:a="http://schemas.openxmlformats.org/drawingml/2006/main">
              <a:ext uri="{FF2B5EF4-FFF2-40B4-BE49-F238E27FC236}">
                <a16:creationId xmlns:a16="http://schemas.microsoft.com/office/drawing/2014/main" id="{BB0D782B-37B0-4450-9380-00A83B69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2" name="pilot-week-body-0">
            <a:extLst xmlns:a="http://schemas.openxmlformats.org/drawingml/2006/main">
              <a:ext uri="{FF2B5EF4-FFF2-40B4-BE49-F238E27FC236}">
                <a16:creationId xmlns:a16="http://schemas.microsoft.com/office/drawing/2014/main" id="{2E54C62C-0253-4072-94F3-5EC81D6D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明确最少字段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用一个结果试填</a:t>
            </a:r>
          </a:p>
        </p:txBody>
      </p:sp>
      <p:sp>
        <p:nvSpPr>
          <p:cNvPr id="13" name="pilot-arrow-0">
            <a:extLst xmlns:a="http://schemas.openxmlformats.org/drawingml/2006/main">
              <a:ext uri="{FF2B5EF4-FFF2-40B4-BE49-F238E27FC236}">
                <a16:creationId xmlns:a16="http://schemas.microsoft.com/office/drawing/2014/main" id="{BDA973FE-D8EA-4C02-A39E-13E76D45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24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4" name="pilot-week-1">
            <a:extLst xmlns:a="http://schemas.openxmlformats.org/drawingml/2006/main">
              <a:ext uri="{FF2B5EF4-FFF2-40B4-BE49-F238E27FC236}">
                <a16:creationId xmlns:a16="http://schemas.microsoft.com/office/drawing/2014/main" id="{D091213A-AAF1-41AD-AA9C-8A8FD469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1809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5" name="pilot-week-title-1">
            <a:extLst xmlns:a="http://schemas.openxmlformats.org/drawingml/2006/main">
              <a:ext uri="{FF2B5EF4-FFF2-40B4-BE49-F238E27FC236}">
                <a16:creationId xmlns:a16="http://schemas.microsoft.com/office/drawing/2014/main" id="{007F2981-3E25-4629-B729-BF7CD99B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194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第 2–3 周</a:t>
            </a:r>
          </a:p>
        </p:txBody>
      </p:sp>
      <p:sp>
        <p:nvSpPr>
          <p:cNvPr id="16" name="pilot-week-body-1">
            <a:extLst xmlns:a="http://schemas.openxmlformats.org/drawingml/2006/main">
              <a:ext uri="{FF2B5EF4-FFF2-40B4-BE49-F238E27FC236}">
                <a16:creationId xmlns:a16="http://schemas.microsoft.com/office/drawing/2014/main" id="{A34DCE70-D656-429C-94BE-2C8E4137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7662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在实际工作中记录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缺项与填写负担</a:t>
            </a:r>
          </a:p>
        </p:txBody>
      </p:sp>
      <p:sp>
        <p:nvSpPr>
          <p:cNvPr id="17" name="pilot-arrow-1">
            <a:extLst xmlns:a="http://schemas.openxmlformats.org/drawingml/2006/main">
              <a:ext uri="{FF2B5EF4-FFF2-40B4-BE49-F238E27FC236}">
                <a16:creationId xmlns:a16="http://schemas.microsoft.com/office/drawing/2014/main" id="{B50AC9AD-B493-4A1B-8340-7C0A0644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24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8" name="pilot-week-2">
            <a:extLst xmlns:a="http://schemas.openxmlformats.org/drawingml/2006/main">
              <a:ext uri="{FF2B5EF4-FFF2-40B4-BE49-F238E27FC236}">
                <a16:creationId xmlns:a16="http://schemas.microsoft.com/office/drawing/2014/main" id="{1180B44D-7877-4216-BED1-62CC1F87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809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9" name="pilot-week-title-2">
            <a:extLst xmlns:a="http://schemas.openxmlformats.org/drawingml/2006/main">
              <a:ext uri="{FF2B5EF4-FFF2-40B4-BE49-F238E27FC236}">
                <a16:creationId xmlns:a16="http://schemas.microsoft.com/office/drawing/2014/main" id="{50361476-385C-4EB1-8A97-B1D39718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194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0" name="pilot-week-body-2">
            <a:extLst xmlns:a="http://schemas.openxmlformats.org/drawingml/2006/main">
              <a:ext uri="{FF2B5EF4-FFF2-40B4-BE49-F238E27FC236}">
                <a16:creationId xmlns:a16="http://schemas.microsoft.com/office/drawing/2014/main" id="{329C4DA8-AF10-438D-B7E5-799960B0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7662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讨论保留、修改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或停止</a:t>
            </a:r>
          </a:p>
        </p:txBody>
      </p:sp>
      <p:sp>
        <p:nvSpPr>
          <p:cNvPr id="21" name="pilot-left-foot">
            <a:extLst xmlns:a="http://schemas.openxmlformats.org/drawingml/2006/main">
              <a:ext uri="{FF2B5EF4-FFF2-40B4-BE49-F238E27FC236}">
                <a16:creationId xmlns:a16="http://schemas.microsoft.com/office/drawing/2014/main" id="{0BD2E522-4F85-48B3-A459-038FD934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一个课题方向 · 两名自愿成员 · 记录新增实验</a:t>
            </a:r>
          </a:p>
        </p:txBody>
      </p:sp>
      <p:sp>
        <p:nvSpPr>
          <p:cNvPr id="22" name="pilot-right-head">
            <a:extLst xmlns:a="http://schemas.openxmlformats.org/drawingml/2006/main">
              <a:ext uri="{FF2B5EF4-FFF2-40B4-BE49-F238E27FC236}">
                <a16:creationId xmlns:a16="http://schemas.microsoft.com/office/drawing/2014/main" id="{3BF28DBE-7AB1-4B27-AD63-05782AF6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边界提醒</a:t>
            </a:r>
          </a:p>
        </p:txBody>
      </p:sp>
      <p:sp>
        <p:nvSpPr>
          <p:cNvPr id="23" name="pilot-right-body">
            <a:extLst xmlns:a="http://schemas.openxmlformats.org/drawingml/2006/main">
              <a:ext uri="{FF2B5EF4-FFF2-40B4-BE49-F238E27FC236}">
                <a16:creationId xmlns:a16="http://schemas.microsoft.com/office/drawing/2014/main" id="{C0EA144B-42BC-4B52-A3D6-1614F755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四周、两人和周次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都是拟定范围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没有实测效率提升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或完成率数字</a:t>
            </a:r>
          </a:p>
        </p:txBody>
      </p:sp>
      <p:sp>
        <p:nvSpPr>
          <p:cNvPr id="24" name="pilot-right-tag">
            <a:extLst xmlns:a="http://schemas.openxmlformats.org/drawingml/2006/main">
              <a:ext uri="{FF2B5EF4-FFF2-40B4-BE49-F238E27FC236}">
                <a16:creationId xmlns:a16="http://schemas.microsoft.com/office/drawing/2014/main" id="{07C3CB75-D997-4778-A7E7-68D38024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ot-right-tag-text">
            <a:extLst xmlns:a="http://schemas.openxmlformats.org/drawingml/2006/main">
              <a:ext uri="{FF2B5EF4-FFF2-40B4-BE49-F238E27FC236}">
                <a16:creationId xmlns:a16="http://schemas.microsoft.com/office/drawing/2014/main" id="{6B608DA8-D531-4E5C-8232-BB4A9C71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8A5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5A16"/>
                </a:solidFill>
                <a:latin typeface="Microsoft YaHei"/>
                <a:ea typeface="Microsoft YaHei"/>
                <a:cs typeface="Microsoft YaHei"/>
              </a:rPr>
              <a:t>先观察，再决定</a:t>
            </a:r>
          </a:p>
        </p:txBody>
      </p:sp>
    </p:spTree>
    <p:extLst>
      <p:ext uri="{BB962C8B-B14F-4D97-AF65-F5344CB8AC3E}">
        <p14:creationId xmlns:p14="http://schemas.microsoft.com/office/powerpoint/2010/main" val="327207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8">
            <a:extLst xmlns:a="http://schemas.openxmlformats.org/drawingml/2006/main">
              <a:ext uri="{FF2B5EF4-FFF2-40B4-BE49-F238E27FC236}">
                <a16:creationId xmlns:a16="http://schemas.microsoft.com/office/drawing/2014/main" id="{85844B1E-ADCD-47E9-A7CF-F17BADF5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07 评估与停止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1ACF57B-F3BF-497C-B33A-03F36366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评估围绕三个问题展开，不先设统一合格分数</a:t>
            </a:r>
          </a:p>
        </p:txBody>
      </p:sp>
      <p:sp>
        <p:nvSpPr>
          <p:cNvPr id="3" name="accent-8">
            <a:extLst xmlns:a="http://schemas.openxmlformats.org/drawingml/2006/main">
              <a:ext uri="{FF2B5EF4-FFF2-40B4-BE49-F238E27FC236}">
                <a16:creationId xmlns:a16="http://schemas.microsoft.com/office/drawing/2014/main" id="{60BB921C-05B2-415E-AC9A-8BF364C3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8572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D7C084A8-4600-4A23-AFED-77D6C4CF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08 / 09</a:t>
            </a:r>
          </a:p>
        </p:txBody>
      </p:sp>
      <p:sp>
        <p:nvSpPr>
          <p:cNvPr id="5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61616F24-C163-4DA3-BF9D-0200EF46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8">
            <a:extLst xmlns:a="http://schemas.openxmlformats.org/drawingml/2006/main">
              <a:ext uri="{FF2B5EF4-FFF2-40B4-BE49-F238E27FC236}">
                <a16:creationId xmlns:a16="http://schemas.microsoft.com/office/drawing/2014/main" id="{36218274-0911-4E55-8605-181757C5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eval-main">
            <a:extLst xmlns:a="http://schemas.openxmlformats.org/drawingml/2006/main">
              <a:ext uri="{FF2B5EF4-FFF2-40B4-BE49-F238E27FC236}">
                <a16:creationId xmlns:a16="http://schemas.microsoft.com/office/drawing/2014/main" id="{2154ED1A-D304-4DD2-AC10-73ED0D6F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70485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al-head">
            <a:extLst xmlns:a="http://schemas.openxmlformats.org/drawingml/2006/main">
              <a:ext uri="{FF2B5EF4-FFF2-40B4-BE49-F238E27FC236}">
                <a16:creationId xmlns:a16="http://schemas.microsoft.com/office/drawing/2014/main" id="{A2E9ED31-4E59-42C3-ADCB-4CF844F9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收集具体复核过程与当事人反馈</a:t>
            </a:r>
          </a:p>
        </p:txBody>
      </p:sp>
      <p:sp>
        <p:nvSpPr>
          <p:cNvPr id="9" name="eval-num-0">
            <a:extLst xmlns:a="http://schemas.openxmlformats.org/drawingml/2006/main">
              <a:ext uri="{FF2B5EF4-FFF2-40B4-BE49-F238E27FC236}">
                <a16:creationId xmlns:a16="http://schemas.microsoft.com/office/drawing/2014/main" id="{955DD50B-6110-4DF3-8659-F071BC20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eval-q-0">
            <a:extLst xmlns:a="http://schemas.openxmlformats.org/drawingml/2006/main">
              <a:ext uri="{FF2B5EF4-FFF2-40B4-BE49-F238E27FC236}">
                <a16:creationId xmlns:a16="http://schemas.microsoft.com/office/drawing/2014/main" id="{5B1764DA-F26A-4EEA-ABF5-95ED61B4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71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能否定位来源？</a:t>
            </a:r>
          </a:p>
        </p:txBody>
      </p:sp>
      <p:sp>
        <p:nvSpPr>
          <p:cNvPr id="11" name="eval-a-0">
            <a:extLst xmlns:a="http://schemas.openxmlformats.org/drawingml/2006/main">
              <a:ext uri="{FF2B5EF4-FFF2-40B4-BE49-F238E27FC236}">
                <a16:creationId xmlns:a16="http://schemas.microsoft.com/office/drawing/2014/main" id="{C2FB60FC-85D9-42D7-B3F6-7CFD19DE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沿记录找到结果、数据、脚本和条件</a:t>
            </a:r>
          </a:p>
        </p:txBody>
      </p:sp>
      <p:sp>
        <p:nvSpPr>
          <p:cNvPr id="12" name="eval-num-1">
            <a:extLst xmlns:a="http://schemas.openxmlformats.org/drawingml/2006/main">
              <a:ext uri="{FF2B5EF4-FFF2-40B4-BE49-F238E27FC236}">
                <a16:creationId xmlns:a16="http://schemas.microsoft.com/office/drawing/2014/main" id="{BB9152AF-383D-46CB-B570-6997CAAD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eval-q-1">
            <a:extLst xmlns:a="http://schemas.openxmlformats.org/drawingml/2006/main">
              <a:ext uri="{FF2B5EF4-FFF2-40B4-BE49-F238E27FC236}">
                <a16:creationId xmlns:a16="http://schemas.microsoft.com/office/drawing/2014/main" id="{4373DC49-29E1-4F5D-A545-0557A9F4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29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依据是否可理解？</a:t>
            </a:r>
          </a:p>
        </p:txBody>
      </p:sp>
      <p:sp>
        <p:nvSpPr>
          <p:cNvPr id="14" name="eval-a-1">
            <a:extLst xmlns:a="http://schemas.openxmlformats.org/drawingml/2006/main">
              <a:ext uri="{FF2B5EF4-FFF2-40B4-BE49-F238E27FC236}">
                <a16:creationId xmlns:a16="http://schemas.microsoft.com/office/drawing/2014/main" id="{97F8F8B4-3620-434E-99B6-A2E18C45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看懂关键处理与排除的理由</a:t>
            </a:r>
          </a:p>
        </p:txBody>
      </p:sp>
      <p:sp>
        <p:nvSpPr>
          <p:cNvPr id="15" name="eval-num-2">
            <a:extLst xmlns:a="http://schemas.openxmlformats.org/drawingml/2006/main">
              <a:ext uri="{FF2B5EF4-FFF2-40B4-BE49-F238E27FC236}">
                <a16:creationId xmlns:a16="http://schemas.microsoft.com/office/drawing/2014/main" id="{575AFBE8-D435-4D59-B2E0-956CCE64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eval-q-2">
            <a:extLst xmlns:a="http://schemas.openxmlformats.org/drawingml/2006/main">
              <a:ext uri="{FF2B5EF4-FFF2-40B4-BE49-F238E27FC236}">
                <a16:creationId xmlns:a16="http://schemas.microsoft.com/office/drawing/2014/main" id="{47AC2E81-2B64-499A-B304-536C1D65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86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负担能否持续？</a:t>
            </a:r>
          </a:p>
        </p:txBody>
      </p:sp>
      <p:sp>
        <p:nvSpPr>
          <p:cNvPr id="17" name="eval-a-2">
            <a:extLst xmlns:a="http://schemas.openxmlformats.org/drawingml/2006/main">
              <a:ext uri="{FF2B5EF4-FFF2-40B4-BE49-F238E27FC236}">
                <a16:creationId xmlns:a16="http://schemas.microsoft.com/office/drawing/2014/main" id="{7204F015-FC75-4595-8754-5988C1C7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成员愿意继续承担填写工作</a:t>
            </a:r>
          </a:p>
        </p:txBody>
      </p:sp>
      <p:sp>
        <p:nvSpPr>
          <p:cNvPr id="18" name="eval-side">
            <a:extLst xmlns:a="http://schemas.openxmlformats.org/drawingml/2006/main">
              <a:ext uri="{FF2B5EF4-FFF2-40B4-BE49-F238E27FC236}">
                <a16:creationId xmlns:a16="http://schemas.microsoft.com/office/drawing/2014/main" id="{CE623783-F20F-499C-9C7A-B87DF170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95425"/>
            <a:ext cx="3714750" cy="43243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val-side-head">
            <a:extLst xmlns:a="http://schemas.openxmlformats.org/drawingml/2006/main">
              <a:ext uri="{FF2B5EF4-FFF2-40B4-BE49-F238E27FC236}">
                <a16:creationId xmlns:a16="http://schemas.microsoft.com/office/drawing/2014/main" id="{F9F2277E-1923-47ED-B17F-11EAE849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8A3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3A3A"/>
                </a:solidFill>
                <a:latin typeface="Microsoft YaHei"/>
                <a:ea typeface="Microsoft YaHei"/>
                <a:cs typeface="Microsoft YaHei"/>
              </a:rPr>
              <a:t>停止或修改的信号</a:t>
            </a:r>
          </a:p>
        </p:txBody>
      </p:sp>
      <p:sp>
        <p:nvSpPr>
          <p:cNvPr id="20" name="eval-side-list">
            <a:extLst xmlns:a="http://schemas.openxmlformats.org/drawingml/2006/main">
              <a:ext uri="{FF2B5EF4-FFF2-40B4-BE49-F238E27FC236}">
                <a16:creationId xmlns:a16="http://schemas.microsoft.com/office/drawing/2014/main" id="{82B71CEC-C10B-4CC2-9627-F8B63818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填写持续挤占必要实验时间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权限边界无法说明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重复抄写却没有帮助解释结果</a:t>
            </a:r>
          </a:p>
        </p:txBody>
      </p:sp>
      <p:sp>
        <p:nvSpPr>
          <p:cNvPr id="21" name="eval-side-foot">
            <a:extLst xmlns:a="http://schemas.openxmlformats.org/drawingml/2006/main">
              <a:ext uri="{FF2B5EF4-FFF2-40B4-BE49-F238E27FC236}">
                <a16:creationId xmlns:a16="http://schemas.microsoft.com/office/drawing/2014/main" id="{96BDE292-1FAC-43ED-9015-A60D4738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8A3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3A3A"/>
                </a:solidFill>
                <a:latin typeface="Microsoft YaHei"/>
                <a:ea typeface="Microsoft YaHei"/>
                <a:cs typeface="Microsoft YaHei"/>
              </a:rPr>
              <a:t>先缩小要求或停止试点，不能为完成目标强行推广。</a:t>
            </a:r>
          </a:p>
        </p:txBody>
      </p:sp>
    </p:spTree>
    <p:extLst>
      <p:ext uri="{BB962C8B-B14F-4D97-AF65-F5344CB8AC3E}">
        <p14:creationId xmlns:p14="http://schemas.microsoft.com/office/powerpoint/2010/main" val="2008029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9">
            <a:extLst xmlns:a="http://schemas.openxmlformats.org/drawingml/2006/main">
              <a:ext uri="{FF2B5EF4-FFF2-40B4-BE49-F238E27FC236}">
                <a16:creationId xmlns:a16="http://schemas.microsoft.com/office/drawing/2014/main" id="{F01F1E7B-C77F-48B9-BCE0-02A4BBF0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08 讨论决定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0FC5791-82D5-4503-A94C-677051F1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开始前只需确认范围、字段与责任</a:t>
            </a:r>
          </a:p>
        </p:txBody>
      </p:sp>
      <p:sp>
        <p:nvSpPr>
          <p:cNvPr id="3" name="accent-9">
            <a:extLst xmlns:a="http://schemas.openxmlformats.org/drawingml/2006/main">
              <a:ext uri="{FF2B5EF4-FFF2-40B4-BE49-F238E27FC236}">
                <a16:creationId xmlns:a16="http://schemas.microsoft.com/office/drawing/2014/main" id="{8309FD88-5166-45E7-AE84-D992DC60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8572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A006C264-8641-44EB-BE05-C7017A0D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09 / 09</a:t>
            </a:r>
          </a:p>
        </p:txBody>
      </p:sp>
      <p:sp>
        <p:nvSpPr>
          <p:cNvPr id="5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38540C16-98A6-4210-89EA-58C25D3C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9">
            <a:extLst xmlns:a="http://schemas.openxmlformats.org/drawingml/2006/main">
              <a:ext uri="{FF2B5EF4-FFF2-40B4-BE49-F238E27FC236}">
                <a16:creationId xmlns:a16="http://schemas.microsoft.com/office/drawing/2014/main" id="{AB2B4352-9A4C-4C8A-856D-2688F6DC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86308643-1A60-46D8-87DE-0D252DC1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72390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cision-main-head">
            <a:extLst xmlns:a="http://schemas.openxmlformats.org/drawingml/2006/main">
              <a:ext uri="{FF2B5EF4-FFF2-40B4-BE49-F238E27FC236}">
                <a16:creationId xmlns:a16="http://schemas.microsoft.com/office/drawing/2014/main" id="{E784AD00-D66F-448C-81F5-FDFACEA9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本次需要确认</a:t>
            </a:r>
          </a:p>
        </p:txBody>
      </p:sp>
      <p:sp>
        <p:nvSpPr>
          <p:cNvPr id="9" name="decision-num-box-0">
            <a:extLst xmlns:a="http://schemas.openxmlformats.org/drawingml/2006/main">
              <a:ext uri="{FF2B5EF4-FFF2-40B4-BE49-F238E27FC236}">
                <a16:creationId xmlns:a16="http://schemas.microsoft.com/office/drawing/2014/main" id="{4645CFD5-AB9F-4BC8-8B22-40D5FCE6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cision-num-0">
            <a:extLst xmlns:a="http://schemas.openxmlformats.org/drawingml/2006/main">
              <a:ext uri="{FF2B5EF4-FFF2-40B4-BE49-F238E27FC236}">
                <a16:creationId xmlns:a16="http://schemas.microsoft.com/office/drawing/2014/main" id="{53B307F8-45B9-4436-AC31-F1F54528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decision-item-0">
            <a:extLst xmlns:a="http://schemas.openxmlformats.org/drawingml/2006/main">
              <a:ext uri="{FF2B5EF4-FFF2-40B4-BE49-F238E27FC236}">
                <a16:creationId xmlns:a16="http://schemas.microsoft.com/office/drawing/2014/main" id="{1C225C84-C72E-4D42-932A-7C3E5621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负责人确认试点范围与授权联系人</a:t>
            </a:r>
          </a:p>
        </p:txBody>
      </p:sp>
      <p:sp>
        <p:nvSpPr>
          <p:cNvPr id="12" name="decision-num-box-1">
            <a:extLst xmlns:a="http://schemas.openxmlformats.org/drawingml/2006/main">
              <a:ext uri="{FF2B5EF4-FFF2-40B4-BE49-F238E27FC236}">
                <a16:creationId xmlns:a16="http://schemas.microsoft.com/office/drawing/2014/main" id="{E4336047-4D72-4235-9E61-0C6EACB8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cision-num-1">
            <a:extLst xmlns:a="http://schemas.openxmlformats.org/drawingml/2006/main">
              <a:ext uri="{FF2B5EF4-FFF2-40B4-BE49-F238E27FC236}">
                <a16:creationId xmlns:a16="http://schemas.microsoft.com/office/drawing/2014/main" id="{3D30E2E2-BDC4-49AE-845A-029D6E6C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decision-item-1">
            <a:extLst xmlns:a="http://schemas.openxmlformats.org/drawingml/2006/main">
              <a:ext uri="{FF2B5EF4-FFF2-40B4-BE49-F238E27FC236}">
                <a16:creationId xmlns:a16="http://schemas.microsoft.com/office/drawing/2014/main" id="{4BD8B9AF-FBBA-43B5-9534-70D98AA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参与成员认可最少字段</a:t>
            </a:r>
          </a:p>
        </p:txBody>
      </p:sp>
      <p:sp>
        <p:nvSpPr>
          <p:cNvPr id="15" name="decision-num-box-2">
            <a:extLst xmlns:a="http://schemas.openxmlformats.org/drawingml/2006/main">
              <a:ext uri="{FF2B5EF4-FFF2-40B4-BE49-F238E27FC236}">
                <a16:creationId xmlns:a16="http://schemas.microsoft.com/office/drawing/2014/main" id="{F2709DDE-8559-4D3F-A220-15480F17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cision-num-2">
            <a:extLst xmlns:a="http://schemas.openxmlformats.org/drawingml/2006/main">
              <a:ext uri="{FF2B5EF4-FFF2-40B4-BE49-F238E27FC236}">
                <a16:creationId xmlns:a16="http://schemas.microsoft.com/office/drawing/2014/main" id="{F41D6C7F-516A-404F-8643-ACF9C335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decision-item-2">
            <a:extLst xmlns:a="http://schemas.openxmlformats.org/drawingml/2006/main">
              <a:ext uri="{FF2B5EF4-FFF2-40B4-BE49-F238E27FC236}">
                <a16:creationId xmlns:a16="http://schemas.microsoft.com/office/drawing/2014/main" id="{97A4AF17-D970-4678-A073-D137B376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确定谁负责复核</a:t>
            </a:r>
          </a:p>
        </p:txBody>
      </p:sp>
      <p:sp>
        <p:nvSpPr>
          <p:cNvPr id="18" name="decision-main-foot">
            <a:extLst xmlns:a="http://schemas.openxmlformats.org/drawingml/2006/main">
              <a:ext uri="{FF2B5EF4-FFF2-40B4-BE49-F238E27FC236}">
                <a16:creationId xmlns:a16="http://schemas.microsoft.com/office/drawing/2014/main" id="{7B451CBF-39BC-46C5-BEF0-A2E0A3B5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先让一次结果可以被理解，再决定哪些记录值得长期保存。</a:t>
            </a:r>
          </a:p>
        </p:txBody>
      </p:sp>
      <p:sp>
        <p:nvSpPr>
          <p:cNvPr id="19" name="decision-side">
            <a:extLst xmlns:a="http://schemas.openxmlformats.org/drawingml/2006/main">
              <a:ext uri="{FF2B5EF4-FFF2-40B4-BE49-F238E27FC236}">
                <a16:creationId xmlns:a16="http://schemas.microsoft.com/office/drawing/2014/main" id="{41EFCF24-C780-458F-A779-3D86479D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95425"/>
            <a:ext cx="3524250" cy="43243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cision-side-head">
            <a:extLst xmlns:a="http://schemas.openxmlformats.org/drawingml/2006/main">
              <a:ext uri="{FF2B5EF4-FFF2-40B4-BE49-F238E27FC236}">
                <a16:creationId xmlns:a16="http://schemas.microsoft.com/office/drawing/2014/main" id="{BB2F1711-8436-4526-A7A1-33987C1F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把握住验证对象</a:t>
            </a:r>
          </a:p>
        </p:txBody>
      </p:sp>
      <p:sp>
        <p:nvSpPr>
          <p:cNvPr id="21" name="decision-side-body">
            <a:extLst xmlns:a="http://schemas.openxmlformats.org/drawingml/2006/main">
              <a:ext uri="{FF2B5EF4-FFF2-40B4-BE49-F238E27FC236}">
                <a16:creationId xmlns:a16="http://schemas.microsoft.com/office/drawing/2014/main" id="{B5B812B7-F5B7-481D-AA04-FB9D1231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809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归档工具只是承载方式。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这次试点要验证的，是：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结果、依据和责任边界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能否被连在一起。</a:t>
            </a:r>
          </a:p>
        </p:txBody>
      </p:sp>
      <p:sp>
        <p:nvSpPr>
          <p:cNvPr id="22" name="decision-side-label">
            <a:extLst xmlns:a="http://schemas.openxmlformats.org/drawingml/2006/main">
              <a:ext uri="{FF2B5EF4-FFF2-40B4-BE49-F238E27FC236}">
                <a16:creationId xmlns:a16="http://schemas.microsoft.com/office/drawing/2014/main" id="{9E1E9C46-6E7D-4C59-B5A0-CA9718A9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05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有限尝试 · 方案讨论口径</a:t>
            </a:r>
          </a:p>
        </p:txBody>
      </p:sp>
    </p:spTree>
    <p:extLst>
      <p:ext uri="{BB962C8B-B14F-4D97-AF65-F5344CB8AC3E}">
        <p14:creationId xmlns:p14="http://schemas.microsoft.com/office/powerpoint/2010/main" val="925608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2026-09-06T01:37:32.0530000Z</dcterms:created>
  <dcterms:modified xsi:type="dcterms:W3CDTF">2026-09-06T01:37:32.0530000Z</dcterms:modified>
</coreProperties>
</file>