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93998dec4d408c" /><Relationship Type="http://schemas.openxmlformats.org/officeDocument/2006/relationships/extended-properties" Target="/docProps/app.xml" Id="R8c2abf2772734afa" /><Relationship Type="http://schemas.openxmlformats.org/officeDocument/2006/relationships/officeDocument" Target="/ppt/presentation.xml" Id="R5af81b64f7e647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de4f7fe5c74513"/>
  </p:sldMasterIdLst>
  <p:notesMasterIdLst>
    <p:notesMasterId xmlns:r="http://schemas.openxmlformats.org/officeDocument/2006/relationships" r:id="Rbf92d1be3db34bb9"/>
  </p:notesMasterIdLst>
  <p:sldIdLst>
    <p:sldId xmlns:r="http://schemas.openxmlformats.org/officeDocument/2006/relationships" id="256" r:id="R661fb07359c74a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2975edc5c142a8" /><Relationship Type="http://schemas.openxmlformats.org/officeDocument/2006/relationships/slideMaster" Target="/ppt/slideMasters/slideMaster1.xml" Id="R4bde4f7fe5c74513" /><Relationship Type="http://schemas.openxmlformats.org/officeDocument/2006/relationships/notesMaster" Target="/ppt/notesMasters/notesMaster1.xml" Id="Rbf92d1be3db34bb9" /><Relationship Type="http://schemas.openxmlformats.org/officeDocument/2006/relationships/presProps" Target="/ppt/presProps.xml" Id="Rf01b7bce231e4d1b" /><Relationship Type="http://schemas.openxmlformats.org/officeDocument/2006/relationships/tableStyles" Target="/ppt/tableStyles.xml" Id="Re411f609b93e4f13" /><Relationship Type="http://schemas.openxmlformats.org/officeDocument/2006/relationships/slide" Target="/ppt/slides/slide1.xml" Id="R661fb07359c74a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d0a953c82348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b98ef75de24889" /><Relationship Type="http://schemas.openxmlformats.org/officeDocument/2006/relationships/notesMaster" Target="/ppt/notesMasters/notesMaster1.xml" Id="R8a8d8d1ab0904c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内容：experiments/university-skin-pilot/transfer-03/manuscript.txt</a:t>
            </a:r>
          </a:p>
          <a:p xmlns:a="http://schemas.openxmlformats.org/drawingml/2006/main">
            <a:r>
              <a:t>设计：docs/设计手册/科研咨询式排版-v7.md；主题：experiments/university-skin-pilot/reference-01/theme.json</a:t>
            </a:r>
          </a:p>
          <a:p xmlns:a="http://schemas.openxmlformats.org/drawingml/2006/main">
            <a:r>
              <a:t>结构参考重组：parallel-equal-cards-001、convergence-many-to-one-003、branching-decision-routes-001、cycle-single-chain-feedback-002；未执行 invokeStructure。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dfda9bb3834e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127302030e426d" /><Relationship Type="http://schemas.openxmlformats.org/officeDocument/2006/relationships/slideLayout" Target="/ppt/slideLayouts/slideLayout1.xml" Id="R80793dd528274e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793dd528274e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7ca16a80a49a3" /><Relationship Type="http://schemas.openxmlformats.org/officeDocument/2006/relationships/notesSlide" Target="/ppt/notesSlides/notesSlide1.xml" Id="Rd79a9215738f48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eyebrow">
            <a:extLst xmlns:a="http://schemas.openxmlformats.org/drawingml/2006/main">
              <a:ext uri="{FF2B5EF4-FFF2-40B4-BE49-F238E27FC236}">
                <a16:creationId xmlns:a16="http://schemas.microsoft.com/office/drawing/2014/main" id="{A419D37A-C413-4DAB-A8A5-47398CA0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虚构流程设计 · 尚未实施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9AF236E-8640-4A03-A4E9-2A780AC3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9600"/>
            <a:ext cx="1109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两条准备工作可并行，但联合实验必须等证据齐全且核验通过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7DC8D96-AC60-4F31-87F7-80B3FFBB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BCD1"/>
            </a:solidFill>
            <a:prstDash val="solid"/>
          </a:ln>
        </p:spPr>
      </p:sp>
      <p:sp>
        <p:nvSpPr>
          <p:cNvPr id="4" name="process-caption">
            <a:extLst xmlns:a="http://schemas.openxmlformats.org/drawingml/2006/main">
              <a:ext uri="{FF2B5EF4-FFF2-40B4-BE49-F238E27FC236}">
                <a16:creationId xmlns:a16="http://schemas.microsoft.com/office/drawing/2014/main" id="{CAF5A485-6A15-4E00-8FBD-7F6EED61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62075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准备阶段：两条责任组路径同时推进</a:t>
            </a:r>
          </a:p>
        </p:txBody>
      </p:sp>
      <p:sp>
        <p:nvSpPr>
          <p:cNvPr id="5" name="equipment-label">
            <a:extLst xmlns:a="http://schemas.openxmlformats.org/drawingml/2006/main">
              <a:ext uri="{FF2B5EF4-FFF2-40B4-BE49-F238E27FC236}">
                <a16:creationId xmlns:a16="http://schemas.microsoft.com/office/drawing/2014/main" id="{7D1FAA1B-896B-4FEF-9B7C-4EDAF2EA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621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设备组</a:t>
            </a:r>
          </a:p>
        </p:txBody>
      </p:sp>
      <p:sp>
        <p:nvSpPr>
          <p:cNvPr id="6" name="data-label">
            <a:extLst xmlns:a="http://schemas.openxmlformats.org/drawingml/2006/main">
              <a:ext uri="{FF2B5EF4-FFF2-40B4-BE49-F238E27FC236}">
                <a16:creationId xmlns:a16="http://schemas.microsoft.com/office/drawing/2014/main" id="{BA42AECC-164E-4284-95D1-3C6F52C4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71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数据组</a:t>
            </a:r>
          </a:p>
        </p:txBody>
      </p:sp>
      <p:sp>
        <p:nvSpPr>
          <p:cNvPr id="7" name="equipment-task">
            <a:extLst xmlns:a="http://schemas.openxmlformats.org/drawingml/2006/main">
              <a:ext uri="{FF2B5EF4-FFF2-40B4-BE49-F238E27FC236}">
                <a16:creationId xmlns:a16="http://schemas.microsoft.com/office/drawing/2014/main" id="{6938E04D-B658-4477-9DA0-11D884E6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85950"/>
            <a:ext cx="1428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CF1F5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8" name="data-task">
            <a:extLst xmlns:a="http://schemas.openxmlformats.org/drawingml/2006/main">
              <a:ext uri="{FF2B5EF4-FFF2-40B4-BE49-F238E27FC236}">
                <a16:creationId xmlns:a16="http://schemas.microsoft.com/office/drawing/2014/main" id="{1B176124-659C-40B0-8FEB-DC001360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95650"/>
            <a:ext cx="1428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9" name="equipment-gate">
            <a:extLst xmlns:a="http://schemas.openxmlformats.org/drawingml/2006/main">
              <a:ext uri="{FF2B5EF4-FFF2-40B4-BE49-F238E27FC236}">
                <a16:creationId xmlns:a16="http://schemas.microsoft.com/office/drawing/2014/main" id="{0A274B23-9F14-412A-8212-BDC111BF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14525"/>
            <a:ext cx="666750" cy="476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CF1F5"/>
          </a:solidFill>
          <a:ln xmlns:a="http://schemas.openxmlformats.org/drawingml/2006/main" w="14288">
            <a:solidFill>
              <a:srgbClr val="315F91"/>
            </a:solidFill>
            <a:prstDash val="solid"/>
          </a:ln>
        </p:spPr>
      </p:sp>
      <p:sp>
        <p:nvSpPr>
          <p:cNvPr id="10" name="data-gate">
            <a:extLst xmlns:a="http://schemas.openxmlformats.org/drawingml/2006/main">
              <a:ext uri="{FF2B5EF4-FFF2-40B4-BE49-F238E27FC236}">
                <a16:creationId xmlns:a16="http://schemas.microsoft.com/office/drawing/2014/main" id="{F39F1A51-A73D-453A-9DC6-EBCF84A5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24225"/>
            <a:ext cx="666750" cy="476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14288">
            <a:solidFill>
              <a:srgbClr val="315F91"/>
            </a:solidFill>
            <a:prstDash val="solid"/>
          </a:ln>
        </p:spPr>
      </p:sp>
      <p:sp>
        <p:nvSpPr>
          <p:cNvPr id="11" name="equipment-evidence">
            <a:extLst xmlns:a="http://schemas.openxmlformats.org/drawingml/2006/main">
              <a:ext uri="{FF2B5EF4-FFF2-40B4-BE49-F238E27FC236}">
                <a16:creationId xmlns:a16="http://schemas.microsoft.com/office/drawing/2014/main" id="{E79DCA69-7820-47FF-95B9-41B91463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85950"/>
            <a:ext cx="14763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CF1F5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2" name="data-evidence">
            <a:extLst xmlns:a="http://schemas.openxmlformats.org/drawingml/2006/main">
              <a:ext uri="{FF2B5EF4-FFF2-40B4-BE49-F238E27FC236}">
                <a16:creationId xmlns:a16="http://schemas.microsoft.com/office/drawing/2014/main" id="{D906F826-382D-4768-A0E9-D49A55EF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95650"/>
            <a:ext cx="14763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3" name="joint-check">
            <a:extLst xmlns:a="http://schemas.openxmlformats.org/drawingml/2006/main">
              <a:ext uri="{FF2B5EF4-FFF2-40B4-BE49-F238E27FC236}">
                <a16:creationId xmlns:a16="http://schemas.microsoft.com/office/drawing/2014/main" id="{9D2DED0A-794A-4C00-811F-680FD044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28900"/>
            <a:ext cx="1524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CF1F5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4" name="joint-pass-gate">
            <a:extLst xmlns:a="http://schemas.openxmlformats.org/drawingml/2006/main">
              <a:ext uri="{FF2B5EF4-FFF2-40B4-BE49-F238E27FC236}">
                <a16:creationId xmlns:a16="http://schemas.microsoft.com/office/drawing/2014/main" id="{4F51181F-0D0E-4F3A-A7D3-0DC94024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19375"/>
            <a:ext cx="666750" cy="495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CF1F5"/>
          </a:solidFill>
          <a:ln xmlns:a="http://schemas.openxmlformats.org/drawingml/2006/main" w="14288">
            <a:solidFill>
              <a:srgbClr val="315F91"/>
            </a:solidFill>
            <a:prstDash val="solid"/>
          </a:ln>
        </p:spPr>
      </p:sp>
      <p:sp>
        <p:nvSpPr>
          <p:cNvPr id="15" name="final-node">
            <a:extLst xmlns:a="http://schemas.openxmlformats.org/drawingml/2006/main">
              <a:ext uri="{FF2B5EF4-FFF2-40B4-BE49-F238E27FC236}">
                <a16:creationId xmlns:a16="http://schemas.microsoft.com/office/drawing/2014/main" id="{F1AE385A-0B6C-46A2-BE2F-BE2084EC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28900"/>
            <a:ext cx="1619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4D70"/>
          </a:solidFill>
          <a:ln xmlns:a="http://schemas.openxmlformats.org/drawingml/2006/main" w="9525">
            <a:solidFill>
              <a:srgbClr val="2D4D70"/>
            </a:solidFill>
            <a:prstDash val="solid"/>
          </a:ln>
        </p:spPr>
      </p:sp>
      <p:sp>
        <p:nvSpPr>
          <p:cNvPr id="16" name="equipment-task-title">
            <a:extLst xmlns:a="http://schemas.openxmlformats.org/drawingml/2006/main">
              <a:ext uri="{FF2B5EF4-FFF2-40B4-BE49-F238E27FC236}">
                <a16:creationId xmlns:a16="http://schemas.microsoft.com/office/drawing/2014/main" id="{720F54D9-80C5-4C22-9AE9-22D0725E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3835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设备校准</a:t>
            </a:r>
          </a:p>
        </p:txBody>
      </p:sp>
      <p:sp>
        <p:nvSpPr>
          <p:cNvPr id="17" name="data-task-title">
            <a:extLst xmlns:a="http://schemas.openxmlformats.org/drawingml/2006/main">
              <a:ext uri="{FF2B5EF4-FFF2-40B4-BE49-F238E27FC236}">
                <a16:creationId xmlns:a16="http://schemas.microsoft.com/office/drawing/2014/main" id="{7A6FDAB3-8680-4426-B13A-4CF315C2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4805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样本整理</a:t>
            </a:r>
          </a:p>
        </p:txBody>
      </p:sp>
      <p:sp>
        <p:nvSpPr>
          <p:cNvPr id="18" name="equipment-gate-label">
            <a:extLst xmlns:a="http://schemas.openxmlformats.org/drawingml/2006/main">
              <a:ext uri="{FF2B5EF4-FFF2-40B4-BE49-F238E27FC236}">
                <a16:creationId xmlns:a16="http://schemas.microsoft.com/office/drawing/2014/main" id="{C19ED2B6-D7AA-4795-8649-08044982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38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合格？</a:t>
            </a:r>
          </a:p>
        </p:txBody>
      </p:sp>
      <p:sp>
        <p:nvSpPr>
          <p:cNvPr id="19" name="data-gate-label">
            <a:extLst xmlns:a="http://schemas.openxmlformats.org/drawingml/2006/main">
              <a:ext uri="{FF2B5EF4-FFF2-40B4-BE49-F238E27FC236}">
                <a16:creationId xmlns:a16="http://schemas.microsoft.com/office/drawing/2014/main" id="{FDA0FCB6-2682-4F64-BBE7-40ED2221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480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完整？</a:t>
            </a:r>
          </a:p>
        </p:txBody>
      </p:sp>
      <p:sp>
        <p:nvSpPr>
          <p:cNvPr id="20" name="equipment-evidence-title">
            <a:extLst xmlns:a="http://schemas.openxmlformats.org/drawingml/2006/main">
              <a:ext uri="{FF2B5EF4-FFF2-40B4-BE49-F238E27FC236}">
                <a16:creationId xmlns:a16="http://schemas.microsoft.com/office/drawing/2014/main" id="{34C6267F-93EC-4DE9-B35F-333A797A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383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校准记录</a:t>
            </a:r>
          </a:p>
        </p:txBody>
      </p:sp>
      <p:sp>
        <p:nvSpPr>
          <p:cNvPr id="21" name="data-evidence-title">
            <a:extLst xmlns:a="http://schemas.openxmlformats.org/drawingml/2006/main">
              <a:ext uri="{FF2B5EF4-FFF2-40B4-BE49-F238E27FC236}">
                <a16:creationId xmlns:a16="http://schemas.microsoft.com/office/drawing/2014/main" id="{510F2800-1B8B-4359-830D-025BCB59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4480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去标识清单</a:t>
            </a:r>
          </a:p>
        </p:txBody>
      </p:sp>
      <p:sp>
        <p:nvSpPr>
          <p:cNvPr id="22" name="joint-check-title">
            <a:extLst xmlns:a="http://schemas.openxmlformats.org/drawingml/2006/main">
              <a:ext uri="{FF2B5EF4-FFF2-40B4-BE49-F238E27FC236}">
                <a16:creationId xmlns:a16="http://schemas.microsoft.com/office/drawing/2014/main" id="{B81F8BD4-93E6-44F1-A55E-EF6F0E36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622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联合核验</a:t>
            </a:r>
          </a:p>
        </p:txBody>
      </p:sp>
      <p:sp>
        <p:nvSpPr>
          <p:cNvPr id="23" name="joint-pass-label">
            <a:extLst xmlns:a="http://schemas.openxmlformats.org/drawingml/2006/main">
              <a:ext uri="{FF2B5EF4-FFF2-40B4-BE49-F238E27FC236}">
                <a16:creationId xmlns:a16="http://schemas.microsoft.com/office/drawing/2014/main" id="{2AB4B116-8570-457A-847E-61AE016D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527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通过？</a:t>
            </a:r>
          </a:p>
        </p:txBody>
      </p:sp>
      <p:sp>
        <p:nvSpPr>
          <p:cNvPr id="24" name="final-node-title">
            <a:extLst xmlns:a="http://schemas.openxmlformats.org/drawingml/2006/main">
              <a:ext uri="{FF2B5EF4-FFF2-40B4-BE49-F238E27FC236}">
                <a16:creationId xmlns:a16="http://schemas.microsoft.com/office/drawing/2014/main" id="{1B69328D-AA43-46B0-951D-11D0CC8F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622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本轮可开始</a:t>
            </a:r>
          </a:p>
        </p:txBody>
      </p:sp>
      <p:sp>
        <p:nvSpPr>
          <p:cNvPr id="25" name="equipment-evidence-note">
            <a:extLst xmlns:a="http://schemas.openxmlformats.org/drawingml/2006/main">
              <a:ext uri="{FF2B5EF4-FFF2-40B4-BE49-F238E27FC236}">
                <a16:creationId xmlns:a16="http://schemas.microsoft.com/office/drawing/2014/main" id="{B6728E5D-3DB5-4948-9193-BA334839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记录批次、执行人和结果；合格后提交签字校准记录。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不合格由设备组调整后复校，不带问题进入联合实验。</a:t>
            </a:r>
          </a:p>
        </p:txBody>
      </p:sp>
      <p:sp>
        <p:nvSpPr>
          <p:cNvPr id="26" name="data-evidence-note">
            <a:extLst xmlns:a="http://schemas.openxmlformats.org/drawingml/2006/main">
              <a:ext uri="{FF2B5EF4-FFF2-40B4-BE49-F238E27FC236}">
                <a16:creationId xmlns:a16="http://schemas.microsoft.com/office/drawing/2014/main" id="{0316A989-5F4A-4574-9F86-3551505B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8145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核对编号与授权范围；编号可追溯且授权完整才形成清单。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授权缺失样本单独隔离，不进入本轮清单；数据组继续补齐授权。</a:t>
            </a:r>
          </a:p>
        </p:txBody>
      </p:sp>
      <p:sp>
        <p:nvSpPr>
          <p:cNvPr id="27" name="and-label">
            <a:extLst xmlns:a="http://schemas.openxmlformats.org/drawingml/2006/main">
              <a:ext uri="{FF2B5EF4-FFF2-40B4-BE49-F238E27FC236}">
                <a16:creationId xmlns:a16="http://schemas.microsoft.com/office/drawing/2014/main" id="{250DAAC9-85A0-4D2B-BDDE-71AAD5B5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AND：两份证据齐全</a:t>
            </a:r>
          </a:p>
        </p:txBody>
      </p:sp>
      <p:sp>
        <p:nvSpPr>
          <p:cNvPr id="28" name="manager-boundary-note">
            <a:extLst xmlns:a="http://schemas.openxmlformats.org/drawingml/2006/main">
              <a:ext uri="{FF2B5EF4-FFF2-40B4-BE49-F238E27FC236}">
                <a16:creationId xmlns:a16="http://schemas.microsoft.com/office/drawing/2014/main" id="{09AC1168-780A-44D0-B72E-AE0649FF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429000"/>
            <a:ext cx="361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负责人做联合核验，不代签校准，也不代替数据组补授权。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缺任一证据或核验未通过，就退回对应责任组，不启动本轮实验。</a:t>
            </a:r>
          </a:p>
        </p:txBody>
      </p:sp>
      <p:sp>
        <p:nvSpPr>
          <p:cNvPr id="29" name="next-week-title">
            <a:extLst xmlns:a="http://schemas.openxmlformats.org/drawingml/2006/main">
              <a:ext uri="{FF2B5EF4-FFF2-40B4-BE49-F238E27FC236}">
                <a16:creationId xmlns:a16="http://schemas.microsoft.com/office/drawing/2014/main" id="{0E08E9AA-BE59-44CE-849B-FA657695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下一周试行范围</a:t>
            </a:r>
          </a:p>
        </p:txBody>
      </p:sp>
      <p:sp>
        <p:nvSpPr>
          <p:cNvPr id="30" name="next-week-body">
            <a:extLst xmlns:a="http://schemas.openxmlformats.org/drawingml/2006/main">
              <a:ext uri="{FF2B5EF4-FFF2-40B4-BE49-F238E27FC236}">
                <a16:creationId xmlns:a16="http://schemas.microsoft.com/office/drawing/2014/main" id="{56585CFF-E8AB-4880-9F7F-7CF42ACD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只验收两条准备可并行、职责边界清楚、两份证据留存完整；不承诺提前完成或减少等待。</a:t>
            </a:r>
          </a:p>
        </p:txBody>
      </p:sp>
      <p:cxnSp>
        <p:nvCxnSpPr>
          <p:cNvPr id="74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52750" y="21526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191000" y="21526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952750" y="35623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191000" y="35623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286500" y="2152650"/>
            <a:ext cx="666750" cy="733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6286500" y="2886075"/>
            <a:ext cx="666750" cy="676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8477250" y="2867025"/>
            <a:ext cx="3810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525000" y="2867025"/>
            <a:ext cx="3810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9" idx="2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>
            <a:off x="2238375" y="2390775"/>
            <a:ext cx="1619250" cy="285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315F91"/>
            </a:solidFill>
            <a:prstDash val="dash"/>
            <a:tailEnd type="arrow" w="sm" len="sm"/>
          </a:ln>
        </p:spPr>
      </p:cxnSp>
      <p:cxnSp>
        <p:nvCxnSpPr>
          <p:cNvPr id="83" name=""/>
          <p:cNvCxnSpPr>
            <a:stCxn xmlns:a="http://schemas.openxmlformats.org/drawingml/2006/main" id="10" idx="2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>
            <a:off x="2238375" y="3800475"/>
            <a:ext cx="1619250" cy="285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315F91"/>
            </a:solidFill>
            <a:prstDash val="dash"/>
            <a:tailEnd type="arrow" w="sm" len="sm"/>
          </a:ln>
        </p:spPr>
      </p:cxnSp>
      <p:sp>
        <p:nvSpPr>
          <p:cNvPr id="4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F51FB0E-0EE7-4C7F-A6A7-32DA4496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9DA"/>
            </a:solidFill>
            <a:prstDash val="solid"/>
          </a:ln>
        </p:spPr>
      </p:sp>
      <p:sp>
        <p:nvSpPr>
          <p:cNvPr id="4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541F7FF8-BB75-4A79-9794-50A04655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素材：虚构流程设计｜本页仅检验并行准备、职责边界、证据留存与联合核验</a:t>
            </a:r>
          </a:p>
        </p:txBody>
      </p:sp>
      <p:sp>
        <p:nvSpPr>
          <p:cNvPr id="4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8D3C218-FFD9-4F41-B82F-D2CB2D3A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01446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2026-09-05T23:46:19.2420000Z</dcterms:created>
  <dcterms:modified xsi:type="dcterms:W3CDTF">2026-09-05T23:46:19.2420000Z</dcterms:modified>
</coreProperties>
</file>