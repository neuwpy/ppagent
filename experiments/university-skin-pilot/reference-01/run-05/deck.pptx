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8445b7b19b4bf0" /><Relationship Type="http://schemas.openxmlformats.org/officeDocument/2006/relationships/extended-properties" Target="/docProps/app.xml" Id="Rca4b88b9cb51460c" /><Relationship Type="http://schemas.openxmlformats.org/officeDocument/2006/relationships/officeDocument" Target="/ppt/presentation.xml" Id="R387d8b9a191c42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14c7f8dd3a41ac"/>
  </p:sldMasterIdLst>
  <p:notesMasterIdLst>
    <p:notesMasterId xmlns:r="http://schemas.openxmlformats.org/officeDocument/2006/relationships" r:id="Rcec396333aa94b3f"/>
  </p:notesMasterIdLst>
  <p:sldIdLst>
    <p:sldId xmlns:r="http://schemas.openxmlformats.org/officeDocument/2006/relationships" id="256" r:id="R9b0bf52c25704bef"/>
    <p:sldId xmlns:r="http://schemas.openxmlformats.org/officeDocument/2006/relationships" id="257" r:id="Ra3143cde0dcb48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5e4505f54540a0" /><Relationship Type="http://schemas.openxmlformats.org/officeDocument/2006/relationships/slideMaster" Target="/ppt/slideMasters/slideMaster1.xml" Id="Rd014c7f8dd3a41ac" /><Relationship Type="http://schemas.openxmlformats.org/officeDocument/2006/relationships/notesMaster" Target="/ppt/notesMasters/notesMaster1.xml" Id="Rcec396333aa94b3f" /><Relationship Type="http://schemas.openxmlformats.org/officeDocument/2006/relationships/presProps" Target="/ppt/presProps.xml" Id="R4093c24768444ed2" /><Relationship Type="http://schemas.openxmlformats.org/officeDocument/2006/relationships/tableStyles" Target="/ppt/tableStyles.xml" Id="R532c8ea4093148bc" /><Relationship Type="http://schemas.openxmlformats.org/officeDocument/2006/relationships/slide" Target="/ppt/slides/slide1.xml" Id="R9b0bf52c25704bef" /><Relationship Type="http://schemas.openxmlformats.org/officeDocument/2006/relationships/slide" Target="/ppt/slides/slide2.xml" Id="Ra3143cde0dcb48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b91d931ba044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16b86f7a5948c3" /><Relationship Type="http://schemas.openxmlformats.org/officeDocument/2006/relationships/notesMaster" Target="/ppt/notesMasters/notesMaster1.xml" Id="R7871f277e3094b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5177edd17d433a" /><Relationship Type="http://schemas.openxmlformats.org/officeDocument/2006/relationships/notesMaster" Target="/ppt/notesMasters/notesMaster1.xml" Id="R525733c0bc2940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v6修订：总量与分量共享证据区，右侧只解释教师处理及等待为何重要，并保留未控制难度/负荷与无法拆分等待处理的边界。数据与场景均为虚构测试材料。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v7修订：上部是三阶段门禁骨架，职责与局部异常沿对应阶段展开；跨阶段时间记录和四周评估独立排布。计划尚未实施。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507f04e8d4b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02df6a47054ee2" /><Relationship Type="http://schemas.openxmlformats.org/officeDocument/2006/relationships/slideLayout" Target="/ppt/slideLayouts/slideLayout1.xml" Id="R715c621cc2184a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5c621cc2184a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9a9e0812c4fca" /><Relationship Type="http://schemas.openxmlformats.org/officeDocument/2006/relationships/notesSlide" Target="/ppt/notesSlides/notesSlide1.xml" Id="R8a49bd2f0d8d45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b128a1a864e7c" /><Relationship Type="http://schemas.openxmlformats.org/officeDocument/2006/relationships/notesSlide" Target="/ppt/notesSlides/notesSlide2.xml" Id="R0a40367bee7b4c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page-title-1">
            <a:extLst xmlns:a="http://schemas.openxmlformats.org/drawingml/2006/main">
              <a:ext uri="{FF2B5EF4-FFF2-40B4-BE49-F238E27FC236}">
                <a16:creationId xmlns:a16="http://schemas.microsoft.com/office/drawing/2014/main" id="{151B991D-E981-4503-BA71-CCB88191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试点批次平均处理用时更短，但差距主要来自教师处理及等待</a:t>
            </a:r>
          </a:p>
        </p:txBody>
      </p:sp>
      <p:sp>
        <p:nvSpPr>
          <p:cNvPr id="2" name="header-rule-1">
            <a:extLst xmlns:a="http://schemas.openxmlformats.org/drawingml/2006/main">
              <a:ext uri="{FF2B5EF4-FFF2-40B4-BE49-F238E27FC236}">
                <a16:creationId xmlns:a16="http://schemas.microsoft.com/office/drawing/2014/main" id="{8246E781-EA20-4689-B931-CAB8163D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1">
            <a:extLst xmlns:a="http://schemas.openxmlformats.org/drawingml/2006/main">
              <a:ext uri="{FF2B5EF4-FFF2-40B4-BE49-F238E27FC236}">
                <a16:creationId xmlns:a16="http://schemas.microsoft.com/office/drawing/2014/main" id="{02E106E6-5E76-47F9-9466-AF4D089F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两批各 120 件已结案申请｜比较指标：首次提交至完成处理的平均工作日</a:t>
            </a:r>
          </a:p>
        </p:txBody>
      </p:sp>
      <p:sp>
        <p:nvSpPr>
          <p:cNvPr id="4" name="stage-heading">
            <a:extLst xmlns:a="http://schemas.openxmlformats.org/drawingml/2006/main">
              <a:ext uri="{FF2B5EF4-FFF2-40B4-BE49-F238E27FC236}">
                <a16:creationId xmlns:a16="http://schemas.microsoft.com/office/drawing/2014/main" id="{F7D0D4D4-8367-474F-856E-8FFB3BAE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阶段用时（工作日）</a:t>
            </a:r>
          </a:p>
        </p:txBody>
      </p:sp>
      <p:sp>
        <p:nvSpPr>
          <p:cNvPr id="5" name="legend-old">
            <a:extLst xmlns:a="http://schemas.openxmlformats.org/drawingml/2006/main">
              <a:ext uri="{FF2B5EF4-FFF2-40B4-BE49-F238E27FC236}">
                <a16:creationId xmlns:a16="http://schemas.microsoft.com/office/drawing/2014/main" id="{B6267949-A65C-4E2D-9FED-7CF4D057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6" name="legend-old-text">
            <a:extLst xmlns:a="http://schemas.openxmlformats.org/drawingml/2006/main">
              <a:ext uri="{FF2B5EF4-FFF2-40B4-BE49-F238E27FC236}">
                <a16:creationId xmlns:a16="http://schemas.microsoft.com/office/drawing/2014/main" id="{9D4157F6-2B27-45EF-9CA6-9C9166AC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人工受理</a:t>
            </a:r>
          </a:p>
        </p:txBody>
      </p:sp>
      <p:sp>
        <p:nvSpPr>
          <p:cNvPr id="7" name="legend-pilot">
            <a:extLst xmlns:a="http://schemas.openxmlformats.org/drawingml/2006/main">
              <a:ext uri="{FF2B5EF4-FFF2-40B4-BE49-F238E27FC236}">
                <a16:creationId xmlns:a16="http://schemas.microsoft.com/office/drawing/2014/main" id="{29E2D3A3-A87D-469C-AF79-B89F6E8A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5716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8" name="legend-pilot-text">
            <a:extLst xmlns:a="http://schemas.openxmlformats.org/drawingml/2006/main">
              <a:ext uri="{FF2B5EF4-FFF2-40B4-BE49-F238E27FC236}">
                <a16:creationId xmlns:a16="http://schemas.microsoft.com/office/drawing/2014/main" id="{C60E2B1F-B014-4FA2-AB01-D2FA576D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5240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试点受理</a:t>
            </a:r>
          </a:p>
        </p:txBody>
      </p:sp>
      <p:sp>
        <p:nvSpPr>
          <p:cNvPr id="9" name="chart-grid-0-top">
            <a:extLst xmlns:a="http://schemas.openxmlformats.org/drawingml/2006/main">
              <a:ext uri="{FF2B5EF4-FFF2-40B4-BE49-F238E27FC236}">
                <a16:creationId xmlns:a16="http://schemas.microsoft.com/office/drawing/2014/main" id="{E9EED264-D1F0-4DAF-9F7F-0F1DE154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0" name="chart-grid-0-bottom">
            <a:extLst xmlns:a="http://schemas.openxmlformats.org/drawingml/2006/main">
              <a:ext uri="{FF2B5EF4-FFF2-40B4-BE49-F238E27FC236}">
                <a16:creationId xmlns:a16="http://schemas.microsoft.com/office/drawing/2014/main" id="{7B57DFCD-F31D-48DD-8291-981A4680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1" name="chart-tick-0">
            <a:extLst xmlns:a="http://schemas.openxmlformats.org/drawingml/2006/main">
              <a:ext uri="{FF2B5EF4-FFF2-40B4-BE49-F238E27FC236}">
                <a16:creationId xmlns:a16="http://schemas.microsoft.com/office/drawing/2014/main" id="{31E2F3D3-CAF0-451B-A34A-9C71AD1D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2" name="chart-grid-1-top">
            <a:extLst xmlns:a="http://schemas.openxmlformats.org/drawingml/2006/main">
              <a:ext uri="{FF2B5EF4-FFF2-40B4-BE49-F238E27FC236}">
                <a16:creationId xmlns:a16="http://schemas.microsoft.com/office/drawing/2014/main" id="{A5B82D40-426D-480A-8B77-14393DF5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3" name="chart-grid-1-bottom">
            <a:extLst xmlns:a="http://schemas.openxmlformats.org/drawingml/2006/main">
              <a:ext uri="{FF2B5EF4-FFF2-40B4-BE49-F238E27FC236}">
                <a16:creationId xmlns:a16="http://schemas.microsoft.com/office/drawing/2014/main" id="{2B358237-B43F-4A23-A8D6-BBDF24E2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4" name="chart-tick-1">
            <a:extLst xmlns:a="http://schemas.openxmlformats.org/drawingml/2006/main">
              <a:ext uri="{FF2B5EF4-FFF2-40B4-BE49-F238E27FC236}">
                <a16:creationId xmlns:a16="http://schemas.microsoft.com/office/drawing/2014/main" id="{D36E8015-C643-4E64-B06D-9963E803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68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chart-grid-2-top">
            <a:extLst xmlns:a="http://schemas.openxmlformats.org/drawingml/2006/main">
              <a:ext uri="{FF2B5EF4-FFF2-40B4-BE49-F238E27FC236}">
                <a16:creationId xmlns:a16="http://schemas.microsoft.com/office/drawing/2014/main" id="{C15CC256-340D-4770-9F35-75712078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6" name="chart-grid-2-bottom">
            <a:extLst xmlns:a="http://schemas.openxmlformats.org/drawingml/2006/main">
              <a:ext uri="{FF2B5EF4-FFF2-40B4-BE49-F238E27FC236}">
                <a16:creationId xmlns:a16="http://schemas.microsoft.com/office/drawing/2014/main" id="{06D09E77-BEF6-44FD-8C06-03BFFD02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050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7" name="chart-tick-2">
            <a:extLst xmlns:a="http://schemas.openxmlformats.org/drawingml/2006/main">
              <a:ext uri="{FF2B5EF4-FFF2-40B4-BE49-F238E27FC236}">
                <a16:creationId xmlns:a16="http://schemas.microsoft.com/office/drawing/2014/main" id="{1EDE34A2-B420-4816-A76D-BB522484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905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chart-grid-3-top">
            <a:extLst xmlns:a="http://schemas.openxmlformats.org/drawingml/2006/main">
              <a:ext uri="{FF2B5EF4-FFF2-40B4-BE49-F238E27FC236}">
                <a16:creationId xmlns:a16="http://schemas.microsoft.com/office/drawing/2014/main" id="{62A439C8-7555-46AD-B1D9-23EBC50B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95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19" name="chart-grid-3-bottom">
            <a:extLst xmlns:a="http://schemas.openxmlformats.org/drawingml/2006/main">
              <a:ext uri="{FF2B5EF4-FFF2-40B4-BE49-F238E27FC236}">
                <a16:creationId xmlns:a16="http://schemas.microsoft.com/office/drawing/2014/main" id="{3AE7CE37-79F1-4358-9EA2-F9ACC0FD9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76700"/>
            <a:ext cx="95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20" name="chart-tick-3">
            <a:extLst xmlns:a="http://schemas.openxmlformats.org/drawingml/2006/main">
              <a:ext uri="{FF2B5EF4-FFF2-40B4-BE49-F238E27FC236}">
                <a16:creationId xmlns:a16="http://schemas.microsoft.com/office/drawing/2014/main" id="{F6BE0DB0-5069-465E-81BD-E171404D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338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chart-baseline">
            <a:extLst xmlns:a="http://schemas.openxmlformats.org/drawingml/2006/main">
              <a:ext uri="{FF2B5EF4-FFF2-40B4-BE49-F238E27FC236}">
                <a16:creationId xmlns:a16="http://schemas.microsoft.com/office/drawing/2014/main" id="{99B98A99-A653-49F8-92A0-4B360CFF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481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22" name="stage-label-0">
            <a:extLst xmlns:a="http://schemas.openxmlformats.org/drawingml/2006/main">
              <a:ext uri="{FF2B5EF4-FFF2-40B4-BE49-F238E27FC236}">
                <a16:creationId xmlns:a16="http://schemas.microsoft.com/office/drawing/2014/main" id="{601EEB66-EEBE-4BD1-95FA-7C2522AF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574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23" name="manual-bar-0">
            <a:extLst xmlns:a="http://schemas.openxmlformats.org/drawingml/2006/main">
              <a:ext uri="{FF2B5EF4-FFF2-40B4-BE49-F238E27FC236}">
                <a16:creationId xmlns:a16="http://schemas.microsoft.com/office/drawing/2014/main" id="{712AB719-4ACB-4D27-A732-5D47B0C1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09800"/>
            <a:ext cx="1193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24" name="manual-value-0">
            <a:extLst xmlns:a="http://schemas.openxmlformats.org/drawingml/2006/main">
              <a:ext uri="{FF2B5EF4-FFF2-40B4-BE49-F238E27FC236}">
                <a16:creationId xmlns:a16="http://schemas.microsoft.com/office/drawing/2014/main" id="{58D5CC32-48FE-4C8C-90FC-8A0BC26F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71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0.8 天</a:t>
            </a:r>
          </a:p>
        </p:txBody>
      </p:sp>
      <p:sp>
        <p:nvSpPr>
          <p:cNvPr id="25" name="pilot-bar-0">
            <a:extLst xmlns:a="http://schemas.openxmlformats.org/drawingml/2006/main">
              <a:ext uri="{FF2B5EF4-FFF2-40B4-BE49-F238E27FC236}">
                <a16:creationId xmlns:a16="http://schemas.microsoft.com/office/drawing/2014/main" id="{875E74CC-6FE2-41AF-BE3E-7044CC39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47925"/>
            <a:ext cx="895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6" name="pilot-value-0">
            <a:extLst xmlns:a="http://schemas.openxmlformats.org/drawingml/2006/main">
              <a:ext uri="{FF2B5EF4-FFF2-40B4-BE49-F238E27FC236}">
                <a16:creationId xmlns:a16="http://schemas.microsoft.com/office/drawing/2014/main" id="{BD1DCEE3-CBC6-4523-91C9-E4790ADC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098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0.6 天</a:t>
            </a:r>
          </a:p>
        </p:txBody>
      </p:sp>
      <p:sp>
        <p:nvSpPr>
          <p:cNvPr id="27" name="stage-label-1">
            <a:extLst xmlns:a="http://schemas.openxmlformats.org/drawingml/2006/main">
              <a:ext uri="{FF2B5EF4-FFF2-40B4-BE49-F238E27FC236}">
                <a16:creationId xmlns:a16="http://schemas.microsoft.com/office/drawing/2014/main" id="{CC167788-64C4-4461-902F-F2FC301C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2417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材料核对</a:t>
            </a:r>
          </a:p>
        </p:txBody>
      </p:sp>
      <p:sp>
        <p:nvSpPr>
          <p:cNvPr id="28" name="manual-bar-1">
            <a:extLst xmlns:a="http://schemas.openxmlformats.org/drawingml/2006/main">
              <a:ext uri="{FF2B5EF4-FFF2-40B4-BE49-F238E27FC236}">
                <a16:creationId xmlns:a16="http://schemas.microsoft.com/office/drawing/2014/main" id="{C459C992-B6CD-4241-A3D5-EE151A72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76550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29" name="manual-value-1">
            <a:extLst xmlns:a="http://schemas.openxmlformats.org/drawingml/2006/main">
              <a:ext uri="{FF2B5EF4-FFF2-40B4-BE49-F238E27FC236}">
                <a16:creationId xmlns:a16="http://schemas.microsoft.com/office/drawing/2014/main" id="{A777D17E-8CD2-4C54-A68A-AB347D8F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28384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30" name="pilot-bar-1">
            <a:extLst xmlns:a="http://schemas.openxmlformats.org/drawingml/2006/main">
              <a:ext uri="{FF2B5EF4-FFF2-40B4-BE49-F238E27FC236}">
                <a16:creationId xmlns:a16="http://schemas.microsoft.com/office/drawing/2014/main" id="{F225EF52-ABE7-41F8-B478-A51A1BDE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14675"/>
            <a:ext cx="1492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1" name="pilot-value-1">
            <a:extLst xmlns:a="http://schemas.openxmlformats.org/drawingml/2006/main">
              <a:ext uri="{FF2B5EF4-FFF2-40B4-BE49-F238E27FC236}">
                <a16:creationId xmlns:a16="http://schemas.microsoft.com/office/drawing/2014/main" id="{A43EA64E-80A9-4E7C-8F3F-786D2032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4450" y="30765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1.0 天</a:t>
            </a:r>
          </a:p>
        </p:txBody>
      </p:sp>
      <p:sp>
        <p:nvSpPr>
          <p:cNvPr id="32" name="stage-label-2">
            <a:extLst xmlns:a="http://schemas.openxmlformats.org/drawingml/2006/main">
              <a:ext uri="{FF2B5EF4-FFF2-40B4-BE49-F238E27FC236}">
                <a16:creationId xmlns:a16="http://schemas.microsoft.com/office/drawing/2014/main" id="{5B67DD85-75EB-483C-9B51-6827D0A0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90925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33" name="manual-bar-2">
            <a:extLst xmlns:a="http://schemas.openxmlformats.org/drawingml/2006/main">
              <a:ext uri="{FF2B5EF4-FFF2-40B4-BE49-F238E27FC236}">
                <a16:creationId xmlns:a16="http://schemas.microsoft.com/office/drawing/2014/main" id="{99451427-8192-4E33-AB5B-38856355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43300"/>
            <a:ext cx="387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B5B8"/>
          </a:solidFill>
          <a:ln xmlns:a="http://schemas.openxmlformats.org/drawingml/2006/main" w="0">
            <a:solidFill>
              <a:srgbClr val="B3B5B8"/>
            </a:solidFill>
            <a:prstDash val="solid"/>
          </a:ln>
        </p:spPr>
      </p:sp>
      <p:sp>
        <p:nvSpPr>
          <p:cNvPr id="34" name="manual-value-2">
            <a:extLst xmlns:a="http://schemas.openxmlformats.org/drawingml/2006/main">
              <a:ext uri="{FF2B5EF4-FFF2-40B4-BE49-F238E27FC236}">
                <a16:creationId xmlns:a16="http://schemas.microsoft.com/office/drawing/2014/main" id="{F32C5026-4479-47FE-9E93-B6BAA2C4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050" y="35052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2.6 天</a:t>
            </a:r>
          </a:p>
        </p:txBody>
      </p:sp>
      <p:sp>
        <p:nvSpPr>
          <p:cNvPr id="35" name="pilot-bar-2">
            <a:extLst xmlns:a="http://schemas.openxmlformats.org/drawingml/2006/main">
              <a:ext uri="{FF2B5EF4-FFF2-40B4-BE49-F238E27FC236}">
                <a16:creationId xmlns:a16="http://schemas.microsoft.com/office/drawing/2014/main" id="{E1EFF812-4A9A-4595-8814-355D9553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81425"/>
            <a:ext cx="2387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6" name="pilot-value-2">
            <a:extLst xmlns:a="http://schemas.openxmlformats.org/drawingml/2006/main">
              <a:ext uri="{FF2B5EF4-FFF2-40B4-BE49-F238E27FC236}">
                <a16:creationId xmlns:a16="http://schemas.microsoft.com/office/drawing/2014/main" id="{0046B21D-C5BC-451F-BAF4-609C7A5E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9800" y="37433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1.6 天</a:t>
            </a:r>
          </a:p>
        </p:txBody>
      </p:sp>
      <p:sp>
        <p:nvSpPr>
          <p:cNvPr id="37" name="total-rule">
            <a:extLst xmlns:a="http://schemas.openxmlformats.org/drawingml/2006/main">
              <a:ext uri="{FF2B5EF4-FFF2-40B4-BE49-F238E27FC236}">
                <a16:creationId xmlns:a16="http://schemas.microsoft.com/office/drawing/2014/main" id="{6B6C77D5-4333-4447-8597-E34365EF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48200"/>
            <a:ext cx="623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38" name="total-label">
            <a:extLst xmlns:a="http://schemas.openxmlformats.org/drawingml/2006/main">
              <a:ext uri="{FF2B5EF4-FFF2-40B4-BE49-F238E27FC236}">
                <a16:creationId xmlns:a16="http://schemas.microsoft.com/office/drawing/2014/main" id="{1DC19E8D-0324-4402-8A3D-7597D234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43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总计</a:t>
            </a:r>
          </a:p>
        </p:txBody>
      </p:sp>
      <p:sp>
        <p:nvSpPr>
          <p:cNvPr id="39" name="total-value">
            <a:extLst xmlns:a="http://schemas.openxmlformats.org/drawingml/2006/main">
              <a:ext uri="{FF2B5EF4-FFF2-40B4-BE49-F238E27FC236}">
                <a16:creationId xmlns:a16="http://schemas.microsoft.com/office/drawing/2014/main" id="{A651FA48-733D-421D-B6A1-96766B42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43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人工 5.0 天  →  试点 3.2 天  ｜  少 1.8 天（36%）</a:t>
            </a:r>
          </a:p>
        </p:txBody>
      </p:sp>
      <p:sp>
        <p:nvSpPr>
          <p:cNvPr id="40" name="stage-read">
            <a:extLst xmlns:a="http://schemas.openxmlformats.org/drawingml/2006/main">
              <a:ext uri="{FF2B5EF4-FFF2-40B4-BE49-F238E27FC236}">
                <a16:creationId xmlns:a16="http://schemas.microsoft.com/office/drawing/2014/main" id="{4EAFD549-A0E5-4448-B003-0E63C0B0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05400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三阶段依次发生、互不重叠，阶段均值可以相加。</a:t>
            </a:r>
          </a:p>
        </p:txBody>
      </p:sp>
      <p:sp>
        <p:nvSpPr>
          <p:cNvPr id="41" name="right-axis">
            <a:extLst xmlns:a="http://schemas.openxmlformats.org/drawingml/2006/main">
              <a:ext uri="{FF2B5EF4-FFF2-40B4-BE49-F238E27FC236}">
                <a16:creationId xmlns:a16="http://schemas.microsoft.com/office/drawing/2014/main" id="{BA855F5F-F212-42AA-8DD8-4BDE1AC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04950"/>
            <a:ext cx="381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42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8005AE8C-11CE-4A85-9FBD-A624F10C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24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教师处理及等待</a:t>
            </a:r>
          </a:p>
        </p:txBody>
      </p:sp>
      <p:sp>
        <p:nvSpPr>
          <p:cNvPr id="43" name="right-finding">
            <a:extLst xmlns:a="http://schemas.openxmlformats.org/drawingml/2006/main">
              <a:ext uri="{FF2B5EF4-FFF2-40B4-BE49-F238E27FC236}">
                <a16:creationId xmlns:a16="http://schemas.microsoft.com/office/drawing/2014/main" id="{600B5D9F-0A57-45A1-9292-3C64817F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431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三阶段中差距最大：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试点比人工少 1.0 天。</a:t>
            </a:r>
          </a:p>
        </p:txBody>
      </p:sp>
      <p:sp>
        <p:nvSpPr>
          <p:cNvPr id="44" name="right-meaning">
            <a:extLst xmlns:a="http://schemas.openxmlformats.org/drawingml/2006/main">
              <a:ext uri="{FF2B5EF4-FFF2-40B4-BE49-F238E27FC236}">
                <a16:creationId xmlns:a16="http://schemas.microsoft.com/office/drawing/2014/main" id="{9F6E165F-C459-4440-88E4-EEB974E9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33700"/>
            <a:ext cx="3381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它在试点侧仍占总时长一半，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是下一轮最需要拆分记录的环节。</a:t>
            </a:r>
          </a:p>
        </p:txBody>
      </p:sp>
      <p:sp>
        <p:nvSpPr>
          <p:cNvPr id="45" name="right-boundary-heading">
            <a:extLst xmlns:a="http://schemas.openxmlformats.org/drawingml/2006/main">
              <a:ext uri="{FF2B5EF4-FFF2-40B4-BE49-F238E27FC236}">
                <a16:creationId xmlns:a16="http://schemas.microsoft.com/office/drawing/2014/main" id="{CB571890-520D-4F23-8871-D42627A3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38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比较边界</a:t>
            </a:r>
          </a:p>
        </p:txBody>
      </p:sp>
      <p:sp>
        <p:nvSpPr>
          <p:cNvPr id="46" name="right-boundary">
            <a:extLst xmlns:a="http://schemas.openxmlformats.org/drawingml/2006/main">
              <a:ext uri="{FF2B5EF4-FFF2-40B4-BE49-F238E27FC236}">
                <a16:creationId xmlns:a16="http://schemas.microsoft.com/office/drawing/2014/main" id="{127EE449-BE3C-4915-821F-7F5D9E42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43400"/>
            <a:ext cx="33813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仅覆盖已结案申请；两批事项难度和人员负荷未控制，不能将时间差异归因于试点。现有合并记录也不能把等待与教师实际处理时间分开。</a:t>
            </a:r>
          </a:p>
        </p:txBody>
      </p:sp>
      <p:sp>
        <p:nvSpPr>
          <p:cNvPr id="47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CA08BFA9-49DA-4814-A9F6-D587A95D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48" name="footer-source-1">
            <a:extLst xmlns:a="http://schemas.openxmlformats.org/drawingml/2006/main">
              <a:ext uri="{FF2B5EF4-FFF2-40B4-BE49-F238E27FC236}">
                <a16:creationId xmlns:a16="http://schemas.microsoft.com/office/drawing/2014/main" id="{77D47E5D-78B8-404A-B23B-0EB4340B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来源：虚构测试数据与方案｜两批不同月份，各 120 件已结案申请；不是任何真实大学的绩效报告。</a:t>
            </a:r>
          </a:p>
        </p:txBody>
      </p:sp>
      <p:sp>
        <p:nvSpPr>
          <p:cNvPr id="49" name="footer-page-1">
            <a:extLst xmlns:a="http://schemas.openxmlformats.org/drawingml/2006/main">
              <a:ext uri="{FF2B5EF4-FFF2-40B4-BE49-F238E27FC236}">
                <a16:creationId xmlns:a16="http://schemas.microsoft.com/office/drawing/2014/main" id="{AA07F628-1D8E-4C0D-BDA6-AFF628A1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0006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ge-title-2">
            <a:extLst xmlns:a="http://schemas.openxmlformats.org/drawingml/2006/main">
              <a:ext uri="{FF2B5EF4-FFF2-40B4-BE49-F238E27FC236}">
                <a16:creationId xmlns:a16="http://schemas.microsoft.com/office/drawing/2014/main" id="{324DA911-0EF7-422C-93B4-61BBEDAA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下一轮先验证分工能否执行，再用完整时间戳拆开等待与处理</a:t>
            </a:r>
          </a:p>
        </p:txBody>
      </p:sp>
      <p:sp>
        <p:nvSpPr>
          <p:cNvPr id="2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2F33F1BB-4E23-4D4A-A1EB-1AA8A1EF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810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3" name="page-context-2">
            <a:extLst xmlns:a="http://schemas.openxmlformats.org/drawingml/2006/main">
              <a:ext uri="{FF2B5EF4-FFF2-40B4-BE49-F238E27FC236}">
                <a16:creationId xmlns:a16="http://schemas.microsoft.com/office/drawing/2014/main" id="{902A05A5-86D4-4D8D-B2D1-022E4979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58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下一轮安排｜4 周、仅限常规申请｜计划状态：尚未实施</a:t>
            </a:r>
          </a:p>
        </p:txBody>
      </p:sp>
      <p:sp>
        <p:nvSpPr>
          <p:cNvPr id="4" name="flow-anchor-0">
            <a:extLst xmlns:a="http://schemas.openxmlformats.org/drawingml/2006/main">
              <a:ext uri="{FF2B5EF4-FFF2-40B4-BE49-F238E27FC236}">
                <a16:creationId xmlns:a16="http://schemas.microsoft.com/office/drawing/2014/main" id="{49F5FB42-9DBF-4B81-BB48-306F35BC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51460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flow-anchor-1">
            <a:extLst xmlns:a="http://schemas.openxmlformats.org/drawingml/2006/main">
              <a:ext uri="{FF2B5EF4-FFF2-40B4-BE49-F238E27FC236}">
                <a16:creationId xmlns:a16="http://schemas.microsoft.com/office/drawing/2014/main" id="{C17A7D25-7A1C-4B0F-9461-1EF857DA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1460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flow-anchor-2">
            <a:extLst xmlns:a="http://schemas.openxmlformats.org/drawingml/2006/main">
              <a:ext uri="{FF2B5EF4-FFF2-40B4-BE49-F238E27FC236}">
                <a16:creationId xmlns:a16="http://schemas.microsoft.com/office/drawing/2014/main" id="{9D009246-15F4-44DB-9361-B185CE98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14600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3" name=""/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2209800" y="2628900"/>
            <a:ext cx="377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6210300" y="2628900"/>
            <a:ext cx="3771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9" name="phase-title-0">
            <a:extLst xmlns:a="http://schemas.openxmlformats.org/drawingml/2006/main">
              <a:ext uri="{FF2B5EF4-FFF2-40B4-BE49-F238E27FC236}">
                <a16:creationId xmlns:a16="http://schemas.microsoft.com/office/drawing/2014/main" id="{631D65ED-D04A-4CE5-B581-44CE1178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受理分流</a:t>
            </a:r>
          </a:p>
        </p:txBody>
      </p:sp>
      <p:sp>
        <p:nvSpPr>
          <p:cNvPr id="10" name="phase-owner-0">
            <a:extLst xmlns:a="http://schemas.openxmlformats.org/drawingml/2006/main">
              <a:ext uri="{FF2B5EF4-FFF2-40B4-BE49-F238E27FC236}">
                <a16:creationId xmlns:a16="http://schemas.microsoft.com/office/drawing/2014/main" id="{487773C0-DD1F-42D1-AAFD-F6157AC7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1" name="flow-node-0">
            <a:extLst xmlns:a="http://schemas.openxmlformats.org/drawingml/2006/main">
              <a:ext uri="{FF2B5EF4-FFF2-40B4-BE49-F238E27FC236}">
                <a16:creationId xmlns:a16="http://schemas.microsoft.com/office/drawing/2014/main" id="{4BADE507-1DF0-4E07-A1DB-00B4A8A1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2E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2" name="phase-body-0">
            <a:extLst xmlns:a="http://schemas.openxmlformats.org/drawingml/2006/main">
              <a:ext uri="{FF2B5EF4-FFF2-40B4-BE49-F238E27FC236}">
                <a16:creationId xmlns:a16="http://schemas.microsoft.com/office/drawing/2014/main" id="{1829206D-C5D7-4B17-8604-75522991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登记事项类型与提交时间。</a:t>
            </a:r>
          </a:p>
        </p:txBody>
      </p:sp>
      <p:sp>
        <p:nvSpPr>
          <p:cNvPr id="13" name="phase-title-1">
            <a:extLst xmlns:a="http://schemas.openxmlformats.org/drawingml/2006/main">
              <a:ext uri="{FF2B5EF4-FFF2-40B4-BE49-F238E27FC236}">
                <a16:creationId xmlns:a16="http://schemas.microsoft.com/office/drawing/2014/main" id="{1D5C463A-B839-42D2-9D67-FD0DCBF0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核对材料</a:t>
            </a:r>
          </a:p>
        </p:txBody>
      </p:sp>
      <p:sp>
        <p:nvSpPr>
          <p:cNvPr id="14" name="phase-owner-1">
            <a:extLst xmlns:a="http://schemas.openxmlformats.org/drawingml/2006/main">
              <a:ext uri="{FF2B5EF4-FFF2-40B4-BE49-F238E27FC236}">
                <a16:creationId xmlns:a16="http://schemas.microsoft.com/office/drawing/2014/main" id="{C35D8C36-8A94-45B6-A255-282A2C35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责任：服务助理</a:t>
            </a:r>
          </a:p>
        </p:txBody>
      </p:sp>
      <p:sp>
        <p:nvSpPr>
          <p:cNvPr id="15" name="flow-node-1">
            <a:extLst xmlns:a="http://schemas.openxmlformats.org/drawingml/2006/main">
              <a:ext uri="{FF2B5EF4-FFF2-40B4-BE49-F238E27FC236}">
                <a16:creationId xmlns:a16="http://schemas.microsoft.com/office/drawing/2014/main" id="{CB0D3A73-B98A-4736-ADA3-0590EF1D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AE2EB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6" name="phase-body-1">
            <a:extLst xmlns:a="http://schemas.openxmlformats.org/drawingml/2006/main">
              <a:ext uri="{FF2B5EF4-FFF2-40B4-BE49-F238E27FC236}">
                <a16:creationId xmlns:a16="http://schemas.microsoft.com/office/drawing/2014/main" id="{E138D23E-E4A4-48A8-8AF6-762D0F1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按清单核对齐备性；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齐备后送交教师。</a:t>
            </a:r>
          </a:p>
        </p:txBody>
      </p:sp>
      <p:sp>
        <p:nvSpPr>
          <p:cNvPr id="17" name="phase-title-2">
            <a:extLst xmlns:a="http://schemas.openxmlformats.org/drawingml/2006/main">
              <a:ext uri="{FF2B5EF4-FFF2-40B4-BE49-F238E27FC236}">
                <a16:creationId xmlns:a16="http://schemas.microsoft.com/office/drawing/2014/main" id="{AE18428C-442C-412C-8387-DB9E0A14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619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教师处理</a:t>
            </a:r>
          </a:p>
        </p:txBody>
      </p:sp>
      <p:sp>
        <p:nvSpPr>
          <p:cNvPr id="18" name="phase-owner-2">
            <a:extLst xmlns:a="http://schemas.openxmlformats.org/drawingml/2006/main">
              <a:ext uri="{FF2B5EF4-FFF2-40B4-BE49-F238E27FC236}">
                <a16:creationId xmlns:a16="http://schemas.microsoft.com/office/drawing/2014/main" id="{5E38C644-4B23-48AC-AFEB-3EA5139E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81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责任：责任教师</a:t>
            </a:r>
          </a:p>
        </p:txBody>
      </p:sp>
      <p:sp>
        <p:nvSpPr>
          <p:cNvPr id="19" name="flow-node-2">
            <a:extLst xmlns:a="http://schemas.openxmlformats.org/drawingml/2006/main">
              <a:ext uri="{FF2B5EF4-FFF2-40B4-BE49-F238E27FC236}">
                <a16:creationId xmlns:a16="http://schemas.microsoft.com/office/drawing/2014/main" id="{4A9499BC-810A-4761-9388-ADA3CFCF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0" name="phase-body-2">
            <a:extLst xmlns:a="http://schemas.openxmlformats.org/drawingml/2006/main">
              <a:ext uri="{FF2B5EF4-FFF2-40B4-BE49-F238E27FC236}">
                <a16:creationId xmlns:a16="http://schemas.microsoft.com/office/drawing/2014/main" id="{AEB6D64A-E6FD-41A2-8175-C6F64C04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480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教师作专业判断并确认答复；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助理不得代替教师承诺。</a:t>
            </a:r>
          </a:p>
        </p:txBody>
      </p:sp>
      <p:sp>
        <p:nvSpPr>
          <p:cNvPr id="21" name="gate-1-marker">
            <a:extLst xmlns:a="http://schemas.openxmlformats.org/drawingml/2006/main">
              <a:ext uri="{FF2B5EF4-FFF2-40B4-BE49-F238E27FC236}">
                <a16:creationId xmlns:a16="http://schemas.microsoft.com/office/drawing/2014/main" id="{68DB5614-13E8-4199-8446-FECE5F1D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5270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2" name="gate-1-text">
            <a:extLst xmlns:a="http://schemas.openxmlformats.org/drawingml/2006/main">
              <a:ext uri="{FF2B5EF4-FFF2-40B4-BE49-F238E27FC236}">
                <a16:creationId xmlns:a16="http://schemas.microsoft.com/office/drawing/2014/main" id="{F1C8061D-E483-43AA-B90B-67351A2F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247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授权常规事项</a:t>
            </a:r>
          </a:p>
        </p:txBody>
      </p:sp>
      <p:sp>
        <p:nvSpPr>
          <p:cNvPr id="23" name="gate-2-marker">
            <a:extLst xmlns:a="http://schemas.openxmlformats.org/drawingml/2006/main">
              <a:ext uri="{FF2B5EF4-FFF2-40B4-BE49-F238E27FC236}">
                <a16:creationId xmlns:a16="http://schemas.microsoft.com/office/drawing/2014/main" id="{03240C44-98B8-44D5-B594-EB58252B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24" name="gate-2-text">
            <a:extLst xmlns:a="http://schemas.openxmlformats.org/drawingml/2006/main">
              <a:ext uri="{FF2B5EF4-FFF2-40B4-BE49-F238E27FC236}">
                <a16:creationId xmlns:a16="http://schemas.microsoft.com/office/drawing/2014/main" id="{9AE3D547-8C93-4EDF-97B2-F24F8299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47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D4D70"/>
                </a:solidFill>
                <a:latin typeface="Microsoft YaHei"/>
                <a:ea typeface="Microsoft YaHei"/>
                <a:cs typeface="Microsoft YaHei"/>
              </a:rPr>
              <a:t>材料齐备</a:t>
            </a:r>
          </a:p>
        </p:txBody>
      </p:sp>
      <p:sp>
        <p:nvSpPr>
          <p:cNvPr id="25" name="exception-heading">
            <a:extLst xmlns:a="http://schemas.openxmlformats.org/drawingml/2006/main">
              <a:ext uri="{FF2B5EF4-FFF2-40B4-BE49-F238E27FC236}">
                <a16:creationId xmlns:a16="http://schemas.microsoft.com/office/drawing/2014/main" id="{F1F3B5C3-3442-4F8B-9DF1-77675E15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缺件时</a:t>
            </a:r>
          </a:p>
        </p:txBody>
      </p:sp>
      <p:sp>
        <p:nvSpPr>
          <p:cNvPr id="26" name="exception-body">
            <a:extLst xmlns:a="http://schemas.openxmlformats.org/drawingml/2006/main">
              <a:ext uri="{FF2B5EF4-FFF2-40B4-BE49-F238E27FC236}">
                <a16:creationId xmlns:a16="http://schemas.microsoft.com/office/drawing/2014/main" id="{17FB9170-8C91-4EF0-A84A-D58F3CFB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9575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暂停推进 → 通知申请人补齐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补齐后重新核对。</a:t>
            </a:r>
          </a:p>
        </p:txBody>
      </p:sp>
      <p:sp>
        <p:nvSpPr>
          <p:cNvPr id="27" name="timestamp-heading">
            <a:extLst xmlns:a="http://schemas.openxmlformats.org/drawingml/2006/main">
              <a:ext uri="{FF2B5EF4-FFF2-40B4-BE49-F238E27FC236}">
                <a16:creationId xmlns:a16="http://schemas.microsoft.com/office/drawing/2014/main" id="{89D8F166-E8D2-4365-9F79-6B4D3776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667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记录时间点</a:t>
            </a:r>
          </a:p>
        </p:txBody>
      </p:sp>
      <p:sp>
        <p:nvSpPr>
          <p:cNvPr id="28" name="timestamp-values">
            <a:extLst xmlns:a="http://schemas.openxmlformats.org/drawingml/2006/main">
              <a:ext uri="{FF2B5EF4-FFF2-40B4-BE49-F238E27FC236}">
                <a16:creationId xmlns:a16="http://schemas.microsoft.com/office/drawing/2014/main" id="{69544871-1BF7-4D29-A886-5EF2CEBB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101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首次提交｜核对完成｜教师接收｜最终答复｜缺件暂停区间</a:t>
            </a:r>
          </a:p>
        </p:txBody>
      </p:sp>
      <p:sp>
        <p:nvSpPr>
          <p:cNvPr id="29" name="timestamp-meaning">
            <a:extLst xmlns:a="http://schemas.openxmlformats.org/drawingml/2006/main">
              <a:ext uri="{FF2B5EF4-FFF2-40B4-BE49-F238E27FC236}">
                <a16:creationId xmlns:a16="http://schemas.microsoft.com/office/drawing/2014/main" id="{E5C6A8D6-9DE9-4089-8241-3E1FEE74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149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据此分别核对各段等待与教师处理耗时。</a:t>
            </a:r>
          </a:p>
        </p:txBody>
      </p:sp>
      <p:sp>
        <p:nvSpPr>
          <p:cNvPr id="30" name="boundary-heading">
            <a:extLst xmlns:a="http://schemas.openxmlformats.org/drawingml/2006/main">
              <a:ext uri="{FF2B5EF4-FFF2-40B4-BE49-F238E27FC236}">
                <a16:creationId xmlns:a16="http://schemas.microsoft.com/office/drawing/2014/main" id="{84E41AE4-EABE-4A81-BA78-7CC0BAFC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超授权 / 非常规事项</a:t>
            </a:r>
          </a:p>
        </p:txBody>
      </p:sp>
      <p:sp>
        <p:nvSpPr>
          <p:cNvPr id="31" name="boundary-body">
            <a:extLst xmlns:a="http://schemas.openxmlformats.org/drawingml/2006/main">
              <a:ext uri="{FF2B5EF4-FFF2-40B4-BE49-F238E27FC236}">
                <a16:creationId xmlns:a16="http://schemas.microsoft.com/office/drawing/2014/main" id="{1BF11C8E-112D-44D7-8712-14531071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981700"/>
            <a:ext cx="490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暂停流转，由负责人指定处理人。</a:t>
            </a:r>
          </a:p>
        </p:txBody>
      </p:sp>
      <p:sp>
        <p:nvSpPr>
          <p:cNvPr id="32" name="measure-heading">
            <a:extLst xmlns:a="http://schemas.openxmlformats.org/drawingml/2006/main">
              <a:ext uri="{FF2B5EF4-FFF2-40B4-BE49-F238E27FC236}">
                <a16:creationId xmlns:a16="http://schemas.microsoft.com/office/drawing/2014/main" id="{40CB4D60-4622-4F66-971B-660DE24B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500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四周后</a:t>
            </a:r>
          </a:p>
        </p:txBody>
      </p:sp>
      <p:sp>
        <p:nvSpPr>
          <p:cNvPr id="33" name="measure-body">
            <a:extLst xmlns:a="http://schemas.openxmlformats.org/drawingml/2006/main">
              <a:ext uri="{FF2B5EF4-FFF2-40B4-BE49-F238E27FC236}">
                <a16:creationId xmlns:a16="http://schemas.microsoft.com/office/drawing/2014/main" id="{E7AEA313-CB23-4358-813D-AA805419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81700"/>
            <a:ext cx="500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只判断分工可执行、记录完整；不承诺再次降时。</a:t>
            </a:r>
          </a:p>
        </p:txBody>
      </p:sp>
      <p:sp>
        <p:nvSpPr>
          <p:cNvPr id="3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DF440E5D-A167-47FC-9699-50815E65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865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BDC"/>
          </a:solidFill>
          <a:ln xmlns:a="http://schemas.openxmlformats.org/drawingml/2006/main" w="0">
            <a:solidFill>
              <a:srgbClr val="DADBDC"/>
            </a:solidFill>
            <a:prstDash val="solid"/>
          </a:ln>
        </p:spPr>
      </p:sp>
      <p:sp>
        <p:nvSpPr>
          <p:cNvPr id="35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8A0EF944-58DB-4C96-B791-098B8026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391275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来源：虚构测试数据与方案｜四周分工试点尚未实施；不代表任何真实大学的管理方案。</a:t>
            </a:r>
          </a:p>
        </p:txBody>
      </p:sp>
      <p:sp>
        <p:nvSpPr>
          <p:cNvPr id="36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4139FFF9-D931-415F-9D25-17DCBFC2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91275"/>
            <a:ext cx="714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3310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2026-09-05T23:37:22.1980000Z</dcterms:created>
  <dcterms:modified xsi:type="dcterms:W3CDTF">2026-09-05T23:37:22.1980000Z</dcterms:modified>
</coreProperties>
</file>