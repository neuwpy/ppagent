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377a1c86774562" /><Relationship Type="http://schemas.openxmlformats.org/officeDocument/2006/relationships/extended-properties" Target="/docProps/app.xml" Id="R01bb75b486ee42e9" /><Relationship Type="http://schemas.openxmlformats.org/officeDocument/2006/relationships/officeDocument" Target="/ppt/presentation.xml" Id="Rbefa1213eabb4f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3b92fc2c8e488b"/>
  </p:sldMasterIdLst>
  <p:notesMasterIdLst>
    <p:notesMasterId xmlns:r="http://schemas.openxmlformats.org/officeDocument/2006/relationships" r:id="R5605817d774f4fc4"/>
  </p:notesMasterIdLst>
  <p:sldIdLst>
    <p:sldId xmlns:r="http://schemas.openxmlformats.org/officeDocument/2006/relationships" id="256" r:id="Rc85d04c479d04c06"/>
    <p:sldId xmlns:r="http://schemas.openxmlformats.org/officeDocument/2006/relationships" id="257" r:id="R14d184fda64545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542dbc30aa4ada" /><Relationship Type="http://schemas.openxmlformats.org/officeDocument/2006/relationships/slideMaster" Target="/ppt/slideMasters/slideMaster1.xml" Id="Ra73b92fc2c8e488b" /><Relationship Type="http://schemas.openxmlformats.org/officeDocument/2006/relationships/notesMaster" Target="/ppt/notesMasters/notesMaster1.xml" Id="R5605817d774f4fc4" /><Relationship Type="http://schemas.openxmlformats.org/officeDocument/2006/relationships/presProps" Target="/ppt/presProps.xml" Id="Rc17b8032171944a9" /><Relationship Type="http://schemas.openxmlformats.org/officeDocument/2006/relationships/tableStyles" Target="/ppt/tableStyles.xml" Id="R969236646fa442e0" /><Relationship Type="http://schemas.openxmlformats.org/officeDocument/2006/relationships/slide" Target="/ppt/slides/slide1.xml" Id="Rc85d04c479d04c06" /><Relationship Type="http://schemas.openxmlformats.org/officeDocument/2006/relationships/slide" Target="/ppt/slides/slide2.xml" Id="R14d184fda64545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29a514329f43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84cc58552e4143" /><Relationship Type="http://schemas.openxmlformats.org/officeDocument/2006/relationships/notesMaster" Target="/ppt/notesMasters/notesMaster1.xml" Id="R8fa235ba4b744e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b9073a94724742" /><Relationship Type="http://schemas.openxmlformats.org/officeDocument/2006/relationships/notesMaster" Target="/ppt/notesMasters/notesMaster1.xml" Id="R250b7373fb484b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v6修订：总量与分量共享证据区，右侧只解释教师处理及等待为何重要，并保留未控制难度/负荷与无法拆分等待处理的边界。数据与场景均为虚构测试材料。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v6修订：只保留三步节点和两条推进条件，职责沿三列对齐；缺件暂停是第二步局部规则，超授权事项与四周评估位于流程外的边界区。计划尚未实施。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5d799824c46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bc8fe1c7514497" /><Relationship Type="http://schemas.openxmlformats.org/officeDocument/2006/relationships/slideLayout" Target="/ppt/slideLayouts/slideLayout1.xml" Id="R41959278ff9445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959278ff9445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bc6ba3e9941d1" /><Relationship Type="http://schemas.openxmlformats.org/officeDocument/2006/relationships/notesSlide" Target="/ppt/notesSlides/notesSlide1.xml" Id="Rdd5251851d4048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cc9f2d4bc41cd" /><Relationship Type="http://schemas.openxmlformats.org/officeDocument/2006/relationships/notesSlide" Target="/ppt/notesSlides/notesSlide2.xml" Id="R44ba10a919084b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age-title-1">
            <a:extLst xmlns:a="http://schemas.openxmlformats.org/drawingml/2006/main">
              <a:ext uri="{FF2B5EF4-FFF2-40B4-BE49-F238E27FC236}">
                <a16:creationId xmlns:a16="http://schemas.microsoft.com/office/drawing/2014/main" id="{C9373B49-93A7-4F8F-9014-1D741405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试点批次更短，但差距主要来自教师处理及等待</a:t>
            </a:r>
          </a:p>
        </p:txBody>
      </p:sp>
      <p:sp>
        <p:nvSpPr>
          <p:cNvPr id="2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B255213A-FC54-4051-BC53-48317A82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1">
            <a:extLst xmlns:a="http://schemas.openxmlformats.org/drawingml/2006/main">
              <a:ext uri="{FF2B5EF4-FFF2-40B4-BE49-F238E27FC236}">
                <a16:creationId xmlns:a16="http://schemas.microsoft.com/office/drawing/2014/main" id="{1A0040D0-9534-4D06-A6D0-DCB79370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两批各 120 件已结案申请｜比较指标：首次提交至完成处理的平均工作日</a:t>
            </a:r>
          </a:p>
        </p:txBody>
      </p:sp>
      <p:sp>
        <p:nvSpPr>
          <p:cNvPr id="4" name="stage-heading">
            <a:extLst xmlns:a="http://schemas.openxmlformats.org/drawingml/2006/main">
              <a:ext uri="{FF2B5EF4-FFF2-40B4-BE49-F238E27FC236}">
                <a16:creationId xmlns:a16="http://schemas.microsoft.com/office/drawing/2014/main" id="{3BE91AB1-3331-4289-B70C-8E2AF042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阶段用时（工作日）</a:t>
            </a:r>
          </a:p>
        </p:txBody>
      </p:sp>
      <p:sp>
        <p:nvSpPr>
          <p:cNvPr id="5" name="legend-old">
            <a:extLst xmlns:a="http://schemas.openxmlformats.org/drawingml/2006/main">
              <a:ext uri="{FF2B5EF4-FFF2-40B4-BE49-F238E27FC236}">
                <a16:creationId xmlns:a16="http://schemas.microsoft.com/office/drawing/2014/main" id="{942F97DF-135D-4139-8E78-A88F85A4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BC8"/>
          </a:solidFill>
          <a:ln xmlns:a="http://schemas.openxmlformats.org/drawingml/2006/main" w="0">
            <a:solidFill>
              <a:srgbClr val="AEBBC8"/>
            </a:solidFill>
            <a:prstDash val="solid"/>
          </a:ln>
        </p:spPr>
      </p:sp>
      <p:sp>
        <p:nvSpPr>
          <p:cNvPr id="6" name="legend-old-text">
            <a:extLst xmlns:a="http://schemas.openxmlformats.org/drawingml/2006/main">
              <a:ext uri="{FF2B5EF4-FFF2-40B4-BE49-F238E27FC236}">
                <a16:creationId xmlns:a16="http://schemas.microsoft.com/office/drawing/2014/main" id="{25173ED8-BDD9-420B-8983-D5D8CA8C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524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人工受理</a:t>
            </a:r>
          </a:p>
        </p:txBody>
      </p:sp>
      <p:sp>
        <p:nvSpPr>
          <p:cNvPr id="7" name="legend-pilot">
            <a:extLst xmlns:a="http://schemas.openxmlformats.org/drawingml/2006/main">
              <a:ext uri="{FF2B5EF4-FFF2-40B4-BE49-F238E27FC236}">
                <a16:creationId xmlns:a16="http://schemas.microsoft.com/office/drawing/2014/main" id="{12036069-30C5-41C3-889C-EA2AD81A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71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8" name="legend-pilot-text">
            <a:extLst xmlns:a="http://schemas.openxmlformats.org/drawingml/2006/main">
              <a:ext uri="{FF2B5EF4-FFF2-40B4-BE49-F238E27FC236}">
                <a16:creationId xmlns:a16="http://schemas.microsoft.com/office/drawing/2014/main" id="{69B492B4-3509-4208-B6CC-061F2DC7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524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试点受理</a:t>
            </a:r>
          </a:p>
        </p:txBody>
      </p:sp>
      <p:sp>
        <p:nvSpPr>
          <p:cNvPr id="9" name="chart-grid-0">
            <a:extLst xmlns:a="http://schemas.openxmlformats.org/drawingml/2006/main">
              <a:ext uri="{FF2B5EF4-FFF2-40B4-BE49-F238E27FC236}">
                <a16:creationId xmlns:a16="http://schemas.microsoft.com/office/drawing/2014/main" id="{D1249FEF-8E9B-45B7-B535-E0CFBE0B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47875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0" name="chart-tick-0">
            <a:extLst xmlns:a="http://schemas.openxmlformats.org/drawingml/2006/main">
              <a:ext uri="{FF2B5EF4-FFF2-40B4-BE49-F238E27FC236}">
                <a16:creationId xmlns:a16="http://schemas.microsoft.com/office/drawing/2014/main" id="{E225B9AB-5A02-456F-B2FF-D3765D1F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chart-grid-1">
            <a:extLst xmlns:a="http://schemas.openxmlformats.org/drawingml/2006/main">
              <a:ext uri="{FF2B5EF4-FFF2-40B4-BE49-F238E27FC236}">
                <a16:creationId xmlns:a16="http://schemas.microsoft.com/office/drawing/2014/main" id="{4807488B-004D-425C-882C-4F00D052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2047875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2" name="chart-tick-1">
            <a:extLst xmlns:a="http://schemas.openxmlformats.org/drawingml/2006/main">
              <a:ext uri="{FF2B5EF4-FFF2-40B4-BE49-F238E27FC236}">
                <a16:creationId xmlns:a16="http://schemas.microsoft.com/office/drawing/2014/main" id="{283615DF-D158-41C7-8A58-C09543A7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chart-grid-2">
            <a:extLst xmlns:a="http://schemas.openxmlformats.org/drawingml/2006/main">
              <a:ext uri="{FF2B5EF4-FFF2-40B4-BE49-F238E27FC236}">
                <a16:creationId xmlns:a16="http://schemas.microsoft.com/office/drawing/2014/main" id="{D3BCD037-B51D-478F-832E-D53217AB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2047875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4" name="chart-tick-2">
            <a:extLst xmlns:a="http://schemas.openxmlformats.org/drawingml/2006/main">
              <a:ext uri="{FF2B5EF4-FFF2-40B4-BE49-F238E27FC236}">
                <a16:creationId xmlns:a16="http://schemas.microsoft.com/office/drawing/2014/main" id="{4FCFA8F4-9C97-4449-BE8D-81954518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05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chart-grid-3">
            <a:extLst xmlns:a="http://schemas.openxmlformats.org/drawingml/2006/main">
              <a:ext uri="{FF2B5EF4-FFF2-40B4-BE49-F238E27FC236}">
                <a16:creationId xmlns:a16="http://schemas.microsoft.com/office/drawing/2014/main" id="{167A0E65-F8E9-46FA-9472-BFC39A80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6" name="chart-tick-3">
            <a:extLst xmlns:a="http://schemas.openxmlformats.org/drawingml/2006/main">
              <a:ext uri="{FF2B5EF4-FFF2-40B4-BE49-F238E27FC236}">
                <a16:creationId xmlns:a16="http://schemas.microsoft.com/office/drawing/2014/main" id="{AE80DFCF-E3C6-4A5B-8936-AE34DE4A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chart-axis-unit">
            <a:extLst xmlns:a="http://schemas.openxmlformats.org/drawingml/2006/main">
              <a:ext uri="{FF2B5EF4-FFF2-40B4-BE49-F238E27FC236}">
                <a16:creationId xmlns:a16="http://schemas.microsoft.com/office/drawing/2014/main" id="{97F8A264-F87F-420F-B9ED-0C1BC831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291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横轴：工作日</a:t>
            </a:r>
          </a:p>
        </p:txBody>
      </p:sp>
      <p:sp>
        <p:nvSpPr>
          <p:cNvPr id="18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77199FC0-8D3D-4DCD-80D5-17B4EA09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574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19" name="manual-bar-0">
            <a:extLst xmlns:a="http://schemas.openxmlformats.org/drawingml/2006/main">
              <a:ext uri="{FF2B5EF4-FFF2-40B4-BE49-F238E27FC236}">
                <a16:creationId xmlns:a16="http://schemas.microsoft.com/office/drawing/2014/main" id="{21840242-B056-4DA3-97E0-F0970A24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9800"/>
            <a:ext cx="1193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BC8"/>
          </a:solidFill>
          <a:ln xmlns:a="http://schemas.openxmlformats.org/drawingml/2006/main" w="0">
            <a:solidFill>
              <a:srgbClr val="AEBBC8"/>
            </a:solidFill>
            <a:prstDash val="solid"/>
          </a:ln>
        </p:spPr>
      </p:sp>
      <p:sp>
        <p:nvSpPr>
          <p:cNvPr id="20" name="manual-value-0">
            <a:extLst xmlns:a="http://schemas.openxmlformats.org/drawingml/2006/main">
              <a:ext uri="{FF2B5EF4-FFF2-40B4-BE49-F238E27FC236}">
                <a16:creationId xmlns:a16="http://schemas.microsoft.com/office/drawing/2014/main" id="{A8E04940-7ED3-45B1-8B93-250B34F8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171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0.8 天</a:t>
            </a:r>
          </a:p>
        </p:txBody>
      </p:sp>
      <p:sp>
        <p:nvSpPr>
          <p:cNvPr id="21" name="pilot-bar-0">
            <a:extLst xmlns:a="http://schemas.openxmlformats.org/drawingml/2006/main">
              <a:ext uri="{FF2B5EF4-FFF2-40B4-BE49-F238E27FC236}">
                <a16:creationId xmlns:a16="http://schemas.microsoft.com/office/drawing/2014/main" id="{AC0F66BA-6E6C-4868-97D9-6A2A3EFE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47925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2" name="pilot-value-0">
            <a:extLst xmlns:a="http://schemas.openxmlformats.org/drawingml/2006/main">
              <a:ext uri="{FF2B5EF4-FFF2-40B4-BE49-F238E27FC236}">
                <a16:creationId xmlns:a16="http://schemas.microsoft.com/office/drawing/2014/main" id="{6043FAB1-64DB-4C82-8972-CD3BF6F9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9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0.6 天</a:t>
            </a:r>
          </a:p>
        </p:txBody>
      </p:sp>
      <p:sp>
        <p:nvSpPr>
          <p:cNvPr id="23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06040140-5DEA-4190-91EB-9CBDEC60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2417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材料核对</a:t>
            </a:r>
          </a:p>
        </p:txBody>
      </p:sp>
      <p:sp>
        <p:nvSpPr>
          <p:cNvPr id="24" name="manual-bar-1">
            <a:extLst xmlns:a="http://schemas.openxmlformats.org/drawingml/2006/main">
              <a:ext uri="{FF2B5EF4-FFF2-40B4-BE49-F238E27FC236}">
                <a16:creationId xmlns:a16="http://schemas.microsoft.com/office/drawing/2014/main" id="{F60D4680-E326-4985-916F-4A774052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238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BC8"/>
          </a:solidFill>
          <a:ln xmlns:a="http://schemas.openxmlformats.org/drawingml/2006/main" w="0">
            <a:solidFill>
              <a:srgbClr val="AEBBC8"/>
            </a:solidFill>
            <a:prstDash val="solid"/>
          </a:ln>
        </p:spPr>
      </p:sp>
      <p:sp>
        <p:nvSpPr>
          <p:cNvPr id="25" name="manual-value-1">
            <a:extLst xmlns:a="http://schemas.openxmlformats.org/drawingml/2006/main">
              <a:ext uri="{FF2B5EF4-FFF2-40B4-BE49-F238E27FC236}">
                <a16:creationId xmlns:a16="http://schemas.microsoft.com/office/drawing/2014/main" id="{7DCB3731-3C69-490E-80CB-7AA16F1B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838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26" name="pilot-bar-1">
            <a:extLst xmlns:a="http://schemas.openxmlformats.org/drawingml/2006/main">
              <a:ext uri="{FF2B5EF4-FFF2-40B4-BE49-F238E27FC236}">
                <a16:creationId xmlns:a16="http://schemas.microsoft.com/office/drawing/2014/main" id="{02553681-0164-435F-9073-43095D98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14675"/>
            <a:ext cx="149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7" name="pilot-value-1">
            <a:extLst xmlns:a="http://schemas.openxmlformats.org/drawingml/2006/main">
              <a:ext uri="{FF2B5EF4-FFF2-40B4-BE49-F238E27FC236}">
                <a16:creationId xmlns:a16="http://schemas.microsoft.com/office/drawing/2014/main" id="{3833B2BD-076E-48F3-A90E-D7D8F8D9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3076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1.0 天</a:t>
            </a:r>
          </a:p>
        </p:txBody>
      </p:sp>
      <p:sp>
        <p:nvSpPr>
          <p:cNvPr id="28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3B3999FD-0C72-4F7D-8AE8-9E6DC3D4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29" name="manual-bar-2">
            <a:extLst xmlns:a="http://schemas.openxmlformats.org/drawingml/2006/main">
              <a:ext uri="{FF2B5EF4-FFF2-40B4-BE49-F238E27FC236}">
                <a16:creationId xmlns:a16="http://schemas.microsoft.com/office/drawing/2014/main" id="{1BFE2D8B-D160-4115-9A64-58AE94EF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43300"/>
            <a:ext cx="387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BC8"/>
          </a:solidFill>
          <a:ln xmlns:a="http://schemas.openxmlformats.org/drawingml/2006/main" w="0">
            <a:solidFill>
              <a:srgbClr val="AEBBC8"/>
            </a:solidFill>
            <a:prstDash val="solid"/>
          </a:ln>
        </p:spPr>
      </p:sp>
      <p:sp>
        <p:nvSpPr>
          <p:cNvPr id="30" name="manual-value-2">
            <a:extLst xmlns:a="http://schemas.openxmlformats.org/drawingml/2006/main">
              <a:ext uri="{FF2B5EF4-FFF2-40B4-BE49-F238E27FC236}">
                <a16:creationId xmlns:a16="http://schemas.microsoft.com/office/drawing/2014/main" id="{D2C543C6-AACC-4278-B22D-EBBE1616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050" y="35052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2.6 天</a:t>
            </a:r>
          </a:p>
        </p:txBody>
      </p:sp>
      <p:sp>
        <p:nvSpPr>
          <p:cNvPr id="31" name="pilot-bar-2">
            <a:extLst xmlns:a="http://schemas.openxmlformats.org/drawingml/2006/main">
              <a:ext uri="{FF2B5EF4-FFF2-40B4-BE49-F238E27FC236}">
                <a16:creationId xmlns:a16="http://schemas.microsoft.com/office/drawing/2014/main" id="{99E338CA-8003-4C3A-8EE2-A76216DE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81425"/>
            <a:ext cx="238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2" name="pilot-value-2">
            <a:extLst xmlns:a="http://schemas.openxmlformats.org/drawingml/2006/main">
              <a:ext uri="{FF2B5EF4-FFF2-40B4-BE49-F238E27FC236}">
                <a16:creationId xmlns:a16="http://schemas.microsoft.com/office/drawing/2014/main" id="{8F5185B1-F6F5-4D6E-BF94-DCD9EAB4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37433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33" name="total-rule">
            <a:extLst xmlns:a="http://schemas.openxmlformats.org/drawingml/2006/main">
              <a:ext uri="{FF2B5EF4-FFF2-40B4-BE49-F238E27FC236}">
                <a16:creationId xmlns:a16="http://schemas.microsoft.com/office/drawing/2014/main" id="{A73F1D27-EC03-4D37-828D-CFF3657C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5770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34" name="total-label">
            <a:extLst xmlns:a="http://schemas.openxmlformats.org/drawingml/2006/main">
              <a:ext uri="{FF2B5EF4-FFF2-40B4-BE49-F238E27FC236}">
                <a16:creationId xmlns:a16="http://schemas.microsoft.com/office/drawing/2014/main" id="{E4CC260C-1D36-415A-8FA1-8809C96D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总计</a:t>
            </a:r>
          </a:p>
        </p:txBody>
      </p:sp>
      <p:sp>
        <p:nvSpPr>
          <p:cNvPr id="35" name="total-value">
            <a:extLst xmlns:a="http://schemas.openxmlformats.org/drawingml/2006/main">
              <a:ext uri="{FF2B5EF4-FFF2-40B4-BE49-F238E27FC236}">
                <a16:creationId xmlns:a16="http://schemas.microsoft.com/office/drawing/2014/main" id="{E34683E9-7C31-4416-8B2E-CBD404EA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29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人工 5.0 天  →  试点 3.2 天  ｜  少 1.8 天（36%）</a:t>
            </a:r>
          </a:p>
        </p:txBody>
      </p:sp>
      <p:sp>
        <p:nvSpPr>
          <p:cNvPr id="36" name="stage-read">
            <a:extLst xmlns:a="http://schemas.openxmlformats.org/drawingml/2006/main">
              <a:ext uri="{FF2B5EF4-FFF2-40B4-BE49-F238E27FC236}">
                <a16:creationId xmlns:a16="http://schemas.microsoft.com/office/drawing/2014/main" id="{EA82D0FA-B36E-4FAF-8FB4-64A8419B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29200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三阶段依次发生、互不重叠，阶段均值可以相加。</a:t>
            </a:r>
          </a:p>
        </p:txBody>
      </p:sp>
      <p:sp>
        <p:nvSpPr>
          <p:cNvPr id="37" name="right-axis">
            <a:extLst xmlns:a="http://schemas.openxmlformats.org/drawingml/2006/main">
              <a:ext uri="{FF2B5EF4-FFF2-40B4-BE49-F238E27FC236}">
                <a16:creationId xmlns:a16="http://schemas.microsoft.com/office/drawing/2014/main" id="{ADE7D5B7-1ED3-4D30-A347-AE52580F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04950"/>
            <a:ext cx="381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8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F34E9DA8-F2BF-4111-A699-0C09243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39" name="right-finding">
            <a:extLst xmlns:a="http://schemas.openxmlformats.org/drawingml/2006/main">
              <a:ext uri="{FF2B5EF4-FFF2-40B4-BE49-F238E27FC236}">
                <a16:creationId xmlns:a16="http://schemas.microsoft.com/office/drawing/2014/main" id="{63C08437-B63A-422C-AA0E-03DA914D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三阶段中差距最大：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试点比人工少 1.0 天。</a:t>
            </a:r>
          </a:p>
        </p:txBody>
      </p:sp>
      <p:sp>
        <p:nvSpPr>
          <p:cNvPr id="40" name="right-meaning">
            <a:extLst xmlns:a="http://schemas.openxmlformats.org/drawingml/2006/main">
              <a:ext uri="{FF2B5EF4-FFF2-40B4-BE49-F238E27FC236}">
                <a16:creationId xmlns:a16="http://schemas.microsoft.com/office/drawing/2014/main" id="{A45A4CA8-961A-4E8C-B40B-3E627D97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337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它在试点侧仍占总时长一半，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是下一轮最需要拆分记录的环节。</a:t>
            </a:r>
          </a:p>
        </p:txBody>
      </p:sp>
      <p:sp>
        <p:nvSpPr>
          <p:cNvPr id="41" name="right-boundary-heading">
            <a:extLst xmlns:a="http://schemas.openxmlformats.org/drawingml/2006/main">
              <a:ext uri="{FF2B5EF4-FFF2-40B4-BE49-F238E27FC236}">
                <a16:creationId xmlns:a16="http://schemas.microsoft.com/office/drawing/2014/main" id="{B9EAE7D7-75B3-40B7-A074-CF701DB6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比较边界</a:t>
            </a:r>
          </a:p>
        </p:txBody>
      </p:sp>
      <p:sp>
        <p:nvSpPr>
          <p:cNvPr id="42" name="right-boundary">
            <a:extLst xmlns:a="http://schemas.openxmlformats.org/drawingml/2006/main">
              <a:ext uri="{FF2B5EF4-FFF2-40B4-BE49-F238E27FC236}">
                <a16:creationId xmlns:a16="http://schemas.microsoft.com/office/drawing/2014/main" id="{E2509512-7E22-4319-81FA-264F5417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43400"/>
            <a:ext cx="3381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仅覆盖已结案申请；两批事项难度和人员负荷未控制，不能将时间差异归因于试点。现有合并记录也不能把等待与教师实际处理时间分开。</a:t>
            </a:r>
          </a:p>
        </p:txBody>
      </p:sp>
      <p:sp>
        <p:nvSpPr>
          <p:cNvPr id="4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29493130-8A7B-480B-9A8A-30EB8485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4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F3BBD9B6-DEB3-49B2-9283-C628A935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来源：虚构测试数据与方案｜两批不同月份，各 120 件已结案申请；不是任何真实大学的绩效报告。</a:t>
            </a:r>
          </a:p>
        </p:txBody>
      </p:sp>
      <p:sp>
        <p:nvSpPr>
          <p:cNvPr id="45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28B19DCC-55E3-4222-80C9-98282777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1138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age-title-2">
            <a:extLst xmlns:a="http://schemas.openxmlformats.org/drawingml/2006/main">
              <a:ext uri="{FF2B5EF4-FFF2-40B4-BE49-F238E27FC236}">
                <a16:creationId xmlns:a16="http://schemas.microsoft.com/office/drawing/2014/main" id="{7187337C-A876-486D-B105-D2ECF3E4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下一轮先验证分工能否执行，再用完整时间戳拆开等待与处理</a:t>
            </a:r>
          </a:p>
        </p:txBody>
      </p:sp>
      <p:sp>
        <p:nvSpPr>
          <p:cNvPr id="2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E498B091-5CF5-47BE-84E7-916688D3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2">
            <a:extLst xmlns:a="http://schemas.openxmlformats.org/drawingml/2006/main">
              <a:ext uri="{FF2B5EF4-FFF2-40B4-BE49-F238E27FC236}">
                <a16:creationId xmlns:a16="http://schemas.microsoft.com/office/drawing/2014/main" id="{6FF3158B-1522-4B1A-84CD-52FC00B0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下一轮安排｜4 周、仅限常规申请｜计划状态：尚未实施</a:t>
            </a:r>
          </a:p>
        </p:txBody>
      </p:sp>
      <p:sp>
        <p:nvSpPr>
          <p:cNvPr id="4" name="flow-anchor-0">
            <a:extLst xmlns:a="http://schemas.openxmlformats.org/drawingml/2006/main">
              <a:ext uri="{FF2B5EF4-FFF2-40B4-BE49-F238E27FC236}">
                <a16:creationId xmlns:a16="http://schemas.microsoft.com/office/drawing/2014/main" id="{07D338DB-D7FD-4514-BF51-025915A3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flow-anchor-1">
            <a:extLst xmlns:a="http://schemas.openxmlformats.org/drawingml/2006/main">
              <a:ext uri="{FF2B5EF4-FFF2-40B4-BE49-F238E27FC236}">
                <a16:creationId xmlns:a16="http://schemas.microsoft.com/office/drawing/2014/main" id="{52F8581E-79A6-4602-BDCE-7FC218EF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38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flow-anchor-2">
            <a:extLst xmlns:a="http://schemas.openxmlformats.org/drawingml/2006/main">
              <a:ext uri="{FF2B5EF4-FFF2-40B4-BE49-F238E27FC236}">
                <a16:creationId xmlns:a16="http://schemas.microsoft.com/office/drawing/2014/main" id="{CFD5F280-43CE-4575-9919-E1B732FB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38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9" name=""/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2228850" y="3848100"/>
            <a:ext cx="3648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6296025" y="3848100"/>
            <a:ext cx="3648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9" name="phase-number-0">
            <a:extLst xmlns:a="http://schemas.openxmlformats.org/drawingml/2006/main">
              <a:ext uri="{FF2B5EF4-FFF2-40B4-BE49-F238E27FC236}">
                <a16:creationId xmlns:a16="http://schemas.microsoft.com/office/drawing/2014/main" id="{E5464E4F-11F1-4834-B1DA-A6323C9E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771EF6C2-A488-4705-B680-08ABBDAA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8573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11" name="phase-owner-0">
            <a:extLst xmlns:a="http://schemas.openxmlformats.org/drawingml/2006/main">
              <a:ext uri="{FF2B5EF4-FFF2-40B4-BE49-F238E27FC236}">
                <a16:creationId xmlns:a16="http://schemas.microsoft.com/office/drawing/2014/main" id="{FED82759-B789-444A-A271-ABB5ABBA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12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4A87A145-EB3C-4197-B8C5-503BEE6A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登记事项类型与提交时间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授权常规事项才进入下一步</a:t>
            </a:r>
          </a:p>
        </p:txBody>
      </p:sp>
      <p:sp>
        <p:nvSpPr>
          <p:cNvPr id="13" name="phase-number-1">
            <a:extLst xmlns:a="http://schemas.openxmlformats.org/drawingml/2006/main">
              <a:ext uri="{FF2B5EF4-FFF2-40B4-BE49-F238E27FC236}">
                <a16:creationId xmlns:a16="http://schemas.microsoft.com/office/drawing/2014/main" id="{E04F95E1-E3D0-4C42-A42D-796E0153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573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23980BA8-C46D-4325-B8EE-EBF021AA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573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核对材料</a:t>
            </a:r>
          </a:p>
        </p:txBody>
      </p:sp>
      <p:sp>
        <p:nvSpPr>
          <p:cNvPr id="15" name="phase-owner-1">
            <a:extLst xmlns:a="http://schemas.openxmlformats.org/drawingml/2006/main">
              <a:ext uri="{FF2B5EF4-FFF2-40B4-BE49-F238E27FC236}">
                <a16:creationId xmlns:a16="http://schemas.microsoft.com/office/drawing/2014/main" id="{F409DF87-92DD-4828-BE0C-B9EB9C58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16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C355D75C-B1ED-4E79-A060-6FEF74FB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按清单核对齐备性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记录核对完成时间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齐备后送交教师</a:t>
            </a:r>
          </a:p>
        </p:txBody>
      </p:sp>
      <p:sp>
        <p:nvSpPr>
          <p:cNvPr id="17" name="phase-number-2">
            <a:extLst xmlns:a="http://schemas.openxmlformats.org/drawingml/2006/main">
              <a:ext uri="{FF2B5EF4-FFF2-40B4-BE49-F238E27FC236}">
                <a16:creationId xmlns:a16="http://schemas.microsoft.com/office/drawing/2014/main" id="{40A14AC2-B14F-471B-8981-A77AFD43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8573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D0EAB505-C18A-430E-ABEF-4AAA6EA4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8573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</a:t>
            </a:r>
          </a:p>
        </p:txBody>
      </p:sp>
      <p:sp>
        <p:nvSpPr>
          <p:cNvPr id="19" name="phase-owner-2">
            <a:extLst xmlns:a="http://schemas.openxmlformats.org/drawingml/2006/main">
              <a:ext uri="{FF2B5EF4-FFF2-40B4-BE49-F238E27FC236}">
                <a16:creationId xmlns:a16="http://schemas.microsoft.com/office/drawing/2014/main" id="{9213790C-1A2F-4438-BD92-18D72568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66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责任：责任教师</a:t>
            </a:r>
          </a:p>
        </p:txBody>
      </p:sp>
      <p:sp>
        <p:nvSpPr>
          <p:cNvPr id="20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12C06BF4-4850-4823-93F3-31B5D6A2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作出专业判断并确认答复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记录接收与答复时间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助理不得代替教师作专业承诺</a:t>
            </a:r>
          </a:p>
        </p:txBody>
      </p:sp>
      <p:sp>
        <p:nvSpPr>
          <p:cNvPr id="21" name="gate-1-rule">
            <a:extLst xmlns:a="http://schemas.openxmlformats.org/drawingml/2006/main">
              <a:ext uri="{FF2B5EF4-FFF2-40B4-BE49-F238E27FC236}">
                <a16:creationId xmlns:a16="http://schemas.microsoft.com/office/drawing/2014/main" id="{971BA533-8F93-4FCB-BE47-7D7F6D3E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33625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2" name="gate-1-text">
            <a:extLst xmlns:a="http://schemas.openxmlformats.org/drawingml/2006/main">
              <a:ext uri="{FF2B5EF4-FFF2-40B4-BE49-F238E27FC236}">
                <a16:creationId xmlns:a16="http://schemas.microsoft.com/office/drawing/2014/main" id="{B46B442A-4D9A-4BEF-9D35-B8D8A806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授权常规事项</a:t>
            </a:r>
          </a:p>
        </p:txBody>
      </p:sp>
      <p:sp>
        <p:nvSpPr>
          <p:cNvPr id="23" name="gate-2-rule">
            <a:extLst xmlns:a="http://schemas.openxmlformats.org/drawingml/2006/main">
              <a:ext uri="{FF2B5EF4-FFF2-40B4-BE49-F238E27FC236}">
                <a16:creationId xmlns:a16="http://schemas.microsoft.com/office/drawing/2014/main" id="{CA706019-886A-41C0-A53E-75EA665F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33625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4" name="gate-2-text">
            <a:extLst xmlns:a="http://schemas.openxmlformats.org/drawingml/2006/main">
              <a:ext uri="{FF2B5EF4-FFF2-40B4-BE49-F238E27FC236}">
                <a16:creationId xmlns:a16="http://schemas.microsoft.com/office/drawing/2014/main" id="{635E66D5-D458-4E7A-88E0-03ECD272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050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材料齐备</a:t>
            </a:r>
          </a:p>
        </p:txBody>
      </p:sp>
      <p:sp>
        <p:nvSpPr>
          <p:cNvPr id="25" name="flow-node-0">
            <a:extLst xmlns:a="http://schemas.openxmlformats.org/drawingml/2006/main">
              <a:ext uri="{FF2B5EF4-FFF2-40B4-BE49-F238E27FC236}">
                <a16:creationId xmlns:a16="http://schemas.microsoft.com/office/drawing/2014/main" id="{C54E9E7C-89A6-41FC-ABDF-88EAE210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9F3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6" name="flow-node-number-0">
            <a:extLst xmlns:a="http://schemas.openxmlformats.org/drawingml/2006/main">
              <a:ext uri="{FF2B5EF4-FFF2-40B4-BE49-F238E27FC236}">
                <a16:creationId xmlns:a16="http://schemas.microsoft.com/office/drawing/2014/main" id="{011602C9-5736-4A67-9DC2-D32C83A9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052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flow-node-1">
            <a:extLst xmlns:a="http://schemas.openxmlformats.org/drawingml/2006/main">
              <a:ext uri="{FF2B5EF4-FFF2-40B4-BE49-F238E27FC236}">
                <a16:creationId xmlns:a16="http://schemas.microsoft.com/office/drawing/2014/main" id="{38075731-8382-43DF-9A2F-9F267368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9F3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8" name="flow-node-number-1">
            <a:extLst xmlns:a="http://schemas.openxmlformats.org/drawingml/2006/main">
              <a:ext uri="{FF2B5EF4-FFF2-40B4-BE49-F238E27FC236}">
                <a16:creationId xmlns:a16="http://schemas.microsoft.com/office/drawing/2014/main" id="{6F34800C-ABDC-4A0A-90E4-547AF45C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7052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8197647-4992-44EE-BEE5-2534670F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0" name="flow-node-number-2">
            <a:extLst xmlns:a="http://schemas.openxmlformats.org/drawingml/2006/main">
              <a:ext uri="{FF2B5EF4-FFF2-40B4-BE49-F238E27FC236}">
                <a16:creationId xmlns:a16="http://schemas.microsoft.com/office/drawing/2014/main" id="{3957B0D2-2920-4ECE-AF52-F84F1536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052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exception-link">
            <a:extLst xmlns:a="http://schemas.openxmlformats.org/drawingml/2006/main">
              <a:ext uri="{FF2B5EF4-FFF2-40B4-BE49-F238E27FC236}">
                <a16:creationId xmlns:a16="http://schemas.microsoft.com/office/drawing/2014/main" id="{FD8B435B-45AA-4A9A-B786-E1AE32C9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576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3"/>
          </a:solidFill>
          <a:ln xmlns:a="http://schemas.openxmlformats.org/drawingml/2006/main" w="0">
            <a:solidFill>
              <a:srgbClr val="DDE9F3"/>
            </a:solidFill>
            <a:prstDash val="solid"/>
          </a:ln>
        </p:spPr>
      </p:sp>
      <p:sp>
        <p:nvSpPr>
          <p:cNvPr id="32" name="exception-heading">
            <a:extLst xmlns:a="http://schemas.openxmlformats.org/drawingml/2006/main">
              <a:ext uri="{FF2B5EF4-FFF2-40B4-BE49-F238E27FC236}">
                <a16:creationId xmlns:a16="http://schemas.microsoft.com/office/drawing/2014/main" id="{47705C25-4811-4A79-84BC-3D9378B3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95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缺件时</a:t>
            </a:r>
          </a:p>
        </p:txBody>
      </p:sp>
      <p:sp>
        <p:nvSpPr>
          <p:cNvPr id="33" name="exception-body">
            <a:extLst xmlns:a="http://schemas.openxmlformats.org/drawingml/2006/main">
              <a:ext uri="{FF2B5EF4-FFF2-40B4-BE49-F238E27FC236}">
                <a16:creationId xmlns:a16="http://schemas.microsoft.com/office/drawing/2014/main" id="{1241F884-68DE-48DB-B6A0-EEB9B72C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768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暂停推进并通知申请人补齐；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补齐后重新核对。</a:t>
            </a:r>
          </a:p>
        </p:txBody>
      </p:sp>
      <p:sp>
        <p:nvSpPr>
          <p:cNvPr id="34" name="bottom-band">
            <a:extLst xmlns:a="http://schemas.openxmlformats.org/drawingml/2006/main">
              <a:ext uri="{FF2B5EF4-FFF2-40B4-BE49-F238E27FC236}">
                <a16:creationId xmlns:a16="http://schemas.microsoft.com/office/drawing/2014/main" id="{CA33A653-7504-4096-8121-E0BE8711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72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3"/>
          </a:solidFill>
          <a:ln xmlns:a="http://schemas.openxmlformats.org/drawingml/2006/main" w="0">
            <a:solidFill>
              <a:srgbClr val="DDE9F3"/>
            </a:solidFill>
            <a:prstDash val="solid"/>
          </a:ln>
        </p:spPr>
      </p:sp>
      <p:sp>
        <p:nvSpPr>
          <p:cNvPr id="35" name="boundary-heading">
            <a:extLst xmlns:a="http://schemas.openxmlformats.org/drawingml/2006/main">
              <a:ext uri="{FF2B5EF4-FFF2-40B4-BE49-F238E27FC236}">
                <a16:creationId xmlns:a16="http://schemas.microsoft.com/office/drawing/2014/main" id="{8BA6FE01-2719-459E-B4D2-A850E411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95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超授权 / 非常规事项</a:t>
            </a:r>
          </a:p>
        </p:txBody>
      </p:sp>
      <p:sp>
        <p:nvSpPr>
          <p:cNvPr id="36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2D4283DB-5266-422D-8A18-3AF79038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19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暂停流转，由负责人指定处理人。</a:t>
            </a:r>
          </a:p>
        </p:txBody>
      </p:sp>
      <p:sp>
        <p:nvSpPr>
          <p:cNvPr id="37" name="measure-heading">
            <a:extLst xmlns:a="http://schemas.openxmlformats.org/drawingml/2006/main">
              <a:ext uri="{FF2B5EF4-FFF2-40B4-BE49-F238E27FC236}">
                <a16:creationId xmlns:a16="http://schemas.microsoft.com/office/drawing/2014/main" id="{9C42E76F-D652-4546-BCC7-AA476B50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95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四周后</a:t>
            </a:r>
          </a:p>
        </p:txBody>
      </p:sp>
      <p:sp>
        <p:nvSpPr>
          <p:cNvPr id="38" name="measure-body">
            <a:extLst xmlns:a="http://schemas.openxmlformats.org/drawingml/2006/main">
              <a:ext uri="{FF2B5EF4-FFF2-40B4-BE49-F238E27FC236}">
                <a16:creationId xmlns:a16="http://schemas.microsoft.com/office/drawing/2014/main" id="{7152E2DF-A240-4C30-A4B9-4351F42C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19800"/>
            <a:ext cx="547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只判断分工可执行、记录完整；不承诺再次降时。</a:t>
            </a:r>
          </a:p>
        </p:txBody>
      </p:sp>
      <p:sp>
        <p:nvSpPr>
          <p:cNvPr id="39" name="timestamp-note">
            <a:extLst xmlns:a="http://schemas.openxmlformats.org/drawingml/2006/main">
              <a:ext uri="{FF2B5EF4-FFF2-40B4-BE49-F238E27FC236}">
                <a16:creationId xmlns:a16="http://schemas.microsoft.com/office/drawing/2014/main" id="{515BEECA-B61D-49B4-B84B-20F527FE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记录时间点：首次提交｜核对完成｜教师接收｜最终答复｜缺件暂停区间 → 分别核对等待与处理耗时</a:t>
            </a:r>
          </a:p>
        </p:txBody>
      </p:sp>
      <p:sp>
        <p:nvSpPr>
          <p:cNvPr id="40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03E9EB1-025D-4C3C-BE13-1A62C9F5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1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BB5BB3D9-94B4-43D8-956A-09676D9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来源：虚构测试数据与方案｜四周分工试点尚未实施；不代表任何真实大学的管理方案。</a:t>
            </a:r>
          </a:p>
        </p:txBody>
      </p:sp>
      <p:sp>
        <p:nvSpPr>
          <p:cNvPr id="4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28D6B778-5818-4880-962C-19866472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5308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2026-09-05T18:33:44.8480000Z</dcterms:created>
  <dcterms:modified xsi:type="dcterms:W3CDTF">2026-09-05T18:33:44.8480000Z</dcterms:modified>
</coreProperties>
</file>