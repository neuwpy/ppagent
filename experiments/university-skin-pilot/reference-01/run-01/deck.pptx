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2af01d51c84702" /><Relationship Type="http://schemas.openxmlformats.org/officeDocument/2006/relationships/extended-properties" Target="/docProps/app.xml" Id="R6a99159560bc4da5" /><Relationship Type="http://schemas.openxmlformats.org/officeDocument/2006/relationships/officeDocument" Target="/ppt/presentation.xml" Id="R84ea00f1b2b74a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04aa3ca0cf4a89"/>
  </p:sldMasterIdLst>
  <p:notesMasterIdLst>
    <p:notesMasterId xmlns:r="http://schemas.openxmlformats.org/officeDocument/2006/relationships" r:id="R93cffcb12d554144"/>
  </p:notesMasterIdLst>
  <p:sldIdLst>
    <p:sldId xmlns:r="http://schemas.openxmlformats.org/officeDocument/2006/relationships" id="256" r:id="Rd0ac91f648c746cb"/>
    <p:sldId xmlns:r="http://schemas.openxmlformats.org/officeDocument/2006/relationships" id="257" r:id="R3ce41267ae5c4e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3d044498f740a3" /><Relationship Type="http://schemas.openxmlformats.org/officeDocument/2006/relationships/slideMaster" Target="/ppt/slideMasters/slideMaster1.xml" Id="R9904aa3ca0cf4a89" /><Relationship Type="http://schemas.openxmlformats.org/officeDocument/2006/relationships/notesMaster" Target="/ppt/notesMasters/notesMaster1.xml" Id="R93cffcb12d554144" /><Relationship Type="http://schemas.openxmlformats.org/officeDocument/2006/relationships/presProps" Target="/ppt/presProps.xml" Id="R2237dee3e1f9467e" /><Relationship Type="http://schemas.openxmlformats.org/officeDocument/2006/relationships/tableStyles" Target="/ppt/tableStyles.xml" Id="Ra2c0cc8b7a134b16" /><Relationship Type="http://schemas.openxmlformats.org/officeDocument/2006/relationships/slide" Target="/ppt/slides/slide1.xml" Id="Rd0ac91f648c746cb" /><Relationship Type="http://schemas.openxmlformats.org/officeDocument/2006/relationships/slide" Target="/ppt/slides/slide2.xml" Id="R3ce41267ae5c4e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abc01115934e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0a43fdeb094f0d" /><Relationship Type="http://schemas.openxmlformats.org/officeDocument/2006/relationships/notesMaster" Target="/ppt/notesMasters/notesMaster1.xml" Id="Ra3d9497bf90f4b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e26b87c55140c5" /><Relationship Type="http://schemas.openxmlformats.org/officeDocument/2006/relationships/notesMaster" Target="/ppt/notesMasters/notesMaster1.xml" Id="Rb36dc92788ae4d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本页将阶段均值置于共同尺度，并把总体差距、差距集中环节与证据边界放在同一阅读路径中。数据和机构场景均为虚构测试材料。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本页将三步真实职责与两个推进条件放在同一条主流程上；缺件是第二步局部异常规则，不是第四个步骤。计划结果只用于判断可执行性与记录完整性，不预设降时承诺。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0191b299e4a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ea906500314926" /><Relationship Type="http://schemas.openxmlformats.org/officeDocument/2006/relationships/slideLayout" Target="/ppt/slideLayouts/slideLayout1.xml" Id="R3e7bf413541746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7bf413541746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b6196dd6148c7" /><Relationship Type="http://schemas.openxmlformats.org/officeDocument/2006/relationships/notesSlide" Target="/ppt/notesSlides/notesSlide1.xml" Id="R299d8a4e763745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0e7b52b8d4760" /><Relationship Type="http://schemas.openxmlformats.org/officeDocument/2006/relationships/notesSlide" Target="/ppt/notesSlides/notesSlide2.xml" Id="R0af330de445846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page-title-1">
            <a:extLst xmlns:a="http://schemas.openxmlformats.org/drawingml/2006/main">
              <a:ext uri="{FF2B5EF4-FFF2-40B4-BE49-F238E27FC236}">
                <a16:creationId xmlns:a16="http://schemas.microsoft.com/office/drawing/2014/main" id="{C24E28F3-B4ED-496B-9152-8BED35D2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试点批次平均少用 1.8 个工作日，差距主要出现在教师处理及等待</a:t>
            </a:r>
          </a:p>
        </p:txBody>
      </p:sp>
      <p:sp>
        <p:nvSpPr>
          <p:cNvPr id="2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3CA9A3DA-FCE5-42AC-A3A9-3F0CD1F7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1">
            <a:extLst xmlns:a="http://schemas.openxmlformats.org/drawingml/2006/main">
              <a:ext uri="{FF2B5EF4-FFF2-40B4-BE49-F238E27FC236}">
                <a16:creationId xmlns:a16="http://schemas.microsoft.com/office/drawing/2014/main" id="{C4449E17-1BED-4278-9208-3B72A7BA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定量证据｜两批各 120 件已结案申请｜比较指标：首次提交至完成处理的平均工作日</a:t>
            </a:r>
          </a:p>
        </p:txBody>
      </p:sp>
      <p:sp>
        <p:nvSpPr>
          <p:cNvPr id="4" name="evidence-heading">
            <a:extLst xmlns:a="http://schemas.openxmlformats.org/drawingml/2006/main">
              <a:ext uri="{FF2B5EF4-FFF2-40B4-BE49-F238E27FC236}">
                <a16:creationId xmlns:a16="http://schemas.microsoft.com/office/drawing/2014/main" id="{3E99018C-9BB6-410D-B2C2-3E622449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三阶段用时：同一尺度下，试点批次各环节均更短</a:t>
            </a:r>
          </a:p>
        </p:txBody>
      </p:sp>
      <p:sp>
        <p:nvSpPr>
          <p:cNvPr id="5" name="legend-old">
            <a:extLst xmlns:a="http://schemas.openxmlformats.org/drawingml/2006/main">
              <a:ext uri="{FF2B5EF4-FFF2-40B4-BE49-F238E27FC236}">
                <a16:creationId xmlns:a16="http://schemas.microsoft.com/office/drawing/2014/main" id="{AD8E0B8F-6141-4E63-AA25-1486FE53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66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6" name="legend-old-text">
            <a:extLst xmlns:a="http://schemas.openxmlformats.org/drawingml/2006/main">
              <a:ext uri="{FF2B5EF4-FFF2-40B4-BE49-F238E27FC236}">
                <a16:creationId xmlns:a16="http://schemas.microsoft.com/office/drawing/2014/main" id="{2F3D13D2-0874-4C74-933E-331B6187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383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人工受理</a:t>
            </a:r>
          </a:p>
        </p:txBody>
      </p:sp>
      <p:sp>
        <p:nvSpPr>
          <p:cNvPr id="7" name="legend-pilot">
            <a:extLst xmlns:a="http://schemas.openxmlformats.org/drawingml/2006/main">
              <a:ext uri="{FF2B5EF4-FFF2-40B4-BE49-F238E27FC236}">
                <a16:creationId xmlns:a16="http://schemas.microsoft.com/office/drawing/2014/main" id="{378ECEA1-5C91-4C9D-B4F4-E2A85DF3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66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8" name="legend-pilot-text">
            <a:extLst xmlns:a="http://schemas.openxmlformats.org/drawingml/2006/main">
              <a:ext uri="{FF2B5EF4-FFF2-40B4-BE49-F238E27FC236}">
                <a16:creationId xmlns:a16="http://schemas.microsoft.com/office/drawing/2014/main" id="{AB9D7526-3666-4863-8A55-38A9C312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383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试点受理</a:t>
            </a:r>
          </a:p>
        </p:txBody>
      </p:sp>
      <p:sp>
        <p:nvSpPr>
          <p:cNvPr id="9" name="chart-grid-0">
            <a:extLst xmlns:a="http://schemas.openxmlformats.org/drawingml/2006/main">
              <a:ext uri="{FF2B5EF4-FFF2-40B4-BE49-F238E27FC236}">
                <a16:creationId xmlns:a16="http://schemas.microsoft.com/office/drawing/2014/main" id="{40FDA812-2E95-4EE3-8F85-51CBC2C6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43125"/>
            <a:ext cx="95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0" name="chart-tick-0">
            <a:extLst xmlns:a="http://schemas.openxmlformats.org/drawingml/2006/main">
              <a:ext uri="{FF2B5EF4-FFF2-40B4-BE49-F238E27FC236}">
                <a16:creationId xmlns:a16="http://schemas.microsoft.com/office/drawing/2014/main" id="{285AB247-0961-4D1D-B3E9-F669AB4F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chart-grid-1">
            <a:extLst xmlns:a="http://schemas.openxmlformats.org/drawingml/2006/main">
              <a:ext uri="{FF2B5EF4-FFF2-40B4-BE49-F238E27FC236}">
                <a16:creationId xmlns:a16="http://schemas.microsoft.com/office/drawing/2014/main" id="{ABDDE53E-1435-49E1-88B0-E74177C0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2143125"/>
            <a:ext cx="95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2" name="chart-tick-1">
            <a:extLst xmlns:a="http://schemas.openxmlformats.org/drawingml/2006/main">
              <a:ext uri="{FF2B5EF4-FFF2-40B4-BE49-F238E27FC236}">
                <a16:creationId xmlns:a16="http://schemas.microsoft.com/office/drawing/2014/main" id="{4A920334-79F0-4922-8BD8-527BC973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050" y="43910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chart-grid-2">
            <a:extLst xmlns:a="http://schemas.openxmlformats.org/drawingml/2006/main">
              <a:ext uri="{FF2B5EF4-FFF2-40B4-BE49-F238E27FC236}">
                <a16:creationId xmlns:a16="http://schemas.microsoft.com/office/drawing/2014/main" id="{3782061E-9BB4-4E2D-B991-717074C6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2143125"/>
            <a:ext cx="95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4" name="chart-tick-2">
            <a:extLst xmlns:a="http://schemas.openxmlformats.org/drawingml/2006/main">
              <a:ext uri="{FF2B5EF4-FFF2-40B4-BE49-F238E27FC236}">
                <a16:creationId xmlns:a16="http://schemas.microsoft.com/office/drawing/2014/main" id="{71B733F3-716E-4BFC-ABF9-74F1BABE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43910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chart-grid-3">
            <a:extLst xmlns:a="http://schemas.openxmlformats.org/drawingml/2006/main">
              <a:ext uri="{FF2B5EF4-FFF2-40B4-BE49-F238E27FC236}">
                <a16:creationId xmlns:a16="http://schemas.microsoft.com/office/drawing/2014/main" id="{3968306F-6FAD-41AC-A6A7-6ACB1AC2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43125"/>
            <a:ext cx="95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6" name="chart-tick-3">
            <a:extLst xmlns:a="http://schemas.openxmlformats.org/drawingml/2006/main">
              <a:ext uri="{FF2B5EF4-FFF2-40B4-BE49-F238E27FC236}">
                <a16:creationId xmlns:a16="http://schemas.microsoft.com/office/drawing/2014/main" id="{BEBF10B0-AEC3-4DD9-A08C-C007AC99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910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chart-axis-unit">
            <a:extLst xmlns:a="http://schemas.openxmlformats.org/drawingml/2006/main">
              <a:ext uri="{FF2B5EF4-FFF2-40B4-BE49-F238E27FC236}">
                <a16:creationId xmlns:a16="http://schemas.microsoft.com/office/drawing/2014/main" id="{84E1768D-F507-4FB1-A253-DD93A85C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910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工作日</a:t>
            </a:r>
          </a:p>
        </p:txBody>
      </p:sp>
      <p:sp>
        <p:nvSpPr>
          <p:cNvPr id="18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462751FA-22F4-40B3-AE52-7AF4A91B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19" name="manual-bar-0">
            <a:extLst xmlns:a="http://schemas.openxmlformats.org/drawingml/2006/main">
              <a:ext uri="{FF2B5EF4-FFF2-40B4-BE49-F238E27FC236}">
                <a16:creationId xmlns:a16="http://schemas.microsoft.com/office/drawing/2014/main" id="{3A93BB62-FC7A-4526-B52E-B0F0138A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05050"/>
            <a:ext cx="127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20" name="manual-value-0">
            <a:extLst xmlns:a="http://schemas.openxmlformats.org/drawingml/2006/main">
              <a:ext uri="{FF2B5EF4-FFF2-40B4-BE49-F238E27FC236}">
                <a16:creationId xmlns:a16="http://schemas.microsoft.com/office/drawing/2014/main" id="{AD1BAEF7-BB1F-4768-AF0F-02C123FC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200" y="2266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0.8</a:t>
            </a:r>
          </a:p>
        </p:txBody>
      </p:sp>
      <p:sp>
        <p:nvSpPr>
          <p:cNvPr id="21" name="pilot-bar-0">
            <a:extLst xmlns:a="http://schemas.openxmlformats.org/drawingml/2006/main">
              <a:ext uri="{FF2B5EF4-FFF2-40B4-BE49-F238E27FC236}">
                <a16:creationId xmlns:a16="http://schemas.microsoft.com/office/drawing/2014/main" id="{0F4897A4-DFCE-4E28-AC2F-FA964E54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431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2" name="pilot-value-0">
            <a:extLst xmlns:a="http://schemas.openxmlformats.org/drawingml/2006/main">
              <a:ext uri="{FF2B5EF4-FFF2-40B4-BE49-F238E27FC236}">
                <a16:creationId xmlns:a16="http://schemas.microsoft.com/office/drawing/2014/main" id="{55CCEEDD-382E-4C20-89D7-E96E52B0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0.6</a:t>
            </a:r>
          </a:p>
        </p:txBody>
      </p:sp>
      <p:sp>
        <p:nvSpPr>
          <p:cNvPr id="23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CF4A798B-1820-489E-AF5B-93CEC6BC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99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材料核对</a:t>
            </a:r>
          </a:p>
        </p:txBody>
      </p:sp>
      <p:sp>
        <p:nvSpPr>
          <p:cNvPr id="24" name="manual-bar-1">
            <a:extLst xmlns:a="http://schemas.openxmlformats.org/drawingml/2006/main">
              <a:ext uri="{FF2B5EF4-FFF2-40B4-BE49-F238E27FC236}">
                <a16:creationId xmlns:a16="http://schemas.microsoft.com/office/drawing/2014/main" id="{ED9914A9-0E58-43E6-B9EC-D8238C9C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71800"/>
            <a:ext cx="254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25" name="manual-value-1">
            <a:extLst xmlns:a="http://schemas.openxmlformats.org/drawingml/2006/main">
              <a:ext uri="{FF2B5EF4-FFF2-40B4-BE49-F238E27FC236}">
                <a16:creationId xmlns:a16="http://schemas.microsoft.com/office/drawing/2014/main" id="{5177D36C-AA70-4D56-A65F-2B6767AC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00" y="2933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1.6</a:t>
            </a:r>
          </a:p>
        </p:txBody>
      </p:sp>
      <p:sp>
        <p:nvSpPr>
          <p:cNvPr id="26" name="pilot-bar-1">
            <a:extLst xmlns:a="http://schemas.openxmlformats.org/drawingml/2006/main">
              <a:ext uri="{FF2B5EF4-FFF2-40B4-BE49-F238E27FC236}">
                <a16:creationId xmlns:a16="http://schemas.microsoft.com/office/drawing/2014/main" id="{C86AD8EA-5B7C-4D18-828C-ECAF1204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09925"/>
            <a:ext cx="158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7" name="pilot-value-1">
            <a:extLst xmlns:a="http://schemas.openxmlformats.org/drawingml/2006/main">
              <a:ext uri="{FF2B5EF4-FFF2-40B4-BE49-F238E27FC236}">
                <a16:creationId xmlns:a16="http://schemas.microsoft.com/office/drawing/2014/main" id="{785CF4EF-5561-4418-80A0-AC435008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70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28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88E46C08-B434-46CE-AEE5-2F282B00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766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29" name="manual-bar-2">
            <a:extLst xmlns:a="http://schemas.openxmlformats.org/drawingml/2006/main">
              <a:ext uri="{FF2B5EF4-FFF2-40B4-BE49-F238E27FC236}">
                <a16:creationId xmlns:a16="http://schemas.microsoft.com/office/drawing/2014/main" id="{717812E7-BFA2-439D-9479-2AA0A010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412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BC8"/>
          </a:solidFill>
          <a:ln xmlns:a="http://schemas.openxmlformats.org/drawingml/2006/main" w="0">
            <a:solidFill>
              <a:srgbClr val="AEBBC8"/>
            </a:solidFill>
            <a:prstDash val="solid"/>
          </a:ln>
        </p:spPr>
      </p:sp>
      <p:sp>
        <p:nvSpPr>
          <p:cNvPr id="30" name="manual-value-2">
            <a:extLst xmlns:a="http://schemas.openxmlformats.org/drawingml/2006/main">
              <a:ext uri="{FF2B5EF4-FFF2-40B4-BE49-F238E27FC236}">
                <a16:creationId xmlns:a16="http://schemas.microsoft.com/office/drawing/2014/main" id="{0B2F49DF-F034-47D5-A240-6BCDDE66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3600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2.6</a:t>
            </a:r>
          </a:p>
        </p:txBody>
      </p:sp>
      <p:sp>
        <p:nvSpPr>
          <p:cNvPr id="31" name="pilot-bar-2">
            <a:extLst xmlns:a="http://schemas.openxmlformats.org/drawingml/2006/main">
              <a:ext uri="{FF2B5EF4-FFF2-40B4-BE49-F238E27FC236}">
                <a16:creationId xmlns:a16="http://schemas.microsoft.com/office/drawing/2014/main" id="{28C5B4CE-AFEB-49FB-B713-A450C72A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76675"/>
            <a:ext cx="254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2" name="pilot-value-2">
            <a:extLst xmlns:a="http://schemas.openxmlformats.org/drawingml/2006/main">
              <a:ext uri="{FF2B5EF4-FFF2-40B4-BE49-F238E27FC236}">
                <a16:creationId xmlns:a16="http://schemas.microsoft.com/office/drawing/2014/main" id="{182658F8-4775-4984-9EB5-6CC0C57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00" y="38385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1.6</a:t>
            </a:r>
          </a:p>
        </p:txBody>
      </p:sp>
      <p:sp>
        <p:nvSpPr>
          <p:cNvPr id="33" name="chart-read">
            <a:extLst xmlns:a="http://schemas.openxmlformats.org/drawingml/2006/main">
              <a:ext uri="{FF2B5EF4-FFF2-40B4-BE49-F238E27FC236}">
                <a16:creationId xmlns:a16="http://schemas.microsoft.com/office/drawing/2014/main" id="{AA14BFA2-B578-441E-AD42-AF512D48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386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阶段依次发生、互不重叠，因此三阶段均值可相加；总计差异见右侧。</a:t>
            </a:r>
          </a:p>
        </p:txBody>
      </p:sp>
      <p:sp>
        <p:nvSpPr>
          <p:cNvPr id="34" name="verdict-surface">
            <a:extLst xmlns:a="http://schemas.openxmlformats.org/drawingml/2006/main">
              <a:ext uri="{FF2B5EF4-FFF2-40B4-BE49-F238E27FC236}">
                <a16:creationId xmlns:a16="http://schemas.microsoft.com/office/drawing/2014/main" id="{7F558547-0C13-4C62-9889-B8D0BCE6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04950"/>
            <a:ext cx="3952875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DE9F3"/>
            </a:solidFill>
            <a:prstDash val="solid"/>
          </a:ln>
        </p:spPr>
      </p:sp>
      <p:sp>
        <p:nvSpPr>
          <p:cNvPr id="35" name="verdict-label">
            <a:extLst xmlns:a="http://schemas.openxmlformats.org/drawingml/2006/main">
              <a:ext uri="{FF2B5EF4-FFF2-40B4-BE49-F238E27FC236}">
                <a16:creationId xmlns:a16="http://schemas.microsoft.com/office/drawing/2014/main" id="{4F513ADB-1D1D-4603-9555-410AF0D2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85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总体差距</a:t>
            </a:r>
          </a:p>
        </p:txBody>
      </p:sp>
      <p:sp>
        <p:nvSpPr>
          <p:cNvPr id="36" name="verdict-total">
            <a:extLst xmlns:a="http://schemas.openxmlformats.org/drawingml/2006/main">
              <a:ext uri="{FF2B5EF4-FFF2-40B4-BE49-F238E27FC236}">
                <a16:creationId xmlns:a16="http://schemas.microsoft.com/office/drawing/2014/main" id="{9F440230-DFA6-46E5-AA7D-AEC1706F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5.0  →  3.2</a:t>
            </a:r>
          </a:p>
        </p:txBody>
      </p:sp>
      <p:sp>
        <p:nvSpPr>
          <p:cNvPr id="37" name="verdict-delta">
            <a:extLst xmlns:a="http://schemas.openxmlformats.org/drawingml/2006/main">
              <a:ext uri="{FF2B5EF4-FFF2-40B4-BE49-F238E27FC236}">
                <a16:creationId xmlns:a16="http://schemas.microsoft.com/office/drawing/2014/main" id="{A3366825-9E7B-479E-B8B2-2ED17297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050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−1.8 工作日  ·  −36%</a:t>
            </a:r>
          </a:p>
        </p:txBody>
      </p:sp>
      <p:sp>
        <p:nvSpPr>
          <p:cNvPr id="38" name="verdict-note">
            <a:extLst xmlns:a="http://schemas.openxmlformats.org/drawingml/2006/main">
              <a:ext uri="{FF2B5EF4-FFF2-40B4-BE49-F238E27FC236}">
                <a16:creationId xmlns:a16="http://schemas.microsoft.com/office/drawing/2014/main" id="{D06C6079-29E6-4DA7-9F57-E3E58ADC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695450"/>
            <a:ext cx="78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均值</a:t>
            </a:r>
          </a:p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可相加</a:t>
            </a:r>
          </a:p>
        </p:txBody>
      </p:sp>
      <p:sp>
        <p:nvSpPr>
          <p:cNvPr id="39" name="interpret-heading">
            <a:extLst xmlns:a="http://schemas.openxmlformats.org/drawingml/2006/main">
              <a:ext uri="{FF2B5EF4-FFF2-40B4-BE49-F238E27FC236}">
                <a16:creationId xmlns:a16="http://schemas.microsoft.com/office/drawing/2014/main" id="{37D4502B-3EF4-4B4C-BB02-518C59FF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解读：差距说明什么</a:t>
            </a:r>
          </a:p>
        </p:txBody>
      </p:sp>
      <p:sp>
        <p:nvSpPr>
          <p:cNvPr id="40" name="interpret-accent">
            <a:extLst xmlns:a="http://schemas.openxmlformats.org/drawingml/2006/main">
              <a:ext uri="{FF2B5EF4-FFF2-40B4-BE49-F238E27FC236}">
                <a16:creationId xmlns:a16="http://schemas.microsoft.com/office/drawing/2014/main" id="{C7F35059-35E3-4A2D-A4D6-3C468668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381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1" name="interpret-1-label">
            <a:extLst xmlns:a="http://schemas.openxmlformats.org/drawingml/2006/main">
              <a:ext uri="{FF2B5EF4-FFF2-40B4-BE49-F238E27FC236}">
                <a16:creationId xmlns:a16="http://schemas.microsoft.com/office/drawing/2014/main" id="{5041118E-71D0-49E5-8FCE-098EC188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差距集中在哪里</a:t>
            </a:r>
          </a:p>
        </p:txBody>
      </p:sp>
      <p:sp>
        <p:nvSpPr>
          <p:cNvPr id="42" name="interpret-1">
            <a:extLst xmlns:a="http://schemas.openxmlformats.org/drawingml/2006/main">
              <a:ext uri="{FF2B5EF4-FFF2-40B4-BE49-F238E27FC236}">
                <a16:creationId xmlns:a16="http://schemas.microsoft.com/office/drawing/2014/main" id="{99BB1096-A134-47EE-8C2C-7EDCC62B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教师处理及等待少 1.0 天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占总差距 56%</a:t>
            </a:r>
          </a:p>
        </p:txBody>
      </p:sp>
      <p:sp>
        <p:nvSpPr>
          <p:cNvPr id="43" name="interpret-2-label">
            <a:extLst xmlns:a="http://schemas.openxmlformats.org/drawingml/2006/main">
              <a:ext uri="{FF2B5EF4-FFF2-40B4-BE49-F238E27FC236}">
                <a16:creationId xmlns:a16="http://schemas.microsoft.com/office/drawing/2014/main" id="{1863602C-1564-4F83-B145-EB7B2BC3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10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试点仍耗时最多</a:t>
            </a:r>
          </a:p>
        </p:txBody>
      </p:sp>
      <p:sp>
        <p:nvSpPr>
          <p:cNvPr id="44" name="interpret-2">
            <a:extLst xmlns:a="http://schemas.openxmlformats.org/drawingml/2006/main">
              <a:ext uri="{FF2B5EF4-FFF2-40B4-BE49-F238E27FC236}">
                <a16:creationId xmlns:a16="http://schemas.microsoft.com/office/drawing/2014/main" id="{4A3D93B6-113D-4451-9508-67F7AE0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3867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教师处理及等待仍为 1.6 天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占试点总时长 50%</a:t>
            </a:r>
          </a:p>
        </p:txBody>
      </p:sp>
      <p:sp>
        <p:nvSpPr>
          <p:cNvPr id="45" name="interpret-boundary-label">
            <a:extLst xmlns:a="http://schemas.openxmlformats.org/drawingml/2006/main">
              <a:ext uri="{FF2B5EF4-FFF2-40B4-BE49-F238E27FC236}">
                <a16:creationId xmlns:a16="http://schemas.microsoft.com/office/drawing/2014/main" id="{61BF2737-275C-4B6C-B30C-2A9C6AC1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00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46" name="interpret-boundary">
            <a:extLst xmlns:a="http://schemas.openxmlformats.org/drawingml/2006/main">
              <a:ext uri="{FF2B5EF4-FFF2-40B4-BE49-F238E27FC236}">
                <a16:creationId xmlns:a16="http://schemas.microsoft.com/office/drawing/2014/main" id="{B7709222-AD25-43E0-A696-7BE78B03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29250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仅覆盖已结案申请；事项难度与人员负荷未控制，不能将差异归因于试点。1.6 天也不能拆称为纯排队时间。</a:t>
            </a:r>
          </a:p>
        </p:txBody>
      </p:sp>
      <p:sp>
        <p:nvSpPr>
          <p:cNvPr id="47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E111CEE6-B7AF-4865-93AE-A19FA87C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8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64A7BAC2-616D-4DC2-96D7-CF4CA53B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来源：虚构测试数据与方案｜两批不同月份，各 120 件已结案申请；不是任何真实大学的绩效报告。</a:t>
            </a:r>
          </a:p>
        </p:txBody>
      </p:sp>
      <p:sp>
        <p:nvSpPr>
          <p:cNvPr id="4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AEB06B53-9DC4-49FA-858E-3B61E463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26424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page-title-2">
            <a:extLst xmlns:a="http://schemas.openxmlformats.org/drawingml/2006/main">
              <a:ext uri="{FF2B5EF4-FFF2-40B4-BE49-F238E27FC236}">
                <a16:creationId xmlns:a16="http://schemas.microsoft.com/office/drawing/2014/main" id="{8172F1EA-5E2A-4F9A-B690-90DD1918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下一轮先验证分工能否执行，再用完整时间戳拆开等待与处理</a:t>
            </a:r>
          </a:p>
        </p:txBody>
      </p:sp>
      <p:sp>
        <p:nvSpPr>
          <p:cNvPr id="2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AF81DB07-8F06-4C67-A50D-5E149829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2">
            <a:extLst xmlns:a="http://schemas.openxmlformats.org/drawingml/2006/main">
              <a:ext uri="{FF2B5EF4-FFF2-40B4-BE49-F238E27FC236}">
                <a16:creationId xmlns:a16="http://schemas.microsoft.com/office/drawing/2014/main" id="{61A77816-701D-4F66-A9BC-A3C12193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下一轮安排｜4 周、仅限常规申请｜计划状态：尚未实施</a:t>
            </a:r>
          </a:p>
        </p:txBody>
      </p:sp>
      <p:sp>
        <p:nvSpPr>
          <p:cNvPr id="4" name="flow-heading">
            <a:extLst xmlns:a="http://schemas.openxmlformats.org/drawingml/2006/main">
              <a:ext uri="{FF2B5EF4-FFF2-40B4-BE49-F238E27FC236}">
                <a16:creationId xmlns:a16="http://schemas.microsoft.com/office/drawing/2014/main" id="{7A2661A4-B96C-471E-969C-993171A6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连续主流程：责任随步骤交接，条件决定是否推进</a:t>
            </a:r>
          </a:p>
        </p:txBody>
      </p:sp>
      <p:sp>
        <p:nvSpPr>
          <p:cNvPr id="5" name="flow-direction">
            <a:extLst xmlns:a="http://schemas.openxmlformats.org/drawingml/2006/main">
              <a:ext uri="{FF2B5EF4-FFF2-40B4-BE49-F238E27FC236}">
                <a16:creationId xmlns:a16="http://schemas.microsoft.com/office/drawing/2014/main" id="{524E2F4D-6DDA-4486-8424-DD7388CC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提交 → 答复</a:t>
            </a:r>
          </a:p>
        </p:txBody>
      </p:sp>
      <p:sp>
        <p:nvSpPr>
          <p:cNvPr id="6" name="connector-anchor-0">
            <a:extLst xmlns:a="http://schemas.openxmlformats.org/drawingml/2006/main">
              <a:ext uri="{FF2B5EF4-FFF2-40B4-BE49-F238E27FC236}">
                <a16:creationId xmlns:a16="http://schemas.microsoft.com/office/drawing/2014/main" id="{CC3B0FD2-4D0B-4514-8B54-2C963273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300037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nector-anchor-1">
            <a:extLst xmlns:a="http://schemas.openxmlformats.org/drawingml/2006/main">
              <a:ext uri="{FF2B5EF4-FFF2-40B4-BE49-F238E27FC236}">
                <a16:creationId xmlns:a16="http://schemas.microsoft.com/office/drawing/2014/main" id="{2576A7C4-930D-4D86-806A-C7EB35D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300037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connector-anchor-2">
            <a:extLst xmlns:a="http://schemas.openxmlformats.org/drawingml/2006/main">
              <a:ext uri="{FF2B5EF4-FFF2-40B4-BE49-F238E27FC236}">
                <a16:creationId xmlns:a16="http://schemas.microsoft.com/office/drawing/2014/main" id="{C9A376EE-B7C4-4381-A5A5-65D0358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33625"/>
            <a:ext cx="300037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24250" y="316230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91425" y="316230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headEnd type="triangle" w="sm" len="sm"/>
          </a:ln>
        </p:spPr>
      </p:cxnSp>
      <p:sp>
        <p:nvSpPr>
          <p:cNvPr id="11" name="gate-1">
            <a:extLst xmlns:a="http://schemas.openxmlformats.org/drawingml/2006/main">
              <a:ext uri="{FF2B5EF4-FFF2-40B4-BE49-F238E27FC236}">
                <a16:creationId xmlns:a16="http://schemas.microsoft.com/office/drawing/2014/main" id="{4ADC7934-1521-453A-AF5E-CB08116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10668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3"/>
            </a:solidFill>
            <a:prstDash val="solid"/>
          </a:ln>
        </p:spPr>
      </p:sp>
      <p:sp>
        <p:nvSpPr>
          <p:cNvPr id="12" name="gate-1-text">
            <a:extLst xmlns:a="http://schemas.openxmlformats.org/drawingml/2006/main">
              <a:ext uri="{FF2B5EF4-FFF2-40B4-BE49-F238E27FC236}">
                <a16:creationId xmlns:a16="http://schemas.microsoft.com/office/drawing/2014/main" id="{1F13D679-D84F-4C61-8126-5ACD4072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288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授权常规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事项</a:t>
            </a:r>
          </a:p>
        </p:txBody>
      </p:sp>
      <p:sp>
        <p:nvSpPr>
          <p:cNvPr id="13" name="gate-2">
            <a:extLst xmlns:a="http://schemas.openxmlformats.org/drawingml/2006/main">
              <a:ext uri="{FF2B5EF4-FFF2-40B4-BE49-F238E27FC236}">
                <a16:creationId xmlns:a16="http://schemas.microsoft.com/office/drawing/2014/main" id="{8F8E8C52-9B76-45A0-9022-008EB214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809750"/>
            <a:ext cx="10668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3"/>
            </a:solidFill>
            <a:prstDash val="solid"/>
          </a:ln>
        </p:spPr>
      </p:sp>
      <p:sp>
        <p:nvSpPr>
          <p:cNvPr id="14" name="gate-2-text">
            <a:extLst xmlns:a="http://schemas.openxmlformats.org/drawingml/2006/main">
              <a:ext uri="{FF2B5EF4-FFF2-40B4-BE49-F238E27FC236}">
                <a16:creationId xmlns:a16="http://schemas.microsoft.com/office/drawing/2014/main" id="{B2402232-7FF8-4DE5-BAB5-9AAB5C6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288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齐备</a:t>
            </a:r>
          </a:p>
        </p:txBody>
      </p:sp>
      <p:sp>
        <p:nvSpPr>
          <p:cNvPr id="15" name="phase-anchor-0">
            <a:extLst xmlns:a="http://schemas.openxmlformats.org/drawingml/2006/main">
              <a:ext uri="{FF2B5EF4-FFF2-40B4-BE49-F238E27FC236}">
                <a16:creationId xmlns:a16="http://schemas.microsoft.com/office/drawing/2014/main" id="{15C8FA4E-0281-4EF5-A106-2EC30524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300037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hase-surface-0">
            <a:extLst xmlns:a="http://schemas.openxmlformats.org/drawingml/2006/main">
              <a:ext uri="{FF2B5EF4-FFF2-40B4-BE49-F238E27FC236}">
                <a16:creationId xmlns:a16="http://schemas.microsoft.com/office/drawing/2014/main" id="{6AAF12D3-7234-41C1-972C-C805A0A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3000375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4DD078E4-5C7A-474C-BB69-0696D6BF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3000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3"/>
          </a:solidFill>
          <a:ln xmlns:a="http://schemas.openxmlformats.org/drawingml/2006/main" w="0">
            <a:solidFill>
              <a:srgbClr val="DDE9F3"/>
            </a:solidFill>
            <a:prstDash val="solid"/>
          </a:ln>
        </p:spPr>
      </p:sp>
      <p:sp>
        <p:nvSpPr>
          <p:cNvPr id="18" name="phase-number-0">
            <a:extLst xmlns:a="http://schemas.openxmlformats.org/drawingml/2006/main">
              <a:ext uri="{FF2B5EF4-FFF2-40B4-BE49-F238E27FC236}">
                <a16:creationId xmlns:a16="http://schemas.microsoft.com/office/drawing/2014/main" id="{4270A81E-E375-4D7A-9B33-58DCEB83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05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0043AFAE-E7FD-4E07-9AE9-9914E0D8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505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20" name="phase-owner-0">
            <a:extLst xmlns:a="http://schemas.openxmlformats.org/drawingml/2006/main">
              <a:ext uri="{FF2B5EF4-FFF2-40B4-BE49-F238E27FC236}">
                <a16:creationId xmlns:a16="http://schemas.microsoft.com/office/drawing/2014/main" id="{FE235D78-A5F6-404F-8211-15033384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52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责任｜服务助理</a:t>
            </a:r>
          </a:p>
        </p:txBody>
      </p:sp>
      <p:sp>
        <p:nvSpPr>
          <p:cNvPr id="21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0418151E-2175-46B5-B284-4267164C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登记事项类型与提交时间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授权常规事项才进入下一步</a:t>
            </a:r>
          </a:p>
        </p:txBody>
      </p:sp>
      <p:sp>
        <p:nvSpPr>
          <p:cNvPr id="22" name="phase-anchor-1">
            <a:extLst xmlns:a="http://schemas.openxmlformats.org/drawingml/2006/main">
              <a:ext uri="{FF2B5EF4-FFF2-40B4-BE49-F238E27FC236}">
                <a16:creationId xmlns:a16="http://schemas.microsoft.com/office/drawing/2014/main" id="{2D51684C-36BD-485D-BDAA-B935EAA1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300037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phase-surface-1">
            <a:extLst xmlns:a="http://schemas.openxmlformats.org/drawingml/2006/main">
              <a:ext uri="{FF2B5EF4-FFF2-40B4-BE49-F238E27FC236}">
                <a16:creationId xmlns:a16="http://schemas.microsoft.com/office/drawing/2014/main" id="{E7CC71FF-CFED-45A5-9CB3-C9ED83A3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3000375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19ED8BD5-F7BC-45AE-AFC6-2345725A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3000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3"/>
          </a:solidFill>
          <a:ln xmlns:a="http://schemas.openxmlformats.org/drawingml/2006/main" w="0">
            <a:solidFill>
              <a:srgbClr val="DDE9F3"/>
            </a:solidFill>
            <a:prstDash val="solid"/>
          </a:ln>
        </p:spPr>
      </p:sp>
      <p:sp>
        <p:nvSpPr>
          <p:cNvPr id="25" name="phase-number-1">
            <a:extLst xmlns:a="http://schemas.openxmlformats.org/drawingml/2006/main">
              <a:ext uri="{FF2B5EF4-FFF2-40B4-BE49-F238E27FC236}">
                <a16:creationId xmlns:a16="http://schemas.microsoft.com/office/drawing/2014/main" id="{FAAD1652-3B04-4F5E-AA7A-8D32E081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05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B056FFF7-4F5E-4B65-9581-2CE8CD9B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05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核对材料</a:t>
            </a:r>
          </a:p>
        </p:txBody>
      </p:sp>
      <p:sp>
        <p:nvSpPr>
          <p:cNvPr id="27" name="phase-owner-1">
            <a:extLst xmlns:a="http://schemas.openxmlformats.org/drawingml/2006/main">
              <a:ext uri="{FF2B5EF4-FFF2-40B4-BE49-F238E27FC236}">
                <a16:creationId xmlns:a16="http://schemas.microsoft.com/office/drawing/2014/main" id="{961C0448-0287-40C9-B79A-DD21E390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52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责任｜服务助理</a:t>
            </a:r>
          </a:p>
        </p:txBody>
      </p:sp>
      <p:sp>
        <p:nvSpPr>
          <p:cNvPr id="28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B500D3B9-6370-4770-B72B-A4024E6D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3850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按清单核对齐备性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记录核对完成时间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齐备后送交教师</a:t>
            </a:r>
          </a:p>
        </p:txBody>
      </p:sp>
      <p:sp>
        <p:nvSpPr>
          <p:cNvPr id="29" name="phase-anchor-2">
            <a:extLst xmlns:a="http://schemas.openxmlformats.org/drawingml/2006/main">
              <a:ext uri="{FF2B5EF4-FFF2-40B4-BE49-F238E27FC236}">
                <a16:creationId xmlns:a16="http://schemas.microsoft.com/office/drawing/2014/main" id="{0562DD75-51C5-4654-A2F5-C71672EC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33625"/>
            <a:ext cx="300037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phase-surface-2">
            <a:extLst xmlns:a="http://schemas.openxmlformats.org/drawingml/2006/main">
              <a:ext uri="{FF2B5EF4-FFF2-40B4-BE49-F238E27FC236}">
                <a16:creationId xmlns:a16="http://schemas.microsoft.com/office/drawing/2014/main" id="{1E2750B0-9034-43BD-B270-AF15971F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33625"/>
            <a:ext cx="3000375" cy="165735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DE9F3"/>
            </a:solidFill>
            <a:prstDash val="solid"/>
          </a:ln>
        </p:spPr>
      </p:sp>
      <p:sp>
        <p:nvSpPr>
          <p:cNvPr id="31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BD54CF04-3CF3-401A-A355-D93F0962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33625"/>
            <a:ext cx="3000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2" name="phase-number-2">
            <a:extLst xmlns:a="http://schemas.openxmlformats.org/drawingml/2006/main">
              <a:ext uri="{FF2B5EF4-FFF2-40B4-BE49-F238E27FC236}">
                <a16:creationId xmlns:a16="http://schemas.microsoft.com/office/drawing/2014/main" id="{00724FC6-68DC-44CF-BE54-68420FE9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05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C04D1062-0E30-4E78-81F6-E5B06872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05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</a:t>
            </a:r>
          </a:p>
        </p:txBody>
      </p:sp>
      <p:sp>
        <p:nvSpPr>
          <p:cNvPr id="34" name="phase-owner-2">
            <a:extLst xmlns:a="http://schemas.openxmlformats.org/drawingml/2006/main">
              <a:ext uri="{FF2B5EF4-FFF2-40B4-BE49-F238E27FC236}">
                <a16:creationId xmlns:a16="http://schemas.microsoft.com/office/drawing/2014/main" id="{669745D9-9A8F-4FB1-90BD-1EEA2E8A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952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责任｜责任教师</a:t>
            </a:r>
          </a:p>
        </p:txBody>
      </p:sp>
      <p:sp>
        <p:nvSpPr>
          <p:cNvPr id="35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0FCE3A87-5A82-4A1F-8627-41F98109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3850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作出专业判断并确认答复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记录接收与答复时间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助理不得代替教师作专业承诺</a:t>
            </a:r>
          </a:p>
        </p:txBody>
      </p:sp>
      <p:sp>
        <p:nvSpPr>
          <p:cNvPr id="36" name="exception-surface">
            <a:extLst xmlns:a="http://schemas.openxmlformats.org/drawingml/2006/main">
              <a:ext uri="{FF2B5EF4-FFF2-40B4-BE49-F238E27FC236}">
                <a16:creationId xmlns:a16="http://schemas.microsoft.com/office/drawing/2014/main" id="{02444574-442D-4E99-9475-37A1195C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71950"/>
            <a:ext cx="3000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DE9F3"/>
            </a:solidFill>
            <a:prstDash val="solid"/>
          </a:ln>
        </p:spPr>
      </p:sp>
      <p:sp>
        <p:nvSpPr>
          <p:cNvPr id="37" name="exception-label">
            <a:extLst xmlns:a="http://schemas.openxmlformats.org/drawingml/2006/main">
              <a:ext uri="{FF2B5EF4-FFF2-40B4-BE49-F238E27FC236}">
                <a16:creationId xmlns:a16="http://schemas.microsoft.com/office/drawing/2014/main" id="{5212D1CD-E7E9-40F9-9CB0-5F529649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第2步规则</a:t>
            </a:r>
          </a:p>
        </p:txBody>
      </p:sp>
      <p:sp>
        <p:nvSpPr>
          <p:cNvPr id="38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1ACAC52F-93FA-4A66-A0E1-6618AFD6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缺件 → 暂停推进并通知补齐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补齐后重新核对</a:t>
            </a:r>
          </a:p>
        </p:txBody>
      </p:sp>
      <p:sp>
        <p:nvSpPr>
          <p:cNvPr id="39" name="exception-link">
            <a:extLst xmlns:a="http://schemas.openxmlformats.org/drawingml/2006/main">
              <a:ext uri="{FF2B5EF4-FFF2-40B4-BE49-F238E27FC236}">
                <a16:creationId xmlns:a16="http://schemas.microsoft.com/office/drawing/2014/main" id="{206B08FD-957F-4540-8BCE-A4436695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90975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9F3"/>
            </a:solidFill>
            <a:prstDash val="dash"/>
          </a:ln>
        </p:spPr>
      </p:sp>
      <p:sp>
        <p:nvSpPr>
          <p:cNvPr id="40" name="boundary-surface">
            <a:extLst xmlns:a="http://schemas.openxmlformats.org/drawingml/2006/main">
              <a:ext uri="{FF2B5EF4-FFF2-40B4-BE49-F238E27FC236}">
                <a16:creationId xmlns:a16="http://schemas.microsoft.com/office/drawing/2014/main" id="{86C8A57A-CB55-43AD-AB6E-D567C521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490537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FF3F6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08CF870E-D3D4-448A-BE02-580EC714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44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范围门槛</a:t>
            </a:r>
          </a:p>
        </p:txBody>
      </p:sp>
      <p:sp>
        <p:nvSpPr>
          <p:cNvPr id="42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7FD166B9-EEC3-4A9F-803D-A3F1AF40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435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超授权 / 非常规事项：暂停流转，由负责人指定处理人</a:t>
            </a:r>
          </a:p>
        </p:txBody>
      </p:sp>
      <p:sp>
        <p:nvSpPr>
          <p:cNvPr id="43" name="measurement-surface">
            <a:extLst xmlns:a="http://schemas.openxmlformats.org/drawingml/2006/main">
              <a:ext uri="{FF2B5EF4-FFF2-40B4-BE49-F238E27FC236}">
                <a16:creationId xmlns:a16="http://schemas.microsoft.com/office/drawing/2014/main" id="{FE83149C-9275-4C41-B96B-733639FF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91125"/>
            <a:ext cx="5953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DE9F3"/>
            </a:solidFill>
            <a:prstDash val="solid"/>
          </a:ln>
        </p:spPr>
      </p:sp>
      <p:sp>
        <p:nvSpPr>
          <p:cNvPr id="44" name="measurement-label">
            <a:extLst xmlns:a="http://schemas.openxmlformats.org/drawingml/2006/main">
              <a:ext uri="{FF2B5EF4-FFF2-40B4-BE49-F238E27FC236}">
                <a16:creationId xmlns:a16="http://schemas.microsoft.com/office/drawing/2014/main" id="{37B5467B-A795-4B90-9298-237CDC4C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244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B73"/>
                </a:solidFill>
                <a:latin typeface="Microsoft YaHei"/>
                <a:ea typeface="Microsoft YaHei"/>
                <a:cs typeface="Microsoft YaHei"/>
              </a:rPr>
              <a:t>四周结束后只判断</a:t>
            </a:r>
          </a:p>
        </p:txBody>
      </p:sp>
      <p:sp>
        <p:nvSpPr>
          <p:cNvPr id="45" name="measurement-body">
            <a:extLst xmlns:a="http://schemas.openxmlformats.org/drawingml/2006/main">
              <a:ext uri="{FF2B5EF4-FFF2-40B4-BE49-F238E27FC236}">
                <a16:creationId xmlns:a16="http://schemas.microsoft.com/office/drawing/2014/main" id="{462C234D-3164-49E1-B691-10C63809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81650"/>
            <a:ext cx="547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分工是否可执行、记录是否完整；不承诺再次降时</a:t>
            </a:r>
          </a:p>
        </p:txBody>
      </p:sp>
      <p:sp>
        <p:nvSpPr>
          <p:cNvPr id="46" name="timestamp-note">
            <a:extLst xmlns:a="http://schemas.openxmlformats.org/drawingml/2006/main">
              <a:ext uri="{FF2B5EF4-FFF2-40B4-BE49-F238E27FC236}">
                <a16:creationId xmlns:a16="http://schemas.microsoft.com/office/drawing/2014/main" id="{13AC421A-F479-4AF7-8540-143F5797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720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记录闭环：首次提交｜核对完成｜教师接收｜最终答复｜缺件暂停区间 → 下一轮分别核对等待与处理耗时</a:t>
            </a:r>
          </a:p>
        </p:txBody>
      </p:sp>
      <p:sp>
        <p:nvSpPr>
          <p:cNvPr id="4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DC846C2C-6609-416E-A452-2D1AE1DF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8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C2AC4718-83B9-4094-B7C1-FBE3E870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来源：虚构测试数据与方案｜四周分工试点尚未实施；不代表任何真实大学的管理方案。</a:t>
            </a:r>
          </a:p>
        </p:txBody>
      </p:sp>
      <p:sp>
        <p:nvSpPr>
          <p:cNvPr id="4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0CC7EE85-6389-4113-B07C-83323757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239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2026-09-05T18:12:26.4830000Z</dcterms:created>
  <dcterms:modified xsi:type="dcterms:W3CDTF">2026-09-05T18:12:26.4830000Z</dcterms:modified>
</coreProperties>
</file>