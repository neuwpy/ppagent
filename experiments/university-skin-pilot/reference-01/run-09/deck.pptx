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dc9fe0cfef449b" /><Relationship Type="http://schemas.openxmlformats.org/officeDocument/2006/relationships/extended-properties" Target="/docProps/app.xml" Id="R9479b9bb73a7493f" /><Relationship Type="http://schemas.openxmlformats.org/officeDocument/2006/relationships/officeDocument" Target="/ppt/presentation.xml" Id="R86c65e93cefb49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14f0b50ee74022"/>
  </p:sldMasterIdLst>
  <p:notesMasterIdLst>
    <p:notesMasterId xmlns:r="http://schemas.openxmlformats.org/officeDocument/2006/relationships" r:id="R8db4e3a006244856"/>
  </p:notesMasterIdLst>
  <p:sldIdLst>
    <p:sldId xmlns:r="http://schemas.openxmlformats.org/officeDocument/2006/relationships" id="256" r:id="R6687791bd46048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0dd6fcda8d43df" /><Relationship Type="http://schemas.openxmlformats.org/officeDocument/2006/relationships/slideMaster" Target="/ppt/slideMasters/slideMaster1.xml" Id="R0214f0b50ee74022" /><Relationship Type="http://schemas.openxmlformats.org/officeDocument/2006/relationships/notesMaster" Target="/ppt/notesMasters/notesMaster1.xml" Id="R8db4e3a006244856" /><Relationship Type="http://schemas.openxmlformats.org/officeDocument/2006/relationships/presProps" Target="/ppt/presProps.xml" Id="Rac6729477a554fc5" /><Relationship Type="http://schemas.openxmlformats.org/officeDocument/2006/relationships/tableStyles" Target="/ppt/tableStyles.xml" Id="R1ca3714194364aa9" /><Relationship Type="http://schemas.openxmlformats.org/officeDocument/2006/relationships/slide" Target="/ppt/slides/slide1.xml" Id="R6687791bd46048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fc5c95af57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1deb3e7bad4bb0" /><Relationship Type="http://schemas.openxmlformats.org/officeDocument/2006/relationships/notesMaster" Target="/ppt/notesMasters/notesMaster1.xml" Id="R9b279f9111654f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8定量页：主区用共享尺度呈现三阶段人工/试点均值与总计，右侧只保留差值、最大差距和解释边界。数据来自两批不同月份的已结案申请，未控制事项难度和人员负荷，不能将差异归因于试点，也不能把教师处理及等待的1.6天全部称为排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1ec3294b94b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1abb2724cc4c2b" /><Relationship Type="http://schemas.openxmlformats.org/officeDocument/2006/relationships/slideLayout" Target="/ppt/slideLayouts/slideLayout1.xml" Id="R16a4eb0587cb41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a4eb0587cb41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bd42725f4c7a" /><Relationship Type="http://schemas.openxmlformats.org/officeDocument/2006/relationships/notesSlide" Target="/ppt/notesSlides/notesSlide1.xml" Id="Ref7c23730df747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7538B96-ED31-4256-B98C-29649201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两批已结案记录相差1.8个工作日，最大差距在教师处理及等待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A5FF70E-20D8-49B4-92AD-46AFC007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">
            <a:extLst xmlns:a="http://schemas.openxmlformats.org/drawingml/2006/main">
              <a:ext uri="{FF2B5EF4-FFF2-40B4-BE49-F238E27FC236}">
                <a16:creationId xmlns:a16="http://schemas.microsoft.com/office/drawing/2014/main" id="{DED5AC54-87A1-441E-8805-F55D1D2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 vs 试点｜各120件已结案申请｜仅描述差异，不作因果归因</a:t>
            </a:r>
          </a:p>
        </p:txBody>
      </p:sp>
      <p:sp>
        <p:nvSpPr>
          <p:cNvPr id="4" name="main-evidence-zone">
            <a:extLst xmlns:a="http://schemas.openxmlformats.org/drawingml/2006/main">
              <a:ext uri="{FF2B5EF4-FFF2-40B4-BE49-F238E27FC236}">
                <a16:creationId xmlns:a16="http://schemas.microsoft.com/office/drawing/2014/main" id="{5F60441E-19B9-4A06-9A5E-D36B7F6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7429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5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B4184187-1349-4F1D-8CBD-33F3CEB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57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各阶段平均用时（工作日）</a:t>
            </a:r>
          </a:p>
        </p:txBody>
      </p:sp>
      <p:sp>
        <p:nvSpPr>
          <p:cNvPr id="6" name="legend-manual">
            <a:extLst xmlns:a="http://schemas.openxmlformats.org/drawingml/2006/main">
              <a:ext uri="{FF2B5EF4-FFF2-40B4-BE49-F238E27FC236}">
                <a16:creationId xmlns:a16="http://schemas.microsoft.com/office/drawing/2014/main" id="{8DB0B718-1B78-435B-9261-FB44E5F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71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EB1"/>
          </a:solidFill>
          <a:ln xmlns:a="http://schemas.openxmlformats.org/drawingml/2006/main" w="0">
            <a:solidFill>
              <a:srgbClr val="ACAEB1"/>
            </a:solidFill>
            <a:prstDash val="solid"/>
          </a:ln>
        </p:spPr>
      </p:sp>
      <p:sp>
        <p:nvSpPr>
          <p:cNvPr id="7" name="legend-manual-text">
            <a:extLst xmlns:a="http://schemas.openxmlformats.org/drawingml/2006/main">
              <a:ext uri="{FF2B5EF4-FFF2-40B4-BE49-F238E27FC236}">
                <a16:creationId xmlns:a16="http://schemas.microsoft.com/office/drawing/2014/main" id="{6DC5649D-F957-4BC0-BD1C-23ED2766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24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8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12429A95-9C29-436B-A123-856A2B32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71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9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C1739199-A241-4ECB-ABB7-1B519071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24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10" name="axis-grid-0">
            <a:extLst xmlns:a="http://schemas.openxmlformats.org/drawingml/2006/main">
              <a:ext uri="{FF2B5EF4-FFF2-40B4-BE49-F238E27FC236}">
                <a16:creationId xmlns:a16="http://schemas.microsoft.com/office/drawing/2014/main" id="{3F445411-8453-4677-830D-4D47CFD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5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1" name="axis-tick-0">
            <a:extLst xmlns:a="http://schemas.openxmlformats.org/drawingml/2006/main">
              <a:ext uri="{FF2B5EF4-FFF2-40B4-BE49-F238E27FC236}">
                <a16:creationId xmlns:a16="http://schemas.microsoft.com/office/drawing/2014/main" id="{6D7862F1-C699-4264-BF19-6AA232A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71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axis-grid-1">
            <a:extLst xmlns:a="http://schemas.openxmlformats.org/drawingml/2006/main">
              <a:ext uri="{FF2B5EF4-FFF2-40B4-BE49-F238E27FC236}">
                <a16:creationId xmlns:a16="http://schemas.microsoft.com/office/drawing/2014/main" id="{2F1BAF68-6E9D-4DD5-853B-2D22ADD6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86025"/>
            <a:ext cx="95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3" name="axis-tick-1">
            <a:extLst xmlns:a="http://schemas.openxmlformats.org/drawingml/2006/main">
              <a:ext uri="{FF2B5EF4-FFF2-40B4-BE49-F238E27FC236}">
                <a16:creationId xmlns:a16="http://schemas.microsoft.com/office/drawing/2014/main" id="{033E40DC-392A-4BA9-9944-7BC1C121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axis-grid-2">
            <a:extLst xmlns:a="http://schemas.openxmlformats.org/drawingml/2006/main">
              <a:ext uri="{FF2B5EF4-FFF2-40B4-BE49-F238E27FC236}">
                <a16:creationId xmlns:a16="http://schemas.microsoft.com/office/drawing/2014/main" id="{0D0BD09E-7250-481E-A536-C7F3CE3D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86025"/>
            <a:ext cx="95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5" name="axis-tick-2">
            <a:extLst xmlns:a="http://schemas.openxmlformats.org/drawingml/2006/main">
              <a:ext uri="{FF2B5EF4-FFF2-40B4-BE49-F238E27FC236}">
                <a16:creationId xmlns:a16="http://schemas.microsoft.com/office/drawing/2014/main" id="{493B79A5-C42E-4774-B2AA-8D885BAC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71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axis-grid-3">
            <a:extLst xmlns:a="http://schemas.openxmlformats.org/drawingml/2006/main">
              <a:ext uri="{FF2B5EF4-FFF2-40B4-BE49-F238E27FC236}">
                <a16:creationId xmlns:a16="http://schemas.microsoft.com/office/drawing/2014/main" id="{B7BD40BF-857F-440E-B768-55BEC5E5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86025"/>
            <a:ext cx="95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7" name="axis-tick-3">
            <a:extLst xmlns:a="http://schemas.openxmlformats.org/drawingml/2006/main">
              <a:ext uri="{FF2B5EF4-FFF2-40B4-BE49-F238E27FC236}">
                <a16:creationId xmlns:a16="http://schemas.microsoft.com/office/drawing/2014/main" id="{9C4A8A71-CE8D-4FF8-9350-3925DA0F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axis-baseline">
            <a:extLst xmlns:a="http://schemas.openxmlformats.org/drawingml/2006/main">
              <a:ext uri="{FF2B5EF4-FFF2-40B4-BE49-F238E27FC236}">
                <a16:creationId xmlns:a16="http://schemas.microsoft.com/office/drawing/2014/main" id="{36EE8A34-F382-48A8-99DF-2586E7D6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9" name="axis-unit">
            <a:extLst xmlns:a="http://schemas.openxmlformats.org/drawingml/2006/main">
              <a:ext uri="{FF2B5EF4-FFF2-40B4-BE49-F238E27FC236}">
                <a16:creationId xmlns:a16="http://schemas.microsoft.com/office/drawing/2014/main" id="{4026963F-132D-4FB2-9AF4-87FB605E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71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工作日</a:t>
            </a:r>
          </a:p>
        </p:txBody>
      </p:sp>
      <p:sp>
        <p:nvSpPr>
          <p:cNvPr id="20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A6272351-BF53-41B5-899E-BF76CE46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21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E5F24E7A-3C3D-415D-A29E-308B9D3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52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EB1"/>
          </a:solidFill>
          <a:ln xmlns:a="http://schemas.openxmlformats.org/drawingml/2006/main" w="0">
            <a:solidFill>
              <a:srgbClr val="ACAEB1"/>
            </a:solidFill>
            <a:prstDash val="solid"/>
          </a:ln>
        </p:spPr>
      </p:sp>
      <p:sp>
        <p:nvSpPr>
          <p:cNvPr id="22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04746905-790C-4BA1-886B-A3E46102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241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 天</a:t>
            </a:r>
          </a:p>
        </p:txBody>
      </p:sp>
      <p:sp>
        <p:nvSpPr>
          <p:cNvPr id="23" name="pilot-bar-0">
            <a:extLst xmlns:a="http://schemas.openxmlformats.org/drawingml/2006/main">
              <a:ext uri="{FF2B5EF4-FFF2-40B4-BE49-F238E27FC236}">
                <a16:creationId xmlns:a16="http://schemas.microsoft.com/office/drawing/2014/main" id="{A16C73E7-FF0E-4973-AB7D-58E27346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4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89E76C2D-9AD9-4B7C-9EAA-C2E4037A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908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0.6 天</a:t>
            </a:r>
          </a:p>
        </p:txBody>
      </p:sp>
      <p:sp>
        <p:nvSpPr>
          <p:cNvPr id="25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15FC2B7C-33D5-48DD-B8AD-C1696E9F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6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80619449-0919-4525-BD2C-999E9FE7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EB1"/>
          </a:solidFill>
          <a:ln xmlns:a="http://schemas.openxmlformats.org/drawingml/2006/main" w="0">
            <a:solidFill>
              <a:srgbClr val="ACAEB1"/>
            </a:solidFill>
            <a:prstDash val="solid"/>
          </a:ln>
        </p:spPr>
      </p:sp>
      <p:sp>
        <p:nvSpPr>
          <p:cNvPr id="27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F297082A-11FE-4766-AE4D-ABF1026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099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28" name="pilot-bar-1">
            <a:extLst xmlns:a="http://schemas.openxmlformats.org/drawingml/2006/main">
              <a:ext uri="{FF2B5EF4-FFF2-40B4-BE49-F238E27FC236}">
                <a16:creationId xmlns:a16="http://schemas.microsoft.com/office/drawing/2014/main" id="{340940E3-671E-4D6F-9D05-94541820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9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F8B62B55-2C54-4829-8B4F-7733E576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1.0 天</a:t>
            </a:r>
          </a:p>
        </p:txBody>
      </p:sp>
      <p:sp>
        <p:nvSpPr>
          <p:cNvPr id="30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39CFB623-BDF6-4AD6-BDE7-CD66F866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95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31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D435B123-3E96-4B9E-8894-2462998A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EB1"/>
          </a:solidFill>
          <a:ln xmlns:a="http://schemas.openxmlformats.org/drawingml/2006/main" w="0">
            <a:solidFill>
              <a:srgbClr val="ACAEB1"/>
            </a:solidFill>
            <a:prstDash val="solid"/>
          </a:ln>
        </p:spPr>
      </p:sp>
      <p:sp>
        <p:nvSpPr>
          <p:cNvPr id="32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16FA52C1-744C-45B6-9AA8-8FF9D249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95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 天</a:t>
            </a:r>
          </a:p>
        </p:txBody>
      </p:sp>
      <p:sp>
        <p:nvSpPr>
          <p:cNvPr id="33" name="pilot-bar-2">
            <a:extLst xmlns:a="http://schemas.openxmlformats.org/drawingml/2006/main">
              <a:ext uri="{FF2B5EF4-FFF2-40B4-BE49-F238E27FC236}">
                <a16:creationId xmlns:a16="http://schemas.microsoft.com/office/drawing/2014/main" id="{D299DF36-ACB4-4E69-8DCF-303CA910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4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BE2845F7-C963-42EB-BD7B-680EABED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62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5" name="total-rule">
            <a:extLst xmlns:a="http://schemas.openxmlformats.org/drawingml/2006/main">
              <a:ext uri="{FF2B5EF4-FFF2-40B4-BE49-F238E27FC236}">
                <a16:creationId xmlns:a16="http://schemas.microsoft.com/office/drawing/2014/main" id="{A7F2F499-A5DA-42C2-B007-65062C47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36" name="total-heading">
            <a:extLst xmlns:a="http://schemas.openxmlformats.org/drawingml/2006/main">
              <a:ext uri="{FF2B5EF4-FFF2-40B4-BE49-F238E27FC236}">
                <a16:creationId xmlns:a16="http://schemas.microsoft.com/office/drawing/2014/main" id="{1D1A4121-DB3D-4044-89D2-4F3EDDBD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总计</a:t>
            </a:r>
          </a:p>
        </p:txBody>
      </p:sp>
      <p:sp>
        <p:nvSpPr>
          <p:cNvPr id="37" name="total-value">
            <a:extLst xmlns:a="http://schemas.openxmlformats.org/drawingml/2006/main">
              <a:ext uri="{FF2B5EF4-FFF2-40B4-BE49-F238E27FC236}">
                <a16:creationId xmlns:a16="http://schemas.microsoft.com/office/drawing/2014/main" id="{B012F784-8DDE-42FC-B38F-4C2796B3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人工 5.0 天 → 试点 3.2 天</a:t>
            </a:r>
          </a:p>
        </p:txBody>
      </p:sp>
      <p:sp>
        <p:nvSpPr>
          <p:cNvPr id="38" name="total-read">
            <a:extLst xmlns:a="http://schemas.openxmlformats.org/drawingml/2006/main">
              <a:ext uri="{FF2B5EF4-FFF2-40B4-BE49-F238E27FC236}">
                <a16:creationId xmlns:a16="http://schemas.microsoft.com/office/drawing/2014/main" id="{E1F04A45-D97F-4049-8F65-F4BE5FEA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816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三阶段依次发生、互不重叠，所以总计可相加。</a:t>
            </a:r>
          </a:p>
        </p:txBody>
      </p:sp>
      <p:sp>
        <p:nvSpPr>
          <p:cNvPr id="39" name="delta-zone">
            <a:extLst xmlns:a="http://schemas.openxmlformats.org/drawingml/2006/main">
              <a:ext uri="{FF2B5EF4-FFF2-40B4-BE49-F238E27FC236}">
                <a16:creationId xmlns:a16="http://schemas.microsoft.com/office/drawing/2014/main" id="{57E9F333-C170-445F-AB84-5A448E6B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8590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0">
            <a:solidFill>
              <a:srgbClr val="DAE2EB"/>
            </a:solidFill>
            <a:prstDash val="solid"/>
          </a:ln>
        </p:spPr>
      </p:sp>
      <p:sp>
        <p:nvSpPr>
          <p:cNvPr id="40" name="delta-heading">
            <a:extLst xmlns:a="http://schemas.openxmlformats.org/drawingml/2006/main">
              <a:ext uri="{FF2B5EF4-FFF2-40B4-BE49-F238E27FC236}">
                <a16:creationId xmlns:a16="http://schemas.microsoft.com/office/drawing/2014/main" id="{2FB2FE62-6E23-461B-B104-A383CC6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总计差异</a:t>
            </a:r>
          </a:p>
        </p:txBody>
      </p:sp>
      <p:sp>
        <p:nvSpPr>
          <p:cNvPr id="41" name="delta-value">
            <a:extLst xmlns:a="http://schemas.openxmlformats.org/drawingml/2006/main">
              <a:ext uri="{FF2B5EF4-FFF2-40B4-BE49-F238E27FC236}">
                <a16:creationId xmlns:a16="http://schemas.microsoft.com/office/drawing/2014/main" id="{132B952E-F25D-488D-995C-2715F6FD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43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少 1.8 天</a:t>
            </a:r>
          </a:p>
        </p:txBody>
      </p:sp>
      <p:sp>
        <p:nvSpPr>
          <p:cNvPr id="42" name="delta-percent">
            <a:extLst xmlns:a="http://schemas.openxmlformats.org/drawingml/2006/main">
              <a:ext uri="{FF2B5EF4-FFF2-40B4-BE49-F238E27FC236}">
                <a16:creationId xmlns:a16="http://schemas.microsoft.com/office/drawing/2014/main" id="{96016637-A450-4F11-A9A9-A78DB92D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相对人工少 36%（5.0 → 3.2）</a:t>
            </a:r>
          </a:p>
        </p:txBody>
      </p:sp>
      <p:sp>
        <p:nvSpPr>
          <p:cNvPr id="43" name="interpretation-zone">
            <a:extLst xmlns:a="http://schemas.openxmlformats.org/drawingml/2006/main">
              <a:ext uri="{FF2B5EF4-FFF2-40B4-BE49-F238E27FC236}">
                <a16:creationId xmlns:a16="http://schemas.microsoft.com/office/drawing/2014/main" id="{CB8BBDE7-F64D-4411-88DE-1D187E4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3333750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F4F4F5"/>
            </a:solidFill>
            <a:prstDash val="solid"/>
          </a:ln>
        </p:spPr>
      </p:sp>
      <p:sp>
        <p:nvSpPr>
          <p:cNvPr id="44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99F05EA7-D879-44D5-8340-B4F5B03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81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5" name="finding-heading">
            <a:extLst xmlns:a="http://schemas.openxmlformats.org/drawingml/2006/main">
              <a:ext uri="{FF2B5EF4-FFF2-40B4-BE49-F238E27FC236}">
                <a16:creationId xmlns:a16="http://schemas.microsoft.com/office/drawing/2014/main" id="{789ADB23-ED33-4EDB-8CF2-C0A6843E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最大差距</a:t>
            </a:r>
          </a:p>
        </p:txBody>
      </p:sp>
      <p:sp>
        <p:nvSpPr>
          <p:cNvPr id="46" name="finding-body">
            <a:extLst xmlns:a="http://schemas.openxmlformats.org/drawingml/2006/main">
              <a:ext uri="{FF2B5EF4-FFF2-40B4-BE49-F238E27FC236}">
                <a16:creationId xmlns:a16="http://schemas.microsoft.com/office/drawing/2014/main" id="{9543CA9F-F77A-492C-B411-CCF7C4AF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教师处理及等待：少 1.0 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试点仍占总时长一半。</a:t>
            </a:r>
          </a:p>
        </p:txBody>
      </p:sp>
      <p:sp>
        <p:nvSpPr>
          <p:cNvPr id="47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15535618-48C6-4BBC-B082-5B4AE735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读法限制</a:t>
            </a:r>
          </a:p>
        </p:txBody>
      </p:sp>
      <p:sp>
        <p:nvSpPr>
          <p:cNvPr id="48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8E66C060-A11C-4B15-B66B-B9C3CD78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48200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教师处理与等待合并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不能把这段全部写成排队。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难度与负荷未控制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无随机分组，不作因果归因。</a:t>
            </a:r>
          </a:p>
        </p:txBody>
      </p:sp>
      <p:sp>
        <p:nvSpPr>
          <p:cNvPr id="49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9C2D8E8A-98FD-4F4B-BCA8-6FF34114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816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下一轮不承诺再次降时。</a:t>
            </a:r>
          </a:p>
        </p:txBody>
      </p:sp>
      <p:sp>
        <p:nvSpPr>
          <p:cNvPr id="5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A27CBC4-16D4-4580-A829-D841C7C3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5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AF68D56-20C1-41C9-8DF0-C21DFCAA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来源：虚构测试数据与方案｜两批来自不同月份；事项难度与人员负荷未控制；不代表任何真实大学的绩效报告。</a:t>
            </a:r>
          </a:p>
        </p:txBody>
      </p:sp>
      <p:sp>
        <p:nvSpPr>
          <p:cNvPr id="5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9FEED8-510F-47A7-8492-F62BC5F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定量</a:t>
            </a:r>
          </a:p>
        </p:txBody>
      </p:sp>
    </p:spTree>
    <p:extLst>
      <p:ext uri="{BB962C8B-B14F-4D97-AF65-F5344CB8AC3E}">
        <p14:creationId xmlns:p14="http://schemas.microsoft.com/office/powerpoint/2010/main" val="1869063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2026-09-06T00:39:07.8040000Z</dcterms:created>
  <dcterms:modified xsi:type="dcterms:W3CDTF">2026-09-06T00:39:07.8040000Z</dcterms:modified>
</coreProperties>
</file>