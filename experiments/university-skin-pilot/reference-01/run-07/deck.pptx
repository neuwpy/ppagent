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0cb54ea6aa41ad" /><Relationship Type="http://schemas.openxmlformats.org/officeDocument/2006/relationships/extended-properties" Target="/docProps/app.xml" Id="Ra319e15871a541a3" /><Relationship Type="http://schemas.openxmlformats.org/officeDocument/2006/relationships/officeDocument" Target="/ppt/presentation.xml" Id="Rcfbe106cda444c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b576cb02ee4fbb"/>
  </p:sldMasterIdLst>
  <p:notesMasterIdLst>
    <p:notesMasterId xmlns:r="http://schemas.openxmlformats.org/officeDocument/2006/relationships" r:id="Re68b9d5c95ed4dac"/>
  </p:notesMasterIdLst>
  <p:sldIdLst>
    <p:sldId xmlns:r="http://schemas.openxmlformats.org/officeDocument/2006/relationships" id="256" r:id="R54046bac1c1c4c16"/>
    <p:sldId xmlns:r="http://schemas.openxmlformats.org/officeDocument/2006/relationships" id="257" r:id="R6404a6c0f1834e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76cfa29ec6479c" /><Relationship Type="http://schemas.openxmlformats.org/officeDocument/2006/relationships/slideMaster" Target="/ppt/slideMasters/slideMaster1.xml" Id="R0db576cb02ee4fbb" /><Relationship Type="http://schemas.openxmlformats.org/officeDocument/2006/relationships/notesMaster" Target="/ppt/notesMasters/notesMaster1.xml" Id="Re68b9d5c95ed4dac" /><Relationship Type="http://schemas.openxmlformats.org/officeDocument/2006/relationships/presProps" Target="/ppt/presProps.xml" Id="R0696d55786b6448c" /><Relationship Type="http://schemas.openxmlformats.org/officeDocument/2006/relationships/tableStyles" Target="/ppt/tableStyles.xml" Id="R154083453bbd4e61" /><Relationship Type="http://schemas.openxmlformats.org/officeDocument/2006/relationships/slide" Target="/ppt/slides/slide1.xml" Id="R54046bac1c1c4c16" /><Relationship Type="http://schemas.openxmlformats.org/officeDocument/2006/relationships/slide" Target="/ppt/slides/slide2.xml" Id="R6404a6c0f1834e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e735dfa0d34d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3146fef1d54281" /><Relationship Type="http://schemas.openxmlformats.org/officeDocument/2006/relationships/notesMaster" Target="/ppt/notesMasters/notesMaster1.xml" Id="Rc4e0dfcd00db4e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bcc4533c76440d" /><Relationship Type="http://schemas.openxmlformats.org/officeDocument/2006/relationships/notesMaster" Target="/ppt/notesMasters/notesMaster1.xml" Id="R9452cb07999848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v6修订：总量与分量共享证据区，右侧只解释教师处理及等待为何重要，并保留未控制难度/负荷与无法拆分等待处理的边界。数据与场景均为虚构测试材料。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v7修订：上部是三阶段门禁骨架，职责与局部异常沿对应阶段展开；跨阶段时间记录和四周评估独立排布。计划尚未实施。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31d2ebdd341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8edaf6d4854c26" /><Relationship Type="http://schemas.openxmlformats.org/officeDocument/2006/relationships/slideLayout" Target="/ppt/slideLayouts/slideLayout1.xml" Id="R2701441746914f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01441746914f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69738ac674526" /><Relationship Type="http://schemas.openxmlformats.org/officeDocument/2006/relationships/notesSlide" Target="/ppt/notesSlides/notesSlide1.xml" Id="R9972f3d922cf46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18763cca74e4c" /><Relationship Type="http://schemas.openxmlformats.org/officeDocument/2006/relationships/notesSlide" Target="/ppt/notesSlides/notesSlide2.xml" Id="R529beaabf07f4a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page-title-1">
            <a:extLst xmlns:a="http://schemas.openxmlformats.org/drawingml/2006/main">
              <a:ext uri="{FF2B5EF4-FFF2-40B4-BE49-F238E27FC236}">
                <a16:creationId xmlns:a16="http://schemas.microsoft.com/office/drawing/2014/main" id="{D5A12E70-351C-4EB9-AD39-D18B70D8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试点批次平均处理用时更短，但差距主要来自教师处理及等待</a:t>
            </a:r>
          </a:p>
        </p:txBody>
      </p:sp>
      <p:sp>
        <p:nvSpPr>
          <p:cNvPr id="2" name="header-rule-1">
            <a:extLst xmlns:a="http://schemas.openxmlformats.org/drawingml/2006/main">
              <a:ext uri="{FF2B5EF4-FFF2-40B4-BE49-F238E27FC236}">
                <a16:creationId xmlns:a16="http://schemas.microsoft.com/office/drawing/2014/main" id="{11188E0E-4219-4419-B6E1-7838234B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page-context-1">
            <a:extLst xmlns:a="http://schemas.openxmlformats.org/drawingml/2006/main">
              <a:ext uri="{FF2B5EF4-FFF2-40B4-BE49-F238E27FC236}">
                <a16:creationId xmlns:a16="http://schemas.microsoft.com/office/drawing/2014/main" id="{4AA6F25B-DC90-4F08-8B53-CF2E8E4C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两批各 120 件已结案申请｜比较指标：首次提交至完成处理的平均工作日</a:t>
            </a:r>
          </a:p>
        </p:txBody>
      </p:sp>
      <p:sp>
        <p:nvSpPr>
          <p:cNvPr id="4" name="stage-heading">
            <a:extLst xmlns:a="http://schemas.openxmlformats.org/drawingml/2006/main">
              <a:ext uri="{FF2B5EF4-FFF2-40B4-BE49-F238E27FC236}">
                <a16:creationId xmlns:a16="http://schemas.microsoft.com/office/drawing/2014/main" id="{FF54A4CF-7F1F-4F4E-B3F1-F85EEDC2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阶段用时（工作日）</a:t>
            </a:r>
          </a:p>
        </p:txBody>
      </p:sp>
      <p:sp>
        <p:nvSpPr>
          <p:cNvPr id="5" name="legend-old">
            <a:extLst xmlns:a="http://schemas.openxmlformats.org/drawingml/2006/main">
              <a:ext uri="{FF2B5EF4-FFF2-40B4-BE49-F238E27FC236}">
                <a16:creationId xmlns:a16="http://schemas.microsoft.com/office/drawing/2014/main" id="{03E9C5C6-6372-4872-A6C9-A295C5EE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71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5B8"/>
          </a:solidFill>
          <a:ln xmlns:a="http://schemas.openxmlformats.org/drawingml/2006/main" w="0">
            <a:solidFill>
              <a:srgbClr val="B3B5B8"/>
            </a:solidFill>
            <a:prstDash val="solid"/>
          </a:ln>
        </p:spPr>
      </p:sp>
      <p:sp>
        <p:nvSpPr>
          <p:cNvPr id="6" name="legend-old-text">
            <a:extLst xmlns:a="http://schemas.openxmlformats.org/drawingml/2006/main">
              <a:ext uri="{FF2B5EF4-FFF2-40B4-BE49-F238E27FC236}">
                <a16:creationId xmlns:a16="http://schemas.microsoft.com/office/drawing/2014/main" id="{A2879F31-41A1-4B86-A6F5-5E57A360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524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人工受理</a:t>
            </a:r>
          </a:p>
        </p:txBody>
      </p:sp>
      <p:sp>
        <p:nvSpPr>
          <p:cNvPr id="7" name="legend-pilot">
            <a:extLst xmlns:a="http://schemas.openxmlformats.org/drawingml/2006/main">
              <a:ext uri="{FF2B5EF4-FFF2-40B4-BE49-F238E27FC236}">
                <a16:creationId xmlns:a16="http://schemas.microsoft.com/office/drawing/2014/main" id="{0455AA6B-6BE4-4223-8499-29482028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71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8" name="legend-pilot-text">
            <a:extLst xmlns:a="http://schemas.openxmlformats.org/drawingml/2006/main">
              <a:ext uri="{FF2B5EF4-FFF2-40B4-BE49-F238E27FC236}">
                <a16:creationId xmlns:a16="http://schemas.microsoft.com/office/drawing/2014/main" id="{C86B7456-2970-4BAE-8BCE-B826F9BC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524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试点受理</a:t>
            </a:r>
          </a:p>
        </p:txBody>
      </p:sp>
      <p:sp>
        <p:nvSpPr>
          <p:cNvPr id="9" name="chart-grid-0-top">
            <a:extLst xmlns:a="http://schemas.openxmlformats.org/drawingml/2006/main">
              <a:ext uri="{FF2B5EF4-FFF2-40B4-BE49-F238E27FC236}">
                <a16:creationId xmlns:a16="http://schemas.microsoft.com/office/drawing/2014/main" id="{FED2808B-2B02-4625-AE3F-A3B3FD4C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478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0" name="chart-grid-0-bottom">
            <a:extLst xmlns:a="http://schemas.openxmlformats.org/drawingml/2006/main">
              <a:ext uri="{FF2B5EF4-FFF2-40B4-BE49-F238E27FC236}">
                <a16:creationId xmlns:a16="http://schemas.microsoft.com/office/drawing/2014/main" id="{C236C3C7-5589-4986-B1D0-CCE9A01B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767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1" name="chart-tick-0">
            <a:extLst xmlns:a="http://schemas.openxmlformats.org/drawingml/2006/main">
              <a:ext uri="{FF2B5EF4-FFF2-40B4-BE49-F238E27FC236}">
                <a16:creationId xmlns:a16="http://schemas.microsoft.com/office/drawing/2014/main" id="{9630BD62-F53C-4AE0-A7AA-92B66239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chart-grid-1-top">
            <a:extLst xmlns:a="http://schemas.openxmlformats.org/drawingml/2006/main">
              <a:ext uri="{FF2B5EF4-FFF2-40B4-BE49-F238E27FC236}">
                <a16:creationId xmlns:a16="http://schemas.microsoft.com/office/drawing/2014/main" id="{CBE32D4A-081B-4D0A-8EF0-E7286143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20478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3" name="chart-grid-1-bottom">
            <a:extLst xmlns:a="http://schemas.openxmlformats.org/drawingml/2006/main">
              <a:ext uri="{FF2B5EF4-FFF2-40B4-BE49-F238E27FC236}">
                <a16:creationId xmlns:a16="http://schemas.microsoft.com/office/drawing/2014/main" id="{37388894-9D88-4A2D-817E-4BDA6B15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40767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4" name="chart-tick-1">
            <a:extLst xmlns:a="http://schemas.openxmlformats.org/drawingml/2006/main">
              <a:ext uri="{FF2B5EF4-FFF2-40B4-BE49-F238E27FC236}">
                <a16:creationId xmlns:a16="http://schemas.microsoft.com/office/drawing/2014/main" id="{FC6CC3B5-CFF5-4681-A9B1-5FD2B7BE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chart-grid-2-top">
            <a:extLst xmlns:a="http://schemas.openxmlformats.org/drawingml/2006/main">
              <a:ext uri="{FF2B5EF4-FFF2-40B4-BE49-F238E27FC236}">
                <a16:creationId xmlns:a16="http://schemas.microsoft.com/office/drawing/2014/main" id="{E8928D6F-0132-4D04-B4C5-D1C697DC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20478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6" name="chart-grid-2-bottom">
            <a:extLst xmlns:a="http://schemas.openxmlformats.org/drawingml/2006/main">
              <a:ext uri="{FF2B5EF4-FFF2-40B4-BE49-F238E27FC236}">
                <a16:creationId xmlns:a16="http://schemas.microsoft.com/office/drawing/2014/main" id="{88C540CC-D985-407B-888F-A9166FB0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40767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7" name="chart-tick-2">
            <a:extLst xmlns:a="http://schemas.openxmlformats.org/drawingml/2006/main">
              <a:ext uri="{FF2B5EF4-FFF2-40B4-BE49-F238E27FC236}">
                <a16:creationId xmlns:a16="http://schemas.microsoft.com/office/drawing/2014/main" id="{8E0A4429-4509-40E2-99A4-B4E5F1A5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905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chart-grid-3-top">
            <a:extLst xmlns:a="http://schemas.openxmlformats.org/drawingml/2006/main">
              <a:ext uri="{FF2B5EF4-FFF2-40B4-BE49-F238E27FC236}">
                <a16:creationId xmlns:a16="http://schemas.microsoft.com/office/drawing/2014/main" id="{60B2A3D8-D645-497B-87FB-4D4BC2A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9" name="chart-grid-3-bottom">
            <a:extLst xmlns:a="http://schemas.openxmlformats.org/drawingml/2006/main">
              <a:ext uri="{FF2B5EF4-FFF2-40B4-BE49-F238E27FC236}">
                <a16:creationId xmlns:a16="http://schemas.microsoft.com/office/drawing/2014/main" id="{CE8E6123-6567-4704-A5F6-C07C832C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20" name="chart-tick-3">
            <a:extLst xmlns:a="http://schemas.openxmlformats.org/drawingml/2006/main">
              <a:ext uri="{FF2B5EF4-FFF2-40B4-BE49-F238E27FC236}">
                <a16:creationId xmlns:a16="http://schemas.microsoft.com/office/drawing/2014/main" id="{9C7B612C-90A3-4B15-9409-166693BF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chart-baseline">
            <a:extLst xmlns:a="http://schemas.openxmlformats.org/drawingml/2006/main">
              <a:ext uri="{FF2B5EF4-FFF2-40B4-BE49-F238E27FC236}">
                <a16:creationId xmlns:a16="http://schemas.microsoft.com/office/drawing/2014/main" id="{6570BD0C-615F-4897-B8AD-61629584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481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22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0EEBA2C3-8F84-4879-9BF8-17EBEF15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574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23" name="manual-bar-0">
            <a:extLst xmlns:a="http://schemas.openxmlformats.org/drawingml/2006/main">
              <a:ext uri="{FF2B5EF4-FFF2-40B4-BE49-F238E27FC236}">
                <a16:creationId xmlns:a16="http://schemas.microsoft.com/office/drawing/2014/main" id="{CB501EAB-70AA-45DB-A99D-3986CFE8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09800"/>
            <a:ext cx="1193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5B8"/>
          </a:solidFill>
          <a:ln xmlns:a="http://schemas.openxmlformats.org/drawingml/2006/main" w="0">
            <a:solidFill>
              <a:srgbClr val="B3B5B8"/>
            </a:solidFill>
            <a:prstDash val="solid"/>
          </a:ln>
        </p:spPr>
      </p:sp>
      <p:sp>
        <p:nvSpPr>
          <p:cNvPr id="24" name="manual-value-0">
            <a:extLst xmlns:a="http://schemas.openxmlformats.org/drawingml/2006/main">
              <a:ext uri="{FF2B5EF4-FFF2-40B4-BE49-F238E27FC236}">
                <a16:creationId xmlns:a16="http://schemas.microsoft.com/office/drawing/2014/main" id="{ED1C75DD-96D4-4E60-A034-2D9E0CF6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171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0.8 天</a:t>
            </a:r>
          </a:p>
        </p:txBody>
      </p:sp>
      <p:sp>
        <p:nvSpPr>
          <p:cNvPr id="25" name="pilot-bar-0">
            <a:extLst xmlns:a="http://schemas.openxmlformats.org/drawingml/2006/main">
              <a:ext uri="{FF2B5EF4-FFF2-40B4-BE49-F238E27FC236}">
                <a16:creationId xmlns:a16="http://schemas.microsoft.com/office/drawing/2014/main" id="{182EB7C2-432A-4135-8AD6-A15B3D33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47925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6" name="pilot-value-0">
            <a:extLst xmlns:a="http://schemas.openxmlformats.org/drawingml/2006/main">
              <a:ext uri="{FF2B5EF4-FFF2-40B4-BE49-F238E27FC236}">
                <a16:creationId xmlns:a16="http://schemas.microsoft.com/office/drawing/2014/main" id="{3EC0319B-16AD-4EF0-8143-A8F2F05A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9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0.6 天</a:t>
            </a:r>
          </a:p>
        </p:txBody>
      </p:sp>
      <p:sp>
        <p:nvSpPr>
          <p:cNvPr id="27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59107F51-D9E5-45ED-8D1F-F19479A4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2417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材料核对</a:t>
            </a:r>
          </a:p>
        </p:txBody>
      </p:sp>
      <p:sp>
        <p:nvSpPr>
          <p:cNvPr id="28" name="manual-bar-1">
            <a:extLst xmlns:a="http://schemas.openxmlformats.org/drawingml/2006/main">
              <a:ext uri="{FF2B5EF4-FFF2-40B4-BE49-F238E27FC236}">
                <a16:creationId xmlns:a16="http://schemas.microsoft.com/office/drawing/2014/main" id="{039A5F22-9C11-476E-89A7-EA69022A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76550"/>
            <a:ext cx="2387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5B8"/>
          </a:solidFill>
          <a:ln xmlns:a="http://schemas.openxmlformats.org/drawingml/2006/main" w="0">
            <a:solidFill>
              <a:srgbClr val="B3B5B8"/>
            </a:solidFill>
            <a:prstDash val="solid"/>
          </a:ln>
        </p:spPr>
      </p:sp>
      <p:sp>
        <p:nvSpPr>
          <p:cNvPr id="29" name="manual-value-1">
            <a:extLst xmlns:a="http://schemas.openxmlformats.org/drawingml/2006/main">
              <a:ext uri="{FF2B5EF4-FFF2-40B4-BE49-F238E27FC236}">
                <a16:creationId xmlns:a16="http://schemas.microsoft.com/office/drawing/2014/main" id="{57F16046-EB5D-4A10-8C8F-010A87F6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2838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1.6 天</a:t>
            </a:r>
          </a:p>
        </p:txBody>
      </p:sp>
      <p:sp>
        <p:nvSpPr>
          <p:cNvPr id="30" name="pilot-bar-1">
            <a:extLst xmlns:a="http://schemas.openxmlformats.org/drawingml/2006/main">
              <a:ext uri="{FF2B5EF4-FFF2-40B4-BE49-F238E27FC236}">
                <a16:creationId xmlns:a16="http://schemas.microsoft.com/office/drawing/2014/main" id="{3A2642BC-D574-4F42-820E-3977010C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14675"/>
            <a:ext cx="149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1" name="pilot-value-1">
            <a:extLst xmlns:a="http://schemas.openxmlformats.org/drawingml/2006/main">
              <a:ext uri="{FF2B5EF4-FFF2-40B4-BE49-F238E27FC236}">
                <a16:creationId xmlns:a16="http://schemas.microsoft.com/office/drawing/2014/main" id="{755B9BC8-E7CE-4504-B267-79552766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3076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1.0 天</a:t>
            </a:r>
          </a:p>
        </p:txBody>
      </p:sp>
      <p:sp>
        <p:nvSpPr>
          <p:cNvPr id="32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C1BFBB53-C5F9-4F8A-B95D-A07C77FC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909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</a:t>
            </a:r>
          </a:p>
        </p:txBody>
      </p:sp>
      <p:sp>
        <p:nvSpPr>
          <p:cNvPr id="33" name="manual-bar-2">
            <a:extLst xmlns:a="http://schemas.openxmlformats.org/drawingml/2006/main">
              <a:ext uri="{FF2B5EF4-FFF2-40B4-BE49-F238E27FC236}">
                <a16:creationId xmlns:a16="http://schemas.microsoft.com/office/drawing/2014/main" id="{84E40C2F-94A7-4EEB-A659-978718BB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43300"/>
            <a:ext cx="387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5B8"/>
          </a:solidFill>
          <a:ln xmlns:a="http://schemas.openxmlformats.org/drawingml/2006/main" w="0">
            <a:solidFill>
              <a:srgbClr val="B3B5B8"/>
            </a:solidFill>
            <a:prstDash val="solid"/>
          </a:ln>
        </p:spPr>
      </p:sp>
      <p:sp>
        <p:nvSpPr>
          <p:cNvPr id="34" name="manual-value-2">
            <a:extLst xmlns:a="http://schemas.openxmlformats.org/drawingml/2006/main">
              <a:ext uri="{FF2B5EF4-FFF2-40B4-BE49-F238E27FC236}">
                <a16:creationId xmlns:a16="http://schemas.microsoft.com/office/drawing/2014/main" id="{3EA5E61F-2E30-4A25-A0B2-E18D55E4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050" y="35052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2.6 天</a:t>
            </a:r>
          </a:p>
        </p:txBody>
      </p:sp>
      <p:sp>
        <p:nvSpPr>
          <p:cNvPr id="35" name="pilot-bar-2">
            <a:extLst xmlns:a="http://schemas.openxmlformats.org/drawingml/2006/main">
              <a:ext uri="{FF2B5EF4-FFF2-40B4-BE49-F238E27FC236}">
                <a16:creationId xmlns:a16="http://schemas.microsoft.com/office/drawing/2014/main" id="{CDD8210E-83B9-4631-8403-774131AD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81425"/>
            <a:ext cx="2387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6" name="pilot-value-2">
            <a:extLst xmlns:a="http://schemas.openxmlformats.org/drawingml/2006/main">
              <a:ext uri="{FF2B5EF4-FFF2-40B4-BE49-F238E27FC236}">
                <a16:creationId xmlns:a16="http://schemas.microsoft.com/office/drawing/2014/main" id="{89F68D3C-3891-4AE2-9E0F-D19002BE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37433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1.6 天</a:t>
            </a:r>
          </a:p>
        </p:txBody>
      </p:sp>
      <p:sp>
        <p:nvSpPr>
          <p:cNvPr id="37" name="total-rule">
            <a:extLst xmlns:a="http://schemas.openxmlformats.org/drawingml/2006/main">
              <a:ext uri="{FF2B5EF4-FFF2-40B4-BE49-F238E27FC236}">
                <a16:creationId xmlns:a16="http://schemas.microsoft.com/office/drawing/2014/main" id="{D7EDC134-DB86-4E5A-8816-B5F9831C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38" name="total-label">
            <a:extLst xmlns:a="http://schemas.openxmlformats.org/drawingml/2006/main">
              <a:ext uri="{FF2B5EF4-FFF2-40B4-BE49-F238E27FC236}">
                <a16:creationId xmlns:a16="http://schemas.microsoft.com/office/drawing/2014/main" id="{6B2092A6-C8E4-4ADC-B8E1-2A2FCA6D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43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总计</a:t>
            </a:r>
          </a:p>
        </p:txBody>
      </p:sp>
      <p:sp>
        <p:nvSpPr>
          <p:cNvPr id="39" name="total-value">
            <a:extLst xmlns:a="http://schemas.openxmlformats.org/drawingml/2006/main">
              <a:ext uri="{FF2B5EF4-FFF2-40B4-BE49-F238E27FC236}">
                <a16:creationId xmlns:a16="http://schemas.microsoft.com/office/drawing/2014/main" id="{1E0CA24A-850F-4EDE-A251-9B88C405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43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人工 5.0 天  →  试点 3.2 天  ｜  少 1.8 天（36%）</a:t>
            </a:r>
          </a:p>
        </p:txBody>
      </p:sp>
      <p:sp>
        <p:nvSpPr>
          <p:cNvPr id="40" name="stage-read">
            <a:extLst xmlns:a="http://schemas.openxmlformats.org/drawingml/2006/main">
              <a:ext uri="{FF2B5EF4-FFF2-40B4-BE49-F238E27FC236}">
                <a16:creationId xmlns:a16="http://schemas.microsoft.com/office/drawing/2014/main" id="{52356DA3-B245-425E-9510-450F8E5C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05400"/>
            <a:ext cx="623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三阶段依次发生、互不重叠，阶段均值可以相加。</a:t>
            </a:r>
          </a:p>
        </p:txBody>
      </p:sp>
      <p:sp>
        <p:nvSpPr>
          <p:cNvPr id="41" name="right-axis">
            <a:extLst xmlns:a="http://schemas.openxmlformats.org/drawingml/2006/main">
              <a:ext uri="{FF2B5EF4-FFF2-40B4-BE49-F238E27FC236}">
                <a16:creationId xmlns:a16="http://schemas.microsoft.com/office/drawing/2014/main" id="{0C1FF858-A3CB-40CE-8DA4-81D4DFC8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04950"/>
            <a:ext cx="381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2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8EC9D55C-AA81-46CA-80C0-EC4649A1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24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</a:t>
            </a:r>
          </a:p>
        </p:txBody>
      </p:sp>
      <p:sp>
        <p:nvSpPr>
          <p:cNvPr id="43" name="right-finding">
            <a:extLst xmlns:a="http://schemas.openxmlformats.org/drawingml/2006/main">
              <a:ext uri="{FF2B5EF4-FFF2-40B4-BE49-F238E27FC236}">
                <a16:creationId xmlns:a16="http://schemas.microsoft.com/office/drawing/2014/main" id="{FE406125-C5C6-4EC6-8A73-3D58A8D3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431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三阶段中差距最大：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试点比人工少 1.0 天。</a:t>
            </a:r>
          </a:p>
        </p:txBody>
      </p:sp>
      <p:sp>
        <p:nvSpPr>
          <p:cNvPr id="44" name="right-meaning">
            <a:extLst xmlns:a="http://schemas.openxmlformats.org/drawingml/2006/main">
              <a:ext uri="{FF2B5EF4-FFF2-40B4-BE49-F238E27FC236}">
                <a16:creationId xmlns:a16="http://schemas.microsoft.com/office/drawing/2014/main" id="{51D3670F-2ABA-4059-A10D-D7AE08FC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337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它在试点侧仍占总时长一半，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是下一轮最需要拆分记录的环节。</a:t>
            </a:r>
          </a:p>
        </p:txBody>
      </p:sp>
      <p:sp>
        <p:nvSpPr>
          <p:cNvPr id="45" name="right-boundary-heading">
            <a:extLst xmlns:a="http://schemas.openxmlformats.org/drawingml/2006/main">
              <a:ext uri="{FF2B5EF4-FFF2-40B4-BE49-F238E27FC236}">
                <a16:creationId xmlns:a16="http://schemas.microsoft.com/office/drawing/2014/main" id="{72C3957F-D223-4B86-B6AD-59036414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243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比较边界</a:t>
            </a:r>
          </a:p>
        </p:txBody>
      </p:sp>
      <p:sp>
        <p:nvSpPr>
          <p:cNvPr id="46" name="right-boundary">
            <a:extLst xmlns:a="http://schemas.openxmlformats.org/drawingml/2006/main">
              <a:ext uri="{FF2B5EF4-FFF2-40B4-BE49-F238E27FC236}">
                <a16:creationId xmlns:a16="http://schemas.microsoft.com/office/drawing/2014/main" id="{6A6398FF-DC20-4022-8947-C91261F2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43400"/>
            <a:ext cx="3381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仅覆盖已结案申请；两批事项难度和人员负荷未控制，不能将时间差异归因于试点。现有合并记录也不能把等待与教师实际处理时间分开。</a:t>
            </a:r>
          </a:p>
        </p:txBody>
      </p:sp>
      <p:sp>
        <p:nvSpPr>
          <p:cNvPr id="47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F3211B65-55A6-45B3-A7BC-B3A29282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48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4BFEE7B0-73FC-4AD0-9B23-929A787D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912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来源：虚构测试数据与方案｜两批不同月份，各 120 件已结案申请；不是任何真实大学的绩效报告。</a:t>
            </a:r>
          </a:p>
        </p:txBody>
      </p:sp>
      <p:sp>
        <p:nvSpPr>
          <p:cNvPr id="49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B77BA281-3149-40F6-8C5F-5CF37F38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608006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age-title-2">
            <a:extLst xmlns:a="http://schemas.openxmlformats.org/drawingml/2006/main">
              <a:ext uri="{FF2B5EF4-FFF2-40B4-BE49-F238E27FC236}">
                <a16:creationId xmlns:a16="http://schemas.microsoft.com/office/drawing/2014/main" id="{1C7A08A9-E9AA-41A9-A8D5-1671315D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下一轮先验证分工能否执行，再用完整时间戳拆开等待与处理</a:t>
            </a:r>
          </a:p>
        </p:txBody>
      </p:sp>
      <p:sp>
        <p:nvSpPr>
          <p:cNvPr id="2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AE264E98-5741-4AF5-AC4A-1CBA5543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page-context-2">
            <a:extLst xmlns:a="http://schemas.openxmlformats.org/drawingml/2006/main">
              <a:ext uri="{FF2B5EF4-FFF2-40B4-BE49-F238E27FC236}">
                <a16:creationId xmlns:a16="http://schemas.microsoft.com/office/drawing/2014/main" id="{9EDCD859-9FB8-4C64-8A6E-0F1B4DE6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下一轮安排｜4 周、仅限常规申请｜计划状态：尚未实施</a:t>
            </a:r>
          </a:p>
        </p:txBody>
      </p:sp>
      <p:sp>
        <p:nvSpPr>
          <p:cNvPr id="4" name="flow-anchor-0">
            <a:extLst xmlns:a="http://schemas.openxmlformats.org/drawingml/2006/main">
              <a:ext uri="{FF2B5EF4-FFF2-40B4-BE49-F238E27FC236}">
                <a16:creationId xmlns:a16="http://schemas.microsoft.com/office/drawing/2014/main" id="{32F0369C-1BAC-44EC-A870-B5FBB443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1460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flow-anchor-1">
            <a:extLst xmlns:a="http://schemas.openxmlformats.org/drawingml/2006/main">
              <a:ext uri="{FF2B5EF4-FFF2-40B4-BE49-F238E27FC236}">
                <a16:creationId xmlns:a16="http://schemas.microsoft.com/office/drawing/2014/main" id="{810F366E-2A5C-4802-841C-09AE3E04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1460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flow-anchor-2">
            <a:extLst xmlns:a="http://schemas.openxmlformats.org/drawingml/2006/main">
              <a:ext uri="{FF2B5EF4-FFF2-40B4-BE49-F238E27FC236}">
                <a16:creationId xmlns:a16="http://schemas.microsoft.com/office/drawing/2014/main" id="{952912E6-BFA3-479F-9B5D-658CCFA2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1460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"/>
          <p:cNvCxnSpPr>
            <a:stCxn xmlns:a="http://schemas.openxmlformats.org/drawingml/2006/main" id="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2209800" y="2628900"/>
            <a:ext cx="377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6210300" y="2628900"/>
            <a:ext cx="377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sp>
        <p:nvSpPr>
          <p:cNvPr id="9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90F923EC-BAB8-4ACB-89BA-ACCFCF86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10" name="phase-owner-0">
            <a:extLst xmlns:a="http://schemas.openxmlformats.org/drawingml/2006/main">
              <a:ext uri="{FF2B5EF4-FFF2-40B4-BE49-F238E27FC236}">
                <a16:creationId xmlns:a16="http://schemas.microsoft.com/office/drawing/2014/main" id="{65C463D6-9580-44E1-A3E2-0A996329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责任：服务助理</a:t>
            </a:r>
          </a:p>
        </p:txBody>
      </p:sp>
      <p:sp>
        <p:nvSpPr>
          <p:cNvPr id="11" name="flow-node-0">
            <a:extLst xmlns:a="http://schemas.openxmlformats.org/drawingml/2006/main">
              <a:ext uri="{FF2B5EF4-FFF2-40B4-BE49-F238E27FC236}">
                <a16:creationId xmlns:a16="http://schemas.microsoft.com/office/drawing/2014/main" id="{37C0728B-22B1-48EF-A500-5CDD78FD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2EB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2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CFE04C7E-2897-4311-97E9-E829BE04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登记事项类型与提交时间。</a:t>
            </a:r>
          </a:p>
        </p:txBody>
      </p:sp>
      <p:sp>
        <p:nvSpPr>
          <p:cNvPr id="13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8DBAB455-D035-4B74-B192-918DA187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19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核对材料</a:t>
            </a:r>
          </a:p>
        </p:txBody>
      </p:sp>
      <p:sp>
        <p:nvSpPr>
          <p:cNvPr id="14" name="phase-owner-1">
            <a:extLst xmlns:a="http://schemas.openxmlformats.org/drawingml/2006/main">
              <a:ext uri="{FF2B5EF4-FFF2-40B4-BE49-F238E27FC236}">
                <a16:creationId xmlns:a16="http://schemas.microsoft.com/office/drawing/2014/main" id="{374C9764-3754-43A4-BDCA-8E2ABFF9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81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责任：服务助理</a:t>
            </a:r>
          </a:p>
        </p:txBody>
      </p:sp>
      <p:sp>
        <p:nvSpPr>
          <p:cNvPr id="15" name="flow-node-1">
            <a:extLst xmlns:a="http://schemas.openxmlformats.org/drawingml/2006/main">
              <a:ext uri="{FF2B5EF4-FFF2-40B4-BE49-F238E27FC236}">
                <a16:creationId xmlns:a16="http://schemas.microsoft.com/office/drawing/2014/main" id="{3BBDD98E-6672-4285-BA34-B2BA7A38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2EB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6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D444F04D-88E5-4CA8-B4FE-36B46B12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按清单核对齐备性；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齐备后送交教师。</a:t>
            </a:r>
          </a:p>
        </p:txBody>
      </p:sp>
      <p:sp>
        <p:nvSpPr>
          <p:cNvPr id="17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A5ABD91C-D499-417E-9B10-ADD2FF75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619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</a:t>
            </a:r>
          </a:p>
        </p:txBody>
      </p:sp>
      <p:sp>
        <p:nvSpPr>
          <p:cNvPr id="18" name="phase-owner-2">
            <a:extLst xmlns:a="http://schemas.openxmlformats.org/drawingml/2006/main">
              <a:ext uri="{FF2B5EF4-FFF2-40B4-BE49-F238E27FC236}">
                <a16:creationId xmlns:a16="http://schemas.microsoft.com/office/drawing/2014/main" id="{2278D626-BB08-4EC2-A39B-2391B758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81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责任：责任教师</a:t>
            </a:r>
          </a:p>
        </p:txBody>
      </p:sp>
      <p:sp>
        <p:nvSpPr>
          <p:cNvPr id="19" name="flow-node-2">
            <a:extLst xmlns:a="http://schemas.openxmlformats.org/drawingml/2006/main">
              <a:ext uri="{FF2B5EF4-FFF2-40B4-BE49-F238E27FC236}">
                <a16:creationId xmlns:a16="http://schemas.microsoft.com/office/drawing/2014/main" id="{630944FB-F534-4741-88A0-92310276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0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8BFFCCC0-21D7-44EE-87B1-A897AA7A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教师作专业判断并确认答复；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助理不得代替教师承诺。</a:t>
            </a:r>
          </a:p>
        </p:txBody>
      </p:sp>
      <p:sp>
        <p:nvSpPr>
          <p:cNvPr id="21" name="gate-1-marker">
            <a:extLst xmlns:a="http://schemas.openxmlformats.org/drawingml/2006/main">
              <a:ext uri="{FF2B5EF4-FFF2-40B4-BE49-F238E27FC236}">
                <a16:creationId xmlns:a16="http://schemas.microsoft.com/office/drawing/2014/main" id="{F771E401-9F9D-4DA9-8F6B-1AA76902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52700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2" name="gate-1-text">
            <a:extLst xmlns:a="http://schemas.openxmlformats.org/drawingml/2006/main">
              <a:ext uri="{FF2B5EF4-FFF2-40B4-BE49-F238E27FC236}">
                <a16:creationId xmlns:a16="http://schemas.microsoft.com/office/drawing/2014/main" id="{247839FB-B2D8-42AD-8EE0-4FEB88F9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47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授权常规事项</a:t>
            </a:r>
          </a:p>
        </p:txBody>
      </p:sp>
      <p:sp>
        <p:nvSpPr>
          <p:cNvPr id="23" name="gate-2-marker">
            <a:extLst xmlns:a="http://schemas.openxmlformats.org/drawingml/2006/main">
              <a:ext uri="{FF2B5EF4-FFF2-40B4-BE49-F238E27FC236}">
                <a16:creationId xmlns:a16="http://schemas.microsoft.com/office/drawing/2014/main" id="{FFCACA08-C782-4585-8EB5-A5910E10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52700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4" name="gate-2-text">
            <a:extLst xmlns:a="http://schemas.openxmlformats.org/drawingml/2006/main">
              <a:ext uri="{FF2B5EF4-FFF2-40B4-BE49-F238E27FC236}">
                <a16:creationId xmlns:a16="http://schemas.microsoft.com/office/drawing/2014/main" id="{8254CDA1-38D6-4786-A635-0A859D9F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47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材料齐备</a:t>
            </a:r>
          </a:p>
        </p:txBody>
      </p:sp>
      <p:sp>
        <p:nvSpPr>
          <p:cNvPr id="25" name="boundary-heading">
            <a:extLst xmlns:a="http://schemas.openxmlformats.org/drawingml/2006/main">
              <a:ext uri="{FF2B5EF4-FFF2-40B4-BE49-F238E27FC236}">
                <a16:creationId xmlns:a16="http://schemas.microsoft.com/office/drawing/2014/main" id="{32D37BA7-2F3B-4E2B-AB8D-6856837C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超授权 / 非常规事项</a:t>
            </a:r>
          </a:p>
        </p:txBody>
      </p:sp>
      <p:sp>
        <p:nvSpPr>
          <p:cNvPr id="26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F15B7FBE-7A7B-46B6-9974-2ED00E79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暂停流转，由负责人指定处理人。</a:t>
            </a:r>
          </a:p>
        </p:txBody>
      </p:sp>
      <p:sp>
        <p:nvSpPr>
          <p:cNvPr id="27" name="exception-heading">
            <a:extLst xmlns:a="http://schemas.openxmlformats.org/drawingml/2006/main">
              <a:ext uri="{FF2B5EF4-FFF2-40B4-BE49-F238E27FC236}">
                <a16:creationId xmlns:a16="http://schemas.microsoft.com/office/drawing/2014/main" id="{0CCC3AA8-EB2E-418E-AA65-1F18B0DD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缺件时</a:t>
            </a:r>
          </a:p>
        </p:txBody>
      </p:sp>
      <p:sp>
        <p:nvSpPr>
          <p:cNvPr id="28" name="exception-body">
            <a:extLst xmlns:a="http://schemas.openxmlformats.org/drawingml/2006/main">
              <a:ext uri="{FF2B5EF4-FFF2-40B4-BE49-F238E27FC236}">
                <a16:creationId xmlns:a16="http://schemas.microsoft.com/office/drawing/2014/main" id="{D37E429E-353D-4963-92A9-477D06E2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暂停推进 → 通知申请人补齐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补齐后重新核对。</a:t>
            </a:r>
          </a:p>
        </p:txBody>
      </p:sp>
      <p:sp>
        <p:nvSpPr>
          <p:cNvPr id="29" name="timestamp-heading">
            <a:extLst xmlns:a="http://schemas.openxmlformats.org/drawingml/2006/main">
              <a:ext uri="{FF2B5EF4-FFF2-40B4-BE49-F238E27FC236}">
                <a16:creationId xmlns:a16="http://schemas.microsoft.com/office/drawing/2014/main" id="{016EB0F1-46E7-4BEA-B448-711F3862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记录时间点</a:t>
            </a:r>
          </a:p>
        </p:txBody>
      </p:sp>
      <p:sp>
        <p:nvSpPr>
          <p:cNvPr id="30" name="timestamp-values">
            <a:extLst xmlns:a="http://schemas.openxmlformats.org/drawingml/2006/main">
              <a:ext uri="{FF2B5EF4-FFF2-40B4-BE49-F238E27FC236}">
                <a16:creationId xmlns:a16="http://schemas.microsoft.com/office/drawing/2014/main" id="{4E44E686-FFDA-49EA-AE6A-036C30DC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首次提交｜核对完成｜教师接收｜最终答复｜缺件暂停区间</a:t>
            </a:r>
          </a:p>
        </p:txBody>
      </p:sp>
      <p:sp>
        <p:nvSpPr>
          <p:cNvPr id="31" name="timestamp-meaning">
            <a:extLst xmlns:a="http://schemas.openxmlformats.org/drawingml/2006/main">
              <a:ext uri="{FF2B5EF4-FFF2-40B4-BE49-F238E27FC236}">
                <a16:creationId xmlns:a16="http://schemas.microsoft.com/office/drawing/2014/main" id="{0511D950-CF12-46A8-BD65-F3FE5D85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据此分别核对各段等待与教师处理耗时。</a:t>
            </a:r>
          </a:p>
        </p:txBody>
      </p:sp>
      <p:sp>
        <p:nvSpPr>
          <p:cNvPr id="32" name="measure-heading">
            <a:extLst xmlns:a="http://schemas.openxmlformats.org/drawingml/2006/main">
              <a:ext uri="{FF2B5EF4-FFF2-40B4-BE49-F238E27FC236}">
                <a16:creationId xmlns:a16="http://schemas.microsoft.com/office/drawing/2014/main" id="{E2D62FC5-079A-43E8-B641-ACEC0182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四周后</a:t>
            </a:r>
          </a:p>
        </p:txBody>
      </p:sp>
      <p:sp>
        <p:nvSpPr>
          <p:cNvPr id="33" name="measure-body">
            <a:extLst xmlns:a="http://schemas.openxmlformats.org/drawingml/2006/main">
              <a:ext uri="{FF2B5EF4-FFF2-40B4-BE49-F238E27FC236}">
                <a16:creationId xmlns:a16="http://schemas.microsoft.com/office/drawing/2014/main" id="{1EF62C95-F93F-4BD0-BAA8-0D557CB5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0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只判断分工可执行、记录完整；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不承诺再次降时。</a:t>
            </a:r>
          </a:p>
        </p:txBody>
      </p:sp>
      <p:sp>
        <p:nvSpPr>
          <p:cNvPr id="34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2F39D6E6-CF36-47FC-A9EE-34DB7FA4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912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来源：虚构测试数据与方案｜四周分工试点尚未实施；不代表任何真实大学的管理方案。</a:t>
            </a:r>
          </a:p>
        </p:txBody>
      </p:sp>
      <p:sp>
        <p:nvSpPr>
          <p:cNvPr id="3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C2C1212A-4862-48CF-BEFE-DE145A50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57245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2026-09-05T23:47:53.6040000Z</dcterms:created>
  <dcterms:modified xsi:type="dcterms:W3CDTF">2026-09-05T23:47:53.6040000Z</dcterms:modified>
</coreProperties>
</file>