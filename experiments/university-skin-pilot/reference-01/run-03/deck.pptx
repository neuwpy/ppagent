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4544f5808740de" /><Relationship Type="http://schemas.openxmlformats.org/officeDocument/2006/relationships/extended-properties" Target="/docProps/app.xml" Id="R930b806ef12743a8" /><Relationship Type="http://schemas.openxmlformats.org/officeDocument/2006/relationships/officeDocument" Target="/ppt/presentation.xml" Id="R148388780676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5d8f1d16f34a5c"/>
  </p:sldMasterIdLst>
  <p:notesMasterIdLst>
    <p:notesMasterId xmlns:r="http://schemas.openxmlformats.org/officeDocument/2006/relationships" r:id="R719d49bfce4b4519"/>
  </p:notesMasterIdLst>
  <p:sldIdLst>
    <p:sldId xmlns:r="http://schemas.openxmlformats.org/officeDocument/2006/relationships" id="256" r:id="R7b15ef0974184322"/>
    <p:sldId xmlns:r="http://schemas.openxmlformats.org/officeDocument/2006/relationships" id="257" r:id="R8f2e082949cc42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242aa194c407c" /><Relationship Type="http://schemas.openxmlformats.org/officeDocument/2006/relationships/slideMaster" Target="/ppt/slideMasters/slideMaster1.xml" Id="Rcd5d8f1d16f34a5c" /><Relationship Type="http://schemas.openxmlformats.org/officeDocument/2006/relationships/notesMaster" Target="/ppt/notesMasters/notesMaster1.xml" Id="R719d49bfce4b4519" /><Relationship Type="http://schemas.openxmlformats.org/officeDocument/2006/relationships/presProps" Target="/ppt/presProps.xml" Id="Rde68a2b752d74198" /><Relationship Type="http://schemas.openxmlformats.org/officeDocument/2006/relationships/tableStyles" Target="/ppt/tableStyles.xml" Id="R12f2e3cd76ea400f" /><Relationship Type="http://schemas.openxmlformats.org/officeDocument/2006/relationships/slide" Target="/ppt/slides/slide1.xml" Id="R7b15ef0974184322" /><Relationship Type="http://schemas.openxmlformats.org/officeDocument/2006/relationships/slide" Target="/ppt/slides/slide2.xml" Id="R8f2e082949cc42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06b57e743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bf156793641be" /><Relationship Type="http://schemas.openxmlformats.org/officeDocument/2006/relationships/notesMaster" Target="/ppt/notesMasters/notesMaster1.xml" Id="Rbc1b00a85ca245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8188cc511242e7" /><Relationship Type="http://schemas.openxmlformats.org/officeDocument/2006/relationships/notesMaster" Target="/ppt/notesMasters/notesMaster1.xml" Id="Rf60ac67b3b02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v6修订：总量与分量共享证据区，右侧只解释教师处理及等待为何重要，并保留未控制难度/负荷与无法拆分等待处理的边界。数据与场景均为虚构测试材料。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v6修订：只保留三步节点和两条推进条件，职责沿三列对齐；缺件暂停是第二步局部规则，超授权事项与四周评估位于流程外的边界区。计划尚未实施。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d8db2a42d4c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6d60b064a24da8" /><Relationship Type="http://schemas.openxmlformats.org/officeDocument/2006/relationships/slideLayout" Target="/ppt/slideLayouts/slideLayout1.xml" Id="Ra7e77b75edb340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e77b75edb340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0db0536f8466c" /><Relationship Type="http://schemas.openxmlformats.org/officeDocument/2006/relationships/notesSlide" Target="/ppt/notesSlides/notesSlide1.xml" Id="R77d92531e100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dc6897f4748db" /><Relationship Type="http://schemas.openxmlformats.org/officeDocument/2006/relationships/notesSlide" Target="/ppt/notesSlides/notesSlide2.xml" Id="R512343fa55bb4b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8AF27DDE-4FC4-4687-B532-FC5DB81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试点批次平均处理用时更短，但差距主要来自教师处理及等待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F8561666-6AD9-4BAD-9C0B-38D95883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740D2D45-5DEC-4763-A311-372830F4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两批各 120 件已结案申请｜比较指标：首次提交至完成处理的平均工作日</a:t>
            </a:r>
          </a:p>
        </p:txBody>
      </p:sp>
      <p:sp>
        <p:nvSpPr>
          <p:cNvPr id="4" name="stage-heading">
            <a:extLst xmlns:a="http://schemas.openxmlformats.org/drawingml/2006/main">
              <a:ext uri="{FF2B5EF4-FFF2-40B4-BE49-F238E27FC236}">
                <a16:creationId xmlns:a16="http://schemas.microsoft.com/office/drawing/2014/main" id="{8CC5D7DB-B15F-4EDF-BDD7-66F46B53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阶段用时（工作日）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883ACA06-63B6-45D4-98C3-304CF9F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10FD747F-6C5B-463A-837A-15704A72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1C4DC07D-B3E6-4023-B618-1ED42CDE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40988334-0059-4D64-A705-F8766D8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">
            <a:extLst xmlns:a="http://schemas.openxmlformats.org/drawingml/2006/main">
              <a:ext uri="{FF2B5EF4-FFF2-40B4-BE49-F238E27FC236}">
                <a16:creationId xmlns:a16="http://schemas.microsoft.com/office/drawing/2014/main" id="{88221EBD-697E-41C9-A756-B6D2CD0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0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C147E73E-76DE-49DE-8138-D6194FF6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chart-grid-1">
            <a:extLst xmlns:a="http://schemas.openxmlformats.org/drawingml/2006/main">
              <a:ext uri="{FF2B5EF4-FFF2-40B4-BE49-F238E27FC236}">
                <a16:creationId xmlns:a16="http://schemas.microsoft.com/office/drawing/2014/main" id="{C381BAF6-C14A-43FD-AF93-DF77224E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2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029E4D40-94F5-4741-97F1-136BCB1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chart-grid-2">
            <a:extLst xmlns:a="http://schemas.openxmlformats.org/drawingml/2006/main">
              <a:ext uri="{FF2B5EF4-FFF2-40B4-BE49-F238E27FC236}">
                <a16:creationId xmlns:a16="http://schemas.microsoft.com/office/drawing/2014/main" id="{E9375F78-8069-4975-8CCE-791896F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4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81D5AC72-CD12-4316-AE64-6FEA73E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0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chart-grid-3">
            <a:extLst xmlns:a="http://schemas.openxmlformats.org/drawingml/2006/main">
              <a:ext uri="{FF2B5EF4-FFF2-40B4-BE49-F238E27FC236}">
                <a16:creationId xmlns:a16="http://schemas.microsoft.com/office/drawing/2014/main" id="{CCE0E8E4-FFA4-4DE7-80DC-0C4402BC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6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B84DF680-1138-4C23-8003-9529720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655EEBEF-F0A3-482C-A002-9B0C6A17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8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AD5C42FC-4DA8-47F4-B868-EE0E249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19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19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4123C0A1-7276-480F-AF1E-8CE2518B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0" name="pilot-bar-0">
            <a:extLst xmlns:a="http://schemas.openxmlformats.org/drawingml/2006/main">
              <a:ext uri="{FF2B5EF4-FFF2-40B4-BE49-F238E27FC236}">
                <a16:creationId xmlns:a16="http://schemas.microsoft.com/office/drawing/2014/main" id="{28DAB44C-5EA1-4D0C-8293-5AA645F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1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2186DE09-C1E5-40AC-85E5-CFE9CB4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2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05C74A3E-8699-42A9-A113-B1D209B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3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96ADD0A3-0815-4022-B9C3-2C3AC7B2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24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9D8B3E2A-D590-43BF-96F4-FC68A66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838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25" name="pilot-bar-1">
            <a:extLst xmlns:a="http://schemas.openxmlformats.org/drawingml/2006/main">
              <a:ext uri="{FF2B5EF4-FFF2-40B4-BE49-F238E27FC236}">
                <a16:creationId xmlns:a16="http://schemas.microsoft.com/office/drawing/2014/main" id="{048ECC20-9D81-4226-B115-56C7432F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49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B3BFCCB4-3EBA-4DCF-8E9D-9AE409BE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6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27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D97A65F8-5D73-47F1-BC21-D9BA8BCE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28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E807AEEB-D7CA-43B3-881E-0B471C0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87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29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D3C57B6D-9428-49A1-ADEA-D84784C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505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0" name="pilot-bar-2">
            <a:extLst xmlns:a="http://schemas.openxmlformats.org/drawingml/2006/main">
              <a:ext uri="{FF2B5EF4-FFF2-40B4-BE49-F238E27FC236}">
                <a16:creationId xmlns:a16="http://schemas.microsoft.com/office/drawing/2014/main" id="{D2A10650-2088-4576-8A92-DF3712E7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49935F47-45A9-4736-BA72-E941D9B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743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2" name="total-rule">
            <a:extLst xmlns:a="http://schemas.openxmlformats.org/drawingml/2006/main">
              <a:ext uri="{FF2B5EF4-FFF2-40B4-BE49-F238E27FC236}">
                <a16:creationId xmlns:a16="http://schemas.microsoft.com/office/drawing/2014/main" id="{BDC4DB3F-2D16-4EF6-865C-EC399B0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00575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33" name="total-label">
            <a:extLst xmlns:a="http://schemas.openxmlformats.org/drawingml/2006/main">
              <a:ext uri="{FF2B5EF4-FFF2-40B4-BE49-F238E27FC236}">
                <a16:creationId xmlns:a16="http://schemas.microsoft.com/office/drawing/2014/main" id="{4F5D4192-AAF6-4908-ABF8-830B1D1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4" name="total-value">
            <a:extLst xmlns:a="http://schemas.openxmlformats.org/drawingml/2006/main">
              <a:ext uri="{FF2B5EF4-FFF2-40B4-BE49-F238E27FC236}">
                <a16:creationId xmlns:a16="http://schemas.microsoft.com/office/drawing/2014/main" id="{29EF3A62-9638-402F-AF5D-2F676C56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24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人工 5.0 天  →  试点 3.2 天  ｜  少 1.8 天（36%）</a:t>
            </a:r>
          </a:p>
        </p:txBody>
      </p:sp>
      <p:sp>
        <p:nvSpPr>
          <p:cNvPr id="35" name="stage-read">
            <a:extLst xmlns:a="http://schemas.openxmlformats.org/drawingml/2006/main">
              <a:ext uri="{FF2B5EF4-FFF2-40B4-BE49-F238E27FC236}">
                <a16:creationId xmlns:a16="http://schemas.microsoft.com/office/drawing/2014/main" id="{EFF9E7DC-D8B1-4A63-BEF9-71C2EBE8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三阶段依次发生、互不重叠，阶段均值可以相加。</a:t>
            </a:r>
          </a:p>
        </p:txBody>
      </p:sp>
      <p:sp>
        <p:nvSpPr>
          <p:cNvPr id="36" name="right-axis">
            <a:extLst xmlns:a="http://schemas.openxmlformats.org/drawingml/2006/main">
              <a:ext uri="{FF2B5EF4-FFF2-40B4-BE49-F238E27FC236}">
                <a16:creationId xmlns:a16="http://schemas.microsoft.com/office/drawing/2014/main" id="{6B2CC122-5078-4290-84AE-E0C50A9B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8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7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FFA8B03A-F893-4A28-9475-E68A6511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8" name="right-finding">
            <a:extLst xmlns:a="http://schemas.openxmlformats.org/drawingml/2006/main">
              <a:ext uri="{FF2B5EF4-FFF2-40B4-BE49-F238E27FC236}">
                <a16:creationId xmlns:a16="http://schemas.microsoft.com/office/drawing/2014/main" id="{8D287C57-72C1-4334-820C-4FF9971D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三阶段中差距最大：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试点比人工少 1.0 天。</a:t>
            </a:r>
          </a:p>
        </p:txBody>
      </p:sp>
      <p:sp>
        <p:nvSpPr>
          <p:cNvPr id="39" name="right-meaning">
            <a:extLst xmlns:a="http://schemas.openxmlformats.org/drawingml/2006/main">
              <a:ext uri="{FF2B5EF4-FFF2-40B4-BE49-F238E27FC236}">
                <a16:creationId xmlns:a16="http://schemas.microsoft.com/office/drawing/2014/main" id="{B3A3966F-504C-491C-A135-D0954813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它在试点侧仍占总时长一半，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是下一轮最需要拆分记录的环节。</a:t>
            </a:r>
          </a:p>
        </p:txBody>
      </p:sp>
      <p:sp>
        <p:nvSpPr>
          <p:cNvPr id="40" name="right-boundary-heading">
            <a:extLst xmlns:a="http://schemas.openxmlformats.org/drawingml/2006/main">
              <a:ext uri="{FF2B5EF4-FFF2-40B4-BE49-F238E27FC236}">
                <a16:creationId xmlns:a16="http://schemas.microsoft.com/office/drawing/2014/main" id="{B0E7A6D7-4B4B-4ACA-AD54-1227F7A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41" name="right-boundary">
            <a:extLst xmlns:a="http://schemas.openxmlformats.org/drawingml/2006/main">
              <a:ext uri="{FF2B5EF4-FFF2-40B4-BE49-F238E27FC236}">
                <a16:creationId xmlns:a16="http://schemas.microsoft.com/office/drawing/2014/main" id="{D6EC232D-A9A6-447B-83EE-FF54AD58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381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仅覆盖已结案申请；两批事项难度和人员负荷未控制，不能将时间差异归因于试点。现有合并记录也不能把等待与教师实际处理时间分开。</a:t>
            </a:r>
          </a:p>
        </p:txBody>
      </p:sp>
      <p:sp>
        <p:nvSpPr>
          <p:cNvPr id="42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557F5EEA-EC79-4098-A923-227DC556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3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6F5CA60C-70DB-48EB-9C51-B36143FB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4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D683C631-6544-4AA1-9FA6-CF02606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9455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C3E9295C-79E9-49FB-9A82-A7DB93D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428A902B-F72B-40B2-A9F4-DB56CF9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36B811B2-6BB3-4354-A012-E944B59C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2AB477E1-F276-4ADA-9DAE-79522B70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26DECC56-593B-4901-AF7C-F4E7892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3746063B-FFF7-4D0E-A232-7C595C80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228850" y="38481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96025" y="38481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9" name="phase-number-0">
            <a:extLst xmlns:a="http://schemas.openxmlformats.org/drawingml/2006/main">
              <a:ext uri="{FF2B5EF4-FFF2-40B4-BE49-F238E27FC236}">
                <a16:creationId xmlns:a16="http://schemas.microsoft.com/office/drawing/2014/main" id="{0449276E-4439-40D9-B732-C1B8856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8D9A1156-2046-4BBE-836D-9D4EA2D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57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1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952C196E-D7BA-4168-9EFD-666DE20B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2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82C50DF9-5B06-4626-A818-89CA7E60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授权常规事项才进入下一步</a:t>
            </a:r>
          </a:p>
        </p:txBody>
      </p:sp>
      <p:sp>
        <p:nvSpPr>
          <p:cNvPr id="13" name="phase-number-1">
            <a:extLst xmlns:a="http://schemas.openxmlformats.org/drawingml/2006/main">
              <a:ext uri="{FF2B5EF4-FFF2-40B4-BE49-F238E27FC236}">
                <a16:creationId xmlns:a16="http://schemas.microsoft.com/office/drawing/2014/main" id="{ABA52C2E-B3EA-4DB7-B809-B0287568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57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1208BDF4-C764-4F60-8FDE-3874361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15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BBF0B603-5182-469D-AB9E-60684DB0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0AD48E3A-D5DC-4528-87B2-61FA9674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记录核对完成时间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</a:t>
            </a:r>
          </a:p>
        </p:txBody>
      </p:sp>
      <p:sp>
        <p:nvSpPr>
          <p:cNvPr id="17" name="phase-number-2">
            <a:extLst xmlns:a="http://schemas.openxmlformats.org/drawingml/2006/main">
              <a:ext uri="{FF2B5EF4-FFF2-40B4-BE49-F238E27FC236}">
                <a16:creationId xmlns:a16="http://schemas.microsoft.com/office/drawing/2014/main" id="{1F273236-FDC7-40E6-9879-5D37A03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57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03B05494-7336-429F-8D78-8A84BFC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57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9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384FCABD-6CE1-4BCB-A3E0-AB4B005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20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74D6DA50-D471-4AA4-BD2B-8FEEFFF5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作出专业判断并确认答复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记录接收与答复时间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助理不得代替教师作专业承诺</a:t>
            </a:r>
          </a:p>
        </p:txBody>
      </p:sp>
      <p:sp>
        <p:nvSpPr>
          <p:cNvPr id="21" name="gate-1-rule">
            <a:extLst xmlns:a="http://schemas.openxmlformats.org/drawingml/2006/main">
              <a:ext uri="{FF2B5EF4-FFF2-40B4-BE49-F238E27FC236}">
                <a16:creationId xmlns:a16="http://schemas.microsoft.com/office/drawing/2014/main" id="{C00EC482-62D9-4065-B3BB-404913AD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2" name="gate-1-text">
            <a:extLst xmlns:a="http://schemas.openxmlformats.org/drawingml/2006/main">
              <a:ext uri="{FF2B5EF4-FFF2-40B4-BE49-F238E27FC236}">
                <a16:creationId xmlns:a16="http://schemas.microsoft.com/office/drawing/2014/main" id="{A1CF61C6-4471-485E-AE2B-A3818E4C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授权常规事项</a:t>
            </a:r>
          </a:p>
        </p:txBody>
      </p:sp>
      <p:sp>
        <p:nvSpPr>
          <p:cNvPr id="23" name="gate-2-rule">
            <a:extLst xmlns:a="http://schemas.openxmlformats.org/drawingml/2006/main">
              <a:ext uri="{FF2B5EF4-FFF2-40B4-BE49-F238E27FC236}">
                <a16:creationId xmlns:a16="http://schemas.microsoft.com/office/drawing/2014/main" id="{7BD03B54-DA27-4A0D-A3FE-42C76B1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5765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4" name="gate-2-text">
            <a:extLst xmlns:a="http://schemas.openxmlformats.org/drawingml/2006/main">
              <a:ext uri="{FF2B5EF4-FFF2-40B4-BE49-F238E27FC236}">
                <a16:creationId xmlns:a16="http://schemas.microsoft.com/office/drawing/2014/main" id="{92FDAEE2-B86E-42AE-873C-331091E1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767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2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042B2E16-1389-4976-9BA5-714B4755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6" name="flow-node-number-0">
            <a:extLst xmlns:a="http://schemas.openxmlformats.org/drawingml/2006/main">
              <a:ext uri="{FF2B5EF4-FFF2-40B4-BE49-F238E27FC236}">
                <a16:creationId xmlns:a16="http://schemas.microsoft.com/office/drawing/2014/main" id="{06686369-22FE-4032-99D0-0C845CDC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05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flow-node-1">
            <a:extLst xmlns:a="http://schemas.openxmlformats.org/drawingml/2006/main">
              <a:ext uri="{FF2B5EF4-FFF2-40B4-BE49-F238E27FC236}">
                <a16:creationId xmlns:a16="http://schemas.microsoft.com/office/drawing/2014/main" id="{D5375383-165E-4781-BDAA-B4C3461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8" name="flow-node-number-1">
            <a:extLst xmlns:a="http://schemas.openxmlformats.org/drawingml/2006/main">
              <a:ext uri="{FF2B5EF4-FFF2-40B4-BE49-F238E27FC236}">
                <a16:creationId xmlns:a16="http://schemas.microsoft.com/office/drawing/2014/main" id="{713EDC55-C189-47F8-A96B-2165E1ED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705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A5BD5AA8-329F-4F9B-991C-41200A44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0" name="flow-node-number-2">
            <a:extLst xmlns:a="http://schemas.openxmlformats.org/drawingml/2006/main">
              <a:ext uri="{FF2B5EF4-FFF2-40B4-BE49-F238E27FC236}">
                <a16:creationId xmlns:a16="http://schemas.microsoft.com/office/drawing/2014/main" id="{6C3F11DE-76B8-4C1F-A00B-6832C3A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05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timestamp-note">
            <a:extLst xmlns:a="http://schemas.openxmlformats.org/drawingml/2006/main">
              <a:ext uri="{FF2B5EF4-FFF2-40B4-BE49-F238E27FC236}">
                <a16:creationId xmlns:a16="http://schemas.microsoft.com/office/drawing/2014/main" id="{45FF18EA-31C3-4BD4-B25D-3E5D2D9F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记录时间点：首次提交｜核对完成｜教师接收｜最终答复｜缺件暂停区间 → 分别核对等待与处理耗时</a:t>
            </a:r>
          </a:p>
        </p:txBody>
      </p:sp>
      <p:sp>
        <p:nvSpPr>
          <p:cNvPr id="32" name="exception-heading">
            <a:extLst xmlns:a="http://schemas.openxmlformats.org/drawingml/2006/main">
              <a:ext uri="{FF2B5EF4-FFF2-40B4-BE49-F238E27FC236}">
                <a16:creationId xmlns:a16="http://schemas.microsoft.com/office/drawing/2014/main" id="{C8B444D0-CE47-4D83-B4ED-6B99AD78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缺件时</a:t>
            </a:r>
          </a:p>
        </p:txBody>
      </p:sp>
      <p:sp>
        <p:nvSpPr>
          <p:cNvPr id="33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1925BCC4-6AF0-445F-BDBA-67B43153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05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暂停推进并通知申请人补齐；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补齐后重新核对。</a:t>
            </a:r>
          </a:p>
        </p:txBody>
      </p:sp>
      <p:sp>
        <p:nvSpPr>
          <p:cNvPr id="3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C8204372-DD0D-413B-8130-87FDBC4F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388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0">
            <a:solidFill>
              <a:srgbClr val="DDE9F3"/>
            </a:solidFill>
            <a:prstDash val="solid"/>
          </a:ln>
        </p:spPr>
      </p:sp>
      <p:sp>
        <p:nvSpPr>
          <p:cNvPr id="35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01D49449-A7D2-4D29-AD68-49032A9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</a:t>
            </a:r>
          </a:p>
        </p:txBody>
      </p:sp>
      <p:sp>
        <p:nvSpPr>
          <p:cNvPr id="36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AE3AA67-F02B-4DF4-A207-AECC4EF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293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暂停流转，由负责人指定处理人。</a:t>
            </a:r>
          </a:p>
        </p:txBody>
      </p:sp>
      <p:sp>
        <p:nvSpPr>
          <p:cNvPr id="37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E45E78E5-92FA-4A4E-9462-2F9B1DA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四周后</a:t>
            </a:r>
          </a:p>
        </p:txBody>
      </p:sp>
      <p:sp>
        <p:nvSpPr>
          <p:cNvPr id="38" name="measure-body">
            <a:extLst xmlns:a="http://schemas.openxmlformats.org/drawingml/2006/main">
              <a:ext uri="{FF2B5EF4-FFF2-40B4-BE49-F238E27FC236}">
                <a16:creationId xmlns:a16="http://schemas.microsoft.com/office/drawing/2014/main" id="{DEE0BD70-F9C7-4D45-AC32-A69A4F6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2932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只判断分工可执行、记录完整；不承诺再次降时。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C29DC70-3049-4218-BA7E-4C66DAA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0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0E114EDC-DC4E-4F64-A1F1-72C3CDB6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4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A7DECC9-CFEB-4FF3-988E-30C4601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1441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2026-09-05T18:34:53.3120000Z</dcterms:created>
  <dcterms:modified xsi:type="dcterms:W3CDTF">2026-09-05T18:34:53.3120000Z</dcterms:modified>
</coreProperties>
</file>