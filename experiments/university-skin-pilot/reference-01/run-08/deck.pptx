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2ffc9bb14f427d" /><Relationship Type="http://schemas.openxmlformats.org/officeDocument/2006/relationships/extended-properties" Target="/docProps/app.xml" Id="R949858c867d74448" /><Relationship Type="http://schemas.openxmlformats.org/officeDocument/2006/relationships/officeDocument" Target="/ppt/presentation.xml" Id="R4897817c8601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b6a01274ea4eb5"/>
  </p:sldMasterIdLst>
  <p:notesMasterIdLst>
    <p:notesMasterId xmlns:r="http://schemas.openxmlformats.org/officeDocument/2006/relationships" r:id="R1f7d0ab3029e406a"/>
  </p:notesMasterIdLst>
  <p:sldIdLst>
    <p:sldId xmlns:r="http://schemas.openxmlformats.org/officeDocument/2006/relationships" id="256" r:id="R4eca6e689b0e48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2c93b23e614baa" /><Relationship Type="http://schemas.openxmlformats.org/officeDocument/2006/relationships/slideMaster" Target="/ppt/slideMasters/slideMaster1.xml" Id="Rfdb6a01274ea4eb5" /><Relationship Type="http://schemas.openxmlformats.org/officeDocument/2006/relationships/notesMaster" Target="/ppt/notesMasters/notesMaster1.xml" Id="R1f7d0ab3029e406a" /><Relationship Type="http://schemas.openxmlformats.org/officeDocument/2006/relationships/presProps" Target="/ppt/presProps.xml" Id="R8ec8604b5b4b47ba" /><Relationship Type="http://schemas.openxmlformats.org/officeDocument/2006/relationships/tableStyles" Target="/ppt/tableStyles.xml" Id="Rb0bf412a671f4960" /><Relationship Type="http://schemas.openxmlformats.org/officeDocument/2006/relationships/slide" Target="/ppt/slides/slide1.xml" Id="R4eca6e689b0e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02d2ec7fbc4c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6eb2d4a1c4735" /><Relationship Type="http://schemas.openxmlformats.org/officeDocument/2006/relationships/notesMaster" Target="/ppt/notesMasters/notesMaster1.xml" Id="R3f233e5e44a244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v8流程页重做：主区只保留一条三阶段主路径，推进条件贴近门禁，异常贴回所属阶段；跨阶段记录与四周验收降级为独立次区。计划尚未实施，不能承诺降时。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a891077e048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5467c25a434b29" /><Relationship Type="http://schemas.openxmlformats.org/officeDocument/2006/relationships/slideLayout" Target="/ppt/slideLayouts/slideLayout1.xml" Id="R425d4198543042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d4198543042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28db1e3ab4414" /><Relationship Type="http://schemas.openxmlformats.org/officeDocument/2006/relationships/notesSlide" Target="/ppt/notesSlides/notesSlide1.xml" Id="Rdd76322f52a246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age-title">
            <a:extLst xmlns:a="http://schemas.openxmlformats.org/drawingml/2006/main">
              <a:ext uri="{FF2B5EF4-FFF2-40B4-BE49-F238E27FC236}">
                <a16:creationId xmlns:a16="http://schemas.microsoft.com/office/drawing/2014/main" id="{B3F76884-622D-476E-91A8-6ED8BEF5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下一轮先把三步分工跑通，再用时间记录判断哪里在等待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8795B83-9D45-4713-8F3D-B9884691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">
            <a:extLst xmlns:a="http://schemas.openxmlformats.org/drawingml/2006/main">
              <a:ext uri="{FF2B5EF4-FFF2-40B4-BE49-F238E27FC236}">
                <a16:creationId xmlns:a16="http://schemas.microsoft.com/office/drawing/2014/main" id="{491DF3E8-DFEC-4590-BC2D-0BDA912B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四周、仅限常规申请｜主流程尚未实施，先验证分工与记录是否可执行</a:t>
            </a:r>
          </a:p>
        </p:txBody>
      </p:sp>
      <p:sp>
        <p:nvSpPr>
          <p:cNvPr id="4" name="main-process-zone">
            <a:extLst xmlns:a="http://schemas.openxmlformats.org/drawingml/2006/main">
              <a:ext uri="{FF2B5EF4-FFF2-40B4-BE49-F238E27FC236}">
                <a16:creationId xmlns:a16="http://schemas.microsoft.com/office/drawing/2014/main" id="{8EF8B05F-29FB-42F3-B47B-A0C0992C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11144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5" name="main-zone-label">
            <a:extLst xmlns:a="http://schemas.openxmlformats.org/drawingml/2006/main">
              <a:ext uri="{FF2B5EF4-FFF2-40B4-BE49-F238E27FC236}">
                <a16:creationId xmlns:a16="http://schemas.microsoft.com/office/drawing/2014/main" id="{28BE294E-670E-4DDE-9C5A-9D997D0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主流程｜满足条件，才继续</a:t>
            </a:r>
          </a:p>
        </p:txBody>
      </p:sp>
      <p:sp>
        <p:nvSpPr>
          <p:cNvPr id="6" name="main-zone-note">
            <a:extLst xmlns:a="http://schemas.openxmlformats.org/drawingml/2006/main">
              <a:ext uri="{FF2B5EF4-FFF2-40B4-BE49-F238E27FC236}">
                <a16:creationId xmlns:a16="http://schemas.microsoft.com/office/drawing/2014/main" id="{0242238B-E848-4A19-9854-55C6C7A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常规事项沿主线；例外另行处理</a:t>
            </a:r>
          </a:p>
        </p:txBody>
      </p:sp>
      <p:sp>
        <p:nvSpPr>
          <p:cNvPr id="7" name="phase-node-1">
            <a:extLst xmlns:a="http://schemas.openxmlformats.org/drawingml/2006/main">
              <a:ext uri="{FF2B5EF4-FFF2-40B4-BE49-F238E27FC236}">
                <a16:creationId xmlns:a16="http://schemas.microsoft.com/office/drawing/2014/main" id="{37796A40-4C28-4B5C-B7A1-A8E69EE5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19350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8" name="phase-node-2">
            <a:extLst xmlns:a="http://schemas.openxmlformats.org/drawingml/2006/main">
              <a:ext uri="{FF2B5EF4-FFF2-40B4-BE49-F238E27FC236}">
                <a16:creationId xmlns:a16="http://schemas.microsoft.com/office/drawing/2014/main" id="{927EB1D0-211B-45A2-B073-852BA8F3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9" name="phase-node-3">
            <a:extLst xmlns:a="http://schemas.openxmlformats.org/drawingml/2006/main">
              <a:ext uri="{FF2B5EF4-FFF2-40B4-BE49-F238E27FC236}">
                <a16:creationId xmlns:a16="http://schemas.microsoft.com/office/drawing/2014/main" id="{112C704C-C02F-4B54-9459-7F8F93C8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19350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67125" y="29146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39000" y="29146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12" name="visible-arrow-1">
            <a:extLst xmlns:a="http://schemas.openxmlformats.org/drawingml/2006/main">
              <a:ext uri="{FF2B5EF4-FFF2-40B4-BE49-F238E27FC236}">
                <a16:creationId xmlns:a16="http://schemas.microsoft.com/office/drawing/2014/main" id="{143F2D14-3B10-4F47-AF20-91A5DE2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81300"/>
            <a:ext cx="809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3" name="visible-arrow-2">
            <a:extLst xmlns:a="http://schemas.openxmlformats.org/drawingml/2006/main">
              <a:ext uri="{FF2B5EF4-FFF2-40B4-BE49-F238E27FC236}">
                <a16:creationId xmlns:a16="http://schemas.microsoft.com/office/drawing/2014/main" id="{D2BD2DA1-7CE1-4C57-A22E-A4E6110B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809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4" name="gate-1-marker">
            <a:extLst xmlns:a="http://schemas.openxmlformats.org/drawingml/2006/main">
              <a:ext uri="{FF2B5EF4-FFF2-40B4-BE49-F238E27FC236}">
                <a16:creationId xmlns:a16="http://schemas.microsoft.com/office/drawing/2014/main" id="{1294A6B8-8A10-4FBD-8EEC-35C04548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190500" cy="190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5" name="gate-2-marker">
            <a:extLst xmlns:a="http://schemas.openxmlformats.org/drawingml/2006/main">
              <a:ext uri="{FF2B5EF4-FFF2-40B4-BE49-F238E27FC236}">
                <a16:creationId xmlns:a16="http://schemas.microsoft.com/office/drawing/2014/main" id="{2F94709C-B15B-418C-945D-8F6E442D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19400"/>
            <a:ext cx="190500" cy="190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6" name="gate-1-label">
            <a:extLst xmlns:a="http://schemas.openxmlformats.org/drawingml/2006/main">
              <a:ext uri="{FF2B5EF4-FFF2-40B4-BE49-F238E27FC236}">
                <a16:creationId xmlns:a16="http://schemas.microsoft.com/office/drawing/2014/main" id="{B387D974-9ECD-4C6D-99D6-BAE5B5C0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193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授权常规</a:t>
            </a:r>
          </a:p>
        </p:txBody>
      </p:sp>
      <p:sp>
        <p:nvSpPr>
          <p:cNvPr id="17" name="gate-2-label">
            <a:extLst xmlns:a="http://schemas.openxmlformats.org/drawingml/2006/main">
              <a:ext uri="{FF2B5EF4-FFF2-40B4-BE49-F238E27FC236}">
                <a16:creationId xmlns:a16="http://schemas.microsoft.com/office/drawing/2014/main" id="{96D796EE-DD3E-4F81-BF7D-AF3D09D1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193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材料齐备</a:t>
            </a:r>
          </a:p>
        </p:txBody>
      </p:sp>
      <p:sp>
        <p:nvSpPr>
          <p:cNvPr id="18" name="phase-1-title">
            <a:extLst xmlns:a="http://schemas.openxmlformats.org/drawingml/2006/main">
              <a:ext uri="{FF2B5EF4-FFF2-40B4-BE49-F238E27FC236}">
                <a16:creationId xmlns:a16="http://schemas.microsoft.com/office/drawing/2014/main" id="{C1FFDB81-D0E4-45A4-BAFF-F9B26853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5717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9" name="phase-1-owner">
            <a:extLst xmlns:a="http://schemas.openxmlformats.org/drawingml/2006/main">
              <a:ext uri="{FF2B5EF4-FFF2-40B4-BE49-F238E27FC236}">
                <a16:creationId xmlns:a16="http://schemas.microsoft.com/office/drawing/2014/main" id="{B5E8437C-9B4F-41E5-B4D9-CBBE3483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527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20" name="phase-2-title">
            <a:extLst xmlns:a="http://schemas.openxmlformats.org/drawingml/2006/main">
              <a:ext uri="{FF2B5EF4-FFF2-40B4-BE49-F238E27FC236}">
                <a16:creationId xmlns:a16="http://schemas.microsoft.com/office/drawing/2014/main" id="{C903FE0D-9256-4DB2-8C5D-E974CD28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核对材料</a:t>
            </a:r>
          </a:p>
        </p:txBody>
      </p:sp>
      <p:sp>
        <p:nvSpPr>
          <p:cNvPr id="21" name="phase-2-owner">
            <a:extLst xmlns:a="http://schemas.openxmlformats.org/drawingml/2006/main">
              <a:ext uri="{FF2B5EF4-FFF2-40B4-BE49-F238E27FC236}">
                <a16:creationId xmlns:a16="http://schemas.microsoft.com/office/drawing/2014/main" id="{951E9E2D-6E2E-4092-A54E-E49F12AB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22" name="phase-3-title">
            <a:extLst xmlns:a="http://schemas.openxmlformats.org/drawingml/2006/main">
              <a:ext uri="{FF2B5EF4-FFF2-40B4-BE49-F238E27FC236}">
                <a16:creationId xmlns:a16="http://schemas.microsoft.com/office/drawing/2014/main" id="{FA1B9D03-139D-4D6B-988F-5BAB6F1B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5717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教师处理</a:t>
            </a:r>
          </a:p>
        </p:txBody>
      </p:sp>
      <p:sp>
        <p:nvSpPr>
          <p:cNvPr id="23" name="phase-3-owner">
            <a:extLst xmlns:a="http://schemas.openxmlformats.org/drawingml/2006/main">
              <a:ext uri="{FF2B5EF4-FFF2-40B4-BE49-F238E27FC236}">
                <a16:creationId xmlns:a16="http://schemas.microsoft.com/office/drawing/2014/main" id="{A4BE2339-B09D-4FED-9491-385F6DD0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527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责任：责任教师</a:t>
            </a:r>
          </a:p>
        </p:txBody>
      </p:sp>
      <p:sp>
        <p:nvSpPr>
          <p:cNvPr id="24" name="exception-1-rule">
            <a:extLst xmlns:a="http://schemas.openxmlformats.org/drawingml/2006/main">
              <a:ext uri="{FF2B5EF4-FFF2-40B4-BE49-F238E27FC236}">
                <a16:creationId xmlns:a16="http://schemas.microsoft.com/office/drawing/2014/main" id="{952946DC-FA32-45CF-80E1-6080BA15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766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5" name="exception-1">
            <a:extLst xmlns:a="http://schemas.openxmlformats.org/drawingml/2006/main">
              <a:ext uri="{FF2B5EF4-FFF2-40B4-BE49-F238E27FC236}">
                <a16:creationId xmlns:a16="http://schemas.microsoft.com/office/drawing/2014/main" id="{C11E442B-06F5-482E-9CB0-D7BED290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576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登记事项类型＋提交时间</a:t>
            </a:r>
          </a:p>
        </p:txBody>
      </p:sp>
      <p:sp>
        <p:nvSpPr>
          <p:cNvPr id="26" name="phase-1-detail">
            <a:extLst xmlns:a="http://schemas.openxmlformats.org/drawingml/2006/main">
              <a:ext uri="{FF2B5EF4-FFF2-40B4-BE49-F238E27FC236}">
                <a16:creationId xmlns:a16="http://schemas.microsoft.com/office/drawing/2014/main" id="{D690AC53-EFE8-4333-8011-A2911F0B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非常规 / 超授权：暂停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负责人指定处理人</a:t>
            </a:r>
          </a:p>
        </p:txBody>
      </p:sp>
      <p:sp>
        <p:nvSpPr>
          <p:cNvPr id="27" name="exception-2-rule">
            <a:extLst xmlns:a="http://schemas.openxmlformats.org/drawingml/2006/main">
              <a:ext uri="{FF2B5EF4-FFF2-40B4-BE49-F238E27FC236}">
                <a16:creationId xmlns:a16="http://schemas.microsoft.com/office/drawing/2014/main" id="{A4D1B39D-7A4C-4813-82C1-D214D2C7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8" name="exception-2">
            <a:extLst xmlns:a="http://schemas.openxmlformats.org/drawingml/2006/main">
              <a:ext uri="{FF2B5EF4-FFF2-40B4-BE49-F238E27FC236}">
                <a16:creationId xmlns:a16="http://schemas.microsoft.com/office/drawing/2014/main" id="{BDB00F6D-577E-4FA8-A7F6-9895CDC3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576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按清单核对齐备性</a:t>
            </a:r>
          </a:p>
        </p:txBody>
      </p:sp>
      <p:sp>
        <p:nvSpPr>
          <p:cNvPr id="29" name="phase-2-detail">
            <a:extLst xmlns:a="http://schemas.openxmlformats.org/drawingml/2006/main">
              <a:ext uri="{FF2B5EF4-FFF2-40B4-BE49-F238E27FC236}">
                <a16:creationId xmlns:a16="http://schemas.microsoft.com/office/drawing/2014/main" id="{4D5039F9-3342-4A44-9B35-8C6BC3E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624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缺件：暂停→通知补齐→复核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齐备后才送教师</a:t>
            </a:r>
          </a:p>
        </p:txBody>
      </p:sp>
      <p:sp>
        <p:nvSpPr>
          <p:cNvPr id="30" name="exception-3-rule">
            <a:extLst xmlns:a="http://schemas.openxmlformats.org/drawingml/2006/main">
              <a:ext uri="{FF2B5EF4-FFF2-40B4-BE49-F238E27FC236}">
                <a16:creationId xmlns:a16="http://schemas.microsoft.com/office/drawing/2014/main" id="{582DECB0-AF2B-458A-AE1E-284ADD24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766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1" name="exception-3">
            <a:extLst xmlns:a="http://schemas.openxmlformats.org/drawingml/2006/main">
              <a:ext uri="{FF2B5EF4-FFF2-40B4-BE49-F238E27FC236}">
                <a16:creationId xmlns:a16="http://schemas.microsoft.com/office/drawing/2014/main" id="{72C5A88C-A2B2-4962-8767-FB4F7882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6576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教师判断并确认答复</a:t>
            </a:r>
          </a:p>
        </p:txBody>
      </p:sp>
      <p:sp>
        <p:nvSpPr>
          <p:cNvPr id="32" name="phase-3-detail">
            <a:extLst xmlns:a="http://schemas.openxmlformats.org/drawingml/2006/main">
              <a:ext uri="{FF2B5EF4-FFF2-40B4-BE49-F238E27FC236}">
                <a16:creationId xmlns:a16="http://schemas.microsoft.com/office/drawing/2014/main" id="{24C214B5-0032-4C33-A357-893066B3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9814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助理不得代替教师承诺。</a:t>
            </a:r>
          </a:p>
        </p:txBody>
      </p:sp>
      <p:sp>
        <p:nvSpPr>
          <p:cNvPr id="33" name="secondary-zone">
            <a:extLst xmlns:a="http://schemas.openxmlformats.org/drawingml/2006/main">
              <a:ext uri="{FF2B5EF4-FFF2-40B4-BE49-F238E27FC236}">
                <a16:creationId xmlns:a16="http://schemas.microsoft.com/office/drawing/2014/main" id="{41F61875-7C32-402E-ADD7-89FDBF9D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11144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solidFill>
              <a:srgbClr val="F4F4F5"/>
            </a:solidFill>
            <a:prstDash val="solid"/>
          </a:ln>
        </p:spPr>
      </p:sp>
      <p:sp>
        <p:nvSpPr>
          <p:cNvPr id="34" name="records-rule">
            <a:extLst xmlns:a="http://schemas.openxmlformats.org/drawingml/2006/main">
              <a:ext uri="{FF2B5EF4-FFF2-40B4-BE49-F238E27FC236}">
                <a16:creationId xmlns:a16="http://schemas.microsoft.com/office/drawing/2014/main" id="{3F84172D-6FCA-4D1C-A90C-31369107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5" name="records-heading">
            <a:extLst xmlns:a="http://schemas.openxmlformats.org/drawingml/2006/main">
              <a:ext uri="{FF2B5EF4-FFF2-40B4-BE49-F238E27FC236}">
                <a16:creationId xmlns:a16="http://schemas.microsoft.com/office/drawing/2014/main" id="{77FFAD76-B484-44F8-8CFC-3CCD6CFE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跨阶段记录</a:t>
            </a:r>
          </a:p>
        </p:txBody>
      </p:sp>
      <p:sp>
        <p:nvSpPr>
          <p:cNvPr id="36" name="records-values">
            <a:extLst xmlns:a="http://schemas.openxmlformats.org/drawingml/2006/main">
              <a:ext uri="{FF2B5EF4-FFF2-40B4-BE49-F238E27FC236}">
                <a16:creationId xmlns:a16="http://schemas.microsoft.com/office/drawing/2014/main" id="{3699117F-825A-4C6C-A450-BB74A18F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首次提交 → 核对完成 → 教师接收 → 最终答复</a:t>
            </a:r>
          </a:p>
        </p:txBody>
      </p:sp>
      <p:sp>
        <p:nvSpPr>
          <p:cNvPr id="37" name="records-gap">
            <a:extLst xmlns:a="http://schemas.openxmlformats.org/drawingml/2006/main">
              <a:ext uri="{FF2B5EF4-FFF2-40B4-BE49-F238E27FC236}">
                <a16:creationId xmlns:a16="http://schemas.microsoft.com/office/drawing/2014/main" id="{D78A1B9F-F662-4D06-8558-20AE961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另记：缺件暂停区间｜分别核对等待与教师处理耗时</a:t>
            </a:r>
          </a:p>
        </p:txBody>
      </p:sp>
      <p:sp>
        <p:nvSpPr>
          <p:cNvPr id="38" name="acceptance-rule">
            <a:extLst xmlns:a="http://schemas.openxmlformats.org/drawingml/2006/main">
              <a:ext uri="{FF2B5EF4-FFF2-40B4-BE49-F238E27FC236}">
                <a16:creationId xmlns:a16="http://schemas.microsoft.com/office/drawing/2014/main" id="{F821FB38-F7ED-4C1E-B28E-6306A4C6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9" name="acceptance-heading">
            <a:extLst xmlns:a="http://schemas.openxmlformats.org/drawingml/2006/main">
              <a:ext uri="{FF2B5EF4-FFF2-40B4-BE49-F238E27FC236}">
                <a16:creationId xmlns:a16="http://schemas.microsoft.com/office/drawing/2014/main" id="{F830CB7F-1A53-4595-A99E-9DEE3891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四周后只验收</a:t>
            </a:r>
          </a:p>
        </p:txBody>
      </p:sp>
      <p:sp>
        <p:nvSpPr>
          <p:cNvPr id="40" name="acceptance-body">
            <a:extLst xmlns:a="http://schemas.openxmlformats.org/drawingml/2006/main">
              <a:ext uri="{FF2B5EF4-FFF2-40B4-BE49-F238E27FC236}">
                <a16:creationId xmlns:a16="http://schemas.microsoft.com/office/drawing/2014/main" id="{E93FA674-FDA2-4D73-8F4F-F9C66758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578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分工可执行｜记录完整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不承诺再次降时</a:t>
            </a:r>
          </a:p>
        </p:txBody>
      </p:sp>
      <p:sp>
        <p:nvSpPr>
          <p:cNvPr id="4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CB39613-62BC-4333-A9A2-5ABFD277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4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B55F5CA-B51E-44DC-ADA9-985DE514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来源：虚构测试数据与方案｜四周分工试点尚未实施；不代表任何真实大学的管理方案。</a:t>
            </a:r>
          </a:p>
        </p:txBody>
      </p:sp>
      <p:sp>
        <p:nvSpPr>
          <p:cNvPr id="4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86C77CB-5205-4653-84A5-675E7EE6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</p:spTree>
    <p:extLst>
      <p:ext uri="{BB962C8B-B14F-4D97-AF65-F5344CB8AC3E}">
        <p14:creationId xmlns:p14="http://schemas.microsoft.com/office/powerpoint/2010/main" val="1459039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2026-09-06T00:27:28.5330000Z</dcterms:created>
  <dcterms:modified xsi:type="dcterms:W3CDTF">2026-09-06T00:27:28.5330000Z</dcterms:modified>
</coreProperties>
</file>