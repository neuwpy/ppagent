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91ec3f3673411f" /><Relationship Type="http://schemas.openxmlformats.org/officeDocument/2006/relationships/extended-properties" Target="/docProps/app.xml" Id="R7eab22dc723c48b7" /><Relationship Type="http://schemas.openxmlformats.org/officeDocument/2006/relationships/officeDocument" Target="/ppt/presentation.xml" Id="R57a7e03fb54c4b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1be0640c384820"/>
  </p:sldMasterIdLst>
  <p:notesMasterIdLst>
    <p:notesMasterId xmlns:r="http://schemas.openxmlformats.org/officeDocument/2006/relationships" r:id="Rcd5f4a53022547e9"/>
  </p:notesMasterIdLst>
  <p:sldIdLst>
    <p:sldId xmlns:r="http://schemas.openxmlformats.org/officeDocument/2006/relationships" id="256" r:id="R2e74e7b319f5400f"/>
    <p:sldId xmlns:r="http://schemas.openxmlformats.org/officeDocument/2006/relationships" id="257" r:id="R56db555fcfea40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cd13d1952e4f2d" /><Relationship Type="http://schemas.openxmlformats.org/officeDocument/2006/relationships/slideMaster" Target="/ppt/slideMasters/slideMaster1.xml" Id="R9f1be0640c384820" /><Relationship Type="http://schemas.openxmlformats.org/officeDocument/2006/relationships/notesMaster" Target="/ppt/notesMasters/notesMaster1.xml" Id="Rcd5f4a53022547e9" /><Relationship Type="http://schemas.openxmlformats.org/officeDocument/2006/relationships/presProps" Target="/ppt/presProps.xml" Id="Ra72c96198ea84b76" /><Relationship Type="http://schemas.openxmlformats.org/officeDocument/2006/relationships/tableStyles" Target="/ppt/tableStyles.xml" Id="R9d51bed38a6645a9" /><Relationship Type="http://schemas.openxmlformats.org/officeDocument/2006/relationships/slide" Target="/ppt/slides/slide1.xml" Id="R2e74e7b319f5400f" /><Relationship Type="http://schemas.openxmlformats.org/officeDocument/2006/relationships/slide" Target="/ppt/slides/slide2.xml" Id="R56db555fcfea40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97a304392e4b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13e9d5a59940bf" /><Relationship Type="http://schemas.openxmlformats.org/officeDocument/2006/relationships/notesMaster" Target="/ppt/notesMasters/notesMaster1.xml" Id="R29aede294ebc41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10c887d94c4c04" /><Relationship Type="http://schemas.openxmlformats.org/officeDocument/2006/relationships/notesMaster" Target="/ppt/notesMasters/notesMaster1.xml" Id="Rdeaddc6ac82e48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v6修订：总量与分量共享证据区，右侧只解释教师处理及等待为何重要，并保留未控制难度/负荷与无法拆分等待处理的边界。数据与场景均为虚构测试材料。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v6修订：只保留三步节点和两条推进条件，职责沿三列对齐；缺件暂停是第二步局部规则，超授权事项与四周评估位于流程外的边界区。计划尚未实施。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28bee556e247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a4bd71baae46d3" /><Relationship Type="http://schemas.openxmlformats.org/officeDocument/2006/relationships/slideLayout" Target="/ppt/slideLayouts/slideLayout1.xml" Id="R0695fd8691f04f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95fd8691f04f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31f46456645f4" /><Relationship Type="http://schemas.openxmlformats.org/officeDocument/2006/relationships/notesSlide" Target="/ppt/notesSlides/notesSlide1.xml" Id="R5540bbf2530944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a8c3aa82c4ceb" /><Relationship Type="http://schemas.openxmlformats.org/officeDocument/2006/relationships/notesSlide" Target="/ppt/notesSlides/notesSlide2.xml" Id="Rcb13d73b632049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page-title-1">
            <a:extLst xmlns:a="http://schemas.openxmlformats.org/drawingml/2006/main">
              <a:ext uri="{FF2B5EF4-FFF2-40B4-BE49-F238E27FC236}">
                <a16:creationId xmlns:a16="http://schemas.microsoft.com/office/drawing/2014/main" id="{419F5AB5-83CE-4DAC-A33F-E6AE1DE0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试点批次平均处理用时更短，但差距主要来自教师处理及等待</a:t>
            </a:r>
          </a:p>
        </p:txBody>
      </p:sp>
      <p:sp>
        <p:nvSpPr>
          <p:cNvPr id="2" name="header-rule-1">
            <a:extLst xmlns:a="http://schemas.openxmlformats.org/drawingml/2006/main">
              <a:ext uri="{FF2B5EF4-FFF2-40B4-BE49-F238E27FC236}">
                <a16:creationId xmlns:a16="http://schemas.microsoft.com/office/drawing/2014/main" id="{709ABB93-1AA9-44D8-8179-F6443F22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107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page-context-1">
            <a:extLst xmlns:a="http://schemas.openxmlformats.org/drawingml/2006/main">
              <a:ext uri="{FF2B5EF4-FFF2-40B4-BE49-F238E27FC236}">
                <a16:creationId xmlns:a16="http://schemas.microsoft.com/office/drawing/2014/main" id="{3C0D39A7-9CF9-4668-8FAD-7C264D9B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两批各 120 件已结案申请｜比较指标：首次提交至完成处理的平均工作日</a:t>
            </a:r>
          </a:p>
        </p:txBody>
      </p:sp>
      <p:sp>
        <p:nvSpPr>
          <p:cNvPr id="4" name="stage-heading">
            <a:extLst xmlns:a="http://schemas.openxmlformats.org/drawingml/2006/main">
              <a:ext uri="{FF2B5EF4-FFF2-40B4-BE49-F238E27FC236}">
                <a16:creationId xmlns:a16="http://schemas.microsoft.com/office/drawing/2014/main" id="{D146EAEF-F6E7-45AA-AEE4-2F9101E9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阶段用时（工作日）</a:t>
            </a:r>
          </a:p>
        </p:txBody>
      </p:sp>
      <p:sp>
        <p:nvSpPr>
          <p:cNvPr id="5" name="legend-old">
            <a:extLst xmlns:a="http://schemas.openxmlformats.org/drawingml/2006/main">
              <a:ext uri="{FF2B5EF4-FFF2-40B4-BE49-F238E27FC236}">
                <a16:creationId xmlns:a16="http://schemas.microsoft.com/office/drawing/2014/main" id="{2462D36F-04B1-4855-AF75-1C132066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71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B5B8"/>
          </a:solidFill>
          <a:ln xmlns:a="http://schemas.openxmlformats.org/drawingml/2006/main" w="0">
            <a:solidFill>
              <a:srgbClr val="B3B5B8"/>
            </a:solidFill>
            <a:prstDash val="solid"/>
          </a:ln>
        </p:spPr>
      </p:sp>
      <p:sp>
        <p:nvSpPr>
          <p:cNvPr id="6" name="legend-old-text">
            <a:extLst xmlns:a="http://schemas.openxmlformats.org/drawingml/2006/main">
              <a:ext uri="{FF2B5EF4-FFF2-40B4-BE49-F238E27FC236}">
                <a16:creationId xmlns:a16="http://schemas.microsoft.com/office/drawing/2014/main" id="{EAFDF84A-C482-4F71-B3A0-8EB44CED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524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人工受理</a:t>
            </a:r>
          </a:p>
        </p:txBody>
      </p:sp>
      <p:sp>
        <p:nvSpPr>
          <p:cNvPr id="7" name="legend-pilot">
            <a:extLst xmlns:a="http://schemas.openxmlformats.org/drawingml/2006/main">
              <a:ext uri="{FF2B5EF4-FFF2-40B4-BE49-F238E27FC236}">
                <a16:creationId xmlns:a16="http://schemas.microsoft.com/office/drawing/2014/main" id="{30183A16-8882-4F9E-9380-E8CEEC64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71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8" name="legend-pilot-text">
            <a:extLst xmlns:a="http://schemas.openxmlformats.org/drawingml/2006/main">
              <a:ext uri="{FF2B5EF4-FFF2-40B4-BE49-F238E27FC236}">
                <a16:creationId xmlns:a16="http://schemas.microsoft.com/office/drawing/2014/main" id="{07F957FA-A4D8-4EB0-A817-75798DB2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524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试点受理</a:t>
            </a:r>
          </a:p>
        </p:txBody>
      </p:sp>
      <p:sp>
        <p:nvSpPr>
          <p:cNvPr id="9" name="chart-grid-0-top">
            <a:extLst xmlns:a="http://schemas.openxmlformats.org/drawingml/2006/main">
              <a:ext uri="{FF2B5EF4-FFF2-40B4-BE49-F238E27FC236}">
                <a16:creationId xmlns:a16="http://schemas.microsoft.com/office/drawing/2014/main" id="{93D4CC6B-65A6-4498-982A-74081871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478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0" name="chart-grid-0-bottom">
            <a:extLst xmlns:a="http://schemas.openxmlformats.org/drawingml/2006/main">
              <a:ext uri="{FF2B5EF4-FFF2-40B4-BE49-F238E27FC236}">
                <a16:creationId xmlns:a16="http://schemas.microsoft.com/office/drawing/2014/main" id="{D1CF9E2D-6736-4C5D-88A4-5AF64631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767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1" name="chart-tick-0">
            <a:extLst xmlns:a="http://schemas.openxmlformats.org/drawingml/2006/main">
              <a:ext uri="{FF2B5EF4-FFF2-40B4-BE49-F238E27FC236}">
                <a16:creationId xmlns:a16="http://schemas.microsoft.com/office/drawing/2014/main" id="{F6CD44FF-ADC8-4DA4-BFC2-AB8900EB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338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2" name="chart-grid-1-top">
            <a:extLst xmlns:a="http://schemas.openxmlformats.org/drawingml/2006/main">
              <a:ext uri="{FF2B5EF4-FFF2-40B4-BE49-F238E27FC236}">
                <a16:creationId xmlns:a16="http://schemas.microsoft.com/office/drawing/2014/main" id="{109C7452-1D09-4E08-8610-5E86B9B2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250" y="20478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3" name="chart-grid-1-bottom">
            <a:extLst xmlns:a="http://schemas.openxmlformats.org/drawingml/2006/main">
              <a:ext uri="{FF2B5EF4-FFF2-40B4-BE49-F238E27FC236}">
                <a16:creationId xmlns:a16="http://schemas.microsoft.com/office/drawing/2014/main" id="{6EA33027-72AB-42A2-AFEB-87367FAE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250" y="40767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4" name="chart-tick-1">
            <a:extLst xmlns:a="http://schemas.openxmlformats.org/drawingml/2006/main">
              <a:ext uri="{FF2B5EF4-FFF2-40B4-BE49-F238E27FC236}">
                <a16:creationId xmlns:a16="http://schemas.microsoft.com/office/drawing/2014/main" id="{265556C8-8BA8-4391-A385-517E2953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800" y="43338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chart-grid-2-top">
            <a:extLst xmlns:a="http://schemas.openxmlformats.org/drawingml/2006/main">
              <a:ext uri="{FF2B5EF4-FFF2-40B4-BE49-F238E27FC236}">
                <a16:creationId xmlns:a16="http://schemas.microsoft.com/office/drawing/2014/main" id="{7D6BCB59-C123-4125-A749-787954CA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20478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6" name="chart-grid-2-bottom">
            <a:extLst xmlns:a="http://schemas.openxmlformats.org/drawingml/2006/main">
              <a:ext uri="{FF2B5EF4-FFF2-40B4-BE49-F238E27FC236}">
                <a16:creationId xmlns:a16="http://schemas.microsoft.com/office/drawing/2014/main" id="{ED46FDC6-54A5-42BF-AD56-1CD16184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40767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7" name="chart-tick-2">
            <a:extLst xmlns:a="http://schemas.openxmlformats.org/drawingml/2006/main">
              <a:ext uri="{FF2B5EF4-FFF2-40B4-BE49-F238E27FC236}">
                <a16:creationId xmlns:a16="http://schemas.microsoft.com/office/drawing/2014/main" id="{86C2CE47-52D8-4709-B7F2-7299E78C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9050" y="43338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chart-grid-3-top">
            <a:extLst xmlns:a="http://schemas.openxmlformats.org/drawingml/2006/main">
              <a:ext uri="{FF2B5EF4-FFF2-40B4-BE49-F238E27FC236}">
                <a16:creationId xmlns:a16="http://schemas.microsoft.com/office/drawing/2014/main" id="{9308BA23-C4B7-46D3-90EC-19B7015F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9" name="chart-grid-3-bottom">
            <a:extLst xmlns:a="http://schemas.openxmlformats.org/drawingml/2006/main">
              <a:ext uri="{FF2B5EF4-FFF2-40B4-BE49-F238E27FC236}">
                <a16:creationId xmlns:a16="http://schemas.microsoft.com/office/drawing/2014/main" id="{5BD1A664-C127-4C13-808F-7A880B7E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767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20" name="chart-tick-3">
            <a:extLst xmlns:a="http://schemas.openxmlformats.org/drawingml/2006/main">
              <a:ext uri="{FF2B5EF4-FFF2-40B4-BE49-F238E27FC236}">
                <a16:creationId xmlns:a16="http://schemas.microsoft.com/office/drawing/2014/main" id="{010D707F-0BC7-4A14-B5FD-1381DF1C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338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chart-baseline">
            <a:extLst xmlns:a="http://schemas.openxmlformats.org/drawingml/2006/main">
              <a:ext uri="{FF2B5EF4-FFF2-40B4-BE49-F238E27FC236}">
                <a16:creationId xmlns:a16="http://schemas.microsoft.com/office/drawing/2014/main" id="{72E8250E-1FB7-4E19-9DCE-DA5A78C7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481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22" name="stage-label-0">
            <a:extLst xmlns:a="http://schemas.openxmlformats.org/drawingml/2006/main">
              <a:ext uri="{FF2B5EF4-FFF2-40B4-BE49-F238E27FC236}">
                <a16:creationId xmlns:a16="http://schemas.microsoft.com/office/drawing/2014/main" id="{429363B2-3431-4C0E-B31B-449BED1B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5742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受理分流</a:t>
            </a:r>
          </a:p>
        </p:txBody>
      </p:sp>
      <p:sp>
        <p:nvSpPr>
          <p:cNvPr id="23" name="manual-bar-0">
            <a:extLst xmlns:a="http://schemas.openxmlformats.org/drawingml/2006/main">
              <a:ext uri="{FF2B5EF4-FFF2-40B4-BE49-F238E27FC236}">
                <a16:creationId xmlns:a16="http://schemas.microsoft.com/office/drawing/2014/main" id="{BD3F86E8-78C3-4020-B204-4C917374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09800"/>
            <a:ext cx="1193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B5B8"/>
          </a:solidFill>
          <a:ln xmlns:a="http://schemas.openxmlformats.org/drawingml/2006/main" w="0">
            <a:solidFill>
              <a:srgbClr val="B3B5B8"/>
            </a:solidFill>
            <a:prstDash val="solid"/>
          </a:ln>
        </p:spPr>
      </p:sp>
      <p:sp>
        <p:nvSpPr>
          <p:cNvPr id="24" name="manual-value-0">
            <a:extLst xmlns:a="http://schemas.openxmlformats.org/drawingml/2006/main">
              <a:ext uri="{FF2B5EF4-FFF2-40B4-BE49-F238E27FC236}">
                <a16:creationId xmlns:a16="http://schemas.microsoft.com/office/drawing/2014/main" id="{B46D38A1-02A9-4E15-87EE-A46F50B8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171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0.8 天</a:t>
            </a:r>
          </a:p>
        </p:txBody>
      </p:sp>
      <p:sp>
        <p:nvSpPr>
          <p:cNvPr id="25" name="pilot-bar-0">
            <a:extLst xmlns:a="http://schemas.openxmlformats.org/drawingml/2006/main">
              <a:ext uri="{FF2B5EF4-FFF2-40B4-BE49-F238E27FC236}">
                <a16:creationId xmlns:a16="http://schemas.microsoft.com/office/drawing/2014/main" id="{32419EE9-842B-407B-AEA7-374647CC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47925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6" name="pilot-value-0">
            <a:extLst xmlns:a="http://schemas.openxmlformats.org/drawingml/2006/main">
              <a:ext uri="{FF2B5EF4-FFF2-40B4-BE49-F238E27FC236}">
                <a16:creationId xmlns:a16="http://schemas.microsoft.com/office/drawing/2014/main" id="{ABBF7440-41A3-4038-99F4-96008FDA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09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0.6 天</a:t>
            </a:r>
          </a:p>
        </p:txBody>
      </p:sp>
      <p:sp>
        <p:nvSpPr>
          <p:cNvPr id="27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20FBCE16-3904-4497-9600-B2D97EA8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2417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材料核对</a:t>
            </a:r>
          </a:p>
        </p:txBody>
      </p:sp>
      <p:sp>
        <p:nvSpPr>
          <p:cNvPr id="28" name="manual-bar-1">
            <a:extLst xmlns:a="http://schemas.openxmlformats.org/drawingml/2006/main">
              <a:ext uri="{FF2B5EF4-FFF2-40B4-BE49-F238E27FC236}">
                <a16:creationId xmlns:a16="http://schemas.microsoft.com/office/drawing/2014/main" id="{2821A2A5-0286-433C-A6D6-07D270F6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76550"/>
            <a:ext cx="2387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B5B8"/>
          </a:solidFill>
          <a:ln xmlns:a="http://schemas.openxmlformats.org/drawingml/2006/main" w="0">
            <a:solidFill>
              <a:srgbClr val="B3B5B8"/>
            </a:solidFill>
            <a:prstDash val="solid"/>
          </a:ln>
        </p:spPr>
      </p:sp>
      <p:sp>
        <p:nvSpPr>
          <p:cNvPr id="29" name="manual-value-1">
            <a:extLst xmlns:a="http://schemas.openxmlformats.org/drawingml/2006/main">
              <a:ext uri="{FF2B5EF4-FFF2-40B4-BE49-F238E27FC236}">
                <a16:creationId xmlns:a16="http://schemas.microsoft.com/office/drawing/2014/main" id="{781BFC90-038A-4C63-B061-83A1A62B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2838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1.6 天</a:t>
            </a:r>
          </a:p>
        </p:txBody>
      </p:sp>
      <p:sp>
        <p:nvSpPr>
          <p:cNvPr id="30" name="pilot-bar-1">
            <a:extLst xmlns:a="http://schemas.openxmlformats.org/drawingml/2006/main">
              <a:ext uri="{FF2B5EF4-FFF2-40B4-BE49-F238E27FC236}">
                <a16:creationId xmlns:a16="http://schemas.microsoft.com/office/drawing/2014/main" id="{78EBE09B-079B-485A-8255-1F9C838F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14675"/>
            <a:ext cx="149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1" name="pilot-value-1">
            <a:extLst xmlns:a="http://schemas.openxmlformats.org/drawingml/2006/main">
              <a:ext uri="{FF2B5EF4-FFF2-40B4-BE49-F238E27FC236}">
                <a16:creationId xmlns:a16="http://schemas.microsoft.com/office/drawing/2014/main" id="{73FF447A-69D9-4B50-88E4-C3FE2E34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3076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1.0 天</a:t>
            </a:r>
          </a:p>
        </p:txBody>
      </p:sp>
      <p:sp>
        <p:nvSpPr>
          <p:cNvPr id="32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8142D891-F8C6-48C9-BC52-3AE9F29F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9092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教师处理及等待</a:t>
            </a:r>
          </a:p>
        </p:txBody>
      </p:sp>
      <p:sp>
        <p:nvSpPr>
          <p:cNvPr id="33" name="manual-bar-2">
            <a:extLst xmlns:a="http://schemas.openxmlformats.org/drawingml/2006/main">
              <a:ext uri="{FF2B5EF4-FFF2-40B4-BE49-F238E27FC236}">
                <a16:creationId xmlns:a16="http://schemas.microsoft.com/office/drawing/2014/main" id="{326B6C7B-49BC-48BD-B8DA-435A9287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43300"/>
            <a:ext cx="387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B5B8"/>
          </a:solidFill>
          <a:ln xmlns:a="http://schemas.openxmlformats.org/drawingml/2006/main" w="0">
            <a:solidFill>
              <a:srgbClr val="B3B5B8"/>
            </a:solidFill>
            <a:prstDash val="solid"/>
          </a:ln>
        </p:spPr>
      </p:sp>
      <p:sp>
        <p:nvSpPr>
          <p:cNvPr id="34" name="manual-value-2">
            <a:extLst xmlns:a="http://schemas.openxmlformats.org/drawingml/2006/main">
              <a:ext uri="{FF2B5EF4-FFF2-40B4-BE49-F238E27FC236}">
                <a16:creationId xmlns:a16="http://schemas.microsoft.com/office/drawing/2014/main" id="{62CC3A1B-9BE6-42C7-AD7B-7B0EC093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050" y="35052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2.6 天</a:t>
            </a:r>
          </a:p>
        </p:txBody>
      </p:sp>
      <p:sp>
        <p:nvSpPr>
          <p:cNvPr id="35" name="pilot-bar-2">
            <a:extLst xmlns:a="http://schemas.openxmlformats.org/drawingml/2006/main">
              <a:ext uri="{FF2B5EF4-FFF2-40B4-BE49-F238E27FC236}">
                <a16:creationId xmlns:a16="http://schemas.microsoft.com/office/drawing/2014/main" id="{5D2F37F3-8C72-4F70-B0F9-76472F50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81425"/>
            <a:ext cx="2387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6" name="pilot-value-2">
            <a:extLst xmlns:a="http://schemas.openxmlformats.org/drawingml/2006/main">
              <a:ext uri="{FF2B5EF4-FFF2-40B4-BE49-F238E27FC236}">
                <a16:creationId xmlns:a16="http://schemas.microsoft.com/office/drawing/2014/main" id="{0763B780-9187-422B-A0A1-57BD192C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37433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1.6 天</a:t>
            </a:r>
          </a:p>
        </p:txBody>
      </p:sp>
      <p:sp>
        <p:nvSpPr>
          <p:cNvPr id="37" name="total-rule">
            <a:extLst xmlns:a="http://schemas.openxmlformats.org/drawingml/2006/main">
              <a:ext uri="{FF2B5EF4-FFF2-40B4-BE49-F238E27FC236}">
                <a16:creationId xmlns:a16="http://schemas.microsoft.com/office/drawing/2014/main" id="{13B84689-7BB5-49A3-B1C3-06BAA0AF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48200"/>
            <a:ext cx="623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38" name="total-label">
            <a:extLst xmlns:a="http://schemas.openxmlformats.org/drawingml/2006/main">
              <a:ext uri="{FF2B5EF4-FFF2-40B4-BE49-F238E27FC236}">
                <a16:creationId xmlns:a16="http://schemas.microsoft.com/office/drawing/2014/main" id="{A8EC2FFA-1BBA-4E4A-869F-5380B9C4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43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总计</a:t>
            </a:r>
          </a:p>
        </p:txBody>
      </p:sp>
      <p:sp>
        <p:nvSpPr>
          <p:cNvPr id="39" name="total-value">
            <a:extLst xmlns:a="http://schemas.openxmlformats.org/drawingml/2006/main">
              <a:ext uri="{FF2B5EF4-FFF2-40B4-BE49-F238E27FC236}">
                <a16:creationId xmlns:a16="http://schemas.microsoft.com/office/drawing/2014/main" id="{5EBEDAD5-1089-4BD0-8418-AEDBFAEC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434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人工 5.0 天  →  试点 3.2 天  ｜  少 1.8 天（36%）</a:t>
            </a:r>
          </a:p>
        </p:txBody>
      </p:sp>
      <p:sp>
        <p:nvSpPr>
          <p:cNvPr id="40" name="stage-read">
            <a:extLst xmlns:a="http://schemas.openxmlformats.org/drawingml/2006/main">
              <a:ext uri="{FF2B5EF4-FFF2-40B4-BE49-F238E27FC236}">
                <a16:creationId xmlns:a16="http://schemas.microsoft.com/office/drawing/2014/main" id="{69CD49B2-A0DB-427D-9162-3DBF8883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05400"/>
            <a:ext cx="623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三阶段依次发生、互不重叠，阶段均值可以相加。</a:t>
            </a:r>
          </a:p>
        </p:txBody>
      </p:sp>
      <p:sp>
        <p:nvSpPr>
          <p:cNvPr id="41" name="right-axis">
            <a:extLst xmlns:a="http://schemas.openxmlformats.org/drawingml/2006/main">
              <a:ext uri="{FF2B5EF4-FFF2-40B4-BE49-F238E27FC236}">
                <a16:creationId xmlns:a16="http://schemas.microsoft.com/office/drawing/2014/main" id="{06EB60D5-0EC9-43D9-BC9A-83337C48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04950"/>
            <a:ext cx="381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2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550A2D88-4214-489F-98FF-1B5E6D94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24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教师处理及等待</a:t>
            </a:r>
          </a:p>
        </p:txBody>
      </p:sp>
      <p:sp>
        <p:nvSpPr>
          <p:cNvPr id="43" name="right-finding">
            <a:extLst xmlns:a="http://schemas.openxmlformats.org/drawingml/2006/main">
              <a:ext uri="{FF2B5EF4-FFF2-40B4-BE49-F238E27FC236}">
                <a16:creationId xmlns:a16="http://schemas.microsoft.com/office/drawing/2014/main" id="{16E9F52C-D9D4-4594-BF89-44092DE3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431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三阶段中差距最大：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试点比人工少 1.0 天。</a:t>
            </a:r>
          </a:p>
        </p:txBody>
      </p:sp>
      <p:sp>
        <p:nvSpPr>
          <p:cNvPr id="44" name="right-meaning">
            <a:extLst xmlns:a="http://schemas.openxmlformats.org/drawingml/2006/main">
              <a:ext uri="{FF2B5EF4-FFF2-40B4-BE49-F238E27FC236}">
                <a16:creationId xmlns:a16="http://schemas.microsoft.com/office/drawing/2014/main" id="{E737B6E1-EF4F-473C-876A-E4526415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337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它在试点侧仍占总时长一半，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是下一轮最需要拆分记录的环节。</a:t>
            </a:r>
          </a:p>
        </p:txBody>
      </p:sp>
      <p:sp>
        <p:nvSpPr>
          <p:cNvPr id="45" name="right-boundary-heading">
            <a:extLst xmlns:a="http://schemas.openxmlformats.org/drawingml/2006/main">
              <a:ext uri="{FF2B5EF4-FFF2-40B4-BE49-F238E27FC236}">
                <a16:creationId xmlns:a16="http://schemas.microsoft.com/office/drawing/2014/main" id="{6ED83CBC-8332-4D0E-8FE1-5EEDB2D7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2430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比较边界</a:t>
            </a:r>
          </a:p>
        </p:txBody>
      </p:sp>
      <p:sp>
        <p:nvSpPr>
          <p:cNvPr id="46" name="right-boundary">
            <a:extLst xmlns:a="http://schemas.openxmlformats.org/drawingml/2006/main">
              <a:ext uri="{FF2B5EF4-FFF2-40B4-BE49-F238E27FC236}">
                <a16:creationId xmlns:a16="http://schemas.microsoft.com/office/drawing/2014/main" id="{04FC640A-8467-48F6-B4B3-60B2E48F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43400"/>
            <a:ext cx="3381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仅覆盖已结案申请；两批事项难度和人员负荷未控制，不能将时间差异归因于试点。现有合并记录也不能把等待与教师实际处理时间分开。</a:t>
            </a:r>
          </a:p>
        </p:txBody>
      </p:sp>
      <p:sp>
        <p:nvSpPr>
          <p:cNvPr id="47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E6C3B041-371A-4A8B-BB3E-7382B6F6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48" name="footer-source-1">
            <a:extLst xmlns:a="http://schemas.openxmlformats.org/drawingml/2006/main">
              <a:ext uri="{FF2B5EF4-FFF2-40B4-BE49-F238E27FC236}">
                <a16:creationId xmlns:a16="http://schemas.microsoft.com/office/drawing/2014/main" id="{879B5426-F9CC-49F7-82C4-7E6AC0FE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912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来源：虚构测试数据与方案｜两批不同月份，各 120 件已结案申请；不是任何真实大学的绩效报告。</a:t>
            </a:r>
          </a:p>
        </p:txBody>
      </p:sp>
      <p:sp>
        <p:nvSpPr>
          <p:cNvPr id="49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C73279E2-DEDF-44B3-ACCA-6F05C759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45078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page-title-2">
            <a:extLst xmlns:a="http://schemas.openxmlformats.org/drawingml/2006/main">
              <a:ext uri="{FF2B5EF4-FFF2-40B4-BE49-F238E27FC236}">
                <a16:creationId xmlns:a16="http://schemas.microsoft.com/office/drawing/2014/main" id="{A2555F67-7881-4971-A0B5-759D4DA8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下一轮先验证分工能否执行，再用完整时间戳拆开等待与处理</a:t>
            </a:r>
          </a:p>
        </p:txBody>
      </p:sp>
      <p:sp>
        <p:nvSpPr>
          <p:cNvPr id="2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EC643DE5-C2FD-409C-993C-0124DBDB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107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page-context-2">
            <a:extLst xmlns:a="http://schemas.openxmlformats.org/drawingml/2006/main">
              <a:ext uri="{FF2B5EF4-FFF2-40B4-BE49-F238E27FC236}">
                <a16:creationId xmlns:a16="http://schemas.microsoft.com/office/drawing/2014/main" id="{83EF3A5F-A97A-4FBB-9AEC-089EF95F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下一轮安排｜4 周、仅限常规申请｜计划状态：尚未实施</a:t>
            </a:r>
          </a:p>
        </p:txBody>
      </p:sp>
      <p:sp>
        <p:nvSpPr>
          <p:cNvPr id="4" name="flow-anchor-0">
            <a:extLst xmlns:a="http://schemas.openxmlformats.org/drawingml/2006/main">
              <a:ext uri="{FF2B5EF4-FFF2-40B4-BE49-F238E27FC236}">
                <a16:creationId xmlns:a16="http://schemas.microsoft.com/office/drawing/2014/main" id="{C4F76C3B-0B72-4896-9EE6-19A1357C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3855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flow-anchor-1">
            <a:extLst xmlns:a="http://schemas.openxmlformats.org/drawingml/2006/main">
              <a:ext uri="{FF2B5EF4-FFF2-40B4-BE49-F238E27FC236}">
                <a16:creationId xmlns:a16="http://schemas.microsoft.com/office/drawing/2014/main" id="{E069BA81-51A5-4291-8AA6-B7CBA216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63855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flow-anchor-2">
            <a:extLst xmlns:a="http://schemas.openxmlformats.org/drawingml/2006/main">
              <a:ext uri="{FF2B5EF4-FFF2-40B4-BE49-F238E27FC236}">
                <a16:creationId xmlns:a16="http://schemas.microsoft.com/office/drawing/2014/main" id="{048E8106-C23E-4113-9755-400305DD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3855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" name=""/>
          <p:cNvCxnSpPr>
            <a:stCxn xmlns:a="http://schemas.openxmlformats.org/drawingml/2006/main" id="4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2228850" y="3848100"/>
            <a:ext cx="3648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6296025" y="3848100"/>
            <a:ext cx="3648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sp>
        <p:nvSpPr>
          <p:cNvPr id="9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0422D942-305E-4158-A550-B807E94D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受理分流</a:t>
            </a:r>
          </a:p>
        </p:txBody>
      </p:sp>
      <p:sp>
        <p:nvSpPr>
          <p:cNvPr id="10" name="phase-owner-0">
            <a:extLst xmlns:a="http://schemas.openxmlformats.org/drawingml/2006/main">
              <a:ext uri="{FF2B5EF4-FFF2-40B4-BE49-F238E27FC236}">
                <a16:creationId xmlns:a16="http://schemas.microsoft.com/office/drawing/2014/main" id="{079069B1-E313-4591-B701-8FA24C9C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66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责任：服务助理</a:t>
            </a:r>
          </a:p>
        </p:txBody>
      </p:sp>
      <p:sp>
        <p:nvSpPr>
          <p:cNvPr id="11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030E7340-6244-4BFF-8820-9B69154C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479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登记事项类型与提交时间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授权常规事项才进入下一步</a:t>
            </a:r>
          </a:p>
        </p:txBody>
      </p:sp>
      <p:sp>
        <p:nvSpPr>
          <p:cNvPr id="12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1BA5CDB5-CCBF-40DC-9246-738C1B32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573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核对材料</a:t>
            </a:r>
          </a:p>
        </p:txBody>
      </p:sp>
      <p:sp>
        <p:nvSpPr>
          <p:cNvPr id="13" name="phase-owner-1">
            <a:extLst xmlns:a="http://schemas.openxmlformats.org/drawingml/2006/main">
              <a:ext uri="{FF2B5EF4-FFF2-40B4-BE49-F238E27FC236}">
                <a16:creationId xmlns:a16="http://schemas.microsoft.com/office/drawing/2014/main" id="{F9DA1005-B9E4-4EC0-9ED2-3FC1A260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责任：服务助理</a:t>
            </a:r>
          </a:p>
        </p:txBody>
      </p:sp>
      <p:sp>
        <p:nvSpPr>
          <p:cNvPr id="14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EDEDC5FF-79CA-4D47-831B-13802D77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按清单核对齐备性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记录核对完成时间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齐备后送交教师</a:t>
            </a:r>
          </a:p>
        </p:txBody>
      </p:sp>
      <p:sp>
        <p:nvSpPr>
          <p:cNvPr id="15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FEB47EB1-0A84-4A57-B3D5-9ABD3D35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8573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</a:t>
            </a:r>
          </a:p>
        </p:txBody>
      </p:sp>
      <p:sp>
        <p:nvSpPr>
          <p:cNvPr id="16" name="phase-owner-2">
            <a:extLst xmlns:a="http://schemas.openxmlformats.org/drawingml/2006/main">
              <a:ext uri="{FF2B5EF4-FFF2-40B4-BE49-F238E27FC236}">
                <a16:creationId xmlns:a16="http://schemas.microsoft.com/office/drawing/2014/main" id="{DF2E9F1A-B66E-4EEB-9A3C-16CBE616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266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责任：责任教师</a:t>
            </a:r>
          </a:p>
        </p:txBody>
      </p:sp>
      <p:sp>
        <p:nvSpPr>
          <p:cNvPr id="17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9C88BB39-0906-47D4-BEC9-E42D920F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6479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作出专业判断并确认答复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记录接收与答复时间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助理不得代替教师作专业承诺</a:t>
            </a:r>
          </a:p>
        </p:txBody>
      </p:sp>
      <p:sp>
        <p:nvSpPr>
          <p:cNvPr id="18" name="gate-1-marker">
            <a:extLst xmlns:a="http://schemas.openxmlformats.org/drawingml/2006/main">
              <a:ext uri="{FF2B5EF4-FFF2-40B4-BE49-F238E27FC236}">
                <a16:creationId xmlns:a16="http://schemas.microsoft.com/office/drawing/2014/main" id="{348017A4-D5DA-4047-A9EE-B44149D9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71900"/>
            <a:ext cx="1524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9" name="gate-1-text">
            <a:extLst xmlns:a="http://schemas.openxmlformats.org/drawingml/2006/main">
              <a:ext uri="{FF2B5EF4-FFF2-40B4-BE49-F238E27FC236}">
                <a16:creationId xmlns:a16="http://schemas.microsoft.com/office/drawing/2014/main" id="{6B4A7A11-3A0C-48B7-AE55-A142AE47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授权常规事项</a:t>
            </a:r>
          </a:p>
        </p:txBody>
      </p:sp>
      <p:sp>
        <p:nvSpPr>
          <p:cNvPr id="20" name="gate-2-marker">
            <a:extLst xmlns:a="http://schemas.openxmlformats.org/drawingml/2006/main">
              <a:ext uri="{FF2B5EF4-FFF2-40B4-BE49-F238E27FC236}">
                <a16:creationId xmlns:a16="http://schemas.microsoft.com/office/drawing/2014/main" id="{14FE7284-6721-4771-A18B-7ACE09B5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71900"/>
            <a:ext cx="1524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21" name="gate-2-text">
            <a:extLst xmlns:a="http://schemas.openxmlformats.org/drawingml/2006/main">
              <a:ext uri="{FF2B5EF4-FFF2-40B4-BE49-F238E27FC236}">
                <a16:creationId xmlns:a16="http://schemas.microsoft.com/office/drawing/2014/main" id="{931EE470-8213-44F6-BB0C-99E21400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材料齐备</a:t>
            </a:r>
          </a:p>
        </p:txBody>
      </p:sp>
      <p:sp>
        <p:nvSpPr>
          <p:cNvPr id="22" name="flow-node-0">
            <a:extLst xmlns:a="http://schemas.openxmlformats.org/drawingml/2006/main">
              <a:ext uri="{FF2B5EF4-FFF2-40B4-BE49-F238E27FC236}">
                <a16:creationId xmlns:a16="http://schemas.microsoft.com/office/drawing/2014/main" id="{B48E9242-5938-4A8B-8E17-A1FD57FA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2EB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3" name="flow-node-number-0">
            <a:extLst xmlns:a="http://schemas.openxmlformats.org/drawingml/2006/main">
              <a:ext uri="{FF2B5EF4-FFF2-40B4-BE49-F238E27FC236}">
                <a16:creationId xmlns:a16="http://schemas.microsoft.com/office/drawing/2014/main" id="{961F5DB4-EC94-426D-96D0-BD70A939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05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flow-node-1">
            <a:extLst xmlns:a="http://schemas.openxmlformats.org/drawingml/2006/main">
              <a:ext uri="{FF2B5EF4-FFF2-40B4-BE49-F238E27FC236}">
                <a16:creationId xmlns:a16="http://schemas.microsoft.com/office/drawing/2014/main" id="{EAEA2973-AE0E-4E4B-8EB7-347078AB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2EB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5" name="flow-node-number-1">
            <a:extLst xmlns:a="http://schemas.openxmlformats.org/drawingml/2006/main">
              <a:ext uri="{FF2B5EF4-FFF2-40B4-BE49-F238E27FC236}">
                <a16:creationId xmlns:a16="http://schemas.microsoft.com/office/drawing/2014/main" id="{2429473B-9FD5-4BEE-B4E5-85A4BAC0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05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flow-node-2">
            <a:extLst xmlns:a="http://schemas.openxmlformats.org/drawingml/2006/main">
              <a:ext uri="{FF2B5EF4-FFF2-40B4-BE49-F238E27FC236}">
                <a16:creationId xmlns:a16="http://schemas.microsoft.com/office/drawing/2014/main" id="{953AEE88-D24E-4EFB-A786-BD603057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7" name="flow-node-number-2">
            <a:extLst xmlns:a="http://schemas.openxmlformats.org/drawingml/2006/main">
              <a:ext uri="{FF2B5EF4-FFF2-40B4-BE49-F238E27FC236}">
                <a16:creationId xmlns:a16="http://schemas.microsoft.com/office/drawing/2014/main" id="{7E2F7810-26BD-4636-8018-A118B994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705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timestamp-note">
            <a:extLst xmlns:a="http://schemas.openxmlformats.org/drawingml/2006/main">
              <a:ext uri="{FF2B5EF4-FFF2-40B4-BE49-F238E27FC236}">
                <a16:creationId xmlns:a16="http://schemas.microsoft.com/office/drawing/2014/main" id="{0F4A5233-EF2E-4213-ACD9-9E05B9FE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5770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记录时间点：首次提交｜核对完成｜教师接收｜最终答复｜缺件暂停区间 → 分别核对等待与处理耗时</a:t>
            </a:r>
          </a:p>
        </p:txBody>
      </p:sp>
      <p:sp>
        <p:nvSpPr>
          <p:cNvPr id="29" name="exception-heading">
            <a:extLst xmlns:a="http://schemas.openxmlformats.org/drawingml/2006/main">
              <a:ext uri="{FF2B5EF4-FFF2-40B4-BE49-F238E27FC236}">
                <a16:creationId xmlns:a16="http://schemas.microsoft.com/office/drawing/2014/main" id="{963B9C06-5835-4E5D-8712-2B7E7706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62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缺件时</a:t>
            </a:r>
          </a:p>
        </p:txBody>
      </p:sp>
      <p:sp>
        <p:nvSpPr>
          <p:cNvPr id="30" name="exception-body">
            <a:extLst xmlns:a="http://schemas.openxmlformats.org/drawingml/2006/main">
              <a:ext uri="{FF2B5EF4-FFF2-40B4-BE49-F238E27FC236}">
                <a16:creationId xmlns:a16="http://schemas.microsoft.com/office/drawing/2014/main" id="{504D65CB-A1A0-4B5C-86A7-20B20FD2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24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暂停推进并通知申请人补齐；补齐后重新核对。</a:t>
            </a:r>
          </a:p>
        </p:txBody>
      </p:sp>
      <p:sp>
        <p:nvSpPr>
          <p:cNvPr id="31" name="boundary-heading">
            <a:extLst xmlns:a="http://schemas.openxmlformats.org/drawingml/2006/main">
              <a:ext uri="{FF2B5EF4-FFF2-40B4-BE49-F238E27FC236}">
                <a16:creationId xmlns:a16="http://schemas.microsoft.com/office/drawing/2014/main" id="{2F3E2CA5-0A53-4AA1-9745-49687568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超授权 / 非常规事项</a:t>
            </a:r>
          </a:p>
        </p:txBody>
      </p:sp>
      <p:sp>
        <p:nvSpPr>
          <p:cNvPr id="32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74107D77-9306-400C-9727-B1DD71CA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81700"/>
            <a:ext cx="490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暂停流转，由负责人指定处理人。</a:t>
            </a:r>
          </a:p>
        </p:txBody>
      </p:sp>
      <p:sp>
        <p:nvSpPr>
          <p:cNvPr id="33" name="measure-heading">
            <a:extLst xmlns:a="http://schemas.openxmlformats.org/drawingml/2006/main">
              <a:ext uri="{FF2B5EF4-FFF2-40B4-BE49-F238E27FC236}">
                <a16:creationId xmlns:a16="http://schemas.microsoft.com/office/drawing/2014/main" id="{83322238-5897-44CC-8B4E-274A2C3F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500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四周后</a:t>
            </a:r>
          </a:p>
        </p:txBody>
      </p:sp>
      <p:sp>
        <p:nvSpPr>
          <p:cNvPr id="34" name="measure-body">
            <a:extLst xmlns:a="http://schemas.openxmlformats.org/drawingml/2006/main">
              <a:ext uri="{FF2B5EF4-FFF2-40B4-BE49-F238E27FC236}">
                <a16:creationId xmlns:a16="http://schemas.microsoft.com/office/drawing/2014/main" id="{46C518FC-2BA8-4282-A48D-7775DD66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8170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只判断分工可执行、记录完整；不承诺再次降时。</a:t>
            </a:r>
          </a:p>
        </p:txBody>
      </p:sp>
      <p:sp>
        <p:nvSpPr>
          <p:cNvPr id="35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373EFD0A-24B5-44F9-95DA-2AC52814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36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B5B3D139-2046-4127-B0F5-2B905C60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912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来源：虚构测试数据与方案｜四周分工试点尚未实施；不代表任何真实大学的管理方案。</a:t>
            </a:r>
          </a:p>
        </p:txBody>
      </p:sp>
      <p:sp>
        <p:nvSpPr>
          <p:cNvPr id="37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3D2CFBC8-E2B9-4046-AC49-712518BE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909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2026-09-05T23:31:51.6470000Z</dcterms:created>
  <dcterms:modified xsi:type="dcterms:W3CDTF">2026-09-05T23:31:51.6470000Z</dcterms:modified>
</coreProperties>
</file>