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3be3a02f294358" /><Relationship Type="http://schemas.openxmlformats.org/officeDocument/2006/relationships/extended-properties" Target="/docProps/app.xml" Id="Re8762e214ed24e32" /><Relationship Type="http://schemas.openxmlformats.org/officeDocument/2006/relationships/officeDocument" Target="/ppt/presentation.xml" Id="Rf8f98f7d6b5a45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66a9932fff4f11"/>
  </p:sldMasterIdLst>
  <p:notesMasterIdLst>
    <p:notesMasterId xmlns:r="http://schemas.openxmlformats.org/officeDocument/2006/relationships" r:id="Ra291e6e4282a4124"/>
  </p:notesMasterIdLst>
  <p:sldIdLst>
    <p:sldId xmlns:r="http://schemas.openxmlformats.org/officeDocument/2006/relationships" id="256" r:id="R532ebc17be804b71"/>
    <p:sldId xmlns:r="http://schemas.openxmlformats.org/officeDocument/2006/relationships" id="257" r:id="Rea12eb1ae72f4e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7081bf60e34631" /><Relationship Type="http://schemas.openxmlformats.org/officeDocument/2006/relationships/slideMaster" Target="/ppt/slideMasters/slideMaster1.xml" Id="R3b66a9932fff4f11" /><Relationship Type="http://schemas.openxmlformats.org/officeDocument/2006/relationships/notesMaster" Target="/ppt/notesMasters/notesMaster1.xml" Id="Ra291e6e4282a4124" /><Relationship Type="http://schemas.openxmlformats.org/officeDocument/2006/relationships/presProps" Target="/ppt/presProps.xml" Id="Rb18f614b9d144639" /><Relationship Type="http://schemas.openxmlformats.org/officeDocument/2006/relationships/tableStyles" Target="/ppt/tableStyles.xml" Id="Ra8ae53bc6e1f41e7" /><Relationship Type="http://schemas.openxmlformats.org/officeDocument/2006/relationships/slide" Target="/ppt/slides/slide1.xml" Id="R532ebc17be804b71" /><Relationship Type="http://schemas.openxmlformats.org/officeDocument/2006/relationships/slide" Target="/ppt/slides/slide2.xml" Id="Rea12eb1ae72f4e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8007de6eb244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2c313f7b5649f6" /><Relationship Type="http://schemas.openxmlformats.org/officeDocument/2006/relationships/notesMaster" Target="/ppt/notesMasters/notesMaster1.xml" Id="R0bb01355d07342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cde48abcf848ab" /><Relationship Type="http://schemas.openxmlformats.org/officeDocument/2006/relationships/notesMaster" Target="/ppt/notesMasters/notesMaster1.xml" Id="R584f3352d1d649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v6修订：总量与分量共享证据区，右侧只解释教师处理及等待为何重要，并保留未控制难度/负荷与无法拆分等待处理的边界。数据与场景均为虚构测试材料。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v7修订：上部是三阶段门禁骨架，职责与局部异常沿对应阶段展开；跨阶段时间记录和四周评估独立排布。计划尚未实施。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46d1579cb54f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22ceacc5d24673" /><Relationship Type="http://schemas.openxmlformats.org/officeDocument/2006/relationships/slideLayout" Target="/ppt/slideLayouts/slideLayout1.xml" Id="Rb5b6523e5c354e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b6523e5c354e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bc62be3d64163" /><Relationship Type="http://schemas.openxmlformats.org/officeDocument/2006/relationships/notesSlide" Target="/ppt/notesSlides/notesSlide1.xml" Id="R7e9b32c0930f47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e26ef0ef94056" /><Relationship Type="http://schemas.openxmlformats.org/officeDocument/2006/relationships/notesSlide" Target="/ppt/notesSlides/notesSlide2.xml" Id="R9c526ca37c2245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page-title-1">
            <a:extLst xmlns:a="http://schemas.openxmlformats.org/drawingml/2006/main">
              <a:ext uri="{FF2B5EF4-FFF2-40B4-BE49-F238E27FC236}">
                <a16:creationId xmlns:a16="http://schemas.microsoft.com/office/drawing/2014/main" id="{0F00FC4E-C4DA-4AA7-B00D-383F37ED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试点批次平均处理用时更短，但差距主要来自教师处理及等待</a:t>
            </a:r>
          </a:p>
        </p:txBody>
      </p:sp>
      <p:sp>
        <p:nvSpPr>
          <p:cNvPr id="2" name="header-rule-1">
            <a:extLst xmlns:a="http://schemas.openxmlformats.org/drawingml/2006/main">
              <a:ext uri="{FF2B5EF4-FFF2-40B4-BE49-F238E27FC236}">
                <a16:creationId xmlns:a16="http://schemas.microsoft.com/office/drawing/2014/main" id="{503FDBE0-BBA1-4C56-976A-D26B6555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8107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page-context-1">
            <a:extLst xmlns:a="http://schemas.openxmlformats.org/drawingml/2006/main">
              <a:ext uri="{FF2B5EF4-FFF2-40B4-BE49-F238E27FC236}">
                <a16:creationId xmlns:a16="http://schemas.microsoft.com/office/drawing/2014/main" id="{793276E1-CD21-483F-AF41-22CDB39E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85850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两批各 120 件已结案申请｜比较指标：首次提交至完成处理的平均工作日</a:t>
            </a:r>
          </a:p>
        </p:txBody>
      </p:sp>
      <p:sp>
        <p:nvSpPr>
          <p:cNvPr id="4" name="stage-heading">
            <a:extLst xmlns:a="http://schemas.openxmlformats.org/drawingml/2006/main">
              <a:ext uri="{FF2B5EF4-FFF2-40B4-BE49-F238E27FC236}">
                <a16:creationId xmlns:a16="http://schemas.microsoft.com/office/drawing/2014/main" id="{4A097E17-2A97-4378-AF39-A9BF8054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阶段用时（工作日）</a:t>
            </a:r>
          </a:p>
        </p:txBody>
      </p:sp>
      <p:sp>
        <p:nvSpPr>
          <p:cNvPr id="5" name="legend-old">
            <a:extLst xmlns:a="http://schemas.openxmlformats.org/drawingml/2006/main">
              <a:ext uri="{FF2B5EF4-FFF2-40B4-BE49-F238E27FC236}">
                <a16:creationId xmlns:a16="http://schemas.microsoft.com/office/drawing/2014/main" id="{BEB056CA-C538-4BB7-BF6C-1FD8C247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5716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B5B8"/>
          </a:solidFill>
          <a:ln xmlns:a="http://schemas.openxmlformats.org/drawingml/2006/main" w="0">
            <a:solidFill>
              <a:srgbClr val="B3B5B8"/>
            </a:solidFill>
            <a:prstDash val="solid"/>
          </a:ln>
        </p:spPr>
      </p:sp>
      <p:sp>
        <p:nvSpPr>
          <p:cNvPr id="6" name="legend-old-text">
            <a:extLst xmlns:a="http://schemas.openxmlformats.org/drawingml/2006/main">
              <a:ext uri="{FF2B5EF4-FFF2-40B4-BE49-F238E27FC236}">
                <a16:creationId xmlns:a16="http://schemas.microsoft.com/office/drawing/2014/main" id="{F6899C05-A349-4FA1-A4E8-A4FCA004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524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人工受理</a:t>
            </a:r>
          </a:p>
        </p:txBody>
      </p:sp>
      <p:sp>
        <p:nvSpPr>
          <p:cNvPr id="7" name="legend-pilot">
            <a:extLst xmlns:a="http://schemas.openxmlformats.org/drawingml/2006/main">
              <a:ext uri="{FF2B5EF4-FFF2-40B4-BE49-F238E27FC236}">
                <a16:creationId xmlns:a16="http://schemas.microsoft.com/office/drawing/2014/main" id="{B8D874AE-75E9-492E-9651-D455862D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716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8" name="legend-pilot-text">
            <a:extLst xmlns:a="http://schemas.openxmlformats.org/drawingml/2006/main">
              <a:ext uri="{FF2B5EF4-FFF2-40B4-BE49-F238E27FC236}">
                <a16:creationId xmlns:a16="http://schemas.microsoft.com/office/drawing/2014/main" id="{3641C29D-1711-4FAE-9ECA-62AD2CE7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524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试点受理</a:t>
            </a:r>
          </a:p>
        </p:txBody>
      </p:sp>
      <p:sp>
        <p:nvSpPr>
          <p:cNvPr id="9" name="chart-grid-0-top">
            <a:extLst xmlns:a="http://schemas.openxmlformats.org/drawingml/2006/main">
              <a:ext uri="{FF2B5EF4-FFF2-40B4-BE49-F238E27FC236}">
                <a16:creationId xmlns:a16="http://schemas.microsoft.com/office/drawing/2014/main" id="{E1A491F6-D002-4CB9-BE38-08553895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47875"/>
            <a:ext cx="9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10" name="chart-grid-0-bottom">
            <a:extLst xmlns:a="http://schemas.openxmlformats.org/drawingml/2006/main">
              <a:ext uri="{FF2B5EF4-FFF2-40B4-BE49-F238E27FC236}">
                <a16:creationId xmlns:a16="http://schemas.microsoft.com/office/drawing/2014/main" id="{678B6504-60E7-4142-A4EF-D5B79263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767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11" name="chart-tick-0">
            <a:extLst xmlns:a="http://schemas.openxmlformats.org/drawingml/2006/main">
              <a:ext uri="{FF2B5EF4-FFF2-40B4-BE49-F238E27FC236}">
                <a16:creationId xmlns:a16="http://schemas.microsoft.com/office/drawing/2014/main" id="{8CD3C767-2457-4CAC-A974-87F31FF8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338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2" name="chart-grid-1-top">
            <a:extLst xmlns:a="http://schemas.openxmlformats.org/drawingml/2006/main">
              <a:ext uri="{FF2B5EF4-FFF2-40B4-BE49-F238E27FC236}">
                <a16:creationId xmlns:a16="http://schemas.microsoft.com/office/drawing/2014/main" id="{5BAFADF0-FC43-40E7-B63D-0B64A0DA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250" y="2047875"/>
            <a:ext cx="9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13" name="chart-grid-1-bottom">
            <a:extLst xmlns:a="http://schemas.openxmlformats.org/drawingml/2006/main">
              <a:ext uri="{FF2B5EF4-FFF2-40B4-BE49-F238E27FC236}">
                <a16:creationId xmlns:a16="http://schemas.microsoft.com/office/drawing/2014/main" id="{0F9DAC8C-71C9-47E7-97E7-96F36C36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250" y="40767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14" name="chart-tick-1">
            <a:extLst xmlns:a="http://schemas.openxmlformats.org/drawingml/2006/main">
              <a:ext uri="{FF2B5EF4-FFF2-40B4-BE49-F238E27FC236}">
                <a16:creationId xmlns:a16="http://schemas.microsoft.com/office/drawing/2014/main" id="{E62E0493-A72B-467B-9F9F-FD5B63B3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800" y="43338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chart-grid-2-top">
            <a:extLst xmlns:a="http://schemas.openxmlformats.org/drawingml/2006/main">
              <a:ext uri="{FF2B5EF4-FFF2-40B4-BE49-F238E27FC236}">
                <a16:creationId xmlns:a16="http://schemas.microsoft.com/office/drawing/2014/main" id="{2D4A5E83-2782-4647-AD56-F62DB14E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500" y="2047875"/>
            <a:ext cx="9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16" name="chart-grid-2-bottom">
            <a:extLst xmlns:a="http://schemas.openxmlformats.org/drawingml/2006/main">
              <a:ext uri="{FF2B5EF4-FFF2-40B4-BE49-F238E27FC236}">
                <a16:creationId xmlns:a16="http://schemas.microsoft.com/office/drawing/2014/main" id="{B8CC9924-ACA6-4B66-8337-38F7BE7D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500" y="40767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17" name="chart-tick-2">
            <a:extLst xmlns:a="http://schemas.openxmlformats.org/drawingml/2006/main">
              <a:ext uri="{FF2B5EF4-FFF2-40B4-BE49-F238E27FC236}">
                <a16:creationId xmlns:a16="http://schemas.microsoft.com/office/drawing/2014/main" id="{FACC43BB-3D57-4D84-8CFB-6F9A7D40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9050" y="43338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chart-grid-3-top">
            <a:extLst xmlns:a="http://schemas.openxmlformats.org/drawingml/2006/main">
              <a:ext uri="{FF2B5EF4-FFF2-40B4-BE49-F238E27FC236}">
                <a16:creationId xmlns:a16="http://schemas.microsoft.com/office/drawing/2014/main" id="{3D8A8879-41AE-411D-94D9-4AF3742E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9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19" name="chart-grid-3-bottom">
            <a:extLst xmlns:a="http://schemas.openxmlformats.org/drawingml/2006/main">
              <a:ext uri="{FF2B5EF4-FFF2-40B4-BE49-F238E27FC236}">
                <a16:creationId xmlns:a16="http://schemas.microsoft.com/office/drawing/2014/main" id="{645E6809-2A62-409B-9D43-36216BE2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767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20" name="chart-tick-3">
            <a:extLst xmlns:a="http://schemas.openxmlformats.org/drawingml/2006/main">
              <a:ext uri="{FF2B5EF4-FFF2-40B4-BE49-F238E27FC236}">
                <a16:creationId xmlns:a16="http://schemas.microsoft.com/office/drawing/2014/main" id="{825E9F04-1B44-4AED-8013-1268192C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338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chart-baseline">
            <a:extLst xmlns:a="http://schemas.openxmlformats.org/drawingml/2006/main">
              <a:ext uri="{FF2B5EF4-FFF2-40B4-BE49-F238E27FC236}">
                <a16:creationId xmlns:a16="http://schemas.microsoft.com/office/drawing/2014/main" id="{33DAE306-AAD1-46B4-BAD1-D74D7E56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481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22" name="stage-label-0">
            <a:extLst xmlns:a="http://schemas.openxmlformats.org/drawingml/2006/main">
              <a:ext uri="{FF2B5EF4-FFF2-40B4-BE49-F238E27FC236}">
                <a16:creationId xmlns:a16="http://schemas.microsoft.com/office/drawing/2014/main" id="{12C0FE6C-C43D-4CD5-9153-432044FD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57425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受理分流</a:t>
            </a:r>
          </a:p>
        </p:txBody>
      </p:sp>
      <p:sp>
        <p:nvSpPr>
          <p:cNvPr id="23" name="manual-bar-0">
            <a:extLst xmlns:a="http://schemas.openxmlformats.org/drawingml/2006/main">
              <a:ext uri="{FF2B5EF4-FFF2-40B4-BE49-F238E27FC236}">
                <a16:creationId xmlns:a16="http://schemas.microsoft.com/office/drawing/2014/main" id="{3A2293EF-3BAE-411F-A755-CE39012E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09800"/>
            <a:ext cx="1193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B5B8"/>
          </a:solidFill>
          <a:ln xmlns:a="http://schemas.openxmlformats.org/drawingml/2006/main" w="0">
            <a:solidFill>
              <a:srgbClr val="B3B5B8"/>
            </a:solidFill>
            <a:prstDash val="solid"/>
          </a:ln>
        </p:spPr>
      </p:sp>
      <p:sp>
        <p:nvSpPr>
          <p:cNvPr id="24" name="manual-value-0">
            <a:extLst xmlns:a="http://schemas.openxmlformats.org/drawingml/2006/main">
              <a:ext uri="{FF2B5EF4-FFF2-40B4-BE49-F238E27FC236}">
                <a16:creationId xmlns:a16="http://schemas.microsoft.com/office/drawing/2014/main" id="{ED75D276-A1AB-471E-8EAB-D47E0146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2171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0.8 天</a:t>
            </a:r>
          </a:p>
        </p:txBody>
      </p:sp>
      <p:sp>
        <p:nvSpPr>
          <p:cNvPr id="25" name="pilot-bar-0">
            <a:extLst xmlns:a="http://schemas.openxmlformats.org/drawingml/2006/main">
              <a:ext uri="{FF2B5EF4-FFF2-40B4-BE49-F238E27FC236}">
                <a16:creationId xmlns:a16="http://schemas.microsoft.com/office/drawing/2014/main" id="{3F7E50A8-C7AC-4728-BE64-9BF28DDE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47925"/>
            <a:ext cx="895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6" name="pilot-value-0">
            <a:extLst xmlns:a="http://schemas.openxmlformats.org/drawingml/2006/main">
              <a:ext uri="{FF2B5EF4-FFF2-40B4-BE49-F238E27FC236}">
                <a16:creationId xmlns:a16="http://schemas.microsoft.com/office/drawing/2014/main" id="{8C8DBB6F-86AE-43F5-8122-2D3C43A7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098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0.6 天</a:t>
            </a:r>
          </a:p>
        </p:txBody>
      </p:sp>
      <p:sp>
        <p:nvSpPr>
          <p:cNvPr id="27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5447207E-A6B9-443F-96B5-7F9DE37C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24175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材料核对</a:t>
            </a:r>
          </a:p>
        </p:txBody>
      </p:sp>
      <p:sp>
        <p:nvSpPr>
          <p:cNvPr id="28" name="manual-bar-1">
            <a:extLst xmlns:a="http://schemas.openxmlformats.org/drawingml/2006/main">
              <a:ext uri="{FF2B5EF4-FFF2-40B4-BE49-F238E27FC236}">
                <a16:creationId xmlns:a16="http://schemas.microsoft.com/office/drawing/2014/main" id="{B6DD70D9-C5CD-4441-8D2A-C8957BDA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76550"/>
            <a:ext cx="2387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B5B8"/>
          </a:solidFill>
          <a:ln xmlns:a="http://schemas.openxmlformats.org/drawingml/2006/main" w="0">
            <a:solidFill>
              <a:srgbClr val="B3B5B8"/>
            </a:solidFill>
            <a:prstDash val="solid"/>
          </a:ln>
        </p:spPr>
      </p:sp>
      <p:sp>
        <p:nvSpPr>
          <p:cNvPr id="29" name="manual-value-1">
            <a:extLst xmlns:a="http://schemas.openxmlformats.org/drawingml/2006/main">
              <a:ext uri="{FF2B5EF4-FFF2-40B4-BE49-F238E27FC236}">
                <a16:creationId xmlns:a16="http://schemas.microsoft.com/office/drawing/2014/main" id="{695B9DF0-10DB-4E0B-8624-3C96B2AC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2838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1.6 天</a:t>
            </a:r>
          </a:p>
        </p:txBody>
      </p:sp>
      <p:sp>
        <p:nvSpPr>
          <p:cNvPr id="30" name="pilot-bar-1">
            <a:extLst xmlns:a="http://schemas.openxmlformats.org/drawingml/2006/main">
              <a:ext uri="{FF2B5EF4-FFF2-40B4-BE49-F238E27FC236}">
                <a16:creationId xmlns:a16="http://schemas.microsoft.com/office/drawing/2014/main" id="{D5B1EF1A-72C2-4AD2-A09F-B0F72FC7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14675"/>
            <a:ext cx="149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1" name="pilot-value-1">
            <a:extLst xmlns:a="http://schemas.openxmlformats.org/drawingml/2006/main">
              <a:ext uri="{FF2B5EF4-FFF2-40B4-BE49-F238E27FC236}">
                <a16:creationId xmlns:a16="http://schemas.microsoft.com/office/drawing/2014/main" id="{2AED8A72-757A-4562-8030-BA8CC283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450" y="30765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1.0 天</a:t>
            </a:r>
          </a:p>
        </p:txBody>
      </p:sp>
      <p:sp>
        <p:nvSpPr>
          <p:cNvPr id="32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38B6CA8D-BD52-4202-A053-AC916AD7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90925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教师处理及等待</a:t>
            </a:r>
          </a:p>
        </p:txBody>
      </p:sp>
      <p:sp>
        <p:nvSpPr>
          <p:cNvPr id="33" name="manual-bar-2">
            <a:extLst xmlns:a="http://schemas.openxmlformats.org/drawingml/2006/main">
              <a:ext uri="{FF2B5EF4-FFF2-40B4-BE49-F238E27FC236}">
                <a16:creationId xmlns:a16="http://schemas.microsoft.com/office/drawing/2014/main" id="{A1D60F61-F243-4FB5-A9F3-D94DF324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43300"/>
            <a:ext cx="387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B5B8"/>
          </a:solidFill>
          <a:ln xmlns:a="http://schemas.openxmlformats.org/drawingml/2006/main" w="0">
            <a:solidFill>
              <a:srgbClr val="B3B5B8"/>
            </a:solidFill>
            <a:prstDash val="solid"/>
          </a:ln>
        </p:spPr>
      </p:sp>
      <p:sp>
        <p:nvSpPr>
          <p:cNvPr id="34" name="manual-value-2">
            <a:extLst xmlns:a="http://schemas.openxmlformats.org/drawingml/2006/main">
              <a:ext uri="{FF2B5EF4-FFF2-40B4-BE49-F238E27FC236}">
                <a16:creationId xmlns:a16="http://schemas.microsoft.com/office/drawing/2014/main" id="{CD241D8A-03B8-47BB-8900-02416011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050" y="35052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2.6 天</a:t>
            </a:r>
          </a:p>
        </p:txBody>
      </p:sp>
      <p:sp>
        <p:nvSpPr>
          <p:cNvPr id="35" name="pilot-bar-2">
            <a:extLst xmlns:a="http://schemas.openxmlformats.org/drawingml/2006/main">
              <a:ext uri="{FF2B5EF4-FFF2-40B4-BE49-F238E27FC236}">
                <a16:creationId xmlns:a16="http://schemas.microsoft.com/office/drawing/2014/main" id="{758B4E4F-3839-42F2-95B1-73242AF3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81425"/>
            <a:ext cx="2387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6" name="pilot-value-2">
            <a:extLst xmlns:a="http://schemas.openxmlformats.org/drawingml/2006/main">
              <a:ext uri="{FF2B5EF4-FFF2-40B4-BE49-F238E27FC236}">
                <a16:creationId xmlns:a16="http://schemas.microsoft.com/office/drawing/2014/main" id="{FB5B16FB-71A4-4EE1-80DE-CA89F232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37433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1.6 天</a:t>
            </a:r>
          </a:p>
        </p:txBody>
      </p:sp>
      <p:sp>
        <p:nvSpPr>
          <p:cNvPr id="37" name="total-rule">
            <a:extLst xmlns:a="http://schemas.openxmlformats.org/drawingml/2006/main">
              <a:ext uri="{FF2B5EF4-FFF2-40B4-BE49-F238E27FC236}">
                <a16:creationId xmlns:a16="http://schemas.microsoft.com/office/drawing/2014/main" id="{3645F9A6-657F-44F5-84F2-FEA61451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48200"/>
            <a:ext cx="623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38" name="total-label">
            <a:extLst xmlns:a="http://schemas.openxmlformats.org/drawingml/2006/main">
              <a:ext uri="{FF2B5EF4-FFF2-40B4-BE49-F238E27FC236}">
                <a16:creationId xmlns:a16="http://schemas.microsoft.com/office/drawing/2014/main" id="{2D09F093-E13F-47E1-ADD4-B2F89D25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43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总计</a:t>
            </a:r>
          </a:p>
        </p:txBody>
      </p:sp>
      <p:sp>
        <p:nvSpPr>
          <p:cNvPr id="39" name="total-value">
            <a:extLst xmlns:a="http://schemas.openxmlformats.org/drawingml/2006/main">
              <a:ext uri="{FF2B5EF4-FFF2-40B4-BE49-F238E27FC236}">
                <a16:creationId xmlns:a16="http://schemas.microsoft.com/office/drawing/2014/main" id="{FA8489E5-1ED9-45D9-B408-AD46ADD5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434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人工 5.0 天  →  试点 3.2 天  ｜  少 1.8 天（36%）</a:t>
            </a:r>
          </a:p>
        </p:txBody>
      </p:sp>
      <p:sp>
        <p:nvSpPr>
          <p:cNvPr id="40" name="stage-read">
            <a:extLst xmlns:a="http://schemas.openxmlformats.org/drawingml/2006/main">
              <a:ext uri="{FF2B5EF4-FFF2-40B4-BE49-F238E27FC236}">
                <a16:creationId xmlns:a16="http://schemas.microsoft.com/office/drawing/2014/main" id="{8E399E88-1F46-4B22-A11D-EA0AD781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05400"/>
            <a:ext cx="623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三阶段依次发生、互不重叠，阶段均值可以相加。</a:t>
            </a:r>
          </a:p>
        </p:txBody>
      </p:sp>
      <p:sp>
        <p:nvSpPr>
          <p:cNvPr id="41" name="right-axis">
            <a:extLst xmlns:a="http://schemas.openxmlformats.org/drawingml/2006/main">
              <a:ext uri="{FF2B5EF4-FFF2-40B4-BE49-F238E27FC236}">
                <a16:creationId xmlns:a16="http://schemas.microsoft.com/office/drawing/2014/main" id="{2A196E86-541E-4E87-93A9-28F9F6B2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04950"/>
            <a:ext cx="381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2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1D94D78B-DA7C-4161-B597-384213B1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24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教师处理及等待</a:t>
            </a:r>
          </a:p>
        </p:txBody>
      </p:sp>
      <p:sp>
        <p:nvSpPr>
          <p:cNvPr id="43" name="right-finding">
            <a:extLst xmlns:a="http://schemas.openxmlformats.org/drawingml/2006/main">
              <a:ext uri="{FF2B5EF4-FFF2-40B4-BE49-F238E27FC236}">
                <a16:creationId xmlns:a16="http://schemas.microsoft.com/office/drawing/2014/main" id="{C8CD9A9F-6749-4317-A603-511576E6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4310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三阶段中差距最大：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试点比人工少 1.0 天。</a:t>
            </a:r>
          </a:p>
        </p:txBody>
      </p:sp>
      <p:sp>
        <p:nvSpPr>
          <p:cNvPr id="44" name="right-meaning">
            <a:extLst xmlns:a="http://schemas.openxmlformats.org/drawingml/2006/main">
              <a:ext uri="{FF2B5EF4-FFF2-40B4-BE49-F238E27FC236}">
                <a16:creationId xmlns:a16="http://schemas.microsoft.com/office/drawing/2014/main" id="{7477EFC3-173A-4F9E-A4AB-B7CA52E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3370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它在试点侧仍占总时长一半，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是下一轮最需要拆分记录的环节。</a:t>
            </a:r>
          </a:p>
        </p:txBody>
      </p:sp>
      <p:sp>
        <p:nvSpPr>
          <p:cNvPr id="45" name="right-boundary-heading">
            <a:extLst xmlns:a="http://schemas.openxmlformats.org/drawingml/2006/main">
              <a:ext uri="{FF2B5EF4-FFF2-40B4-BE49-F238E27FC236}">
                <a16:creationId xmlns:a16="http://schemas.microsoft.com/office/drawing/2014/main" id="{C5C61B17-B595-4EBA-9B89-232E3853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2430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比较边界</a:t>
            </a:r>
          </a:p>
        </p:txBody>
      </p:sp>
      <p:sp>
        <p:nvSpPr>
          <p:cNvPr id="46" name="right-boundary">
            <a:extLst xmlns:a="http://schemas.openxmlformats.org/drawingml/2006/main">
              <a:ext uri="{FF2B5EF4-FFF2-40B4-BE49-F238E27FC236}">
                <a16:creationId xmlns:a16="http://schemas.microsoft.com/office/drawing/2014/main" id="{3908960C-F9C7-470B-B853-EF4C718F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43400"/>
            <a:ext cx="33813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仅覆盖已结案申请；两批事项难度和人员负荷未控制，不能将时间差异归因于试点。现有合并记录也不能把等待与教师实际处理时间分开。</a:t>
            </a:r>
          </a:p>
        </p:txBody>
      </p:sp>
      <p:sp>
        <p:nvSpPr>
          <p:cNvPr id="47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097C7EBB-9F24-4D01-B7F2-16F2A947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48" name="footer-source-1">
            <a:extLst xmlns:a="http://schemas.openxmlformats.org/drawingml/2006/main">
              <a:ext uri="{FF2B5EF4-FFF2-40B4-BE49-F238E27FC236}">
                <a16:creationId xmlns:a16="http://schemas.microsoft.com/office/drawing/2014/main" id="{9380D227-3689-4D04-9A3A-DAB6F8E0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91275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来源：虚构测试数据与方案｜两批不同月份，各 120 件已结案申请；不是任何真实大学的绩效报告。</a:t>
            </a:r>
          </a:p>
        </p:txBody>
      </p:sp>
      <p:sp>
        <p:nvSpPr>
          <p:cNvPr id="49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B2B3F645-74B0-4792-AB4C-B783A22C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77325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page-title-2">
            <a:extLst xmlns:a="http://schemas.openxmlformats.org/drawingml/2006/main">
              <a:ext uri="{FF2B5EF4-FFF2-40B4-BE49-F238E27FC236}">
                <a16:creationId xmlns:a16="http://schemas.microsoft.com/office/drawing/2014/main" id="{0B834276-C445-4908-9CF5-8EBF6A7C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下一轮先验证分工能否执行，再用完整时间戳拆开等待与处理</a:t>
            </a:r>
          </a:p>
        </p:txBody>
      </p:sp>
      <p:sp>
        <p:nvSpPr>
          <p:cNvPr id="2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3AFE7146-5FF9-4CA3-A51C-A331BFF4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8107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page-context-2">
            <a:extLst xmlns:a="http://schemas.openxmlformats.org/drawingml/2006/main">
              <a:ext uri="{FF2B5EF4-FFF2-40B4-BE49-F238E27FC236}">
                <a16:creationId xmlns:a16="http://schemas.microsoft.com/office/drawing/2014/main" id="{330F955C-076C-4C04-B4F1-5318AAE6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85850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下一轮安排｜4 周、仅限常规申请｜计划状态：尚未实施</a:t>
            </a:r>
          </a:p>
        </p:txBody>
      </p:sp>
      <p:sp>
        <p:nvSpPr>
          <p:cNvPr id="4" name="flow-anchor-0">
            <a:extLst xmlns:a="http://schemas.openxmlformats.org/drawingml/2006/main">
              <a:ext uri="{FF2B5EF4-FFF2-40B4-BE49-F238E27FC236}">
                <a16:creationId xmlns:a16="http://schemas.microsoft.com/office/drawing/2014/main" id="{842A82BD-AD5F-4C3C-AA66-FC97736B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514600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flow-anchor-1">
            <a:extLst xmlns:a="http://schemas.openxmlformats.org/drawingml/2006/main">
              <a:ext uri="{FF2B5EF4-FFF2-40B4-BE49-F238E27FC236}">
                <a16:creationId xmlns:a16="http://schemas.microsoft.com/office/drawing/2014/main" id="{8AE57CC7-D0CE-4135-AC33-4424720F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14600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flow-anchor-2">
            <a:extLst xmlns:a="http://schemas.openxmlformats.org/drawingml/2006/main">
              <a:ext uri="{FF2B5EF4-FFF2-40B4-BE49-F238E27FC236}">
                <a16:creationId xmlns:a16="http://schemas.microsoft.com/office/drawing/2014/main" id="{CCF868F2-5090-4694-A99C-B7E5002D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14600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"/>
          <p:cNvCxnSpPr>
            <a:stCxn xmlns:a="http://schemas.openxmlformats.org/drawingml/2006/main" id="4" idx="6"/>
            <a:endCxn xmlns:a="http://schemas.openxmlformats.org/drawingml/2006/main" id="5" idx="2"/>
          </p:cNvCxnSpPr>
          <p:nvPr/>
        </p:nvCxnSpPr>
        <p:spPr>
          <a:xfrm xmlns:a="http://schemas.openxmlformats.org/drawingml/2006/main">
            <a:off x="2209800" y="2628900"/>
            <a:ext cx="3771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5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6210300" y="2628900"/>
            <a:ext cx="3771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sp>
        <p:nvSpPr>
          <p:cNvPr id="9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846BBE25-0119-4D5E-A1C4-4097BAB0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受理分流</a:t>
            </a:r>
          </a:p>
        </p:txBody>
      </p:sp>
      <p:sp>
        <p:nvSpPr>
          <p:cNvPr id="10" name="phase-owner-0">
            <a:extLst xmlns:a="http://schemas.openxmlformats.org/drawingml/2006/main">
              <a:ext uri="{FF2B5EF4-FFF2-40B4-BE49-F238E27FC236}">
                <a16:creationId xmlns:a16="http://schemas.microsoft.com/office/drawing/2014/main" id="{DD2CFF37-A807-4D84-B60B-7950E51D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812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责任：服务助理</a:t>
            </a:r>
          </a:p>
        </p:txBody>
      </p:sp>
      <p:sp>
        <p:nvSpPr>
          <p:cNvPr id="11" name="flow-node-0">
            <a:extLst xmlns:a="http://schemas.openxmlformats.org/drawingml/2006/main">
              <a:ext uri="{FF2B5EF4-FFF2-40B4-BE49-F238E27FC236}">
                <a16:creationId xmlns:a16="http://schemas.microsoft.com/office/drawing/2014/main" id="{B8F0B773-8C22-4220-9560-764596A2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2EB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2" name="phase-body-0">
            <a:extLst xmlns:a="http://schemas.openxmlformats.org/drawingml/2006/main">
              <a:ext uri="{FF2B5EF4-FFF2-40B4-BE49-F238E27FC236}">
                <a16:creationId xmlns:a16="http://schemas.microsoft.com/office/drawing/2014/main" id="{5DDE6295-B998-41BD-A5C2-43196CE1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登记事项类型与提交时间。</a:t>
            </a:r>
          </a:p>
        </p:txBody>
      </p:sp>
      <p:sp>
        <p:nvSpPr>
          <p:cNvPr id="13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507A78C4-0033-4A09-A05D-EDA40D44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19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核对材料</a:t>
            </a:r>
          </a:p>
        </p:txBody>
      </p:sp>
      <p:sp>
        <p:nvSpPr>
          <p:cNvPr id="14" name="phase-owner-1">
            <a:extLst xmlns:a="http://schemas.openxmlformats.org/drawingml/2006/main">
              <a:ext uri="{FF2B5EF4-FFF2-40B4-BE49-F238E27FC236}">
                <a16:creationId xmlns:a16="http://schemas.microsoft.com/office/drawing/2014/main" id="{F5768EE2-77D0-43D7-A1C4-DFBE519D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812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责任：服务助理</a:t>
            </a:r>
          </a:p>
        </p:txBody>
      </p:sp>
      <p:sp>
        <p:nvSpPr>
          <p:cNvPr id="15" name="flow-node-1">
            <a:extLst xmlns:a="http://schemas.openxmlformats.org/drawingml/2006/main">
              <a:ext uri="{FF2B5EF4-FFF2-40B4-BE49-F238E27FC236}">
                <a16:creationId xmlns:a16="http://schemas.microsoft.com/office/drawing/2014/main" id="{B753DBC9-03D0-4470-AD21-0F0E1377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2EB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6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42CE8D29-C9E4-4544-909E-7D9978EF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480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按清单核对齐备性；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齐备后送交教师。</a:t>
            </a:r>
          </a:p>
        </p:txBody>
      </p:sp>
      <p:sp>
        <p:nvSpPr>
          <p:cNvPr id="17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D9E650AE-27DB-4353-B12E-5803B2BF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619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教师处理</a:t>
            </a:r>
          </a:p>
        </p:txBody>
      </p:sp>
      <p:sp>
        <p:nvSpPr>
          <p:cNvPr id="18" name="phase-owner-2">
            <a:extLst xmlns:a="http://schemas.openxmlformats.org/drawingml/2006/main">
              <a:ext uri="{FF2B5EF4-FFF2-40B4-BE49-F238E27FC236}">
                <a16:creationId xmlns:a16="http://schemas.microsoft.com/office/drawing/2014/main" id="{839270CF-EBC4-484D-BB3B-21F327B5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9812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责任：责任教师</a:t>
            </a:r>
          </a:p>
        </p:txBody>
      </p:sp>
      <p:sp>
        <p:nvSpPr>
          <p:cNvPr id="19" name="flow-node-2">
            <a:extLst xmlns:a="http://schemas.openxmlformats.org/drawingml/2006/main">
              <a:ext uri="{FF2B5EF4-FFF2-40B4-BE49-F238E27FC236}">
                <a16:creationId xmlns:a16="http://schemas.microsoft.com/office/drawing/2014/main" id="{E3F25207-3A61-484F-9E8F-A4B50E3D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0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08950AC0-FB9B-4369-B8C0-0F594F1B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0480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教师作专业判断并确认答复；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助理不得代替教师承诺。</a:t>
            </a:r>
          </a:p>
        </p:txBody>
      </p:sp>
      <p:sp>
        <p:nvSpPr>
          <p:cNvPr id="21" name="gate-1-marker">
            <a:extLst xmlns:a="http://schemas.openxmlformats.org/drawingml/2006/main">
              <a:ext uri="{FF2B5EF4-FFF2-40B4-BE49-F238E27FC236}">
                <a16:creationId xmlns:a16="http://schemas.microsoft.com/office/drawing/2014/main" id="{44B26B30-0FF4-4EE0-AFEE-A0CB17DC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52700"/>
            <a:ext cx="152400" cy="152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22" name="gate-1-text">
            <a:extLst xmlns:a="http://schemas.openxmlformats.org/drawingml/2006/main">
              <a:ext uri="{FF2B5EF4-FFF2-40B4-BE49-F238E27FC236}">
                <a16:creationId xmlns:a16="http://schemas.microsoft.com/office/drawing/2014/main" id="{18430AED-A8F6-49D9-8BE6-E848301B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247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授权常规事项</a:t>
            </a:r>
          </a:p>
        </p:txBody>
      </p:sp>
      <p:sp>
        <p:nvSpPr>
          <p:cNvPr id="23" name="gate-2-marker">
            <a:extLst xmlns:a="http://schemas.openxmlformats.org/drawingml/2006/main">
              <a:ext uri="{FF2B5EF4-FFF2-40B4-BE49-F238E27FC236}">
                <a16:creationId xmlns:a16="http://schemas.microsoft.com/office/drawing/2014/main" id="{125D77BF-453C-4CF1-8A24-09382E5A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52700"/>
            <a:ext cx="152400" cy="152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24" name="gate-2-text">
            <a:extLst xmlns:a="http://schemas.openxmlformats.org/drawingml/2006/main">
              <a:ext uri="{FF2B5EF4-FFF2-40B4-BE49-F238E27FC236}">
                <a16:creationId xmlns:a16="http://schemas.microsoft.com/office/drawing/2014/main" id="{1B7640DC-CD3B-44F0-813E-B27C079D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47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材料齐备</a:t>
            </a:r>
          </a:p>
        </p:txBody>
      </p:sp>
      <p:sp>
        <p:nvSpPr>
          <p:cNvPr id="25" name="boundary-heading">
            <a:extLst xmlns:a="http://schemas.openxmlformats.org/drawingml/2006/main">
              <a:ext uri="{FF2B5EF4-FFF2-40B4-BE49-F238E27FC236}">
                <a16:creationId xmlns:a16="http://schemas.microsoft.com/office/drawing/2014/main" id="{F3810E53-F969-441B-8E12-EF10B4EE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超授权 / 非常规事项</a:t>
            </a:r>
          </a:p>
        </p:txBody>
      </p:sp>
      <p:sp>
        <p:nvSpPr>
          <p:cNvPr id="26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C251BA42-7E33-4445-971E-632B3BDA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暂停流转，由负责人指定处理人。</a:t>
            </a:r>
          </a:p>
        </p:txBody>
      </p:sp>
      <p:sp>
        <p:nvSpPr>
          <p:cNvPr id="27" name="exception-heading">
            <a:extLst xmlns:a="http://schemas.openxmlformats.org/drawingml/2006/main">
              <a:ext uri="{FF2B5EF4-FFF2-40B4-BE49-F238E27FC236}">
                <a16:creationId xmlns:a16="http://schemas.microsoft.com/office/drawing/2014/main" id="{BD537F3B-36BD-4DC3-9113-3EB8F64B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14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缺件时</a:t>
            </a:r>
          </a:p>
        </p:txBody>
      </p:sp>
      <p:sp>
        <p:nvSpPr>
          <p:cNvPr id="28" name="exception-body">
            <a:extLst xmlns:a="http://schemas.openxmlformats.org/drawingml/2006/main">
              <a:ext uri="{FF2B5EF4-FFF2-40B4-BE49-F238E27FC236}">
                <a16:creationId xmlns:a16="http://schemas.microsoft.com/office/drawing/2014/main" id="{2D285861-C943-4F7D-8C0A-6F10CB28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957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暂停推进 → 通知申请人补齐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补齐后重新核对。</a:t>
            </a:r>
          </a:p>
        </p:txBody>
      </p:sp>
      <p:sp>
        <p:nvSpPr>
          <p:cNvPr id="29" name="timestamp-heading">
            <a:extLst xmlns:a="http://schemas.openxmlformats.org/drawingml/2006/main">
              <a:ext uri="{FF2B5EF4-FFF2-40B4-BE49-F238E27FC236}">
                <a16:creationId xmlns:a16="http://schemas.microsoft.com/office/drawing/2014/main" id="{8330CE6F-8374-4F1E-AE95-E4BA86E4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记录时间点</a:t>
            </a:r>
          </a:p>
        </p:txBody>
      </p:sp>
      <p:sp>
        <p:nvSpPr>
          <p:cNvPr id="30" name="timestamp-values">
            <a:extLst xmlns:a="http://schemas.openxmlformats.org/drawingml/2006/main">
              <a:ext uri="{FF2B5EF4-FFF2-40B4-BE49-F238E27FC236}">
                <a16:creationId xmlns:a16="http://schemas.microsoft.com/office/drawing/2014/main" id="{9704B4CD-F89A-4F96-B69A-CA15DE66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244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首次提交｜核对完成｜教师接收｜最终答复｜缺件暂停区间</a:t>
            </a:r>
          </a:p>
        </p:txBody>
      </p:sp>
      <p:sp>
        <p:nvSpPr>
          <p:cNvPr id="31" name="timestamp-meaning">
            <a:extLst xmlns:a="http://schemas.openxmlformats.org/drawingml/2006/main">
              <a:ext uri="{FF2B5EF4-FFF2-40B4-BE49-F238E27FC236}">
                <a16:creationId xmlns:a16="http://schemas.microsoft.com/office/drawing/2014/main" id="{8CA63D36-9F29-44D9-87C7-CF926BB8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据此分别核对各段等待与教师处理耗时。</a:t>
            </a:r>
          </a:p>
        </p:txBody>
      </p:sp>
      <p:sp>
        <p:nvSpPr>
          <p:cNvPr id="32" name="measure-heading">
            <a:extLst xmlns:a="http://schemas.openxmlformats.org/drawingml/2006/main">
              <a:ext uri="{FF2B5EF4-FFF2-40B4-BE49-F238E27FC236}">
                <a16:creationId xmlns:a16="http://schemas.microsoft.com/office/drawing/2014/main" id="{E63D085B-9521-425C-853B-25798230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62500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四周后</a:t>
            </a:r>
          </a:p>
        </p:txBody>
      </p:sp>
      <p:sp>
        <p:nvSpPr>
          <p:cNvPr id="33" name="measure-body">
            <a:extLst xmlns:a="http://schemas.openxmlformats.org/drawingml/2006/main">
              <a:ext uri="{FF2B5EF4-FFF2-40B4-BE49-F238E27FC236}">
                <a16:creationId xmlns:a16="http://schemas.microsoft.com/office/drawing/2014/main" id="{40D53E04-AC66-45B4-B220-92BEB267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24450"/>
            <a:ext cx="3571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只判断分工可执行、记录完整；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不承诺再次降时。</a:t>
            </a:r>
          </a:p>
        </p:txBody>
      </p:sp>
      <p:sp>
        <p:nvSpPr>
          <p:cNvPr id="34" name="footer-source-2">
            <a:extLst xmlns:a="http://schemas.openxmlformats.org/drawingml/2006/main">
              <a:ext uri="{FF2B5EF4-FFF2-40B4-BE49-F238E27FC236}">
                <a16:creationId xmlns:a16="http://schemas.microsoft.com/office/drawing/2014/main" id="{515C0E89-22FA-4E20-8222-D2846D5B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91275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来源：虚构测试数据与方案｜四周分工试点尚未实施；不代表任何真实大学的管理方案。</a:t>
            </a:r>
          </a:p>
        </p:txBody>
      </p:sp>
      <p:sp>
        <p:nvSpPr>
          <p:cNvPr id="35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429B137B-8F31-4003-8A96-9111050E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82331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2026-09-05T23:41:26.8660000Z</dcterms:created>
  <dcterms:modified xsi:type="dcterms:W3CDTF">2026-09-05T23:41:26.8660000Z</dcterms:modified>
</coreProperties>
</file>