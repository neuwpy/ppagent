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12634b9aa848c2" /><Relationship Type="http://schemas.openxmlformats.org/officeDocument/2006/relationships/extended-properties" Target="/docProps/app.xml" Id="Rb0fa50f4d414449e" /><Relationship Type="http://schemas.openxmlformats.org/officeDocument/2006/relationships/officeDocument" Target="/ppt/presentation.xml" Id="Read336038cb544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7a06b877744de1"/>
  </p:sldMasterIdLst>
  <p:notesMasterIdLst>
    <p:notesMasterId xmlns:r="http://schemas.openxmlformats.org/officeDocument/2006/relationships" r:id="R049a373999af42ab"/>
  </p:notesMasterIdLst>
  <p:sldIdLst>
    <p:sldId xmlns:r="http://schemas.openxmlformats.org/officeDocument/2006/relationships" id="256" r:id="R3909f19fdcee4a36"/>
    <p:sldId xmlns:r="http://schemas.openxmlformats.org/officeDocument/2006/relationships" id="257" r:id="R33d4413ecf3c4ae9"/>
    <p:sldId xmlns:r="http://schemas.openxmlformats.org/officeDocument/2006/relationships" id="258" r:id="Rdc3ae4485cf04e87"/>
    <p:sldId xmlns:r="http://schemas.openxmlformats.org/officeDocument/2006/relationships" id="259" r:id="R7d12ca1cc5da4374"/>
    <p:sldId xmlns:r="http://schemas.openxmlformats.org/officeDocument/2006/relationships" id="260" r:id="R87ab682890894ce4"/>
    <p:sldId xmlns:r="http://schemas.openxmlformats.org/officeDocument/2006/relationships" id="261" r:id="R90b434fe85df4ee4"/>
    <p:sldId xmlns:r="http://schemas.openxmlformats.org/officeDocument/2006/relationships" id="262" r:id="Rdc0769dcf9e34d84"/>
    <p:sldId xmlns:r="http://schemas.openxmlformats.org/officeDocument/2006/relationships" id="263" r:id="R14915f44e7454360"/>
    <p:sldId xmlns:r="http://schemas.openxmlformats.org/officeDocument/2006/relationships" id="264" r:id="Rab3c96afbb2f44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ebbbaca8054c62" /><Relationship Type="http://schemas.openxmlformats.org/officeDocument/2006/relationships/slideMaster" Target="/ppt/slideMasters/slideMaster1.xml" Id="Re87a06b877744de1" /><Relationship Type="http://schemas.openxmlformats.org/officeDocument/2006/relationships/notesMaster" Target="/ppt/notesMasters/notesMaster1.xml" Id="R049a373999af42ab" /><Relationship Type="http://schemas.openxmlformats.org/officeDocument/2006/relationships/presProps" Target="/ppt/presProps.xml" Id="R6b4de08d5e0f453d" /><Relationship Type="http://schemas.openxmlformats.org/officeDocument/2006/relationships/tableStyles" Target="/ppt/tableStyles.xml" Id="Ree3f3180a6744a8b" /><Relationship Type="http://schemas.openxmlformats.org/officeDocument/2006/relationships/slide" Target="/ppt/slides/slide1.xml" Id="R3909f19fdcee4a36" /><Relationship Type="http://schemas.openxmlformats.org/officeDocument/2006/relationships/slide" Target="/ppt/slides/slide2.xml" Id="R33d4413ecf3c4ae9" /><Relationship Type="http://schemas.openxmlformats.org/officeDocument/2006/relationships/slide" Target="/ppt/slides/slide3.xml" Id="Rdc3ae4485cf04e87" /><Relationship Type="http://schemas.openxmlformats.org/officeDocument/2006/relationships/slide" Target="/ppt/slides/slide4.xml" Id="R7d12ca1cc5da4374" /><Relationship Type="http://schemas.openxmlformats.org/officeDocument/2006/relationships/slide" Target="/ppt/slides/slide5.xml" Id="R87ab682890894ce4" /><Relationship Type="http://schemas.openxmlformats.org/officeDocument/2006/relationships/slide" Target="/ppt/slides/slide6.xml" Id="R90b434fe85df4ee4" /><Relationship Type="http://schemas.openxmlformats.org/officeDocument/2006/relationships/slide" Target="/ppt/slides/slide7.xml" Id="Rdc0769dcf9e34d84" /><Relationship Type="http://schemas.openxmlformats.org/officeDocument/2006/relationships/slide" Target="/ppt/slides/slide8.xml" Id="R14915f44e7454360" /><Relationship Type="http://schemas.openxmlformats.org/officeDocument/2006/relationships/slide" Target="/ppt/slides/slide9.xml" Id="Rab3c96afbb2f44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2a4a46e8bf48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2daf26478c4f3a" /><Relationship Type="http://schemas.openxmlformats.org/officeDocument/2006/relationships/notesMaster" Target="/ppt/notesMasters/notesMaster1.xml" Id="R0f940769833047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872f20dfd74518" /><Relationship Type="http://schemas.openxmlformats.org/officeDocument/2006/relationships/notesMaster" Target="/ppt/notesMasters/notesMaster1.xml" Id="R3dcac25bd6be41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a2255e48a846f1" /><Relationship Type="http://schemas.openxmlformats.org/officeDocument/2006/relationships/notesMaster" Target="/ppt/notesMasters/notesMaster1.xml" Id="R0e1ef40fe10749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dd93257ba34564" /><Relationship Type="http://schemas.openxmlformats.org/officeDocument/2006/relationships/notesMaster" Target="/ppt/notesMasters/notesMaster1.xml" Id="R26f573352fcb46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0cea13b32d468f" /><Relationship Type="http://schemas.openxmlformats.org/officeDocument/2006/relationships/notesMaster" Target="/ppt/notesMasters/notesMaster1.xml" Id="R095d2bbaa66848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c71f9ea2b24836" /><Relationship Type="http://schemas.openxmlformats.org/officeDocument/2006/relationships/notesMaster" Target="/ppt/notesMasters/notesMaster1.xml" Id="R61e99a412e3449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dcf74ffb1543c1" /><Relationship Type="http://schemas.openxmlformats.org/officeDocument/2006/relationships/notesMaster" Target="/ppt/notesMasters/notesMaster1.xml" Id="R7cfbd21a223b4b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2ddd71352846f1" /><Relationship Type="http://schemas.openxmlformats.org/officeDocument/2006/relationships/notesMaster" Target="/ppt/notesMasters/notesMaster1.xml" Id="R93bf08938bea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f8d1b68c1a494e" /><Relationship Type="http://schemas.openxmlformats.org/officeDocument/2006/relationships/notesMaster" Target="/ppt/notesMasters/notesMaster1.xml" Id="R40073d65fd4e47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49473759447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43d1e864274cde" /><Relationship Type="http://schemas.openxmlformats.org/officeDocument/2006/relationships/slideLayout" Target="/ppt/slideLayouts/slideLayout1.xml" Id="R4f426ce28e0447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426ce28e0447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bb19abf0943c1" /><Relationship Type="http://schemas.openxmlformats.org/officeDocument/2006/relationships/notesSlide" Target="/ppt/notesSlides/notesSlide1.xml" Id="R7edcf3b0dfd642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0fb3f161644c1" /><Relationship Type="http://schemas.openxmlformats.org/officeDocument/2006/relationships/notesSlide" Target="/ppt/notesSlides/notesSlide2.xml" Id="R986e174b869f43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21877f20c4610" /><Relationship Type="http://schemas.openxmlformats.org/officeDocument/2006/relationships/notesSlide" Target="/ppt/notesSlides/notesSlide3.xml" Id="R8a7a2a3a255e41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e284868bf4ebd" /><Relationship Type="http://schemas.openxmlformats.org/officeDocument/2006/relationships/notesSlide" Target="/ppt/notesSlides/notesSlide4.xml" Id="R735798dc9b5b4a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f4e028b064c58" /><Relationship Type="http://schemas.openxmlformats.org/officeDocument/2006/relationships/notesSlide" Target="/ppt/notesSlides/notesSlide5.xml" Id="R5ea6129ed7964b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a9c78fd014d6b" /><Relationship Type="http://schemas.openxmlformats.org/officeDocument/2006/relationships/notesSlide" Target="/ppt/notesSlides/notesSlide6.xml" Id="Rfd4b586f245f40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dcdadb0f747e4" /><Relationship Type="http://schemas.openxmlformats.org/officeDocument/2006/relationships/notesSlide" Target="/ppt/notesSlides/notesSlide7.xml" Id="R3953ef9e5f3546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79547d97047cd" /><Relationship Type="http://schemas.openxmlformats.org/officeDocument/2006/relationships/notesSlide" Target="/ppt/notesSlides/notesSlide8.xml" Id="Rff2851720e7d4c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8203b732a4fa4" /><Relationship Type="http://schemas.openxmlformats.org/officeDocument/2006/relationships/notesSlide" Target="/ppt/notesSlides/notesSlide9.xml" Id="R9cddd312c8fd47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23253E9-2D82-482C-B8E7-E9ED8EC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虚构大学场景 · 课题组讨论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857BD4A-9112-4C74-8480-0B1AD2ED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先让一次结果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可以被理解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70BA570-7972-41E0-8CEA-AA532044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四周、小范围试点：建立能解释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实验结果的数据归档习惯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C800A223-D5BE-49AC-AF33-2F128B37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60888F95-2A3B-429B-B049-E52D036C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1 个课题方向   ·   2 名自愿成员   ·   记录新增实验</a:t>
            </a:r>
          </a:p>
        </p:txBody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BB97B91C-8253-4358-9691-C38D3A07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00625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本次仅讨论方案边界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不宣称已有成效</a:t>
            </a:r>
          </a:p>
        </p:txBody>
      </p:sp>
      <p:sp>
        <p:nvSpPr>
          <p:cNvPr id="7" name="cover-brand">
            <a:extLst xmlns:a="http://schemas.openxmlformats.org/drawingml/2006/main">
              <a:ext uri="{FF2B5EF4-FFF2-40B4-BE49-F238E27FC236}">
                <a16:creationId xmlns:a16="http://schemas.microsoft.com/office/drawing/2014/main" id="{BAE26B48-3510-451E-9E9E-18C9C11A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8" name="cover-page">
            <a:extLst xmlns:a="http://schemas.openxmlformats.org/drawingml/2006/main">
              <a:ext uri="{FF2B5EF4-FFF2-40B4-BE49-F238E27FC236}">
                <a16:creationId xmlns:a16="http://schemas.microsoft.com/office/drawing/2014/main" id="{E74FA4FA-A4D1-42E5-97E6-91ECA57C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807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mark">
            <a:extLst xmlns:a="http://schemas.openxmlformats.org/drawingml/2006/main">
              <a:ext uri="{FF2B5EF4-FFF2-40B4-BE49-F238E27FC236}">
                <a16:creationId xmlns:a16="http://schemas.microsoft.com/office/drawing/2014/main" id="{BF92DC2A-D516-4128-AE8F-C15D378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07E764-9A61-4AB0-AB6A-B16CC810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FC28C617-A658-4B04-8C57-5F0F2B68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CC99EF4-78AA-4015-AC25-CCCB396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6D4A9D0-43D7-4888-8D5E-8685B346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94D2E0-B257-470D-927D-1725DBA5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文件存在，不等于结果可以解释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7714A3A-3D8D-4C68-9AFD-D6019659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问题不只是“有没有上传”，而是能否沿结果回到依据</a:t>
            </a:r>
          </a:p>
        </p:txBody>
      </p:sp>
      <p:sp>
        <p:nvSpPr>
          <p:cNvPr id="8" name="judgment-strip">
            <a:extLst xmlns:a="http://schemas.openxmlformats.org/drawingml/2006/main">
              <a:ext uri="{FF2B5EF4-FFF2-40B4-BE49-F238E27FC236}">
                <a16:creationId xmlns:a16="http://schemas.microsoft.com/office/drawing/2014/main" id="{9EE1FDFC-311A-4D13-B595-90D1F3C2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3375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udgment-label">
            <a:extLst xmlns:a="http://schemas.openxmlformats.org/drawingml/2006/main">
              <a:ext uri="{FF2B5EF4-FFF2-40B4-BE49-F238E27FC236}">
                <a16:creationId xmlns:a16="http://schemas.microsoft.com/office/drawing/2014/main" id="{547B8EAE-7866-4100-B20D-784CB356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0" name="judgment-main">
            <a:extLst xmlns:a="http://schemas.openxmlformats.org/drawingml/2006/main">
              <a:ext uri="{FF2B5EF4-FFF2-40B4-BE49-F238E27FC236}">
                <a16:creationId xmlns:a16="http://schemas.microsoft.com/office/drawing/2014/main" id="{517930C7-B079-4597-8EBA-C8B34986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问题在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1" name="judgment-foot">
            <a:extLst xmlns:a="http://schemas.openxmlformats.org/drawingml/2006/main">
              <a:ext uri="{FF2B5EF4-FFF2-40B4-BE49-F238E27FC236}">
                <a16:creationId xmlns:a16="http://schemas.microsoft.com/office/drawing/2014/main" id="{31B683EC-C984-4E53-B8EB-97CBD106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结果、依据与责任没有被放在同一个记录单元里。</a:t>
            </a:r>
          </a:p>
        </p:txBody>
      </p:sp>
      <p:sp>
        <p:nvSpPr>
          <p:cNvPr id="12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82DB573F-1097-4A11-B9A1-F8FE96EA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现场能看到什么</a:t>
            </a:r>
          </a:p>
        </p:txBody>
      </p:sp>
      <p:sp>
        <p:nvSpPr>
          <p:cNvPr id="13" name="row-label-236">
            <a:extLst xmlns:a="http://schemas.openxmlformats.org/drawingml/2006/main">
              <a:ext uri="{FF2B5EF4-FFF2-40B4-BE49-F238E27FC236}">
                <a16:creationId xmlns:a16="http://schemas.microsoft.com/office/drawing/2014/main" id="{D95D3287-4F0C-47AB-A101-92788D2D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最终图片</a:t>
            </a:r>
          </a:p>
        </p:txBody>
      </p:sp>
      <p:sp>
        <p:nvSpPr>
          <p:cNvPr id="14" name="row-body-236">
            <a:extLst xmlns:a="http://schemas.openxmlformats.org/drawingml/2006/main">
              <a:ext uri="{FF2B5EF4-FFF2-40B4-BE49-F238E27FC236}">
                <a16:creationId xmlns:a16="http://schemas.microsoft.com/office/drawing/2014/main" id="{D7EA380D-F4F9-4C3F-BE45-B724D1F3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能找到结果文件，却不一定知道它来自哪批样本。</a:t>
            </a:r>
          </a:p>
        </p:txBody>
      </p:sp>
      <p:sp>
        <p:nvSpPr>
          <p:cNvPr id="15" name="row-label-316">
            <a:extLst xmlns:a="http://schemas.openxmlformats.org/drawingml/2006/main">
              <a:ext uri="{FF2B5EF4-FFF2-40B4-BE49-F238E27FC236}">
                <a16:creationId xmlns:a16="http://schemas.microsoft.com/office/drawing/2014/main" id="{709A491E-0C71-4FB5-9C4F-AB184AE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同名文件</a:t>
            </a:r>
          </a:p>
        </p:txBody>
      </p:sp>
      <p:sp>
        <p:nvSpPr>
          <p:cNvPr id="16" name="row-body-316">
            <a:extLst xmlns:a="http://schemas.openxmlformats.org/drawingml/2006/main">
              <a:ext uri="{FF2B5EF4-FFF2-40B4-BE49-F238E27FC236}">
                <a16:creationId xmlns:a16="http://schemas.microsoft.com/office/drawing/2014/main" id="{D01B9FC1-DB4E-4D58-9F1E-4237EDF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同名文件和个人目录让重复检索变难。</a:t>
            </a:r>
          </a:p>
        </p:txBody>
      </p:sp>
      <p:sp>
        <p:nvSpPr>
          <p:cNvPr id="17" name="row-label-396">
            <a:extLst xmlns:a="http://schemas.openxmlformats.org/drawingml/2006/main">
              <a:ext uri="{FF2B5EF4-FFF2-40B4-BE49-F238E27FC236}">
                <a16:creationId xmlns:a16="http://schemas.microsoft.com/office/drawing/2014/main" id="{701A004A-8C7B-48F7-A600-C47853C6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“已清理”</a:t>
            </a:r>
          </a:p>
        </p:txBody>
      </p:sp>
      <p:sp>
        <p:nvSpPr>
          <p:cNvPr id="18" name="row-body-396">
            <a:extLst xmlns:a="http://schemas.openxmlformats.org/drawingml/2006/main">
              <a:ext uri="{FF2B5EF4-FFF2-40B4-BE49-F238E27FC236}">
                <a16:creationId xmlns:a16="http://schemas.microsoft.com/office/drawing/2014/main" id="{2CEECD69-62B2-47B3-9789-124C58E9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只留下处理结论时，异常与排除的判断依据消失。</a:t>
            </a:r>
          </a:p>
        </p:txBody>
      </p:sp>
      <p:sp>
        <p:nvSpPr>
          <p:cNvPr id="19" name="evidence-divider">
            <a:extLst xmlns:a="http://schemas.openxmlformats.org/drawingml/2006/main">
              <a:ext uri="{FF2B5EF4-FFF2-40B4-BE49-F238E27FC236}">
                <a16:creationId xmlns:a16="http://schemas.microsoft.com/office/drawing/2014/main" id="{44CAC1E8-FE3A-41C8-A3B1-0A551919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mplication">
            <a:extLst xmlns:a="http://schemas.openxmlformats.org/drawingml/2006/main">
              <a:ext uri="{FF2B5EF4-FFF2-40B4-BE49-F238E27FC236}">
                <a16:creationId xmlns:a16="http://schemas.microsoft.com/office/drawing/2014/main" id="{93D33A17-85B6-4875-8940-5A3968B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647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归档的第一问不是“文件放在哪里”，而是“别人能否理解这个结果是怎么产生的”。</a:t>
            </a:r>
          </a:p>
        </p:txBody>
      </p:sp>
    </p:spTree>
    <p:extLst>
      <p:ext uri="{BB962C8B-B14F-4D97-AF65-F5344CB8AC3E}">
        <p14:creationId xmlns:p14="http://schemas.microsoft.com/office/powerpoint/2010/main" val="1441904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-mark">
            <a:extLst xmlns:a="http://schemas.openxmlformats.org/drawingml/2006/main">
              <a:ext uri="{FF2B5EF4-FFF2-40B4-BE49-F238E27FC236}">
                <a16:creationId xmlns:a16="http://schemas.microsoft.com/office/drawing/2014/main" id="{E5E14EEC-8DB6-4E8C-956C-5686D25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C40AE6-0F29-407B-9FFC-DEA6E8A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49B8CC8F-F102-45AA-8128-18801AE1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9D5E470-87F5-4739-B050-24C9397C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26225FF-DAF1-4F0C-8FFB-DC407993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B90A64-D529-42E3-8412-3955F8A5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一个结果记录，必须把结果与依据绑在一起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B3154C-2C3C-404D-811F-00E89BE3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五项材料共同解释一个结果；它们不是必须依次执行的五个步骤</a:t>
            </a:r>
          </a:p>
        </p:txBody>
      </p:sp>
      <p:sp>
        <p:nvSpPr>
          <p:cNvPr id="8" name="record-unit">
            <a:extLst xmlns:a="http://schemas.openxmlformats.org/drawingml/2006/main">
              <a:ext uri="{FF2B5EF4-FFF2-40B4-BE49-F238E27FC236}">
                <a16:creationId xmlns:a16="http://schemas.microsoft.com/office/drawing/2014/main" id="{77CCFFDF-1949-4544-99FF-3CD71504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2524125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ord-unit-label">
            <a:extLst xmlns:a="http://schemas.openxmlformats.org/drawingml/2006/main">
              <a:ext uri="{FF2B5EF4-FFF2-40B4-BE49-F238E27FC236}">
                <a16:creationId xmlns:a16="http://schemas.microsoft.com/office/drawing/2014/main" id="{7FA3AF40-2D8A-474B-96B1-2BC955E5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10" name="record-unit-main">
            <a:extLst xmlns:a="http://schemas.openxmlformats.org/drawingml/2006/main">
              <a:ext uri="{FF2B5EF4-FFF2-40B4-BE49-F238E27FC236}">
                <a16:creationId xmlns:a16="http://schemas.microsoft.com/office/drawing/2014/main" id="{FFCAAEDA-1764-45BD-9457-AC50F7FB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一次可讨论的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11" name="record-unit-note">
            <a:extLst xmlns:a="http://schemas.openxmlformats.org/drawingml/2006/main">
              <a:ext uri="{FF2B5EF4-FFF2-40B4-BE49-F238E27FC236}">
                <a16:creationId xmlns:a16="http://schemas.microsoft.com/office/drawing/2014/main" id="{6E89D781-3338-44BF-B403-8E1655F2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结果与依据被放在同一关系里</a:t>
            </a:r>
          </a:p>
        </p:txBody>
      </p:sp>
      <p:sp>
        <p:nvSpPr>
          <p:cNvPr id="12" name="parts-label">
            <a:extLst xmlns:a="http://schemas.openxmlformats.org/drawingml/2006/main">
              <a:ext uri="{FF2B5EF4-FFF2-40B4-BE49-F238E27FC236}">
                <a16:creationId xmlns:a16="http://schemas.microsoft.com/office/drawing/2014/main" id="{DB33CB58-A14B-4F1A-AC93-5804D40B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共同解释一个结果</a:t>
            </a:r>
          </a:p>
        </p:txBody>
      </p:sp>
      <p:sp>
        <p:nvSpPr>
          <p:cNvPr id="13" name="row-label-248">
            <a:extLst xmlns:a="http://schemas.openxmlformats.org/drawingml/2006/main">
              <a:ext uri="{FF2B5EF4-FFF2-40B4-BE49-F238E27FC236}">
                <a16:creationId xmlns:a16="http://schemas.microsoft.com/office/drawing/2014/main" id="{D632631B-16EB-480B-A037-AC9FF70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14" name="row-body-248">
            <a:extLst xmlns:a="http://schemas.openxmlformats.org/drawingml/2006/main">
              <a:ext uri="{FF2B5EF4-FFF2-40B4-BE49-F238E27FC236}">
                <a16:creationId xmlns:a16="http://schemas.microsoft.com/office/drawing/2014/main" id="{31E7D304-7854-4C08-AF5F-0360923A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62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保留原貌；清洗与处理另存。</a:t>
            </a:r>
          </a:p>
        </p:txBody>
      </p:sp>
      <p:sp>
        <p:nvSpPr>
          <p:cNvPr id="15" name="row-label-320">
            <a:extLst xmlns:a="http://schemas.openxmlformats.org/drawingml/2006/main">
              <a:ext uri="{FF2B5EF4-FFF2-40B4-BE49-F238E27FC236}">
                <a16:creationId xmlns:a16="http://schemas.microsoft.com/office/drawing/2014/main" id="{287623AB-4FBE-4483-8DF7-AF8D5AAC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样本与条件</a:t>
            </a:r>
          </a:p>
        </p:txBody>
      </p:sp>
      <p:sp>
        <p:nvSpPr>
          <p:cNvPr id="16" name="row-body-320">
            <a:extLst xmlns:a="http://schemas.openxmlformats.org/drawingml/2006/main">
              <a:ext uri="{FF2B5EF4-FFF2-40B4-BE49-F238E27FC236}">
                <a16:creationId xmlns:a16="http://schemas.microsoft.com/office/drawing/2014/main" id="{7CAD1278-199F-46EA-8939-377C5A15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48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说明样本、采集条件，以及结果对应的范围。</a:t>
            </a:r>
          </a:p>
        </p:txBody>
      </p:sp>
      <p:sp>
        <p:nvSpPr>
          <p:cNvPr id="17" name="row-label-392">
            <a:extLst xmlns:a="http://schemas.openxmlformats.org/drawingml/2006/main">
              <a:ext uri="{FF2B5EF4-FFF2-40B4-BE49-F238E27FC236}">
                <a16:creationId xmlns:a16="http://schemas.microsoft.com/office/drawing/2014/main" id="{768B6A31-0E83-423B-BF14-CCC73E7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脚本版本</a:t>
            </a:r>
          </a:p>
        </p:txBody>
      </p:sp>
      <p:sp>
        <p:nvSpPr>
          <p:cNvPr id="18" name="row-body-392">
            <a:extLst xmlns:a="http://schemas.openxmlformats.org/drawingml/2006/main">
              <a:ext uri="{FF2B5EF4-FFF2-40B4-BE49-F238E27FC236}">
                <a16:creationId xmlns:a16="http://schemas.microsoft.com/office/drawing/2014/main" id="{45AB882D-DD9B-41A7-A8A3-66604E61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33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能定位实际运行的代码，而不是只写“用了某脚本”。</a:t>
            </a:r>
          </a:p>
        </p:txBody>
      </p:sp>
      <p:sp>
        <p:nvSpPr>
          <p:cNvPr id="19" name="row-label-464">
            <a:extLst xmlns:a="http://schemas.openxmlformats.org/drawingml/2006/main">
              <a:ext uri="{FF2B5EF4-FFF2-40B4-BE49-F238E27FC236}">
                <a16:creationId xmlns:a16="http://schemas.microsoft.com/office/drawing/2014/main" id="{EED39685-894A-476B-A364-E8FF935A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20" name="row-body-464">
            <a:extLst xmlns:a="http://schemas.openxmlformats.org/drawingml/2006/main">
              <a:ext uri="{FF2B5EF4-FFF2-40B4-BE49-F238E27FC236}">
                <a16:creationId xmlns:a16="http://schemas.microsoft.com/office/drawing/2014/main" id="{840AC44A-88A6-4A6C-9954-84DEE303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19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保存讨论中实际引用的结果图或结果表。</a:t>
            </a:r>
          </a:p>
        </p:txBody>
      </p:sp>
      <p:sp>
        <p:nvSpPr>
          <p:cNvPr id="21" name="row-label-536">
            <a:extLst xmlns:a="http://schemas.openxmlformats.org/drawingml/2006/main">
              <a:ext uri="{FF2B5EF4-FFF2-40B4-BE49-F238E27FC236}">
                <a16:creationId xmlns:a16="http://schemas.microsoft.com/office/drawing/2014/main" id="{71ACB067-7E15-4EF2-BCD1-B85FF7DF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054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异常与排除</a:t>
            </a:r>
          </a:p>
        </p:txBody>
      </p:sp>
      <p:sp>
        <p:nvSpPr>
          <p:cNvPr id="22" name="row-body-536">
            <a:extLst xmlns:a="http://schemas.openxmlformats.org/drawingml/2006/main">
              <a:ext uri="{FF2B5EF4-FFF2-40B4-BE49-F238E27FC236}">
                <a16:creationId xmlns:a16="http://schemas.microsoft.com/office/drawing/2014/main" id="{B4447179-F2EF-4B8F-BA9B-B3EEBE18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1054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保留判断依据；未纳入结果的样本也要解释排除条件。</a:t>
            </a:r>
          </a:p>
        </p:txBody>
      </p:sp>
    </p:spTree>
    <p:extLst>
      <p:ext uri="{BB962C8B-B14F-4D97-AF65-F5344CB8AC3E}">
        <p14:creationId xmlns:p14="http://schemas.microsoft.com/office/powerpoint/2010/main" val="1530666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mark">
            <a:extLst xmlns:a="http://schemas.openxmlformats.org/drawingml/2006/main">
              <a:ext uri="{FF2B5EF4-FFF2-40B4-BE49-F238E27FC236}">
                <a16:creationId xmlns:a16="http://schemas.microsoft.com/office/drawing/2014/main" id="{9DBEBC3F-477D-40CC-9B52-F34AFD0F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328237-CFC8-4833-A950-BD73166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243B3A6C-4F45-4752-8C45-40838466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74B4EF0E-6F12-4C75-8D8D-FB17AB81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9BA74F9-8A89-422D-960D-79F0B2D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E4C9A5-3226-4058-B78C-D960F468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归档保存关系，不改变数据授权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76F653-1A28-423F-A048-88358F0B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记录可以让结果更可理解，但不能把受限原始数据变成可自由访问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C5C79009-E4AF-4DCF-B903-E1279C56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讨论材料</a:t>
            </a:r>
          </a:p>
        </p:txBody>
      </p:sp>
      <p:sp>
        <p:nvSpPr>
          <p:cNvPr id="9" name="discussion-surface">
            <a:extLst xmlns:a="http://schemas.openxmlformats.org/drawingml/2006/main">
              <a:ext uri="{FF2B5EF4-FFF2-40B4-BE49-F238E27FC236}">
                <a16:creationId xmlns:a16="http://schemas.microsoft.com/office/drawing/2014/main" id="{8B0003AC-93B1-4C79-BEE5-23968CD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4767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3E6869E9-43D2-41CB-82DF-D81AFA0D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结果图 + 可公开解释</a:t>
            </a:r>
          </a:p>
        </p:txBody>
      </p:sp>
      <p:sp>
        <p:nvSpPr>
          <p:cNvPr id="11" name="discussion-1-dot">
            <a:extLst xmlns:a="http://schemas.openxmlformats.org/drawingml/2006/main">
              <a:ext uri="{FF2B5EF4-FFF2-40B4-BE49-F238E27FC236}">
                <a16:creationId xmlns:a16="http://schemas.microsoft.com/office/drawing/2014/main" id="{C3F2A58B-B951-494D-93DF-16C798E4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337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discussion-1-copy">
            <a:extLst xmlns:a="http://schemas.openxmlformats.org/drawingml/2006/main">
              <a:ext uri="{FF2B5EF4-FFF2-40B4-BE49-F238E27FC236}">
                <a16:creationId xmlns:a16="http://schemas.microsoft.com/office/drawing/2014/main" id="{A512164D-2DF6-4D1F-B290-066E5485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051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用于课题组讨论与复核入口</a:t>
            </a:r>
          </a:p>
        </p:txBody>
      </p:sp>
      <p:sp>
        <p:nvSpPr>
          <p:cNvPr id="13" name="discussion-2-dot">
            <a:extLst xmlns:a="http://schemas.openxmlformats.org/drawingml/2006/main">
              <a:ext uri="{FF2B5EF4-FFF2-40B4-BE49-F238E27FC236}">
                <a16:creationId xmlns:a16="http://schemas.microsoft.com/office/drawing/2014/main" id="{AC2E7F50-933D-4816-864B-6215144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29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discussion-2-copy">
            <a:extLst xmlns:a="http://schemas.openxmlformats.org/drawingml/2006/main">
              <a:ext uri="{FF2B5EF4-FFF2-40B4-BE49-F238E27FC236}">
                <a16:creationId xmlns:a16="http://schemas.microsoft.com/office/drawing/2014/main" id="{D35B7278-8BCE-4E67-A1AB-B0FE7D2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00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记录中保留受控引用，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而非复制受限文件</a:t>
            </a:r>
          </a:p>
        </p:txBody>
      </p:sp>
      <p:sp>
        <p:nvSpPr>
          <p:cNvPr id="15" name="discussion-3-dot">
            <a:extLst xmlns:a="http://schemas.openxmlformats.org/drawingml/2006/main">
              <a:ext uri="{FF2B5EF4-FFF2-40B4-BE49-F238E27FC236}">
                <a16:creationId xmlns:a16="http://schemas.microsoft.com/office/drawing/2014/main" id="{0E86FA1D-6511-4784-BEA0-4138B5C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discussion-3-copy">
            <a:extLst xmlns:a="http://schemas.openxmlformats.org/drawingml/2006/main">
              <a:ext uri="{FF2B5EF4-FFF2-40B4-BE49-F238E27FC236}">
                <a16:creationId xmlns:a16="http://schemas.microsoft.com/office/drawing/2014/main" id="{FF5EE1F7-F402-4E5C-9B56-26479E11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957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说明访问条件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与责任边界</a:t>
            </a:r>
          </a:p>
        </p:txBody>
      </p:sp>
      <p:sp>
        <p:nvSpPr>
          <p:cNvPr id="17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40317AB1-B7CD-4952-90F0-D62E4BB0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受限原始数据</a:t>
            </a:r>
          </a:p>
        </p:txBody>
      </p:sp>
      <p:sp>
        <p:nvSpPr>
          <p:cNvPr id="18" name="raw-surface">
            <a:extLst xmlns:a="http://schemas.openxmlformats.org/drawingml/2006/main">
              <a:ext uri="{FF2B5EF4-FFF2-40B4-BE49-F238E27FC236}">
                <a16:creationId xmlns:a16="http://schemas.microsoft.com/office/drawing/2014/main" id="{A80662BF-889B-4518-8467-28BEF59E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14325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4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w-title">
            <a:extLst xmlns:a="http://schemas.openxmlformats.org/drawingml/2006/main">
              <a:ext uri="{FF2B5EF4-FFF2-40B4-BE49-F238E27FC236}">
                <a16:creationId xmlns:a16="http://schemas.microsoft.com/office/drawing/2014/main" id="{F7718585-4888-4A78-ADA4-6FE94055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仍放在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原授权位置</a:t>
            </a:r>
          </a:p>
        </p:txBody>
      </p:sp>
      <p:sp>
        <p:nvSpPr>
          <p:cNvPr id="20" name="raw-copy">
            <a:extLst xmlns:a="http://schemas.openxmlformats.org/drawingml/2006/main">
              <a:ext uri="{FF2B5EF4-FFF2-40B4-BE49-F238E27FC236}">
                <a16:creationId xmlns:a16="http://schemas.microsoft.com/office/drawing/2014/main" id="{536BB9FC-278D-4473-BEED-F5E8AE92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涉及个人信息或合作限制，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归档不能改变原有授权。</a:t>
            </a:r>
          </a:p>
        </p:txBody>
      </p:sp>
      <p:sp>
        <p:nvSpPr>
          <p:cNvPr id="21" name="boundary-line">
            <a:extLst xmlns:a="http://schemas.openxmlformats.org/drawingml/2006/main">
              <a:ext uri="{FF2B5EF4-FFF2-40B4-BE49-F238E27FC236}">
                <a16:creationId xmlns:a16="http://schemas.microsoft.com/office/drawing/2014/main" id="{E6BCBCE5-07E4-44F8-AA53-F2002E1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860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8589173D-8354-4CB0-86AA-F56EF9DC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受控引用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+ 访问条件</a:t>
            </a:r>
          </a:p>
        </p:txBody>
      </p:sp>
      <p:sp>
        <p:nvSpPr>
          <p:cNvPr id="23" name="boundary-line-2">
            <a:extLst xmlns:a="http://schemas.openxmlformats.org/drawingml/2006/main">
              <a:ext uri="{FF2B5EF4-FFF2-40B4-BE49-F238E27FC236}">
                <a16:creationId xmlns:a16="http://schemas.microsoft.com/office/drawing/2014/main" id="{82D642BC-43BB-41B8-8210-2D9CC30C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6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DEC21044-D737-40C1-8662-71B6AF93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一个路径出现在记录表中，不代表其他成员已经取得访问权；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授权仍由负责人处理。</a:t>
            </a:r>
          </a:p>
        </p:txBody>
      </p:sp>
    </p:spTree>
    <p:extLst>
      <p:ext uri="{BB962C8B-B14F-4D97-AF65-F5344CB8AC3E}">
        <p14:creationId xmlns:p14="http://schemas.microsoft.com/office/powerpoint/2010/main" val="1900990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-mark">
            <a:extLst xmlns:a="http://schemas.openxmlformats.org/drawingml/2006/main">
              <a:ext uri="{FF2B5EF4-FFF2-40B4-BE49-F238E27FC236}">
                <a16:creationId xmlns:a16="http://schemas.microsoft.com/office/drawing/2014/main" id="{306FCE41-668D-4A25-9601-7C32ADAA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215067-4B55-4A84-8E97-C3391679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A510CB43-62BA-427A-9B5C-B76CD385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1A7094B1-8431-4ED9-9200-F7B28ADF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99DE237-ACC4-4F3D-838D-23247381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B55E92-4C61-4605-BC0D-CE7554E7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先从新增实验开始，历史档案只逐项补充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7D199E-1E2B-4A38-B477-9959493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两种推进思路的差异，必须放在同一组维度上比较</a:t>
            </a:r>
          </a:p>
        </p:txBody>
      </p:sp>
      <p:sp>
        <p:nvSpPr>
          <p:cNvPr id="8" name="compare-label">
            <a:extLst xmlns:a="http://schemas.openxmlformats.org/drawingml/2006/main">
              <a:ext uri="{FF2B5EF4-FFF2-40B4-BE49-F238E27FC236}">
                <a16:creationId xmlns:a16="http://schemas.microsoft.com/office/drawing/2014/main" id="{3642A82C-3172-4D21-82C5-A04836FD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推进范围比较</a:t>
            </a:r>
          </a:p>
        </p:txBody>
      </p:sp>
      <p:sp>
        <p:nvSpPr>
          <p:cNvPr id="9" name="col-a">
            <a:extLst xmlns:a="http://schemas.openxmlformats.org/drawingml/2006/main">
              <a:ext uri="{FF2B5EF4-FFF2-40B4-BE49-F238E27FC236}">
                <a16:creationId xmlns:a16="http://schemas.microsoft.com/office/drawing/2014/main" id="{FD606D97-7849-4C43-97B9-9E0FF165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8859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10" name="col-b">
            <a:extLst xmlns:a="http://schemas.openxmlformats.org/drawingml/2006/main">
              <a:ext uri="{FF2B5EF4-FFF2-40B4-BE49-F238E27FC236}">
                <a16:creationId xmlns:a16="http://schemas.microsoft.com/office/drawing/2014/main" id="{07C85BD1-53B2-4751-8F48-9B622ACF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859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从新增实验开始</a:t>
            </a:r>
          </a:p>
        </p:txBody>
      </p:sp>
      <p:sp>
        <p:nvSpPr>
          <p:cNvPr id="11" name="compare-head-rule">
            <a:extLst xmlns:a="http://schemas.openxmlformats.org/drawingml/2006/main">
              <a:ext uri="{FF2B5EF4-FFF2-40B4-BE49-F238E27FC236}">
                <a16:creationId xmlns:a16="http://schemas.microsoft.com/office/drawing/2014/main" id="{771C4DC3-F4E8-4054-BD41-E1A3D5D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mp-label-0">
            <a:extLst xmlns:a="http://schemas.openxmlformats.org/drawingml/2006/main">
              <a:ext uri="{FF2B5EF4-FFF2-40B4-BE49-F238E27FC236}">
                <a16:creationId xmlns:a16="http://schemas.microsoft.com/office/drawing/2014/main" id="{173E80EB-2963-4E5D-AC39-9A4D7F88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能解决什么</a:t>
            </a:r>
          </a:p>
        </p:txBody>
      </p:sp>
      <p:sp>
        <p:nvSpPr>
          <p:cNvPr id="13" name="cmp-a-0">
            <a:extLst xmlns:a="http://schemas.openxmlformats.org/drawingml/2006/main">
              <a:ext uri="{FF2B5EF4-FFF2-40B4-BE49-F238E27FC236}">
                <a16:creationId xmlns:a16="http://schemas.microsoft.com/office/drawing/2014/main" id="{AC863857-F697-480E-AFEB-041A58C2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5527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一次形成较大的目录。</a:t>
            </a:r>
          </a:p>
        </p:txBody>
      </p:sp>
      <p:sp>
        <p:nvSpPr>
          <p:cNvPr id="14" name="cmp-b-bg-0">
            <a:extLst xmlns:a="http://schemas.openxmlformats.org/drawingml/2006/main">
              <a:ext uri="{FF2B5EF4-FFF2-40B4-BE49-F238E27FC236}">
                <a16:creationId xmlns:a16="http://schemas.microsoft.com/office/drawing/2014/main" id="{C4B2E2AE-9BBE-44A8-8AE3-D6CA020E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19350"/>
            <a:ext cx="43434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mp-b-0">
            <a:extLst xmlns:a="http://schemas.openxmlformats.org/drawingml/2006/main">
              <a:ext uri="{FF2B5EF4-FFF2-40B4-BE49-F238E27FC236}">
                <a16:creationId xmlns:a16="http://schemas.microsoft.com/office/drawing/2014/main" id="{942EAF6E-8B19-4DFF-B956-34CCC8B0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527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上下文尚清楚时，先把新增记录做完整。</a:t>
            </a:r>
          </a:p>
        </p:txBody>
      </p:sp>
      <p:sp>
        <p:nvSpPr>
          <p:cNvPr id="16" name="cmp-rule-0">
            <a:extLst xmlns:a="http://schemas.openxmlformats.org/drawingml/2006/main">
              <a:ext uri="{FF2B5EF4-FFF2-40B4-BE49-F238E27FC236}">
                <a16:creationId xmlns:a16="http://schemas.microsoft.com/office/drawing/2014/main" id="{222B1D5B-73FF-458D-8B97-33ECDCB9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mp-label-1">
            <a:extLst xmlns:a="http://schemas.openxmlformats.org/drawingml/2006/main">
              <a:ext uri="{FF2B5EF4-FFF2-40B4-BE49-F238E27FC236}">
                <a16:creationId xmlns:a16="http://schemas.microsoft.com/office/drawing/2014/main" id="{4AB2755A-9E79-418E-B8D0-61D1F26E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18" name="cmp-a-1">
            <a:extLst xmlns:a="http://schemas.openxmlformats.org/drawingml/2006/main">
              <a:ext uri="{FF2B5EF4-FFF2-40B4-BE49-F238E27FC236}">
                <a16:creationId xmlns:a16="http://schemas.microsoft.com/office/drawing/2014/main" id="{532168C2-54AF-4950-812C-64F497D0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195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可能把不确定记忆写成确定说明。</a:t>
            </a:r>
          </a:p>
        </p:txBody>
      </p:sp>
      <p:sp>
        <p:nvSpPr>
          <p:cNvPr id="19" name="cmp-b-bg-1">
            <a:extLst xmlns:a="http://schemas.openxmlformats.org/drawingml/2006/main">
              <a:ext uri="{FF2B5EF4-FFF2-40B4-BE49-F238E27FC236}">
                <a16:creationId xmlns:a16="http://schemas.microsoft.com/office/drawing/2014/main" id="{F0D6C600-A1D3-4B24-9222-D7833FBA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86150"/>
            <a:ext cx="43434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mp-b-1">
            <a:extLst xmlns:a="http://schemas.openxmlformats.org/drawingml/2006/main">
              <a:ext uri="{FF2B5EF4-FFF2-40B4-BE49-F238E27FC236}">
                <a16:creationId xmlns:a16="http://schemas.microsoft.com/office/drawing/2014/main" id="{B48E0DC4-B283-4B32-B0DC-2A3AD607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195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短期无法解决全部历史材料的追溯问题。</a:t>
            </a:r>
          </a:p>
        </p:txBody>
      </p:sp>
      <p:sp>
        <p:nvSpPr>
          <p:cNvPr id="21" name="cmp-rule-1">
            <a:extLst xmlns:a="http://schemas.openxmlformats.org/drawingml/2006/main">
              <a:ext uri="{FF2B5EF4-FFF2-40B4-BE49-F238E27FC236}">
                <a16:creationId xmlns:a16="http://schemas.microsoft.com/office/drawing/2014/main" id="{A3F7199B-5F03-423B-8C01-904B59C8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mp-label-2">
            <a:extLst xmlns:a="http://schemas.openxmlformats.org/drawingml/2006/main">
              <a:ext uri="{FF2B5EF4-FFF2-40B4-BE49-F238E27FC236}">
                <a16:creationId xmlns:a16="http://schemas.microsoft.com/office/drawing/2014/main" id="{2A5029B3-3B7A-40A3-8AD3-901979B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在试点中的角色</a:t>
            </a:r>
          </a:p>
        </p:txBody>
      </p:sp>
      <p:sp>
        <p:nvSpPr>
          <p:cNvPr id="23" name="cmp-a-2">
            <a:extLst xmlns:a="http://schemas.openxmlformats.org/drawingml/2006/main">
              <a:ext uri="{FF2B5EF4-FFF2-40B4-BE49-F238E27FC236}">
                <a16:creationId xmlns:a16="http://schemas.microsoft.com/office/drawing/2014/main" id="{333DD1CB-8EC3-44E3-A041-A9D52D34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863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只对真正需要复核的历史结果逐项补充。</a:t>
            </a:r>
          </a:p>
        </p:txBody>
      </p:sp>
      <p:sp>
        <p:nvSpPr>
          <p:cNvPr id="24" name="cmp-b-bg-2">
            <a:extLst xmlns:a="http://schemas.openxmlformats.org/drawingml/2006/main">
              <a:ext uri="{FF2B5EF4-FFF2-40B4-BE49-F238E27FC236}">
                <a16:creationId xmlns:a16="http://schemas.microsoft.com/office/drawing/2014/main" id="{BE823C66-9B92-482B-9011-149C9516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3434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4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mp-b-2">
            <a:extLst xmlns:a="http://schemas.openxmlformats.org/drawingml/2006/main">
              <a:ext uri="{FF2B5EF4-FFF2-40B4-BE49-F238E27FC236}">
                <a16:creationId xmlns:a16="http://schemas.microsoft.com/office/drawing/2014/main" id="{FCD5BEE7-D7AA-473D-BF45-56DF4F1C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86300"/>
            <a:ext cx="4191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作为四周试点的主要范围。</a:t>
            </a:r>
          </a:p>
        </p:txBody>
      </p:sp>
      <p:sp>
        <p:nvSpPr>
          <p:cNvPr id="26" name="cmp-rule-2">
            <a:extLst xmlns:a="http://schemas.openxmlformats.org/drawingml/2006/main">
              <a:ext uri="{FF2B5EF4-FFF2-40B4-BE49-F238E27FC236}">
                <a16:creationId xmlns:a16="http://schemas.microsoft.com/office/drawing/2014/main" id="{4C6432E8-0803-4698-B118-31186487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re-caveat">
            <a:extLst xmlns:a="http://schemas.openxmlformats.org/drawingml/2006/main">
              <a:ext uri="{FF2B5EF4-FFF2-40B4-BE49-F238E27FC236}">
                <a16:creationId xmlns:a16="http://schemas.microsoft.com/office/drawing/2014/main" id="{0A28CEFB-FA8F-4C04-9B48-ABE05FE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这是范围选择，不能表述为已经证明新方式更高效。</a:t>
            </a:r>
          </a:p>
        </p:txBody>
      </p:sp>
    </p:spTree>
    <p:extLst>
      <p:ext uri="{BB962C8B-B14F-4D97-AF65-F5344CB8AC3E}">
        <p14:creationId xmlns:p14="http://schemas.microsoft.com/office/powerpoint/2010/main" val="1629886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mark">
            <a:extLst xmlns:a="http://schemas.openxmlformats.org/drawingml/2006/main">
              <a:ext uri="{FF2B5EF4-FFF2-40B4-BE49-F238E27FC236}">
                <a16:creationId xmlns:a16="http://schemas.microsoft.com/office/drawing/2014/main" id="{0BDA5AC7-D43F-4A57-ABD2-6AD2E513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3FE0BF-4594-4F1F-ADB8-90C4CB83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D052081B-A795-4810-98D3-64803F2E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53462454-91B7-449A-93C0-3070BD0A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02BD894-D185-44F0-914C-0B9C8A37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A686C1-A4D5-42B8-9E34-10455E2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复核先检查可理解性，不代替科学结论审查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A396E1-497A-451C-BDE5-506D689D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先确认别人能沿记录还原来源，再进入讨论版本</a:t>
            </a:r>
          </a:p>
        </p:txBody>
      </p:sp>
      <p:sp>
        <p:nvSpPr>
          <p:cNvPr id="8" name="flow-node-0">
            <a:extLst xmlns:a="http://schemas.openxmlformats.org/drawingml/2006/main">
              <a:ext uri="{FF2B5EF4-FFF2-40B4-BE49-F238E27FC236}">
                <a16:creationId xmlns:a16="http://schemas.microsoft.com/office/drawing/2014/main" id="{143A2A19-9FDE-4F48-AC45-8FAB89D3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node-1">
            <a:extLst xmlns:a="http://schemas.openxmlformats.org/drawingml/2006/main">
              <a:ext uri="{FF2B5EF4-FFF2-40B4-BE49-F238E27FC236}">
                <a16:creationId xmlns:a16="http://schemas.microsoft.com/office/drawing/2014/main" id="{53CF7870-FA6B-4560-B90D-5FCCD622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node-2">
            <a:extLst xmlns:a="http://schemas.openxmlformats.org/drawingml/2006/main">
              <a:ext uri="{FF2B5EF4-FFF2-40B4-BE49-F238E27FC236}">
                <a16:creationId xmlns:a16="http://schemas.microsoft.com/office/drawing/2014/main" id="{D271E2FC-5F18-4932-B4DA-976CA15B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node-3">
            <a:extLst xmlns:a="http://schemas.openxmlformats.org/drawingml/2006/main">
              <a:ext uri="{FF2B5EF4-FFF2-40B4-BE49-F238E27FC236}">
                <a16:creationId xmlns:a16="http://schemas.microsoft.com/office/drawing/2014/main" id="{908299DA-9E57-47E5-8A62-51EF2B6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1145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9EEE92DD-8444-4637-BC58-4384C268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D14BF18C-0297-4D74-BB64-58743672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4FA1690E-5F86-48CD-AE5B-836DF0A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476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low-0">
            <a:extLst xmlns:a="http://schemas.openxmlformats.org/drawingml/2006/main">
              <a:ext uri="{FF2B5EF4-FFF2-40B4-BE49-F238E27FC236}">
                <a16:creationId xmlns:a16="http://schemas.microsoft.com/office/drawing/2014/main" id="{6CCCFF02-299F-40C4-A59A-97F0646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提交结果记录</a:t>
            </a:r>
          </a:p>
        </p:txBody>
      </p:sp>
      <p:sp>
        <p:nvSpPr>
          <p:cNvPr id="16" name="flow-1">
            <a:extLst xmlns:a="http://schemas.openxmlformats.org/drawingml/2006/main">
              <a:ext uri="{FF2B5EF4-FFF2-40B4-BE49-F238E27FC236}">
                <a16:creationId xmlns:a16="http://schemas.microsoft.com/office/drawing/2014/main" id="{E0D039E8-50CD-4D69-8CED-C891268B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1733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复核者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定位数据、脚本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与条件并提出缺项</a:t>
            </a:r>
          </a:p>
        </p:txBody>
      </p:sp>
      <p:sp>
        <p:nvSpPr>
          <p:cNvPr id="17" name="flow-2">
            <a:extLst xmlns:a="http://schemas.openxmlformats.org/drawingml/2006/main">
              <a:ext uri="{FF2B5EF4-FFF2-40B4-BE49-F238E27FC236}">
                <a16:creationId xmlns:a16="http://schemas.microsoft.com/office/drawing/2014/main" id="{E6ED67ED-6047-4F11-973B-93448701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补充缺项</a:t>
            </a:r>
          </a:p>
        </p:txBody>
      </p:sp>
      <p:sp>
        <p:nvSpPr>
          <p:cNvPr id="18" name="flow-3">
            <a:extLst xmlns:a="http://schemas.openxmlformats.org/drawingml/2006/main">
              <a:ext uri="{FF2B5EF4-FFF2-40B4-BE49-F238E27FC236}">
                <a16:creationId xmlns:a16="http://schemas.microsoft.com/office/drawing/2014/main" id="{A38EFEF3-DE30-4BB0-A720-21AF691B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7975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确认可讨论版本</a:t>
            </a:r>
          </a:p>
        </p:txBody>
      </p:sp>
      <p:sp>
        <p:nvSpPr>
          <p:cNvPr id="19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E889665A-E18E-4FEA-A934-94733DF0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拟定工作顺序</a:t>
            </a:r>
          </a:p>
        </p:txBody>
      </p:sp>
      <p:sp>
        <p:nvSpPr>
          <p:cNvPr id="20" name="pause-surface">
            <a:extLst xmlns:a="http://schemas.openxmlformats.org/drawingml/2006/main">
              <a:ext uri="{FF2B5EF4-FFF2-40B4-BE49-F238E27FC236}">
                <a16:creationId xmlns:a16="http://schemas.microsoft.com/office/drawing/2014/main" id="{3BF7450A-8289-45C1-A9A2-1AB97058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3390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E"/>
            </a:solidFill>
            <a:prstDash val="solid"/>
          </a:ln>
        </p:spPr>
      </p:sp>
      <p:sp>
        <p:nvSpPr>
          <p:cNvPr id="21" name="pause-label">
            <a:extLst xmlns:a="http://schemas.openxmlformats.org/drawingml/2006/main">
              <a:ext uri="{FF2B5EF4-FFF2-40B4-BE49-F238E27FC236}">
                <a16:creationId xmlns:a16="http://schemas.microsoft.com/office/drawing/2014/main" id="{CC74CD21-A1BB-42D3-908F-047E8053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若涉及</a:t>
            </a:r>
          </a:p>
        </p:txBody>
      </p:sp>
      <p:sp>
        <p:nvSpPr>
          <p:cNvPr id="22" name="pause-main">
            <a:extLst xmlns:a="http://schemas.openxmlformats.org/drawingml/2006/main">
              <a:ext uri="{FF2B5EF4-FFF2-40B4-BE49-F238E27FC236}">
                <a16:creationId xmlns:a16="http://schemas.microsoft.com/office/drawing/2014/main" id="{A67FE828-4BFD-4E42-B93A-1194520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243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新的访问授权</a:t>
            </a:r>
          </a:p>
        </p:txBody>
      </p:sp>
      <p:sp>
        <p:nvSpPr>
          <p:cNvPr id="23" name="pause-copy">
            <a:extLst xmlns:a="http://schemas.openxmlformats.org/drawingml/2006/main">
              <a:ext uri="{FF2B5EF4-FFF2-40B4-BE49-F238E27FC236}">
                <a16:creationId xmlns:a16="http://schemas.microsoft.com/office/drawing/2014/main" id="{3B4EA62E-0803-43CB-9E25-509E3799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暂停共享，由负责人处理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后再继续。</a:t>
            </a:r>
          </a:p>
        </p:txBody>
      </p:sp>
      <p:sp>
        <p:nvSpPr>
          <p:cNvPr id="24" name="scope-note">
            <a:extLst xmlns:a="http://schemas.openxmlformats.org/drawingml/2006/main">
              <a:ext uri="{FF2B5EF4-FFF2-40B4-BE49-F238E27FC236}">
                <a16:creationId xmlns:a16="http://schemas.microsoft.com/office/drawing/2014/main" id="{B666E55A-2018-48F9-A03A-163B9EE8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复核不要求复做整项实验，也不代替科学结论审查；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它先检查别人能否理解这个结果是怎么产生的。</a:t>
            </a:r>
          </a:p>
        </p:txBody>
      </p:sp>
    </p:spTree>
    <p:extLst>
      <p:ext uri="{BB962C8B-B14F-4D97-AF65-F5344CB8AC3E}">
        <p14:creationId xmlns:p14="http://schemas.microsoft.com/office/powerpoint/2010/main" val="985694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mark">
            <a:extLst xmlns:a="http://schemas.openxmlformats.org/drawingml/2006/main">
              <a:ext uri="{FF2B5EF4-FFF2-40B4-BE49-F238E27FC236}">
                <a16:creationId xmlns:a16="http://schemas.microsoft.com/office/drawing/2014/main" id="{56D5F603-BE86-4368-8DBD-6B2E1DE3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FF0DEB-ADC0-48AE-AA76-54F8E46E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7C5CAAAE-7872-451C-9B72-E5546509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8452099C-E234-4888-94B0-D5C36F97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F00F7AE-BE12-4705-A2C8-A629919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0A0D99-6999-4CC3-BCAB-872B5C0A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四周只验证一个有限问题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7D3D9A-9C91-4644-9BA8-7B7D2107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本轮只观察新增实验记录是否可供复核，不外推到全部历史档案</a:t>
            </a:r>
          </a:p>
        </p:txBody>
      </p:sp>
      <p:sp>
        <p:nvSpPr>
          <p:cNvPr id="8" name="pilot-scope">
            <a:extLst xmlns:a="http://schemas.openxmlformats.org/drawingml/2006/main">
              <a:ext uri="{FF2B5EF4-FFF2-40B4-BE49-F238E27FC236}">
                <a16:creationId xmlns:a16="http://schemas.microsoft.com/office/drawing/2014/main" id="{86F3D7EA-C12B-4E81-9CFE-DCB6E951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ilot-scope-copy">
            <a:extLst xmlns:a="http://schemas.openxmlformats.org/drawingml/2006/main">
              <a:ext uri="{FF2B5EF4-FFF2-40B4-BE49-F238E27FC236}">
                <a16:creationId xmlns:a16="http://schemas.microsoft.com/office/drawing/2014/main" id="{033BEFA2-0196-4AC8-8459-89B76C71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1 个课题方向     ·     2 名自愿成员     ·     记录新增实验</a:t>
            </a:r>
          </a:p>
        </p:txBody>
      </p:sp>
      <p:sp>
        <p:nvSpPr>
          <p:cNvPr id="10" name="timeline-label">
            <a:extLst xmlns:a="http://schemas.openxmlformats.org/drawingml/2006/main">
              <a:ext uri="{FF2B5EF4-FFF2-40B4-BE49-F238E27FC236}">
                <a16:creationId xmlns:a16="http://schemas.microsoft.com/office/drawing/2014/main" id="{B33C4499-CBA7-4421-9433-12D0F132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四周安排</a:t>
            </a:r>
          </a:p>
        </p:txBody>
      </p:sp>
      <p:sp>
        <p:nvSpPr>
          <p:cNvPr id="11" name="timeline-axis">
            <a:extLst xmlns:a="http://schemas.openxmlformats.org/drawingml/2006/main">
              <a:ext uri="{FF2B5EF4-FFF2-40B4-BE49-F238E27FC236}">
                <a16:creationId xmlns:a16="http://schemas.microsoft.com/office/drawing/2014/main" id="{82246344-A5F5-45B9-B7D3-30CDC197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eek-dot-0">
            <a:extLst xmlns:a="http://schemas.openxmlformats.org/drawingml/2006/main">
              <a:ext uri="{FF2B5EF4-FFF2-40B4-BE49-F238E27FC236}">
                <a16:creationId xmlns:a16="http://schemas.microsoft.com/office/drawing/2014/main" id="{5892DDCB-CB09-450D-9F30-F0C69AB1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eek-head-0">
            <a:extLst xmlns:a="http://schemas.openxmlformats.org/drawingml/2006/main">
              <a:ext uri="{FF2B5EF4-FFF2-40B4-BE49-F238E27FC236}">
                <a16:creationId xmlns:a16="http://schemas.microsoft.com/office/drawing/2014/main" id="{57DCC5CE-713D-4A88-8299-63BDB88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4" name="week-copy-0">
            <a:extLst xmlns:a="http://schemas.openxmlformats.org/drawingml/2006/main">
              <a:ext uri="{FF2B5EF4-FFF2-40B4-BE49-F238E27FC236}">
                <a16:creationId xmlns:a16="http://schemas.microsoft.com/office/drawing/2014/main" id="{3395EE77-6A95-4AF8-82CE-1C2E4B83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共同明确最少字段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15" name="week-dot-1">
            <a:extLst xmlns:a="http://schemas.openxmlformats.org/drawingml/2006/main">
              <a:ext uri="{FF2B5EF4-FFF2-40B4-BE49-F238E27FC236}">
                <a16:creationId xmlns:a16="http://schemas.microsoft.com/office/drawing/2014/main" id="{8AC757C1-FE4A-4C5E-AB07-4C8734AC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eek-head-1">
            <a:extLst xmlns:a="http://schemas.openxmlformats.org/drawingml/2006/main">
              <a:ext uri="{FF2B5EF4-FFF2-40B4-BE49-F238E27FC236}">
                <a16:creationId xmlns:a16="http://schemas.microsoft.com/office/drawing/2014/main" id="{8B266913-2D98-4AA2-B12B-C48FE48A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147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7" name="week-copy-1">
            <a:extLst xmlns:a="http://schemas.openxmlformats.org/drawingml/2006/main">
              <a:ext uri="{FF2B5EF4-FFF2-40B4-BE49-F238E27FC236}">
                <a16:creationId xmlns:a16="http://schemas.microsoft.com/office/drawing/2014/main" id="{CCA36CE2-7F1F-4D68-B640-44513BFE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在实际工作中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记录缺项与负担</a:t>
            </a:r>
          </a:p>
        </p:txBody>
      </p:sp>
      <p:sp>
        <p:nvSpPr>
          <p:cNvPr id="18" name="week-dot-2">
            <a:extLst xmlns:a="http://schemas.openxmlformats.org/drawingml/2006/main">
              <a:ext uri="{FF2B5EF4-FFF2-40B4-BE49-F238E27FC236}">
                <a16:creationId xmlns:a16="http://schemas.microsoft.com/office/drawing/2014/main" id="{8E4DEA51-D8E3-4D2C-A481-AC62C750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7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eek-head-2">
            <a:extLst xmlns:a="http://schemas.openxmlformats.org/drawingml/2006/main">
              <a:ext uri="{FF2B5EF4-FFF2-40B4-BE49-F238E27FC236}">
                <a16:creationId xmlns:a16="http://schemas.microsoft.com/office/drawing/2014/main" id="{5AE16EEE-B81C-4C12-9A52-F92998B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20" name="week-copy-2">
            <a:extLst xmlns:a="http://schemas.openxmlformats.org/drawingml/2006/main">
              <a:ext uri="{FF2B5EF4-FFF2-40B4-BE49-F238E27FC236}">
                <a16:creationId xmlns:a16="http://schemas.microsoft.com/office/drawing/2014/main" id="{D2D20DDA-76A8-4D77-9271-D802105A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继续记录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观察复核过程</a:t>
            </a:r>
          </a:p>
        </p:txBody>
      </p:sp>
      <p:sp>
        <p:nvSpPr>
          <p:cNvPr id="21" name="week-dot-3">
            <a:extLst xmlns:a="http://schemas.openxmlformats.org/drawingml/2006/main">
              <a:ext uri="{FF2B5EF4-FFF2-40B4-BE49-F238E27FC236}">
                <a16:creationId xmlns:a16="http://schemas.microsoft.com/office/drawing/2014/main" id="{BF3E4555-664C-4BDD-A57D-E3F2D569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E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eek-head-3">
            <a:extLst xmlns:a="http://schemas.openxmlformats.org/drawingml/2006/main">
              <a:ext uri="{FF2B5EF4-FFF2-40B4-BE49-F238E27FC236}">
                <a16:creationId xmlns:a16="http://schemas.microsoft.com/office/drawing/2014/main" id="{DA8AD1E2-E76D-45DC-A756-DD56B4FD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3" name="week-copy-3">
            <a:extLst xmlns:a="http://schemas.openxmlformats.org/drawingml/2006/main">
              <a:ext uri="{FF2B5EF4-FFF2-40B4-BE49-F238E27FC236}">
                <a16:creationId xmlns:a16="http://schemas.microsoft.com/office/drawing/2014/main" id="{76EEB921-79FF-445A-B973-93E6A673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52900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讨论保留、修改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或停止</a:t>
            </a:r>
          </a:p>
        </p:txBody>
      </p:sp>
      <p:sp>
        <p:nvSpPr>
          <p:cNvPr id="24" name="pilot-foot-rule">
            <a:extLst xmlns:a="http://schemas.openxmlformats.org/drawingml/2006/main">
              <a:ext uri="{FF2B5EF4-FFF2-40B4-BE49-F238E27FC236}">
                <a16:creationId xmlns:a16="http://schemas.microsoft.com/office/drawing/2014/main" id="{7D2326A0-2960-4B4A-A729-F0855FF2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lot-foot">
            <a:extLst xmlns:a="http://schemas.openxmlformats.org/drawingml/2006/main">
              <a:ext uri="{FF2B5EF4-FFF2-40B4-BE49-F238E27FC236}">
                <a16:creationId xmlns:a16="http://schemas.microsoft.com/office/drawing/2014/main" id="{AC024485-EFC5-4849-8F05-66D3B851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四周、两人和周次安排都是拟定范围；本方案没有实测效率提升或完成率数字。</a:t>
            </a:r>
          </a:p>
        </p:txBody>
      </p:sp>
    </p:spTree>
    <p:extLst>
      <p:ext uri="{BB962C8B-B14F-4D97-AF65-F5344CB8AC3E}">
        <p14:creationId xmlns:p14="http://schemas.microsoft.com/office/powerpoint/2010/main" val="647521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-mark">
            <a:extLst xmlns:a="http://schemas.openxmlformats.org/drawingml/2006/main">
              <a:ext uri="{FF2B5EF4-FFF2-40B4-BE49-F238E27FC236}">
                <a16:creationId xmlns:a16="http://schemas.microsoft.com/office/drawing/2014/main" id="{0611066E-2D0C-4FB9-A03D-266B0073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2FE248-6980-4654-AEA5-997224C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8468B01-3276-4626-8E0A-4DC16B0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B523FCB7-3042-40BC-AD42-BAE36F1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4350B3B-48D0-46EE-99D7-AD4B9319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B02A74-97E8-4B30-B6E2-7FCA4EBA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试点是否值得保留，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要同时看能否定位、解释、持续承担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953285E-1D52-4E12-8586-1080A37E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不先给一个统一“合格分数”，而是收集具体复核过程与当事人反馈</a:t>
            </a:r>
          </a:p>
        </p:txBody>
      </p:sp>
      <p:sp>
        <p:nvSpPr>
          <p:cNvPr id="8" name="eval-label">
            <a:extLst xmlns:a="http://schemas.openxmlformats.org/drawingml/2006/main">
              <a:ext uri="{FF2B5EF4-FFF2-40B4-BE49-F238E27FC236}">
                <a16:creationId xmlns:a16="http://schemas.microsoft.com/office/drawing/2014/main" id="{3CF98B46-8FA5-4D9E-A364-6A1DF92D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三个评估问题</a:t>
            </a:r>
          </a:p>
        </p:txBody>
      </p:sp>
      <p:sp>
        <p:nvSpPr>
          <p:cNvPr id="9" name="eval-no-0">
            <a:extLst xmlns:a="http://schemas.openxmlformats.org/drawingml/2006/main">
              <a:ext uri="{FF2B5EF4-FFF2-40B4-BE49-F238E27FC236}">
                <a16:creationId xmlns:a16="http://schemas.microsoft.com/office/drawing/2014/main" id="{6E67F323-4C15-4E90-8183-9F9799D9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eval-head-0">
            <a:extLst xmlns:a="http://schemas.openxmlformats.org/drawingml/2006/main">
              <a:ext uri="{FF2B5EF4-FFF2-40B4-BE49-F238E27FC236}">
                <a16:creationId xmlns:a16="http://schemas.microsoft.com/office/drawing/2014/main" id="{47475ED6-4F1D-4BB5-BFE0-D3E3BF81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能否定位</a:t>
            </a:r>
          </a:p>
        </p:txBody>
      </p:sp>
      <p:sp>
        <p:nvSpPr>
          <p:cNvPr id="11" name="eval-copy-0">
            <a:extLst xmlns:a="http://schemas.openxmlformats.org/drawingml/2006/main">
              <a:ext uri="{FF2B5EF4-FFF2-40B4-BE49-F238E27FC236}">
                <a16:creationId xmlns:a16="http://schemas.microsoft.com/office/drawing/2014/main" id="{3B96DF54-D481-4CBB-8068-C339D1E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其他成员能否沿记录定位结果的来源？</a:t>
            </a:r>
          </a:p>
        </p:txBody>
      </p:sp>
      <p:sp>
        <p:nvSpPr>
          <p:cNvPr id="12" name="eval-rule-0">
            <a:extLst xmlns:a="http://schemas.openxmlformats.org/drawingml/2006/main">
              <a:ext uri="{FF2B5EF4-FFF2-40B4-BE49-F238E27FC236}">
                <a16:creationId xmlns:a16="http://schemas.microsoft.com/office/drawing/2014/main" id="{BCF11B0E-AC02-419C-89C3-C1987880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val-no-1">
            <a:extLst xmlns:a="http://schemas.openxmlformats.org/drawingml/2006/main">
              <a:ext uri="{FF2B5EF4-FFF2-40B4-BE49-F238E27FC236}">
                <a16:creationId xmlns:a16="http://schemas.microsoft.com/office/drawing/2014/main" id="{E1843957-38CF-4C71-A0F0-260E655E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val-head-1">
            <a:extLst xmlns:a="http://schemas.openxmlformats.org/drawingml/2006/main">
              <a:ext uri="{FF2B5EF4-FFF2-40B4-BE49-F238E27FC236}">
                <a16:creationId xmlns:a16="http://schemas.microsoft.com/office/drawing/2014/main" id="{F2DEA799-CC1B-49DF-8A2E-A7A3E436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能否解释</a:t>
            </a:r>
          </a:p>
        </p:txBody>
      </p:sp>
      <p:sp>
        <p:nvSpPr>
          <p:cNvPr id="15" name="eval-copy-1">
            <a:extLst xmlns:a="http://schemas.openxmlformats.org/drawingml/2006/main">
              <a:ext uri="{FF2B5EF4-FFF2-40B4-BE49-F238E27FC236}">
                <a16:creationId xmlns:a16="http://schemas.microsoft.com/office/drawing/2014/main" id="{0C125241-6D79-4063-9E9B-E3A0ADE5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关键处理与排除是否有可理解的依据？</a:t>
            </a:r>
          </a:p>
        </p:txBody>
      </p:sp>
      <p:sp>
        <p:nvSpPr>
          <p:cNvPr id="16" name="eval-rule-1">
            <a:extLst xmlns:a="http://schemas.openxmlformats.org/drawingml/2006/main">
              <a:ext uri="{FF2B5EF4-FFF2-40B4-BE49-F238E27FC236}">
                <a16:creationId xmlns:a16="http://schemas.microsoft.com/office/drawing/2014/main" id="{5E36077C-83B1-4466-AAFE-2B10DC29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al-no-2">
            <a:extLst xmlns:a="http://schemas.openxmlformats.org/drawingml/2006/main">
              <a:ext uri="{FF2B5EF4-FFF2-40B4-BE49-F238E27FC236}">
                <a16:creationId xmlns:a16="http://schemas.microsoft.com/office/drawing/2014/main" id="{B31A8F60-6C7C-4533-AE3F-CFCF4C4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eval-head-2">
            <a:extLst xmlns:a="http://schemas.openxmlformats.org/drawingml/2006/main">
              <a:ext uri="{FF2B5EF4-FFF2-40B4-BE49-F238E27FC236}">
                <a16:creationId xmlns:a16="http://schemas.microsoft.com/office/drawing/2014/main" id="{D203D434-359A-4C03-A3BE-D60018C4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能否持续</a:t>
            </a:r>
          </a:p>
        </p:txBody>
      </p:sp>
      <p:sp>
        <p:nvSpPr>
          <p:cNvPr id="19" name="eval-copy-2">
            <a:extLst xmlns:a="http://schemas.openxmlformats.org/drawingml/2006/main">
              <a:ext uri="{FF2B5EF4-FFF2-40B4-BE49-F238E27FC236}">
                <a16:creationId xmlns:a16="http://schemas.microsoft.com/office/drawing/2014/main" id="{3C767CAB-A394-4829-9F57-3B1910BC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记录负担是否在成员愿意持续承担的范围内？</a:t>
            </a:r>
          </a:p>
        </p:txBody>
      </p:sp>
      <p:sp>
        <p:nvSpPr>
          <p:cNvPr id="20" name="eval-rule-2">
            <a:extLst xmlns:a="http://schemas.openxmlformats.org/drawingml/2006/main">
              <a:ext uri="{FF2B5EF4-FFF2-40B4-BE49-F238E27FC236}">
                <a16:creationId xmlns:a16="http://schemas.microsoft.com/office/drawing/2014/main" id="{3FE87225-A99E-4296-9733-9D3AEF1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1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al-counterexample">
            <a:extLst xmlns:a="http://schemas.openxmlformats.org/drawingml/2006/main">
              <a:ext uri="{FF2B5EF4-FFF2-40B4-BE49-F238E27FC236}">
                <a16:creationId xmlns:a16="http://schemas.microsoft.com/office/drawing/2014/main" id="{EA23BF2E-BC4D-44BC-83E4-768FECB7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61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反例：字段全部填满，却仍无法定位脚本版本，追溯问题仍未解决。</a:t>
            </a:r>
          </a:p>
        </p:txBody>
      </p:sp>
      <p:sp>
        <p:nvSpPr>
          <p:cNvPr id="22" name="stop-surface">
            <a:extLst xmlns:a="http://schemas.openxmlformats.org/drawingml/2006/main">
              <a:ext uri="{FF2B5EF4-FFF2-40B4-BE49-F238E27FC236}">
                <a16:creationId xmlns:a16="http://schemas.microsoft.com/office/drawing/2014/main" id="{FEABF8A0-EF50-423D-BAFC-784D98C0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35052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op-label">
            <a:extLst xmlns:a="http://schemas.openxmlformats.org/drawingml/2006/main">
              <a:ext uri="{FF2B5EF4-FFF2-40B4-BE49-F238E27FC236}">
                <a16:creationId xmlns:a16="http://schemas.microsoft.com/office/drawing/2014/main" id="{FD6D78C7-4B15-4DDC-9565-D4259CB7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停止或修改的信号</a:t>
            </a:r>
          </a:p>
        </p:txBody>
      </p:sp>
      <p:sp>
        <p:nvSpPr>
          <p:cNvPr id="24" name="stop-1-dot">
            <a:extLst xmlns:a="http://schemas.openxmlformats.org/drawingml/2006/main">
              <a:ext uri="{FF2B5EF4-FFF2-40B4-BE49-F238E27FC236}">
                <a16:creationId xmlns:a16="http://schemas.microsoft.com/office/drawing/2014/main" id="{BC373EEF-6FEA-4D61-AFCD-E0E89D09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3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5" name="stop-1-copy">
            <a:extLst xmlns:a="http://schemas.openxmlformats.org/drawingml/2006/main">
              <a:ext uri="{FF2B5EF4-FFF2-40B4-BE49-F238E27FC236}">
                <a16:creationId xmlns:a16="http://schemas.microsoft.com/office/drawing/2014/main" id="{7DD740BD-7CD4-44A7-BAE5-3DD1BB82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051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填写工作持续挤占必要实验时间。</a:t>
            </a:r>
          </a:p>
        </p:txBody>
      </p:sp>
      <p:sp>
        <p:nvSpPr>
          <p:cNvPr id="26" name="stop-2-dot">
            <a:extLst xmlns:a="http://schemas.openxmlformats.org/drawingml/2006/main">
              <a:ext uri="{FF2B5EF4-FFF2-40B4-BE49-F238E27FC236}">
                <a16:creationId xmlns:a16="http://schemas.microsoft.com/office/drawing/2014/main" id="{04690953-4D73-4B18-A98E-57C5C1F9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57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stop-2-copy">
            <a:extLst xmlns:a="http://schemas.openxmlformats.org/drawingml/2006/main">
              <a:ext uri="{FF2B5EF4-FFF2-40B4-BE49-F238E27FC236}">
                <a16:creationId xmlns:a16="http://schemas.microsoft.com/office/drawing/2014/main" id="{2FDA1EC7-F249-40B0-BFDD-F2DE9A85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权限边界无法说明。</a:t>
            </a:r>
          </a:p>
        </p:txBody>
      </p:sp>
      <p:sp>
        <p:nvSpPr>
          <p:cNvPr id="28" name="stop-3-dot">
            <a:extLst xmlns:a="http://schemas.openxmlformats.org/drawingml/2006/main">
              <a:ext uri="{FF2B5EF4-FFF2-40B4-BE49-F238E27FC236}">
                <a16:creationId xmlns:a16="http://schemas.microsoft.com/office/drawing/2014/main" id="{2689BEC9-57B9-4744-8287-7A6B7BD7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671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stop-3-copy">
            <a:extLst xmlns:a="http://schemas.openxmlformats.org/drawingml/2006/main">
              <a:ext uri="{FF2B5EF4-FFF2-40B4-BE49-F238E27FC236}">
                <a16:creationId xmlns:a16="http://schemas.microsoft.com/office/drawing/2014/main" id="{E4C684E8-431C-41DA-B8B4-9473ABC6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记录只增加重复抄写，却没有帮助解释结果。</a:t>
            </a:r>
          </a:p>
        </p:txBody>
      </p:sp>
      <p:sp>
        <p:nvSpPr>
          <p:cNvPr id="30" name="stop-action">
            <a:extLst xmlns:a="http://schemas.openxmlformats.org/drawingml/2006/main">
              <a:ext uri="{FF2B5EF4-FFF2-40B4-BE49-F238E27FC236}">
                <a16:creationId xmlns:a16="http://schemas.microsoft.com/office/drawing/2014/main" id="{53546A04-A4A5-48B3-BB76-76A8896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届时先缩小要求或停止试点，不能为了完成试点目标强行推广。</a:t>
            </a:r>
          </a:p>
        </p:txBody>
      </p:sp>
    </p:spTree>
    <p:extLst>
      <p:ext uri="{BB962C8B-B14F-4D97-AF65-F5344CB8AC3E}">
        <p14:creationId xmlns:p14="http://schemas.microsoft.com/office/powerpoint/2010/main" val="587977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mark">
            <a:extLst xmlns:a="http://schemas.openxmlformats.org/drawingml/2006/main">
              <a:ext uri="{FF2B5EF4-FFF2-40B4-BE49-F238E27FC236}">
                <a16:creationId xmlns:a16="http://schemas.microsoft.com/office/drawing/2014/main" id="{C19932F7-A48E-46D9-9F93-D4545903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课题组讨论 · 虚构归档方案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607244-463B-48EC-9D59-CD082567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0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18AF0B25-7238-4778-A1D9-D45688B3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F65D73EA-C1BF-4431-BABC-7A6C5BDD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FC6613F-D607-4143-B4D7-01A8223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大学课题组 · 方案讨论口径 · 不代表已实施成效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C296A0-8E2E-421F-80A1-2EEF1FF5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本次讨论要确认的是一个有限尝试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67CB24-CE5C-4BDB-9A98-455F3F78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先让一次结果可以被理解，再决定哪些记录值得长期保存</a:t>
            </a:r>
          </a:p>
        </p:txBody>
      </p:sp>
      <p:sp>
        <p:nvSpPr>
          <p:cNvPr id="8" name="close-message">
            <a:extLst xmlns:a="http://schemas.openxmlformats.org/drawingml/2006/main">
              <a:ext uri="{FF2B5EF4-FFF2-40B4-BE49-F238E27FC236}">
                <a16:creationId xmlns:a16="http://schemas.microsoft.com/office/drawing/2014/main" id="{AC9BADC1-7883-444E-92B0-5ADA1449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e-message-copy">
            <a:extLst xmlns:a="http://schemas.openxmlformats.org/drawingml/2006/main">
              <a:ext uri="{FF2B5EF4-FFF2-40B4-BE49-F238E27FC236}">
                <a16:creationId xmlns:a16="http://schemas.microsoft.com/office/drawing/2014/main" id="{FA3231E5-3429-4D07-A311-C4C2D78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归档工具只是承载方式；要验证的是结果、依据与责任边界的联系。</a:t>
            </a:r>
          </a:p>
        </p:txBody>
      </p:sp>
      <p:sp>
        <p:nvSpPr>
          <p:cNvPr id="10" name="confirm-label">
            <a:extLst xmlns:a="http://schemas.openxmlformats.org/drawingml/2006/main">
              <a:ext uri="{FF2B5EF4-FFF2-40B4-BE49-F238E27FC236}">
                <a16:creationId xmlns:a16="http://schemas.microsoft.com/office/drawing/2014/main" id="{19725D5E-E1B7-4FF5-AAF8-3F476520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开始试点前确认</a:t>
            </a:r>
          </a:p>
        </p:txBody>
      </p:sp>
      <p:sp>
        <p:nvSpPr>
          <p:cNvPr id="11" name="confirm-1-dot">
            <a:extLst xmlns:a="http://schemas.openxmlformats.org/drawingml/2006/main">
              <a:ext uri="{FF2B5EF4-FFF2-40B4-BE49-F238E27FC236}">
                <a16:creationId xmlns:a16="http://schemas.microsoft.com/office/drawing/2014/main" id="{859DA341-568E-4134-84C6-5D20A8C6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confirm-1-copy">
            <a:extLst xmlns:a="http://schemas.openxmlformats.org/drawingml/2006/main">
              <a:ext uri="{FF2B5EF4-FFF2-40B4-BE49-F238E27FC236}">
                <a16:creationId xmlns:a16="http://schemas.microsoft.com/office/drawing/2014/main" id="{3943882C-D780-4697-90A6-3E748021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957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负责人确认范围与授权联系人。</a:t>
            </a:r>
          </a:p>
        </p:txBody>
      </p:sp>
      <p:sp>
        <p:nvSpPr>
          <p:cNvPr id="13" name="confirm-2-dot">
            <a:extLst xmlns:a="http://schemas.openxmlformats.org/drawingml/2006/main">
              <a:ext uri="{FF2B5EF4-FFF2-40B4-BE49-F238E27FC236}">
                <a16:creationId xmlns:a16="http://schemas.microsoft.com/office/drawing/2014/main" id="{CD66F89D-A084-4E34-84BC-B1F54AC6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confirm-2-copy">
            <a:extLst xmlns:a="http://schemas.openxmlformats.org/drawingml/2006/main">
              <a:ext uri="{FF2B5EF4-FFF2-40B4-BE49-F238E27FC236}">
                <a16:creationId xmlns:a16="http://schemas.microsoft.com/office/drawing/2014/main" id="{CD207439-A0EA-4642-A028-2DFFC91E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481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参与成员认可最少字段。</a:t>
            </a:r>
          </a:p>
        </p:txBody>
      </p:sp>
      <p:sp>
        <p:nvSpPr>
          <p:cNvPr id="15" name="confirm-3-dot">
            <a:extLst xmlns:a="http://schemas.openxmlformats.org/drawingml/2006/main">
              <a:ext uri="{FF2B5EF4-FFF2-40B4-BE49-F238E27FC236}">
                <a16:creationId xmlns:a16="http://schemas.microsoft.com/office/drawing/2014/main" id="{96B809D7-8947-49FC-8F5E-9E922CE6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confirm-3-copy">
            <a:extLst xmlns:a="http://schemas.openxmlformats.org/drawingml/2006/main">
              <a:ext uri="{FF2B5EF4-FFF2-40B4-BE49-F238E27FC236}">
                <a16:creationId xmlns:a16="http://schemas.microsoft.com/office/drawing/2014/main" id="{C45FA83C-7CC0-40DD-BB66-220A31A7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0060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确定谁负责复核。</a:t>
            </a:r>
          </a:p>
        </p:txBody>
      </p:sp>
      <p:sp>
        <p:nvSpPr>
          <p:cNvPr id="17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7EBEC61A-E242-4E09-8EEB-48B4A488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t-label">
            <a:extLst xmlns:a="http://schemas.openxmlformats.org/drawingml/2006/main">
              <a:ext uri="{FF2B5EF4-FFF2-40B4-BE49-F238E27FC236}">
                <a16:creationId xmlns:a16="http://schemas.microsoft.com/office/drawing/2014/main" id="{63754D6D-6E69-4236-94F8-4F0C4B4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77BD"/>
                </a:solidFill>
                <a:latin typeface="Microsoft YaHei"/>
                <a:ea typeface="Microsoft YaHei"/>
                <a:cs typeface="Microsoft YaHei"/>
              </a:rPr>
              <a:t>本轮不承诺</a:t>
            </a:r>
          </a:p>
        </p:txBody>
      </p:sp>
      <p:sp>
        <p:nvSpPr>
          <p:cNvPr id="19" name="not-copy">
            <a:extLst xmlns:a="http://schemas.openxmlformats.org/drawingml/2006/main">
              <a:ext uri="{FF2B5EF4-FFF2-40B4-BE49-F238E27FC236}">
                <a16:creationId xmlns:a16="http://schemas.microsoft.com/office/drawing/2014/main" id="{959DCF98-5531-4E63-914E-EE3D7907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不承诺已经提高效率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不承诺覆盖全部历史档案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7D"/>
                </a:solidFill>
                <a:latin typeface="Microsoft YaHei"/>
                <a:ea typeface="Microsoft YaHei"/>
                <a:cs typeface="Microsoft YaHei"/>
              </a:rPr>
              <a:t>不承诺改变原始数据授权</a:t>
            </a:r>
          </a:p>
        </p:txBody>
      </p:sp>
      <p:sp>
        <p:nvSpPr>
          <p:cNvPr id="20" name="close-rule">
            <a:extLst xmlns:a="http://schemas.openxmlformats.org/drawingml/2006/main">
              <a:ext uri="{FF2B5EF4-FFF2-40B4-BE49-F238E27FC236}">
                <a16:creationId xmlns:a16="http://schemas.microsoft.com/office/drawing/2014/main" id="{E7591EAF-E0B9-419F-AF57-275B8D51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e-final">
            <a:extLst xmlns:a="http://schemas.openxmlformats.org/drawingml/2006/main">
              <a:ext uri="{FF2B5EF4-FFF2-40B4-BE49-F238E27FC236}">
                <a16:creationId xmlns:a16="http://schemas.microsoft.com/office/drawing/2014/main" id="{CD4B29C9-81B5-4467-A100-DDE08968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E6C"/>
                </a:solidFill>
                <a:latin typeface="Microsoft YaHei"/>
                <a:ea typeface="Microsoft YaHei"/>
                <a:cs typeface="Microsoft YaHei"/>
              </a:rPr>
              <a:t>未完成三项确认前，试点不启动；授权问题由负责人先处理。</a:t>
            </a:r>
          </a:p>
        </p:txBody>
      </p:sp>
    </p:spTree>
    <p:extLst>
      <p:ext uri="{BB962C8B-B14F-4D97-AF65-F5344CB8AC3E}">
        <p14:creationId xmlns:p14="http://schemas.microsoft.com/office/powerpoint/2010/main" val="1356069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2026-09-05T13:51:52.3100000Z</dcterms:created>
  <dcterms:modified xsi:type="dcterms:W3CDTF">2026-09-05T13:51:52.3100000Z</dcterms:modified>
</coreProperties>
</file>