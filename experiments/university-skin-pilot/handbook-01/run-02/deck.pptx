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cfbbbaa2f4f0c" /><Relationship Type="http://schemas.openxmlformats.org/officeDocument/2006/relationships/extended-properties" Target="/docProps/app.xml" Id="R5f1ed5c540e6424b" /><Relationship Type="http://schemas.openxmlformats.org/officeDocument/2006/relationships/officeDocument" Target="/ppt/presentation.xml" Id="R37df4c1eb3dc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aca037315342d4"/>
  </p:sldMasterIdLst>
  <p:notesMasterIdLst>
    <p:notesMasterId xmlns:r="http://schemas.openxmlformats.org/officeDocument/2006/relationships" r:id="R7cc8ebc2450243b3"/>
  </p:notesMasterIdLst>
  <p:sldIdLst>
    <p:sldId xmlns:r="http://schemas.openxmlformats.org/officeDocument/2006/relationships" id="256" r:id="R9fae19a376344812"/>
    <p:sldId xmlns:r="http://schemas.openxmlformats.org/officeDocument/2006/relationships" id="257" r:id="R3912b70aa7de41e4"/>
    <p:sldId xmlns:r="http://schemas.openxmlformats.org/officeDocument/2006/relationships" id="258" r:id="Rdb3c7e1232924de9"/>
    <p:sldId xmlns:r="http://schemas.openxmlformats.org/officeDocument/2006/relationships" id="259" r:id="R573b85e2c02f4306"/>
    <p:sldId xmlns:r="http://schemas.openxmlformats.org/officeDocument/2006/relationships" id="260" r:id="R157e2cfc1cf9426b"/>
    <p:sldId xmlns:r="http://schemas.openxmlformats.org/officeDocument/2006/relationships" id="261" r:id="Rddb6e6808fe84840"/>
    <p:sldId xmlns:r="http://schemas.openxmlformats.org/officeDocument/2006/relationships" id="262" r:id="Rb663a3c369ff4a04"/>
    <p:sldId xmlns:r="http://schemas.openxmlformats.org/officeDocument/2006/relationships" id="263" r:id="Rb35312c93ea14ec9"/>
    <p:sldId xmlns:r="http://schemas.openxmlformats.org/officeDocument/2006/relationships" id="264" r:id="R8de577ad982447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0bb2868d94fec" /><Relationship Type="http://schemas.openxmlformats.org/officeDocument/2006/relationships/slideMaster" Target="/ppt/slideMasters/slideMaster1.xml" Id="R5daca037315342d4" /><Relationship Type="http://schemas.openxmlformats.org/officeDocument/2006/relationships/notesMaster" Target="/ppt/notesMasters/notesMaster1.xml" Id="R7cc8ebc2450243b3" /><Relationship Type="http://schemas.openxmlformats.org/officeDocument/2006/relationships/presProps" Target="/ppt/presProps.xml" Id="Rfb2e359ab43345f8" /><Relationship Type="http://schemas.openxmlformats.org/officeDocument/2006/relationships/tableStyles" Target="/ppt/tableStyles.xml" Id="Rca82c6b97a3f49ab" /><Relationship Type="http://schemas.openxmlformats.org/officeDocument/2006/relationships/slide" Target="/ppt/slides/slide1.xml" Id="R9fae19a376344812" /><Relationship Type="http://schemas.openxmlformats.org/officeDocument/2006/relationships/slide" Target="/ppt/slides/slide2.xml" Id="R3912b70aa7de41e4" /><Relationship Type="http://schemas.openxmlformats.org/officeDocument/2006/relationships/slide" Target="/ppt/slides/slide3.xml" Id="Rdb3c7e1232924de9" /><Relationship Type="http://schemas.openxmlformats.org/officeDocument/2006/relationships/slide" Target="/ppt/slides/slide4.xml" Id="R573b85e2c02f4306" /><Relationship Type="http://schemas.openxmlformats.org/officeDocument/2006/relationships/slide" Target="/ppt/slides/slide5.xml" Id="R157e2cfc1cf9426b" /><Relationship Type="http://schemas.openxmlformats.org/officeDocument/2006/relationships/slide" Target="/ppt/slides/slide6.xml" Id="Rddb6e6808fe84840" /><Relationship Type="http://schemas.openxmlformats.org/officeDocument/2006/relationships/slide" Target="/ppt/slides/slide7.xml" Id="Rb663a3c369ff4a04" /><Relationship Type="http://schemas.openxmlformats.org/officeDocument/2006/relationships/slide" Target="/ppt/slides/slide8.xml" Id="Rb35312c93ea14ec9" /><Relationship Type="http://schemas.openxmlformats.org/officeDocument/2006/relationships/slide" Target="/ppt/slides/slide9.xml" Id="R8de577ad9824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ae39963cd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703d39ab004748" /><Relationship Type="http://schemas.openxmlformats.org/officeDocument/2006/relationships/notesMaster" Target="/ppt/notesMasters/notesMaster1.xml" Id="R3a57ae840a49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28c906136f400b" /><Relationship Type="http://schemas.openxmlformats.org/officeDocument/2006/relationships/notesMaster" Target="/ppt/notesMasters/notesMaster1.xml" Id="R1273f56a8499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0a944a4dd427a" /><Relationship Type="http://schemas.openxmlformats.org/officeDocument/2006/relationships/notesMaster" Target="/ppt/notesMasters/notesMaster1.xml" Id="R0ec1467904ce4f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3750a282024676" /><Relationship Type="http://schemas.openxmlformats.org/officeDocument/2006/relationships/notesMaster" Target="/ppt/notesMasters/notesMaster1.xml" Id="R954d0f4c107445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2629cf744a4401" /><Relationship Type="http://schemas.openxmlformats.org/officeDocument/2006/relationships/notesMaster" Target="/ppt/notesMasters/notesMaster1.xml" Id="Re15db46c5ea34f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c0ab9d12914801" /><Relationship Type="http://schemas.openxmlformats.org/officeDocument/2006/relationships/notesMaster" Target="/ppt/notesMasters/notesMaster1.xml" Id="Rf96a6c2cc8ec48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16c2612e545cc" /><Relationship Type="http://schemas.openxmlformats.org/officeDocument/2006/relationships/notesMaster" Target="/ppt/notesMasters/notesMaster1.xml" Id="Rb9b514473f93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f2d5155ec24b65" /><Relationship Type="http://schemas.openxmlformats.org/officeDocument/2006/relationships/notesMaster" Target="/ppt/notesMasters/notesMaster1.xml" Id="R58dfb0cb399e4d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df193fd47ee" /><Relationship Type="http://schemas.openxmlformats.org/officeDocument/2006/relationships/notesMaster" Target="/ppt/notesMasters/notesMaster1.xml" Id="R48dd12c83172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94f7aa7d4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746931e374ee2" /><Relationship Type="http://schemas.openxmlformats.org/officeDocument/2006/relationships/slideLayout" Target="/ppt/slideLayouts/slideLayout1.xml" Id="R25436fa3be4d41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36fa3be4d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82e4c5cdf4108" /><Relationship Type="http://schemas.openxmlformats.org/officeDocument/2006/relationships/notesSlide" Target="/ppt/notesSlides/notesSlide1.xml" Id="R12e912769eb749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12ae813c546ed" /><Relationship Type="http://schemas.openxmlformats.org/officeDocument/2006/relationships/notesSlide" Target="/ppt/notesSlides/notesSlide2.xml" Id="Reb09b5876d83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84a32e5484791" /><Relationship Type="http://schemas.openxmlformats.org/officeDocument/2006/relationships/notesSlide" Target="/ppt/notesSlides/notesSlide3.xml" Id="Ra8dcfd6393d0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5667ee1224bdd" /><Relationship Type="http://schemas.openxmlformats.org/officeDocument/2006/relationships/notesSlide" Target="/ppt/notesSlides/notesSlide4.xml" Id="R27db4d7783ab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60468cd946d3" /><Relationship Type="http://schemas.openxmlformats.org/officeDocument/2006/relationships/notesSlide" Target="/ppt/notesSlides/notesSlide5.xml" Id="R43c13de119f3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67d4b7f0f4541" /><Relationship Type="http://schemas.openxmlformats.org/officeDocument/2006/relationships/notesSlide" Target="/ppt/notesSlides/notesSlide6.xml" Id="R0823f043a979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d7d42c262490d" /><Relationship Type="http://schemas.openxmlformats.org/officeDocument/2006/relationships/notesSlide" Target="/ppt/notesSlides/notesSlide7.xml" Id="R7b84f8189fb9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f72abe884efa" /><Relationship Type="http://schemas.openxmlformats.org/officeDocument/2006/relationships/notesSlide" Target="/ppt/notesSlides/notesSlide8.xml" Id="Rbd72b6bfa61d4f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dac8bad054c8e" /><Relationship Type="http://schemas.openxmlformats.org/officeDocument/2006/relationships/notesSlide" Target="/ppt/notesSlides/notesSlide9.xml" Id="R8beb1419851a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DE3F318-68B4-41D2-8D4B-F5600AD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虚构大学场景 · 课题组讨论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4AAAD7-17D4-4D91-B5FD-BBA7F9A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先让一次结果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可以被理解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CB3B538-9993-4790-B511-5DF3118B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四周、小范围试点：建立能解释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实验结果的数据归档习惯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10E4CD7E-B228-467D-BDDD-465F6E7A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A49FB4CB-3044-4049-83E2-BD063A6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1 个课题方向   ·   2 名自愿成员   ·   记录新增实验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30683D29-CBCA-4858-B36F-50E99E58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本次仅讨论方案边界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不宣称已有成效</a:t>
            </a:r>
          </a:p>
        </p:txBody>
      </p:sp>
      <p:sp>
        <p:nvSpPr>
          <p:cNvPr id="7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67C9475-748B-4656-8B5A-FD57BC6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86D2DB15-DFC8-4D7C-B8D3-35287DB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6749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mark">
            <a:extLst xmlns:a="http://schemas.openxmlformats.org/drawingml/2006/main">
              <a:ext uri="{FF2B5EF4-FFF2-40B4-BE49-F238E27FC236}">
                <a16:creationId xmlns:a16="http://schemas.microsoft.com/office/drawing/2014/main" id="{C78A25B1-E796-4F3B-BBA6-CF3000E2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11D8C2-54BA-40C9-9D31-E00FC20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8783521-EA5C-4D46-81B6-24B5B44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F77E008A-F054-4576-9629-0860BD0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530F3A-E7C1-42AA-9B6D-F44DFF85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21399-0C73-409C-8369-4A3A6C2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C3AA17-F388-4F5C-AE52-45C7457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问题不只是“有没有上传”，而是能否沿结果回到依据</a:t>
            </a:r>
          </a:p>
        </p:txBody>
      </p:sp>
      <p:sp>
        <p:nvSpPr>
          <p:cNvPr id="8" name="judgment-strip">
            <a:extLst xmlns:a="http://schemas.openxmlformats.org/drawingml/2006/main">
              <a:ext uri="{FF2B5EF4-FFF2-40B4-BE49-F238E27FC236}">
                <a16:creationId xmlns:a16="http://schemas.microsoft.com/office/drawing/2014/main" id="{595D25B5-A946-49B0-8F5E-5EC988F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6724C63D-46F3-4696-83A6-E301F698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0" name="judgment-main">
            <a:extLst xmlns:a="http://schemas.openxmlformats.org/drawingml/2006/main">
              <a:ext uri="{FF2B5EF4-FFF2-40B4-BE49-F238E27FC236}">
                <a16:creationId xmlns:a16="http://schemas.microsoft.com/office/drawing/2014/main" id="{8C8FCCE0-A11C-4E8C-825F-78D7E90C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问题在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1" name="judgment-foot">
            <a:extLst xmlns:a="http://schemas.openxmlformats.org/drawingml/2006/main">
              <a:ext uri="{FF2B5EF4-FFF2-40B4-BE49-F238E27FC236}">
                <a16:creationId xmlns:a16="http://schemas.microsoft.com/office/drawing/2014/main" id="{4E01224F-D88C-4F76-9295-6C75912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结果、依据与责任没有被放在同一个记录单元里。</a:t>
            </a:r>
          </a:p>
        </p:txBody>
      </p:sp>
      <p:sp>
        <p:nvSpPr>
          <p:cNvPr id="12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A6B25C1C-4A4F-4A6B-AD7D-1698539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现场能看到什么</a:t>
            </a:r>
          </a:p>
        </p:txBody>
      </p:sp>
      <p:sp>
        <p:nvSpPr>
          <p:cNvPr id="13" name="row-label-236">
            <a:extLst xmlns:a="http://schemas.openxmlformats.org/drawingml/2006/main">
              <a:ext uri="{FF2B5EF4-FFF2-40B4-BE49-F238E27FC236}">
                <a16:creationId xmlns:a16="http://schemas.microsoft.com/office/drawing/2014/main" id="{5D09BF66-DE71-46B1-A1AD-64A8380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4" name="row-body-236">
            <a:extLst xmlns:a="http://schemas.openxmlformats.org/drawingml/2006/main">
              <a:ext uri="{FF2B5EF4-FFF2-40B4-BE49-F238E27FC236}">
                <a16:creationId xmlns:a16="http://schemas.microsoft.com/office/drawing/2014/main" id="{75EA897F-7393-4670-AC9C-450764F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能找到结果文件，却不一定知道它来自哪批样本。</a:t>
            </a:r>
          </a:p>
        </p:txBody>
      </p:sp>
      <p:sp>
        <p:nvSpPr>
          <p:cNvPr id="15" name="row-label-316">
            <a:extLst xmlns:a="http://schemas.openxmlformats.org/drawingml/2006/main">
              <a:ext uri="{FF2B5EF4-FFF2-40B4-BE49-F238E27FC236}">
                <a16:creationId xmlns:a16="http://schemas.microsoft.com/office/drawing/2014/main" id="{E3D0F737-F389-4BC6-882D-FDB832D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同名文件</a:t>
            </a:r>
          </a:p>
        </p:txBody>
      </p:sp>
      <p:sp>
        <p:nvSpPr>
          <p:cNvPr id="16" name="row-body-316">
            <a:extLst xmlns:a="http://schemas.openxmlformats.org/drawingml/2006/main">
              <a:ext uri="{FF2B5EF4-FFF2-40B4-BE49-F238E27FC236}">
                <a16:creationId xmlns:a16="http://schemas.microsoft.com/office/drawing/2014/main" id="{BC11B46A-369F-4EE1-8B0C-39B1D00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同名文件和个人目录让重复检索变难。</a:t>
            </a:r>
          </a:p>
        </p:txBody>
      </p:sp>
      <p:sp>
        <p:nvSpPr>
          <p:cNvPr id="17" name="row-label-396">
            <a:extLst xmlns:a="http://schemas.openxmlformats.org/drawingml/2006/main">
              <a:ext uri="{FF2B5EF4-FFF2-40B4-BE49-F238E27FC236}">
                <a16:creationId xmlns:a16="http://schemas.microsoft.com/office/drawing/2014/main" id="{268B67CE-B676-4904-9591-B66AF0B4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“已清理”</a:t>
            </a:r>
          </a:p>
        </p:txBody>
      </p:sp>
      <p:sp>
        <p:nvSpPr>
          <p:cNvPr id="18" name="row-body-396">
            <a:extLst xmlns:a="http://schemas.openxmlformats.org/drawingml/2006/main">
              <a:ext uri="{FF2B5EF4-FFF2-40B4-BE49-F238E27FC236}">
                <a16:creationId xmlns:a16="http://schemas.microsoft.com/office/drawing/2014/main" id="{73F03AB9-8A5D-42F0-9960-D3590EA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只留下处理结论时，异常与排除的判断依据消失。</a:t>
            </a:r>
          </a:p>
        </p:txBody>
      </p:sp>
      <p:sp>
        <p:nvSpPr>
          <p:cNvPr id="19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9A7B223B-3D89-4285-806E-BF16D77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lication">
            <a:extLst xmlns:a="http://schemas.openxmlformats.org/drawingml/2006/main">
              <a:ext uri="{FF2B5EF4-FFF2-40B4-BE49-F238E27FC236}">
                <a16:creationId xmlns:a16="http://schemas.microsoft.com/office/drawing/2014/main" id="{FEB313C1-D074-4756-9A60-3F002661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归档的第一问不是“文件放在哪里”，而是“别人能否理解这个结果是怎么产生的”。</a:t>
            </a:r>
          </a:p>
        </p:txBody>
      </p:sp>
    </p:spTree>
    <p:extLst>
      <p:ext uri="{BB962C8B-B14F-4D97-AF65-F5344CB8AC3E}">
        <p14:creationId xmlns:p14="http://schemas.microsoft.com/office/powerpoint/2010/main" val="934287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mark">
            <a:extLst xmlns:a="http://schemas.openxmlformats.org/drawingml/2006/main">
              <a:ext uri="{FF2B5EF4-FFF2-40B4-BE49-F238E27FC236}">
                <a16:creationId xmlns:a16="http://schemas.microsoft.com/office/drawing/2014/main" id="{B7E82E61-CBD9-4217-8164-17059848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3A0E95-C71B-4160-90F9-8FE1661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4DCCAC39-1584-4F51-BB28-5DC5CC29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A7B9369-887A-4709-9FD1-3786B16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FE7B3D-A172-485F-A685-7D3F303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0C1EA-8FA0-4A68-AB8A-D36C5D1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一个结果记录，必须把结果与依据绑在一起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E3A572-154E-413B-AB79-FA7F4BB7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五项材料共同解释一个结果；它们不是必须依次执行的五个步骤</a:t>
            </a:r>
          </a:p>
        </p:txBody>
      </p:sp>
      <p:sp>
        <p:nvSpPr>
          <p:cNvPr id="8" name="record-unit">
            <a:extLst xmlns:a="http://schemas.openxmlformats.org/drawingml/2006/main">
              <a:ext uri="{FF2B5EF4-FFF2-40B4-BE49-F238E27FC236}">
                <a16:creationId xmlns:a16="http://schemas.microsoft.com/office/drawing/2014/main" id="{D45774C7-0C0B-4E68-9F4A-9E1B0C51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ord-unit-label">
            <a:extLst xmlns:a="http://schemas.openxmlformats.org/drawingml/2006/main">
              <a:ext uri="{FF2B5EF4-FFF2-40B4-BE49-F238E27FC236}">
                <a16:creationId xmlns:a16="http://schemas.microsoft.com/office/drawing/2014/main" id="{9D6E166B-9579-4D5F-BB67-476CF8F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0" name="record-unit-main">
            <a:extLst xmlns:a="http://schemas.openxmlformats.org/drawingml/2006/main">
              <a:ext uri="{FF2B5EF4-FFF2-40B4-BE49-F238E27FC236}">
                <a16:creationId xmlns:a16="http://schemas.microsoft.com/office/drawing/2014/main" id="{78822078-B9FB-4845-9E93-67E6A3A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一次可讨论的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1" name="record-unit-note">
            <a:extLst xmlns:a="http://schemas.openxmlformats.org/drawingml/2006/main">
              <a:ext uri="{FF2B5EF4-FFF2-40B4-BE49-F238E27FC236}">
                <a16:creationId xmlns:a16="http://schemas.microsoft.com/office/drawing/2014/main" id="{6A283507-B852-473D-8419-999DC62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结果与依据被放在同一关系里</a:t>
            </a:r>
          </a:p>
        </p:txBody>
      </p:sp>
      <p:sp>
        <p:nvSpPr>
          <p:cNvPr id="12" name="parts-label">
            <a:extLst xmlns:a="http://schemas.openxmlformats.org/drawingml/2006/main">
              <a:ext uri="{FF2B5EF4-FFF2-40B4-BE49-F238E27FC236}">
                <a16:creationId xmlns:a16="http://schemas.microsoft.com/office/drawing/2014/main" id="{A526777A-E428-4771-B138-D05925B0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共同解释一个结果</a:t>
            </a:r>
          </a:p>
        </p:txBody>
      </p:sp>
      <p:sp>
        <p:nvSpPr>
          <p:cNvPr id="13" name="row-label-248">
            <a:extLst xmlns:a="http://schemas.openxmlformats.org/drawingml/2006/main">
              <a:ext uri="{FF2B5EF4-FFF2-40B4-BE49-F238E27FC236}">
                <a16:creationId xmlns:a16="http://schemas.microsoft.com/office/drawing/2014/main" id="{C6B6DA1E-BFDD-4303-B947-4B047204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" name="row-body-248">
            <a:extLst xmlns:a="http://schemas.openxmlformats.org/drawingml/2006/main">
              <a:ext uri="{FF2B5EF4-FFF2-40B4-BE49-F238E27FC236}">
                <a16:creationId xmlns:a16="http://schemas.microsoft.com/office/drawing/2014/main" id="{29BDB34E-0A15-452F-8FF2-D1C737F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保留原貌；清洗与处理另存。</a:t>
            </a:r>
          </a:p>
        </p:txBody>
      </p:sp>
      <p:sp>
        <p:nvSpPr>
          <p:cNvPr id="15" name="row-label-320">
            <a:extLst xmlns:a="http://schemas.openxmlformats.org/drawingml/2006/main">
              <a:ext uri="{FF2B5EF4-FFF2-40B4-BE49-F238E27FC236}">
                <a16:creationId xmlns:a16="http://schemas.microsoft.com/office/drawing/2014/main" id="{F78440BA-737B-4D32-BAF2-FB956D34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样本与条件</a:t>
            </a:r>
          </a:p>
        </p:txBody>
      </p:sp>
      <p:sp>
        <p:nvSpPr>
          <p:cNvPr id="16" name="row-body-320">
            <a:extLst xmlns:a="http://schemas.openxmlformats.org/drawingml/2006/main">
              <a:ext uri="{FF2B5EF4-FFF2-40B4-BE49-F238E27FC236}">
                <a16:creationId xmlns:a16="http://schemas.microsoft.com/office/drawing/2014/main" id="{71F28538-A07F-4DDC-9A53-CF7A6C89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说明样本、采集条件，以及结果对应的范围。</a:t>
            </a:r>
          </a:p>
        </p:txBody>
      </p:sp>
      <p:sp>
        <p:nvSpPr>
          <p:cNvPr id="17" name="row-label-392">
            <a:extLst xmlns:a="http://schemas.openxmlformats.org/drawingml/2006/main">
              <a:ext uri="{FF2B5EF4-FFF2-40B4-BE49-F238E27FC236}">
                <a16:creationId xmlns:a16="http://schemas.microsoft.com/office/drawing/2014/main" id="{EF77406D-659B-4F1F-A333-C2723D74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8" name="row-body-392">
            <a:extLst xmlns:a="http://schemas.openxmlformats.org/drawingml/2006/main">
              <a:ext uri="{FF2B5EF4-FFF2-40B4-BE49-F238E27FC236}">
                <a16:creationId xmlns:a16="http://schemas.microsoft.com/office/drawing/2014/main" id="{476A3748-5978-4330-B062-2FC5BD1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33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能定位实际运行的代码，而不是只写“用了某脚本”。</a:t>
            </a:r>
          </a:p>
        </p:txBody>
      </p:sp>
      <p:sp>
        <p:nvSpPr>
          <p:cNvPr id="19" name="row-label-464">
            <a:extLst xmlns:a="http://schemas.openxmlformats.org/drawingml/2006/main">
              <a:ext uri="{FF2B5EF4-FFF2-40B4-BE49-F238E27FC236}">
                <a16:creationId xmlns:a16="http://schemas.microsoft.com/office/drawing/2014/main" id="{7C8E8B92-B139-482C-BFD8-0DC35633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0" name="row-body-464">
            <a:extLst xmlns:a="http://schemas.openxmlformats.org/drawingml/2006/main">
              <a:ext uri="{FF2B5EF4-FFF2-40B4-BE49-F238E27FC236}">
                <a16:creationId xmlns:a16="http://schemas.microsoft.com/office/drawing/2014/main" id="{F28A1EEB-6469-4BDA-968E-828AF662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保存讨论中实际引用的结果图或结果表。</a:t>
            </a:r>
          </a:p>
        </p:txBody>
      </p:sp>
      <p:sp>
        <p:nvSpPr>
          <p:cNvPr id="21" name="row-label-536">
            <a:extLst xmlns:a="http://schemas.openxmlformats.org/drawingml/2006/main">
              <a:ext uri="{FF2B5EF4-FFF2-40B4-BE49-F238E27FC236}">
                <a16:creationId xmlns:a16="http://schemas.microsoft.com/office/drawing/2014/main" id="{83610152-82CF-4D81-9964-F6D63EB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22" name="row-body-536">
            <a:extLst xmlns:a="http://schemas.openxmlformats.org/drawingml/2006/main">
              <a:ext uri="{FF2B5EF4-FFF2-40B4-BE49-F238E27FC236}">
                <a16:creationId xmlns:a16="http://schemas.microsoft.com/office/drawing/2014/main" id="{4256A890-3BBD-4B46-9983-7702B89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105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保留判断依据；未纳入结果的样本也要解释排除条件。</a:t>
            </a:r>
          </a:p>
        </p:txBody>
      </p:sp>
    </p:spTree>
    <p:extLst>
      <p:ext uri="{BB962C8B-B14F-4D97-AF65-F5344CB8AC3E}">
        <p14:creationId xmlns:p14="http://schemas.microsoft.com/office/powerpoint/2010/main" val="1017040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1B071E82-FB29-4546-8AD9-823A37D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3E504A-9859-461F-B0EF-A983529B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E8632EB2-EDEA-4EB8-960D-E160832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ADDB1F45-D88F-4270-A3F1-C5BEFFE6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D3B4B33-47DC-471C-80C0-D54567F6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C2E64-128C-440B-BB9F-A81B76CD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归档保存关系，不改变数据授权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C97F2A-A088-455D-9086-FD563F04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记录可以让结果更可理解，但不能把受限原始数据变成可自由访问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F0612551-4103-416B-8DD9-943207D9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9" name="discussion-surface">
            <a:extLst xmlns:a="http://schemas.openxmlformats.org/drawingml/2006/main">
              <a:ext uri="{FF2B5EF4-FFF2-40B4-BE49-F238E27FC236}">
                <a16:creationId xmlns:a16="http://schemas.microsoft.com/office/drawing/2014/main" id="{62160A54-7D51-4CCB-A7AC-1D639E7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9878118E-F10E-4711-BAC5-5D6C573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结果图 + 可公开解释</a:t>
            </a:r>
          </a:p>
        </p:txBody>
      </p:sp>
      <p:sp>
        <p:nvSpPr>
          <p:cNvPr id="11" name="discussion-1-dot">
            <a:extLst xmlns:a="http://schemas.openxmlformats.org/drawingml/2006/main">
              <a:ext uri="{FF2B5EF4-FFF2-40B4-BE49-F238E27FC236}">
                <a16:creationId xmlns:a16="http://schemas.microsoft.com/office/drawing/2014/main" id="{D7968150-1A93-442F-A14A-40F8B54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discussion-1-copy">
            <a:extLst xmlns:a="http://schemas.openxmlformats.org/drawingml/2006/main">
              <a:ext uri="{FF2B5EF4-FFF2-40B4-BE49-F238E27FC236}">
                <a16:creationId xmlns:a16="http://schemas.microsoft.com/office/drawing/2014/main" id="{03A06113-18E1-47A1-82D6-6A7DD195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05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用于课题组讨论与复核入口</a:t>
            </a:r>
          </a:p>
        </p:txBody>
      </p:sp>
      <p:sp>
        <p:nvSpPr>
          <p:cNvPr id="13" name="discussion-2-dot">
            <a:extLst xmlns:a="http://schemas.openxmlformats.org/drawingml/2006/main">
              <a:ext uri="{FF2B5EF4-FFF2-40B4-BE49-F238E27FC236}">
                <a16:creationId xmlns:a16="http://schemas.microsoft.com/office/drawing/2014/main" id="{34848312-A920-41BA-AB5A-5423B7F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discussion-2-copy">
            <a:extLst xmlns:a="http://schemas.openxmlformats.org/drawingml/2006/main">
              <a:ext uri="{FF2B5EF4-FFF2-40B4-BE49-F238E27FC236}">
                <a16:creationId xmlns:a16="http://schemas.microsoft.com/office/drawing/2014/main" id="{83C5BC2E-3A27-4C19-B33F-0F269C2F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00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记录中保留受控引用，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而非复制受限文件</a:t>
            </a:r>
          </a:p>
        </p:txBody>
      </p:sp>
      <p:sp>
        <p:nvSpPr>
          <p:cNvPr id="15" name="discussion-3-dot">
            <a:extLst xmlns:a="http://schemas.openxmlformats.org/drawingml/2006/main">
              <a:ext uri="{FF2B5EF4-FFF2-40B4-BE49-F238E27FC236}">
                <a16:creationId xmlns:a16="http://schemas.microsoft.com/office/drawing/2014/main" id="{CF75750F-FB98-4FB6-82A3-3AA0C4F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discussion-3-copy">
            <a:extLst xmlns:a="http://schemas.openxmlformats.org/drawingml/2006/main">
              <a:ext uri="{FF2B5EF4-FFF2-40B4-BE49-F238E27FC236}">
                <a16:creationId xmlns:a16="http://schemas.microsoft.com/office/drawing/2014/main" id="{D52E620A-E4E2-40B6-8243-54FB1747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95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说明访问条件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与责任边界</a:t>
            </a:r>
          </a:p>
        </p:txBody>
      </p:sp>
      <p:sp>
        <p:nvSpPr>
          <p:cNvPr id="1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7D4C3B9D-3338-45CD-9AD0-66EE35A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8" name="raw-surface">
            <a:extLst xmlns:a="http://schemas.openxmlformats.org/drawingml/2006/main">
              <a:ext uri="{FF2B5EF4-FFF2-40B4-BE49-F238E27FC236}">
                <a16:creationId xmlns:a16="http://schemas.microsoft.com/office/drawing/2014/main" id="{8413829C-A420-442E-9FB0-CB162955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w-title">
            <a:extLst xmlns:a="http://schemas.openxmlformats.org/drawingml/2006/main">
              <a:ext uri="{FF2B5EF4-FFF2-40B4-BE49-F238E27FC236}">
                <a16:creationId xmlns:a16="http://schemas.microsoft.com/office/drawing/2014/main" id="{C33570D6-D2DE-4A29-82EE-82217D18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仍放在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原授权位置</a:t>
            </a:r>
          </a:p>
        </p:txBody>
      </p:sp>
      <p:sp>
        <p:nvSpPr>
          <p:cNvPr id="20" name="raw-copy">
            <a:extLst xmlns:a="http://schemas.openxmlformats.org/drawingml/2006/main">
              <a:ext uri="{FF2B5EF4-FFF2-40B4-BE49-F238E27FC236}">
                <a16:creationId xmlns:a16="http://schemas.microsoft.com/office/drawing/2014/main" id="{C4CCF5D1-8B2A-4478-9553-F9C86AAC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涉及个人信息或合作限制，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归档不能改变原有授权。</a:t>
            </a:r>
          </a:p>
        </p:txBody>
      </p:sp>
      <p:sp>
        <p:nvSpPr>
          <p:cNvPr id="21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26159E09-187C-4751-A51B-2D744828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860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9F9248E2-28E9-4F2F-8DFA-AB55B474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+ 访问条件</a:t>
            </a:r>
          </a:p>
        </p:txBody>
      </p:sp>
      <p:sp>
        <p:nvSpPr>
          <p:cNvPr id="23" name="boundary-line-2">
            <a:extLst xmlns:a="http://schemas.openxmlformats.org/drawingml/2006/main">
              <a:ext uri="{FF2B5EF4-FFF2-40B4-BE49-F238E27FC236}">
                <a16:creationId xmlns:a16="http://schemas.microsoft.com/office/drawing/2014/main" id="{0A47FC87-B23D-418D-8FBC-04A84BD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4114613E-7B4F-4264-A670-86A4207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一个路径出现在记录表中，不代表其他成员已经取得访问权；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授权仍由负责人处理。</a:t>
            </a:r>
          </a:p>
        </p:txBody>
      </p:sp>
    </p:spTree>
    <p:extLst>
      <p:ext uri="{BB962C8B-B14F-4D97-AF65-F5344CB8AC3E}">
        <p14:creationId xmlns:p14="http://schemas.microsoft.com/office/powerpoint/2010/main" val="1847225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mark">
            <a:extLst xmlns:a="http://schemas.openxmlformats.org/drawingml/2006/main">
              <a:ext uri="{FF2B5EF4-FFF2-40B4-BE49-F238E27FC236}">
                <a16:creationId xmlns:a16="http://schemas.microsoft.com/office/drawing/2014/main" id="{0C0928C8-C018-44EC-933A-9B27A52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5E12CD-FC63-4246-8723-89A0DF5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E31FD59A-E4A8-4595-87DE-9083AED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509BC050-9092-4888-B7D2-31C4DF08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D3E9374-AD8D-4E2C-B78E-CC45EB9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000F5D-80EA-4E74-8B72-713BEAB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先从新增实验开始，历史档案只逐项补充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BF5C45-3363-4128-8F30-03DEE2BC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两种推进思路的差异，必须放在同一组维度上比较</a:t>
            </a:r>
          </a:p>
        </p:txBody>
      </p:sp>
      <p:sp>
        <p:nvSpPr>
          <p:cNvPr id="8" name="compare-label">
            <a:extLst xmlns:a="http://schemas.openxmlformats.org/drawingml/2006/main">
              <a:ext uri="{FF2B5EF4-FFF2-40B4-BE49-F238E27FC236}">
                <a16:creationId xmlns:a16="http://schemas.microsoft.com/office/drawing/2014/main" id="{C6819C85-1121-4C0E-8144-8ADEA2C2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推进范围比较</a:t>
            </a:r>
          </a:p>
        </p:txBody>
      </p:sp>
      <p:sp>
        <p:nvSpPr>
          <p:cNvPr id="9" name="col-a">
            <a:extLst xmlns:a="http://schemas.openxmlformats.org/drawingml/2006/main">
              <a:ext uri="{FF2B5EF4-FFF2-40B4-BE49-F238E27FC236}">
                <a16:creationId xmlns:a16="http://schemas.microsoft.com/office/drawing/2014/main" id="{8C8D45ED-933D-4277-A2D3-0F1A101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85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0" name="col-b">
            <a:extLst xmlns:a="http://schemas.openxmlformats.org/drawingml/2006/main">
              <a:ext uri="{FF2B5EF4-FFF2-40B4-BE49-F238E27FC236}">
                <a16:creationId xmlns:a16="http://schemas.microsoft.com/office/drawing/2014/main" id="{827DAF8A-CA99-4710-9D2D-164ECD4B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85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从新增实验开始</a:t>
            </a:r>
          </a:p>
        </p:txBody>
      </p:sp>
      <p:sp>
        <p:nvSpPr>
          <p:cNvPr id="11" name="compare-head-rule">
            <a:extLst xmlns:a="http://schemas.openxmlformats.org/drawingml/2006/main">
              <a:ext uri="{FF2B5EF4-FFF2-40B4-BE49-F238E27FC236}">
                <a16:creationId xmlns:a16="http://schemas.microsoft.com/office/drawing/2014/main" id="{3B56EE13-B82D-4207-9DBA-ACEB92F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mp-label-0">
            <a:extLst xmlns:a="http://schemas.openxmlformats.org/drawingml/2006/main">
              <a:ext uri="{FF2B5EF4-FFF2-40B4-BE49-F238E27FC236}">
                <a16:creationId xmlns:a16="http://schemas.microsoft.com/office/drawing/2014/main" id="{07EE3364-094B-4855-926D-7F0FC53B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能解决什么</a:t>
            </a:r>
          </a:p>
        </p:txBody>
      </p:sp>
      <p:sp>
        <p:nvSpPr>
          <p:cNvPr id="13" name="cmp-a-0">
            <a:extLst xmlns:a="http://schemas.openxmlformats.org/drawingml/2006/main">
              <a:ext uri="{FF2B5EF4-FFF2-40B4-BE49-F238E27FC236}">
                <a16:creationId xmlns:a16="http://schemas.microsoft.com/office/drawing/2014/main" id="{BE35643C-C36D-4508-B832-5955B370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527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一次形成较大的目录。</a:t>
            </a:r>
          </a:p>
        </p:txBody>
      </p:sp>
      <p:sp>
        <p:nvSpPr>
          <p:cNvPr id="14" name="cmp-b-bg-0">
            <a:extLst xmlns:a="http://schemas.openxmlformats.org/drawingml/2006/main">
              <a:ext uri="{FF2B5EF4-FFF2-40B4-BE49-F238E27FC236}">
                <a16:creationId xmlns:a16="http://schemas.microsoft.com/office/drawing/2014/main" id="{5845FDB1-AD80-4348-98A7-A4792105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193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p-b-0">
            <a:extLst xmlns:a="http://schemas.openxmlformats.org/drawingml/2006/main">
              <a:ext uri="{FF2B5EF4-FFF2-40B4-BE49-F238E27FC236}">
                <a16:creationId xmlns:a16="http://schemas.microsoft.com/office/drawing/2014/main" id="{BAF49279-1358-4D33-8283-F0AE759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527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上下文尚清楚时，先把新增记录做完整。</a:t>
            </a:r>
          </a:p>
        </p:txBody>
      </p:sp>
      <p:sp>
        <p:nvSpPr>
          <p:cNvPr id="16" name="cmp-rule-0">
            <a:extLst xmlns:a="http://schemas.openxmlformats.org/drawingml/2006/main">
              <a:ext uri="{FF2B5EF4-FFF2-40B4-BE49-F238E27FC236}">
                <a16:creationId xmlns:a16="http://schemas.microsoft.com/office/drawing/2014/main" id="{661D6173-60E1-4395-BD56-B44B0E0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mp-label-1">
            <a:extLst xmlns:a="http://schemas.openxmlformats.org/drawingml/2006/main">
              <a:ext uri="{FF2B5EF4-FFF2-40B4-BE49-F238E27FC236}">
                <a16:creationId xmlns:a16="http://schemas.microsoft.com/office/drawing/2014/main" id="{DCFB61E9-9097-4E36-8565-5FB4AEA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18" name="cmp-a-1">
            <a:extLst xmlns:a="http://schemas.openxmlformats.org/drawingml/2006/main">
              <a:ext uri="{FF2B5EF4-FFF2-40B4-BE49-F238E27FC236}">
                <a16:creationId xmlns:a16="http://schemas.microsoft.com/office/drawing/2014/main" id="{947E5110-7A91-4FB6-9EF3-DA751AB8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195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追查遗失上下文，可能把不确定记忆写成确定说明。</a:t>
            </a:r>
          </a:p>
        </p:txBody>
      </p:sp>
      <p:sp>
        <p:nvSpPr>
          <p:cNvPr id="19" name="cmp-b-bg-1">
            <a:extLst xmlns:a="http://schemas.openxmlformats.org/drawingml/2006/main">
              <a:ext uri="{FF2B5EF4-FFF2-40B4-BE49-F238E27FC236}">
                <a16:creationId xmlns:a16="http://schemas.microsoft.com/office/drawing/2014/main" id="{D1200A51-1998-451E-A1C9-33573AEF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861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mp-b-1">
            <a:extLst xmlns:a="http://schemas.openxmlformats.org/drawingml/2006/main">
              <a:ext uri="{FF2B5EF4-FFF2-40B4-BE49-F238E27FC236}">
                <a16:creationId xmlns:a16="http://schemas.microsoft.com/office/drawing/2014/main" id="{8D74333A-29B0-42A7-922F-F9235E9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短期无法解决全部历史材料的追溯问题。</a:t>
            </a:r>
          </a:p>
        </p:txBody>
      </p:sp>
      <p:sp>
        <p:nvSpPr>
          <p:cNvPr id="21" name="cmp-rule-1">
            <a:extLst xmlns:a="http://schemas.openxmlformats.org/drawingml/2006/main">
              <a:ext uri="{FF2B5EF4-FFF2-40B4-BE49-F238E27FC236}">
                <a16:creationId xmlns:a16="http://schemas.microsoft.com/office/drawing/2014/main" id="{26CCA99F-AA7B-430C-BFA2-5567A04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mp-label-2">
            <a:extLst xmlns:a="http://schemas.openxmlformats.org/drawingml/2006/main">
              <a:ext uri="{FF2B5EF4-FFF2-40B4-BE49-F238E27FC236}">
                <a16:creationId xmlns:a16="http://schemas.microsoft.com/office/drawing/2014/main" id="{EE72C010-135C-4BF9-92D2-FC8BEB57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在试点中的角色</a:t>
            </a:r>
          </a:p>
        </p:txBody>
      </p:sp>
      <p:sp>
        <p:nvSpPr>
          <p:cNvPr id="23" name="cmp-a-2">
            <a:extLst xmlns:a="http://schemas.openxmlformats.org/drawingml/2006/main">
              <a:ext uri="{FF2B5EF4-FFF2-40B4-BE49-F238E27FC236}">
                <a16:creationId xmlns:a16="http://schemas.microsoft.com/office/drawing/2014/main" id="{681084B5-C35A-4E35-996F-E660668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863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只对真正需要复核的历史结果逐项补充。</a:t>
            </a:r>
          </a:p>
        </p:txBody>
      </p:sp>
      <p:sp>
        <p:nvSpPr>
          <p:cNvPr id="24" name="cmp-b-bg-2">
            <a:extLst xmlns:a="http://schemas.openxmlformats.org/drawingml/2006/main">
              <a:ext uri="{FF2B5EF4-FFF2-40B4-BE49-F238E27FC236}">
                <a16:creationId xmlns:a16="http://schemas.microsoft.com/office/drawing/2014/main" id="{AA85D72D-C2FE-4139-A91B-99CD767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552950"/>
            <a:ext cx="4552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mp-b-2">
            <a:extLst xmlns:a="http://schemas.openxmlformats.org/drawingml/2006/main">
              <a:ext uri="{FF2B5EF4-FFF2-40B4-BE49-F238E27FC236}">
                <a16:creationId xmlns:a16="http://schemas.microsoft.com/office/drawing/2014/main" id="{177329E1-704F-45FA-A370-5293148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作为四周试点的主要范围。</a:t>
            </a:r>
          </a:p>
        </p:txBody>
      </p:sp>
      <p:sp>
        <p:nvSpPr>
          <p:cNvPr id="26" name="cmp-rule-2">
            <a:extLst xmlns:a="http://schemas.openxmlformats.org/drawingml/2006/main">
              <a:ext uri="{FF2B5EF4-FFF2-40B4-BE49-F238E27FC236}">
                <a16:creationId xmlns:a16="http://schemas.microsoft.com/office/drawing/2014/main" id="{2DDDC17A-8246-4859-B798-29B5E928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e-caveat">
            <a:extLst xmlns:a="http://schemas.openxmlformats.org/drawingml/2006/main">
              <a:ext uri="{FF2B5EF4-FFF2-40B4-BE49-F238E27FC236}">
                <a16:creationId xmlns:a16="http://schemas.microsoft.com/office/drawing/2014/main" id="{2F179F41-9C7B-40ED-AFA4-761C0C2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这是范围选择，不能表述为已经证明新方式更高效。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1080311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AB0770C3-7D68-4202-B5A4-F20435D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0E0A88-4E53-4795-BDD5-EC9A6DD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4AD744C-5EC6-4CB5-A4AA-A047C3E0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C5F6D82-59E1-45DE-969F-9BAF3F2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0208E31-3727-446D-8F1B-EEE3384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BBAD69-A0DC-427B-8E05-6BD2711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复核先检查可理解性，不代替科学结论审查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DF4B74-23EF-4B74-8EF1-7A809B5E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先确认别人能沿记录还原来源，再进入讨论版本</a:t>
            </a:r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CCA75C95-8262-4FBD-A786-8409780A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C1F4E8D0-36D7-4E06-9251-DC034E2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E7F3855-52A2-44F6-9B73-169E22AE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27EF2D0C-84F6-46D4-9C0D-9AAE96B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869FAB9-ACB5-49AB-9A33-737D67CF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7AA39F1-B299-4E7A-B28C-3361578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C0D4324-0417-493F-95F3-68D86C40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0">
            <a:extLst xmlns:a="http://schemas.openxmlformats.org/drawingml/2006/main">
              <a:ext uri="{FF2B5EF4-FFF2-40B4-BE49-F238E27FC236}">
                <a16:creationId xmlns:a16="http://schemas.microsoft.com/office/drawing/2014/main" id="{4A3DB08F-CAB4-428D-B85E-AF568B7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提交结果记录</a:t>
            </a:r>
          </a:p>
        </p:txBody>
      </p:sp>
      <p:sp>
        <p:nvSpPr>
          <p:cNvPr id="16" name="flow-1">
            <a:extLst xmlns:a="http://schemas.openxmlformats.org/drawingml/2006/main">
              <a:ext uri="{FF2B5EF4-FFF2-40B4-BE49-F238E27FC236}">
                <a16:creationId xmlns:a16="http://schemas.microsoft.com/office/drawing/2014/main" id="{E7750DD6-3800-44AE-8877-E90A9F0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733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定位数据、脚本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与条件并提出缺项</a:t>
            </a:r>
          </a:p>
        </p:txBody>
      </p:sp>
      <p:sp>
        <p:nvSpPr>
          <p:cNvPr id="17" name="flow-2">
            <a:extLst xmlns:a="http://schemas.openxmlformats.org/drawingml/2006/main">
              <a:ext uri="{FF2B5EF4-FFF2-40B4-BE49-F238E27FC236}">
                <a16:creationId xmlns:a16="http://schemas.microsoft.com/office/drawing/2014/main" id="{F3EA3B21-5C41-484A-8513-6CBB5465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F7D15231-0658-4202-8CA3-EEA0147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确认可讨论版本</a:t>
            </a:r>
          </a:p>
        </p:txBody>
      </p:sp>
      <p:sp>
        <p:nvSpPr>
          <p:cNvPr id="19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99B3AF74-928E-4861-8219-7FF94495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拟定工作顺序</a:t>
            </a:r>
          </a:p>
        </p:txBody>
      </p:sp>
      <p:sp>
        <p:nvSpPr>
          <p:cNvPr id="20" name="pause-surface">
            <a:extLst xmlns:a="http://schemas.openxmlformats.org/drawingml/2006/main">
              <a:ext uri="{FF2B5EF4-FFF2-40B4-BE49-F238E27FC236}">
                <a16:creationId xmlns:a16="http://schemas.microsoft.com/office/drawing/2014/main" id="{A7BF4C2F-AEE0-456A-BF48-466375A1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E"/>
            </a:solidFill>
            <a:prstDash val="solid"/>
          </a:ln>
        </p:spPr>
      </p:sp>
      <p:sp>
        <p:nvSpPr>
          <p:cNvPr id="21" name="pause-label">
            <a:extLst xmlns:a="http://schemas.openxmlformats.org/drawingml/2006/main">
              <a:ext uri="{FF2B5EF4-FFF2-40B4-BE49-F238E27FC236}">
                <a16:creationId xmlns:a16="http://schemas.microsoft.com/office/drawing/2014/main" id="{1700A1A1-B58A-4E9E-935C-4B82CD2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若涉及</a:t>
            </a:r>
          </a:p>
        </p:txBody>
      </p:sp>
      <p:sp>
        <p:nvSpPr>
          <p:cNvPr id="22" name="pause-main">
            <a:extLst xmlns:a="http://schemas.openxmlformats.org/drawingml/2006/main">
              <a:ext uri="{FF2B5EF4-FFF2-40B4-BE49-F238E27FC236}">
                <a16:creationId xmlns:a16="http://schemas.microsoft.com/office/drawing/2014/main" id="{FD089457-E08B-4C76-BB88-C086E90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新的访问授权</a:t>
            </a:r>
          </a:p>
        </p:txBody>
      </p:sp>
      <p:sp>
        <p:nvSpPr>
          <p:cNvPr id="23" name="pause-copy">
            <a:extLst xmlns:a="http://schemas.openxmlformats.org/drawingml/2006/main">
              <a:ext uri="{FF2B5EF4-FFF2-40B4-BE49-F238E27FC236}">
                <a16:creationId xmlns:a16="http://schemas.microsoft.com/office/drawing/2014/main" id="{7A073580-9BC7-4444-8E2E-E900F353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暂停共享，由负责人处理后再继续。</a:t>
            </a:r>
          </a:p>
        </p:txBody>
      </p:sp>
      <p:sp>
        <p:nvSpPr>
          <p:cNvPr id="24" name="scope-note">
            <a:extLst xmlns:a="http://schemas.openxmlformats.org/drawingml/2006/main">
              <a:ext uri="{FF2B5EF4-FFF2-40B4-BE49-F238E27FC236}">
                <a16:creationId xmlns:a16="http://schemas.microsoft.com/office/drawing/2014/main" id="{C29FC40A-6164-431A-9BC4-0B9A9D40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它先检查别人能否理解这个结果是怎么产生的。</a:t>
            </a:r>
          </a:p>
        </p:txBody>
      </p:sp>
    </p:spTree>
    <p:extLst>
      <p:ext uri="{BB962C8B-B14F-4D97-AF65-F5344CB8AC3E}">
        <p14:creationId xmlns:p14="http://schemas.microsoft.com/office/powerpoint/2010/main" val="539564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mark">
            <a:extLst xmlns:a="http://schemas.openxmlformats.org/drawingml/2006/main">
              <a:ext uri="{FF2B5EF4-FFF2-40B4-BE49-F238E27FC236}">
                <a16:creationId xmlns:a16="http://schemas.microsoft.com/office/drawing/2014/main" id="{3A090236-5C69-40B9-A7EA-29BEE64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5C5C51-A22D-4FFC-87D6-39907F4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F69D84B-A7CA-40CC-96E5-6B0AF43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E3BE64E-88F1-4ED3-B4CB-297524B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37038CC-263F-4CAF-864E-011EB280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67B284-D180-431D-BDAA-34EC35D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四周只验证一个有限问题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971628-FB7C-4124-8D4B-4B6AFDC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本轮只观察新增实验记录是否可供复核，不外推到全部历史档案</a:t>
            </a:r>
          </a:p>
        </p:txBody>
      </p:sp>
      <p:sp>
        <p:nvSpPr>
          <p:cNvPr id="8" name="pilot-scope">
            <a:extLst xmlns:a="http://schemas.openxmlformats.org/drawingml/2006/main">
              <a:ext uri="{FF2B5EF4-FFF2-40B4-BE49-F238E27FC236}">
                <a16:creationId xmlns:a16="http://schemas.microsoft.com/office/drawing/2014/main" id="{9AE516B0-0D0D-4D97-A705-596853C3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scope-copy">
            <a:extLst xmlns:a="http://schemas.openxmlformats.org/drawingml/2006/main">
              <a:ext uri="{FF2B5EF4-FFF2-40B4-BE49-F238E27FC236}">
                <a16:creationId xmlns:a16="http://schemas.microsoft.com/office/drawing/2014/main" id="{7F693B9C-081C-44B1-A77A-D9D007AD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1 个课题方向     ·     2 名自愿成员     ·     记录新增实验</a:t>
            </a:r>
          </a:p>
        </p:txBody>
      </p:sp>
      <p:sp>
        <p:nvSpPr>
          <p:cNvPr id="10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7AA5C6E9-99CC-49C0-9072-AFADB5B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四周安排</a:t>
            </a:r>
          </a:p>
        </p:txBody>
      </p:sp>
      <p:sp>
        <p:nvSpPr>
          <p:cNvPr id="11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3EF06557-006A-405E-9FAE-C67F2F69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ek-dot-0">
            <a:extLst xmlns:a="http://schemas.openxmlformats.org/drawingml/2006/main">
              <a:ext uri="{FF2B5EF4-FFF2-40B4-BE49-F238E27FC236}">
                <a16:creationId xmlns:a16="http://schemas.microsoft.com/office/drawing/2014/main" id="{A4D51550-A019-401B-88C8-429E5C13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ek-head-0">
            <a:extLst xmlns:a="http://schemas.openxmlformats.org/drawingml/2006/main">
              <a:ext uri="{FF2B5EF4-FFF2-40B4-BE49-F238E27FC236}">
                <a16:creationId xmlns:a16="http://schemas.microsoft.com/office/drawing/2014/main" id="{53FF0E16-DD60-4068-A06F-99C7170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week-copy-0">
            <a:extLst xmlns:a="http://schemas.openxmlformats.org/drawingml/2006/main">
              <a:ext uri="{FF2B5EF4-FFF2-40B4-BE49-F238E27FC236}">
                <a16:creationId xmlns:a16="http://schemas.microsoft.com/office/drawing/2014/main" id="{E86F9AB8-4669-42C1-AF3B-FD042E6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5" name="week-dot-1">
            <a:extLst xmlns:a="http://schemas.openxmlformats.org/drawingml/2006/main">
              <a:ext uri="{FF2B5EF4-FFF2-40B4-BE49-F238E27FC236}">
                <a16:creationId xmlns:a16="http://schemas.microsoft.com/office/drawing/2014/main" id="{533D5838-C92C-43D6-A09A-13D73569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head-1">
            <a:extLst xmlns:a="http://schemas.openxmlformats.org/drawingml/2006/main">
              <a:ext uri="{FF2B5EF4-FFF2-40B4-BE49-F238E27FC236}">
                <a16:creationId xmlns:a16="http://schemas.microsoft.com/office/drawing/2014/main" id="{F2F5B614-DE00-4EDF-8901-3095146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7" name="week-copy-1">
            <a:extLst xmlns:a="http://schemas.openxmlformats.org/drawingml/2006/main">
              <a:ext uri="{FF2B5EF4-FFF2-40B4-BE49-F238E27FC236}">
                <a16:creationId xmlns:a16="http://schemas.microsoft.com/office/drawing/2014/main" id="{89BF8AA8-37A1-4636-8FAE-E606B9E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记录缺项与负担</a:t>
            </a:r>
          </a:p>
        </p:txBody>
      </p:sp>
      <p:sp>
        <p:nvSpPr>
          <p:cNvPr id="18" name="week-dot-2">
            <a:extLst xmlns:a="http://schemas.openxmlformats.org/drawingml/2006/main">
              <a:ext uri="{FF2B5EF4-FFF2-40B4-BE49-F238E27FC236}">
                <a16:creationId xmlns:a16="http://schemas.microsoft.com/office/drawing/2014/main" id="{2DE89FEB-6FFA-4066-A969-8A620842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eek-head-2">
            <a:extLst xmlns:a="http://schemas.openxmlformats.org/drawingml/2006/main">
              <a:ext uri="{FF2B5EF4-FFF2-40B4-BE49-F238E27FC236}">
                <a16:creationId xmlns:a16="http://schemas.microsoft.com/office/drawing/2014/main" id="{4B76950E-0DDE-4553-87CF-018CC00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0" name="week-copy-2">
            <a:extLst xmlns:a="http://schemas.openxmlformats.org/drawingml/2006/main">
              <a:ext uri="{FF2B5EF4-FFF2-40B4-BE49-F238E27FC236}">
                <a16:creationId xmlns:a16="http://schemas.microsoft.com/office/drawing/2014/main" id="{93191F27-D49E-4AD1-AF17-1349AB6C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继续记录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观察复核过程</a:t>
            </a:r>
          </a:p>
        </p:txBody>
      </p:sp>
      <p:sp>
        <p:nvSpPr>
          <p:cNvPr id="21" name="week-dot-3">
            <a:extLst xmlns:a="http://schemas.openxmlformats.org/drawingml/2006/main">
              <a:ext uri="{FF2B5EF4-FFF2-40B4-BE49-F238E27FC236}">
                <a16:creationId xmlns:a16="http://schemas.microsoft.com/office/drawing/2014/main" id="{1AD85864-B67E-44CD-9ADC-9E88229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ek-head-3">
            <a:extLst xmlns:a="http://schemas.openxmlformats.org/drawingml/2006/main">
              <a:ext uri="{FF2B5EF4-FFF2-40B4-BE49-F238E27FC236}">
                <a16:creationId xmlns:a16="http://schemas.microsoft.com/office/drawing/2014/main" id="{1C22AA31-CB25-4DF9-A080-851596B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week-copy-3">
            <a:extLst xmlns:a="http://schemas.openxmlformats.org/drawingml/2006/main">
              <a:ext uri="{FF2B5EF4-FFF2-40B4-BE49-F238E27FC236}">
                <a16:creationId xmlns:a16="http://schemas.microsoft.com/office/drawing/2014/main" id="{C667D68E-C072-4196-9B7C-EF4C687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4" name="pilot-foot-rule">
            <a:extLst xmlns:a="http://schemas.openxmlformats.org/drawingml/2006/main">
              <a:ext uri="{FF2B5EF4-FFF2-40B4-BE49-F238E27FC236}">
                <a16:creationId xmlns:a16="http://schemas.microsoft.com/office/drawing/2014/main" id="{B4BF9528-E6D9-4467-9A6B-026C55F7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foot">
            <a:extLst xmlns:a="http://schemas.openxmlformats.org/drawingml/2006/main">
              <a:ext uri="{FF2B5EF4-FFF2-40B4-BE49-F238E27FC236}">
                <a16:creationId xmlns:a16="http://schemas.microsoft.com/office/drawing/2014/main" id="{DDA1627E-DA85-4972-805F-F3584481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四周、两人和周次安排都是拟定范围；本方案没有实测效率提升或完成率数字。</a:t>
            </a:r>
          </a:p>
        </p:txBody>
      </p:sp>
    </p:spTree>
    <p:extLst>
      <p:ext uri="{BB962C8B-B14F-4D97-AF65-F5344CB8AC3E}">
        <p14:creationId xmlns:p14="http://schemas.microsoft.com/office/powerpoint/2010/main" val="1100208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mark">
            <a:extLst xmlns:a="http://schemas.openxmlformats.org/drawingml/2006/main">
              <a:ext uri="{FF2B5EF4-FFF2-40B4-BE49-F238E27FC236}">
                <a16:creationId xmlns:a16="http://schemas.microsoft.com/office/drawing/2014/main" id="{440963A0-570D-41BE-8B78-A4B7D5A9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18534D-F875-41BE-A097-64AFDDE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6929DCC-4A51-40E1-B21B-3ED17CC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44576AD-6D27-4F9C-B512-E279BBBD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6E1A689-264C-4FC4-86A6-2CCECB9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FF53D-8E9C-4D2F-B44A-31DDDFBF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试点是否值得保留，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要同时看能否定位、解释、持续承担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BF9B32-5D32-4593-B571-F0B6CFD8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不先给一个统一“合格分数”，而是收集具体复核过程与当事人反馈</a:t>
            </a:r>
          </a:p>
        </p:txBody>
      </p:sp>
      <p:sp>
        <p:nvSpPr>
          <p:cNvPr id="8" name="eval-label">
            <a:extLst xmlns:a="http://schemas.openxmlformats.org/drawingml/2006/main">
              <a:ext uri="{FF2B5EF4-FFF2-40B4-BE49-F238E27FC236}">
                <a16:creationId xmlns:a16="http://schemas.microsoft.com/office/drawing/2014/main" id="{DA46FCD9-4D7A-4D65-8247-F4AD5951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三个评估问题</a:t>
            </a:r>
          </a:p>
        </p:txBody>
      </p:sp>
      <p:sp>
        <p:nvSpPr>
          <p:cNvPr id="9" name="eval-no-0">
            <a:extLst xmlns:a="http://schemas.openxmlformats.org/drawingml/2006/main">
              <a:ext uri="{FF2B5EF4-FFF2-40B4-BE49-F238E27FC236}">
                <a16:creationId xmlns:a16="http://schemas.microsoft.com/office/drawing/2014/main" id="{722B2982-D059-41BB-8FEC-D638BCA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eval-head-0">
            <a:extLst xmlns:a="http://schemas.openxmlformats.org/drawingml/2006/main">
              <a:ext uri="{FF2B5EF4-FFF2-40B4-BE49-F238E27FC236}">
                <a16:creationId xmlns:a16="http://schemas.microsoft.com/office/drawing/2014/main" id="{2812F1F3-14C7-42B7-870A-0FE8BD34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能否定位</a:t>
            </a:r>
          </a:p>
        </p:txBody>
      </p:sp>
      <p:sp>
        <p:nvSpPr>
          <p:cNvPr id="11" name="eval-copy-0">
            <a:extLst xmlns:a="http://schemas.openxmlformats.org/drawingml/2006/main">
              <a:ext uri="{FF2B5EF4-FFF2-40B4-BE49-F238E27FC236}">
                <a16:creationId xmlns:a16="http://schemas.microsoft.com/office/drawing/2014/main" id="{C90A565A-70EF-468B-91CB-EE0CA90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其他成员能否沿记录定位结果的来源？</a:t>
            </a:r>
          </a:p>
        </p:txBody>
      </p:sp>
      <p:sp>
        <p:nvSpPr>
          <p:cNvPr id="12" name="eval-rule-0">
            <a:extLst xmlns:a="http://schemas.openxmlformats.org/drawingml/2006/main">
              <a:ext uri="{FF2B5EF4-FFF2-40B4-BE49-F238E27FC236}">
                <a16:creationId xmlns:a16="http://schemas.microsoft.com/office/drawing/2014/main" id="{E2DE9983-2D09-4AB6-8527-3ECCE9E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al-no-1">
            <a:extLst xmlns:a="http://schemas.openxmlformats.org/drawingml/2006/main">
              <a:ext uri="{FF2B5EF4-FFF2-40B4-BE49-F238E27FC236}">
                <a16:creationId xmlns:a16="http://schemas.microsoft.com/office/drawing/2014/main" id="{D7B17C2F-59A3-43B5-9F72-50FB99CF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val-head-1">
            <a:extLst xmlns:a="http://schemas.openxmlformats.org/drawingml/2006/main">
              <a:ext uri="{FF2B5EF4-FFF2-40B4-BE49-F238E27FC236}">
                <a16:creationId xmlns:a16="http://schemas.microsoft.com/office/drawing/2014/main" id="{A7DCECD8-277B-4D31-BBEB-A6B96434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能否解释</a:t>
            </a:r>
          </a:p>
        </p:txBody>
      </p:sp>
      <p:sp>
        <p:nvSpPr>
          <p:cNvPr id="15" name="eval-copy-1">
            <a:extLst xmlns:a="http://schemas.openxmlformats.org/drawingml/2006/main">
              <a:ext uri="{FF2B5EF4-FFF2-40B4-BE49-F238E27FC236}">
                <a16:creationId xmlns:a16="http://schemas.microsoft.com/office/drawing/2014/main" id="{9FC9D39D-5C0A-4A5F-ADE9-847C6BC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关键处理与排除是否有可理解的依据？</a:t>
            </a:r>
          </a:p>
        </p:txBody>
      </p:sp>
      <p:sp>
        <p:nvSpPr>
          <p:cNvPr id="16" name="eval-rule-1">
            <a:extLst xmlns:a="http://schemas.openxmlformats.org/drawingml/2006/main">
              <a:ext uri="{FF2B5EF4-FFF2-40B4-BE49-F238E27FC236}">
                <a16:creationId xmlns:a16="http://schemas.microsoft.com/office/drawing/2014/main" id="{7B6D2D63-5E4C-4E78-9F23-22E8C882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no-2">
            <a:extLst xmlns:a="http://schemas.openxmlformats.org/drawingml/2006/main">
              <a:ext uri="{FF2B5EF4-FFF2-40B4-BE49-F238E27FC236}">
                <a16:creationId xmlns:a16="http://schemas.microsoft.com/office/drawing/2014/main" id="{B48D5765-D2EB-45E3-B209-A2ECF863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eval-head-2">
            <a:extLst xmlns:a="http://schemas.openxmlformats.org/drawingml/2006/main">
              <a:ext uri="{FF2B5EF4-FFF2-40B4-BE49-F238E27FC236}">
                <a16:creationId xmlns:a16="http://schemas.microsoft.com/office/drawing/2014/main" id="{94E0DEC9-E178-4CB2-987A-FE8C7F6A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能否持续</a:t>
            </a:r>
          </a:p>
        </p:txBody>
      </p:sp>
      <p:sp>
        <p:nvSpPr>
          <p:cNvPr id="19" name="eval-copy-2">
            <a:extLst xmlns:a="http://schemas.openxmlformats.org/drawingml/2006/main">
              <a:ext uri="{FF2B5EF4-FFF2-40B4-BE49-F238E27FC236}">
                <a16:creationId xmlns:a16="http://schemas.microsoft.com/office/drawing/2014/main" id="{DC223D12-E980-4D2F-8459-8C3A779A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记录负担是否在成员愿意持续承担的范围内？</a:t>
            </a:r>
          </a:p>
        </p:txBody>
      </p:sp>
      <p:sp>
        <p:nvSpPr>
          <p:cNvPr id="20" name="eval-rule-2">
            <a:extLst xmlns:a="http://schemas.openxmlformats.org/drawingml/2006/main">
              <a:ext uri="{FF2B5EF4-FFF2-40B4-BE49-F238E27FC236}">
                <a16:creationId xmlns:a16="http://schemas.microsoft.com/office/drawing/2014/main" id="{5644E570-35EE-4198-8BFC-1B854769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al-counterexample">
            <a:extLst xmlns:a="http://schemas.openxmlformats.org/drawingml/2006/main">
              <a:ext uri="{FF2B5EF4-FFF2-40B4-BE49-F238E27FC236}">
                <a16:creationId xmlns:a16="http://schemas.microsoft.com/office/drawing/2014/main" id="{AB430D59-3582-4AC2-94F0-E471D14B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反例：字段全部填满，却仍无法定位脚本版本，追溯问题仍未解决。</a:t>
            </a:r>
          </a:p>
        </p:txBody>
      </p:sp>
      <p:sp>
        <p:nvSpPr>
          <p:cNvPr id="22" name="stop-surface">
            <a:extLst xmlns:a="http://schemas.openxmlformats.org/drawingml/2006/main">
              <a:ext uri="{FF2B5EF4-FFF2-40B4-BE49-F238E27FC236}">
                <a16:creationId xmlns:a16="http://schemas.microsoft.com/office/drawing/2014/main" id="{65D7B6F6-2A86-4441-A55A-E8105264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5052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op-label">
            <a:extLst xmlns:a="http://schemas.openxmlformats.org/drawingml/2006/main">
              <a:ext uri="{FF2B5EF4-FFF2-40B4-BE49-F238E27FC236}">
                <a16:creationId xmlns:a16="http://schemas.microsoft.com/office/drawing/2014/main" id="{B24CBCF0-6A7F-42B0-BC8D-21965109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停止或修改的信号</a:t>
            </a:r>
          </a:p>
        </p:txBody>
      </p:sp>
      <p:sp>
        <p:nvSpPr>
          <p:cNvPr id="24" name="stop-1-dot">
            <a:extLst xmlns:a="http://schemas.openxmlformats.org/drawingml/2006/main">
              <a:ext uri="{FF2B5EF4-FFF2-40B4-BE49-F238E27FC236}">
                <a16:creationId xmlns:a16="http://schemas.microsoft.com/office/drawing/2014/main" id="{62AC61ED-C45E-44C8-A8E6-45CC76E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5" name="stop-1-copy">
            <a:extLst xmlns:a="http://schemas.openxmlformats.org/drawingml/2006/main">
              <a:ext uri="{FF2B5EF4-FFF2-40B4-BE49-F238E27FC236}">
                <a16:creationId xmlns:a16="http://schemas.microsoft.com/office/drawing/2014/main" id="{61A76301-1556-4D77-93E8-0ECB68AB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05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填写工作持续挤占必要实验时间。</a:t>
            </a:r>
          </a:p>
        </p:txBody>
      </p:sp>
      <p:sp>
        <p:nvSpPr>
          <p:cNvPr id="26" name="stop-2-dot">
            <a:extLst xmlns:a="http://schemas.openxmlformats.org/drawingml/2006/main">
              <a:ext uri="{FF2B5EF4-FFF2-40B4-BE49-F238E27FC236}">
                <a16:creationId xmlns:a16="http://schemas.microsoft.com/office/drawing/2014/main" id="{844EF5B0-63E2-4E69-A026-8920367C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57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stop-2-copy">
            <a:extLst xmlns:a="http://schemas.openxmlformats.org/drawingml/2006/main">
              <a:ext uri="{FF2B5EF4-FFF2-40B4-BE49-F238E27FC236}">
                <a16:creationId xmlns:a16="http://schemas.microsoft.com/office/drawing/2014/main" id="{47206406-1D5D-4756-BB6F-F7B2BB2D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权限边界无法说明。</a:t>
            </a:r>
          </a:p>
        </p:txBody>
      </p:sp>
      <p:sp>
        <p:nvSpPr>
          <p:cNvPr id="28" name="stop-3-dot">
            <a:extLst xmlns:a="http://schemas.openxmlformats.org/drawingml/2006/main">
              <a:ext uri="{FF2B5EF4-FFF2-40B4-BE49-F238E27FC236}">
                <a16:creationId xmlns:a16="http://schemas.microsoft.com/office/drawing/2014/main" id="{D0397C46-0CA5-4DBE-A24A-1208CBA1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67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stop-3-copy">
            <a:extLst xmlns:a="http://schemas.openxmlformats.org/drawingml/2006/main">
              <a:ext uri="{FF2B5EF4-FFF2-40B4-BE49-F238E27FC236}">
                <a16:creationId xmlns:a16="http://schemas.microsoft.com/office/drawing/2014/main" id="{1D4DEF7B-4407-41DF-9E34-1D1FB22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记录只增加重复抄写，却没有帮助解释结果。</a:t>
            </a:r>
          </a:p>
        </p:txBody>
      </p:sp>
      <p:sp>
        <p:nvSpPr>
          <p:cNvPr id="30" name="stop-action">
            <a:extLst xmlns:a="http://schemas.openxmlformats.org/drawingml/2006/main">
              <a:ext uri="{FF2B5EF4-FFF2-40B4-BE49-F238E27FC236}">
                <a16:creationId xmlns:a16="http://schemas.microsoft.com/office/drawing/2014/main" id="{5239C8C5-DEF2-47AF-8EF4-945E20B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届时先缩小要求或停止试点，不能为了完成试点目标强行推广。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425909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mark">
            <a:extLst xmlns:a="http://schemas.openxmlformats.org/drawingml/2006/main">
              <a:ext uri="{FF2B5EF4-FFF2-40B4-BE49-F238E27FC236}">
                <a16:creationId xmlns:a16="http://schemas.microsoft.com/office/drawing/2014/main" id="{FBA9CF8A-4055-469D-81AE-55E46CC4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5883C3-BED6-400B-9300-41D0C6C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9B0A1728-094A-40F5-875A-B03D1E8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3B02776B-6B4B-4E46-9072-F59B5CD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617A1B-AA65-474E-B14D-38702ACB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32009B-B73C-4BC0-B6AB-95B4D8A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本次讨论要确认的是一个有限尝试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F8BB0C-59B9-4FD9-856E-5BD58F8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</a:t>
            </a:r>
          </a:p>
        </p:txBody>
      </p:sp>
      <p:sp>
        <p:nvSpPr>
          <p:cNvPr id="8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73A41F47-10A2-40D9-8AB1-14FECDD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message-copy">
            <a:extLst xmlns:a="http://schemas.openxmlformats.org/drawingml/2006/main">
              <a:ext uri="{FF2B5EF4-FFF2-40B4-BE49-F238E27FC236}">
                <a16:creationId xmlns:a16="http://schemas.microsoft.com/office/drawing/2014/main" id="{DE0DE2E1-27C8-42BF-A901-9E9DC5CB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归档工具只是承载方式；要验证的是结果、依据与责任边界的联系。</a:t>
            </a:r>
          </a:p>
        </p:txBody>
      </p:sp>
      <p:sp>
        <p:nvSpPr>
          <p:cNvPr id="10" name="confirm-label">
            <a:extLst xmlns:a="http://schemas.openxmlformats.org/drawingml/2006/main">
              <a:ext uri="{FF2B5EF4-FFF2-40B4-BE49-F238E27FC236}">
                <a16:creationId xmlns:a16="http://schemas.microsoft.com/office/drawing/2014/main" id="{53179A27-FE70-4EDF-AFB5-BD71FE0A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开始试点前确认</a:t>
            </a:r>
          </a:p>
        </p:txBody>
      </p:sp>
      <p:sp>
        <p:nvSpPr>
          <p:cNvPr id="11" name="confirm-1-dot">
            <a:extLst xmlns:a="http://schemas.openxmlformats.org/drawingml/2006/main">
              <a:ext uri="{FF2B5EF4-FFF2-40B4-BE49-F238E27FC236}">
                <a16:creationId xmlns:a16="http://schemas.microsoft.com/office/drawing/2014/main" id="{2D9126A8-5520-40BD-927C-8622EC4E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confirm-1-copy">
            <a:extLst xmlns:a="http://schemas.openxmlformats.org/drawingml/2006/main">
              <a:ext uri="{FF2B5EF4-FFF2-40B4-BE49-F238E27FC236}">
                <a16:creationId xmlns:a16="http://schemas.microsoft.com/office/drawing/2014/main" id="{59031847-73DC-4B95-B4F5-0490D60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957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负责人确认范围与授权联系人。</a:t>
            </a:r>
          </a:p>
        </p:txBody>
      </p:sp>
      <p:sp>
        <p:nvSpPr>
          <p:cNvPr id="13" name="confirm-2-dot">
            <a:extLst xmlns:a="http://schemas.openxmlformats.org/drawingml/2006/main">
              <a:ext uri="{FF2B5EF4-FFF2-40B4-BE49-F238E27FC236}">
                <a16:creationId xmlns:a16="http://schemas.microsoft.com/office/drawing/2014/main" id="{59C9072E-DD6B-415C-ACA2-73D9319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confirm-2-copy">
            <a:extLst xmlns:a="http://schemas.openxmlformats.org/drawingml/2006/main">
              <a:ext uri="{FF2B5EF4-FFF2-40B4-BE49-F238E27FC236}">
                <a16:creationId xmlns:a16="http://schemas.microsoft.com/office/drawing/2014/main" id="{42B6B575-FB73-4937-B50B-BA0D9BF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参与成员认可最少字段。</a:t>
            </a:r>
          </a:p>
        </p:txBody>
      </p:sp>
      <p:sp>
        <p:nvSpPr>
          <p:cNvPr id="15" name="confirm-3-dot">
            <a:extLst xmlns:a="http://schemas.openxmlformats.org/drawingml/2006/main">
              <a:ext uri="{FF2B5EF4-FFF2-40B4-BE49-F238E27FC236}">
                <a16:creationId xmlns:a16="http://schemas.microsoft.com/office/drawing/2014/main" id="{9AC72CEC-DCC8-40AE-B149-6043A04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confirm-3-copy">
            <a:extLst xmlns:a="http://schemas.openxmlformats.org/drawingml/2006/main">
              <a:ext uri="{FF2B5EF4-FFF2-40B4-BE49-F238E27FC236}">
                <a16:creationId xmlns:a16="http://schemas.microsoft.com/office/drawing/2014/main" id="{8D2871EA-0B46-4180-968F-9AA0009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确定谁负责复核。</a:t>
            </a:r>
          </a:p>
        </p:txBody>
      </p:sp>
      <p:sp>
        <p:nvSpPr>
          <p:cNvPr id="17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C1A5D608-0FF1-4738-918F-9A3A160D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t-label">
            <a:extLst xmlns:a="http://schemas.openxmlformats.org/drawingml/2006/main">
              <a:ext uri="{FF2B5EF4-FFF2-40B4-BE49-F238E27FC236}">
                <a16:creationId xmlns:a16="http://schemas.microsoft.com/office/drawing/2014/main" id="{84AC548E-7AAE-476A-BA0A-BA4852D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本轮不承诺</a:t>
            </a:r>
          </a:p>
        </p:txBody>
      </p:sp>
      <p:sp>
        <p:nvSpPr>
          <p:cNvPr id="19" name="not-copy">
            <a:extLst xmlns:a="http://schemas.openxmlformats.org/drawingml/2006/main">
              <a:ext uri="{FF2B5EF4-FFF2-40B4-BE49-F238E27FC236}">
                <a16:creationId xmlns:a16="http://schemas.microsoft.com/office/drawing/2014/main" id="{C2897AD4-CA89-4551-BA07-CA48EDC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不承诺已经提高效率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不承诺覆盖全部历史档案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不承诺改变原始数据授权</a:t>
            </a:r>
          </a:p>
        </p:txBody>
      </p:sp>
      <p:sp>
        <p:nvSpPr>
          <p:cNvPr id="20" name="close-rule">
            <a:extLst xmlns:a="http://schemas.openxmlformats.org/drawingml/2006/main">
              <a:ext uri="{FF2B5EF4-FFF2-40B4-BE49-F238E27FC236}">
                <a16:creationId xmlns:a16="http://schemas.microsoft.com/office/drawing/2014/main" id="{7AB98129-2F10-4D7A-BC61-FDB8F6D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final">
            <a:extLst xmlns:a="http://schemas.openxmlformats.org/drawingml/2006/main">
              <a:ext uri="{FF2B5EF4-FFF2-40B4-BE49-F238E27FC236}">
                <a16:creationId xmlns:a16="http://schemas.microsoft.com/office/drawing/2014/main" id="{29336994-F0BC-4AC1-8CF9-EA4A1DA7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未完成三项确认前，试点不启动；授权问题由负责人先处理。</a:t>
            </a:r>
          </a:p>
        </p:txBody>
      </p:sp>
    </p:spTree>
    <p:extLst>
      <p:ext uri="{BB962C8B-B14F-4D97-AF65-F5344CB8AC3E}">
        <p14:creationId xmlns:p14="http://schemas.microsoft.com/office/powerpoint/2010/main" val="1652449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2026-09-05T13:46:54.9270000Z</dcterms:created>
  <dcterms:modified xsi:type="dcterms:W3CDTF">2026-09-05T13:46:54.9270000Z</dcterms:modified>
</coreProperties>
</file>