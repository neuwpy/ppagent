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9e6a00e71141bd" /><Relationship Type="http://schemas.openxmlformats.org/officeDocument/2006/relationships/extended-properties" Target="/docProps/app.xml" Id="R9dc7e4e7a3f84977" /><Relationship Type="http://schemas.openxmlformats.org/officeDocument/2006/relationships/officeDocument" Target="/ppt/presentation.xml" Id="Rd84f73a3bf7f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06dd347e54315"/>
  </p:sldMasterIdLst>
  <p:notesMasterIdLst>
    <p:notesMasterId xmlns:r="http://schemas.openxmlformats.org/officeDocument/2006/relationships" r:id="R9efc33b5f3574bf9"/>
  </p:notesMasterIdLst>
  <p:sldIdLst>
    <p:sldId xmlns:r="http://schemas.openxmlformats.org/officeDocument/2006/relationships" id="256" r:id="R209f576788844ae1"/>
    <p:sldId xmlns:r="http://schemas.openxmlformats.org/officeDocument/2006/relationships" id="257" r:id="R543d8376a6344788"/>
    <p:sldId xmlns:r="http://schemas.openxmlformats.org/officeDocument/2006/relationships" id="258" r:id="Ra5f9fddcb8294810"/>
    <p:sldId xmlns:r="http://schemas.openxmlformats.org/officeDocument/2006/relationships" id="259" r:id="R6d1f19d756564556"/>
    <p:sldId xmlns:r="http://schemas.openxmlformats.org/officeDocument/2006/relationships" id="260" r:id="R1cf7a0a2984c475a"/>
    <p:sldId xmlns:r="http://schemas.openxmlformats.org/officeDocument/2006/relationships" id="261" r:id="Ra8d32ebe69774171"/>
    <p:sldId xmlns:r="http://schemas.openxmlformats.org/officeDocument/2006/relationships" id="262" r:id="Ra678d8c9e59d4e44"/>
    <p:sldId xmlns:r="http://schemas.openxmlformats.org/officeDocument/2006/relationships" id="263" r:id="R84be0dc7ff3147eb"/>
    <p:sldId xmlns:r="http://schemas.openxmlformats.org/officeDocument/2006/relationships" id="264" r:id="R03537f831eaa41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f6984930542cd" /><Relationship Type="http://schemas.openxmlformats.org/officeDocument/2006/relationships/slideMaster" Target="/ppt/slideMasters/slideMaster1.xml" Id="R04e06dd347e54315" /><Relationship Type="http://schemas.openxmlformats.org/officeDocument/2006/relationships/notesMaster" Target="/ppt/notesMasters/notesMaster1.xml" Id="R9efc33b5f3574bf9" /><Relationship Type="http://schemas.openxmlformats.org/officeDocument/2006/relationships/presProps" Target="/ppt/presProps.xml" Id="R9b1506aae0434417" /><Relationship Type="http://schemas.openxmlformats.org/officeDocument/2006/relationships/tableStyles" Target="/ppt/tableStyles.xml" Id="R0468b26d518743cc" /><Relationship Type="http://schemas.openxmlformats.org/officeDocument/2006/relationships/slide" Target="/ppt/slides/slide1.xml" Id="R209f576788844ae1" /><Relationship Type="http://schemas.openxmlformats.org/officeDocument/2006/relationships/slide" Target="/ppt/slides/slide2.xml" Id="R543d8376a6344788" /><Relationship Type="http://schemas.openxmlformats.org/officeDocument/2006/relationships/slide" Target="/ppt/slides/slide3.xml" Id="Ra5f9fddcb8294810" /><Relationship Type="http://schemas.openxmlformats.org/officeDocument/2006/relationships/slide" Target="/ppt/slides/slide4.xml" Id="R6d1f19d756564556" /><Relationship Type="http://schemas.openxmlformats.org/officeDocument/2006/relationships/slide" Target="/ppt/slides/slide5.xml" Id="R1cf7a0a2984c475a" /><Relationship Type="http://schemas.openxmlformats.org/officeDocument/2006/relationships/slide" Target="/ppt/slides/slide6.xml" Id="Ra8d32ebe69774171" /><Relationship Type="http://schemas.openxmlformats.org/officeDocument/2006/relationships/slide" Target="/ppt/slides/slide7.xml" Id="Ra678d8c9e59d4e44" /><Relationship Type="http://schemas.openxmlformats.org/officeDocument/2006/relationships/slide" Target="/ppt/slides/slide8.xml" Id="R84be0dc7ff3147eb" /><Relationship Type="http://schemas.openxmlformats.org/officeDocument/2006/relationships/slide" Target="/ppt/slides/slide9.xml" Id="R03537f831eaa41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f777e1329b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0243e4744490e" /><Relationship Type="http://schemas.openxmlformats.org/officeDocument/2006/relationships/notesMaster" Target="/ppt/notesMasters/notesMaster1.xml" Id="R7e5434ee512c4c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c6a941e5644a81" /><Relationship Type="http://schemas.openxmlformats.org/officeDocument/2006/relationships/notesMaster" Target="/ppt/notesMasters/notesMaster1.xml" Id="Rb4fecc799b8d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121af09c084c2f" /><Relationship Type="http://schemas.openxmlformats.org/officeDocument/2006/relationships/notesMaster" Target="/ppt/notesMasters/notesMaster1.xml" Id="Rb442e1f47a1e47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0ac2b1f014d2b" /><Relationship Type="http://schemas.openxmlformats.org/officeDocument/2006/relationships/notesMaster" Target="/ppt/notesMasters/notesMaster1.xml" Id="R274727b3ff074a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a84e32f934a18" /><Relationship Type="http://schemas.openxmlformats.org/officeDocument/2006/relationships/notesMaster" Target="/ppt/notesMasters/notesMaster1.xml" Id="R60d98c6600da4b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a5c13f0dfe4bfc" /><Relationship Type="http://schemas.openxmlformats.org/officeDocument/2006/relationships/notesMaster" Target="/ppt/notesMasters/notesMaster1.xml" Id="R62157bd6173c48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9d73c1e3a43eb" /><Relationship Type="http://schemas.openxmlformats.org/officeDocument/2006/relationships/notesMaster" Target="/ppt/notesMasters/notesMaster1.xml" Id="Rfabc056b381f49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01102268c440bc" /><Relationship Type="http://schemas.openxmlformats.org/officeDocument/2006/relationships/notesMaster" Target="/ppt/notesMasters/notesMaster1.xml" Id="R300d6dcb917446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54bae3779e43f3" /><Relationship Type="http://schemas.openxmlformats.org/officeDocument/2006/relationships/notesMaster" Target="/ppt/notesMasters/notesMaster1.xml" Id="R62f09b3cc0e342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9552a67a4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3086cb38d4c0b" /><Relationship Type="http://schemas.openxmlformats.org/officeDocument/2006/relationships/slideLayout" Target="/ppt/slideLayouts/slideLayout1.xml" Id="R4bd1ce59d6ce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d1ce59d6ce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e14e40c4b4313" /><Relationship Type="http://schemas.openxmlformats.org/officeDocument/2006/relationships/notesSlide" Target="/ppt/notesSlides/notesSlide1.xml" Id="R3995884c68d1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e3962fc204836" /><Relationship Type="http://schemas.openxmlformats.org/officeDocument/2006/relationships/notesSlide" Target="/ppt/notesSlides/notesSlide2.xml" Id="R34603e81ac5e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4caa7733a4d0b" /><Relationship Type="http://schemas.openxmlformats.org/officeDocument/2006/relationships/notesSlide" Target="/ppt/notesSlides/notesSlide3.xml" Id="R50e264fd66aa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4e32029c547b1" /><Relationship Type="http://schemas.openxmlformats.org/officeDocument/2006/relationships/notesSlide" Target="/ppt/notesSlides/notesSlide4.xml" Id="R10dac2339eda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6d65491394033" /><Relationship Type="http://schemas.openxmlformats.org/officeDocument/2006/relationships/notesSlide" Target="/ppt/notesSlides/notesSlide5.xml" Id="R211172bed6cb4e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7924bc1da41ee" /><Relationship Type="http://schemas.openxmlformats.org/officeDocument/2006/relationships/notesSlide" Target="/ppt/notesSlides/notesSlide6.xml" Id="R0a6e6039d23d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d0c6431ee4d6f" /><Relationship Type="http://schemas.openxmlformats.org/officeDocument/2006/relationships/notesSlide" Target="/ppt/notesSlides/notesSlide7.xml" Id="R573d7798fa9049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f7bbb57df4899" /><Relationship Type="http://schemas.openxmlformats.org/officeDocument/2006/relationships/notesSlide" Target="/ppt/notesSlides/notesSlide8.xml" Id="R1c649ac5428845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5f3dfe03d4314" /><Relationship Type="http://schemas.openxmlformats.org/officeDocument/2006/relationships/notesSlide" Target="/ppt/notesSlides/notesSlide9.xml" Id="R7f5cafcdc8fd48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D81FC83-ADBB-42AC-8369-07BB6CB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虚构大学场景 · 课题组讨论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8D9DB8A-5759-4151-8EF0-E609FAB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先让一次结果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可以被理解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49F6BF9-66EF-4269-8272-548A0F7C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四周、小范围试点：建立能解释实验结果的数据归档习惯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33451E88-F52C-420D-8E84-B152362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E4EF777D-6745-4611-A99C-2204565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1 个课题方向   ·   2 名自愿成员   ·   记录新增实验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B4BE7A5D-8D31-418C-AFDB-AF8F0E5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本次仅讨论方案边界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不宣称已有成效</a:t>
            </a:r>
          </a:p>
        </p:txBody>
      </p:sp>
      <p:sp>
        <p:nvSpPr>
          <p:cNvPr id="7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5457AC8-7BDF-40A8-A7BE-4184837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0256F6D2-1F1E-4963-8EF9-6C7A9AB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2995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mark">
            <a:extLst xmlns:a="http://schemas.openxmlformats.org/drawingml/2006/main">
              <a:ext uri="{FF2B5EF4-FFF2-40B4-BE49-F238E27FC236}">
                <a16:creationId xmlns:a16="http://schemas.microsoft.com/office/drawing/2014/main" id="{61CF0A46-7A66-4C3F-B256-1458BD8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7279AF-18AF-4C2F-91E0-96731A9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88D0F0A7-60F9-40D2-B397-132ED72C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22FAF0C1-A05F-492C-AA80-F8C1622F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4CADD6A-F15F-4675-9E7A-990A0AD4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26CB37-685E-4D48-878C-7E372DA4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A9D8D5-2F6A-411B-880F-296876A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问题不只是“有没有上传”，而是能否沿结果回到依据</a:t>
            </a:r>
          </a:p>
        </p:txBody>
      </p:sp>
      <p:sp>
        <p:nvSpPr>
          <p:cNvPr id="8" name="judgment-strip">
            <a:extLst xmlns:a="http://schemas.openxmlformats.org/drawingml/2006/main">
              <a:ext uri="{FF2B5EF4-FFF2-40B4-BE49-F238E27FC236}">
                <a16:creationId xmlns:a16="http://schemas.microsoft.com/office/drawing/2014/main" id="{B568743A-80D9-41BA-BF4C-2828F42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9E3A8B0B-DD6D-40EC-A62C-BC6D8F39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0" name="judgment-main">
            <a:extLst xmlns:a="http://schemas.openxmlformats.org/drawingml/2006/main">
              <a:ext uri="{FF2B5EF4-FFF2-40B4-BE49-F238E27FC236}">
                <a16:creationId xmlns:a16="http://schemas.microsoft.com/office/drawing/2014/main" id="{534568DC-5E2E-439C-A81C-B54A9E94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714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解释链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断在上下文</a:t>
            </a:r>
          </a:p>
        </p:txBody>
      </p:sp>
      <p:sp>
        <p:nvSpPr>
          <p:cNvPr id="11" name="judgment-foot">
            <a:extLst xmlns:a="http://schemas.openxmlformats.org/drawingml/2006/main">
              <a:ext uri="{FF2B5EF4-FFF2-40B4-BE49-F238E27FC236}">
                <a16:creationId xmlns:a16="http://schemas.microsoft.com/office/drawing/2014/main" id="{40F67338-B290-4FCE-BE85-C20BDE6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结果、依据与责任没有被放在同一个记录单元里。</a:t>
            </a:r>
          </a:p>
        </p:txBody>
      </p:sp>
      <p:sp>
        <p:nvSpPr>
          <p:cNvPr id="12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46CC996C-9DAC-4BCE-937A-B93C955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现场能看到什么</a:t>
            </a:r>
          </a:p>
        </p:txBody>
      </p:sp>
      <p:sp>
        <p:nvSpPr>
          <p:cNvPr id="13" name="row-label-236">
            <a:extLst xmlns:a="http://schemas.openxmlformats.org/drawingml/2006/main">
              <a:ext uri="{FF2B5EF4-FFF2-40B4-BE49-F238E27FC236}">
                <a16:creationId xmlns:a16="http://schemas.microsoft.com/office/drawing/2014/main" id="{E35A4849-16B2-4615-934F-6E70C5A5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最终图片</a:t>
            </a:r>
          </a:p>
        </p:txBody>
      </p:sp>
      <p:sp>
        <p:nvSpPr>
          <p:cNvPr id="14" name="row-body-236">
            <a:extLst xmlns:a="http://schemas.openxmlformats.org/drawingml/2006/main">
              <a:ext uri="{FF2B5EF4-FFF2-40B4-BE49-F238E27FC236}">
                <a16:creationId xmlns:a16="http://schemas.microsoft.com/office/drawing/2014/main" id="{3B26B16D-4FB8-4A7B-AEC8-BAA99180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47900"/>
            <a:ext cx="595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能找到结果文件，却不一定知道它来自哪批样本。</a:t>
            </a:r>
          </a:p>
        </p:txBody>
      </p:sp>
      <p:sp>
        <p:nvSpPr>
          <p:cNvPr id="15" name="row-label-316">
            <a:extLst xmlns:a="http://schemas.openxmlformats.org/drawingml/2006/main">
              <a:ext uri="{FF2B5EF4-FFF2-40B4-BE49-F238E27FC236}">
                <a16:creationId xmlns:a16="http://schemas.microsoft.com/office/drawing/2014/main" id="{BB468C2B-99D0-451A-A293-8D685762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同名文件</a:t>
            </a:r>
          </a:p>
        </p:txBody>
      </p:sp>
      <p:sp>
        <p:nvSpPr>
          <p:cNvPr id="16" name="row-body-316">
            <a:extLst xmlns:a="http://schemas.openxmlformats.org/drawingml/2006/main">
              <a:ext uri="{FF2B5EF4-FFF2-40B4-BE49-F238E27FC236}">
                <a16:creationId xmlns:a16="http://schemas.microsoft.com/office/drawing/2014/main" id="{40B4C4AB-4935-4BFF-8E6C-1480C339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595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同名文件和个人目录让重复检索变难。</a:t>
            </a:r>
          </a:p>
        </p:txBody>
      </p:sp>
      <p:sp>
        <p:nvSpPr>
          <p:cNvPr id="17" name="row-label-396">
            <a:extLst xmlns:a="http://schemas.openxmlformats.org/drawingml/2006/main">
              <a:ext uri="{FF2B5EF4-FFF2-40B4-BE49-F238E27FC236}">
                <a16:creationId xmlns:a16="http://schemas.microsoft.com/office/drawing/2014/main" id="{C7D9A80A-9542-4BAA-8A20-105114BF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“已清理”</a:t>
            </a:r>
          </a:p>
        </p:txBody>
      </p:sp>
      <p:sp>
        <p:nvSpPr>
          <p:cNvPr id="18" name="row-body-396">
            <a:extLst xmlns:a="http://schemas.openxmlformats.org/drawingml/2006/main">
              <a:ext uri="{FF2B5EF4-FFF2-40B4-BE49-F238E27FC236}">
                <a16:creationId xmlns:a16="http://schemas.microsoft.com/office/drawing/2014/main" id="{F20B9C3A-AAF8-4F6F-BC82-D3984036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595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只留下处理结论时，异常与排除的判断依据消失。</a:t>
            </a:r>
          </a:p>
        </p:txBody>
      </p:sp>
      <p:sp>
        <p:nvSpPr>
          <p:cNvPr id="19" name="evidence-divider">
            <a:extLst xmlns:a="http://schemas.openxmlformats.org/drawingml/2006/main">
              <a:ext uri="{FF2B5EF4-FFF2-40B4-BE49-F238E27FC236}">
                <a16:creationId xmlns:a16="http://schemas.microsoft.com/office/drawing/2014/main" id="{9233DBBC-E53F-42A5-B810-74EC38A5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mplication">
            <a:extLst xmlns:a="http://schemas.openxmlformats.org/drawingml/2006/main">
              <a:ext uri="{FF2B5EF4-FFF2-40B4-BE49-F238E27FC236}">
                <a16:creationId xmlns:a16="http://schemas.microsoft.com/office/drawing/2014/main" id="{61D7DE19-2C2D-4B79-BEA0-908989E1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因此，归档的第一问不是“文件放在哪里”，而是“别人能否理解这个结果是怎么产生的”。</a:t>
            </a:r>
          </a:p>
        </p:txBody>
      </p:sp>
    </p:spTree>
    <p:extLst>
      <p:ext uri="{BB962C8B-B14F-4D97-AF65-F5344CB8AC3E}">
        <p14:creationId xmlns:p14="http://schemas.microsoft.com/office/powerpoint/2010/main" val="67882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mark">
            <a:extLst xmlns:a="http://schemas.openxmlformats.org/drawingml/2006/main">
              <a:ext uri="{FF2B5EF4-FFF2-40B4-BE49-F238E27FC236}">
                <a16:creationId xmlns:a16="http://schemas.microsoft.com/office/drawing/2014/main" id="{AE05A308-8826-49D9-A537-EA13BDD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C3A953-3818-44D7-A783-9DB4040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2B686FC5-9824-4EEE-8BD6-D0D8261E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6B2FB8F6-4E3C-4999-A245-89260AD5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E0EC619-732B-43AF-A7D3-37131F11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6A08F9-CC5B-4037-8DF1-A7B9644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一个结果记录，必须把结果与依据绑在一起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5BEB87-9420-4B4B-BCD2-6C6D95BC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五项材料共同解释一个结果；它们不是必须依次执行的五个步骤</a:t>
            </a:r>
          </a:p>
        </p:txBody>
      </p:sp>
      <p:sp>
        <p:nvSpPr>
          <p:cNvPr id="8" name="record-unit">
            <a:extLst xmlns:a="http://schemas.openxmlformats.org/drawingml/2006/main">
              <a:ext uri="{FF2B5EF4-FFF2-40B4-BE49-F238E27FC236}">
                <a16:creationId xmlns:a16="http://schemas.microsoft.com/office/drawing/2014/main" id="{B49747B4-1FE3-461D-AB55-A145CEE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ord-unit-label">
            <a:extLst xmlns:a="http://schemas.openxmlformats.org/drawingml/2006/main">
              <a:ext uri="{FF2B5EF4-FFF2-40B4-BE49-F238E27FC236}">
                <a16:creationId xmlns:a16="http://schemas.microsoft.com/office/drawing/2014/main" id="{D9740359-6278-420B-A9C2-15D9AA2A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BFD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FD6EC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10" name="record-unit-main">
            <a:extLst xmlns:a="http://schemas.openxmlformats.org/drawingml/2006/main">
              <a:ext uri="{FF2B5EF4-FFF2-40B4-BE49-F238E27FC236}">
                <a16:creationId xmlns:a16="http://schemas.microsoft.com/office/drawing/2014/main" id="{2B759E71-505D-46B9-BEE6-4E83653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11" name="record-unit-note">
            <a:extLst xmlns:a="http://schemas.openxmlformats.org/drawingml/2006/main">
              <a:ext uri="{FF2B5EF4-FFF2-40B4-BE49-F238E27FC236}">
                <a16:creationId xmlns:a16="http://schemas.microsoft.com/office/drawing/2014/main" id="{BB8D3585-4499-4C6D-B8C7-0F90BAE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8E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7F5"/>
                </a:solidFill>
                <a:latin typeface="Microsoft YaHei"/>
                <a:ea typeface="Microsoft YaHei"/>
                <a:cs typeface="Microsoft YaHei"/>
              </a:rPr>
              <a:t>结果与依据被放在同一关系里</a:t>
            </a:r>
          </a:p>
        </p:txBody>
      </p:sp>
      <p:sp>
        <p:nvSpPr>
          <p:cNvPr id="12" name="parts-label">
            <a:extLst xmlns:a="http://schemas.openxmlformats.org/drawingml/2006/main">
              <a:ext uri="{FF2B5EF4-FFF2-40B4-BE49-F238E27FC236}">
                <a16:creationId xmlns:a16="http://schemas.microsoft.com/office/drawing/2014/main" id="{BCF20BC9-330A-4885-8114-0143DB9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共同解释一个结果</a:t>
            </a:r>
          </a:p>
        </p:txBody>
      </p:sp>
      <p:sp>
        <p:nvSpPr>
          <p:cNvPr id="13" name="row-label-248">
            <a:extLst xmlns:a="http://schemas.openxmlformats.org/drawingml/2006/main">
              <a:ext uri="{FF2B5EF4-FFF2-40B4-BE49-F238E27FC236}">
                <a16:creationId xmlns:a16="http://schemas.microsoft.com/office/drawing/2014/main" id="{3915D4C4-143F-472B-A35E-5905500D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" name="row-body-248">
            <a:extLst xmlns:a="http://schemas.openxmlformats.org/drawingml/2006/main">
              <a:ext uri="{FF2B5EF4-FFF2-40B4-BE49-F238E27FC236}">
                <a16:creationId xmlns:a16="http://schemas.microsoft.com/office/drawing/2014/main" id="{671BDC25-A5D6-4224-8921-F247355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保留原貌；清洗与处理另存。</a:t>
            </a:r>
          </a:p>
        </p:txBody>
      </p:sp>
      <p:sp>
        <p:nvSpPr>
          <p:cNvPr id="15" name="row-label-320">
            <a:extLst xmlns:a="http://schemas.openxmlformats.org/drawingml/2006/main">
              <a:ext uri="{FF2B5EF4-FFF2-40B4-BE49-F238E27FC236}">
                <a16:creationId xmlns:a16="http://schemas.microsoft.com/office/drawing/2014/main" id="{B6E7C3A3-ED09-4570-AD17-F64DF4AF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样本与条件</a:t>
            </a:r>
          </a:p>
        </p:txBody>
      </p:sp>
      <p:sp>
        <p:nvSpPr>
          <p:cNvPr id="16" name="row-body-320">
            <a:extLst xmlns:a="http://schemas.openxmlformats.org/drawingml/2006/main">
              <a:ext uri="{FF2B5EF4-FFF2-40B4-BE49-F238E27FC236}">
                <a16:creationId xmlns:a16="http://schemas.microsoft.com/office/drawing/2014/main" id="{1499C369-7ECE-4655-9B70-6C3A9731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说明样本、采集条件，以及结果对应的范围。</a:t>
            </a:r>
          </a:p>
        </p:txBody>
      </p:sp>
      <p:sp>
        <p:nvSpPr>
          <p:cNvPr id="17" name="row-label-392">
            <a:extLst xmlns:a="http://schemas.openxmlformats.org/drawingml/2006/main">
              <a:ext uri="{FF2B5EF4-FFF2-40B4-BE49-F238E27FC236}">
                <a16:creationId xmlns:a16="http://schemas.microsoft.com/office/drawing/2014/main" id="{309D5AB8-CABD-4F6D-8D75-CC8CEEA4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18" name="row-body-392">
            <a:extLst xmlns:a="http://schemas.openxmlformats.org/drawingml/2006/main">
              <a:ext uri="{FF2B5EF4-FFF2-40B4-BE49-F238E27FC236}">
                <a16:creationId xmlns:a16="http://schemas.microsoft.com/office/drawing/2014/main" id="{43A65649-8936-46AD-BC95-8F9C9C3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能定位实际运行的代码，而不是只写“用了某脚本”。</a:t>
            </a:r>
          </a:p>
        </p:txBody>
      </p:sp>
      <p:sp>
        <p:nvSpPr>
          <p:cNvPr id="19" name="row-label-464">
            <a:extLst xmlns:a="http://schemas.openxmlformats.org/drawingml/2006/main">
              <a:ext uri="{FF2B5EF4-FFF2-40B4-BE49-F238E27FC236}">
                <a16:creationId xmlns:a16="http://schemas.microsoft.com/office/drawing/2014/main" id="{70E8E383-39E0-4A48-B92D-7FB829B1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20" name="row-body-464">
            <a:extLst xmlns:a="http://schemas.openxmlformats.org/drawingml/2006/main">
              <a:ext uri="{FF2B5EF4-FFF2-40B4-BE49-F238E27FC236}">
                <a16:creationId xmlns:a16="http://schemas.microsoft.com/office/drawing/2014/main" id="{2FBDA51C-6536-409C-B04C-DE355565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保存讨论中实际引用的结果图或结果表。</a:t>
            </a:r>
          </a:p>
        </p:txBody>
      </p:sp>
      <p:sp>
        <p:nvSpPr>
          <p:cNvPr id="21" name="row-label-536">
            <a:extLst xmlns:a="http://schemas.openxmlformats.org/drawingml/2006/main">
              <a:ext uri="{FF2B5EF4-FFF2-40B4-BE49-F238E27FC236}">
                <a16:creationId xmlns:a16="http://schemas.microsoft.com/office/drawing/2014/main" id="{D7169406-538A-4676-8B20-4C435F0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22" name="row-body-536">
            <a:extLst xmlns:a="http://schemas.openxmlformats.org/drawingml/2006/main">
              <a:ext uri="{FF2B5EF4-FFF2-40B4-BE49-F238E27FC236}">
                <a16:creationId xmlns:a16="http://schemas.microsoft.com/office/drawing/2014/main" id="{B7311796-05F6-4E4B-8F2A-2DE0501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054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保留判断依据；未纳入结果的样本也要解释排除条件。</a:t>
            </a:r>
          </a:p>
        </p:txBody>
      </p:sp>
    </p:spTree>
    <p:extLst>
      <p:ext uri="{BB962C8B-B14F-4D97-AF65-F5344CB8AC3E}">
        <p14:creationId xmlns:p14="http://schemas.microsoft.com/office/powerpoint/2010/main" val="1670154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mark">
            <a:extLst xmlns:a="http://schemas.openxmlformats.org/drawingml/2006/main">
              <a:ext uri="{FF2B5EF4-FFF2-40B4-BE49-F238E27FC236}">
                <a16:creationId xmlns:a16="http://schemas.microsoft.com/office/drawing/2014/main" id="{B259ACCE-5C76-4078-965E-36AF7FA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50CDB8-24C3-4C27-B53E-AAEAF4B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7C3B68CA-65F7-4EFA-8E3D-C8F9CC2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4E0CFB08-B2F1-49BB-A9B2-20A27C4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732F34A-B935-475E-B3C0-B5AD622E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E7C57B-10B2-45AF-8D52-CBC47CCC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归档保存关系，不改变数据授权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E76DB9-D39E-4A25-8D4B-B3ED0A28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记录可以让结果更可理解，但不能把受限原始数据变成可自由访问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ECD5C149-ED80-4717-B11C-4B44403F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9" name="discussion-surface">
            <a:extLst xmlns:a="http://schemas.openxmlformats.org/drawingml/2006/main">
              <a:ext uri="{FF2B5EF4-FFF2-40B4-BE49-F238E27FC236}">
                <a16:creationId xmlns:a16="http://schemas.microsoft.com/office/drawing/2014/main" id="{AD923A09-CBEE-4135-AAAD-F364725F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48CCE6C1-90D1-446B-971B-8CB8576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结果图 + 可公开解释</a:t>
            </a:r>
          </a:p>
        </p:txBody>
      </p:sp>
      <p:sp>
        <p:nvSpPr>
          <p:cNvPr id="11" name="discussion-1-dot">
            <a:extLst xmlns:a="http://schemas.openxmlformats.org/drawingml/2006/main">
              <a:ext uri="{FF2B5EF4-FFF2-40B4-BE49-F238E27FC236}">
                <a16:creationId xmlns:a16="http://schemas.microsoft.com/office/drawing/2014/main" id="{D894DD55-7A5E-441C-949F-DED04D8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discussion-1-copy">
            <a:extLst xmlns:a="http://schemas.openxmlformats.org/drawingml/2006/main">
              <a:ext uri="{FF2B5EF4-FFF2-40B4-BE49-F238E27FC236}">
                <a16:creationId xmlns:a16="http://schemas.microsoft.com/office/drawing/2014/main" id="{9D21FA92-6FA5-4A59-BB9A-7E868E67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05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用于课题组讨论与复核入口</a:t>
            </a:r>
          </a:p>
        </p:txBody>
      </p:sp>
      <p:sp>
        <p:nvSpPr>
          <p:cNvPr id="13" name="discussion-2-dot">
            <a:extLst xmlns:a="http://schemas.openxmlformats.org/drawingml/2006/main">
              <a:ext uri="{FF2B5EF4-FFF2-40B4-BE49-F238E27FC236}">
                <a16:creationId xmlns:a16="http://schemas.microsoft.com/office/drawing/2014/main" id="{135A1FD4-1B3D-43F0-9BA3-1BD37096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discussion-2-copy">
            <a:extLst xmlns:a="http://schemas.openxmlformats.org/drawingml/2006/main">
              <a:ext uri="{FF2B5EF4-FFF2-40B4-BE49-F238E27FC236}">
                <a16:creationId xmlns:a16="http://schemas.microsoft.com/office/drawing/2014/main" id="{209C3DBF-0062-4A86-B2DF-C83E8928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62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记录中保留受控引用，而非复制受限文件</a:t>
            </a:r>
          </a:p>
        </p:txBody>
      </p:sp>
      <p:sp>
        <p:nvSpPr>
          <p:cNvPr id="15" name="discussion-3-dot">
            <a:extLst xmlns:a="http://schemas.openxmlformats.org/drawingml/2006/main">
              <a:ext uri="{FF2B5EF4-FFF2-40B4-BE49-F238E27FC236}">
                <a16:creationId xmlns:a16="http://schemas.microsoft.com/office/drawing/2014/main" id="{1C85629E-719D-4B0B-9693-0E0BFB16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discussion-3-copy">
            <a:extLst xmlns:a="http://schemas.openxmlformats.org/drawingml/2006/main">
              <a:ext uri="{FF2B5EF4-FFF2-40B4-BE49-F238E27FC236}">
                <a16:creationId xmlns:a16="http://schemas.microsoft.com/office/drawing/2014/main" id="{DF518934-BED6-4516-985E-C8E84ADB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195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说明访问条件与责任边界</a:t>
            </a:r>
          </a:p>
        </p:txBody>
      </p:sp>
      <p:sp>
        <p:nvSpPr>
          <p:cNvPr id="17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917232D1-42B9-47ED-ABB0-F39B1F20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8" name="raw-surface">
            <a:extLst xmlns:a="http://schemas.openxmlformats.org/drawingml/2006/main">
              <a:ext uri="{FF2B5EF4-FFF2-40B4-BE49-F238E27FC236}">
                <a16:creationId xmlns:a16="http://schemas.microsoft.com/office/drawing/2014/main" id="{7E2E7644-5590-423D-B9A2-275879ED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4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w-title">
            <a:extLst xmlns:a="http://schemas.openxmlformats.org/drawingml/2006/main">
              <a:ext uri="{FF2B5EF4-FFF2-40B4-BE49-F238E27FC236}">
                <a16:creationId xmlns:a16="http://schemas.microsoft.com/office/drawing/2014/main" id="{DE2FD42B-EC5D-4A40-A293-43EF149F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仍放在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0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原授权位置</a:t>
            </a:r>
          </a:p>
        </p:txBody>
      </p:sp>
      <p:sp>
        <p:nvSpPr>
          <p:cNvPr id="20" name="raw-copy">
            <a:extLst xmlns:a="http://schemas.openxmlformats.org/drawingml/2006/main">
              <a:ext uri="{FF2B5EF4-FFF2-40B4-BE49-F238E27FC236}">
                <a16:creationId xmlns:a16="http://schemas.microsoft.com/office/drawing/2014/main" id="{E31674D8-3BD4-4B4A-B132-AAF1EFCD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涉及个人信息或合作限制的内容，不能因为归档而改变授权。</a:t>
            </a:r>
          </a:p>
        </p:txBody>
      </p:sp>
      <p:sp>
        <p:nvSpPr>
          <p:cNvPr id="21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804144C0-ADD4-42F2-98CB-CC497C4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860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7563ACEE-06DC-4D98-B1DC-9E6D07D2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+ 访问条件</a:t>
            </a:r>
          </a:p>
        </p:txBody>
      </p:sp>
      <p:sp>
        <p:nvSpPr>
          <p:cNvPr id="23" name="boundary-line-2">
            <a:extLst xmlns:a="http://schemas.openxmlformats.org/drawingml/2006/main">
              <a:ext uri="{FF2B5EF4-FFF2-40B4-BE49-F238E27FC236}">
                <a16:creationId xmlns:a16="http://schemas.microsoft.com/office/drawing/2014/main" id="{03B02F74-5649-4699-B4FD-73CB9F15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321492B4-216E-4BA8-803E-2BA0D674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一个路径出现在记录表中，不代表其他成员已经取得访问权；授权仍由负责人处理。</a:t>
            </a:r>
          </a:p>
        </p:txBody>
      </p:sp>
    </p:spTree>
    <p:extLst>
      <p:ext uri="{BB962C8B-B14F-4D97-AF65-F5344CB8AC3E}">
        <p14:creationId xmlns:p14="http://schemas.microsoft.com/office/powerpoint/2010/main" val="1962418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mark">
            <a:extLst xmlns:a="http://schemas.openxmlformats.org/drawingml/2006/main">
              <a:ext uri="{FF2B5EF4-FFF2-40B4-BE49-F238E27FC236}">
                <a16:creationId xmlns:a16="http://schemas.microsoft.com/office/drawing/2014/main" id="{A58D9CE3-331C-407D-A133-E737473A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D569D5-FA76-48F9-9FC8-5DC6608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84B52EA1-EFF7-44BB-BD37-7E249170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27B7E6C-303E-4947-9655-6D7055F8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84812C3-280D-449F-862A-E36FCE13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0BE074-389D-427E-A6C9-9956883C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先从新增实验开始，历史档案只逐项补充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BFCE48-0459-487F-A90C-127CB4B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两种推进思路的差异，必须放在同一组维度上比较</a:t>
            </a:r>
          </a:p>
        </p:txBody>
      </p:sp>
      <p:sp>
        <p:nvSpPr>
          <p:cNvPr id="8" name="compare-label">
            <a:extLst xmlns:a="http://schemas.openxmlformats.org/drawingml/2006/main">
              <a:ext uri="{FF2B5EF4-FFF2-40B4-BE49-F238E27FC236}">
                <a16:creationId xmlns:a16="http://schemas.microsoft.com/office/drawing/2014/main" id="{31383B03-2B44-43C2-B2C9-FFA5DCB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推进范围比较</a:t>
            </a:r>
          </a:p>
        </p:txBody>
      </p:sp>
      <p:sp>
        <p:nvSpPr>
          <p:cNvPr id="9" name="col-a">
            <a:extLst xmlns:a="http://schemas.openxmlformats.org/drawingml/2006/main">
              <a:ext uri="{FF2B5EF4-FFF2-40B4-BE49-F238E27FC236}">
                <a16:creationId xmlns:a16="http://schemas.microsoft.com/office/drawing/2014/main" id="{B10442D3-75D1-47BF-82DA-DA54D2AC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85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0" name="col-b">
            <a:extLst xmlns:a="http://schemas.openxmlformats.org/drawingml/2006/main">
              <a:ext uri="{FF2B5EF4-FFF2-40B4-BE49-F238E27FC236}">
                <a16:creationId xmlns:a16="http://schemas.microsoft.com/office/drawing/2014/main" id="{E52F6B9A-4F0F-42AE-ADBF-4AB2604D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85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从新增实验开始</a:t>
            </a:r>
          </a:p>
        </p:txBody>
      </p:sp>
      <p:sp>
        <p:nvSpPr>
          <p:cNvPr id="11" name="compare-head-rule">
            <a:extLst xmlns:a="http://schemas.openxmlformats.org/drawingml/2006/main">
              <a:ext uri="{FF2B5EF4-FFF2-40B4-BE49-F238E27FC236}">
                <a16:creationId xmlns:a16="http://schemas.microsoft.com/office/drawing/2014/main" id="{86D3519E-E868-4912-9E2B-94D8490E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mp-label-0">
            <a:extLst xmlns:a="http://schemas.openxmlformats.org/drawingml/2006/main">
              <a:ext uri="{FF2B5EF4-FFF2-40B4-BE49-F238E27FC236}">
                <a16:creationId xmlns:a16="http://schemas.microsoft.com/office/drawing/2014/main" id="{C37BCC78-090C-4FBC-8D30-B74A2BBD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能解决什么</a:t>
            </a:r>
          </a:p>
        </p:txBody>
      </p:sp>
      <p:sp>
        <p:nvSpPr>
          <p:cNvPr id="13" name="cmp-a-0">
            <a:extLst xmlns:a="http://schemas.openxmlformats.org/drawingml/2006/main">
              <a:ext uri="{FF2B5EF4-FFF2-40B4-BE49-F238E27FC236}">
                <a16:creationId xmlns:a16="http://schemas.microsoft.com/office/drawing/2014/main" id="{29230531-1F5F-46DE-ABC0-E7CFDD3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527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一次形成较大的目录。</a:t>
            </a:r>
          </a:p>
        </p:txBody>
      </p:sp>
      <p:sp>
        <p:nvSpPr>
          <p:cNvPr id="14" name="cmp-b-bg-0">
            <a:extLst xmlns:a="http://schemas.openxmlformats.org/drawingml/2006/main">
              <a:ext uri="{FF2B5EF4-FFF2-40B4-BE49-F238E27FC236}">
                <a16:creationId xmlns:a16="http://schemas.microsoft.com/office/drawing/2014/main" id="{A3E9215E-A752-4A9F-9531-9C764D2B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19350"/>
            <a:ext cx="4552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mp-b-0">
            <a:extLst xmlns:a="http://schemas.openxmlformats.org/drawingml/2006/main">
              <a:ext uri="{FF2B5EF4-FFF2-40B4-BE49-F238E27FC236}">
                <a16:creationId xmlns:a16="http://schemas.microsoft.com/office/drawing/2014/main" id="{6DA14B63-E162-4303-9974-801EF58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527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上下文尚清楚时，先把新增记录做完整。</a:t>
            </a:r>
          </a:p>
        </p:txBody>
      </p:sp>
      <p:sp>
        <p:nvSpPr>
          <p:cNvPr id="16" name="cmp-rule-0">
            <a:extLst xmlns:a="http://schemas.openxmlformats.org/drawingml/2006/main">
              <a:ext uri="{FF2B5EF4-FFF2-40B4-BE49-F238E27FC236}">
                <a16:creationId xmlns:a16="http://schemas.microsoft.com/office/drawing/2014/main" id="{684A8B21-A155-4EA8-8851-65503FCA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mp-label-1">
            <a:extLst xmlns:a="http://schemas.openxmlformats.org/drawingml/2006/main">
              <a:ext uri="{FF2B5EF4-FFF2-40B4-BE49-F238E27FC236}">
                <a16:creationId xmlns:a16="http://schemas.microsoft.com/office/drawing/2014/main" id="{FC520333-3D7B-4CA6-BF01-6FF726C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18" name="cmp-a-1">
            <a:extLst xmlns:a="http://schemas.openxmlformats.org/drawingml/2006/main">
              <a:ext uri="{FF2B5EF4-FFF2-40B4-BE49-F238E27FC236}">
                <a16:creationId xmlns:a16="http://schemas.microsoft.com/office/drawing/2014/main" id="{223DD174-C647-4734-9D69-B5C8B36D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195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追查遗失上下文，可能把不确定记忆写成确定说明。</a:t>
            </a:r>
          </a:p>
        </p:txBody>
      </p:sp>
      <p:sp>
        <p:nvSpPr>
          <p:cNvPr id="19" name="cmp-b-bg-1">
            <a:extLst xmlns:a="http://schemas.openxmlformats.org/drawingml/2006/main">
              <a:ext uri="{FF2B5EF4-FFF2-40B4-BE49-F238E27FC236}">
                <a16:creationId xmlns:a16="http://schemas.microsoft.com/office/drawing/2014/main" id="{42BAAC03-E866-45FC-BE1F-98B2816C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86150"/>
            <a:ext cx="4552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mp-b-1">
            <a:extLst xmlns:a="http://schemas.openxmlformats.org/drawingml/2006/main">
              <a:ext uri="{FF2B5EF4-FFF2-40B4-BE49-F238E27FC236}">
                <a16:creationId xmlns:a16="http://schemas.microsoft.com/office/drawing/2014/main" id="{746E270E-714A-4B4F-B9BC-97430DD7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短期无法解决全部历史材料的追溯问题。</a:t>
            </a:r>
          </a:p>
        </p:txBody>
      </p:sp>
      <p:sp>
        <p:nvSpPr>
          <p:cNvPr id="21" name="cmp-rule-1">
            <a:extLst xmlns:a="http://schemas.openxmlformats.org/drawingml/2006/main">
              <a:ext uri="{FF2B5EF4-FFF2-40B4-BE49-F238E27FC236}">
                <a16:creationId xmlns:a16="http://schemas.microsoft.com/office/drawing/2014/main" id="{F2B05C8A-6ED0-4555-94A2-A4AFA07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mp-label-2">
            <a:extLst xmlns:a="http://schemas.openxmlformats.org/drawingml/2006/main">
              <a:ext uri="{FF2B5EF4-FFF2-40B4-BE49-F238E27FC236}">
                <a16:creationId xmlns:a16="http://schemas.microsoft.com/office/drawing/2014/main" id="{106A63CC-C478-43E7-88EB-732FA795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在试点中的角色</a:t>
            </a:r>
          </a:p>
        </p:txBody>
      </p:sp>
      <p:sp>
        <p:nvSpPr>
          <p:cNvPr id="23" name="cmp-a-2">
            <a:extLst xmlns:a="http://schemas.openxmlformats.org/drawingml/2006/main">
              <a:ext uri="{FF2B5EF4-FFF2-40B4-BE49-F238E27FC236}">
                <a16:creationId xmlns:a16="http://schemas.microsoft.com/office/drawing/2014/main" id="{38DDA9F5-9F50-49F9-9202-40EFFF56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863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只对真正需要复核的历史结果逐项补充。</a:t>
            </a:r>
          </a:p>
        </p:txBody>
      </p:sp>
      <p:sp>
        <p:nvSpPr>
          <p:cNvPr id="24" name="cmp-b-bg-2">
            <a:extLst xmlns:a="http://schemas.openxmlformats.org/drawingml/2006/main">
              <a:ext uri="{FF2B5EF4-FFF2-40B4-BE49-F238E27FC236}">
                <a16:creationId xmlns:a16="http://schemas.microsoft.com/office/drawing/2014/main" id="{7A332C43-4F6F-4CF4-BE5E-46A43B5F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552950"/>
            <a:ext cx="4552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4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mp-b-2">
            <a:extLst xmlns:a="http://schemas.openxmlformats.org/drawingml/2006/main">
              <a:ext uri="{FF2B5EF4-FFF2-40B4-BE49-F238E27FC236}">
                <a16:creationId xmlns:a16="http://schemas.microsoft.com/office/drawing/2014/main" id="{E601550F-8ED8-4CD9-A5DD-0263A137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作为四周试点的主要范围。</a:t>
            </a:r>
          </a:p>
        </p:txBody>
      </p:sp>
      <p:sp>
        <p:nvSpPr>
          <p:cNvPr id="26" name="cmp-rule-2">
            <a:extLst xmlns:a="http://schemas.openxmlformats.org/drawingml/2006/main">
              <a:ext uri="{FF2B5EF4-FFF2-40B4-BE49-F238E27FC236}">
                <a16:creationId xmlns:a16="http://schemas.microsoft.com/office/drawing/2014/main" id="{BFBB6755-6979-42AD-B3C9-698C9F63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re-caveat">
            <a:extLst xmlns:a="http://schemas.openxmlformats.org/drawingml/2006/main">
              <a:ext uri="{FF2B5EF4-FFF2-40B4-BE49-F238E27FC236}">
                <a16:creationId xmlns:a16="http://schemas.microsoft.com/office/drawing/2014/main" id="{DE7F11FE-90C6-4AD6-85CA-32C0514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这是范围选择，不能表述为已经证明新方式更高效。</a:t>
            </a:r>
          </a:p>
        </p:txBody>
      </p:sp>
    </p:spTree>
    <p:extLst>
      <p:ext uri="{BB962C8B-B14F-4D97-AF65-F5344CB8AC3E}">
        <p14:creationId xmlns:p14="http://schemas.microsoft.com/office/powerpoint/2010/main" val="566682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mark">
            <a:extLst xmlns:a="http://schemas.openxmlformats.org/drawingml/2006/main">
              <a:ext uri="{FF2B5EF4-FFF2-40B4-BE49-F238E27FC236}">
                <a16:creationId xmlns:a16="http://schemas.microsoft.com/office/drawing/2014/main" id="{8567CDD2-9738-43DB-B34D-1D7F2F1D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36A5C9-B6AD-4B5B-B099-3CF9F94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710F45C5-6B89-46E7-AA0D-C63A003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A6219C55-7AF8-4A8E-B3EB-9382CC0D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D07D4D-DF19-49BB-9581-0B1E432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E933F-9259-451D-AFC0-FA6ED4E1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复核先检查可理解性，不代替科学结论审查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252762-F199-42C5-912E-4A5CBB3B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先确认别人能沿记录还原来源，再进入讨论版本</a:t>
            </a:r>
          </a:p>
        </p:txBody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D6A1FAA5-ADBA-4351-8CBF-CAEE719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87111524-7703-45C5-AE14-354906F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node-2">
            <a:extLst xmlns:a="http://schemas.openxmlformats.org/drawingml/2006/main">
              <a:ext uri="{FF2B5EF4-FFF2-40B4-BE49-F238E27FC236}">
                <a16:creationId xmlns:a16="http://schemas.microsoft.com/office/drawing/2014/main" id="{31C38A01-E3B7-44BB-B7D5-55A5B5AE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node-3">
            <a:extLst xmlns:a="http://schemas.openxmlformats.org/drawingml/2006/main">
              <a:ext uri="{FF2B5EF4-FFF2-40B4-BE49-F238E27FC236}">
                <a16:creationId xmlns:a16="http://schemas.microsoft.com/office/drawing/2014/main" id="{ABC5BCA7-D9FD-4A06-875C-16A9EC0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035DAB4-3F6E-413A-90EF-1DA0EDA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67E3197A-E4E0-4B84-B839-1D17DAA1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713248A-CBF5-4E43-90B5-1F76650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0">
            <a:extLst xmlns:a="http://schemas.openxmlformats.org/drawingml/2006/main">
              <a:ext uri="{FF2B5EF4-FFF2-40B4-BE49-F238E27FC236}">
                <a16:creationId xmlns:a16="http://schemas.microsoft.com/office/drawing/2014/main" id="{69232D99-14D1-42D1-9BC8-6A40827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提交结果记录</a:t>
            </a:r>
          </a:p>
        </p:txBody>
      </p:sp>
      <p:sp>
        <p:nvSpPr>
          <p:cNvPr id="16" name="flow-1">
            <a:extLst xmlns:a="http://schemas.openxmlformats.org/drawingml/2006/main">
              <a:ext uri="{FF2B5EF4-FFF2-40B4-BE49-F238E27FC236}">
                <a16:creationId xmlns:a16="http://schemas.microsoft.com/office/drawing/2014/main" id="{17E03F5B-047C-4668-92EB-7B349A65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复核者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定位数据、脚本与条件</a:t>
            </a:r>
          </a:p>
        </p:txBody>
      </p:sp>
      <p:sp>
        <p:nvSpPr>
          <p:cNvPr id="17" name="flow-2">
            <a:extLst xmlns:a="http://schemas.openxmlformats.org/drawingml/2006/main">
              <a:ext uri="{FF2B5EF4-FFF2-40B4-BE49-F238E27FC236}">
                <a16:creationId xmlns:a16="http://schemas.microsoft.com/office/drawing/2014/main" id="{29A6C284-B502-462E-8D55-EAC9F133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补充缺项</a:t>
            </a:r>
          </a:p>
        </p:txBody>
      </p: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3A129699-F222-4C59-A0F6-F52DC6A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确认可讨论版本</a:t>
            </a:r>
          </a:p>
        </p:txBody>
      </p:sp>
      <p:sp>
        <p:nvSpPr>
          <p:cNvPr id="19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0A1E6DD9-DE4F-4F3D-88D1-F95E5CF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拟定工作顺序</a:t>
            </a:r>
          </a:p>
        </p:txBody>
      </p:sp>
      <p:sp>
        <p:nvSpPr>
          <p:cNvPr id="20" name="pause-surface">
            <a:extLst xmlns:a="http://schemas.openxmlformats.org/drawingml/2006/main">
              <a:ext uri="{FF2B5EF4-FFF2-40B4-BE49-F238E27FC236}">
                <a16:creationId xmlns:a16="http://schemas.microsoft.com/office/drawing/2014/main" id="{BC9BB3FC-CA0D-43F1-8E09-6C69F90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E"/>
            </a:solidFill>
            <a:prstDash val="solid"/>
          </a:ln>
        </p:spPr>
      </p:sp>
      <p:sp>
        <p:nvSpPr>
          <p:cNvPr id="21" name="pause-label">
            <a:extLst xmlns:a="http://schemas.openxmlformats.org/drawingml/2006/main">
              <a:ext uri="{FF2B5EF4-FFF2-40B4-BE49-F238E27FC236}">
                <a16:creationId xmlns:a16="http://schemas.microsoft.com/office/drawing/2014/main" id="{7859570C-4E1D-48BD-B56C-4AF2F27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若涉及</a:t>
            </a:r>
          </a:p>
        </p:txBody>
      </p:sp>
      <p:sp>
        <p:nvSpPr>
          <p:cNvPr id="22" name="pause-main">
            <a:extLst xmlns:a="http://schemas.openxmlformats.org/drawingml/2006/main">
              <a:ext uri="{FF2B5EF4-FFF2-40B4-BE49-F238E27FC236}">
                <a16:creationId xmlns:a16="http://schemas.microsoft.com/office/drawing/2014/main" id="{59ED7F07-020D-43E3-8686-AE213D02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新的访问授权</a:t>
            </a:r>
          </a:p>
        </p:txBody>
      </p:sp>
      <p:sp>
        <p:nvSpPr>
          <p:cNvPr id="23" name="pause-copy">
            <a:extLst xmlns:a="http://schemas.openxmlformats.org/drawingml/2006/main">
              <a:ext uri="{FF2B5EF4-FFF2-40B4-BE49-F238E27FC236}">
                <a16:creationId xmlns:a16="http://schemas.microsoft.com/office/drawing/2014/main" id="{5E83BDCB-9D59-4C73-B92F-04CBBB69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暂停共享，由负责人处理后再继续。</a:t>
            </a:r>
          </a:p>
        </p:txBody>
      </p:sp>
      <p:sp>
        <p:nvSpPr>
          <p:cNvPr id="24" name="scope-note">
            <a:extLst xmlns:a="http://schemas.openxmlformats.org/drawingml/2006/main">
              <a:ext uri="{FF2B5EF4-FFF2-40B4-BE49-F238E27FC236}">
                <a16:creationId xmlns:a16="http://schemas.microsoft.com/office/drawing/2014/main" id="{C654432F-7A82-439D-A958-B2F5726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复核不要求复做整项实验，也不代替科学结论审查；它先检查别人是否能理解这个结果是怎么产生的。</a:t>
            </a:r>
          </a:p>
        </p:txBody>
      </p:sp>
    </p:spTree>
    <p:extLst>
      <p:ext uri="{BB962C8B-B14F-4D97-AF65-F5344CB8AC3E}">
        <p14:creationId xmlns:p14="http://schemas.microsoft.com/office/powerpoint/2010/main" val="1224316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mark">
            <a:extLst xmlns:a="http://schemas.openxmlformats.org/drawingml/2006/main">
              <a:ext uri="{FF2B5EF4-FFF2-40B4-BE49-F238E27FC236}">
                <a16:creationId xmlns:a16="http://schemas.microsoft.com/office/drawing/2014/main" id="{3FA87963-8375-4173-870F-428ABC7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B3DEB4-F45E-46FF-802C-BC3C0EA2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4BA768CB-82DA-43EA-AD0B-A175D17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7A26AF9-5CF5-4FF6-9D4D-FEE5D50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648BAD4-46B9-4869-934C-707CD0C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49EF21-81CE-4EA9-A5B0-7ABAFFB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四周只验证一个有限问题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956CC4-4A79-4325-88BC-0295390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范围越小，越能看清记录是否真的帮助理解结果</a:t>
            </a:r>
          </a:p>
        </p:txBody>
      </p:sp>
      <p:sp>
        <p:nvSpPr>
          <p:cNvPr id="8" name="pilot-scope">
            <a:extLst xmlns:a="http://schemas.openxmlformats.org/drawingml/2006/main">
              <a:ext uri="{FF2B5EF4-FFF2-40B4-BE49-F238E27FC236}">
                <a16:creationId xmlns:a16="http://schemas.microsoft.com/office/drawing/2014/main" id="{D52DCFE9-68C9-4904-858A-D706AC07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scope-copy">
            <a:extLst xmlns:a="http://schemas.openxmlformats.org/drawingml/2006/main">
              <a:ext uri="{FF2B5EF4-FFF2-40B4-BE49-F238E27FC236}">
                <a16:creationId xmlns:a16="http://schemas.microsoft.com/office/drawing/2014/main" id="{FDEA64AC-2FAC-49FA-A6D5-B4A53053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个课题方向     ·     2 名自愿成员     ·     记录新增实验</a:t>
            </a:r>
          </a:p>
        </p:txBody>
      </p:sp>
      <p:sp>
        <p:nvSpPr>
          <p:cNvPr id="10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6D2EA1EE-01D1-403C-ADA2-2E00BE31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四周安排</a:t>
            </a:r>
          </a:p>
        </p:txBody>
      </p:sp>
      <p:sp>
        <p:nvSpPr>
          <p:cNvPr id="11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1770CAAB-2B89-492A-B1E0-9F928ED4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eek-dot-0">
            <a:extLst xmlns:a="http://schemas.openxmlformats.org/drawingml/2006/main">
              <a:ext uri="{FF2B5EF4-FFF2-40B4-BE49-F238E27FC236}">
                <a16:creationId xmlns:a16="http://schemas.microsoft.com/office/drawing/2014/main" id="{5D16F0E5-226E-40C7-8B57-98C0CA25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eek-head-0">
            <a:extLst xmlns:a="http://schemas.openxmlformats.org/drawingml/2006/main">
              <a:ext uri="{FF2B5EF4-FFF2-40B4-BE49-F238E27FC236}">
                <a16:creationId xmlns:a16="http://schemas.microsoft.com/office/drawing/2014/main" id="{BDFB0827-C1A7-47A3-A336-47D69647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week-copy-0">
            <a:extLst xmlns:a="http://schemas.openxmlformats.org/drawingml/2006/main">
              <a:ext uri="{FF2B5EF4-FFF2-40B4-BE49-F238E27FC236}">
                <a16:creationId xmlns:a16="http://schemas.microsoft.com/office/drawing/2014/main" id="{F0B224E0-7A4B-482D-ADBF-B8D22ED2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共同明确最少字段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5" name="week-dot-1">
            <a:extLst xmlns:a="http://schemas.openxmlformats.org/drawingml/2006/main">
              <a:ext uri="{FF2B5EF4-FFF2-40B4-BE49-F238E27FC236}">
                <a16:creationId xmlns:a16="http://schemas.microsoft.com/office/drawing/2014/main" id="{8B813E1A-025C-4CB8-AC3E-25940959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ek-head-1">
            <a:extLst xmlns:a="http://schemas.openxmlformats.org/drawingml/2006/main">
              <a:ext uri="{FF2B5EF4-FFF2-40B4-BE49-F238E27FC236}">
                <a16:creationId xmlns:a16="http://schemas.microsoft.com/office/drawing/2014/main" id="{CF441009-6C6E-41D8-870A-DB27ACF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7" name="week-copy-1">
            <a:extLst xmlns:a="http://schemas.openxmlformats.org/drawingml/2006/main">
              <a:ext uri="{FF2B5EF4-FFF2-40B4-BE49-F238E27FC236}">
                <a16:creationId xmlns:a16="http://schemas.microsoft.com/office/drawing/2014/main" id="{DB2BECC9-360D-40F6-9EB3-00544EBF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记录缺项与负担</a:t>
            </a:r>
          </a:p>
        </p:txBody>
      </p:sp>
      <p:sp>
        <p:nvSpPr>
          <p:cNvPr id="18" name="week-dot-2">
            <a:extLst xmlns:a="http://schemas.openxmlformats.org/drawingml/2006/main">
              <a:ext uri="{FF2B5EF4-FFF2-40B4-BE49-F238E27FC236}">
                <a16:creationId xmlns:a16="http://schemas.microsoft.com/office/drawing/2014/main" id="{D2711FCC-499B-470E-B09F-D9E50D80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eek-head-2">
            <a:extLst xmlns:a="http://schemas.openxmlformats.org/drawingml/2006/main">
              <a:ext uri="{FF2B5EF4-FFF2-40B4-BE49-F238E27FC236}">
                <a16:creationId xmlns:a16="http://schemas.microsoft.com/office/drawing/2014/main" id="{B23239A8-FFF6-4320-AC08-3280BEB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47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0" name="week-copy-2">
            <a:extLst xmlns:a="http://schemas.openxmlformats.org/drawingml/2006/main">
              <a:ext uri="{FF2B5EF4-FFF2-40B4-BE49-F238E27FC236}">
                <a16:creationId xmlns:a16="http://schemas.microsoft.com/office/drawing/2014/main" id="{344A852E-7535-426D-8463-21F1AF0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继续记录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观察复核过程</a:t>
            </a:r>
          </a:p>
        </p:txBody>
      </p:sp>
      <p:sp>
        <p:nvSpPr>
          <p:cNvPr id="21" name="week-dot-3">
            <a:extLst xmlns:a="http://schemas.openxmlformats.org/drawingml/2006/main">
              <a:ext uri="{FF2B5EF4-FFF2-40B4-BE49-F238E27FC236}">
                <a16:creationId xmlns:a16="http://schemas.microsoft.com/office/drawing/2014/main" id="{3D0DE347-95C1-4BA7-AAE0-8A94338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eek-head-3">
            <a:extLst xmlns:a="http://schemas.openxmlformats.org/drawingml/2006/main">
              <a:ext uri="{FF2B5EF4-FFF2-40B4-BE49-F238E27FC236}">
                <a16:creationId xmlns:a16="http://schemas.microsoft.com/office/drawing/2014/main" id="{3F83E0B7-22BB-4BBC-A596-156E1F2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week-copy-3">
            <a:extLst xmlns:a="http://schemas.openxmlformats.org/drawingml/2006/main">
              <a:ext uri="{FF2B5EF4-FFF2-40B4-BE49-F238E27FC236}">
                <a16:creationId xmlns:a16="http://schemas.microsoft.com/office/drawing/2014/main" id="{55176B44-F430-4B53-97BE-E187BB9E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4" name="pilot-foot-rule">
            <a:extLst xmlns:a="http://schemas.openxmlformats.org/drawingml/2006/main">
              <a:ext uri="{FF2B5EF4-FFF2-40B4-BE49-F238E27FC236}">
                <a16:creationId xmlns:a16="http://schemas.microsoft.com/office/drawing/2014/main" id="{1D690A08-300D-489C-AC34-16E9762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foot">
            <a:extLst xmlns:a="http://schemas.openxmlformats.org/drawingml/2006/main">
              <a:ext uri="{FF2B5EF4-FFF2-40B4-BE49-F238E27FC236}">
                <a16:creationId xmlns:a16="http://schemas.microsoft.com/office/drawing/2014/main" id="{D9EC4573-F9E0-40F0-BF10-4250A68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四周、两人和周次安排都是拟定范围；本方案没有实测效率提升或完成率数字。</a:t>
            </a:r>
          </a:p>
        </p:txBody>
      </p:sp>
    </p:spTree>
    <p:extLst>
      <p:ext uri="{BB962C8B-B14F-4D97-AF65-F5344CB8AC3E}">
        <p14:creationId xmlns:p14="http://schemas.microsoft.com/office/powerpoint/2010/main" val="983817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-mark">
            <a:extLst xmlns:a="http://schemas.openxmlformats.org/drawingml/2006/main">
              <a:ext uri="{FF2B5EF4-FFF2-40B4-BE49-F238E27FC236}">
                <a16:creationId xmlns:a16="http://schemas.microsoft.com/office/drawing/2014/main" id="{27B82DEC-D22E-419C-8C19-FA90A866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EC40CE-00C3-4180-807F-935C3C0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6EC22AD2-1349-4C79-BFFC-8460E519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DAAF3F65-A59F-4B26-A7E8-E4C2B2F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4373DD9-9C2E-4CCF-A3D2-3690A35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B01D0F-B957-4B48-A3F6-64E0B777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试点是否值得保留，要同时看能否定位、解释、持续承担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42AE19-B756-4C30-A205-573E63F5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不先给一个统一“合格分数”，而是收集具体复核过程与当事人反馈</a:t>
            </a:r>
          </a:p>
        </p:txBody>
      </p:sp>
      <p:sp>
        <p:nvSpPr>
          <p:cNvPr id="8" name="eval-label">
            <a:extLst xmlns:a="http://schemas.openxmlformats.org/drawingml/2006/main">
              <a:ext uri="{FF2B5EF4-FFF2-40B4-BE49-F238E27FC236}">
                <a16:creationId xmlns:a16="http://schemas.microsoft.com/office/drawing/2014/main" id="{C099CC96-55F8-4138-AD2C-8288815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三个评估问题</a:t>
            </a:r>
          </a:p>
        </p:txBody>
      </p:sp>
      <p:sp>
        <p:nvSpPr>
          <p:cNvPr id="9" name="eval-no-0">
            <a:extLst xmlns:a="http://schemas.openxmlformats.org/drawingml/2006/main">
              <a:ext uri="{FF2B5EF4-FFF2-40B4-BE49-F238E27FC236}">
                <a16:creationId xmlns:a16="http://schemas.microsoft.com/office/drawing/2014/main" id="{07FE8CB6-4CC0-4D0C-84FF-69DAF4D6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eval-head-0">
            <a:extLst xmlns:a="http://schemas.openxmlformats.org/drawingml/2006/main">
              <a:ext uri="{FF2B5EF4-FFF2-40B4-BE49-F238E27FC236}">
                <a16:creationId xmlns:a16="http://schemas.microsoft.com/office/drawing/2014/main" id="{85ED71A9-AC95-4CE7-B5D7-4A6E2B5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能否定位</a:t>
            </a:r>
          </a:p>
        </p:txBody>
      </p:sp>
      <p:sp>
        <p:nvSpPr>
          <p:cNvPr id="11" name="eval-copy-0">
            <a:extLst xmlns:a="http://schemas.openxmlformats.org/drawingml/2006/main">
              <a:ext uri="{FF2B5EF4-FFF2-40B4-BE49-F238E27FC236}">
                <a16:creationId xmlns:a16="http://schemas.microsoft.com/office/drawing/2014/main" id="{2E1582E4-D7DC-4273-9396-6F961C7F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其他成员能否沿记录定位结果的来源？</a:t>
            </a:r>
          </a:p>
        </p:txBody>
      </p:sp>
      <p:sp>
        <p:nvSpPr>
          <p:cNvPr id="12" name="eval-rule-0">
            <a:extLst xmlns:a="http://schemas.openxmlformats.org/drawingml/2006/main">
              <a:ext uri="{FF2B5EF4-FFF2-40B4-BE49-F238E27FC236}">
                <a16:creationId xmlns:a16="http://schemas.microsoft.com/office/drawing/2014/main" id="{866218D9-90B5-47F7-8F6B-B16B517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al-no-1">
            <a:extLst xmlns:a="http://schemas.openxmlformats.org/drawingml/2006/main">
              <a:ext uri="{FF2B5EF4-FFF2-40B4-BE49-F238E27FC236}">
                <a16:creationId xmlns:a16="http://schemas.microsoft.com/office/drawing/2014/main" id="{09C77224-3B02-4D1A-86B8-54FB779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val-head-1">
            <a:extLst xmlns:a="http://schemas.openxmlformats.org/drawingml/2006/main">
              <a:ext uri="{FF2B5EF4-FFF2-40B4-BE49-F238E27FC236}">
                <a16:creationId xmlns:a16="http://schemas.microsoft.com/office/drawing/2014/main" id="{2F0C8AAE-AD03-46FF-B0D0-D216E9F7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能否解释</a:t>
            </a:r>
          </a:p>
        </p:txBody>
      </p:sp>
      <p:sp>
        <p:nvSpPr>
          <p:cNvPr id="15" name="eval-copy-1">
            <a:extLst xmlns:a="http://schemas.openxmlformats.org/drawingml/2006/main">
              <a:ext uri="{FF2B5EF4-FFF2-40B4-BE49-F238E27FC236}">
                <a16:creationId xmlns:a16="http://schemas.microsoft.com/office/drawing/2014/main" id="{49D9FBF9-287F-4258-9B22-2F7C5E6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关键处理与排除是否有可理解的依据？</a:t>
            </a:r>
          </a:p>
        </p:txBody>
      </p:sp>
      <p:sp>
        <p:nvSpPr>
          <p:cNvPr id="16" name="eval-rule-1">
            <a:extLst xmlns:a="http://schemas.openxmlformats.org/drawingml/2006/main">
              <a:ext uri="{FF2B5EF4-FFF2-40B4-BE49-F238E27FC236}">
                <a16:creationId xmlns:a16="http://schemas.microsoft.com/office/drawing/2014/main" id="{69792505-E925-4F8F-93FB-FC72AC5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-no-2">
            <a:extLst xmlns:a="http://schemas.openxmlformats.org/drawingml/2006/main">
              <a:ext uri="{FF2B5EF4-FFF2-40B4-BE49-F238E27FC236}">
                <a16:creationId xmlns:a16="http://schemas.microsoft.com/office/drawing/2014/main" id="{08ECEF4C-33D9-4C3F-9632-9187D75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eval-head-2">
            <a:extLst xmlns:a="http://schemas.openxmlformats.org/drawingml/2006/main">
              <a:ext uri="{FF2B5EF4-FFF2-40B4-BE49-F238E27FC236}">
                <a16:creationId xmlns:a16="http://schemas.microsoft.com/office/drawing/2014/main" id="{CDBBBB6B-321E-4925-8971-2CE465F0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能否持续</a:t>
            </a:r>
          </a:p>
        </p:txBody>
      </p:sp>
      <p:sp>
        <p:nvSpPr>
          <p:cNvPr id="19" name="eval-copy-2">
            <a:extLst xmlns:a="http://schemas.openxmlformats.org/drawingml/2006/main">
              <a:ext uri="{FF2B5EF4-FFF2-40B4-BE49-F238E27FC236}">
                <a16:creationId xmlns:a16="http://schemas.microsoft.com/office/drawing/2014/main" id="{5E84C8F1-AD35-4C25-B035-7AA03C0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记录负担是否在成员愿意持续承担的范围内？</a:t>
            </a:r>
          </a:p>
        </p:txBody>
      </p:sp>
      <p:sp>
        <p:nvSpPr>
          <p:cNvPr id="20" name="eval-rule-2">
            <a:extLst xmlns:a="http://schemas.openxmlformats.org/drawingml/2006/main">
              <a:ext uri="{FF2B5EF4-FFF2-40B4-BE49-F238E27FC236}">
                <a16:creationId xmlns:a16="http://schemas.microsoft.com/office/drawing/2014/main" id="{4338F47A-3EC7-4015-A93F-7946CBA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op-surface">
            <a:extLst xmlns:a="http://schemas.openxmlformats.org/drawingml/2006/main">
              <a:ext uri="{FF2B5EF4-FFF2-40B4-BE49-F238E27FC236}">
                <a16:creationId xmlns:a16="http://schemas.microsoft.com/office/drawing/2014/main" id="{8D0D3937-6F64-4182-BCEA-A80B9CF5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5052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op-label">
            <a:extLst xmlns:a="http://schemas.openxmlformats.org/drawingml/2006/main">
              <a:ext uri="{FF2B5EF4-FFF2-40B4-BE49-F238E27FC236}">
                <a16:creationId xmlns:a16="http://schemas.microsoft.com/office/drawing/2014/main" id="{E225BEA2-7D8D-4D39-849C-9D39AA95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停止或修改的信号</a:t>
            </a:r>
          </a:p>
        </p:txBody>
      </p:sp>
      <p:sp>
        <p:nvSpPr>
          <p:cNvPr id="23" name="stop-1-dot">
            <a:extLst xmlns:a="http://schemas.openxmlformats.org/drawingml/2006/main">
              <a:ext uri="{FF2B5EF4-FFF2-40B4-BE49-F238E27FC236}">
                <a16:creationId xmlns:a16="http://schemas.microsoft.com/office/drawing/2014/main" id="{131514BA-6EF6-4FE9-8416-CAF1F149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stop-1-copy">
            <a:extLst xmlns:a="http://schemas.openxmlformats.org/drawingml/2006/main">
              <a:ext uri="{FF2B5EF4-FFF2-40B4-BE49-F238E27FC236}">
                <a16:creationId xmlns:a16="http://schemas.microsoft.com/office/drawing/2014/main" id="{B930F4CF-54D8-4D71-BAC3-A2BB22CC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05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填写工作持续挤占必要实验时间。</a:t>
            </a:r>
          </a:p>
        </p:txBody>
      </p:sp>
      <p:sp>
        <p:nvSpPr>
          <p:cNvPr id="25" name="stop-2-dot">
            <a:extLst xmlns:a="http://schemas.openxmlformats.org/drawingml/2006/main">
              <a:ext uri="{FF2B5EF4-FFF2-40B4-BE49-F238E27FC236}">
                <a16:creationId xmlns:a16="http://schemas.microsoft.com/office/drawing/2014/main" id="{C7CAFB1D-5B6E-430D-AB60-4F56AC7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57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stop-2-copy">
            <a:extLst xmlns:a="http://schemas.openxmlformats.org/drawingml/2006/main">
              <a:ext uri="{FF2B5EF4-FFF2-40B4-BE49-F238E27FC236}">
                <a16:creationId xmlns:a16="http://schemas.microsoft.com/office/drawing/2014/main" id="{3BF3E62F-0CDC-443A-90C6-B8F41D34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权限边界无法说明。</a:t>
            </a:r>
          </a:p>
        </p:txBody>
      </p:sp>
      <p:sp>
        <p:nvSpPr>
          <p:cNvPr id="27" name="stop-3-dot">
            <a:extLst xmlns:a="http://schemas.openxmlformats.org/drawingml/2006/main">
              <a:ext uri="{FF2B5EF4-FFF2-40B4-BE49-F238E27FC236}">
                <a16:creationId xmlns:a16="http://schemas.microsoft.com/office/drawing/2014/main" id="{232712CD-70B6-4541-AD5E-D3A9B0F4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67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stop-3-copy">
            <a:extLst xmlns:a="http://schemas.openxmlformats.org/drawingml/2006/main">
              <a:ext uri="{FF2B5EF4-FFF2-40B4-BE49-F238E27FC236}">
                <a16:creationId xmlns:a16="http://schemas.microsoft.com/office/drawing/2014/main" id="{F332C8D5-C3DC-4003-9121-63BFF377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记录只增加重复抄写，却没有帮助解释结果。</a:t>
            </a:r>
          </a:p>
        </p:txBody>
      </p:sp>
      <p:sp>
        <p:nvSpPr>
          <p:cNvPr id="29" name="stop-action">
            <a:extLst xmlns:a="http://schemas.openxmlformats.org/drawingml/2006/main">
              <a:ext uri="{FF2B5EF4-FFF2-40B4-BE49-F238E27FC236}">
                <a16:creationId xmlns:a16="http://schemas.microsoft.com/office/drawing/2014/main" id="{86A68405-613D-4AD0-B168-7B87625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届时先缩小要求或停止试点，不能为了完成试点目标强行推广。</a:t>
            </a:r>
          </a:p>
        </p:txBody>
      </p:sp>
    </p:spTree>
    <p:extLst>
      <p:ext uri="{BB962C8B-B14F-4D97-AF65-F5344CB8AC3E}">
        <p14:creationId xmlns:p14="http://schemas.microsoft.com/office/powerpoint/2010/main" val="1049175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mark">
            <a:extLst xmlns:a="http://schemas.openxmlformats.org/drawingml/2006/main">
              <a:ext uri="{FF2B5EF4-FFF2-40B4-BE49-F238E27FC236}">
                <a16:creationId xmlns:a16="http://schemas.microsoft.com/office/drawing/2014/main" id="{2F4DC354-DEEC-4651-89FF-FAA90C66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5B8395-1B61-42EB-BA37-55B7E37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940C298-EF30-4D94-A4C8-5C117E61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68B5ECC4-575A-4381-A366-D6539E95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FFB8D1E-0DBE-412C-BA99-89DA99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B6C23E-10A4-4723-9B64-C1EE422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本次讨论要确认的是一个有限尝试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8C468F-3087-434A-A817-922DB776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</a:t>
            </a:r>
          </a:p>
        </p:txBody>
      </p:sp>
      <p:sp>
        <p:nvSpPr>
          <p:cNvPr id="8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D44F959D-A00E-4C0E-8D31-FC09DCA8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message-copy">
            <a:extLst xmlns:a="http://schemas.openxmlformats.org/drawingml/2006/main">
              <a:ext uri="{FF2B5EF4-FFF2-40B4-BE49-F238E27FC236}">
                <a16:creationId xmlns:a16="http://schemas.microsoft.com/office/drawing/2014/main" id="{FBBD141E-C543-42A2-ADB6-D23DC4E8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归档工具只是承载方式；要验证的是结果、依据与责任边界的联系。</a:t>
            </a:r>
          </a:p>
        </p:txBody>
      </p:sp>
      <p:sp>
        <p:nvSpPr>
          <p:cNvPr id="10" name="confirm-label">
            <a:extLst xmlns:a="http://schemas.openxmlformats.org/drawingml/2006/main">
              <a:ext uri="{FF2B5EF4-FFF2-40B4-BE49-F238E27FC236}">
                <a16:creationId xmlns:a16="http://schemas.microsoft.com/office/drawing/2014/main" id="{CACBD6CA-7EA1-4E00-99D9-BFFEA598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开始试点前确认</a:t>
            </a:r>
          </a:p>
        </p:txBody>
      </p:sp>
      <p:sp>
        <p:nvSpPr>
          <p:cNvPr id="11" name="confirm-1-dot">
            <a:extLst xmlns:a="http://schemas.openxmlformats.org/drawingml/2006/main">
              <a:ext uri="{FF2B5EF4-FFF2-40B4-BE49-F238E27FC236}">
                <a16:creationId xmlns:a16="http://schemas.microsoft.com/office/drawing/2014/main" id="{2ED8C948-F039-4593-A91A-7328B009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confirm-1-copy">
            <a:extLst xmlns:a="http://schemas.openxmlformats.org/drawingml/2006/main">
              <a:ext uri="{FF2B5EF4-FFF2-40B4-BE49-F238E27FC236}">
                <a16:creationId xmlns:a16="http://schemas.microsoft.com/office/drawing/2014/main" id="{2A37A6EB-FE4A-4B35-9ED6-632B6411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957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负责人确认范围与授权联系人。</a:t>
            </a:r>
          </a:p>
        </p:txBody>
      </p:sp>
      <p:sp>
        <p:nvSpPr>
          <p:cNvPr id="13" name="confirm-2-dot">
            <a:extLst xmlns:a="http://schemas.openxmlformats.org/drawingml/2006/main">
              <a:ext uri="{FF2B5EF4-FFF2-40B4-BE49-F238E27FC236}">
                <a16:creationId xmlns:a16="http://schemas.microsoft.com/office/drawing/2014/main" id="{EAABC194-E84F-4F05-A790-FE4F185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confirm-2-copy">
            <a:extLst xmlns:a="http://schemas.openxmlformats.org/drawingml/2006/main">
              <a:ext uri="{FF2B5EF4-FFF2-40B4-BE49-F238E27FC236}">
                <a16:creationId xmlns:a16="http://schemas.microsoft.com/office/drawing/2014/main" id="{5E20AD31-2F59-456F-906D-093D7B1F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参与成员认可最少字段。</a:t>
            </a:r>
          </a:p>
        </p:txBody>
      </p:sp>
      <p:sp>
        <p:nvSpPr>
          <p:cNvPr id="15" name="confirm-3-dot">
            <a:extLst xmlns:a="http://schemas.openxmlformats.org/drawingml/2006/main">
              <a:ext uri="{FF2B5EF4-FFF2-40B4-BE49-F238E27FC236}">
                <a16:creationId xmlns:a16="http://schemas.microsoft.com/office/drawing/2014/main" id="{CD1DDB8E-8F5C-474A-AE93-2F893C6E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confirm-3-copy">
            <a:extLst xmlns:a="http://schemas.openxmlformats.org/drawingml/2006/main">
              <a:ext uri="{FF2B5EF4-FFF2-40B4-BE49-F238E27FC236}">
                <a16:creationId xmlns:a16="http://schemas.microsoft.com/office/drawing/2014/main" id="{3AFFB194-5774-43E0-B131-D25FB92F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确定谁负责复核。</a:t>
            </a:r>
          </a:p>
        </p:txBody>
      </p:sp>
      <p:sp>
        <p:nvSpPr>
          <p:cNvPr id="17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72A66036-12B3-44D4-9EE6-26A4F3DA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t-label">
            <a:extLst xmlns:a="http://schemas.openxmlformats.org/drawingml/2006/main">
              <a:ext uri="{FF2B5EF4-FFF2-40B4-BE49-F238E27FC236}">
                <a16:creationId xmlns:a16="http://schemas.microsoft.com/office/drawing/2014/main" id="{9F53659D-2269-45F9-9B1F-8540C28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本轮不承诺</a:t>
            </a:r>
          </a:p>
        </p:txBody>
      </p:sp>
      <p:sp>
        <p:nvSpPr>
          <p:cNvPr id="19" name="not-copy">
            <a:extLst xmlns:a="http://schemas.openxmlformats.org/drawingml/2006/main">
              <a:ext uri="{FF2B5EF4-FFF2-40B4-BE49-F238E27FC236}">
                <a16:creationId xmlns:a16="http://schemas.microsoft.com/office/drawing/2014/main" id="{3A21E4C7-8DAA-421F-953B-B2562FF0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不承诺已经提高效率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不承诺覆盖全部历史档案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不承诺改变原始数据授权</a:t>
            </a:r>
          </a:p>
        </p:txBody>
      </p:sp>
      <p:sp>
        <p:nvSpPr>
          <p:cNvPr id="20" name="close-rule">
            <a:extLst xmlns:a="http://schemas.openxmlformats.org/drawingml/2006/main">
              <a:ext uri="{FF2B5EF4-FFF2-40B4-BE49-F238E27FC236}">
                <a16:creationId xmlns:a16="http://schemas.microsoft.com/office/drawing/2014/main" id="{D775A79F-F005-4477-A48A-D1A6359B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final">
            <a:extLst xmlns:a="http://schemas.openxmlformats.org/drawingml/2006/main">
              <a:ext uri="{FF2B5EF4-FFF2-40B4-BE49-F238E27FC236}">
                <a16:creationId xmlns:a16="http://schemas.microsoft.com/office/drawing/2014/main" id="{973BBE86-D1E6-41A7-9D15-FD08F774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先把一次结果说明白，再决定什么值得长期保存。</a:t>
            </a:r>
          </a:p>
        </p:txBody>
      </p:sp>
    </p:spTree>
    <p:extLst>
      <p:ext uri="{BB962C8B-B14F-4D97-AF65-F5344CB8AC3E}">
        <p14:creationId xmlns:p14="http://schemas.microsoft.com/office/powerpoint/2010/main" val="1787812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2026-09-05T13:33:58.1980000Z</dcterms:created>
  <dcterms:modified xsi:type="dcterms:W3CDTF">2026-09-05T13:33:58.1980000Z</dcterms:modified>
</coreProperties>
</file>