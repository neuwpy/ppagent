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27b81cefa84aed" /><Relationship Type="http://schemas.openxmlformats.org/officeDocument/2006/relationships/extended-properties" Target="/docProps/app.xml" Id="R0dc9fd1b6c9240a5" /><Relationship Type="http://schemas.openxmlformats.org/officeDocument/2006/relationships/officeDocument" Target="/ppt/presentation.xml" Id="Rc746d8d8e3fb47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e335fe3d364ad6"/>
  </p:sldMasterIdLst>
  <p:notesMasterIdLst>
    <p:notesMasterId xmlns:r="http://schemas.openxmlformats.org/officeDocument/2006/relationships" r:id="R0b84518a618c457c"/>
  </p:notesMasterIdLst>
  <p:sldIdLst>
    <p:sldId xmlns:r="http://schemas.openxmlformats.org/officeDocument/2006/relationships" id="256" r:id="Rd2da56b94c184fc9"/>
    <p:sldId xmlns:r="http://schemas.openxmlformats.org/officeDocument/2006/relationships" id="257" r:id="R52d25a1f5a324226"/>
    <p:sldId xmlns:r="http://schemas.openxmlformats.org/officeDocument/2006/relationships" id="258" r:id="Rc7508a2b73034c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71bfda86734a6b" /><Relationship Type="http://schemas.openxmlformats.org/officeDocument/2006/relationships/slideMaster" Target="/ppt/slideMasters/slideMaster1.xml" Id="R40e335fe3d364ad6" /><Relationship Type="http://schemas.openxmlformats.org/officeDocument/2006/relationships/notesMaster" Target="/ppt/notesMasters/notesMaster1.xml" Id="R0b84518a618c457c" /><Relationship Type="http://schemas.openxmlformats.org/officeDocument/2006/relationships/presProps" Target="/ppt/presProps.xml" Id="Re17f7f9e695f411d" /><Relationship Type="http://schemas.openxmlformats.org/officeDocument/2006/relationships/tableStyles" Target="/ppt/tableStyles.xml" Id="R2bf90ad2bf394f17" /><Relationship Type="http://schemas.openxmlformats.org/officeDocument/2006/relationships/slide" Target="/ppt/slides/slide1.xml" Id="Rd2da56b94c184fc9" /><Relationship Type="http://schemas.openxmlformats.org/officeDocument/2006/relationships/slide" Target="/ppt/slides/slide2.xml" Id="R52d25a1f5a324226" /><Relationship Type="http://schemas.openxmlformats.org/officeDocument/2006/relationships/slide" Target="/ppt/slides/slide3.xml" Id="Rc7508a2b73034c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ba7bade7574c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4a86a6c64247e8" /><Relationship Type="http://schemas.openxmlformats.org/officeDocument/2006/relationships/notesMaster" Target="/ppt/notesMasters/notesMaster1.xml" Id="R03127209629844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3abf6ba6544653" /><Relationship Type="http://schemas.openxmlformats.org/officeDocument/2006/relationships/notesMaster" Target="/ppt/notesMasters/notesMaster1.xml" Id="R01e82ad4cde442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64ea80f6f64967" /><Relationship Type="http://schemas.openxmlformats.org/officeDocument/2006/relationships/notesMaster" Target="/ppt/notesMasters/notesMaster1.xml" Id="R9895d11e97714a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来源：C:\PPagenT\experiments\university-skin-pilot\manuscript.md，第 2 段。核心观点：文件存在不等于结果可解释。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来源：C:\PPagenT\experiments\university-skin-pilot\manuscript.md，第 3–4 段。核心观点：记录单元共同解释结果，授权边界另行成立。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来源：C:\PPagenT\experiments\university-skin-pilot\manuscript.md，第 5–8 段。核心观点：先以有限范围验证追溯与负担，再决定保留、修改或停止。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4e167f74ed40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fd3d34efa74940" /><Relationship Type="http://schemas.openxmlformats.org/officeDocument/2006/relationships/slideLayout" Target="/ppt/slideLayouts/slideLayout1.xml" Id="Receb46d0559240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eb46d0559240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e70b23aad483f" /><Relationship Type="http://schemas.openxmlformats.org/officeDocument/2006/relationships/notesSlide" Target="/ppt/notesSlides/notesSlide1.xml" Id="R9b71808cc56841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613b47f2b4f63" /><Relationship Type="http://schemas.openxmlformats.org/officeDocument/2006/relationships/notesSlide" Target="/ppt/notesSlides/notesSlide2.xml" Id="R156920c4f55d46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88a06aa084e78" /><Relationship Type="http://schemas.openxmlformats.org/officeDocument/2006/relationships/notesSlide" Target="/ppt/notesSlides/notesSlide3.xml" Id="R1ffac630b5a141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age-label-1">
            <a:extLst xmlns:a="http://schemas.openxmlformats.org/drawingml/2006/main">
              <a:ext uri="{FF2B5EF4-FFF2-40B4-BE49-F238E27FC236}">
                <a16:creationId xmlns:a16="http://schemas.microsoft.com/office/drawing/2014/main" id="{6D4D252B-6E8C-46BB-B4AF-E1CEE133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一次结果的解释链</a:t>
            </a:r>
          </a:p>
        </p:txBody>
      </p:sp>
      <p:sp>
        <p:nvSpPr>
          <p:cNvPr id="2" name="page-number-1">
            <a:extLst xmlns:a="http://schemas.openxmlformats.org/drawingml/2006/main">
              <a:ext uri="{FF2B5EF4-FFF2-40B4-BE49-F238E27FC236}">
                <a16:creationId xmlns:a16="http://schemas.microsoft.com/office/drawing/2014/main" id="{54718795-30A2-4331-A167-1C421689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04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top-rule-1">
            <a:extLst xmlns:a="http://schemas.openxmlformats.org/drawingml/2006/main">
              <a:ext uri="{FF2B5EF4-FFF2-40B4-BE49-F238E27FC236}">
                <a16:creationId xmlns:a16="http://schemas.microsoft.com/office/drawing/2014/main" id="{5CF0B74A-454C-4536-97C5-6C645B16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7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1">
            <a:extLst xmlns:a="http://schemas.openxmlformats.org/drawingml/2006/main">
              <a:ext uri="{FF2B5EF4-FFF2-40B4-BE49-F238E27FC236}">
                <a16:creationId xmlns:a16="http://schemas.microsoft.com/office/drawing/2014/main" id="{3C264D23-20A9-4C4B-B1B3-00A5C308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文件存在，不等于结果可以解释</a:t>
            </a:r>
          </a:p>
        </p:txBody>
      </p:sp>
      <p:sp>
        <p:nvSpPr>
          <p:cNvPr id="5" name="slide1-lede">
            <a:extLst xmlns:a="http://schemas.openxmlformats.org/drawingml/2006/main">
              <a:ext uri="{FF2B5EF4-FFF2-40B4-BE49-F238E27FC236}">
                <a16:creationId xmlns:a16="http://schemas.microsoft.com/office/drawing/2014/main" id="{0DB9159A-CFBA-4245-8F79-1909E08A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找到最终图片只是起点；可讨论的结果还必须能回到它的依据。</a:t>
            </a:r>
          </a:p>
        </p:txBody>
      </p:sp>
      <p:sp>
        <p:nvSpPr>
          <p:cNvPr id="6" name="slide1-result">
            <a:extLst xmlns:a="http://schemas.openxmlformats.org/drawingml/2006/main">
              <a:ext uri="{FF2B5EF4-FFF2-40B4-BE49-F238E27FC236}">
                <a16:creationId xmlns:a16="http://schemas.microsoft.com/office/drawing/2014/main" id="{A20F9DC1-8077-4A99-88F4-D48B5E41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05100"/>
            <a:ext cx="27432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4578C"/>
          </a:solidFill>
          <a:ln xmlns:a="http://schemas.openxmlformats.org/drawingml/2006/main" w="9525">
            <a:solidFill>
              <a:srgbClr val="24578C"/>
            </a:solidFill>
            <a:prstDash val="solid"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实验结果图</a:t>
            </a:r>
          </a:p>
        </p:txBody>
      </p:sp>
      <p:sp>
        <p:nvSpPr>
          <p:cNvPr id="7" name="slide1-evidence-sample">
            <a:extLst xmlns:a="http://schemas.openxmlformats.org/drawingml/2006/main">
              <a:ext uri="{FF2B5EF4-FFF2-40B4-BE49-F238E27FC236}">
                <a16:creationId xmlns:a16="http://schemas.microsoft.com/office/drawing/2014/main" id="{FB90FABB-9C78-4EDD-9B95-DA0B29A7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381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7780"/>
            </a:solidFill>
            <a:prstDash val="solid"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样本与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采集条件</a:t>
            </a:r>
          </a:p>
        </p:txBody>
      </p:sp>
      <p:sp>
        <p:nvSpPr>
          <p:cNvPr id="8" name="slide1-evidence-script">
            <a:extLst xmlns:a="http://schemas.openxmlformats.org/drawingml/2006/main">
              <a:ext uri="{FF2B5EF4-FFF2-40B4-BE49-F238E27FC236}">
                <a16:creationId xmlns:a16="http://schemas.microsoft.com/office/drawing/2014/main" id="{45F72A35-72BD-4058-9557-D40D0D55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81250"/>
            <a:ext cx="2381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7780"/>
            </a:solidFill>
            <a:prstDash val="solid"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处理脚本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版本</a:t>
            </a:r>
          </a:p>
        </p:txBody>
      </p:sp>
      <p:sp>
        <p:nvSpPr>
          <p:cNvPr id="9" name="slide1-evidence-exclusion">
            <a:extLst xmlns:a="http://schemas.openxmlformats.org/drawingml/2006/main">
              <a:ext uri="{FF2B5EF4-FFF2-40B4-BE49-F238E27FC236}">
                <a16:creationId xmlns:a16="http://schemas.microsoft.com/office/drawing/2014/main" id="{99A1B924-59B9-483F-816C-E6BDD0FA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400550"/>
            <a:ext cx="27432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7780"/>
            </a:solidFill>
            <a:prstDash val="solid"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异常与排除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依据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81350" y="2819400"/>
            <a:ext cx="154305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07780"/>
            </a:solidFill>
            <a:prstDash val="solid"/>
            <a:headEnd type="none" w="med" len="med"/>
          </a:ln>
        </p:spPr>
      </p:cxnSp>
      <p:cxnSp>
        <p:nvCxnSpPr>
          <p:cNvPr id="27" name=""/>
          <p:cNvCxnSpPr>
            <a:stCxn xmlns:a="http://schemas.openxmlformats.org/drawingml/2006/main" id="8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67600" y="2819400"/>
            <a:ext cx="154305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07780"/>
            </a:solidFill>
            <a:prstDash val="solid"/>
            <a:headEnd type="none" w="med" len="med"/>
          </a:ln>
        </p:spPr>
      </p:cxnSp>
      <p:cxnSp>
        <p:nvCxnSpPr>
          <p:cNvPr id="28" name=""/>
          <p:cNvCxnSpPr>
            <a:stCxn xmlns:a="http://schemas.openxmlformats.org/drawingml/2006/main" id="9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6096000" y="3810000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07780"/>
            </a:solidFill>
            <a:prstDash val="solid"/>
            <a:headEnd type="none" w="med" len="med"/>
          </a:ln>
        </p:spPr>
      </p:cxnSp>
      <p:sp>
        <p:nvSpPr>
          <p:cNvPr id="13" name="slide1-key">
            <a:extLst xmlns:a="http://schemas.openxmlformats.org/drawingml/2006/main">
              <a:ext uri="{FF2B5EF4-FFF2-40B4-BE49-F238E27FC236}">
                <a16:creationId xmlns:a16="http://schemas.microsoft.com/office/drawing/2014/main" id="{2960AB09-C17B-422A-8B56-43E1D974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归档的首要任务是保存“结果—依据”的关系</a:t>
            </a:r>
          </a:p>
        </p:txBody>
      </p:sp>
      <p:sp>
        <p:nvSpPr>
          <p:cNvPr id="14" name="slide1-note">
            <a:extLst xmlns:a="http://schemas.openxmlformats.org/drawingml/2006/main">
              <a:ext uri="{FF2B5EF4-FFF2-40B4-BE49-F238E27FC236}">
                <a16:creationId xmlns:a16="http://schemas.microsoft.com/office/drawing/2014/main" id="{CB6E4EE8-205B-4D97-A30A-8C3B73EB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同名文件、个人目录和缺失的上下文，会让“找得到”停留在“看得到”。</a:t>
            </a:r>
          </a:p>
        </p:txBody>
      </p:sp>
      <p:sp>
        <p:nvSpPr>
          <p:cNvPr id="15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7DB386A9-FE05-4222-B0EC-FB54D4C9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7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source-1">
            <a:extLst xmlns:a="http://schemas.openxmlformats.org/drawingml/2006/main">
              <a:ext uri="{FF2B5EF4-FFF2-40B4-BE49-F238E27FC236}">
                <a16:creationId xmlns:a16="http://schemas.microsoft.com/office/drawing/2014/main" id="{54EA42B2-6210-4DA4-8C41-15F5FFEE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42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依据：manuscript.md，第 2 段；本页只呈现问题判断，不引入外部数据。</a:t>
            </a:r>
          </a:p>
        </p:txBody>
      </p:sp>
    </p:spTree>
    <p:extLst>
      <p:ext uri="{BB962C8B-B14F-4D97-AF65-F5344CB8AC3E}">
        <p14:creationId xmlns:p14="http://schemas.microsoft.com/office/powerpoint/2010/main" val="2515004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age-label-2">
            <a:extLst xmlns:a="http://schemas.openxmlformats.org/drawingml/2006/main">
              <a:ext uri="{FF2B5EF4-FFF2-40B4-BE49-F238E27FC236}">
                <a16:creationId xmlns:a16="http://schemas.microsoft.com/office/drawing/2014/main" id="{4F828073-C756-41B9-9214-B8ABF93D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记录单元与授权边界</a:t>
            </a:r>
          </a:p>
        </p:txBody>
      </p:sp>
      <p:sp>
        <p:nvSpPr>
          <p:cNvPr id="2" name="page-number-2">
            <a:extLst xmlns:a="http://schemas.openxmlformats.org/drawingml/2006/main">
              <a:ext uri="{FF2B5EF4-FFF2-40B4-BE49-F238E27FC236}">
                <a16:creationId xmlns:a16="http://schemas.microsoft.com/office/drawing/2014/main" id="{21325B76-0C20-4127-AF14-A6AA3FC9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04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op-rule-2">
            <a:extLst xmlns:a="http://schemas.openxmlformats.org/drawingml/2006/main">
              <a:ext uri="{FF2B5EF4-FFF2-40B4-BE49-F238E27FC236}">
                <a16:creationId xmlns:a16="http://schemas.microsoft.com/office/drawing/2014/main" id="{0A916EFF-FA5D-4A35-B0AD-7EF06EDF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7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2">
            <a:extLst xmlns:a="http://schemas.openxmlformats.org/drawingml/2006/main">
              <a:ext uri="{FF2B5EF4-FFF2-40B4-BE49-F238E27FC236}">
                <a16:creationId xmlns:a16="http://schemas.microsoft.com/office/drawing/2014/main" id="{C58DCECE-BEE1-4DBD-A87E-9B9BBB11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一条记录共同解释结果，不是五步流程</a:t>
            </a:r>
          </a:p>
        </p:txBody>
      </p:sp>
      <p:sp>
        <p:nvSpPr>
          <p:cNvPr id="5" name="slide2-lede">
            <a:extLst xmlns:a="http://schemas.openxmlformats.org/drawingml/2006/main">
              <a:ext uri="{FF2B5EF4-FFF2-40B4-BE49-F238E27FC236}">
                <a16:creationId xmlns:a16="http://schemas.microsoft.com/office/drawing/2014/main" id="{4B592344-C05E-41EC-B117-0DBC4361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记录单元把一个结果所需的材料放在同一解释关系里；字段之间不是必须依次执行的动作。</a:t>
            </a:r>
          </a:p>
        </p:txBody>
      </p:sp>
      <p:sp>
        <p:nvSpPr>
          <p:cNvPr id="6" name="slide2-center">
            <a:extLst xmlns:a="http://schemas.openxmlformats.org/drawingml/2006/main">
              <a:ext uri="{FF2B5EF4-FFF2-40B4-BE49-F238E27FC236}">
                <a16:creationId xmlns:a16="http://schemas.microsoft.com/office/drawing/2014/main" id="{7C21A076-9B72-4B74-9E3C-33CDB411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67050"/>
            <a:ext cx="2743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4578C"/>
          </a:solidFill>
          <a:ln xmlns:a="http://schemas.openxmlformats.org/drawingml/2006/main" w="9525">
            <a:solidFill>
              <a:srgbClr val="24578C"/>
            </a:solidFill>
            <a:prstDash val="solid"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可讨论的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结果记录</a:t>
            </a:r>
          </a:p>
        </p:txBody>
      </p:sp>
      <p:sp>
        <p:nvSpPr>
          <p:cNvPr id="7" name="slide2-raw">
            <a:extLst xmlns:a="http://schemas.openxmlformats.org/drawingml/2006/main">
              <a:ext uri="{FF2B5EF4-FFF2-40B4-BE49-F238E27FC236}">
                <a16:creationId xmlns:a16="http://schemas.microsoft.com/office/drawing/2014/main" id="{7121DF07-64A7-42C4-96E9-11D12614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20955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7780"/>
            </a:solidFill>
            <a:prstDash val="solid"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原始数据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位置</a:t>
            </a:r>
          </a:p>
        </p:txBody>
      </p:sp>
      <p:sp>
        <p:nvSpPr>
          <p:cNvPr id="8" name="slide2-conditions">
            <a:extLst xmlns:a="http://schemas.openxmlformats.org/drawingml/2006/main">
              <a:ext uri="{FF2B5EF4-FFF2-40B4-BE49-F238E27FC236}">
                <a16:creationId xmlns:a16="http://schemas.microsoft.com/office/drawing/2014/main" id="{74631A9C-30CA-4602-A1BE-848EA71E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20955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7780"/>
            </a:solidFill>
            <a:prstDash val="solid"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样本与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采集条件</a:t>
            </a:r>
          </a:p>
        </p:txBody>
      </p:sp>
      <p:sp>
        <p:nvSpPr>
          <p:cNvPr id="9" name="slide2-script">
            <a:extLst xmlns:a="http://schemas.openxmlformats.org/drawingml/2006/main">
              <a:ext uri="{FF2B5EF4-FFF2-40B4-BE49-F238E27FC236}">
                <a16:creationId xmlns:a16="http://schemas.microsoft.com/office/drawing/2014/main" id="{04EC31C0-B2D7-4613-9D36-7C7A4CB8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38400"/>
            <a:ext cx="20955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7780"/>
            </a:solidFill>
            <a:prstDash val="solid"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处理脚本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版本</a:t>
            </a:r>
          </a:p>
        </p:txBody>
      </p:sp>
      <p:sp>
        <p:nvSpPr>
          <p:cNvPr id="10" name="slide2-result">
            <a:extLst xmlns:a="http://schemas.openxmlformats.org/drawingml/2006/main">
              <a:ext uri="{FF2B5EF4-FFF2-40B4-BE49-F238E27FC236}">
                <a16:creationId xmlns:a16="http://schemas.microsoft.com/office/drawing/2014/main" id="{B582437F-CFC1-4C71-AF79-B706C7DE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00550"/>
            <a:ext cx="20955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7780"/>
            </a:solidFill>
            <a:prstDash val="solid"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</p:txBody>
      </p:sp>
      <p:sp>
        <p:nvSpPr>
          <p:cNvPr id="11" name="slide2-anomaly">
            <a:extLst xmlns:a="http://schemas.openxmlformats.org/drawingml/2006/main">
              <a:ext uri="{FF2B5EF4-FFF2-40B4-BE49-F238E27FC236}">
                <a16:creationId xmlns:a16="http://schemas.microsoft.com/office/drawing/2014/main" id="{C450B262-E266-423E-8692-81B47752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14550"/>
            <a:ext cx="27432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7780"/>
            </a:solidFill>
            <a:prstDash val="solid"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异常与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排除说明</a:t>
            </a:r>
          </a:p>
        </p:txBody>
      </p: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57500" y="2800350"/>
            <a:ext cx="186690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07780"/>
            </a:solidFill>
            <a:prstDash val="solid"/>
            <a:headEnd type="none" w="med" len="med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857500" y="3600450"/>
            <a:ext cx="1866900" cy="1162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07780"/>
            </a:solidFill>
            <a:prstDash val="solid"/>
            <a:headEnd type="none" w="med" len="med"/>
          </a:ln>
        </p:spPr>
      </p:cxnSp>
      <p:cxnSp>
        <p:nvCxnSpPr>
          <p:cNvPr id="3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67600" y="2800350"/>
            <a:ext cx="186690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07780"/>
            </a:solidFill>
            <a:prstDash val="solid"/>
            <a:headEnd type="none" w="med" len="med"/>
          </a:ln>
        </p:spPr>
      </p:cxnSp>
      <p:cxnSp>
        <p:nvCxnSpPr>
          <p:cNvPr id="36" name=""/>
          <p:cNvCxnSpPr>
            <a:stCxn xmlns:a="http://schemas.openxmlformats.org/drawingml/2006/main" id="10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67600" y="3600450"/>
            <a:ext cx="1866900" cy="1162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07780"/>
            </a:solidFill>
            <a:prstDash val="solid"/>
            <a:headEnd type="none" w="med" len="med"/>
          </a:ln>
        </p:spPr>
      </p:cxnSp>
      <p:cxnSp>
        <p:nvCxnSpPr>
          <p:cNvPr id="37" name=""/>
          <p:cNvCxnSpPr>
            <a:stCxn xmlns:a="http://schemas.openxmlformats.org/drawingml/2006/main" id="11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6096000" y="28384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07780"/>
            </a:solidFill>
            <a:prstDash val="solid"/>
            <a:headEnd type="none" w="med" len="med"/>
          </a:ln>
        </p:spPr>
      </p:cxnSp>
      <p:sp>
        <p:nvSpPr>
          <p:cNvPr id="17" name="slide2-annotation-rule">
            <a:extLst xmlns:a="http://schemas.openxmlformats.org/drawingml/2006/main">
              <a:ext uri="{FF2B5EF4-FFF2-40B4-BE49-F238E27FC236}">
                <a16:creationId xmlns:a16="http://schemas.microsoft.com/office/drawing/2014/main" id="{08193E86-CF26-4F0C-BF98-C7073E4D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7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lide2-annotation-label">
            <a:extLst xmlns:a="http://schemas.openxmlformats.org/drawingml/2006/main">
              <a:ext uri="{FF2B5EF4-FFF2-40B4-BE49-F238E27FC236}">
                <a16:creationId xmlns:a16="http://schemas.microsoft.com/office/drawing/2014/main" id="{05C8E404-256F-4A7D-9CDC-4A165657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记录完整 ≠ 文件全部开放</a:t>
            </a:r>
          </a:p>
        </p:txBody>
      </p:sp>
      <p:sp>
        <p:nvSpPr>
          <p:cNvPr id="19" name="slide2-annotation-body">
            <a:extLst xmlns:a="http://schemas.openxmlformats.org/drawingml/2006/main">
              <a:ext uri="{FF2B5EF4-FFF2-40B4-BE49-F238E27FC236}">
                <a16:creationId xmlns:a16="http://schemas.microsoft.com/office/drawing/2014/main" id="{2EB6C88A-BC9C-451A-9489-B3C862B8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34050"/>
            <a:ext cx="680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原始数据保持原貌，清洗与处理另存；受限数据仍留在原授权位置，记录中的路径不自动带来访问权。</a:t>
            </a:r>
          </a:p>
        </p:txBody>
      </p:sp>
      <p:sp>
        <p:nvSpPr>
          <p:cNvPr id="20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D2E06A55-9D73-43EB-BD4A-CD149B50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7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ooter-source-2">
            <a:extLst xmlns:a="http://schemas.openxmlformats.org/drawingml/2006/main">
              <a:ext uri="{FF2B5EF4-FFF2-40B4-BE49-F238E27FC236}">
                <a16:creationId xmlns:a16="http://schemas.microsoft.com/office/drawing/2014/main" id="{3DCBD738-3C28-4B71-9253-18121349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42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依据：manuscript.md，第 3–4 段；授权边界按原稿保留，不将归档等同于共享。</a:t>
            </a:r>
          </a:p>
        </p:txBody>
      </p:sp>
    </p:spTree>
    <p:extLst>
      <p:ext uri="{BB962C8B-B14F-4D97-AF65-F5344CB8AC3E}">
        <p14:creationId xmlns:p14="http://schemas.microsoft.com/office/powerpoint/2010/main" val="1662891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age-label-3">
            <a:extLst xmlns:a="http://schemas.openxmlformats.org/drawingml/2006/main">
              <a:ext uri="{FF2B5EF4-FFF2-40B4-BE49-F238E27FC236}">
                <a16:creationId xmlns:a16="http://schemas.microsoft.com/office/drawing/2014/main" id="{5C0AB62F-17F8-458D-83C7-D906499F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四周试点的范围与条件</a:t>
            </a:r>
          </a:p>
        </p:txBody>
      </p:sp>
      <p:sp>
        <p:nvSpPr>
          <p:cNvPr id="2" name="page-number-3">
            <a:extLst xmlns:a="http://schemas.openxmlformats.org/drawingml/2006/main">
              <a:ext uri="{FF2B5EF4-FFF2-40B4-BE49-F238E27FC236}">
                <a16:creationId xmlns:a16="http://schemas.microsoft.com/office/drawing/2014/main" id="{CCB55DB9-566B-46C9-8351-2891B582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04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top-rule-3">
            <a:extLst xmlns:a="http://schemas.openxmlformats.org/drawingml/2006/main">
              <a:ext uri="{FF2B5EF4-FFF2-40B4-BE49-F238E27FC236}">
                <a16:creationId xmlns:a16="http://schemas.microsoft.com/office/drawing/2014/main" id="{7567C5AA-673C-47FB-9F72-07BBEC9F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7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3">
            <a:extLst xmlns:a="http://schemas.openxmlformats.org/drawingml/2006/main">
              <a:ext uri="{FF2B5EF4-FFF2-40B4-BE49-F238E27FC236}">
                <a16:creationId xmlns:a16="http://schemas.microsoft.com/office/drawing/2014/main" id="{509D6260-C1DC-4743-BCF0-F90EAD71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四周试点先验证能否追溯，再决定是否长期保留</a:t>
            </a:r>
          </a:p>
        </p:txBody>
      </p:sp>
      <p:sp>
        <p:nvSpPr>
          <p:cNvPr id="5" name="slide3-lede">
            <a:extLst xmlns:a="http://schemas.openxmlformats.org/drawingml/2006/main">
              <a:ext uri="{FF2B5EF4-FFF2-40B4-BE49-F238E27FC236}">
                <a16:creationId xmlns:a16="http://schemas.microsoft.com/office/drawing/2014/main" id="{3006C481-2890-441F-AD3D-C0013DC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先记录新增实验，在上下文尚清楚时验证复核是否可行；历史材料只补真正需要复核的结果。</a:t>
            </a:r>
          </a:p>
        </p:txBody>
      </p:sp>
      <p:sp>
        <p:nvSpPr>
          <p:cNvPr id="6" name="slide3-scope-label">
            <a:extLst xmlns:a="http://schemas.openxmlformats.org/drawingml/2006/main">
              <a:ext uri="{FF2B5EF4-FFF2-40B4-BE49-F238E27FC236}">
                <a16:creationId xmlns:a16="http://schemas.microsoft.com/office/drawing/2014/main" id="{0B5C3C19-C2B5-47E8-99BE-A6F2C9F8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拟定范围</a:t>
            </a:r>
          </a:p>
        </p:txBody>
      </p:sp>
      <p:sp>
        <p:nvSpPr>
          <p:cNvPr id="7" name="slide3-scope">
            <a:extLst xmlns:a="http://schemas.openxmlformats.org/drawingml/2006/main">
              <a:ext uri="{FF2B5EF4-FFF2-40B4-BE49-F238E27FC236}">
                <a16:creationId xmlns:a16="http://schemas.microsoft.com/office/drawing/2014/main" id="{B68F7A6C-6858-4334-BF49-31714FB2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86000"/>
            <a:ext cx="550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1 个课题方向  ·  2 名自愿成员  ·  记录新增实验</a:t>
            </a:r>
          </a:p>
        </p:txBody>
      </p:sp>
      <p:sp>
        <p:nvSpPr>
          <p:cNvPr id="8" name="slide3-scope-rule">
            <a:extLst xmlns:a="http://schemas.openxmlformats.org/drawingml/2006/main">
              <a:ext uri="{FF2B5EF4-FFF2-40B4-BE49-F238E27FC236}">
                <a16:creationId xmlns:a16="http://schemas.microsoft.com/office/drawing/2014/main" id="{88D36D2E-0261-4CBB-87A5-7F3F1987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7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lide3-week-1">
            <a:extLst xmlns:a="http://schemas.openxmlformats.org/drawingml/2006/main">
              <a:ext uri="{FF2B5EF4-FFF2-40B4-BE49-F238E27FC236}">
                <a16:creationId xmlns:a16="http://schemas.microsoft.com/office/drawing/2014/main" id="{B7EF8437-EDF0-476D-B55C-A2568FD3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2095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7780"/>
            </a:solidFill>
            <a:prstDash val="solid"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第 1 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明确最少字段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用一个结果试填</a:t>
            </a:r>
          </a:p>
        </p:txBody>
      </p:sp>
      <p:sp>
        <p:nvSpPr>
          <p:cNvPr id="10" name="slide3-week-2">
            <a:extLst xmlns:a="http://schemas.openxmlformats.org/drawingml/2006/main">
              <a:ext uri="{FF2B5EF4-FFF2-40B4-BE49-F238E27FC236}">
                <a16:creationId xmlns:a16="http://schemas.microsoft.com/office/drawing/2014/main" id="{9E7EE26D-3EE1-4E4F-880B-CE642165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57550"/>
            <a:ext cx="2095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7780"/>
            </a:solidFill>
            <a:prstDash val="solid"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第 2 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实际记录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暴露缺项</a:t>
            </a:r>
          </a:p>
        </p:txBody>
      </p:sp>
      <p:sp>
        <p:nvSpPr>
          <p:cNvPr id="11" name="slide3-week-3">
            <a:extLst xmlns:a="http://schemas.openxmlformats.org/drawingml/2006/main">
              <a:ext uri="{FF2B5EF4-FFF2-40B4-BE49-F238E27FC236}">
                <a16:creationId xmlns:a16="http://schemas.microsoft.com/office/drawing/2014/main" id="{23395221-AA8A-46DC-8089-9CB9458B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57550"/>
            <a:ext cx="2095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7780"/>
            </a:solidFill>
            <a:prstDash val="solid"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第 3 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继续记录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观察填写负担</a:t>
            </a:r>
          </a:p>
        </p:txBody>
      </p:sp>
      <p:sp>
        <p:nvSpPr>
          <p:cNvPr id="12" name="slide3-week-4">
            <a:extLst xmlns:a="http://schemas.openxmlformats.org/drawingml/2006/main">
              <a:ext uri="{FF2B5EF4-FFF2-40B4-BE49-F238E27FC236}">
                <a16:creationId xmlns:a16="http://schemas.microsoft.com/office/drawing/2014/main" id="{7E5E5F17-A0E9-465A-B86E-D382E6BE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57550"/>
            <a:ext cx="2095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24578C"/>
          </a:solidFill>
          <a:ln xmlns:a="http://schemas.openxmlformats.org/drawingml/2006/main" w="9525">
            <a:solidFill>
              <a:srgbClr val="24578C"/>
            </a:solidFill>
            <a:prstDash val="solid"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讨论保留、修改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或停止</a:t>
            </a:r>
          </a:p>
        </p:txBody>
      </p: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57500" y="37719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07780"/>
            </a:solidFill>
            <a:prstDash val="solid"/>
            <a:headEnd type="arrow" w="sm" len="sm"/>
          </a:ln>
        </p:spPr>
      </p:cxnSp>
      <p:cxnSp>
        <p:nvCxnSpPr>
          <p:cNvPr id="37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391150" y="37719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07780"/>
            </a:solidFill>
            <a:prstDash val="solid"/>
            <a:headEnd type="arrow" w="sm" len="sm"/>
          </a:ln>
        </p:spPr>
      </p:cxnSp>
      <p:cxnSp>
        <p:nvCxnSpPr>
          <p:cNvPr id="38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924800" y="37719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07780"/>
            </a:solidFill>
            <a:prstDash val="solid"/>
            <a:headEnd type="arrow" w="sm" len="sm"/>
          </a:ln>
        </p:spPr>
      </p:cxnSp>
      <p:sp>
        <p:nvSpPr>
          <p:cNvPr id="16" name="slide3-branch-label">
            <a:extLst xmlns:a="http://schemas.openxmlformats.org/drawingml/2006/main">
              <a:ext uri="{FF2B5EF4-FFF2-40B4-BE49-F238E27FC236}">
                <a16:creationId xmlns:a16="http://schemas.microsoft.com/office/drawing/2014/main" id="{D64C0ADA-C79B-44FA-9298-807512B0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006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两条边界</a:t>
            </a:r>
          </a:p>
        </p:txBody>
      </p:sp>
      <p:sp>
        <p:nvSpPr>
          <p:cNvPr id="17" name="slide3-boundary1">
            <a:extLst xmlns:a="http://schemas.openxmlformats.org/drawingml/2006/main">
              <a:ext uri="{FF2B5EF4-FFF2-40B4-BE49-F238E27FC236}">
                <a16:creationId xmlns:a16="http://schemas.microsoft.com/office/drawing/2014/main" id="{5A91DBEB-97EA-4609-A178-57D62C1B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196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不是：已经证明新方式更高效。</a:t>
            </a:r>
          </a:p>
        </p:txBody>
      </p:sp>
      <p:sp>
        <p:nvSpPr>
          <p:cNvPr id="18" name="slide3-boundary2">
            <a:extLst xmlns:a="http://schemas.openxmlformats.org/drawingml/2006/main">
              <a:ext uri="{FF2B5EF4-FFF2-40B4-BE49-F238E27FC236}">
                <a16:creationId xmlns:a16="http://schemas.microsoft.com/office/drawing/2014/main" id="{314476FB-13FC-408B-BF95-E5662A68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19650"/>
            <a:ext cx="632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而是：先判断别人能否沿记录定位来源、理解处理与排除依据，并承受记录负担。</a:t>
            </a:r>
          </a:p>
        </p:txBody>
      </p:sp>
      <p:sp>
        <p:nvSpPr>
          <p:cNvPr id="19" name="slide3-stop-rule">
            <a:extLst xmlns:a="http://schemas.openxmlformats.org/drawingml/2006/main">
              <a:ext uri="{FF2B5EF4-FFF2-40B4-BE49-F238E27FC236}">
                <a16:creationId xmlns:a16="http://schemas.microsoft.com/office/drawing/2014/main" id="{371354A0-4B09-4B48-9EB3-DCE30EA9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95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7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lide3-stop-label">
            <a:extLst xmlns:a="http://schemas.openxmlformats.org/drawingml/2006/main">
              <a:ext uri="{FF2B5EF4-FFF2-40B4-BE49-F238E27FC236}">
                <a16:creationId xmlns:a16="http://schemas.microsoft.com/office/drawing/2014/main" id="{BA3FD93A-152A-4B60-8FB0-9651ACE8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768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578C"/>
                </a:solidFill>
                <a:latin typeface="Microsoft YaHei"/>
                <a:ea typeface="Microsoft YaHei"/>
                <a:cs typeface="Microsoft YaHei"/>
              </a:rPr>
              <a:t>停止或修改信号</a:t>
            </a:r>
          </a:p>
        </p:txBody>
      </p:sp>
      <p:sp>
        <p:nvSpPr>
          <p:cNvPr id="21" name="slide3-stop-body">
            <a:extLst xmlns:a="http://schemas.openxmlformats.org/drawingml/2006/main">
              <a:ext uri="{FF2B5EF4-FFF2-40B4-BE49-F238E27FC236}">
                <a16:creationId xmlns:a16="http://schemas.microsoft.com/office/drawing/2014/main" id="{B420C491-2DD0-4894-83E3-8838E54F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95925"/>
            <a:ext cx="880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持续挤占实验时间  ·  权限边界说不清  ·  只增加重复抄写而没有帮助解释结果</a:t>
            </a:r>
          </a:p>
        </p:txBody>
      </p:sp>
      <p:sp>
        <p:nvSpPr>
          <p:cNvPr id="22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72755F5F-8689-431D-AE33-D9584E25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77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source-3">
            <a:extLst xmlns:a="http://schemas.openxmlformats.org/drawingml/2006/main">
              <a:ext uri="{FF2B5EF4-FFF2-40B4-BE49-F238E27FC236}">
                <a16:creationId xmlns:a16="http://schemas.microsoft.com/office/drawing/2014/main" id="{DDD9A5EE-309A-4744-9E76-4DC04E06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942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依据：manuscript.md，第 5–8 段；四周、两人和周次是拟定范围，不是实测成效。</a:t>
            </a:r>
          </a:p>
        </p:txBody>
      </p:sp>
    </p:spTree>
    <p:extLst>
      <p:ext uri="{BB962C8B-B14F-4D97-AF65-F5344CB8AC3E}">
        <p14:creationId xmlns:p14="http://schemas.microsoft.com/office/powerpoint/2010/main" val="13153536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2026-09-05T14:56:40.4500000Z</dcterms:created>
  <dcterms:modified xsi:type="dcterms:W3CDTF">2026-09-05T14:56:40.4500000Z</dcterms:modified>
</coreProperties>
</file>