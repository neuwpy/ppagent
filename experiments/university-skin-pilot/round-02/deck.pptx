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8b614e964f4aa7" /><Relationship Type="http://schemas.openxmlformats.org/officeDocument/2006/relationships/extended-properties" Target="/docProps/app.xml" Id="R4b8c3006a7584188" /><Relationship Type="http://schemas.openxmlformats.org/officeDocument/2006/relationships/officeDocument" Target="/ppt/presentation.xml" Id="Re6cd1797d53b41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43fa27b6404f8a"/>
    <p:sldMasterId xmlns:r="http://schemas.openxmlformats.org/officeDocument/2006/relationships" id="2147483660" r:id="R56043b73403c4445"/>
    <p:sldMasterId xmlns:r="http://schemas.openxmlformats.org/officeDocument/2006/relationships" id="2147483663" r:id="Rce1062e663214bc4"/>
  </p:sldMasterIdLst>
  <p:notesMasterIdLst>
    <p:notesMasterId xmlns:r="http://schemas.openxmlformats.org/officeDocument/2006/relationships" r:id="Ra75b705ab63542fd"/>
  </p:notesMasterIdLst>
  <p:sldIdLst>
    <p:sldId xmlns:r="http://schemas.openxmlformats.org/officeDocument/2006/relationships" id="256" r:id="R2696df74527b4d10"/>
    <p:sldId xmlns:r="http://schemas.openxmlformats.org/officeDocument/2006/relationships" id="257" r:id="R4b518815715c4073"/>
    <p:sldId xmlns:r="http://schemas.openxmlformats.org/officeDocument/2006/relationships" id="258" r:id="R56a01e1f09aa4c74"/>
    <p:sldId xmlns:r="http://schemas.openxmlformats.org/officeDocument/2006/relationships" id="259" r:id="R9c010fabb434475f"/>
    <p:sldId xmlns:r="http://schemas.openxmlformats.org/officeDocument/2006/relationships" id="260" r:id="R972cf5b8c9aa42e2"/>
    <p:sldId xmlns:r="http://schemas.openxmlformats.org/officeDocument/2006/relationships" id="261" r:id="R7960f8d8e65b42f7"/>
    <p:sldId xmlns:r="http://schemas.openxmlformats.org/officeDocument/2006/relationships" id="262" r:id="Rc1f9f927c85e4356"/>
    <p:sldId xmlns:r="http://schemas.openxmlformats.org/officeDocument/2006/relationships" id="263" r:id="R4e5a3cf644b44bb9"/>
    <p:sldId xmlns:r="http://schemas.openxmlformats.org/officeDocument/2006/relationships" id="264" r:id="R99c50b866ae848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b63f621f414e73" /><Relationship Type="http://schemas.openxmlformats.org/officeDocument/2006/relationships/slideMaster" Target="/ppt/slideMasters/slideMaster1.xml" Id="Rbc43fa27b6404f8a" /><Relationship Type="http://schemas.openxmlformats.org/officeDocument/2006/relationships/slideMaster" Target="/ppt/slideMasters/slideMaster2.xml" Id="R56043b73403c4445" /><Relationship Type="http://schemas.openxmlformats.org/officeDocument/2006/relationships/slideMaster" Target="/ppt/slideMasters/slideMaster3.xml" Id="Rce1062e663214bc4" /><Relationship Type="http://schemas.openxmlformats.org/officeDocument/2006/relationships/notesMaster" Target="/ppt/notesMasters/notesMaster1.xml" Id="Ra75b705ab63542fd" /><Relationship Type="http://schemas.openxmlformats.org/officeDocument/2006/relationships/presProps" Target="/ppt/presProps.xml" Id="Rb0d5a08fd1594bb0" /><Relationship Type="http://schemas.openxmlformats.org/officeDocument/2006/relationships/viewProps" Target="/ppt/viewProps.xml" Id="Ra82247676dcc4451" /><Relationship Type="http://schemas.openxmlformats.org/officeDocument/2006/relationships/tableStyles" Target="/ppt/tableStyles.xml" Id="Rfb3bc8e1ffbe49a9" /><Relationship Type="http://schemas.openxmlformats.org/officeDocument/2006/relationships/slide" Target="/ppt/slides/slide1.xml" Id="R2696df74527b4d10" /><Relationship Type="http://schemas.openxmlformats.org/officeDocument/2006/relationships/slide" Target="/ppt/slides/slide2.xml" Id="R4b518815715c4073" /><Relationship Type="http://schemas.openxmlformats.org/officeDocument/2006/relationships/slide" Target="/ppt/slides/slide3.xml" Id="R56a01e1f09aa4c74" /><Relationship Type="http://schemas.openxmlformats.org/officeDocument/2006/relationships/slide" Target="/ppt/slides/slide4.xml" Id="R9c010fabb434475f" /><Relationship Type="http://schemas.openxmlformats.org/officeDocument/2006/relationships/slide" Target="/ppt/slides/slide5.xml" Id="R972cf5b8c9aa42e2" /><Relationship Type="http://schemas.openxmlformats.org/officeDocument/2006/relationships/slide" Target="/ppt/slides/slide6.xml" Id="R7960f8d8e65b42f7" /><Relationship Type="http://schemas.openxmlformats.org/officeDocument/2006/relationships/slide" Target="/ppt/slides/slide7.xml" Id="Rc1f9f927c85e4356" /><Relationship Type="http://schemas.openxmlformats.org/officeDocument/2006/relationships/slide" Target="/ppt/slides/slide8.xml" Id="R4e5a3cf644b44bb9" /><Relationship Type="http://schemas.openxmlformats.org/officeDocument/2006/relationships/slide" Target="/ppt/slides/slide9.xml" Id="R99c50b866ae848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15546258c04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e318a3fa9848b2" /><Relationship Type="http://schemas.openxmlformats.org/officeDocument/2006/relationships/notesMaster" Target="/ppt/notesMasters/notesMaster1.xml" Id="R902ba54beee443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64291cd9014eb2" /><Relationship Type="http://schemas.openxmlformats.org/officeDocument/2006/relationships/notesMaster" Target="/ppt/notesMasters/notesMaster1.xml" Id="R7f41b19b8b82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e36be99624ca2" /><Relationship Type="http://schemas.openxmlformats.org/officeDocument/2006/relationships/notesMaster" Target="/ppt/notesMasters/notesMaster1.xml" Id="R97c8ff69b06a49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1757b065b4418f" /><Relationship Type="http://schemas.openxmlformats.org/officeDocument/2006/relationships/notesMaster" Target="/ppt/notesMasters/notesMaster1.xml" Id="Ra4eb3a747b92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d0509a346a4822" /><Relationship Type="http://schemas.openxmlformats.org/officeDocument/2006/relationships/notesMaster" Target="/ppt/notesMasters/notesMaster1.xml" Id="Re6e1480b196347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eee6f3e1340de" /><Relationship Type="http://schemas.openxmlformats.org/officeDocument/2006/relationships/notesMaster" Target="/ppt/notesMasters/notesMaster1.xml" Id="R69654cabde40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0bc5e099254e43" /><Relationship Type="http://schemas.openxmlformats.org/officeDocument/2006/relationships/notesMaster" Target="/ppt/notesMasters/notesMaster1.xml" Id="Rc6ab4210251d44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ef3f8e3cab483e" /><Relationship Type="http://schemas.openxmlformats.org/officeDocument/2006/relationships/notesMaster" Target="/ppt/notesMasters/notesMaster1.xml" Id="Rb245b9cbf50f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b31d6a38fc4f2f" /><Relationship Type="http://schemas.openxmlformats.org/officeDocument/2006/relationships/notesMaster" Target="/ppt/notesMasters/notesMaster1.xml" Id="R7b922320fc7949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本地稿件：C:/PPagenT/experiments/university-skin-pilot/manuscript.md</a:t>
            </a:r>
          </a:p>
          <a:p xmlns:a="http://schemas.openxmlformats.org/drawingml/2006/main">
            <a:r>
              <a:t>- 视觉源与主题：C:/PPagenT/assets/主题/东北大学-001/runtime-template.pptx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页面任务：封面：建立讨论语境，明确这是四周小范围试点讨论稿。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页面任务：决策入口：先验证一次结果能否被理解，不预设效率提升。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页面任务：问题界定：保存结果文件之外，还要保存结果与依据的关系。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页面任务：记录单元：五项共同解释一个结果，并非五个步骤。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页面任务：权限边界：受控引用不等于成员自动获得访问权。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页面任务：范围选择：新增实验先行，历史结果按需补充，不把选择写成成效证明。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页面任务：复核方式：先检查可理解性，再进入负责人确认；授权问题暂停共享。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本地稿件：C:/PPagenT/experiments/university-skin-pilot/manuscript.md</a:t>
            </a:r>
            <a:endParaRPr/>
          </a:p>
          <a:p xmlns:a="http://schemas.openxmlformats.org/drawingml/2006/main">
            <a:r>
              <a:t>- 视觉源与主题：C:/PPagenT/assets/主题/东北大学-001/runtime-template.pptx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页面任务：试点：一个课题方向、两名自愿成员、四周；不先设统一合格分数。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本地稿件：C:/PPagenT/experiments/university-skin-pilot/manuscript.md</a:t>
            </a:r>
          </a:p>
          <a:p xmlns:a="http://schemas.openxmlformats.org/drawingml/2006/main">
            <a:r>
              <a:t>- 视觉源与主题：C:/PPagenT/assets/主题/东北大学-001/runtime-template.pptx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页面任务：结尾：请课题组确认有限尝试的范围、授权联系人与复核责任。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2308a0f554c37" /><Relationship Type="http://schemas.openxmlformats.org/officeDocument/2006/relationships/image" Target="/ppt/media/image.jpeg" Id="R760b3ad36ec14620" /><Relationship Type="http://schemas.openxmlformats.org/officeDocument/2006/relationships/image" Target="/ppt/media/image.png" Id="Rcb944bfebde84fd7" /><Relationship Type="http://schemas.openxmlformats.org/officeDocument/2006/relationships/image" Target="/ppt/media/image2.png" Id="R180793b771614b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aa4c9a6144d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8f08d89e841c2" /><Relationship Type="http://schemas.openxmlformats.org/officeDocument/2006/relationships/image" Target="/ppt/media/image3.png" Id="Ra63459e233094b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200b7fb2243f0" /><Relationship Type="http://schemas.openxmlformats.org/officeDocument/2006/relationships/image" Target="/ppt/media/image4.png" Id="R991f3a538dd64f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7f8c55d0849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87d24e27e4b4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c40b882e84c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6d7aadfe343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e8e8119a14af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4ae97ea7f44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c7ace296e4e5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e6773a44d44e0d" /><Relationship Type="http://schemas.openxmlformats.org/officeDocument/2006/relationships/image" Target="/ppt/media/image5.png" Id="R31b6484df1ca40f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15f66be46b4f9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413a9050df54183" /><Relationship Type="http://schemas.openxmlformats.org/officeDocument/2006/relationships/image" Target="/ppt/media/image5.png" Id="R0e397930bd1d417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c61c9996b7c4df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b3ad36ec1462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44bfebde84fd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793b771614b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459e233094b6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f3a538dd64f0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6484df1ca40f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97930bd1d417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6fbaab927c46fd" /><Relationship Type="http://schemas.openxmlformats.org/officeDocument/2006/relationships/slideLayout" Target="/ppt/slideLayouts/slideLayout1.xml" Id="Rfde2b015ee414f84" /><Relationship Type="http://schemas.openxmlformats.org/officeDocument/2006/relationships/slideLayout" Target="/ppt/slideLayouts/slideLayout2.xml" Id="R495e7afa32904d86" /><Relationship Type="http://schemas.openxmlformats.org/officeDocument/2006/relationships/slideLayout" Target="/ppt/slideLayouts/slideLayout3.xml" Id="Rd51105cd27584423" /><Relationship Type="http://schemas.openxmlformats.org/officeDocument/2006/relationships/slideLayout" Target="/ppt/slideLayouts/slideLayout4.xml" Id="Rf7e70936ee764743" /><Relationship Type="http://schemas.openxmlformats.org/officeDocument/2006/relationships/slideLayout" Target="/ppt/slideLayouts/slideLayout5.xml" Id="R6e6df6ad3dc64e45" /><Relationship Type="http://schemas.openxmlformats.org/officeDocument/2006/relationships/slideLayout" Target="/ppt/slideLayouts/slideLayout6.xml" Id="R653327d23e71440e" /><Relationship Type="http://schemas.openxmlformats.org/officeDocument/2006/relationships/slideLayout" Target="/ppt/slideLayouts/slideLayout7.xml" Id="R5888fdf71bf74a2b" /><Relationship Type="http://schemas.openxmlformats.org/officeDocument/2006/relationships/slideLayout" Target="/ppt/slideLayouts/slideLayout8.xml" Id="R7c50a6d7024347fa" /><Relationship Type="http://schemas.openxmlformats.org/officeDocument/2006/relationships/slideLayout" Target="/ppt/slideLayouts/slideLayout9.xml" Id="Rc4c68c1059944b62" /><Relationship Type="http://schemas.openxmlformats.org/officeDocument/2006/relationships/slideLayout" Target="/ppt/slideLayouts/slideLayout10.xml" Id="Rfd5cfaf406754bd0" /><Relationship Type="http://schemas.openxmlformats.org/officeDocument/2006/relationships/slideLayout" Target="/ppt/slideLayouts/slideLayout11.xml" Id="Rda994f785e9d4b3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447cb107009456b" /><Relationship Type="http://schemas.openxmlformats.org/officeDocument/2006/relationships/slideLayout" Target="/ppt/slideLayouts/slideLayout12.xml" Id="Rcddc2b1d46a84836" /><Relationship Type="http://schemas.openxmlformats.org/officeDocument/2006/relationships/slideLayout" Target="/ppt/slideLayouts/slideLayout13.xml" Id="R23d44c5faffd45e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c0c691a192a425a" /><Relationship Type="http://schemas.openxmlformats.org/officeDocument/2006/relationships/slideLayout" Target="/ppt/slideLayouts/slideLayout14.xml" Id="Rae20e908b3274e8d" /><Relationship Type="http://schemas.openxmlformats.org/officeDocument/2006/relationships/slideLayout" Target="/ppt/slideLayouts/slideLayout15.xml" Id="R47af56c086a749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2b015ee414f84"/>
    <p:sldLayoutId xmlns:r="http://schemas.openxmlformats.org/officeDocument/2006/relationships" id="2147483650" r:id="R495e7afa32904d86"/>
    <p:sldLayoutId xmlns:r="http://schemas.openxmlformats.org/officeDocument/2006/relationships" id="2147483651" r:id="Rd51105cd27584423"/>
    <p:sldLayoutId xmlns:r="http://schemas.openxmlformats.org/officeDocument/2006/relationships" id="2147483652" r:id="Rf7e70936ee764743"/>
    <p:sldLayoutId xmlns:r="http://schemas.openxmlformats.org/officeDocument/2006/relationships" id="2147483653" r:id="R6e6df6ad3dc64e45"/>
    <p:sldLayoutId xmlns:r="http://schemas.openxmlformats.org/officeDocument/2006/relationships" id="2147483654" r:id="R653327d23e71440e"/>
    <p:sldLayoutId xmlns:r="http://schemas.openxmlformats.org/officeDocument/2006/relationships" id="2147483655" r:id="R5888fdf71bf74a2b"/>
    <p:sldLayoutId xmlns:r="http://schemas.openxmlformats.org/officeDocument/2006/relationships" id="2147483656" r:id="R7c50a6d7024347fa"/>
    <p:sldLayoutId xmlns:r="http://schemas.openxmlformats.org/officeDocument/2006/relationships" id="2147483657" r:id="Rc4c68c1059944b62"/>
    <p:sldLayoutId xmlns:r="http://schemas.openxmlformats.org/officeDocument/2006/relationships" id="2147483658" r:id="Rfd5cfaf406754bd0"/>
    <p:sldLayoutId xmlns:r="http://schemas.openxmlformats.org/officeDocument/2006/relationships" id="2147483659" r:id="Rda994f785e9d4b3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ddc2b1d46a84836"/>
    <p:sldLayoutId xmlns:r="http://schemas.openxmlformats.org/officeDocument/2006/relationships" id="2147483662" r:id="R23d44c5faffd45e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e20e908b3274e8d"/>
    <p:sldLayoutId xmlns:r="http://schemas.openxmlformats.org/officeDocument/2006/relationships" id="2147483665" r:id="R47af56c086a7496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a87c0abcf44b8" /><Relationship Type="http://schemas.openxmlformats.org/officeDocument/2006/relationships/notesSlide" Target="/ppt/notesSlides/notesSlide1.xml" Id="R800ba9b1dfd54d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978c800cc54fea" /><Relationship Type="http://schemas.openxmlformats.org/officeDocument/2006/relationships/notesSlide" Target="/ppt/notesSlides/notesSlide2.xml" Id="R2badaad8a2db45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53dbac82994f3e" /><Relationship Type="http://schemas.openxmlformats.org/officeDocument/2006/relationships/notesSlide" Target="/ppt/notesSlides/notesSlide3.xml" Id="Rf2f733c26cca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ff33cff17e4d88" /><Relationship Type="http://schemas.openxmlformats.org/officeDocument/2006/relationships/notesSlide" Target="/ppt/notesSlides/notesSlide4.xml" Id="Rcfa28a301bfd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aa5740b2e5478d" /><Relationship Type="http://schemas.openxmlformats.org/officeDocument/2006/relationships/notesSlide" Target="/ppt/notesSlides/notesSlide5.xml" Id="Rdf6724f4b4f8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5889a5c3514b4f" /><Relationship Type="http://schemas.openxmlformats.org/officeDocument/2006/relationships/notesSlide" Target="/ppt/notesSlides/notesSlide6.xml" Id="R3aa047627a0d49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73e881e9994abf" /><Relationship Type="http://schemas.openxmlformats.org/officeDocument/2006/relationships/notesSlide" Target="/ppt/notesSlides/notesSlide7.xml" Id="Ra107a3c28a79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32483f832044b0" /><Relationship Type="http://schemas.openxmlformats.org/officeDocument/2006/relationships/notesSlide" Target="/ppt/notesSlides/notesSlide8.xml" Id="Ra546b9ec19ec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b1daee3d644b5" /><Relationship Type="http://schemas.openxmlformats.org/officeDocument/2006/relationships/notesSlide" Target="/ppt/notesSlides/notesSlide9.xml" Id="R8fe19612ab7247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课题组讨论稿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2026.09.05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 b="1">
                <a:latin typeface="HYWenRunSongYun U"/>
                <a:ea typeface="HYWenRunSongYun U"/>
                <a:cs typeface="HYWenRunSongYun U"/>
              </a:defRPr>
            </a:pPr>
            <a:r>
              <a:rPr sz="4800" b="1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让一次实验结果可以被理解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本次讨论只需确认一个有限尝试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0" name="R2|thesis-band">
            <a:extLst xmlns:a="http://schemas.openxmlformats.org/drawingml/2006/main">
              <a:ext uri="{FF2B5EF4-FFF2-40B4-BE49-F238E27FC236}">
                <a16:creationId xmlns:a16="http://schemas.microsoft.com/office/drawing/2014/main" id="{7E1B72C0-1816-420C-9923-78A4C5B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76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2|thesis">
            <a:extLst xmlns:a="http://schemas.openxmlformats.org/drawingml/2006/main">
              <a:ext uri="{FF2B5EF4-FFF2-40B4-BE49-F238E27FC236}">
                <a16:creationId xmlns:a16="http://schemas.microsoft.com/office/drawing/2014/main" id="{05136525-1182-4A70-9B82-F9AE8026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先让一次结果可以被理解，再决定哪些记录值得长期保存。</a:t>
            </a:r>
          </a:p>
        </p:txBody>
      </p:sp>
      <p:sp>
        <p:nvSpPr>
          <p:cNvPr id="12" name="R2|why-title">
            <a:extLst xmlns:a="http://schemas.openxmlformats.org/drawingml/2006/main">
              <a:ext uri="{FF2B5EF4-FFF2-40B4-BE49-F238E27FC236}">
                <a16:creationId xmlns:a16="http://schemas.microsoft.com/office/drawing/2014/main" id="{03FCCBAF-010C-4BA1-9752-BAF628F5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为什么现在讨论</a:t>
            </a:r>
          </a:p>
        </p:txBody>
      </p:sp>
      <p:sp>
        <p:nvSpPr>
          <p:cNvPr id="13" name="R2|why-rule">
            <a:extLst xmlns:a="http://schemas.openxmlformats.org/drawingml/2006/main">
              <a:ext uri="{FF2B5EF4-FFF2-40B4-BE49-F238E27FC236}">
                <a16:creationId xmlns:a16="http://schemas.microsoft.com/office/drawing/2014/main" id="{0F13A738-904A-4D7C-9018-6FC2704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" y="3505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4" name="R2|why-item-0">
            <a:extLst xmlns:a="http://schemas.openxmlformats.org/drawingml/2006/main">
              <a:ext uri="{FF2B5EF4-FFF2-40B4-BE49-F238E27FC236}">
                <a16:creationId xmlns:a16="http://schemas.microsoft.com/office/drawing/2014/main" id="{76985765-8A97-4291-A636-89417F8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最终图片通常找得到</a:t>
            </a:r>
          </a:p>
        </p:txBody>
      </p:sp>
      <p:sp>
        <p:nvSpPr>
          <p:cNvPr id="15" name="R2|why-item-1">
            <a:extLst xmlns:a="http://schemas.openxmlformats.org/drawingml/2006/main">
              <a:ext uri="{FF2B5EF4-FFF2-40B4-BE49-F238E27FC236}">
                <a16:creationId xmlns:a16="http://schemas.microsoft.com/office/drawing/2014/main" id="{C2BE8F1E-8073-4C68-9625-DCA29FD1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529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同名文件、个人目录让检索变慢</a:t>
            </a:r>
          </a:p>
        </p:txBody>
      </p:sp>
      <p:sp>
        <p:nvSpPr>
          <p:cNvPr id="16" name="R2|why-item-2">
            <a:extLst xmlns:a="http://schemas.openxmlformats.org/drawingml/2006/main">
              <a:ext uri="{FF2B5EF4-FFF2-40B4-BE49-F238E27FC236}">
                <a16:creationId xmlns:a16="http://schemas.microsoft.com/office/drawing/2014/main" id="{A065CFA2-1772-4820-BE92-8229DF9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01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被排除的数据常只剩一句“已清理”</a:t>
            </a:r>
          </a:p>
        </p:txBody>
      </p:sp>
      <p:sp>
        <p:nvSpPr>
          <p:cNvPr id="17" name="R2|column-divider">
            <a:extLst xmlns:a="http://schemas.openxmlformats.org/drawingml/2006/main">
              <a:ext uri="{FF2B5EF4-FFF2-40B4-BE49-F238E27FC236}">
                <a16:creationId xmlns:a16="http://schemas.microsoft.com/office/drawing/2014/main" id="{C2FD44C9-7A9D-4EA0-9018-B2CEA2F5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048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8" name="R2|not-title">
            <a:extLst xmlns:a="http://schemas.openxmlformats.org/drawingml/2006/main">
              <a:ext uri="{FF2B5EF4-FFF2-40B4-BE49-F238E27FC236}">
                <a16:creationId xmlns:a16="http://schemas.microsoft.com/office/drawing/2014/main" id="{299536F8-B47F-4CFD-951B-56DBE702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05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本次不讨论什么</a:t>
            </a:r>
          </a:p>
        </p:txBody>
      </p:sp>
      <p:sp>
        <p:nvSpPr>
          <p:cNvPr id="19" name="R2|not-rule">
            <a:extLst xmlns:a="http://schemas.openxmlformats.org/drawingml/2006/main">
              <a:ext uri="{FF2B5EF4-FFF2-40B4-BE49-F238E27FC236}">
                <a16:creationId xmlns:a16="http://schemas.microsoft.com/office/drawing/2014/main" id="{ED2A6BBF-4C1A-4F20-911D-7CFD7E4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9875" y="3505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0" name="R2|not-body">
            <a:extLst xmlns:a="http://schemas.openxmlformats.org/drawingml/2006/main">
              <a:ext uri="{FF2B5EF4-FFF2-40B4-BE49-F238E27FC236}">
                <a16:creationId xmlns:a16="http://schemas.microsoft.com/office/drawing/2014/main" id="{0160E690-271D-47AF-88F8-674854EC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957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不是上线一套工具，也不是承诺效率提升。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只讨论是否用四周、小范围试点，建立能解释结果的数据归档习惯。</a:t>
            </a:r>
          </a:p>
        </p:txBody>
      </p:sp>
      <p:sp>
        <p:nvSpPr>
          <p:cNvPr id="21" name="R2|scope-note">
            <a:extLst xmlns:a="http://schemas.openxmlformats.org/drawingml/2006/main">
              <a:ext uri="{FF2B5EF4-FFF2-40B4-BE49-F238E27FC236}">
                <a16:creationId xmlns:a16="http://schemas.microsoft.com/office/drawing/2014/main" id="{45C09177-3594-4427-8971-B32829E8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578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讨论口径：有限尝试，先验证记录是否帮助理解结果。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文件存在，不等于结果可以解释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0" name="R2|problem-core">
            <a:extLst xmlns:a="http://schemas.openxmlformats.org/drawingml/2006/main">
              <a:ext uri="{FF2B5EF4-FFF2-40B4-BE49-F238E27FC236}">
                <a16:creationId xmlns:a16="http://schemas.microsoft.com/office/drawing/2014/main" id="{AD0B3D5C-53D2-4853-B13B-26028DB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问题不只是文件没有上传，而是结果与依据之间的关系没有被保存。</a:t>
            </a:r>
          </a:p>
        </p:txBody>
      </p:sp>
      <p:sp>
        <p:nvSpPr>
          <p:cNvPr id="11" name="R2|symptom-title">
            <a:extLst xmlns:a="http://schemas.openxmlformats.org/drawingml/2006/main">
              <a:ext uri="{FF2B5EF4-FFF2-40B4-BE49-F238E27FC236}">
                <a16:creationId xmlns:a16="http://schemas.microsoft.com/office/drawing/2014/main" id="{6C42352D-BCCE-4735-8A1D-0ECEF90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12" name="R2|symptom-rule">
            <a:extLst xmlns:a="http://schemas.openxmlformats.org/drawingml/2006/main">
              <a:ext uri="{FF2B5EF4-FFF2-40B4-BE49-F238E27FC236}">
                <a16:creationId xmlns:a16="http://schemas.microsoft.com/office/drawing/2014/main" id="{56899371-DFBD-45E2-9E4C-6618E6EB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" y="3467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3" name="R2|symptom-item-0">
            <a:extLst xmlns:a="http://schemas.openxmlformats.org/drawingml/2006/main">
              <a:ext uri="{FF2B5EF4-FFF2-40B4-BE49-F238E27FC236}">
                <a16:creationId xmlns:a16="http://schemas.microsoft.com/office/drawing/2014/main" id="{9587AA9E-2595-48FC-A0D1-825DFCF9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76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最终图片通常能找到</a:t>
            </a:r>
          </a:p>
        </p:txBody>
      </p:sp>
      <p:sp>
        <p:nvSpPr>
          <p:cNvPr id="14" name="R2|symptom-item-1">
            <a:extLst xmlns:a="http://schemas.openxmlformats.org/drawingml/2006/main">
              <a:ext uri="{FF2B5EF4-FFF2-40B4-BE49-F238E27FC236}">
                <a16:creationId xmlns:a16="http://schemas.microsoft.com/office/drawing/2014/main" id="{0E29E77B-053D-4E17-864C-D70BF6C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71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同名文件、个人目录让重复检索变难</a:t>
            </a:r>
          </a:p>
        </p:txBody>
      </p:sp>
      <p:sp>
        <p:nvSpPr>
          <p:cNvPr id="15" name="R2|symptom-item-2">
            <a:extLst xmlns:a="http://schemas.openxmlformats.org/drawingml/2006/main">
              <a:ext uri="{FF2B5EF4-FFF2-40B4-BE49-F238E27FC236}">
                <a16:creationId xmlns:a16="http://schemas.microsoft.com/office/drawing/2014/main" id="{045FD4FB-FF2E-4104-A804-D4917C54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67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异常与排除往往只剩“已清理”</a:t>
            </a:r>
          </a:p>
        </p:txBody>
      </p:sp>
      <p:sp>
        <p:nvSpPr>
          <p:cNvPr id="16" name="R2|column-divider">
            <a:extLst xmlns:a="http://schemas.openxmlformats.org/drawingml/2006/main">
              <a:ext uri="{FF2B5EF4-FFF2-40B4-BE49-F238E27FC236}">
                <a16:creationId xmlns:a16="http://schemas.microsoft.com/office/drawing/2014/main" id="{72CE2465-AAE3-4FA9-987A-978B8C86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990850"/>
            <a:ext cx="0" cy="2438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7" name="R2|relation-title">
            <a:extLst xmlns:a="http://schemas.openxmlformats.org/drawingml/2006/main">
              <a:ext uri="{FF2B5EF4-FFF2-40B4-BE49-F238E27FC236}">
                <a16:creationId xmlns:a16="http://schemas.microsoft.com/office/drawing/2014/main" id="{424C767B-CAE7-4451-9CC8-C127D9A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67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需要补上的关系</a:t>
            </a:r>
          </a:p>
        </p:txBody>
      </p:sp>
      <p:sp>
        <p:nvSpPr>
          <p:cNvPr id="18" name="R2|relation-rule">
            <a:extLst xmlns:a="http://schemas.openxmlformats.org/drawingml/2006/main">
              <a:ext uri="{FF2B5EF4-FFF2-40B4-BE49-F238E27FC236}">
                <a16:creationId xmlns:a16="http://schemas.microsoft.com/office/drawing/2014/main" id="{875194D3-84E7-4D3A-A89F-99A7AC7B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9875" y="3467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9" name="R2|relation-item-0">
            <a:extLst xmlns:a="http://schemas.openxmlformats.org/drawingml/2006/main">
              <a:ext uri="{FF2B5EF4-FFF2-40B4-BE49-F238E27FC236}">
                <a16:creationId xmlns:a16="http://schemas.microsoft.com/office/drawing/2014/main" id="{409931ED-2348-40A6-83A9-5E934624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76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结果 ← 样本与采集条件</a:t>
            </a:r>
          </a:p>
        </p:txBody>
      </p:sp>
      <p:sp>
        <p:nvSpPr>
          <p:cNvPr id="20" name="R2|relation-item-1">
            <a:extLst xmlns:a="http://schemas.openxmlformats.org/drawingml/2006/main">
              <a:ext uri="{FF2B5EF4-FFF2-40B4-BE49-F238E27FC236}">
                <a16:creationId xmlns:a16="http://schemas.microsoft.com/office/drawing/2014/main" id="{9F4B0FB3-27E0-4D5B-8C35-260EDF1A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719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结果 ← 处理脚本版本</a:t>
            </a:r>
          </a:p>
        </p:txBody>
      </p:sp>
      <p:sp>
        <p:nvSpPr>
          <p:cNvPr id="21" name="R2|relation-item-2">
            <a:extLst xmlns:a="http://schemas.openxmlformats.org/drawingml/2006/main">
              <a:ext uri="{FF2B5EF4-FFF2-40B4-BE49-F238E27FC236}">
                <a16:creationId xmlns:a16="http://schemas.microsoft.com/office/drawing/2014/main" id="{F82BFC32-3547-4F12-AC8D-CAB6A027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67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结果 ← 异常与排除依据</a:t>
            </a:r>
          </a:p>
        </p:txBody>
      </p:sp>
      <p:sp>
        <p:nvSpPr>
          <p:cNvPr id="22" name="R2|bottom-note">
            <a:extLst xmlns:a="http://schemas.openxmlformats.org/drawingml/2006/main">
              <a:ext uri="{FF2B5EF4-FFF2-40B4-BE49-F238E27FC236}">
                <a16:creationId xmlns:a16="http://schemas.microsoft.com/office/drawing/2014/main" id="{AAE6989D-A42F-40D5-AC2D-35826147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归档首先保存“结果如何产生”的依据，随后才讨论扩大共享范围。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可讨论的结果，需要同时保存结果与依据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0" name="R2|record-core">
            <a:extLst xmlns:a="http://schemas.openxmlformats.org/drawingml/2006/main">
              <a:ext uri="{FF2B5EF4-FFF2-40B4-BE49-F238E27FC236}">
                <a16:creationId xmlns:a16="http://schemas.microsoft.com/office/drawing/2014/main" id="{BCEB119A-E258-4B50-ADD4-C3374D63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47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一个记录单元 = 结果 + 能解释它的上下文</a:t>
            </a:r>
          </a:p>
        </p:txBody>
      </p:sp>
      <p:sp>
        <p:nvSpPr>
          <p:cNvPr id="11" name="R2|mid-divider">
            <a:extLst xmlns:a="http://schemas.openxmlformats.org/drawingml/2006/main">
              <a:ext uri="{FF2B5EF4-FFF2-40B4-BE49-F238E27FC236}">
                <a16:creationId xmlns:a16="http://schemas.microsoft.com/office/drawing/2014/main" id="{AE082448-DE0B-4A90-891B-C7F213D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8130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2" name="R2|record-1-num">
            <a:extLst xmlns:a="http://schemas.openxmlformats.org/drawingml/2006/main">
              <a:ext uri="{FF2B5EF4-FFF2-40B4-BE49-F238E27FC236}">
                <a16:creationId xmlns:a16="http://schemas.microsoft.com/office/drawing/2014/main" id="{EC1BA252-A197-4996-81BB-EB4C75C2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R2|record-1-title">
            <a:extLst xmlns:a="http://schemas.openxmlformats.org/drawingml/2006/main">
              <a:ext uri="{FF2B5EF4-FFF2-40B4-BE49-F238E27FC236}">
                <a16:creationId xmlns:a16="http://schemas.microsoft.com/office/drawing/2014/main" id="{F927C622-365F-4239-A39F-68806734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14" name="R2|record-1-body">
            <a:extLst xmlns:a="http://schemas.openxmlformats.org/drawingml/2006/main">
              <a:ext uri="{FF2B5EF4-FFF2-40B4-BE49-F238E27FC236}">
                <a16:creationId xmlns:a16="http://schemas.microsoft.com/office/drawing/2014/main" id="{011661CB-51C1-437A-BA29-E9B0AF1E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766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原始数据保持原貌。</a:t>
            </a:r>
          </a:p>
        </p:txBody>
      </p:sp>
      <p:sp>
        <p:nvSpPr>
          <p:cNvPr id="15" name="R2|record-2-num">
            <a:extLst xmlns:a="http://schemas.openxmlformats.org/drawingml/2006/main">
              <a:ext uri="{FF2B5EF4-FFF2-40B4-BE49-F238E27FC236}">
                <a16:creationId xmlns:a16="http://schemas.microsoft.com/office/drawing/2014/main" id="{0595F326-2CB0-4525-A67D-7E0BE768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48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2|record-2-title">
            <a:extLst xmlns:a="http://schemas.openxmlformats.org/drawingml/2006/main">
              <a:ext uri="{FF2B5EF4-FFF2-40B4-BE49-F238E27FC236}">
                <a16:creationId xmlns:a16="http://schemas.microsoft.com/office/drawing/2014/main" id="{CAF19E4C-4EDA-4D3F-89BD-56A1E2FD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9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7" name="R2|record-2-body">
            <a:extLst xmlns:a="http://schemas.openxmlformats.org/drawingml/2006/main">
              <a:ext uri="{FF2B5EF4-FFF2-40B4-BE49-F238E27FC236}">
                <a16:creationId xmlns:a16="http://schemas.microsoft.com/office/drawing/2014/main" id="{A334F071-1214-4221-BE96-D36D11B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52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说明结果的输入条件。</a:t>
            </a:r>
          </a:p>
        </p:txBody>
      </p:sp>
      <p:sp>
        <p:nvSpPr>
          <p:cNvPr id="18" name="R2|record-3-num">
            <a:extLst xmlns:a="http://schemas.openxmlformats.org/drawingml/2006/main">
              <a:ext uri="{FF2B5EF4-FFF2-40B4-BE49-F238E27FC236}">
                <a16:creationId xmlns:a16="http://schemas.microsoft.com/office/drawing/2014/main" id="{9605BE30-FF34-4A1D-BEB6-942E717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24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R2|record-3-title">
            <a:extLst xmlns:a="http://schemas.openxmlformats.org/drawingml/2006/main">
              <a:ext uri="{FF2B5EF4-FFF2-40B4-BE49-F238E27FC236}">
                <a16:creationId xmlns:a16="http://schemas.microsoft.com/office/drawing/2014/main" id="{D1A62D2B-8F36-48C9-A9E7-1CC86A85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20" name="R2|record-3-body">
            <a:extLst xmlns:a="http://schemas.openxmlformats.org/drawingml/2006/main">
              <a:ext uri="{FF2B5EF4-FFF2-40B4-BE49-F238E27FC236}">
                <a16:creationId xmlns:a16="http://schemas.microsoft.com/office/drawing/2014/main" id="{3781EF77-B9ED-49B4-90A7-8DAB626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能够定位实际运行的代码。</a:t>
            </a:r>
          </a:p>
        </p:txBody>
      </p:sp>
      <p:sp>
        <p:nvSpPr>
          <p:cNvPr id="21" name="R2|record-4-num">
            <a:extLst xmlns:a="http://schemas.openxmlformats.org/drawingml/2006/main">
              <a:ext uri="{FF2B5EF4-FFF2-40B4-BE49-F238E27FC236}">
                <a16:creationId xmlns:a16="http://schemas.microsoft.com/office/drawing/2014/main" id="{67F75025-18CE-4AB5-97A6-F0C151DC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R2|record-4-title">
            <a:extLst xmlns:a="http://schemas.openxmlformats.org/drawingml/2006/main">
              <a:ext uri="{FF2B5EF4-FFF2-40B4-BE49-F238E27FC236}">
                <a16:creationId xmlns:a16="http://schemas.microsoft.com/office/drawing/2014/main" id="{94CE0753-C8AA-41AC-B338-478CBDF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23" name="R2|record-4-body">
            <a:extLst xmlns:a="http://schemas.openxmlformats.org/drawingml/2006/main">
              <a:ext uri="{FF2B5EF4-FFF2-40B4-BE49-F238E27FC236}">
                <a16:creationId xmlns:a16="http://schemas.microsoft.com/office/drawing/2014/main" id="{A52F170C-31E6-47DD-8153-3AEC3AA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766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对应最终讨论材料。</a:t>
            </a:r>
          </a:p>
        </p:txBody>
      </p:sp>
      <p:sp>
        <p:nvSpPr>
          <p:cNvPr id="24" name="R2|record-5-num">
            <a:extLst xmlns:a="http://schemas.openxmlformats.org/drawingml/2006/main">
              <a:ext uri="{FF2B5EF4-FFF2-40B4-BE49-F238E27FC236}">
                <a16:creationId xmlns:a16="http://schemas.microsoft.com/office/drawing/2014/main" id="{D12FC15A-D003-45C8-8547-8533D11C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48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R2|record-5-title">
            <a:extLst xmlns:a="http://schemas.openxmlformats.org/drawingml/2006/main">
              <a:ext uri="{FF2B5EF4-FFF2-40B4-BE49-F238E27FC236}">
                <a16:creationId xmlns:a16="http://schemas.microsoft.com/office/drawing/2014/main" id="{1F03A3C7-B921-46B2-8198-3C5E6FFA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29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异常与排除说明</a:t>
            </a:r>
          </a:p>
        </p:txBody>
      </p:sp>
      <p:sp>
        <p:nvSpPr>
          <p:cNvPr id="26" name="R2|record-5-body">
            <a:extLst xmlns:a="http://schemas.openxmlformats.org/drawingml/2006/main">
              <a:ext uri="{FF2B5EF4-FFF2-40B4-BE49-F238E27FC236}">
                <a16:creationId xmlns:a16="http://schemas.microsoft.com/office/drawing/2014/main" id="{8D707CAD-E963-4946-8295-506F42BE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52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保留判断依据，也说明未纳入样本。</a:t>
            </a:r>
          </a:p>
        </p:txBody>
      </p:sp>
      <p:sp>
        <p:nvSpPr>
          <p:cNvPr id="27" name="R2|record-boundary">
            <a:extLst xmlns:a="http://schemas.openxmlformats.org/drawingml/2006/main">
              <a:ext uri="{FF2B5EF4-FFF2-40B4-BE49-F238E27FC236}">
                <a16:creationId xmlns:a16="http://schemas.microsoft.com/office/drawing/2014/main" id="{872DAEDC-4BEC-4DF7-9AF7-9D57DDFF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530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8" name="R2|record-boundary-text">
            <a:extLst xmlns:a="http://schemas.openxmlformats.org/drawingml/2006/main">
              <a:ext uri="{FF2B5EF4-FFF2-40B4-BE49-F238E27FC236}">
                <a16:creationId xmlns:a16="http://schemas.microsoft.com/office/drawing/2014/main" id="{29651DC4-A44F-4EBA-B345-7DDB6356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244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五项共同解释一个结果，并不是必须依次执行的五个步骤。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归档不改变原始数据的授权边界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0" name="R2|permission-core">
            <a:extLst xmlns:a="http://schemas.openxmlformats.org/drawingml/2006/main">
              <a:ext uri="{FF2B5EF4-FFF2-40B4-BE49-F238E27FC236}">
                <a16:creationId xmlns:a16="http://schemas.microsoft.com/office/drawing/2014/main" id="{EB0BB268-2A39-4D66-B6D3-E548D715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记录可追溯性，不等于扩大文件可见范围。</a:t>
            </a:r>
          </a:p>
        </p:txBody>
      </p:sp>
      <p:sp>
        <p:nvSpPr>
          <p:cNvPr id="11" name="R2|left-surface">
            <a:extLst xmlns:a="http://schemas.openxmlformats.org/drawingml/2006/main">
              <a:ext uri="{FF2B5EF4-FFF2-40B4-BE49-F238E27FC236}">
                <a16:creationId xmlns:a16="http://schemas.microsoft.com/office/drawing/2014/main" id="{C6DEE93E-5C13-43D7-AE48-C1647BFF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76550"/>
            <a:ext cx="4857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2" name="R2|left-title">
            <a:extLst xmlns:a="http://schemas.openxmlformats.org/drawingml/2006/main">
              <a:ext uri="{FF2B5EF4-FFF2-40B4-BE49-F238E27FC236}">
                <a16:creationId xmlns:a16="http://schemas.microsoft.com/office/drawing/2014/main" id="{210453FC-A158-4619-9D67-35F7B18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24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可以进入讨论材料</a:t>
            </a:r>
          </a:p>
        </p:txBody>
      </p:sp>
      <p:sp>
        <p:nvSpPr>
          <p:cNvPr id="13" name="R2|left-item-0">
            <a:extLst xmlns:a="http://schemas.openxmlformats.org/drawingml/2006/main">
              <a:ext uri="{FF2B5EF4-FFF2-40B4-BE49-F238E27FC236}">
                <a16:creationId xmlns:a16="http://schemas.microsoft.com/office/drawing/2014/main" id="{8FD00DA8-EAD3-4EF0-A99B-CC4F458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结果图</a:t>
            </a:r>
          </a:p>
        </p:txBody>
      </p:sp>
      <p:sp>
        <p:nvSpPr>
          <p:cNvPr id="14" name="R2|left-item-1">
            <a:extLst xmlns:a="http://schemas.openxmlformats.org/drawingml/2006/main">
              <a:ext uri="{FF2B5EF4-FFF2-40B4-BE49-F238E27FC236}">
                <a16:creationId xmlns:a16="http://schemas.microsoft.com/office/drawing/2014/main" id="{969C82FC-04D9-4E13-BFAA-EC38C031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719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可公开的解释</a:t>
            </a:r>
          </a:p>
        </p:txBody>
      </p:sp>
      <p:sp>
        <p:nvSpPr>
          <p:cNvPr id="15" name="R2|left-item-2">
            <a:extLst xmlns:a="http://schemas.openxmlformats.org/drawingml/2006/main">
              <a:ext uri="{FF2B5EF4-FFF2-40B4-BE49-F238E27FC236}">
                <a16:creationId xmlns:a16="http://schemas.microsoft.com/office/drawing/2014/main" id="{9337791E-D53A-47CE-996E-18F39157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29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受控引用（路径 + 访问条件）</a:t>
            </a:r>
          </a:p>
        </p:txBody>
      </p:sp>
      <p:sp>
        <p:nvSpPr>
          <p:cNvPr id="16" name="R2|right-surface">
            <a:extLst xmlns:a="http://schemas.openxmlformats.org/drawingml/2006/main">
              <a:ext uri="{FF2B5EF4-FFF2-40B4-BE49-F238E27FC236}">
                <a16:creationId xmlns:a16="http://schemas.microsoft.com/office/drawing/2014/main" id="{2A5F6F53-62CA-4005-B44E-2B05878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4857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7" name="R2|right-title">
            <a:extLst xmlns:a="http://schemas.openxmlformats.org/drawingml/2006/main">
              <a:ext uri="{FF2B5EF4-FFF2-40B4-BE49-F238E27FC236}">
                <a16:creationId xmlns:a16="http://schemas.microsoft.com/office/drawing/2014/main" id="{9E9BDD74-58D7-4999-AEDD-4A1AFC7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242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仍受原授权约束</a:t>
            </a:r>
          </a:p>
        </p:txBody>
      </p:sp>
      <p:sp>
        <p:nvSpPr>
          <p:cNvPr id="18" name="R2|right-item-0">
            <a:extLst xmlns:a="http://schemas.openxmlformats.org/drawingml/2006/main">
              <a:ext uri="{FF2B5EF4-FFF2-40B4-BE49-F238E27FC236}">
                <a16:creationId xmlns:a16="http://schemas.microsoft.com/office/drawing/2014/main" id="{9F16C869-1598-4743-BBF5-8C69B6E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147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个人信息</a:t>
            </a:r>
          </a:p>
        </p:txBody>
      </p:sp>
      <p:sp>
        <p:nvSpPr>
          <p:cNvPr id="19" name="R2|right-item-1">
            <a:extLst xmlns:a="http://schemas.openxmlformats.org/drawingml/2006/main">
              <a:ext uri="{FF2B5EF4-FFF2-40B4-BE49-F238E27FC236}">
                <a16:creationId xmlns:a16="http://schemas.microsoft.com/office/drawing/2014/main" id="{592BC0F7-CF1A-4A2F-A703-694B521D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719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合作限制</a:t>
            </a:r>
          </a:p>
        </p:txBody>
      </p:sp>
      <p:sp>
        <p:nvSpPr>
          <p:cNvPr id="20" name="R2|right-item-2">
            <a:extLst xmlns:a="http://schemas.openxmlformats.org/drawingml/2006/main">
              <a:ext uri="{FF2B5EF4-FFF2-40B4-BE49-F238E27FC236}">
                <a16:creationId xmlns:a16="http://schemas.microsoft.com/office/drawing/2014/main" id="{18139460-5B76-46D4-9A0E-5BCA962C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29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受限原始数据</a:t>
            </a:r>
          </a:p>
        </p:txBody>
      </p:sp>
      <p:sp>
        <p:nvSpPr>
          <p:cNvPr id="21" name="R2|path-warning">
            <a:extLst xmlns:a="http://schemas.openxmlformats.org/drawingml/2006/main">
              <a:ext uri="{FF2B5EF4-FFF2-40B4-BE49-F238E27FC236}">
                <a16:creationId xmlns:a16="http://schemas.microsoft.com/office/drawing/2014/main" id="{0A51F5C2-9925-4EBA-96D8-88C48F06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864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2|path-warning-text">
            <a:extLst xmlns:a="http://schemas.openxmlformats.org/drawingml/2006/main">
              <a:ext uri="{FF2B5EF4-FFF2-40B4-BE49-F238E27FC236}">
                <a16:creationId xmlns:a16="http://schemas.microsoft.com/office/drawing/2014/main" id="{3CF69124-35BA-4655-AFA2-CBA4E668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记录表出现一个路径，不代表其他成员已经取得访问权。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先从新增实验试行，历史结果按需补充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0" name="R2|option-intro">
            <a:extLst xmlns:a="http://schemas.openxmlformats.org/drawingml/2006/main">
              <a:ext uri="{FF2B5EF4-FFF2-40B4-BE49-F238E27FC236}">
                <a16:creationId xmlns:a16="http://schemas.microsoft.com/office/drawing/2014/main" id="{4CFE82B0-C934-4D97-97E3-FAC37DEC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两种推进思路各有边界，建议先选范围，不预设成效。</a:t>
            </a:r>
          </a:p>
        </p:txBody>
      </p:sp>
      <p:sp>
        <p:nvSpPr>
          <p:cNvPr id="11" name="R2|option-divider">
            <a:extLst xmlns:a="http://schemas.openxmlformats.org/drawingml/2006/main">
              <a:ext uri="{FF2B5EF4-FFF2-40B4-BE49-F238E27FC236}">
                <a16:creationId xmlns:a16="http://schemas.microsoft.com/office/drawing/2014/main" id="{C20D4F8B-5459-4994-8025-454D0F1D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724150"/>
            <a:ext cx="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2" name="R2|history-title">
            <a:extLst xmlns:a="http://schemas.openxmlformats.org/drawingml/2006/main">
              <a:ext uri="{FF2B5EF4-FFF2-40B4-BE49-F238E27FC236}">
                <a16:creationId xmlns:a16="http://schemas.microsoft.com/office/drawing/2014/main" id="{335DAF21-0301-48F9-867D-536E009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24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集中补历史档案</a:t>
            </a:r>
          </a:p>
        </p:txBody>
      </p:sp>
      <p:sp>
        <p:nvSpPr>
          <p:cNvPr id="13" name="R2|history-rule">
            <a:extLst xmlns:a="http://schemas.openxmlformats.org/drawingml/2006/main">
              <a:ext uri="{FF2B5EF4-FFF2-40B4-BE49-F238E27FC236}">
                <a16:creationId xmlns:a16="http://schemas.microsoft.com/office/drawing/2014/main" id="{F50E29B1-737D-4E2D-8A32-2AD807F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" y="31242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4" name="R2|history-item-0">
            <a:extLst xmlns:a="http://schemas.openxmlformats.org/drawingml/2006/main">
              <a:ext uri="{FF2B5EF4-FFF2-40B4-BE49-F238E27FC236}">
                <a16:creationId xmlns:a16="http://schemas.microsoft.com/office/drawing/2014/main" id="{E8F0D267-60FA-47DD-9081-0F2E460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能一次形成较大的目录</a:t>
            </a:r>
          </a:p>
        </p:txBody>
      </p:sp>
      <p:sp>
        <p:nvSpPr>
          <p:cNvPr id="15" name="R2|history-item-1">
            <a:extLst xmlns:a="http://schemas.openxmlformats.org/drawingml/2006/main">
              <a:ext uri="{FF2B5EF4-FFF2-40B4-BE49-F238E27FC236}">
                <a16:creationId xmlns:a16="http://schemas.microsoft.com/office/drawing/2014/main" id="{6DEE2FC5-FC9F-44FE-974D-803BE6B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862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追查遗失上下文的成本高</a:t>
            </a:r>
          </a:p>
        </p:txBody>
      </p:sp>
      <p:sp>
        <p:nvSpPr>
          <p:cNvPr id="16" name="R2|history-item-2">
            <a:extLst xmlns:a="http://schemas.openxmlformats.org/drawingml/2006/main">
              <a:ext uri="{FF2B5EF4-FFF2-40B4-BE49-F238E27FC236}">
                <a16:creationId xmlns:a16="http://schemas.microsoft.com/office/drawing/2014/main" id="{40E4E8BD-58AF-46C6-B072-21EBED84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386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可能把不确定记忆写成确定说明</a:t>
            </a:r>
          </a:p>
        </p:txBody>
      </p:sp>
      <p:sp>
        <p:nvSpPr>
          <p:cNvPr id="17" name="R2|new-title">
            <a:extLst xmlns:a="http://schemas.openxmlformats.org/drawingml/2006/main">
              <a:ext uri="{FF2B5EF4-FFF2-40B4-BE49-F238E27FC236}">
                <a16:creationId xmlns:a16="http://schemas.microsoft.com/office/drawing/2014/main" id="{496A4566-71F4-4D0B-848B-1E947F53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从新增实验开始</a:t>
            </a:r>
          </a:p>
        </p:txBody>
      </p:sp>
      <p:sp>
        <p:nvSpPr>
          <p:cNvPr id="18" name="R2|new-rule">
            <a:extLst xmlns:a="http://schemas.openxmlformats.org/drawingml/2006/main">
              <a:ext uri="{FF2B5EF4-FFF2-40B4-BE49-F238E27FC236}">
                <a16:creationId xmlns:a16="http://schemas.microsoft.com/office/drawing/2014/main" id="{AC6287BB-19FF-4C81-B97C-28A4C801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9875" y="3124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9" name="R2|new-item-0">
            <a:extLst xmlns:a="http://schemas.openxmlformats.org/drawingml/2006/main">
              <a:ext uri="{FF2B5EF4-FFF2-40B4-BE49-F238E27FC236}">
                <a16:creationId xmlns:a16="http://schemas.microsoft.com/office/drawing/2014/main" id="{EC6604A5-7D83-4C67-B57F-6E68008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上下文尚清楚时更容易记录</a:t>
            </a:r>
          </a:p>
        </p:txBody>
      </p:sp>
      <p:sp>
        <p:nvSpPr>
          <p:cNvPr id="20" name="R2|new-item-1">
            <a:extLst xmlns:a="http://schemas.openxmlformats.org/drawingml/2006/main">
              <a:ext uri="{FF2B5EF4-FFF2-40B4-BE49-F238E27FC236}">
                <a16:creationId xmlns:a16="http://schemas.microsoft.com/office/drawing/2014/main" id="{8239C00F-F404-40C8-AD63-EAE102A9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862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短期不能解决全部历史追溯</a:t>
            </a:r>
          </a:p>
        </p:txBody>
      </p:sp>
      <p:sp>
        <p:nvSpPr>
          <p:cNvPr id="21" name="R2|new-item-2">
            <a:extLst xmlns:a="http://schemas.openxmlformats.org/drawingml/2006/main">
              <a:ext uri="{FF2B5EF4-FFF2-40B4-BE49-F238E27FC236}">
                <a16:creationId xmlns:a16="http://schemas.microsoft.com/office/drawing/2014/main" id="{4BC3BADC-3BA2-4A4A-91FC-B99C8A5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38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便于先验证最少字段与复核方式</a:t>
            </a:r>
          </a:p>
        </p:txBody>
      </p:sp>
      <p:sp>
        <p:nvSpPr>
          <p:cNvPr id="22" name="R2|recommendation">
            <a:extLst xmlns:a="http://schemas.openxmlformats.org/drawingml/2006/main">
              <a:ext uri="{FF2B5EF4-FFF2-40B4-BE49-F238E27FC236}">
                <a16:creationId xmlns:a16="http://schemas.microsoft.com/office/drawing/2014/main" id="{46CEB8BB-EAA5-4472-8C89-D23187E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2|recommendation-text">
            <a:extLst xmlns:a="http://schemas.openxmlformats.org/drawingml/2006/main">
              <a:ext uri="{FF2B5EF4-FFF2-40B4-BE49-F238E27FC236}">
                <a16:creationId xmlns:a16="http://schemas.microsoft.com/office/drawing/2014/main" id="{C34ED094-C26C-496B-8F12-F5300F21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建议：新增实验先行；真正需要复核的历史结果逐项补充。</a:t>
            </a:r>
          </a:p>
        </p:txBody>
      </p:sp>
      <p:sp>
        <p:nvSpPr>
          <p:cNvPr id="24" name="R2|recommendation-note">
            <a:extLst xmlns:a="http://schemas.openxmlformats.org/drawingml/2006/main">
              <a:ext uri="{FF2B5EF4-FFF2-40B4-BE49-F238E27FC236}">
                <a16:creationId xmlns:a16="http://schemas.microsoft.com/office/drawing/2014/main" id="{3F3EFB4A-F792-4FEA-84D4-5F82A7CC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817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这是范围选择，不是已证明新方式更高效。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复核先检查能否理解结果如何产生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0" name="R2|workflow-core">
            <a:extLst xmlns:a="http://schemas.openxmlformats.org/drawingml/2006/main">
              <a:ext uri="{FF2B5EF4-FFF2-40B4-BE49-F238E27FC236}">
                <a16:creationId xmlns:a16="http://schemas.microsoft.com/office/drawing/2014/main" id="{29BF18FA-A218-4BD1-B917-45C03F89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复核先检查能否理解结果如何产生</a:t>
            </a:r>
          </a:p>
        </p:txBody>
      </p:sp>
      <p:sp>
        <p:nvSpPr>
          <p:cNvPr id="11" name="R2|workflow-line">
            <a:extLst xmlns:a="http://schemas.openxmlformats.org/drawingml/2006/main">
              <a:ext uri="{FF2B5EF4-FFF2-40B4-BE49-F238E27FC236}">
                <a16:creationId xmlns:a16="http://schemas.microsoft.com/office/drawing/2014/main" id="{6EB8F55D-7DEC-4C77-986E-7B58D72F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0625" y="2857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12" name="R2|step-0-num">
            <a:extLst xmlns:a="http://schemas.openxmlformats.org/drawingml/2006/main">
              <a:ext uri="{FF2B5EF4-FFF2-40B4-BE49-F238E27FC236}">
                <a16:creationId xmlns:a16="http://schemas.microsoft.com/office/drawing/2014/main" id="{1203936E-BC1F-4338-88EC-7707766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R2|step-0-title">
            <a:extLst xmlns:a="http://schemas.openxmlformats.org/drawingml/2006/main">
              <a:ext uri="{FF2B5EF4-FFF2-40B4-BE49-F238E27FC236}">
                <a16:creationId xmlns:a16="http://schemas.microsoft.com/office/drawing/2014/main" id="{546D93E3-B10B-42E9-BCF1-FCA3AB2D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提交记录</a:t>
            </a:r>
          </a:p>
        </p:txBody>
      </p:sp>
      <p:sp>
        <p:nvSpPr>
          <p:cNvPr id="14" name="R2|step-0-body">
            <a:extLst xmlns:a="http://schemas.openxmlformats.org/drawingml/2006/main">
              <a:ext uri="{FF2B5EF4-FFF2-40B4-BE49-F238E27FC236}">
                <a16:creationId xmlns:a16="http://schemas.microsoft.com/office/drawing/2014/main" id="{3CC14DE1-D9D6-4B63-BEB1-8CF15617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执行者提交结果记录及受控引用</a:t>
            </a:r>
          </a:p>
        </p:txBody>
      </p:sp>
      <p:sp>
        <p:nvSpPr>
          <p:cNvPr id="15" name="R2|step-1-num">
            <a:extLst xmlns:a="http://schemas.openxmlformats.org/drawingml/2006/main">
              <a:ext uri="{FF2B5EF4-FFF2-40B4-BE49-F238E27FC236}">
                <a16:creationId xmlns:a16="http://schemas.microsoft.com/office/drawing/2014/main" id="{A941E32B-40D9-40D4-9430-BBEBA540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R2|step-1-title">
            <a:extLst xmlns:a="http://schemas.openxmlformats.org/drawingml/2006/main">
              <a:ext uri="{FF2B5EF4-FFF2-40B4-BE49-F238E27FC236}">
                <a16:creationId xmlns:a16="http://schemas.microsoft.com/office/drawing/2014/main" id="{F12C3D0D-EF45-42A0-B233-CAE9E2F5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定位与提缺</a:t>
            </a:r>
          </a:p>
        </p:txBody>
      </p:sp>
      <p:sp>
        <p:nvSpPr>
          <p:cNvPr id="17" name="R2|step-1-body">
            <a:extLst xmlns:a="http://schemas.openxmlformats.org/drawingml/2006/main">
              <a:ext uri="{FF2B5EF4-FFF2-40B4-BE49-F238E27FC236}">
                <a16:creationId xmlns:a16="http://schemas.microsoft.com/office/drawing/2014/main" id="{907F3889-6B15-473D-92EB-060D569F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3855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另一位成员尝试定位数据、脚本和条件，并提出缺项</a:t>
            </a:r>
          </a:p>
        </p:txBody>
      </p:sp>
      <p:sp>
        <p:nvSpPr>
          <p:cNvPr id="18" name="R2|step-2-num">
            <a:extLst xmlns:a="http://schemas.openxmlformats.org/drawingml/2006/main">
              <a:ext uri="{FF2B5EF4-FFF2-40B4-BE49-F238E27FC236}">
                <a16:creationId xmlns:a16="http://schemas.microsoft.com/office/drawing/2014/main" id="{CD3E3FDA-DCB1-48D4-9865-6C8B7BB4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R2|step-2-title">
            <a:extLst xmlns:a="http://schemas.openxmlformats.org/drawingml/2006/main">
              <a:ext uri="{FF2B5EF4-FFF2-40B4-BE49-F238E27FC236}">
                <a16:creationId xmlns:a16="http://schemas.microsoft.com/office/drawing/2014/main" id="{F451E603-E18B-4E54-BF3D-85B81D1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补充与确认</a:t>
            </a:r>
          </a:p>
        </p:txBody>
      </p:sp>
      <p:sp>
        <p:nvSpPr>
          <p:cNvPr id="20" name="R2|step-2-body">
            <a:extLst xmlns:a="http://schemas.openxmlformats.org/drawingml/2006/main">
              <a:ext uri="{FF2B5EF4-FFF2-40B4-BE49-F238E27FC236}">
                <a16:creationId xmlns:a16="http://schemas.microsoft.com/office/drawing/2014/main" id="{02D96088-D487-42DA-B927-4D66482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3855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执行者补充后交负责人确认，进入可讨论版本</a:t>
            </a:r>
          </a:p>
        </p:txBody>
      </p:sp>
      <p:sp>
        <p:nvSpPr>
          <p:cNvPr id="21" name="R2|step-3-num">
            <a:extLst xmlns:a="http://schemas.openxmlformats.org/drawingml/2006/main">
              <a:ext uri="{FF2B5EF4-FFF2-40B4-BE49-F238E27FC236}">
                <a16:creationId xmlns:a16="http://schemas.microsoft.com/office/drawing/2014/main" id="{E7F8208B-9639-4DFC-B3E4-FB44A60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2|step-3-title">
            <a:extLst xmlns:a="http://schemas.openxmlformats.org/drawingml/2006/main">
              <a:ext uri="{FF2B5EF4-FFF2-40B4-BE49-F238E27FC236}">
                <a16:creationId xmlns:a16="http://schemas.microsoft.com/office/drawing/2014/main" id="{628B26CD-954A-40A8-8E4E-E43DA1D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遇授权则暂停</a:t>
            </a:r>
          </a:p>
        </p:txBody>
      </p:sp>
      <p:sp>
        <p:nvSpPr>
          <p:cNvPr id="23" name="R2|step-3-body">
            <a:extLst xmlns:a="http://schemas.openxmlformats.org/drawingml/2006/main">
              <a:ext uri="{FF2B5EF4-FFF2-40B4-BE49-F238E27FC236}">
                <a16:creationId xmlns:a16="http://schemas.microsoft.com/office/drawing/2014/main" id="{C49CD516-A075-4437-8A62-FC97CBD1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38550"/>
            <a:ext cx="2238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涉及新的访问授权，先由负责人处理，之后再继续</a:t>
            </a:r>
          </a:p>
        </p:txBody>
      </p:sp>
      <p:sp>
        <p:nvSpPr>
          <p:cNvPr id="24" name="R2|workflow-boundary">
            <a:extLst xmlns:a="http://schemas.openxmlformats.org/drawingml/2006/main">
              <a:ext uri="{FF2B5EF4-FFF2-40B4-BE49-F238E27FC236}">
                <a16:creationId xmlns:a16="http://schemas.microsoft.com/office/drawing/2014/main" id="{FAA92481-452C-40B6-9A5D-8DDA5937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14950"/>
            <a:ext cx="1057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5" name="R2|workflow-boundary-text">
            <a:extLst xmlns:a="http://schemas.openxmlformats.org/drawingml/2006/main">
              <a:ext uri="{FF2B5EF4-FFF2-40B4-BE49-F238E27FC236}">
                <a16:creationId xmlns:a16="http://schemas.microsoft.com/office/drawing/2014/main" id="{BD5D82C7-26FF-464F-A468-B7F3AF1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复核不要求复做整项实验，也不代替科学结论审查；它先检查“别人能否理解”。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 algn="l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四周试点验证可追溯性、依据和负担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数据归档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0" name="R2|pilot-core">
            <a:extLst xmlns:a="http://schemas.openxmlformats.org/drawingml/2006/main">
              <a:ext uri="{FF2B5EF4-FFF2-40B4-BE49-F238E27FC236}">
                <a16:creationId xmlns:a16="http://schemas.microsoft.com/office/drawing/2014/main" id="{3D9F9C9B-E192-461C-B991-31F1844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47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四周试点验证可追溯性、依据和负担，而不是追求统一分数。</a:t>
            </a:r>
          </a:p>
        </p:txBody>
      </p:sp>
      <p:sp>
        <p:nvSpPr>
          <p:cNvPr id="11" name="R2|pilot-scope">
            <a:extLst xmlns:a="http://schemas.openxmlformats.org/drawingml/2006/main">
              <a:ext uri="{FF2B5EF4-FFF2-40B4-BE49-F238E27FC236}">
                <a16:creationId xmlns:a16="http://schemas.microsoft.com/office/drawing/2014/main" id="{F0A23010-6AC1-4D0E-9295-F922D85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2|pilot-scope-text">
            <a:extLst xmlns:a="http://schemas.openxmlformats.org/drawingml/2006/main">
              <a:ext uri="{FF2B5EF4-FFF2-40B4-BE49-F238E27FC236}">
                <a16:creationId xmlns:a16="http://schemas.microsoft.com/office/drawing/2014/main" id="{296623AD-17F8-4F4B-B224-98702C51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4D8B"/>
                </a:solidFill>
                <a:latin typeface="Microsoft YaHei"/>
                <a:ea typeface="Microsoft YaHei"/>
                <a:cs typeface="Microsoft YaHei"/>
              </a:rPr>
              <a:t>拟定范围：1 个课题方向 · 2 名自愿成员 · 仅记录新增实验</a:t>
            </a:r>
          </a:p>
        </p:txBody>
      </p:sp>
      <p:sp>
        <p:nvSpPr>
          <p:cNvPr id="13" name="R2|timeline-line">
            <a:extLst xmlns:a="http://schemas.openxmlformats.org/drawingml/2006/main">
              <a:ext uri="{FF2B5EF4-FFF2-40B4-BE49-F238E27FC236}">
                <a16:creationId xmlns:a16="http://schemas.microsoft.com/office/drawing/2014/main" id="{7EDF4C6C-F458-462B-83C7-3DB4660D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3500" y="35242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FC6E8"/>
            </a:solidFill>
            <a:prstDash val="solid"/>
          </a:ln>
        </p:spPr>
      </p:sp>
      <p:sp>
        <p:nvSpPr>
          <p:cNvPr id="14" name="R2|phase-0-label">
            <a:extLst xmlns:a="http://schemas.openxmlformats.org/drawingml/2006/main">
              <a:ext uri="{FF2B5EF4-FFF2-40B4-BE49-F238E27FC236}">
                <a16:creationId xmlns:a16="http://schemas.microsoft.com/office/drawing/2014/main" id="{9943BB77-D29E-47A9-8356-AA2E960B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5" name="R2|phase-0-body">
            <a:extLst xmlns:a="http://schemas.openxmlformats.org/drawingml/2006/main">
              <a:ext uri="{FF2B5EF4-FFF2-40B4-BE49-F238E27FC236}">
                <a16:creationId xmlns:a16="http://schemas.microsoft.com/office/drawing/2014/main" id="{0CE77547-99DD-4FFF-B83E-21B54625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290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共同明确最少字段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6" name="R2|phase-1-label">
            <a:extLst xmlns:a="http://schemas.openxmlformats.org/drawingml/2006/main">
              <a:ext uri="{FF2B5EF4-FFF2-40B4-BE49-F238E27FC236}">
                <a16:creationId xmlns:a16="http://schemas.microsoft.com/office/drawing/2014/main" id="{C4F8F029-69F4-4216-9E24-EA86C66D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62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7" name="R2|phase-1-body">
            <a:extLst xmlns:a="http://schemas.openxmlformats.org/drawingml/2006/main">
              <a:ext uri="{FF2B5EF4-FFF2-40B4-BE49-F238E27FC236}">
                <a16:creationId xmlns:a16="http://schemas.microsoft.com/office/drawing/2014/main" id="{1C4F9DB2-2B0C-4C60-98D5-62777D75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29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在实际工作中记录缺项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与填写负担</a:t>
            </a:r>
          </a:p>
        </p:txBody>
      </p:sp>
      <p:sp>
        <p:nvSpPr>
          <p:cNvPr id="18" name="R2|phase-2-label">
            <a:extLst xmlns:a="http://schemas.openxmlformats.org/drawingml/2006/main">
              <a:ext uri="{FF2B5EF4-FFF2-40B4-BE49-F238E27FC236}">
                <a16:creationId xmlns:a16="http://schemas.microsoft.com/office/drawing/2014/main" id="{0293F982-91A6-410B-B07A-B49766E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9" name="R2|phase-2-body">
            <a:extLst xmlns:a="http://schemas.openxmlformats.org/drawingml/2006/main">
              <a:ext uri="{FF2B5EF4-FFF2-40B4-BE49-F238E27FC236}">
                <a16:creationId xmlns:a16="http://schemas.microsoft.com/office/drawing/2014/main" id="{7AC22AF6-420B-4C12-BE7D-262F8EE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290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sp>
        <p:nvSpPr>
          <p:cNvPr id="20" name="R2|eval-rule">
            <a:extLst xmlns:a="http://schemas.openxmlformats.org/drawingml/2006/main">
              <a:ext uri="{FF2B5EF4-FFF2-40B4-BE49-F238E27FC236}">
                <a16:creationId xmlns:a16="http://schemas.microsoft.com/office/drawing/2014/main" id="{D6C4611F-90A0-4C37-9BA5-1D46636A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" y="46863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1" name="R2|eval-title">
            <a:extLst xmlns:a="http://schemas.openxmlformats.org/drawingml/2006/main">
              <a:ext uri="{FF2B5EF4-FFF2-40B4-BE49-F238E27FC236}">
                <a16:creationId xmlns:a16="http://schemas.microsoft.com/office/drawing/2014/main" id="{A8FF6375-7A63-488A-9BC7-DB0E11AB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76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试点评估回答三个问题</a:t>
            </a:r>
          </a:p>
        </p:txBody>
      </p:sp>
      <p:sp>
        <p:nvSpPr>
          <p:cNvPr id="22" name="R2|eval-1">
            <a:extLst xmlns:a="http://schemas.openxmlformats.org/drawingml/2006/main">
              <a:ext uri="{FF2B5EF4-FFF2-40B4-BE49-F238E27FC236}">
                <a16:creationId xmlns:a16="http://schemas.microsoft.com/office/drawing/2014/main" id="{93F2DB3C-B6FF-41F6-B7B6-2C900002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768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能否沿记录定位结果来源？</a:t>
            </a:r>
          </a:p>
        </p:txBody>
      </p:sp>
      <p:sp>
        <p:nvSpPr>
          <p:cNvPr id="23" name="R2|eval-2">
            <a:extLst xmlns:a="http://schemas.openxmlformats.org/drawingml/2006/main">
              <a:ext uri="{FF2B5EF4-FFF2-40B4-BE49-F238E27FC236}">
                <a16:creationId xmlns:a16="http://schemas.microsoft.com/office/drawing/2014/main" id="{8A4FC622-6B3F-40B6-912B-E412CAD2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关键处理与排除是否有依据？</a:t>
            </a:r>
          </a:p>
        </p:txBody>
      </p:sp>
      <p:sp>
        <p:nvSpPr>
          <p:cNvPr id="24" name="R2|eval-3">
            <a:extLst xmlns:a="http://schemas.openxmlformats.org/drawingml/2006/main">
              <a:ext uri="{FF2B5EF4-FFF2-40B4-BE49-F238E27FC236}">
                <a16:creationId xmlns:a16="http://schemas.microsoft.com/office/drawing/2014/main" id="{7AC649D9-E8BC-4BC4-9F26-4EC4037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768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负担是否愿意持续承担？</a:t>
            </a:r>
          </a:p>
        </p:txBody>
      </p:sp>
      <p:sp>
        <p:nvSpPr>
          <p:cNvPr id="25" name="R2|eval-note">
            <a:extLst xmlns:a="http://schemas.openxmlformats.org/drawingml/2006/main">
              <a:ext uri="{FF2B5EF4-FFF2-40B4-BE49-F238E27FC236}">
                <a16:creationId xmlns:a16="http://schemas.microsoft.com/office/drawing/2014/main" id="{D02EC3E4-CD02-4220-A642-7DBCBD8C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578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不先设统一合格分数；字段填满但脚本版本仍无法定位，追溯问题未解决。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300" b="1">
                <a:latin typeface="HYWenRunSongYun U"/>
                <a:ea typeface="HYWenRunSongYun U"/>
                <a:cs typeface="HYWenRunSongYun U"/>
              </a:defRPr>
            </a:pPr>
            <a:r>
              <a:rPr sz="3300" b="1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先让一次结果可以被理解，再决定哪些记录值得长期保存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2026-09-05T12:36:20.9060000Z</dcterms:created>
  <dcterms:modified xsi:type="dcterms:W3CDTF">2026-09-05T12:36:20.9060000Z</dcterms:modified>
</coreProperties>
</file>