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e93dcf9cb649a4" /><Relationship Type="http://schemas.openxmlformats.org/officeDocument/2006/relationships/extended-properties" Target="/docProps/app.xml" Id="Rb4e18a31ff944bc7" /><Relationship Type="http://schemas.openxmlformats.org/officeDocument/2006/relationships/officeDocument" Target="/ppt/presentation.xml" Id="Rc247aa72c9e04f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51dda025814b51"/>
  </p:sldMasterIdLst>
  <p:notesMasterIdLst>
    <p:notesMasterId xmlns:r="http://schemas.openxmlformats.org/officeDocument/2006/relationships" r:id="Rf9ab77ce50f54d3b"/>
  </p:notesMasterIdLst>
  <p:sldIdLst>
    <p:sldId xmlns:r="http://schemas.openxmlformats.org/officeDocument/2006/relationships" id="256" r:id="R5089117845184c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b49c0fccba4bb4" /><Relationship Type="http://schemas.openxmlformats.org/officeDocument/2006/relationships/slideMaster" Target="/ppt/slideMasters/slideMaster1.xml" Id="Rc051dda025814b51" /><Relationship Type="http://schemas.openxmlformats.org/officeDocument/2006/relationships/notesMaster" Target="/ppt/notesMasters/notesMaster1.xml" Id="Rf9ab77ce50f54d3b" /><Relationship Type="http://schemas.openxmlformats.org/officeDocument/2006/relationships/presProps" Target="/ppt/presProps.xml" Id="Re7629b5eb026407b" /><Relationship Type="http://schemas.openxmlformats.org/officeDocument/2006/relationships/tableStyles" Target="/ppt/tableStyles.xml" Id="R086fe351e7ad4ea2" /><Relationship Type="http://schemas.openxmlformats.org/officeDocument/2006/relationships/slide" Target="/ppt/slides/slide1.xml" Id="R5089117845184c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0d226e594045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c007d951984531" /><Relationship Type="http://schemas.openxmlformats.org/officeDocument/2006/relationships/notesMaster" Target="/ppt/notesMasters/notesMaster1.xml" Id="R3de4585a0a3647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sources. All values and conditions come from the user-provided manuscript and are explicitly labeled as fictional test data.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86ca767ba4c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7fa16ef39f48bb" /><Relationship Type="http://schemas.openxmlformats.org/officeDocument/2006/relationships/slideLayout" Target="/ppt/slideLayouts/slideLayout1.xml" Id="R4142265aa7294d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42265aa7294d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96b98550347e8" /><Relationship Type="http://schemas.openxmlformats.org/officeDocument/2006/relationships/notesSlide" Target="/ppt/notesSlides/notesSlide1.xml" Id="R4189f106c7b346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itle-band">
            <a:extLst xmlns:a="http://schemas.openxmlformats.org/drawingml/2006/main">
              <a:ext uri="{FF2B5EF4-FFF2-40B4-BE49-F238E27FC236}">
                <a16:creationId xmlns:a16="http://schemas.microsoft.com/office/drawing/2014/main" id="{44DFE347-8235-4525-AECC-53C9B6A7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86162B-5E8F-476F-A6AA-4EC88DC6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4.0 GB 上限下，分批处理是下一轮试运行的可行选择</a:t>
            </a:r>
          </a:p>
        </p:txBody>
      </p:sp>
      <p:sp>
        <p:nvSpPr>
          <p:cNvPr id="3" name="method-line">
            <a:extLst xmlns:a="http://schemas.openxmlformats.org/drawingml/2006/main">
              <a:ext uri="{FF2B5EF4-FFF2-40B4-BE49-F238E27FC236}">
                <a16:creationId xmlns:a16="http://schemas.microsoft.com/office/drawing/2014/main" id="{6389D78B-36B6-43B7-B39E-2DF70FB6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8675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同一台工作站｜100 个固定数据批次｜相同输入顺序与线程参数｜三种方式均完整处理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58F67B8-6A22-4D2D-B284-032EBAE4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evidence-region">
            <a:extLst xmlns:a="http://schemas.openxmlformats.org/drawingml/2006/main">
              <a:ext uri="{FF2B5EF4-FFF2-40B4-BE49-F238E27FC236}">
                <a16:creationId xmlns:a16="http://schemas.microsoft.com/office/drawing/2014/main" id="{AD17D551-D198-4EE7-BC31-00D62A99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752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vidence-criteria">
            <a:extLst xmlns:a="http://schemas.openxmlformats.org/drawingml/2006/main">
              <a:ext uri="{FF2B5EF4-FFF2-40B4-BE49-F238E27FC236}">
                <a16:creationId xmlns:a16="http://schemas.microsoft.com/office/drawing/2014/main" id="{4A55B71A-43C7-49FD-BDDC-18FDF4DF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954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同一批次、同一线程参数；耗时看中位数，内存看峰值</a:t>
            </a:r>
          </a:p>
        </p:txBody>
      </p:sp>
      <p:sp>
        <p:nvSpPr>
          <p:cNvPr id="7" name="time-heading">
            <a:extLst xmlns:a="http://schemas.openxmlformats.org/drawingml/2006/main">
              <a:ext uri="{FF2B5EF4-FFF2-40B4-BE49-F238E27FC236}">
                <a16:creationId xmlns:a16="http://schemas.microsoft.com/office/drawing/2014/main" id="{4354C55F-D2BF-450F-B05E-AB740A32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97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单批耗时中位数（秒）</a:t>
            </a:r>
          </a:p>
        </p:txBody>
      </p:sp>
      <p:sp>
        <p:nvSpPr>
          <p:cNvPr id="8" name="time-label-串行处理">
            <a:extLst xmlns:a="http://schemas.openxmlformats.org/drawingml/2006/main">
              <a:ext uri="{FF2B5EF4-FFF2-40B4-BE49-F238E27FC236}">
                <a16:creationId xmlns:a16="http://schemas.microsoft.com/office/drawing/2014/main" id="{91015F77-C4C5-495E-83FA-3DF9FE02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384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串行处理</a:t>
            </a:r>
          </a:p>
        </p:txBody>
      </p:sp>
      <p:sp>
        <p:nvSpPr>
          <p:cNvPr id="9" name="time-track-串行处理">
            <a:extLst xmlns:a="http://schemas.openxmlformats.org/drawingml/2006/main">
              <a:ext uri="{FF2B5EF4-FFF2-40B4-BE49-F238E27FC236}">
                <a16:creationId xmlns:a16="http://schemas.microsoft.com/office/drawing/2014/main" id="{85478469-2499-4AC4-B623-3DFA59F2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66975"/>
            <a:ext cx="509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C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me-bar-串行处理">
            <a:extLst xmlns:a="http://schemas.openxmlformats.org/drawingml/2006/main">
              <a:ext uri="{FF2B5EF4-FFF2-40B4-BE49-F238E27FC236}">
                <a16:creationId xmlns:a16="http://schemas.microsoft.com/office/drawing/2014/main" id="{5A358F6E-9030-4A3D-A581-804154CE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66975"/>
            <a:ext cx="509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me-value-串行处理">
            <a:extLst xmlns:a="http://schemas.openxmlformats.org/drawingml/2006/main">
              <a:ext uri="{FF2B5EF4-FFF2-40B4-BE49-F238E27FC236}">
                <a16:creationId xmlns:a16="http://schemas.microsoft.com/office/drawing/2014/main" id="{F6E893BA-A51A-44D7-853C-AA65288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384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120 秒</a:t>
            </a:r>
          </a:p>
        </p:txBody>
      </p:sp>
      <p:sp>
        <p:nvSpPr>
          <p:cNvPr id="12" name="time-label-分批处理">
            <a:extLst xmlns:a="http://schemas.openxmlformats.org/drawingml/2006/main">
              <a:ext uri="{FF2B5EF4-FFF2-40B4-BE49-F238E27FC236}">
                <a16:creationId xmlns:a16="http://schemas.microsoft.com/office/drawing/2014/main" id="{C4CA9D63-ADB2-43DF-A966-60EBA925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098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分批处理</a:t>
            </a:r>
          </a:p>
        </p:txBody>
      </p:sp>
      <p:sp>
        <p:nvSpPr>
          <p:cNvPr id="13" name="time-track-分批处理">
            <a:extLst xmlns:a="http://schemas.openxmlformats.org/drawingml/2006/main">
              <a:ext uri="{FF2B5EF4-FFF2-40B4-BE49-F238E27FC236}">
                <a16:creationId xmlns:a16="http://schemas.microsoft.com/office/drawing/2014/main" id="{49F82B06-2734-4601-BB64-1550223F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38450"/>
            <a:ext cx="509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C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ime-bar-分批处理">
            <a:extLst xmlns:a="http://schemas.openxmlformats.org/drawingml/2006/main">
              <a:ext uri="{FF2B5EF4-FFF2-40B4-BE49-F238E27FC236}">
                <a16:creationId xmlns:a16="http://schemas.microsoft.com/office/drawing/2014/main" id="{34D4DC85-AD20-4F40-84B5-2FE3812D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38450"/>
            <a:ext cx="297259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-value-分批处理">
            <a:extLst xmlns:a="http://schemas.openxmlformats.org/drawingml/2006/main">
              <a:ext uri="{FF2B5EF4-FFF2-40B4-BE49-F238E27FC236}">
                <a16:creationId xmlns:a16="http://schemas.microsoft.com/office/drawing/2014/main" id="{0CAEC4C6-F358-4E96-AE26-CD165012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369" y="28098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70 秒</a:t>
            </a:r>
          </a:p>
        </p:txBody>
      </p:sp>
      <p:sp>
        <p:nvSpPr>
          <p:cNvPr id="16" name="time-label-并行处理">
            <a:extLst xmlns:a="http://schemas.openxmlformats.org/drawingml/2006/main">
              <a:ext uri="{FF2B5EF4-FFF2-40B4-BE49-F238E27FC236}">
                <a16:creationId xmlns:a16="http://schemas.microsoft.com/office/drawing/2014/main" id="{D1910F68-8F45-4541-B883-8F466C4C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813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并行处理</a:t>
            </a:r>
          </a:p>
        </p:txBody>
      </p:sp>
      <p:sp>
        <p:nvSpPr>
          <p:cNvPr id="17" name="time-track-并行处理">
            <a:extLst xmlns:a="http://schemas.openxmlformats.org/drawingml/2006/main">
              <a:ext uri="{FF2B5EF4-FFF2-40B4-BE49-F238E27FC236}">
                <a16:creationId xmlns:a16="http://schemas.microsoft.com/office/drawing/2014/main" id="{E3F7D301-ECFB-442F-9B10-E151FA4A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09925"/>
            <a:ext cx="509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C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ime-bar-并行处理">
            <a:extLst xmlns:a="http://schemas.openxmlformats.org/drawingml/2006/main">
              <a:ext uri="{FF2B5EF4-FFF2-40B4-BE49-F238E27FC236}">
                <a16:creationId xmlns:a16="http://schemas.microsoft.com/office/drawing/2014/main" id="{4E9CB234-F44E-42C8-9120-D220B9A5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09925"/>
            <a:ext cx="191095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ime-value-并行处理">
            <a:extLst xmlns:a="http://schemas.openxmlformats.org/drawingml/2006/main">
              <a:ext uri="{FF2B5EF4-FFF2-40B4-BE49-F238E27FC236}">
                <a16:creationId xmlns:a16="http://schemas.microsoft.com/office/drawing/2014/main" id="{63CCB213-CF8E-4253-9E1E-9583341E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728" y="31813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45 秒</a:t>
            </a:r>
          </a:p>
        </p:txBody>
      </p:sp>
      <p:sp>
        <p:nvSpPr>
          <p:cNvPr id="20" name="time-axis">
            <a:extLst xmlns:a="http://schemas.openxmlformats.org/drawingml/2006/main">
              <a:ext uri="{FF2B5EF4-FFF2-40B4-BE49-F238E27FC236}">
                <a16:creationId xmlns:a16="http://schemas.microsoft.com/office/drawing/2014/main" id="{A237ED59-23DB-4EBA-A1B5-BBC328AA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14725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0D2"/>
            </a:solidFill>
            <a:prstDash val="solid"/>
          </a:ln>
        </p:spPr>
      </p:sp>
      <p:sp>
        <p:nvSpPr>
          <p:cNvPr id="21" name="time-tick-0">
            <a:extLst xmlns:a="http://schemas.openxmlformats.org/drawingml/2006/main">
              <a:ext uri="{FF2B5EF4-FFF2-40B4-BE49-F238E27FC236}">
                <a16:creationId xmlns:a16="http://schemas.microsoft.com/office/drawing/2014/main" id="{DC70D464-70B4-4F4B-85BB-CB1195A4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14725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0D2"/>
            </a:solidFill>
            <a:prstDash val="solid"/>
          </a:ln>
        </p:spPr>
      </p:sp>
      <p:sp>
        <p:nvSpPr>
          <p:cNvPr id="22" name="time-tick-label-0">
            <a:extLst xmlns:a="http://schemas.openxmlformats.org/drawingml/2006/main">
              <a:ext uri="{FF2B5EF4-FFF2-40B4-BE49-F238E27FC236}">
                <a16:creationId xmlns:a16="http://schemas.microsoft.com/office/drawing/2014/main" id="{F3C94C91-E21E-4DC1-8D4D-DA246C3B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609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3" name="time-tick-30">
            <a:extLst xmlns:a="http://schemas.openxmlformats.org/drawingml/2006/main">
              <a:ext uri="{FF2B5EF4-FFF2-40B4-BE49-F238E27FC236}">
                <a16:creationId xmlns:a16="http://schemas.microsoft.com/office/drawing/2014/main" id="{00089AA5-C93E-4FB9-A6B9-631DDADD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594" y="3514725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0D2"/>
            </a:solidFill>
            <a:prstDash val="solid"/>
          </a:ln>
        </p:spPr>
      </p:sp>
      <p:sp>
        <p:nvSpPr>
          <p:cNvPr id="24" name="time-tick-label-30">
            <a:extLst xmlns:a="http://schemas.openxmlformats.org/drawingml/2006/main">
              <a:ext uri="{FF2B5EF4-FFF2-40B4-BE49-F238E27FC236}">
                <a16:creationId xmlns:a16="http://schemas.microsoft.com/office/drawing/2014/main" id="{94C4AD34-BD02-404A-8C9E-38144B35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294" y="3609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25" name="time-tick-60">
            <a:extLst xmlns:a="http://schemas.openxmlformats.org/drawingml/2006/main">
              <a:ext uri="{FF2B5EF4-FFF2-40B4-BE49-F238E27FC236}">
                <a16:creationId xmlns:a16="http://schemas.microsoft.com/office/drawing/2014/main" id="{D606A568-1894-4B4A-9CC7-3495AB3D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3514725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0D2"/>
            </a:solidFill>
            <a:prstDash val="solid"/>
          </a:ln>
        </p:spPr>
      </p:sp>
      <p:sp>
        <p:nvSpPr>
          <p:cNvPr id="26" name="time-tick-label-60">
            <a:extLst xmlns:a="http://schemas.openxmlformats.org/drawingml/2006/main">
              <a:ext uri="{FF2B5EF4-FFF2-40B4-BE49-F238E27FC236}">
                <a16:creationId xmlns:a16="http://schemas.microsoft.com/office/drawing/2014/main" id="{3224F6A3-0B21-4A79-A2EC-FCC7AA25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263" y="3609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27" name="time-tick-90">
            <a:extLst xmlns:a="http://schemas.openxmlformats.org/drawingml/2006/main">
              <a:ext uri="{FF2B5EF4-FFF2-40B4-BE49-F238E27FC236}">
                <a16:creationId xmlns:a16="http://schemas.microsoft.com/office/drawing/2014/main" id="{4AEA385C-EE28-42B3-984E-35AD8ED8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531" y="3514725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0D2"/>
            </a:solidFill>
            <a:prstDash val="solid"/>
          </a:ln>
        </p:spPr>
      </p:sp>
      <p:sp>
        <p:nvSpPr>
          <p:cNvPr id="28" name="time-tick-label-90">
            <a:extLst xmlns:a="http://schemas.openxmlformats.org/drawingml/2006/main">
              <a:ext uri="{FF2B5EF4-FFF2-40B4-BE49-F238E27FC236}">
                <a16:creationId xmlns:a16="http://schemas.microsoft.com/office/drawing/2014/main" id="{1C8CDA76-7AC3-4C3F-B03C-980518F3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231" y="3609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29" name="time-tick-120">
            <a:extLst xmlns:a="http://schemas.openxmlformats.org/drawingml/2006/main">
              <a:ext uri="{FF2B5EF4-FFF2-40B4-BE49-F238E27FC236}">
                <a16:creationId xmlns:a16="http://schemas.microsoft.com/office/drawing/2014/main" id="{55597439-F7D0-4321-A65D-5499542E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14725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0D2"/>
            </a:solidFill>
            <a:prstDash val="solid"/>
          </a:ln>
        </p:spPr>
      </p:sp>
      <p:sp>
        <p:nvSpPr>
          <p:cNvPr id="30" name="time-tick-label-120">
            <a:extLst xmlns:a="http://schemas.openxmlformats.org/drawingml/2006/main">
              <a:ext uri="{FF2B5EF4-FFF2-40B4-BE49-F238E27FC236}">
                <a16:creationId xmlns:a16="http://schemas.microsoft.com/office/drawing/2014/main" id="{FADCFDD9-6C20-4330-A60D-411AAD5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9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31" name="memory-heading">
            <a:extLst xmlns:a="http://schemas.openxmlformats.org/drawingml/2006/main">
              <a:ext uri="{FF2B5EF4-FFF2-40B4-BE49-F238E27FC236}">
                <a16:creationId xmlns:a16="http://schemas.microsoft.com/office/drawing/2014/main" id="{69343394-2B90-4A4D-A7C3-68FAD639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766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全程峰值内存（GB）</a:t>
            </a:r>
          </a:p>
        </p:txBody>
      </p:sp>
      <p:sp>
        <p:nvSpPr>
          <p:cNvPr id="32" name="memory-label-串行处理">
            <a:extLst xmlns:a="http://schemas.openxmlformats.org/drawingml/2006/main">
              <a:ext uri="{FF2B5EF4-FFF2-40B4-BE49-F238E27FC236}">
                <a16:creationId xmlns:a16="http://schemas.microsoft.com/office/drawing/2014/main" id="{B69AC6D4-C7F2-4B3D-AA29-5E81741A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95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串行处理</a:t>
            </a:r>
          </a:p>
        </p:txBody>
      </p:sp>
      <p:sp>
        <p:nvSpPr>
          <p:cNvPr id="33" name="memory-track-串行处理">
            <a:extLst xmlns:a="http://schemas.openxmlformats.org/drawingml/2006/main">
              <a:ext uri="{FF2B5EF4-FFF2-40B4-BE49-F238E27FC236}">
                <a16:creationId xmlns:a16="http://schemas.microsoft.com/office/drawing/2014/main" id="{A87D7DF6-AEAF-4A4D-89AD-C12A373D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48150"/>
            <a:ext cx="509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C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memory-bar-串行处理">
            <a:extLst xmlns:a="http://schemas.openxmlformats.org/drawingml/2006/main">
              <a:ext uri="{FF2B5EF4-FFF2-40B4-BE49-F238E27FC236}">
                <a16:creationId xmlns:a16="http://schemas.microsoft.com/office/drawing/2014/main" id="{F108F09A-2340-48FF-ACCC-F1D77A66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48150"/>
            <a:ext cx="127396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memory-value-串行处理">
            <a:extLst xmlns:a="http://schemas.openxmlformats.org/drawingml/2006/main">
              <a:ext uri="{FF2B5EF4-FFF2-40B4-BE49-F238E27FC236}">
                <a16:creationId xmlns:a16="http://schemas.microsoft.com/office/drawing/2014/main" id="{AECBF4EF-1321-43A7-BBB8-E1C1256B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744" y="42195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2.0 GB</a:t>
            </a:r>
          </a:p>
        </p:txBody>
      </p:sp>
      <p:sp>
        <p:nvSpPr>
          <p:cNvPr id="36" name="memory-label-分批处理">
            <a:extLst xmlns:a="http://schemas.openxmlformats.org/drawingml/2006/main">
              <a:ext uri="{FF2B5EF4-FFF2-40B4-BE49-F238E27FC236}">
                <a16:creationId xmlns:a16="http://schemas.microsoft.com/office/drawing/2014/main" id="{0634977D-4D3E-4E4D-A869-C66BCED7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005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分批处理</a:t>
            </a:r>
          </a:p>
        </p:txBody>
      </p:sp>
      <p:sp>
        <p:nvSpPr>
          <p:cNvPr id="37" name="memory-track-分批处理">
            <a:extLst xmlns:a="http://schemas.openxmlformats.org/drawingml/2006/main">
              <a:ext uri="{FF2B5EF4-FFF2-40B4-BE49-F238E27FC236}">
                <a16:creationId xmlns:a16="http://schemas.microsoft.com/office/drawing/2014/main" id="{1668B6FA-63CD-44A8-B2CF-A02F93EC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29150"/>
            <a:ext cx="509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C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emory-bar-分批处理">
            <a:extLst xmlns:a="http://schemas.openxmlformats.org/drawingml/2006/main">
              <a:ext uri="{FF2B5EF4-FFF2-40B4-BE49-F238E27FC236}">
                <a16:creationId xmlns:a16="http://schemas.microsoft.com/office/drawing/2014/main" id="{BBED7117-03D4-408B-B599-19659800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29150"/>
            <a:ext cx="229314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mory-value-分批处理">
            <a:extLst xmlns:a="http://schemas.openxmlformats.org/drawingml/2006/main">
              <a:ext uri="{FF2B5EF4-FFF2-40B4-BE49-F238E27FC236}">
                <a16:creationId xmlns:a16="http://schemas.microsoft.com/office/drawing/2014/main" id="{983070A6-4D70-4B87-8C85-A839E22A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919" y="46005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3.6 GB</a:t>
            </a:r>
          </a:p>
        </p:txBody>
      </p:sp>
      <p:sp>
        <p:nvSpPr>
          <p:cNvPr id="40" name="memory-label-并行处理">
            <a:extLst xmlns:a="http://schemas.openxmlformats.org/drawingml/2006/main">
              <a:ext uri="{FF2B5EF4-FFF2-40B4-BE49-F238E27FC236}">
                <a16:creationId xmlns:a16="http://schemas.microsoft.com/office/drawing/2014/main" id="{21E3627B-3C12-4F18-B040-08DDB192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815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并行处理</a:t>
            </a:r>
          </a:p>
        </p:txBody>
      </p:sp>
      <p:sp>
        <p:nvSpPr>
          <p:cNvPr id="41" name="memory-track-并行处理">
            <a:extLst xmlns:a="http://schemas.openxmlformats.org/drawingml/2006/main">
              <a:ext uri="{FF2B5EF4-FFF2-40B4-BE49-F238E27FC236}">
                <a16:creationId xmlns:a16="http://schemas.microsoft.com/office/drawing/2014/main" id="{7D791206-E567-49E0-BB69-EA28C049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10150"/>
            <a:ext cx="509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C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memory-bar-并行处理">
            <a:extLst xmlns:a="http://schemas.openxmlformats.org/drawingml/2006/main">
              <a:ext uri="{FF2B5EF4-FFF2-40B4-BE49-F238E27FC236}">
                <a16:creationId xmlns:a16="http://schemas.microsoft.com/office/drawing/2014/main" id="{19EF1E81-CD08-4ED9-94A7-8F3411ED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10150"/>
            <a:ext cx="471368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memory-value-并行处理">
            <a:extLst xmlns:a="http://schemas.openxmlformats.org/drawingml/2006/main">
              <a:ext uri="{FF2B5EF4-FFF2-40B4-BE49-F238E27FC236}">
                <a16:creationId xmlns:a16="http://schemas.microsoft.com/office/drawing/2014/main" id="{DFA1A124-3AAA-425A-804D-CEC0642D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459" y="49815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7.4 GB</a:t>
            </a:r>
          </a:p>
        </p:txBody>
      </p:sp>
      <p:sp>
        <p:nvSpPr>
          <p:cNvPr id="44" name="memory-threshold">
            <a:extLst xmlns:a="http://schemas.openxmlformats.org/drawingml/2006/main">
              <a:ext uri="{FF2B5EF4-FFF2-40B4-BE49-F238E27FC236}">
                <a16:creationId xmlns:a16="http://schemas.microsoft.com/office/drawing/2014/main" id="{7798BE1F-86C6-45B8-B682-96C10DFB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4133850"/>
            <a:ext cx="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45" name="threshold-tag">
            <a:extLst xmlns:a="http://schemas.openxmlformats.org/drawingml/2006/main">
              <a:ext uri="{FF2B5EF4-FFF2-40B4-BE49-F238E27FC236}">
                <a16:creationId xmlns:a16="http://schemas.microsoft.com/office/drawing/2014/main" id="{8DE763A2-7F32-45CC-A181-455E7E27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238" y="3990975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hreshold-label">
            <a:extLst xmlns:a="http://schemas.openxmlformats.org/drawingml/2006/main">
              <a:ext uri="{FF2B5EF4-FFF2-40B4-BE49-F238E27FC236}">
                <a16:creationId xmlns:a16="http://schemas.microsoft.com/office/drawing/2014/main" id="{09CD4BC8-89D0-4599-B596-5AC2038A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4000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C4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C4A6B"/>
                </a:solidFill>
                <a:latin typeface="Microsoft YaHei"/>
                <a:ea typeface="Microsoft YaHei"/>
                <a:cs typeface="Microsoft YaHei"/>
              </a:rPr>
              <a:t>4.0 GB 上限</a:t>
            </a:r>
          </a:p>
        </p:txBody>
      </p:sp>
      <p:sp>
        <p:nvSpPr>
          <p:cNvPr id="47" name="memory-axis">
            <a:extLst xmlns:a="http://schemas.openxmlformats.org/drawingml/2006/main">
              <a:ext uri="{FF2B5EF4-FFF2-40B4-BE49-F238E27FC236}">
                <a16:creationId xmlns:a16="http://schemas.microsoft.com/office/drawing/2014/main" id="{0F570FCF-3DE2-49AC-87D5-7C73D6E8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31495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0D2"/>
            </a:solidFill>
            <a:prstDash val="solid"/>
          </a:ln>
        </p:spPr>
      </p:sp>
      <p:sp>
        <p:nvSpPr>
          <p:cNvPr id="48" name="memory-tick-0">
            <a:extLst xmlns:a="http://schemas.openxmlformats.org/drawingml/2006/main">
              <a:ext uri="{FF2B5EF4-FFF2-40B4-BE49-F238E27FC236}">
                <a16:creationId xmlns:a16="http://schemas.microsoft.com/office/drawing/2014/main" id="{3A9FFD74-F904-4D0D-BE5D-210A9797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31495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0D2"/>
            </a:solidFill>
            <a:prstDash val="solid"/>
          </a:ln>
        </p:spPr>
      </p:sp>
      <p:sp>
        <p:nvSpPr>
          <p:cNvPr id="49" name="memory-tick-label-0">
            <a:extLst xmlns:a="http://schemas.openxmlformats.org/drawingml/2006/main">
              <a:ext uri="{FF2B5EF4-FFF2-40B4-BE49-F238E27FC236}">
                <a16:creationId xmlns:a16="http://schemas.microsoft.com/office/drawing/2014/main" id="{E14D0D6A-3FAD-4775-A2C0-5A37FD5C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4102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0" name="memory-tick-2">
            <a:extLst xmlns:a="http://schemas.openxmlformats.org/drawingml/2006/main">
              <a:ext uri="{FF2B5EF4-FFF2-40B4-BE49-F238E27FC236}">
                <a16:creationId xmlns:a16="http://schemas.microsoft.com/office/drawing/2014/main" id="{070A701C-22DA-4F8F-9980-06F952C7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594" y="531495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0D2"/>
            </a:solidFill>
            <a:prstDash val="solid"/>
          </a:ln>
        </p:spPr>
      </p:sp>
      <p:sp>
        <p:nvSpPr>
          <p:cNvPr id="51" name="memory-tick-label-2">
            <a:extLst xmlns:a="http://schemas.openxmlformats.org/drawingml/2006/main">
              <a:ext uri="{FF2B5EF4-FFF2-40B4-BE49-F238E27FC236}">
                <a16:creationId xmlns:a16="http://schemas.microsoft.com/office/drawing/2014/main" id="{0A572667-2807-4E15-A780-D74F09FB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294" y="54102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2" name="memory-tick-4">
            <a:extLst xmlns:a="http://schemas.openxmlformats.org/drawingml/2006/main">
              <a:ext uri="{FF2B5EF4-FFF2-40B4-BE49-F238E27FC236}">
                <a16:creationId xmlns:a16="http://schemas.microsoft.com/office/drawing/2014/main" id="{92190DF8-72E5-4AEE-AADF-03705FEE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531495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0D2"/>
            </a:solidFill>
            <a:prstDash val="solid"/>
          </a:ln>
        </p:spPr>
      </p:sp>
      <p:sp>
        <p:nvSpPr>
          <p:cNvPr id="53" name="memory-tick-label-4">
            <a:extLst xmlns:a="http://schemas.openxmlformats.org/drawingml/2006/main">
              <a:ext uri="{FF2B5EF4-FFF2-40B4-BE49-F238E27FC236}">
                <a16:creationId xmlns:a16="http://schemas.microsoft.com/office/drawing/2014/main" id="{52276EFD-DCE2-4237-A5D7-C409B53C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263" y="54102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4" name="memory-tick-6">
            <a:extLst xmlns:a="http://schemas.openxmlformats.org/drawingml/2006/main">
              <a:ext uri="{FF2B5EF4-FFF2-40B4-BE49-F238E27FC236}">
                <a16:creationId xmlns:a16="http://schemas.microsoft.com/office/drawing/2014/main" id="{C3AA8327-E0C1-42E4-B003-3303CD4C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531" y="531495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0D2"/>
            </a:solidFill>
            <a:prstDash val="solid"/>
          </a:ln>
        </p:spPr>
      </p:sp>
      <p:sp>
        <p:nvSpPr>
          <p:cNvPr id="55" name="memory-tick-label-6">
            <a:extLst xmlns:a="http://schemas.openxmlformats.org/drawingml/2006/main">
              <a:ext uri="{FF2B5EF4-FFF2-40B4-BE49-F238E27FC236}">
                <a16:creationId xmlns:a16="http://schemas.microsoft.com/office/drawing/2014/main" id="{476C636C-6448-403B-BD24-33951C90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231" y="54102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6" name="memory-tick-8">
            <a:extLst xmlns:a="http://schemas.openxmlformats.org/drawingml/2006/main">
              <a:ext uri="{FF2B5EF4-FFF2-40B4-BE49-F238E27FC236}">
                <a16:creationId xmlns:a16="http://schemas.microsoft.com/office/drawing/2014/main" id="{61F1FAB2-8B41-4A6A-B819-91C5A696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1495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0D2"/>
            </a:solidFill>
            <a:prstDash val="solid"/>
          </a:ln>
        </p:spPr>
      </p:sp>
      <p:sp>
        <p:nvSpPr>
          <p:cNvPr id="57" name="memory-tick-label-8">
            <a:extLst xmlns:a="http://schemas.openxmlformats.org/drawingml/2006/main">
              <a:ext uri="{FF2B5EF4-FFF2-40B4-BE49-F238E27FC236}">
                <a16:creationId xmlns:a16="http://schemas.microsoft.com/office/drawing/2014/main" id="{59A151EB-C368-40E5-9EB6-2551269E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102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8" name="decision-region">
            <a:extLst xmlns:a="http://schemas.openxmlformats.org/drawingml/2006/main">
              <a:ext uri="{FF2B5EF4-FFF2-40B4-BE49-F238E27FC236}">
                <a16:creationId xmlns:a16="http://schemas.microsoft.com/office/drawing/2014/main" id="{4D957BCB-F466-4CD4-8FE8-D534070C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57325"/>
            <a:ext cx="3333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ecision-band">
            <a:extLst xmlns:a="http://schemas.openxmlformats.org/drawingml/2006/main">
              <a:ext uri="{FF2B5EF4-FFF2-40B4-BE49-F238E27FC236}">
                <a16:creationId xmlns:a16="http://schemas.microsoft.com/office/drawing/2014/main" id="{861332CB-F8FC-4CB2-A2A8-BC170E2E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57325"/>
            <a:ext cx="333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ecision-heading">
            <a:extLst xmlns:a="http://schemas.openxmlformats.org/drawingml/2006/main">
              <a:ext uri="{FF2B5EF4-FFF2-40B4-BE49-F238E27FC236}">
                <a16:creationId xmlns:a16="http://schemas.microsoft.com/office/drawing/2014/main" id="{306E8F2D-AF5C-4373-87D8-0B45DBAB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478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本轮建议：分批处理</a:t>
            </a:r>
          </a:p>
        </p:txBody>
      </p:sp>
      <p:sp>
        <p:nvSpPr>
          <p:cNvPr id="61" name="delta-value">
            <a:extLst xmlns:a="http://schemas.openxmlformats.org/drawingml/2006/main">
              <a:ext uri="{FF2B5EF4-FFF2-40B4-BE49-F238E27FC236}">
                <a16:creationId xmlns:a16="http://schemas.microsoft.com/office/drawing/2014/main" id="{DDDF529D-104F-4691-8107-25817DF3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050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2C4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C4A6B"/>
                </a:solidFill>
                <a:latin typeface="Microsoft YaHei"/>
                <a:ea typeface="Microsoft YaHei"/>
                <a:cs typeface="Microsoft YaHei"/>
              </a:rPr>
              <a:t>少 50 秒/批</a:t>
            </a:r>
          </a:p>
        </p:txBody>
      </p:sp>
      <p:sp>
        <p:nvSpPr>
          <p:cNvPr id="62" name="delta-caption">
            <a:extLst xmlns:a="http://schemas.openxmlformats.org/drawingml/2006/main">
              <a:ext uri="{FF2B5EF4-FFF2-40B4-BE49-F238E27FC236}">
                <a16:creationId xmlns:a16="http://schemas.microsoft.com/office/drawing/2014/main" id="{02CC260E-04F2-4FF2-AF31-E1D41F3A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相对当前串行处理</a:t>
            </a:r>
          </a:p>
        </p:txBody>
      </p:sp>
      <p:sp>
        <p:nvSpPr>
          <p:cNvPr id="63" name="decision-rule-1">
            <a:extLst xmlns:a="http://schemas.openxmlformats.org/drawingml/2006/main">
              <a:ext uri="{FF2B5EF4-FFF2-40B4-BE49-F238E27FC236}">
                <a16:creationId xmlns:a16="http://schemas.microsoft.com/office/drawing/2014/main" id="{C36C2D5F-1C40-4A96-A26C-D3A142E1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623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prstDash val="solid"/>
          </a:ln>
        </p:spPr>
      </p:sp>
      <p:sp>
        <p:nvSpPr>
          <p:cNvPr id="64" name="headroom">
            <a:extLst xmlns:a="http://schemas.openxmlformats.org/drawingml/2006/main">
              <a:ext uri="{FF2B5EF4-FFF2-40B4-BE49-F238E27FC236}">
                <a16:creationId xmlns:a16="http://schemas.microsoft.com/office/drawing/2014/main" id="{DD46FD34-C330-440E-BCC7-FEAEA844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C4A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C4A6B"/>
                </a:solidFill>
                <a:latin typeface="Microsoft YaHei"/>
                <a:ea typeface="Microsoft YaHei"/>
                <a:cs typeface="Microsoft YaHei"/>
              </a:rPr>
              <a:t>内存余量：0.4 GB</a:t>
            </a:r>
          </a:p>
        </p:txBody>
      </p:sp>
      <p:sp>
        <p:nvSpPr>
          <p:cNvPr id="65" name="parallel-heading">
            <a:extLst xmlns:a="http://schemas.openxmlformats.org/drawingml/2006/main">
              <a:ext uri="{FF2B5EF4-FFF2-40B4-BE49-F238E27FC236}">
                <a16:creationId xmlns:a16="http://schemas.microsoft.com/office/drawing/2014/main" id="{940A0624-69A8-4542-9722-4C7014E6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24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并行处理不适用</a:t>
            </a:r>
          </a:p>
        </p:txBody>
      </p:sp>
      <p:sp>
        <p:nvSpPr>
          <p:cNvPr id="66" name="parallel-body">
            <a:extLst xmlns:a="http://schemas.openxmlformats.org/drawingml/2006/main">
              <a:ext uri="{FF2B5EF4-FFF2-40B4-BE49-F238E27FC236}">
                <a16:creationId xmlns:a16="http://schemas.microsoft.com/office/drawing/2014/main" id="{19FF06C7-131C-4C43-835C-5336E5F6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243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超出内存上限；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关闭必需任务也不能扩容。</a:t>
            </a:r>
          </a:p>
        </p:txBody>
      </p:sp>
      <p:sp>
        <p:nvSpPr>
          <p:cNvPr id="67" name="scope-heading">
            <a:extLst xmlns:a="http://schemas.openxmlformats.org/drawingml/2006/main">
              <a:ext uri="{FF2B5EF4-FFF2-40B4-BE49-F238E27FC236}">
                <a16:creationId xmlns:a16="http://schemas.microsoft.com/office/drawing/2014/main" id="{72F038C8-C36B-482B-856B-4D733C3C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191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适用条件</a:t>
            </a:r>
          </a:p>
        </p:txBody>
      </p:sp>
      <p:sp>
        <p:nvSpPr>
          <p:cNvPr id="68" name="scope-body">
            <a:extLst xmlns:a="http://schemas.openxmlformats.org/drawingml/2006/main">
              <a:ext uri="{FF2B5EF4-FFF2-40B4-BE49-F238E27FC236}">
                <a16:creationId xmlns:a16="http://schemas.microsoft.com/office/drawing/2014/main" id="{3760647F-F435-435A-BADC-A939D89B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543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仅验证本机与这组固定批次。</a:t>
            </a:r>
          </a:p>
        </p:txBody>
      </p:sp>
      <p:sp>
        <p:nvSpPr>
          <p:cNvPr id="69" name="boundary-band">
            <a:extLst xmlns:a="http://schemas.openxmlformats.org/drawingml/2006/main">
              <a:ext uri="{FF2B5EF4-FFF2-40B4-BE49-F238E27FC236}">
                <a16:creationId xmlns:a16="http://schemas.microsoft.com/office/drawing/2014/main" id="{FE07DF47-AA73-4B74-8B08-2E17B1FC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57900"/>
            <a:ext cx="1114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C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oundary-line">
            <a:extLst xmlns:a="http://schemas.openxmlformats.org/drawingml/2006/main">
              <a:ext uri="{FF2B5EF4-FFF2-40B4-BE49-F238E27FC236}">
                <a16:creationId xmlns:a16="http://schemas.microsoft.com/office/drawing/2014/main" id="{62449A0C-A7B0-4844-89D3-8883369E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边界：其他批次与硬件未验证；下一轮受控试运行并记录峰值；不承诺所有数据保持当前耗时，不视为正式部署。</a:t>
            </a:r>
          </a:p>
        </p:txBody>
      </p:sp>
      <p:sp>
        <p:nvSpPr>
          <p:cNvPr id="71" name="source">
            <a:extLst xmlns:a="http://schemas.openxmlformats.org/drawingml/2006/main">
              <a:ext uri="{FF2B5EF4-FFF2-40B4-BE49-F238E27FC236}">
                <a16:creationId xmlns:a16="http://schemas.microsoft.com/office/drawing/2014/main" id="{60E177E0-14B0-4F92-8FC6-3BEEB808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来源：虚构测试数据｜设计验证素材，非真实算法性能报告</a:t>
            </a:r>
          </a:p>
        </p:txBody>
      </p:sp>
      <p:sp>
        <p:nvSpPr>
          <p:cNvPr id="7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DF3AF5-EB8B-4D52-A829-B917EE25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1093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2026-09-06T00:36:45.6730000Z</dcterms:created>
  <dcterms:modified xsi:type="dcterms:W3CDTF">2026-09-06T00:36:45.6730000Z</dcterms:modified>
</coreProperties>
</file>