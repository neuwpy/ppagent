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34e7833604d49" /><Relationship Type="http://schemas.openxmlformats.org/officeDocument/2006/relationships/extended-properties" Target="/docProps/app.xml" Id="R3b520f5816974c57" /><Relationship Type="http://schemas.openxmlformats.org/officeDocument/2006/relationships/officeDocument" Target="/ppt/presentation.xml" Id="R9544efac0a8a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1ecd052324c4f"/>
  </p:sldMasterIdLst>
  <p:notesMasterIdLst>
    <p:notesMasterId xmlns:r="http://schemas.openxmlformats.org/officeDocument/2006/relationships" r:id="R97ccd92dc6b54350"/>
  </p:notesMasterIdLst>
  <p:sldIdLst>
    <p:sldId xmlns:r="http://schemas.openxmlformats.org/officeDocument/2006/relationships" id="256" r:id="R6de8b2f625e44b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ff92fe9e84461" /><Relationship Type="http://schemas.openxmlformats.org/officeDocument/2006/relationships/slideMaster" Target="/ppt/slideMasters/slideMaster1.xml" Id="R4291ecd052324c4f" /><Relationship Type="http://schemas.openxmlformats.org/officeDocument/2006/relationships/notesMaster" Target="/ppt/notesMasters/notesMaster1.xml" Id="R97ccd92dc6b54350" /><Relationship Type="http://schemas.openxmlformats.org/officeDocument/2006/relationships/presProps" Target="/ppt/presProps.xml" Id="Re3ba9fb55a414b36" /><Relationship Type="http://schemas.openxmlformats.org/officeDocument/2006/relationships/tableStyles" Target="/ppt/tableStyles.xml" Id="Re3b0b8b4a83d490f" /><Relationship Type="http://schemas.openxmlformats.org/officeDocument/2006/relationships/slide" Target="/ppt/slides/slide1.xml" Id="R6de8b2f625e44b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2ca34a722e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5befce03c4a9c" /><Relationship Type="http://schemas.openxmlformats.org/officeDocument/2006/relationships/notesMaster" Target="/ppt/notesMasters/notesMaster1.xml" Id="Re2a8253d17ce44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All values and conditions are from the user-provided manuscript and are explicitly labeled as fictional test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5d6572ea847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61ca3ecda497c" /><Relationship Type="http://schemas.openxmlformats.org/officeDocument/2006/relationships/slideLayout" Target="/ppt/slideLayouts/slideLayout1.xml" Id="R9397562dbe81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7562dbe81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ce325636c4c38" /><Relationship Type="http://schemas.openxmlformats.org/officeDocument/2006/relationships/chart" Target="/ppt/slides/charts/chart1.xml" Id="R8fb696ae33504474" /><Relationship Type="http://schemas.openxmlformats.org/officeDocument/2006/relationships/chart" Target="/ppt/slides/charts/chart2.xml" Id="Raa089e66e3244adb" /><Relationship Type="http://schemas.openxmlformats.org/officeDocument/2006/relationships/notesSlide" Target="/ppt/notesSlides/notesSlide1.xml" Id="R65a6639f104642b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单批耗时中位数</c:v>
          </c:tx>
          <c:spPr>
            <a:solidFill xmlns:a="http://schemas.openxmlformats.org/drawingml/2006/main">
              <a:srgbClr val="8EA6B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D1D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15F9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4D1DE"/>
              </a:solidFill>
            </c:spPr>
          </c:dPt>
          <c:cat>
            <c:strLit>
              <c:ptCount val="3"/>
              <c:pt idx="0">
                <c:v>串行处理</c:v>
              </c:pt>
              <c:pt idx="1">
                <c:v>分批处理</c:v>
              </c:pt>
              <c:pt idx="2">
                <c:v>并行处理</c:v>
              </c:pt>
            </c:strLit>
          </c:cat>
          <c:val>
            <c:numLit>
              <c:formatCode>General</c:formatCode>
              <c:ptCount val="3"/>
              <c:pt idx="0">
                <c:v>120</c:v>
              </c:pt>
              <c:pt idx="1">
                <c:v>70</c:v>
              </c:pt>
              <c:pt idx="2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52B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077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52B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全程峰值内存</c:v>
          </c:tx>
          <c:spPr>
            <a:solidFill xmlns:a="http://schemas.openxmlformats.org/drawingml/2006/main">
              <a:srgbClr val="8EA6B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D1D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15F9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4D1DE"/>
              </a:solidFill>
            </c:spPr>
          </c:dPt>
          <c:cat>
            <c:strLit>
              <c:ptCount val="3"/>
              <c:pt idx="0">
                <c:v>串行处理</c:v>
              </c:pt>
              <c:pt idx="1">
                <c:v>分批处理</c:v>
              </c:pt>
              <c:pt idx="2">
                <c:v>并行处理</c:v>
              </c:pt>
            </c:strLit>
          </c:cat>
          <c:val>
            <c:numLit>
              <c:formatCode>General</c:formatCode>
              <c:ptCount val="3"/>
              <c:pt idx="0">
                <c:v>2</c:v>
              </c:pt>
              <c:pt idx="1">
                <c:v>3.6</c:v>
              </c:pt>
              <c:pt idx="2">
                <c:v>7.4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52B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077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52B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7ABCE97D-AC2D-4E64-92CC-DDACE6D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4.0 GB 上限下，先筛内存，再选分批处理</a:t>
            </a:r>
          </a:p>
        </p:txBody>
      </p:sp>
      <p:sp>
        <p:nvSpPr>
          <p:cNvPr id="2" name="test-frame">
            <a:extLst xmlns:a="http://schemas.openxmlformats.org/drawingml/2006/main">
              <a:ext uri="{FF2B5EF4-FFF2-40B4-BE49-F238E27FC236}">
                <a16:creationId xmlns:a16="http://schemas.microsoft.com/office/drawing/2014/main" id="{C4BFAC9F-AD12-461D-BE3F-3F4B6DF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同一工作站 × 同一套 100 批次 × 固定线程参数｜单批耗时报告中位数，内存报告全程峰值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BAF4353-A28D-4E6C-83B1-78E5969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039E928E-A755-4879-A882-01DD679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两项指标，共享三种运行方式</a:t>
            </a:r>
          </a:p>
        </p:txBody>
      </p:sp>
      <p:sp>
        <p:nvSpPr>
          <p:cNvPr id="5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99564F16-848F-4970-AEA4-C4B18342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三种方式均完整处理固定批次，未发生处理失败</a:t>
            </a:r>
          </a:p>
        </p:txBody>
      </p:sp>
      <p:sp>
        <p:nvSpPr>
          <p:cNvPr id="6" name="time-label">
            <a:extLst xmlns:a="http://schemas.openxmlformats.org/drawingml/2006/main">
              <a:ext uri="{FF2B5EF4-FFF2-40B4-BE49-F238E27FC236}">
                <a16:creationId xmlns:a16="http://schemas.microsoft.com/office/drawing/2014/main" id="{4071C20F-394D-423C-B039-E5E4227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单批耗时中位数（秒）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23875" y="2352675"/>
          <a:ext xmlns:a="http://schemas.openxmlformats.org/drawingml/2006/main" cx="76200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b696ae33504474"/>
          </a:graphicData>
        </a:graphic>
      </p:graphicFrame>
      <p:sp>
        <p:nvSpPr>
          <p:cNvPr id="8" name="memory-label">
            <a:extLst xmlns:a="http://schemas.openxmlformats.org/drawingml/2006/main">
              <a:ext uri="{FF2B5EF4-FFF2-40B4-BE49-F238E27FC236}">
                <a16:creationId xmlns:a16="http://schemas.microsoft.com/office/drawing/2014/main" id="{04A6625D-4CEC-4FC8-9B44-1BA50AA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全程峰值内存（GB）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523875" y="4171950"/>
          <a:ext xmlns:a="http://schemas.openxmlformats.org/drawingml/2006/main" cx="76200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089e66e3244adb"/>
          </a:graphicData>
        </a:graphic>
      </p:graphicFrame>
      <p:sp>
        <p:nvSpPr>
          <p:cNvPr id="10" name="chart-reading-note">
            <a:extLst xmlns:a="http://schemas.openxmlformats.org/drawingml/2006/main">
              <a:ext uri="{FF2B5EF4-FFF2-40B4-BE49-F238E27FC236}">
                <a16:creationId xmlns:a16="http://schemas.microsoft.com/office/drawing/2014/main" id="{B748C687-536A-4CC1-9D57-B712085B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主色标出候选方案；其余颜色保留为对照。两张图的行顺序一致，便于先看门槛、再看速度。</a:t>
            </a:r>
          </a:p>
        </p:txBody>
      </p:sp>
      <p:sp>
        <p:nvSpPr>
          <p:cNvPr id="11" name="decision-surface">
            <a:extLst xmlns:a="http://schemas.openxmlformats.org/drawingml/2006/main">
              <a:ext uri="{FF2B5EF4-FFF2-40B4-BE49-F238E27FC236}">
                <a16:creationId xmlns:a16="http://schemas.microsoft.com/office/drawing/2014/main" id="{3236111C-0F25-4DA4-A9B3-D1451402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3095625" cy="4476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4D1DE"/>
            </a:solidFill>
            <a:prstDash val="solid"/>
          </a:ln>
        </p:spPr>
      </p:sp>
      <p:sp>
        <p:nvSpPr>
          <p:cNvPr id="12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F8844489-287F-46B1-92CD-97491F8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34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486F"/>
                </a:solidFill>
                <a:latin typeface="Microsoft YaHei"/>
                <a:ea typeface="Microsoft YaHei"/>
                <a:cs typeface="Microsoft YaHei"/>
              </a:rPr>
              <a:t>本轮试运行建议</a:t>
            </a:r>
          </a:p>
        </p:txBody>
      </p:sp>
      <p:sp>
        <p:nvSpPr>
          <p:cNvPr id="13" name="decision-choice">
            <a:extLst xmlns:a="http://schemas.openxmlformats.org/drawingml/2006/main">
              <a:ext uri="{FF2B5EF4-FFF2-40B4-BE49-F238E27FC236}">
                <a16:creationId xmlns:a16="http://schemas.microsoft.com/office/drawing/2014/main" id="{C408491E-982F-4206-8C2E-EF8D40A3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57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分批处理</a:t>
            </a:r>
          </a:p>
        </p:txBody>
      </p:sp>
      <p:sp>
        <p:nvSpPr>
          <p:cNvPr id="14" name="decision-gate">
            <a:extLst xmlns:a="http://schemas.openxmlformats.org/drawingml/2006/main">
              <a:ext uri="{FF2B5EF4-FFF2-40B4-BE49-F238E27FC236}">
                <a16:creationId xmlns:a16="http://schemas.microsoft.com/office/drawing/2014/main" id="{8B8A68C4-8C97-444B-8656-93FCBEFC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050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先过内存门槛：峰值 3.6 GB ≤ 4.0 GB</a:t>
            </a:r>
          </a:p>
        </p:txBody>
      </p:sp>
      <p:sp>
        <p:nvSpPr>
          <p:cNvPr id="15" name="decision-rule-1">
            <a:extLst xmlns:a="http://schemas.openxmlformats.org/drawingml/2006/main">
              <a:ext uri="{FF2B5EF4-FFF2-40B4-BE49-F238E27FC236}">
                <a16:creationId xmlns:a16="http://schemas.microsoft.com/office/drawing/2014/main" id="{17583F9D-5FA7-4588-9D68-31BDBAE5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D1DE"/>
            </a:solidFill>
            <a:prstDash val="solid"/>
          </a:ln>
        </p:spPr>
      </p:sp>
      <p:sp>
        <p:nvSpPr>
          <p:cNvPr id="16" name="decision-speed">
            <a:extLst xmlns:a="http://schemas.openxmlformats.org/drawingml/2006/main">
              <a:ext uri="{FF2B5EF4-FFF2-40B4-BE49-F238E27FC236}">
                <a16:creationId xmlns:a16="http://schemas.microsoft.com/office/drawing/2014/main" id="{E6BA3510-ABF2-4626-B721-272F3B8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相对当前串行处理</a:t>
            </a:r>
          </a:p>
        </p:txBody>
      </p:sp>
      <p:sp>
        <p:nvSpPr>
          <p:cNvPr id="17" name="decision-speed-value">
            <a:extLst xmlns:a="http://schemas.openxmlformats.org/drawingml/2006/main">
              <a:ext uri="{FF2B5EF4-FFF2-40B4-BE49-F238E27FC236}">
                <a16:creationId xmlns:a16="http://schemas.microsoft.com/office/drawing/2014/main" id="{0A932B43-7679-4088-86FF-92B9A44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120 − 70 = 50 秒/批更快</a:t>
            </a:r>
          </a:p>
        </p:txBody>
      </p:sp>
      <p:sp>
        <p:nvSpPr>
          <p:cNvPr id="18" name="decision-headroom">
            <a:extLst xmlns:a="http://schemas.openxmlformats.org/drawingml/2006/main">
              <a:ext uri="{FF2B5EF4-FFF2-40B4-BE49-F238E27FC236}">
                <a16:creationId xmlns:a16="http://schemas.microsoft.com/office/drawing/2014/main" id="{1F0FE8D4-9457-4BF1-931D-600D05C3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38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剩余内存空间：4.0 − 3.6 = 0.4 GB</a:t>
            </a:r>
          </a:p>
        </p:txBody>
      </p:sp>
      <p:sp>
        <p:nvSpPr>
          <p:cNvPr id="19" name="decision-rule-2">
            <a:extLst xmlns:a="http://schemas.openxmlformats.org/drawingml/2006/main">
              <a:ext uri="{FF2B5EF4-FFF2-40B4-BE49-F238E27FC236}">
                <a16:creationId xmlns:a16="http://schemas.microsoft.com/office/drawing/2014/main" id="{CCE0A97E-12B7-4E64-95C0-6B4B3C23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767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D1DE"/>
            </a:solidFill>
            <a:prstDash val="solid"/>
          </a:ln>
        </p:spPr>
      </p:sp>
      <p:sp>
        <p:nvSpPr>
          <p:cNvPr id="20" name="parallel-title">
            <a:extLst xmlns:a="http://schemas.openxmlformats.org/drawingml/2006/main">
              <a:ext uri="{FF2B5EF4-FFF2-40B4-BE49-F238E27FC236}">
                <a16:creationId xmlns:a16="http://schemas.microsoft.com/office/drawing/2014/main" id="{128D6F5D-57D7-41D7-8DD2-6E5B2CC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为何不选最快的并行处理？</a:t>
            </a:r>
          </a:p>
        </p:txBody>
      </p:sp>
      <p:sp>
        <p:nvSpPr>
          <p:cNvPr id="21" name="parallel-explain">
            <a:extLst xmlns:a="http://schemas.openxmlformats.org/drawingml/2006/main">
              <a:ext uri="{FF2B5EF4-FFF2-40B4-BE49-F238E27FC236}">
                <a16:creationId xmlns:a16="http://schemas.microsoft.com/office/drawing/2014/main" id="{4FCF9A49-A7B0-4FF1-BEF9-541878E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720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45 秒/批虽最快，但峰值 7.4 GB，超过上限 3.4 GB；本机不能通过关闭必需任务来扩容。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82FB027-D843-4C50-A82B-9A3E5C9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579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边界：仅验证这台工作站与这组固定批次。下一轮做受控试运行并记录峰值；不承诺所有数据保持当前耗时，也不视为正式部署。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5DA94ABF-9BC2-45D1-966F-1465B99E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来源：虚构测试数据｜设计验证素材，非真实算法性能报告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130D82-5433-4406-85A7-A26AC8F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966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2026-09-05T18:28:51.5340000Z</dcterms:created>
  <dcterms:modified xsi:type="dcterms:W3CDTF">2026-09-05T18:28:51.5340000Z</dcterms:modified>
</coreProperties>
</file>