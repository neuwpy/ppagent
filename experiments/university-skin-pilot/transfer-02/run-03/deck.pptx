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e9099cea044f71" /><Relationship Type="http://schemas.openxmlformats.org/officeDocument/2006/relationships/extended-properties" Target="/docProps/app.xml" Id="Ra9fce435c6fd4f5b" /><Relationship Type="http://schemas.openxmlformats.org/officeDocument/2006/relationships/officeDocument" Target="/ppt/presentation.xml" Id="R3efe603263194f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0fd17760114196"/>
  </p:sldMasterIdLst>
  <p:notesMasterIdLst>
    <p:notesMasterId xmlns:r="http://schemas.openxmlformats.org/officeDocument/2006/relationships" r:id="Rf8b6921c17204cd3"/>
  </p:notesMasterIdLst>
  <p:sldIdLst>
    <p:sldId xmlns:r="http://schemas.openxmlformats.org/officeDocument/2006/relationships" id="256" r:id="R3b87e5f6b47b46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28df0b9adb406e" /><Relationship Type="http://schemas.openxmlformats.org/officeDocument/2006/relationships/slideMaster" Target="/ppt/slideMasters/slideMaster1.xml" Id="R4a0fd17760114196" /><Relationship Type="http://schemas.openxmlformats.org/officeDocument/2006/relationships/notesMaster" Target="/ppt/notesMasters/notesMaster1.xml" Id="Rf8b6921c17204cd3" /><Relationship Type="http://schemas.openxmlformats.org/officeDocument/2006/relationships/presProps" Target="/ppt/presProps.xml" Id="R7407f4eb28bf4ae0" /><Relationship Type="http://schemas.openxmlformats.org/officeDocument/2006/relationships/tableStyles" Target="/ppt/tableStyles.xml" Id="R7f96e66051984c18" /><Relationship Type="http://schemas.openxmlformats.org/officeDocument/2006/relationships/slide" Target="/ppt/slides/slide1.xml" Id="R3b87e5f6b47b46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04974b2c6644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12bad15e09425b" /><Relationship Type="http://schemas.openxmlformats.org/officeDocument/2006/relationships/notesMaster" Target="/ppt/notesMasters/notesMaster1.xml" Id="R074451bf55cd4f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sources. All values and conditions come from the user-provided manuscript and are explicitly labeled as fictional test data.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1a851065d49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1fa509b65e449a" /><Relationship Type="http://schemas.openxmlformats.org/officeDocument/2006/relationships/slideLayout" Target="/ppt/slideLayouts/slideLayout1.xml" Id="Rb43e86cef3ba4c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e86cef3ba4c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dbb9b09a74a7e" /><Relationship Type="http://schemas.openxmlformats.org/officeDocument/2006/relationships/chart" Target="/ppt/slides/charts/chart1.xml" Id="Re8ca843d79444a84" /><Relationship Type="http://schemas.openxmlformats.org/officeDocument/2006/relationships/notesSlide" Target="/ppt/notesSlides/notesSlide1.xml" Id="R6dd4422d1722421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单批耗时中位数</c:v>
          </c:tx>
          <c:spPr>
            <a:solidFill xmlns:a="http://schemas.openxmlformats.org/drawingml/2006/main">
              <a:srgbClr val="90A9C4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5D2E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15F91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5D2E0"/>
              </a:solidFill>
            </c:spPr>
          </c:dPt>
          <c:cat>
            <c:strLit>
              <c:ptCount val="3"/>
              <c:pt idx="0">
                <c:v>并行处理</c:v>
              </c:pt>
              <c:pt idx="1">
                <c:v>分批处理</c:v>
              </c:pt>
              <c:pt idx="2">
                <c:v>串行处理</c:v>
              </c:pt>
            </c:strLit>
          </c:cat>
          <c:val>
            <c:numLit>
              <c:formatCode>General</c:formatCode>
              <c:ptCount val="3"/>
              <c:pt idx="0">
                <c:v>45</c:v>
              </c:pt>
              <c:pt idx="1">
                <c:v>70</c:v>
              </c:pt>
              <c:pt idx="2">
                <c:v>120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52B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3D5D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3D5D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0778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52B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itle">
            <a:extLst xmlns:a="http://schemas.openxmlformats.org/drawingml/2006/main">
              <a:ext uri="{FF2B5EF4-FFF2-40B4-BE49-F238E27FC236}">
                <a16:creationId xmlns:a16="http://schemas.microsoft.com/office/drawing/2014/main" id="{7023BC34-AFC6-4CBB-A0C9-D69FBB7C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在 4.0 GB 上限下，分批处理是下一轮试运行的可行选择</a:t>
            </a:r>
          </a:p>
        </p:txBody>
      </p:sp>
      <p:sp>
        <p:nvSpPr>
          <p:cNvPr id="2" name="method-line">
            <a:extLst xmlns:a="http://schemas.openxmlformats.org/drawingml/2006/main">
              <a:ext uri="{FF2B5EF4-FFF2-40B4-BE49-F238E27FC236}">
                <a16:creationId xmlns:a16="http://schemas.microsoft.com/office/drawing/2014/main" id="{A556F4A3-7339-43AF-A7BB-BF4C57FF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同一台工作站、100 个固定数据批次、固定输入顺序与线程参数；三种方式均完整处理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69752AA-67B9-40A8-9200-A22DF8F2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477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4" name="time-heading">
            <a:extLst xmlns:a="http://schemas.openxmlformats.org/drawingml/2006/main">
              <a:ext uri="{FF2B5EF4-FFF2-40B4-BE49-F238E27FC236}">
                <a16:creationId xmlns:a16="http://schemas.microsoft.com/office/drawing/2014/main" id="{EF096FA7-A9CC-4DA0-9DC5-11DEF07D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单批耗时中位数（秒）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7096125" cy="1504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ca843d79444a84"/>
          </a:graphicData>
        </a:graphic>
      </p:graphicFrame>
      <p:sp>
        <p:nvSpPr>
          <p:cNvPr id="6" name="memory-heading">
            <a:extLst xmlns:a="http://schemas.openxmlformats.org/drawingml/2006/main">
              <a:ext uri="{FF2B5EF4-FFF2-40B4-BE49-F238E27FC236}">
                <a16:creationId xmlns:a16="http://schemas.microsoft.com/office/drawing/2014/main" id="{9D700510-5836-47C1-BF65-161373E1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528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全程峰值内存（GB）</a:t>
            </a:r>
          </a:p>
        </p:txBody>
      </p:sp>
      <p:sp>
        <p:nvSpPr>
          <p:cNvPr id="7" name="memory-label-串行处理">
            <a:extLst xmlns:a="http://schemas.openxmlformats.org/drawingml/2006/main">
              <a:ext uri="{FF2B5EF4-FFF2-40B4-BE49-F238E27FC236}">
                <a16:creationId xmlns:a16="http://schemas.microsoft.com/office/drawing/2014/main" id="{FE494189-9B62-4AD6-B821-A68619DB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148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串行处理</a:t>
            </a:r>
          </a:p>
        </p:txBody>
      </p:sp>
      <p:sp>
        <p:nvSpPr>
          <p:cNvPr id="8" name="memory-track-串行处理">
            <a:extLst xmlns:a="http://schemas.openxmlformats.org/drawingml/2006/main">
              <a:ext uri="{FF2B5EF4-FFF2-40B4-BE49-F238E27FC236}">
                <a16:creationId xmlns:a16="http://schemas.microsoft.com/office/drawing/2014/main" id="{609658B9-DC91-4B79-A4A3-C10305CF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433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mory-bar-串行处理">
            <a:extLst xmlns:a="http://schemas.openxmlformats.org/drawingml/2006/main">
              <a:ext uri="{FF2B5EF4-FFF2-40B4-BE49-F238E27FC236}">
                <a16:creationId xmlns:a16="http://schemas.microsoft.com/office/drawing/2014/main" id="{0599A77B-4AC4-41E9-8B72-DBA8F602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433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mory-value-串行处理">
            <a:extLst xmlns:a="http://schemas.openxmlformats.org/drawingml/2006/main">
              <a:ext uri="{FF2B5EF4-FFF2-40B4-BE49-F238E27FC236}">
                <a16:creationId xmlns:a16="http://schemas.microsoft.com/office/drawing/2014/main" id="{1A7A1A71-0B73-4894-9A44-5C5F223A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114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2.0</a:t>
            </a:r>
          </a:p>
        </p:txBody>
      </p:sp>
      <p:sp>
        <p:nvSpPr>
          <p:cNvPr id="11" name="memory-label-分批处理">
            <a:extLst xmlns:a="http://schemas.openxmlformats.org/drawingml/2006/main">
              <a:ext uri="{FF2B5EF4-FFF2-40B4-BE49-F238E27FC236}">
                <a16:creationId xmlns:a16="http://schemas.microsoft.com/office/drawing/2014/main" id="{9FAB24F4-1F39-47E8-9E11-FD658CAD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529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分批处理</a:t>
            </a:r>
          </a:p>
        </p:txBody>
      </p:sp>
      <p:sp>
        <p:nvSpPr>
          <p:cNvPr id="12" name="memory-track-分批处理">
            <a:extLst xmlns:a="http://schemas.openxmlformats.org/drawingml/2006/main">
              <a:ext uri="{FF2B5EF4-FFF2-40B4-BE49-F238E27FC236}">
                <a16:creationId xmlns:a16="http://schemas.microsoft.com/office/drawing/2014/main" id="{86B8E18E-5E18-41D7-929F-FB2392FC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815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mory-bar-分批处理">
            <a:extLst xmlns:a="http://schemas.openxmlformats.org/drawingml/2006/main">
              <a:ext uri="{FF2B5EF4-FFF2-40B4-BE49-F238E27FC236}">
                <a16:creationId xmlns:a16="http://schemas.microsoft.com/office/drawing/2014/main" id="{4F7B3F08-5546-449D-905C-802D4AAD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81525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mory-value-分批处理">
            <a:extLst xmlns:a="http://schemas.openxmlformats.org/drawingml/2006/main">
              <a:ext uri="{FF2B5EF4-FFF2-40B4-BE49-F238E27FC236}">
                <a16:creationId xmlns:a16="http://schemas.microsoft.com/office/drawing/2014/main" id="{89E6817C-91A9-48FA-B055-2599C0C7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52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3.6</a:t>
            </a:r>
          </a:p>
        </p:txBody>
      </p:sp>
      <p:sp>
        <p:nvSpPr>
          <p:cNvPr id="15" name="memory-label-并行处理">
            <a:extLst xmlns:a="http://schemas.openxmlformats.org/drawingml/2006/main">
              <a:ext uri="{FF2B5EF4-FFF2-40B4-BE49-F238E27FC236}">
                <a16:creationId xmlns:a16="http://schemas.microsoft.com/office/drawing/2014/main" id="{68CA70FE-1B22-46C7-9DF3-2878F36E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911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并行处理</a:t>
            </a:r>
          </a:p>
        </p:txBody>
      </p:sp>
      <p:sp>
        <p:nvSpPr>
          <p:cNvPr id="16" name="memory-track-并行处理">
            <a:extLst xmlns:a="http://schemas.openxmlformats.org/drawingml/2006/main">
              <a:ext uri="{FF2B5EF4-FFF2-40B4-BE49-F238E27FC236}">
                <a16:creationId xmlns:a16="http://schemas.microsoft.com/office/drawing/2014/main" id="{0930A35A-BE63-4E3E-8478-25EBE5C0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196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mory-bar-并行处理">
            <a:extLst xmlns:a="http://schemas.openxmlformats.org/drawingml/2006/main">
              <a:ext uri="{FF2B5EF4-FFF2-40B4-BE49-F238E27FC236}">
                <a16:creationId xmlns:a16="http://schemas.microsoft.com/office/drawing/2014/main" id="{BFECC241-8503-4AC3-873A-AA9C9875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19675"/>
            <a:ext cx="493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2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mory-value-并行处理">
            <a:extLst xmlns:a="http://schemas.openxmlformats.org/drawingml/2006/main">
              <a:ext uri="{FF2B5EF4-FFF2-40B4-BE49-F238E27FC236}">
                <a16:creationId xmlns:a16="http://schemas.microsoft.com/office/drawing/2014/main" id="{ED5EBE44-99F3-4FD0-AE56-F944FD31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9911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7.4</a:t>
            </a:r>
          </a:p>
        </p:txBody>
      </p:sp>
      <p:sp>
        <p:nvSpPr>
          <p:cNvPr id="19" name="memory-threshold">
            <a:extLst xmlns:a="http://schemas.openxmlformats.org/drawingml/2006/main">
              <a:ext uri="{FF2B5EF4-FFF2-40B4-BE49-F238E27FC236}">
                <a16:creationId xmlns:a16="http://schemas.microsoft.com/office/drawing/2014/main" id="{5553F2A6-7AAD-40BA-AEFF-F8DD7C2E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43350"/>
            <a:ext cx="0" cy="1362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0" name="threshold-label">
            <a:extLst xmlns:a="http://schemas.openxmlformats.org/drawingml/2006/main">
              <a:ext uri="{FF2B5EF4-FFF2-40B4-BE49-F238E27FC236}">
                <a16:creationId xmlns:a16="http://schemas.microsoft.com/office/drawing/2014/main" id="{51FCD7F2-36C9-4CB7-9E66-C0E3C97F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7052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4.0 GB 上限</a:t>
            </a:r>
          </a:p>
        </p:txBody>
      </p:sp>
      <p:sp>
        <p:nvSpPr>
          <p:cNvPr id="21" name="memory-axis">
            <a:extLst xmlns:a="http://schemas.openxmlformats.org/drawingml/2006/main">
              <a:ext uri="{FF2B5EF4-FFF2-40B4-BE49-F238E27FC236}">
                <a16:creationId xmlns:a16="http://schemas.microsoft.com/office/drawing/2014/main" id="{6E5C5DAB-20D9-4CE5-8DC1-CB3A205B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102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5D6"/>
            </a:solidFill>
            <a:prstDash val="solid"/>
          </a:ln>
        </p:spPr>
      </p:sp>
      <p:sp>
        <p:nvSpPr>
          <p:cNvPr id="22" name="memory-tick-0">
            <a:extLst xmlns:a="http://schemas.openxmlformats.org/drawingml/2006/main">
              <a:ext uri="{FF2B5EF4-FFF2-40B4-BE49-F238E27FC236}">
                <a16:creationId xmlns:a16="http://schemas.microsoft.com/office/drawing/2014/main" id="{70635D43-540E-4C33-B6AF-67051E61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10200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5D6"/>
            </a:solidFill>
            <a:prstDash val="solid"/>
          </a:ln>
        </p:spPr>
      </p:sp>
      <p:sp>
        <p:nvSpPr>
          <p:cNvPr id="23" name="memory-tick-label-0">
            <a:extLst xmlns:a="http://schemas.openxmlformats.org/drawingml/2006/main">
              <a:ext uri="{FF2B5EF4-FFF2-40B4-BE49-F238E27FC236}">
                <a16:creationId xmlns:a16="http://schemas.microsoft.com/office/drawing/2014/main" id="{13C37E90-9CB1-4ED2-B36C-2B73A1DC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5054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4" name="memory-tick-2">
            <a:extLst xmlns:a="http://schemas.openxmlformats.org/drawingml/2006/main">
              <a:ext uri="{FF2B5EF4-FFF2-40B4-BE49-F238E27FC236}">
                <a16:creationId xmlns:a16="http://schemas.microsoft.com/office/drawing/2014/main" id="{03A2BD8B-DF9E-4A94-8EFA-6C3732D5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410200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5D6"/>
            </a:solidFill>
            <a:prstDash val="solid"/>
          </a:ln>
        </p:spPr>
      </p:sp>
      <p:sp>
        <p:nvSpPr>
          <p:cNvPr id="25" name="memory-tick-label-2">
            <a:extLst xmlns:a="http://schemas.openxmlformats.org/drawingml/2006/main">
              <a:ext uri="{FF2B5EF4-FFF2-40B4-BE49-F238E27FC236}">
                <a16:creationId xmlns:a16="http://schemas.microsoft.com/office/drawing/2014/main" id="{47E1D588-6119-4296-861A-0629BE62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5054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6" name="memory-tick-4">
            <a:extLst xmlns:a="http://schemas.openxmlformats.org/drawingml/2006/main">
              <a:ext uri="{FF2B5EF4-FFF2-40B4-BE49-F238E27FC236}">
                <a16:creationId xmlns:a16="http://schemas.microsoft.com/office/drawing/2014/main" id="{B7C9C7A1-549A-46F3-AE9E-03E848C7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410200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5D6"/>
            </a:solidFill>
            <a:prstDash val="solid"/>
          </a:ln>
        </p:spPr>
      </p:sp>
      <p:sp>
        <p:nvSpPr>
          <p:cNvPr id="27" name="memory-tick-label-4">
            <a:extLst xmlns:a="http://schemas.openxmlformats.org/drawingml/2006/main">
              <a:ext uri="{FF2B5EF4-FFF2-40B4-BE49-F238E27FC236}">
                <a16:creationId xmlns:a16="http://schemas.microsoft.com/office/drawing/2014/main" id="{979083C8-7C12-47B2-98DA-2DEA9891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5054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memory-tick-6">
            <a:extLst xmlns:a="http://schemas.openxmlformats.org/drawingml/2006/main">
              <a:ext uri="{FF2B5EF4-FFF2-40B4-BE49-F238E27FC236}">
                <a16:creationId xmlns:a16="http://schemas.microsoft.com/office/drawing/2014/main" id="{07AD6102-EB90-475A-A143-CD2F5C38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10200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5D6"/>
            </a:solidFill>
            <a:prstDash val="solid"/>
          </a:ln>
        </p:spPr>
      </p:sp>
      <p:sp>
        <p:nvSpPr>
          <p:cNvPr id="29" name="memory-tick-label-6">
            <a:extLst xmlns:a="http://schemas.openxmlformats.org/drawingml/2006/main">
              <a:ext uri="{FF2B5EF4-FFF2-40B4-BE49-F238E27FC236}">
                <a16:creationId xmlns:a16="http://schemas.microsoft.com/office/drawing/2014/main" id="{DF9AC531-7CBC-4CD5-9383-6CC3C02C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5054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memory-tick-8">
            <a:extLst xmlns:a="http://schemas.openxmlformats.org/drawingml/2006/main">
              <a:ext uri="{FF2B5EF4-FFF2-40B4-BE49-F238E27FC236}">
                <a16:creationId xmlns:a16="http://schemas.microsoft.com/office/drawing/2014/main" id="{89475151-48D4-4FD0-B7DE-6567CD47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410200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5D6"/>
            </a:solidFill>
            <a:prstDash val="solid"/>
          </a:ln>
        </p:spPr>
      </p:sp>
      <p:sp>
        <p:nvSpPr>
          <p:cNvPr id="31" name="memory-tick-label-8">
            <a:extLst xmlns:a="http://schemas.openxmlformats.org/drawingml/2006/main">
              <a:ext uri="{FF2B5EF4-FFF2-40B4-BE49-F238E27FC236}">
                <a16:creationId xmlns:a16="http://schemas.microsoft.com/office/drawing/2014/main" id="{9E62DED4-5783-421E-9EA9-C9F3FA5D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5054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2" name="explanation-divider">
            <a:extLst xmlns:a="http://schemas.openxmlformats.org/drawingml/2006/main">
              <a:ext uri="{FF2B5EF4-FFF2-40B4-BE49-F238E27FC236}">
                <a16:creationId xmlns:a16="http://schemas.microsoft.com/office/drawing/2014/main" id="{C43A24A6-882E-4807-96C0-0396DF2D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6685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5D6"/>
            </a:solidFill>
            <a:prstDash val="solid"/>
          </a:ln>
        </p:spPr>
      </p:sp>
      <p:sp>
        <p:nvSpPr>
          <p:cNvPr id="33" name="recommendation-heading">
            <a:extLst xmlns:a="http://schemas.openxmlformats.org/drawingml/2006/main">
              <a:ext uri="{FF2B5EF4-FFF2-40B4-BE49-F238E27FC236}">
                <a16:creationId xmlns:a16="http://schemas.microsoft.com/office/drawing/2014/main" id="{0FAFB8EB-D862-4DD6-AC0D-15CA0593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668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推荐分批处理</a:t>
            </a:r>
          </a:p>
        </p:txBody>
      </p:sp>
      <p:sp>
        <p:nvSpPr>
          <p:cNvPr id="34" name="recommendation-body">
            <a:extLst xmlns:a="http://schemas.openxmlformats.org/drawingml/2006/main">
              <a:ext uri="{FF2B5EF4-FFF2-40B4-BE49-F238E27FC236}">
                <a16:creationId xmlns:a16="http://schemas.microsoft.com/office/drawing/2014/main" id="{55FEDF07-D960-4272-9444-39906618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859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先满足内存条件；仍有 0.4 GB 余量。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相对串行处理，单批少 50 秒。</a:t>
            </a:r>
          </a:p>
        </p:txBody>
      </p:sp>
      <p:sp>
        <p:nvSpPr>
          <p:cNvPr id="35" name="parallel-heading">
            <a:extLst xmlns:a="http://schemas.openxmlformats.org/drawingml/2006/main">
              <a:ext uri="{FF2B5EF4-FFF2-40B4-BE49-F238E27FC236}">
                <a16:creationId xmlns:a16="http://schemas.microsoft.com/office/drawing/2014/main" id="{866E9512-B323-4E1F-A574-06601AF3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099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并行处理不适用</a:t>
            </a:r>
          </a:p>
        </p:txBody>
      </p:sp>
      <p:sp>
        <p:nvSpPr>
          <p:cNvPr id="36" name="parallel-body">
            <a:extLst xmlns:a="http://schemas.openxmlformats.org/drawingml/2006/main">
              <a:ext uri="{FF2B5EF4-FFF2-40B4-BE49-F238E27FC236}">
                <a16:creationId xmlns:a16="http://schemas.microsoft.com/office/drawing/2014/main" id="{4C7EA093-3B8A-4F59-B474-808C2289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速度优势无法抵消 3.4 GB 的超限；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本机不能通过关闭必需任务扩容。</a:t>
            </a:r>
          </a:p>
        </p:txBody>
      </p:sp>
      <p:sp>
        <p:nvSpPr>
          <p:cNvPr id="37" name="test-status">
            <a:extLst xmlns:a="http://schemas.openxmlformats.org/drawingml/2006/main">
              <a:ext uri="{FF2B5EF4-FFF2-40B4-BE49-F238E27FC236}">
                <a16:creationId xmlns:a16="http://schemas.microsoft.com/office/drawing/2014/main" id="{0DD0669C-ABC2-4C09-B3FD-83FC69E4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57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三种方式均完整处理，未发生失败。</a:t>
            </a:r>
          </a:p>
        </p:txBody>
      </p:sp>
      <p:sp>
        <p:nvSpPr>
          <p:cNvPr id="38" name="next-step-heading">
            <a:extLst xmlns:a="http://schemas.openxmlformats.org/drawingml/2006/main">
              <a:ext uri="{FF2B5EF4-FFF2-40B4-BE49-F238E27FC236}">
                <a16:creationId xmlns:a16="http://schemas.microsoft.com/office/drawing/2014/main" id="{13834B84-5921-4249-B22C-69E46426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67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下一轮</a:t>
            </a:r>
          </a:p>
        </p:txBody>
      </p:sp>
      <p:sp>
        <p:nvSpPr>
          <p:cNvPr id="39" name="next-step-body">
            <a:extLst xmlns:a="http://schemas.openxmlformats.org/drawingml/2006/main">
              <a:ext uri="{FF2B5EF4-FFF2-40B4-BE49-F238E27FC236}">
                <a16:creationId xmlns:a16="http://schemas.microsoft.com/office/drawing/2014/main" id="{DAFBCDD2-A1AA-4539-9C4A-DC755964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867400"/>
            <a:ext cx="966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仅在本机与这组固定批次上受控试运行并记录峰值；其他批次与硬件未验证，不视为正式部署。</a:t>
            </a:r>
          </a:p>
        </p:txBody>
      </p:sp>
      <p:sp>
        <p:nvSpPr>
          <p:cNvPr id="40" name="source">
            <a:extLst xmlns:a="http://schemas.openxmlformats.org/drawingml/2006/main">
              <a:ext uri="{FF2B5EF4-FFF2-40B4-BE49-F238E27FC236}">
                <a16:creationId xmlns:a16="http://schemas.microsoft.com/office/drawing/2014/main" id="{36F8E501-2C39-497F-BDE3-85A8EC20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来源：虚构测试数据｜设计验证素材，非真实算法性能报告</a:t>
            </a:r>
          </a:p>
        </p:txBody>
      </p:sp>
      <p:sp>
        <p:nvSpPr>
          <p:cNvPr id="4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6AE82DD-5111-451A-BA5A-EA5DBB65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53683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2026-09-05T23:34:59.6690000Z</dcterms:created>
  <dcterms:modified xsi:type="dcterms:W3CDTF">2026-09-05T23:34:59.6690000Z</dcterms:modified>
</coreProperties>
</file>